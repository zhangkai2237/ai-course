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b8810aab274615" /><Relationship Type="http://schemas.openxmlformats.org/officeDocument/2006/relationships/extended-properties" Target="/docProps/app.xml" Id="R1c757eae75af44be" /><Relationship Type="http://schemas.openxmlformats.org/officeDocument/2006/relationships/officeDocument" Target="/ppt/presentation.xml" Id="R282976f1675449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aee44016af41ce"/>
  </p:sldMasterIdLst>
  <p:notesMasterIdLst>
    <p:notesMasterId xmlns:r="http://schemas.openxmlformats.org/officeDocument/2006/relationships" r:id="R428ad06c208b423a"/>
  </p:notesMasterIdLst>
  <p:sldIdLst>
    <p:sldId xmlns:r="http://schemas.openxmlformats.org/officeDocument/2006/relationships" id="256" r:id="R24588bd878594bf6"/>
    <p:sldId xmlns:r="http://schemas.openxmlformats.org/officeDocument/2006/relationships" id="257" r:id="Racd3a72fe310488b"/>
    <p:sldId xmlns:r="http://schemas.openxmlformats.org/officeDocument/2006/relationships" id="258" r:id="Rcd1bf241830542be"/>
    <p:sldId xmlns:r="http://schemas.openxmlformats.org/officeDocument/2006/relationships" id="259" r:id="R3f64bf1052ff4f75"/>
    <p:sldId xmlns:r="http://schemas.openxmlformats.org/officeDocument/2006/relationships" id="260" r:id="R2b8e0a5f5d344a56"/>
    <p:sldId xmlns:r="http://schemas.openxmlformats.org/officeDocument/2006/relationships" id="261" r:id="R84ff539526144a93"/>
    <p:sldId xmlns:r="http://schemas.openxmlformats.org/officeDocument/2006/relationships" id="262" r:id="R3d369141f7a6470b"/>
    <p:sldId xmlns:r="http://schemas.openxmlformats.org/officeDocument/2006/relationships" id="263" r:id="R92b5fb50a5534f82"/>
    <p:sldId xmlns:r="http://schemas.openxmlformats.org/officeDocument/2006/relationships" id="264" r:id="Ra3979cfb5d624238"/>
    <p:sldId xmlns:r="http://schemas.openxmlformats.org/officeDocument/2006/relationships" id="265" r:id="R1b9bf27c89794ae6"/>
    <p:sldId xmlns:r="http://schemas.openxmlformats.org/officeDocument/2006/relationships" id="266" r:id="R029c28741e6749c8"/>
    <p:sldId xmlns:r="http://schemas.openxmlformats.org/officeDocument/2006/relationships" id="267" r:id="Rb1b625a6fadb4d7c"/>
    <p:sldId xmlns:r="http://schemas.openxmlformats.org/officeDocument/2006/relationships" id="268" r:id="R4ce1b8ca07bd4a88"/>
    <p:sldId xmlns:r="http://schemas.openxmlformats.org/officeDocument/2006/relationships" id="269" r:id="R2b5a34c31fb74f29"/>
    <p:sldId xmlns:r="http://schemas.openxmlformats.org/officeDocument/2006/relationships" id="270" r:id="R18def2642386450e"/>
    <p:sldId xmlns:r="http://schemas.openxmlformats.org/officeDocument/2006/relationships" id="271" r:id="R5cf437cb7fc94305"/>
    <p:sldId xmlns:r="http://schemas.openxmlformats.org/officeDocument/2006/relationships" id="272" r:id="Rf666cdb31312402d"/>
    <p:sldId xmlns:r="http://schemas.openxmlformats.org/officeDocument/2006/relationships" id="273" r:id="R5de1e6dfb0944d8f"/>
    <p:sldId xmlns:r="http://schemas.openxmlformats.org/officeDocument/2006/relationships" id="274" r:id="R52a5896c21474c0d"/>
    <p:sldId xmlns:r="http://schemas.openxmlformats.org/officeDocument/2006/relationships" id="275" r:id="Re47e71dd80ba4e76"/>
    <p:sldId xmlns:r="http://schemas.openxmlformats.org/officeDocument/2006/relationships" id="276" r:id="Rb2e2f0a6002a446c"/>
    <p:sldId xmlns:r="http://schemas.openxmlformats.org/officeDocument/2006/relationships" id="277" r:id="Rbf4e9aee5f8d49bf"/>
    <p:sldId xmlns:r="http://schemas.openxmlformats.org/officeDocument/2006/relationships" id="278" r:id="R43ed094b8fd44e8b"/>
    <p:sldId xmlns:r="http://schemas.openxmlformats.org/officeDocument/2006/relationships" id="279" r:id="R7ca36390b1b44f46"/>
    <p:sldId xmlns:r="http://schemas.openxmlformats.org/officeDocument/2006/relationships" id="280" r:id="R7dd782ab376e41ac"/>
    <p:sldId xmlns:r="http://schemas.openxmlformats.org/officeDocument/2006/relationships" id="281" r:id="R35951a6ecfa84f9d"/>
    <p:sldId xmlns:r="http://schemas.openxmlformats.org/officeDocument/2006/relationships" id="282" r:id="R2bd6c0cc8ff04866"/>
    <p:sldId xmlns:r="http://schemas.openxmlformats.org/officeDocument/2006/relationships" id="283" r:id="R7a183bbff65e4945"/>
    <p:sldId xmlns:r="http://schemas.openxmlformats.org/officeDocument/2006/relationships" id="284" r:id="R959d5bea6ac84599"/>
    <p:sldId xmlns:r="http://schemas.openxmlformats.org/officeDocument/2006/relationships" id="285" r:id="R0aa9b6b8826d4418"/>
    <p:sldId xmlns:r="http://schemas.openxmlformats.org/officeDocument/2006/relationships" id="286" r:id="Ra351c487c15b456e"/>
    <p:sldId xmlns:r="http://schemas.openxmlformats.org/officeDocument/2006/relationships" id="287" r:id="R9ebf9d85e71b4e90"/>
    <p:sldId xmlns:r="http://schemas.openxmlformats.org/officeDocument/2006/relationships" id="288" r:id="R29e44a114a1b4656"/>
    <p:sldId xmlns:r="http://schemas.openxmlformats.org/officeDocument/2006/relationships" id="289" r:id="R363cb3d62d5742a0"/>
    <p:sldId xmlns:r="http://schemas.openxmlformats.org/officeDocument/2006/relationships" id="290" r:id="Rb2feb791d4844409"/>
    <p:sldId xmlns:r="http://schemas.openxmlformats.org/officeDocument/2006/relationships" id="291" r:id="R8e9462aab8fe4bba"/>
    <p:sldId xmlns:r="http://schemas.openxmlformats.org/officeDocument/2006/relationships" id="292" r:id="Rbfc197d3ee4c4e92"/>
    <p:sldId xmlns:r="http://schemas.openxmlformats.org/officeDocument/2006/relationships" id="293" r:id="R704cb07d4be14ebd"/>
    <p:sldId xmlns:r="http://schemas.openxmlformats.org/officeDocument/2006/relationships" id="294" r:id="R773252a894c045ad"/>
    <p:sldId xmlns:r="http://schemas.openxmlformats.org/officeDocument/2006/relationships" id="295" r:id="R9b779a3419c14eff"/>
  </p:sldIdLst>
  <p:sldSz cx="6858000" cy="12192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cd17f489764822" /><Relationship Type="http://schemas.openxmlformats.org/officeDocument/2006/relationships/slideMaster" Target="/ppt/slideMasters/slideMaster1.xml" Id="Rb0aee44016af41ce" /><Relationship Type="http://schemas.openxmlformats.org/officeDocument/2006/relationships/notesMaster" Target="/ppt/notesMasters/notesMaster1.xml" Id="R428ad06c208b423a" /><Relationship Type="http://schemas.openxmlformats.org/officeDocument/2006/relationships/presProps" Target="/ppt/presProps.xml" Id="R8a0c4733f31c4c37" /><Relationship Type="http://schemas.openxmlformats.org/officeDocument/2006/relationships/tableStyles" Target="/ppt/tableStyles.xml" Id="Ra1e3c2ddcbc444de" /><Relationship Type="http://schemas.openxmlformats.org/officeDocument/2006/relationships/slide" Target="/ppt/slides/slide1.xml" Id="R24588bd878594bf6" /><Relationship Type="http://schemas.openxmlformats.org/officeDocument/2006/relationships/slide" Target="/ppt/slides/slide2.xml" Id="Racd3a72fe310488b" /><Relationship Type="http://schemas.openxmlformats.org/officeDocument/2006/relationships/slide" Target="/ppt/slides/slide3.xml" Id="Rcd1bf241830542be" /><Relationship Type="http://schemas.openxmlformats.org/officeDocument/2006/relationships/slide" Target="/ppt/slides/slide4.xml" Id="R3f64bf1052ff4f75" /><Relationship Type="http://schemas.openxmlformats.org/officeDocument/2006/relationships/slide" Target="/ppt/slides/slide5.xml" Id="R2b8e0a5f5d344a56" /><Relationship Type="http://schemas.openxmlformats.org/officeDocument/2006/relationships/slide" Target="/ppt/slides/slide6.xml" Id="R84ff539526144a93" /><Relationship Type="http://schemas.openxmlformats.org/officeDocument/2006/relationships/slide" Target="/ppt/slides/slide7.xml" Id="R3d369141f7a6470b" /><Relationship Type="http://schemas.openxmlformats.org/officeDocument/2006/relationships/slide" Target="/ppt/slides/slide8.xml" Id="R92b5fb50a5534f82" /><Relationship Type="http://schemas.openxmlformats.org/officeDocument/2006/relationships/slide" Target="/ppt/slides/slide9.xml" Id="Ra3979cfb5d624238" /><Relationship Type="http://schemas.openxmlformats.org/officeDocument/2006/relationships/slide" Target="/ppt/slides/slide10.xml" Id="R1b9bf27c89794ae6" /><Relationship Type="http://schemas.openxmlformats.org/officeDocument/2006/relationships/slide" Target="/ppt/slides/slide11.xml" Id="R029c28741e6749c8" /><Relationship Type="http://schemas.openxmlformats.org/officeDocument/2006/relationships/slide" Target="/ppt/slides/slide12.xml" Id="Rb1b625a6fadb4d7c" /><Relationship Type="http://schemas.openxmlformats.org/officeDocument/2006/relationships/slide" Target="/ppt/slides/slide13.xml" Id="R4ce1b8ca07bd4a88" /><Relationship Type="http://schemas.openxmlformats.org/officeDocument/2006/relationships/slide" Target="/ppt/slides/slide14.xml" Id="R2b5a34c31fb74f29" /><Relationship Type="http://schemas.openxmlformats.org/officeDocument/2006/relationships/slide" Target="/ppt/slides/slide15.xml" Id="R18def2642386450e" /><Relationship Type="http://schemas.openxmlformats.org/officeDocument/2006/relationships/slide" Target="/ppt/slides/slide16.xml" Id="R5cf437cb7fc94305" /><Relationship Type="http://schemas.openxmlformats.org/officeDocument/2006/relationships/slide" Target="/ppt/slides/slide17.xml" Id="Rf666cdb31312402d" /><Relationship Type="http://schemas.openxmlformats.org/officeDocument/2006/relationships/slide" Target="/ppt/slides/slide18.xml" Id="R5de1e6dfb0944d8f" /><Relationship Type="http://schemas.openxmlformats.org/officeDocument/2006/relationships/slide" Target="/ppt/slides/slide19.xml" Id="R52a5896c21474c0d" /><Relationship Type="http://schemas.openxmlformats.org/officeDocument/2006/relationships/slide" Target="/ppt/slides/slide20.xml" Id="Re47e71dd80ba4e76" /><Relationship Type="http://schemas.openxmlformats.org/officeDocument/2006/relationships/slide" Target="/ppt/slides/slide21.xml" Id="Rb2e2f0a6002a446c" /><Relationship Type="http://schemas.openxmlformats.org/officeDocument/2006/relationships/slide" Target="/ppt/slides/slide22.xml" Id="Rbf4e9aee5f8d49bf" /><Relationship Type="http://schemas.openxmlformats.org/officeDocument/2006/relationships/slide" Target="/ppt/slides/slide23.xml" Id="R43ed094b8fd44e8b" /><Relationship Type="http://schemas.openxmlformats.org/officeDocument/2006/relationships/slide" Target="/ppt/slides/slide24.xml" Id="R7ca36390b1b44f46" /><Relationship Type="http://schemas.openxmlformats.org/officeDocument/2006/relationships/slide" Target="/ppt/slides/slide25.xml" Id="R7dd782ab376e41ac" /><Relationship Type="http://schemas.openxmlformats.org/officeDocument/2006/relationships/slide" Target="/ppt/slides/slide26.xml" Id="R35951a6ecfa84f9d" /><Relationship Type="http://schemas.openxmlformats.org/officeDocument/2006/relationships/slide" Target="/ppt/slides/slide27.xml" Id="R2bd6c0cc8ff04866" /><Relationship Type="http://schemas.openxmlformats.org/officeDocument/2006/relationships/slide" Target="/ppt/slides/slide28.xml" Id="R7a183bbff65e4945" /><Relationship Type="http://schemas.openxmlformats.org/officeDocument/2006/relationships/slide" Target="/ppt/slides/slide29.xml" Id="R959d5bea6ac84599" /><Relationship Type="http://schemas.openxmlformats.org/officeDocument/2006/relationships/slide" Target="/ppt/slides/slide30.xml" Id="R0aa9b6b8826d4418" /><Relationship Type="http://schemas.openxmlformats.org/officeDocument/2006/relationships/slide" Target="/ppt/slides/slide31.xml" Id="Ra351c487c15b456e" /><Relationship Type="http://schemas.openxmlformats.org/officeDocument/2006/relationships/slide" Target="/ppt/slides/slide32.xml" Id="R9ebf9d85e71b4e90" /><Relationship Type="http://schemas.openxmlformats.org/officeDocument/2006/relationships/slide" Target="/ppt/slides/slide33.xml" Id="R29e44a114a1b4656" /><Relationship Type="http://schemas.openxmlformats.org/officeDocument/2006/relationships/slide" Target="/ppt/slides/slide34.xml" Id="R363cb3d62d5742a0" /><Relationship Type="http://schemas.openxmlformats.org/officeDocument/2006/relationships/slide" Target="/ppt/slides/slide35.xml" Id="Rb2feb791d4844409" /><Relationship Type="http://schemas.openxmlformats.org/officeDocument/2006/relationships/slide" Target="/ppt/slides/slide36.xml" Id="R8e9462aab8fe4bba" /><Relationship Type="http://schemas.openxmlformats.org/officeDocument/2006/relationships/slide" Target="/ppt/slides/slide37.xml" Id="Rbfc197d3ee4c4e92" /><Relationship Type="http://schemas.openxmlformats.org/officeDocument/2006/relationships/slide" Target="/ppt/slides/slide38.xml" Id="R704cb07d4be14ebd" /><Relationship Type="http://schemas.openxmlformats.org/officeDocument/2006/relationships/slide" Target="/ppt/slides/slide39.xml" Id="R773252a894c045ad" /><Relationship Type="http://schemas.openxmlformats.org/officeDocument/2006/relationships/slide" Target="/ppt/slides/slide40.xml" Id="R9b779a3419c14e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39446f72b347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a6bef70d274d6b" /><Relationship Type="http://schemas.openxmlformats.org/officeDocument/2006/relationships/notesMaster" Target="/ppt/notesMasters/notesMaster1.xml" Id="Rb90181b5b62340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da6942f1e547d4" /><Relationship Type="http://schemas.openxmlformats.org/officeDocument/2006/relationships/notesMaster" Target="/ppt/notesMasters/notesMaster1.xml" Id="Rad371e9b361444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a5cb5ee9da414e" /><Relationship Type="http://schemas.openxmlformats.org/officeDocument/2006/relationships/notesMaster" Target="/ppt/notesMasters/notesMaster1.xml" Id="Rdbb254d3aa9241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6bb84018bd4e3e" /><Relationship Type="http://schemas.openxmlformats.org/officeDocument/2006/relationships/notesMaster" Target="/ppt/notesMasters/notesMaster1.xml" Id="R8987b34a0a8d4f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36b561362c4959" /><Relationship Type="http://schemas.openxmlformats.org/officeDocument/2006/relationships/notesMaster" Target="/ppt/notesMasters/notesMaster1.xml" Id="Rfc994df036074a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87046ba91044ca" /><Relationship Type="http://schemas.openxmlformats.org/officeDocument/2006/relationships/notesMaster" Target="/ppt/notesMasters/notesMaster1.xml" Id="Re0aabf13ae8141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713a69cc424fa7" /><Relationship Type="http://schemas.openxmlformats.org/officeDocument/2006/relationships/notesMaster" Target="/ppt/notesMasters/notesMaster1.xml" Id="Rea86755362c746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1fe10a67f644c7" /><Relationship Type="http://schemas.openxmlformats.org/officeDocument/2006/relationships/notesMaster" Target="/ppt/notesMasters/notesMaster1.xml" Id="Rbee6df4039264d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187e67dc11410b" /><Relationship Type="http://schemas.openxmlformats.org/officeDocument/2006/relationships/notesMaster" Target="/ppt/notesMasters/notesMaster1.xml" Id="R38d1cc703c0b41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3b9aac5d254630" /><Relationship Type="http://schemas.openxmlformats.org/officeDocument/2006/relationships/notesMaster" Target="/ppt/notesMasters/notesMaster1.xml" Id="Rbb31fb91b13d45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3e549fc1ed4fc2" /><Relationship Type="http://schemas.openxmlformats.org/officeDocument/2006/relationships/notesMaster" Target="/ppt/notesMasters/notesMaster1.xml" Id="R18690754035f42f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a1489a7dd24b35" /><Relationship Type="http://schemas.openxmlformats.org/officeDocument/2006/relationships/notesMaster" Target="/ppt/notesMasters/notesMaster1.xml" Id="Ra24c303c9df7491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118780a8e77484e" /><Relationship Type="http://schemas.openxmlformats.org/officeDocument/2006/relationships/notesMaster" Target="/ppt/notesMasters/notesMaster1.xml" Id="R52f0d5ba7693451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c59e59fcf344bea" /><Relationship Type="http://schemas.openxmlformats.org/officeDocument/2006/relationships/notesMaster" Target="/ppt/notesMasters/notesMaster1.xml" Id="R42c88f293bf3492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3e42748637745e0" /><Relationship Type="http://schemas.openxmlformats.org/officeDocument/2006/relationships/notesMaster" Target="/ppt/notesMasters/notesMaster1.xml" Id="R47303e5da8944d0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8b7d0d69c20441b" /><Relationship Type="http://schemas.openxmlformats.org/officeDocument/2006/relationships/notesMaster" Target="/ppt/notesMasters/notesMaster1.xml" Id="R3bb4c2ce469849d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363f48df9c640a1" /><Relationship Type="http://schemas.openxmlformats.org/officeDocument/2006/relationships/notesMaster" Target="/ppt/notesMasters/notesMaster1.xml" Id="R034df447de09499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e7c8429e0b84787" /><Relationship Type="http://schemas.openxmlformats.org/officeDocument/2006/relationships/notesMaster" Target="/ppt/notesMasters/notesMaster1.xml" Id="R3289549f6697496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899c2ddbdb7470b" /><Relationship Type="http://schemas.openxmlformats.org/officeDocument/2006/relationships/notesMaster" Target="/ppt/notesMasters/notesMaster1.xml" Id="R73eab58dc50e449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5836c36818d4e20" /><Relationship Type="http://schemas.openxmlformats.org/officeDocument/2006/relationships/notesMaster" Target="/ppt/notesMasters/notesMaster1.xml" Id="R88ebcd6621c544d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5ed0bc2ecab4478" /><Relationship Type="http://schemas.openxmlformats.org/officeDocument/2006/relationships/notesMaster" Target="/ppt/notesMasters/notesMaster1.xml" Id="Rbda3068d1c4244d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a2c1e2b74e14dd2" /><Relationship Type="http://schemas.openxmlformats.org/officeDocument/2006/relationships/notesMaster" Target="/ppt/notesMasters/notesMaster1.xml" Id="R68e21d452f30441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bb445807ca84fc6" /><Relationship Type="http://schemas.openxmlformats.org/officeDocument/2006/relationships/notesMaster" Target="/ppt/notesMasters/notesMaster1.xml" Id="R554f16dfc9dd41b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8b3d03acdb64299" /><Relationship Type="http://schemas.openxmlformats.org/officeDocument/2006/relationships/notesMaster" Target="/ppt/notesMasters/notesMaster1.xml" Id="Rbe9bec366df14f7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4e93d663ed54183" /><Relationship Type="http://schemas.openxmlformats.org/officeDocument/2006/relationships/notesMaster" Target="/ppt/notesMasters/notesMaster1.xml" Id="R00cb8554ca3e460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ab419af9dbb4fbb" /><Relationship Type="http://schemas.openxmlformats.org/officeDocument/2006/relationships/notesMaster" Target="/ppt/notesMasters/notesMaster1.xml" Id="R33c7be0f1b7c498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807faa143454778" /><Relationship Type="http://schemas.openxmlformats.org/officeDocument/2006/relationships/notesMaster" Target="/ppt/notesMasters/notesMaster1.xml" Id="R919d0135b59748e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c0615210d944f0e" /><Relationship Type="http://schemas.openxmlformats.org/officeDocument/2006/relationships/notesMaster" Target="/ppt/notesMasters/notesMaster1.xml" Id="Re2ceeca03cdf4dc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718d4ef40b84266" /><Relationship Type="http://schemas.openxmlformats.org/officeDocument/2006/relationships/notesMaster" Target="/ppt/notesMasters/notesMaster1.xml" Id="R762387aac8764ba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94302044c8c4bdd" /><Relationship Type="http://schemas.openxmlformats.org/officeDocument/2006/relationships/notesMaster" Target="/ppt/notesMasters/notesMaster1.xml" Id="R7fec4e6f8d23496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97a6da36ded4aa6" /><Relationship Type="http://schemas.openxmlformats.org/officeDocument/2006/relationships/notesMaster" Target="/ppt/notesMasters/notesMaster1.xml" Id="R6fac1a7506274ac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ab970ec660d4256" /><Relationship Type="http://schemas.openxmlformats.org/officeDocument/2006/relationships/notesMaster" Target="/ppt/notesMasters/notesMaster1.xml" Id="Red19e8541db447a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2f44d9d850c468f" /><Relationship Type="http://schemas.openxmlformats.org/officeDocument/2006/relationships/notesMaster" Target="/ppt/notesMasters/notesMaster1.xml" Id="Rb385a2cbf8c742c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3d7bb6922f3499f" /><Relationship Type="http://schemas.openxmlformats.org/officeDocument/2006/relationships/notesMaster" Target="/ppt/notesMasters/notesMaster1.xml" Id="R8221f0659dcf4da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f6c5d3001d04f48" /><Relationship Type="http://schemas.openxmlformats.org/officeDocument/2006/relationships/notesMaster" Target="/ppt/notesMasters/notesMaster1.xml" Id="R3366245ff4274e1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f15889b5c85489f" /><Relationship Type="http://schemas.openxmlformats.org/officeDocument/2006/relationships/notesMaster" Target="/ppt/notesMasters/notesMaster1.xml" Id="Rb4909b4e42d7440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b612e5991cc446f" /><Relationship Type="http://schemas.openxmlformats.org/officeDocument/2006/relationships/notesMaster" Target="/ppt/notesMasters/notesMaster1.xml" Id="Rffe85a3432b045c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cc8eb58eba64f50" /><Relationship Type="http://schemas.openxmlformats.org/officeDocument/2006/relationships/notesMaster" Target="/ppt/notesMasters/notesMaster1.xml" Id="R4b25025b58f94e9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2f937662e784a7e" /><Relationship Type="http://schemas.openxmlformats.org/officeDocument/2006/relationships/notesMaster" Target="/ppt/notesMasters/notesMaster1.xml" Id="R81673dd7946f4e4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3d0b1c28e364657" /><Relationship Type="http://schemas.openxmlformats.org/officeDocument/2006/relationships/notesMaster" Target="/ppt/notesMasters/notesMaster1.xml" Id="Rc73810c9af1146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b442c8ebd544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862b4cc68e4bfd" /><Relationship Type="http://schemas.openxmlformats.org/officeDocument/2006/relationships/slideLayout" Target="/ppt/slideLayouts/slideLayout1.xml" Id="R84a546b2756747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a546b2756747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d8166286f46a0" /><Relationship Type="http://schemas.openxmlformats.org/officeDocument/2006/relationships/notesSlide" Target="/ppt/notesSlides/notesSlide1.xml" Id="R98537d849fbc4c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31423d9d7447f" /><Relationship Type="http://schemas.openxmlformats.org/officeDocument/2006/relationships/notesSlide" Target="/ppt/notesSlides/notesSlide2.xml" Id="R9ccb3e1427794f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c64129a0e4741" /><Relationship Type="http://schemas.openxmlformats.org/officeDocument/2006/relationships/notesSlide" Target="/ppt/notesSlides/notesSlide3.xml" Id="R0803a9c0d2484a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dc17032ed4ec5" /><Relationship Type="http://schemas.openxmlformats.org/officeDocument/2006/relationships/notesSlide" Target="/ppt/notesSlides/notesSlide4.xml" Id="R73308136e2a24e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fd4bb3c4b4772" /><Relationship Type="http://schemas.openxmlformats.org/officeDocument/2006/relationships/notesSlide" Target="/ppt/notesSlides/notesSlide5.xml" Id="R42f63816142b40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e7ea2a0b54bdc" /><Relationship Type="http://schemas.openxmlformats.org/officeDocument/2006/relationships/notesSlide" Target="/ppt/notesSlides/notesSlide6.xml" Id="R5a6aca88684848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b9439d3004b53" /><Relationship Type="http://schemas.openxmlformats.org/officeDocument/2006/relationships/notesSlide" Target="/ppt/notesSlides/notesSlide7.xml" Id="Re06b982236f048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b5f7c38f14765" /><Relationship Type="http://schemas.openxmlformats.org/officeDocument/2006/relationships/notesSlide" Target="/ppt/notesSlides/notesSlide8.xml" Id="R6d080bcbabc84a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331cf02c2476e" /><Relationship Type="http://schemas.openxmlformats.org/officeDocument/2006/relationships/notesSlide" Target="/ppt/notesSlides/notesSlide9.xml" Id="R598e27a294584e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f85f0f1b340e0" /><Relationship Type="http://schemas.openxmlformats.org/officeDocument/2006/relationships/notesSlide" Target="/ppt/notesSlides/notesSlide10.xml" Id="R121b1f7266ee4c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42c64b63f49d3" /><Relationship Type="http://schemas.openxmlformats.org/officeDocument/2006/relationships/notesSlide" Target="/ppt/notesSlides/notesSlide11.xml" Id="R667ca3367ffc4e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d81812df242a1" /><Relationship Type="http://schemas.openxmlformats.org/officeDocument/2006/relationships/notesSlide" Target="/ppt/notesSlides/notesSlide12.xml" Id="R4b7f90c246f4475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fa55abad34543" /><Relationship Type="http://schemas.openxmlformats.org/officeDocument/2006/relationships/notesSlide" Target="/ppt/notesSlides/notesSlide13.xml" Id="R8430ba3886a749c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0438a63374f3c" /><Relationship Type="http://schemas.openxmlformats.org/officeDocument/2006/relationships/notesSlide" Target="/ppt/notesSlides/notesSlide14.xml" Id="R99a7c7d911054e0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0a1c5e9af436e" /><Relationship Type="http://schemas.openxmlformats.org/officeDocument/2006/relationships/notesSlide" Target="/ppt/notesSlides/notesSlide15.xml" Id="Rc7d8da16ff30466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4b8d24631427b" /><Relationship Type="http://schemas.openxmlformats.org/officeDocument/2006/relationships/notesSlide" Target="/ppt/notesSlides/notesSlide16.xml" Id="Rbcf58adb86ba423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7bdc39e4646be" /><Relationship Type="http://schemas.openxmlformats.org/officeDocument/2006/relationships/notesSlide" Target="/ppt/notesSlides/notesSlide17.xml" Id="R55c6f4cfa58a421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6f31d8976411b" /><Relationship Type="http://schemas.openxmlformats.org/officeDocument/2006/relationships/notesSlide" Target="/ppt/notesSlides/notesSlide18.xml" Id="R8957ef05d08a4ab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a9a29e3eb4be7" /><Relationship Type="http://schemas.openxmlformats.org/officeDocument/2006/relationships/notesSlide" Target="/ppt/notesSlides/notesSlide19.xml" Id="R47d2563245eb4c5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d1342b2884413" /><Relationship Type="http://schemas.openxmlformats.org/officeDocument/2006/relationships/notesSlide" Target="/ppt/notesSlides/notesSlide20.xml" Id="Rdb159b45a8354eb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3a501962240f9" /><Relationship Type="http://schemas.openxmlformats.org/officeDocument/2006/relationships/notesSlide" Target="/ppt/notesSlides/notesSlide21.xml" Id="Rc32e7daa2176427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b3927ecba4c61" /><Relationship Type="http://schemas.openxmlformats.org/officeDocument/2006/relationships/notesSlide" Target="/ppt/notesSlides/notesSlide22.xml" Id="R513c7b5178c7406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e817224db4145" /><Relationship Type="http://schemas.openxmlformats.org/officeDocument/2006/relationships/notesSlide" Target="/ppt/notesSlides/notesSlide23.xml" Id="R5df8d9996df6435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e7c9372c54d45" /><Relationship Type="http://schemas.openxmlformats.org/officeDocument/2006/relationships/notesSlide" Target="/ppt/notesSlides/notesSlide24.xml" Id="Rb61f4c6a60f6454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fe1cc79c6478b" /><Relationship Type="http://schemas.openxmlformats.org/officeDocument/2006/relationships/notesSlide" Target="/ppt/notesSlides/notesSlide25.xml" Id="R2b2087f42c17464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a391a6c9a4e14" /><Relationship Type="http://schemas.openxmlformats.org/officeDocument/2006/relationships/notesSlide" Target="/ppt/notesSlides/notesSlide26.xml" Id="R0c9ae917da7c4fc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b2876aff34f08" /><Relationship Type="http://schemas.openxmlformats.org/officeDocument/2006/relationships/notesSlide" Target="/ppt/notesSlides/notesSlide27.xml" Id="Ra0f4621d30c0465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2c70eeb454610" /><Relationship Type="http://schemas.openxmlformats.org/officeDocument/2006/relationships/notesSlide" Target="/ppt/notesSlides/notesSlide28.xml" Id="Rf1fc29dd10664ea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8152f64e5413f" /><Relationship Type="http://schemas.openxmlformats.org/officeDocument/2006/relationships/notesSlide" Target="/ppt/notesSlides/notesSlide29.xml" Id="R71b8d4d7caf8401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276dda36a4577" /><Relationship Type="http://schemas.openxmlformats.org/officeDocument/2006/relationships/notesSlide" Target="/ppt/notesSlides/notesSlide30.xml" Id="Rdf34110812fe409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6941f904d47d2" /><Relationship Type="http://schemas.openxmlformats.org/officeDocument/2006/relationships/notesSlide" Target="/ppt/notesSlides/notesSlide31.xml" Id="R63ff7432b849422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b9c304a6c4079" /><Relationship Type="http://schemas.openxmlformats.org/officeDocument/2006/relationships/notesSlide" Target="/ppt/notesSlides/notesSlide32.xml" Id="R5a72f6c53676409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7d25ae5dd48ea" /><Relationship Type="http://schemas.openxmlformats.org/officeDocument/2006/relationships/notesSlide" Target="/ppt/notesSlides/notesSlide33.xml" Id="Ra9074f048ab24e2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dd782f0974b59" /><Relationship Type="http://schemas.openxmlformats.org/officeDocument/2006/relationships/notesSlide" Target="/ppt/notesSlides/notesSlide34.xml" Id="R45cd2e67cd6c48d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65a1f95654b60" /><Relationship Type="http://schemas.openxmlformats.org/officeDocument/2006/relationships/notesSlide" Target="/ppt/notesSlides/notesSlide35.xml" Id="R4543514b787a4bb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d96f12ecf496e" /><Relationship Type="http://schemas.openxmlformats.org/officeDocument/2006/relationships/notesSlide" Target="/ppt/notesSlides/notesSlide36.xml" Id="R2a0385f291184a1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78ce277e94a93" /><Relationship Type="http://schemas.openxmlformats.org/officeDocument/2006/relationships/notesSlide" Target="/ppt/notesSlides/notesSlide37.xml" Id="R1e385ed3b312467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7408dc4284d8f" /><Relationship Type="http://schemas.openxmlformats.org/officeDocument/2006/relationships/notesSlide" Target="/ppt/notesSlides/notesSlide38.xml" Id="R7cf5d05593994bd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0fa1ddf874137" /><Relationship Type="http://schemas.openxmlformats.org/officeDocument/2006/relationships/notesSlide" Target="/ppt/notesSlides/notesSlide39.xml" Id="R18d04f16f98241a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55fccfe4e4505" /><Relationship Type="http://schemas.openxmlformats.org/officeDocument/2006/relationships/notesSlide" Target="/ppt/notesSlides/notesSlide40.xml" Id="Rc9408bd19cf245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21EBEA6F-EB87-4256-8816-7D8AE153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83E6B9D0-ECDA-4F13-9FD0-1A222F9C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01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5F853E92-1682-41C0-A2F7-E8AC01C7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019FB406-46AB-4CB1-A9A8-0630E45F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2B35B11D-426A-47B8-8B30-9A3314C1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D1AF9706-7515-4838-B2DC-DAE56E9A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33C947A6-4323-42D9-BBA4-2F2AF3D6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F00F6C91-377D-4505-A3A1-6C36B0A0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0AA6F0E3-926D-4852-ABF4-9CEB11CF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96300D77-1C81-4257-A02B-21A34C8A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16256A3F-4D65-4FA9-ACFB-8E0EF82A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0897C664-2816-4C88-880F-4D39644D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A27D2EF2-247A-4BD8-9B87-3AC2A304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CE2D9F0C-42EA-45F4-956B-0CC23399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0CAA7893-9A06-4635-9B25-9B15E4AF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1/6 · 误区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E10D347C-C4D2-4535-B41D-672AC1EC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017D45DD-9DCD-4D1A-BF79-31AB57BF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4E318453-0218-4B0C-B980-C0B6BEB4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今天给你一条从学习到求职的完整路径。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FE8E55D8-7120-409C-ACEA-0E7F1D87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695F4E19-F3C7-44E0-9F91-9BF470AE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产品经理想转 AI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到底该学什么？</a:t>
            </a:r>
          </a:p>
        </p:txBody>
      </p:sp>
      <p:sp>
        <p:nvSpPr>
          <p:cNvPr id="21" name="big">
            <a:extLst xmlns:a="http://schemas.openxmlformats.org/drawingml/2006/main">
              <a:ext uri="{FF2B5EF4-FFF2-40B4-BE49-F238E27FC236}">
                <a16:creationId xmlns:a16="http://schemas.microsoft.com/office/drawing/2014/main" id="{8FE9C3C4-8603-4667-AFCF-D51FC2C6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334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不是多学几个工具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而是建立一套能力体系</a:t>
            </a:r>
          </a:p>
        </p:txBody>
      </p:sp>
    </p:spTree>
    <p:extLst>
      <p:ext uri="{BB962C8B-B14F-4D97-AF65-F5344CB8AC3E}">
        <p14:creationId xmlns:p14="http://schemas.microsoft.com/office/powerpoint/2010/main" val="17402487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B1BFFDE5-7756-450B-9F61-3A5110A7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58278989-22EB-4DE6-9C76-2DD7C62D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02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E962FE48-E3FB-4C3F-8B17-CA9BCF0A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62DB1411-85D6-4ADC-95A0-1DAD9877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807C850E-F19A-453C-8C4C-D861CDDF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B31671B5-4BD5-4A98-9977-0A20046F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5860655D-C0A6-445F-8C83-7262ACB2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1E7E4506-FD9E-4EEC-8AB3-0141F831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9D472F45-49BC-4E2A-B280-3F923DE0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60DFD733-AD31-4888-9462-4AF191B2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3EA1546D-E368-43DF-88A9-9828A6A3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C4D7A27F-8676-4A2E-8749-2BA84E1D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94061406-E061-4117-968D-387FC951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A57E6D30-E966-49D0-8918-79817147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778A75E9-8ACB-4B2E-AFA0-85AC3D3A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1/6 · 误区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6E5BAABE-7682-4A6A-8602-24F29DAE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C535162D-0BD4-4534-B579-F78C4066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6632B3D0-AA10-4073-A1D3-F3336171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你会带走能力地图、项目标准和求职公式。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39254167-66FA-4ACD-A5F8-84447EE7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96B6D6B1-673D-486B-90DF-E2C199F5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今晚只解决三个问题</a:t>
            </a:r>
          </a:p>
        </p:txBody>
      </p:sp>
      <p:sp>
        <p:nvSpPr>
          <p:cNvPr id="21" name="num0">
            <a:extLst xmlns:a="http://schemas.openxmlformats.org/drawingml/2006/main">
              <a:ext uri="{FF2B5EF4-FFF2-40B4-BE49-F238E27FC236}">
                <a16:creationId xmlns:a16="http://schemas.microsoft.com/office/drawing/2014/main" id="{875C8382-1938-4CEF-81BA-C9FBF14B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68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02E"/>
                </a:solidFill>
              </a:defRPr>
            </a:pPr>
            <a:r>
              <a:rPr sz="1350" b="1">
                <a:solidFill>
                  <a:srgbClr val="FFB02E"/>
                </a:solidFill>
              </a:rPr>
              <a:t>01</a:t>
            </a:r>
          </a:p>
        </p:txBody>
      </p:sp>
      <p:sp>
        <p:nvSpPr>
          <p:cNvPr id="22" name="ct0">
            <a:extLst xmlns:a="http://schemas.openxmlformats.org/drawingml/2006/main">
              <a:ext uri="{FF2B5EF4-FFF2-40B4-BE49-F238E27FC236}">
                <a16:creationId xmlns:a16="http://schemas.microsoft.com/office/drawing/2014/main" id="{13F09CB7-1F8C-4BB7-B8B1-9F5EC0D0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68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能力</a:t>
            </a:r>
          </a:p>
        </p:txBody>
      </p:sp>
      <p:sp>
        <p:nvSpPr>
          <p:cNvPr id="23" name="rule0">
            <a:extLst xmlns:a="http://schemas.openxmlformats.org/drawingml/2006/main">
              <a:ext uri="{FF2B5EF4-FFF2-40B4-BE49-F238E27FC236}">
                <a16:creationId xmlns:a16="http://schemas.microsoft.com/office/drawing/2014/main" id="{96B19BE2-F6AC-4D42-BC74-6B22DD94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168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b0">
            <a:extLst xmlns:a="http://schemas.openxmlformats.org/drawingml/2006/main">
              <a:ext uri="{FF2B5EF4-FFF2-40B4-BE49-F238E27FC236}">
                <a16:creationId xmlns:a16="http://schemas.microsoft.com/office/drawing/2014/main" id="{48313853-48E4-4E7A-989B-AF2D34F2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1689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1E8"/>
                </a:solidFill>
              </a:defRPr>
            </a:pPr>
            <a:r>
              <a:rPr sz="1275" b="0">
                <a:solidFill>
                  <a:srgbClr val="AFC1E8"/>
                </a:solidFill>
              </a:rPr>
              <a:t>到底要补什么</a:t>
            </a:r>
          </a:p>
        </p:txBody>
      </p:sp>
      <p:sp>
        <p:nvSpPr>
          <p:cNvPr id="25" name="num1">
            <a:extLst xmlns:a="http://schemas.openxmlformats.org/drawingml/2006/main">
              <a:ext uri="{FF2B5EF4-FFF2-40B4-BE49-F238E27FC236}">
                <a16:creationId xmlns:a16="http://schemas.microsoft.com/office/drawing/2014/main" id="{72EAB8CD-94AD-4C6B-A06A-09E932EC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0" y="5048250"/>
            <a:ext cx="168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D5FF"/>
                </a:solidFill>
              </a:defRPr>
            </a:pPr>
            <a:r>
              <a:rPr sz="1350" b="1">
                <a:solidFill>
                  <a:srgbClr val="39D5FF"/>
                </a:solidFill>
              </a:rPr>
              <a:t>02</a:t>
            </a:r>
          </a:p>
        </p:txBody>
      </p:sp>
      <p:sp>
        <p:nvSpPr>
          <p:cNvPr id="26" name="ct1">
            <a:extLst xmlns:a="http://schemas.openxmlformats.org/drawingml/2006/main">
              <a:ext uri="{FF2B5EF4-FFF2-40B4-BE49-F238E27FC236}">
                <a16:creationId xmlns:a16="http://schemas.microsoft.com/office/drawing/2014/main" id="{5D60E81B-26BB-40A1-A3BA-0CBAB603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0" y="5429250"/>
            <a:ext cx="168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项目</a:t>
            </a:r>
          </a:p>
        </p:txBody>
      </p:sp>
      <p:sp>
        <p:nvSpPr>
          <p:cNvPr id="27" name="rule1">
            <a:extLst xmlns:a="http://schemas.openxmlformats.org/drawingml/2006/main">
              <a:ext uri="{FF2B5EF4-FFF2-40B4-BE49-F238E27FC236}">
                <a16:creationId xmlns:a16="http://schemas.microsoft.com/office/drawing/2014/main" id="{AC8807F4-60EF-43DC-BBB9-55968CA6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0" y="6000750"/>
            <a:ext cx="168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b1">
            <a:extLst xmlns:a="http://schemas.openxmlformats.org/drawingml/2006/main">
              <a:ext uri="{FF2B5EF4-FFF2-40B4-BE49-F238E27FC236}">
                <a16:creationId xmlns:a16="http://schemas.microsoft.com/office/drawing/2014/main" id="{72A396EE-B14A-4D3B-BA5F-4D2D8EC9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0" y="6153150"/>
            <a:ext cx="1689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1E8"/>
                </a:solidFill>
              </a:defRPr>
            </a:pPr>
            <a:r>
              <a:rPr sz="1275" b="0">
                <a:solidFill>
                  <a:srgbClr val="AFC1E8"/>
                </a:solidFill>
              </a:rPr>
              <a:t>没有经历怎么办</a:t>
            </a:r>
          </a:p>
        </p:txBody>
      </p:sp>
      <p:sp>
        <p:nvSpPr>
          <p:cNvPr id="29" name="num2">
            <a:extLst xmlns:a="http://schemas.openxmlformats.org/drawingml/2006/main">
              <a:ext uri="{FF2B5EF4-FFF2-40B4-BE49-F238E27FC236}">
                <a16:creationId xmlns:a16="http://schemas.microsoft.com/office/drawing/2014/main" id="{1C8F3D78-1312-43C5-B668-29B039D5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950" y="5048250"/>
            <a:ext cx="168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D5FF"/>
                </a:solidFill>
              </a:defRPr>
            </a:pPr>
            <a:r>
              <a:rPr sz="1350" b="1">
                <a:solidFill>
                  <a:srgbClr val="39D5FF"/>
                </a:solidFill>
              </a:rPr>
              <a:t>03</a:t>
            </a:r>
          </a:p>
        </p:txBody>
      </p:sp>
      <p:sp>
        <p:nvSpPr>
          <p:cNvPr id="30" name="ct2">
            <a:extLst xmlns:a="http://schemas.openxmlformats.org/drawingml/2006/main">
              <a:ext uri="{FF2B5EF4-FFF2-40B4-BE49-F238E27FC236}">
                <a16:creationId xmlns:a16="http://schemas.microsoft.com/office/drawing/2014/main" id="{A67EBEDF-2CCD-411D-AA0C-5FEA1390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950" y="5429250"/>
            <a:ext cx="168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求职</a:t>
            </a:r>
          </a:p>
        </p:txBody>
      </p:sp>
      <p:sp>
        <p:nvSpPr>
          <p:cNvPr id="31" name="rule2">
            <a:extLst xmlns:a="http://schemas.openxmlformats.org/drawingml/2006/main">
              <a:ext uri="{FF2B5EF4-FFF2-40B4-BE49-F238E27FC236}">
                <a16:creationId xmlns:a16="http://schemas.microsoft.com/office/drawing/2014/main" id="{563EB2C7-56B2-4625-9E5E-5F3706AF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950" y="6000750"/>
            <a:ext cx="168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b2">
            <a:extLst xmlns:a="http://schemas.openxmlformats.org/drawingml/2006/main">
              <a:ext uri="{FF2B5EF4-FFF2-40B4-BE49-F238E27FC236}">
                <a16:creationId xmlns:a16="http://schemas.microsoft.com/office/drawing/2014/main" id="{EF6B042B-9FC3-456E-A486-0BE4EAB5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950" y="6153150"/>
            <a:ext cx="1689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1E8"/>
                </a:solidFill>
              </a:defRPr>
            </a:pPr>
            <a:r>
              <a:rPr sz="1275" b="0">
                <a:solidFill>
                  <a:srgbClr val="AFC1E8"/>
                </a:solidFill>
              </a:rPr>
              <a:t>怎样讲清楚</a:t>
            </a:r>
          </a:p>
        </p:txBody>
      </p:sp>
    </p:spTree>
    <p:extLst>
      <p:ext uri="{BB962C8B-B14F-4D97-AF65-F5344CB8AC3E}">
        <p14:creationId xmlns:p14="http://schemas.microsoft.com/office/powerpoint/2010/main" val="5860612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D757E566-B94A-41F2-B429-70E3C0E0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5DD99BFD-6BE7-4C0A-AE67-AED1465C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03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F0D0F1E6-1D65-4A3D-9AD2-5FA9D371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36A9C81E-5229-41FE-9D1A-E441564D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6374D076-E44A-4932-9F18-8F723A45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9F9EA8EE-C0CA-4A9B-AC7A-F48570CD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D1EB1760-2979-4A98-89F7-54CED880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12B4F6E5-0964-4681-88D7-C1269075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93D74782-ACAE-4178-8F95-9DDC58BA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C61242A2-10BB-4EC0-B6D3-9FBA3846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992082FA-3987-44C2-AAF6-1A779216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806AA18D-BDBE-47E4-9304-376F1D5A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417A9AF4-F1CC-46E4-9169-6A4B0776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24D5E5FB-CC14-4AA6-9AF9-C00C96B3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7C101FF6-2A4B-4359-B623-A9355EF1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1/6 · 误区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367166D4-D87E-4EF9-AC7E-42A1B22B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F8A23C81-AE40-4B0F-967A-BAA54EDE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EF8B378E-12E6-4B41-B239-D5B12656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工具解决“能不能做出来”，产品解决“值不值得做”。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137C73CE-D6CA-4BA1-9E2E-634C2E43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C569BF8E-A078-4DB2-B4A1-D34E8E3E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会用 ChatGPT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不等于会做 AI 产品</a:t>
            </a:r>
          </a:p>
        </p:txBody>
      </p:sp>
      <p:sp>
        <p:nvSpPr>
          <p:cNvPr id="21" name="big">
            <a:extLst xmlns:a="http://schemas.openxmlformats.org/drawingml/2006/main">
              <a:ext uri="{FF2B5EF4-FFF2-40B4-BE49-F238E27FC236}">
                <a16:creationId xmlns:a16="http://schemas.microsoft.com/office/drawing/2014/main" id="{1785EE42-579A-40D9-BBEB-45BC640E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334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9D5FF"/>
                </a:solidFill>
              </a:defRPr>
            </a:pPr>
            <a:r>
              <a:rPr sz="2325" b="1">
                <a:solidFill>
                  <a:srgbClr val="39D5FF"/>
                </a:solidFill>
              </a:rPr>
              <a:t>工具只是入口</a:t>
            </a:r>
          </a:p>
          <a:p xmlns:a="http://schemas.openxmlformats.org/drawingml/2006/main">
            <a:pPr algn="l">
              <a:defRPr sz="2325" b="1">
                <a:solidFill>
                  <a:srgbClr val="39D5FF"/>
                </a:solidFill>
              </a:defRPr>
            </a:pPr>
            <a:r>
              <a:rPr sz="2325" b="1">
                <a:solidFill>
                  <a:srgbClr val="39D5FF"/>
                </a:solidFill>
              </a:rPr>
              <a:t>产品经理要对结果负责</a:t>
            </a:r>
          </a:p>
        </p:txBody>
      </p:sp>
    </p:spTree>
    <p:extLst>
      <p:ext uri="{BB962C8B-B14F-4D97-AF65-F5344CB8AC3E}">
        <p14:creationId xmlns:p14="http://schemas.microsoft.com/office/powerpoint/2010/main" val="9056230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2ACF0B3B-A20C-434D-910A-A1B5B139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69FED577-F3D5-450B-BB0F-5D7FC7F7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04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9D714380-EFF8-4798-B7D8-4D78D9BC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EC75AACB-73DB-4EB8-99C6-DCF02BCC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0962F429-818E-4661-9B02-EACD0670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0828E93F-10CF-4FEC-8C41-835F485D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FE1173CF-75AB-4400-B990-6CC2019B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184D8820-4584-48DD-8CF0-AEA93971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F8B87D84-7CC2-47DD-9844-1197CD6C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6AC25C21-D89A-4825-A547-638F2978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E62BB0FB-E0C0-4EE4-BAA0-A9A88CC6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791CAD5B-7AF6-41D9-9D5B-A8C3E812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FCAB2F56-323E-4546-8C6F-86117E94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5392E2D6-2A75-46B8-BEC8-65BE0705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81E538A5-931C-44F5-A44F-CDF2C401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1/6 · 误区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F3FD7CC1-54E6-4901-97BA-6BBCC7F1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4D1CB725-1261-49CB-AD83-BF0D793C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7793459D-E214-4B92-BE59-37DB9E7D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工具操作不能自动变成产品能力。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563DADEB-D66C-4943-91A2-00D9328D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4BE2A193-2B8C-4B86-9756-DCFF788D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误区一：只学工具</a:t>
            </a:r>
          </a:p>
        </p:txBody>
      </p:sp>
      <p:sp>
        <p:nvSpPr>
          <p:cNvPr id="21" name="dot0">
            <a:extLst xmlns:a="http://schemas.openxmlformats.org/drawingml/2006/main">
              <a:ext uri="{FF2B5EF4-FFF2-40B4-BE49-F238E27FC236}">
                <a16:creationId xmlns:a16="http://schemas.microsoft.com/office/drawing/2014/main" id="{A7DE68CB-71E9-4118-B54A-71D4F057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item0">
            <a:extLst xmlns:a="http://schemas.openxmlformats.org/drawingml/2006/main">
              <a:ext uri="{FF2B5EF4-FFF2-40B4-BE49-F238E27FC236}">
                <a16:creationId xmlns:a16="http://schemas.microsoft.com/office/drawing/2014/main" id="{4873D635-3552-4BE4-A6AA-6B16264F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能搭 Demo</a:t>
            </a:r>
          </a:p>
        </p:txBody>
      </p:sp>
      <p:sp>
        <p:nvSpPr>
          <p:cNvPr id="23" name="dot1">
            <a:extLst xmlns:a="http://schemas.openxmlformats.org/drawingml/2006/main">
              <a:ext uri="{FF2B5EF4-FFF2-40B4-BE49-F238E27FC236}">
                <a16:creationId xmlns:a16="http://schemas.microsoft.com/office/drawing/2014/main" id="{BCD3E6E5-BA14-4EC4-82BE-D85CDC79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6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tem1">
            <a:extLst xmlns:a="http://schemas.openxmlformats.org/drawingml/2006/main">
              <a:ext uri="{FF2B5EF4-FFF2-40B4-BE49-F238E27FC236}">
                <a16:creationId xmlns:a16="http://schemas.microsoft.com/office/drawing/2014/main" id="{27CD119C-C289-4864-9B7D-77A70B57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说不清业务价值</a:t>
            </a:r>
          </a:p>
        </p:txBody>
      </p:sp>
      <p:sp>
        <p:nvSpPr>
          <p:cNvPr id="25" name="dot2">
            <a:extLst xmlns:a="http://schemas.openxmlformats.org/drawingml/2006/main">
              <a:ext uri="{FF2B5EF4-FFF2-40B4-BE49-F238E27FC236}">
                <a16:creationId xmlns:a16="http://schemas.microsoft.com/office/drawing/2014/main" id="{D330DC51-ADCB-4529-AE34-9166D67E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item2">
            <a:extLst xmlns:a="http://schemas.openxmlformats.org/drawingml/2006/main">
              <a:ext uri="{FF2B5EF4-FFF2-40B4-BE49-F238E27FC236}">
                <a16:creationId xmlns:a16="http://schemas.microsoft.com/office/drawing/2014/main" id="{C127E1D0-2B3C-4461-83F2-955229F1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没有评估与落地</a:t>
            </a:r>
          </a:p>
        </p:txBody>
      </p:sp>
    </p:spTree>
    <p:extLst>
      <p:ext uri="{BB962C8B-B14F-4D97-AF65-F5344CB8AC3E}">
        <p14:creationId xmlns:p14="http://schemas.microsoft.com/office/powerpoint/2010/main" val="389775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38BF0ADB-8DFA-4539-AEFB-5A657A2F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5AF42A22-212A-476D-BF1D-189E2238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05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059AA370-A2B6-4756-82FD-258FB5D5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250D4732-1975-4275-9733-791D0DC2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E9FED071-F3F9-41CB-96B2-D456542E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F9744BE3-73E2-42A0-9BF7-8E50ABB5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83D41659-15A0-4949-96A6-9B3FE60B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F8AD8BE3-89D0-4B5F-8098-D9786053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E4BFA85E-17C1-455F-8204-BCA1EF97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4C95638B-F5BE-468A-90CD-5A4D28FA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040E49BE-4086-4F79-AEB0-639B9CF0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772404E9-F56E-4899-ABE1-64AA1098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14789B80-D5DF-4EC1-BC17-2F1310D8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1DF6826B-B6C4-4355-A2F8-E83C1F2D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E67B1CE5-3A20-4573-AB38-1CA55648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1/6 · 误区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79AFBD0B-3E6F-4BDD-98E3-CFE9C500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C6F074EE-9811-4E33-B63B-CB4E0491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AB8A25C0-E70B-49E0-97A0-B6A73018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关键看有没有业务问题、完整流程、风险和指标。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14FFF27B-234D-4DCD-AD4D-2A876686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08512CE6-2176-4851-8451-7B9C4DB2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会用 Dify 搭知识库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算 AI 产品项目吗？</a:t>
            </a:r>
          </a:p>
        </p:txBody>
      </p:sp>
      <p:sp>
        <p:nvSpPr>
          <p:cNvPr id="21" name="big">
            <a:extLst xmlns:a="http://schemas.openxmlformats.org/drawingml/2006/main">
              <a:ext uri="{FF2B5EF4-FFF2-40B4-BE49-F238E27FC236}">
                <a16:creationId xmlns:a16="http://schemas.microsoft.com/office/drawing/2014/main" id="{0B0B7B5B-B89A-45BE-AA56-C0F035FF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334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B02E"/>
                </a:solidFill>
              </a:defRPr>
            </a:pPr>
            <a:r>
              <a:rPr sz="2325" b="1">
                <a:solidFill>
                  <a:srgbClr val="FFB02E"/>
                </a:solidFill>
              </a:rPr>
              <a:t>答案：不一定</a:t>
            </a:r>
          </a:p>
        </p:txBody>
      </p:sp>
    </p:spTree>
    <p:extLst>
      <p:ext uri="{BB962C8B-B14F-4D97-AF65-F5344CB8AC3E}">
        <p14:creationId xmlns:p14="http://schemas.microsoft.com/office/powerpoint/2010/main" val="2335412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8BAB7B40-C26A-4834-AF39-CDCBE84B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9597E23D-7765-4A64-90CA-A89F7AA9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06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79103CAC-251F-4331-8C3F-F1BAD2A2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68A68ADA-580F-414E-B6A7-23DBBA8A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42D96E03-492E-43E7-AD4C-69485C23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58F8C010-6D42-4AE2-8447-988B6141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4502AFBA-A37F-4960-AE7C-D1D9E2BE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182CFAAC-CB1C-4FC0-B4AC-4BBB85F3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0F27188D-8B84-4484-B4FA-82EE02CF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0D0FE052-FB23-4AF0-A771-63F78326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087A2192-D9AF-4C79-97E5-BF692518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D0C65369-5216-45B6-A673-4B7B8FF7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76060ECD-5F9A-430E-862D-D7F82489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9F9C50A2-76F9-4B75-9D8A-D361BCE3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217B89EA-BEEA-4F70-BAEE-15286834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1/6 · 误区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30F1C75F-2461-4084-B937-74876721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A0B283D2-4A22-4292-9858-788447A0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24D6722D-B66D-4FD3-BF3E-B609920F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AI 产品经理不是算法工程师，也不能完全不懂技术。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DA3C5C70-56B3-4CE1-8230-1790A535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7DDE21A1-092D-4C6A-84D8-2BF07FCA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误区二：被技术吓退</a:t>
            </a:r>
          </a:p>
        </p:txBody>
      </p:sp>
      <p:sp>
        <p:nvSpPr>
          <p:cNvPr id="21" name="dot0">
            <a:extLst xmlns:a="http://schemas.openxmlformats.org/drawingml/2006/main">
              <a:ext uri="{FF2B5EF4-FFF2-40B4-BE49-F238E27FC236}">
                <a16:creationId xmlns:a16="http://schemas.microsoft.com/office/drawing/2014/main" id="{E01DF492-38D2-4CE9-B790-F3A83A75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item0">
            <a:extLst xmlns:a="http://schemas.openxmlformats.org/drawingml/2006/main">
              <a:ext uri="{FF2B5EF4-FFF2-40B4-BE49-F238E27FC236}">
                <a16:creationId xmlns:a16="http://schemas.microsoft.com/office/drawing/2014/main" id="{31C13AF9-EDD2-4AC1-98CC-17C6E039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不必训练模型</a:t>
            </a:r>
          </a:p>
        </p:txBody>
      </p:sp>
      <p:sp>
        <p:nvSpPr>
          <p:cNvPr id="23" name="dot1">
            <a:extLst xmlns:a="http://schemas.openxmlformats.org/drawingml/2006/main">
              <a:ext uri="{FF2B5EF4-FFF2-40B4-BE49-F238E27FC236}">
                <a16:creationId xmlns:a16="http://schemas.microsoft.com/office/drawing/2014/main" id="{5E02A13F-6951-4BAD-9145-0D2A265C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6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tem1">
            <a:extLst xmlns:a="http://schemas.openxmlformats.org/drawingml/2006/main">
              <a:ext uri="{FF2B5EF4-FFF2-40B4-BE49-F238E27FC236}">
                <a16:creationId xmlns:a16="http://schemas.microsoft.com/office/drawing/2014/main" id="{C8BF0F28-DD2D-4FF6-BEBD-7C325D40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必须理解能力边界</a:t>
            </a:r>
          </a:p>
        </p:txBody>
      </p:sp>
      <p:sp>
        <p:nvSpPr>
          <p:cNvPr id="25" name="dot2">
            <a:extLst xmlns:a="http://schemas.openxmlformats.org/drawingml/2006/main">
              <a:ext uri="{FF2B5EF4-FFF2-40B4-BE49-F238E27FC236}">
                <a16:creationId xmlns:a16="http://schemas.microsoft.com/office/drawing/2014/main" id="{86ED3CA6-B91C-4D38-BDE3-4738268D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item2">
            <a:extLst xmlns:a="http://schemas.openxmlformats.org/drawingml/2006/main">
              <a:ext uri="{FF2B5EF4-FFF2-40B4-BE49-F238E27FC236}">
                <a16:creationId xmlns:a16="http://schemas.microsoft.com/office/drawing/2014/main" id="{2718C62D-61A5-49FD-807E-BCC09B66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要能和技术高效协作</a:t>
            </a:r>
          </a:p>
        </p:txBody>
      </p:sp>
    </p:spTree>
    <p:extLst>
      <p:ext uri="{BB962C8B-B14F-4D97-AF65-F5344CB8AC3E}">
        <p14:creationId xmlns:p14="http://schemas.microsoft.com/office/powerpoint/2010/main" val="19682559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D2817C7D-A5FC-4971-990A-BDD8A9D4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EDB4F55E-2BE8-4590-8841-606843CB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07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A1B6CADE-DCC3-4F3D-B3C7-9D039A9C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2C98731B-F1D1-4ACC-8B45-D19CDB74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D299A9C8-DB37-4178-846D-9FE90727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52FE3FE6-2E5A-4A1E-925F-D63CC4D7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DFA4B66B-2412-4287-967C-98689E6D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0D07CA87-F88F-4820-9F68-48ED6606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BFE4CA3C-3542-4E00-93F1-7BED6D8F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03C3F279-9E66-4808-9D8F-2DBA2119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83081750-316C-40C5-BBE5-6E40876C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E2D143F3-99FF-4E5C-A567-6BA3FF3E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F20A2D72-EC7A-45D1-9BD8-80E9DFD3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2375BDA3-D0E3-45D8-BB72-FAFD8F4F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1110F105-76C7-440A-81A4-3594222A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1/6 · 误区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D29ABF5F-DF69-4BA8-BD01-CA9467D2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F019758F-68E1-40F3-A700-BCF6B1A7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0B2BECBF-7E13-4940-A005-E1C554E8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真正的差距，是没有形成可以被追问的项目证据。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70C40FC0-0E9E-4086-BFD8-C18AC2B3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85844460-DFFE-4DD8-9261-1D0FAE91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误区三：概念很多，项目很薄</a:t>
            </a:r>
          </a:p>
        </p:txBody>
      </p:sp>
      <p:sp>
        <p:nvSpPr>
          <p:cNvPr id="21" name="num0">
            <a:extLst xmlns:a="http://schemas.openxmlformats.org/drawingml/2006/main">
              <a:ext uri="{FF2B5EF4-FFF2-40B4-BE49-F238E27FC236}">
                <a16:creationId xmlns:a16="http://schemas.microsoft.com/office/drawing/2014/main" id="{64200FE6-21BB-401A-A7C6-B69B93D8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68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02E"/>
                </a:solidFill>
              </a:defRPr>
            </a:pPr>
            <a:r>
              <a:rPr sz="1350" b="1">
                <a:solidFill>
                  <a:srgbClr val="FFB02E"/>
                </a:solidFill>
              </a:rPr>
              <a:t>01</a:t>
            </a:r>
          </a:p>
        </p:txBody>
      </p:sp>
      <p:sp>
        <p:nvSpPr>
          <p:cNvPr id="22" name="ct0">
            <a:extLst xmlns:a="http://schemas.openxmlformats.org/drawingml/2006/main">
              <a:ext uri="{FF2B5EF4-FFF2-40B4-BE49-F238E27FC236}">
                <a16:creationId xmlns:a16="http://schemas.microsoft.com/office/drawing/2014/main" id="{57D0BE5F-45AD-4AEA-B65D-6E3B6528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68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概念</a:t>
            </a:r>
          </a:p>
        </p:txBody>
      </p:sp>
      <p:sp>
        <p:nvSpPr>
          <p:cNvPr id="23" name="rule0">
            <a:extLst xmlns:a="http://schemas.openxmlformats.org/drawingml/2006/main">
              <a:ext uri="{FF2B5EF4-FFF2-40B4-BE49-F238E27FC236}">
                <a16:creationId xmlns:a16="http://schemas.microsoft.com/office/drawing/2014/main" id="{774F697D-F595-40A4-9433-475BF6AF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168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b0">
            <a:extLst xmlns:a="http://schemas.openxmlformats.org/drawingml/2006/main">
              <a:ext uri="{FF2B5EF4-FFF2-40B4-BE49-F238E27FC236}">
                <a16:creationId xmlns:a16="http://schemas.microsoft.com/office/drawing/2014/main" id="{1FD7E1D4-70DB-47E5-BA81-51AC7F0A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1689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1E8"/>
                </a:solidFill>
              </a:defRPr>
            </a:pPr>
            <a:r>
              <a:rPr sz="1275" b="0">
                <a:solidFill>
                  <a:srgbClr val="AFC1E8"/>
                </a:solidFill>
              </a:rPr>
              <a:t>知道 RAG、Agent</a:t>
            </a:r>
          </a:p>
        </p:txBody>
      </p:sp>
      <p:sp>
        <p:nvSpPr>
          <p:cNvPr id="25" name="num1">
            <a:extLst xmlns:a="http://schemas.openxmlformats.org/drawingml/2006/main">
              <a:ext uri="{FF2B5EF4-FFF2-40B4-BE49-F238E27FC236}">
                <a16:creationId xmlns:a16="http://schemas.microsoft.com/office/drawing/2014/main" id="{B06618A1-5381-4F19-BB01-0235578A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0" y="5048250"/>
            <a:ext cx="168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D5FF"/>
                </a:solidFill>
              </a:defRPr>
            </a:pPr>
            <a:r>
              <a:rPr sz="1350" b="1">
                <a:solidFill>
                  <a:srgbClr val="39D5FF"/>
                </a:solidFill>
              </a:rPr>
              <a:t>02</a:t>
            </a:r>
          </a:p>
        </p:txBody>
      </p:sp>
      <p:sp>
        <p:nvSpPr>
          <p:cNvPr id="26" name="ct1">
            <a:extLst xmlns:a="http://schemas.openxmlformats.org/drawingml/2006/main">
              <a:ext uri="{FF2B5EF4-FFF2-40B4-BE49-F238E27FC236}">
                <a16:creationId xmlns:a16="http://schemas.microsoft.com/office/drawing/2014/main" id="{E142BD1E-26B7-4380-A97A-51A4B442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0" y="5429250"/>
            <a:ext cx="168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项目</a:t>
            </a:r>
          </a:p>
        </p:txBody>
      </p:sp>
      <p:sp>
        <p:nvSpPr>
          <p:cNvPr id="27" name="rule1">
            <a:extLst xmlns:a="http://schemas.openxmlformats.org/drawingml/2006/main">
              <a:ext uri="{FF2B5EF4-FFF2-40B4-BE49-F238E27FC236}">
                <a16:creationId xmlns:a16="http://schemas.microsoft.com/office/drawing/2014/main" id="{2F3B5C09-145F-468A-B91B-DE7F0C20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0" y="6000750"/>
            <a:ext cx="168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b1">
            <a:extLst xmlns:a="http://schemas.openxmlformats.org/drawingml/2006/main">
              <a:ext uri="{FF2B5EF4-FFF2-40B4-BE49-F238E27FC236}">
                <a16:creationId xmlns:a16="http://schemas.microsoft.com/office/drawing/2014/main" id="{971BEB68-A43D-414E-9514-C4497143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0" y="6153150"/>
            <a:ext cx="1689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1E8"/>
                </a:solidFill>
              </a:defRPr>
            </a:pPr>
            <a:r>
              <a:rPr sz="1275" b="0">
                <a:solidFill>
                  <a:srgbClr val="AFC1E8"/>
                </a:solidFill>
              </a:rPr>
              <a:t>只有工具截图</a:t>
            </a:r>
          </a:p>
        </p:txBody>
      </p:sp>
      <p:sp>
        <p:nvSpPr>
          <p:cNvPr id="29" name="num2">
            <a:extLst xmlns:a="http://schemas.openxmlformats.org/drawingml/2006/main">
              <a:ext uri="{FF2B5EF4-FFF2-40B4-BE49-F238E27FC236}">
                <a16:creationId xmlns:a16="http://schemas.microsoft.com/office/drawing/2014/main" id="{15AC724B-59EC-4074-965E-102D6F8E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950" y="5048250"/>
            <a:ext cx="168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D5FF"/>
                </a:solidFill>
              </a:defRPr>
            </a:pPr>
            <a:r>
              <a:rPr sz="1350" b="1">
                <a:solidFill>
                  <a:srgbClr val="39D5FF"/>
                </a:solidFill>
              </a:rPr>
              <a:t>03</a:t>
            </a:r>
          </a:p>
        </p:txBody>
      </p:sp>
      <p:sp>
        <p:nvSpPr>
          <p:cNvPr id="30" name="ct2">
            <a:extLst xmlns:a="http://schemas.openxmlformats.org/drawingml/2006/main">
              <a:ext uri="{FF2B5EF4-FFF2-40B4-BE49-F238E27FC236}">
                <a16:creationId xmlns:a16="http://schemas.microsoft.com/office/drawing/2014/main" id="{92E79A52-46D0-4845-9CF7-D4E492BE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950" y="5429250"/>
            <a:ext cx="168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表达</a:t>
            </a:r>
          </a:p>
        </p:txBody>
      </p:sp>
      <p:sp>
        <p:nvSpPr>
          <p:cNvPr id="31" name="rule2">
            <a:extLst xmlns:a="http://schemas.openxmlformats.org/drawingml/2006/main">
              <a:ext uri="{FF2B5EF4-FFF2-40B4-BE49-F238E27FC236}">
                <a16:creationId xmlns:a16="http://schemas.microsoft.com/office/drawing/2014/main" id="{E10FB746-BD13-427C-BD41-574161A8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950" y="6000750"/>
            <a:ext cx="168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b2">
            <a:extLst xmlns:a="http://schemas.openxmlformats.org/drawingml/2006/main">
              <a:ext uri="{FF2B5EF4-FFF2-40B4-BE49-F238E27FC236}">
                <a16:creationId xmlns:a16="http://schemas.microsoft.com/office/drawing/2014/main" id="{5865ADEC-EB86-4E35-8F46-A88971F8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950" y="6153150"/>
            <a:ext cx="1689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1E8"/>
                </a:solidFill>
              </a:defRPr>
            </a:pPr>
            <a:r>
              <a:rPr sz="1275" b="0">
                <a:solidFill>
                  <a:srgbClr val="AFC1E8"/>
                </a:solidFill>
              </a:rPr>
              <a:t>简历堆关键词</a:t>
            </a:r>
          </a:p>
        </p:txBody>
      </p:sp>
    </p:spTree>
    <p:extLst>
      <p:ext uri="{BB962C8B-B14F-4D97-AF65-F5344CB8AC3E}">
        <p14:creationId xmlns:p14="http://schemas.microsoft.com/office/powerpoint/2010/main" val="134957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22426C54-970F-474C-8778-1F321107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91BD9B67-342F-4A0B-80A0-D058E33B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08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D0A5B722-124B-41E7-9DD6-47B96036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AE65FA4E-7490-484C-841C-153AFB3F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62A85F3C-533C-40C9-9D09-7C6B74B9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9ECB7ABE-55B9-495D-B14A-3D073006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5FFDBA89-6254-4A6C-9C69-97545040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61F3FD9A-C546-4084-8EAF-48D7E44E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E83D2983-3DC1-4E1A-81A9-6A8E7943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3A1DC1FC-90BC-4D2C-BB32-457F5514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CF4199DB-A1C1-47E7-9DA5-27925CCA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0010BDBD-5B8A-4714-AEE4-4880CC0B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63E7275B-3CD5-476E-8BE1-E0F080B3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43E36826-7448-4601-B9AC-44E6A674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F667BA70-34D1-4682-A753-DC2ECF54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2/6 · 能力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8854B94F-2AEB-4D24-A6F1-D814E0A0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C8BF55D2-EDEE-400B-9086-BF00D238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DED42944-2359-4B91-BB48-1E22F820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岗位能力和求职能力要区分，但最终必须连接。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9BFF6A6B-D6EB-45DF-B689-307772D6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D707EC93-EE86-46EF-929C-44A32DC2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AI 产品经理需要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六类核心能力 + 1</a:t>
            </a:r>
          </a:p>
        </p:txBody>
      </p:sp>
      <p:sp>
        <p:nvSpPr>
          <p:cNvPr id="21" name="big">
            <a:extLst xmlns:a="http://schemas.openxmlformats.org/drawingml/2006/main">
              <a:ext uri="{FF2B5EF4-FFF2-40B4-BE49-F238E27FC236}">
                <a16:creationId xmlns:a16="http://schemas.microsoft.com/office/drawing/2014/main" id="{6FB586A5-C2D3-4DC7-A0B7-0AEC8ACD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334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B02E"/>
                </a:solidFill>
              </a:defRPr>
            </a:pPr>
            <a:r>
              <a:rPr sz="2325" b="1">
                <a:solidFill>
                  <a:srgbClr val="FFB02E"/>
                </a:solidFill>
              </a:rPr>
              <a:t>前六类负责做产品</a:t>
            </a:r>
          </a:p>
          <a:p xmlns:a="http://schemas.openxmlformats.org/drawingml/2006/main">
            <a:pPr algn="l">
              <a:defRPr sz="2325" b="1">
                <a:solidFill>
                  <a:srgbClr val="FFB02E"/>
                </a:solidFill>
              </a:defRPr>
            </a:pPr>
            <a:r>
              <a:rPr sz="2325" b="1">
                <a:solidFill>
                  <a:srgbClr val="FFB02E"/>
                </a:solidFill>
              </a:rPr>
              <a:t>最后一类负责求职转化</a:t>
            </a:r>
          </a:p>
        </p:txBody>
      </p:sp>
    </p:spTree>
    <p:extLst>
      <p:ext uri="{BB962C8B-B14F-4D97-AF65-F5344CB8AC3E}">
        <p14:creationId xmlns:p14="http://schemas.microsoft.com/office/powerpoint/2010/main" val="355937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7C761F34-7B87-4101-8102-AFAC773D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F31A8072-5BDF-45E7-90F8-AE0656F9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09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EC72B1AF-3C24-420A-AEEE-E3E4F9E8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58BE91F6-C05C-44A0-965F-3D71718B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E3AEA7A2-7A62-4C27-BAEF-1396CBCB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86118893-A71C-4160-A8F0-2C3EB994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BB6F2A58-9B7B-42CB-8F6B-230DF0D2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239D375C-5719-4B3E-BDBE-4E167534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57291C70-D445-4D32-BEFD-D3967358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F2D2ABEC-5926-4F7C-9E1F-05DD0491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3B526478-0964-4469-A490-0A461CF4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6849611C-14E4-4252-AE32-F0FCE32E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7ACAAA5B-DF7A-4D75-8309-B6EBA7C3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279A306D-5065-4106-87EC-DD3D2E99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64DA7EA1-54D4-4DA5-AF0D-0772AB6B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2/6 · 能力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66C592FC-A94D-4163-8899-E76FF10E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8BC623E6-C7DA-4043-AA93-2B9682F6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AADE46F3-EAA9-401A-962D-40ECB719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不背术语，要能用概念做产品判断。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28B69A6A-4A24-4A92-917A-707815A8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7BA1AA6C-93F1-41ED-9905-DC4D8331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能力一：AI 基础认知</a:t>
            </a:r>
          </a:p>
        </p:txBody>
      </p:sp>
      <p:sp>
        <p:nvSpPr>
          <p:cNvPr id="21" name="dot0">
            <a:extLst xmlns:a="http://schemas.openxmlformats.org/drawingml/2006/main">
              <a:ext uri="{FF2B5EF4-FFF2-40B4-BE49-F238E27FC236}">
                <a16:creationId xmlns:a16="http://schemas.microsoft.com/office/drawing/2014/main" id="{82743B04-BB83-40C1-AD59-DD8174B1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item0">
            <a:extLst xmlns:a="http://schemas.openxmlformats.org/drawingml/2006/main">
              <a:ext uri="{FF2B5EF4-FFF2-40B4-BE49-F238E27FC236}">
                <a16:creationId xmlns:a16="http://schemas.microsoft.com/office/drawing/2014/main" id="{2FCACD09-5135-47CF-ACEB-8DD7B47E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知道技术解决什么问题</a:t>
            </a:r>
          </a:p>
        </p:txBody>
      </p:sp>
      <p:sp>
        <p:nvSpPr>
          <p:cNvPr id="23" name="dot1">
            <a:extLst xmlns:a="http://schemas.openxmlformats.org/drawingml/2006/main">
              <a:ext uri="{FF2B5EF4-FFF2-40B4-BE49-F238E27FC236}">
                <a16:creationId xmlns:a16="http://schemas.microsoft.com/office/drawing/2014/main" id="{FBC481C3-C716-4953-8A4C-4430A7C5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6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tem1">
            <a:extLst xmlns:a="http://schemas.openxmlformats.org/drawingml/2006/main">
              <a:ext uri="{FF2B5EF4-FFF2-40B4-BE49-F238E27FC236}">
                <a16:creationId xmlns:a16="http://schemas.microsoft.com/office/drawing/2014/main" id="{0E6C3D9D-CE72-4F99-B431-6CF6DA77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理解适用场景与边界</a:t>
            </a:r>
          </a:p>
        </p:txBody>
      </p:sp>
      <p:sp>
        <p:nvSpPr>
          <p:cNvPr id="25" name="dot2">
            <a:extLst xmlns:a="http://schemas.openxmlformats.org/drawingml/2006/main">
              <a:ext uri="{FF2B5EF4-FFF2-40B4-BE49-F238E27FC236}">
                <a16:creationId xmlns:a16="http://schemas.microsoft.com/office/drawing/2014/main" id="{6A79569E-BED2-4119-BD11-E7493259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item2">
            <a:extLst xmlns:a="http://schemas.openxmlformats.org/drawingml/2006/main">
              <a:ext uri="{FF2B5EF4-FFF2-40B4-BE49-F238E27FC236}">
                <a16:creationId xmlns:a16="http://schemas.microsoft.com/office/drawing/2014/main" id="{4529E00A-4868-4D72-9FC9-83A90F45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能写进产品方案</a:t>
            </a:r>
          </a:p>
        </p:txBody>
      </p:sp>
    </p:spTree>
    <p:extLst>
      <p:ext uri="{BB962C8B-B14F-4D97-AF65-F5344CB8AC3E}">
        <p14:creationId xmlns:p14="http://schemas.microsoft.com/office/powerpoint/2010/main" val="7891666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CC536AD1-CE37-498F-8D49-638EA60C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9F8869F3-5EB8-4288-B817-240316E6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10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F27C46EB-E979-4C67-9EAD-5CE71B6E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5D1023C6-A90B-4717-928C-FFD4F040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325EE2B9-52AC-4F07-B6C3-572C4144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D82F2585-438E-4367-903B-843A2D97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F82F986A-5D63-4EA7-A100-1F1E570C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DF33C03A-6415-4551-8B45-ACAF3A31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A2E17534-116D-4402-8DCB-BD43A05A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24D6D936-04D7-4E99-978A-959DEA20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898A27F8-8E98-4FBE-95A1-D4FF78E2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EE2C4064-37B4-4EFA-9D84-97712CF8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6334CE98-C486-4612-BA4B-BD25C649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C48CE556-8D46-4B5A-83F1-221769C6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5B63EE7B-F2CB-4E2F-B697-A7A42E99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2/6 · 能力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CFF1839F-7B95-408B-AF69-5F9EFCB2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FFD6A83D-CFA1-47A5-93F3-880DCAD3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8FE70480-AB0E-4121-9804-4B0E13E3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最重要的不是“能不能用AI”，而是“该不该用”。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23F769A3-D3A1-4D89-A430-BD2D16B4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CFA21081-F0FD-484D-8C22-636B27A3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能力二：场景判断</a:t>
            </a:r>
          </a:p>
        </p:txBody>
      </p:sp>
      <p:sp>
        <p:nvSpPr>
          <p:cNvPr id="21" name="dot0">
            <a:extLst xmlns:a="http://schemas.openxmlformats.org/drawingml/2006/main">
              <a:ext uri="{FF2B5EF4-FFF2-40B4-BE49-F238E27FC236}">
                <a16:creationId xmlns:a16="http://schemas.microsoft.com/office/drawing/2014/main" id="{A55D61B4-07F0-4187-8EBC-A73DB015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item0">
            <a:extLst xmlns:a="http://schemas.openxmlformats.org/drawingml/2006/main">
              <a:ext uri="{FF2B5EF4-FFF2-40B4-BE49-F238E27FC236}">
                <a16:creationId xmlns:a16="http://schemas.microsoft.com/office/drawing/2014/main" id="{F40BCAA4-81BC-4758-8536-30C02456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业务问题是否真实</a:t>
            </a:r>
          </a:p>
        </p:txBody>
      </p:sp>
      <p:sp>
        <p:nvSpPr>
          <p:cNvPr id="23" name="dot1">
            <a:extLst xmlns:a="http://schemas.openxmlformats.org/drawingml/2006/main">
              <a:ext uri="{FF2B5EF4-FFF2-40B4-BE49-F238E27FC236}">
                <a16:creationId xmlns:a16="http://schemas.microsoft.com/office/drawing/2014/main" id="{17037888-7AC7-4160-ADA2-71019D4B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6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tem1">
            <a:extLst xmlns:a="http://schemas.openxmlformats.org/drawingml/2006/main">
              <a:ext uri="{FF2B5EF4-FFF2-40B4-BE49-F238E27FC236}">
                <a16:creationId xmlns:a16="http://schemas.microsoft.com/office/drawing/2014/main" id="{8B5726CE-AAB4-4C71-8990-1DA1AB9D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AI 是否比普通方案更合适</a:t>
            </a:r>
          </a:p>
        </p:txBody>
      </p:sp>
      <p:sp>
        <p:nvSpPr>
          <p:cNvPr id="25" name="dot2">
            <a:extLst xmlns:a="http://schemas.openxmlformats.org/drawingml/2006/main">
              <a:ext uri="{FF2B5EF4-FFF2-40B4-BE49-F238E27FC236}">
                <a16:creationId xmlns:a16="http://schemas.microsoft.com/office/drawing/2014/main" id="{2C108D43-F9B7-4FEE-9221-9B709E54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item2">
            <a:extLst xmlns:a="http://schemas.openxmlformats.org/drawingml/2006/main">
              <a:ext uri="{FF2B5EF4-FFF2-40B4-BE49-F238E27FC236}">
                <a16:creationId xmlns:a16="http://schemas.microsoft.com/office/drawing/2014/main" id="{5204E216-4745-45BB-A845-36190F67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价值、风险与成本是否可控</a:t>
            </a:r>
          </a:p>
        </p:txBody>
      </p:sp>
    </p:spTree>
    <p:extLst>
      <p:ext uri="{BB962C8B-B14F-4D97-AF65-F5344CB8AC3E}">
        <p14:creationId xmlns:p14="http://schemas.microsoft.com/office/powerpoint/2010/main" val="3212639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D536CC19-7ECB-4F48-95CE-ECB1201F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74DE93A3-9D01-4D54-A29B-95807FB1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11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6B757B1F-FA38-4016-A3DF-BFCDDF7E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043C102B-0432-4662-A5B4-BD852D16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56F4110C-ECDF-45A2-98A9-A2F54AAA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2599BF85-2D35-4C81-BBEC-986320D7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BBD5FE74-E639-420F-A7EC-D908FB6B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99AE9C1E-BFF4-4539-969D-C771D83E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768DF3AE-7F4C-4187-946A-B2386AF7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E6FEE174-CE6D-4B88-8277-80C04017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336CB936-3142-43AC-91CB-2F3C8E33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D68DC99E-FBCC-4750-AD73-DE833E89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B7C59F64-A988-4B7B-8686-06106633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000ADCEE-0730-4669-A657-5F1A7256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DD353241-2AA0-4CE0-A61B-E955FD39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2/6 · 能力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8B79F3C8-8C23-4CB9-A773-30F23F14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17387EDA-D893-48D0-9978-9CA48088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90A8DF10-23F9-48FF-B2AD-3E7567A6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点子不是产品，完整方案才是。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30F190EC-6B79-4173-AA81-A8C274E5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4042C63D-E6FA-4AAD-940D-14CAC039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能力三：产品方案</a:t>
            </a:r>
          </a:p>
        </p:txBody>
      </p:sp>
      <p:sp>
        <p:nvSpPr>
          <p:cNvPr id="21" name="dot0">
            <a:extLst xmlns:a="http://schemas.openxmlformats.org/drawingml/2006/main">
              <a:ext uri="{FF2B5EF4-FFF2-40B4-BE49-F238E27FC236}">
                <a16:creationId xmlns:a16="http://schemas.microsoft.com/office/drawing/2014/main" id="{66200DEC-F93F-420A-A651-BD2AD009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item0">
            <a:extLst xmlns:a="http://schemas.openxmlformats.org/drawingml/2006/main">
              <a:ext uri="{FF2B5EF4-FFF2-40B4-BE49-F238E27FC236}">
                <a16:creationId xmlns:a16="http://schemas.microsoft.com/office/drawing/2014/main" id="{178C8EBF-D306-49A7-B908-415EC78D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目标用户与核心流程</a:t>
            </a:r>
          </a:p>
        </p:txBody>
      </p:sp>
      <p:sp>
        <p:nvSpPr>
          <p:cNvPr id="23" name="dot1">
            <a:extLst xmlns:a="http://schemas.openxmlformats.org/drawingml/2006/main">
              <a:ext uri="{FF2B5EF4-FFF2-40B4-BE49-F238E27FC236}">
                <a16:creationId xmlns:a16="http://schemas.microsoft.com/office/drawing/2014/main" id="{B1027D54-F994-4B51-A081-036013BF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6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tem1">
            <a:extLst xmlns:a="http://schemas.openxmlformats.org/drawingml/2006/main">
              <a:ext uri="{FF2B5EF4-FFF2-40B4-BE49-F238E27FC236}">
                <a16:creationId xmlns:a16="http://schemas.microsoft.com/office/drawing/2014/main" id="{F2A32B69-A5CB-4BF3-B6A9-711D0B51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AI 介入点和输入输出</a:t>
            </a:r>
          </a:p>
        </p:txBody>
      </p:sp>
      <p:sp>
        <p:nvSpPr>
          <p:cNvPr id="25" name="dot2">
            <a:extLst xmlns:a="http://schemas.openxmlformats.org/drawingml/2006/main">
              <a:ext uri="{FF2B5EF4-FFF2-40B4-BE49-F238E27FC236}">
                <a16:creationId xmlns:a16="http://schemas.microsoft.com/office/drawing/2014/main" id="{988AF7C5-AE88-410B-AC04-38223747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item2">
            <a:extLst xmlns:a="http://schemas.openxmlformats.org/drawingml/2006/main">
              <a:ext uri="{FF2B5EF4-FFF2-40B4-BE49-F238E27FC236}">
                <a16:creationId xmlns:a16="http://schemas.microsoft.com/office/drawing/2014/main" id="{016306FB-C31B-490B-920F-30518E2B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异常、兜底与迭代</a:t>
            </a:r>
          </a:p>
        </p:txBody>
      </p:sp>
    </p:spTree>
    <p:extLst>
      <p:ext uri="{BB962C8B-B14F-4D97-AF65-F5344CB8AC3E}">
        <p14:creationId xmlns:p14="http://schemas.microsoft.com/office/powerpoint/2010/main" val="4597719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F293628D-EB1A-488E-AE89-D3415CFF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0E4C93C4-1006-4BD9-A522-2DC236CB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12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3F72603D-A3D9-49F6-BC2F-58A340B4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47861589-4D88-4668-8136-7538800D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5808E2CB-ACA0-4E75-886A-C89C5FCB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27313204-F0DB-4CF2-85EE-6CF839E4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8DE3A47F-C7E0-49D9-AAE8-8C4BACA0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6296E7BF-5D3C-4EE7-AEBD-1E9CF503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59398632-3CB4-4438-8985-246377F1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F7455835-7DD5-4317-A2D7-928390B2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1490CFA5-8B16-407E-A959-63AD44D5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E48BCFC5-09D8-4E48-8670-004936BF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B2903CAF-6E96-4885-85AB-D383390E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1546445D-D7CD-4C54-A21D-B5F0059B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A86970F3-49B7-43FC-8CC9-F587E420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2/6 · 能力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F576B8ED-C61F-4469-9A05-401A080C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223183B6-A7C3-4E0A-A46A-3AA90F99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E6FCA999-4AF0-4DB8-8E76-DE882E07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AI 产品不是前端页面加一个模型。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32C24F24-999D-4F2F-BB35-18A0A678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C6277D45-1B71-4107-AC73-5419A546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能力四：系统设计</a:t>
            </a:r>
          </a:p>
        </p:txBody>
      </p:sp>
      <p:sp>
        <p:nvSpPr>
          <p:cNvPr id="21" name="dot0">
            <a:extLst xmlns:a="http://schemas.openxmlformats.org/drawingml/2006/main">
              <a:ext uri="{FF2B5EF4-FFF2-40B4-BE49-F238E27FC236}">
                <a16:creationId xmlns:a16="http://schemas.microsoft.com/office/drawing/2014/main" id="{139DCE2E-A3E5-4253-A8D8-87E73AA7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item0">
            <a:extLst xmlns:a="http://schemas.openxmlformats.org/drawingml/2006/main">
              <a:ext uri="{FF2B5EF4-FFF2-40B4-BE49-F238E27FC236}">
                <a16:creationId xmlns:a16="http://schemas.microsoft.com/office/drawing/2014/main" id="{5E173540-54E6-4E59-AE69-EC409EAB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模型、知识与工具</a:t>
            </a:r>
          </a:p>
        </p:txBody>
      </p:sp>
      <p:sp>
        <p:nvSpPr>
          <p:cNvPr id="23" name="dot1">
            <a:extLst xmlns:a="http://schemas.openxmlformats.org/drawingml/2006/main">
              <a:ext uri="{FF2B5EF4-FFF2-40B4-BE49-F238E27FC236}">
                <a16:creationId xmlns:a16="http://schemas.microsoft.com/office/drawing/2014/main" id="{7A799FB4-2A68-4496-9E59-D6531068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6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tem1">
            <a:extLst xmlns:a="http://schemas.openxmlformats.org/drawingml/2006/main">
              <a:ext uri="{FF2B5EF4-FFF2-40B4-BE49-F238E27FC236}">
                <a16:creationId xmlns:a16="http://schemas.microsoft.com/office/drawing/2014/main" id="{DCD7E941-252B-47F1-BE34-1103D22E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权限、状态和日志</a:t>
            </a:r>
          </a:p>
        </p:txBody>
      </p:sp>
      <p:sp>
        <p:nvSpPr>
          <p:cNvPr id="25" name="dot2">
            <a:extLst xmlns:a="http://schemas.openxmlformats.org/drawingml/2006/main">
              <a:ext uri="{FF2B5EF4-FFF2-40B4-BE49-F238E27FC236}">
                <a16:creationId xmlns:a16="http://schemas.microsoft.com/office/drawing/2014/main" id="{0840503F-D1AD-4C15-AF88-9E07DF00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item2">
            <a:extLst xmlns:a="http://schemas.openxmlformats.org/drawingml/2006/main">
              <a:ext uri="{FF2B5EF4-FFF2-40B4-BE49-F238E27FC236}">
                <a16:creationId xmlns:a16="http://schemas.microsoft.com/office/drawing/2014/main" id="{728D2D8E-37F2-4D63-BD7B-8524A4FC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业务系统与人工流程</a:t>
            </a:r>
          </a:p>
        </p:txBody>
      </p:sp>
    </p:spTree>
    <p:extLst>
      <p:ext uri="{BB962C8B-B14F-4D97-AF65-F5344CB8AC3E}">
        <p14:creationId xmlns:p14="http://schemas.microsoft.com/office/powerpoint/2010/main" val="355284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3F63BB60-2F5E-4A8C-B1EE-FA16F7E1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D1C344DE-18FA-4CF1-AA09-2A5F508B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13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9F71DE41-027A-40D5-948E-783EF60E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373D92B2-2CCC-4DF5-9924-83881557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47037E12-3DB3-4114-88C7-E0E3026D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E3293F2E-D374-4588-B0A8-A179419E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007DB21B-813F-4B10-A5CB-AE6D119D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E2E4A8C9-C807-4AC6-A6B2-775BA308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865E02B3-A451-46FA-B56B-0C5AB465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95AF702A-DC75-4EB2-8624-A637236B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99A3B732-DB54-4094-AC3E-D9EB8AC2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5954B3FA-3A6A-424F-BD7C-35ABD866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48D9EA60-D94F-4CFF-8EFE-F2064CDF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A527D64D-C90B-43AC-B675-5B5389E0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D1B3AF99-FC43-492A-9B07-0A003E84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2/6 · 能力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DC7EC34A-F65B-4FEC-8F83-38D484D7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378E2AF6-4DBE-4D1A-8CE0-F2C20EB3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D344EAB8-CF93-49B3-88D7-C51B10EA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上线不是结束，真正困难的是持续证明可用。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60ACA8F6-2D67-4049-B590-BFE03197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9973DD91-BD93-4DFC-8826-8ED4831A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能力五：评估调优</a:t>
            </a:r>
          </a:p>
        </p:txBody>
      </p:sp>
      <p:sp>
        <p:nvSpPr>
          <p:cNvPr id="21" name="dot0">
            <a:extLst xmlns:a="http://schemas.openxmlformats.org/drawingml/2006/main">
              <a:ext uri="{FF2B5EF4-FFF2-40B4-BE49-F238E27FC236}">
                <a16:creationId xmlns:a16="http://schemas.microsoft.com/office/drawing/2014/main" id="{C9672E91-0198-459E-973F-C6FF3147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item0">
            <a:extLst xmlns:a="http://schemas.openxmlformats.org/drawingml/2006/main">
              <a:ext uri="{FF2B5EF4-FFF2-40B4-BE49-F238E27FC236}">
                <a16:creationId xmlns:a16="http://schemas.microsoft.com/office/drawing/2014/main" id="{BFC090E5-7218-499C-B09C-D2551F3C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测试集与最低标准</a:t>
            </a:r>
          </a:p>
        </p:txBody>
      </p:sp>
      <p:sp>
        <p:nvSpPr>
          <p:cNvPr id="23" name="dot1">
            <a:extLst xmlns:a="http://schemas.openxmlformats.org/drawingml/2006/main">
              <a:ext uri="{FF2B5EF4-FFF2-40B4-BE49-F238E27FC236}">
                <a16:creationId xmlns:a16="http://schemas.microsoft.com/office/drawing/2014/main" id="{B4340109-797E-49F6-94FB-2FF898EF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6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tem1">
            <a:extLst xmlns:a="http://schemas.openxmlformats.org/drawingml/2006/main">
              <a:ext uri="{FF2B5EF4-FFF2-40B4-BE49-F238E27FC236}">
                <a16:creationId xmlns:a16="http://schemas.microsoft.com/office/drawing/2014/main" id="{05AD4813-1A15-43FF-A013-809B1929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Bad Case 归因</a:t>
            </a:r>
          </a:p>
        </p:txBody>
      </p:sp>
      <p:sp>
        <p:nvSpPr>
          <p:cNvPr id="25" name="dot2">
            <a:extLst xmlns:a="http://schemas.openxmlformats.org/drawingml/2006/main">
              <a:ext uri="{FF2B5EF4-FFF2-40B4-BE49-F238E27FC236}">
                <a16:creationId xmlns:a16="http://schemas.microsoft.com/office/drawing/2014/main" id="{AEC0ECDC-155C-44E2-A5E8-856FD65B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item2">
            <a:extLst xmlns:a="http://schemas.openxmlformats.org/drawingml/2006/main">
              <a:ext uri="{FF2B5EF4-FFF2-40B4-BE49-F238E27FC236}">
                <a16:creationId xmlns:a16="http://schemas.microsoft.com/office/drawing/2014/main" id="{65427F79-7122-4487-981D-143917BD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体验和业务指标</a:t>
            </a:r>
          </a:p>
        </p:txBody>
      </p:sp>
    </p:spTree>
    <p:extLst>
      <p:ext uri="{BB962C8B-B14F-4D97-AF65-F5344CB8AC3E}">
        <p14:creationId xmlns:p14="http://schemas.microsoft.com/office/powerpoint/2010/main" val="17977361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CFE7B3F1-4401-4620-8ACE-6C82AB6E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2DEF6B63-781B-4F99-990E-944E399A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14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2D99138A-6DF6-4623-9FB2-A04FA89A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4E4A2CF0-3F72-4031-8644-2DC966D7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3095D62F-C147-4D14-AA3A-533E51AC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6D853FD8-F3A8-4F87-9925-B425FD4F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AB8FEA0C-17CC-4262-972D-B1FE17BA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B86A295B-C112-4C6F-B037-C0FEB6E7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2BB28F8A-70B3-44CE-A60F-C5EAA6EA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BF3D4E21-B7FE-48EA-A851-6E4ABDB5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162180F0-0039-49A6-A98D-EFDD7B96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B2AEED04-A645-454F-A9E3-8486B1DD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AB9AED96-5104-45F3-A679-024CE850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5E6C8D44-2CC7-4403-A5B8-8E48EA80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9256EDFD-4999-4885-8D92-1792B66B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2/6 · 能力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8690B13A-6E34-4C0D-91FB-79A07D51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F651AF64-3311-4D04-9600-C64980E0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3A440EA2-A38B-4287-9B9B-6A5483E6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模型效果必须最终变成业务价值。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C062E752-D593-44A9-9C9A-07440E31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4DEDA8C3-2E4B-4855-90F4-B76724E7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能力六：业务与协作</a:t>
            </a:r>
          </a:p>
        </p:txBody>
      </p:sp>
      <p:sp>
        <p:nvSpPr>
          <p:cNvPr id="21" name="dot0">
            <a:extLst xmlns:a="http://schemas.openxmlformats.org/drawingml/2006/main">
              <a:ext uri="{FF2B5EF4-FFF2-40B4-BE49-F238E27FC236}">
                <a16:creationId xmlns:a16="http://schemas.microsoft.com/office/drawing/2014/main" id="{9050DE83-7E6D-4AAE-8CE1-C05E5CB8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item0">
            <a:extLst xmlns:a="http://schemas.openxmlformats.org/drawingml/2006/main">
              <a:ext uri="{FF2B5EF4-FFF2-40B4-BE49-F238E27FC236}">
                <a16:creationId xmlns:a16="http://schemas.microsoft.com/office/drawing/2014/main" id="{A7F19DF5-E825-4FE6-A978-C2ADFFEC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连接业务结果</a:t>
            </a:r>
          </a:p>
        </p:txBody>
      </p:sp>
      <p:sp>
        <p:nvSpPr>
          <p:cNvPr id="23" name="dot1">
            <a:extLst xmlns:a="http://schemas.openxmlformats.org/drawingml/2006/main">
              <a:ext uri="{FF2B5EF4-FFF2-40B4-BE49-F238E27FC236}">
                <a16:creationId xmlns:a16="http://schemas.microsoft.com/office/drawing/2014/main" id="{3DF88259-E06E-4B5A-9529-15C1E86D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6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tem1">
            <a:extLst xmlns:a="http://schemas.openxmlformats.org/drawingml/2006/main">
              <a:ext uri="{FF2B5EF4-FFF2-40B4-BE49-F238E27FC236}">
                <a16:creationId xmlns:a16="http://schemas.microsoft.com/office/drawing/2014/main" id="{4AA60CDC-AB75-4CF0-9454-E73A3FC5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推动算法、研发和运营</a:t>
            </a:r>
          </a:p>
        </p:txBody>
      </p:sp>
      <p:sp>
        <p:nvSpPr>
          <p:cNvPr id="25" name="dot2">
            <a:extLst xmlns:a="http://schemas.openxmlformats.org/drawingml/2006/main">
              <a:ext uri="{FF2B5EF4-FFF2-40B4-BE49-F238E27FC236}">
                <a16:creationId xmlns:a16="http://schemas.microsoft.com/office/drawing/2014/main" id="{7DCD4E62-E297-484A-9808-3109D787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item2">
            <a:extLst xmlns:a="http://schemas.openxmlformats.org/drawingml/2006/main">
              <a:ext uri="{FF2B5EF4-FFF2-40B4-BE49-F238E27FC236}">
                <a16:creationId xmlns:a16="http://schemas.microsoft.com/office/drawing/2014/main" id="{A18EB904-4712-429F-AE0D-A442C8D6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管理成本、风险与资源</a:t>
            </a:r>
          </a:p>
        </p:txBody>
      </p:sp>
    </p:spTree>
    <p:extLst>
      <p:ext uri="{BB962C8B-B14F-4D97-AF65-F5344CB8AC3E}">
        <p14:creationId xmlns:p14="http://schemas.microsoft.com/office/powerpoint/2010/main" val="192454226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A15983B2-95F0-497A-ACFB-E8D4F7B6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195D8AE9-F581-4699-8B49-BA58836C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15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5EE5ADF4-692A-4C3E-A977-82C3E5E0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2A1B4451-A0ED-4CB5-BFA6-848BDCB4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2B7B7B12-8A07-489C-96E6-7495B7B2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4287C754-FE78-4A4D-983C-531ED97C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4BF892FC-0C82-43F5-826A-D1A4FF26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8DB6675C-A488-4441-BB6B-C24BB54D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D5A901A4-149F-4D15-8389-813BEDE6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4677BD63-6282-47A2-9CDD-1D0128D1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1D8A38AA-43BE-495C-8FDD-3D953C0E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295C94E1-A9A3-41BD-B996-5D87DD46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F4D9306A-F51E-4EDF-9911-BAAC11FA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775A6F56-2927-44A9-93AF-373AC14B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87227D45-F6CC-4C12-ADA6-828377A4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2/6 · 能力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2956EE45-C507-409A-80A5-59BDFF02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81BF5002-6DB4-4974-8024-C7F828E3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8BB67D95-A7F5-4908-9EE2-1E4E6B5F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求职表达不是包装，而是让市场看懂真实能力。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4252B8B0-C11D-4801-B198-1203D0CE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1B9AED6F-9DEC-42BC-B50A-21421008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加一项：求职转化能力</a:t>
            </a:r>
          </a:p>
        </p:txBody>
      </p:sp>
      <p:sp>
        <p:nvSpPr>
          <p:cNvPr id="21" name="num0">
            <a:extLst xmlns:a="http://schemas.openxmlformats.org/drawingml/2006/main">
              <a:ext uri="{FF2B5EF4-FFF2-40B4-BE49-F238E27FC236}">
                <a16:creationId xmlns:a16="http://schemas.microsoft.com/office/drawing/2014/main" id="{CB1300DF-5615-476D-B532-C2152342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68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02E"/>
                </a:solidFill>
              </a:defRPr>
            </a:pPr>
            <a:r>
              <a:rPr sz="1350" b="1">
                <a:solidFill>
                  <a:srgbClr val="FFB02E"/>
                </a:solidFill>
              </a:rPr>
              <a:t>01</a:t>
            </a:r>
          </a:p>
        </p:txBody>
      </p:sp>
      <p:sp>
        <p:nvSpPr>
          <p:cNvPr id="22" name="ct0">
            <a:extLst xmlns:a="http://schemas.openxmlformats.org/drawingml/2006/main">
              <a:ext uri="{FF2B5EF4-FFF2-40B4-BE49-F238E27FC236}">
                <a16:creationId xmlns:a16="http://schemas.microsoft.com/office/drawing/2014/main" id="{074C72E0-4466-440C-A373-B78756DF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68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简历</a:t>
            </a:r>
          </a:p>
        </p:txBody>
      </p:sp>
      <p:sp>
        <p:nvSpPr>
          <p:cNvPr id="23" name="rule0">
            <a:extLst xmlns:a="http://schemas.openxmlformats.org/drawingml/2006/main">
              <a:ext uri="{FF2B5EF4-FFF2-40B4-BE49-F238E27FC236}">
                <a16:creationId xmlns:a16="http://schemas.microsoft.com/office/drawing/2014/main" id="{E60E2651-DBE2-4044-B117-EC7CBD7E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168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b0">
            <a:extLst xmlns:a="http://schemas.openxmlformats.org/drawingml/2006/main">
              <a:ext uri="{FF2B5EF4-FFF2-40B4-BE49-F238E27FC236}">
                <a16:creationId xmlns:a16="http://schemas.microsoft.com/office/drawing/2014/main" id="{88A0B03B-AE20-43BB-BB2A-35A5EFD1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1689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1E8"/>
                </a:solidFill>
              </a:defRPr>
            </a:pPr>
            <a:r>
              <a:rPr sz="1275" b="0">
                <a:solidFill>
                  <a:srgbClr val="AFC1E8"/>
                </a:solidFill>
              </a:rPr>
              <a:t>写清业务与结果</a:t>
            </a:r>
          </a:p>
        </p:txBody>
      </p:sp>
      <p:sp>
        <p:nvSpPr>
          <p:cNvPr id="25" name="num1">
            <a:extLst xmlns:a="http://schemas.openxmlformats.org/drawingml/2006/main">
              <a:ext uri="{FF2B5EF4-FFF2-40B4-BE49-F238E27FC236}">
                <a16:creationId xmlns:a16="http://schemas.microsoft.com/office/drawing/2014/main" id="{CDAB7F6D-C828-469D-861E-63BA9F61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0" y="5048250"/>
            <a:ext cx="168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D5FF"/>
                </a:solidFill>
              </a:defRPr>
            </a:pPr>
            <a:r>
              <a:rPr sz="1350" b="1">
                <a:solidFill>
                  <a:srgbClr val="39D5FF"/>
                </a:solidFill>
              </a:rPr>
              <a:t>02</a:t>
            </a:r>
          </a:p>
        </p:txBody>
      </p:sp>
      <p:sp>
        <p:nvSpPr>
          <p:cNvPr id="26" name="ct1">
            <a:extLst xmlns:a="http://schemas.openxmlformats.org/drawingml/2006/main">
              <a:ext uri="{FF2B5EF4-FFF2-40B4-BE49-F238E27FC236}">
                <a16:creationId xmlns:a16="http://schemas.microsoft.com/office/drawing/2014/main" id="{3C9E4819-1E0B-4AEA-BB7A-1A6AE80A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0" y="5429250"/>
            <a:ext cx="168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项目</a:t>
            </a:r>
          </a:p>
        </p:txBody>
      </p:sp>
      <p:sp>
        <p:nvSpPr>
          <p:cNvPr id="27" name="rule1">
            <a:extLst xmlns:a="http://schemas.openxmlformats.org/drawingml/2006/main">
              <a:ext uri="{FF2B5EF4-FFF2-40B4-BE49-F238E27FC236}">
                <a16:creationId xmlns:a16="http://schemas.microsoft.com/office/drawing/2014/main" id="{D7F0A92B-A7EE-43D0-BB8E-3F511872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0" y="6000750"/>
            <a:ext cx="168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b1">
            <a:extLst xmlns:a="http://schemas.openxmlformats.org/drawingml/2006/main">
              <a:ext uri="{FF2B5EF4-FFF2-40B4-BE49-F238E27FC236}">
                <a16:creationId xmlns:a16="http://schemas.microsoft.com/office/drawing/2014/main" id="{BEB7E2E9-8D14-4F6C-BD7A-B20BA98B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0" y="6153150"/>
            <a:ext cx="1689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1E8"/>
                </a:solidFill>
              </a:defRPr>
            </a:pPr>
            <a:r>
              <a:rPr sz="1275" b="0">
                <a:solidFill>
                  <a:srgbClr val="AFC1E8"/>
                </a:solidFill>
              </a:rPr>
              <a:t>展示判断证据</a:t>
            </a:r>
          </a:p>
        </p:txBody>
      </p:sp>
      <p:sp>
        <p:nvSpPr>
          <p:cNvPr id="29" name="num2">
            <a:extLst xmlns:a="http://schemas.openxmlformats.org/drawingml/2006/main">
              <a:ext uri="{FF2B5EF4-FFF2-40B4-BE49-F238E27FC236}">
                <a16:creationId xmlns:a16="http://schemas.microsoft.com/office/drawing/2014/main" id="{54A2C56F-2A75-41D9-AFDE-C54B1512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950" y="5048250"/>
            <a:ext cx="168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D5FF"/>
                </a:solidFill>
              </a:defRPr>
            </a:pPr>
            <a:r>
              <a:rPr sz="1350" b="1">
                <a:solidFill>
                  <a:srgbClr val="39D5FF"/>
                </a:solidFill>
              </a:rPr>
              <a:t>03</a:t>
            </a:r>
          </a:p>
        </p:txBody>
      </p:sp>
      <p:sp>
        <p:nvSpPr>
          <p:cNvPr id="30" name="ct2">
            <a:extLst xmlns:a="http://schemas.openxmlformats.org/drawingml/2006/main">
              <a:ext uri="{FF2B5EF4-FFF2-40B4-BE49-F238E27FC236}">
                <a16:creationId xmlns:a16="http://schemas.microsoft.com/office/drawing/2014/main" id="{3CAF8407-6C60-4F19-B0F2-E0F7B57E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950" y="5429250"/>
            <a:ext cx="168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面试</a:t>
            </a:r>
          </a:p>
        </p:txBody>
      </p:sp>
      <p:sp>
        <p:nvSpPr>
          <p:cNvPr id="31" name="rule2">
            <a:extLst xmlns:a="http://schemas.openxmlformats.org/drawingml/2006/main">
              <a:ext uri="{FF2B5EF4-FFF2-40B4-BE49-F238E27FC236}">
                <a16:creationId xmlns:a16="http://schemas.microsoft.com/office/drawing/2014/main" id="{F418F991-49E4-4878-B73E-F5F3F21B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950" y="6000750"/>
            <a:ext cx="168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b2">
            <a:extLst xmlns:a="http://schemas.openxmlformats.org/drawingml/2006/main">
              <a:ext uri="{FF2B5EF4-FFF2-40B4-BE49-F238E27FC236}">
                <a16:creationId xmlns:a16="http://schemas.microsoft.com/office/drawing/2014/main" id="{65B5BA77-E0E6-4277-A0BE-847E31AB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950" y="6153150"/>
            <a:ext cx="1689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1E8"/>
                </a:solidFill>
              </a:defRPr>
            </a:pPr>
            <a:r>
              <a:rPr sz="1275" b="0">
                <a:solidFill>
                  <a:srgbClr val="AFC1E8"/>
                </a:solidFill>
              </a:rPr>
              <a:t>经得住连续追问</a:t>
            </a:r>
          </a:p>
        </p:txBody>
      </p:sp>
    </p:spTree>
    <p:extLst>
      <p:ext uri="{BB962C8B-B14F-4D97-AF65-F5344CB8AC3E}">
        <p14:creationId xmlns:p14="http://schemas.microsoft.com/office/powerpoint/2010/main" val="10636263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0411F2AA-B1EC-4588-81F8-FC32BD9E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0C639C8F-FD92-4E3C-B6B3-B86C50C6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16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FB774CB2-5A37-4ACC-B8A6-59EBBFB7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0D80AA54-968B-4A81-84FB-41A8275B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FCC00CD5-D5A1-4B85-B67A-E1A77CD5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2A1B6AB7-4D57-4402-B62E-C3EDCDF6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1367B651-C291-416E-B26D-55BE8958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A21DD013-A3AA-4C6C-8F6D-B03E3013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056327FF-687F-4D35-979B-E7E1FBD9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E7FCC71D-C7A2-4F72-8FB8-35205A1C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2B1F5235-98AB-4681-B8B1-1B1FD9DB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CC0E4411-0D58-4BDB-9085-D58AF350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457A6109-C266-4BD2-96E9-77CF3276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96CBEBAD-1747-4A65-8C02-F880EA9F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6437D4D1-E5F6-4C25-A60B-3029A1D6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3/6 · 路线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59737B19-0A23-4F60-A077-FE5A18F4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257F2BE6-14C7-4825-9FA3-754E537E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0FB44BAF-8098-49AD-9581-BC18844F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不要把三阶段学成三套互不相干的内容。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1DB4FF55-4A21-4308-81F3-052E3B31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F04D5D0B-A868-4C5B-8506-3FC2003B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产品经理转 AI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只走三阶段</a:t>
            </a:r>
          </a:p>
        </p:txBody>
      </p:sp>
      <p:sp>
        <p:nvSpPr>
          <p:cNvPr id="21" name="big">
            <a:extLst xmlns:a="http://schemas.openxmlformats.org/drawingml/2006/main">
              <a:ext uri="{FF2B5EF4-FFF2-40B4-BE49-F238E27FC236}">
                <a16:creationId xmlns:a16="http://schemas.microsoft.com/office/drawing/2014/main" id="{54CFBF4A-C0C8-4758-95E4-C8A140C5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334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B02E"/>
                </a:solidFill>
              </a:defRPr>
            </a:pPr>
            <a:r>
              <a:rPr sz="2325" b="1">
                <a:solidFill>
                  <a:srgbClr val="FFB02E"/>
                </a:solidFill>
              </a:rPr>
              <a:t>系统知识 → 项目实战</a:t>
            </a:r>
          </a:p>
          <a:p xmlns:a="http://schemas.openxmlformats.org/drawingml/2006/main">
            <a:pPr algn="l">
              <a:defRPr sz="2325" b="1">
                <a:solidFill>
                  <a:srgbClr val="FFB02E"/>
                </a:solidFill>
              </a:defRPr>
            </a:pPr>
            <a:r>
              <a:rPr sz="2325" b="1">
                <a:solidFill>
                  <a:srgbClr val="FFB02E"/>
                </a:solidFill>
              </a:rPr>
              <a:t>→ 求职转化</a:t>
            </a:r>
          </a:p>
        </p:txBody>
      </p:sp>
    </p:spTree>
    <p:extLst>
      <p:ext uri="{BB962C8B-B14F-4D97-AF65-F5344CB8AC3E}">
        <p14:creationId xmlns:p14="http://schemas.microsoft.com/office/powerpoint/2010/main" val="18152680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F2DA4F15-92B3-49C1-9744-7B5F01BD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53103D51-294E-47BD-8B4B-7B32703C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17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22C1ADD6-9975-4E81-8A54-19962FE4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60E25B36-0FEF-4FCD-B0D9-7B8267C9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511B115B-EAEA-4797-B9B3-0519A92B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B063CE12-C362-43D9-A741-30AEF33A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0DD9D732-1AF5-4209-B15A-67F47EAC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8F6A1048-B1BA-470F-B7A1-6AE99A23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4C2C4A53-A63B-4486-9C06-324D904C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CD47F9C7-1AE8-4324-A19C-7B2B4A45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95173571-6DE2-4CE8-82A3-6C971B92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35E2E48B-1A54-4E5A-9C58-DAADF0E2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B0714E18-A1D3-4DDB-B0BB-8BE1532B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77BC26C8-4862-454B-A388-362479C3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9F9D8A4B-3347-4C5C-9106-7CB170A0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3/6 · 路线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57A4931E-B252-44D8-BCE4-443417AE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3357514E-2EE8-4646-9788-39ACE387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22D2A0DD-49F3-414A-8D55-62C1C193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系统学习解决“为什么这样做”。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6BF88026-8F4F-4852-B6EB-7074B3DA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2B386A1E-9CC4-4A61-9060-69F775A8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第一阶段：系统知识</a:t>
            </a:r>
          </a:p>
        </p:txBody>
      </p:sp>
      <p:sp>
        <p:nvSpPr>
          <p:cNvPr id="21" name="dot0">
            <a:extLst xmlns:a="http://schemas.openxmlformats.org/drawingml/2006/main">
              <a:ext uri="{FF2B5EF4-FFF2-40B4-BE49-F238E27FC236}">
                <a16:creationId xmlns:a16="http://schemas.microsoft.com/office/drawing/2014/main" id="{40DE87E4-4C5E-49A3-B1EE-C61138D5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item0">
            <a:extLst xmlns:a="http://schemas.openxmlformats.org/drawingml/2006/main">
              <a:ext uri="{FF2B5EF4-FFF2-40B4-BE49-F238E27FC236}">
                <a16:creationId xmlns:a16="http://schemas.microsoft.com/office/drawing/2014/main" id="{2A5F00F3-5850-46A3-845B-ED43E1A0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先看岗位与方向</a:t>
            </a:r>
          </a:p>
        </p:txBody>
      </p:sp>
      <p:sp>
        <p:nvSpPr>
          <p:cNvPr id="23" name="dot1">
            <a:extLst xmlns:a="http://schemas.openxmlformats.org/drawingml/2006/main">
              <a:ext uri="{FF2B5EF4-FFF2-40B4-BE49-F238E27FC236}">
                <a16:creationId xmlns:a16="http://schemas.microsoft.com/office/drawing/2014/main" id="{852EE3C2-CE05-4C67-9A78-EA94FF58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6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tem1">
            <a:extLst xmlns:a="http://schemas.openxmlformats.org/drawingml/2006/main">
              <a:ext uri="{FF2B5EF4-FFF2-40B4-BE49-F238E27FC236}">
                <a16:creationId xmlns:a16="http://schemas.microsoft.com/office/drawing/2014/main" id="{12395FB3-1712-4E8B-A00A-E45BE36B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再学技术、场景和方案</a:t>
            </a:r>
          </a:p>
        </p:txBody>
      </p:sp>
      <p:sp>
        <p:nvSpPr>
          <p:cNvPr id="25" name="dot2">
            <a:extLst xmlns:a="http://schemas.openxmlformats.org/drawingml/2006/main">
              <a:ext uri="{FF2B5EF4-FFF2-40B4-BE49-F238E27FC236}">
                <a16:creationId xmlns:a16="http://schemas.microsoft.com/office/drawing/2014/main" id="{A3EA7259-430B-41A4-A803-87B413EB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item2">
            <a:extLst xmlns:a="http://schemas.openxmlformats.org/drawingml/2006/main">
              <a:ext uri="{FF2B5EF4-FFF2-40B4-BE49-F238E27FC236}">
                <a16:creationId xmlns:a16="http://schemas.microsoft.com/office/drawing/2014/main" id="{EDE1C622-C7C6-4816-9A33-207285A0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最后补评估、成本与落地</a:t>
            </a:r>
          </a:p>
        </p:txBody>
      </p:sp>
    </p:spTree>
    <p:extLst>
      <p:ext uri="{BB962C8B-B14F-4D97-AF65-F5344CB8AC3E}">
        <p14:creationId xmlns:p14="http://schemas.microsoft.com/office/powerpoint/2010/main" val="173238329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B7236A4C-9A45-402A-AA0E-4B1C3DB2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93AF3741-7E38-4B52-87FE-D25DAB07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18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AA6C1A98-F55A-440E-9D9A-5FC86066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119FDA9C-EFF2-42C0-96EA-51A2B8C7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08614F54-2F58-4BD5-9826-8A29DD10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A70D47A9-F1BB-457E-B0C4-C8A5BFE3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3634033D-8196-4E24-8854-CB6E4407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F87135A6-6406-45F9-A08C-17358804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9CC85106-0365-42BD-95ED-1D52F46E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ECEC18E5-5AEF-4B44-A579-FACB8526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4ED04517-9935-4276-9314-223D3451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2459A5CE-44DD-4589-84B9-AEAD30AE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D99EB0A5-B9F7-4095-AE41-8C56EB7F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C5598DCD-1CE0-4796-8214-D72F41B8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4A9EC806-8163-4DB4-B6A4-CF25B82D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3/6 · 路线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01910541-3373-41A0-9DC1-08E55C07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8EAE7D0C-8A3F-4DA6-8722-4A0A2695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810CBE03-C1EC-4E33-83E9-8B7504DE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项目实战解决“我能不能做出来”。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A3BEB2EA-9FF2-4349-8379-5826DB0E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F1BEC03E-0888-4798-B7CB-A4D62965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第二阶段：项目实战</a:t>
            </a:r>
          </a:p>
        </p:txBody>
      </p:sp>
      <p:sp>
        <p:nvSpPr>
          <p:cNvPr id="21" name="dot0">
            <a:extLst xmlns:a="http://schemas.openxmlformats.org/drawingml/2006/main">
              <a:ext uri="{FF2B5EF4-FFF2-40B4-BE49-F238E27FC236}">
                <a16:creationId xmlns:a16="http://schemas.microsoft.com/office/drawing/2014/main" id="{6AB15CC1-565D-4FAA-88C5-209E1082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item0">
            <a:extLst xmlns:a="http://schemas.openxmlformats.org/drawingml/2006/main">
              <a:ext uri="{FF2B5EF4-FFF2-40B4-BE49-F238E27FC236}">
                <a16:creationId xmlns:a16="http://schemas.microsoft.com/office/drawing/2014/main" id="{3D27E9A2-7B74-41D3-B5B6-0FE4A590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从真实问题开始</a:t>
            </a:r>
          </a:p>
        </p:txBody>
      </p:sp>
      <p:sp>
        <p:nvSpPr>
          <p:cNvPr id="23" name="dot1">
            <a:extLst xmlns:a="http://schemas.openxmlformats.org/drawingml/2006/main">
              <a:ext uri="{FF2B5EF4-FFF2-40B4-BE49-F238E27FC236}">
                <a16:creationId xmlns:a16="http://schemas.microsoft.com/office/drawing/2014/main" id="{DAB119FF-C2AD-441A-824F-2812A27F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6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tem1">
            <a:extLst xmlns:a="http://schemas.openxmlformats.org/drawingml/2006/main">
              <a:ext uri="{FF2B5EF4-FFF2-40B4-BE49-F238E27FC236}">
                <a16:creationId xmlns:a16="http://schemas.microsoft.com/office/drawing/2014/main" id="{5AAA05E4-34C5-475C-815C-AE4D74BF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形成流程、原型与测试</a:t>
            </a:r>
          </a:p>
        </p:txBody>
      </p:sp>
      <p:sp>
        <p:nvSpPr>
          <p:cNvPr id="25" name="dot2">
            <a:extLst xmlns:a="http://schemas.openxmlformats.org/drawingml/2006/main">
              <a:ext uri="{FF2B5EF4-FFF2-40B4-BE49-F238E27FC236}">
                <a16:creationId xmlns:a16="http://schemas.microsoft.com/office/drawing/2014/main" id="{7DE9C84A-F4C3-4D66-8A3C-ED460B2C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item2">
            <a:extLst xmlns:a="http://schemas.openxmlformats.org/drawingml/2006/main">
              <a:ext uri="{FF2B5EF4-FFF2-40B4-BE49-F238E27FC236}">
                <a16:creationId xmlns:a16="http://schemas.microsoft.com/office/drawing/2014/main" id="{5D5225E8-D038-4A9F-8946-3E55E375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留下决策和复盘证据</a:t>
            </a:r>
          </a:p>
        </p:txBody>
      </p:sp>
    </p:spTree>
    <p:extLst>
      <p:ext uri="{BB962C8B-B14F-4D97-AF65-F5344CB8AC3E}">
        <p14:creationId xmlns:p14="http://schemas.microsoft.com/office/powerpoint/2010/main" val="5253524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D2E81A8E-F041-45C6-A4A5-5D7BFCD1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5D111173-E8BA-47AC-8218-EEE60AD4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19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824411D9-837F-4EC4-B24D-57DA0663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986E6BD3-4B2D-44B3-A51D-5F48FBB7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23028DD6-43B5-4736-80AE-F81473CD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7D7D6982-9035-4F77-B9F2-18B3CC47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BFA7BADE-3383-44AC-B14C-42588BC5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8D4A3DDA-745B-4832-9466-4ECAADFC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E60DC0EB-43B1-4E64-A3F9-D91D9D13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79D2E165-D888-4646-BF77-2484B5BA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2965C306-4973-4DFC-A141-FAE7BDD8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0192930E-9536-4089-9BF8-134E43D7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F88D46A9-7BDF-45D8-ADBD-DB59F443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C3FEC63A-514E-4110-8049-7BA3EA32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BD42797B-9809-47B7-8C45-285BF1E4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3/6 · 路线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7A3BDE3E-95A4-447D-A7EB-ED1D3BDC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096BCB64-8E80-404A-871F-3FDF10D7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68038E0D-3307-4550-98F5-B93D3F54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求职转化解决“市场能不能看懂”。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7AE10A83-11C3-45C0-AB28-5C1DEE28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FBA1391A-8669-4125-B6E8-BBEAA89C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第三阶段：求职转化</a:t>
            </a:r>
          </a:p>
        </p:txBody>
      </p:sp>
      <p:sp>
        <p:nvSpPr>
          <p:cNvPr id="21" name="dot0">
            <a:extLst xmlns:a="http://schemas.openxmlformats.org/drawingml/2006/main">
              <a:ext uri="{FF2B5EF4-FFF2-40B4-BE49-F238E27FC236}">
                <a16:creationId xmlns:a16="http://schemas.microsoft.com/office/drawing/2014/main" id="{CAE58A8A-A0D9-4D01-A06B-3B3D8B8A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item0">
            <a:extLst xmlns:a="http://schemas.openxmlformats.org/drawingml/2006/main">
              <a:ext uri="{FF2B5EF4-FFF2-40B4-BE49-F238E27FC236}">
                <a16:creationId xmlns:a16="http://schemas.microsoft.com/office/drawing/2014/main" id="{C838FBB7-18F5-463D-8561-F0792BE5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拆解目标 JD</a:t>
            </a:r>
          </a:p>
        </p:txBody>
      </p:sp>
      <p:sp>
        <p:nvSpPr>
          <p:cNvPr id="23" name="dot1">
            <a:extLst xmlns:a="http://schemas.openxmlformats.org/drawingml/2006/main">
              <a:ext uri="{FF2B5EF4-FFF2-40B4-BE49-F238E27FC236}">
                <a16:creationId xmlns:a16="http://schemas.microsoft.com/office/drawing/2014/main" id="{370356F4-3836-4165-B4DF-802AF4C0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6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tem1">
            <a:extLst xmlns:a="http://schemas.openxmlformats.org/drawingml/2006/main">
              <a:ext uri="{FF2B5EF4-FFF2-40B4-BE49-F238E27FC236}">
                <a16:creationId xmlns:a16="http://schemas.microsoft.com/office/drawing/2014/main" id="{C5559F48-877C-4637-9EE0-EBA245D8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重组项目证据</a:t>
            </a:r>
          </a:p>
        </p:txBody>
      </p:sp>
      <p:sp>
        <p:nvSpPr>
          <p:cNvPr id="25" name="dot2">
            <a:extLst xmlns:a="http://schemas.openxmlformats.org/drawingml/2006/main">
              <a:ext uri="{FF2B5EF4-FFF2-40B4-BE49-F238E27FC236}">
                <a16:creationId xmlns:a16="http://schemas.microsoft.com/office/drawing/2014/main" id="{A40ED32C-99EF-4104-B16E-1BEA4270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item2">
            <a:extLst xmlns:a="http://schemas.openxmlformats.org/drawingml/2006/main">
              <a:ext uri="{FF2B5EF4-FFF2-40B4-BE49-F238E27FC236}">
                <a16:creationId xmlns:a16="http://schemas.microsoft.com/office/drawing/2014/main" id="{EA08D6D2-6023-4C37-8354-00329F75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准备项目追问与复盘</a:t>
            </a:r>
          </a:p>
        </p:txBody>
      </p:sp>
    </p:spTree>
    <p:extLst>
      <p:ext uri="{BB962C8B-B14F-4D97-AF65-F5344CB8AC3E}">
        <p14:creationId xmlns:p14="http://schemas.microsoft.com/office/powerpoint/2010/main" val="13999499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526E3A21-5A42-4A5D-AB68-AFBDE9A0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BEA78CE6-C7A9-4E2F-96FB-7A4B56C2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20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81D49055-575D-4EE3-94CC-4F5DEABD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F158F31E-BC5B-41C2-8A22-91243DE7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28E9115E-48D1-4C67-9746-FE1D5F85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E9453577-689C-44AA-A468-E7A1A2ED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99F075DD-9990-4DED-9F59-29F1B012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F32D3C09-1EC0-480D-A30F-DE10822F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F76A733E-5315-4A0C-AE9E-BD510ABE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38BC9B07-5E3C-4E0D-96EF-29A81948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9CC2F0B4-A213-4D09-A541-9814772E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E7FA67DA-178E-46E7-B647-53FFC830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70A52C9F-B580-4E9E-A0F6-261D599B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CF803FEB-ED12-4AC3-A9CB-16ED8041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F1D21981-C9EC-41B4-8285-F748E21F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3/6 · 路线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D1BA93EE-F559-46AE-943D-ED48E948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4C2D0676-56A1-420A-A3D3-DA96BD6C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347D0BD8-F4CE-4A73-B397-C5B1490F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面试和岗位反馈，再反向告诉你该补什么。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8C59F3FF-E2A8-49EF-B997-54EAC55B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4C7D202D-22F4-4D7D-A77E-1DDAC37A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正确的成果链</a:t>
            </a:r>
          </a:p>
        </p:txBody>
      </p:sp>
      <p:sp>
        <p:nvSpPr>
          <p:cNvPr id="21" name="big">
            <a:extLst xmlns:a="http://schemas.openxmlformats.org/drawingml/2006/main">
              <a:ext uri="{FF2B5EF4-FFF2-40B4-BE49-F238E27FC236}">
                <a16:creationId xmlns:a16="http://schemas.microsoft.com/office/drawing/2014/main" id="{F64A86E0-E426-4796-ABEA-F3766680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334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9D5FF"/>
                </a:solidFill>
              </a:defRPr>
            </a:pPr>
            <a:r>
              <a:rPr sz="2325" b="1">
                <a:solidFill>
                  <a:srgbClr val="39D5FF"/>
                </a:solidFill>
              </a:rPr>
              <a:t>知识进入项目</a:t>
            </a:r>
          </a:p>
          <a:p xmlns:a="http://schemas.openxmlformats.org/drawingml/2006/main">
            <a:pPr algn="l">
              <a:defRPr sz="2325" b="1">
                <a:solidFill>
                  <a:srgbClr val="39D5FF"/>
                </a:solidFill>
              </a:defRPr>
            </a:pPr>
            <a:r>
              <a:rPr sz="2325" b="1">
                <a:solidFill>
                  <a:srgbClr val="39D5FF"/>
                </a:solidFill>
              </a:rPr>
              <a:t>项目证据进入求职</a:t>
            </a:r>
          </a:p>
        </p:txBody>
      </p:sp>
    </p:spTree>
    <p:extLst>
      <p:ext uri="{BB962C8B-B14F-4D97-AF65-F5344CB8AC3E}">
        <p14:creationId xmlns:p14="http://schemas.microsoft.com/office/powerpoint/2010/main" val="7007612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DA3A23D4-D89D-4771-8244-7091B534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3E972E3F-16C7-496E-9F5D-9DBF9674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21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8AF08E52-DA0B-49B0-89D7-BB75485E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EC8AD7D9-6CAE-4886-8716-C81FAEB5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11994897-6F99-480B-B336-CCC222AA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3C9493A0-C51F-43BE-99F7-A335951B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DBA22721-6580-4DD5-8FD4-45345FFC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9C623BBF-2DA4-48A0-AC0F-B8986C4F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A3DD277E-3322-41CE-ABAA-16A67102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DF138A79-F0C3-4F27-A602-510275A7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3AD681A2-854B-4687-9E98-6482762D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69789144-62E3-4131-B72C-CD78CEE7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7A1A7AD7-6FAD-4BB4-8B6E-7195BACE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B95BEB56-E99E-4CD1-B199-2771F924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55D686DA-9202-49FE-94C3-6B7889E4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3/6 · 路线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3CFC35BC-A156-4715-AFDD-F625E32A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1C1A0EC1-AD4D-47CE-B096-67C52C2F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88162028-838E-4D97-8D30-20EB5FD9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顺序错了，很容易努力很多却没有可验证结果。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39BF8ABE-60B9-4D05-97D6-8CD04EF4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F416692A-F82E-4656-B7DE-87FBC62A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不要碎片化学习</a:t>
            </a:r>
          </a:p>
        </p:txBody>
      </p:sp>
      <p:sp>
        <p:nvSpPr>
          <p:cNvPr id="21" name="num0">
            <a:extLst xmlns:a="http://schemas.openxmlformats.org/drawingml/2006/main">
              <a:ext uri="{FF2B5EF4-FFF2-40B4-BE49-F238E27FC236}">
                <a16:creationId xmlns:a16="http://schemas.microsoft.com/office/drawing/2014/main" id="{58C953C9-CE8E-4EB4-885E-542CF9B3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68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02E"/>
                </a:solidFill>
              </a:defRPr>
            </a:pPr>
            <a:r>
              <a:rPr sz="1350" b="1">
                <a:solidFill>
                  <a:srgbClr val="FFB02E"/>
                </a:solidFill>
              </a:rPr>
              <a:t>01</a:t>
            </a:r>
          </a:p>
        </p:txBody>
      </p:sp>
      <p:sp>
        <p:nvSpPr>
          <p:cNvPr id="22" name="ct0">
            <a:extLst xmlns:a="http://schemas.openxmlformats.org/drawingml/2006/main">
              <a:ext uri="{FF2B5EF4-FFF2-40B4-BE49-F238E27FC236}">
                <a16:creationId xmlns:a16="http://schemas.microsoft.com/office/drawing/2014/main" id="{6AB20837-C2BC-4F06-87C3-E2F97F22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68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先懂</a:t>
            </a:r>
          </a:p>
        </p:txBody>
      </p:sp>
      <p:sp>
        <p:nvSpPr>
          <p:cNvPr id="23" name="rule0">
            <a:extLst xmlns:a="http://schemas.openxmlformats.org/drawingml/2006/main">
              <a:ext uri="{FF2B5EF4-FFF2-40B4-BE49-F238E27FC236}">
                <a16:creationId xmlns:a16="http://schemas.microsoft.com/office/drawing/2014/main" id="{B611B609-6290-4D6A-8A8B-63C62A5D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168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b0">
            <a:extLst xmlns:a="http://schemas.openxmlformats.org/drawingml/2006/main">
              <a:ext uri="{FF2B5EF4-FFF2-40B4-BE49-F238E27FC236}">
                <a16:creationId xmlns:a16="http://schemas.microsoft.com/office/drawing/2014/main" id="{A44D190E-90DD-46C8-B20E-6AD43871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1689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1E8"/>
                </a:solidFill>
              </a:defRPr>
            </a:pPr>
            <a:r>
              <a:rPr sz="1275" b="0">
                <a:solidFill>
                  <a:srgbClr val="AFC1E8"/>
                </a:solidFill>
              </a:rPr>
              <a:t>岗位和基本概念</a:t>
            </a:r>
          </a:p>
        </p:txBody>
      </p:sp>
      <p:sp>
        <p:nvSpPr>
          <p:cNvPr id="25" name="num1">
            <a:extLst xmlns:a="http://schemas.openxmlformats.org/drawingml/2006/main">
              <a:ext uri="{FF2B5EF4-FFF2-40B4-BE49-F238E27FC236}">
                <a16:creationId xmlns:a16="http://schemas.microsoft.com/office/drawing/2014/main" id="{73658599-AB8E-4F6E-89FE-D6C7B109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0" y="5048250"/>
            <a:ext cx="168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D5FF"/>
                </a:solidFill>
              </a:defRPr>
            </a:pPr>
            <a:r>
              <a:rPr sz="1350" b="1">
                <a:solidFill>
                  <a:srgbClr val="39D5FF"/>
                </a:solidFill>
              </a:rPr>
              <a:t>02</a:t>
            </a:r>
          </a:p>
        </p:txBody>
      </p:sp>
      <p:sp>
        <p:nvSpPr>
          <p:cNvPr id="26" name="ct1">
            <a:extLst xmlns:a="http://schemas.openxmlformats.org/drawingml/2006/main">
              <a:ext uri="{FF2B5EF4-FFF2-40B4-BE49-F238E27FC236}">
                <a16:creationId xmlns:a16="http://schemas.microsoft.com/office/drawing/2014/main" id="{6A3F9528-DCD5-424B-ABC9-DCEF597A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0" y="5429250"/>
            <a:ext cx="168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再做</a:t>
            </a:r>
          </a:p>
        </p:txBody>
      </p:sp>
      <p:sp>
        <p:nvSpPr>
          <p:cNvPr id="27" name="rule1">
            <a:extLst xmlns:a="http://schemas.openxmlformats.org/drawingml/2006/main">
              <a:ext uri="{FF2B5EF4-FFF2-40B4-BE49-F238E27FC236}">
                <a16:creationId xmlns:a16="http://schemas.microsoft.com/office/drawing/2014/main" id="{893EEF5C-4968-4D8B-B175-891B108A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0" y="6000750"/>
            <a:ext cx="168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b1">
            <a:extLst xmlns:a="http://schemas.openxmlformats.org/drawingml/2006/main">
              <a:ext uri="{FF2B5EF4-FFF2-40B4-BE49-F238E27FC236}">
                <a16:creationId xmlns:a16="http://schemas.microsoft.com/office/drawing/2014/main" id="{AEE527FE-463B-4635-B8E5-FADE1ADD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0" y="6153150"/>
            <a:ext cx="1689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1E8"/>
                </a:solidFill>
              </a:defRPr>
            </a:pPr>
            <a:r>
              <a:rPr sz="1275" b="0">
                <a:solidFill>
                  <a:srgbClr val="AFC1E8"/>
                </a:solidFill>
              </a:rPr>
              <a:t>一组有深度的项目</a:t>
            </a:r>
          </a:p>
        </p:txBody>
      </p:sp>
      <p:sp>
        <p:nvSpPr>
          <p:cNvPr id="29" name="num2">
            <a:extLst xmlns:a="http://schemas.openxmlformats.org/drawingml/2006/main">
              <a:ext uri="{FF2B5EF4-FFF2-40B4-BE49-F238E27FC236}">
                <a16:creationId xmlns:a16="http://schemas.microsoft.com/office/drawing/2014/main" id="{B81BF8DA-AA97-4ECE-B301-BBC870B8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950" y="5048250"/>
            <a:ext cx="168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D5FF"/>
                </a:solidFill>
              </a:defRPr>
            </a:pPr>
            <a:r>
              <a:rPr sz="1350" b="1">
                <a:solidFill>
                  <a:srgbClr val="39D5FF"/>
                </a:solidFill>
              </a:rPr>
              <a:t>03</a:t>
            </a:r>
          </a:p>
        </p:txBody>
      </p:sp>
      <p:sp>
        <p:nvSpPr>
          <p:cNvPr id="30" name="ct2">
            <a:extLst xmlns:a="http://schemas.openxmlformats.org/drawingml/2006/main">
              <a:ext uri="{FF2B5EF4-FFF2-40B4-BE49-F238E27FC236}">
                <a16:creationId xmlns:a16="http://schemas.microsoft.com/office/drawing/2014/main" id="{4C4F7919-BD3A-4DF1-A729-498A371A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950" y="5429250"/>
            <a:ext cx="168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最后</a:t>
            </a:r>
          </a:p>
        </p:txBody>
      </p:sp>
      <p:sp>
        <p:nvSpPr>
          <p:cNvPr id="31" name="rule2">
            <a:extLst xmlns:a="http://schemas.openxmlformats.org/drawingml/2006/main">
              <a:ext uri="{FF2B5EF4-FFF2-40B4-BE49-F238E27FC236}">
                <a16:creationId xmlns:a16="http://schemas.microsoft.com/office/drawing/2014/main" id="{978102FC-7B62-439F-96B4-262E79C5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950" y="6000750"/>
            <a:ext cx="168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b2">
            <a:extLst xmlns:a="http://schemas.openxmlformats.org/drawingml/2006/main">
              <a:ext uri="{FF2B5EF4-FFF2-40B4-BE49-F238E27FC236}">
                <a16:creationId xmlns:a16="http://schemas.microsoft.com/office/drawing/2014/main" id="{849BA661-4D23-497F-AA74-216D7C69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950" y="6153150"/>
            <a:ext cx="1689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1E8"/>
                </a:solidFill>
              </a:defRPr>
            </a:pPr>
            <a:r>
              <a:rPr sz="1275" b="0">
                <a:solidFill>
                  <a:srgbClr val="AFC1E8"/>
                </a:solidFill>
              </a:rPr>
              <a:t>简历和面试表达</a:t>
            </a:r>
          </a:p>
        </p:txBody>
      </p:sp>
    </p:spTree>
    <p:extLst>
      <p:ext uri="{BB962C8B-B14F-4D97-AF65-F5344CB8AC3E}">
        <p14:creationId xmlns:p14="http://schemas.microsoft.com/office/powerpoint/2010/main" val="71338102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1421A7D6-2018-4B68-AB30-0DA8C6C7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A16134F2-F9DE-4D97-B87E-111F8D36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22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8FEEC25A-4B76-4E41-B25B-C48EE240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A1ABAE90-01E2-4497-A507-1574A09A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B0163287-9AC7-4CE2-AD62-86775B84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C4DD731A-4D18-4D62-8F34-D78B7641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2AB6E3B3-062A-48D1-92C3-BF1C20BF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97E21DB7-E6FF-4929-A60D-678F04A4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6E3CB597-C646-4D8A-82EE-0F628363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E624B702-C297-4913-8819-28233775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F5C4D354-731E-4F59-8608-4E023DC9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BA498E71-2868-4A83-8F40-CE682D29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61DCADCC-4296-49B7-A628-5E2061E2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411C514D-D7AA-4448-85EA-90F5AD18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BC8BF2DC-6611-4129-BC2A-4EC12D84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4/6 · 项目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4BBFF278-5EDB-45EB-9AEA-F1ECB913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4C100D78-AABF-4BFC-920B-FFD7DBE1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657FA8B7-7395-46BE-924E-EC458422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学习项目可以写，但必须诚实说明边界和验证方式。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2421F178-6242-4762-A580-B7E7F243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AE7C2497-A627-4873-A3EE-B5A5BEF6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没有真实 AI 项目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还能转型吗？</a:t>
            </a:r>
          </a:p>
        </p:txBody>
      </p:sp>
      <p:sp>
        <p:nvSpPr>
          <p:cNvPr id="21" name="big">
            <a:extLst xmlns:a="http://schemas.openxmlformats.org/drawingml/2006/main">
              <a:ext uri="{FF2B5EF4-FFF2-40B4-BE49-F238E27FC236}">
                <a16:creationId xmlns:a16="http://schemas.microsoft.com/office/drawing/2014/main" id="{A6AA4B41-D1B2-4EFF-88C1-1A0EB290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334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B02E"/>
                </a:solidFill>
              </a:defRPr>
            </a:pPr>
            <a:r>
              <a:rPr sz="2325" b="1">
                <a:solidFill>
                  <a:srgbClr val="FFB02E"/>
                </a:solidFill>
              </a:rPr>
              <a:t>可以开始</a:t>
            </a:r>
          </a:p>
          <a:p xmlns:a="http://schemas.openxmlformats.org/drawingml/2006/main">
            <a:pPr algn="l">
              <a:defRPr sz="2325" b="1">
                <a:solidFill>
                  <a:srgbClr val="FFB02E"/>
                </a:solidFill>
              </a:defRPr>
            </a:pPr>
            <a:r>
              <a:rPr sz="2325" b="1">
                <a:solidFill>
                  <a:srgbClr val="FFB02E"/>
                </a:solidFill>
              </a:rPr>
              <a:t>但不能虚构</a:t>
            </a:r>
          </a:p>
        </p:txBody>
      </p:sp>
    </p:spTree>
    <p:extLst>
      <p:ext uri="{BB962C8B-B14F-4D97-AF65-F5344CB8AC3E}">
        <p14:creationId xmlns:p14="http://schemas.microsoft.com/office/powerpoint/2010/main" val="214243608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FEC8BC0E-902F-4F8D-A69D-1FC1F33D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D093202F-B399-4742-B3D9-F2DA53DB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23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FA1571F7-6955-4DBF-A4BF-3607C494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813A861D-E0E7-4B6A-AE26-FB0A9167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8535D61B-99D4-4F95-A816-D043A670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77E592FB-435E-4C40-9D37-06E4F553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D611AE4A-7957-4EFB-952F-7849A810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51FEB603-31D0-417D-BA24-43D6E779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3D7E82E6-46EC-458A-9D8F-98FF65C4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C0C53A4F-671B-40AD-B368-EEA9EA96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FC8CA6DE-1594-461E-BB68-AC8FA401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8A146D42-B188-4C59-87D8-871A7BC8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3B2A1EFC-F27E-477A-9340-F8960F9F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C8F74BEE-1CA9-4228-A60C-98CDF12D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92A821EE-4B08-4B81-A437-D5018173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4/6 · 项目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8BDE04BA-0EFB-448F-A9F8-4BF92B01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598FB0AB-E530-4546-B574-0E3DA192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764B90AE-C862-4929-B3D1-CE5F1469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好项目不是页面多，而是判断有依据。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DACAEBC9-FC91-4193-8A36-439D241C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6D8640CF-CEBA-4D17-896F-BF997323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高质量项目要讲清</a:t>
            </a:r>
          </a:p>
        </p:txBody>
      </p:sp>
      <p:sp>
        <p:nvSpPr>
          <p:cNvPr id="21" name="dot0">
            <a:extLst xmlns:a="http://schemas.openxmlformats.org/drawingml/2006/main">
              <a:ext uri="{FF2B5EF4-FFF2-40B4-BE49-F238E27FC236}">
                <a16:creationId xmlns:a16="http://schemas.microsoft.com/office/drawing/2014/main" id="{F557EFBA-D4A8-4D90-BA21-C430E948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item0">
            <a:extLst xmlns:a="http://schemas.openxmlformats.org/drawingml/2006/main">
              <a:ext uri="{FF2B5EF4-FFF2-40B4-BE49-F238E27FC236}">
                <a16:creationId xmlns:a16="http://schemas.microsoft.com/office/drawing/2014/main" id="{C2156862-C93A-4282-87A2-7A5B782C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业务背景与目标用户</a:t>
            </a:r>
          </a:p>
        </p:txBody>
      </p:sp>
      <p:sp>
        <p:nvSpPr>
          <p:cNvPr id="23" name="dot1">
            <a:extLst xmlns:a="http://schemas.openxmlformats.org/drawingml/2006/main">
              <a:ext uri="{FF2B5EF4-FFF2-40B4-BE49-F238E27FC236}">
                <a16:creationId xmlns:a16="http://schemas.microsoft.com/office/drawing/2014/main" id="{AA048674-15CC-41FB-908A-0E0DC10E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6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tem1">
            <a:extLst xmlns:a="http://schemas.openxmlformats.org/drawingml/2006/main">
              <a:ext uri="{FF2B5EF4-FFF2-40B4-BE49-F238E27FC236}">
                <a16:creationId xmlns:a16="http://schemas.microsoft.com/office/drawing/2014/main" id="{22CD9E2D-18BF-4FF2-A521-4741B1F4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AI 介入点和完整流程</a:t>
            </a:r>
          </a:p>
        </p:txBody>
      </p:sp>
      <p:sp>
        <p:nvSpPr>
          <p:cNvPr id="25" name="dot2">
            <a:extLst xmlns:a="http://schemas.openxmlformats.org/drawingml/2006/main">
              <a:ext uri="{FF2B5EF4-FFF2-40B4-BE49-F238E27FC236}">
                <a16:creationId xmlns:a16="http://schemas.microsoft.com/office/drawing/2014/main" id="{F5F09FA6-2F41-4CD0-A753-F8C630F4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item2">
            <a:extLst xmlns:a="http://schemas.openxmlformats.org/drawingml/2006/main">
              <a:ext uri="{FF2B5EF4-FFF2-40B4-BE49-F238E27FC236}">
                <a16:creationId xmlns:a16="http://schemas.microsoft.com/office/drawing/2014/main" id="{DB450A60-3CA9-4901-B41C-F5463188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风险、评估、成本与复盘</a:t>
            </a:r>
          </a:p>
        </p:txBody>
      </p:sp>
    </p:spTree>
    <p:extLst>
      <p:ext uri="{BB962C8B-B14F-4D97-AF65-F5344CB8AC3E}">
        <p14:creationId xmlns:p14="http://schemas.microsoft.com/office/powerpoint/2010/main" val="19637881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320D2A9B-9E7D-4C5E-AC73-192EF363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459DDE7D-4F32-479B-BC11-DBD5F9B3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24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74F3276E-EDA1-4D7F-9FA3-9FD6FE25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68E20BA0-3945-4E46-B44E-48E35199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BB3A9E16-C911-427D-A31C-937582E3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DCB6FFEC-47C1-4867-AB44-08573665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E090C5ED-284D-4D0D-AA60-E71E3B8E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3F42C28E-A707-4DC5-8034-5E50BBFF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94E512AB-F6DC-4DDF-9727-73F731AA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D06A9086-0341-4AEF-9D83-05216A3E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200AB5C5-0DB3-43AD-B08B-FD61118A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07516599-B625-474B-BC6E-4A83492E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F4E3B3B6-B1EB-4865-9303-A9265E6A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7C588AB8-FEB0-41DA-BB93-EDEF2A71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76873ADF-B39C-4F49-A7AA-E6959C61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4/6 · 项目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9466BF52-7D6E-45B7-9F5F-7FA70223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6496F8BE-9306-4E6B-B995-E5C18160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38E98A73-D445-40B5-9264-98247106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三个有逻辑的项目，比五个工具Demo更有说服力。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FFC007B3-934F-4734-A9A1-E154B550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38CD40F7-4888-492D-9600-065CAD8B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建议准备三个互补项目</a:t>
            </a:r>
          </a:p>
        </p:txBody>
      </p:sp>
      <p:sp>
        <p:nvSpPr>
          <p:cNvPr id="21" name="num0">
            <a:extLst xmlns:a="http://schemas.openxmlformats.org/drawingml/2006/main">
              <a:ext uri="{FF2B5EF4-FFF2-40B4-BE49-F238E27FC236}">
                <a16:creationId xmlns:a16="http://schemas.microsoft.com/office/drawing/2014/main" id="{2CAC8530-7AEB-4EB5-9996-F5384E82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68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02E"/>
                </a:solidFill>
              </a:defRPr>
            </a:pPr>
            <a:r>
              <a:rPr sz="1350" b="1">
                <a:solidFill>
                  <a:srgbClr val="FFB02E"/>
                </a:solidFill>
              </a:rPr>
              <a:t>01</a:t>
            </a:r>
          </a:p>
        </p:txBody>
      </p:sp>
      <p:sp>
        <p:nvSpPr>
          <p:cNvPr id="22" name="ct0">
            <a:extLst xmlns:a="http://schemas.openxmlformats.org/drawingml/2006/main">
              <a:ext uri="{FF2B5EF4-FFF2-40B4-BE49-F238E27FC236}">
                <a16:creationId xmlns:a16="http://schemas.microsoft.com/office/drawing/2014/main" id="{9B47EC3C-649C-45E8-A67A-7A737480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68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0→1</a:t>
            </a:r>
          </a:p>
        </p:txBody>
      </p:sp>
      <p:sp>
        <p:nvSpPr>
          <p:cNvPr id="23" name="rule0">
            <a:extLst xmlns:a="http://schemas.openxmlformats.org/drawingml/2006/main">
              <a:ext uri="{FF2B5EF4-FFF2-40B4-BE49-F238E27FC236}">
                <a16:creationId xmlns:a16="http://schemas.microsoft.com/office/drawing/2014/main" id="{8E84D884-FEC0-48AC-8169-3402D1E2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168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b0">
            <a:extLst xmlns:a="http://schemas.openxmlformats.org/drawingml/2006/main">
              <a:ext uri="{FF2B5EF4-FFF2-40B4-BE49-F238E27FC236}">
                <a16:creationId xmlns:a16="http://schemas.microsoft.com/office/drawing/2014/main" id="{83245D88-2C21-469B-B761-E2B29BC4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1689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1E8"/>
                </a:solidFill>
              </a:defRPr>
            </a:pPr>
            <a:r>
              <a:rPr sz="1275" b="0">
                <a:solidFill>
                  <a:srgbClr val="AFC1E8"/>
                </a:solidFill>
              </a:rPr>
              <a:t>证明完整产品能力</a:t>
            </a:r>
          </a:p>
        </p:txBody>
      </p:sp>
      <p:sp>
        <p:nvSpPr>
          <p:cNvPr id="25" name="num1">
            <a:extLst xmlns:a="http://schemas.openxmlformats.org/drawingml/2006/main">
              <a:ext uri="{FF2B5EF4-FFF2-40B4-BE49-F238E27FC236}">
                <a16:creationId xmlns:a16="http://schemas.microsoft.com/office/drawing/2014/main" id="{DDDBDAE5-86AD-4AF9-BAF3-135DD0D6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0" y="5048250"/>
            <a:ext cx="168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D5FF"/>
                </a:solidFill>
              </a:defRPr>
            </a:pPr>
            <a:r>
              <a:rPr sz="1350" b="1">
                <a:solidFill>
                  <a:srgbClr val="39D5FF"/>
                </a:solidFill>
              </a:rPr>
              <a:t>02</a:t>
            </a:r>
          </a:p>
        </p:txBody>
      </p:sp>
      <p:sp>
        <p:nvSpPr>
          <p:cNvPr id="26" name="ct1">
            <a:extLst xmlns:a="http://schemas.openxmlformats.org/drawingml/2006/main">
              <a:ext uri="{FF2B5EF4-FFF2-40B4-BE49-F238E27FC236}">
                <a16:creationId xmlns:a16="http://schemas.microsoft.com/office/drawing/2014/main" id="{54D8F3B4-F3F0-4A0C-AD0D-67BC4A84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0" y="5429250"/>
            <a:ext cx="168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RAG/流程</a:t>
            </a:r>
          </a:p>
        </p:txBody>
      </p:sp>
      <p:sp>
        <p:nvSpPr>
          <p:cNvPr id="27" name="rule1">
            <a:extLst xmlns:a="http://schemas.openxmlformats.org/drawingml/2006/main">
              <a:ext uri="{FF2B5EF4-FFF2-40B4-BE49-F238E27FC236}">
                <a16:creationId xmlns:a16="http://schemas.microsoft.com/office/drawing/2014/main" id="{B94A390F-313D-4F6A-B02A-9B79BDB6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0" y="6000750"/>
            <a:ext cx="168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b1">
            <a:extLst xmlns:a="http://schemas.openxmlformats.org/drawingml/2006/main">
              <a:ext uri="{FF2B5EF4-FFF2-40B4-BE49-F238E27FC236}">
                <a16:creationId xmlns:a16="http://schemas.microsoft.com/office/drawing/2014/main" id="{3D218365-A3A3-4DEB-9D39-9163EDB8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0" y="6153150"/>
            <a:ext cx="1689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1E8"/>
                </a:solidFill>
              </a:defRPr>
            </a:pPr>
            <a:r>
              <a:rPr sz="1275" b="0">
                <a:solidFill>
                  <a:srgbClr val="AFC1E8"/>
                </a:solidFill>
              </a:rPr>
              <a:t>证明专项设计能力</a:t>
            </a:r>
          </a:p>
        </p:txBody>
      </p:sp>
      <p:sp>
        <p:nvSpPr>
          <p:cNvPr id="29" name="num2">
            <a:extLst xmlns:a="http://schemas.openxmlformats.org/drawingml/2006/main">
              <a:ext uri="{FF2B5EF4-FFF2-40B4-BE49-F238E27FC236}">
                <a16:creationId xmlns:a16="http://schemas.microsoft.com/office/drawing/2014/main" id="{524D09A8-D35E-4CB7-AADB-6CE512A6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950" y="5048250"/>
            <a:ext cx="168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D5FF"/>
                </a:solidFill>
              </a:defRPr>
            </a:pPr>
            <a:r>
              <a:rPr sz="1350" b="1">
                <a:solidFill>
                  <a:srgbClr val="39D5FF"/>
                </a:solidFill>
              </a:rPr>
              <a:t>03</a:t>
            </a:r>
          </a:p>
        </p:txBody>
      </p:sp>
      <p:sp>
        <p:nvSpPr>
          <p:cNvPr id="30" name="ct2">
            <a:extLst xmlns:a="http://schemas.openxmlformats.org/drawingml/2006/main">
              <a:ext uri="{FF2B5EF4-FFF2-40B4-BE49-F238E27FC236}">
                <a16:creationId xmlns:a16="http://schemas.microsoft.com/office/drawing/2014/main" id="{D044A3A4-9588-4939-89C3-B378F7C2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950" y="5429250"/>
            <a:ext cx="168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原背景</a:t>
            </a:r>
          </a:p>
        </p:txBody>
      </p:sp>
      <p:sp>
        <p:nvSpPr>
          <p:cNvPr id="31" name="rule2">
            <a:extLst xmlns:a="http://schemas.openxmlformats.org/drawingml/2006/main">
              <a:ext uri="{FF2B5EF4-FFF2-40B4-BE49-F238E27FC236}">
                <a16:creationId xmlns:a16="http://schemas.microsoft.com/office/drawing/2014/main" id="{E431597E-1154-4CCF-9BCF-C8194972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950" y="6000750"/>
            <a:ext cx="168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b2">
            <a:extLst xmlns:a="http://schemas.openxmlformats.org/drawingml/2006/main">
              <a:ext uri="{FF2B5EF4-FFF2-40B4-BE49-F238E27FC236}">
                <a16:creationId xmlns:a16="http://schemas.microsoft.com/office/drawing/2014/main" id="{65294A0F-07D3-44FC-B53C-ACD66D11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950" y="6153150"/>
            <a:ext cx="1689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1E8"/>
                </a:solidFill>
              </a:defRPr>
            </a:pPr>
            <a:r>
              <a:rPr sz="1275" b="0">
                <a:solidFill>
                  <a:srgbClr val="AFC1E8"/>
                </a:solidFill>
              </a:rPr>
              <a:t>证明行业迁移优势</a:t>
            </a:r>
          </a:p>
        </p:txBody>
      </p:sp>
    </p:spTree>
    <p:extLst>
      <p:ext uri="{BB962C8B-B14F-4D97-AF65-F5344CB8AC3E}">
        <p14:creationId xmlns:p14="http://schemas.microsoft.com/office/powerpoint/2010/main" val="142178259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9E49CAF7-F3D1-41C2-B17F-40829CE5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A080F9A9-D656-4197-BD17-344CE88A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25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A76ADF04-0165-46EA-8EFC-CE392F25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2885C587-E199-433E-8013-C6D3EF69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FABDD63F-D472-4BD6-B0ED-E7521600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8579AFC8-13FC-4B94-903A-D0095294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434E1D0A-D784-45DA-844A-CEA938E6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782A826D-B725-4DB7-80D3-52B752AC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4B07D2A3-DA35-44F4-AA9C-3D4EA6D9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EED904F9-701F-4A7D-9B38-6054E96C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4C656214-0113-4280-883A-085CA4A7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900C7E07-227C-45B5-B0F0-11B46DA0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5F0B6701-5177-44E0-AFEE-BBF3B8E0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42A05453-C42F-4694-A013-41B048D9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42B171BA-D520-40FC-96A1-F8BC3B0D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4/6 · 项目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AEA64204-9412-429C-A31F-95B24127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F3BE44C7-BEBB-468B-9D6F-7D016E00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31D37D5D-16AF-4018-80CA-E4585BAA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交互可以是Chatbot，底层知识方案可以使用RAG。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057BF661-EBCF-4C90-BA67-3F8174D5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4D6CA9BD-4FAD-4A50-B1AF-55ED8E4E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RAG 项目不能只说上传文档</a:t>
            </a:r>
          </a:p>
        </p:txBody>
      </p:sp>
      <p:sp>
        <p:nvSpPr>
          <p:cNvPr id="21" name="dot0">
            <a:extLst xmlns:a="http://schemas.openxmlformats.org/drawingml/2006/main">
              <a:ext uri="{FF2B5EF4-FFF2-40B4-BE49-F238E27FC236}">
                <a16:creationId xmlns:a16="http://schemas.microsoft.com/office/drawing/2014/main" id="{41AA1BEF-165C-4F50-BFBF-D757FDEA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item0">
            <a:extLst xmlns:a="http://schemas.openxmlformats.org/drawingml/2006/main">
              <a:ext uri="{FF2B5EF4-FFF2-40B4-BE49-F238E27FC236}">
                <a16:creationId xmlns:a16="http://schemas.microsoft.com/office/drawing/2014/main" id="{948E4169-A298-4D18-B7B2-D21245E9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知识接入、清洗与权限</a:t>
            </a:r>
          </a:p>
        </p:txBody>
      </p:sp>
      <p:sp>
        <p:nvSpPr>
          <p:cNvPr id="23" name="dot1">
            <a:extLst xmlns:a="http://schemas.openxmlformats.org/drawingml/2006/main">
              <a:ext uri="{FF2B5EF4-FFF2-40B4-BE49-F238E27FC236}">
                <a16:creationId xmlns:a16="http://schemas.microsoft.com/office/drawing/2014/main" id="{8936FA1F-A599-445D-85CD-50D7F9A8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6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tem1">
            <a:extLst xmlns:a="http://schemas.openxmlformats.org/drawingml/2006/main">
              <a:ext uri="{FF2B5EF4-FFF2-40B4-BE49-F238E27FC236}">
                <a16:creationId xmlns:a16="http://schemas.microsoft.com/office/drawing/2014/main" id="{48327C9B-55EC-4DB1-B6F6-12C53EEA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检索、生成和引用</a:t>
            </a:r>
          </a:p>
        </p:txBody>
      </p:sp>
      <p:sp>
        <p:nvSpPr>
          <p:cNvPr id="25" name="dot2">
            <a:extLst xmlns:a="http://schemas.openxmlformats.org/drawingml/2006/main">
              <a:ext uri="{FF2B5EF4-FFF2-40B4-BE49-F238E27FC236}">
                <a16:creationId xmlns:a16="http://schemas.microsoft.com/office/drawing/2014/main" id="{A7079EBD-88C8-47A9-8E67-5A6ADD0F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item2">
            <a:extLst xmlns:a="http://schemas.openxmlformats.org/drawingml/2006/main">
              <a:ext uri="{FF2B5EF4-FFF2-40B4-BE49-F238E27FC236}">
                <a16:creationId xmlns:a16="http://schemas.microsoft.com/office/drawing/2014/main" id="{2DE521D3-8181-4DA1-844B-FDF9D8F2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反馈、Bad Case 与评估</a:t>
            </a:r>
          </a:p>
        </p:txBody>
      </p:sp>
    </p:spTree>
    <p:extLst>
      <p:ext uri="{BB962C8B-B14F-4D97-AF65-F5344CB8AC3E}">
        <p14:creationId xmlns:p14="http://schemas.microsoft.com/office/powerpoint/2010/main" val="87774971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70852025-3AF9-40D2-8FB5-02647299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6939FCE0-D4D2-49AB-A314-F9E2A1A9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26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64F081F9-6F93-457D-BE9C-5CE65677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3CFEE354-01C9-4724-80F9-1F0DCE52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DD08DF72-1EDE-4090-B2E6-ECE9C3F2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70A464EE-AB51-445D-AC48-B88A1301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CE62305E-B6AB-419F-B787-7B30484B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422CE966-C7B0-41BC-BFFB-96D6E12C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FE4E348D-461B-4BCC-A917-3326440E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85FAA906-E0DE-4338-99D5-067D195A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0FCA981F-49E1-4882-A7BF-6A03ABE6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35F43142-A930-470D-BC2E-C1E0E1F4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68C4C4B2-1511-43C4-A52B-6A9A678F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3A4F1AF9-2FAF-45BD-B062-F8E86B31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E9B2ABA4-0B9A-4853-8B6C-B9C0584E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4/6 · 项目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73224E6E-D8A3-47A9-90A6-1FEC4FEC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65B08FC0-182D-4EE6-B37C-0A2CE774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26E9BA48-B77C-4D0C-B402-E02C0A5B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流程越明确，越适合可控自动化。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688B7E3B-ACA5-49B8-BAE0-CFC5CE1C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A61C6AC9-9432-40A9-A955-2C6A2BB0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Workflow 项目要讲固定流程</a:t>
            </a:r>
          </a:p>
        </p:txBody>
      </p:sp>
      <p:sp>
        <p:nvSpPr>
          <p:cNvPr id="21" name="dot0">
            <a:extLst xmlns:a="http://schemas.openxmlformats.org/drawingml/2006/main">
              <a:ext uri="{FF2B5EF4-FFF2-40B4-BE49-F238E27FC236}">
                <a16:creationId xmlns:a16="http://schemas.microsoft.com/office/drawing/2014/main" id="{5DD3E577-03DF-4ACA-962E-00114EA0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item0">
            <a:extLst xmlns:a="http://schemas.openxmlformats.org/drawingml/2006/main">
              <a:ext uri="{FF2B5EF4-FFF2-40B4-BE49-F238E27FC236}">
                <a16:creationId xmlns:a16="http://schemas.microsoft.com/office/drawing/2014/main" id="{0510D56B-50FD-4E7E-A5BC-19CBAD2D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现状流程与目标流程</a:t>
            </a:r>
          </a:p>
        </p:txBody>
      </p:sp>
      <p:sp>
        <p:nvSpPr>
          <p:cNvPr id="23" name="dot1">
            <a:extLst xmlns:a="http://schemas.openxmlformats.org/drawingml/2006/main">
              <a:ext uri="{FF2B5EF4-FFF2-40B4-BE49-F238E27FC236}">
                <a16:creationId xmlns:a16="http://schemas.microsoft.com/office/drawing/2014/main" id="{6BADA996-ECEF-4DA4-A313-8A34AE56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6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tem1">
            <a:extLst xmlns:a="http://schemas.openxmlformats.org/drawingml/2006/main">
              <a:ext uri="{FF2B5EF4-FFF2-40B4-BE49-F238E27FC236}">
                <a16:creationId xmlns:a16="http://schemas.microsoft.com/office/drawing/2014/main" id="{04BDBC25-1827-4AAB-80DC-5D503FEB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节点、变量和分支</a:t>
            </a:r>
          </a:p>
        </p:txBody>
      </p:sp>
      <p:sp>
        <p:nvSpPr>
          <p:cNvPr id="25" name="dot2">
            <a:extLst xmlns:a="http://schemas.openxmlformats.org/drawingml/2006/main">
              <a:ext uri="{FF2B5EF4-FFF2-40B4-BE49-F238E27FC236}">
                <a16:creationId xmlns:a16="http://schemas.microsoft.com/office/drawing/2014/main" id="{82F38076-7BA4-4086-BEC7-ED141052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item2">
            <a:extLst xmlns:a="http://schemas.openxmlformats.org/drawingml/2006/main">
              <a:ext uri="{FF2B5EF4-FFF2-40B4-BE49-F238E27FC236}">
                <a16:creationId xmlns:a16="http://schemas.microsoft.com/office/drawing/2014/main" id="{FDD1B627-001A-41B9-86DE-6558059D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超时、重试和人工审核</a:t>
            </a:r>
          </a:p>
        </p:txBody>
      </p:sp>
    </p:spTree>
    <p:extLst>
      <p:ext uri="{BB962C8B-B14F-4D97-AF65-F5344CB8AC3E}">
        <p14:creationId xmlns:p14="http://schemas.microsoft.com/office/powerpoint/2010/main" val="83240720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5EE4FD53-8CD0-4A40-81B8-3F627EAD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D04EA6CA-4E28-4926-A6DE-F06626F5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27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76271A55-6033-479B-AD9E-01AEB57D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A4963EE2-D9C0-4A11-A014-376EA54B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E760EC75-4E20-4E89-9D15-29D2093A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3C0D3920-05BA-48F2-A86C-CF665F24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0EFBEF0E-A52A-48D2-9141-89655E5D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A8DC3C2A-F8A6-4CD7-9BDB-C933C6D4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1ECC89B4-51A7-469A-B569-BBAA2FA4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B39961E8-A397-4987-8910-B95E9BC0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A9718663-5F0F-49A7-A0D3-9B2D73D9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2DEF8E5B-BEF6-43DD-A431-9C32B0E5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566C9125-FED2-45D5-80E4-0AA02CE7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D4398108-BF80-4E34-A5DF-ED88F4CA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B62CA2D5-257A-4EBF-BA7F-199D79D6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4/6 · 项目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C9BA2AC5-80BC-4818-BA69-A5C831D8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8BE04E03-AA85-4248-B6DD-9E1C212D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97AB0903-EDF0-453D-91EA-7F86C861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多步骤不等于一定要Agent，先判断是否需要动态决策。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18584BE9-DD2D-4369-8D24-06B1E000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61A62EE5-0CA6-47B0-AF7C-1F1B4D11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Agent 项目要讲任务决策</a:t>
            </a:r>
          </a:p>
        </p:txBody>
      </p:sp>
      <p:sp>
        <p:nvSpPr>
          <p:cNvPr id="21" name="dot0">
            <a:extLst xmlns:a="http://schemas.openxmlformats.org/drawingml/2006/main">
              <a:ext uri="{FF2B5EF4-FFF2-40B4-BE49-F238E27FC236}">
                <a16:creationId xmlns:a16="http://schemas.microsoft.com/office/drawing/2014/main" id="{D2066C3E-0147-4B35-978A-FC34DAEC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item0">
            <a:extLst xmlns:a="http://schemas.openxmlformats.org/drawingml/2006/main">
              <a:ext uri="{FF2B5EF4-FFF2-40B4-BE49-F238E27FC236}">
                <a16:creationId xmlns:a16="http://schemas.microsoft.com/office/drawing/2014/main" id="{A208B4F8-89D6-4C1B-A5C3-064BC754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目标、规划与工具调用</a:t>
            </a:r>
          </a:p>
        </p:txBody>
      </p:sp>
      <p:sp>
        <p:nvSpPr>
          <p:cNvPr id="23" name="dot1">
            <a:extLst xmlns:a="http://schemas.openxmlformats.org/drawingml/2006/main">
              <a:ext uri="{FF2B5EF4-FFF2-40B4-BE49-F238E27FC236}">
                <a16:creationId xmlns:a16="http://schemas.microsoft.com/office/drawing/2014/main" id="{8E5BF122-54FB-471F-8566-97241F4E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6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tem1">
            <a:extLst xmlns:a="http://schemas.openxmlformats.org/drawingml/2006/main">
              <a:ext uri="{FF2B5EF4-FFF2-40B4-BE49-F238E27FC236}">
                <a16:creationId xmlns:a16="http://schemas.microsoft.com/office/drawing/2014/main" id="{2E846178-0688-4155-B18F-CA06619F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授权、确认和操作留痕</a:t>
            </a:r>
          </a:p>
        </p:txBody>
      </p:sp>
      <p:sp>
        <p:nvSpPr>
          <p:cNvPr id="25" name="dot2">
            <a:extLst xmlns:a="http://schemas.openxmlformats.org/drawingml/2006/main">
              <a:ext uri="{FF2B5EF4-FFF2-40B4-BE49-F238E27FC236}">
                <a16:creationId xmlns:a16="http://schemas.microsoft.com/office/drawing/2014/main" id="{EDB4B591-F896-4686-8D5F-DA69E5E9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item2">
            <a:extLst xmlns:a="http://schemas.openxmlformats.org/drawingml/2006/main">
              <a:ext uri="{FF2B5EF4-FFF2-40B4-BE49-F238E27FC236}">
                <a16:creationId xmlns:a16="http://schemas.microsoft.com/office/drawing/2014/main" id="{28A99FA6-E6BF-420D-873D-6FF8BC47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失败、成本和人工接管</a:t>
            </a:r>
          </a:p>
        </p:txBody>
      </p:sp>
    </p:spTree>
    <p:extLst>
      <p:ext uri="{BB962C8B-B14F-4D97-AF65-F5344CB8AC3E}">
        <p14:creationId xmlns:p14="http://schemas.microsoft.com/office/powerpoint/2010/main" val="31679671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3EB6201C-18EC-4058-8534-BE4F2635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3CFEDCE3-9645-41A7-85C4-11B145CA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28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8CF740C4-A34A-442F-9D45-D9CE06CF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640CAA2B-642C-4BC8-AD9E-06B97E6F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4FA79763-41B1-4051-AEE3-ECF276B8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1161D53D-0ABC-4677-8D30-004060A2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7D5DABC2-08FE-4849-AB85-4C291ED1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91F04BB6-0FBF-4AD0-AD72-097F99A2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5D8A7FB0-2869-49A8-9320-B5ACC30D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87B53188-780A-4430-88C4-53EEB7EC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55182112-F313-400E-9E56-46961A48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1BE5DEB3-1E50-4DD8-8970-355195C5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05C51A85-9E72-4703-AB0D-783D6C6B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BE1C81F9-A0F9-4620-9D08-8A0A7053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38799950-B13F-4354-9F05-A7A1B0D7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4/6 · 项目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29D4E14B-FCE5-4393-A77E-7500ADC8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AB05D944-EA81-47C7-8C98-0C94D044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C88BCCD9-9348-4C11-A074-A9B8B35C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不要追最热门的题目，先做最可信的项目。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2D9EAA6F-C097-4CD9-A7BC-DE4C1131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AF77E1EC-9623-4319-89D8-4C7FA632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不同背景，从已有资产切入</a:t>
            </a:r>
          </a:p>
        </p:txBody>
      </p:sp>
      <p:sp>
        <p:nvSpPr>
          <p:cNvPr id="21" name="num0">
            <a:extLst xmlns:a="http://schemas.openxmlformats.org/drawingml/2006/main">
              <a:ext uri="{FF2B5EF4-FFF2-40B4-BE49-F238E27FC236}">
                <a16:creationId xmlns:a16="http://schemas.microsoft.com/office/drawing/2014/main" id="{03DC2EC9-9EC4-403B-83AB-FF5FF512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68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02E"/>
                </a:solidFill>
              </a:defRPr>
            </a:pPr>
            <a:r>
              <a:rPr sz="1350" b="1">
                <a:solidFill>
                  <a:srgbClr val="FFB02E"/>
                </a:solidFill>
              </a:rPr>
              <a:t>01</a:t>
            </a:r>
          </a:p>
        </p:txBody>
      </p:sp>
      <p:sp>
        <p:nvSpPr>
          <p:cNvPr id="22" name="ct0">
            <a:extLst xmlns:a="http://schemas.openxmlformats.org/drawingml/2006/main">
              <a:ext uri="{FF2B5EF4-FFF2-40B4-BE49-F238E27FC236}">
                <a16:creationId xmlns:a16="http://schemas.microsoft.com/office/drawing/2014/main" id="{311B1B7F-AEB2-4680-9226-064EBAF3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68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B端</a:t>
            </a:r>
          </a:p>
        </p:txBody>
      </p:sp>
      <p:sp>
        <p:nvSpPr>
          <p:cNvPr id="23" name="rule0">
            <a:extLst xmlns:a="http://schemas.openxmlformats.org/drawingml/2006/main">
              <a:ext uri="{FF2B5EF4-FFF2-40B4-BE49-F238E27FC236}">
                <a16:creationId xmlns:a16="http://schemas.microsoft.com/office/drawing/2014/main" id="{93995229-83D7-4481-B4CC-D92D37E0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168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b0">
            <a:extLst xmlns:a="http://schemas.openxmlformats.org/drawingml/2006/main">
              <a:ext uri="{FF2B5EF4-FFF2-40B4-BE49-F238E27FC236}">
                <a16:creationId xmlns:a16="http://schemas.microsoft.com/office/drawing/2014/main" id="{0ABF4DAE-D0C0-4B80-90E2-77B68635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1689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1E8"/>
                </a:solidFill>
              </a:defRPr>
            </a:pPr>
            <a:r>
              <a:rPr sz="1275" b="0">
                <a:solidFill>
                  <a:srgbClr val="AFC1E8"/>
                </a:solidFill>
              </a:rPr>
              <a:t>知识、流程、权限</a:t>
            </a:r>
          </a:p>
        </p:txBody>
      </p:sp>
      <p:sp>
        <p:nvSpPr>
          <p:cNvPr id="25" name="num1">
            <a:extLst xmlns:a="http://schemas.openxmlformats.org/drawingml/2006/main">
              <a:ext uri="{FF2B5EF4-FFF2-40B4-BE49-F238E27FC236}">
                <a16:creationId xmlns:a16="http://schemas.microsoft.com/office/drawing/2014/main" id="{80EBCC78-937D-4E72-BBA0-199BB767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0" y="5048250"/>
            <a:ext cx="168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D5FF"/>
                </a:solidFill>
              </a:defRPr>
            </a:pPr>
            <a:r>
              <a:rPr sz="1350" b="1">
                <a:solidFill>
                  <a:srgbClr val="39D5FF"/>
                </a:solidFill>
              </a:rPr>
              <a:t>02</a:t>
            </a:r>
          </a:p>
        </p:txBody>
      </p:sp>
      <p:sp>
        <p:nvSpPr>
          <p:cNvPr id="26" name="ct1">
            <a:extLst xmlns:a="http://schemas.openxmlformats.org/drawingml/2006/main">
              <a:ext uri="{FF2B5EF4-FFF2-40B4-BE49-F238E27FC236}">
                <a16:creationId xmlns:a16="http://schemas.microsoft.com/office/drawing/2014/main" id="{6C9047BC-02FB-4085-AFF5-3E294D00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0" y="5429250"/>
            <a:ext cx="168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C端</a:t>
            </a:r>
          </a:p>
        </p:txBody>
      </p:sp>
      <p:sp>
        <p:nvSpPr>
          <p:cNvPr id="27" name="rule1">
            <a:extLst xmlns:a="http://schemas.openxmlformats.org/drawingml/2006/main">
              <a:ext uri="{FF2B5EF4-FFF2-40B4-BE49-F238E27FC236}">
                <a16:creationId xmlns:a16="http://schemas.microsoft.com/office/drawing/2014/main" id="{F8864AA6-8298-4F9F-8DAF-4C3C11BB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0" y="6000750"/>
            <a:ext cx="168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b1">
            <a:extLst xmlns:a="http://schemas.openxmlformats.org/drawingml/2006/main">
              <a:ext uri="{FF2B5EF4-FFF2-40B4-BE49-F238E27FC236}">
                <a16:creationId xmlns:a16="http://schemas.microsoft.com/office/drawing/2014/main" id="{33A0815F-5512-43DA-8CEE-558A942E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0" y="6153150"/>
            <a:ext cx="1689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1E8"/>
                </a:solidFill>
              </a:defRPr>
            </a:pPr>
            <a:r>
              <a:rPr sz="1275" b="0">
                <a:solidFill>
                  <a:srgbClr val="AFC1E8"/>
                </a:solidFill>
              </a:rPr>
              <a:t>用户、体验、留存</a:t>
            </a:r>
          </a:p>
        </p:txBody>
      </p:sp>
      <p:sp>
        <p:nvSpPr>
          <p:cNvPr id="29" name="num2">
            <a:extLst xmlns:a="http://schemas.openxmlformats.org/drawingml/2006/main">
              <a:ext uri="{FF2B5EF4-FFF2-40B4-BE49-F238E27FC236}">
                <a16:creationId xmlns:a16="http://schemas.microsoft.com/office/drawing/2014/main" id="{19B60FA8-F226-4682-BC91-2C861793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950" y="5048250"/>
            <a:ext cx="168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D5FF"/>
                </a:solidFill>
              </a:defRPr>
            </a:pPr>
            <a:r>
              <a:rPr sz="1350" b="1">
                <a:solidFill>
                  <a:srgbClr val="39D5FF"/>
                </a:solidFill>
              </a:rPr>
              <a:t>03</a:t>
            </a:r>
          </a:p>
        </p:txBody>
      </p:sp>
      <p:sp>
        <p:nvSpPr>
          <p:cNvPr id="30" name="ct2">
            <a:extLst xmlns:a="http://schemas.openxmlformats.org/drawingml/2006/main">
              <a:ext uri="{FF2B5EF4-FFF2-40B4-BE49-F238E27FC236}">
                <a16:creationId xmlns:a16="http://schemas.microsoft.com/office/drawing/2014/main" id="{92EFEE82-6A4C-4AAC-9D22-2070CE47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950" y="5429250"/>
            <a:ext cx="168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运营/行业</a:t>
            </a:r>
          </a:p>
        </p:txBody>
      </p:sp>
      <p:sp>
        <p:nvSpPr>
          <p:cNvPr id="31" name="rule2">
            <a:extLst xmlns:a="http://schemas.openxmlformats.org/drawingml/2006/main">
              <a:ext uri="{FF2B5EF4-FFF2-40B4-BE49-F238E27FC236}">
                <a16:creationId xmlns:a16="http://schemas.microsoft.com/office/drawing/2014/main" id="{4A7BEEBF-E865-46B7-A83E-A55A38B7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950" y="6000750"/>
            <a:ext cx="168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b2">
            <a:extLst xmlns:a="http://schemas.openxmlformats.org/drawingml/2006/main">
              <a:ext uri="{FF2B5EF4-FFF2-40B4-BE49-F238E27FC236}">
                <a16:creationId xmlns:a16="http://schemas.microsoft.com/office/drawing/2014/main" id="{85B18AD5-D249-4607-96FB-357C3AAE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950" y="6153150"/>
            <a:ext cx="1689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1E8"/>
                </a:solidFill>
              </a:defRPr>
            </a:pPr>
            <a:r>
              <a:rPr sz="1275" b="0">
                <a:solidFill>
                  <a:srgbClr val="AFC1E8"/>
                </a:solidFill>
              </a:rPr>
              <a:t>内容、客户、场景</a:t>
            </a:r>
          </a:p>
        </p:txBody>
      </p:sp>
    </p:spTree>
    <p:extLst>
      <p:ext uri="{BB962C8B-B14F-4D97-AF65-F5344CB8AC3E}">
        <p14:creationId xmlns:p14="http://schemas.microsoft.com/office/powerpoint/2010/main" val="191670569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B6249C29-2658-49B3-8687-1E2D773D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52FDCF55-BF5C-49A5-93BE-161A6CED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29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9ADAE860-07AD-46E5-84C2-98944B24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4045C7E2-BA6D-4905-A9FE-0549CF9C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69A7F93E-4314-4FF2-9FD0-AEEC1C60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21A357FA-D980-4C63-AE5D-8695050B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6F97A218-828B-4A43-8172-5CAE7685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585CA6D0-F842-40CB-8282-BEAA33A0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10EEFA6A-AE6E-446E-B394-59652BF2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AF6C1866-3FBE-48F9-8583-CAEE82C0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143E1788-04B4-4C83-A656-D96050FF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6EC21046-48EE-4462-9BC6-912BFE45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D902F164-B217-445A-9A4E-DD2B8337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550B5BD3-70E6-47A5-956C-C907081D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7196DA42-172D-4C6B-9381-1CE3E5DF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4/6 · 项目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C22FC81B-6CF8-4C17-AE04-D1FB5620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97A7345E-01BE-42D7-9B78-DA90BEDF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8F52D2EB-197D-4FA5-B4B6-4DD0FA38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能解释取舍、失败和验证，才不只是漂亮Demo。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087B6BFC-4D60-4E5B-9985-15E75436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070A0F04-0733-45E4-A9EA-5045EA44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项目是否够深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看一个问题</a:t>
            </a:r>
          </a:p>
        </p:txBody>
      </p:sp>
      <p:sp>
        <p:nvSpPr>
          <p:cNvPr id="21" name="big">
            <a:extLst xmlns:a="http://schemas.openxmlformats.org/drawingml/2006/main">
              <a:ext uri="{FF2B5EF4-FFF2-40B4-BE49-F238E27FC236}">
                <a16:creationId xmlns:a16="http://schemas.microsoft.com/office/drawing/2014/main" id="{BE9078C0-134C-4764-9132-80A64B9A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334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面试官继续追问时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你还有没有证据</a:t>
            </a:r>
          </a:p>
        </p:txBody>
      </p:sp>
    </p:spTree>
    <p:extLst>
      <p:ext uri="{BB962C8B-B14F-4D97-AF65-F5344CB8AC3E}">
        <p14:creationId xmlns:p14="http://schemas.microsoft.com/office/powerpoint/2010/main" val="122670421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ABC78F24-1009-4804-84A6-9FE90329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5731814C-420C-45EF-B90D-F30124D7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30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EAD01819-FBCC-42DB-B150-D63062DE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BB471C42-939F-4F8F-9903-6BF62A07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7B188454-FF6C-4171-A6B9-21D4D2AD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AAAE4B7C-F3E7-40C9-A241-090A663F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448F8410-987C-427E-AA47-23E3E1FD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23A446C4-6786-4DD0-A0BC-90AC532B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2863D886-A40F-46C3-980F-999401C0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B26A122E-AD27-425C-8F90-17AF1234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A8FD6A97-0880-4D92-8473-CBAC3B09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83C73777-5B9A-4B0E-AE5F-C8A6A431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C9F22941-0164-4257-B2A9-3959E549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05E9E0C6-EB00-4936-8736-3547DDAE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F7696443-2D03-43B9-B349-B7522AEA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5/6 · 求职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5CF78035-E6BA-4EDB-8E8C-17390F65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3CC27569-4940-44E0-877C-78DDB409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5FD3B9FA-4D65-469D-8A6E-61BCC497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关键词只有放进真实项目逻辑里，才有价值。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1A5AACC6-A8D2-46B6-8DF7-19AB3818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AAA06811-F6EA-43AB-A2AB-24E50A2E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简历不是堆关键词</a:t>
            </a:r>
          </a:p>
        </p:txBody>
      </p:sp>
      <p:sp>
        <p:nvSpPr>
          <p:cNvPr id="21" name="big">
            <a:extLst xmlns:a="http://schemas.openxmlformats.org/drawingml/2006/main">
              <a:ext uri="{FF2B5EF4-FFF2-40B4-BE49-F238E27FC236}">
                <a16:creationId xmlns:a16="http://schemas.microsoft.com/office/drawing/2014/main" id="{668AB4EE-B81A-4C07-8C1D-D1B2CAE7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334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B02E"/>
                </a:solidFill>
              </a:defRPr>
            </a:pPr>
            <a:r>
              <a:rPr sz="2325" b="1">
                <a:solidFill>
                  <a:srgbClr val="FFB02E"/>
                </a:solidFill>
              </a:rPr>
              <a:t>业务背景 + AI方案</a:t>
            </a:r>
          </a:p>
          <a:p xmlns:a="http://schemas.openxmlformats.org/drawingml/2006/main">
            <a:pPr algn="l">
              <a:defRPr sz="2325" b="1">
                <a:solidFill>
                  <a:srgbClr val="FFB02E"/>
                </a:solidFill>
              </a:defRPr>
            </a:pPr>
            <a:r>
              <a:rPr sz="2325" b="1">
                <a:solidFill>
                  <a:srgbClr val="FFB02E"/>
                </a:solidFill>
              </a:rPr>
              <a:t>+ 关键设计 + 结果证据</a:t>
            </a:r>
          </a:p>
        </p:txBody>
      </p:sp>
    </p:spTree>
    <p:extLst>
      <p:ext uri="{BB962C8B-B14F-4D97-AF65-F5344CB8AC3E}">
        <p14:creationId xmlns:p14="http://schemas.microsoft.com/office/powerpoint/2010/main" val="73508380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DDB47C9A-C1CF-4D1A-8749-C32C01AB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CD101FE0-87C0-4C5B-903C-EC32E382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31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8EF38BC6-6A12-4446-905C-85C9B607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6CCB0B7C-6601-415D-8117-BD9135C9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C4A52D3C-84FB-473F-A051-B98B6E03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F3C02BFC-527C-4DCB-92BA-A6E70E46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B7A96820-8B8D-4D03-A25A-FAF31B84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0A188404-BEF6-4231-B1D4-B9C60686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13133193-9D1D-4989-B3EC-04A45B15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409DB8EB-495D-44A6-832B-9742F79F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89D908C1-59B2-4C82-97A8-F0A5CEF8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DA3A16FD-74AB-4BDA-A2F6-23B2FF57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AC72AB41-22C4-4E52-91E9-4F228B9B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DDE26D91-B41C-47FC-AA0D-5CC5BB97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0905C31B-A7DF-48F0-B144-2616F70D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5/6 · 求职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81FE45A0-E26B-4F8A-9DB7-56B41C98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83763E3A-324B-41A7-886D-0CA68073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48CC7F43-6ED1-44D4-9993-B1EAA6D3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强表达不是写得长，而是说清问题、判断和结果。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94B28231-19FB-4276-B578-18BA874A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5E54203C-7F3B-486E-858A-9E2F6BCF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弱表达与强表达</a:t>
            </a:r>
          </a:p>
        </p:txBody>
      </p:sp>
      <p:sp>
        <p:nvSpPr>
          <p:cNvPr id="21" name="num0">
            <a:extLst xmlns:a="http://schemas.openxmlformats.org/drawingml/2006/main">
              <a:ext uri="{FF2B5EF4-FFF2-40B4-BE49-F238E27FC236}">
                <a16:creationId xmlns:a16="http://schemas.microsoft.com/office/drawing/2014/main" id="{48E94E85-7B3D-40E2-812B-E938C402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2600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02E"/>
                </a:solidFill>
              </a:defRPr>
            </a:pPr>
            <a:r>
              <a:rPr sz="1350" b="1">
                <a:solidFill>
                  <a:srgbClr val="FFB02E"/>
                </a:solidFill>
              </a:rPr>
              <a:t>01</a:t>
            </a:r>
          </a:p>
        </p:txBody>
      </p:sp>
      <p:sp>
        <p:nvSpPr>
          <p:cNvPr id="22" name="ct0">
            <a:extLst xmlns:a="http://schemas.openxmlformats.org/drawingml/2006/main">
              <a:ext uri="{FF2B5EF4-FFF2-40B4-BE49-F238E27FC236}">
                <a16:creationId xmlns:a16="http://schemas.microsoft.com/office/drawing/2014/main" id="{B9FAC4BE-77ED-463E-89D6-BDAA969A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2600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弱</a:t>
            </a:r>
          </a:p>
        </p:txBody>
      </p:sp>
      <p:sp>
        <p:nvSpPr>
          <p:cNvPr id="23" name="rule0">
            <a:extLst xmlns:a="http://schemas.openxmlformats.org/drawingml/2006/main">
              <a:ext uri="{FF2B5EF4-FFF2-40B4-BE49-F238E27FC236}">
                <a16:creationId xmlns:a16="http://schemas.microsoft.com/office/drawing/2014/main" id="{40F208BF-E33F-4A96-AC94-91A55AA4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2600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b0">
            <a:extLst xmlns:a="http://schemas.openxmlformats.org/drawingml/2006/main">
              <a:ext uri="{FF2B5EF4-FFF2-40B4-BE49-F238E27FC236}">
                <a16:creationId xmlns:a16="http://schemas.microsoft.com/office/drawing/2014/main" id="{5140B794-F9DD-4033-B4EB-D2C63B6F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26003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1E8"/>
                </a:solidFill>
              </a:defRPr>
            </a:pPr>
            <a:r>
              <a:rPr sz="1275" b="0">
                <a:solidFill>
                  <a:srgbClr val="AFC1E8"/>
                </a:solidFill>
              </a:rPr>
              <a:t>用Dify做知识库</a:t>
            </a:r>
          </a:p>
        </p:txBody>
      </p:sp>
      <p:sp>
        <p:nvSpPr>
          <p:cNvPr id="25" name="num1">
            <a:extLst xmlns:a="http://schemas.openxmlformats.org/drawingml/2006/main">
              <a:ext uri="{FF2B5EF4-FFF2-40B4-BE49-F238E27FC236}">
                <a16:creationId xmlns:a16="http://schemas.microsoft.com/office/drawing/2014/main" id="{A9602E22-4101-4424-8211-18A9A83B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048250"/>
            <a:ext cx="2600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D5FF"/>
                </a:solidFill>
              </a:defRPr>
            </a:pPr>
            <a:r>
              <a:rPr sz="1350" b="1">
                <a:solidFill>
                  <a:srgbClr val="39D5FF"/>
                </a:solidFill>
              </a:rPr>
              <a:t>02</a:t>
            </a:r>
          </a:p>
        </p:txBody>
      </p:sp>
      <p:sp>
        <p:nvSpPr>
          <p:cNvPr id="26" name="ct1">
            <a:extLst xmlns:a="http://schemas.openxmlformats.org/drawingml/2006/main">
              <a:ext uri="{FF2B5EF4-FFF2-40B4-BE49-F238E27FC236}">
                <a16:creationId xmlns:a16="http://schemas.microsoft.com/office/drawing/2014/main" id="{E8F734A8-FE7A-4A26-A512-EF2FE884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429250"/>
            <a:ext cx="2600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强</a:t>
            </a:r>
          </a:p>
        </p:txBody>
      </p:sp>
      <p:sp>
        <p:nvSpPr>
          <p:cNvPr id="27" name="rule1">
            <a:extLst xmlns:a="http://schemas.openxmlformats.org/drawingml/2006/main">
              <a:ext uri="{FF2B5EF4-FFF2-40B4-BE49-F238E27FC236}">
                <a16:creationId xmlns:a16="http://schemas.microsoft.com/office/drawing/2014/main" id="{447A3519-9A9A-4DB6-B71E-7B925782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6000750"/>
            <a:ext cx="2600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b1">
            <a:extLst xmlns:a="http://schemas.openxmlformats.org/drawingml/2006/main">
              <a:ext uri="{FF2B5EF4-FFF2-40B4-BE49-F238E27FC236}">
                <a16:creationId xmlns:a16="http://schemas.microsoft.com/office/drawing/2014/main" id="{1434775B-6EF4-4939-BB3A-DE6A6869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6153150"/>
            <a:ext cx="26003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1E8"/>
                </a:solidFill>
              </a:defRPr>
            </a:pPr>
            <a:r>
              <a:rPr sz="1275" b="0">
                <a:solidFill>
                  <a:srgbClr val="AFC1E8"/>
                </a:solidFill>
              </a:rPr>
              <a:t>解决查询慢与口径不一</a:t>
            </a:r>
          </a:p>
          <a:p xmlns:a="http://schemas.openxmlformats.org/drawingml/2006/main">
            <a:pPr algn="l">
              <a:defRPr sz="1275" b="0">
                <a:solidFill>
                  <a:srgbClr val="AFC1E8"/>
                </a:solidFill>
              </a:defRPr>
            </a:pPr>
            <a:r>
              <a:rPr sz="1275" b="0">
                <a:solidFill>
                  <a:srgbClr val="AFC1E8"/>
                </a:solidFill>
              </a:rPr>
              <a:t>设计权限、引用和评估</a:t>
            </a:r>
          </a:p>
        </p:txBody>
      </p:sp>
    </p:spTree>
    <p:extLst>
      <p:ext uri="{BB962C8B-B14F-4D97-AF65-F5344CB8AC3E}">
        <p14:creationId xmlns:p14="http://schemas.microsoft.com/office/powerpoint/2010/main" val="90992605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12FED912-B810-471A-A823-074A5638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BFC4E9DB-6F98-47D9-BAA5-F6C6D7B4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32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5EAA5E33-6D4F-4EBB-9856-215C1447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0DAB40BF-D87C-4AA3-803E-62FB2ED0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3C29A1A1-530E-4BB2-94E8-1E842976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74014B56-EFC0-4A07-AAB7-048376E9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3C0F7E36-B548-4F31-9D12-544F41AB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8483FB97-2602-4D37-A5A9-41907A49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7956B60A-2EBF-47FF-BD04-D9A08D25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F49C877E-53C4-4447-8161-836DA083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5360BB9F-0374-46E0-B8EF-9E9FABE7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25DE6B42-DB5A-46BF-BC36-2D3E01AA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309E3371-18CD-4B29-8ECD-E68AED6F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D419E9D7-55C4-4E6E-8234-5FCFB853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79052E89-2A36-4936-BDF8-9455562D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5/6 · 求职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B1A7E2D9-BAF9-49AD-8F95-70CA0D93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36238242-59A2-4859-91DB-84A2FBCE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DCB8F070-B1E9-4F7D-83A4-44915169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作品材料的作用，是让你的思考可以被检查。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63895F36-201B-41F8-9424-A3F6D9E1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5D51160B-BA42-4293-8D70-B11A3358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作品材料至少回答</a:t>
            </a:r>
          </a:p>
        </p:txBody>
      </p:sp>
      <p:sp>
        <p:nvSpPr>
          <p:cNvPr id="21" name="dot0">
            <a:extLst xmlns:a="http://schemas.openxmlformats.org/drawingml/2006/main">
              <a:ext uri="{FF2B5EF4-FFF2-40B4-BE49-F238E27FC236}">
                <a16:creationId xmlns:a16="http://schemas.microsoft.com/office/drawing/2014/main" id="{FE386DDE-7060-45A9-A5DC-8E6757EC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item0">
            <a:extLst xmlns:a="http://schemas.openxmlformats.org/drawingml/2006/main">
              <a:ext uri="{FF2B5EF4-FFF2-40B4-BE49-F238E27FC236}">
                <a16:creationId xmlns:a16="http://schemas.microsoft.com/office/drawing/2014/main" id="{12ADFE4B-3EE8-48DE-BE81-744BC100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为什么选择这个场景</a:t>
            </a:r>
          </a:p>
        </p:txBody>
      </p:sp>
      <p:sp>
        <p:nvSpPr>
          <p:cNvPr id="23" name="dot1">
            <a:extLst xmlns:a="http://schemas.openxmlformats.org/drawingml/2006/main">
              <a:ext uri="{FF2B5EF4-FFF2-40B4-BE49-F238E27FC236}">
                <a16:creationId xmlns:a16="http://schemas.microsoft.com/office/drawing/2014/main" id="{5718FDAC-DD8F-4653-9742-BED43EF4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6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tem1">
            <a:extLst xmlns:a="http://schemas.openxmlformats.org/drawingml/2006/main">
              <a:ext uri="{FF2B5EF4-FFF2-40B4-BE49-F238E27FC236}">
                <a16:creationId xmlns:a16="http://schemas.microsoft.com/office/drawing/2014/main" id="{24040DDE-314B-4D60-8691-F4935611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为什么采用这套AI方案</a:t>
            </a:r>
          </a:p>
        </p:txBody>
      </p:sp>
      <p:sp>
        <p:nvSpPr>
          <p:cNvPr id="25" name="dot2">
            <a:extLst xmlns:a="http://schemas.openxmlformats.org/drawingml/2006/main">
              <a:ext uri="{FF2B5EF4-FFF2-40B4-BE49-F238E27FC236}">
                <a16:creationId xmlns:a16="http://schemas.microsoft.com/office/drawing/2014/main" id="{553DE35A-7A57-4773-8BF2-573F5546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item2">
            <a:extLst xmlns:a="http://schemas.openxmlformats.org/drawingml/2006/main">
              <a:ext uri="{FF2B5EF4-FFF2-40B4-BE49-F238E27FC236}">
                <a16:creationId xmlns:a16="http://schemas.microsoft.com/office/drawing/2014/main" id="{0DF33F02-E900-4F4A-AF39-8733C023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错误、权限和成本怎么处理</a:t>
            </a:r>
          </a:p>
        </p:txBody>
      </p:sp>
    </p:spTree>
    <p:extLst>
      <p:ext uri="{BB962C8B-B14F-4D97-AF65-F5344CB8AC3E}">
        <p14:creationId xmlns:p14="http://schemas.microsoft.com/office/powerpoint/2010/main" val="133223722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589C54EC-8735-469F-B30F-9AEBD5F5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ED5C36F4-13EB-442D-BAD2-BA37FA7E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33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9E3E9CD6-6488-46B5-ABF2-24F8A5AF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39925F03-C1FF-47BA-A147-9445DE47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F02EADEE-37C7-434F-AB7C-63A319F7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03583A4E-268E-4F37-B268-C327B546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B81E124C-1A85-43AB-B421-D6BF4F4F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C1A6F586-1E31-4C57-8DDD-CD3D35B1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46737232-FC3E-4967-B3DB-A7F4522B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8EAC4CAC-1AB8-46AD-BD83-D4AFEA75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00E0A038-4747-4318-A7AB-FE606593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BB555FB8-CA04-415E-8880-7625572D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503E26EB-4ED6-4274-8114-76DF7BD5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0822E830-4DFD-49C3-B60B-26E20478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781F5AF7-B76E-4562-8BEF-667924AD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5/6 · 求职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A707B890-11C7-4295-9FDA-78D502E0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8E3362C0-CDA4-4F91-A456-1C56E720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9EEBF951-9B76-4081-AF00-5869534E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面试准备不是背答案，而是补齐项目漏洞。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010377E3-8D67-41B6-B09E-5289B94D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CE9C8302-1753-46A2-BC80-57678A41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每个项目准备十个追问</a:t>
            </a:r>
          </a:p>
        </p:txBody>
      </p:sp>
      <p:sp>
        <p:nvSpPr>
          <p:cNvPr id="21" name="dot0">
            <a:extLst xmlns:a="http://schemas.openxmlformats.org/drawingml/2006/main">
              <a:ext uri="{FF2B5EF4-FFF2-40B4-BE49-F238E27FC236}">
                <a16:creationId xmlns:a16="http://schemas.microsoft.com/office/drawing/2014/main" id="{3532F2BE-D81D-4D83-9799-42692596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item0">
            <a:extLst xmlns:a="http://schemas.openxmlformats.org/drawingml/2006/main">
              <a:ext uri="{FF2B5EF4-FFF2-40B4-BE49-F238E27FC236}">
                <a16:creationId xmlns:a16="http://schemas.microsoft.com/office/drawing/2014/main" id="{A738F57B-7968-4F68-A4FB-1005DDDF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为什么适合AI</a:t>
            </a:r>
          </a:p>
        </p:txBody>
      </p:sp>
      <p:sp>
        <p:nvSpPr>
          <p:cNvPr id="23" name="dot1">
            <a:extLst xmlns:a="http://schemas.openxmlformats.org/drawingml/2006/main">
              <a:ext uri="{FF2B5EF4-FFF2-40B4-BE49-F238E27FC236}">
                <a16:creationId xmlns:a16="http://schemas.microsoft.com/office/drawing/2014/main" id="{5F423540-006A-4D90-AE68-F32E9F4B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6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tem1">
            <a:extLst xmlns:a="http://schemas.openxmlformats.org/drawingml/2006/main">
              <a:ext uri="{FF2B5EF4-FFF2-40B4-BE49-F238E27FC236}">
                <a16:creationId xmlns:a16="http://schemas.microsoft.com/office/drawing/2014/main" id="{A43415C9-97AE-4D2B-B2F0-A5C203FE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为什么选RAG/Workflow/Agent</a:t>
            </a:r>
          </a:p>
        </p:txBody>
      </p:sp>
      <p:sp>
        <p:nvSpPr>
          <p:cNvPr id="25" name="dot2">
            <a:extLst xmlns:a="http://schemas.openxmlformats.org/drawingml/2006/main">
              <a:ext uri="{FF2B5EF4-FFF2-40B4-BE49-F238E27FC236}">
                <a16:creationId xmlns:a16="http://schemas.microsoft.com/office/drawing/2014/main" id="{F7B4E4F1-B005-4E4E-93DF-AA1B23A1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item2">
            <a:extLst xmlns:a="http://schemas.openxmlformats.org/drawingml/2006/main">
              <a:ext uri="{FF2B5EF4-FFF2-40B4-BE49-F238E27FC236}">
                <a16:creationId xmlns:a16="http://schemas.microsoft.com/office/drawing/2014/main" id="{D6D69695-B30C-47CC-8194-D7B53A8B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没有真实数据如何验证</a:t>
            </a:r>
          </a:p>
        </p:txBody>
      </p:sp>
    </p:spTree>
    <p:extLst>
      <p:ext uri="{BB962C8B-B14F-4D97-AF65-F5344CB8AC3E}">
        <p14:creationId xmlns:p14="http://schemas.microsoft.com/office/powerpoint/2010/main" val="20457879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1F8C8D64-C306-49EF-BA9B-E4ED2F90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44D696A4-E86A-4F0B-AB57-BD6C8226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34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FE0E8DB6-471D-4B25-B31F-C1A3DD49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FE7079A4-A8DE-4FA0-A5ED-94DB0B15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7CE725E1-53A6-4468-9213-3238F860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C938B5E7-C789-45C1-BFBD-5E0C2B70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83496075-41DD-4AC0-B424-47FFB478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F4141E0C-264C-480A-93BC-C6EC9BBE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8C157D7A-EE4A-402A-82A8-BD7C670E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0277D8D6-7022-49D3-B489-6E0EF889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FC920A2A-EA76-4ECB-AE74-A7195EEB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AC5C834D-A487-4F98-A2CA-08E4EF97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879D8F31-4E64-4E98-AC38-6E0F956E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75C71DE6-F8B6-4605-83B1-74DB45F7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AF448803-2DB5-4A0F-A2C2-5C391A7D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5/6 · 求职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EFEB48A2-0DCB-42B5-A60B-91ADC3D7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27936211-4F23-4D02-8054-B23EAFD5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F3C0AD08-0F59-4B04-A21E-FDD1FAC7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诚实说明没有上线数据，同时展示你完成过的真实工作。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24EC6A5B-7005-4561-A8CE-DEB4F118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CE0CE978-0EB4-40B6-881E-A5DB1118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真实性问题这样回答</a:t>
            </a:r>
          </a:p>
        </p:txBody>
      </p:sp>
      <p:sp>
        <p:nvSpPr>
          <p:cNvPr id="21" name="big">
            <a:extLst xmlns:a="http://schemas.openxmlformats.org/drawingml/2006/main">
              <a:ext uri="{FF2B5EF4-FFF2-40B4-BE49-F238E27FC236}">
                <a16:creationId xmlns:a16="http://schemas.microsoft.com/office/drawing/2014/main" id="{49908966-7941-465A-AF6F-131FA2B4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334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8D996"/>
                </a:solidFill>
              </a:defRPr>
            </a:pPr>
            <a:r>
              <a:rPr sz="2325" b="1">
                <a:solidFill>
                  <a:srgbClr val="38D996"/>
                </a:solidFill>
              </a:rPr>
              <a:t>这是学习项目</a:t>
            </a:r>
          </a:p>
          <a:p xmlns:a="http://schemas.openxmlformats.org/drawingml/2006/main">
            <a:pPr algn="l">
              <a:defRPr sz="2325" b="1">
                <a:solidFill>
                  <a:srgbClr val="38D996"/>
                </a:solidFill>
              </a:defRPr>
            </a:pPr>
            <a:r>
              <a:rPr sz="2325" b="1">
                <a:solidFill>
                  <a:srgbClr val="38D996"/>
                </a:solidFill>
              </a:rPr>
              <a:t>但按真实标准完成设计和验证</a:t>
            </a:r>
          </a:p>
        </p:txBody>
      </p:sp>
    </p:spTree>
    <p:extLst>
      <p:ext uri="{BB962C8B-B14F-4D97-AF65-F5344CB8AC3E}">
        <p14:creationId xmlns:p14="http://schemas.microsoft.com/office/powerpoint/2010/main" val="24274293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D5B2AB8B-10B9-4461-9050-6F80AAF0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FA0C88BB-5060-4B08-99D0-4784C7D9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35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02FFDB6B-ECD6-4C8D-8605-96A6E115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36756FC7-AF79-431B-BA92-5EB78D78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56F25043-3DB4-41A8-A7C2-34A634E3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234DC7A1-F6CB-4B6B-8582-AD069DFC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7B308775-AECC-42EF-8C22-2228DD7A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B712B0F5-F578-4424-8B8E-5C238A6E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06135C54-1867-4800-8F0B-696CA81B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3E0CF0C6-6117-4821-A93C-CE1E5EA2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4F86D7B6-19C9-4446-8D82-FEFD34FD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6D395680-8D44-4038-AA3C-13B90045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59FE9D6E-E430-4B56-A30D-A4D421BD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86FA5C93-9340-4F63-B2C7-2837EC86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40EBF090-8987-49D5-88D5-5E3BC770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6/6 · 课程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95AFFE43-B220-47C6-A751-AD1D8011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0AE04A63-0047-40E3-A1BE-8DB62557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831CE22E-E851-4ED6-A6A3-A55081BF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课程不是多讲知识，而是带你走完一轮成果链。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AEA2B170-E9AB-45CA-A571-442BF065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F7EBDC6B-68F5-4310-848B-894A1CBB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课程按三阶段组织</a:t>
            </a:r>
          </a:p>
        </p:txBody>
      </p:sp>
      <p:sp>
        <p:nvSpPr>
          <p:cNvPr id="21" name="num0">
            <a:extLst xmlns:a="http://schemas.openxmlformats.org/drawingml/2006/main">
              <a:ext uri="{FF2B5EF4-FFF2-40B4-BE49-F238E27FC236}">
                <a16:creationId xmlns:a16="http://schemas.microsoft.com/office/drawing/2014/main" id="{40E9441E-64C5-4BF6-8B12-6A8B3879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68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02E"/>
                </a:solidFill>
              </a:defRPr>
            </a:pPr>
            <a:r>
              <a:rPr sz="1350" b="1">
                <a:solidFill>
                  <a:srgbClr val="FFB02E"/>
                </a:solidFill>
              </a:rPr>
              <a:t>01</a:t>
            </a:r>
          </a:p>
        </p:txBody>
      </p:sp>
      <p:sp>
        <p:nvSpPr>
          <p:cNvPr id="22" name="ct0">
            <a:extLst xmlns:a="http://schemas.openxmlformats.org/drawingml/2006/main">
              <a:ext uri="{FF2B5EF4-FFF2-40B4-BE49-F238E27FC236}">
                <a16:creationId xmlns:a16="http://schemas.microsoft.com/office/drawing/2014/main" id="{2322F8B3-5F24-417D-B0E4-DDACE101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68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系统课</a:t>
            </a:r>
          </a:p>
        </p:txBody>
      </p:sp>
      <p:sp>
        <p:nvSpPr>
          <p:cNvPr id="23" name="rule0">
            <a:extLst xmlns:a="http://schemas.openxmlformats.org/drawingml/2006/main">
              <a:ext uri="{FF2B5EF4-FFF2-40B4-BE49-F238E27FC236}">
                <a16:creationId xmlns:a16="http://schemas.microsoft.com/office/drawing/2014/main" id="{5B1883CE-C93D-497F-9B58-1F7D14C3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168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b0">
            <a:extLst xmlns:a="http://schemas.openxmlformats.org/drawingml/2006/main">
              <a:ext uri="{FF2B5EF4-FFF2-40B4-BE49-F238E27FC236}">
                <a16:creationId xmlns:a16="http://schemas.microsoft.com/office/drawing/2014/main" id="{4A2DE086-5792-4650-85C4-3E8EB0DA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1689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1E8"/>
                </a:solidFill>
              </a:defRPr>
            </a:pPr>
            <a:r>
              <a:rPr sz="1275" b="0">
                <a:solidFill>
                  <a:srgbClr val="AFC1E8"/>
                </a:solidFill>
              </a:rPr>
              <a:t>建立完整知识地图</a:t>
            </a:r>
          </a:p>
        </p:txBody>
      </p:sp>
      <p:sp>
        <p:nvSpPr>
          <p:cNvPr id="25" name="num1">
            <a:extLst xmlns:a="http://schemas.openxmlformats.org/drawingml/2006/main">
              <a:ext uri="{FF2B5EF4-FFF2-40B4-BE49-F238E27FC236}">
                <a16:creationId xmlns:a16="http://schemas.microsoft.com/office/drawing/2014/main" id="{8A79543A-4E74-4FB9-B00E-22306E5A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0" y="5048250"/>
            <a:ext cx="168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D5FF"/>
                </a:solidFill>
              </a:defRPr>
            </a:pPr>
            <a:r>
              <a:rPr sz="1350" b="1">
                <a:solidFill>
                  <a:srgbClr val="39D5FF"/>
                </a:solidFill>
              </a:rPr>
              <a:t>02</a:t>
            </a:r>
          </a:p>
        </p:txBody>
      </p:sp>
      <p:sp>
        <p:nvSpPr>
          <p:cNvPr id="26" name="ct1">
            <a:extLst xmlns:a="http://schemas.openxmlformats.org/drawingml/2006/main">
              <a:ext uri="{FF2B5EF4-FFF2-40B4-BE49-F238E27FC236}">
                <a16:creationId xmlns:a16="http://schemas.microsoft.com/office/drawing/2014/main" id="{D22731E6-ACCF-4BCD-A432-959A2C52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0" y="5429250"/>
            <a:ext cx="168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项目营</a:t>
            </a:r>
          </a:p>
        </p:txBody>
      </p:sp>
      <p:sp>
        <p:nvSpPr>
          <p:cNvPr id="27" name="rule1">
            <a:extLst xmlns:a="http://schemas.openxmlformats.org/drawingml/2006/main">
              <a:ext uri="{FF2B5EF4-FFF2-40B4-BE49-F238E27FC236}">
                <a16:creationId xmlns:a16="http://schemas.microsoft.com/office/drawing/2014/main" id="{125BE9B4-5B32-480B-ADEF-B9BEA370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0" y="6000750"/>
            <a:ext cx="168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b1">
            <a:extLst xmlns:a="http://schemas.openxmlformats.org/drawingml/2006/main">
              <a:ext uri="{FF2B5EF4-FFF2-40B4-BE49-F238E27FC236}">
                <a16:creationId xmlns:a16="http://schemas.microsoft.com/office/drawing/2014/main" id="{FE2BE0D2-8E3A-4C1D-93BE-17F2DA73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0" y="6153150"/>
            <a:ext cx="1689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1E8"/>
                </a:solidFill>
              </a:defRPr>
            </a:pPr>
            <a:r>
              <a:rPr sz="1275" b="0">
                <a:solidFill>
                  <a:srgbClr val="AFC1E8"/>
                </a:solidFill>
              </a:rPr>
              <a:t>形成项目证据</a:t>
            </a:r>
          </a:p>
        </p:txBody>
      </p:sp>
      <p:sp>
        <p:nvSpPr>
          <p:cNvPr id="29" name="num2">
            <a:extLst xmlns:a="http://schemas.openxmlformats.org/drawingml/2006/main">
              <a:ext uri="{FF2B5EF4-FFF2-40B4-BE49-F238E27FC236}">
                <a16:creationId xmlns:a16="http://schemas.microsoft.com/office/drawing/2014/main" id="{F591CEE2-187C-44E6-9333-D045F98D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950" y="5048250"/>
            <a:ext cx="168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D5FF"/>
                </a:solidFill>
              </a:defRPr>
            </a:pPr>
            <a:r>
              <a:rPr sz="1350" b="1">
                <a:solidFill>
                  <a:srgbClr val="39D5FF"/>
                </a:solidFill>
              </a:rPr>
              <a:t>03</a:t>
            </a:r>
          </a:p>
        </p:txBody>
      </p:sp>
      <p:sp>
        <p:nvSpPr>
          <p:cNvPr id="30" name="ct2">
            <a:extLst xmlns:a="http://schemas.openxmlformats.org/drawingml/2006/main">
              <a:ext uri="{FF2B5EF4-FFF2-40B4-BE49-F238E27FC236}">
                <a16:creationId xmlns:a16="http://schemas.microsoft.com/office/drawing/2014/main" id="{2674F072-E555-4012-B8D8-0539665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950" y="5429250"/>
            <a:ext cx="168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求职营</a:t>
            </a:r>
          </a:p>
        </p:txBody>
      </p:sp>
      <p:sp>
        <p:nvSpPr>
          <p:cNvPr id="31" name="rule2">
            <a:extLst xmlns:a="http://schemas.openxmlformats.org/drawingml/2006/main">
              <a:ext uri="{FF2B5EF4-FFF2-40B4-BE49-F238E27FC236}">
                <a16:creationId xmlns:a16="http://schemas.microsoft.com/office/drawing/2014/main" id="{F2B013C5-601B-44CD-BB1F-C6B0DD90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950" y="6000750"/>
            <a:ext cx="168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b2">
            <a:extLst xmlns:a="http://schemas.openxmlformats.org/drawingml/2006/main">
              <a:ext uri="{FF2B5EF4-FFF2-40B4-BE49-F238E27FC236}">
                <a16:creationId xmlns:a16="http://schemas.microsoft.com/office/drawing/2014/main" id="{C3C95EB0-387A-4EEB-8194-B5B47AAE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950" y="6153150"/>
            <a:ext cx="1689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1E8"/>
                </a:solidFill>
              </a:defRPr>
            </a:pPr>
            <a:r>
              <a:rPr sz="1275" b="0">
                <a:solidFill>
                  <a:srgbClr val="AFC1E8"/>
                </a:solidFill>
              </a:rPr>
              <a:t>完成转化与反馈</a:t>
            </a:r>
          </a:p>
        </p:txBody>
      </p:sp>
    </p:spTree>
    <p:extLst>
      <p:ext uri="{BB962C8B-B14F-4D97-AF65-F5344CB8AC3E}">
        <p14:creationId xmlns:p14="http://schemas.microsoft.com/office/powerpoint/2010/main" val="145825578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4FC213C7-CACD-41C4-BF15-0D104386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A09839E9-BE49-4A7F-B7F0-A81301A3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36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424F0F42-F855-43E2-9D8B-C12179BF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8B9D2B17-ECCC-463D-A175-704802B7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6747D0C2-4BD4-4DE9-AFFD-79AA8312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AA751656-0F4C-4117-AF2D-9A77B15F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7ED3A9BE-B5FA-46D3-B66E-D8C93342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0E500543-98CA-4DDA-93FB-1A15BCF8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0F013E70-EC96-474F-82A0-62BF182B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D542070A-A452-420B-BB8E-1B63A324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B3BC58FF-1F5E-440F-92DF-50CF4971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824798C4-A504-4EF4-8407-CCCBA441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722B254D-275A-4AAF-A804-600A4EA1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CC2DA890-4645-4939-88ED-5B5EC170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832F2F26-3646-45C7-B9E7-CE9AC28F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6/6 · 课程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19A0583A-3F67-4E68-829E-C8E87869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15C8D892-0279-4A25-B1CB-8380F6A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D31D4637-D7D0-46F2-BFD9-816299DF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如果只想收藏工具，不愿实践，这套路径不合适。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8CF35D0A-FFBE-463E-92DB-A457B915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5E42DAA6-252B-457E-AF77-4814AA88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这套课更适合</a:t>
            </a:r>
          </a:p>
        </p:txBody>
      </p:sp>
      <p:sp>
        <p:nvSpPr>
          <p:cNvPr id="21" name="dot0">
            <a:extLst xmlns:a="http://schemas.openxmlformats.org/drawingml/2006/main">
              <a:ext uri="{FF2B5EF4-FFF2-40B4-BE49-F238E27FC236}">
                <a16:creationId xmlns:a16="http://schemas.microsoft.com/office/drawing/2014/main" id="{29457C69-93BE-42E3-9203-7D7B80D0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item0">
            <a:extLst xmlns:a="http://schemas.openxmlformats.org/drawingml/2006/main">
              <a:ext uri="{FF2B5EF4-FFF2-40B4-BE49-F238E27FC236}">
                <a16:creationId xmlns:a16="http://schemas.microsoft.com/office/drawing/2014/main" id="{F5E16D07-4582-4467-89A7-937B1A1D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愿意系统学习</a:t>
            </a:r>
          </a:p>
        </p:txBody>
      </p:sp>
      <p:sp>
        <p:nvSpPr>
          <p:cNvPr id="23" name="dot1">
            <a:extLst xmlns:a="http://schemas.openxmlformats.org/drawingml/2006/main">
              <a:ext uri="{FF2B5EF4-FFF2-40B4-BE49-F238E27FC236}">
                <a16:creationId xmlns:a16="http://schemas.microsoft.com/office/drawing/2014/main" id="{8A10D21E-76DE-41F6-BE3E-AFEFC14A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6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tem1">
            <a:extLst xmlns:a="http://schemas.openxmlformats.org/drawingml/2006/main">
              <a:ext uri="{FF2B5EF4-FFF2-40B4-BE49-F238E27FC236}">
                <a16:creationId xmlns:a16="http://schemas.microsoft.com/office/drawing/2014/main" id="{B71A6894-3274-4649-9322-847F8F73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愿意完成项目和作业</a:t>
            </a:r>
          </a:p>
        </p:txBody>
      </p:sp>
      <p:sp>
        <p:nvSpPr>
          <p:cNvPr id="25" name="dot2">
            <a:extLst xmlns:a="http://schemas.openxmlformats.org/drawingml/2006/main">
              <a:ext uri="{FF2B5EF4-FFF2-40B4-BE49-F238E27FC236}">
                <a16:creationId xmlns:a16="http://schemas.microsoft.com/office/drawing/2014/main" id="{3EA513CC-B7FC-491F-B3C8-3AC69BFE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item2">
            <a:extLst xmlns:a="http://schemas.openxmlformats.org/drawingml/2006/main">
              <a:ext uri="{FF2B5EF4-FFF2-40B4-BE49-F238E27FC236}">
                <a16:creationId xmlns:a16="http://schemas.microsoft.com/office/drawing/2014/main" id="{E61C8740-F089-4773-BAF8-94E721FB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希望转岗或提升竞争力</a:t>
            </a:r>
          </a:p>
        </p:txBody>
      </p:sp>
    </p:spTree>
    <p:extLst>
      <p:ext uri="{BB962C8B-B14F-4D97-AF65-F5344CB8AC3E}">
        <p14:creationId xmlns:p14="http://schemas.microsoft.com/office/powerpoint/2010/main" val="132033463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9C5B4CE4-B65B-4F97-B374-A7E1133C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512C2249-7BCB-419C-9E60-7B2FA4B9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37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BEEC8E98-E2FA-4FAF-AFE9-100CB90E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73D0D20E-364D-4EEA-9F4B-AA2DE75A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DFCE746C-06D4-41DC-B1C5-2E13D2E8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597BD9C7-39ED-4FC3-BE29-BD272903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D88BE483-43CD-4C33-AA93-C2AA28C0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5C3FD155-BE36-4065-83C2-683B74EF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A7BC39F3-BD74-438D-8A8C-0BFA438F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F72C7F47-261D-4AB7-A71C-4A127EB3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E3DDADD3-3DFC-4C5B-8498-E7FEC88F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7C8906B5-D7D5-41A6-8BFE-7F15C60A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9E8D142F-F8F0-44C2-8C42-A99FB53E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FA0181D9-F804-455E-BA1E-6F1B34FC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997299F8-BA51-4DB8-ACBD-4F7A04D2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6/6 · 课程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5AE6FF77-219A-404D-ACC1-1E339AD4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DFC0AB04-4C0C-4A61-9083-14BB47D3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68D179A8-E89C-453F-A543-54C80045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而是把原有产品能力升级为AI产品能力。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559FFCC9-8DAD-4487-8AF5-C66E2D88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E26691EA-D9F2-412F-A5F3-F84C97E6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今晚最重要的结论</a:t>
            </a:r>
          </a:p>
        </p:txBody>
      </p:sp>
      <p:sp>
        <p:nvSpPr>
          <p:cNvPr id="21" name="big">
            <a:extLst xmlns:a="http://schemas.openxmlformats.org/drawingml/2006/main">
              <a:ext uri="{FF2B5EF4-FFF2-40B4-BE49-F238E27FC236}">
                <a16:creationId xmlns:a16="http://schemas.microsoft.com/office/drawing/2014/main" id="{39C9A644-20F2-4049-AE01-4805311E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334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B02E"/>
                </a:solidFill>
              </a:defRPr>
            </a:pPr>
            <a:r>
              <a:rPr sz="2325" b="1">
                <a:solidFill>
                  <a:srgbClr val="FFB02E"/>
                </a:solidFill>
              </a:rPr>
              <a:t>产品经理转 AI</a:t>
            </a:r>
          </a:p>
          <a:p xmlns:a="http://schemas.openxmlformats.org/drawingml/2006/main">
            <a:pPr algn="l">
              <a:defRPr sz="2325" b="1">
                <a:solidFill>
                  <a:srgbClr val="FFB02E"/>
                </a:solidFill>
              </a:defRPr>
            </a:pPr>
            <a:r>
              <a:rPr sz="2325" b="1">
                <a:solidFill>
                  <a:srgbClr val="FFB02E"/>
                </a:solidFill>
              </a:rPr>
              <a:t>不是换一套工具</a:t>
            </a:r>
          </a:p>
        </p:txBody>
      </p:sp>
    </p:spTree>
    <p:extLst>
      <p:ext uri="{BB962C8B-B14F-4D97-AF65-F5344CB8AC3E}">
        <p14:creationId xmlns:p14="http://schemas.microsoft.com/office/powerpoint/2010/main" val="8260434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A9C217C6-635F-49DA-B086-EAF48911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D27939B3-5525-4D8F-92D8-1D2DA040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38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8100FF36-CF9F-4D84-BEE0-E26CCB9C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E4898B0F-4C61-42FB-A25A-40403A69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132CF91E-651D-41FC-9F04-3FDB45E1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BDBBF6FE-D500-4075-8690-AAB7EA03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56663234-AFED-479D-B08C-87FE1ACB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1265992E-31D3-4C6B-B0CC-9DE99567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EB8CF573-D181-48D2-9C69-DA9206A9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68F62511-E476-4702-B3A3-46263493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347ADB12-BA2A-446C-A590-D7C7570A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68473E0F-9344-40CD-91B8-7ECD9FEC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54EB4552-85FE-4DEB-BBD6-15FDDF1A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A040B93E-95A0-4733-878E-B204C4AE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08AD76BF-5B97-4312-BD6B-067FB3F3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6/6 · 课程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BCE88F38-5850-4A63-B793-FFD85152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FEF47169-B2C5-458E-93AB-14CE348E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37B91A6C-AF61-4A5B-B914-01A1BBCA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先用资料完成能力盘点和项目选择。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B47EE82F-0981-4903-8113-642D3B8B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DF11A824-8041-41D4-8FDB-4A98A3C9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你可以领取的基础资料</a:t>
            </a:r>
          </a:p>
        </p:txBody>
      </p:sp>
      <p:sp>
        <p:nvSpPr>
          <p:cNvPr id="21" name="dot0">
            <a:extLst xmlns:a="http://schemas.openxmlformats.org/drawingml/2006/main">
              <a:ext uri="{FF2B5EF4-FFF2-40B4-BE49-F238E27FC236}">
                <a16:creationId xmlns:a16="http://schemas.microsoft.com/office/drawing/2014/main" id="{F7AD7EBF-8CEE-4C94-BE42-1AE05F14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item0">
            <a:extLst xmlns:a="http://schemas.openxmlformats.org/drawingml/2006/main">
              <a:ext uri="{FF2B5EF4-FFF2-40B4-BE49-F238E27FC236}">
                <a16:creationId xmlns:a16="http://schemas.microsoft.com/office/drawing/2014/main" id="{85C0BBA6-8ACF-4C01-8A97-5DDD38D7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学习路线图 + 完整课程大纲</a:t>
            </a:r>
          </a:p>
        </p:txBody>
      </p:sp>
      <p:sp>
        <p:nvSpPr>
          <p:cNvPr id="23" name="dot1">
            <a:extLst xmlns:a="http://schemas.openxmlformats.org/drawingml/2006/main">
              <a:ext uri="{FF2B5EF4-FFF2-40B4-BE49-F238E27FC236}">
                <a16:creationId xmlns:a16="http://schemas.microsoft.com/office/drawing/2014/main" id="{1152A69B-D61E-4A31-9240-49C84C0A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6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tem1">
            <a:extLst xmlns:a="http://schemas.openxmlformats.org/drawingml/2006/main">
              <a:ext uri="{FF2B5EF4-FFF2-40B4-BE49-F238E27FC236}">
                <a16:creationId xmlns:a16="http://schemas.microsoft.com/office/drawing/2014/main" id="{18B716E1-5E65-4B3C-B271-CA4D07EC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项目选题清单</a:t>
            </a:r>
          </a:p>
        </p:txBody>
      </p:sp>
      <p:sp>
        <p:nvSpPr>
          <p:cNvPr id="25" name="dot2">
            <a:extLst xmlns:a="http://schemas.openxmlformats.org/drawingml/2006/main">
              <a:ext uri="{FF2B5EF4-FFF2-40B4-BE49-F238E27FC236}">
                <a16:creationId xmlns:a16="http://schemas.microsoft.com/office/drawing/2014/main" id="{939097F0-D418-4376-B1CE-C23F81E8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item2">
            <a:extLst xmlns:a="http://schemas.openxmlformats.org/drawingml/2006/main">
              <a:ext uri="{FF2B5EF4-FFF2-40B4-BE49-F238E27FC236}">
                <a16:creationId xmlns:a16="http://schemas.microsoft.com/office/drawing/2014/main" id="{7C140590-14C6-4FC4-95D9-9A5B1A68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能力自评表</a:t>
            </a:r>
          </a:p>
        </p:txBody>
      </p:sp>
    </p:spTree>
    <p:extLst>
      <p:ext uri="{BB962C8B-B14F-4D97-AF65-F5344CB8AC3E}">
        <p14:creationId xmlns:p14="http://schemas.microsoft.com/office/powerpoint/2010/main" val="121056614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7181684F-3FE2-4C23-96DF-C3DA1620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A64D10EE-99B5-4080-9A84-8B83EDD0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39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04B820CC-68DE-462B-AB3F-D44D08A3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FC7A8B1B-8A8E-4D0D-BAEA-52570002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EB2A1169-A3B4-49B5-8DE5-818337C4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D12FC4C6-52A6-4694-B23D-A8E11DF0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04B7D3CE-4BA3-4C8D-B67E-9D3D790A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465E98ED-4D88-4B7D-B409-6FE4E14E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E9D1227F-DE5E-4651-A430-099891C9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33D8830B-27EB-4B1E-9BC1-1BF47A8D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03C86BFC-6E55-459D-A481-17106276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7B801C72-E7F6-4385-B912-7320100F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6AA5A8B1-785B-4C70-930E-7A7A4791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757CD15E-25DF-4328-AB4F-9847B7B3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A8ED09D7-B14D-4CE5-8C56-D23BDB1D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6/6 · 课程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58A0239E-D488-48B4-A6E8-42BC9AE7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DBA7C282-2291-44C1-B1BF-46244399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EC015CAE-C6C6-4EC8-B847-D72E5953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资料不是终点，用它完成第一份能力盘点和项目选择。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D4101A0B-E3FC-4368-BA68-9D7EA862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90725A15-D366-47BD-85C7-E687DD48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转发截图额外获得</a:t>
            </a:r>
          </a:p>
        </p:txBody>
      </p:sp>
      <p:sp>
        <p:nvSpPr>
          <p:cNvPr id="21" name="num0">
            <a:extLst xmlns:a="http://schemas.openxmlformats.org/drawingml/2006/main">
              <a:ext uri="{FF2B5EF4-FFF2-40B4-BE49-F238E27FC236}">
                <a16:creationId xmlns:a16="http://schemas.microsoft.com/office/drawing/2014/main" id="{4685AC5C-A5D4-40DB-A3CB-58E07AB1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68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02E"/>
                </a:solidFill>
              </a:defRPr>
            </a:pPr>
            <a:r>
              <a:rPr sz="1350" b="1">
                <a:solidFill>
                  <a:srgbClr val="FFB02E"/>
                </a:solidFill>
              </a:rPr>
              <a:t>01</a:t>
            </a:r>
          </a:p>
        </p:txBody>
      </p:sp>
      <p:sp>
        <p:nvSpPr>
          <p:cNvPr id="22" name="ct0">
            <a:extLst xmlns:a="http://schemas.openxmlformats.org/drawingml/2006/main">
              <a:ext uri="{FF2B5EF4-FFF2-40B4-BE49-F238E27FC236}">
                <a16:creationId xmlns:a16="http://schemas.microsoft.com/office/drawing/2014/main" id="{40E1B519-747F-4417-96DF-B620AD9D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68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题库</a:t>
            </a:r>
          </a:p>
        </p:txBody>
      </p:sp>
      <p:sp>
        <p:nvSpPr>
          <p:cNvPr id="23" name="rule0">
            <a:extLst xmlns:a="http://schemas.openxmlformats.org/drawingml/2006/main">
              <a:ext uri="{FF2B5EF4-FFF2-40B4-BE49-F238E27FC236}">
                <a16:creationId xmlns:a16="http://schemas.microsoft.com/office/drawing/2014/main" id="{5048987C-39C7-4C44-9876-BC0DDD8B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168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b0">
            <a:extLst xmlns:a="http://schemas.openxmlformats.org/drawingml/2006/main">
              <a:ext uri="{FF2B5EF4-FFF2-40B4-BE49-F238E27FC236}">
                <a16:creationId xmlns:a16="http://schemas.microsoft.com/office/drawing/2014/main" id="{810BA590-87E3-4E6C-826A-9B2206B4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1689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1E8"/>
                </a:solidFill>
              </a:defRPr>
            </a:pPr>
            <a:r>
              <a:rPr sz="1275" b="0">
                <a:solidFill>
                  <a:srgbClr val="AFC1E8"/>
                </a:solidFill>
              </a:rPr>
              <a:t>面试追问题库</a:t>
            </a:r>
          </a:p>
        </p:txBody>
      </p:sp>
      <p:sp>
        <p:nvSpPr>
          <p:cNvPr id="25" name="num1">
            <a:extLst xmlns:a="http://schemas.openxmlformats.org/drawingml/2006/main">
              <a:ext uri="{FF2B5EF4-FFF2-40B4-BE49-F238E27FC236}">
                <a16:creationId xmlns:a16="http://schemas.microsoft.com/office/drawing/2014/main" id="{B0793AA9-2EC6-4CC5-8EFC-FF86FCC4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0" y="5048250"/>
            <a:ext cx="168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D5FF"/>
                </a:solidFill>
              </a:defRPr>
            </a:pPr>
            <a:r>
              <a:rPr sz="1350" b="1">
                <a:solidFill>
                  <a:srgbClr val="39D5FF"/>
                </a:solidFill>
              </a:rPr>
              <a:t>02</a:t>
            </a:r>
          </a:p>
        </p:txBody>
      </p:sp>
      <p:sp>
        <p:nvSpPr>
          <p:cNvPr id="26" name="ct1">
            <a:extLst xmlns:a="http://schemas.openxmlformats.org/drawingml/2006/main">
              <a:ext uri="{FF2B5EF4-FFF2-40B4-BE49-F238E27FC236}">
                <a16:creationId xmlns:a16="http://schemas.microsoft.com/office/drawing/2014/main" id="{56A121FD-E1DE-436E-BEB2-F9C344BA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0" y="5429250"/>
            <a:ext cx="168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模板</a:t>
            </a:r>
          </a:p>
        </p:txBody>
      </p:sp>
      <p:sp>
        <p:nvSpPr>
          <p:cNvPr id="27" name="rule1">
            <a:extLst xmlns:a="http://schemas.openxmlformats.org/drawingml/2006/main">
              <a:ext uri="{FF2B5EF4-FFF2-40B4-BE49-F238E27FC236}">
                <a16:creationId xmlns:a16="http://schemas.microsoft.com/office/drawing/2014/main" id="{BFF73BAF-EAD8-4556-BF91-EC8AB2FC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0" y="6000750"/>
            <a:ext cx="168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b1">
            <a:extLst xmlns:a="http://schemas.openxmlformats.org/drawingml/2006/main">
              <a:ext uri="{FF2B5EF4-FFF2-40B4-BE49-F238E27FC236}">
                <a16:creationId xmlns:a16="http://schemas.microsoft.com/office/drawing/2014/main" id="{0D367B3C-FFCF-4E76-8DC7-208B0A77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0" y="6153150"/>
            <a:ext cx="1689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1E8"/>
                </a:solidFill>
              </a:defRPr>
            </a:pPr>
            <a:r>
              <a:rPr sz="1275" b="0">
                <a:solidFill>
                  <a:srgbClr val="AFC1E8"/>
                </a:solidFill>
              </a:rPr>
              <a:t>项目简历模板</a:t>
            </a:r>
          </a:p>
        </p:txBody>
      </p:sp>
      <p:sp>
        <p:nvSpPr>
          <p:cNvPr id="29" name="num2">
            <a:extLst xmlns:a="http://schemas.openxmlformats.org/drawingml/2006/main">
              <a:ext uri="{FF2B5EF4-FFF2-40B4-BE49-F238E27FC236}">
                <a16:creationId xmlns:a16="http://schemas.microsoft.com/office/drawing/2014/main" id="{D0FCCD94-84F9-459E-8E30-6117040C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950" y="5048250"/>
            <a:ext cx="168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D5FF"/>
                </a:solidFill>
              </a:defRPr>
            </a:pPr>
            <a:r>
              <a:rPr sz="1350" b="1">
                <a:solidFill>
                  <a:srgbClr val="39D5FF"/>
                </a:solidFill>
              </a:rPr>
              <a:t>03</a:t>
            </a:r>
          </a:p>
        </p:txBody>
      </p:sp>
      <p:sp>
        <p:nvSpPr>
          <p:cNvPr id="30" name="ct2">
            <a:extLst xmlns:a="http://schemas.openxmlformats.org/drawingml/2006/main">
              <a:ext uri="{FF2B5EF4-FFF2-40B4-BE49-F238E27FC236}">
                <a16:creationId xmlns:a16="http://schemas.microsoft.com/office/drawing/2014/main" id="{87D0E2AD-253E-4E8B-A5CD-C7D75DEA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950" y="5429250"/>
            <a:ext cx="168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交流</a:t>
            </a:r>
          </a:p>
        </p:txBody>
      </p:sp>
      <p:sp>
        <p:nvSpPr>
          <p:cNvPr id="31" name="rule2">
            <a:extLst xmlns:a="http://schemas.openxmlformats.org/drawingml/2006/main">
              <a:ext uri="{FF2B5EF4-FFF2-40B4-BE49-F238E27FC236}">
                <a16:creationId xmlns:a16="http://schemas.microsoft.com/office/drawing/2014/main" id="{ED41B6B8-7BC9-41A3-B2CA-5A693830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950" y="6000750"/>
            <a:ext cx="168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b2">
            <a:extLst xmlns:a="http://schemas.openxmlformats.org/drawingml/2006/main">
              <a:ext uri="{FF2B5EF4-FFF2-40B4-BE49-F238E27FC236}">
                <a16:creationId xmlns:a16="http://schemas.microsoft.com/office/drawing/2014/main" id="{6F8BC8E2-C4C6-4CFF-A314-4083557C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950" y="6153150"/>
            <a:ext cx="1689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1E8"/>
                </a:solidFill>
              </a:defRPr>
            </a:pPr>
            <a:r>
              <a:rPr sz="1275" b="0">
                <a:solidFill>
                  <a:srgbClr val="AFC1E8"/>
                </a:solidFill>
              </a:rPr>
              <a:t>后续答疑</a:t>
            </a:r>
          </a:p>
        </p:txBody>
      </p:sp>
    </p:spTree>
    <p:extLst>
      <p:ext uri="{BB962C8B-B14F-4D97-AF65-F5344CB8AC3E}">
        <p14:creationId xmlns:p14="http://schemas.microsoft.com/office/powerpoint/2010/main" val="48549980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71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urse">
            <a:extLst xmlns:a="http://schemas.openxmlformats.org/drawingml/2006/main">
              <a:ext uri="{FF2B5EF4-FFF2-40B4-BE49-F238E27FC236}">
                <a16:creationId xmlns:a16="http://schemas.microsoft.com/office/drawing/2014/main" id="{7E20CCC1-5688-4A5D-9235-9B8C1174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AI 产品经理转型公开课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DC615D44-FDCB-4E9E-AA00-40C14A1D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09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40 / 40</a:t>
            </a:r>
          </a:p>
        </p:txBody>
      </p:sp>
      <p:sp>
        <p:nvSpPr>
          <p:cNvPr id="3" name="seg0">
            <a:extLst xmlns:a="http://schemas.openxmlformats.org/drawingml/2006/main">
              <a:ext uri="{FF2B5EF4-FFF2-40B4-BE49-F238E27FC236}">
                <a16:creationId xmlns:a16="http://schemas.microsoft.com/office/drawing/2014/main" id="{3F715054-ED62-499B-A1E3-E2D78D1C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gt0">
            <a:extLst xmlns:a="http://schemas.openxmlformats.org/drawingml/2006/main">
              <a:ext uri="{FF2B5EF4-FFF2-40B4-BE49-F238E27FC236}">
                <a16:creationId xmlns:a16="http://schemas.microsoft.com/office/drawing/2014/main" id="{2A7D0D39-1944-469E-A28A-D8F24760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误区</a:t>
            </a:r>
          </a:p>
        </p:txBody>
      </p:sp>
      <p:sp>
        <p:nvSpPr>
          <p:cNvPr id="5" name="seg1">
            <a:extLst xmlns:a="http://schemas.openxmlformats.org/drawingml/2006/main">
              <a:ext uri="{FF2B5EF4-FFF2-40B4-BE49-F238E27FC236}">
                <a16:creationId xmlns:a16="http://schemas.microsoft.com/office/drawing/2014/main" id="{7BE73BE1-C7CA-41E1-8EC1-54B42489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gt1">
            <a:extLst xmlns:a="http://schemas.openxmlformats.org/drawingml/2006/main">
              <a:ext uri="{FF2B5EF4-FFF2-40B4-BE49-F238E27FC236}">
                <a16:creationId xmlns:a16="http://schemas.microsoft.com/office/drawing/2014/main" id="{8E963B17-6385-48AC-AAD1-DA9769A7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能力</a:t>
            </a:r>
          </a:p>
        </p:txBody>
      </p:sp>
      <p:sp>
        <p:nvSpPr>
          <p:cNvPr id="7" name="seg2">
            <a:extLst xmlns:a="http://schemas.openxmlformats.org/drawingml/2006/main">
              <a:ext uri="{FF2B5EF4-FFF2-40B4-BE49-F238E27FC236}">
                <a16:creationId xmlns:a16="http://schemas.microsoft.com/office/drawing/2014/main" id="{8B436451-531F-460D-AEE4-15A98E8B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gt2">
            <a:extLst xmlns:a="http://schemas.openxmlformats.org/drawingml/2006/main">
              <a:ext uri="{FF2B5EF4-FFF2-40B4-BE49-F238E27FC236}">
                <a16:creationId xmlns:a16="http://schemas.microsoft.com/office/drawing/2014/main" id="{20E0CD6F-B923-4999-8E26-6FAA91E4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路线</a:t>
            </a:r>
          </a:p>
        </p:txBody>
      </p:sp>
      <p:sp>
        <p:nvSpPr>
          <p:cNvPr id="9" name="seg3">
            <a:extLst xmlns:a="http://schemas.openxmlformats.org/drawingml/2006/main">
              <a:ext uri="{FF2B5EF4-FFF2-40B4-BE49-F238E27FC236}">
                <a16:creationId xmlns:a16="http://schemas.microsoft.com/office/drawing/2014/main" id="{F7E9EE82-5282-42C8-8FBA-9DAB1E8F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gt3">
            <a:extLst xmlns:a="http://schemas.openxmlformats.org/drawingml/2006/main">
              <a:ext uri="{FF2B5EF4-FFF2-40B4-BE49-F238E27FC236}">
                <a16:creationId xmlns:a16="http://schemas.microsoft.com/office/drawing/2014/main" id="{842A3981-52DA-4F87-9F81-F1E6B094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项目</a:t>
            </a:r>
          </a:p>
        </p:txBody>
      </p:sp>
      <p:sp>
        <p:nvSpPr>
          <p:cNvPr id="11" name="seg4">
            <a:extLst xmlns:a="http://schemas.openxmlformats.org/drawingml/2006/main">
              <a:ext uri="{FF2B5EF4-FFF2-40B4-BE49-F238E27FC236}">
                <a16:creationId xmlns:a16="http://schemas.microsoft.com/office/drawing/2014/main" id="{D3085B75-1D02-49D9-AAE2-818BC264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t4">
            <a:extLst xmlns:a="http://schemas.openxmlformats.org/drawingml/2006/main">
              <a:ext uri="{FF2B5EF4-FFF2-40B4-BE49-F238E27FC236}">
                <a16:creationId xmlns:a16="http://schemas.microsoft.com/office/drawing/2014/main" id="{180CBC41-A0EC-4001-88D0-6AB1B467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FC1E8"/>
                </a:solidFill>
              </a:defRPr>
            </a:pPr>
            <a:r>
              <a:rPr sz="1050" b="1">
                <a:solidFill>
                  <a:srgbClr val="AFC1E8"/>
                </a:solidFill>
              </a:rPr>
              <a:t>求职</a:t>
            </a:r>
          </a:p>
        </p:txBody>
      </p:sp>
      <p:sp>
        <p:nvSpPr>
          <p:cNvPr id="13" name="seg5">
            <a:extLst xmlns:a="http://schemas.openxmlformats.org/drawingml/2006/main">
              <a:ext uri="{FF2B5EF4-FFF2-40B4-BE49-F238E27FC236}">
                <a16:creationId xmlns:a16="http://schemas.microsoft.com/office/drawing/2014/main" id="{E2ABF725-48D5-498F-8E7F-D8BFA1BE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t5">
            <a:extLst xmlns:a="http://schemas.openxmlformats.org/drawingml/2006/main">
              <a:ext uri="{FF2B5EF4-FFF2-40B4-BE49-F238E27FC236}">
                <a16:creationId xmlns:a16="http://schemas.microsoft.com/office/drawing/2014/main" id="{06E657EE-5987-44F5-9A5D-7FD0964B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906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C"/>
                </a:solidFill>
              </a:defRPr>
            </a:pPr>
            <a:r>
              <a:rPr sz="1050" b="1">
                <a:solidFill>
                  <a:srgbClr val="07122C"/>
                </a:solidFill>
              </a:rPr>
              <a:t>课程</a:t>
            </a:r>
          </a:p>
        </p:txBody>
      </p:sp>
      <p:sp>
        <p:nvSpPr>
          <p:cNvPr id="15" name="current">
            <a:extLst xmlns:a="http://schemas.openxmlformats.org/drawingml/2006/main">
              <a:ext uri="{FF2B5EF4-FFF2-40B4-BE49-F238E27FC236}">
                <a16:creationId xmlns:a16="http://schemas.microsoft.com/office/drawing/2014/main" id="{3BCBA8E0-8EB2-441A-A63E-FABF2D4C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5FF"/>
                </a:solidFill>
              </a:defRPr>
            </a:pPr>
            <a:r>
              <a:rPr sz="1275" b="1">
                <a:solidFill>
                  <a:srgbClr val="39D5FF"/>
                </a:solidFill>
              </a:rPr>
              <a:t>当前进度  6/6 · 课程</a:t>
            </a:r>
          </a:p>
        </p:txBody>
      </p:sp>
      <p:sp>
        <p:nvSpPr>
          <p:cNvPr id="16" name="hook-bg">
            <a:extLst xmlns:a="http://schemas.openxmlformats.org/drawingml/2006/main">
              <a:ext uri="{FF2B5EF4-FFF2-40B4-BE49-F238E27FC236}">
                <a16:creationId xmlns:a16="http://schemas.microsoft.com/office/drawing/2014/main" id="{0451E814-2766-4461-B2F8-328D7E78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ook-label">
            <a:extLst xmlns:a="http://schemas.openxmlformats.org/drawingml/2006/main">
              <a:ext uri="{FF2B5EF4-FFF2-40B4-BE49-F238E27FC236}">
                <a16:creationId xmlns:a16="http://schemas.microsoft.com/office/drawing/2014/main" id="{E8BFC45B-51D6-47CE-869D-023AFBA7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02E"/>
                </a:solidFill>
              </a:defRPr>
            </a:pPr>
            <a:r>
              <a:rPr sz="1050" b="1">
                <a:solidFill>
                  <a:srgbClr val="FFB02E"/>
                </a:solidFill>
              </a:rPr>
              <a:t>刚进来先记住</a:t>
            </a:r>
          </a:p>
        </p:txBody>
      </p:sp>
      <p:sp>
        <p:nvSpPr>
          <p:cNvPr id="18" name="hook">
            <a:extLst xmlns:a="http://schemas.openxmlformats.org/drawingml/2006/main">
              <a:ext uri="{FF2B5EF4-FFF2-40B4-BE49-F238E27FC236}">
                <a16:creationId xmlns:a16="http://schemas.microsoft.com/office/drawing/2014/main" id="{B1549BAF-6083-4D10-B5DC-ECCE4639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领取资料，并告诉我你的背景和当前最卡的问题。</a:t>
            </a:r>
          </a:p>
        </p:txBody>
      </p:sp>
      <p:sp>
        <p:nvSpPr>
          <p:cNvPr id="19" name="cta">
            <a:extLst xmlns:a="http://schemas.openxmlformats.org/drawingml/2006/main">
              <a:ext uri="{FF2B5EF4-FFF2-40B4-BE49-F238E27FC236}">
                <a16:creationId xmlns:a16="http://schemas.microsoft.com/office/drawing/2014/main" id="{20EA1C71-90BA-481F-B6C1-89135B45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4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FC1E8"/>
                </a:solidFill>
              </a:defRPr>
            </a:pPr>
            <a:r>
              <a:rPr sz="1125" b="1">
                <a:solidFill>
                  <a:srgbClr val="AFC1E8"/>
                </a:solidFill>
              </a:rPr>
              <a:t>想要资料包：私信「AI产品经理」</a:t>
            </a:r>
          </a:p>
        </p:txBody>
      </p:sp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E9CB20FA-AD3D-40A7-B846-8925DBBE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下一步只做一件事</a:t>
            </a:r>
          </a:p>
        </p:txBody>
      </p:sp>
      <p:sp>
        <p:nvSpPr>
          <p:cNvPr id="21" name="big">
            <a:extLst xmlns:a="http://schemas.openxmlformats.org/drawingml/2006/main">
              <a:ext uri="{FF2B5EF4-FFF2-40B4-BE49-F238E27FC236}">
                <a16:creationId xmlns:a16="http://schemas.microsoft.com/office/drawing/2014/main" id="{A8950A15-4EE8-4DBA-9C93-8EC9E46B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334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9D5FF"/>
                </a:solidFill>
              </a:defRPr>
            </a:pPr>
            <a:r>
              <a:rPr sz="2325" b="1">
                <a:solidFill>
                  <a:srgbClr val="39D5FF"/>
                </a:solidFill>
              </a:rPr>
              <a:t>私信我：AI产品经理</a:t>
            </a:r>
          </a:p>
        </p:txBody>
      </p:sp>
    </p:spTree>
    <p:extLst>
      <p:ext uri="{BB962C8B-B14F-4D97-AF65-F5344CB8AC3E}">
        <p14:creationId xmlns:p14="http://schemas.microsoft.com/office/powerpoint/2010/main" val="18113936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2026-07-08T01:58:14.1660000Z</dcterms:created>
  <dcterms:modified xsi:type="dcterms:W3CDTF">2026-07-08T01:58:14.1660000Z</dcterms:modified>
</coreProperties>
</file>