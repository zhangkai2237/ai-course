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5b5a7c3f348ca" /><Relationship Type="http://schemas.openxmlformats.org/officeDocument/2006/relationships/extended-properties" Target="/docProps/app.xml" Id="R53396f66114a42eb" /><Relationship Type="http://schemas.openxmlformats.org/officeDocument/2006/relationships/officeDocument" Target="/ppt/presentation.xml" Id="Re87a3849e16f46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c0e662d8c4beb"/>
  </p:sldMasterIdLst>
  <p:notesMasterIdLst>
    <p:notesMasterId xmlns:r="http://schemas.openxmlformats.org/officeDocument/2006/relationships" r:id="R3408dc93b5e44b64"/>
  </p:notesMasterIdLst>
  <p:sldIdLst>
    <p:sldId xmlns:r="http://schemas.openxmlformats.org/officeDocument/2006/relationships" id="256" r:id="Rb8c592fe850f44d7"/>
    <p:sldId xmlns:r="http://schemas.openxmlformats.org/officeDocument/2006/relationships" id="257" r:id="Ra2dd955365304180"/>
    <p:sldId xmlns:r="http://schemas.openxmlformats.org/officeDocument/2006/relationships" id="258" r:id="R70423163cb644516"/>
    <p:sldId xmlns:r="http://schemas.openxmlformats.org/officeDocument/2006/relationships" id="259" r:id="R730076ecd0544223"/>
    <p:sldId xmlns:r="http://schemas.openxmlformats.org/officeDocument/2006/relationships" id="260" r:id="R763f84787d274779"/>
    <p:sldId xmlns:r="http://schemas.openxmlformats.org/officeDocument/2006/relationships" id="261" r:id="R33733b2ccb17477e"/>
    <p:sldId xmlns:r="http://schemas.openxmlformats.org/officeDocument/2006/relationships" id="262" r:id="Ra9ffc9815b2f461f"/>
    <p:sldId xmlns:r="http://schemas.openxmlformats.org/officeDocument/2006/relationships" id="263" r:id="Ra52121f90fc44abc"/>
    <p:sldId xmlns:r="http://schemas.openxmlformats.org/officeDocument/2006/relationships" id="264" r:id="Ra7aa755b0fda4997"/>
    <p:sldId xmlns:r="http://schemas.openxmlformats.org/officeDocument/2006/relationships" id="265" r:id="Rb1d998fdfdfd4eaf"/>
    <p:sldId xmlns:r="http://schemas.openxmlformats.org/officeDocument/2006/relationships" id="266" r:id="R239b3005c2944d9c"/>
    <p:sldId xmlns:r="http://schemas.openxmlformats.org/officeDocument/2006/relationships" id="267" r:id="Rf09ce31123694627"/>
    <p:sldId xmlns:r="http://schemas.openxmlformats.org/officeDocument/2006/relationships" id="268" r:id="Rf08aaebe997145a2"/>
    <p:sldId xmlns:r="http://schemas.openxmlformats.org/officeDocument/2006/relationships" id="269" r:id="Recefadcaa4524f4f"/>
    <p:sldId xmlns:r="http://schemas.openxmlformats.org/officeDocument/2006/relationships" id="270" r:id="R9a9854cdc2b34c4a"/>
    <p:sldId xmlns:r="http://schemas.openxmlformats.org/officeDocument/2006/relationships" id="271" r:id="R4a3b572637c646f2"/>
    <p:sldId xmlns:r="http://schemas.openxmlformats.org/officeDocument/2006/relationships" id="272" r:id="R2ff6d9153c8a4e32"/>
    <p:sldId xmlns:r="http://schemas.openxmlformats.org/officeDocument/2006/relationships" id="273" r:id="R8bacd331485d474b"/>
    <p:sldId xmlns:r="http://schemas.openxmlformats.org/officeDocument/2006/relationships" id="274" r:id="R0cc610d8ea97477c"/>
    <p:sldId xmlns:r="http://schemas.openxmlformats.org/officeDocument/2006/relationships" id="275" r:id="Rf331df6609a647d6"/>
    <p:sldId xmlns:r="http://schemas.openxmlformats.org/officeDocument/2006/relationships" id="276" r:id="Rf3ca629e3a854e5d"/>
    <p:sldId xmlns:r="http://schemas.openxmlformats.org/officeDocument/2006/relationships" id="277" r:id="R8274dc04d8d74127"/>
    <p:sldId xmlns:r="http://schemas.openxmlformats.org/officeDocument/2006/relationships" id="278" r:id="R02f77f45a2ca436e"/>
    <p:sldId xmlns:r="http://schemas.openxmlformats.org/officeDocument/2006/relationships" id="279" r:id="R332af9c521574971"/>
    <p:sldId xmlns:r="http://schemas.openxmlformats.org/officeDocument/2006/relationships" id="280" r:id="R827116e2764d4a4e"/>
    <p:sldId xmlns:r="http://schemas.openxmlformats.org/officeDocument/2006/relationships" id="281" r:id="R8193ad1babd642bf"/>
    <p:sldId xmlns:r="http://schemas.openxmlformats.org/officeDocument/2006/relationships" id="282" r:id="Rf6800409ff764a7f"/>
    <p:sldId xmlns:r="http://schemas.openxmlformats.org/officeDocument/2006/relationships" id="283" r:id="Re5d6688906184b58"/>
    <p:sldId xmlns:r="http://schemas.openxmlformats.org/officeDocument/2006/relationships" id="284" r:id="Rbb751277aebe4f7c"/>
    <p:sldId xmlns:r="http://schemas.openxmlformats.org/officeDocument/2006/relationships" id="285" r:id="R83b04712708c452e"/>
    <p:sldId xmlns:r="http://schemas.openxmlformats.org/officeDocument/2006/relationships" id="286" r:id="R391097dde4c949ed"/>
    <p:sldId xmlns:r="http://schemas.openxmlformats.org/officeDocument/2006/relationships" id="287" r:id="Ref022510e1bc4883"/>
    <p:sldId xmlns:r="http://schemas.openxmlformats.org/officeDocument/2006/relationships" id="288" r:id="R591d03d5d52742ea"/>
    <p:sldId xmlns:r="http://schemas.openxmlformats.org/officeDocument/2006/relationships" id="289" r:id="R15d08f2321b44abe"/>
    <p:sldId xmlns:r="http://schemas.openxmlformats.org/officeDocument/2006/relationships" id="290" r:id="R88ef429587fb4628"/>
    <p:sldId xmlns:r="http://schemas.openxmlformats.org/officeDocument/2006/relationships" id="291" r:id="Rff840617484c49c8"/>
    <p:sldId xmlns:r="http://schemas.openxmlformats.org/officeDocument/2006/relationships" id="292" r:id="R35c7247aff9742b8"/>
    <p:sldId xmlns:r="http://schemas.openxmlformats.org/officeDocument/2006/relationships" id="293" r:id="R4b33e8d6fb3a4290"/>
    <p:sldId xmlns:r="http://schemas.openxmlformats.org/officeDocument/2006/relationships" id="294" r:id="R23ab599841cf4108"/>
    <p:sldId xmlns:r="http://schemas.openxmlformats.org/officeDocument/2006/relationships" id="295" r:id="R3a0332a02073428e"/>
    <p:sldId xmlns:r="http://schemas.openxmlformats.org/officeDocument/2006/relationships" id="296" r:id="R37c2b376096d4177"/>
    <p:sldId xmlns:r="http://schemas.openxmlformats.org/officeDocument/2006/relationships" id="297" r:id="Rf3857e138fdd42b0"/>
    <p:sldId xmlns:r="http://schemas.openxmlformats.org/officeDocument/2006/relationships" id="298" r:id="R93125918c4624bca"/>
    <p:sldId xmlns:r="http://schemas.openxmlformats.org/officeDocument/2006/relationships" id="299" r:id="R85d82eb735ff4c85"/>
    <p:sldId xmlns:r="http://schemas.openxmlformats.org/officeDocument/2006/relationships" id="300" r:id="R6ad6032e1ed04db6"/>
    <p:sldId xmlns:r="http://schemas.openxmlformats.org/officeDocument/2006/relationships" id="301" r:id="R983cc56abd484a0a"/>
    <p:sldId xmlns:r="http://schemas.openxmlformats.org/officeDocument/2006/relationships" id="302" r:id="R92b5ce1c83b2475d"/>
    <p:sldId xmlns:r="http://schemas.openxmlformats.org/officeDocument/2006/relationships" id="303" r:id="R1893a71737a1421c"/>
    <p:sldId xmlns:r="http://schemas.openxmlformats.org/officeDocument/2006/relationships" id="304" r:id="Rf36b3c74fca34650"/>
    <p:sldId xmlns:r="http://schemas.openxmlformats.org/officeDocument/2006/relationships" id="305" r:id="Rc6de3f196b0142ae"/>
    <p:sldId xmlns:r="http://schemas.openxmlformats.org/officeDocument/2006/relationships" id="306" r:id="R96dbba39f7fa489b"/>
    <p:sldId xmlns:r="http://schemas.openxmlformats.org/officeDocument/2006/relationships" id="307" r:id="Ref39109e3ff74214"/>
    <p:sldId xmlns:r="http://schemas.openxmlformats.org/officeDocument/2006/relationships" id="308" r:id="R58e70f60ba034de0"/>
    <p:sldId xmlns:r="http://schemas.openxmlformats.org/officeDocument/2006/relationships" id="309" r:id="R9b40cf0170554a2e"/>
    <p:sldId xmlns:r="http://schemas.openxmlformats.org/officeDocument/2006/relationships" id="310" r:id="Rb574bcf0e3d04b69"/>
    <p:sldId xmlns:r="http://schemas.openxmlformats.org/officeDocument/2006/relationships" id="311" r:id="R148578fd06114b91"/>
    <p:sldId xmlns:r="http://schemas.openxmlformats.org/officeDocument/2006/relationships" id="312" r:id="Rfb70a785f7ed4657"/>
    <p:sldId xmlns:r="http://schemas.openxmlformats.org/officeDocument/2006/relationships" id="313" r:id="R0e110bbb89624b0f"/>
    <p:sldId xmlns:r="http://schemas.openxmlformats.org/officeDocument/2006/relationships" id="314" r:id="Rbceb8b52f96d47d6"/>
    <p:sldId xmlns:r="http://schemas.openxmlformats.org/officeDocument/2006/relationships" id="315" r:id="R54fcfede48f84303"/>
    <p:sldId xmlns:r="http://schemas.openxmlformats.org/officeDocument/2006/relationships" id="316" r:id="Rf77e21a1b5974e98"/>
    <p:sldId xmlns:r="http://schemas.openxmlformats.org/officeDocument/2006/relationships" id="317" r:id="Rec52127de0914b28"/>
    <p:sldId xmlns:r="http://schemas.openxmlformats.org/officeDocument/2006/relationships" id="318" r:id="Reee24e7eef704545"/>
    <p:sldId xmlns:r="http://schemas.openxmlformats.org/officeDocument/2006/relationships" id="319" r:id="R7e317aaccb014f88"/>
    <p:sldId xmlns:r="http://schemas.openxmlformats.org/officeDocument/2006/relationships" id="320" r:id="R44fa19ce9ef04f54"/>
    <p:sldId xmlns:r="http://schemas.openxmlformats.org/officeDocument/2006/relationships" id="321" r:id="Rbe472b20cfba4205"/>
    <p:sldId xmlns:r="http://schemas.openxmlformats.org/officeDocument/2006/relationships" id="322" r:id="R5d60a6624c78477d"/>
    <p:sldId xmlns:r="http://schemas.openxmlformats.org/officeDocument/2006/relationships" id="323" r:id="R8ce7db7f93bc463c"/>
    <p:sldId xmlns:r="http://schemas.openxmlformats.org/officeDocument/2006/relationships" id="324" r:id="R395cfe753bb246ec"/>
    <p:sldId xmlns:r="http://schemas.openxmlformats.org/officeDocument/2006/relationships" id="325" r:id="R9ae152c28e9b4ab0"/>
    <p:sldId xmlns:r="http://schemas.openxmlformats.org/officeDocument/2006/relationships" id="326" r:id="Rb713a582fe0f4793"/>
    <p:sldId xmlns:r="http://schemas.openxmlformats.org/officeDocument/2006/relationships" id="327" r:id="R8e18b76da6e94914"/>
    <p:sldId xmlns:r="http://schemas.openxmlformats.org/officeDocument/2006/relationships" id="328" r:id="Re8ebde0597234634"/>
    <p:sldId xmlns:r="http://schemas.openxmlformats.org/officeDocument/2006/relationships" id="329" r:id="Rcbb5ecdf355a4a34"/>
    <p:sldId xmlns:r="http://schemas.openxmlformats.org/officeDocument/2006/relationships" id="330" r:id="R5bc07bbd56854d4a"/>
    <p:sldId xmlns:r="http://schemas.openxmlformats.org/officeDocument/2006/relationships" id="331" r:id="R0daa944a3e234173"/>
    <p:sldId xmlns:r="http://schemas.openxmlformats.org/officeDocument/2006/relationships" id="332" r:id="Rab277d8cf91341ab"/>
    <p:sldId xmlns:r="http://schemas.openxmlformats.org/officeDocument/2006/relationships" id="333" r:id="R9afeb6f533624b9f"/>
    <p:sldId xmlns:r="http://schemas.openxmlformats.org/officeDocument/2006/relationships" id="334" r:id="R30150faba925437d"/>
    <p:sldId xmlns:r="http://schemas.openxmlformats.org/officeDocument/2006/relationships" id="335" r:id="Ra3fbfc007d464a8e"/>
    <p:sldId xmlns:r="http://schemas.openxmlformats.org/officeDocument/2006/relationships" id="336" r:id="Rec9c320e8b21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2576789aa7451d" /><Relationship Type="http://schemas.openxmlformats.org/officeDocument/2006/relationships/slideMaster" Target="/ppt/slideMasters/slideMaster1.xml" Id="R14bc0e662d8c4beb" /><Relationship Type="http://schemas.openxmlformats.org/officeDocument/2006/relationships/notesMaster" Target="/ppt/notesMasters/notesMaster1.xml" Id="R3408dc93b5e44b64" /><Relationship Type="http://schemas.openxmlformats.org/officeDocument/2006/relationships/presProps" Target="/ppt/presProps.xml" Id="Rb61b7ffdce5e4601" /><Relationship Type="http://schemas.openxmlformats.org/officeDocument/2006/relationships/viewProps" Target="/ppt/viewProps.xml" Id="Ra7bcf6414f474281" /><Relationship Type="http://schemas.openxmlformats.org/officeDocument/2006/relationships/tableStyles" Target="/ppt/tableStyles.xml" Id="R991b633335524813" /><Relationship Type="http://schemas.openxmlformats.org/officeDocument/2006/relationships/slide" Target="/ppt/slides/slide1.xml" Id="Rb8c592fe850f44d7" /><Relationship Type="http://schemas.openxmlformats.org/officeDocument/2006/relationships/slide" Target="/ppt/slides/slide2.xml" Id="Ra2dd955365304180" /><Relationship Type="http://schemas.openxmlformats.org/officeDocument/2006/relationships/slide" Target="/ppt/slides/slide3.xml" Id="R70423163cb644516" /><Relationship Type="http://schemas.openxmlformats.org/officeDocument/2006/relationships/slide" Target="/ppt/slides/slide4.xml" Id="R730076ecd0544223" /><Relationship Type="http://schemas.openxmlformats.org/officeDocument/2006/relationships/slide" Target="/ppt/slides/slide5.xml" Id="R763f84787d274779" /><Relationship Type="http://schemas.openxmlformats.org/officeDocument/2006/relationships/slide" Target="/ppt/slides/slide6.xml" Id="R33733b2ccb17477e" /><Relationship Type="http://schemas.openxmlformats.org/officeDocument/2006/relationships/slide" Target="/ppt/slides/slide7.xml" Id="Ra9ffc9815b2f461f" /><Relationship Type="http://schemas.openxmlformats.org/officeDocument/2006/relationships/slide" Target="/ppt/slides/slide8.xml" Id="Ra52121f90fc44abc" /><Relationship Type="http://schemas.openxmlformats.org/officeDocument/2006/relationships/slide" Target="/ppt/slides/slide9.xml" Id="Ra7aa755b0fda4997" /><Relationship Type="http://schemas.openxmlformats.org/officeDocument/2006/relationships/slide" Target="/ppt/slides/slide10.xml" Id="Rb1d998fdfdfd4eaf" /><Relationship Type="http://schemas.openxmlformats.org/officeDocument/2006/relationships/slide" Target="/ppt/slides/slide11.xml" Id="R239b3005c2944d9c" /><Relationship Type="http://schemas.openxmlformats.org/officeDocument/2006/relationships/slide" Target="/ppt/slides/slide12.xml" Id="Rf09ce31123694627" /><Relationship Type="http://schemas.openxmlformats.org/officeDocument/2006/relationships/slide" Target="/ppt/slides/slide13.xml" Id="Rf08aaebe997145a2" /><Relationship Type="http://schemas.openxmlformats.org/officeDocument/2006/relationships/slide" Target="/ppt/slides/slide14.xml" Id="Recefadcaa4524f4f" /><Relationship Type="http://schemas.openxmlformats.org/officeDocument/2006/relationships/slide" Target="/ppt/slides/slide15.xml" Id="R9a9854cdc2b34c4a" /><Relationship Type="http://schemas.openxmlformats.org/officeDocument/2006/relationships/slide" Target="/ppt/slides/slide16.xml" Id="R4a3b572637c646f2" /><Relationship Type="http://schemas.openxmlformats.org/officeDocument/2006/relationships/slide" Target="/ppt/slides/slide17.xml" Id="R2ff6d9153c8a4e32" /><Relationship Type="http://schemas.openxmlformats.org/officeDocument/2006/relationships/slide" Target="/ppt/slides/slide18.xml" Id="R8bacd331485d474b" /><Relationship Type="http://schemas.openxmlformats.org/officeDocument/2006/relationships/slide" Target="/ppt/slides/slide19.xml" Id="R0cc610d8ea97477c" /><Relationship Type="http://schemas.openxmlformats.org/officeDocument/2006/relationships/slide" Target="/ppt/slides/slide20.xml" Id="Rf331df6609a647d6" /><Relationship Type="http://schemas.openxmlformats.org/officeDocument/2006/relationships/slide" Target="/ppt/slides/slide21.xml" Id="Rf3ca629e3a854e5d" /><Relationship Type="http://schemas.openxmlformats.org/officeDocument/2006/relationships/slide" Target="/ppt/slides/slide22.xml" Id="R8274dc04d8d74127" /><Relationship Type="http://schemas.openxmlformats.org/officeDocument/2006/relationships/slide" Target="/ppt/slides/slide23.xml" Id="R02f77f45a2ca436e" /><Relationship Type="http://schemas.openxmlformats.org/officeDocument/2006/relationships/slide" Target="/ppt/slides/slide24.xml" Id="R332af9c521574971" /><Relationship Type="http://schemas.openxmlformats.org/officeDocument/2006/relationships/slide" Target="/ppt/slides/slide25.xml" Id="R827116e2764d4a4e" /><Relationship Type="http://schemas.openxmlformats.org/officeDocument/2006/relationships/slide" Target="/ppt/slides/slide26.xml" Id="R8193ad1babd642bf" /><Relationship Type="http://schemas.openxmlformats.org/officeDocument/2006/relationships/slide" Target="/ppt/slides/slide27.xml" Id="Rf6800409ff764a7f" /><Relationship Type="http://schemas.openxmlformats.org/officeDocument/2006/relationships/slide" Target="/ppt/slides/slide28.xml" Id="Re5d6688906184b58" /><Relationship Type="http://schemas.openxmlformats.org/officeDocument/2006/relationships/slide" Target="/ppt/slides/slide29.xml" Id="Rbb751277aebe4f7c" /><Relationship Type="http://schemas.openxmlformats.org/officeDocument/2006/relationships/slide" Target="/ppt/slides/slide30.xml" Id="R83b04712708c452e" /><Relationship Type="http://schemas.openxmlformats.org/officeDocument/2006/relationships/slide" Target="/ppt/slides/slide31.xml" Id="R391097dde4c949ed" /><Relationship Type="http://schemas.openxmlformats.org/officeDocument/2006/relationships/slide" Target="/ppt/slides/slide32.xml" Id="Ref022510e1bc4883" /><Relationship Type="http://schemas.openxmlformats.org/officeDocument/2006/relationships/slide" Target="/ppt/slides/slide33.xml" Id="R591d03d5d52742ea" /><Relationship Type="http://schemas.openxmlformats.org/officeDocument/2006/relationships/slide" Target="/ppt/slides/slide34.xml" Id="R15d08f2321b44abe" /><Relationship Type="http://schemas.openxmlformats.org/officeDocument/2006/relationships/slide" Target="/ppt/slides/slide35.xml" Id="R88ef429587fb4628" /><Relationship Type="http://schemas.openxmlformats.org/officeDocument/2006/relationships/slide" Target="/ppt/slides/slide36.xml" Id="Rff840617484c49c8" /><Relationship Type="http://schemas.openxmlformats.org/officeDocument/2006/relationships/slide" Target="/ppt/slides/slide37.xml" Id="R35c7247aff9742b8" /><Relationship Type="http://schemas.openxmlformats.org/officeDocument/2006/relationships/slide" Target="/ppt/slides/slide38.xml" Id="R4b33e8d6fb3a4290" /><Relationship Type="http://schemas.openxmlformats.org/officeDocument/2006/relationships/slide" Target="/ppt/slides/slide39.xml" Id="R23ab599841cf4108" /><Relationship Type="http://schemas.openxmlformats.org/officeDocument/2006/relationships/slide" Target="/ppt/slides/slide40.xml" Id="R3a0332a02073428e" /><Relationship Type="http://schemas.openxmlformats.org/officeDocument/2006/relationships/slide" Target="/ppt/slides/slide41.xml" Id="R37c2b376096d4177" /><Relationship Type="http://schemas.openxmlformats.org/officeDocument/2006/relationships/slide" Target="/ppt/slides/slide42.xml" Id="Rf3857e138fdd42b0" /><Relationship Type="http://schemas.openxmlformats.org/officeDocument/2006/relationships/slide" Target="/ppt/slides/slide43.xml" Id="R93125918c4624bca" /><Relationship Type="http://schemas.openxmlformats.org/officeDocument/2006/relationships/slide" Target="/ppt/slides/slide44.xml" Id="R85d82eb735ff4c85" /><Relationship Type="http://schemas.openxmlformats.org/officeDocument/2006/relationships/slide" Target="/ppt/slides/slide45.xml" Id="R6ad6032e1ed04db6" /><Relationship Type="http://schemas.openxmlformats.org/officeDocument/2006/relationships/slide" Target="/ppt/slides/slide46.xml" Id="R983cc56abd484a0a" /><Relationship Type="http://schemas.openxmlformats.org/officeDocument/2006/relationships/slide" Target="/ppt/slides/slide47.xml" Id="R92b5ce1c83b2475d" /><Relationship Type="http://schemas.openxmlformats.org/officeDocument/2006/relationships/slide" Target="/ppt/slides/slide48.xml" Id="R1893a71737a1421c" /><Relationship Type="http://schemas.openxmlformats.org/officeDocument/2006/relationships/slide" Target="/ppt/slides/slide49.xml" Id="Rf36b3c74fca34650" /><Relationship Type="http://schemas.openxmlformats.org/officeDocument/2006/relationships/slide" Target="/ppt/slides/slide50.xml" Id="Rc6de3f196b0142ae" /><Relationship Type="http://schemas.openxmlformats.org/officeDocument/2006/relationships/slide" Target="/ppt/slides/slide51.xml" Id="R96dbba39f7fa489b" /><Relationship Type="http://schemas.openxmlformats.org/officeDocument/2006/relationships/slide" Target="/ppt/slides/slide52.xml" Id="Ref39109e3ff74214" /><Relationship Type="http://schemas.openxmlformats.org/officeDocument/2006/relationships/slide" Target="/ppt/slides/slide53.xml" Id="R58e70f60ba034de0" /><Relationship Type="http://schemas.openxmlformats.org/officeDocument/2006/relationships/slide" Target="/ppt/slides/slide54.xml" Id="R9b40cf0170554a2e" /><Relationship Type="http://schemas.openxmlformats.org/officeDocument/2006/relationships/slide" Target="/ppt/slides/slide55.xml" Id="Rb574bcf0e3d04b69" /><Relationship Type="http://schemas.openxmlformats.org/officeDocument/2006/relationships/slide" Target="/ppt/slides/slide56.xml" Id="R148578fd06114b91" /><Relationship Type="http://schemas.openxmlformats.org/officeDocument/2006/relationships/slide" Target="/ppt/slides/slide57.xml" Id="Rfb70a785f7ed4657" /><Relationship Type="http://schemas.openxmlformats.org/officeDocument/2006/relationships/slide" Target="/ppt/slides/slide58.xml" Id="R0e110bbb89624b0f" /><Relationship Type="http://schemas.openxmlformats.org/officeDocument/2006/relationships/slide" Target="/ppt/slides/slide59.xml" Id="Rbceb8b52f96d47d6" /><Relationship Type="http://schemas.openxmlformats.org/officeDocument/2006/relationships/slide" Target="/ppt/slides/slide60.xml" Id="R54fcfede48f84303" /><Relationship Type="http://schemas.openxmlformats.org/officeDocument/2006/relationships/slide" Target="/ppt/slides/slide61.xml" Id="Rf77e21a1b5974e98" /><Relationship Type="http://schemas.openxmlformats.org/officeDocument/2006/relationships/slide" Target="/ppt/slides/slide62.xml" Id="Rec52127de0914b28" /><Relationship Type="http://schemas.openxmlformats.org/officeDocument/2006/relationships/slide" Target="/ppt/slides/slide63.xml" Id="Reee24e7eef704545" /><Relationship Type="http://schemas.openxmlformats.org/officeDocument/2006/relationships/slide" Target="/ppt/slides/slide64.xml" Id="R7e317aaccb014f88" /><Relationship Type="http://schemas.openxmlformats.org/officeDocument/2006/relationships/slide" Target="/ppt/slides/slide65.xml" Id="R44fa19ce9ef04f54" /><Relationship Type="http://schemas.openxmlformats.org/officeDocument/2006/relationships/slide" Target="/ppt/slides/slide66.xml" Id="Rbe472b20cfba4205" /><Relationship Type="http://schemas.openxmlformats.org/officeDocument/2006/relationships/slide" Target="/ppt/slides/slide67.xml" Id="R5d60a6624c78477d" /><Relationship Type="http://schemas.openxmlformats.org/officeDocument/2006/relationships/slide" Target="/ppt/slides/slide68.xml" Id="R8ce7db7f93bc463c" /><Relationship Type="http://schemas.openxmlformats.org/officeDocument/2006/relationships/slide" Target="/ppt/slides/slide69.xml" Id="R395cfe753bb246ec" /><Relationship Type="http://schemas.openxmlformats.org/officeDocument/2006/relationships/slide" Target="/ppt/slides/slide70.xml" Id="R9ae152c28e9b4ab0" /><Relationship Type="http://schemas.openxmlformats.org/officeDocument/2006/relationships/slide" Target="/ppt/slides/slide71.xml" Id="Rb713a582fe0f4793" /><Relationship Type="http://schemas.openxmlformats.org/officeDocument/2006/relationships/slide" Target="/ppt/slides/slide72.xml" Id="R8e18b76da6e94914" /><Relationship Type="http://schemas.openxmlformats.org/officeDocument/2006/relationships/slide" Target="/ppt/slides/slide73.xml" Id="Re8ebde0597234634" /><Relationship Type="http://schemas.openxmlformats.org/officeDocument/2006/relationships/slide" Target="/ppt/slides/slide74.xml" Id="Rcbb5ecdf355a4a34" /><Relationship Type="http://schemas.openxmlformats.org/officeDocument/2006/relationships/slide" Target="/ppt/slides/slide75.xml" Id="R5bc07bbd56854d4a" /><Relationship Type="http://schemas.openxmlformats.org/officeDocument/2006/relationships/slide" Target="/ppt/slides/slide76.xml" Id="R0daa944a3e234173" /><Relationship Type="http://schemas.openxmlformats.org/officeDocument/2006/relationships/slide" Target="/ppt/slides/slide77.xml" Id="Rab277d8cf91341ab" /><Relationship Type="http://schemas.openxmlformats.org/officeDocument/2006/relationships/slide" Target="/ppt/slides/slide78.xml" Id="R9afeb6f533624b9f" /><Relationship Type="http://schemas.openxmlformats.org/officeDocument/2006/relationships/slide" Target="/ppt/slides/slide79.xml" Id="R30150faba925437d" /><Relationship Type="http://schemas.openxmlformats.org/officeDocument/2006/relationships/slide" Target="/ppt/slides/slide80.xml" Id="Ra3fbfc007d464a8e" /><Relationship Type="http://schemas.openxmlformats.org/officeDocument/2006/relationships/slide" Target="/ppt/slides/slide81.xml" Id="Rec9c320e8b21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a5d57db284e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908e916c4460e" /><Relationship Type="http://schemas.openxmlformats.org/officeDocument/2006/relationships/notesMaster" Target="/ppt/notesMasters/notesMaster1.xml" Id="Ra12c10e6b61f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fad3648134f39" /><Relationship Type="http://schemas.openxmlformats.org/officeDocument/2006/relationships/notesMaster" Target="/ppt/notesMasters/notesMaster1.xml" Id="R1e2d98ed2bc4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8a431361434b9f" /><Relationship Type="http://schemas.openxmlformats.org/officeDocument/2006/relationships/notesMaster" Target="/ppt/notesMasters/notesMaster1.xml" Id="R0b3b471848424c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57f32301d4b94" /><Relationship Type="http://schemas.openxmlformats.org/officeDocument/2006/relationships/notesMaster" Target="/ppt/notesMasters/notesMaster1.xml" Id="Re99af1386f00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18ed3e56b4bf6" /><Relationship Type="http://schemas.openxmlformats.org/officeDocument/2006/relationships/notesMaster" Target="/ppt/notesMasters/notesMaster1.xml" Id="R99fc985ada3942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37904988d4c53" /><Relationship Type="http://schemas.openxmlformats.org/officeDocument/2006/relationships/notesMaster" Target="/ppt/notesMasters/notesMaster1.xml" Id="Rea6c8e5f4cf540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210713c8a41d9" /><Relationship Type="http://schemas.openxmlformats.org/officeDocument/2006/relationships/notesMaster" Target="/ppt/notesMasters/notesMaster1.xml" Id="R2c3268f7f960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f70d098bc74c7e" /><Relationship Type="http://schemas.openxmlformats.org/officeDocument/2006/relationships/notesMaster" Target="/ppt/notesMasters/notesMaster1.xml" Id="R77cd82a0f08f45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f664b2a72546f3" /><Relationship Type="http://schemas.openxmlformats.org/officeDocument/2006/relationships/notesMaster" Target="/ppt/notesMasters/notesMaster1.xml" Id="R77dbce44b21f46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20f8ee78944c8e" /><Relationship Type="http://schemas.openxmlformats.org/officeDocument/2006/relationships/notesMaster" Target="/ppt/notesMasters/notesMaster1.xml" Id="Rf28c61312cad42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783cdfc5134315" /><Relationship Type="http://schemas.openxmlformats.org/officeDocument/2006/relationships/notesMaster" Target="/ppt/notesMasters/notesMaster1.xml" Id="R8a9fefbef648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e3d708d8c04719" /><Relationship Type="http://schemas.openxmlformats.org/officeDocument/2006/relationships/notesMaster" Target="/ppt/notesMasters/notesMaster1.xml" Id="R659b4b2c53ff49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7af2c834314163" /><Relationship Type="http://schemas.openxmlformats.org/officeDocument/2006/relationships/notesMaster" Target="/ppt/notesMasters/notesMaster1.xml" Id="R2fef5da49b0c4a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5351f337834df2" /><Relationship Type="http://schemas.openxmlformats.org/officeDocument/2006/relationships/notesMaster" Target="/ppt/notesMasters/notesMaster1.xml" Id="R9da4c1a546004b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e5ea7f8bc4b6b" /><Relationship Type="http://schemas.openxmlformats.org/officeDocument/2006/relationships/notesMaster" Target="/ppt/notesMasters/notesMaster1.xml" Id="R7c197c68609044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193f683086478f" /><Relationship Type="http://schemas.openxmlformats.org/officeDocument/2006/relationships/notesMaster" Target="/ppt/notesMasters/notesMaster1.xml" Id="R6900303b520d41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99231a2c0e43f6" /><Relationship Type="http://schemas.openxmlformats.org/officeDocument/2006/relationships/notesMaster" Target="/ppt/notesMasters/notesMaster1.xml" Id="Re92f7c5f840744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a8b2df206f48a7" /><Relationship Type="http://schemas.openxmlformats.org/officeDocument/2006/relationships/notesMaster" Target="/ppt/notesMasters/notesMaster1.xml" Id="Ra8de8de8348543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be4cb4984947c5" /><Relationship Type="http://schemas.openxmlformats.org/officeDocument/2006/relationships/notesMaster" Target="/ppt/notesMasters/notesMaster1.xml" Id="Re411c2b8864147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1976e727ce457e" /><Relationship Type="http://schemas.openxmlformats.org/officeDocument/2006/relationships/notesMaster" Target="/ppt/notesMasters/notesMaster1.xml" Id="Rb572d9a8ce8847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701c6beb6d4c05" /><Relationship Type="http://schemas.openxmlformats.org/officeDocument/2006/relationships/notesMaster" Target="/ppt/notesMasters/notesMaster1.xml" Id="R763ce07779aa41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ba64b9ea234367" /><Relationship Type="http://schemas.openxmlformats.org/officeDocument/2006/relationships/notesMaster" Target="/ppt/notesMasters/notesMaster1.xml" Id="R11c6bb3ff05d49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0d72caea1334e47" /><Relationship Type="http://schemas.openxmlformats.org/officeDocument/2006/relationships/notesMaster" Target="/ppt/notesMasters/notesMaster1.xml" Id="R1c026d424a264f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bcc673ba2c4e59" /><Relationship Type="http://schemas.openxmlformats.org/officeDocument/2006/relationships/notesMaster" Target="/ppt/notesMasters/notesMaster1.xml" Id="R25be3a37f52a4e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11d03bbd334aa4" /><Relationship Type="http://schemas.openxmlformats.org/officeDocument/2006/relationships/notesMaster" Target="/ppt/notesMasters/notesMaster1.xml" Id="Rff59ab0a2c6a45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c71c005cd74ca3" /><Relationship Type="http://schemas.openxmlformats.org/officeDocument/2006/relationships/notesMaster" Target="/ppt/notesMasters/notesMaster1.xml" Id="R8cd7e88a359e46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819e85f07b42c0" /><Relationship Type="http://schemas.openxmlformats.org/officeDocument/2006/relationships/notesMaster" Target="/ppt/notesMasters/notesMaster1.xml" Id="R53f36239c22a45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4435c8f11144c4" /><Relationship Type="http://schemas.openxmlformats.org/officeDocument/2006/relationships/notesMaster" Target="/ppt/notesMasters/notesMaster1.xml" Id="R548276d41ffc483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8d7a5e31d7a48d0" /><Relationship Type="http://schemas.openxmlformats.org/officeDocument/2006/relationships/notesMaster" Target="/ppt/notesMasters/notesMaster1.xml" Id="Re2591a8ba5fa4aa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e2c66157c374319" /><Relationship Type="http://schemas.openxmlformats.org/officeDocument/2006/relationships/notesMaster" Target="/ppt/notesMasters/notesMaster1.xml" Id="Rc0c8399df208499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d065ba8aed425d" /><Relationship Type="http://schemas.openxmlformats.org/officeDocument/2006/relationships/notesMaster" Target="/ppt/notesMasters/notesMaster1.xml" Id="R8a631c8aa4ac42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1a735a00044112" /><Relationship Type="http://schemas.openxmlformats.org/officeDocument/2006/relationships/notesMaster" Target="/ppt/notesMasters/notesMaster1.xml" Id="R9a15d93555fb42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dc2c76130c94235" /><Relationship Type="http://schemas.openxmlformats.org/officeDocument/2006/relationships/notesMaster" Target="/ppt/notesMasters/notesMaster1.xml" Id="R7f1bed1a66904a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d3084b6f0f0444e" /><Relationship Type="http://schemas.openxmlformats.org/officeDocument/2006/relationships/notesMaster" Target="/ppt/notesMasters/notesMaster1.xml" Id="R782a0ca298ab434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bed575c2764141" /><Relationship Type="http://schemas.openxmlformats.org/officeDocument/2006/relationships/notesMaster" Target="/ppt/notesMasters/notesMaster1.xml" Id="R660044d3f5ff420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3808d8b3c164474" /><Relationship Type="http://schemas.openxmlformats.org/officeDocument/2006/relationships/notesMaster" Target="/ppt/notesMasters/notesMaster1.xml" Id="R140c86de32c34d2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88e763aee146a8" /><Relationship Type="http://schemas.openxmlformats.org/officeDocument/2006/relationships/notesMaster" Target="/ppt/notesMasters/notesMaster1.xml" Id="Rd02ad0e4d73042f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8d6002264324459" /><Relationship Type="http://schemas.openxmlformats.org/officeDocument/2006/relationships/notesMaster" Target="/ppt/notesMasters/notesMaster1.xml" Id="R8e0d8c1763b14b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26c849b8d004802" /><Relationship Type="http://schemas.openxmlformats.org/officeDocument/2006/relationships/notesMaster" Target="/ppt/notesMasters/notesMaster1.xml" Id="Rf0eb6227e94c4e4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abc3ead776e4b07" /><Relationship Type="http://schemas.openxmlformats.org/officeDocument/2006/relationships/notesMaster" Target="/ppt/notesMasters/notesMaster1.xml" Id="R3936101cc5384ea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ffcf77d4a9b4352" /><Relationship Type="http://schemas.openxmlformats.org/officeDocument/2006/relationships/notesMaster" Target="/ppt/notesMasters/notesMaster1.xml" Id="R2cfbf6b877bc45f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f4d089488874691" /><Relationship Type="http://schemas.openxmlformats.org/officeDocument/2006/relationships/notesMaster" Target="/ppt/notesMasters/notesMaster1.xml" Id="R3d99ec4a46524fc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05e12adc40e416d" /><Relationship Type="http://schemas.openxmlformats.org/officeDocument/2006/relationships/notesMaster" Target="/ppt/notesMasters/notesMaster1.xml" Id="R98af6630ecab497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2e93e7656f34a6f" /><Relationship Type="http://schemas.openxmlformats.org/officeDocument/2006/relationships/notesMaster" Target="/ppt/notesMasters/notesMaster1.xml" Id="Reb82c83b8b074d6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7e5f5970eef4786" /><Relationship Type="http://schemas.openxmlformats.org/officeDocument/2006/relationships/notesMaster" Target="/ppt/notesMasters/notesMaster1.xml" Id="R73d641652ec3403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9519b5eff9143c9" /><Relationship Type="http://schemas.openxmlformats.org/officeDocument/2006/relationships/notesMaster" Target="/ppt/notesMasters/notesMaster1.xml" Id="R10a4bb357ab442b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2459efc8ce345a9" /><Relationship Type="http://schemas.openxmlformats.org/officeDocument/2006/relationships/notesMaster" Target="/ppt/notesMasters/notesMaster1.xml" Id="R7c153f4a80d64a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3d30b24c94b4df9" /><Relationship Type="http://schemas.openxmlformats.org/officeDocument/2006/relationships/notesMaster" Target="/ppt/notesMasters/notesMaster1.xml" Id="Rb60db961ecfc46a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bf913e872ee477c" /><Relationship Type="http://schemas.openxmlformats.org/officeDocument/2006/relationships/notesMaster" Target="/ppt/notesMasters/notesMaster1.xml" Id="R7e3613c95f27473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e4cd08a1b80468b" /><Relationship Type="http://schemas.openxmlformats.org/officeDocument/2006/relationships/notesMaster" Target="/ppt/notesMasters/notesMaster1.xml" Id="Rd894a2133313420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169889545814a19" /><Relationship Type="http://schemas.openxmlformats.org/officeDocument/2006/relationships/notesMaster" Target="/ppt/notesMasters/notesMaster1.xml" Id="R843da97976bd4ff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94759da8b8141bc" /><Relationship Type="http://schemas.openxmlformats.org/officeDocument/2006/relationships/notesMaster" Target="/ppt/notesMasters/notesMaster1.xml" Id="Rf4535b8ae9fd449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5c90811628f43b6" /><Relationship Type="http://schemas.openxmlformats.org/officeDocument/2006/relationships/notesMaster" Target="/ppt/notesMasters/notesMaster1.xml" Id="R9b0999d6f9294e4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e6f4d8aa6994dc3" /><Relationship Type="http://schemas.openxmlformats.org/officeDocument/2006/relationships/notesMaster" Target="/ppt/notesMasters/notesMaster1.xml" Id="R42928748eb824b2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23d6bf589d5450f" /><Relationship Type="http://schemas.openxmlformats.org/officeDocument/2006/relationships/notesMaster" Target="/ppt/notesMasters/notesMaster1.xml" Id="Re39e0d94de20437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a01045bb2f646f8" /><Relationship Type="http://schemas.openxmlformats.org/officeDocument/2006/relationships/notesMaster" Target="/ppt/notesMasters/notesMaster1.xml" Id="Ra1a1d432260149a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2c4f5e603604bc7" /><Relationship Type="http://schemas.openxmlformats.org/officeDocument/2006/relationships/notesMaster" Target="/ppt/notesMasters/notesMaster1.xml" Id="R2148c73a902544a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f34b1739bac4cd8" /><Relationship Type="http://schemas.openxmlformats.org/officeDocument/2006/relationships/notesMaster" Target="/ppt/notesMasters/notesMaster1.xml" Id="R12b40c102b8b49f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522057822ef4c08" /><Relationship Type="http://schemas.openxmlformats.org/officeDocument/2006/relationships/notesMaster" Target="/ppt/notesMasters/notesMaster1.xml" Id="R7f8ff2c09f78466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fdcf10b47c243a6" /><Relationship Type="http://schemas.openxmlformats.org/officeDocument/2006/relationships/notesMaster" Target="/ppt/notesMasters/notesMaster1.xml" Id="R78b1fc9d8f11405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d31fee001024c8d" /><Relationship Type="http://schemas.openxmlformats.org/officeDocument/2006/relationships/notesMaster" Target="/ppt/notesMasters/notesMaster1.xml" Id="R152868bcc740426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a78a64d690d4216" /><Relationship Type="http://schemas.openxmlformats.org/officeDocument/2006/relationships/notesMaster" Target="/ppt/notesMasters/notesMaster1.xml" Id="Rf06af706ebdf4b9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e5fa3027d69430b" /><Relationship Type="http://schemas.openxmlformats.org/officeDocument/2006/relationships/notesMaster" Target="/ppt/notesMasters/notesMaster1.xml" Id="Rea15dd8f7cf445b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05a4cecc07a457b" /><Relationship Type="http://schemas.openxmlformats.org/officeDocument/2006/relationships/notesMaster" Target="/ppt/notesMasters/notesMaster1.xml" Id="R1da95edba228449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de00b0f5fee457e" /><Relationship Type="http://schemas.openxmlformats.org/officeDocument/2006/relationships/notesMaster" Target="/ppt/notesMasters/notesMaster1.xml" Id="R1c17a3e620224d7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f3e52c7e9b84d44" /><Relationship Type="http://schemas.openxmlformats.org/officeDocument/2006/relationships/notesMaster" Target="/ppt/notesMasters/notesMaster1.xml" Id="R2cbfb87eeb5f4ea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06424c8b4eb4352" /><Relationship Type="http://schemas.openxmlformats.org/officeDocument/2006/relationships/notesMaster" Target="/ppt/notesMasters/notesMaster1.xml" Id="Rba5ac3247679412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c9298b770ac4055" /><Relationship Type="http://schemas.openxmlformats.org/officeDocument/2006/relationships/notesMaster" Target="/ppt/notesMasters/notesMaster1.xml" Id="R30679fa84ac14a6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f193a2f1095429c" /><Relationship Type="http://schemas.openxmlformats.org/officeDocument/2006/relationships/notesMaster" Target="/ppt/notesMasters/notesMaster1.xml" Id="R7a8bee016b8040e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df7d7e6cc9241ac" /><Relationship Type="http://schemas.openxmlformats.org/officeDocument/2006/relationships/notesMaster" Target="/ppt/notesMasters/notesMaster1.xml" Id="R6a89d3a0a9924fe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87e3516282d44e3" /><Relationship Type="http://schemas.openxmlformats.org/officeDocument/2006/relationships/notesMaster" Target="/ppt/notesMasters/notesMaster1.xml" Id="R4e162309d8764e8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251d7c96e62848b6" /><Relationship Type="http://schemas.openxmlformats.org/officeDocument/2006/relationships/notesMaster" Target="/ppt/notesMasters/notesMaster1.xml" Id="Ra6e618e6059a4f5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0135f4f7ce64880" /><Relationship Type="http://schemas.openxmlformats.org/officeDocument/2006/relationships/notesMaster" Target="/ppt/notesMasters/notesMaster1.xml" Id="R2733aee4fefe495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e2b486c32fb419d" /><Relationship Type="http://schemas.openxmlformats.org/officeDocument/2006/relationships/notesMaster" Target="/ppt/notesMasters/notesMaster1.xml" Id="R331c4246e80a48c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eb66397fd184943" /><Relationship Type="http://schemas.openxmlformats.org/officeDocument/2006/relationships/notesMaster" Target="/ppt/notesMasters/notesMaster1.xml" Id="Ra9d21471be3f421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02b4ed3be8b43b1" /><Relationship Type="http://schemas.openxmlformats.org/officeDocument/2006/relationships/notesMaster" Target="/ppt/notesMasters/notesMaster1.xml" Id="R6713ade11887499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15d88544213f4872" /><Relationship Type="http://schemas.openxmlformats.org/officeDocument/2006/relationships/notesMaster" Target="/ppt/notesMasters/notesMaster1.xml" Id="R81fa8724d31a413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510d7070e89c4bda" /><Relationship Type="http://schemas.openxmlformats.org/officeDocument/2006/relationships/notesMaster" Target="/ppt/notesMasters/notesMaster1.xml" Id="R20c09b50b4c34fd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4bddc16ff2ea4536" /><Relationship Type="http://schemas.openxmlformats.org/officeDocument/2006/relationships/notesMaster" Target="/ppt/notesMasters/notesMaster1.xml" Id="Rf0b31f8369c34cd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867957cf5164515" /><Relationship Type="http://schemas.openxmlformats.org/officeDocument/2006/relationships/notesMaster" Target="/ppt/notesMasters/notesMaster1.xml" Id="Rba980d6617be4c0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b2a834560da8436f" /><Relationship Type="http://schemas.openxmlformats.org/officeDocument/2006/relationships/notesMaster" Target="/ppt/notesMasters/notesMaster1.xml" Id="R4da35cf7c34c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内容依据：AI产品方案与PRD设计实战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内容依据：第9课会评测，第10课把评测要求前置到产品方案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内容依据：第10课的产品设计主线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内容依据：学习目标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内容依据：01 业务背景与产品目标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内容依据：项目从内容生产提速开始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内容依据：人工审核流程出现五类问题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内容依据：生产效率提升，审核成为新瓶颈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内容依据：审核不一致与规则变化同时存在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内容依据：系统既要沉淀数据，也要保留人工责任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内容依据：先补业务基线，再验证产品假设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内容依据：不要把业务需求直接写成产品需求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内容依据：项目中有四类核心用户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内容依据：产品目标要能被业务和评测共同验证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内容依据：第一版同时写清目标与非目标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/Users/keivn/Project/AI-Course/课程生产/第一阶段/第10课_AI产品方案与PRD设计实战_重做工作区/01_第一节_智能审核项目的业务背景与产品目标.md
- 内容依据：第一版项目定义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内容依据：02 AI介入判断与能力分工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内容依据：智能审核至少有四种候选方案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内容依据：四种方案的取舍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内容依据：AI是否介入，需要回答六个产品问题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内容依据：只使用大模型，上线时会暴露六类问题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内容依据：先按任务性质分配能力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内容依据：确定性规则负责稳定执行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内容依据：大模型负责规则难以穷举的语义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内容依据：RAG提供依据，人工承担责任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内容依据：混合审核的完整协作流程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内容依据：第一版用Workflow，而不是Agent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内容依据：能力分工要写到输入、输出和边界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/Users/keivn/Project/AI-Course/课程生产/第一阶段/第10课_AI产品方案与PRD设计实战_重做工作区/02_第二节_AI介入判断与智能审核方案的能力分工.md
- 内容依据：同一条文案如何被分层审核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内容依据：03 结果动作与人工复核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内容依据：先把规则、RAG和模型的原始结果放在一起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内容依据：结果合并解决三个问题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内容依据：一条正式风险结果必须结构化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内容依据：一篇内容需要四类整体处理结果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内容依据：风险等级必须映射到明确产品动作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内容依据：运营端不是只看结果，而是完成修改闭环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内容依据：六类情况触发人工复核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内容依据：人工复核工作台要减少重复劳动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内容依据：审核任务需要明确状态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内容依据：机器结果和人工结果必须同时保留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内容依据：内容修改和机器失败都不能偷走安全步骤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/Users/keivn/Project/AI-Course/课程生产/第一阶段/第10课_AI产品方案与PRD设计实战_重做工作区/03_第三节_审核结果处理动作与人工复核流程.md
- 内容依据：完整案例从V1走到V2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内容依据：04 MVP范围与能力优先级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内容依据：MVP验证的是最小审核闭环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内容依据：第一版要验证三个核心假设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内容依据：PoC、MVP与完整产品回答不同问题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内容依据：功能是否进入MVP，连续问四个问题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内容依据：第一版主动收窄试点范围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内容依据：MVP必须具备八类能力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内容依据：这些能力暂时不进入第一版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内容依据：能力优先级围绕闭环排序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/Users/keivn/Project/AI-Course/课程生产/第一阶段/第10课_AI产品方案与PRD设计实战_重做工作区/04_第四节_智能审核产品的MVP范围与能力优先级.md
- 内容依据：MVP采用小范围试点，而不是一次性全量上线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内容依据：05 大模型能力输入与输出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内容依据：一项AI能力要求至少包含八个部分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内容依据：不要让模型判断“是否合法”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内容依据：模型需要五类输入信息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内容依据：模型输入不是一句Prompt，而是一组受控上下文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内容依据：输出结构必须能够被系统稳定解析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内容依据：模型提供判断材料，系统决定业务动作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内容依据：修改建议和最终改写是两个任务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内容依据：不确定与失败结果也必须有产品定义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内容依据：AI能力边界必须写进PRD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/Users/keivn/Project/AI-Course/课程生产/第一阶段/第10课_AI产品方案与PRD设计实战_重做工作区/05_第五节_大模型语义审核的输入输出与能力要求.md
- 内容依据：AI能力卡：营销文案语义风险识别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内容依据：06 评测集来源与验收约定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内容依据：首版评测集来自五类真实与补充数据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内容依据：历史标签不能直接等于标准答案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内容依据：评测表每一行都要包含输入、标准和版本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内容依据：首版评测集的整理过程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内容依据：没有历史数据，也可以建立首版评测集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内容依据：开发、验收和回归样本要分开管理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/Users/keivn/Project/AI-Course/课程生产/第一阶段/第10课_AI产品方案与PRD设计实战_重做工作区/06_第六节_智能审核评测集的来源与验收约定.md
- 内容依据：PRD中的验收约定至少写清六项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内容依据：07 组装完整AI产品PRD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内容依据：AI产品PRD比普通PRD多写三类内容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内容依据：最终PRD由十三个章节组成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内容依据：PRD首页要在一页说清项目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内容依据：前六节内容按同一顺序组装进PRD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内容依据：数据、规则和知识依赖要单独说明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内容依据：风险与待确认项不是缺陷，而是决策清单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内容依据：课堂用两项交付检验是否真正掌握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内容依据：第10课的完整产品设计链路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
- /Users/keivn/Project/AI-Course/课程生产/第一阶段/第10课_AI产品方案与PRD设计实战_重做工作区/07_第七节_完整AI产品PRD的组装.md
- 内容依据：PRD完成以后，还要回答：这个项目值得投入吗？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a2ad39b6a41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c40bae5b44bf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_DARK"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4DD39EE-B98D-4231-BC46-723217BE50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726c18b63e4747" /><Relationship Type="http://schemas.openxmlformats.org/officeDocument/2006/relationships/slideLayout" Target="/ppt/slideLayouts/slideLayout1.xml" Id="R2c2667458ea34d5f" /><Relationship Type="http://schemas.openxmlformats.org/officeDocument/2006/relationships/slideLayout" Target="/ppt/slideLayouts/slideLayout2.xml" Id="Rabaf6d144b5d4f3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789917-3A70-4108-89C4-1EC2D72A05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667458ea34d5f"/>
    <p:sldLayoutId xmlns:r="http://schemas.openxmlformats.org/officeDocument/2006/relationships" id="2147483650" r:id="Rabaf6d144b5d4f3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5d5cff31ef4961" /><Relationship Type="http://schemas.openxmlformats.org/officeDocument/2006/relationships/notesSlide" Target="/ppt/notesSlides/notesSlide1.xml" Id="Re6a374f1e983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236e2aa6fa4e46" /><Relationship Type="http://schemas.openxmlformats.org/officeDocument/2006/relationships/notesSlide" Target="/ppt/notesSlides/notesSlide2.xml" Id="Rf40f03d5556c46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66e50f4f414ace" /><Relationship Type="http://schemas.openxmlformats.org/officeDocument/2006/relationships/notesSlide" Target="/ppt/notesSlides/notesSlide3.xml" Id="R5dd84a676ebf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32123eaf3846e2" /><Relationship Type="http://schemas.openxmlformats.org/officeDocument/2006/relationships/notesSlide" Target="/ppt/notesSlides/notesSlide4.xml" Id="R155a89ebc0f0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c813b6c1fe4c70" /><Relationship Type="http://schemas.openxmlformats.org/officeDocument/2006/relationships/notesSlide" Target="/ppt/notesSlides/notesSlide5.xml" Id="R50133c14338f44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d087bb02e34458" /><Relationship Type="http://schemas.openxmlformats.org/officeDocument/2006/relationships/notesSlide" Target="/ppt/notesSlides/notesSlide6.xml" Id="Rae442119df564f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19d84437e457d" /><Relationship Type="http://schemas.openxmlformats.org/officeDocument/2006/relationships/notesSlide" Target="/ppt/notesSlides/notesSlide7.xml" Id="R4f2875fb214c4a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e4bfe270145a7" /><Relationship Type="http://schemas.openxmlformats.org/officeDocument/2006/relationships/notesSlide" Target="/ppt/notesSlides/notesSlide8.xml" Id="R5675cc8fefde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41cfe0f034405" /><Relationship Type="http://schemas.openxmlformats.org/officeDocument/2006/relationships/notesSlide" Target="/ppt/notesSlides/notesSlide9.xml" Id="Rc550555392a041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c3c28e0c1454b" /><Relationship Type="http://schemas.openxmlformats.org/officeDocument/2006/relationships/notesSlide" Target="/ppt/notesSlides/notesSlide10.xml" Id="R8e5d87cfb55c46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e6eaa5694543ce" /><Relationship Type="http://schemas.openxmlformats.org/officeDocument/2006/relationships/notesSlide" Target="/ppt/notesSlides/notesSlide11.xml" Id="R33249859625b4c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27e4e56794ff3" /><Relationship Type="http://schemas.openxmlformats.org/officeDocument/2006/relationships/notesSlide" Target="/ppt/notesSlides/notesSlide12.xml" Id="Rf7af9ae8364448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a7874d9864989" /><Relationship Type="http://schemas.openxmlformats.org/officeDocument/2006/relationships/notesSlide" Target="/ppt/notesSlides/notesSlide13.xml" Id="Rf8f1d129e1dc41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bb79f2d3d4bda" /><Relationship Type="http://schemas.openxmlformats.org/officeDocument/2006/relationships/notesSlide" Target="/ppt/notesSlides/notesSlide14.xml" Id="R0df89a6c6b284d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f574edbdee4424" /><Relationship Type="http://schemas.openxmlformats.org/officeDocument/2006/relationships/notesSlide" Target="/ppt/notesSlides/notesSlide15.xml" Id="Re7a0ad18bce441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c5e1a3d194658" /><Relationship Type="http://schemas.openxmlformats.org/officeDocument/2006/relationships/notesSlide" Target="/ppt/notesSlides/notesSlide16.xml" Id="R612c6ee49ed940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ce7bf71044e9e" /><Relationship Type="http://schemas.openxmlformats.org/officeDocument/2006/relationships/notesSlide" Target="/ppt/notesSlides/notesSlide17.xml" Id="R9ba85bc0174f4d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a1083047b42cf" /><Relationship Type="http://schemas.openxmlformats.org/officeDocument/2006/relationships/notesSlide" Target="/ppt/notesSlides/notesSlide18.xml" Id="R9806e9b1561b41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1fb5552d345a9" /><Relationship Type="http://schemas.openxmlformats.org/officeDocument/2006/relationships/notesSlide" Target="/ppt/notesSlides/notesSlide19.xml" Id="Rfb335104371e43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cd5dea84144f8" /><Relationship Type="http://schemas.openxmlformats.org/officeDocument/2006/relationships/notesSlide" Target="/ppt/notesSlides/notesSlide20.xml" Id="R2d1c440d0b8a43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7826d272924963" /><Relationship Type="http://schemas.openxmlformats.org/officeDocument/2006/relationships/notesSlide" Target="/ppt/notesSlides/notesSlide21.xml" Id="Re4240b0771a049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df40122147461a" /><Relationship Type="http://schemas.openxmlformats.org/officeDocument/2006/relationships/notesSlide" Target="/ppt/notesSlides/notesSlide22.xml" Id="R93f5259e8ca545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727570be34998" /><Relationship Type="http://schemas.openxmlformats.org/officeDocument/2006/relationships/notesSlide" Target="/ppt/notesSlides/notesSlide23.xml" Id="Reb8781b35bb9492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1c3f9f30f4cf0" /><Relationship Type="http://schemas.openxmlformats.org/officeDocument/2006/relationships/notesSlide" Target="/ppt/notesSlides/notesSlide24.xml" Id="R32e3b91521b243e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fdad17a4c4123" /><Relationship Type="http://schemas.openxmlformats.org/officeDocument/2006/relationships/notesSlide" Target="/ppt/notesSlides/notesSlide25.xml" Id="R21b6ce6582134f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9161c3f15497c" /><Relationship Type="http://schemas.openxmlformats.org/officeDocument/2006/relationships/notesSlide" Target="/ppt/notesSlides/notesSlide26.xml" Id="R5f24429bbbf145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c9f1f69354ea3" /><Relationship Type="http://schemas.openxmlformats.org/officeDocument/2006/relationships/notesSlide" Target="/ppt/notesSlides/notesSlide27.xml" Id="Rb162c2020c6d48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a00d4b54b40f2" /><Relationship Type="http://schemas.openxmlformats.org/officeDocument/2006/relationships/notesSlide" Target="/ppt/notesSlides/notesSlide28.xml" Id="R7c72c8878d5b46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710e388434187" /><Relationship Type="http://schemas.openxmlformats.org/officeDocument/2006/relationships/notesSlide" Target="/ppt/notesSlides/notesSlide29.xml" Id="R3df16011ee0c40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13877a0ff4da8" /><Relationship Type="http://schemas.openxmlformats.org/officeDocument/2006/relationships/notesSlide" Target="/ppt/notesSlides/notesSlide30.xml" Id="R5af45e7638a549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25e2bf81374328" /><Relationship Type="http://schemas.openxmlformats.org/officeDocument/2006/relationships/notesSlide" Target="/ppt/notesSlides/notesSlide31.xml" Id="R2711e2288a964f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e9f5556564baf" /><Relationship Type="http://schemas.openxmlformats.org/officeDocument/2006/relationships/notesSlide" Target="/ppt/notesSlides/notesSlide32.xml" Id="Rc6a5d9e9fed4486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6300177f1433c" /><Relationship Type="http://schemas.openxmlformats.org/officeDocument/2006/relationships/notesSlide" Target="/ppt/notesSlides/notesSlide33.xml" Id="R26f1aa33fee24c4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d1dce6d86424a" /><Relationship Type="http://schemas.openxmlformats.org/officeDocument/2006/relationships/notesSlide" Target="/ppt/notesSlides/notesSlide34.xml" Id="R0e65a50ef2d341e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2b086d11a1436c" /><Relationship Type="http://schemas.openxmlformats.org/officeDocument/2006/relationships/notesSlide" Target="/ppt/notesSlides/notesSlide35.xml" Id="R33f2fce1ff5840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6185292fa4f3f" /><Relationship Type="http://schemas.openxmlformats.org/officeDocument/2006/relationships/notesSlide" Target="/ppt/notesSlides/notesSlide36.xml" Id="R2605ebf542984e1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1aef63ae19466b" /><Relationship Type="http://schemas.openxmlformats.org/officeDocument/2006/relationships/notesSlide" Target="/ppt/notesSlides/notesSlide37.xml" Id="R2b72ac463e8246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fff3daa3674eb1" /><Relationship Type="http://schemas.openxmlformats.org/officeDocument/2006/relationships/notesSlide" Target="/ppt/notesSlides/notesSlide38.xml" Id="R3f5a8cce46d8464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01945766dd4867" /><Relationship Type="http://schemas.openxmlformats.org/officeDocument/2006/relationships/notesSlide" Target="/ppt/notesSlides/notesSlide39.xml" Id="Rad39eb0b912e40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bc0b102e94403a" /><Relationship Type="http://schemas.openxmlformats.org/officeDocument/2006/relationships/notesSlide" Target="/ppt/notesSlides/notesSlide40.xml" Id="Ref3d2be9b3854f1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ca744c5314f99" /><Relationship Type="http://schemas.openxmlformats.org/officeDocument/2006/relationships/notesSlide" Target="/ppt/notesSlides/notesSlide41.xml" Id="R64fc33bcb8e74cc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2f470322649a5" /><Relationship Type="http://schemas.openxmlformats.org/officeDocument/2006/relationships/notesSlide" Target="/ppt/notesSlides/notesSlide42.xml" Id="R4947e619474f4b0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3dee46298485f" /><Relationship Type="http://schemas.openxmlformats.org/officeDocument/2006/relationships/notesSlide" Target="/ppt/notesSlides/notesSlide43.xml" Id="R96c3f1c5232a447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9c9afe787b48f7" /><Relationship Type="http://schemas.openxmlformats.org/officeDocument/2006/relationships/notesSlide" Target="/ppt/notesSlides/notesSlide44.xml" Id="R365e2343032a4a7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31ce0685a4dae" /><Relationship Type="http://schemas.openxmlformats.org/officeDocument/2006/relationships/notesSlide" Target="/ppt/notesSlides/notesSlide45.xml" Id="R3d408bc23dfc425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b85f669bb64179" /><Relationship Type="http://schemas.openxmlformats.org/officeDocument/2006/relationships/notesSlide" Target="/ppt/notesSlides/notesSlide46.xml" Id="Re688b025e20e471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e63f5b3a7942cb" /><Relationship Type="http://schemas.openxmlformats.org/officeDocument/2006/relationships/notesSlide" Target="/ppt/notesSlides/notesSlide47.xml" Id="Rfe3d55bc3cf24d1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4a232799f4df6" /><Relationship Type="http://schemas.openxmlformats.org/officeDocument/2006/relationships/notesSlide" Target="/ppt/notesSlides/notesSlide48.xml" Id="R7bdde15ba6584e5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060da1ae8443fa" /><Relationship Type="http://schemas.openxmlformats.org/officeDocument/2006/relationships/notesSlide" Target="/ppt/notesSlides/notesSlide49.xml" Id="R8a5b5f9837c149e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9455bafeb04e0f" /><Relationship Type="http://schemas.openxmlformats.org/officeDocument/2006/relationships/notesSlide" Target="/ppt/notesSlides/notesSlide50.xml" Id="Rcb3803d363c0468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3450f86744a50" /><Relationship Type="http://schemas.openxmlformats.org/officeDocument/2006/relationships/notesSlide" Target="/ppt/notesSlides/notesSlide51.xml" Id="Rb98d1efafc0c4a6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59872bb5d43da" /><Relationship Type="http://schemas.openxmlformats.org/officeDocument/2006/relationships/notesSlide" Target="/ppt/notesSlides/notesSlide52.xml" Id="R4b073cff7f2e467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d3d68988f4a75" /><Relationship Type="http://schemas.openxmlformats.org/officeDocument/2006/relationships/notesSlide" Target="/ppt/notesSlides/notesSlide53.xml" Id="R59b50f3f8dbf4b0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0796e64c44a48" /><Relationship Type="http://schemas.openxmlformats.org/officeDocument/2006/relationships/notesSlide" Target="/ppt/notesSlides/notesSlide54.xml" Id="R79c777d5027340d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3ff04f9b8246bd" /><Relationship Type="http://schemas.openxmlformats.org/officeDocument/2006/relationships/notesSlide" Target="/ppt/notesSlides/notesSlide55.xml" Id="R9cbbd1b4e2624aa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27d3765fa4d7d" /><Relationship Type="http://schemas.openxmlformats.org/officeDocument/2006/relationships/notesSlide" Target="/ppt/notesSlides/notesSlide56.xml" Id="R3ee5ee38108842b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4fccf1de424868" /><Relationship Type="http://schemas.openxmlformats.org/officeDocument/2006/relationships/notesSlide" Target="/ppt/notesSlides/notesSlide57.xml" Id="R5c3adfbb2d494bc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9c355fdd3450d" /><Relationship Type="http://schemas.openxmlformats.org/officeDocument/2006/relationships/notesSlide" Target="/ppt/notesSlides/notesSlide58.xml" Id="Rb0a1af0f4a4e4ba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8e4236a5db4841" /><Relationship Type="http://schemas.openxmlformats.org/officeDocument/2006/relationships/notesSlide" Target="/ppt/notesSlides/notesSlide59.xml" Id="R1430eb0fbc6a480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f3252101a4684" /><Relationship Type="http://schemas.openxmlformats.org/officeDocument/2006/relationships/notesSlide" Target="/ppt/notesSlides/notesSlide60.xml" Id="Rd60b8588e12d4b0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bc3631ac584806" /><Relationship Type="http://schemas.openxmlformats.org/officeDocument/2006/relationships/notesSlide" Target="/ppt/notesSlides/notesSlide61.xml" Id="Rf03234c49762451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7cf0802fb64a9f" /><Relationship Type="http://schemas.openxmlformats.org/officeDocument/2006/relationships/notesSlide" Target="/ppt/notesSlides/notesSlide62.xml" Id="Rb2af8ad7bcbd43a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c01e9bd964515" /><Relationship Type="http://schemas.openxmlformats.org/officeDocument/2006/relationships/notesSlide" Target="/ppt/notesSlides/notesSlide63.xml" Id="R904f12e2f8f8468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d31bc26ab46c9" /><Relationship Type="http://schemas.openxmlformats.org/officeDocument/2006/relationships/notesSlide" Target="/ppt/notesSlides/notesSlide64.xml" Id="R930a0d2367a644b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eb2843cbe4534" /><Relationship Type="http://schemas.openxmlformats.org/officeDocument/2006/relationships/notesSlide" Target="/ppt/notesSlides/notesSlide65.xml" Id="R343378f3c9bd49d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8173736d4445a6" /><Relationship Type="http://schemas.openxmlformats.org/officeDocument/2006/relationships/notesSlide" Target="/ppt/notesSlides/notesSlide66.xml" Id="R21bd00bd008d481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2f375d93f34d9b" /><Relationship Type="http://schemas.openxmlformats.org/officeDocument/2006/relationships/notesSlide" Target="/ppt/notesSlides/notesSlide67.xml" Id="Rf63a07928b744c9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7abc5a6544a60" /><Relationship Type="http://schemas.openxmlformats.org/officeDocument/2006/relationships/notesSlide" Target="/ppt/notesSlides/notesSlide68.xml" Id="Rdbf3a9f569af4fa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70f5506e1e469b" /><Relationship Type="http://schemas.openxmlformats.org/officeDocument/2006/relationships/notesSlide" Target="/ppt/notesSlides/notesSlide69.xml" Id="Rd6ea8603eee7412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831a529d94f73" /><Relationship Type="http://schemas.openxmlformats.org/officeDocument/2006/relationships/notesSlide" Target="/ppt/notesSlides/notesSlide70.xml" Id="Rfa8f9125395543a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c5c1a0d9f406e" /><Relationship Type="http://schemas.openxmlformats.org/officeDocument/2006/relationships/notesSlide" Target="/ppt/notesSlides/notesSlide71.xml" Id="R26e105043a9047a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779b79c54442f" /><Relationship Type="http://schemas.openxmlformats.org/officeDocument/2006/relationships/notesSlide" Target="/ppt/notesSlides/notesSlide72.xml" Id="R3951582ee9574443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8b3b057e84b6a" /><Relationship Type="http://schemas.openxmlformats.org/officeDocument/2006/relationships/notesSlide" Target="/ppt/notesSlides/notesSlide73.xml" Id="R7ba052476e524c37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8d9b177d54471a" /><Relationship Type="http://schemas.openxmlformats.org/officeDocument/2006/relationships/notesSlide" Target="/ppt/notesSlides/notesSlide74.xml" Id="R619d9d90777744a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539ac09b4c4c29" /><Relationship Type="http://schemas.openxmlformats.org/officeDocument/2006/relationships/notesSlide" Target="/ppt/notesSlides/notesSlide75.xml" Id="R779df9bab0154cb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0b269d1594264" /><Relationship Type="http://schemas.openxmlformats.org/officeDocument/2006/relationships/notesSlide" Target="/ppt/notesSlides/notesSlide76.xml" Id="R02c3c7e8afb7480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b59584f014ea8" /><Relationship Type="http://schemas.openxmlformats.org/officeDocument/2006/relationships/notesSlide" Target="/ppt/notesSlides/notesSlide77.xml" Id="Rb8a817de5da640a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89cf34f831451f" /><Relationship Type="http://schemas.openxmlformats.org/officeDocument/2006/relationships/notesSlide" Target="/ppt/notesSlides/notesSlide78.xml" Id="R58c4b18f36ba46f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bf3d5e18e74dd9" /><Relationship Type="http://schemas.openxmlformats.org/officeDocument/2006/relationships/notesSlide" Target="/ppt/notesSlides/notesSlide79.xml" Id="Rc2f88fd6a8854c0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fb460c7234b78" /><Relationship Type="http://schemas.openxmlformats.org/officeDocument/2006/relationships/notesSlide" Target="/ppt/notesSlides/notesSlide80.xml" Id="R0b2d91d53b4d4635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a53ea7543445c" /><Relationship Type="http://schemas.openxmlformats.org/officeDocument/2006/relationships/notesSlide" Target="/ppt/notesSlides/notesSlide81.xml" Id="R4f93d727dca64d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BF1D2D5-5249-4426-A16B-9483A24B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14275C-4114-4986-948E-81FDAED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MANAGER</a:t>
            </a:r>
            <a:endParaRPr sz="1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03A4CBB-83C8-43C7-94FC-9C6E4FBA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AI产品方案与PRD设计实战</a:t>
            </a:r>
            <a:endParaRPr sz="4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04332F4-6533-4649-AF48-3393042E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第10课｜核心结构版</a:t>
            </a:r>
            <a:endParaRPr sz="186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6E76ED1-DBEF-4573-A64A-E2A1A7A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C0DF12D-8F1A-4234-A1C3-040A92A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40" b="1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BUSINESS · SOLUTION · MVP · CAPABILITY · EVALUATION · PRD</a:t>
            </a:r>
            <a:endParaRPr sz="114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0C65E5-376F-4918-9734-B65DDFF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529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5640" b="1">
                <a:solidFill>
                  <a:srgbClr val="294550"/>
                </a:solidFill>
                <a:latin typeface="PingFang SC"/>
                <a:ea typeface="PingFang SC"/>
                <a:cs typeface="PingFang SC"/>
              </a:rPr>
              <a:t>10</a:t>
            </a:r>
            <a:endParaRPr sz="56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9D7E0C-5FD6-431F-B3DB-20049F32819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1436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EA2DCB7-92F2-4299-B1D2-43AB110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OVERVIEW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E90A9D6-C15B-4583-B0BD-E3B5F77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576655D-CACE-4781-9D6B-461802D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68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ADA1E0-0575-4D7A-8148-965E4420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第9课会评测，第10课把评测要求前置到产品方案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0C694F9-9D45-4361-92A9-BD016C3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63D7F6-D682-4D8C-9F50-C31FF67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15BA0B-D269-4DE1-A324-DE56CA35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不是先选模型，而是先把业务任务拆清楚。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31DA4E-05D6-42BB-B5DA-51D604C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978E10-F082-4DFE-A8D9-A269C91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不是只写页面，而是定义能力、流程和责任边界。</a:t>
            </a:r>
            <a:endParaRPr sz="16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DE9BF8-6809-410B-9D0C-FF93195A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53411E9-5AA3-4CA9-91C3-E0DE645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不是等上线再测，而是在PRD里约定评测与接管机制。</a:t>
            </a:r>
            <a:endParaRPr sz="16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2D8B17C-E73C-4D7C-B7E9-0719E7EC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6D3B229-9EDF-4C67-86D0-E5C8D48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2349588-DB39-42F7-96D4-0E10F89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怎样在开发之前，就把业务问题、AI能力、异常处理和验收要求写清楚？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D9B6F0-91DC-4D65-B0C9-41C2D232EE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7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1EF208E-4024-482A-AA40-EC19550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OVERVIEW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530BC32-48D1-4E27-AD59-352E7F6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BDEC7E4-B483-4057-84AC-4323673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02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69D1662-53F8-49D4-856B-7CBA1D8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第10课的产品设计主线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70240C-9288-4463-A212-235DC04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DD57C4A-3B06-444C-BB06-4BD6C61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95B9941-4761-4392-A870-8F9EEE35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3F0E948-336F-4DC0-8C03-975DE8F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103E6C9-4EC9-4E76-B388-4912CDC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CD0F39A-10D0-423D-9C00-4C3A2D0B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5DEBEEB-DE32-43C7-B9CA-7F69F46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558F434-DBA7-4BA7-8752-08E809C5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194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6E6DC4F-E3D7-48C0-8D60-1FE17D6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73769B6-A99A-4DF0-A8B3-148A2FA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D29D271-5962-4C22-92ED-1740C78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</a:t>
            </a:r>
            <a:endParaRPr sz="1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AF348E6-3288-4134-968B-007FE44E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2984D5C-AB4C-425E-A617-8210605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1EDA256-6B90-4321-819D-54046C30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0D05B8E-A8D4-4577-AE93-DC392C9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FA6B714-3584-49C6-BD6B-B29ABA06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FAA6640-7D12-4F3F-810E-60A6146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DF96EDA-D0C9-4F31-81B6-4DB10B5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3794CFB-2553-40ED-B4BA-A38120F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C6BF3A6-2382-4A3D-ACD3-DD5B19E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结果流程</a:t>
            </a:r>
            <a:endParaRPr sz="12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8547684-E974-4EA4-810B-008705EE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85DEC8D-0E6C-4412-9258-C5B6A25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A7930AB-242F-4489-BC8D-4C14D4B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</a:t>
            </a:r>
            <a:endParaRPr sz="12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DBC7C0B-8F1A-418D-8AB7-312214B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6DC27C7-BAC2-4D9C-8CE6-827DD05D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14A5DE7-794C-4F4C-8E0B-128D6A3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能力契约</a:t>
            </a:r>
            <a:endParaRPr sz="12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7C6D8D3-7985-4A66-9BA9-AAE31731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9AA4108-304B-43EE-941A-30CE736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56ADE2FA-CB92-4A9B-B019-F90602B8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评测验收</a:t>
            </a:r>
            <a:endParaRPr sz="12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CF56AC1-AF13-4E5F-92CE-23253D1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7813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2D5F39B-13BF-488C-9C8C-1F6F25D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76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02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BD7EB5C-C100-46E4-8C6C-7838B9ED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242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组装PRD</a:t>
            </a:r>
            <a:endParaRPr sz="1200"/>
          </a:p>
        </p:txBody>
      </p:sp>
      <p:sp>
        <p:nvSpPr>
          <p:cNvPr id="3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9609DFC-AC4E-4D8D-9756-AA57B11D7FC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8464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3CEF1DA-7C85-45DB-8F46-E86639C5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OVERVIEW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E995FAD-3DFB-4BC9-BCE7-C2338CB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FB53696-2CA5-4CD3-9D19-2C86094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36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8A89B7-BEA6-4D58-BCB9-5CD36A4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学习目标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7F53AC-1CD4-4576-84A9-44C20C2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E25F55A-E46C-43B8-84C3-152D7D8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3C7C715-B47A-40CA-8D45-5A1AB7C4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会判断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9882F49-E81A-4D03-BF60-EA534D6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比较人工、规则、大模型和混合方案，判断AI是否值得介入。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D832B01-81CF-481F-AD5E-CFFFDB09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4F58874-BD55-420E-AD20-A340F943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会设计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FBFF450-E897-485D-92A0-CFA50827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把机器判断接入修改、复核、版本和异常处理流程。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DEF977B-243D-4EDA-971F-3BE53EBE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42C6BD5-FA17-48BC-B534-3748A5C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会落地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8B18136-B9BC-4157-9A01-78EE030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把MVP、能力输入输出和验收约定组装成可开发的PRD。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D76143-6F03-4E67-8882-55D668F82BF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553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02006B4-685D-482B-A617-A1701FCD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AFA1323-D05F-4F3F-A6DD-904F347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B2035F-F97E-4D51-AF49-D8C9A68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70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3A1D42C-88A7-4560-9114-6B59F64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01 业务背景与产品目标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522FA37-E986-4266-956A-6E6B0B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6FFD42-9F15-42CF-B346-30B6DD7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先把真实业务问题说清楚，再讨论AI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DD0DDFB-646C-49CE-9C1B-602841C0659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013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21669B0-6A1B-4413-982E-5B5EFD5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62A1A46-68D3-4D71-BB90-4BFBBDE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D4FF91-A173-45F1-8D0A-824D6B62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04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703826-478D-4617-8C8D-D2BB332F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项目从内容生产提速开始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2B7A1DB-1BF3-4BCC-93C5-8B545A8F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52385A8-96A4-4493-9251-F0841C6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361E129-2958-4786-83CB-BCEE830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BCB00B8-6F92-456F-937A-E806D74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FA8A576-855B-4C32-8FF3-B5D79B9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170757-7473-4D82-ACFE-8301993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AI辅助生产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F24E0F4-1F55-4B9F-BB31-F3F5C9B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A62D67F-FA11-4154-AA2E-118F5AA6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6B6958A-5CDC-4F28-9013-A6DDA806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每日内容激增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001FFC4-CF44-4502-9B7E-3133293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42E21C1-2099-4BFE-8ACB-2BCE1F1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DF49CE6-4534-447A-8E91-E479E4E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人工审核积压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D67C470-2284-4682-ABD6-1BCEB05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C17E43-882F-483B-A91C-7C902E8B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FD9285-88FF-4550-8DBC-1DE2EA42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8F298DA-5268-4567-A74A-FB7A60A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16EC1DF-3C2C-49C6-8779-19117B4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AD2893D-D2E1-49D1-B22F-BB1220A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6EB3A30-26A7-4661-BD28-78BA4CBC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CB8302B-A458-47BF-8E0D-96F004E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D0CE30C-0AAA-4A38-9873-ADDB2FA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再次审核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103FD99-DAF0-41F5-A00C-FBED562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70A6ACB-30A9-461A-B739-AF31CCB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87BA263-7BF0-4FB4-B770-BED8D32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通过后发布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DFC0DF-5A11-420A-8F1C-A711753396E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95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79BABA8-FDBA-4CB6-B0F0-2B41D2B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578B221-D87B-4D44-ACFA-070FDB4F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CCA0D23-77E2-4677-9022-87FB7F4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38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EE3D54-6F37-4BCC-BEFB-1C815403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人工审核流程出现五类问题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5CAC14A-AB17-4AC4-895A-A4E8B989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3E1E196-A546-4058-94AE-24F4C67C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B27A6BB-122D-458F-8869-FD407AE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数量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D8B46E5-1992-416A-A1F2-5152E679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内容从几十条增长到几百条，审核工作量线性上升。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373F091-7060-4738-98FF-151957F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1D68C00-A139-4B00-B5B2-2F827C7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一致性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14C7E2-7BAD-4225-B31D-1466693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同一句话，不同审核人员可能给出不同判断。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C8A86E5-73DB-4822-A060-F32C1813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EF6FB7C-1C01-48F6-BE05-77F2B97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规则变化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EFCBC99-F811-4609-ABD3-92D6EED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行业、渠道、版本和活动阶段持续变化。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8033828-5E0C-4916-9F5B-B9F606E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27D0DB5-8563-4507-BC0A-C1B8BC30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数据沉淀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1E33643-506E-43E1-8851-61EE046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聊天式反馈无法形成风险类型、依据和修改记录。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240F7F-528C-42FA-AB30-7A544436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0185327-573C-4B26-9635-8A166CAA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责任边界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2B56602-73D6-48D7-8DE6-80CCB1FE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高风险内容不能完全交给机器独立放行。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98ADC0-9B84-41DF-99C8-09AB5B6DD31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956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B62CDD2-1F9D-42CF-9800-27370F6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2C34D57-EE6F-42C0-8B09-2AA7A552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1FB3A97-51A8-4994-822A-BABB472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72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A58536-3542-46B6-B1D2-0037F734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生产效率提升，审核成为新瓶颈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C27B490-82CC-4DE4-B971-EA6427F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94960F-64BF-46F7-BACF-C789C8C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C953D63-62A7-4BAE-A66A-F0B9C21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C0CBD40-411B-4B96-B04F-0712B10A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50条 × 5分钟 = 250分钟   →   300条 × 5分钟 = 1500分钟</a:t>
            </a:r>
            <a:endParaRPr sz="1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1019A9F-7FDC-42B3-8441-D5DC839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8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936F289-BEB9-4287-914A-DEB583A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38525"/>
            <a:ext cx="855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AI提高了内容生产效率，却没有同步提高审核效率。</a:t>
            </a:r>
            <a:endParaRPr sz="168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3BAD3D-E3DC-41C7-B94F-B6C35235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8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8820D07-99EA-468B-9CF7-638E254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29075"/>
            <a:ext cx="855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8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真正的问题不是“模型能不能审”，而是审核链路能不能扩展。</a:t>
            </a:r>
            <a:endParaRPr sz="16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18FE54-DEA3-46C5-9959-C30704D78EC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010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BA67E43-A58D-4447-8B3D-A8B3D4F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C733BD2-6B98-42F8-827D-569B2C2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90C170F-450D-40AA-B178-F03814D2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2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A1EE2E7-0F5C-470B-A9A4-3EF067B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审核不一致与规则变化同时存在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BF4652-5F2D-4C93-8134-32A43E6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45597B3-391D-4A5D-A356-194DC9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91B79A9-5A71-4FE5-9CF3-55B8E61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同一句话，多种判断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412B7BF-6E00-4AC4-B310-0680F096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B6CAE52-70F2-4025-8552-9ED13C8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“可能是”是否降低绝对化程度？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7F82937-86AC-4A85-ACD0-D4E2B1A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54A5D7-AE50-47CC-8FF9-418AC9A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“最适合”是否仍属于高风险？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56164C9-9029-4F31-8705-138B4E5F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6A5E938-29D2-4978-8AA4-45C063D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是否需要结合渠道和人群判断？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22ACEB2-C246-43BF-B504-A84AB01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635F332-69F0-49C6-A07C-3734F59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同一规则，多种上下文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3883B9C-1FA1-4373-A2FC-6F7F066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C61B6D2-E015-4E2D-BC69-A6EE03D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渠道不同，适用标准不同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19CC979-4562-4178-8DB7-439F372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917892-CEC0-4C04-9465-2C68C0B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行业不同，风险底线不同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24412D9-DDBF-4824-83CB-347867BA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2D27918-D5F1-4A5D-A3AA-682F480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规则更新，需要保留历史版本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21DDEF-51C8-4EB5-9633-D78904D1CF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2331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02C8BAD-235E-4187-AFC7-57E50FD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2A187F3-7EB0-4096-9CA7-3165973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8AAE29F-E1D4-4FD8-8BD8-6870D750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340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82D107-E9D3-4C81-8A73-94BD7040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系统既要沉淀数据，也要保留人工责任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40EECD5-CF55-4710-9E15-005A098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96B4A91-054A-4A2F-87E1-0ACC671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2D9627E-6B4E-4FE6-B606-B884A2C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结构化沉淀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E13775A-AB25-4CCB-BDDA-8F8DBA33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A3C434-8BE9-447E-9120-1A0C331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风险类型与原文位置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A759EBA-DF26-4C5B-897B-D731BDF2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DC8A147-C7D5-4252-9C46-70BDED5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命中规则和判断依据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ECEC70D-66FF-4925-952E-1B6FC26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0FAF115-FD6D-4886-AAC0-4D70935C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最终修改与人工意见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6A59015-A446-4617-A302-D55B2EAB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419493C-AED6-4B6B-A9FD-0D1A2EB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安全接管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E2A039A-8DF3-429D-983A-91D029A6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8269D3-BA8F-4522-A8B4-FC7EB47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模型可能漏判或误拦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0A95EE-F493-4615-8402-4629226B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DE447A5-A8B5-4955-8567-39819A51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新规则可能尚未进入知识库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88461DC-9098-45B4-BCEE-44A984EA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59927C-CA82-461B-9BFC-5DFDAB8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高风险结果需要责任人决定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CBC8C7E-48BE-4515-87D3-85B4FE7FAFD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1326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3FBA8D3-74B9-4938-9611-E2F2CC3E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09AD9DB-4BBF-4439-963D-7183D48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36C31CC-7970-4A81-898E-8C1C5B1E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474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3D723B5-9C74-45BE-8BE4-E497A37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先补业务基线，再验证产品假设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09A346A-9264-455A-A1CF-8B0F3C6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41144F8-168E-4F09-AE9E-2C95E07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7B67430-3C62-4470-AEDB-E06FDF0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当前基线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C9C5BA7-15FA-4CD6-9F8D-0331C26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每日审核量、平均耗时、驳回率、积压量、风险分布和人工一致性。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401DC81-6E2E-4AE1-8400-C64AEF8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49B4085-4497-4CDF-A92C-7871A89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产品假设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31AF7C3-5DA2-4274-B98D-12D9E92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规则＋AI＋人工预审能减少重复工作，同时不突破高风险安全底线。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67268E-97A3-4D1F-9E56-D765D638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D57088C-300C-4169-8ECD-FC33F05D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验证方式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01521E6-56B8-4AD6-9BC4-07348B4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历史样本PoC、小范围试点、真实人工耗时与复核量对比。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991BDD6-7918-4563-920F-8D94687534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4967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921F00A-A081-4EB7-91E8-E1A5FAC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61A907B-4974-4164-A98B-DC7CAE3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B1841EE-2B45-4F8C-9576-5E97544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608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DD0CD5A-9B2F-47FF-9EF4-DE642F6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不要把业务需求直接写成产品需求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C19371D-ED14-4204-B5DA-E0FA0432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B3AD986-3BA7-4AC6-8B34-EBF26CE9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A26D6E2-B1C4-42F7-ACE7-CBCFCEA4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524503D-B7B4-4014-9C6F-B85214B1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DCCD63-762D-4380-8262-2B64BA0E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88D893-6FB9-4BEF-8B36-1511ED8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8C5EEFD-7E20-4C11-B6C0-4B8A99D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表面需求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做AI审核工具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62AE093-16B2-4BF4-A65B-0DDC8044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9D65DAE-771C-44D2-91D8-34651D8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F8253F4-DD9E-4E10-A158-ED4DF92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审核积压与不一致</a:t>
            </a:r>
            <a:endParaRPr sz="144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CFCC6DE-6150-4C9E-964B-A14CAF2C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214177A-508D-4F02-8D20-01E4863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BA8783D-BEEE-4820-B2FA-A5F7AF2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用户问题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看不清哪里错、怎么改</a:t>
            </a:r>
            <a:endParaRPr sz="144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CC03EDE-42FD-4DB3-8FCE-BC01DD5D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651D0C6-8ACB-4659-BD5F-2EA568A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B77554F-437C-4CAC-9601-63BD364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产品机会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增加机器预审闭环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D3BA718-1547-4753-AF13-2A434C20201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82755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600483-5B5C-4F48-AF37-7CADBDA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308D528-A260-4C7E-B175-5447594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EA5B53E-E7D3-47B3-8E2B-945309E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742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07A0D74-1F95-4D2F-8983-1CABB2C4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项目中有四类核心用户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DCD9AC1-DDF3-455A-9264-F8950D8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AD93AD1-8196-43E3-9DAD-D3D65DA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1B82FC-0DCE-411F-9166-5616B30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内容运营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9B5655-C286-4C0B-94ED-F59B5DF5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想知道哪里有问题、为什么有问题、应该怎么改。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92EDB86-4C12-4ADA-BBA0-097970D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29339D6-7C43-4FCC-96EA-BB05480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人工审核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5456B98-EA9C-4B04-BF5A-A49FEA3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想直接看到机器发现了什么、依据是什么、为何转人工。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274A971-7966-4412-9EBA-9CD3488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9E4F8C-F35F-4C28-B651-0D33017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规则运营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60D8B0-EEAF-4019-B5C8-AE94339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关心规则版本、更新影响和历史内容追溯。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85FFC2-EC57-4117-9257-9AC4E66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2689C6D-829A-41EA-8820-3FB8F5E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业务负责人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E97725-E9B5-49F4-9F5D-66B35F12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关心效率是否提升，以及业务风险是否可控。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BD4622A-6E64-42F1-AB9B-B08F50C7C2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411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D8AE7-1513-451E-B9BC-2D669ADA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6C7039B-3C89-4B2C-BD62-E66B94E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57D6F7-1ED1-43EE-ACC0-FB908CD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876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2CC335-FFF4-4D52-B55D-DA6921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产品目标要能被业务和评测共同验证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18FECE2-1BE8-4967-9921-4265DE52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AE41DB6-84C5-42EF-B7D9-DA8406B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A665B5-0EF8-4F90-95B6-CB029ED7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目标方向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52BC957-46D5-4710-B946-8EF658E8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BC1184-C8C5-4B2E-8FBF-048AB58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产品目标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358434B-7D1D-4D0D-8A96-41DB866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093EBE8-D8D7-42DB-A7F7-5E512DD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后续验证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7F5F2F6-5348-4A5C-A6A0-2F87F54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CB76882-7D98-4644-9442-62599AEA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效率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6B81932-4648-4FE0-AEB5-DE7F6D9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C1D7662-84AF-4199-855A-20713449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减少人工从头检查每条内容的重复工作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967DAC9-12B4-4FAA-81F3-20B8678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848637C-A0FE-464A-BAEE-A01407D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单条审核耗时、积压量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E1DF98E-8D72-4EFF-AF12-41B415D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9697F4E-0AA9-4CA3-85A8-E05C816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质量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381EF0E-5673-4BC8-A9F7-DF40AC4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CF971A4-F56B-4B7B-B157-DD5504B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提前发现高频、明确和语义型风险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7AB6F9-51AA-41FB-845C-DE331D4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0C1DDE6-35DF-4EA1-8A9D-492D33E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漏判、误判、风险覆盖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287676F-F4AA-48B3-AFB8-B4D66D7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81B5B26-3DD0-4262-8164-801FA9A5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一致性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797A936-BDF3-40DD-8FA7-DD4E417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D46405E-4F99-4AFB-BD08-F7600E7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把规则、依据和输出结构标准化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895F8C7-21BA-4ECB-B06B-442BEF7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ABC4B13-0C2B-4101-98BE-3F5A1AF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人工一致性、解析成功率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F58E3FB-C06A-48D6-97C7-3150155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66E2CD9-71A2-4FFD-947F-AC95E7F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安全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895E59D-5D24-4BE4-9B89-D868006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B112DB6-83D8-41DE-870A-69DF3B5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不确定与高风险内容能够转人工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15EE29B-FAA1-429F-86E1-8B6969F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F05D036-B433-4718-A558-8392BDE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人工接管率、失败放行数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82E109-EBD9-4E6E-802F-DA245ED835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28417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45D3D05-2F83-4FAE-AAA1-E9747FA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ACA70BB-B216-4EBB-8E28-D3E268FD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0B84E0C-99F0-46FD-AE31-8BDE75B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010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61008D-BDAD-4DCC-95A1-27716BEA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第一版同时写清目标与非目标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34805E-4521-4FF8-B41A-22165D8E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03A27C4-7367-4751-8495-BE84147F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14EAC91-279C-4768-9304-E158E0A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第一版要做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42ABA3-C003-4F57-99D4-CE05F3F6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93BF2BF-7A13-482F-BC37-2CA6B4B3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文本营销内容机器预审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CCAEEE-C914-47CB-A9B1-12E3858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AEDD21-6A14-4BE8-91A9-CB017A9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风险定位、依据与修改建议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58EF12D-A981-4410-A2C7-D0E58613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BC68830-6B50-4BE8-8527-10F730F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高风险和不确定结果转人工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21A56A2-646D-4629-B5FF-2AD7AF9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D4075B8-116E-45B6-8181-D2E8947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第一版不做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865E73-B39C-4570-8843-DDBCB1C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2D31E96-75E7-4C22-8AC0-74BC3B4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不覆盖所有行业与多模态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BA23CB-186E-4361-9035-518DA47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40EE724-D291-4C62-A12F-AE619C70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不自动修改并直接发布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DA88CAB-48F0-4BCD-9D6A-FE295081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A43A7C9-AC90-4C4B-95D1-5626DCC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不替代法务承担最终责任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94E0E5-428D-4EA9-837C-ED2F9790537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7922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EFE07F5-F997-4341-BD04-B4AC6D43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BUSINESS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B3A7819-2637-4882-A576-F7571EF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57EA8CC-2656-46F6-A1FB-C03597D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144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D770F5-F161-4B89-A649-416D383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第一版项目定义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B3B19FB-09C3-423A-818F-99ADF36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0757373-2F9A-49C1-BCD8-50FCCFC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7F86189-3573-4D73-B1ED-B159371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产品对象：营销文本内容。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93F29A9-629C-4BE2-810D-0A38CCC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03B93B-4A38-427B-AC00-9506CABF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产品位置：正式发布前的机器预审。</a:t>
            </a:r>
            <a:endParaRPr sz="16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04B78E6-1025-4CB1-940D-6BB8257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E7E7FC2-8DB1-4257-BC35-DCD943B7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产品底线：不自动发布，不替代最终责任人。</a:t>
            </a:r>
            <a:endParaRPr sz="16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AB3E403-48F9-4D3B-AA51-D5B6423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09F8DBE-0688-4FA4-9CD6-C862D85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34ADDE4-3045-4875-91A8-6D2E555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规则处理明确检查，大模型识别复杂语义，知识库提供当前依据；低风险进入快速流程，高风险与不确定结果交给人工。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C7966A-F532-4F40-B2F2-97011200E6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7386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77D1C55-AE57-4678-AAC6-20596F5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D2EB4C3-362A-44B3-AC1A-5A496B7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FE9568-22CC-42BF-B72B-BF727449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278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557B46-1D22-4370-841A-05C8EE6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02 AI介入判断与能力分工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311231B-85E2-44E7-A2D5-F0088509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5A0821-5E91-4827-B6CC-2C915E9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先比较方案，再决定每种能力负责什么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74A0E80-8A34-4177-9417-C4B0129AAED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2018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E68068-ED65-48C3-B3EF-7A26AB0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CDBD8C0-C6DB-45E8-9661-5E7A8B3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71B600D-D674-4F70-8773-AAB45F9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41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2934D87-72E7-4C14-9172-A941EB6D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智能审核至少有四种候选方案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656769F-4D32-45A2-AD48-87719D1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1A26072-AC6F-427C-868B-66C22C40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964142-531D-4367-9D2B-90C14BFE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纯人工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0A9BA7A-351A-4143-AA06-635724B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理解上下文、可以担责，但工作量随内容量线性增长。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0E1D534-738E-4E06-B91E-5CF83FB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7628F97-1F01-4EF2-BC75-2185C0A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纯规则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4AF41C4-1AFF-49C1-9CBB-22B970E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稳定、便宜、可解释，但难以覆盖隐含语义和上下文。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71F14AF-6D8D-452D-8A60-879CFE4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9D2835-C3A1-4EC1-ABB7-343E0CB7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纯大模型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B41F2CC-2411-4854-87A2-CB07FE2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语义理解强，但结果波动、依据可能过时、责任不清。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CA78C9-9D8C-4C7C-836B-A18EADB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84B13AB-076F-41A2-8E26-417C9F9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混合方案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A486271-2823-4470-B86F-78A04C3E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规则＋大模型＋RAG＋人工，能力互补但系统复杂度更高。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7344B31-08E0-4A75-9CBC-6900A64E361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7292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5D77E62-69E5-4FCC-A01A-427A1CF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3FE6A53-AE9E-443E-A10E-2D33B16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BAA10E-0ECB-444C-87F0-BC681AC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547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B4C3EF-4972-4924-9C3D-ED93C22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四种方案的取舍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906D2FE-17AB-4529-B213-CE53B3A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E703976-29B1-4E9C-89EC-DBD0241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B337B3-D350-47F1-AB0E-25016DF4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0D2D55F-3F1E-43F1-8167-E3D35B7E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AD7FA8B-E13E-47EB-B26B-7645F86B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语义理解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76BE224-92E1-4E19-A2A8-AC8812B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D4451AE-8CFA-448B-B768-37C7B59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稳定性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BBCCA1B-6141-47E6-AADA-D996B44B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4E140C-E543-449E-8407-DBBA481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当前依据</a:t>
            </a:r>
            <a:endParaRPr sz="132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192DFB6-5146-428A-9799-CE8359E2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4F441D3-EDBC-4754-BDB6-780DEC3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人工量</a:t>
            </a:r>
            <a:endParaRPr sz="132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1B9394F-D985-414D-943B-72CE0BA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BEEE528-532F-4EBD-8BAB-5FA0F51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132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2E06D7B-8CC9-47E2-A3B2-37229770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C3C4D24-B039-4013-BB37-08BEDA6E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纯人工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61EE662-9A17-4D43-A327-F5E236C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D17033E-5F3F-42AF-A091-7945D7A5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463D5AF-F06B-4262-8DF9-AE438AD2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A3CAEE0-62E6-4258-A541-EB5EB26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受人员一致性影响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9A66825-1791-487C-9404-A4D11FBC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669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40C0902-9C34-4838-B4D0-9E3E36A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431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人工查询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CEFC2FB-6DA1-478E-BDD0-DAF6AC43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46B0E56-76F8-4D85-8DFA-FF82EDC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431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546CA87-6B42-4D54-B454-F7665F4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D386ED4-8ADD-4130-8EC7-7C0CC542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431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低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F4700E-97C0-4396-A169-89AF18ED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8780A46-29FD-4259-8AB4-EB36F248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纯规则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F98B38E-7DA9-4026-8CC1-376F038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010D3C6-8AA0-43D7-A007-9D26F24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弱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95FC108-8FBE-48D0-87C0-F400D62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1752270-642F-42FE-B4FA-AD573A03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237BB24-2C61-444E-A732-26B2B47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7E3BC384-A7F7-4899-94C1-6F907A7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337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结构化规则</a:t>
            </a:r>
            <a:endParaRPr sz="123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FA54F4B-B3F5-4281-89FD-D30BCD05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734ACC5-8A78-4665-ACFF-B94CD6B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337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5D66C2F-59E8-4467-A287-8A37188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57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9C192A4-4E63-4478-AE83-ADB13F9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337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C0F602AA-9D18-4BDC-BA24-4F2BB9C0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A3AEDDB-3CFC-4EBF-A505-05BE228B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纯大模型</a:t>
            </a:r>
            <a:endParaRPr sz="1236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68FB5A70-A364-4A97-967C-3DC91CE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861F0208-27C3-41B6-A23A-BC6C681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FFDDAEF7-02E8-4536-ADBD-0421A58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E8E1B9DE-0BA9-4F10-8704-F7E85DF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相对较低</a:t>
            </a:r>
            <a:endParaRPr sz="1236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8EF5C2C2-067D-441B-899D-102FCA4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80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04D0A176-E83E-4AFF-A8CD-BA5723A1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容易缺失</a:t>
            </a:r>
            <a:endParaRPr sz="1236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5595198-738A-4BD1-9307-3DAE18D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AF260086-9057-49CC-B00D-B65EC34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9FD04B9D-27B3-401D-B420-506B987C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061AC29F-659C-495C-A2D5-6D1550DB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242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中</a:t>
            </a:r>
            <a:endParaRPr sz="1236"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216E1DB3-0DAA-474B-96E3-72B33A38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0E5417C4-52CD-4B13-9E8F-604698E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混合方案</a:t>
            </a:r>
            <a:endParaRPr sz="1236"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843CB673-7B11-4163-8106-1212D1A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83DA20FC-00F6-46EF-86D3-2DD57B8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强</a:t>
            </a:r>
            <a:endParaRPr sz="1236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28AA65D-DA66-4841-9312-A6D045A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78841100-927B-47F3-9AA7-6C8FE1E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可通过分工改善</a:t>
            </a:r>
            <a:endParaRPr sz="1236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5877DDF8-CAD4-4DED-AC72-D9534A9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3" name="Text 60">
            <a:extLst xmlns:a="http://schemas.openxmlformats.org/drawingml/2006/main">
              <a:ext uri="{FF2B5EF4-FFF2-40B4-BE49-F238E27FC236}">
                <a16:creationId xmlns:a16="http://schemas.microsoft.com/office/drawing/2014/main" id="{13887930-C3AC-4657-9A1A-68529A1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148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RAG管理</a:t>
            </a:r>
            <a:endParaRPr sz="1236"/>
          </a:p>
        </p:txBody>
      </p:sp>
      <p:sp>
        <p:nvSpPr>
          <p:cNvPr id="64" name="Shape 61">
            <a:extLst xmlns:a="http://schemas.openxmlformats.org/drawingml/2006/main">
              <a:ext uri="{FF2B5EF4-FFF2-40B4-BE49-F238E27FC236}">
                <a16:creationId xmlns:a16="http://schemas.microsoft.com/office/drawing/2014/main" id="{40C4DF72-8424-4E83-9521-F0AA6DD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8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0D3CC3A-A0AB-424D-AE82-EFB7BBF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聚焦高风险</a:t>
            </a:r>
            <a:endParaRPr sz="1236"/>
          </a:p>
        </p:txBody>
      </p:sp>
      <p:sp>
        <p:nvSpPr>
          <p:cNvPr id="66" name="Shape 63">
            <a:extLst xmlns:a="http://schemas.openxmlformats.org/drawingml/2006/main">
              <a:ext uri="{FF2B5EF4-FFF2-40B4-BE49-F238E27FC236}">
                <a16:creationId xmlns:a16="http://schemas.microsoft.com/office/drawing/2014/main" id="{E17C482E-0980-4D84-BBD0-2B393F8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38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67" name="Text 64">
            <a:extLst xmlns:a="http://schemas.openxmlformats.org/drawingml/2006/main">
              <a:ext uri="{FF2B5EF4-FFF2-40B4-BE49-F238E27FC236}">
                <a16:creationId xmlns:a16="http://schemas.microsoft.com/office/drawing/2014/main" id="{948AAD78-A19E-4B25-A0E4-99D8F8AA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14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</a:t>
            </a:r>
            <a:endParaRPr sz="1236"/>
          </a:p>
        </p:txBody>
      </p:sp>
      <p:sp>
        <p:nvSpPr>
          <p:cNvPr id="6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5F8E231-6FC2-4896-9282-FB6CCFD976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7820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934ECA8-57A3-4947-8B48-B9821DB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E9F02E1-9A28-4BA5-8D58-BB6A8C7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ACAE187-1E15-4037-91B3-277CD7F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681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85E2627-2BBA-4CA6-B103-E5F40219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AI是否介入，需要回答六个产品问题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D01FA18-8021-449D-9E57-98C1B09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147FFB2-AAD8-49A4-BE0C-2FFC5E5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8E4CF63-5AC3-4AB0-BAB8-A48BB29D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判断问题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A14FADC-BE0D-4E8B-BF90-79EFB3BA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14651CB-E780-472A-92A2-2CEF0CE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478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当前项目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EAFD44-F290-49CD-8C3C-41AD947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BCB9D-DC58-4ACA-8142-416F761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产品结论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9E4E89-BA80-45F7-9428-0BD71AA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3BDADAA-642D-43B8-9D5E-BAE8B3BE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业务量是否足够大</a:t>
            </a:r>
            <a:endParaRPr sz="117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F1848-D9C4-41BD-8EA8-902D853E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6697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58DF199-542F-4BBD-9CA6-CC61C84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内容快速增长并出现积压</a:t>
            </a:r>
            <a:endParaRPr sz="117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442616-7E7B-42EE-A54C-ABF1E030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669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E6BE58C-8266-4F02-92CD-BC11AFD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431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值得自动化</a:t>
            </a:r>
            <a:endParaRPr sz="117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F21929A-CDE3-4BB7-AF67-72F7094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711A7CB-3C5C-49C9-B529-591B8A5B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规则能否完全覆盖</a:t>
            </a:r>
            <a:endParaRPr sz="117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2BF372D-CAF3-4455-81EB-62B8EE1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09AA19B-97F9-43BA-BFEB-C0E2C4E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隐含表达难以穷举</a:t>
            </a:r>
            <a:endParaRPr sz="117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F344C72-9346-48BA-BD5C-14887E9F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8CA2130-F599-4C39-8479-DB586023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需要语义能力</a:t>
            </a:r>
            <a:endParaRPr sz="117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B7056E3-9C92-4158-83C3-6B91C71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2780264-DF01-46A5-A6A1-418C2345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是否有可用知识</a:t>
            </a:r>
            <a:endParaRPr sz="117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CCA8AC2-B71B-4073-9DD2-1163360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129744A-E9CF-4D93-97F6-F8F8998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规则、制度和案例存在</a:t>
            </a:r>
            <a:endParaRPr sz="117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824823D-B3C9-4CEA-90EA-A0BA827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206B25A-1B0F-4D75-A0B1-A8E6D47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可以建设知识库</a:t>
            </a:r>
            <a:endParaRPr sz="117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56340B3-6BA0-4612-A066-9D6F811B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2955131D-5C33-475E-B414-57AAA482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错误能否被接管</a:t>
            </a:r>
            <a:endParaRPr sz="117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DB38BA96-3202-4D88-9F1A-69BEB5B1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0A611CF-9D49-40E8-ABEC-51A9514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发布前可拦截和复核</a:t>
            </a:r>
            <a:endParaRPr sz="117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E6675BEC-F9D4-48EF-BC22-3C9F32C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C6BABAF0-8255-448C-9043-237DDBC6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适合人机协作</a:t>
            </a:r>
            <a:endParaRPr sz="117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D1D442BF-616D-42C5-B503-0503595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D16844B-8473-497D-904C-56E3D3E5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机器能否独立决策</a:t>
            </a:r>
            <a:endParaRPr sz="117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0A1972E8-FAB6-4E90-804D-C4576A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12E1964-F442-4F2C-A963-3BE7950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高风险不允许自动放行</a:t>
            </a:r>
            <a:endParaRPr sz="117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350ED400-CEF1-488C-A3DD-42CEFC35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148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7F73B743-7E88-48BE-9979-FADA284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910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必须保留人工</a:t>
            </a:r>
            <a:endParaRPr sz="1176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388C69D5-8EBB-4645-999C-484E877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23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E4282F35-A461-4ADD-B162-E9572020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7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流程是否固定</a:t>
            </a:r>
            <a:endParaRPr sz="1176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CA2EEAE-9F6A-4025-B849-CADC8E1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6850"/>
            <a:ext cx="44767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AB251A50-28A6-413B-9CFD-C0F3883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检查与分流步骤明确</a:t>
            </a:r>
            <a:endParaRPr sz="1176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96E270E3-774A-4F2E-BA02-7A16DEF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4D50933C-0222-4C74-8545-734B9C8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53050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7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优先Workflow</a:t>
            </a:r>
            <a:endParaRPr sz="1176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DD8099B-560C-4976-B4D2-7DA63B8DC9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000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08715FB-23FF-40E6-8395-28E6565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B89B189-C9B4-4BD0-B8EE-CA8497D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0F8BB80-9844-4796-A759-DBEC8B0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815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8B666E1-F49D-4E79-A711-4B24B14A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只使用大模型，上线时会暴露六类问题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75CABBE-E4ED-46F3-8D3C-8822C6A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A069E1A-B675-4B46-ACFE-6D0B85AE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F73E7B-2B47-431D-9006-D1F9B41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不稳定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7F631B3-4396-43A3-952B-E2B9F76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相同输入可能给出不同等级和结论。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B12054B-C127-4B98-BEC7-E609FC4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A1180F-20A4-4A2D-B40B-B944357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依据过时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E52D4EF-3FE1-47A8-AAD0-F755463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模型不一定知道内部最新规则。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C135BA-02A8-41E5-8638-120A381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C030F5-D668-408C-9169-B1B5C98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难以追溯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C6BAAC2-B570-42A7-991E-59ECA7A6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不知道当时使用哪版规则和Prompt。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C10EE3F-4A6B-45CD-BC52-06A54EE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9A0C8A3-E758-483A-806C-205BCBD4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成本浪费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39B95BF-22E5-44A1-8083-D4B401D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格式、词表和阈值不需要大模型判断。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15F7DAF-8F08-4386-BE0D-BF5912F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6FEE6C3-7A9D-4540-B0AE-E8135AE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输出难接入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AF2E1E5-E3CD-46D3-AB8A-F594ABF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一段自然语言无法稳定驱动产品流程。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F70121C-A32D-4991-97A8-927C76E5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297219B-ED8F-487D-9983-2E6770A7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责任越界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75E8D9-080C-43EF-8628-D1CFDD8E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模型不能独立承担高风险最终责任。</a:t>
            </a:r>
            <a:endParaRPr sz="126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00848D9-1C80-401B-962C-E143648778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09575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C5D13D-B642-4E23-BE63-13EB579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0DDFBFA-738D-4EAD-BE51-D18AB50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CA83EE1-7397-4EEF-972C-130C66EF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2949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F2EF0C-5A6F-4583-A73A-B67B490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先按任务性质分配能力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AA4B02E-9F70-4A7B-9DCE-DCD84E9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EB9F4A7-B904-4B20-9619-BAB3563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2C3DA7-5A72-44E5-B3E3-4973926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任务性质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03F61E1-944C-42FC-9249-56CA5E2F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943C94B-2267-42B9-AEC4-FB3A31E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典型任务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E8397CE-36C3-4BF1-BEA1-C5257A1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F37C0D-C56E-4E8F-B1F8-4DB30F1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优先能力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9EB12F-55B9-4245-ADA4-3218A5D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5FB7987-7EB6-4329-9A65-BCD3F33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确定、可枚举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981039-CC50-4E38-AA8D-8E8575FA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669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15D91D-A4C8-4A01-834E-C73C466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禁用词、必要声明、格式、明确阈值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1F5DCD6-428E-47C0-BB6E-3ADE572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FD5721-225E-4B21-8C0F-6F5F11E1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55F1A32-900C-40E6-9112-DDEA188A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EE37185-60CB-40AB-8D16-F3C2368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依赖上下文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E62A040-8B32-433B-B3B4-A8BE17BE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194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B6D59F6-DDD7-44A7-A77C-30CBFAC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暗示、同义改写、组合语义、误导表达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9B8EA0E-1DF1-4E36-A6F4-4008CF8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671EE91-B46A-4C40-96D4-168437A7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BF87A92-5F77-459C-BB84-771E56C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C7E8F3-C4C5-4D6E-B533-F3689F9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依赖当前资料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8986BBB-AD49-4333-B833-B2F264E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9EBDC1A-401E-4C96-BEA2-ECD8018E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48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渠道规则、版本条款、历史争议结论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3231BEB-0A57-4A62-BA23-DD5D141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AEA092B-3B14-4011-AC39-28EA991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BE386D1-28C2-4045-A920-35F4230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052D8A7-4D0A-420D-9892-DBA5A327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高风险或不确定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3705DA6B-DC02-4075-910F-FE19E89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FA5B558-153C-453C-BB73-42D401F8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依据冲突、信息不足、责任判断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B4D2982B-0093-4162-AFB7-AC092B28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88C5898-E537-4190-85BF-F853109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7E26520-843C-4014-88F2-2C3021E0DC6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18220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3256874-DDC1-4D99-B84C-82C4788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D50E9AF-C718-4112-9CD3-19DE9BCC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DA01FFD-03E1-4530-BB18-0A523B67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083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553A3E6-3815-41BF-B299-5940C1A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确定性规则负责稳定执行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040672-0BC6-4617-BD75-245BF7DF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0BC245-0211-4C68-A9CF-6B04310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63DF4B-72E8-464D-A3BE-4B36A69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词与表达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4CB141A-972A-48D8-A4CD-06F84C5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禁用词、敏感词、高风险固定短语。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54BA539-0384-4868-92C0-940FDE7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941BBF6-A722-4244-91B3-D293795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声明与格式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DBB6C43-F5C8-48C1-AAED-FCB121F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必要风险提示、字数、字段和格式。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24BBC6F-F719-4442-ABD9-9DA97E5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B699666-14F9-4A79-A309-DB088A0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明确阈值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B5105F8-0BB3-4EED-852D-2032F49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可以清楚枚举的业务限制和数值条件。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A245F1-7431-45A3-917F-CC90286CD3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8537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5A29328-7024-4CD3-A029-6CA52E6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D22BBE6-5D1E-4FC0-AC34-1226799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451F471-59F0-4219-B418-C7EBAEA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217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BD4EF2-6B1A-4935-A530-7551876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大模型负责规则难以穷举的语义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4A681D8-4E57-4875-ACAC-C2698735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A119597-DF46-4C01-BF39-75D22EAF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FB0B535-10F8-4608-B1B5-53A8552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隐含承诺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A5BCE6-0960-4F71-BD71-98E737C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没有直接使用禁词，但整体表达暗示保证结果。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45982A6-764E-459F-99DB-2567816C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EEB0BD2-90C6-473D-B3ED-A53C8D4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上下文误导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87783B4-79AD-423C-9190-E6A80FDF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单句正常，组合后可能让用户产生错误理解。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A2A060-8948-459F-A575-DC966D4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1C2A2EA-160A-4943-8C37-B812A53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同义绕过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F761958-9B13-452A-8AE3-03AF45B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用改写、否定、反讽或案例包装绕开固定词。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FAA59E-F3D5-4E06-8C5D-702A8CA9348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416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26FAD9-942D-4481-B9DB-5BF5348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AB75124-C1D4-40B6-AC64-43713EE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B01A11B-3FBD-405B-9370-959940E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351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435D3DB-2354-4068-9BB2-93A0F61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RAG提供依据，人工承担责任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482638D-55D3-415A-9D20-F92BEBDF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36A5DD-79E1-4E69-870C-D06752D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4FAD18-AC45-4EF9-AE99-A644971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RAG知识库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D56407-C297-4E6B-8813-1C4DE0F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8553853-CFD5-4D31-9058-98A8FE9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检索当前有效规则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9B8286-6E53-4E4F-A38B-AC0906C9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D8E1958-9D28-43D1-AFF7-DD70C814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提供规则解释和正反案例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7078702-E483-436E-93D2-87FA204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40BDCDA-BD49-498D-A700-E54D43D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保留业务、渠道和版本信息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A1B9801-60A1-4AE2-9673-06423D99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BA14590-B5A0-4E28-A9DF-2CADAF1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人工复核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C81CEC7-A754-4345-ACD8-D8653637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3757442-CFDA-4C38-8CDA-EEB66B5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处理高风险与信息不足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9CD0EA-8749-40E3-A2F6-149B18E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11F49D3-BCC1-447F-AF8B-4D35EB2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解决规则和证据冲突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E066091-3368-49B5-AEBD-3D14F082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F7D59DC-B76C-4E43-A78D-D67FFB33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作出需要责任人确认的最终判断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8E4A38-92E7-43E3-BFC5-216CFF72F22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97457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33E7C65-EAEB-458C-9708-5E19970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8A3777-2238-4688-9D91-8A9C80C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CA3EC9D-2F9F-43D0-B625-C41A440E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485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3FDB69-F83F-41AD-9E69-81E3162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混合审核的完整协作流程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C801863-E93E-4A32-9B96-904D39C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6D60E8-A3DA-44C5-B458-94B09DE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226717B-A407-4401-81E9-038751A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135ABE4-5534-460D-A196-231E6F3A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E8BED93-6A3A-43E2-B335-4AE28BF3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C41142D-4CD2-4026-B9B6-66769916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输入校验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58F8FA9-49A3-4EB1-B3A0-9B6952A3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70C4D8A-1241-402F-BFAF-95EC8E2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4EE7EF8-2880-4310-A36B-6328B74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确定性规则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7CB5BD7-5AEC-467E-AA1B-EF51B9A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675C6D-A303-4919-A107-B6C29EE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CC3A87E-D522-40E3-8912-D7F3FA5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检索适用依据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B27FF50-503D-4821-8362-3B93ADE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366AB99-81E2-4164-9ADD-F7248E5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2438D7-F309-4E4A-8648-1D13461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319D1C5-A7B7-4E48-B780-FB0CEE0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EF06CE-1A79-4748-85CC-F560779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84460C6-B1AB-4E6C-ACB6-8FD5CF7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大模型语义审核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0483221-0BE1-4210-B74A-ED0B296A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F4EB1422-CA03-4800-B941-A96B168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5DB69D7-08A4-461C-AC14-5F0AD8D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结果合并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418676-8786-4454-84EA-576FEA7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56A205A-3C75-4B0C-ABAC-33A96F8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EACFE9E-E48B-48BB-8616-81CE60B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风险路由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085996D-31E9-46DE-BD89-78C13EEBFF2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0418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44B84E2-03B0-4986-9B53-234A68B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9E0A09-99C0-4610-964A-31F5C05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1A32CED-51A4-4CF5-B57F-56460BA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19A4401-9A76-479D-AAE8-957794B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第一版用Workflow，而不是Agent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3201DD-389D-4FD4-9247-27EB8B94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8E50F8-7378-4CF0-B122-0B421AF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B6E51E7-58F6-4A91-AD3E-E1C2DC6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Workflow适合当前主链路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1C01749-1470-428C-A1AA-DD5D218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F5BAC44-03D3-402A-908C-1B15C4F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必要步骤每次都执行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7A1CF2A-431E-43CE-9005-8ACB15E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B0913D2-826B-47A4-AF61-6850D7F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每个节点可以单独测试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20B6D8F-F960-4AFF-B27D-A9FF395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F0B66F-B1E9-4D0C-B59B-9B8B4170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失败位置容易定位和追踪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EB5F409-491F-4F2D-A739-38EF61F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8B5F6CD-64BA-4A33-91A7-46A718CD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Agent留给后续复杂任务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FC26F9D-B13E-4051-902F-C7666B19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880821-BC9F-411D-97A4-DEFA430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多渠道自主收集材料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21BD75D-4123-49E0-B9C1-8678E29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E1F91ED-445D-4593-AC09-D846BD9D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动态追问和外部调查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3905CBA-7F72-4EA5-85FD-C0963D8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9CEC6D-F686-4A90-BBC8-421C421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受控生成完整调查报告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E58A10C-1FDD-4E0E-B2B5-E0FCA93FEF1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16442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54764EF-0411-4D92-AA93-A6766A5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310230-427E-4BD3-877B-1E47710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40C8BB-EE03-445B-BF6B-D4B880D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753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1C05CF2-9EA1-43AE-9F86-FD74AEB0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能力分工要写到输入、输出和边界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F8AB295-B36D-4F18-8542-DDA4683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267732A-FC4E-47CC-BBD2-E3C4AAE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568407C-86BC-4841-9AD9-22347F30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模块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55FC38E-9162-4DBB-BD42-2E7F4F60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5422CDE-3CB8-4F8F-BCA4-A819CB9B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主要输入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0C783D7-1F8F-4AD3-9567-A707275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05ED4A7-D69E-47DB-A4C5-EFC254B9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主要输出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901C21E-A84E-41C5-8661-D42DB98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5780348-E939-4ADB-9C8F-5C0C0E8E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4787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不负责</a:t>
            </a:r>
            <a:endParaRPr sz="132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90E836F-EB78-4237-A7CA-ED8EB50B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5A36F2-DFD8-4FB3-9261-A000FAC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输入校验</a:t>
            </a:r>
            <a:endParaRPr sz="1104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3C1B8A4-2FE9-4F48-92A3-874C646D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3B618E6-95D1-4CF3-BEB9-A3E2A0F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文案、渠道、产品信息</a:t>
            </a:r>
            <a:endParaRPr sz="1104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F1667DA-5EB4-44E6-A53D-BBA2625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669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95137D6-9FF6-4EE3-8DE7-6B705D4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缺失字段与格式问题</a:t>
            </a:r>
            <a:endParaRPr sz="1104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6403806-FE59-411A-8503-92C47D3E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7F2138D-C0F8-4698-87FC-11E1714C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语义风险</a:t>
            </a:r>
            <a:endParaRPr sz="1104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31F5383-1F42-48F8-82AD-F01D8E75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A398070-B031-47D7-83ED-8C1783E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规则检查</a:t>
            </a:r>
            <a:endParaRPr sz="1104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659540-76D6-4BAE-B057-F71E58F4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99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1302A0A-221D-455C-BC79-301110FD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文案、结构化规则</a:t>
            </a:r>
            <a:endParaRPr sz="1104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1AC54F7-3C36-41CE-B2A0-86A2AC3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8581EC4-286E-47D6-9E6E-B5803015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命中规则、风险片段</a:t>
            </a:r>
            <a:endParaRPr sz="1104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B441BCA-9ECC-47AE-969A-EC1E702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B54ED8E-AEF7-4C3A-A438-4A0AC13D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复杂上下文</a:t>
            </a:r>
            <a:endParaRPr sz="1104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DF3FB7CE-D0E1-4D8A-A25C-128C6D1F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37AD08A-0E8B-427A-BCB2-24F2E6B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RAG检索</a:t>
            </a:r>
            <a:endParaRPr sz="1104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F5B9BE5-EEF0-4A2E-8CEC-C3E735E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3D48AE9-F67D-4C27-80C0-B90E25FB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业务类型、渠道、风险类别</a:t>
            </a:r>
            <a:endParaRPr sz="1104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607D8858-6889-4CCA-80BF-764B6999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528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29848-189F-4E5C-B755-96A1E30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有效依据与案例</a:t>
            </a:r>
            <a:endParaRPr sz="1104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B3ED323-C8B6-4457-9E00-88C068D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5282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63DE5659-EA73-4F8C-83E8-B905145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最终判断</a:t>
            </a:r>
            <a:endParaRPr sz="1104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9E13B0C6-D464-4EF3-A053-0F9F137C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6C54B1E-F094-491B-AC07-6915F994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104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AD1D8C-B99D-4D86-B279-8AB95A4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778F6699-0763-4C3D-A76C-6FF7948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文案、元数据、规则与依据</a:t>
            </a:r>
            <a:endParaRPr sz="1104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4A1D8A02-9579-47F0-BF9E-BEF3EC1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D099D4E1-0A1B-4EE9-B1B7-54415EE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风险、理由、建议</a:t>
            </a:r>
            <a:endParaRPr sz="1104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CA205E14-5C6F-42DC-9615-D9FA5D65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9FB1C82E-01C1-4293-A532-8FD5299D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最终责任</a:t>
            </a:r>
            <a:endParaRPr sz="1104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408D9505-E48E-46C7-8288-DAFC5EA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4A2B8FDD-B661-4EA6-BAC2-B76E432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905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人工复核</a:t>
            </a:r>
            <a:endParaRPr sz="1104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57342486-5AB5-459E-B312-0CCC7D2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386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D851A4BD-11C5-4051-80E8-84C3F24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148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机器结果、依据、原文</a:t>
            </a:r>
            <a:endParaRPr sz="1104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92385827-12B1-4540-BF47-A1D275C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CDC9902B-1DB0-4C72-BD1F-277F03A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最终结论与原因</a:t>
            </a:r>
            <a:endParaRPr sz="1104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870A00E1-C7EA-434F-B4A6-CF23204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38675"/>
            <a:ext cx="276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A737F68E-9E4F-4344-95CB-2645D8D1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57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重复检查全部低风险内容</a:t>
            </a:r>
            <a:endParaRPr sz="1104"/>
          </a:p>
        </p:txBody>
      </p:sp>
      <p:sp>
        <p:nvSpPr>
          <p:cNvPr id="5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12B513-4DE0-404A-84DD-07D541292D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03072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593D951-53F6-4FA0-A9D9-9E3DDBB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SOLUTION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BF01B27-77D7-4973-B8B5-A6BB43B2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47E555-0DA6-4284-ADA2-6FB21D9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3887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DB1815C-A9EC-4938-B4E9-EE23F0C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同一条文案如何被分层审核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F53325F-700D-4F73-A0C3-ABFC8F5E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DD1B357-FBE2-4DA9-85CE-A19CEB6E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贯穿案例</a:t>
            </a:r>
            <a:endParaRPr sz="126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EF7F0D-616C-4170-A749-2830A64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62990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2AD8066-218D-4CFE-91DB-17EBDF76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6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这款产品是目前最值得购买的理财产品，预计年化收益可达20%，收益稳定，完全不用担心亏损。</a:t>
            </a:r>
            <a:endParaRPr sz="18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F2E153F-B388-4371-B404-43717B3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629900" cy="1000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D7CFFDC-0D3D-4D39-9A36-22E07CAD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1005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60">
                <a:solidFill>
                  <a:srgbClr val="6EE7B7"/>
                </a:solidFill>
                <a:latin typeface="Menlo"/>
                <a:ea typeface="Menlo"/>
                <a:cs typeface="Menlo"/>
              </a:rPr>
              <a:t>整体风险等级：高风险｜机器建议：不允许直接发布｜下一步：转人工复核</a:t>
            </a:r>
            <a:endParaRPr sz="156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3C655C7-A7E6-415F-A9CC-B6B5CFAD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AFEE44-DFC5-4F87-8A23-36DDB1B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F599963-5B68-4A7B-BC6B-7E72A51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绝对化与高风险短语</a:t>
            </a:r>
            <a:endParaRPr sz="126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3EAD19-A95C-422C-B2A4-59B2497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2ECE9D1-DB7E-4571-A1E7-3BB4DFB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7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A1A8AEA-6677-4315-9271-D6100212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收益保证与数据规范</a:t>
            </a:r>
            <a:endParaRPr sz="126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07332995-A60C-4914-9EEC-09DF2DAA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419514-197B-4937-96D9-0B61360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74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E24A4F0-33A2-45D4-B62F-89F0B8E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收益误导与风险隐瞒</a:t>
            </a:r>
            <a:endParaRPr sz="126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D393A335-8BEF-4B17-AA1E-0FF4BD5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4333875"/>
            <a:ext cx="2528888" cy="11906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577AF07-920C-49C0-81EB-19E61FC9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505325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</a:t>
            </a:r>
            <a:endParaRPr sz="174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ED0D99E-7B9D-4877-9724-105E1B90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876800"/>
            <a:ext cx="2109788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驳回并记录复核原因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6F7EC4-DF5F-429B-B3A6-A4044B0682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0013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FE71DF-4EB6-43BE-85FE-8501A6E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CF6A60F-F0B5-4B3B-80D9-638B2C73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73E7B1-3AFD-40BE-A4F1-C4A42668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021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FFA5808-7128-4CB3-B0E7-B297AB2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03 结果动作与人工复核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2DFA19F-48DF-4B15-8C96-9EE3822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6A04C8-6124-49C6-9A05-4269B75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发现问题以后，产品要让用户继续完成任务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74E9BF4-D4A2-40DB-8000-DAB0718DA88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7384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5B92D6A-9E32-4CF2-A519-2F5BD1B0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0BA0E3E-433D-4B00-AF1F-81BD4B1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858C61F-1315-4B13-8BFE-DA7E8E1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155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855601-D7BA-4589-8325-AE2E574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先把规则、RAG和模型的原始结果放在一起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C669E96-FEA1-4B47-9551-38558B4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8FE822-7B11-41CE-ADB2-960B61DF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9EFA11E-CC1A-4719-9D2E-37AED62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B00B36C-A2A7-472B-AB2F-1178CD7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04E172-F43B-4534-86D4-184C694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565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发现内容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1107174-759E-45CE-B503-A363768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BA06746-FA20-47B0-9433-AE67EEA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47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产品价值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01B8912-E01B-42BC-A42E-ADEA94D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BB8C044-EE8B-4332-A272-F354619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970E841-D233-46FC-8FA1-264DFBC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7597FF-2FD7-4DE2-B6AA-2B04E99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命中“最值得购买”“不用担心亏损”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F1F65F1-8EF9-46D1-9E5D-305124F5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4BB6EF5-9801-4FC4-991F-24063FE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稳定召回明确问题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0D7507A-3786-4E06-85DA-D46CB99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6E8A1F0-10C3-4B72-B2E5-C0B1E12D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92C023B-460F-4D4E-B130-691DC30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19584FC-DAD0-47E0-879F-B26AD65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返回绝对化、收益保证与数据来源条款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0AA935E-8660-4C14-9128-A090D54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194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BD6F991-F805-4D14-A0DC-E0D7967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提供当前审核依据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AB729DF-B218-4216-A14F-434FD53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CA8A1FA-EB38-4A1C-86F2-2F1D63B2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F953204-2C1C-4AF1-A1CC-A77E7B5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DDB6BC0-567F-40D9-B8C1-C3E52D4F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识别收益数据不足、收益误导和风险隐瞒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BDDDEC4-BD22-4398-BFCC-874407D3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E4A1854-7F14-42F9-854C-3D00F9C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补充语义风险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BC81FFC-DDBB-4C8E-945C-5D2CF3E40B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1661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1CBC1A5-1462-4EC7-981F-4FD8817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4384BF7-CFA5-40E0-9D3A-9818FBA5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06E0184-7AB3-4AB0-8E62-B045B47A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289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59BC146-A1BC-4C4E-A961-1A6984AF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结果合并解决三个问题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D1E34F-86E2-41B4-96DB-EF1265E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F762295-AED3-476E-B9CC-D645A09D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6D670AA-F36A-4C4A-BA5B-CC86BA3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5BD2164-6C68-4233-8B9E-DA161E47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4E586C2-CDD8-430F-A02E-97E8BD5E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0CF0CC1-9F9E-48C9-B0E3-84590F4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相同风险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不重复展示</a:t>
            </a:r>
            <a:endParaRPr sz="144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A312FEF-0206-42FB-9438-B7812B7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6D82B25-E735-42B7-909A-DA4D7C12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F26729E-A92C-46A0-B9AE-9BE1F3A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不同来源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继续保留证据</a:t>
            </a:r>
            <a:endParaRPr sz="144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6704FE3-7328-4C49-B931-D04B2090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44170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1DA9669-9A1D-40FA-ADEE-B2C448D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3C8A3FF-402F-49D8-825E-70770F0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248025"/>
            <a:ext cx="317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每个风险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对应处理建议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20FB002-3615-49FA-AE55-11499074350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589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4C4A4A5-C680-41AA-BAE9-58896FA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E97EC8F-55AA-4CF1-ACDA-DCFE85D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44D7AEF-0418-4396-A33D-C9030CF9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423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A71A8FC-83BF-4025-B9C8-12CCB8D4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一条正式风险结果必须结构化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5FAA6C5-10ED-4C29-9A93-3A97E2F6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D42953-C6E5-45CB-945E-93BF4BE7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3A8D95-5889-41FD-9D9F-83D5D8CE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风险片段：完全不用担心亏损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风险类型：收益保证与风险隐瞒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风险等级：高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识别来源：规则＋大模型＋RAG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审核依据：金融营销内容审核规则V3，第18条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修改建议：删除保证性表达，补充必要风险提示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是否需要人工复核：是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E642759-5D16-4D7A-A4F1-DFD9E08978D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5645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1445FA-BED4-4B18-9703-BFFC184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33DA97C-A247-4BF3-8072-AE6F8B5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0B7BC45-351D-4C8F-B8CA-AC030EA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557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BEE0D3-FF32-49E7-BFFD-7C54F503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一篇内容需要四类整体处理结果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6028CB1-5043-4D9E-B4DD-65CB2418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33CF3B-AF14-4A32-B005-B0BB7BE3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DDE109-1D3F-41C1-9860-A018C765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机器预审通过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45C837-6BFD-45AE-AEE8-F67E81F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未发现阻断风险，依据完整，且属于当前支持范围。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BED0210-356A-4456-BEFD-EFEAF817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D241CAC-03AF-4C64-A897-5ACD369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D1A688D-27C7-4D73-BB83-0FF323BD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只有低风险或提示性问题，用户可以确认或修改。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285B4A7-3EE5-4D87-A300-2C7596B9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384FB6C-0453-4727-A23E-8BAC2DA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7FEDB69-AAA3-43FF-BACF-F488042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存在明确且可以通过修改解决的中风险问题。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B9F5450-4716-4CB5-BDE1-601CB694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5267325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547FB51-1DF0-44CB-BF1A-B330EDC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转人工复核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095A9B-1C1F-4FD9-84BA-1ECF15C8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484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高风险、不确定、依据不足、规则冲突或系统异常。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0DF7600-CDE6-42D9-898E-8D0221322C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5252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0B9DD4B-D907-41BC-A895-1281291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B208D3B-AFC3-4FD0-B304-CB66F7C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5E601EB-1E1F-4307-AA0E-78D34550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691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B87E8B-A94D-42A9-86AE-B230A36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风险等级必须映射到明确产品动作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D0F7655-56D2-4640-B957-281E7880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FA216D9-FE91-451E-80C5-BBF43BC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D15AC28-75CC-42A9-BB58-E9A4606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审核情况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A02F4F-4966-4A17-A998-BD29E39E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7C6A4BA-13F0-427F-A54D-9E6BD2AF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整体结果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D784040-1D25-4425-BB90-C42D8E4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411D81A-3BA7-46B5-BABC-7CBD99F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下一步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BF63DDD-0A8F-4CCE-A2BA-3AA9537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D14A8EF-F85F-4463-927A-86EBE98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未发现风险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3383598-3F6E-463B-8A93-3F2348E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E98BCC-AE99-4DC6-8277-5B8BA36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机器预审通过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4503ACD-736C-4FEB-A6CA-27EE8B8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F93E522-4459-4CF9-B94F-B534E043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进入原有后续流程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5EC18EC-C276-4D97-A44E-CD562976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0D8C4DD-A6EA-4938-94F8-1846BCB3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只有低风险问题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43F28F2C-C774-4A26-BDF9-606EC98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978A32A-3B40-4C44-A3C4-1061547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21EE034-7D45-4FB7-9451-4D966C13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6D5242D-BFB0-4AC1-8B31-763C725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用户确认、修改或申请人工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ECC1F75-3E9B-465D-836A-B3DA15D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B083C5B-24EB-4E5E-A2DB-996714D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明确中风险问题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F62958-0D12-459D-A6B3-85BD020C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66E62B-27FA-46CD-BCF9-5DA3179C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AB1B21B-25AF-4124-8175-DF35D74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5B0250B-C222-4B78-A682-A18EDA7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生成新版本后重新审核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D36E2A3-A5B9-49C1-A04B-5ACE8613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84CA6B7-EC6D-47FB-891A-854C81F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高风险、不确定或依据冲突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6233E8B-6277-469D-BEE4-5B74E41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4699A42-DB6D-4DA5-8D0A-D86D768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待人工复核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8744C42-8B08-448C-97D7-CB3092E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243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4BFCB4D-FE3B-4B5A-A38D-599CD6F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进入人工审核工作台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A3B49E-19A8-47C2-9E46-61ED8131C07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43458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252D709-0C78-45F6-8882-DDDB4B4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05127F3-2D75-4251-96DC-5110150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51F151-6279-4980-AE11-E9E62DF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82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0A2A40F-849F-4613-9E39-7D184C5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运营端不是只看结果，而是完成修改闭环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309E7F-104B-47A3-9E38-2F9D754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7FF8C4-41E7-4F34-B477-679EB14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986E323-E4EE-4619-8DE7-7C6F59AA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B08D658-877B-47A3-A940-CC3367B3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7E0E654-4B99-4152-A3AF-83A5CA0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33C29E9-5EB7-4FEB-9A44-8E25A9B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提交内容V1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3D5812D-41F6-4688-B0C0-75E9F860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2E37B47-5911-4256-A128-145BEEA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A17F020-2072-4E59-9131-0615EB8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查看风险位置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516F2E8-8DC6-4BB9-BC8E-46C555D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C37A3A-828E-4E09-8374-C8BA27C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0EE26B2-2153-4698-A857-817C48B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理解依据与建议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5215C26-74F4-43D9-A84F-8A6A4F1F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51E3264-9B84-49C0-92B2-A33FCD7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C67E06D-7137-47E4-B9DA-2DBC5C24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4EF8F63-4E3E-46E6-9017-1BFD49A6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480CF25-7E64-4ACB-8322-E033867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7FA7146-A2E2-448D-B859-6F37F6F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修改形成V2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4C434D4-BE87-48BF-9D0F-116D0C0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54748A5-DBF1-48B2-B636-12AF586F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4772ECC-FB3B-4CCF-B093-30FCC4F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重新完整审核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7C0D2A1-2A7C-4134-B66B-918EC44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BED8B34-048C-4EF6-8C9B-FC01AE41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4600939-79CB-4DF4-9FD4-A836B33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进入后续流程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2E0B65-8E9C-455E-9884-52B15745F2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6700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5092DD3-1A42-413F-AF2B-CD6948F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49AAA4F-90A4-47CF-A321-481D9BE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875D7D-4F45-4B06-83A6-A6E7EB5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4960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2328AA3-3028-4436-BACB-553FADE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六类情况触发人工复核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AD92A8D-AE2B-47E9-8F12-9AE3304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15028ED-ABB5-4545-A8BD-117FB6DA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5B0F06F-4597-4A4D-BC25-919EFED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87E480C-817F-4CBC-9AC7-9D40DBD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命中红线规则或高风险语义。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6E7F528-60DA-477A-992D-BC6B1907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8E29B4F-2B6A-4E72-A6D6-AC466E1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不确定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2302BB3-14B4-4928-843D-B27AD380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模型无法稳定作出判断。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799F6ED-B909-4BFD-89E4-90AF4C8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FB8606B-2E70-4D8F-AD57-1A2FF2CD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信息不足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39E9FB9-144F-4482-B45A-D62D32A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缺少产品事实或业务上下文。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AF0F7D-A02D-4427-A82E-AEB54FD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A6DEE04-5B21-41CE-9274-EACE8AAB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依据冲突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A67EE3-D42B-4642-A705-D96BEEB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规则、知识或版本之间存在冲突。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F22B200-E69E-4248-A8F6-45FBB9F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067514B-61C2-421D-A9E7-4D3BE54E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用户申诉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F97A4AE-9ED1-4B93-89E5-8379468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运营对机器结论发起复核。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7D221BD-9183-4894-ABFC-8FEA318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1A59DD5-60AF-4871-9833-4A0E3149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系统失败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996F340-20EC-45D8-9494-2452ECF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重试后规则、RAG或模型仍未完成。</a:t>
            </a:r>
            <a:endParaRPr sz="1260"/>
          </a:p>
        </p:txBody>
      </p:sp>
      <p:sp>
        <p:nvSpPr>
          <p:cNvPr id="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2C6E2DD-734E-4257-BAFE-E60AD46144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5981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FA5FF80-7C12-4057-A843-4AACB36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3DE6B3C-32B6-4249-BA07-5869297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9207909-B73C-4A6A-AD66-6F72B38C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094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7931DC-AAA5-4412-9198-3C59602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人工复核工作台要减少重复劳动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A4DB99-811D-4D28-9724-0EF4B4D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6434553-4391-46AB-8419-05A604A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F5726AE-8105-4899-8566-92232AE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人工需要看到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016BA6-8BD1-4D10-A3BC-153EED8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FF2C02-DE05-416C-8809-DD3EB8D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原始内容与内容版本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87B500D-F8D2-4814-8FBC-69E44B62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3EB460D-AAC7-4E80-A634-D44D6AA2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机器风险、依据和原始输出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E4637C1-B277-4A12-8121-19F3B32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381600E-C517-4425-A361-8EFCB44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转人工原因与历史处理记录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14FF31E-AEDF-4960-8511-9CC968C6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FA0167A-EFBD-4147-B6AF-DE200DA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人工可以执行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31EE21E-6013-4884-8D7E-12C8DF7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5711994-5908-40DC-B1ED-BC869E36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复核通过或驳回修改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BE581DB-A2EE-4FD8-B95F-C7E12B6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25B1A2B-3D42-442F-8A41-0999071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调整风险类型与等级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2A6CA64-F537-4FB4-8FF7-109C47D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A69849B-E4FF-4429-8F58-3701CA4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升级给规则或专业负责人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A215CA-D34A-4F0B-B642-C9F627AAFEA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7712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4C8D12D-2359-46C6-AE64-BD4BF30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A5865C-3871-4EDF-AD90-4F5DC6EA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1E01EA-99ED-4005-9CCE-80CFEDD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228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0FB698-7949-4AB3-9451-8F4A87B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审核任务需要明确状态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1E8C30B-5516-4606-8DD7-0F1AE367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68DA14E-D9A1-46B6-A61D-A98E339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E27FE3-FED1-473A-9616-C5E1D17E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6ECDEB9-CD70-426B-96B4-8CF433A6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待审核</a:t>
            </a:r>
            <a:endParaRPr sz="138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644F60E-69F1-4E8E-8D8D-F966826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2BB20A0-45F0-44C7-9980-9B99BA7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FDA104-ECA5-452C-BAE8-73C78EF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机器审核中</a:t>
            </a:r>
            <a:endParaRPr sz="13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52EB03-FA55-45F4-9EA6-431CA4D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2D1C6D-C807-48B7-B8AD-8303901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6E36B0C-1CFF-4880-807A-1EA577B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待修改</a:t>
            </a:r>
            <a:endParaRPr sz="138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927D706-E53F-42EF-A23D-95158748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47E002F-E85D-4DF0-822B-FDF675A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604F144-27B2-47CE-B3F2-2B8421A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待人工复核</a:t>
            </a:r>
            <a:endParaRPr sz="138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6862CC3-9D1A-4F08-8805-E78717A0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05125"/>
            <a:ext cx="16192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303601D-71BB-4B63-8359-D7C08BC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95625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审核完成</a:t>
            </a:r>
            <a:endParaRPr sz="13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A247360-5C37-428D-88DA-B29D772A5B9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54494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DDB08FA-E53D-42D1-A939-A5FBE182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99B0C7E-84AC-46B2-B51E-285777C2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0C3B870-A7FC-4403-BF5F-FF5D799C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362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95FCC0-6963-4BC0-B148-4FD99D50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机器结果和人工结果必须同时保留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B4617BB-63E0-4D9E-8C68-6000C06A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EE26B8A-E946-44AB-9364-41B810A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5672651-D2DF-4380-A40B-586CCC9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最小追溯记录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FC25ED7-BD3D-4857-8766-CF37B1A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CF5B69-E805-4B0F-820E-661EC327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机器原始结果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424F597-4AF9-4873-BC0D-8C9733F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630E01-773C-436D-BDCE-912BBAF9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人工最终结果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D52B577-3BC8-4279-873D-FF9F26FD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B60E81D-F6F6-4DFB-9E1B-C4E1235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修改原因、操作人与时间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EE3EC7B-F2FF-4925-914C-09D99728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3783BA7-93CA-46AF-885A-11B5FBE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最小版本绑定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148D95D-1205-4791-BAF4-1013D84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395D87-83F8-4780-AAA1-C3CEF1B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内容版本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FED8DC5-0F99-434B-860B-21889EC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A0E4A1A-F9CD-44F7-A882-A56E504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规则与知识版本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85C9DB6-A80C-44F8-AB45-2FC9AE3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6550C2B-65E1-4963-B2F7-C7069206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模型与Prompt版本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671E2B0-FDD0-48AD-87F8-462388BD66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42092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6AD524-833E-4CB1-A7A7-6BC89FD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7B72EDB-0BB6-4CCA-87E0-F830FA5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5EC904C-A5FD-4B37-AC6B-E53CC813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496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4A7F9C0-1CFB-414F-AD7B-FB66B9C9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内容修改和机器失败都不能偷走安全步骤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8F95024-915E-41D0-ABCA-83AE1FD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494AE52-B4CA-4891-8B54-711B0C0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042813B-4698-4300-9FBF-403AAFB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内容发生实质修改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9D1B94A-5BEA-4AEE-A9C6-32ABB4D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生成新版本，原审核结论不再适用，必须重新执行完整审核。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22EE2F1-05CF-4F3B-8E8E-DBD7C09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DC2B043-0B27-4744-94BF-5F8D115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机器审核未完成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6EEE1B4-0225-4F65-9130-B44F0FD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保留已有结果，允许有限安全重试，再次失败后转人工。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0DF4B4-DAB6-42CD-8423-0A55BB5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5C3C06-D54B-4039-9385-2C95248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统一原则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814D7F5-2C0E-42AC-A545-2D496860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没有完成审核，不等于审核没有问题。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12A1227-B460-4932-978E-3990522A0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2835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7951279-AD19-4F10-810A-FABAB28D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FLOW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4380B97-57DC-488C-8135-5BCEF92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9D63A3-77ED-4B52-A4B9-4F3BEF7C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630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4F47331-8AC2-475D-9DB5-89CC4CD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完整案例从V1走到V2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AE54D7-E721-45A6-BF98-1BD69E60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B98F44E-E494-4900-B92E-1EE1E7C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E18EF2-5E78-44DB-BA7E-37502236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764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F0C63D5-0B71-4436-9EDC-5F227B1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421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3FC1585-1DC8-4A9A-A7C7-46EF845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079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C07EE88-3D30-47CB-8A56-C25961A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36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389D913-734A-470A-BE63-1B538ED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393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62B4C7B-1734-44AA-ABBD-082B898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FA4DBA3-BA1D-4204-A375-4730D98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C1B2344-C541-453B-B9D0-DE45BDA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提交V1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E25CD80-292B-4B57-96D0-96B62FE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F250B0-FFA4-4C86-A69E-8AEADCF4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E1AE5AA-4B77-41C2-9AB9-7D157F7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发现4项风险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1C131CD-A315-40DA-81C4-C6BDF2CD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FD79B01-BDB2-4CFA-BF77-D7747CA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A753CAB-E016-457E-8942-6D6144EE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转人工复核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925E958-46F0-4274-AD77-D190349D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AC02EF-0A73-4C28-9166-47960E9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AA981A7-A97B-4CF9-822C-82A0B6F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驳回修改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CA509B5-782B-40A8-835C-96FE000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35E725-C1FC-488F-85B9-A3820D67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02AB1EE-0235-4585-BCBD-A09B4C79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生成V2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0E6E48E-2533-4ED8-89DE-4AF4BC7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9CD7551B-2A59-4E1B-9370-D83250DB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F37A7F1-4A01-447B-ADEE-F372B42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重新审核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42D425A-B143-435E-94F5-24BDAD42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C3D2A5B-21FB-441B-A575-A0DB79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15D356D-23BA-4EF5-B06F-4A7DFA0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预审通过</a:t>
            </a:r>
            <a:endParaRPr sz="12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6BA855-123F-451A-8D70-FFF36FA765E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00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9E41FE-15B4-482D-BFED-867CC07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1C5FBDF-5A06-4F85-AAAA-1E3B7D3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BDA2BB8-386A-4716-B0AF-24D61E9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764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01F15E4-D80D-4E5B-A936-275E4A5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04 MVP范围与能力优先级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44EE3AB-FC4C-48D7-A34F-2CD11E5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4597D4-6AED-4D62-A3D7-4D4E4E3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第一版不是功能最少，而是验证链路完整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572FF72-B649-4894-89E5-E7BD282CFDA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64493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48653CC-3CE6-4524-9C03-F733C6B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13959E6-0967-4389-BB3B-D8FC893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7CD8B1-3739-4261-A23A-3C9E023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5898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353335F-D05D-40D6-B5C0-6A7AE75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MVP验证的是最小审核闭环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BADB8A7-F3D8-46FA-99CC-C62503B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F3A39E-EA2D-4F3F-B199-F963DC96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81833D-6D83-4B77-8F82-58BC861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85975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功能少不等于能够验证价值。</a:t>
            </a:r>
            <a:endParaRPr sz="162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8A63C2E-D9D9-4028-870A-1C28A63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6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DDAA594-A117-48ED-9CAB-E625001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908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2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第一版必须同时验证能力、效率和安全接管。</a:t>
            </a:r>
            <a:endParaRPr sz="16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41188E5-2B4D-4857-8633-D2839FD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4A9F6B-7D6A-472B-BB59-7209967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F13E57A-4B54-48A1-8EA4-839F26C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真实提交 → 机器预审 → 查看结构化结果 → 修改或人工复核 → 记录最终结果</a:t>
            </a:r>
            <a:endParaRPr sz="192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C380E0-DA5C-4632-9B68-49A5A457766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9519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A654041-2B54-40D3-B971-3D5654D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AA5DD13-6973-4343-AEB0-D5BD4C2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3688C32-2616-4337-A5C2-E05038F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03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1F88F6A-D8CB-46D0-A03A-FA7C873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第一版要验证三个核心假设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AA70A2-A29F-4E40-92E7-1B593AA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75B87E-4F0E-463B-A7C7-2287BEB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F8749CC-1828-4C3F-BCCB-F5F98039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发现更多有效风险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D596E2-778E-4011-ACD8-5956322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混合方案能识别纯规则难以覆盖的语义风险，同时不过度增加误报。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CD20292-AFAD-4A0F-B798-A9A76F7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C4A1B58-181D-4442-8B73-0639EDD2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减少人工重复工作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8ACF30-6B6E-401F-AE8C-25ACA80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机器提前定位问题、提供依据和建议，人工不再从头检查所有内容。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A0CD3DF-71F4-4DB8-893D-B8219D1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835DE7E-6218-40A6-B737-D307069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异常可安全接管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DF393D-2D5A-4F01-8041-83F55BB7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不确定、高风险和失败任务可以完整交给人工处理。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1BF238A-938A-417B-90BD-CB93FE90A7D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99111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6D1FECD-B864-49CC-8C8C-156159E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B687399-89BE-49A8-B695-18D4D42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00CED4C-8149-4C09-9211-0CA33721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166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B207D9-13A6-436E-8105-D1F3747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PoC、MVP与完整产品回答不同问题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C8C89B9-10E3-4099-8640-03ADC16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FD0340-2657-4523-B9F7-4DBB695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0925BD4-7E72-4CCE-8C51-E9602D6B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阶段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83B4636-8CEC-437A-8B03-9D6DEB44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485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FB4A12C-357B-440F-AEE1-E38BC81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4787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核心问题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515071B-6F0A-40A8-ABD7-A06C2DC6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E48346E-22FD-4831-AD98-1B621EA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需要具备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E18135B-3530-4444-9212-FBF354F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21F9F0B-2427-4847-AD84-BC8E42AC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能力PoC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3630B3-4154-460F-A6DC-F6815FEC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281E52D-A5F1-43CB-BF87-3A3316BA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技术方案在历史样本上是否基本可行？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8338B28-8FE4-4508-A155-23AE5C0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85B43CF-FC36-4011-ABA2-AD74F21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43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样本、规则、模型与离线对比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ECC62C9-6213-4714-A6E9-7A6BFFD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3D86775-3168-4296-A9FC-AF283ABE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产品MVP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14B30F7-F1C9-4FC1-BE33-F87D9DA6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6FA25AD-4B21-4F50-AF1B-CE1975FB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进入真实流程后是否提高效率且安全？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969F65D-6BBE-4B6B-8103-FE47377E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F0C4E2E-BE6B-4843-95B8-7160D5D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真实提交、人工接管、结果记录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47A3885-8706-4D6E-8C62-6F167AE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2F27168-2DAC-4B40-B815-9C1C9778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完整产品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B403D48-13DB-4541-B6A9-3F8A12A6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71875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A6347F2-EE40-47F9-AF08-D1F1A1E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480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如何支持规模化、多渠道和复杂组织？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628C015-BC3F-4953-8E79-3FB64F6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1253918-F3EA-49BD-965F-AD13024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480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多模态、权限、批量、发布与运营平台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1F9C016-6B89-4CE8-BDE1-AAE1547C49E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9340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A9A857-BE4B-4408-B83E-FA02F2E7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79D2136-E2C1-4603-A9BF-E043C50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AA793A-A639-4B6D-9029-EFFB09C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300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040DCFE-C8A8-4342-A40E-86BC5B2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功能是否进入MVP，连续问四个问题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58E1466-DDD4-4DD4-8A8A-8248C72E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5FE30BE-B3D2-4FF7-B4DF-C6D105F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2748552-626E-4D98-8F95-32559224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65BD9B-88C2-459D-BB38-C18C1BC3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3547A1-B176-4804-98DE-A976F48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040A230-B43E-469A-88A7-B556BFF9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3F1CD8-982B-422B-B4D4-4388D236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是否直接验证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核心假设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37368F1-0923-42B5-BA52-666846F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99142CF-7E01-4E88-9B37-D21263B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2DD022D-71FE-4D2B-9CD1-1FD6B2CA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缺少它是否无法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形成闭环</a:t>
            </a:r>
            <a:endParaRPr sz="144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4196AE-AFF1-47F3-8B41-12983F8F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007FD5-61C1-43E5-A743-F7D47A8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0D10380-15C4-46E6-AD8C-4B74EAA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能否暂时由人工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或简单工具替代</a:t>
            </a:r>
            <a:endParaRPr sz="144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28E2B68-B15E-46A5-9911-001AD66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33650" cy="1104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6A1C8A6-A749-45F7-9D68-A79592EB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4B8A12-F014-4B21-BD42-0F34C41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48025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投入是否会显著</a:t>
            </a:r>
            <a:endParaRPr sz="144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4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拖慢试点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DBD48D-B6E1-43D7-83C4-11B75AE0506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20633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5F66F23-477C-4736-A828-25909B3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F02929F-1119-41B2-A824-21C1B6D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A7C3818-5432-4296-8B89-B8392F7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434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45E0C4B-C7A6-4AF5-9B71-373441C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第一版主动收窄试点范围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CC34511-9673-4A09-BF39-3D3EC84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5083F10-1BF4-46BA-B638-9F9654A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4ED2BEE-1055-4DE6-BEFE-CFB0535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范围维度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76B5712-97F0-462F-9D31-17B6DEF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BAC397-255B-42EE-824B-46C27CD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478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MVP选择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710B311-E4CA-47F4-86BA-3121AB2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E467C5C-23EF-4803-914D-5CFE7B1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暂不扩展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009E8CC-190B-413C-B975-DCD15EC6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9CD5922-6FB8-4B09-A04A-D4D9474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内容类型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433FCF7-8FEC-4154-AE42-D00FEBB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6697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85C7CC7-D77A-40F4-9BA8-A167777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文本营销文案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A481AD4-6DD5-4828-BF1D-8A2283CA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669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EA172C-1289-4C71-8BDC-109B4C6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图片、音频、视频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F6695B64-FDE2-4B91-A374-0889E39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9ACB52-DF90-4A65-8D31-2E846B3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业务范围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152D200-5868-4D98-9A6C-A15FC0A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D6755BF-E800-4067-BACE-E3677AB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一个业务线或高频场景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734AB01-CB2B-490E-8ABB-6506CF8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194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1DB64E4-5138-40C2-8BD9-C5C8D603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全部行业与组织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58A294D-7A04-4E4A-8B62-724276FE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5D5C521-7C85-4402-A570-9C5026EC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渠道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B6D342E8-1310-46D3-A9FD-B6CFDF9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C76D92E-3279-4345-8ECC-7F7567B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480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少量规则相对明确的渠道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CCE83D1-4CCC-489C-A955-8F63155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9E87514-776E-4C54-90D2-8A2BCD2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全渠道统一覆盖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BF88CB8-91ED-4013-B7AC-A97B595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879336A-3A66-4953-B5F8-D3003A5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处理方式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338C3A5-D917-411E-85FF-8075FA5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466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BC26252-C50F-4CEF-9079-21D278E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00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预审、修改、复核和重审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3999B5E-DB41-4CAE-A5CC-79403A9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AB49C0F-7BD7-4805-81A3-8509502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00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自动发布和处罚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19050F3-8F17-44CE-8091-AC98D0EE8F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338584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6FFEE2B-7651-44D1-9A91-EC085DF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3D077C6-0235-44C3-BE11-9F12DD7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6184CA0-77BF-4BD7-8CA4-0DC450BF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568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C4BA0E-CB48-4A18-B66C-F52A115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MVP必须具备八类能力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6E539D1-DF84-441C-BB9A-731C9C30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DA609F-0FF9-4DFB-85BE-246EB5D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F535161-CDFE-414B-98C5-20F9159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提交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E0AEBF-3ABC-44C3-94D5-9CA7A63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文案和必要上下文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96FDDDB-E916-4B16-9FA1-6B3368E8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B3D3C2B-8438-4E5C-9BE0-C043D567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582C121-4DC0-4C49-BD80-D88260A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确定性风险检查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0589247-6480-4850-A3A6-9C0F9CD7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76EE1D4-CA68-46E4-AC94-5274BB52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RAG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C35C0C2-5935-46FE-AF98-C55AB94E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当前规则依据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AE4FD22-35B1-49BB-90E0-599E19F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B79F88A-D863-4331-A848-21A6FBC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大模型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A200A9A-3BB7-4346-A944-CD7FB510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语义风险识别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AB1B37A-9F50-4B11-B161-750498FE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699F39D-785B-4CBE-AD48-95EBED0B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结果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C2B709B-5357-459E-B5AB-FC8A3C25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结构化展示与合并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05A97A6-E125-4C53-9F24-F4CE9CC1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6930BBB-3D62-4094-B899-575214D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分流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D04A926-73B1-4D70-87B1-B37965F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通过、修改或转人工</a:t>
            </a:r>
            <a:endParaRPr sz="12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34E1EAA-D62B-4DF9-A0E0-165935A8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09F5AB-FCA1-4523-AA07-9A172188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复核</a:t>
            </a:r>
            <a:endParaRPr sz="174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0FF79E8-EC0D-4175-8260-D26BB2E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人工最终处理</a:t>
            </a:r>
            <a:endParaRPr sz="126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8F820DD8-2593-40D1-8B93-BB7EE516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63414EC-3DA9-42EF-8336-C6D85AC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追溯</a:t>
            </a:r>
            <a:endParaRPr sz="174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0B3A5A-D638-4D73-B278-E2B9EA29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版本、日志和失败记录</a:t>
            </a:r>
            <a:endParaRPr sz="126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269401-6731-4CDE-95CA-FB21E3145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127125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BBD77AF-0BF7-40AB-817C-82CF38BB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35798B-DD91-47A7-B231-08E595C8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6EA6ABD-F06C-4258-879B-5DEE2A3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702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C64DC7F-39D3-4A75-B54A-8AA32486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这些能力暂时不进入第一版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5AD720-532E-4F98-930A-A2FD87B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79CB47-D198-45FE-8C23-D0C528AF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34E4830-ED7C-4DFC-ACE4-738CBF00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多模态审核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EC55C8-0221-4EFC-8BFC-3871DEF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图片、视频和音频会显著扩大技术与标准范围。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82512E6-0844-48A3-9850-4399178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A7C45F9-86AD-473B-A53E-A72F323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自动改写发布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1D9639-0502-46FA-9614-CFFB5B14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不能在未确认事实和责任的情况下直接覆盖原文。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E59615C-FC95-4043-AEC0-92A0FB41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EB1DFE5-764B-47E6-8362-C2886A8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完整规则后台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C4A8CB6-E5D2-4CC1-83A9-9082C3D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第一版可以由产品与研发预配置规则。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2052C2A-096D-4251-8105-F5466C6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F2C0136-DF0B-40BF-BE1A-2C067F6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复杂审批权限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43F276-1ACB-45A8-BD7A-2D91788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先用最小角色和人工分配验证主链路。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17FBB3F-FE59-4B10-96F9-57BB21CD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D7F98B-99F7-4DCB-AF5F-EA0ADEB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Agent自主调查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06A0BCA-F04C-4FE8-9BAA-7B3BB977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关键审核步骤不允许被自主跳过。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932DCEA-613A-4219-B2A8-E90D2BEF52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39698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84CDEE1-4CAA-43C4-8FAA-6825B73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AE3129D-5F5D-4358-B701-B787DCD0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33E5189-42CC-46CA-B8A4-57DD8F8E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836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E029F57-B2BF-4D16-A79B-6350A1B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能力优先级围绕闭环排序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8A77FC8-C73D-482C-BFEC-2DE6D41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2606A2F-E2AA-4268-BC3A-DBD3704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0AC9A54-D720-4FE5-90FB-EB42698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P0｜没有就无法试点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D6ED535-E5FC-4B05-9357-1ED6873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提交、规则、语义审核、结构化结果、人工接管、重审、日志。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2BECEBF-E18C-4E21-976B-97196E4C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CE83A6E-9D7A-42AD-95F7-28E8FFE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P1｜提高使用效率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B66EE41-BFBF-49D2-A576-6895C48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更好的任务筛选、批量查看、修改辅助和基础统计。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DB894A6-8535-4358-B07C-493E6AB4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EC11311-C6F9-4AB2-B257-127EE494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P2｜规模化扩展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557E1C-C647-4BEE-A70E-25A40B7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多渠道、多模态、完整规则平台、复杂权限和自动发布。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A27B31A-4BD4-4424-A35C-5FC5CE05488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022379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EB5DC56-4D49-41C6-8F18-671927C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MVP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3BB0913-64B0-49B7-8B90-BF829CB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C9EFFE-1C22-433D-B6AF-FD1618E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970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B59332-E711-4D23-A294-6317C6E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MVP采用小范围试点，而不是一次性全量上线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E905EF-DD19-4E31-A0D3-8CBB368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4B578C9-72E6-42CD-8B05-D92C620A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696BACB-187F-4C22-9186-524EC9B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试点方式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E19207E-AB24-4EA9-BBC0-B2146AC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6D1A3FB-C25B-40BC-9044-D14259C1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先跑历史样本PoC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D8F5D5C-8491-47E5-970D-0EAA680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BD03FE2-29C6-4800-A14C-05C41E8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选择一个团队影子运行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59E8500-ADF4-47A8-9755-CD4F500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126995-7E4D-442D-8A25-00712E01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人工仍保留最终控制权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DFF31C9-5425-4973-A5C7-8EDFBEB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CD88627-E41B-4A0F-A852-093FD16B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成功标准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D413D2E-D0CC-4145-9220-5F1FC36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029B8E5-F252-4662-B7E4-7DE87B57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有效风险发现能力提升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318136F-5E9F-4570-BFC4-AA75FB4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AF7D65-988B-48BD-9642-F10921C0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人工平均耗时下降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CFD53AF-FE24-4495-88ED-B6E94EC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5533FDB-F28A-49BD-B548-121103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高风险无默认放行，复核量可承受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4C517BA-155C-420B-B576-3222ABB6E9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43460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3B837B7-8906-44D6-B1AE-B96537AC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5893E64-07DD-4209-8BF9-7840FF29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E016C99-2EEE-461F-8450-1767D302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104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C28AB9-0A98-419E-8A9E-F5B8F9B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05 大模型能力输入与输出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1BAF2E7-42B9-444B-94C2-128E898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7D2ACC5-C116-4B63-A0F4-911893E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把“大模型审核”写成可实现、可接入的能力契约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599B42-753C-4986-B3C4-C5C4052115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90614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B3331EC-FDE0-4FC5-9B43-6677EE7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275A3FE-9624-45E1-AE0A-1C56D3F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02109CE-A5FD-404B-9F99-062DCD4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62767B-9CA6-4812-8863-43E1E827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一项AI能力要求至少包含八个部分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CC94482-2850-4849-8DDF-3542903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6A7E96B-D9D5-45E1-8C82-12A63F31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B3C4D19-95D9-4ED9-94E9-B33FB328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目标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A3EC2E-F775-4B6F-814B-475136B6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为什么需要这项能力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829B060-D65B-43FD-8627-7720DA3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DA2A9E7-B3E1-4955-826E-151009B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对象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27289AE-0FEA-4AB6-A171-686D509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处理什么内容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DB1325C-5D09-4212-8DD8-28938041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0007CB4-389D-4D68-BA6B-E5270E2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输入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BE3FE79-D3C9-48A7-B9EA-6457BA7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模型能够看到什么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2BAD833-E814-4C30-AAE2-C668FD16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00025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82F6AA2-BC2E-4C21-92FF-D9298D83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17170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17843CC-9D53-442E-87FC-0ECA62E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54317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模型具体判断什么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42C8C94-95DC-469A-B25F-AA768FC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249CA8D-DBEC-4E16-90EF-0D3F7E31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C5E867-EA6F-4A98-BC3B-1F46CF1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必须返回哪些字段</a:t>
            </a:r>
            <a:endParaRPr sz="126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8082CA2-96FC-4B79-8C30-E08D8C9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5CA56F4-D611-4C7F-A8F0-54C161E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约束</a:t>
            </a:r>
            <a:endParaRPr sz="174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5A11048-5204-4BCB-B34F-DCFF22A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888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哪些规则必须遵守</a:t>
            </a:r>
            <a:endParaRPr sz="126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D882CB6-E1B1-4F12-961F-FB3E474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77FFBE6-BCD6-4F5B-B202-3A8618B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异常</a:t>
            </a:r>
            <a:endParaRPr sz="174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BA922C8-5A92-40F2-B5D4-AE0D563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不确定与失败怎么处理</a:t>
            </a:r>
            <a:endParaRPr sz="126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95ABAF3-74B3-44A1-B8C1-F38EE382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619500"/>
            <a:ext cx="2528888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52C7D57-0478-4C97-9EDA-9B513D4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790950"/>
            <a:ext cx="2109788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边界</a:t>
            </a:r>
            <a:endParaRPr sz="174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6D1AB57-D82C-44A0-9BD2-4F74E57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4162425"/>
            <a:ext cx="2109788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明确不负责什么</a:t>
            </a:r>
            <a:endParaRPr sz="126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DEEE53-113F-4F26-89DF-2057079261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65312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BC13883-C204-4C4A-AAC2-B75E2A9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66D7A5E-55C4-4413-9D6C-D17805F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0599338-6287-4BD3-8DDB-1F020708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373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C7F41FD-3228-42B7-BCFF-2ABCCEF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不要让模型判断“是否合法”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4CED150-44C6-4F06-905A-DFB3522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0287F0-9FF9-44EB-8807-F5B4EFD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BF81FF2-11E0-4CD6-90FE-249203CF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范围过大的写法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55B10D-8F37-4297-B054-69AC594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7EC2E79-CD6A-4200-AA4D-55BAD06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判断文案是否合法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E2E3C7-1E0C-4293-8136-7A3B389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74705D-FFC2-4858-96F2-A63AE3E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默认模型掌握全部法律事实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AE625B-D328-4D2B-880A-BC8769E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0542100-E084-43FE-87AC-A2390CB5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责任和验收标准都不清楚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86E0A02-FA9A-4B06-B17A-3EDAEAE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5E2495D-9B67-449B-8950-BA64A6F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可实现的写法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C0AEECE-5DCF-4B89-9908-DF6F921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D4DA900-D30D-475A-BBBD-012EACA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基于给定规则和事实识别营销表达风险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4185EBA-543D-4FD3-8DB4-A25E2E96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2BD0A16-56D6-487B-BDD6-F5B516B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标记原文位置并说明依据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DC5DB79-7A70-49BB-8859-1369823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98E9EF7-4A82-4094-B6E8-15CF0EC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输出后续处理建议和不确定原因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8D4F21-BFA5-4508-BE92-0B6C466C639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215446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F66F83F-58C4-48FF-8018-D22A404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17CE525-992A-45CF-82D2-6579142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A8667EF-CB1F-4762-96DB-06AB46BE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507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190EB2-AFF2-4A11-B80A-90B047E2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模型需要五类输入信息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14F6189-E73A-4405-AA0E-CC63D75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0385AA9-6717-4E0F-BBB6-B7FF951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8EB80F3-6878-449F-8A0D-9F253A5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完整内容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70A933-9CC0-4173-ABD2-5527ACA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标题、正文、按钮文案与必要上下文。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7B04052-E0FC-4451-AE24-AAC81EF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8139816-D85D-4951-90D4-9260B3BC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业务上下文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445F8BC-5516-4DAE-9A75-A11F1A6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产品类型、渠道、用户、活动和内容用途。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A379AAB-972F-432A-9240-E90AFD3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1BC3FD9-D63E-45B5-8A4A-2B03FC9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产品事实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AFE557F-EA9D-42B2-8AF3-3013C3AD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功能、适用范围、数据、价格和官方表述。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FD3C3B-FF79-419B-82B1-F323AF3D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E3982CE-4EE6-46CD-B135-85711AE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审核依据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5B1732-8674-40BC-BE93-57CF54A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当前有效规则、解释、案例和版本信息。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C788871-2AF4-4433-BAB4-FF28514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37B8453-452F-446A-A479-10BFD95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输出约束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687AE9F-C42D-4220-8CCB-85A67D0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风险类型枚举、原文定位和JSON结构要求。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57B6772-0555-45B0-AAFC-BE60D75700E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078932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696AC06-E7C9-4595-923D-CBD2ED5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3C91971-DF5D-45F8-8757-8FEAC95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FEDCCB5-4A18-46E1-B541-9672DAD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641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600BFB-8993-4387-9B0B-8237010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模型输入不是一句Prompt，而是一组受控上下文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C79CEED-523A-425E-92C4-92EE6F5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DDBC8B1-D4DE-4035-8D96-3719A14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BDC41E-DB49-441D-8305-AC93D12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待审内容：完整营销文案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业务上下文：金融产品｜小红书｜成年人｜拉新活动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产品事实：历史收益数据、统计周期、风险说明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规则依据：当前有效规则V3＋正反案例</a:t>
            </a:r>
            <a:endParaRPr sz="1260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6EE7B7"/>
                </a:solidFill>
                <a:latin typeface="Menlo"/>
                <a:ea typeface="Menlo"/>
                <a:cs typeface="Menlo"/>
              </a:rPr>
              <a:t>输出要求：限定风险类型；必须定位原文；信息不足不得编造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B7BFFED-C0B4-4B4E-BD00-EDA80C33B2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467712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8E95693-D9EE-4789-ADDF-F7A890A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C582492-1DF6-4D44-B595-00A0129A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3EF4912-F83A-4610-A155-DCE54BB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775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62BFBD1-324B-43DB-BE40-DA58D9E7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输出结构必须能够被系统稳定解析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3D251DB-CBEF-4FCC-9995-C1432E1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3D71DA6-C36B-4D5A-A201-07E906F2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31016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B1AC82F-B3DE-48EB-830D-3FA5179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{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"overall_result": "need_human_review",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"overall_risk_level": "high",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"risks": [{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"text_span": "完全不用担心亏损",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"risk_type": "收益保证与风险隐瞒",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"reason": "暗示本金和收益不会发生损失",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"evidence": "规则V3-18",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"suggestion": "删除保证性表达并补充风险提示",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  "need_human_review": true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  }]</a:t>
            </a:r>
            <a:endParaRPr sz="1056"/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56">
                <a:solidFill>
                  <a:srgbClr val="6EE7B7"/>
                </a:solidFill>
                <a:latin typeface="Menlo"/>
                <a:ea typeface="Menlo"/>
                <a:cs typeface="Menlo"/>
              </a:rPr>
              <a:t>}</a:t>
            </a:r>
            <a:endParaRPr sz="1056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2FF54DF-0C19-4D72-8209-8465BCE7828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945861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1B6831-8076-4DFF-84A7-53D451A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57D7D0C-4298-4A90-906C-3346203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C4CA61-943A-4A9F-BF28-6BFB609C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7909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23B8D9B-A003-4348-A0AC-0BA05AD8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模型提供判断材料，系统决定业务动作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FBF3352-13FD-44D9-8611-DAA3676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D441AC-91E2-4938-8BC9-651B012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46CADB1-64DD-4FA7-AC9C-FD8DA91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模型结果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9332173-87EE-4E20-91C7-A1F7A28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5F0DF29-06EF-4FDE-9D30-50F95D9A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系统继续检查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64B7FC5-4AF8-4CBF-9C87-63F2E6E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997D30-B8C8-4AD7-8146-62CF420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后续动作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97C7727-0C3C-430F-8760-032980C0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D8B91FA-4384-4DEC-8C58-DFD5273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未发现语义风险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5D8F1D9-D5FE-475B-B9FE-CA1FD2E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669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122AAC1-E86D-4220-9734-DC8C67F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规则是否命中、调用是否完整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7C2C5B0-AB98-4137-BE6A-AD3E8DDC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6A19476-80D3-4391-8953-BB80277D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31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进入整体结果合并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5F31350-5060-413F-BC7A-FE9EF649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CB2C38-B6CA-498E-A452-14A408C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低风险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754EAC1-0D7C-480D-93B3-9F32438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CB701C4-92F2-48BD-8EE6-09C7202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是否允许运营自行处理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905B03E-244C-44D9-AEC3-032F3F25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E5C3B00-50CC-44AB-9102-F5E8209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建议修改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E57964A-754B-4F63-B6D2-1240E449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58AD35-ED57-4860-8541-FC2D78AE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中风险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B6BABC1-7F1B-4C66-B611-66CEC94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07018EC-59A1-4A2C-895B-C8105A68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48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规则要求与业务场景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59EC980-309F-488B-8FCA-8DBC3BA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55F40E2-6688-4CFB-BA88-89FD67F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480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退回修改或人工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D1894657-D0DB-4C1A-8946-7ED672A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0EE4E75-3DF4-48FE-859F-39CBD3B8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高风险/信息不足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EFB3FB2-40A6-4070-AE05-5540EE1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DB1F87BD-BFB7-48A3-9D6C-698B4B02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005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高风险路由和缺失信息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A25A0413-7C87-42C9-8529-EC94F71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493C0A5-E236-4AA7-A3FC-8F979802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转人工或补充信息</a:t>
            </a:r>
            <a:endParaRPr sz="1236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E140217E-3AA8-4499-96E2-7D5928A5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12839AE-66D9-4E4B-9A7B-9E8B8386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输出异常/调用失败</a:t>
            </a:r>
            <a:endParaRPr sz="1236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2151779-D0AE-4F74-BF70-69D256A7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10DA27FB-233E-4915-9681-E5BF297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529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能否安全重试</a:t>
            </a:r>
            <a:endParaRPr sz="1236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646DC86-9DEC-4794-9273-50DF7DA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6775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2A0E227A-951A-428A-9FB3-B626183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529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重试后转人工</a:t>
            </a:r>
            <a:endParaRPr sz="1236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FE3400F-F19D-464F-B158-F816DA673FC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59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9131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73C238-A7D6-4DB4-BFDF-C27A60C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000DFA6-5294-4063-80FF-AD5F415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EC71259-F2D6-4862-A1F4-0FD3209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043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4E377B9-9860-405F-AA57-CC6B1E78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修改建议和最终改写是两个任务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D988A6C-6969-4F6D-A444-1275C784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EFEA1DD-DFD7-43A3-8E27-0ACF0FEF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DF91AC8-0722-4F0C-A144-ABDC137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模型可以提供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CF82909-560B-4A5C-A8EE-7D027D16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A576A3-9C42-4188-ABE9-94BE8FF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应删除或弱化的表达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B1D7743-BCCC-4DFD-9F19-D5F446A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26783C1-4E23-4AD5-87FD-6F5FD738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需要补充的限制条件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1395AA2-98E4-457B-930B-F51AC72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6E438F7-97BA-43BB-B683-E84CF2B1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一条参考性示例表达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2274574-2370-4159-B8B6-7EC1BD9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79FF06-B782-4B60-A073-C41BB1B6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第一版不能自动做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15F9030-A222-4984-8524-BF043570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8DF667-650C-47B6-B252-F6702FE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直接覆盖运营原文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508215E-84A2-4C40-A273-0C2720B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F95BF1F-9092-4B9E-B7AA-A90ADC58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跳过重新审核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767D1B2-D08B-4F7F-B83F-10531E7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0AF3C26-B85F-4581-B5BF-E122D71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在缺少事实时自行补充内容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9DBFE1-9294-4880-8F5C-9548FF243D2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95476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52005AB-811B-4934-85E0-8354D26B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7117C6B-28F9-40BE-A8CB-FF97E72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80F0CD2-D224-4802-BC65-E06519F5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177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AB9828-5EA3-4A70-81AA-3AFB375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不确定与失败结果也必须有产品定义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E9AB526-8D1A-47F8-A67D-37D073A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5B908D-95A8-44A7-8C68-58C1235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600A55-3E82-430B-A164-E7A46D6D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信息不足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A8488F-F823-435F-B2D4-A03D0C4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指出缺少什么、为何影响判断，以及补充或转人工。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24460E9-4886-44F5-8578-27BD1224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2E8D32A-4835-4654-925F-B79B05C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依据冲突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6BB7E5-BA0C-4A00-81AB-F959D4D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展示冲突依据，不让模型自行选择最终结论。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8936D5-DD2B-49BB-8688-F0366438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3C1FE9-6C6E-4C55-9D77-58BE6CA5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定位不稳定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CFEB72C-BEB8-4D71-897A-3D7A603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允许返回段落级风险，并降低自动处理程度。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C56AF-76F3-410B-BB04-B51777DD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6E2DFC6-8341-4771-9AAD-1EDA5D4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结构错误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1FE7928-0509-48F9-BD0A-A049A70B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缺字段、值越界或无法解析都视为机器失败。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2427706-6159-4F16-B97E-1061841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F52B753-076F-4895-AE07-C2D283B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调用失败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520681D-CACF-4C55-8953-9C6F79B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有限安全重试，仍失败则转人工并保留记录。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CC5AAC-ED8B-4C77-A5B0-E1C384D317F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30592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E2A6265-8C1B-4CA4-849C-34824BC9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5D0A4BE-BE66-435C-8064-A318084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8A454F7-C901-4007-9AFF-8C71E355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311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0F7373-5746-49C4-B6E4-C541B3E8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AI能力边界必须写进PRD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8635D7D-FF30-47EC-9186-564B934C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A93DB25-3807-4AD3-B097-9ABB6CC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4DDF543-9BB1-4476-88E3-1138429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模型不负责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879CCE0-2235-421D-8309-42CAF0D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D1F877-F3E0-4DDC-B2E4-F4BE8A9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47875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原因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0F0BF5-41DF-4711-943C-0BDC4DA0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33288D8-9DD5-4B7D-8812-298BB3AF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替代法务或规则负责人作最终结论</a:t>
            </a:r>
            <a:endParaRPr sz="1236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01A60FC-5CE9-473B-9FA4-DB124EB6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669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B60A1E4-48AB-4FD5-92F3-A9A5C03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431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模型不承担最终业务与法律责任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69B7DAE-F4D0-4542-8B77-3C26323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D7F94A5-E939-4E20-95B0-8175987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判断未提供证据的产品事实是否真实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459091F-40CF-42F2-B3D9-38BC9E9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9DCB0E-9803-4011-82AE-FD34924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模型不能凭常识补齐内部事实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BF54E99-DFBB-4308-87BB-D2F9EDF0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E3FE523-5645-4566-A62E-221DDCB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自动放行高风险或不确定内容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1E4318-A227-414D-9356-2EF89DF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9CA062B-0DC7-4322-BA3B-97191DC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480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业务动作由系统规则与人工控制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A663CC3-7081-42BD-948B-A6601AC0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D3D9BFD-5DCB-4F8E-BB17-56AFC68B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自动覆盖原文、发布、删除或处罚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DD9DEA-6FD3-40AD-AB69-3D2207A6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2432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9361D51-C4B2-486F-B88F-0E606BD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005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建议仍需用户确认并重新审核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9022581-F318-4E3B-9F73-BFD92BF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33A3C32-A97A-40B7-888A-0C91D17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在缺少依据时编造审核规则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300DF00-A183-4583-9061-F9755111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76775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CD4744C-5299-4DDD-B776-E2AE628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529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必须允许返回信息不足</a:t>
            </a:r>
            <a:endParaRPr sz="1236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402B35F-67C6-4486-8593-153CE856A51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202300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67FE35B-D9ED-4536-B12B-29B6956E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CAPABILITY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D4A0A8A-4C07-4E9F-ABE1-68F91C8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01E7A3D-3A94-4A17-839E-00E02CD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44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EF8A0C5-C126-4D87-A190-8481ABC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AI能力卡：营销文案语义风险识别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36A19FC-3F10-43FC-8960-183BF989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EE41A0C-DEE8-4119-8E29-3B7C87F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43E7743-625A-49B9-85C1-511D7051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10ECD4-C01F-4DA2-B09C-64D5192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目标：识别必须结合上下文判断的营销表达风险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B07AAA9-74E6-401E-BEB8-B09B3950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8E82D67-6E89-42CE-8EF9-4F5D8D81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0317F3-62F3-4B60-ABDB-807E477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输入：完整文案、业务上下文、产品事实和当前规则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C51468-E8C9-44D4-891A-E36161E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AD18007-B575-4234-99EF-F9EAD316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C556093-1A4A-4229-99AA-69614FE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输出：风险位置、类型、等级、依据、建议和不确定原因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E8508E9-3BA1-48BB-8C97-876019C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63365F5-88D2-4904-8E52-FDC25DF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AF7C642-2D8C-4289-9C47-3D6CBCD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异常：信息不足补充信息；冲突、失败和高风险转人工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DA4A61-FFD0-47BF-AD4C-58610DFF776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31820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938DC04-58B1-493E-AC50-66C6CD1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A263C41-7DF2-4EDB-88F2-4C846206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D9131DC-1CBC-49E1-9E42-B061438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5795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7706EC1-310B-480E-8795-E8CCFD3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06 评测集来源与验收约定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450E5-558F-4068-ADFA-5590C8B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0E18C94-D0D7-4986-8280-FE3C2DB3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PRD要提前说明拿什么测、谁确认、何时重测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9C2B831-8C2F-40FC-9CE3-32440414B1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296694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E6BD030-1CD2-4E69-8E93-52A65E9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5EC4CED-5115-4A3D-BA63-2D20F8D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1D8093B-05E7-4E87-861D-C1457D6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713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871ED3-A2B6-441E-9445-E4353D8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首版评测集来自五类真实与补充数据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8C6567E-43BF-4C1A-B6A5-B25FF72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4153E7-25AE-4E3A-88F6-F925693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EF965AA-6045-43D4-ABF2-C5639FD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历史记录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AF96CC4-9A41-4F38-879F-2D4F2EE9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通过、驳回、修改前后版本和人工备注。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232E011-7553-47C5-AD74-E5DF0A3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1F5449A-712C-4417-AA19-AC531E6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高风险案例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84CE45A-6F3E-40A4-8B24-1F68C51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投诉、损失、红线和不能漏掉的典型问题。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9E7EEF8-BE6C-4633-8361-FD527B44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DF174CD-4F90-4A91-8140-DA8F19F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争议案例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EB826E9-00AF-4040-A219-FD90EEA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审核分歧、申诉、升级和规则冲突内容。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E9B6F66-2B17-48FC-B812-7BD3BB7B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2326DF-9552-4E3C-9DDC-E8031C1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近期样本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E447AFA-F84F-4DF1-977F-538EE6B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最近业务、新产品、新渠道和新型规避表达。</a:t>
            </a:r>
            <a:endParaRPr sz="126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3694906-DEB3-4721-AF71-39EAFFA9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19500"/>
            <a:ext cx="3441700" cy="1409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FD8158A-9758-4182-92A7-E24573A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9095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边界样本</a:t>
            </a:r>
            <a:endParaRPr sz="174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BF94643-B12C-4942-B833-9325884D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162425"/>
            <a:ext cx="3022600" cy="752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人工构造并用模型扩写的正反与临界变体。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3CA294D-DD4F-468D-A231-002D0BAF1BA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8287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FC67E65-E8A4-4D8E-BF7D-FE5D6BB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D4F51B1-5112-48E7-BB91-4514596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1CA5339-BF4C-4B1E-ACB5-F55CF85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8476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9196EFA-D806-495B-A72B-72F8A66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历史标签不能直接等于标准答案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FFDB055-DEED-4F61-8A2C-42DC9FD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F5E9DA2-07DB-4CA8-BB17-2424BCDB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191B"/>
          </a:solidFill>
          <a:ln xmlns:a="http://schemas.openxmlformats.org/drawingml/2006/main" w="12700">
            <a:solidFill>
              <a:srgbClr val="FF8A7A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B6DFB6-4CCB-4546-AD24-751E16C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FF8A7A"/>
                </a:solidFill>
                <a:latin typeface="PingFang SC"/>
                <a:ea typeface="PingFang SC"/>
                <a:cs typeface="PingFang SC"/>
              </a:rPr>
              <a:t>历史数据的价值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F171BB3-8A4E-4EBB-B370-61660DF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661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来自真实业务，能够反映常见表达、风险分布和人工流程。</a:t>
            </a:r>
            <a:endParaRPr sz="144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244EE8A-F001-4B28-9709-3C158B3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83820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0E36E8-23C2-487A-9059-A64DCB7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历史数据的问题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22A346A-95E2-49CC-B910-5AACE06F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86125"/>
            <a:ext cx="566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人工标准不一、规则可能失效、备注不完整、旧错误可能被保留。</a:t>
            </a:r>
            <a:endParaRPr sz="144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596EA3E-239D-4A45-93C3-E0CFD3C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7429500" cy="895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B88154E-CAB4-449F-9F98-6D2055B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进入评测集前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111B55D-472B-44B2-A8BE-40368F9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291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4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历史样本抽样复核；高风险和争议样本逐条确认。</a:t>
            </a:r>
            <a:endParaRPr sz="144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43C9391-6B23-4B87-A5CD-D2BF549DA48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36786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46B508-E869-40EA-8F49-159A48A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4396117-2910-44A7-8D72-9FE4FBC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4B93936-D7E8-4392-9EB1-806A53C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89817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C42C198-C1AE-4899-B375-D938A47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评测表每一行都要包含输入、标准和版本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9E5A832-3643-415A-8916-3368BD6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D011EDE-B2AD-4DA3-9A1D-DE6723E2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F90E98-0460-403B-AF69-776FCCD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字段组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9D076D5-743E-4467-A50D-95B0690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37C9DCB-A350-4587-AEC2-EF928F0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典型字段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C525FB5-9D4A-4702-B0C1-C35AC3A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575E35-CC19-4E01-A763-3671CAC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作用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6A1AC35-D215-4BF3-A929-A946671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C578296-0A19-4C30-BC89-065FBB3C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样本输入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124E67A-FC6D-4B75-B40E-8D19FC5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24EBD2B-69FE-488B-8A4F-12A6313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文案、业务场景、产品事实、渠道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EC1B716-5BCB-40D4-A175-B0C6E45C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669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2A2D102-23AB-4309-A535-1752485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还原模型实际可见信息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82523E3-BE36-4DCE-9C5C-9767EB50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74A0F27-59DE-4D96-B77C-9587739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标准答案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08C2E50-AB08-416B-9717-540CAD8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EB03C1B-699C-44A5-AECD-5725DB5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风险类型、等级、位置、预期处理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D256B01-0709-48FD-9360-D99EB18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194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29FF33D-5F3C-4481-AB20-5CA32917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明确什么算正确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E8DD176-DD45-435F-882E-DAEB89A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E75A085-3489-4075-A21F-9F7A9D6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样本元数据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C865F5-363B-4DCD-9567-55A2729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110BF47-6D26-45AD-8729-E7BFEC7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来源、重要性、确认人、规则版本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7A3F670-7316-4C17-9517-5E6AFE34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1C283B6-1987-40A4-8806-ADBACB99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48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保证可追溯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6ACA090-AE91-4B7C-91D8-1EA2C1F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1283B8A-3DE4-45E9-BB5A-E494E8AF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运行记录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8B5FA68B-7DE3-4783-ACBB-79FCF1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24325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BE57608-A6B2-4DE2-87BF-C885182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模型输出、版本、评分和Bad Case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04B0077-EBD7-448E-889A-3E4A3467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24325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4824328-3212-4284-B03F-206FA62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支持比较与回归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785A82-B4CD-461F-8D7E-84525BD69E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31602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56AE07A-EEDB-4D4F-9A27-28E32207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DEFAB2D-6FD1-4836-8CF5-8664F55C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BE6C90D-923E-4365-BD4B-F3252E6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1157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A7055AB-2F78-42D4-B84D-FB767D7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首版评测集的整理过程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F785331-1A98-4C3E-9B4E-64000D8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9BFD2B-F569-4048-A04D-ECC3424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1340F-5CFB-41B9-BB8E-B89935C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581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AF76ED-2265-4FA4-98A3-654047A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C380FDF-734E-4557-820F-534DD69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C2CB3EB-D5A9-49AC-ADCC-7A2A828C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确定MVP风险范围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2F1C54D-6552-4450-B40D-0E77A9ED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B4AC7F1-0189-4DF8-84A1-650A9FC9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582901D-3082-4D84-A4EA-70AB9E64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提取历史样本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6C09791-9DEC-42ED-8446-5111D2B2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143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74ACBD3-A8D0-4291-A90F-D81C0DA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238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AC38EE8-DE2B-4E34-B89F-5691579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486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去重清理并补上下文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4CECF29-8A2B-486C-9A4A-1C08183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0AC3E1C-D410-4945-A579-2725EC2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23CDDB2-6C19-41EB-8815-1519544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41052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29CF2B4-B4EC-46E7-A7E5-8EA9455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561F95E-BBF3-4B23-9D52-C44DBCC5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CD446DD-BBF4-4E5A-ACD0-EB0E818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业务复核标签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039FF04-068C-442A-BBE9-5F079C5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6C33C6A-0AE2-4ECB-B054-339D7E4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8182E8A-4265-428C-8D6E-12F0A43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补高风险与边界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5391550-9B2B-411F-9CD3-B51ABF1C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67125"/>
            <a:ext cx="34417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1FBC11C-E51E-40ED-A113-CA527B0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762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88C4B40-3698-4C62-9496-59DA2BC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010025"/>
            <a:ext cx="317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形成首版评测集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287B41C-49BC-4FD1-8E97-AE3E45FB710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49135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29554E3-1EEC-499A-8AB8-FB50A73C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17D0642-26BE-4EAC-B608-37ED0DC5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0D85391-20FF-49C3-929C-8266CCB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2498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002CEE-1FB1-4883-A710-8C0E5F5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没有历史数据，也可以建立首版评测集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91FE80D-8E64-4757-BB9C-B92DBEC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F5976D-D380-4EC9-BA70-3C15C4C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4867A6-3001-42AF-86D6-1C00093E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启动阶段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1A88A42-0121-4429-9944-CFB6457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746BE36-428C-4B96-BA07-8332F021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从规则文档整理风险类型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48F3AFD-3AAE-4896-829B-24C87D0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936537C-578C-46DF-8ABE-895C09F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收集培训中的正反案例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FD38FA-4E39-4994-A012-A0AD2EF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C599C90-71D7-4002-A6A5-8BC3D6B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业务人员编写典型违规样本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D77AE7-D090-4275-BC23-8F0DF87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F37D38C-7840-4F9E-A0CC-FA2C147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持续替换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AD2C04-9774-4DD2-9A1F-9326E20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9C4FE61-C57D-437F-ACF6-923CE8C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模型生成表达变体后人工确认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8C7A5F9-BCE5-4225-9CA3-36672C8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7F6B479-D34E-421B-BC36-30765EB9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两名业务人员独立判断分歧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42AF4BD-6619-4A14-94A5-CCEAAF4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74B356-33BA-4B02-9FE0-1E458C4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影子运行后用真实案例替换构造数据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AA02E81-F0A0-4B91-8AD4-DB8C10928C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69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848176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C4BB37E-311D-40DC-96DC-EA4F2EB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182F990-8446-4259-BB0F-03BF0896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6CCA22A-533A-407E-AE8A-B7C5C2EF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3838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6C07287-EBC5-4058-A937-0F18E55F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开发、验收和回归样本要分开管理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B677497-AAD1-408C-8CF7-42F2BE5F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67D919B-1B9F-467D-95DA-155F0A7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C8939D-6EDB-4A0B-A96E-C3D9E16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开发样本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D94DEE-A988-463D-AC87-7F75779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产品、算法和研发可以反复查看，用于设计规则与Prompt。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2EC9D7-B598-4640-B6E7-055C568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46405F0-6B20-4B91-B5D7-041FDEB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验收样本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CA9FD99-C252-46B6-BD2B-0405DFA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方案基本稳定后判断是否达到上线条件，避免针对题目调答案。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546B835-B0CF-4A8A-9E72-15DB331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000250"/>
            <a:ext cx="3441700" cy="1714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05F284F-3B22-4E21-9F5D-4009041D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171700"/>
            <a:ext cx="302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回归样本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B9D9BD6-3BD5-4321-9372-B8B7174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43175"/>
            <a:ext cx="3022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重要错误、高风险和线上问题；规则、模型或Prompt变化后重跑。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07B2F69-4589-45FC-8AB3-AB4C6A9539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64585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EEECD91-F468-4694-B967-B71D1B6C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EVALUATION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ED535E2-9EBC-449E-87E8-2BAD12D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91BA783-C9C0-434B-8D9A-B296E9E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179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4B8370-61CC-4910-9697-41B0B330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PRD中的验收约定至少写清六项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260165-C398-49B6-8E84-31B4DE0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C041EB5-965B-44AF-A893-F5CE1866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1D02F73-523E-450F-AA36-AA3AF3D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约定项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5BE6F64-4919-4577-B47C-7E28405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790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20AFAD9-E004-4C75-8835-C1F56E8A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775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需要明确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120E8E5-4F4D-4348-A22A-57C9DFDF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7D92A92-C815-43C5-A4E3-FE70538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评测对象</a:t>
            </a:r>
            <a:endParaRPr sz="1236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DDD9F37-0E5B-4FA2-8FF1-888F557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C00BC0E-AB8A-473B-8C37-29DC776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单独模型、组合审核结果，还是完整产品闭环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53834F6-174F-46F0-A37C-4B03222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41A0A6-0CEC-4AC8-AA34-750BC18D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样本来源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0D90042-3CF2-4A63-BAAA-66B97AA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194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A6459B-A5EA-4A72-9921-D8718FE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历史、近期、高风险、争议和构造样本分别从哪里来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C64E10-F6E0-414C-8798-C8FC3CA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12F9D43-FEE4-4FAB-851E-8C5C7BB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风险范围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731D8B7-2444-40F5-B6FC-EE3FBD33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0C05F3D-108E-4F88-9195-1BB49A9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480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本次MVP必须覆盖什么，暂不验收什么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F4ABCE6-DACF-4DEC-A5FF-480B303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D2951A-DE4A-48C9-A228-DD228B6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标准答案责任人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F832531-C706-4C21-A862-519DFB90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243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2297263-4607-4873-AAC9-6C08B59F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谁确认风险类型、等级和预期动作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3A510E5-9464-41CD-B132-67EE58F2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53C7BF23-961B-4217-A604-6F13C2B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上线门槛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47CF30A-5764-46FB-A9D8-49EABCC7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7677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32AA685-03AB-4BDE-A34B-003AE8DB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高风险底线、识别要求、输出可用性和人工承载量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C0CCCB2-02A2-4C2E-9193-46D9C009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E7C9779-5B0C-4FD3-840C-1BB3D39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版本变化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F062807-7F5D-4598-96F2-79AFEE5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29225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323FA3E-98F1-43D8-A217-05454F0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054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规则、知识、模型、Prompt或结构变化后何时重新验收</a:t>
            </a:r>
            <a:endParaRPr sz="1236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D979601-7CCB-4945-B2BF-6501574172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87321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99018D7-C30F-452A-BDDC-CFB62223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F210C5E-4D2A-4FBE-B35C-DC82333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525A009-20F1-4B9F-B702-11F31C7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65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84236E8-387C-4EB1-B058-18D176D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08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07 组装完整AI产品PRD</a:t>
            </a:r>
            <a:endParaRPr sz="408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9196B5-31F7-43BA-A2AA-61DA478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C384B1-FC18-4EB0-9786-2237062F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8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把前六节的产品判断装进一份可执行文档</a:t>
            </a:r>
            <a:endParaRPr sz="198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5F6DCF6-68FD-4C42-BEDF-43A661A4874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86348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116E1E1-81DF-4C20-9539-75AB0510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A137AFF-FD42-44C3-855F-07B47D8C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EAA3A84-4603-4637-940D-93305F6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7860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A52CA6F-EDF4-4D09-91DF-7352D72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AI产品PRD比普通PRD多写三类内容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922BE5D-9CD1-4220-8BA6-7C067040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FBC51AC-EBF9-4AF6-8D57-C7F3138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C8EAC58-0794-42F5-8AD3-FEF7502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普通PRD通常关注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D68E773-567A-4A05-9599-EF87380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CAE3ED0-4094-4AC6-B664-E21ADA5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用户、场景与业务流程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CDCCA78-A258-4A2A-BEE3-FD7EA43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2C94445-51E8-4043-907A-6B2CB70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页面、功能与状态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9F91D2C-D11A-476E-87B6-3C0396C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9AADEAB-AAE9-4367-9E8F-C4856ED3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权限、数据和异常路径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619963E-2395-4F48-A658-AE59B0E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6FBE64A-23CD-4032-B9CF-A0241E3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AI产品PRD还必须关注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C87A535-5418-44E5-9952-1B22B87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183C8EB-B30A-454A-B168-5D70755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AI介入依据和能力边界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543AAD3-665A-4EF1-B9D1-727E771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E99A2FF-915B-4638-A5F7-25CD6D6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输入、输出、版本与失败接管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C021C10-8A48-486A-AFE3-868FBA3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7DABB74-4C8A-453D-9ACD-2E8DD705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评测集来源和上线门槛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29559DB-A202-40EC-AA8B-6C368C4FC1A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326896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C3818FD-FC16-4E1A-B1F6-9D03001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2D9CDD1-B554-452B-B25C-39B2FD3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AA9E5D5-FFE0-4B3D-8A9D-F4004A2A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9201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4C3C5F-9811-4601-A7E7-546A410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最终PRD由十三个章节组成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815CC38-C6D9-435D-9496-88EB8FA7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6FCE9E-17CF-418D-B7A7-40B99BB4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9699901-C4A7-40C1-9928-647349EF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01—04 业务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0659609-FA45-4FF3-AEF9-EC3393E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BC8F89E-63ED-4ECE-8E40-D794E2BD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05—08 方案与范围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A6D47F3-ED9B-4113-97AD-A4FF0B6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30C2A11-019C-44AB-9B35-B6A07DE2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09—13 能力与保障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4C4BF74-AEC1-4ADD-9233-0490C81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9205A34-4230-4EE1-9510-B9741F9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项目摘要</a:t>
            </a:r>
            <a:endParaRPr sz="1104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14E865-4ACB-452E-A465-18F03FA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73408BC-ED9B-4134-B636-F3B5CBD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AI介入判断与备选方案</a:t>
            </a:r>
            <a:endParaRPr sz="1104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96ECC60-BE51-408E-9645-E3A57B3B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EF77D45-CA88-4629-851E-4363E02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AI输入、输出与边界</a:t>
            </a:r>
            <a:endParaRPr sz="1104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9D9B8E-7297-4FC6-A715-C730291E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123D991-227E-492D-B3B7-D64BBD25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业务背景与现状</a:t>
            </a:r>
            <a:endParaRPr sz="1104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5CD9C28-0F74-4500-8BFC-E014A9CD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35CE9EA-1568-4EAE-9E99-9E34BB97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能力分工</a:t>
            </a:r>
            <a:endParaRPr sz="1104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719FEF4-7A59-4775-894F-BE0900E7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44EB5BF-45C9-4001-8CD6-D49ACD6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数据、规则与知识依赖</a:t>
            </a:r>
            <a:endParaRPr sz="1104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A9FF067-DC96-4646-AAA9-C1117D9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6058B29-2532-4AEF-9B87-E8D6E7E4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用户、场景与流程</a:t>
            </a:r>
            <a:endParaRPr sz="1104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2673E8B-AB77-4F46-A097-EE54FF6B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D443F242-CD36-4E30-9536-F2EAA6A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审核结果与处理流程</a:t>
            </a:r>
            <a:endParaRPr sz="1104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427F318-23EB-4F56-A980-C2BCFFE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33825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96CB8A-922E-4D87-99B6-EDAC980F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评测集与验收条件</a:t>
            </a:r>
            <a:endParaRPr sz="1104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76F2EC6-06BB-40CE-8078-76EC81E1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3D4CCDC-57AE-421B-85DF-4FF62D1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4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问题、目标与非目标</a:t>
            </a:r>
            <a:endParaRPr sz="1104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E48FB21-DB76-4438-B156-E8E279A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37D3693-2F27-4231-B21B-EA56927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MVP与试点范围</a:t>
            </a:r>
            <a:endParaRPr sz="1104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60816BE-0F29-4077-B349-7CBBF5A3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619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F843D68-AA7B-4EAE-A643-EBBD8B14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4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人工复核、异常、风险与待确认项</a:t>
            </a:r>
            <a:endParaRPr sz="1104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D70339-AE56-419E-BE35-C9295E5F96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846683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3D24FE-7C9A-4896-91CF-D04AF82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33D3C00-BFB8-4A3D-AD9F-BCECA55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F1EB5FB-5784-4E4D-B763-DF753DC8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05416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4EF3256-69D0-46A4-B832-E168BEF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PRD首页要在一页说清项目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E01063-269F-4417-AF33-E039676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E19507-6B76-4145-9AFC-14082438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CF2C0D4-271C-4901-AEBC-F0AB93BE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3A96E7-EB0F-434F-9EF1-1DBEE59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业务问题：内容量增加导致审核积压、标准不一和结果难沉淀</a:t>
            </a:r>
            <a:endParaRPr sz="126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5A0E1AF-146A-4674-90F0-063EAE7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C48B5B-E0F8-4235-8746-828AAC0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74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B922187-CF47-4AFC-AE43-67C0654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产品方案：规则＋RAG＋大模型＋人工的分层机器预审</a:t>
            </a:r>
            <a:endParaRPr sz="126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763935E-B892-49AB-BFAC-091C689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C9230E0-581C-4165-A4F5-781A663E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74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BB2D76A-4E17-46F2-A699-B6DA7B5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MVP范围：文本、单一业务试点、修改复核重审闭环</a:t>
            </a:r>
            <a:endParaRPr sz="126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CEB4D43-715B-490C-80D1-DE60965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5267325" cy="1333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BD3B64-924D-4F58-9BDD-73970C6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0000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74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5DB5F8E-1900-47CD-B587-4DB2914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81475"/>
            <a:ext cx="4848225" cy="676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6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验收方式：能力效果、人工效率、安全底线和失败接管</a:t>
            </a:r>
            <a:endParaRPr sz="12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A312270-9AF3-48FA-9E34-4C7489AE834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78597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C0F1DF1-C17A-4B17-8C23-38BE7528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188056E-FC3A-4E27-80DF-192F748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55E8CAA-FD2A-4522-B545-1CE32D6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18822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F4003B4-8699-4A70-9D02-EB588C72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前六节内容按同一顺序组装进PRD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B883A93-9198-4900-B8C9-7A455C3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6F20975-E700-4E4B-A052-2719CCD2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F8E478A-911E-49D5-9AA8-9CC3B96B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764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E8938B6-4F4C-4D1E-8AF7-E92CE30F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2421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0CC8088-185B-48CE-97E2-8A4D303A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079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72D5A41-E9A3-40FA-B005-242B4B45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736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F4C28A6-2989-4136-8634-4E3A20F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393" y="3295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EA281AD-CE9D-4287-8250-AFAFD1A0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81F9BCF-ADC5-43B9-9C4D-7940EA7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50C2DA2-ED4F-4889-9CAE-DA6C534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背景目标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3355240-0C76-497B-8681-D803561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607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2F412B4-1A15-4BF6-AF98-7C069F26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52D2E9-FFF9-4AD7-8394-4C4AD047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957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AI方案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E3C9943-8991-4AE2-8104-E24C3458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64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500214-3361-47AD-875C-89C6ED77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02DA031-6599-4404-9079-FB85F3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结果流程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1C7A4FC-84EB-4EB2-9757-E7E1D27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21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847D96A-D39D-4122-812F-406049B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A2F0D68-B218-43C1-B415-9CA911C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271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BE57AEC-95B6-4E8E-89AF-EF922F89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C0FE8D6-09A2-4AA4-AA70-4F3421C5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04E50D2-63AE-4309-94EA-5B67DC5D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929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能力契约</a:t>
            </a:r>
            <a:endParaRPr sz="12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914169B-05EF-4DF8-9143-F1BBF3B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236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B6C5B39C-7416-45F4-8ECC-86173AD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B832B07-6140-479E-A830-4873938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586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评测验收</a:t>
            </a:r>
            <a:endParaRPr sz="12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BA6C206-9B62-40C7-B450-885E662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893" y="2857500"/>
            <a:ext cx="1366157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B1D142B-6142-4A19-9748-B209D765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2952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56BDEA8C-81B6-40A1-875F-7D8C967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43" y="3200400"/>
            <a:ext cx="1099457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风险待确认</a:t>
            </a:r>
            <a:endParaRPr sz="12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EB437C-F326-49B9-80CD-A80BC4FFB2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40419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AD50B02-32CE-4EF9-B155-3D519560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6FB9113-759E-4A01-8D24-7DF8525C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A2C0A27-DA12-420A-A841-2AC45DB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32227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07E4A28-43F0-46E2-8F2D-0D6326F9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数据、规则和知识依赖要单独说明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3D95168-827C-468F-BA52-30AAEB1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A94435D-F13C-4A34-89F1-0530EDA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68E034-D681-44A3-A9E2-020063C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依赖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E85B18-19B2-4DF4-B390-BBD7748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9FFA4DA-3D23-4699-842B-3B518D4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需要说明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5E5D7BE-05B3-44BE-AD0C-48012523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DB134A2-BE89-425B-A74C-B0B2A95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典型风险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6C41D8D-C738-47F0-B28C-2EFE71D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4775A3-6E4D-4785-AFF6-DA16B541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业务数据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062471B-993B-470E-BF49-1F6D82D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1319C7E-C0C1-46EE-BF6C-D15ADE0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内容、产品事实、渠道和历史记录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57E64B6-D8A9-41C7-8490-2AAC44B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5DAC0C5-DD49-4900-A49B-A7CE91B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字段缺失、事实未结构化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7EA63B-D524-4FA2-88CB-86A8A01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1A3EF15-5114-40CE-B393-5349DB2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规则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81D23D7-6574-43BA-8C04-8315B6E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901C4BF-568E-4D6E-AB78-99CF7973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适用范围、版本、责任人和更新机制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341D10-C03D-48FE-9196-F8989289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194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1B4A3A5-28B2-49B6-9EF0-FD72350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标准冲突、版本不一致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9D0E0D0-87BC-4117-A2D2-A1BB172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F712F2B-961C-4194-826C-8589725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知识库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238DC4D-CDAB-4FD2-B0A5-8DD3944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A5A52AA-3CDC-4AE8-9F18-8D0943A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来源、切分、检索和有效期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11C0105-061D-4BE7-AFA1-53744804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DC4950-7DF1-4429-AC6D-8E709747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召回不足、过期依据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8F4B66D-4C1E-487A-8D7F-8808A796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813AFC6-4559-4F01-9753-1830F4E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模型与Prompt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13FC9D3D-9474-4B4D-A44E-EBBCEEC1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24325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5D2ED0F-B94E-41B8-AF1F-2900202E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版本、配置、输出结构和回归要求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3A63F3A-0F00-4DFF-BD0E-CE344F24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FE2E3DC-619E-4892-BC03-D0C4066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波动、格式错误、成本与延迟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CC89C27-0DA4-4DE4-9F2E-1D76497D875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0632036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9FFBCF0-4262-44C9-B327-FF6AF42D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14B2FB2-49FC-46D8-B399-DBD7BA3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1611BE7-4F4B-4FB7-98CE-1EFC851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4563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FD6A621-A805-4D74-9E28-2919F33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风险与待确认项不是缺陷，而是决策清单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17AC5E9-6214-47A6-ABE9-AF087321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EBDEE7A-1920-445C-9977-8286F86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223C7A-7D1E-441B-9770-0B2B10D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待确认项</a:t>
            </a:r>
            <a:endParaRPr sz="132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DE57687-98A0-4D84-9686-D2BCC6D8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6ECA03-24B8-4307-B7AA-238C5B51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47875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当前情况</a:t>
            </a:r>
            <a:endParaRPr sz="13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2FBB8C0-D612-460B-9C76-7986431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85"/>
          </a:solidFill>
          <a:ln xmlns:a="http://schemas.openxmlformats.org/drawingml/2006/main" w="12700">
            <a:solidFill>
              <a:srgbClr val="07151F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4195984-933B-4EE7-81D6-C3E7986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影响</a:t>
            </a:r>
            <a:endParaRPr sz="132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304ED8A-DEAA-47B4-8EDE-2975ECE9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AB3A278-0888-4EF1-9D61-C32D81B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人工审核基线</a:t>
            </a:r>
            <a:endParaRPr sz="1236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86FDCB3-4172-4B40-B99D-5DAFFFF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669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207C947-4F89-4AFA-8446-896B7E5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需要从业务系统补充</a:t>
            </a:r>
            <a:endParaRPr sz="1236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2B1EE19-1F9B-42F6-8195-DDEC80A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07FFA1-5D60-4E46-B6DB-923E9F4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效率目标与收益测算</a:t>
            </a:r>
            <a:endParaRPr sz="1236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A7EE0E5-CB2B-49C0-B635-15329BA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424FE9E-7B9A-49A5-B21B-41C6EAAC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高风险判断标准</a:t>
            </a:r>
            <a:endParaRPr sz="1236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284D0F4-BB8C-4467-BBB5-1F2D4D7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194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FA10AB3-D306-4C49-937D-DD7AC3FA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需要规则负责人确认</a:t>
            </a:r>
            <a:endParaRPr sz="1236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11ACAB-0021-44D8-A35C-F76F19A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37E19FB-CE51-4502-8142-05938E6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自动处理范围</a:t>
            </a:r>
            <a:endParaRPr sz="1236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FA69487-B79E-44BF-88F3-8073ABC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CF25452-21A7-42D0-8309-3CD8BB4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历史数据质量</a:t>
            </a:r>
            <a:endParaRPr sz="1236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EDC9E33-D5DD-42A3-9130-6498C44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71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7F7A7C4-C354-4755-B6EB-C9C4B81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尚未完成抽样检查</a:t>
            </a:r>
            <a:endParaRPr sz="1236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7554D06-2AAE-4612-8FE3-B6600A0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166E343-AA98-48B0-B0C7-D55BFCC5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评测集可靠性</a:t>
            </a:r>
            <a:endParaRPr sz="1236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5AC0A78-CE20-4718-81C6-34E7B00B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FAE9534-017A-4C73-9D99-36300FD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36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模型响应与复核承载</a:t>
            </a:r>
            <a:endParaRPr sz="1236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FB641493-250C-4AD0-BD32-AA1386F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22E5552-1524-409F-968D-9DC9198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005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需要PoC和业务测算</a:t>
            </a:r>
            <a:endParaRPr sz="1236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DC04200-B1F4-4C89-86DB-4F89E062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24325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B33F9FA-804A-4F2D-8CD4-497CB5D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36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体验与风险阈值</a:t>
            </a:r>
            <a:endParaRPr sz="1236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F41133-CC91-40A8-8D86-96E029E0F7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01821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0C12F76-CF07-457D-96A9-054BBAD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PRD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C401D93-9982-44C0-8A4C-4BA6228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C52A6AA-42F9-4DB4-AF7A-A6C95CC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903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3F00AE7-C123-4551-842C-F098612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课堂用两项交付检验是否真正掌握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0AE95B7-8A5A-449D-B0EB-9E68A42C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2045929-EDFF-4B3A-AB90-6C759D0F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8391CEA-7226-45CD-A322-2A7A82C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练习一｜PRD首页</a:t>
            </a:r>
            <a:endParaRPr sz="20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B4C0889-9824-4617-A728-4832F75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C2F9C53-5379-48DF-ABD6-B2FD3603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业务问题与目标用户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35FC4BE-CCFA-4C23-B80A-AF47DCB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8107A78-5047-41A8-988C-A8BF275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产品目标和混合审核方案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F13ECA-7302-4098-88E6-73B95B2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C5BBA8-D587-4D85-9887-0972E3A0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MVP范围与验收方式</a:t>
            </a:r>
            <a:endParaRPr sz="15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4470744-C0CB-4BD6-BE54-691EE79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5048250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6FD921D-BEED-4716-BF3D-C6C623A1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51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4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练习二｜AI能力卡</a:t>
            </a:r>
            <a:endParaRPr sz="204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21BD55E-8116-4D12-9FF8-6D26061B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670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871350E-4B06-4700-8B0D-DF07161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模型处理什么、能获得什么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6A691C-5EAF-4A1E-A610-8311D58E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909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EF2451-7693-4E18-930D-33CCC98B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必须输出什么、何时转人工</a:t>
            </a:r>
            <a:endParaRPr sz="15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1F45729-B235-4211-8BFF-C0526952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14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—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B28E875-862B-4C13-B653-0E8B7F24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00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模型明确不负责什么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AC0E5C2-AC4E-4658-BE90-F0E807C600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79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23865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939F791-F0EB-401D-905C-F619B1B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OVERVIEW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91A3992-9655-4F0E-9DE1-8B3BC292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7F07E71-0BCF-4F54-BFBF-AB15179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7244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CA1CB13-4A36-4EF5-9AB7-A19FE67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第10课的完整产品设计链路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6A9B9F6-AB19-4D2F-8F46-A9163CFA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0AFD2A7-C06D-40E7-85A6-73BFFE39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A6D19B8-5E9A-4E4F-9811-76377EE1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D194CC0-731E-47E7-A10E-FB5A4FF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009D755-7034-43D2-863B-0A99884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A7C1BF-57BB-4998-A708-6E6F8EB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CAA00C-1937-4F01-AE9F-E809494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A6A4218-D925-42EB-B32F-C014C0D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146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8A4B288-491A-4895-BF76-6412D69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6B6765C-EDEF-43CB-AFE6-FA03DED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02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70A8ABE-DA69-4E33-8E3B-65764E01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发现业务问题</a:t>
            </a:r>
            <a:endParaRPr sz="1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7F47D9D-338A-4742-90E3-A14DAFFC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DC7495D-2BDF-436F-91FE-F81C953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02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7D691CC-60BB-467D-BB37-C539BA8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判断AI介入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99DDD34-63E8-4EC0-ACA8-50920E8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AD6E24F-CDCD-4E44-9134-B92D955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02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DA94AA4-32E4-49AA-B927-62A9A64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划分能力责任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04EFAF1-22A1-4C8C-BD4B-2CEB430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CF9D225-8294-4902-AD76-4D8C5E4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0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65CA462-2922-4539-8A86-163D5DB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设计结果流程</a:t>
            </a:r>
            <a:endParaRPr sz="12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F588D21-9D64-454B-B9E4-EA66EC6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9DE6DEB-9737-44A8-8752-66910864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02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4F24C11-1CA4-48DD-A29F-C5ECD80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确定MVP</a:t>
            </a:r>
            <a:endParaRPr sz="12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AFDF0C6B-532C-49EA-A356-CE1FD8F3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47C1C773-69DD-424B-95F6-9509D75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02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60AB7A-317B-4D0E-BBFB-F8278AE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定义能力契约</a:t>
            </a:r>
            <a:endParaRPr sz="12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E22B46D-5E78-4CA9-8019-350316FE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7A99982-D772-49D9-B74E-EBCF0855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02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5DC7815-56EB-4FB1-9D81-41FF53D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约定评测验收</a:t>
            </a:r>
            <a:endParaRPr sz="12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015307E5-89F5-4CB6-AE01-B96C5D3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1171575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AE95615-E53A-49B5-BACD-E17E77E6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71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020" b="1">
                <a:solidFill>
                  <a:srgbClr val="FF7657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02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91879FC-21B7-4293-82CD-C1EB968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194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组装完整PRD</a:t>
            </a:r>
            <a:endParaRPr sz="12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4C0939B0-EDC0-493F-8041-40E57D5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72D62CF-224F-45AF-9D33-A7EC6E7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0914C9E4-B3BD-41C7-8EDC-C30847D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把一个模糊的AI想法，变成边界清楚、能够开发、可以验收的产品方案。</a:t>
            </a:r>
            <a:endParaRPr sz="192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ED3E372-E5DD-436B-9627-F9B1A92DEAD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41279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CA3B7B2-C624-4A4C-A82B-EA6226E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AI PRODUCT · NEXT</a:t>
            </a:r>
            <a:endParaRPr sz="96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682B2F1-97CA-4BBA-A7D7-081970AC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550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40D8389-2269-4330-9983-1CC4DF5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2AEBA1-57E7-4D7E-AD95-D852F6E7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PRD完成以后，还要回答：这个项目值得投入吗？</a:t>
            </a:r>
            <a:endParaRPr sz="3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903737-B6F3-45C5-8EC4-A3487DB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5B36D6-473B-4A17-AC65-7C60C5FF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76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260">
                <a:solidFill>
                  <a:srgbClr val="A7B5BC"/>
                </a:solidFill>
                <a:latin typeface="PingFang SC"/>
                <a:ea typeface="PingFang SC"/>
                <a:cs typeface="PingFang SC"/>
              </a:rPr>
              <a:t>第11课：模型选择、调用成本、人工成本与业务收益</a:t>
            </a:r>
            <a:endParaRPr sz="126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7BEDA15-AFF9-4689-A838-8287AC8B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537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12700">
            <a:solidFill>
              <a:srgbClr val="294550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EA646AF-137D-4DAA-99C8-AC986960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B89E39B-B516-4051-9BFD-26862B8B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20" b="1">
                <a:solidFill>
                  <a:srgbClr val="F5F2E9"/>
                </a:solidFill>
                <a:latin typeface="PingFang SC"/>
                <a:ea typeface="PingFang SC"/>
                <a:cs typeface="PingFang SC"/>
              </a:rPr>
              <a:t>产品方案可开发、可验收，不代表它在经济上一定值得做。</a:t>
            </a:r>
            <a:endParaRPr sz="192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D5962D0-1F22-4125-9A25-F79D8720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60" b="1">
                <a:solidFill>
                  <a:srgbClr val="36D6C2"/>
                </a:solidFill>
                <a:latin typeface="PingFang SC"/>
                <a:ea typeface="PingFang SC"/>
                <a:cs typeface="PingFang SC"/>
              </a:rPr>
              <a:t>第11课：模型选择、调用成本、人工成本与业务收益</a:t>
            </a:r>
            <a:endParaRPr sz="216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E99D5D2-96DB-43CE-BC28-F28B8DFE16F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018520" y="246888"/>
            <a:ext cx="502920" cy="201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1"/>
              <a:t>81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17957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2026-08-20T11:18:53.3430000Z</dcterms:created>
  <dcterms:modified xsi:type="dcterms:W3CDTF">2026-08-20T11:18:53.3430000Z</dcterms:modified>
</coreProperties>
</file>