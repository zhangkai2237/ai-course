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第01课 PPT 版式候选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85800" y="13075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请重点比较：专业感、教学亲和度、信息密度和与第0课的连续性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057400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F5F8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2057400"/>
            <a:ext cx="3401568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2316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49174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最稳妥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9900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A｜体系课程蓝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延续第0课的课程体系感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清晰、克制、容易长时间观看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F4F0E8"/>
          </a:solidFill>
          <a:ln w="12700">
            <a:solidFill>
              <a:srgbClr val="D8D0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2057400"/>
            <a:ext cx="3401568" cy="109728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42316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249174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最专业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36592" y="29900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B｜战略编辑风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36592" y="37033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更像咨询报告与商业课程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强调判断、案例和职业成熟度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02752" y="2057400"/>
            <a:ext cx="3401568" cy="3200400"/>
          </a:xfrm>
          <a:prstGeom prst="roundRect">
            <a:avLst>
              <a:gd name="adj" fmla="val 2286"/>
            </a:avLst>
          </a:prstGeom>
          <a:solidFill>
            <a:srgbClr val="081426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2057400"/>
            <a:ext cx="3401568" cy="109728"/>
          </a:xfrm>
          <a:prstGeom prst="rect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8784" y="242316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31936" y="2491740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最吸睛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558784" y="2990088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C｜AI未来感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58784" y="37033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更强的AI主题和视觉记忆点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适合宣传，但课堂长时间观看更挑制作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85800" y="5833872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304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每套均展示：封面｜能力框架｜Bad Case｜课堂练习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463040"/>
            <a:ext cx="5303520" cy="5303520"/>
          </a:xfrm>
          <a:prstGeom prst="ellipse">
            <a:avLst/>
          </a:prstGeom>
          <a:solidFill>
            <a:srgbClr val="2563EB">
              <a:alpha val="75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3749040"/>
            <a:ext cx="3108960" cy="3108960"/>
          </a:xfrm>
          <a:prstGeom prst="ellipse">
            <a:avLst/>
          </a:prstGeom>
          <a:solidFill>
            <a:srgbClr val="22B8CF">
              <a:alpha val="48000"/>
            </a:srgbClr>
          </a:solidFill>
          <a:ln w="12700">
            <a:solidFill>
              <a:srgbClr val="22B8C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713232"/>
            <a:ext cx="2011680" cy="310896"/>
          </a:xfrm>
          <a:prstGeom prst="roundRect">
            <a:avLst>
              <a:gd name="adj" fmla="val 35294"/>
            </a:avLst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8181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 A｜体系课程蓝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1481328"/>
            <a:ext cx="7680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AI产品经理岗位认知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与转型路径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68096" y="3182112"/>
            <a:ext cx="5303520" cy="0"/>
          </a:xfrm>
          <a:prstGeom prst="line">
            <a:avLst/>
          </a:prstGeom>
          <a:noFill/>
          <a:ln w="38100">
            <a:solidFill>
              <a:srgbClr val="22B8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35204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FE0F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看懂岗位 · 判断方向 · 找到第一步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68096" y="6053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FB6D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 · 第01课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A｜体系课程蓝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能力框架页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AI产品经理的五类核心能力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5216" y="1673352"/>
            <a:ext cx="20574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" y="1673352"/>
            <a:ext cx="20574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293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问题与业务判断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41248" y="2423160"/>
            <a:ext cx="155448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先判断问题是否真实、AI是否必要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813816" y="4645152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47457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89504" y="1673352"/>
            <a:ext cx="20574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89504" y="1673352"/>
            <a:ext cx="20574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19293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AI边界与可行性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3145536" y="2423160"/>
            <a:ext cx="155448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理解能力上限、数据条件与风险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3118104" y="46451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18104" y="47457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193792" y="1673352"/>
            <a:ext cx="20574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193792" y="1673352"/>
            <a:ext cx="2057400" cy="73152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9824" y="19293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产品与人机协作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449824" y="2423160"/>
            <a:ext cx="155448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设计流程、交互与人工兜底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422392" y="4645152"/>
            <a:ext cx="384048" cy="384048"/>
          </a:xfrm>
          <a:prstGeom prst="ellipse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22392" y="47457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98080" y="1673352"/>
            <a:ext cx="20574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98080" y="1673352"/>
            <a:ext cx="20574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54112" y="19293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效果与Bad Case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7754112" y="2423160"/>
            <a:ext cx="155448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定义标准、评测并定位失败原因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726680" y="464515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26680" y="47457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802368" y="1673352"/>
            <a:ext cx="20574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02368" y="1673352"/>
            <a:ext cx="20574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0" y="19293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落地与持续优化</a:t>
            </a:r>
            <a:endParaRPr lang="en-US" sz="1420" dirty="0"/>
          </a:p>
        </p:txBody>
      </p:sp>
      <p:sp>
        <p:nvSpPr>
          <p:cNvPr id="36" name="Text 34"/>
          <p:cNvSpPr/>
          <p:nvPr/>
        </p:nvSpPr>
        <p:spPr>
          <a:xfrm>
            <a:off x="10058400" y="2423160"/>
            <a:ext cx="1554480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跨团队推进上线、运营和迭代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10030968" y="4645152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30968" y="4745736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51560" y="555955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它不是行业官方评分模型，而是从真实工作链路归纳出的课堂地图。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A｜体系课程蓝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案例分析页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一条错误回答，问题一定出在模型吗？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3840480" cy="4251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572768"/>
            <a:ext cx="64008" cy="4251960"/>
          </a:xfrm>
          <a:prstGeom prst="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2880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失败案例（Bad Case）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322576"/>
            <a:ext cx="333756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员工问：“这张优惠券今天还能用吗？”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AI回答：“可以使用。”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实际：引用了上月已失效的活动规则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1572768"/>
            <a:ext cx="3090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572768"/>
            <a:ext cx="64008" cy="10241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828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56632" y="2322576"/>
            <a:ext cx="258775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旧规则没有下线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572768"/>
            <a:ext cx="3090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572768"/>
            <a:ext cx="64008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82880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94192" y="2322576"/>
            <a:ext cx="258775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没有找到有效版本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907792"/>
            <a:ext cx="3090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907792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56632" y="3163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3657600"/>
            <a:ext cx="258775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结论与依据不一致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38160" y="2907792"/>
            <a:ext cx="3090672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2907792"/>
            <a:ext cx="64008" cy="1024128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94192" y="3163824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94192" y="3657600"/>
            <a:ext cx="2587752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没有确认适用范围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4242816"/>
            <a:ext cx="6446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4242816"/>
            <a:ext cx="64008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56632" y="4498848"/>
            <a:ext cx="5971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56632" y="4992624"/>
            <a:ext cx="5943600" cy="54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高风险承诺未转人工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28032" y="5687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目标不是统一归因于“模型不好”，而是找到正确的优化对象。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A｜体系课程蓝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现在填写你的方向判断卡 V0.1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CE5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50876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" y="1508760"/>
            <a:ext cx="64008" cy="15361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7647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岗位／行业／用户／流程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71416" y="150876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1416" y="1508760"/>
            <a:ext cx="64008" cy="15361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7647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经验资产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27448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最强两项证据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84464" y="150876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84464" y="1508760"/>
            <a:ext cx="64008" cy="1536192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40496" y="176479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40496" y="225856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优先方向＋备选方向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" y="342900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429000"/>
            <a:ext cx="64008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85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178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当前只选一个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471416" y="342900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71416" y="3429000"/>
            <a:ext cx="64008" cy="15361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3685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验证动作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27448" y="4178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JD任务＋项目任务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84464" y="3429000"/>
            <a:ext cx="342900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84464" y="3429000"/>
            <a:ext cx="64008" cy="1536192"/>
          </a:xfrm>
          <a:prstGeom prst="rect">
            <a:avLst/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0496" y="3685032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定位句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540496" y="417880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证据→方向→缺口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222992" y="74980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E34D59"/>
          </a:solidFill>
          <a:ln w="12700">
            <a:solidFill>
              <a:srgbClr val="E34D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81838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3:00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" y="564184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A4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先写“可以被事实证明的内容”，不要求现在就得到最终答案。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65836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804672" y="1536192"/>
            <a:ext cx="74980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AI产品经理岗位认知</a:t>
            </a:r>
            <a:endParaRPr lang="en-US" sz="3700" dirty="0"/>
          </a:p>
          <a:p>
            <a:pPr algn="l" indent="0" marL="0">
              <a:buNone/>
            </a:pPr>
            <a:r>
              <a:rPr lang="en-US" sz="37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与转型路径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841248" y="3182112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看懂岗位／判断方向／建立验证计划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41248" y="3794760"/>
            <a:ext cx="2743200" cy="0"/>
          </a:xfrm>
          <a:prstGeom prst="line">
            <a:avLst/>
          </a:prstGeom>
          <a:noFill/>
          <a:ln w="38100">
            <a:solidFill>
              <a:srgbClr val="C3533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30768" y="96012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MANAGEMENT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635240" y="43159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职业判断不是选热门方向，</a:t>
            </a:r>
            <a:endParaRPr lang="en-US" sz="1700" dirty="0"/>
          </a:p>
          <a:p>
            <a:pPr algn="r" indent="0" marL="0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而是用证据形成可验证的假设。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732520" y="5888736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05672" y="5957316"/>
            <a:ext cx="2322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 B｜战略编辑风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B｜战略编辑风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能力框架页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五类能力，不是五个孤立知识点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600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27048" y="15544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判断问题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0" y="1591056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业务价值与AI必要性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9808" y="2121408"/>
            <a:ext cx="1051560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4414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27048" y="23957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判断边界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243230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能力、数据与风险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9808" y="2962656"/>
            <a:ext cx="1051560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32826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27048" y="32369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设计产品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794760" y="327355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流程、交互与人机协作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9808" y="3803904"/>
            <a:ext cx="1051560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41239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27048" y="407822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验证效果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794760" y="41148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指标、评测与失败案例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4645152"/>
            <a:ext cx="1051560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49651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27048" y="49194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推动落地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495604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协作、上线与持续优化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49808" y="5486400"/>
            <a:ext cx="1051560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768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工作链路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B｜战略编辑风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案例分析页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失败案例不是“模型打分题”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“这张优惠券今天还能用吗？”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49808" y="23042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AI：可以使用。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289864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事实：引用了上月已失效的活动规则。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96712" y="1508760"/>
            <a:ext cx="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5453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56832" y="15087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09560" y="1536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旧规则未下线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1984248"/>
            <a:ext cx="50749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23042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56832" y="22677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22951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未命中有效版本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89320" y="2743200"/>
            <a:ext cx="50749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0632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56832" y="30266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90956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结论与依据不一致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89320" y="3502152"/>
            <a:ext cx="50749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8221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56832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909560" y="3813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未确认适用范围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89320" y="4261104"/>
            <a:ext cx="50749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45811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56832" y="45445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09560" y="4572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高风险问题未转人工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989320" y="5020056"/>
            <a:ext cx="50749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5074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正确归因，才能找到正确的优化对象。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B｜战略编辑风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方向判断卡：先证据，后结论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77766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49808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12848" y="157276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我长期面对谁、负责什么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" y="212140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80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12848" y="28072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两项可复述的经历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9808" y="335584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212848" y="404164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优先＋备选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" y="459028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1928" y="15727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44968" y="157276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只选择当前最关键的一项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212140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8072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验证动作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44968" y="280720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JD任务＋项目任务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81928" y="335584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81928" y="40416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3533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个人定位句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744968" y="4041648"/>
            <a:ext cx="3520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证据→方向→缺口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81928" y="4590288"/>
            <a:ext cx="4937760" cy="0"/>
          </a:xfrm>
          <a:prstGeom prst="line">
            <a:avLst/>
          </a:prstGeom>
          <a:noFill/>
          <a:ln w="12700">
            <a:solidFill>
              <a:srgbClr val="D8D0C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00032" y="749808"/>
            <a:ext cx="1783080" cy="310896"/>
          </a:xfrm>
          <a:prstGeom prst="roundRect">
            <a:avLst>
              <a:gd name="adj" fmla="val 35294"/>
            </a:avLst>
          </a:prstGeom>
          <a:solidFill>
            <a:srgbClr val="C35331"/>
          </a:solidFill>
          <a:ln w="12700">
            <a:solidFill>
              <a:srgbClr val="C3533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73184" y="818388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3分钟独立填写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" y="55961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021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今天输出的是可修正的方向假设，不是职业测评结果。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1371600"/>
            <a:ext cx="5212080" cy="5212080"/>
          </a:xfrm>
          <a:prstGeom prst="ellipse">
            <a:avLst/>
          </a:prstGeom>
          <a:solidFill>
            <a:srgbClr val="4E7CFF">
              <a:alpha val="62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108960"/>
            <a:ext cx="4114800" cy="4114800"/>
          </a:xfrm>
          <a:prstGeom prst="ellipse">
            <a:avLst/>
          </a:prstGeom>
          <a:solidFill>
            <a:srgbClr val="9A6BFF">
              <a:alpha val="46000"/>
            </a:srgbClr>
          </a:solidFill>
          <a:ln w="12700">
            <a:solidFill>
              <a:srgbClr val="9A6B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32520" y="1280160"/>
            <a:ext cx="1920240" cy="1920240"/>
          </a:xfrm>
          <a:prstGeom prst="ellipse">
            <a:avLst/>
          </a:prstGeom>
          <a:solidFill>
            <a:srgbClr val="27D3EE">
              <a:alpha val="46000"/>
            </a:srgbClr>
          </a:solidFill>
          <a:ln w="12700">
            <a:solidFill>
              <a:srgbClr val="27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694944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27D3EE"/>
          </a:solidFill>
          <a:ln w="12700">
            <a:solidFill>
              <a:srgbClr val="27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63524"/>
            <a:ext cx="1819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 C｜AI未来感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481328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从“会用AI”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到“会做AI产品”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86384" y="32186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AI产品经理岗位认知与转型路径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86384" y="391363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ROLE  ×  DIRECTION  ×  EVIDENCE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" y="60533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第01课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C｜AI未来感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能力框架页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五类能力构成一条产品闭环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0213A"/>
          </a:solidFill>
          <a:ln w="17780">
            <a:solidFill>
              <a:srgbClr val="4E7CFF">
                <a:alpha val="7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4E7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问题判断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216152" y="3355848"/>
            <a:ext cx="585216" cy="585216"/>
          </a:xfrm>
          <a:prstGeom prst="ellipse">
            <a:avLst/>
          </a:prstGeom>
          <a:solidFill>
            <a:srgbClr val="4E7CFF">
              <a:alpha val="92000"/>
            </a:srgbClr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3538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42032" y="3319272"/>
            <a:ext cx="256032" cy="621792"/>
          </a:xfrm>
          <a:prstGeom prst="chevron">
            <a:avLst/>
          </a:prstGeom>
          <a:solidFill>
            <a:srgbClr val="28405E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25496" y="169164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0213A"/>
          </a:solidFill>
          <a:ln w="17780">
            <a:solidFill>
              <a:srgbClr val="9A6BFF">
                <a:alpha val="7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08376" y="20299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9A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08376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边界判断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538728" y="3355848"/>
            <a:ext cx="585216" cy="585216"/>
          </a:xfrm>
          <a:prstGeom prst="ellipse">
            <a:avLst/>
          </a:prstGeom>
          <a:solidFill>
            <a:srgbClr val="9A6BFF">
              <a:alpha val="92000"/>
            </a:srgbClr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38728" y="3538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64608" y="3319272"/>
            <a:ext cx="256032" cy="621792"/>
          </a:xfrm>
          <a:prstGeom prst="chevron">
            <a:avLst/>
          </a:prstGeom>
          <a:solidFill>
            <a:srgbClr val="28405E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48072" y="169164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0213A"/>
          </a:solidFill>
          <a:ln w="17780">
            <a:solidFill>
              <a:srgbClr val="27D3EE">
                <a:alpha val="7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20299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30952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产品设计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861304" y="3355848"/>
            <a:ext cx="585216" cy="585216"/>
          </a:xfrm>
          <a:prstGeom prst="ellipse">
            <a:avLst/>
          </a:prstGeom>
          <a:solidFill>
            <a:srgbClr val="27D3EE">
              <a:alpha val="92000"/>
            </a:srgbClr>
          </a:solidFill>
          <a:ln w="12700">
            <a:solidFill>
              <a:srgbClr val="27D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61304" y="3538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87184" y="3319272"/>
            <a:ext cx="256032" cy="621792"/>
          </a:xfrm>
          <a:prstGeom prst="chevron">
            <a:avLst/>
          </a:prstGeom>
          <a:solidFill>
            <a:srgbClr val="28405E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0648" y="169164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0213A"/>
          </a:solidFill>
          <a:ln w="17780">
            <a:solidFill>
              <a:srgbClr val="FF9C5B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53528" y="20299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9C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53528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效果验证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183880" y="3355848"/>
            <a:ext cx="585216" cy="585216"/>
          </a:xfrm>
          <a:prstGeom prst="ellipse">
            <a:avLst/>
          </a:prstGeom>
          <a:solidFill>
            <a:srgbClr val="FF9C5B">
              <a:alpha val="92000"/>
            </a:srgbClr>
          </a:solidFill>
          <a:ln w="12700">
            <a:solidFill>
              <a:srgbClr val="FF9C5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3538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09760" y="3319272"/>
            <a:ext cx="256032" cy="621792"/>
          </a:xfrm>
          <a:prstGeom prst="chevron">
            <a:avLst/>
          </a:prstGeom>
          <a:solidFill>
            <a:srgbClr val="28405E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93224" y="1691640"/>
            <a:ext cx="2011680" cy="3337560"/>
          </a:xfrm>
          <a:prstGeom prst="roundRect">
            <a:avLst>
              <a:gd name="adj" fmla="val 3636"/>
            </a:avLst>
          </a:prstGeom>
          <a:solidFill>
            <a:srgbClr val="10213A"/>
          </a:solidFill>
          <a:ln w="17780">
            <a:solidFill>
              <a:srgbClr val="38D996">
                <a:alpha val="7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76104" y="20299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8D9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SCALE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976104" y="26060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落地优化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10506456" y="3355848"/>
            <a:ext cx="585216" cy="585216"/>
          </a:xfrm>
          <a:prstGeom prst="ellipse">
            <a:avLst/>
          </a:prstGeom>
          <a:solidFill>
            <a:srgbClr val="38D996">
              <a:alpha val="92000"/>
            </a:srgbClr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06456" y="3538728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5513832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判断问题 → 判断边界 → 设计产品 → 验证效果 → 持续优化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C｜AI未来感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案例分析页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BAD CASE / 错误答案从哪里产生？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10213A"/>
          </a:solidFill>
          <a:ln w="19050">
            <a:solidFill>
              <a:srgbClr val="FF6685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847088"/>
            <a:ext cx="1005840" cy="310896"/>
          </a:xfrm>
          <a:prstGeom prst="roundRect">
            <a:avLst>
              <a:gd name="adj" fmla="val 35294"/>
            </a:avLst>
          </a:prstGeom>
          <a:solidFill>
            <a:srgbClr val="FF6685"/>
          </a:solidFill>
          <a:ln w="12700">
            <a:solidFill>
              <a:srgbClr val="FF66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91566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FAILURE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542032"/>
            <a:ext cx="3429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“优惠券今天还能用吗？”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2688" y="33101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AI：可以使用。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04164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实际：引用了上月失效规则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983480" y="1572768"/>
            <a:ext cx="2907792" cy="1060704"/>
          </a:xfrm>
          <a:prstGeom prst="roundRect">
            <a:avLst>
              <a:gd name="adj" fmla="val 5172"/>
            </a:avLst>
          </a:prstGeom>
          <a:solidFill>
            <a:srgbClr val="10213A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572768"/>
            <a:ext cx="64008" cy="1060704"/>
          </a:xfrm>
          <a:prstGeom prst="rect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18288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9512" y="2322576"/>
            <a:ext cx="2404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资料过期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1572768"/>
            <a:ext cx="2907792" cy="1060704"/>
          </a:xfrm>
          <a:prstGeom prst="roundRect">
            <a:avLst>
              <a:gd name="adj" fmla="val 5172"/>
            </a:avLst>
          </a:prstGeom>
          <a:solidFill>
            <a:srgbClr val="10213A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0" y="1572768"/>
            <a:ext cx="64008" cy="1060704"/>
          </a:xfrm>
          <a:prstGeom prst="rect">
            <a:avLst/>
          </a:prstGeom>
          <a:solidFill>
            <a:srgbClr val="9A6BFF"/>
          </a:solidFill>
          <a:ln w="12700">
            <a:solidFill>
              <a:srgbClr val="9A6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82880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RETRIEVE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94192" y="2322576"/>
            <a:ext cx="2404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检索失准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2926080"/>
            <a:ext cx="2907792" cy="1060704"/>
          </a:xfrm>
          <a:prstGeom prst="roundRect">
            <a:avLst>
              <a:gd name="adj" fmla="val 5172"/>
            </a:avLst>
          </a:prstGeom>
          <a:solidFill>
            <a:srgbClr val="10213A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83480" y="2926080"/>
            <a:ext cx="64008" cy="1060704"/>
          </a:xfrm>
          <a:prstGeom prst="rect">
            <a:avLst/>
          </a:prstGeom>
          <a:solidFill>
            <a:srgbClr val="FF9C5B"/>
          </a:solidFill>
          <a:ln w="12700">
            <a:solidFill>
              <a:srgbClr val="FF9C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39512" y="31821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MODEL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39512" y="3675888"/>
            <a:ext cx="2404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依据不一致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38160" y="2926080"/>
            <a:ext cx="2907792" cy="1060704"/>
          </a:xfrm>
          <a:prstGeom prst="roundRect">
            <a:avLst>
              <a:gd name="adj" fmla="val 5172"/>
            </a:avLst>
          </a:prstGeom>
          <a:solidFill>
            <a:srgbClr val="10213A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2926080"/>
            <a:ext cx="64008" cy="1060704"/>
          </a:xfrm>
          <a:prstGeom prst="rect">
            <a:avLst/>
          </a:prstGeom>
          <a:solidFill>
            <a:srgbClr val="27D3EE"/>
          </a:solidFill>
          <a:ln w="12700">
            <a:solidFill>
              <a:srgbClr val="27D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318211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94192" y="3675888"/>
            <a:ext cx="24048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范围未确认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83480" y="4279392"/>
            <a:ext cx="6053328" cy="1060704"/>
          </a:xfrm>
          <a:prstGeom prst="roundRect">
            <a:avLst>
              <a:gd name="adj" fmla="val 5172"/>
            </a:avLst>
          </a:prstGeom>
          <a:solidFill>
            <a:srgbClr val="10213A"/>
          </a:solidFill>
          <a:ln w="12700">
            <a:solidFill>
              <a:srgbClr val="2840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83480" y="4279392"/>
            <a:ext cx="64008" cy="1060704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9512" y="45354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PROCESS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39512" y="5029200"/>
            <a:ext cx="55504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未转人工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10912" y="5687568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TRACE THE FAILURE → FIX THE RIGHT LAYER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83464"/>
            <a:ext cx="1353312" cy="310896"/>
          </a:xfrm>
          <a:prstGeom prst="roundRect">
            <a:avLst>
              <a:gd name="adj" fmla="val 35294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52044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C｜AI未来感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57400" y="3566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课堂练习页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66928" y="713232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BUILD YOUR DIRECTION HYPOTHESIS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66928" y="1298448"/>
            <a:ext cx="11018520" cy="0"/>
          </a:xfrm>
          <a:prstGeom prst="line">
            <a:avLst/>
          </a:prstGeom>
          <a:noFill/>
          <a:ln w="12700">
            <a:solidFill>
              <a:srgbClr val="2840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45566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产品经理系统课程 · 第01课 · 版式候选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06424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9DB0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58368" y="148132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4E7C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6824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E7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6824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4E7C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BACKGROUND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77824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背景事实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462272" y="148132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9A6B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1728" y="16824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A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1224" y="16824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9A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ASSETS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81728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66176" y="148132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27D3EE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168249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025128" y="168249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DIRECTION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85632" y="2286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方向假设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8368" y="344728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FF9C5B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648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9C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6484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F9C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77824" y="4251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最大缺口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462272" y="344728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38D996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3648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D9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21224" y="36484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38D99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81728" y="4251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验证动作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266176" y="3447288"/>
            <a:ext cx="3401568" cy="1572768"/>
          </a:xfrm>
          <a:prstGeom prst="roundRect">
            <a:avLst>
              <a:gd name="adj" fmla="val 4651"/>
            </a:avLst>
          </a:prstGeom>
          <a:solidFill>
            <a:srgbClr val="10213A"/>
          </a:solidFill>
          <a:ln w="16510">
            <a:solidFill>
              <a:srgbClr val="FF6685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364845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66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025128" y="36484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FF668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POSITIONING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485632" y="42519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A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定位句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10195560" y="749808"/>
            <a:ext cx="987552" cy="310896"/>
          </a:xfrm>
          <a:prstGeom prst="roundRect">
            <a:avLst>
              <a:gd name="adj" fmla="val 35294"/>
            </a:avLst>
          </a:prstGeom>
          <a:solidFill>
            <a:srgbClr val="FF6685"/>
          </a:solidFill>
          <a:ln w="12700">
            <a:solidFill>
              <a:srgbClr val="FF668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8712" y="81838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03:00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566160" y="564184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27D3E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HYPOTHESIS, NOT A FINAL ANSWER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 产品经理系统课程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第01课PPT版式候选对比</dc:title>
  <dc:subject>第01课PPT版式候选</dc:subject>
  <dc:creator>AI 产品经理系统课程</dc:creator>
  <cp:lastModifiedBy>AI 产品经理系统课程</cp:lastModifiedBy>
  <cp:revision>1</cp:revision>
  <dcterms:created xsi:type="dcterms:W3CDTF">2026-07-14T14:54:06Z</dcterms:created>
  <dcterms:modified xsi:type="dcterms:W3CDTF">2026-07-14T14:54:06Z</dcterms:modified>
</cp:coreProperties>
</file>