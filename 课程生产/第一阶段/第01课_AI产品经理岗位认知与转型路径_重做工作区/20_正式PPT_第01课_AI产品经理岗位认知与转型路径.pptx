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307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95" d="100"/>
          <a:sy n="95" d="100"/>
        </p:scale>
        <p:origin x="1408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032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第01课｜AI产品经理岗位认知与转型路径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来源：T1｜本课程教学结构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互动：先让学员投票，不要立即公布“标准答案”。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练习：本课程教学设计｜案例：CASE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来源：T2｜四维判断法为本课程教学框架，不是参考课程原始分类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6813-11C5-3B53-390A-0E301130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851E1-E09B-C711-818C-FD6BE2426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93669-6B15-D473-70E8-26F8E195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EE043-B166-FEA3-C067-8EAA48FDB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19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练习：CASE｜四维判断法：T2｜解决方案判断待真实JD验证
参考分析：服务企业销售人员与管理者；目标可能是跟进效率、话术质量或转化；主体更接近To B应用，同时带解决方案属性；仍需确认标准产品还是客户项目、是否长期参与PoC和验收、定制程度。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教学工具：T3｜案例均为CASE｜不得由职业名称直接推导岗位方向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教学工具：T3三级证据法｜案例为CASE｜不代表解决方案方向已验证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案例：CASE｜推导工具：T3、T4｜平台方向待JD-P1/P2验证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案例：CASE｜推导工具：T3、T4｜方向结论仍需真实JD验证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教学工具：T4个人方向初步判断卡｜结论需通过现场反馈与真实JD继续验证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参考收口：不相同。A已有行业、业务、客户与交付资产，重点补产品与AI项目证据；B先选择可接触用户的场景，创造第一份真实证据。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教学工具：T6零基础三类起点｜不是官方分类，不预测转型难度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教学路线：T6＋T3｜10条问题与3人访谈为课程启动建议，不是研究标准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教学路线：T6｜3—5人仅为启动门槛｜方向仍需项目与真实JD验证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课堂工具：T3—T5｜信息来自学员授权陈述｜方向结论需继续验证
现场填写：不预先写死方向结论；若信息不足，填写“暂不确定＋需要补什么证据”。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课堂工具：T3—T5｜信息来自学员授权陈述｜不根据职业名称直接映射方向
现场填写：不预先写死方向结论；若信息不足，填写“暂不确定＋需要补什么证据”。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课堂工具：T3—T6｜允许“暂不确定”｜敏感信息不记录、不展示
现场填写：不预先写死方向结论；若信息不足，填写“暂不确定＋需要补什么证据”。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知识依据：1.4、2.1、3.1＋T1｜四方向地图不是官方互斥分类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本课程教学设计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老师备注来源（不投屏）
零基础替代任务：T6｜方向假设需通过真实JD、项目和反馈持续更新
详细讲解见对应老师版讲义。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536192"/>
            <a:ext cx="7498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AI产品经理岗位认知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与转型路径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41248" y="31821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从岗位地图到个人方向假设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794760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960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ROLE  ×  DIRECTION  ×  EVIDENCE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43800" y="431596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职业判断不是选一个热门标签，</a:t>
            </a:r>
            <a:endParaRPr lang="en-US" sz="1700" dirty="0"/>
          </a:p>
          <a:p>
            <a:pPr marL="0" indent="0" algn="r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而是用证据形成可验证的假设。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833104" y="5879592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06256" y="594817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第01课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开场与认知诊断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今天只回答三个问题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开场与认知诊断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627632"/>
            <a:ext cx="3246120" cy="34290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27632"/>
            <a:ext cx="64008" cy="3429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5623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岗位是什么？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350008"/>
            <a:ext cx="2752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真正负责什么，而不只是会什么工具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96512" y="2999232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627632"/>
            <a:ext cx="3246120" cy="34290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7136" y="1627632"/>
            <a:ext cx="64008" cy="3429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85623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为什么分方向？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2350008"/>
            <a:ext cx="2752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同名岗位为什么工作内容差异很大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63840" y="2999232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627632"/>
            <a:ext cx="3246120" cy="34290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84464" y="1627632"/>
            <a:ext cx="64008" cy="3429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85623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我优先验证什么？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31352" y="2350008"/>
            <a:ext cx="2752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从已有证据出发形成方向假设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965960" y="5468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最终产出｜个人方向判断卡 V0.1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开场与认知诊断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你认为公司招聘AI产品经理时，最看重什么？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开场与认知诊断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011680" cy="324612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295351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AI工具熟练度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34640" y="1691640"/>
            <a:ext cx="2011680" cy="324612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999232" y="295351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算法与模型原理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02352" y="1691640"/>
            <a:ext cx="2011680" cy="324612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266944" y="295351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问题与业务判断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70064" y="1691640"/>
            <a:ext cx="2011680" cy="324612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534656" y="295351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产品方案与落地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37776" y="1691640"/>
            <a:ext cx="2011680" cy="3246120"/>
          </a:xfrm>
          <a:prstGeom prst="roundRect">
            <a:avLst>
              <a:gd name="adj" fmla="val 272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37776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802368" y="295351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效果评估与优化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784080" y="749808"/>
            <a:ext cx="137160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57232" y="81838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现场投票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54589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先选择，再说明你的理由。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开场与认知诊断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这道题没有脱离岗位场景的唯一答案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开场与认知诊断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691640"/>
            <a:ext cx="73152" cy="18288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83080"/>
            <a:ext cx="6172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不同岗位，能力权重不同；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共同点是：都不止会用工具。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7571232" y="17830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1865376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B应用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45752" y="17830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18904" y="1865376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C应用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71232" y="27889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2871216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平台／能力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445752" y="27889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18904" y="2871216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解决方案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今天先建立判断方法，后面再展开四个方向。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开场与认知诊断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转AI最常见的三个误解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开场与认知诊断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600200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00200"/>
            <a:ext cx="64008" cy="3886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误解 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6696" y="2322576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会用AI工具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＝AI产品经理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6696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修正｜工具只是手段，岗位对问题和结果负责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517136" y="1600200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7136" y="1600200"/>
            <a:ext cx="64008" cy="3886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误解 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64024" y="2322576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AI产品岗位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都差不多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64024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修正｜服务对象、目标、形态和交付方式不同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284464" y="1600200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84464" y="1600200"/>
            <a:ext cx="64008" cy="3886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误解 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31352" y="2322576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过去的经验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全部作废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31352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修正｜旧经验要转成可验证的资产证据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AI产品经理到底在做什么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用一句话重新定义AI产品经理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AI产品经理到底在做什么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572768"/>
            <a:ext cx="73152" cy="18288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664208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面向【谁】，解决【什么问题】，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AI完成【什么任务】，并对【什么结果】负责。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001000" y="1572768"/>
            <a:ext cx="3154680" cy="1828800"/>
          </a:xfrm>
          <a:prstGeom prst="roundRect">
            <a:avLst>
              <a:gd name="adj" fmla="val 250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01000" y="1572768"/>
            <a:ext cx="64008" cy="18288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801368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不合格反例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7888" y="2295144"/>
            <a:ext cx="266090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“会Prompt、RAG、Agent、向量库……”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只有技术名词，没有用户、问题和结果。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92640" y="749808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818388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1分钟练习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同样叫AI产品经理，可能在做四种完全不同的工作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600200"/>
            <a:ext cx="2555748" cy="342900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600200"/>
            <a:ext cx="64008" cy="3429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288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企业知识助手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322576"/>
            <a:ext cx="20619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让员工更快找到规则与答案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433572" y="1600200"/>
            <a:ext cx="2555748" cy="342900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3572" y="1600200"/>
            <a:ext cx="64008" cy="34290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0460" y="18288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个人口语陪练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0460" y="2322576"/>
            <a:ext cx="20619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让学习者持续练习并获得反馈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208776" y="1600200"/>
            <a:ext cx="2555748" cy="342900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600200"/>
            <a:ext cx="64008" cy="34290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8288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AI建设平台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55664" y="2322576"/>
            <a:ext cx="20619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让多个团队复用模型和能力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983980" y="1600200"/>
            <a:ext cx="2555748" cy="3429000"/>
          </a:xfrm>
          <a:prstGeom prst="roundRect">
            <a:avLst>
              <a:gd name="adj" fmla="val 17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83980" y="1600200"/>
            <a:ext cx="64008" cy="3429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0868" y="18288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客户PoC交付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30868" y="2322576"/>
            <a:ext cx="206197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让方案在客户环境中验证与采用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280160" y="54406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先看工作，不急着贴方向标签。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读岗位，先问四个问题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7276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72768"/>
            <a:ext cx="64008" cy="1874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01368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服务对象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95144"/>
            <a:ext cx="4837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主要为谁创造价值？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08776" y="1572768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572768"/>
            <a:ext cx="64008" cy="1874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801368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业务目标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664" y="2295144"/>
            <a:ext cx="4837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最终改善什么结果？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" y="366674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666744"/>
            <a:ext cx="64008" cy="1874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895344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" y="4389120"/>
            <a:ext cx="4837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应用、平台还是解决方案？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208776" y="3666744"/>
            <a:ext cx="5330952" cy="1874520"/>
          </a:xfrm>
          <a:prstGeom prst="roundRect">
            <a:avLst>
              <a:gd name="adj" fmla="val 24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3666744"/>
            <a:ext cx="64008" cy="18745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3895344"/>
            <a:ext cx="4855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交付方式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5664" y="4389120"/>
            <a:ext cx="4837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标准产品还是客户项目？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973568" y="7680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四维判断法｜本课程教学框架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本课的四方向岗位地图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572768"/>
            <a:ext cx="64008" cy="1600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0136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核心｜To B AI应用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4672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服务企业用户，改善业务流程、效率或经营结果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144768" y="1572768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572768"/>
            <a:ext cx="64008" cy="16002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801368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核心｜To C AI应用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91656" y="2295144"/>
            <a:ext cx="4672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服务个人用户，创造体验、留存和商业价值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713232" y="3456432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BF9F4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456432"/>
            <a:ext cx="64008" cy="160020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补充｜AI平台／能力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178808"/>
            <a:ext cx="4672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经营通用能力与复用效率｜待真实JD验证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144768" y="3456432"/>
            <a:ext cx="5166360" cy="1600200"/>
          </a:xfrm>
          <a:prstGeom prst="roundRect">
            <a:avLst>
              <a:gd name="adj" fmla="val 2857"/>
            </a:avLst>
          </a:prstGeom>
          <a:solidFill>
            <a:srgbClr val="FBF9F4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3456432"/>
            <a:ext cx="64008" cy="1600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368503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补充｜AI解决方案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91656" y="4178808"/>
            <a:ext cx="4672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围绕客户问题完成试点、交付与采用｜待真实JD验证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960120" y="5559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不是官方、完整、互斥的分类；真实岗位可能交叉。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7EBDE-959E-686F-E0D4-BC9A9052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CBED68-AC23-CA27-A316-1E1644F849C7}"/>
              </a:ext>
            </a:extLst>
          </p:cNvPr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E947E0-1087-405B-8908-3E2C9FBAF4AF}"/>
              </a:ext>
            </a:extLst>
          </p:cNvPr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36A380-E5A4-F486-F868-1A1B5063E544}"/>
              </a:ext>
            </a:extLst>
          </p:cNvPr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9EF489-5B17-3EA7-0AD7-D1D0EC68EC49}"/>
              </a:ext>
            </a:extLst>
          </p:cNvPr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看看下面这几个JD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3453E55-46FC-583B-59CA-12C2E20E160A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23F155-9700-1155-DE30-1DFE6EA80479}"/>
              </a:ext>
            </a:extLst>
          </p:cNvPr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D3CB35-F976-C7EF-16F5-73091DF7549E}"/>
              </a:ext>
            </a:extLst>
          </p:cNvPr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FB60AC5-496A-60B3-7DB2-F25C74ACD702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50F7816-C47A-C0E9-6E4B-DFC9E02EB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61" y="0"/>
            <a:ext cx="2506519" cy="68580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63F66F5-A682-7D9B-DE9C-1DA8B40E8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01660"/>
            <a:ext cx="2873674" cy="5356340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07AD03D6-52BB-0A4E-5605-96217F106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180" y="0"/>
            <a:ext cx="2013176" cy="68580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CFE0DC9-E398-77AD-3623-176B0AFA2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0356" y="0"/>
            <a:ext cx="1923393" cy="6858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1BD7887-E67B-9D2D-C9A1-A24C2DFF7D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3749" y="0"/>
            <a:ext cx="2212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9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B案例：门店运营知识助手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3794760" cy="4160520"/>
          </a:xfrm>
          <a:prstGeom prst="roundRect">
            <a:avLst>
              <a:gd name="adj" fmla="val 120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54480"/>
            <a:ext cx="64008" cy="41605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8308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276856"/>
            <a:ext cx="33009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门店员工每天重复查询新品、活动、券规则和客诉流程。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54480"/>
            <a:ext cx="64008" cy="15544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17830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服务对象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2768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企业员工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554480"/>
            <a:ext cx="64008" cy="15544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830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业务目标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93608" y="22768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流程提效与口径一致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800600" y="33832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383280"/>
            <a:ext cx="64008" cy="15544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6118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41056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企业知识应用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046720" y="33832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383280"/>
            <a:ext cx="64008" cy="15544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36118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交付方式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3608" y="41056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接入内部工作流程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B真正难在企业流程，而不只是对话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5270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08176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多角色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84448" y="1517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员工、主管、总部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58368" y="2020824"/>
            <a:ext cx="749808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951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08176" y="2258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业务流程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84448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问题如何进入工作链路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58368" y="2788920"/>
            <a:ext cx="749808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63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08176" y="3026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投入产出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84448" y="3054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效率、质量、经营结果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58368" y="3557016"/>
            <a:ext cx="749808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313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08176" y="37947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权限安全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84448" y="3822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谁能看什么、答什么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58368" y="4325112"/>
            <a:ext cx="749808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994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408176" y="45628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采用推动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84448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为什么员工愿意使用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58368" y="5093208"/>
            <a:ext cx="749808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C案例：AI英语口语陪练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54480"/>
            <a:ext cx="3794760" cy="4160520"/>
          </a:xfrm>
          <a:prstGeom prst="roundRect">
            <a:avLst>
              <a:gd name="adj" fmla="val 120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54480"/>
            <a:ext cx="64008" cy="416052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8308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276856"/>
            <a:ext cx="3300984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个人学习者希望随时练口语，但真人陪练贵、开口压力大、反馈不连续。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5544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54480"/>
            <a:ext cx="64008" cy="15544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17830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服务对象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47488" y="22768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个人学习者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554480"/>
            <a:ext cx="64008" cy="15544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17830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业务目标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93608" y="22768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持续练习与能力提升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800600" y="33832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383280"/>
            <a:ext cx="64008" cy="15544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6118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41056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AI对话学习应用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046720" y="3383280"/>
            <a:ext cx="2999232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383280"/>
            <a:ext cx="64008" cy="15544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36118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交付方式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3608" y="4105656"/>
            <a:ext cx="2505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在线标准产品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对话自然，不等于用户会持续使用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1470355" cy="1554480"/>
          </a:xfrm>
          <a:prstGeom prst="roundRect">
            <a:avLst>
              <a:gd name="adj" fmla="val 310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看见产品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256739" y="1691640"/>
            <a:ext cx="1470355" cy="1554480"/>
          </a:xfrm>
          <a:prstGeom prst="roundRect">
            <a:avLst>
              <a:gd name="adj" fmla="val 310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1331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1331" y="228600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开始对话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946550" y="1691640"/>
            <a:ext cx="1470355" cy="1554480"/>
          </a:xfrm>
          <a:prstGeom prst="roundRect">
            <a:avLst>
              <a:gd name="adj" fmla="val 310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1142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1142" y="228600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首次感知价值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1142" y="2734056"/>
            <a:ext cx="1141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Aha Moment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636362" y="1691640"/>
            <a:ext cx="1470355" cy="1554480"/>
          </a:xfrm>
          <a:prstGeom prst="roundRect">
            <a:avLst>
              <a:gd name="adj" fmla="val 310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0954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0954" y="228600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继续练习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26173" y="1691640"/>
            <a:ext cx="1470355" cy="1554480"/>
          </a:xfrm>
          <a:prstGeom prst="roundRect">
            <a:avLst>
              <a:gd name="adj" fmla="val 310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0765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0765" y="2286000"/>
            <a:ext cx="11411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长期使用／付费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70848" y="1691640"/>
            <a:ext cx="2148840" cy="3017520"/>
          </a:xfrm>
          <a:prstGeom prst="roundRect">
            <a:avLst>
              <a:gd name="adj" fmla="val 212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70848" y="1691640"/>
            <a:ext cx="64008" cy="30175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17736" y="192024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首次价值时刻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17736" y="2414016"/>
            <a:ext cx="165506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AI能延续我的水平对话，并自然给出个性化纠正。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77240" y="45262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60857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04288" y="45262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460857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具体场景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31336" y="45262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04488" y="460857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首次价值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58384" y="45262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E2E9DE"/>
          </a:solidFill>
          <a:ln w="12700">
            <a:solidFill>
              <a:srgbClr val="E2E9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31536" y="460857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留存转化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85432" y="452628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58584" y="4608576"/>
            <a:ext cx="11795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内容安全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为什么五个团队不应该重复建设五遍？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50876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91056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客服团队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267712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5000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销售团队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026664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运营团队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67912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研发团队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5445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DE5EB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26864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HR团队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2971800"/>
            <a:ext cx="5486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1572768"/>
            <a:ext cx="3291840" cy="3749040"/>
          </a:xfrm>
          <a:prstGeom prst="roundRect">
            <a:avLst>
              <a:gd name="adj" fmla="val 13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1572768"/>
            <a:ext cx="64008" cy="37490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18013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重复建设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13048" y="2295144"/>
            <a:ext cx="27980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模型接入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知识配置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效果评测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权限管理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成本治理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87184" y="2971800"/>
            <a:ext cx="5486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572768"/>
            <a:ext cx="3291840" cy="3749040"/>
          </a:xfrm>
          <a:prstGeom prst="roundRect">
            <a:avLst>
              <a:gd name="adj" fmla="val 138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1572768"/>
            <a:ext cx="64008" cy="374904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180136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平台化问题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93608" y="2295144"/>
            <a:ext cx="27980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哪些能力值得抽象？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如何配置与复用？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怎样降低接入和维护成本？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平台产品经营的是通用能力和复用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508760"/>
            <a:ext cx="6583680" cy="713232"/>
          </a:xfrm>
          <a:prstGeom prst="roundRect">
            <a:avLst>
              <a:gd name="adj" fmla="val 5128"/>
            </a:avLst>
          </a:prstGeom>
          <a:solidFill>
            <a:srgbClr val="F2E2DB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19072"/>
            <a:ext cx="6172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业务团队｜客服／销售／运营等应用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24712" y="2496312"/>
            <a:ext cx="5760720" cy="713232"/>
          </a:xfrm>
          <a:prstGeom prst="roundRect">
            <a:avLst>
              <a:gd name="adj" fmla="val 5128"/>
            </a:avLst>
          </a:prstGeom>
          <a:solidFill>
            <a:srgbClr val="F2E7D5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706624"/>
            <a:ext cx="5349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配置与运营｜知识、评测、权限、成本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536192" y="3483864"/>
            <a:ext cx="4937760" cy="713232"/>
          </a:xfrm>
          <a:prstGeom prst="roundRect">
            <a:avLst>
              <a:gd name="adj" fmla="val 5128"/>
            </a:avLst>
          </a:prstGeom>
          <a:solidFill>
            <a:srgbClr val="DDEBE8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694176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通用能力｜模型接入、工具与工作流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47672" y="4471416"/>
            <a:ext cx="4114800" cy="713232"/>
          </a:xfrm>
          <a:prstGeom prst="roundRect">
            <a:avLst>
              <a:gd name="adj" fmla="val 5128"/>
            </a:avLst>
          </a:prstGeom>
          <a:solidFill>
            <a:srgbClr val="DDE5EB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4681728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基础设施｜模型、数据与系统资源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1508760"/>
            <a:ext cx="3401568" cy="4160520"/>
          </a:xfrm>
          <a:prstGeom prst="roundRect">
            <a:avLst>
              <a:gd name="adj" fmla="val 134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508760"/>
            <a:ext cx="64008" cy="416052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17373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岗位判断重点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65008" y="2231136"/>
            <a:ext cx="290779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平台用户是谁？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经营通用能力还是具体应用？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需要多深的系统抽象能力？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接入效率怎样衡量？</a:t>
            </a:r>
            <a:endParaRPr lang="en-US" sz="1220" dirty="0"/>
          </a:p>
          <a:p>
            <a:pPr marL="0" indent="0" algn="l">
              <a:buNone/>
            </a:pP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JD-P1／P2待补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为什么标准产品仍需要客户方案？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600200"/>
            <a:ext cx="2880360" cy="3840480"/>
          </a:xfrm>
          <a:prstGeom prst="roundRect">
            <a:avLst>
              <a:gd name="adj" fmla="val 15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600200"/>
            <a:ext cx="64008" cy="38404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2880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标准产品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2322576"/>
            <a:ext cx="238658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一套通用能力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一套默认流程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一套标准配置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2880360"/>
            <a:ext cx="50292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1600200"/>
            <a:ext cx="2788920" cy="987552"/>
          </a:xfrm>
          <a:prstGeom prst="roundRect">
            <a:avLst>
              <a:gd name="adj" fmla="val 46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600200"/>
            <a:ext cx="64008" cy="9875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2880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322576"/>
            <a:ext cx="22951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流程不同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53712" y="2871216"/>
            <a:ext cx="2788920" cy="987552"/>
          </a:xfrm>
          <a:prstGeom prst="roundRect">
            <a:avLst>
              <a:gd name="adj" fmla="val 46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2871216"/>
            <a:ext cx="64008" cy="9875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99816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593592"/>
            <a:ext cx="22951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系统不同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53712" y="4142232"/>
            <a:ext cx="2788920" cy="987552"/>
          </a:xfrm>
          <a:prstGeom prst="roundRect">
            <a:avLst>
              <a:gd name="adj" fmla="val 463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4142232"/>
            <a:ext cx="64008" cy="9875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370832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864608"/>
            <a:ext cx="2295144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3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权限与验收不同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2880360"/>
            <a:ext cx="50292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4192" y="1600200"/>
            <a:ext cx="2880360" cy="3840480"/>
          </a:xfrm>
          <a:prstGeom prst="roundRect">
            <a:avLst>
              <a:gd name="adj" fmla="val 158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1600200"/>
            <a:ext cx="64008" cy="38404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182880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解决方案问题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41080" y="2322576"/>
            <a:ext cx="238658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怎样理解客户问题？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如何做Demo或PoC？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标准与定制边界在哪？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怎样验收并推动采用？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解决方案不只是做PPT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464040" y="749808"/>
            <a:ext cx="1709928" cy="310896"/>
          </a:xfrm>
          <a:prstGeom prst="roundRect">
            <a:avLst>
              <a:gd name="adj" fmla="val 29412"/>
            </a:avLst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37192" y="818388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待真实JD验证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客户问题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273405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调研与定义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805379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9971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69971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方案方向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69971" y="273405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产品＋技术组合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43830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8422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08422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Demo／PoC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08422" y="273405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验证关键假设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282282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6874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46874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范围边界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46874" y="273405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标准与定制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520733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85325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85325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交付采用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85325" y="2734056"/>
            <a:ext cx="16898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验收与使用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14400" y="3977640"/>
            <a:ext cx="73152" cy="7772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4069080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责任不是“讲方案”，而是让方案在客户环境里被验证、交付和采用。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098280" y="5257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JD-S1／S2待补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四个方向，工作重心有什么不同？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08760"/>
            <a:ext cx="2103120" cy="594360"/>
          </a:xfrm>
          <a:prstGeom prst="rect">
            <a:avLst/>
          </a:prstGeom>
          <a:solidFill>
            <a:srgbClr val="1D1E1C"/>
          </a:solidFill>
          <a:ln w="12700">
            <a:solidFill>
              <a:srgbClr val="1D1E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007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71800" y="1508760"/>
            <a:ext cx="2194560" cy="594360"/>
          </a:xfrm>
          <a:prstGeom prst="rect">
            <a:avLst/>
          </a:prstGeom>
          <a:solidFill>
            <a:srgbClr val="1D1E1C"/>
          </a:solidFill>
          <a:ln w="12700">
            <a:solidFill>
              <a:srgbClr val="1D1E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70078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首要关注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76672" y="1508760"/>
            <a:ext cx="2194560" cy="594360"/>
          </a:xfrm>
          <a:prstGeom prst="rect">
            <a:avLst/>
          </a:prstGeom>
          <a:solidFill>
            <a:srgbClr val="1D1E1C"/>
          </a:solidFill>
          <a:ln w="12700">
            <a:solidFill>
              <a:srgbClr val="1D1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170078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典型结果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81544" y="1508760"/>
            <a:ext cx="2194560" cy="594360"/>
          </a:xfrm>
          <a:prstGeom prst="rect">
            <a:avLst/>
          </a:prstGeom>
          <a:solidFill>
            <a:srgbClr val="1D1E1C"/>
          </a:solidFill>
          <a:ln w="12700">
            <a:solidFill>
              <a:srgbClr val="1D1E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54696" y="170078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可能优势背景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6416" y="1508760"/>
            <a:ext cx="1280160" cy="594360"/>
          </a:xfrm>
          <a:prstGeom prst="rect">
            <a:avLst/>
          </a:prstGeom>
          <a:solidFill>
            <a:srgbClr val="1D1E1C"/>
          </a:solidFill>
          <a:ln w="12700">
            <a:solidFill>
              <a:srgbClr val="1D1E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59568" y="170078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2103120"/>
            <a:ext cx="210312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22860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B应用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71800" y="210312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22860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企业流程与采用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76672" y="210312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8968" y="22860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效率／质量／经营改善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81544" y="210312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2860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行业、流程、B端产品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86416" y="2103120"/>
            <a:ext cx="12801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22860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2926080"/>
            <a:ext cx="210312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" y="310896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 C应用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971800" y="292608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54096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用户体验与持续价值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76672" y="292608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激活／留存／商业化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81544" y="292608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31089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用户、内容、增长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86416" y="2926080"/>
            <a:ext cx="12801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68712" y="31089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" y="3749040"/>
            <a:ext cx="210312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" y="39319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平台／能力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971800" y="374904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54096" y="3931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通用能力与复用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76672" y="374904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58968" y="3931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接入效率与治理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81544" y="3749040"/>
            <a:ext cx="21945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3931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平台、中后台、技术协作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86416" y="3749040"/>
            <a:ext cx="1280160" cy="822960"/>
          </a:xfrm>
          <a:prstGeom prst="rect">
            <a:avLst/>
          </a:prstGeom>
          <a:solidFill>
            <a:srgbClr val="F0EBE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68712" y="39319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</a:rPr>
              <a:t>补充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" y="4572000"/>
            <a:ext cx="210312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" y="47548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解决方案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971800" y="457200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47548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客户验证与交付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76672" y="457200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58968" y="47548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PoC／验收／采用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781544" y="4572000"/>
            <a:ext cx="21945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63840" y="475488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客户、项目、行业交付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186416" y="4572000"/>
            <a:ext cx="1280160" cy="822960"/>
          </a:xfrm>
          <a:prstGeom prst="rect">
            <a:avLst/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68712" y="475488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</a:rPr>
              <a:t>补充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岗位为什么有不同方向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这份岗位，更像哪一个方向？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岗位为什么有不同方向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1536192"/>
            <a:ext cx="4800600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536192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764792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模拟岗位描述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2258568"/>
            <a:ext cx="43068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面向企业客户设计销售话术与跟进助手，连接CRM，参与客户试点并跟踪使用效果。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06440" y="1536192"/>
            <a:ext cx="2487168" cy="1719072"/>
          </a:xfrm>
          <a:prstGeom prst="roundRect">
            <a:avLst>
              <a:gd name="adj" fmla="val 266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1536192"/>
            <a:ext cx="64008" cy="171907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服务谁？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53328" y="225856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请先写下你的判断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03920" y="1536192"/>
            <a:ext cx="2487168" cy="1719072"/>
          </a:xfrm>
          <a:prstGeom prst="roundRect">
            <a:avLst>
              <a:gd name="adj" fmla="val 266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536192"/>
            <a:ext cx="64008" cy="171907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0808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业务目标是什么？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50808" y="2258568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请先写下你的判断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06440" y="3529584"/>
            <a:ext cx="2487168" cy="1719072"/>
          </a:xfrm>
          <a:prstGeom prst="roundRect">
            <a:avLst>
              <a:gd name="adj" fmla="val 266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3529584"/>
            <a:ext cx="64008" cy="171907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3758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更像哪个方向？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53328" y="425196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请先写下你的判断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0" y="3529584"/>
            <a:ext cx="2487168" cy="1719072"/>
          </a:xfrm>
          <a:prstGeom prst="roundRect">
            <a:avLst>
              <a:gd name="adj" fmla="val 266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529584"/>
            <a:ext cx="64008" cy="171907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758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还缺什么信息？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50808" y="425196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请先写下你的判断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749808"/>
            <a:ext cx="2450592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05672" y="81838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先讨论，再揭示参考分析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不先问哪个最热门，先问我有什么证据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600200"/>
            <a:ext cx="4023360" cy="3337560"/>
          </a:xfrm>
          <a:prstGeom prst="roundRect">
            <a:avLst>
              <a:gd name="adj" fmla="val 13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00200"/>
            <a:ext cx="64008" cy="33375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28800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热门导向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322576"/>
            <a:ext cx="352958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“现在什么最火？”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“哪个方向工资最高？”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“大家都学Agent，我也去学。”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47488" y="2514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00200"/>
            <a:ext cx="64008" cy="33375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828800"/>
            <a:ext cx="4599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证据导向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2322576"/>
            <a:ext cx="45811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我已经有哪些可迁移资产？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它们在哪类工作里更有价值？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真实JD是否支持这个判断？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5120640"/>
            <a:ext cx="2048256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5303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9232" y="57150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资产证据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102352" y="5120640"/>
            <a:ext cx="2048256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5303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6944" y="57150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70064" y="5120640"/>
            <a:ext cx="2048256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34656" y="5303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34656" y="57150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JD验证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盘点六类可以迁移的经验资产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8132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81328"/>
            <a:ext cx="64008" cy="1700784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70992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行业资产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20370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理解行业结构、规则与角色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48132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481328"/>
            <a:ext cx="64008" cy="1700784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70992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用户资产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20370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长期接触并理解某类用户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48132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481328"/>
            <a:ext cx="64008" cy="1700784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70992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业务资产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20370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理解目标、流程与经营逻辑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340156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401568"/>
            <a:ext cx="64008" cy="1700784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63016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产品资产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" y="412394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做过需求、方案、上线和复盘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58640" y="340156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8640" y="3401568"/>
            <a:ext cx="64008" cy="1700784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5528" y="363016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数据与技术协作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5528" y="412394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与研发、数据、算法协作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58912" y="3401568"/>
            <a:ext cx="3480816" cy="1700784"/>
          </a:xfrm>
          <a:prstGeom prst="roundRect">
            <a:avLst>
              <a:gd name="adj" fmla="val 268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8912" y="3401568"/>
            <a:ext cx="64008" cy="1700784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5800" y="363016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客户与项目交付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5800" y="4123944"/>
            <a:ext cx="298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调研、方案、推进、验收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188720" y="5330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不是六项必须均衡，而是找出自己最有证据的组合。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前三类资产：你理解谁、什么行业、哪条业务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572768"/>
            <a:ext cx="64008" cy="397764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行业资产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不是“我在这个行业待过”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而是能讲清结构、规则、角色与变化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17136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7136" y="1572768"/>
            <a:ext cx="64008" cy="397764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用户资产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不是“我做过用户工作”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而是长期观察同类用户的问题与行为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84464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572768"/>
            <a:ext cx="64008" cy="397764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业务资产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1352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不是“我熟悉公司业务”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而是理解目标、流程、指标与关键约束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后三类资产：你真正负责、协作和交付过什么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572768"/>
            <a:ext cx="64008" cy="397764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产品资产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6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不是“参与过产品”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而是能说明需求、方案、取舍、上线和结果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4517136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7136" y="1572768"/>
            <a:ext cx="64008" cy="397764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数据与技术协作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64024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不是“和研发关系好”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而是处理过接口、数据、权限或技术边界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284464" y="1572768"/>
            <a:ext cx="3246120" cy="397764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572768"/>
            <a:ext cx="64008" cy="397764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客户与项目交付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31352" y="2295144"/>
            <a:ext cx="275234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不是“见过客户”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而是承担过调研、方案、推进、验收或采用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不给自己打分，先看证据等级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7315200" cy="822960"/>
          </a:xfrm>
          <a:prstGeom prst="roundRect">
            <a:avLst>
              <a:gd name="adj" fmla="val 4444"/>
            </a:avLst>
          </a:prstGeom>
          <a:solidFill>
            <a:srgbClr val="E2E9DE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8013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强证据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50008" y="1792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承担关键责任，能讲清行动、取舍和结果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89888" y="2670048"/>
            <a:ext cx="6035040" cy="822960"/>
          </a:xfrm>
          <a:prstGeom prst="roundRect">
            <a:avLst>
              <a:gd name="adj" fmla="val 4444"/>
            </a:avLst>
          </a:prstGeom>
          <a:solidFill>
            <a:srgbClr val="F2E7D5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28986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中证据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90088" y="2889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深度参与并理解过程，但不是关键负责人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29968" y="3767328"/>
            <a:ext cx="4754880" cy="822960"/>
          </a:xfrm>
          <a:prstGeom prst="roundRect">
            <a:avLst>
              <a:gd name="adj" fmla="val 4444"/>
            </a:avLst>
          </a:prstGeom>
          <a:solidFill>
            <a:srgbClr val="F2E2DB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弱证据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30168" y="3986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只有学习、体验、观察、兴趣或自我评价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120640"/>
            <a:ext cx="73152" cy="65836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5212080"/>
            <a:ext cx="9555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一条证据的基本结构：场景 → 责任 → 行动 → 结果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示例：企业后台产品，为什么先验证To B？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0876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91056"/>
            <a:ext cx="4059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3年企业后台产品经验｜没有AI项目经历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2057400"/>
            <a:ext cx="4892040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057400"/>
            <a:ext cx="64008" cy="34290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286000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现有证据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696" y="2779776"/>
            <a:ext cx="439826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产品｜强：流程、后台、上线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技术协作｜强：权限、接口、多系统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业务｜中：理解一条核心流程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AI项目｜弱：只有工具使用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2057400"/>
            <a:ext cx="5257800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6168" y="2057400"/>
            <a:ext cx="64008" cy="3429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286000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2779776"/>
            <a:ext cx="4764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优先验证｜To B AI应用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备选验证｜AI平台／能力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最大缺口｜AI边界、效果评估、业务AI化项目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平台方向仍待真实JD验证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不是“后台产品＝To B”，而是证据组合使To B更值得优先验证。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示例：内容运营，为什么先验证To C？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0876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91056"/>
            <a:ext cx="4059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3年内容运营和用户增长｜没有正式产品岗位经历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2057400"/>
            <a:ext cx="4892040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057400"/>
            <a:ext cx="64008" cy="342900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2286000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现有证据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6696" y="2779776"/>
            <a:ext cx="439826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用户｜强：长期服务特定内容用户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业务｜强：内容供给、活动、增长复盘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数据｜中：观察内容与增长指标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产品｜弱：缺少方案和研发推进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16168" y="2057400"/>
            <a:ext cx="5257800" cy="3429000"/>
          </a:xfrm>
          <a:prstGeom prst="roundRect">
            <a:avLst>
              <a:gd name="adj" fmla="val 1333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6168" y="2057400"/>
            <a:ext cx="64008" cy="34290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286000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3056" y="2779776"/>
            <a:ext cx="4764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优先验证｜To C AI应用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备选验证｜内容营销类To B应用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最大缺口｜需求分析、方案、原型和项目推进证据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571500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不是“运营＝To C”，而是用户、内容和增长证据使To C更值得优先验证。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结合背景判断方向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现在填写你的方向判断卡 V0.1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结合背景判断方向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463040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463040"/>
            <a:ext cx="64008" cy="166420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5256" y="2185416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岗位／行业／用户／流程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358640" y="1463040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640" y="1463040"/>
            <a:ext cx="64008" cy="166420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5528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经验资产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5528" y="2185416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最强两项证据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58912" y="1463040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8912" y="1463040"/>
            <a:ext cx="64008" cy="1664208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5800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2185416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优先方向＋备选方向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58368" y="3346704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346704"/>
            <a:ext cx="64008" cy="1664208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3575304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判断依据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" y="4069080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为什么这样判断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4358640" y="3346704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8640" y="3346704"/>
            <a:ext cx="64008" cy="1664208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5528" y="3575304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05528" y="4069080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当前只选一个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058912" y="3346704"/>
            <a:ext cx="3480816" cy="1664208"/>
          </a:xfrm>
          <a:prstGeom prst="roundRect">
            <a:avLst>
              <a:gd name="adj" fmla="val 274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8912" y="3346704"/>
            <a:ext cx="64008" cy="1664208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5800" y="3575304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个人定位句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5800" y="4069080"/>
            <a:ext cx="298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证据→方向→补缺口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68712" y="8183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03:00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53492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先写能够被事实证明的内容；不要求现在得到最终答案。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完全零基础怎么走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两个“产品零基础”，应该走同一条路吗？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完全零基础怎么走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4800600" cy="4114800"/>
          </a:xfrm>
          <a:prstGeom prst="roundRect">
            <a:avLst>
              <a:gd name="adj" fmla="val 111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572768"/>
            <a:ext cx="64008" cy="41148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01368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 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96696" y="2295144"/>
            <a:ext cx="430682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5年制造业大客户销售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无产品岗位经历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熟悉企业客户、销售流程和客户决策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参与过方案沟通与项目推进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572768"/>
            <a:ext cx="4800600" cy="4114800"/>
          </a:xfrm>
          <a:prstGeom prst="roundRect">
            <a:avLst>
              <a:gd name="adj" fmla="val 111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1572768"/>
            <a:ext cx="64008" cy="41148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1801368"/>
            <a:ext cx="432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人物 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61888" y="2295144"/>
            <a:ext cx="4306824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刚毕业，没有正式工作经验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无产品岗位经历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使用过一些AI工具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暂时没有稳定的行业、用户和项目证据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28632" y="81838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先让学员回答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576072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他们都叫“产品零基础”，第一步应该完全相同吗？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完全零基础怎么走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零基础的三种主要起点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完全零基础怎么走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00200"/>
            <a:ext cx="64008" cy="3794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有产品，无AI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保留产品基本功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补AI边界、效果与项目闭环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17136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7136" y="1600200"/>
            <a:ext cx="64008" cy="3794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无产品，有行业／职能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保留行业和用户资产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补产品流程与推进证据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84464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600200"/>
            <a:ext cx="64008" cy="3794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三类积累都弱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1352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先选可接触用户的场景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创造第一份真实证据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6509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看主要缺口，不是给人贴标签｜本课程教学分型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完全零基础怎么走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前两类：保留已有资产，补不同缺口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完全零基础怎么走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1536192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1536192"/>
            <a:ext cx="64008" cy="42519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6479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A｜有产品，无AI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467258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已有｜需求、方案、协作、上线、复盘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重点补｜AI边界、人机分工、效果标准、Bad Case、持续优化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本周动作｜选一条熟悉流程，收集10条脱敏问题并写出AI任务与效果标准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44768" y="1536192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536192"/>
            <a:ext cx="64008" cy="42519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764792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B｜无产品，有行业／职能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1656" y="2258568"/>
            <a:ext cx="467258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已有｜行业、用户、业务、客户或交付经验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重点补｜问题定义、产品流程、最小可行方案、原型、指标、迭代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本周动作｜画一条熟悉流程，选一个节点并访谈3名真实从业者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完全零基础怎么走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三类积累都弱：先创造第一份真实证据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完全零基础怎么走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熟悉场景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045643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0235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0235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找到3—5人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10235" y="2734056"/>
            <a:ext cx="11129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启动样本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707239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1831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71831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画出现状流程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68834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3426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3426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找到真实问题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30430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5022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5D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95022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补最低AI基础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692025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6617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56617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做小Demo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353621" y="1691640"/>
            <a:ext cx="1442139" cy="1554480"/>
          </a:xfrm>
          <a:prstGeom prst="roundRect">
            <a:avLst>
              <a:gd name="adj" fmla="val 3170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8213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8213" y="2286000"/>
            <a:ext cx="11129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反馈＋JD验证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434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3—5人只是启动门槛，不是充分用户研究样本。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4400" y="4892040"/>
            <a:ext cx="73152" cy="65836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498348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第一目标不是“选对终身方向”，而是创造一份可被追问和修正的真实证据。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D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412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休息 5 分钟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86384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9D4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回来后：3名同学现场方向诊断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01000" y="822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55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05:00</a:t>
            </a:r>
            <a:endParaRPr lang="en-US" sz="55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999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不讲公司机密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22192" y="2971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只使用明确授权和可公开信息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77240" y="3721608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319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38770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不做就业承诺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22192" y="39044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输出方向假设，不预测录用结果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4654296"/>
            <a:ext cx="10424160" cy="0"/>
          </a:xfrm>
          <a:prstGeom prst="line">
            <a:avLst/>
          </a:prstGeom>
          <a:noFill/>
          <a:ln w="12700">
            <a:solidFill>
              <a:srgbClr val="4A4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9A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4809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其他人同步填写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48371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C7C4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把追问应用到自己的V0.2</a:t>
            </a:r>
            <a:endParaRPr lang="en-US" sz="12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现场方向诊断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现场诊断 1：从事实到验证动作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现场方向诊断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8712" y="8183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08:00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63040"/>
            <a:ext cx="64008" cy="16733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当前岗位／行业／服务对象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358640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1463040"/>
            <a:ext cx="64008" cy="16733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5528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05528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只写两条可复述事实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8912" y="1463040"/>
            <a:ext cx="64008" cy="16733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5800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主要资产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05800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最强的证据组合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355848"/>
            <a:ext cx="64008" cy="16733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优先／备选／暂不确定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358640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8640" y="3355848"/>
            <a:ext cx="64008" cy="16733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5528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05528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当前只选一个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058912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58912" y="3355848"/>
            <a:ext cx="64008" cy="16733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5800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双验证任务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05800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JD任务＋项目／学习任务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914400" y="541324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 → 资产证据 → 方向假设 → 最大缺口 → JD＋项目验证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现场方向诊断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现场诊断 2：从事实到验证动作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现场方向诊断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8712" y="8183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08:00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63040"/>
            <a:ext cx="64008" cy="16733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当前岗位／行业／服务对象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358640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1463040"/>
            <a:ext cx="64008" cy="16733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5528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05528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只写两条可复述事实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8912" y="1463040"/>
            <a:ext cx="64008" cy="16733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5800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主要资产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05800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最强的证据组合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355848"/>
            <a:ext cx="64008" cy="16733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优先／备选／暂不确定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358640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8640" y="3355848"/>
            <a:ext cx="64008" cy="16733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5528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05528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当前只选一个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058912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58912" y="3355848"/>
            <a:ext cx="64008" cy="16733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5800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双验证任务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05800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JD任务＋项目／学习任务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914400" y="541324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 → 资产证据 → 方向假设 → 最大缺口 → JD＋项目验证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现场方向诊断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现场诊断 3：从事实到验证动作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现场方向诊断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195560" y="749808"/>
            <a:ext cx="97840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68712" y="818388"/>
            <a:ext cx="832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08:00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463040"/>
            <a:ext cx="64008" cy="1673352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5256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当前岗位／行业／服务对象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358640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58640" y="1463040"/>
            <a:ext cx="64008" cy="1673352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5528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05528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只写两条可复述事实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8912" y="1463040"/>
            <a:ext cx="64008" cy="1673352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5800" y="1691640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主要资产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05800" y="2185416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最强的证据组合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355848"/>
            <a:ext cx="64008" cy="1673352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优先／备选／暂不确定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358640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8640" y="3355848"/>
            <a:ext cx="64008" cy="1673352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5528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05528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当前只选一个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8058912" y="3355848"/>
            <a:ext cx="3480816" cy="1673352"/>
          </a:xfrm>
          <a:prstGeom prst="roundRect">
            <a:avLst>
              <a:gd name="adj" fmla="val 2732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58912" y="3355848"/>
            <a:ext cx="64008" cy="1673352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5800" y="3584448"/>
            <a:ext cx="300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双验证任务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05800" y="4078224"/>
            <a:ext cx="298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JD任务＋项目／学习任务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914400" y="541324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 → 资产证据 → 方向假设 → 最大缺口 → JD＋项目验证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现场方向诊断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三个人答案不同，判断过程相同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现场方向诊断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805379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9971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69971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资产证据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43830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8422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8422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282282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6874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46874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520733" y="1691640"/>
            <a:ext cx="2018995" cy="1554480"/>
          </a:xfrm>
          <a:prstGeom prst="roundRect">
            <a:avLst>
              <a:gd name="adj" fmla="val 2941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85325" y="1874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75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85325" y="2286000"/>
            <a:ext cx="16898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JD＋项目验证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3913632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913632"/>
            <a:ext cx="64008" cy="14173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1422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方法提醒 01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" y="463600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不从职位名称直接下结论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43984" y="3913632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3913632"/>
            <a:ext cx="64008" cy="14173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41422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方法提醒 02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90872" y="463600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不把兴趣或自评当成强证据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65008" y="3913632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5008" y="3913632"/>
            <a:ext cx="64008" cy="14173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11896" y="41422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方法提醒 03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311896" y="463600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信息不足时不强行判断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V0.2补充｜1条关键追问 · 1条证据修正 · JD任务＋项目任务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总结与课后作业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今天带走三个结论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总结与课后作业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600200"/>
            <a:ext cx="64008" cy="379476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工具不定义岗位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AI产品经理对问题、方案、效果和价值负责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17136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17136" y="1600200"/>
            <a:ext cx="64008" cy="379476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同名岗位工作不同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要看服务对象、目标、形态和交付方式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84464" y="1600200"/>
            <a:ext cx="3246120" cy="379476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600200"/>
            <a:ext cx="64008" cy="379476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31352" y="182880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方向要通过行动验证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1352" y="2322576"/>
            <a:ext cx="27523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从资产证据出发，用JD和项目持续修正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29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kern="0" spc="11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总结与课后作业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课后任务：用真实JD验证方向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645566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总结与课后作业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572768"/>
            <a:ext cx="64008" cy="3886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收集岗位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6" y="2295144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普通作业5份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求职学员建议10份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4096512" y="3035808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7136" y="1572768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17136" y="1572768"/>
            <a:ext cx="64008" cy="3886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逐份提取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64024" y="2295144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对象／目标／AI任务／职责／经历要求／能力要求／匹配证据／缺口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863840" y="3035808"/>
            <a:ext cx="320040" cy="420624"/>
          </a:xfrm>
          <a:prstGeom prst="chevron">
            <a:avLst/>
          </a:prstGeom>
          <a:solidFill>
            <a:srgbClr val="D8D0C2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572768"/>
            <a:ext cx="3246120" cy="3886200"/>
          </a:xfrm>
          <a:prstGeom prst="roundRect">
            <a:avLst>
              <a:gd name="adj" fmla="val 1408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84464" y="1572768"/>
            <a:ext cx="64008" cy="3886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80136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总结共性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31352" y="2295144"/>
            <a:ext cx="275234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哪些要求反复出现？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我的假设需要怎样修正？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280160" y="5641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不要用一份JD代表整个方向。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4300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方向不是一次选出来的，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而是在行动中验证出来的。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1248" y="2743200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暂时无法选方向？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37033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92A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延续第42页最低验证路径，并分析3份相关JD。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100" b="1" kern="0" spc="12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大模型基础、Prompt</a:t>
            </a:r>
            <a:endParaRPr lang="en-US" sz="2100" dirty="0"/>
          </a:p>
          <a:p>
            <a:pPr marL="0" indent="0" algn="r">
              <a:buNone/>
            </a:pPr>
            <a:r>
              <a:rPr lang="en-US" sz="2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与上下文设计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909560" y="5870448"/>
            <a:ext cx="2971800" cy="310896"/>
          </a:xfrm>
          <a:prstGeom prst="roundRect">
            <a:avLst>
              <a:gd name="adj" fmla="val 29412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5939028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116—120分钟：机动与集中答疑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6080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2186</TotalTime>
  <Words>2395</Words>
  <Application>Microsoft Macintosh PowerPoint</Application>
  <PresentationFormat>宽屏</PresentationFormat>
  <Paragraphs>787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3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AI产品经理岗位认知与转型路径</dc:title>
  <dc:subject>第01课：AI产品经理岗位认知与转型路径</dc:subject>
  <dc:creator>AI 产品经理系统课程</dc:creator>
  <cp:lastModifiedBy>didi</cp:lastModifiedBy>
  <cp:revision>3</cp:revision>
  <dcterms:created xsi:type="dcterms:W3CDTF">2026-07-14T15:09:16Z</dcterms:created>
  <dcterms:modified xsi:type="dcterms:W3CDTF">2026-07-16T03:40:36Z</dcterms:modified>
</cp:coreProperties>
</file>