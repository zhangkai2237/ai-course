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第10课的PRD已经写明：复杂语义判断交给大模型。但这里还留下三个产品问题：到底用哪个模型、完整成本是多少、项目值不值得做。第11课就是把这三个问题做成可评审的决策。</a:t>
            </a:r>
          </a:p>
          <a:p/>
          <a:p>
            <a:r>
              <a:t>[Sources]</a:t>
            </a:r>
          </a:p>
          <a:p>
            <a:r>
              <a:t>- /Users/keivn/Project/AI-Course/课程生产/第一阶段/第11课_大模型选型、Token成本与ROI_重做工作区/第11课_大模型选型、Token成本与ROI_完整讲义.md（第1行、第8—21行、第1923—1934行）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节课可以先记成三个问题。第一，怎么选：不是看排行榜，而是建立门槛、比较维度和实施策略。第二，多少钱：从Token单价升级到一次业务任务、月度和完整成本。第三，值不值得做：把成本、收益和风险合在一起，给出Go、No-Go或有条件试点。</a:t>
            </a:r>
          </a:p>
          <a:p/>
          <a:p>
            <a:r>
              <a:t>[Sources]</a:t>
            </a:r>
          </a:p>
          <a:p>
            <a:r>
              <a:t>- /Users/keivn/Project/AI-Course/课程生产/第一阶段/第11课_大模型选型、Token成本与ROI_重做工作区/第11课_大模型选型、Token成本与ROI_完整讲义.md（六节标题；第1472—1482行；第1923—1934行）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个模型没有脱离场景的唯一答案。模型A最准确，但慢且贵；模型C最快最便宜，但漏判风险更高；模型B在普通营销审核场景里可能更均衡。真正的顺序不是先挑赢家，而是先明确任务、风险、等待时间、业务量、人工接管、数据边界和预算，再筛选候选模型。表中数据是教学假设，不代表真实厂商报价。</a:t>
            </a:r>
          </a:p>
          <a:p/>
          <a:p>
            <a:r>
              <a:t>[Sources]</a:t>
            </a:r>
          </a:p>
          <a:p>
            <a:r>
              <a:t>- /Users/keivn/Project/AI-Course/课程生产/第一阶段/第11课_大模型选型、Token成本与ROI_重做工作区/第11课_大模型选型、Token成本与ROI_完整讲义.md（第31—63行，教学示例）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motif-loud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9875520" cy="16276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F5F2E9"/>
                </a:solidFill>
                <a:latin typeface="Helvetica Neue"/>
                <a:ea typeface="Hiragino Sans GB"/>
              </a:rPr>
              <a:t>大模型选型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5F2E9"/>
                </a:solidFill>
                <a:latin typeface="Helvetica Neue"/>
                <a:ea typeface="Hiragino Sans GB"/>
              </a:rPr>
              <a:t>Token 成本与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621024"/>
            <a:ext cx="192024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第 11 课</a:t>
            </a:r>
          </a:p>
        </p:txBody>
      </p:sp>
      <p:sp>
        <p:nvSpPr>
          <p:cNvPr id="6" name="deckkit-motif-loud"/>
          <p:cNvSpPr/>
          <p:nvPr/>
        </p:nvSpPr>
        <p:spPr>
          <a:xfrm>
            <a:off x="841248" y="4315968"/>
            <a:ext cx="278892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791456"/>
            <a:ext cx="89611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B5BC"/>
                </a:solidFill>
                <a:latin typeface="Helvetica Neue"/>
                <a:ea typeface="Hiragino Sans GB"/>
              </a:rPr>
              <a:t>从“调用大模型”到一份可评审的产品决策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724144"/>
            <a:ext cx="95097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MODEL SELECTION · TOKEN COST · ROI · GO / NO-GO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9216" y="4663440"/>
            <a:ext cx="1600200" cy="1078992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416A78"/>
                </a:solidFill>
                <a:latin typeface="Helvetica Neue"/>
                <a:ea typeface="Hiragino Sans GB"/>
              </a:rPr>
              <a:t>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83464"/>
            <a:ext cx="475488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B5BC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42532"/>
            <a:ext cx="7205472" cy="34747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698480" cy="5303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elvetica Neue"/>
                <a:ea typeface="Hiragino Sans GB"/>
              </a:rPr>
              <a:t>第11课课程结构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71016"/>
            <a:ext cx="141732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99032"/>
            <a:ext cx="1060704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A7B5BC"/>
                </a:solidFill>
                <a:latin typeface="Helvetica Neue"/>
                <a:ea typeface="Hiragino Sans GB"/>
              </a:rPr>
              <a:t>模型选择 → 成本核算 → 项目决策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68496" y="3108960"/>
            <a:ext cx="347472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644383" y="3108960"/>
            <a:ext cx="347472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157984"/>
            <a:ext cx="3218688" cy="2340864"/>
          </a:xfrm>
          <a:prstGeom prst="roundRect">
            <a:avLst>
              <a:gd name="adj" fmla="val 7031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59152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657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52344"/>
            <a:ext cx="2670048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2E9"/>
                </a:solidFill>
                <a:latin typeface="Helvetica Neue"/>
                <a:ea typeface="Hiragino Sans GB"/>
              </a:rPr>
              <a:t>怎么选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328415"/>
            <a:ext cx="2670048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elvetica Neue"/>
                <a:ea typeface="Hiragino Sans GB"/>
              </a:rPr>
              <a:t>第1—4节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85031"/>
            <a:ext cx="2670048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场景 · 标准
策略 · 多模态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57984"/>
            <a:ext cx="3218688" cy="2340864"/>
          </a:xfrm>
          <a:prstGeom prst="roundRect">
            <a:avLst>
              <a:gd name="adj" fmla="val 7031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359152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52344"/>
            <a:ext cx="2670048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2E9"/>
                </a:solidFill>
                <a:latin typeface="Helvetica Neue"/>
                <a:ea typeface="Hiragino Sans GB"/>
              </a:rPr>
              <a:t>多少钱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28415"/>
            <a:ext cx="2670048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elvetica Neue"/>
                <a:ea typeface="Hiragino Sans GB"/>
              </a:rPr>
              <a:t>第5节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685031"/>
            <a:ext cx="2670048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Token · 单次任务
月度 · 完整成本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2157984"/>
            <a:ext cx="3218688" cy="2340864"/>
          </a:xfrm>
          <a:prstGeom prst="roundRect">
            <a:avLst>
              <a:gd name="adj" fmla="val 7031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359152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657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752344"/>
            <a:ext cx="2670048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2E9"/>
                </a:solidFill>
                <a:latin typeface="Helvetica Neue"/>
                <a:ea typeface="Hiragino Sans GB"/>
              </a:rPr>
              <a:t>值不值得做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3328415"/>
            <a:ext cx="2670048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elvetica Neue"/>
                <a:ea typeface="Hiragino Sans GB"/>
              </a:rPr>
              <a:t>第6节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685031"/>
            <a:ext cx="2670048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优化 · ROI
Go / No-Go / 试点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065776"/>
            <a:ext cx="10570464" cy="713232"/>
          </a:xfrm>
          <a:prstGeom prst="roundRect">
            <a:avLst>
              <a:gd name="adj" fmla="val 8000"/>
            </a:avLst>
          </a:prstGeom>
          <a:solidFill>
            <a:srgbClr val="1338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122834"/>
            <a:ext cx="64008" cy="599114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65776"/>
            <a:ext cx="10168128" cy="7132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最终产出  </a:t>
            </a:r>
            <a:r>
              <a:rPr sz="1250" b="0" i="0">
                <a:solidFill>
                  <a:srgbClr val="F5F2E9"/>
                </a:solidFill>
                <a:latin typeface="Helvetica Neue"/>
                <a:ea typeface="Hiragino Sans GB"/>
              </a:rPr>
              <a:t>模型选型与价值决策表：选什么、花多少、继续还是停止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第一节 ·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83464"/>
            <a:ext cx="475488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B5BC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42532"/>
            <a:ext cx="10808208" cy="34747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698480" cy="5303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elvetica Neue"/>
                <a:ea typeface="Hiragino Sans GB"/>
              </a:rPr>
              <a:t>模型选型的工作场景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71016"/>
            <a:ext cx="141732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99032"/>
            <a:ext cx="1060704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A7B5BC"/>
                </a:solidFill>
                <a:latin typeface="Helvetica Neue"/>
                <a:ea typeface="Hiragino Sans GB"/>
              </a:rPr>
              <a:t>案例：同一个审核任务，三个候选模型怎么选？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75104"/>
          <a:ext cx="6656832" cy="24140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93392"/>
                <a:gridCol w="1554480"/>
                <a:gridCol w="1417320"/>
                <a:gridCol w="169164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候选模型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准确率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响应时间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单次成本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模型 A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98%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5 秒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0.30 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模型 B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96%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1 秒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0.03 元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模型 C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91%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0.3 秒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0.005 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73568" y="1947672"/>
            <a:ext cx="335584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F5F2E9"/>
                </a:solidFill>
                <a:latin typeface="Helvetica Neue"/>
                <a:ea typeface="Hiragino Sans GB"/>
              </a:rPr>
              <a:t>先问这 7 个问题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2551176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468880"/>
            <a:ext cx="304495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任务：</a:t>
            </a: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具体审什么？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2939288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856992"/>
            <a:ext cx="304495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风险：</a:t>
            </a: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错一次代价多大？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3327400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3245104"/>
            <a:ext cx="304495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体验：</a:t>
            </a: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用户能等多久？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3715512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3633216"/>
            <a:ext cx="304495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规模：</a:t>
            </a: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每天多少条？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4103624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4021328"/>
            <a:ext cx="304495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接管：</a:t>
            </a: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能否人工复核？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1856" y="4491736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4409440"/>
            <a:ext cx="304495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数据：</a:t>
            </a: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能否发送外部？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6" y="4879848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4797552"/>
            <a:ext cx="304495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预算：</a:t>
            </a: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能承担多少？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628132"/>
            <a:ext cx="10515600" cy="498347"/>
          </a:xfrm>
          <a:prstGeom prst="roundRect">
            <a:avLst>
              <a:gd name="adj" fmla="val 8000"/>
            </a:avLst>
          </a:prstGeom>
          <a:solidFill>
            <a:srgbClr val="102B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5667999"/>
            <a:ext cx="64008" cy="418612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628132"/>
            <a:ext cx="1011326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判断原则  </a:t>
            </a:r>
            <a:r>
              <a:rPr sz="1250" b="0" i="0">
                <a:solidFill>
                  <a:srgbClr val="F5F2E9"/>
                </a:solidFill>
                <a:latin typeface="Helvetica Neue"/>
                <a:ea typeface="Hiragino Sans GB"/>
              </a:rPr>
              <a:t>最强模型 ≠ 最适合的模型。先设业务门槛，再比较候选模型。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