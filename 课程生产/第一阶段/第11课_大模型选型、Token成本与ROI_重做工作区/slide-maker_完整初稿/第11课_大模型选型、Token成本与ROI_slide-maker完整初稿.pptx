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301" r:id="rId4"/>
    <p:sldId id="302" r:id="rId5"/>
    <p:sldId id="303" r:id="rId6"/>
    <p:sldId id="258" r:id="rId7"/>
    <p:sldId id="304" r:id="rId8"/>
    <p:sldId id="259" r:id="rId9"/>
    <p:sldId id="260" r:id="rId10"/>
    <p:sldId id="261" r:id="rId11"/>
    <p:sldId id="306" r:id="rId12"/>
    <p:sldId id="262" r:id="rId13"/>
    <p:sldId id="310" r:id="rId14"/>
    <p:sldId id="263" r:id="rId15"/>
    <p:sldId id="305" r:id="rId16"/>
    <p:sldId id="264" r:id="rId17"/>
    <p:sldId id="265" r:id="rId18"/>
    <p:sldId id="266" r:id="rId19"/>
    <p:sldId id="268" r:id="rId20"/>
    <p:sldId id="269" r:id="rId21"/>
    <p:sldId id="270" r:id="rId22"/>
    <p:sldId id="307" r:id="rId23"/>
    <p:sldId id="308" r:id="rId24"/>
    <p:sldId id="271" r:id="rId25"/>
    <p:sldId id="272" r:id="rId26"/>
    <p:sldId id="292" r:id="rId27"/>
    <p:sldId id="273" r:id="rId28"/>
    <p:sldId id="309" r:id="rId29"/>
    <p:sldId id="274" r:id="rId30"/>
    <p:sldId id="275" r:id="rId31"/>
    <p:sldId id="276" r:id="rId32"/>
    <p:sldId id="311" r:id="rId33"/>
    <p:sldId id="278" r:id="rId34"/>
    <p:sldId id="312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90" r:id="rId44"/>
    <p:sldId id="291" r:id="rId45"/>
    <p:sldId id="293" r:id="rId46"/>
    <p:sldId id="313" r:id="rId47"/>
    <p:sldId id="294" r:id="rId48"/>
    <p:sldId id="296" r:id="rId49"/>
    <p:sldId id="297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F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588"/>
  </p:normalViewPr>
  <p:slideViewPr>
    <p:cSldViewPr snapToGrid="0" snapToObjects="1">
      <p:cViewPr varScale="1">
        <p:scale>
          <a:sx n="95" d="100"/>
          <a:sy n="95" d="100"/>
        </p:scale>
        <p:origin x="200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59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用上一课PRD中的系统分工进入本课。项目不是突然出现，而是PRD落地后自然暴露了模型选择问题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/第11课_大模型选型、Token成本与ROI_重做工作区/第11课_大模型选型、Token成本与ROI_完整讲义.md（第一节开场）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F16A-F41A-4D6A-69E1-7A1EC32A9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02E20-2543-80A8-3657-92CC60A43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18B5E-52CD-0506-D598-9111B60D0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4694-E918-1791-60B5-F8E8A4FF5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10025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9A943-DBDD-09FE-D83A-DD643F2A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9FE9B-FF08-EC1B-D79F-A417824CF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5FB27-C11E-B9EE-4E05-1EFCC93F0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B0165-A258-5A08-7573-A291377FC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0969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547A-540E-A87E-CC35-B0AA946B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86875-5EA4-A529-D84E-DB79723C1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0101D-21BB-E393-8312-089837C43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6D3EB-A060-E27A-E4E0-F9B5453DE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85818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模型A最准但贵且慢，模型C最快最便宜但风险高。普通营销文案、金融医疗材料、低风险初筛会得到不同答案。表格是教学假设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/第11课_大模型选型、Token成本与ROI_重做工作区/第11课_大模型选型、Token成本与ROI_完整讲义.md（第一节‘模型选型不是选择排行榜冠军’）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1684-206C-3E81-FAFC-ADDCADB4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ED091-F764-7C9B-2DA2-0A6501471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3B705-A891-0FE5-2BD3-B27F4FCC8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2F1C-AAD2-619A-891F-C772E3D22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9481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四种错法对应四类产品后果。提醒学员，模型选型不是技术参数比较，而是系统结果比较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/第11课_大模型选型、Token成本与ROI_重做工作区/第11课_大模型选型、Token成本与ROI_完整讲义.md（第一节‘选错模型会产生什么后果’）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产品经理不用亲自部署模型，但必须把业务要求变成模型标准，并说明任务、指标、成本、风险、降级和选择理由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/第11课_大模型选型、Token成本与ROI_重做工作区/第11课_大模型选型、Token成本与ROI_完整讲义.md（第一节第三、四部分）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这一页给出后续所有选型比较的总框架：能力、成本、风险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/第11课_大模型选型、Token成本与ROI_重做工作区/第11课_大模型选型、Token成本与ROI_完整讲义.md（第二节第一部分）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BED9-D092-FA83-CD39-0E24CD34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28315-31B4-BAEB-A816-18D99BD80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F9DB2-3AA1-0EA3-16CF-C09C20833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价格、质量、速度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26237-3100-D3CD-D079-F11DE2178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9230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强调业务不同，重点指标不同。尤其高风险场景不能被总体准确率掩盖，结构化输出也直接影响工程成本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/第11课_大模型选型、Token成本与ROI_重做工作区/第11课_大模型选型、Token成本与ROI_完整讲义.md（第二节第二部分）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0605-C16C-BD7D-7737-B21DE1AAE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C58F2-BA71-66BB-54D8-6148DF17B0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75AD5-A180-28F0-CFFA-74199D4EB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60172-6E49-924B-E8E4-482952034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61967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用模型C与模型B的人工复核例子说明：调用费更低不代表总成本更低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/第11课_大模型选型、Token成本与ROI_重做工作区/第11课_大模型选型、Token成本与ROI_完整讲义.md（第二节第三部分）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8CB8C-F939-44CA-D566-C588AE67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4A89F-8AF6-2938-7987-22E2BB5F8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2A5B2-C76A-DCAF-F3A6-6F1DC6498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系统</a:t>
            </a:r>
            <a:r>
              <a:rPr lang="en-US" altLang="zh-CN" dirty="0"/>
              <a:t>prompt</a:t>
            </a:r>
            <a:r>
              <a:rPr lang="zh-CN" altLang="en-US" dirty="0"/>
              <a:t>、</a:t>
            </a:r>
            <a:r>
              <a:rPr lang="en-US" altLang="zh-CN" dirty="0"/>
              <a:t>rag</a:t>
            </a:r>
            <a:r>
              <a:rPr lang="zh-CN" altLang="en-US" dirty="0"/>
              <a:t>、历史对话记录、用户输入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C9C-5DB4-B741-307E-F250450E3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3959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政府、国企、央企以及金融医疗项目可能有额外要求。课件中的九天、盘古是场景示例，不是固定答案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/第11课_大模型选型、Token成本与ROI_重做工作区/第11课_大模型选型、Token成本与ROI_完整讲义.md（第二节第四部分‘国内业务环境与特殊部署要求’）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名单来自知乎第31课的教学素材。正式项目必须重新核对名称、版本、价格和服务范围。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/第11课_大模型选型、Token成本与ROI_重做工作区/第11课_大模型选型、Token成本与ROI_完整讲义.md（第二节第五部分‘课程案例：按目标建立具体模型候选池’）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门槛法避免合规、数据、效果底线被加权平均稀释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/第11课_大模型选型、Token成本与ROI_重做工作区/第11课_大模型选型、Token成本与ROI_完整讲义.md（第二节第六部分）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七步流程是产品经理真正推进选型的工作顺序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/第11课_大模型选型、Token成本与ROI_重做工作区/第11课_大模型选型、Token成本与ROI_完整讲义.md（第三节第一部分）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‘</a:t>
            </a:r>
            <a:r>
              <a:rPr dirty="0" err="1"/>
              <a:t>需要大模型完成审核’无法测试。拆成判断、解释、建议、图像与结构化输出，才能定义各自标准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/第11课_大模型选型、Token成本与ROI_重做工作区/第11课_大模型选型、Token成本与ROI_完整讲义.md（第三节第一步）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验证阶段用较强模型建立能力上限；试点看真实运行；规模化看路由与成本；成熟后再评估自建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/第11课_大模型选型、Token成本与ROI_重做工作区/第11课_大模型选型、Token成本与ROI_完整讲义.md（第三节第二至八部分）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945D-11EB-F2F3-1828-535EB174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5C0E8-2C47-9FD8-5E37-7F3F65974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32D68-850B-AD3D-EA62-7EBA4B4A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验证阶段用较强模型建立能力上限；试点看真实运行；规模化看路由与成本；成熟后再评估自建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/第11课_大模型选型、Token成本与ROI_重做工作区/第11课_大模型选型、Token成本与ROI_完整讲义.md（第三节第二至八部分）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88A0E-59A7-393B-6F17-769B51EAC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47205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4B7A3-38E1-5304-2976-2C546B02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0ACAA-CBED-498A-B1F4-B5BD2A498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E5C13-33AB-C68A-538E-AF0BB81FA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验证阶段用较强模型建立能力上限；试点看真实运行；规模化看路由与成本；成熟后再评估自建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/第11课_大模型选型、Token成本与ROI_重做工作区/第11课_大模型选型、Token成本与ROI_完整讲义.md（第三节第二至八部分）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EF617-7E9E-837E-2397-F2FB4822E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550126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路由不是为了把所有请求压到便宜模型，而是把资源投入到真正需要的任务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/第11课_大模型选型、Token成本与ROI_重做工作区/第11课_大模型选型、Token成本与ROI_完整讲义.md（第三节第五部分）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不要混淆路由与降级。PRD需要描述失败时的产品体验，例如进入人工队列并告知预计时间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/第11课_大模型选型、Token成本与ROI_重做工作区/第11课_大模型选型、Token成本与ROI_完整讲义.md（第三节第六、七部分）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路由示例展示资源配置，而不是只换便宜模型。还要计入路由模型自身成本与误分风险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/第11课_大模型选型、Token成本与ROI_重做工作区/第11课_大模型选型、Token成本与ROI_完整讲义.md（第六节第四部分）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574513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公开能力更强的新模型也可能改变输出格式并破坏系统，因此任何切换都必须重新评测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/第11课_大模型选型、Token成本与ROI_重做工作区/第11课_大模型选型、Token成本与ROI_完整讲义.md（第三节第八、九部分）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EB0D-00B9-D91E-216E-C61FBFBE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B215F-9D64-5AC5-62CE-B93D43486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B4C98-16A6-B277-6939-6938DB741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6FBBA-3369-0B51-59F3-BA5A4968A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80313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即使同一平台支持多种模态，也要分别测试每项能力、成本和真实任务表现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/第11课_大模型选型、Token成本与ROI_重做工作区/第11课_大模型选型、Token成本与ROI_完整讲义.md（第四节第一部分）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识别位置、OCR提取和语义理解并不是一件事。任务定义不清，评测和选型都会失焦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/第11课_大模型选型、Token成本与ROI_重做工作区/第11课_大模型选型、Token成本与ROI_完整讲义.md（第四节第二部分）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重点是把真实输入分布带进评测集，不能只在清晰单图上判断能力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/第11课_大模型选型、Token成本与ROI_重做工作区/第11课_大模型选型、Token成本与ROI_完整讲义.md（第四节第三部分）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4B61-5C3D-FAA9-38D8-A39E1A0B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3BD69-35F1-8AF3-915D-6B3FE8664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B404B-AF26-8448-624B-EC5F529D2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73184-E1A3-64B6-239C-E0BE0068C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74999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用三个能力的不同指标帮助学员理解：多模态不是统一采购一个模型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/第11课_大模型选型、Token成本与ROI_重做工作区/第11课_大模型选型、Token成本与ROI_完整讲义.md（第四节第五至七部分）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87A2-1F62-ADE7-D10C-5D492412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4B767-8C1C-A2A4-6920-69322E3D6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FF130-C93A-A1D8-268F-57BCFC525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1D38F-E948-8586-A401-E3C53D806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302517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产品经理无需掌握分词算法，但必须知道哪些上下文在消耗Token，并从日志读取实际数量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/第11课_大模型选型、Token成本与ROI_重做工作区/第11课_大模型选型、Token成本与ROI_完整讲义.md（第五节第一、二部分）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所有价格均为教学示例，正式上课需要查看对应厂商官方价格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/第11课_大模型选型、Token成本与ROI_重做工作区/第11课_大模型选型、Token成本与ROI_完整讲义.md（第五节第三部分）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概率成本能把条件调用、强模型复核和格式修复折算为平均任务成本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/第11课_大模型选型、Token成本与ROI_重做工作区/第11课_大模型选型、Token成本与ROI_完整讲义.md（第五节第四部分）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Agent循环、格式重试、超时重试和重新生成是最容易漏算的成本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/第11课_大模型选型、Token成本与ROI_重做工作区/第11课_大模型选型、Token成本与ROI_完整讲义.md（第五节第五、六部分）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普通任务的平均成本不能代表长内容、高风险与多模态任务。P95能看到尾部成本。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/第11课_大模型选型、Token成本与ROI_重做工作区/第11课_大模型选型、Token成本与ROI_完整讲义.md（第五节第七、八部分）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模型成本和人工成本要合并看。选择过弱模型会把费用从API转移到人工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/第11课_大模型选型、Token成本与ROI_重做工作区/第11课_大模型选型、Token成本与ROI_完整讲义.md（第五节第九、十部分）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一次性投入要靠未来使用量摊销；错误成本难算但不能假设不存在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/第11课_大模型选型、Token成本与ROI_重做工作区/第11课_大模型选型、Token成本与ROI_完整讲义.md（第五节第十一部分）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成本估算分为需求粗估、试点实测和上线监控三个阶段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/第11课_大模型选型、Token成本与ROI_重做工作区/第11课_大模型选型、Token成本与ROI_完整讲义.md（第五节第十二至十四部分）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前四类优化重点是处理方式、模型资源和上下文。删减后都要重新跑评测集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/第11课_大模型选型、Token成本与ROI_重做工作区/第11课_大模型选型、Token成本与ROI_完整讲义.md（第六节第三至六部分）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Workflow更容易控制状态和调用次数；多模态尤其需要限制输入与升级条件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/第11课_大模型选型、Token成本与ROI_重做工作区/第11课_大模型选型、Token成本与ROI_完整讲义.md（第六节第七至十部分）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对比表显示人工复核率上升，需要判断新增人工是否抵消Token节省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/第11课_大模型选型、Token成本与ROI_重做工作区/第11课_大模型选型、Token成本与ROI_完整讲义.md（第六节第十一部分）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74D0F-CAD9-4AB5-2A41-C55D66D5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981C8-894F-6079-AAB7-1CC7AEAB8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27609-B273-8DF7-9792-AECF7FAAA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第10课已经把AI产品方案写进PRD，第11课继续回答：模型怎么选、钱怎么算、项目值不值得推进。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/第11课_大模型选型、Token成本与ROI_重做工作区/第11课_大模型选型、Token成本与ROI_完整讲义.md（全文主题与第一节开场）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2A7B9-4E5C-FDF2-3AC1-F1CC43F54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05183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收益不是只看节省工资，还包括效率、收入和风险，但同一份价值只能计算一次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/第11课_大模型选型、Token成本与ROI_重做工作区/第11课_大模型选型、Token成本与ROI_完整讲义.md（第六节第十二、十三部分）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AI自动完成70%，剩余30%人工。教学示例需要提醒学员：真实结果取决于使用量、复核率和维护成本。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/第11课_大模型选型、Token成本与ROI_重做工作区/第11课_大模型选型、Token成本与ROI_完整讲义.md（第六节第十五部分至‘回本周期’）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展示观察周期内的总成本，避免只用单月节省忽略一次性投入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keivn</a:t>
            </a:r>
            <a:r>
              <a:rPr dirty="0"/>
              <a:t>/Project/AI-Course/</a:t>
            </a:r>
            <a:r>
              <a:rPr dirty="0" err="1"/>
              <a:t>课程生产</a:t>
            </a:r>
            <a:r>
              <a:rPr dirty="0"/>
              <a:t>/</a:t>
            </a:r>
            <a:r>
              <a:rPr dirty="0" err="1"/>
              <a:t>第一阶段</a:t>
            </a:r>
            <a:r>
              <a:rPr dirty="0"/>
              <a:t>/第11课_大模型选型、Token成本与ROI_重做工作区/第11课_大模型选型、Token成本与ROI_完整讲义.md（第六节第十五部分‘六个月投入产出’）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737360"/>
            <a:ext cx="996696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800" b="1" i="0">
                <a:solidFill>
                  <a:srgbClr val="F5F2E9"/>
                </a:solidFill>
                <a:latin typeface="Helvetica Neue"/>
                <a:ea typeface="Hiragino Sans GB"/>
              </a:rPr>
              <a:t>大模型选型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F5F2E9"/>
                </a:solidFill>
                <a:latin typeface="Helvetica Neue"/>
                <a:ea typeface="Hiragino Sans GB"/>
              </a:rPr>
              <a:t>Token 成本与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639312"/>
            <a:ext cx="20116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第 11 课</a:t>
            </a:r>
          </a:p>
        </p:txBody>
      </p:sp>
      <p:sp>
        <p:nvSpPr>
          <p:cNvPr id="6" name="deckkit-motif-loud"/>
          <p:cNvSpPr/>
          <p:nvPr/>
        </p:nvSpPr>
        <p:spPr>
          <a:xfrm>
            <a:off x="841248" y="4297680"/>
            <a:ext cx="28163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4773168"/>
            <a:ext cx="8961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B5BC"/>
                </a:solidFill>
                <a:latin typeface="Helvetica Neue"/>
                <a:ea typeface="Hiragino Sans GB"/>
              </a:rPr>
              <a:t>从“调用大模型”到一份可评审的产品决策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733288"/>
            <a:ext cx="9509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MODEL SELECTION · TOKEN COST · ROI · GO / NO-GO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72" y="4590288"/>
            <a:ext cx="1609344" cy="107899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416A78"/>
                </a:solidFill>
                <a:latin typeface="Helvetica Neue"/>
                <a:ea typeface="Hiragino Sans GB"/>
              </a:rPr>
              <a:t>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第一节 · 模型选型的工作场景与产品经理职责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48036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从PRD进入模型选型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PRD写清了分工，但“调用哪个模型”仍然没有答案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9339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05456"/>
            <a:ext cx="2075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90088"/>
            <a:ext cx="2075688" cy="11978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敏感词、固定格式、确定性业务逻辑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99339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505456"/>
            <a:ext cx="2075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大模型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990088"/>
            <a:ext cx="2075688" cy="11978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复杂语义判断、风险原因与修改建议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99339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505456"/>
            <a:ext cx="2075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人工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90088"/>
            <a:ext cx="2075688" cy="11978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高风险、低置信度和异常结果复核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993392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89136" y="215798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05456"/>
            <a:ext cx="2075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产品输出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990088"/>
            <a:ext cx="2075688" cy="11978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风险等级、风险原因和处理建议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2040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029200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剩余问题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010912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“复杂语义判断交给大模型”——到底交给哪一个？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17D09-21EF-4552-C186-EFD6FDEC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93B02DE6-EF4E-7BE4-260B-4E6028DDB26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A665F-3F9F-D8EA-F694-594E6FCDC048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61673-AC6B-1ED7-A7BF-45B839D42C62}"/>
              </a:ext>
            </a:extLst>
          </p:cNvPr>
          <p:cNvSpPr txBox="1"/>
          <p:nvPr/>
        </p:nvSpPr>
        <p:spPr>
          <a:xfrm>
            <a:off x="841248" y="3053576"/>
            <a:ext cx="9966960" cy="7508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dirty="0">
                <a:solidFill>
                  <a:srgbClr val="F5F2E9"/>
                </a:solidFill>
                <a:latin typeface="Helvetica Neue"/>
                <a:ea typeface="Hiragino Sans GB"/>
              </a:rPr>
              <a:t>为什么不能直接用最好的大模型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94604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D822E-A3A7-ABE3-867D-40215B75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8B50415A-B274-2F85-6B83-D7CECE92A5F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DB99-E8EB-13AD-2388-BF4DEB4ECC38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489BE-D87C-294F-A6CC-ABCEFAC0CB29}"/>
              </a:ext>
            </a:extLst>
          </p:cNvPr>
          <p:cNvSpPr txBox="1"/>
          <p:nvPr/>
        </p:nvSpPr>
        <p:spPr>
          <a:xfrm>
            <a:off x="841248" y="2676871"/>
            <a:ext cx="9966960" cy="150425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最好的大模型也比人工便宜，为什么不能用？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80022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C1096-791B-6F66-22DF-208E5F5F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031F2CF6-A4BE-5DB3-671C-F9A082972B10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7F2DD-2588-27EC-468D-FDAEBF819B10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7A85F-0DF0-DE41-6442-0FB63A7E7F14}"/>
              </a:ext>
            </a:extLst>
          </p:cNvPr>
          <p:cNvSpPr txBox="1"/>
          <p:nvPr/>
        </p:nvSpPr>
        <p:spPr>
          <a:xfrm>
            <a:off x="841248" y="3054506"/>
            <a:ext cx="9966960" cy="7489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成本也是产品力的一个重要组成部分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7980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第一节 · 模型选型的工作场景与产品经理职责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72054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模型选型的工作场景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同一个审核任务，三个候选模型没有脱离场景的唯一答案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920240"/>
          <a:ext cx="6675120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候选模型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准确率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响应时间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单次成本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模型 A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98%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5 秒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0.30 元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65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模型 B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96%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1 秒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0.03 元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模型 C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91%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0.3 秒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0.005 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1901952"/>
            <a:ext cx="3337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先问 7 个业务问题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496312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74736" y="2414016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任务：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具体审什么？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286816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4736" y="2785872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风险：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错一次代价多大？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3240024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3157728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体验：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用户能等多久？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3611880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74736" y="3529584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规模：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每天多少条？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3983736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3901440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接管：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能否人工复核？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4355592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74736" y="4273296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数据：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能否发送外部？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472744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4736" y="4645152"/>
            <a:ext cx="3017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预算：</a:t>
            </a:r>
            <a:r>
              <a:rPr sz="1650" b="0" i="0">
                <a:solidFill>
                  <a:srgbClr val="A7B5BC"/>
                </a:solidFill>
                <a:latin typeface="Helvetica Neue"/>
                <a:ea typeface="Hiragino Sans GB"/>
              </a:rPr>
              <a:t>能承担多少？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0527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74243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判断原则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72414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最强模型 ≠ 最适合的模型。先确定场景约束，再比较候选模型。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7E636-C7E8-B84C-D536-C82C4FD67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C8ECF4DE-F701-7E00-D2A8-F37A1B096C00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B3645-BAAD-6A31-5476-4BE1198510CB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12885-E3AC-B739-2906-F1783B0EAE86}"/>
              </a:ext>
            </a:extLst>
          </p:cNvPr>
          <p:cNvSpPr txBox="1"/>
          <p:nvPr/>
        </p:nvSpPr>
        <p:spPr>
          <a:xfrm>
            <a:off x="841248" y="3054506"/>
            <a:ext cx="9966960" cy="7489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模型是能力的天花板，也是成本中心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83053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第一节 · 模型选型的工作场景与产品经理职责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96072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选错模型会产生什么后果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API单价只是局部，最终问题会出现在效果、总成本、体验和风险上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56816"/>
            <a:ext cx="5148072" cy="1527048"/>
          </a:xfrm>
          <a:prstGeom prst="roundRect">
            <a:avLst>
              <a:gd name="adj" fmla="val 958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F6969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47091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能力不够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53512"/>
            <a:ext cx="4709160" cy="39319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漏判和误判过多，大量结果回到人工，便宜模型反而不省钱。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956816"/>
            <a:ext cx="5148072" cy="1527048"/>
          </a:xfrm>
          <a:prstGeom prst="roundRect">
            <a:avLst>
              <a:gd name="adj" fmla="val 958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21214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468880"/>
            <a:ext cx="47091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能力过剩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953512"/>
            <a:ext cx="4709160" cy="39319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只提升少量效果，却让响应时间和调用成本成倍增加。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30752"/>
            <a:ext cx="5148072" cy="1527048"/>
          </a:xfrm>
          <a:prstGeom prst="roundRect">
            <a:avLst>
              <a:gd name="adj" fmla="val 958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242816"/>
            <a:ext cx="47091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体验不匹配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727448"/>
            <a:ext cx="4709160" cy="39319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后台离线可等十分钟；发布前实时审核可能连十秒都不可接受。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3730752"/>
            <a:ext cx="5148072" cy="1527048"/>
          </a:xfrm>
          <a:prstGeom prst="roundRect">
            <a:avLst>
              <a:gd name="adj" fmla="val 958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8504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242816"/>
            <a:ext cx="47091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风险不满足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4727448"/>
            <a:ext cx="4709160" cy="39319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数据、合规、稳定性和供应商切换能力不通过，效果再好也不能上线。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看整体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“模型便宜”不等于“系统省钱”，“模型强”也不等于“产品适合”。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第一节 · 模型选型的工作场景与产品经理职责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120091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F5F2E9"/>
                </a:solidFill>
                <a:latin typeface="Helvetica Neue"/>
                <a:ea typeface="Hiragino Sans GB"/>
              </a:rPr>
              <a:t>模型选择不是一个技术问题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技术团队回答“怎么接”，产品经理定义“什么才算值得接”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65960"/>
            <a:ext cx="5010912" cy="3246120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2203704"/>
            <a:ext cx="1234440" cy="310896"/>
          </a:xfrm>
          <a:prstGeom prst="roundRect">
            <a:avLst>
              <a:gd name="adj" fmla="val 47058"/>
            </a:avLst>
          </a:prstGeom>
          <a:solidFill>
            <a:srgbClr val="133843"/>
          </a:solidFill>
          <a:ln w="755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231136"/>
            <a:ext cx="12344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技术团队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2834639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6" y="2752344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接入：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接口、并发与部署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" y="3263391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9576" y="3181096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测试：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评测集上的表现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" y="3692143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9576" y="3609848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工程：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稳定性与资源要求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" y="4120896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9576" y="4038600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故障：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限流、超时与恢复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1032" y="1965960"/>
            <a:ext cx="5266944" cy="3246120"/>
          </a:xfrm>
          <a:prstGeom prst="roundRect">
            <a:avLst>
              <a:gd name="adj" fmla="val 4507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6" y="2203704"/>
            <a:ext cx="1481328" cy="310896"/>
          </a:xfrm>
          <a:prstGeom prst="roundRect">
            <a:avLst>
              <a:gd name="adj" fmla="val 47058"/>
            </a:avLst>
          </a:prstGeom>
          <a:solidFill>
            <a:srgbClr val="133843"/>
          </a:solidFill>
          <a:ln w="755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08776" y="2231136"/>
            <a:ext cx="1481328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产品经理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834639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752344"/>
            <a:ext cx="43708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标准：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什么错误能接受？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63391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181096"/>
            <a:ext cx="43708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体验：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用户最多等多久？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92143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609848"/>
            <a:ext cx="43708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经济性：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单次和月度成本合理吗？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20896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4038600"/>
            <a:ext cx="43708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决策：</a:t>
            </a: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达到什么条件才上线？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真正产出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不是“选了模型B”，而是一份能进入评审、预算与研发实施的选型结论。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第二节 · 模型选型的比较维度与决策标准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144109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模型选型的三个比较维度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三个问题缺少任何一个，选型都可能失败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48256"/>
            <a:ext cx="3236976" cy="2926080"/>
          </a:xfrm>
          <a:prstGeom prst="roundRect">
            <a:avLst>
              <a:gd name="adj" fmla="val 500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60320"/>
            <a:ext cx="279806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2E9"/>
                </a:solidFill>
                <a:latin typeface="Helvetica Neue"/>
                <a:ea typeface="Hiragino Sans GB"/>
              </a:rPr>
              <a:t>能力与性能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44952"/>
            <a:ext cx="2798064" cy="17922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能否完成真实业务任务？
效果、召回、结构化输出、上下文、速度与特殊能力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2048256"/>
            <a:ext cx="3236976" cy="2926080"/>
          </a:xfrm>
          <a:prstGeom prst="roundRect">
            <a:avLst>
              <a:gd name="adj" fmla="val 500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560320"/>
            <a:ext cx="279806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2E9"/>
                </a:solidFill>
                <a:latin typeface="Helvetica Neue"/>
                <a:ea typeface="Hiragino Sans GB"/>
              </a:rPr>
              <a:t>完整成本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3044952"/>
            <a:ext cx="2798064" cy="17922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业务是否承担得起？
调用、重试、工具、人工、开发、维护与错误损失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2048256"/>
            <a:ext cx="3547872" cy="2926080"/>
          </a:xfrm>
          <a:prstGeom prst="roundRect">
            <a:avLst>
              <a:gd name="adj" fmla="val 500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18704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560320"/>
            <a:ext cx="31089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2E9"/>
                </a:solidFill>
                <a:latin typeface="Helvetica Neue"/>
                <a:ea typeface="Hiragino Sans GB"/>
              </a:rPr>
              <a:t>长期风险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3044952"/>
            <a:ext cx="3108960" cy="17922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能否稳定合规地使用？
数据、合规、稳定性、部署方式与供应商切换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比较逻辑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先判断能不能用，再判断用起来是否划算、能否长期使用。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EB764-D022-0E09-DE31-B11B363C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811B74AF-2A47-6870-4EA0-AC6871B6646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98EFC-4069-D9CE-C00F-E9C8FE1A108D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9A2E6D37-ABDA-575A-EF92-E369C9959E2D}"/>
              </a:ext>
            </a:extLst>
          </p:cNvPr>
          <p:cNvSpPr/>
          <p:nvPr/>
        </p:nvSpPr>
        <p:spPr>
          <a:xfrm>
            <a:off x="3495697" y="1788458"/>
            <a:ext cx="4558553" cy="3671047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>
                <a:latin typeface="DengXian" panose="02010600030101010101" pitchFamily="2" charset="-122"/>
                <a:ea typeface="DengXian" panose="02010600030101010101" pitchFamily="2" charset="-122"/>
              </a:rPr>
              <a:t>不可能三角</a:t>
            </a:r>
          </a:p>
        </p:txBody>
      </p:sp>
    </p:spTree>
    <p:extLst>
      <p:ext uri="{BB962C8B-B14F-4D97-AF65-F5344CB8AC3E}">
        <p14:creationId xmlns:p14="http://schemas.microsoft.com/office/powerpoint/2010/main" val="91740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第二节 · 模型选型的比较维度与决策标准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168127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能力与性能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不要问模型“聪不聪明”，要问它在业务任务上是否达标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29184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业务判断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0360"/>
            <a:ext cx="2852928" cy="2834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A7B5BC"/>
                </a:solidFill>
                <a:latin typeface="Helvetica Neue"/>
                <a:ea typeface="Hiragino Sans GB"/>
              </a:rPr>
              <a:t>风险类型、等级和上下文组合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883664"/>
            <a:ext cx="329184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高风险召回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880360"/>
            <a:ext cx="2852928" cy="2834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A7B5BC"/>
                </a:solidFill>
                <a:latin typeface="Helvetica Neue"/>
                <a:ea typeface="Hiragino Sans GB"/>
              </a:rPr>
              <a:t>漏判、误判和低置信度比例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1883664"/>
            <a:ext cx="329184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395728"/>
            <a:ext cx="28529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结构化输出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880360"/>
            <a:ext cx="2852928" cy="2834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A7B5BC"/>
                </a:solidFill>
                <a:latin typeface="Helvetica Neue"/>
                <a:ea typeface="Hiragino Sans GB"/>
              </a:rPr>
              <a:t>JSON、字段、枚举与原文引用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557016"/>
            <a:ext cx="329184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" y="37216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69080"/>
            <a:ext cx="28529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上下文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553712"/>
            <a:ext cx="2852928" cy="2834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A7B5BC"/>
                </a:solidFill>
                <a:latin typeface="Helvetica Neue"/>
                <a:ea typeface="Hiragino Sans GB"/>
              </a:rPr>
              <a:t>长内容、中间信息和Token增长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557016"/>
            <a:ext cx="329184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8848" y="37216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069080"/>
            <a:ext cx="28529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响应速度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553712"/>
            <a:ext cx="2852928" cy="2834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A7B5BC"/>
                </a:solidFill>
                <a:latin typeface="Helvetica Neue"/>
                <a:ea typeface="Hiragino Sans GB"/>
              </a:rPr>
              <a:t>首字、完整、P95与高峰稳定性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08975" y="3557016"/>
            <a:ext cx="329184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1" y="37216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069080"/>
            <a:ext cx="285292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特殊能力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4553712"/>
            <a:ext cx="2852928" cy="28346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A7B5BC"/>
                </a:solidFill>
                <a:latin typeface="Helvetica Neue"/>
                <a:ea typeface="Hiragino Sans GB"/>
              </a:rPr>
              <a:t>多模态、工具调用、批量与私有化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31536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568696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指标来源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39112" y="5550408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评测指标来自业务目标：审核看漏判，客服看解决率，报告看事实与完整性。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2EBD2-4F59-9CC7-681D-ABCD33AA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6931A8DC-6488-1A57-2AC5-90DD14491B6A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CDBB8-184A-CF34-3DA4-23C67F476749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96202-43C6-DD92-444A-97440628FEBC}"/>
              </a:ext>
            </a:extLst>
          </p:cNvPr>
          <p:cNvSpPr txBox="1"/>
          <p:nvPr/>
        </p:nvSpPr>
        <p:spPr>
          <a:xfrm>
            <a:off x="841248" y="3054506"/>
            <a:ext cx="9966960" cy="7489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不要迷信榜单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24920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第二节 · 模型选型的比较维度与决策标准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192145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成本不能只看公开单价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低价模型如果带来更多人工复核，整体成本可能更高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65960"/>
            <a:ext cx="35204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elvetica Neue"/>
                <a:ea typeface="Hiragino Sans GB"/>
              </a:rPr>
              <a:t>模型公开价格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68880"/>
            <a:ext cx="35204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2E9"/>
                </a:solidFill>
                <a:latin typeface="Helvetica Neue"/>
                <a:ea typeface="Hiragino Sans GB"/>
              </a:rPr>
              <a:t>输入 Token
+ 输出 Token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87368" y="2761488"/>
            <a:ext cx="640080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865376"/>
            <a:ext cx="6355080" cy="3182112"/>
          </a:xfrm>
          <a:prstGeom prst="roundRect">
            <a:avLst>
              <a:gd name="adj" fmla="val 4597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2112264"/>
            <a:ext cx="52120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2E9"/>
                </a:solidFill>
                <a:latin typeface="Helvetica Neue"/>
                <a:ea typeface="Hiragino Sans GB"/>
              </a:rPr>
              <a:t>完成一次业务任务的总成本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8" y="2743200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0096" y="2660904"/>
            <a:ext cx="523951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流程：</a:t>
            </a: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调用次数、重试与反思循环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3128264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0096" y="3045968"/>
            <a:ext cx="523951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服务：</a:t>
            </a: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OCR、检索、存储和第三方接口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8928" y="351332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0096" y="3431032"/>
            <a:ext cx="523951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交付：</a:t>
            </a: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开发、数据、测试、监控与维护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3898392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3816096"/>
            <a:ext cx="523951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人工：</a:t>
            </a: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复核、异常处理和返工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8928" y="4283456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0096" y="4201160"/>
            <a:ext cx="523951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风险：</a:t>
            </a:r>
            <a:r>
              <a:rPr sz="1550" b="0" i="0">
                <a:solidFill>
                  <a:srgbClr val="A7B5BC"/>
                </a:solidFill>
                <a:latin typeface="Helvetica Neue"/>
                <a:ea typeface="Hiragino Sans GB"/>
              </a:rPr>
              <a:t>失败与错误结果造成的损失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成本口径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比较的是“完成任务付出多少”，不是“一百万Token谁最便宜”。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4F33C-E196-4032-B553-46AF3943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0A21DFA8-A730-B6C0-020C-82FCF5DC9F4B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7B5FD-9039-A73A-9D37-2E4675BE0BA7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D5196-B9FF-D629-6BB5-A9AA8AD8E15E}"/>
              </a:ext>
            </a:extLst>
          </p:cNvPr>
          <p:cNvSpPr txBox="1"/>
          <p:nvPr/>
        </p:nvSpPr>
        <p:spPr>
          <a:xfrm>
            <a:off x="841248" y="3054506"/>
            <a:ext cx="9966960" cy="7508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480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输入token的大头是哪个部分</a:t>
            </a:r>
            <a:r>
              <a:rPr lang="zh-CN" altLang="en-US" sz="4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？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22113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第二节 · 模型选型的比较维度与决策标准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216164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风险与国内业务环境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部分项目的候选池会先被行业、采购、数据和部署条件缩小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496312" cy="1993392"/>
          </a:xfrm>
          <a:prstGeom prst="roundRect">
            <a:avLst>
              <a:gd name="adj" fmla="val 733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数据风险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0360"/>
            <a:ext cx="205740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dirty="0" err="1">
                <a:solidFill>
                  <a:srgbClr val="A7B5BC"/>
                </a:solidFill>
                <a:latin typeface="Helvetica Neue"/>
                <a:ea typeface="Hiragino Sans GB"/>
              </a:rPr>
              <a:t>外部传输、留存、训练使用、个人信息与商业秘密</a:t>
            </a:r>
            <a:endParaRPr sz="1330" b="0" i="0" dirty="0">
              <a:solidFill>
                <a:srgbClr val="A7B5BC"/>
              </a:solidFill>
              <a:latin typeface="Helvetica Neue"/>
              <a:ea typeface="Hiragino Sans GB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38144" y="1883664"/>
            <a:ext cx="2496312" cy="1993392"/>
          </a:xfrm>
          <a:prstGeom prst="roundRect">
            <a:avLst>
              <a:gd name="adj" fmla="val 733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9572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合规风险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80360"/>
            <a:ext cx="205740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dirty="0" err="1">
                <a:solidFill>
                  <a:srgbClr val="A7B5BC"/>
                </a:solidFill>
                <a:latin typeface="Helvetica Neue"/>
                <a:ea typeface="Hiragino Sans GB"/>
              </a:rPr>
              <a:t>地区、行业、审计留痕、版权、隐私与内容安全</a:t>
            </a:r>
            <a:endParaRPr sz="1330" b="0" i="0" dirty="0">
              <a:solidFill>
                <a:srgbClr val="A7B5BC"/>
              </a:solidFill>
              <a:latin typeface="Helvetica Neue"/>
              <a:ea typeface="Hiragino Sans GB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2496312" cy="1993392"/>
          </a:xfrm>
          <a:prstGeom prst="roundRect">
            <a:avLst>
              <a:gd name="adj" fmla="val 733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39572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稳定性风险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880360"/>
            <a:ext cx="205740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dirty="0" err="1">
                <a:solidFill>
                  <a:srgbClr val="A7B5BC"/>
                </a:solidFill>
                <a:latin typeface="Helvetica Neue"/>
                <a:ea typeface="Hiragino Sans GB"/>
              </a:rPr>
              <a:t>可用性、限流、超时、版本变化和效果漂移</a:t>
            </a:r>
            <a:endParaRPr sz="1330" b="0" i="0" dirty="0">
              <a:solidFill>
                <a:srgbClr val="A7B5BC"/>
              </a:solidFill>
              <a:latin typeface="Helvetica Neue"/>
              <a:ea typeface="Hiragino Sans GB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814816" y="1883664"/>
            <a:ext cx="2496312" cy="1993392"/>
          </a:xfrm>
          <a:prstGeom prst="roundRect">
            <a:avLst>
              <a:gd name="adj" fmla="val 733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34272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39572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供应商风险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880360"/>
            <a:ext cx="2057400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A7B5BC"/>
                </a:solidFill>
                <a:latin typeface="Helvetica Neue"/>
                <a:ea typeface="Hiragino Sans GB"/>
              </a:rPr>
              <a:t>涨价、停服、接口变化、迁移和厂商绑定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151376"/>
            <a:ext cx="10561320" cy="1152144"/>
          </a:xfrm>
          <a:prstGeom prst="roundRect">
            <a:avLst>
              <a:gd name="adj" fmla="val 11111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379976"/>
            <a:ext cx="2084831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特殊部署硬门槛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343400"/>
            <a:ext cx="784555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国内备案与服务要求 · 数据不出域 · 内网/离线运行 · 国产软硬件适配
日志审计 · 权限隔离 · 私有化部署 · 真实中文业务数据测试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5955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569671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先排除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567842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硬门槛应在建立候选名单前确认，而不是模型测完才发现无法采购或部署。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第二节 · 模型选型的比较维度与决策标准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240182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按目标建立模型候选池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具体名单用于缩小测试范围，不是长期有效的排行榜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47088"/>
          <a:ext cx="10561320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选型目标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国外候选示例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国内候选示例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典型场景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优先质量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GPT-5 / Claude Sonnet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Qwen-Max / DeepSeek V4 Pro / Kimi K3 / GLM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复杂推理、多步骤任务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优先速度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GPT-4o mini / Llama-8B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Qwen-7B / Yi-Lightning / Doubao Lite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实时语音、高频客服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优先成本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DeepSeek V4 / Qwen-2.5-7B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离线分析、批量处理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>
            <a:off x="3295202" y="5577840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0884" y="5225796"/>
            <a:ext cx="2553462" cy="868680"/>
          </a:xfrm>
          <a:prstGeom prst="roundRect">
            <a:avLst>
              <a:gd name="adj" fmla="val 14736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188" y="5353812"/>
            <a:ext cx="2260854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① 按目标选一类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188" y="5701284"/>
            <a:ext cx="2260854" cy="30175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质量 / 速度 / 成本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94968" y="5577840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50650" y="5225796"/>
            <a:ext cx="2553462" cy="868680"/>
          </a:xfrm>
          <a:prstGeom prst="roundRect">
            <a:avLst>
              <a:gd name="adj" fmla="val 14736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6954" y="5353812"/>
            <a:ext cx="2260854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② 先排硬门槛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954" y="5701284"/>
            <a:ext cx="2260854" cy="30175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合规 / 数据 / 部署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94734" y="5577840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50416" y="5225796"/>
            <a:ext cx="2553462" cy="868680"/>
          </a:xfrm>
          <a:prstGeom prst="roundRect">
            <a:avLst>
              <a:gd name="adj" fmla="val 14736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6720" y="5353812"/>
            <a:ext cx="2260854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③ 同评测集验证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6720" y="5701284"/>
            <a:ext cx="2260854" cy="30175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效果 / 速度 / 成本 / 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0182" y="5225796"/>
            <a:ext cx="2553462" cy="868680"/>
          </a:xfrm>
          <a:prstGeom prst="roundRect">
            <a:avLst>
              <a:gd name="adj" fmla="val 14736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96486" y="5353812"/>
            <a:ext cx="2260854" cy="26314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dirty="0">
                <a:solidFill>
                  <a:srgbClr val="F5F2E9"/>
                </a:solidFill>
                <a:latin typeface="Helvetica Neue"/>
                <a:ea typeface="Hiragino Sans GB"/>
              </a:rPr>
              <a:t>④ </a:t>
            </a:r>
            <a:r>
              <a:rPr lang="zh-CN" altLang="en-US" sz="1350" b="1" i="0" dirty="0">
                <a:solidFill>
                  <a:srgbClr val="F5F2E9"/>
                </a:solidFill>
                <a:latin typeface="Helvetica Neue"/>
                <a:ea typeface="Hiragino Sans GB"/>
              </a:rPr>
              <a:t>上线</a:t>
            </a:r>
            <a:r>
              <a:rPr sz="135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前核验</a:t>
            </a:r>
            <a:endParaRPr sz="135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96486" y="5701284"/>
            <a:ext cx="2260854" cy="30175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名称 / 版本 / 价格 / 范围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第二节 · 模型选型的比较维度与决策标准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264200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模型选型不能直接加权打分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合规不通过，不能靠效果高分把总分补回来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4736592" cy="3401568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10795">
            <a:solidFill>
              <a:srgbClr val="EF696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4206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F6969"/>
                </a:solidFill>
                <a:latin typeface="Helvetica Neue"/>
                <a:ea typeface="Hiragino Sans GB"/>
              </a:rPr>
              <a:t>错误做法：所有指标一起平均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70632"/>
            <a:ext cx="4041648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F5F2E9"/>
                </a:solidFill>
                <a:latin typeface="Helvetica Neue"/>
                <a:ea typeface="Hiragino Sans GB"/>
              </a:rPr>
              <a:t>效果 40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A7B5BC"/>
                </a:solidFill>
                <a:latin typeface="Helvetica Neue"/>
                <a:ea typeface="Hiragino Sans GB"/>
              </a:rPr>
              <a:t>速度 20  +  成本 20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F5F2E9"/>
                </a:solidFill>
                <a:latin typeface="Helvetica Neue"/>
                <a:ea typeface="Hiragino Sans GB"/>
              </a:rPr>
              <a:t>风险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40873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7B5BC"/>
                </a:solidFill>
                <a:latin typeface="Helvetica Neue"/>
                <a:ea typeface="Hiragino Sans GB"/>
              </a:rPr>
              <a:t>硬风险可能被其他高分掩盖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23560" y="3273552"/>
            <a:ext cx="594360" cy="2286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45936" y="1883664"/>
            <a:ext cx="4901184" cy="3401568"/>
          </a:xfrm>
          <a:prstGeom prst="roundRect">
            <a:avLst>
              <a:gd name="adj" fmla="val 4301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130552"/>
            <a:ext cx="43891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elvetica Neue"/>
                <a:ea typeface="Hiragino Sans GB"/>
              </a:rPr>
              <a:t>正确顺序：门槛 → 比较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0256" y="2779776"/>
            <a:ext cx="1078992" cy="310896"/>
          </a:xfrm>
          <a:prstGeom prst="roundRect">
            <a:avLst>
              <a:gd name="adj" fmla="val 47058"/>
            </a:avLst>
          </a:prstGeom>
          <a:solidFill>
            <a:srgbClr val="133843"/>
          </a:solidFill>
          <a:ln w="755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0256" y="2807208"/>
            <a:ext cx="107899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770632"/>
            <a:ext cx="28712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先淘汰任何硬门槛不通过的模型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0256" y="3858768"/>
            <a:ext cx="1078992" cy="310896"/>
          </a:xfrm>
          <a:prstGeom prst="roundRect">
            <a:avLst>
              <a:gd name="adj" fmla="val 47058"/>
            </a:avLst>
          </a:prstGeom>
          <a:solidFill>
            <a:srgbClr val="133843"/>
          </a:solidFill>
          <a:ln w="755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0256" y="3886200"/>
            <a:ext cx="107899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3849624"/>
            <a:ext cx="287121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只在通过者中比较稳定性、总成本、维护和供应商风险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23560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760720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决策顺序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先判断能不能用，再判断哪个更划算。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312237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模型选型的完整实施流程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从业务任务开始，而不是从“最近哪个模型最火”开始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37083" y="2578608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8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1 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拆成可测试能力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79806" y="2578608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92531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38835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2 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835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先写验收门槛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22530" y="2578608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35254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81558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3 候选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1558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3—5个代表模型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65253" y="2578608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77978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24282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4 评测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4282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同数据同条件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07977" y="2578608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20701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67005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5 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7005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单次到规模化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50700" y="2578608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63425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09729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6 风险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9729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数据与切换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06148" y="2048256"/>
            <a:ext cx="1396419" cy="1225296"/>
          </a:xfrm>
          <a:prstGeom prst="roundRect">
            <a:avLst>
              <a:gd name="adj" fmla="val 10447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52452" y="2176272"/>
            <a:ext cx="1103811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7 试点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2452" y="2523744"/>
            <a:ext cx="1103811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记录结论持续复评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3822191"/>
            <a:ext cx="10552176" cy="1399032"/>
          </a:xfrm>
          <a:prstGeom prst="roundRect">
            <a:avLst>
              <a:gd name="adj" fmla="val 10457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" y="4087368"/>
            <a:ext cx="228600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最终选型记录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35224" y="4032504"/>
            <a:ext cx="7955279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业务任务 · 验收标准 · 候选与评测结果 · 成本测算 · 风险分析
主模型与备选模型 · 路由与人工复核 · 当前结论 · 重新评测条件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可复评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选型记录不是永久结论；模型、价格和业务量变化后都要重新评估。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336255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先把“智能审核”拆成AI任务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产品包含多个AI任务时，应分别选型，不默认一个模型全包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47088"/>
          <a:ext cx="10561319" cy="34015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6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AI任务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需要的能力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可观察输出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文本风险判断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语义理解、规则理解、分类判断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风险类型与等级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风险原因解释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内容生成、事实一致性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原因与原文证据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修改建议生成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指令遵循、文案生成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可执行的修改方案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图片文字审核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OCR或多模态理解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文字与图文风险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审核结果结构化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JSON输出、字段稳定性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可被后端消费的数据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55955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69671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任务定义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567842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越能明确输入、输出和判断标准，模型测试越可比。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360273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不同产品阶段的选型目标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同一个产品在验证、试点、规模化和成熟阶段，不应追求同一件事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47672"/>
            <a:ext cx="2432304" cy="3200400"/>
          </a:xfrm>
          <a:prstGeom prst="roundRect">
            <a:avLst>
              <a:gd name="adj" fmla="val 6015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176272"/>
            <a:ext cx="20299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elvetica Neue"/>
                <a:ea typeface="Hiragino Sans GB"/>
              </a:rPr>
              <a:t>01 · 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2E9"/>
                </a:solidFill>
                <a:latin typeface="Helvetica Neue"/>
                <a:ea typeface="Hiragino Sans GB"/>
              </a:rPr>
              <a:t>能力上限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730752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先判断能不能做
暂不追求最低成本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947672"/>
            <a:ext cx="2432304" cy="3200400"/>
          </a:xfrm>
          <a:prstGeom prst="roundRect">
            <a:avLst>
              <a:gd name="adj" fmla="val 6015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2176272"/>
            <a:ext cx="20299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7657"/>
                </a:solidFill>
                <a:latin typeface="Helvetica Neue"/>
                <a:ea typeface="Hiragino Sans GB"/>
              </a:rPr>
              <a:t>02 · 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2E9"/>
                </a:solidFill>
                <a:latin typeface="Helvetica Neue"/>
                <a:ea typeface="Hiragino Sans GB"/>
              </a:rPr>
              <a:t>稳定可控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730752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效果、体验、人工
和成本形成平衡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947672"/>
            <a:ext cx="2432304" cy="3200400"/>
          </a:xfrm>
          <a:prstGeom prst="roundRect">
            <a:avLst>
              <a:gd name="adj" fmla="val 6015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4" y="2176272"/>
            <a:ext cx="20299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C565"/>
                </a:solidFill>
                <a:latin typeface="Helvetica Neue"/>
                <a:ea typeface="Hiragino Sans GB"/>
              </a:rPr>
              <a:t>03 · 规模化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2E9"/>
                </a:solidFill>
                <a:latin typeface="Helvetica Neue"/>
                <a:ea typeface="Hiragino Sans GB"/>
              </a:rPr>
              <a:t>系统效率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730752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路由、工程优化
控制单位任务成本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947672"/>
            <a:ext cx="2432304" cy="3200400"/>
          </a:xfrm>
          <a:prstGeom prst="roundRect">
            <a:avLst>
              <a:gd name="adj" fmla="val 6015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8" y="2176272"/>
            <a:ext cx="20299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8D391"/>
                </a:solidFill>
                <a:latin typeface="Helvetica Neue"/>
                <a:ea typeface="Hiragino Sans GB"/>
              </a:rPr>
              <a:t>04 · 成熟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2E9"/>
                </a:solidFill>
                <a:latin typeface="Helvetica Neue"/>
                <a:ea typeface="Hiragino Sans GB"/>
              </a:rPr>
              <a:t>长期经济性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730752"/>
            <a:ext cx="202996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再评估私有化
开源与微调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阶段原则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验证失败先改任务和流程；成熟也不意味着一定私有化或微调。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7D58C-06A2-C315-F692-F4840C0D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885771-ACB3-507B-5818-6D8798D93B97}"/>
              </a:ext>
            </a:extLst>
          </p:cNvPr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3C18B-B9E8-5406-88D2-7359F384EAAC}"/>
              </a:ext>
            </a:extLst>
          </p:cNvPr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7BE646-E94E-D193-A65D-EC4641F951EF}"/>
              </a:ext>
            </a:extLst>
          </p:cNvPr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>
            <a:extLst>
              <a:ext uri="{FF2B5EF4-FFF2-40B4-BE49-F238E27FC236}">
                <a16:creationId xmlns:a16="http://schemas.microsoft.com/office/drawing/2014/main" id="{3F879EBB-1594-417B-1275-CFA0C43E0E72}"/>
              </a:ext>
            </a:extLst>
          </p:cNvPr>
          <p:cNvSpPr/>
          <p:nvPr/>
        </p:nvSpPr>
        <p:spPr>
          <a:xfrm>
            <a:off x="694944" y="6547104"/>
            <a:ext cx="360273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C4D60-9A72-2B96-A9DE-B9D4BC21AEFC}"/>
              </a:ext>
            </a:extLst>
          </p:cNvPr>
          <p:cNvSpPr txBox="1"/>
          <p:nvPr/>
        </p:nvSpPr>
        <p:spPr>
          <a:xfrm>
            <a:off x="713232" y="630936"/>
            <a:ext cx="10716768" cy="49167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验证阶段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>
            <a:extLst>
              <a:ext uri="{FF2B5EF4-FFF2-40B4-BE49-F238E27FC236}">
                <a16:creationId xmlns:a16="http://schemas.microsoft.com/office/drawing/2014/main" id="{5FFEC04B-2A23-B189-F0EB-737313664DB9}"/>
              </a:ext>
            </a:extLst>
          </p:cNvPr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BEB6567-74F7-E9E8-1CA4-32EEC3587F93}"/>
              </a:ext>
            </a:extLst>
          </p:cNvPr>
          <p:cNvSpPr/>
          <p:nvPr/>
        </p:nvSpPr>
        <p:spPr>
          <a:xfrm>
            <a:off x="694944" y="2843649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7CFA46-8FB7-3C59-E098-32F889DBFF62}"/>
              </a:ext>
            </a:extLst>
          </p:cNvPr>
          <p:cNvSpPr txBox="1"/>
          <p:nvPr/>
        </p:nvSpPr>
        <p:spPr>
          <a:xfrm>
            <a:off x="896112" y="2980809"/>
            <a:ext cx="1133856" cy="23173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FF7657"/>
                </a:solidFill>
                <a:latin typeface="Helvetica Neue"/>
                <a:ea typeface="Hiragino Sans GB"/>
              </a:rPr>
              <a:t>核心</a:t>
            </a:r>
            <a:r>
              <a:rPr sz="1150" b="1" i="0" dirty="0" err="1">
                <a:solidFill>
                  <a:srgbClr val="FF7657"/>
                </a:solidFill>
                <a:latin typeface="Helvetica Neue"/>
                <a:ea typeface="Hiragino Sans GB"/>
              </a:rPr>
              <a:t>原则</a:t>
            </a:r>
            <a:endParaRPr sz="1150" b="1" i="0" dirty="0">
              <a:solidFill>
                <a:srgbClr val="FF7657"/>
              </a:solidFill>
              <a:latin typeface="Helvetica Neue"/>
              <a:ea typeface="Hiragino Sans GB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2B57F3-7F9C-3AE4-2DB0-7A05ED39B34A}"/>
              </a:ext>
            </a:extLst>
          </p:cNvPr>
          <p:cNvSpPr txBox="1"/>
          <p:nvPr/>
        </p:nvSpPr>
        <p:spPr>
          <a:xfrm>
            <a:off x="2002536" y="2962521"/>
            <a:ext cx="9125712" cy="29508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 dirty="0">
                <a:solidFill>
                  <a:srgbClr val="F5F2E9"/>
                </a:solidFill>
                <a:latin typeface="Helvetica Neue"/>
                <a:ea typeface="Hiragino Sans GB"/>
              </a:rPr>
              <a:t>用最好的</a:t>
            </a:r>
            <a:endParaRPr sz="155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28" name="Rounded Rectangle 24">
            <a:extLst>
              <a:ext uri="{FF2B5EF4-FFF2-40B4-BE49-F238E27FC236}">
                <a16:creationId xmlns:a16="http://schemas.microsoft.com/office/drawing/2014/main" id="{4DDD55C6-4B7A-37E2-6E8E-2B8F79E352E1}"/>
              </a:ext>
            </a:extLst>
          </p:cNvPr>
          <p:cNvSpPr/>
          <p:nvPr/>
        </p:nvSpPr>
        <p:spPr>
          <a:xfrm>
            <a:off x="694944" y="3720667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EC03BA51-CA5F-8C96-9AE3-D3508EAA6552}"/>
              </a:ext>
            </a:extLst>
          </p:cNvPr>
          <p:cNvSpPr txBox="1"/>
          <p:nvPr/>
        </p:nvSpPr>
        <p:spPr>
          <a:xfrm>
            <a:off x="896112" y="3857827"/>
            <a:ext cx="1133856" cy="23173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i="0" dirty="0">
                <a:solidFill>
                  <a:srgbClr val="FF7657"/>
                </a:solidFill>
                <a:latin typeface="Helvetica Neue"/>
                <a:ea typeface="Hiragino Sans GB"/>
              </a:rPr>
              <a:t>目标</a:t>
            </a:r>
            <a:endParaRPr sz="1150" b="1" i="0" dirty="0">
              <a:solidFill>
                <a:srgbClr val="FF7657"/>
              </a:solidFill>
              <a:latin typeface="Helvetica Neue"/>
              <a:ea typeface="Hiragino Sans GB"/>
            </a:endParaRP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EA3C1D7D-A25B-D87C-C9D5-2AE0D0235681}"/>
              </a:ext>
            </a:extLst>
          </p:cNvPr>
          <p:cNvSpPr txBox="1"/>
          <p:nvPr/>
        </p:nvSpPr>
        <p:spPr>
          <a:xfrm>
            <a:off x="2002536" y="3839539"/>
            <a:ext cx="9125712" cy="29508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 dirty="0">
                <a:solidFill>
                  <a:srgbClr val="F5F2E9"/>
                </a:solidFill>
                <a:latin typeface="Helvetica Neue"/>
                <a:ea typeface="Hiragino Sans GB"/>
              </a:rPr>
              <a:t>快速验证场景是否可解</a:t>
            </a:r>
            <a:endParaRPr sz="155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74768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7B84C-5B3A-7ABE-03B9-7FE9BB46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6476B3-271A-169E-F289-43A05BEA41DE}"/>
              </a:ext>
            </a:extLst>
          </p:cNvPr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4780F-D95C-5281-98F4-82FA6A1789FA}"/>
              </a:ext>
            </a:extLst>
          </p:cNvPr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F0BEE-E719-5CD9-E369-A69515BE32BB}"/>
              </a:ext>
            </a:extLst>
          </p:cNvPr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>
            <a:extLst>
              <a:ext uri="{FF2B5EF4-FFF2-40B4-BE49-F238E27FC236}">
                <a16:creationId xmlns:a16="http://schemas.microsoft.com/office/drawing/2014/main" id="{626A01CA-0361-2D16-22DB-E30BAD5DEA51}"/>
              </a:ext>
            </a:extLst>
          </p:cNvPr>
          <p:cNvSpPr/>
          <p:nvPr/>
        </p:nvSpPr>
        <p:spPr>
          <a:xfrm>
            <a:off x="694944" y="6547104"/>
            <a:ext cx="360273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A2185-6017-9586-F95E-D250FC2D953E}"/>
              </a:ext>
            </a:extLst>
          </p:cNvPr>
          <p:cNvSpPr txBox="1"/>
          <p:nvPr/>
        </p:nvSpPr>
        <p:spPr>
          <a:xfrm>
            <a:off x="713232" y="630936"/>
            <a:ext cx="10716768" cy="49167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F5F2E9"/>
                </a:solidFill>
                <a:latin typeface="Helvetica Neue"/>
                <a:ea typeface="Hiragino Sans GB"/>
              </a:rPr>
              <a:t>试点</a:t>
            </a:r>
            <a:r>
              <a:rPr lang="zh-CN" altLang="en-US" sz="2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阶段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>
            <a:extLst>
              <a:ext uri="{FF2B5EF4-FFF2-40B4-BE49-F238E27FC236}">
                <a16:creationId xmlns:a16="http://schemas.microsoft.com/office/drawing/2014/main" id="{262CECC9-13B1-8958-2432-A85207EA8834}"/>
              </a:ext>
            </a:extLst>
          </p:cNvPr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A4A1363-42F0-55F2-B371-A6ADB282139D}"/>
              </a:ext>
            </a:extLst>
          </p:cNvPr>
          <p:cNvSpPr/>
          <p:nvPr/>
        </p:nvSpPr>
        <p:spPr>
          <a:xfrm>
            <a:off x="694944" y="2843649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88DE9-6DB7-1CEF-E2A0-5D76B2D527BD}"/>
              </a:ext>
            </a:extLst>
          </p:cNvPr>
          <p:cNvSpPr txBox="1"/>
          <p:nvPr/>
        </p:nvSpPr>
        <p:spPr>
          <a:xfrm>
            <a:off x="896112" y="2980809"/>
            <a:ext cx="1133856" cy="23173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dirty="0">
                <a:solidFill>
                  <a:srgbClr val="FF7657"/>
                </a:solidFill>
                <a:latin typeface="Helvetica Neue"/>
                <a:ea typeface="Hiragino Sans GB"/>
              </a:rPr>
              <a:t>核心</a:t>
            </a:r>
            <a:r>
              <a:rPr sz="1150" b="1" i="0" dirty="0" err="1">
                <a:solidFill>
                  <a:srgbClr val="FF7657"/>
                </a:solidFill>
                <a:latin typeface="Helvetica Neue"/>
                <a:ea typeface="Hiragino Sans GB"/>
              </a:rPr>
              <a:t>原则</a:t>
            </a:r>
            <a:endParaRPr sz="1150" b="1" i="0" dirty="0">
              <a:solidFill>
                <a:srgbClr val="FF7657"/>
              </a:solidFill>
              <a:latin typeface="Helvetica Neue"/>
              <a:ea typeface="Hiragino Sans GB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2ED53D-19C8-EF25-A48C-AE36AF655D07}"/>
              </a:ext>
            </a:extLst>
          </p:cNvPr>
          <p:cNvSpPr txBox="1"/>
          <p:nvPr/>
        </p:nvSpPr>
        <p:spPr>
          <a:xfrm>
            <a:off x="2002536" y="2962521"/>
            <a:ext cx="9125712" cy="29508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 dirty="0">
                <a:solidFill>
                  <a:srgbClr val="F5F2E9"/>
                </a:solidFill>
                <a:latin typeface="Helvetica Neue"/>
                <a:ea typeface="Hiragino Sans GB"/>
              </a:rPr>
              <a:t>不改变流程的情况下，综合考虑成本、速度和业务场景，选择最合适的</a:t>
            </a:r>
            <a:endParaRPr sz="155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28" name="Rounded Rectangle 24">
            <a:extLst>
              <a:ext uri="{FF2B5EF4-FFF2-40B4-BE49-F238E27FC236}">
                <a16:creationId xmlns:a16="http://schemas.microsoft.com/office/drawing/2014/main" id="{FB5DABBE-9676-17DD-36A3-C7493DBBA582}"/>
              </a:ext>
            </a:extLst>
          </p:cNvPr>
          <p:cNvSpPr/>
          <p:nvPr/>
        </p:nvSpPr>
        <p:spPr>
          <a:xfrm>
            <a:off x="694944" y="3720667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41065CD2-39D6-B25E-69B2-53A77CFBE881}"/>
              </a:ext>
            </a:extLst>
          </p:cNvPr>
          <p:cNvSpPr txBox="1"/>
          <p:nvPr/>
        </p:nvSpPr>
        <p:spPr>
          <a:xfrm>
            <a:off x="896112" y="3857827"/>
            <a:ext cx="1133856" cy="23173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1" i="0" dirty="0">
                <a:solidFill>
                  <a:srgbClr val="FF7657"/>
                </a:solidFill>
                <a:latin typeface="Helvetica Neue"/>
                <a:ea typeface="Hiragino Sans GB"/>
              </a:rPr>
              <a:t>目标</a:t>
            </a:r>
            <a:endParaRPr sz="1150" b="1" i="0" dirty="0">
              <a:solidFill>
                <a:srgbClr val="FF7657"/>
              </a:solidFill>
              <a:latin typeface="Helvetica Neue"/>
              <a:ea typeface="Hiragino Sans GB"/>
            </a:endParaRP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9D09373E-EF16-FE99-2716-017DC7F417B3}"/>
              </a:ext>
            </a:extLst>
          </p:cNvPr>
          <p:cNvSpPr txBox="1"/>
          <p:nvPr/>
        </p:nvSpPr>
        <p:spPr>
          <a:xfrm>
            <a:off x="2002536" y="3839539"/>
            <a:ext cx="9125712" cy="29508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 dirty="0">
                <a:solidFill>
                  <a:srgbClr val="F5F2E9"/>
                </a:solidFill>
                <a:latin typeface="Helvetica Neue"/>
                <a:ea typeface="Hiragino Sans GB"/>
              </a:rPr>
              <a:t>找到大部分场景的最优模型基座</a:t>
            </a:r>
            <a:endParaRPr sz="155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497185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384291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规模化阶段 </a:t>
            </a:r>
            <a:r>
              <a:rPr lang="en-US" altLang="zh-CN" sz="2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-</a:t>
            </a:r>
            <a:r>
              <a:rPr lang="zh-CN" altLang="en-US" sz="2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 模型路由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不同难度、风险和价值的任务，进入不同处理层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6767" y="1874519"/>
            <a:ext cx="8138160" cy="630936"/>
          </a:xfrm>
          <a:prstGeom prst="roundRect">
            <a:avLst>
              <a:gd name="adj" fmla="val 21739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7935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elvetica Neue"/>
                <a:ea typeface="Hiragino Sans GB"/>
              </a:rPr>
              <a:t>规则处理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7631" y="2020824"/>
            <a:ext cx="55961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elvetica Neue"/>
                <a:ea typeface="Hiragino Sans GB"/>
              </a:rPr>
              <a:t>确定性规则 · 最快最便宜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6867" y="2715768"/>
            <a:ext cx="6537960" cy="630936"/>
          </a:xfrm>
          <a:prstGeom prst="roundRect">
            <a:avLst>
              <a:gd name="adj" fmla="val 21739"/>
            </a:avLst>
          </a:prstGeom>
          <a:solidFill>
            <a:srgbClr val="102B37"/>
          </a:solidFill>
          <a:ln w="1079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8035" y="2862072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8D391"/>
                </a:solidFill>
                <a:latin typeface="Helvetica Neue"/>
                <a:ea typeface="Hiragino Sans GB"/>
              </a:rPr>
              <a:t>轻量模型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7731" y="2862072"/>
            <a:ext cx="399592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elvetica Neue"/>
                <a:ea typeface="Hiragino Sans GB"/>
              </a:rPr>
              <a:t>简单分类 · 低风险初筛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4107" y="3557015"/>
            <a:ext cx="4983480" cy="630936"/>
          </a:xfrm>
          <a:prstGeom prst="roundRect">
            <a:avLst>
              <a:gd name="adj" fmla="val 21739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5275" y="3703320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7657"/>
                </a:solidFill>
                <a:latin typeface="Helvetica Neue"/>
                <a:ea typeface="Hiragino Sans GB"/>
              </a:rPr>
              <a:t>主模型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4971" y="3703320"/>
            <a:ext cx="244144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elvetica Neue"/>
                <a:ea typeface="Hiragino Sans GB"/>
              </a:rPr>
              <a:t>复杂语义 · 综合判断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5627" y="4398264"/>
            <a:ext cx="3520440" cy="630936"/>
          </a:xfrm>
          <a:prstGeom prst="roundRect">
            <a:avLst>
              <a:gd name="adj" fmla="val 21739"/>
            </a:avLst>
          </a:prstGeom>
          <a:solidFill>
            <a:srgbClr val="133843"/>
          </a:solidFill>
          <a:ln w="10795">
            <a:solidFill>
              <a:srgbClr val="EF696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6795" y="4544568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F6969"/>
                </a:solidFill>
                <a:latin typeface="Helvetica Neue"/>
                <a:ea typeface="Hiragino Sans GB"/>
              </a:rPr>
              <a:t>强模型 / 人工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6491" y="4544568"/>
            <a:ext cx="97840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7B5BC"/>
                </a:solidFill>
                <a:latin typeface="Helvetica Neue"/>
                <a:ea typeface="Hiragino Sans GB"/>
              </a:rPr>
              <a:t>极高风险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14416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751576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路由逻辑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5733288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先用低成本确定性能力处理；任务越复杂、风险越高，处理能力越强。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408310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模型路由与失败降级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一个决定正常情况下交给谁；另一个决定原方案失败后怎么办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5074920" cy="3493008"/>
          </a:xfrm>
          <a:prstGeom prst="roundRect">
            <a:avLst>
              <a:gd name="adj" fmla="val 4188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4526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模型路由：正常分工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843784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2761488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规则路由：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按行业、长度、模态和风险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242868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160572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分类路由：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先判断难度与后续模型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641953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3559657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置信度路由：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不一致或低置信度升级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041038"/>
            <a:ext cx="82296" cy="8229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3958742"/>
            <a:ext cx="418795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价值路由：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按任务价值配置资源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5157216" cy="3493008"/>
          </a:xfrm>
          <a:prstGeom prst="roundRect">
            <a:avLst>
              <a:gd name="adj" fmla="val 4188"/>
            </a:avLst>
          </a:prstGeom>
          <a:solidFill>
            <a:srgbClr val="133843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2157984"/>
            <a:ext cx="460857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elvetica Neue"/>
                <a:ea typeface="Hiragino Sans GB"/>
              </a:rPr>
              <a:t>失败降级：异常兜底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2843784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2761488"/>
            <a:ext cx="426110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模型超时：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切换备选模型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324286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3160572"/>
            <a:ext cx="426110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格式失败：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程序修复或有限重试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45936" y="3641953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3559657"/>
            <a:ext cx="426110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连续失败：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进入人工队列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4041038"/>
            <a:ext cx="82296" cy="82296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47104" y="3958742"/>
            <a:ext cx="426110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F5F2E9"/>
                </a:solidFill>
                <a:latin typeface="Helvetica Neue"/>
                <a:ea typeface="Hiragino Sans GB"/>
              </a:rPr>
              <a:t>外部停服：</a:t>
            </a:r>
            <a:r>
              <a:rPr sz="1520" b="0" i="0">
                <a:solidFill>
                  <a:srgbClr val="A7B5BC"/>
                </a:solidFill>
                <a:latin typeface="Helvetica Neue"/>
                <a:ea typeface="Hiragino Sans GB"/>
              </a:rPr>
              <a:t>保留规则与基础流程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5806440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产品要求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9112" y="5788152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降级不仅是接口异常处理，还要明确用户看到什么、多久返回。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888674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模型路由能省多少钱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把强模型留给真正复杂的5%任务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675887" cy="3246120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10795">
            <a:solidFill>
              <a:srgbClr val="EF696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76272"/>
            <a:ext cx="312724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F6969"/>
                </a:solidFill>
                <a:latin typeface="Helvetica Neue"/>
                <a:ea typeface="Hiragino Sans GB"/>
              </a:rPr>
              <a:t>原方案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44368"/>
            <a:ext cx="312724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2E9"/>
                </a:solidFill>
                <a:latin typeface="Helvetica Neue"/>
                <a:ea typeface="Hiragino Sans GB"/>
              </a:rPr>
              <a:t>100% 强模型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913632"/>
            <a:ext cx="312724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7B5BC"/>
                </a:solidFill>
                <a:latin typeface="Helvetica Neue"/>
                <a:ea typeface="Hiragino Sans GB"/>
              </a:rPr>
              <a:t>平均 0.08元 / 任务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90288" y="3246120"/>
            <a:ext cx="658368" cy="2286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31536" y="1901952"/>
          <a:ext cx="5806440" cy="23408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50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3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路由后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占比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单价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轻量模型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60%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0.005元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主模型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35%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0.03元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强模型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5%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3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0.08元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742432" y="4590288"/>
            <a:ext cx="5184648" cy="676656"/>
          </a:xfrm>
          <a:prstGeom prst="roundRect">
            <a:avLst>
              <a:gd name="adj" fmla="val 18918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52744" y="4773168"/>
            <a:ext cx="47731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加权平均 = 0.0175元 / 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806440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必须验证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5788152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路由本身也会出错：高风险任务是否被误分到低能力模型？</a:t>
            </a:r>
          </a:p>
        </p:txBody>
      </p:sp>
    </p:spTree>
    <p:extLst>
      <p:ext uri="{BB962C8B-B14F-4D97-AF65-F5344CB8AC3E}">
        <p14:creationId xmlns:p14="http://schemas.microsoft.com/office/powerpoint/2010/main" val="1638302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第三节 · 模型选型的实施流程与产品阶段策略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432328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成熟阶段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私有化与微调都是选项，不是成熟产品的必经之路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3273552" cy="3136392"/>
          </a:xfrm>
          <a:prstGeom prst="roundRect">
            <a:avLst>
              <a:gd name="adj" fmla="val 466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是否值得微调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35224"/>
            <a:ext cx="2834640" cy="2002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A7B5BC"/>
                </a:solidFill>
                <a:latin typeface="Helvetica Neue"/>
                <a:ea typeface="Hiragino Sans GB"/>
              </a:rPr>
              <a:t>数据是否足够且稳定？
提升能否通过评测证明？
底座升级后如何维护？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1938528"/>
            <a:ext cx="3273552" cy="3136392"/>
          </a:xfrm>
          <a:prstGeom prst="roundRect">
            <a:avLst>
              <a:gd name="adj" fmla="val 466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是否值得私有化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935224"/>
            <a:ext cx="2834640" cy="2002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A7B5BC"/>
                </a:solidFill>
                <a:latin typeface="Helvetica Neue"/>
                <a:ea typeface="Hiragino Sans GB"/>
              </a:rPr>
              <a:t>是否存在数据硬门槛？
GPU、部署和运维多少钱？
团队是否具备维护能力？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7536" y="1938528"/>
            <a:ext cx="3538728" cy="3136392"/>
          </a:xfrm>
          <a:prstGeom prst="roundRect">
            <a:avLst>
              <a:gd name="adj" fmla="val 466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450592"/>
            <a:ext cx="309981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何时重新选型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2935224"/>
            <a:ext cx="3099816" cy="20025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A7B5BC"/>
                </a:solidFill>
                <a:latin typeface="Helvetica Neue"/>
                <a:ea typeface="Hiragino Sans GB"/>
              </a:rPr>
              <a:t>新版本或价格变化
业务量、模态和Bad Case变化
合规、稳定性或人工比例变化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7900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91616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切换流程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589788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候选 → 回归评测 → 小流量灰度 → 观察真实结果 → 再全面切换。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B4C66-170D-E396-ADD5-7EE18FEA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D04B163F-69EB-3EE9-3856-9B6ED36E84F2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44318-9390-7F1C-7964-EA7B34D8E556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63541-6F2D-DF49-CDF8-E2E48E908F6D}"/>
              </a:ext>
            </a:extLst>
          </p:cNvPr>
          <p:cNvSpPr txBox="1"/>
          <p:nvPr/>
        </p:nvSpPr>
        <p:spPr>
          <a:xfrm>
            <a:off x="841248" y="3054506"/>
            <a:ext cx="9966960" cy="7489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多模态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968224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第四节 · 多模态任务的拆解与模型选型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456346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多模态</a:t>
            </a:r>
            <a:r>
              <a:rPr lang="zh-CN" altLang="en-US" sz="2800" b="1" i="0" dirty="0">
                <a:solidFill>
                  <a:srgbClr val="F5F2E9"/>
                </a:solidFill>
                <a:latin typeface="Helvetica Neue"/>
                <a:ea typeface="Hiragino Sans GB"/>
              </a:rPr>
              <a:t>的场景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图片、文档、语音和视频对应不同输入、输出、评测和计费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56231"/>
          <a:ext cx="10561320" cy="3108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9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8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能力类型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输入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输出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典型任务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多模态理解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图片 / 文档 / 视频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文字或结构化结果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看图、读表、页面解析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图片与视频生成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文字 / 图片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图片或视频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海报、商品图、营销视频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TTS语音合成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文字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音频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配音、语音客服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ASR语音识别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音频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文字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8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转写、字幕、质检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60527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74243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选型对象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572414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多模态产品经常选择的是一组模型与处理流程，而不是一个“全能模型”。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第四节 · 多模态任务的拆解与模型选型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480364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4905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F5F2E9"/>
                </a:solidFill>
                <a:latin typeface="Helvetica Neue"/>
                <a:ea typeface="Hiragino Sans GB"/>
              </a:rPr>
              <a:t>区分识别、提取和理解</a:t>
            </a:r>
            <a:endParaRPr sz="28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同一张营销海报，三个层次对应完全不同的能力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91000" y="2724912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8096" y="2084831"/>
            <a:ext cx="3432048" cy="1444752"/>
          </a:xfrm>
          <a:prstGeom prst="roundRect">
            <a:avLst>
              <a:gd name="adj" fmla="val 8860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31394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313944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哪里有文字、二维码和视觉元素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69352" y="2724912"/>
            <a:ext cx="17373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6448" y="2084831"/>
            <a:ext cx="3432048" cy="1444752"/>
          </a:xfrm>
          <a:prstGeom prst="roundRect">
            <a:avLst>
              <a:gd name="adj" fmla="val 8860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2752" y="2212848"/>
            <a:ext cx="31394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提取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560320"/>
            <a:ext cx="313944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OCR转成可处理文本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2084831"/>
            <a:ext cx="3432048" cy="1444752"/>
          </a:xfrm>
          <a:prstGeom prst="roundRect">
            <a:avLst>
              <a:gd name="adj" fmla="val 8860"/>
            </a:avLst>
          </a:prstGeom>
          <a:solidFill>
            <a:srgbClr val="102B37"/>
          </a:solidFill>
          <a:ln w="809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71104" y="2212848"/>
            <a:ext cx="313944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1104" y="2560320"/>
            <a:ext cx="3139440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判断图文关系、风险与视觉暗示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913632"/>
            <a:ext cx="10588752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133087"/>
            <a:ext cx="99669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海报示例：</a:t>
            </a:r>
            <a:r>
              <a:rPr sz="2400" b="1" i="0">
                <a:solidFill>
                  <a:srgbClr val="F5F2E9"/>
                </a:solidFill>
                <a:latin typeface="Helvetica Neue"/>
                <a:ea typeface="Hiragino Sans GB"/>
              </a:rPr>
              <a:t>“三天瘦十斤，无效退款”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OCR能读出文字；视觉理解还要判断免责声明、小字弱化和图文组合后的风险。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5099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78815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PRD写法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576986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不要只写“使用多模态模型识别图片”，要明确到底完成哪一层任务。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第四节 · 多模态任务的拆解与模型选型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504383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图片与文档理解模型看什么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高清标准图测得好，不代表真实用户素材也能处理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75104"/>
            <a:ext cx="1938528" cy="3255264"/>
          </a:xfrm>
          <a:prstGeom prst="roundRect">
            <a:avLst>
              <a:gd name="adj" fmla="val 754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3969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87168"/>
            <a:ext cx="149961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文字识别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71800"/>
            <a:ext cx="1499616" cy="21214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elvetica Neue"/>
                <a:ea typeface="Hiragino Sans GB"/>
              </a:rPr>
              <a:t>中文、小字、旋转、艺术字、模糊和表格数字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975104"/>
            <a:ext cx="1938528" cy="3255264"/>
          </a:xfrm>
          <a:prstGeom prst="roundRect">
            <a:avLst>
              <a:gd name="adj" fmla="val 754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13969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487168"/>
            <a:ext cx="149961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语义理解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971800"/>
            <a:ext cx="1499616" cy="21214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elvetica Neue"/>
                <a:ea typeface="Hiragino Sans GB"/>
              </a:rPr>
              <a:t>人物、商品、图文关系、视觉暗示和趋势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1975104"/>
            <a:ext cx="1938528" cy="3255264"/>
          </a:xfrm>
          <a:prstGeom prst="roundRect">
            <a:avLst>
              <a:gd name="adj" fmla="val 754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13969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87168"/>
            <a:ext cx="149961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结构空间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971800"/>
            <a:ext cx="1499616" cy="21214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elvetica Neue"/>
                <a:ea typeface="Hiragino Sans GB"/>
              </a:rPr>
              <a:t>标题正文、栏列、跨页表格、免责声明关联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14031" y="1975104"/>
            <a:ext cx="1938528" cy="3255264"/>
          </a:xfrm>
          <a:prstGeom prst="roundRect">
            <a:avLst>
              <a:gd name="adj" fmla="val 754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213969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487168"/>
            <a:ext cx="149961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输入限制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971800"/>
            <a:ext cx="1499616" cy="21214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elvetica Neue"/>
                <a:ea typeface="Hiragino Sans GB"/>
              </a:rPr>
              <a:t>张数、格式、分辨率、PDF页数和批量能力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975104"/>
            <a:ext cx="1938528" cy="3255264"/>
          </a:xfrm>
          <a:prstGeom prst="roundRect">
            <a:avLst>
              <a:gd name="adj" fmla="val 754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54896" y="213969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487168"/>
            <a:ext cx="149961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时间成本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971800"/>
            <a:ext cx="1499616" cy="212140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elvetica Neue"/>
                <a:ea typeface="Hiragino Sans GB"/>
              </a:rPr>
              <a:t>图片、分辨率、视觉Token、页数与调用次数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3270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5769864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真实评测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9112" y="5751576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必须包含截图、拍照、压缩图、小字、复杂背景与坏样本。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2636F-8EE0-0D97-A417-25AD1E33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26B5071E-CC62-F2D1-584A-A9A8D59913D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7C0BA-9228-5D7F-78DC-CFFAD772FB95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C3755-8BBB-55CA-D958-D04428172D1D}"/>
              </a:ext>
            </a:extLst>
          </p:cNvPr>
          <p:cNvSpPr txBox="1"/>
          <p:nvPr/>
        </p:nvSpPr>
        <p:spPr>
          <a:xfrm>
            <a:off x="841248" y="3054506"/>
            <a:ext cx="9966960" cy="7508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dirty="0">
                <a:solidFill>
                  <a:srgbClr val="F5F2E9"/>
                </a:solidFill>
                <a:latin typeface="Helvetica Neue"/>
                <a:ea typeface="Hiragino Sans GB"/>
              </a:rPr>
              <a:t>发票报销场景，需要用到多模态么？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216118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第四节 · 多模态任务的拆解与模型选型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552419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生成、TTS与ASR的选型重点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不同模态不能共用一套评价指标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3246120" cy="3511296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14016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图片 / 视频生成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98648"/>
            <a:ext cx="2807208" cy="237743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7B5BC"/>
                </a:solidFill>
                <a:latin typeface="Helvetica Neue"/>
                <a:ea typeface="Hiragino Sans GB"/>
              </a:rPr>
              <a:t>生成质量与指令遵循
主体和品牌一致性
局部编辑与参考图
平均生成次数和成本
版权、肖像与深度伪造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1901952"/>
            <a:ext cx="3246120" cy="3511296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14016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TTS 语音合成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98648"/>
            <a:ext cx="2807208" cy="237743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7B5BC"/>
                </a:solidFill>
                <a:latin typeface="Helvetica Neue"/>
                <a:ea typeface="Hiragino Sans GB"/>
              </a:rPr>
              <a:t>自然度与发音准确性
数字、金额、术语和缩写
情绪与声音风格
实时首段延迟
声音克隆授权与防滥用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901952"/>
            <a:ext cx="3630168" cy="3511296"/>
          </a:xfrm>
          <a:prstGeom prst="roundRect">
            <a:avLst>
              <a:gd name="adj" fmla="val 416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0416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2414016"/>
            <a:ext cx="3191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ASR 语音识别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898648"/>
            <a:ext cx="3191256" cy="237743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7B5BC"/>
                </a:solidFill>
                <a:latin typeface="Helvetica Neue"/>
                <a:ea typeface="Hiragino Sans GB"/>
              </a:rPr>
              <a:t>口音、中英混合与术语
噪声、回声和多人说话
说话人区分与时间戳
实时与离线处理
音频存储、校对与隐私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3328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87044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隐藏成本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5852159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生成一次不满意会继续生成；真实任务成本要乘以平均尝试次数。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E7901-B3D7-8C7C-2A4F-D615AE164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45A9505A-4F5A-BD5D-BCFA-4780D8C8D52E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FE4C4-A248-DD9D-219D-E152DD18A23E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7354C-5A38-D5F0-F835-D92FAFEA72E7}"/>
              </a:ext>
            </a:extLst>
          </p:cNvPr>
          <p:cNvSpPr txBox="1"/>
          <p:nvPr/>
        </p:nvSpPr>
        <p:spPr>
          <a:xfrm>
            <a:off x="841248" y="3054506"/>
            <a:ext cx="9966960" cy="7508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dirty="0">
                <a:solidFill>
                  <a:srgbClr val="F5F2E9"/>
                </a:solidFill>
                <a:latin typeface="Helvetica Neue"/>
                <a:ea typeface="Hiragino Sans GB"/>
              </a:rPr>
              <a:t>成本计算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581962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624474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一次请求里哪些内容消耗Token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用户输入只是模型真实上下文中的一小部分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10512"/>
          <a:ext cx="6601968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输入组成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Token示例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是否容易忽略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System Prompt与角色说明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800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是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风险分类与审核规则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1,200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输出字段与格式要求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300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RAG法规内容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1,500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用户营销内容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400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Few-shot示例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600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输入合计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4,800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7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26096" y="1920240"/>
            <a:ext cx="3621024" cy="3566160"/>
          </a:xfrm>
          <a:prstGeom prst="roundRect">
            <a:avLst>
              <a:gd name="adj" fmla="val 4102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2194560"/>
            <a:ext cx="305409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6D6C2"/>
                </a:solidFill>
                <a:latin typeface="Helvetica Neue"/>
                <a:ea typeface="Hiragino Sans GB"/>
              </a:rPr>
              <a:t>一次调用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816352"/>
            <a:ext cx="3054096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5F2E9"/>
                </a:solidFill>
                <a:latin typeface="Helvetica Neue"/>
                <a:ea typeface="Hiragino Sans GB"/>
              </a:rPr>
              <a:t>4,800</a:t>
            </a:r>
            <a:r>
              <a:rPr sz="1400" b="0" i="0">
                <a:solidFill>
                  <a:srgbClr val="A7B5BC"/>
                </a:solidFill>
                <a:latin typeface="Helvetica Neue"/>
                <a:ea typeface="Hiragino Sans GB"/>
              </a:rPr>
              <a:t> 输入Token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7657"/>
                </a:solidFill>
                <a:latin typeface="Helvetica Neue"/>
                <a:ea typeface="Hiragino Sans GB"/>
              </a:rPr>
              <a:t>+ 600</a:t>
            </a:r>
            <a:r>
              <a:rPr sz="1400" b="0" i="0">
                <a:solidFill>
                  <a:srgbClr val="A7B5BC"/>
                </a:solidFill>
                <a:latin typeface="Helvetica Neue"/>
                <a:ea typeface="Hiragino Sans GB"/>
              </a:rPr>
              <a:t> 输出Token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828032"/>
            <a:ext cx="290779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B5BC"/>
                </a:solidFill>
                <a:latin typeface="Helvetica Neue"/>
                <a:ea typeface="Hiragino Sans GB"/>
              </a:rPr>
              <a:t>以实际调用日志为准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8756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582472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Token认知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580644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不要用固定汉字比例长期估算；不同模型和模态的计费方式不同。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648492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单次模型调用成本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输入与输出通常分别计价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10561320" cy="1060704"/>
          </a:xfrm>
          <a:prstGeom prst="roundRect">
            <a:avLst>
              <a:gd name="adj" fmla="val 13793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10058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2E9"/>
                </a:solidFill>
                <a:latin typeface="Helvetica Neue"/>
                <a:ea typeface="Hiragino Sans GB"/>
              </a:rPr>
              <a:t>单次调用成本 = 输入成本 ＋ 输出成本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10128"/>
            <a:ext cx="3246120" cy="1609344"/>
          </a:xfrm>
          <a:prstGeom prst="roundRect">
            <a:avLst>
              <a:gd name="adj" fmla="val 909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822191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输入成本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306824"/>
            <a:ext cx="280720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A7B5BC"/>
                </a:solidFill>
                <a:latin typeface="Helvetica Neue"/>
                <a:ea typeface="Hiragino Sans GB"/>
              </a:rPr>
              <a:t>4,800 ÷ 1,000,000 × 2
= 0.0096 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5384" y="3310128"/>
            <a:ext cx="3246120" cy="1609344"/>
          </a:xfrm>
          <a:prstGeom prst="roundRect">
            <a:avLst>
              <a:gd name="adj" fmla="val 909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22191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输出成本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06824"/>
            <a:ext cx="280720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A7B5BC"/>
                </a:solidFill>
                <a:latin typeface="Helvetica Neue"/>
                <a:ea typeface="Hiragino Sans GB"/>
              </a:rPr>
              <a:t>600 ÷ 1,000,000 × 8
= 0.0048 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310128"/>
            <a:ext cx="3630168" cy="1609344"/>
          </a:xfrm>
          <a:prstGeom prst="roundRect">
            <a:avLst>
              <a:gd name="adj" fmla="val 909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0416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3822191"/>
            <a:ext cx="3191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本次调用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4306824"/>
            <a:ext cx="319125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A7B5BC"/>
                </a:solidFill>
                <a:latin typeface="Helvetica Neue"/>
                <a:ea typeface="Hiragino Sans GB"/>
              </a:rPr>
              <a:t>0.0096 + 0.0048
= 0.0144 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96128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733288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教学假设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9112" y="5715000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一次调用约1.44分钱，但这还不是一次业务任务的完整成本。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672510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一次调用不等于一次业务任务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多节点调用要按发生概率折算平均成本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47088"/>
          <a:ext cx="7424928" cy="33467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调用环节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单次成本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发生概率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平均成本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轻量分类模型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0.001元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100%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0.001元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主审核模型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0.0144元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70%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0.01008元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强模型复核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0.08元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5%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0.004元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格式修复调用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0.005元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3%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0.00015元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平均业务任务模型成本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0.01523元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30768" y="2057400"/>
            <a:ext cx="2816352" cy="3236976"/>
          </a:xfrm>
          <a:prstGeom prst="roundRect">
            <a:avLst>
              <a:gd name="adj" fmla="val 5194"/>
            </a:avLst>
          </a:prstGeom>
          <a:solidFill>
            <a:srgbClr val="133843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2331720"/>
            <a:ext cx="230428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elvetica Neue"/>
                <a:ea typeface="Hiragino Sans GB"/>
              </a:rPr>
              <a:t>任务成本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3090672"/>
            <a:ext cx="2331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2E9"/>
                </a:solidFill>
                <a:latin typeface="Helvetica Neue"/>
                <a:ea typeface="Hiragino Sans GB"/>
              </a:rPr>
              <a:t>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877056"/>
            <a:ext cx="230428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7B5BC"/>
                </a:solidFill>
                <a:latin typeface="Helvetica Neue"/>
                <a:ea typeface="Hiragino Sans GB"/>
              </a:rPr>
              <a:t>每个节点成本
× 触发概率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5760720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计算对象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以业务任务为单位，把所有可能发生的模型节点算进来。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696528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重试与规模化成本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单次看似便宜，重试和业务量会把差异放大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3246120" cy="2487168"/>
          </a:xfrm>
          <a:prstGeom prst="roundRect">
            <a:avLst>
              <a:gd name="adj" fmla="val 588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2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考虑重试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35224"/>
            <a:ext cx="2807208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理论任务成本 0.015元
8%请求重新调用
0.015 × 1.08
= 0.0162元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1938528"/>
            <a:ext cx="3246120" cy="2487168"/>
          </a:xfrm>
          <a:prstGeom prst="roundRect">
            <a:avLst>
              <a:gd name="adj" fmla="val 588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50592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每天 5 万条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35224"/>
            <a:ext cx="2807208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0.0162 × 50,000
= 810元 / 天
× 30天
= 24,300元 /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938528"/>
            <a:ext cx="3630168" cy="2487168"/>
          </a:xfrm>
          <a:prstGeom prst="roundRect">
            <a:avLst>
              <a:gd name="adj" fmla="val 588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0416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2450592"/>
            <a:ext cx="3191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elvetica Neue"/>
                <a:ea typeface="Hiragino Sans GB"/>
              </a:rPr>
              <a:t>每天 50 万条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935224"/>
            <a:ext cx="3191256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elvetica Neue"/>
                <a:ea typeface="Hiragino Sans GB"/>
              </a:rPr>
              <a:t>0.0162 × 500,000
× 30天
= 243,000元 / 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120640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规模效应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5102352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单次只差一分钱，规模化后也可能形成显著月度差异。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760720"/>
            <a:ext cx="10332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B5BC"/>
                </a:solidFill>
                <a:latin typeface="Helvetica Neue"/>
                <a:ea typeface="Hiragino Sans GB"/>
              </a:rPr>
              <a:t>日志要记录：每个任务实际调用几次、哪个节点最贵、哪些调用来自失败与重试。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720547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平均成本会掩盖任务分布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成本表应按照业务任务分类，而不是只按照模型名称分类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56231"/>
          <a:ext cx="7635240" cy="33467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39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内容类型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典型输入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9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调用方式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单次成本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短标题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100字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轻量模型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0.002元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普通营销文案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800字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主模型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0.015元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长图文方案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5,000字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主模型 + RAG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0.08元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高风险金融文案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2,000字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主模型 + 强模型复核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0.15元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图片海报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1张图片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OCR + 视觉模型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9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0.20元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41080" y="1901952"/>
            <a:ext cx="2633472" cy="3438144"/>
          </a:xfrm>
          <a:prstGeom prst="roundRect">
            <a:avLst>
              <a:gd name="adj" fmla="val 5555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97112" y="2185416"/>
            <a:ext cx="21214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elvetica Neue"/>
                <a:ea typeface="Hiragino Sans GB"/>
              </a:rPr>
              <a:t>同时观察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944368"/>
            <a:ext cx="2148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平均值
中位数
P95 Token
最大值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0527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74243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P95价值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572414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帮助决定输入限制、长文拆分、单独定价、预算与限流。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744565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人工复核可能比Token更贵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优化方向要看成本占比，而不是盯着最容易计算的一项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3858768" cy="3429000"/>
          </a:xfrm>
          <a:prstGeom prst="roundRect">
            <a:avLst>
              <a:gd name="adj" fmla="val 4266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212848"/>
            <a:ext cx="3310128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elvetica Neue"/>
                <a:ea typeface="Hiragino Sans GB"/>
              </a:rPr>
              <a:t>月度模型成本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33375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5F2E9"/>
                </a:solidFill>
                <a:latin typeface="Helvetica Neue"/>
                <a:ea typeface="Hiragino Sans GB"/>
              </a:rPr>
              <a:t>24,300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069080"/>
            <a:ext cx="3310128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5万条 / 天
任务成本 0.0162元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3392424"/>
            <a:ext cx="685800" cy="23774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60136" y="1901952"/>
            <a:ext cx="5577840" cy="3429000"/>
          </a:xfrm>
          <a:prstGeom prst="roundRect">
            <a:avLst>
              <a:gd name="adj" fmla="val 4266"/>
            </a:avLst>
          </a:prstGeom>
          <a:solidFill>
            <a:srgbClr val="133843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34456" y="2212848"/>
            <a:ext cx="50292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elvetica Neue"/>
                <a:ea typeface="Hiragino Sans GB"/>
              </a:rPr>
              <a:t>月度人工复核成本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3063240"/>
            <a:ext cx="506577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5F2E9"/>
                </a:solidFill>
                <a:latin typeface="Helvetica Neue"/>
                <a:ea typeface="Hiragino Sans GB"/>
              </a:rPr>
              <a:t>225,000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4041648"/>
            <a:ext cx="5029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5万条 / 天 × 10%复核率
× 1.5元 / 次 × 30天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5099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78815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关键杠杆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576986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复核率从10%降到5%，可能比压缩几百个Token更有价值。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768583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AI产品的完整成本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项目能否持续运行，取决于四类成本共同作用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一次性建设成本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0360"/>
            <a:ext cx="4663440" cy="43891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调研、产品、研发、集成、测试、数据、权限安全和培训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83664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持续固定成本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880360"/>
            <a:ext cx="4663440" cy="43891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维护、监控、知识更新、评测、运营、安全合规和基础设施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94176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5876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206240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可变成本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690872"/>
            <a:ext cx="4663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Token、多模态、接口、存储带宽、人工复核、实施与重试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694176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385876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F6969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206240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错误与风险成本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690872"/>
            <a:ext cx="4663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漏审、误拦、投诉、返工、处罚、品牌损失和客户流失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5099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78815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完整口径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76986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模型贵一万元，但能显著降低重大风险时，这一万元可能值得。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第五节 · Token成本与AI产品完整成本计算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792601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计算成功完成一次任务的成本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请求数不是产品价值，成功完成的业务任务才是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92807"/>
            <a:ext cx="4773168" cy="3355848"/>
          </a:xfrm>
          <a:prstGeom prst="roundRect">
            <a:avLst>
              <a:gd name="adj" fmla="val 4359"/>
            </a:avLst>
          </a:prstGeom>
          <a:solidFill>
            <a:srgbClr val="102B37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22452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B5BC"/>
                </a:solidFill>
                <a:latin typeface="Helvetica Neue"/>
                <a:ea typeface="Hiragino Sans GB"/>
              </a:rPr>
              <a:t>如果按请求数计算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07792"/>
            <a:ext cx="418795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2E9"/>
                </a:solidFill>
                <a:latin typeface="Helvetica Neue"/>
                <a:ea typeface="Hiragino Sans GB"/>
              </a:rPr>
              <a:t>200 ÷ 10,000
= 0.02元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334256"/>
            <a:ext cx="418795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969"/>
                </a:solidFill>
                <a:latin typeface="Helvetica Neue"/>
                <a:ea typeface="Hiragino Sans GB"/>
              </a:rPr>
              <a:t>但只有8,000次自动成功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05272" y="3328416"/>
            <a:ext cx="585216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18504" y="1892807"/>
            <a:ext cx="4928616" cy="3355848"/>
          </a:xfrm>
          <a:prstGeom prst="roundRect">
            <a:avLst>
              <a:gd name="adj" fmla="val 4359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194560"/>
            <a:ext cx="43799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elvetica Neue"/>
                <a:ea typeface="Hiragino Sans GB"/>
              </a:rPr>
              <a:t>按自动成功任务计算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07792"/>
            <a:ext cx="4361688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2E9"/>
                </a:solidFill>
                <a:latin typeface="Helvetica Neue"/>
                <a:ea typeface="Hiragino Sans GB"/>
              </a:rPr>
              <a:t>200 ÷ 8,000
= 0.025元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15968"/>
            <a:ext cx="43616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B5BC"/>
                </a:solidFill>
                <a:latin typeface="Helvetica Neue"/>
                <a:ea typeface="Hiragino Sans GB"/>
              </a:rPr>
              <a:t>再加入人工复核，完整成本还会增加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5099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78815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监控升级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576986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试点用真实样本测算；上线后按任务、节点、用户持续监控。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840638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成本优化方法（一）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先优化处理方式和模型配置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规则与模型合理分工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0360"/>
            <a:ext cx="4663440" cy="42062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关键词、计算、数据库和固定校验走确定性能力；复杂语义再调用大模型。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83664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模型分层与路由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880360"/>
            <a:ext cx="4663440" cy="42062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简单任务轻量模型，普通任务主模型，复杂任务强模型，高风险人工。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85032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减少无效上下文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681728"/>
            <a:ext cx="46634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合并重复Prompt、保留有效Few-shot、按需读取资料，并验证缓存效果。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685032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控制RAG召回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681728"/>
            <a:ext cx="46634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调整Top K、切片、去重和重排；只保留支持当前判断的片段。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3270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769864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751576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不能为了省Token，把真正需要语义理解的任务强行堆成复杂规则。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864656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成本优化方法（二）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再控制状态、循环、时效和多模态调用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控制对话历史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0360"/>
            <a:ext cx="4663440" cy="42062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近期对话 + 摘要 + 结构化状态；按当前任务读取必要记忆。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83664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限制重试与循环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880360"/>
            <a:ext cx="4663440" cy="42062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最大调用次数、输出长度、任务时长、预算上限和人工接管条件。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85032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区分实时与异步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681728"/>
            <a:ext cx="46634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用户等待的任务追求延迟；批处理任务可换更慢更便宜的方案。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685032"/>
            <a:ext cx="5102352" cy="1554480"/>
          </a:xfrm>
          <a:prstGeom prst="roundRect">
            <a:avLst>
              <a:gd name="adj" fmla="val 941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8D391"/>
                </a:solidFill>
                <a:latin typeface="Helvetica Neue"/>
                <a:ea typeface="Hiragino Sans GB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控制多模态调用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681728"/>
            <a:ext cx="46634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图片先压缩和OCR，视频拆音轨与关键帧，只在必要时升级视觉模型。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3270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769864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产品约束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751576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成本控制要写进产品：次数、时长、输入大小、预算和退出条件。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912693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所有降本动作都要重新评测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成本下降不等于优化成功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47088"/>
          <a:ext cx="7059168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指标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优化前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优化后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判断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高风险召回率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96%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95.5%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通过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结构化输出成功率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98%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98%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通过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P95响应时间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1.2秒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0.8秒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通过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单次任务成本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0.015元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0.009元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改善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人工复核率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10%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11%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需评估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自动完成率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70%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72%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36D6C2"/>
                          </a:solidFill>
                          <a:latin typeface="Helvetica Neue"/>
                          <a:ea typeface="Hiragino Sans GB"/>
                        </a:rPr>
                        <a:t>改善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solidFill>
                      <a:srgbClr val="133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83296" y="1901952"/>
            <a:ext cx="3191256" cy="3438144"/>
          </a:xfrm>
          <a:prstGeom prst="roundRect">
            <a:avLst>
              <a:gd name="adj" fmla="val 4584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176272"/>
            <a:ext cx="34747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67128"/>
            <a:ext cx="9326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5F2E9"/>
                </a:solidFill>
                <a:latin typeface="Helvetica Neue"/>
                <a:ea typeface="Hiragino Sans GB"/>
              </a:rPr>
              <a:t>提出方案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elvetica Neue"/>
                <a:ea typeface="Hiragino Sans GB"/>
              </a:rPr>
              <a:t>明确改了什么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89504"/>
            <a:ext cx="34747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880360"/>
            <a:ext cx="9326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5F2E9"/>
                </a:solidFill>
                <a:latin typeface="Helvetica Neue"/>
                <a:ea typeface="Hiragino Sans GB"/>
              </a:rPr>
              <a:t>回归评测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80360"/>
            <a:ext cx="12801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elvetica Neue"/>
                <a:ea typeface="Hiragino Sans GB"/>
              </a:rPr>
              <a:t>第9课评测集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02736"/>
            <a:ext cx="34747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593592"/>
            <a:ext cx="9326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5F2E9"/>
                </a:solidFill>
                <a:latin typeface="Helvetica Neue"/>
                <a:ea typeface="Hiragino Sans GB"/>
              </a:rPr>
              <a:t>小流量测试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593592"/>
            <a:ext cx="12801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elvetica Neue"/>
                <a:ea typeface="Hiragino Sans GB"/>
              </a:rPr>
              <a:t>观察真实行为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15968"/>
            <a:ext cx="34747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306824"/>
            <a:ext cx="93268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5F2E9"/>
                </a:solidFill>
                <a:latin typeface="Helvetica Neue"/>
                <a:ea typeface="Hiragino Sans GB"/>
              </a:rPr>
              <a:t>正式采用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306824"/>
            <a:ext cx="12801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elvetica Neue"/>
                <a:ea typeface="Hiragino Sans GB"/>
              </a:rPr>
              <a:t>效果和总成本都通过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0527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74243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上线条件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9112" y="572414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关键业务指标跌破验收线，即使成本下降也不能上线。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F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CD4E1-E000-EDF5-EC4B-CDE78CEB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kit-motif-loud">
            <a:extLst>
              <a:ext uri="{FF2B5EF4-FFF2-40B4-BE49-F238E27FC236}">
                <a16:creationId xmlns:a16="http://schemas.microsoft.com/office/drawing/2014/main" id="{2736617D-20AA-032F-4755-BF4929BE0CB6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20A5E-5A2C-E83A-33A8-BB93E2859B77}"/>
              </a:ext>
            </a:extLst>
          </p:cNvPr>
          <p:cNvSpPr txBox="1"/>
          <p:nvPr/>
        </p:nvSpPr>
        <p:spPr>
          <a:xfrm>
            <a:off x="841248" y="713232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980B0-79F0-EE75-08FA-3D6685E90BC2}"/>
              </a:ext>
            </a:extLst>
          </p:cNvPr>
          <p:cNvSpPr txBox="1"/>
          <p:nvPr/>
        </p:nvSpPr>
        <p:spPr>
          <a:xfrm>
            <a:off x="841248" y="3054506"/>
            <a:ext cx="9966960" cy="75084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4800" b="1" dirty="0">
                <a:solidFill>
                  <a:srgbClr val="F5F2E9"/>
                </a:solidFill>
                <a:latin typeface="Helvetica Neue"/>
                <a:ea typeface="Hiragino Sans GB"/>
              </a:rPr>
              <a:t>收益</a:t>
            </a:r>
            <a:endParaRPr sz="4400" b="1" i="0" dirty="0">
              <a:solidFill>
                <a:srgbClr val="F5F2E9"/>
              </a:solidFill>
              <a:latin typeface="Helvetica Neue"/>
              <a:ea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821451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936711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AI产品的收益从哪里来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收益必须可验证，并说明如果没有AI是否仍会发生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节省人工成本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0360"/>
            <a:ext cx="4663440" cy="43891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原人工处理量 × 单次人工成本 − AI上线后剩余人工成本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83664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048256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95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提升工作效率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880360"/>
            <a:ext cx="4663440" cy="438911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原处理时长 − AI处理后时长；只有真正释放或复用的时间才算价值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94176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5876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206240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增加收入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690872"/>
            <a:ext cx="4663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业务量 × 转化率提升 × 单笔毛利；最好通过A/B或前后对照验证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694176"/>
            <a:ext cx="5102352" cy="1572768"/>
          </a:xfrm>
          <a:prstGeom prst="roundRect">
            <a:avLst>
              <a:gd name="adj" fmla="val 930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385876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F6969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206240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elvetica Neue"/>
                <a:ea typeface="Hiragino Sans GB"/>
              </a:rPr>
              <a:t>降低风险损失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690872"/>
            <a:ext cx="4663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A7B5BC"/>
                </a:solidFill>
                <a:latin typeface="Helvetica Neue"/>
                <a:ea typeface="Hiragino Sans GB"/>
              </a:rPr>
              <a:t>风险发生概率 × 单次损失；明确数据来源与不确定性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5099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78815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避免虚高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76986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不要把效率提升与人工节省、收入增长与全部GMV重复计算。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984747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智能审核项目的回本测算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AI持续成本降到8.8万元/月，每月净节省11.2万元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28800"/>
          <a:ext cx="6784848" cy="3392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项目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原人工方案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1" i="0">
                          <a:solidFill>
                            <a:srgbClr val="F5F2E9"/>
                          </a:solidFill>
                          <a:latin typeface="Helvetica Neue"/>
                          <a:ea typeface="Hiragino Sans GB"/>
                        </a:rPr>
                        <a:t>AI方案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F5F2E9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月审核量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10万条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10万条</a:t>
                      </a:r>
                    </a:p>
                  </a:txBody>
                  <a:tcPr marL="88900" marR="88900" marT="25400" marB="25400" anchor="ctr">
                    <a:lnT w="10160" cap="flat" cmpd="sng" algn="ctr">
                      <a:solidFill>
                        <a:srgbClr val="41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一次性建设成本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30万元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模型、工具和基础设施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0.8万元/月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人工审核成本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20万元/月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6万元/月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运营、维护和评测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2万元/月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每月持续成本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20万元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60" b="0" i="0">
                          <a:solidFill>
                            <a:srgbClr val="A7B5BC"/>
                          </a:solidFill>
                          <a:latin typeface="Helvetica Neue"/>
                          <a:ea typeface="Hiragino Sans GB"/>
                        </a:rPr>
                        <a:t>8.8万元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F5F2E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18120" y="1901952"/>
            <a:ext cx="3429000" cy="3584448"/>
          </a:xfrm>
          <a:prstGeom prst="roundRect">
            <a:avLst>
              <a:gd name="adj" fmla="val 4266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194560"/>
            <a:ext cx="28803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elvetica Neue"/>
                <a:ea typeface="Hiragino Sans GB"/>
              </a:rPr>
              <a:t>回本周期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89504"/>
            <a:ext cx="2880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2E9"/>
                </a:solidFill>
                <a:latin typeface="Helvetica Neue"/>
                <a:ea typeface="Hiragino Sans GB"/>
              </a:rPr>
              <a:t>30 ÷ 11.2
≈ 2.68个月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187952"/>
            <a:ext cx="288036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7657"/>
                </a:solidFill>
                <a:latin typeface="Helvetica Neue"/>
                <a:ea typeface="Hiragino Sans GB"/>
              </a:rPr>
              <a:t>盈亏平衡任务量
≈ 26.8万条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50992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5788152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同一结论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5769864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回本周期按时间看；盈亏平衡任务量按业务量看。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256032"/>
            <a:ext cx="9875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第六节 · 成本优化、ROI与选型决策输出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56032"/>
            <a:ext cx="502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0972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kkit-motif-quiet"/>
          <p:cNvSpPr/>
          <p:nvPr/>
        </p:nvSpPr>
        <p:spPr>
          <a:xfrm>
            <a:off x="694944" y="6547104"/>
            <a:ext cx="1008766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30936"/>
            <a:ext cx="10716768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六个月投入产出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43584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106527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一次性投入必须和观察周期一起计算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56816"/>
            <a:ext cx="3246120" cy="2587752"/>
          </a:xfrm>
          <a:prstGeom prst="roundRect">
            <a:avLst>
              <a:gd name="adj" fmla="val 565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elvetica Neue"/>
                <a:ea typeface="Hiragino Sans GB"/>
              </a:rPr>
              <a:t>没有AI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53512"/>
            <a:ext cx="2807208" cy="145389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20万元 × 6个月
= 120万元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1956816"/>
            <a:ext cx="3246120" cy="2587752"/>
          </a:xfrm>
          <a:prstGeom prst="roundRect">
            <a:avLst>
              <a:gd name="adj" fmla="val 565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1214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280720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elvetica Neue"/>
                <a:ea typeface="Hiragino Sans GB"/>
              </a:rPr>
              <a:t>AI方案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53512"/>
            <a:ext cx="2807208" cy="145389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30万元建设
+ 8.8万元 × 6
= 82.8万元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956816"/>
            <a:ext cx="3630168" cy="2587752"/>
          </a:xfrm>
          <a:prstGeom prst="roundRect">
            <a:avLst>
              <a:gd name="adj" fmla="val 565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0416" y="2121408"/>
            <a:ext cx="457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2468880"/>
            <a:ext cx="3191256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elvetica Neue"/>
                <a:ea typeface="Hiragino Sans GB"/>
              </a:rPr>
              <a:t>六个月结果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953512"/>
            <a:ext cx="3191256" cy="1453895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节省 37.2万元
ROI ≈ 44.9%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0056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11338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谨慎解释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9112" y="5138928"/>
            <a:ext cx="912571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还要验证审核量、自动完成率、真实人力释放、风险与季节波动。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788152"/>
            <a:ext cx="102412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7B5BC"/>
                </a:solidFill>
                <a:latin typeface="Helvetica Neue"/>
                <a:ea typeface="Hiragino Sans GB"/>
              </a:rPr>
              <a:t>教学示例，不代表所有AI审核项目都能在三个月回本。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4884</Words>
  <Application>Microsoft Macintosh PowerPoint</Application>
  <PresentationFormat>宽屏</PresentationFormat>
  <Paragraphs>958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4" baseType="lpstr">
      <vt:lpstr>DengXian</vt:lpstr>
      <vt:lpstr>Arial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didi</cp:lastModifiedBy>
  <cp:revision>3</cp:revision>
  <dcterms:created xsi:type="dcterms:W3CDTF">2013-01-27T09:14:16Z</dcterms:created>
  <dcterms:modified xsi:type="dcterms:W3CDTF">2026-08-24T06:13:51Z</dcterms:modified>
  <cp:category/>
</cp:coreProperties>
</file>