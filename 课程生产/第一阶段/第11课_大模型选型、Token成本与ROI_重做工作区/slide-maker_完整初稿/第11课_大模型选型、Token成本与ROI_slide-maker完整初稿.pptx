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第10课已经把AI产品方案写进PRD，第11课继续回答：模型怎么选、钱怎么算、项目值不值得推进。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/Users/keivn/Project/AI-Course/课程生产/第一阶段/第11课_大模型选型、Token成本与ROI_重做工作区/第11课_大模型选型、Token成本与ROI_完整讲义.md（全文主题与第一节开场）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用上一课PRD中的系统分工进入本课。项目不是突然出现，而是PRD落地后自然暴露了模型选择问题。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/Users/keivn/Project/AI-Course/课程生产/第一阶段/第11课_大模型选型、Token成本与ROI_重做工作区/第11课_大模型选型、Token成本与ROI_完整讲义.md（第一节开场）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模型A最准但贵且慢，模型C最快最便宜但风险高。普通营销文案、金融医疗材料、低风险初筛会得到不同答案。表格是教学假设。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/Users/keivn/Project/AI-Course/课程生产/第一阶段/第11课_大模型选型、Token成本与ROI_重做工作区/第11课_大模型选型、Token成本与ROI_完整讲义.md（第一节‘模型选型不是选择排行榜冠军’）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四种错法对应四类产品后果。提醒学员，模型选型不是技术参数比较，而是系统结果比较。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/Users/keivn/Project/AI-Course/课程生产/第一阶段/第11课_大模型选型、Token成本与ROI_重做工作区/第11课_大模型选型、Token成本与ROI_完整讲义.md（第一节‘选错模型会产生什么后果’）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产品经理不用亲自部署模型，但必须把业务要求变成模型标准，并说明任务、指标、成本、风险、降级和选择理由。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/Users/keivn/Project/AI-Course/课程生产/第一阶段/第11课_大模型选型、Token成本与ROI_重做工作区/第11课_大模型选型、Token成本与ROI_完整讲义.md（第一节第三、四部分）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这一页给出后续所有选型比较的总框架：能力、成本、风险。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/Users/keivn/Project/AI-Course/课程生产/第一阶段/第11课_大模型选型、Token成本与ROI_重做工作区/第11课_大模型选型、Token成本与ROI_完整讲义.md（第二节第一部分）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强调业务不同，重点指标不同。尤其高风险场景不能被总体准确率掩盖，结构化输出也直接影响工程成本。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/Users/keivn/Project/AI-Course/课程生产/第一阶段/第11课_大模型选型、Token成本与ROI_重做工作区/第11课_大模型选型、Token成本与ROI_完整讲义.md（第二节第二部分）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用模型C与模型B的人工复核例子说明：调用费更低不代表总成本更低。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/Users/keivn/Project/AI-Course/课程生产/第一阶段/第11课_大模型选型、Token成本与ROI_重做工作区/第11课_大模型选型、Token成本与ROI_完整讲义.md（第二节第三部分）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政府、国企、央企以及金融医疗项目可能有额外要求。课件中的九天、盘古是场景示例，不是固定答案。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/Users/keivn/Project/AI-Course/课程生产/第一阶段/第11课_大模型选型、Token成本与ROI_重做工作区/第11课_大模型选型、Token成本与ROI_完整讲义.md（第二节第四部分‘国内业务环境与特殊部署要求’）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名单来自知乎第31课的教学素材。正式项目必须重新核对名称、版本、价格和服务范围。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/Users/keivn/Project/AI-Course/课程生产/第一阶段/第11课_大模型选型、Token成本与ROI_重做工作区/第11课_大模型选型、Token成本与ROI_完整讲义.md（第二节第五部分‘课程案例：按目标建立具体模型候选池’）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门槛法避免合规、数据、效果底线被加权平均稀释。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/Users/keivn/Project/AI-Course/课程生产/第一阶段/第11课_大模型选型、Token成本与ROI_重做工作区/第11课_大模型选型、Token成本与ROI_完整讲义.md（第二节第六部分）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最终选择模型B，不是因为它某项最强，而是因为它通过全部门槛。高风险场景仍可调用A或直接人工。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/Users/keivn/Project/AI-Course/课程生产/第一阶段/第11课_大模型选型、Token成本与ROI_重做工作区/第11课_大模型选型、Token成本与ROI_完整讲义.md（第二节第七部分）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七步流程是产品经理真正推进选型的工作顺序。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/Users/keivn/Project/AI-Course/课程生产/第一阶段/第11课_大模型选型、Token成本与ROI_重做工作区/第11课_大模型选型、Token成本与ROI_完整讲义.md（第三节第一部分）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‘需要大模型完成审核’无法测试。拆成判断、解释、建议、图像与结构化输出，才能定义各自标准。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/Users/keivn/Project/AI-Course/课程生产/第一阶段/第11课_大模型选型、Token成本与ROI_重做工作区/第11课_大模型选型、Token成本与ROI_完整讲义.md（第三节第一步）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验证阶段用较强模型建立能力上限；试点看真实运行；规模化看路由与成本；成熟后再评估自建。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/Users/keivn/Project/AI-Course/课程生产/第一阶段/第11课_大模型选型、Token成本与ROI_重做工作区/第11课_大模型选型、Token成本与ROI_完整讲义.md（第三节第二至八部分）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路由不是为了把所有请求压到便宜模型，而是把资源投入到真正需要的任务。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/Users/keivn/Project/AI-Course/课程生产/第一阶段/第11课_大模型选型、Token成本与ROI_重做工作区/第11课_大模型选型、Token成本与ROI_完整讲义.md（第三节第五部分）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不要混淆路由与降级。PRD需要描述失败时的产品体验，例如进入人工队列并告知预计时间。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/Users/keivn/Project/AI-Course/课程生产/第一阶段/第11课_大模型选型、Token成本与ROI_重做工作区/第11课_大模型选型、Token成本与ROI_完整讲义.md（第三节第六、七部分）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公开能力更强的新模型也可能改变输出格式并破坏系统，因此任何切换都必须重新评测。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/Users/keivn/Project/AI-Course/课程生产/第一阶段/第11课_大模型选型、Token成本与ROI_重做工作区/第11课_大模型选型、Token成本与ROI_完整讲义.md（第三节第八、九部分）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即使同一平台支持多种模态，也要分别测试每项能力、成本和真实任务表现。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/Users/keivn/Project/AI-Course/课程生产/第一阶段/第11课_大模型选型、Token成本与ROI_重做工作区/第11课_大模型选型、Token成本与ROI_完整讲义.md（第四节第一部分）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识别位置、OCR提取和语义理解并不是一件事。任务定义不清，评测和选型都会失焦。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/Users/keivn/Project/AI-Course/课程生产/第一阶段/第11课_大模型选型、Token成本与ROI_重做工作区/第11课_大模型选型、Token成本与ROI_完整讲义.md（第四节第二部分）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重点是把真实输入分布带进评测集，不能只在清晰单图上判断能力。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/Users/keivn/Project/AI-Course/课程生产/第一阶段/第11课_大模型选型、Token成本与ROI_重做工作区/第11课_大模型选型、Token成本与ROI_完整讲义.md（第四节第三部分）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主要风险存在于图片文字时，OCR+文本审核往往更便宜稳定；只有图文关系任务才升级视觉理解。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/Users/keivn/Project/AI-Course/课程生产/第一阶段/第11课_大模型选型、Token成本与ROI_重做工作区/第11课_大模型选型、Token成本与ROI_完整讲义.md（第四节第四部分）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用三个能力的不同指标帮助学员理解：多模态不是统一采购一个模型。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/Users/keivn/Project/AI-Course/课程生产/第一阶段/第11课_大模型选型、Token成本与ROI_重做工作区/第11课_大模型选型、Token成本与ROI_完整讲义.md（第四节第五至七部分）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视频审核可以转成音频、文字和关键帧三条处理路径，再合并并标注风险发生位置。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/Users/keivn/Project/AI-Course/课程生产/第一阶段/第11课_大模型选型、Token成本与ROI_重做工作区/第11课_大模型选型、Token成本与ROI_完整讲义.md（第四节第八部分）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不是永远偏向专项模型，也不是永远偏向通用模型，而是根据阶段和Bad Case演进。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/Users/keivn/Project/AI-Course/课程生产/第一阶段/第11课_大模型选型、Token成本与ROI_重做工作区/第11课_大模型选型、Token成本与ROI_完整讲义.md（第四节第九、十部分）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产品经理无需掌握分词算法，但必须知道哪些上下文在消耗Token，并从日志读取实际数量。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/Users/keivn/Project/AI-Course/课程生产/第一阶段/第11课_大模型选型、Token成本与ROI_重做工作区/第11课_大模型选型、Token成本与ROI_完整讲义.md（第五节第一、二部分）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所有价格均为教学示例，正式上课需要查看对应厂商官方价格。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/Users/keivn/Project/AI-Course/课程生产/第一阶段/第11课_大模型选型、Token成本与ROI_重做工作区/第11课_大模型选型、Token成本与ROI_完整讲义.md（第五节第三部分）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概率成本能把条件调用、强模型复核和格式修复折算为平均任务成本。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/Users/keivn/Project/AI-Course/课程生产/第一阶段/第11课_大模型选型、Token成本与ROI_重做工作区/第11课_大模型选型、Token成本与ROI_完整讲义.md（第五节第四部分）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Agent循环、格式重试、超时重试和重新生成是最容易漏算的成本。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/Users/keivn/Project/AI-Course/课程生产/第一阶段/第11课_大模型选型、Token成本与ROI_重做工作区/第11课_大模型选型、Token成本与ROI_完整讲义.md（第五节第五、六部分）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普通任务的平均成本不能代表长内容、高风险与多模态任务。P95能看到尾部成本。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/Users/keivn/Project/AI-Course/课程生产/第一阶段/第11课_大模型选型、Token成本与ROI_重做工作区/第11课_大模型选型、Token成本与ROI_完整讲义.md（第五节第七、八部分）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模型成本和人工成本要合并看。选择过弱模型会把费用从API转移到人工。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/Users/keivn/Project/AI-Course/课程生产/第一阶段/第11课_大模型选型、Token成本与ROI_重做工作区/第11课_大模型选型、Token成本与ROI_完整讲义.md（第五节第九、十部分）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一次性投入要靠未来使用量摊销；错误成本难算但不能假设不存在。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/Users/keivn/Project/AI-Course/课程生产/第一阶段/第11课_大模型选型、Token成本与ROI_重做工作区/第11课_大模型选型、Token成本与ROI_完整讲义.md（第五节第十一部分）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成本估算分为需求粗估、试点实测和上线监控三个阶段。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/Users/keivn/Project/AI-Course/课程生产/第一阶段/第11课_大模型选型、Token成本与ROI_重做工作区/第11课_大模型选型、Token成本与ROI_完整讲义.md（第五节第十二至十四部分）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所有优化都必须相对基线比较，且检查成本是否只是转移到人工、错误或维护。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/Users/keivn/Project/AI-Course/课程生产/第一阶段/第11课_大模型选型、Token成本与ROI_重做工作区/第11课_大模型选型、Token成本与ROI_完整讲义.md（第六节第一、二部分）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前四类优化重点是处理方式、模型资源和上下文。删减后都要重新跑评测集。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/Users/keivn/Project/AI-Course/课程生产/第一阶段/第11课_大模型选型、Token成本与ROI_重做工作区/第11课_大模型选型、Token成本与ROI_完整讲义.md（第六节第三至六部分）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Workflow更容易控制状态和调用次数；多模态尤其需要限制输入与升级条件。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/Users/keivn/Project/AI-Course/课程生产/第一阶段/第11课_大模型选型、Token成本与ROI_重做工作区/第11课_大模型选型、Token成本与ROI_完整讲义.md（第六节第七至十部分）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路由示例展示资源配置，而不是只换便宜模型。还要计入路由模型自身成本与误分风险。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/Users/keivn/Project/AI-Course/课程生产/第一阶段/第11课_大模型选型、Token成本与ROI_重做工作区/第11课_大模型选型、Token成本与ROI_完整讲义.md（第六节第四部分）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对比表显示人工复核率上升，需要判断新增人工是否抵消Token节省。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/Users/keivn/Project/AI-Course/课程生产/第一阶段/第11课_大模型选型、Token成本与ROI_重做工作区/第11课_大模型选型、Token成本与ROI_完整讲义.md（第六节第十一部分）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收益不是只看节省工资，还包括效率、收入和风险，但同一份价值只能计算一次。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/Users/keivn/Project/AI-Course/课程生产/第一阶段/第11课_大模型选型、Token成本与ROI_重做工作区/第11课_大模型选型、Token成本与ROI_完整讲义.md（第六节第十二、十三部分）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团队常把投入产出比和ROI混用。产品经理需要明确采用哪一套口径。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/Users/keivn/Project/AI-Course/课程生产/第一阶段/第11课_大模型选型、Token成本与ROI_重做工作区/第11课_大模型选型、Token成本与ROI_完整讲义.md（第六节第十四部分）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AI自动完成70%，剩余30%人工。教学示例需要提醒学员：真实结果取决于使用量、复核率和维护成本。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/Users/keivn/Project/AI-Course/课程生产/第一阶段/第11课_大模型选型、Token成本与ROI_重做工作区/第11课_大模型选型、Token成本与ROI_完整讲义.md（第六节第十五部分至‘回本周期’）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展示观察周期内的总成本，避免只用单月节省忽略一次性投入。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/Users/keivn/Project/AI-Course/课程生产/第一阶段/第11课_大模型选型、Token成本与ROI_重做工作区/第11课_大模型选型、Token成本与ROI_完整讲义.md（第六节第十五部分‘六个月投入产出’）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三种情景揭示项目对哪些假设最敏感。本例最需要验证使用量、自动完成率和人工复核率。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/Users/keivn/Project/AI-Course/课程生产/第一阶段/第11课_大模型选型、Token成本与ROI_重做工作区/第11课_大模型选型、Token成本与ROI_完整讲义.md（第六节第十六部分）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多数AI项目更现实的结论是有条件试点：用较小成本验证关键不确定性。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/Users/keivn/Project/AI-Course/课程生产/第一阶段/第11课_大模型选型、Token成本与ROI_重做工作区/第11课_大模型选型、Token成本与ROI_完整讲义.md（第六节第十七部分）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课后应把课堂案例沉淀成正式决策表，并补充试点范围、负责人、周期、扩大条件和退出条件。</a:t>
            </a:r>
          </a:p>
          <a:p/>
          <a:p>
            <a:r>
              <a:t>[Sources]</a:t>
            </a:r>
          </a:p>
          <a:p>
            <a:r>
              <a:t>- /Users/keivn/Project/AI-Course/课程生产/第一阶段/第11课_大模型选型、Token成本与ROI_重做工作区/第11课_大模型选型、Token成本与ROI_完整讲义.md（第六节第十八、十九部分）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kit-motif-loud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713232"/>
            <a:ext cx="5120640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6D6C2"/>
                </a:solidFill>
                <a:latin typeface="Helvetica Neue"/>
                <a:ea typeface="Hiragino Sans GB"/>
              </a:rPr>
              <a:t>AI PRODUCT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737360"/>
            <a:ext cx="9966960" cy="1783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800" b="1" i="0">
                <a:solidFill>
                  <a:srgbClr val="F5F2E9"/>
                </a:solidFill>
                <a:latin typeface="Helvetica Neue"/>
                <a:ea typeface="Hiragino Sans GB"/>
              </a:rPr>
              <a:t>大模型选型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 i="0">
                <a:solidFill>
                  <a:srgbClr val="F5F2E9"/>
                </a:solidFill>
                <a:latin typeface="Helvetica Neue"/>
                <a:ea typeface="Hiragino Sans GB"/>
              </a:rPr>
              <a:t>Token 成本与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39312"/>
            <a:ext cx="201168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7B5BC"/>
                </a:solidFill>
                <a:latin typeface="Helvetica Neue"/>
                <a:ea typeface="Hiragino Sans GB"/>
              </a:rPr>
              <a:t>第 11 课</a:t>
            </a:r>
          </a:p>
        </p:txBody>
      </p:sp>
      <p:sp>
        <p:nvSpPr>
          <p:cNvPr id="6" name="deckkit-motif-loud"/>
          <p:cNvSpPr/>
          <p:nvPr/>
        </p:nvSpPr>
        <p:spPr>
          <a:xfrm>
            <a:off x="841248" y="4297680"/>
            <a:ext cx="2816352" cy="45720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773168"/>
            <a:ext cx="89611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A7B5BC"/>
                </a:solidFill>
                <a:latin typeface="Helvetica Neue"/>
                <a:ea typeface="Hiragino Sans GB"/>
              </a:rPr>
              <a:t>从“调用大模型”到一份可评审的产品决策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733288"/>
            <a:ext cx="950976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MODEL SELECTION · TOKEN COST · ROI · GO / NO-GO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72" y="4590288"/>
            <a:ext cx="1609344" cy="1078992"/>
          </a:xfrm>
          <a:prstGeom prst="rect">
            <a:avLst/>
          </a:prstGeom>
          <a:noFill/>
        </p:spPr>
        <p:txBody>
          <a:bodyPr wrap="non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416A78"/>
                </a:solidFill>
                <a:latin typeface="Helvetica Neue"/>
                <a:ea typeface="Hiragino Sans GB"/>
              </a:rPr>
              <a:t>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第一节 · 模型选型的工作场景与产品经理职责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48036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从PRD进入模型选型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PRD写清了分工，但“调用哪个模型”仍然没有答案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2514600" cy="2331720"/>
          </a:xfrm>
          <a:prstGeom prst="roundRect">
            <a:avLst>
              <a:gd name="adj" fmla="val 627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5798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505456"/>
            <a:ext cx="207568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990088"/>
            <a:ext cx="2075688" cy="11978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敏感词、固定格式、确定性业务逻辑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1993392"/>
            <a:ext cx="2514600" cy="2331720"/>
          </a:xfrm>
          <a:prstGeom prst="roundRect">
            <a:avLst>
              <a:gd name="adj" fmla="val 627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7" y="215798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505456"/>
            <a:ext cx="207568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7" y="2990088"/>
            <a:ext cx="2075688" cy="11978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复杂语义判断、风险原因与修改建议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993392"/>
            <a:ext cx="2514600" cy="2331720"/>
          </a:xfrm>
          <a:prstGeom prst="roundRect">
            <a:avLst>
              <a:gd name="adj" fmla="val 627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15798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505456"/>
            <a:ext cx="207568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人工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990088"/>
            <a:ext cx="2075688" cy="11978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高风险、低置信度和异常结果复核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0" y="1993392"/>
            <a:ext cx="2514600" cy="2331720"/>
          </a:xfrm>
          <a:prstGeom prst="roundRect">
            <a:avLst>
              <a:gd name="adj" fmla="val 627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215798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2505456"/>
            <a:ext cx="207568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产品输出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990088"/>
            <a:ext cx="2075688" cy="11978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风险等级、风险原因和处理建议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9204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02920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剩余问题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01091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“复杂语义判断交给大模型”——到底交给哪一个？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第一节 · 模型选型的工作场景与产品经理职责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72054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模型选型的工作场景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同一个审核任务，三个候选模型没有脱离场景的唯一答案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920240"/>
          <a:ext cx="6675120" cy="24140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93392"/>
                <a:gridCol w="1554480"/>
                <a:gridCol w="1417320"/>
                <a:gridCol w="1709928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5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候选模型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准确率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响应时间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单次成本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模型 A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98%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5 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0.30 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5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模型 B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96%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1 秒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0.03 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模型 C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91%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0.3 秒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0.005 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55279" y="1901952"/>
            <a:ext cx="333756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先问 7 个业务问题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496312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2414016"/>
            <a:ext cx="301752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任务：</a:t>
            </a:r>
            <a:r>
              <a:rPr sz="1650" b="0" i="0">
                <a:solidFill>
                  <a:srgbClr val="A7B5BC"/>
                </a:solidFill>
                <a:latin typeface="Helvetica Neue"/>
                <a:ea typeface="Hiragino Sans GB"/>
              </a:rPr>
              <a:t>具体审什么？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2868168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2785872"/>
            <a:ext cx="301752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风险：</a:t>
            </a:r>
            <a:r>
              <a:rPr sz="1650" b="0" i="0">
                <a:solidFill>
                  <a:srgbClr val="A7B5BC"/>
                </a:solidFill>
                <a:latin typeface="Helvetica Neue"/>
                <a:ea typeface="Hiragino Sans GB"/>
              </a:rPr>
              <a:t>错一次代价多大？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3240024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3157728"/>
            <a:ext cx="301752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体验：</a:t>
            </a:r>
            <a:r>
              <a:rPr sz="1650" b="0" i="0">
                <a:solidFill>
                  <a:srgbClr val="A7B5BC"/>
                </a:solidFill>
                <a:latin typeface="Helvetica Neue"/>
                <a:ea typeface="Hiragino Sans GB"/>
              </a:rPr>
              <a:t>用户能等多久？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8" y="3611880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3529584"/>
            <a:ext cx="301752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规模：</a:t>
            </a:r>
            <a:r>
              <a:rPr sz="1650" b="0" i="0">
                <a:solidFill>
                  <a:srgbClr val="A7B5BC"/>
                </a:solidFill>
                <a:latin typeface="Helvetica Neue"/>
                <a:ea typeface="Hiragino Sans GB"/>
              </a:rPr>
              <a:t>每天多少条？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3983736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3901440"/>
            <a:ext cx="301752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接管：</a:t>
            </a:r>
            <a:r>
              <a:rPr sz="1650" b="0" i="0">
                <a:solidFill>
                  <a:srgbClr val="A7B5BC"/>
                </a:solidFill>
                <a:latin typeface="Helvetica Neue"/>
                <a:ea typeface="Hiragino Sans GB"/>
              </a:rPr>
              <a:t>能否人工复核？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73568" y="4355592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4273296"/>
            <a:ext cx="301752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数据：</a:t>
            </a:r>
            <a:r>
              <a:rPr sz="1650" b="0" i="0">
                <a:solidFill>
                  <a:srgbClr val="A7B5BC"/>
                </a:solidFill>
                <a:latin typeface="Helvetica Neue"/>
                <a:ea typeface="Hiragino Sans GB"/>
              </a:rPr>
              <a:t>能否发送外部？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8" y="4727448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4645152"/>
            <a:ext cx="301752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预算：</a:t>
            </a:r>
            <a:r>
              <a:rPr sz="1650" b="0" i="0">
                <a:solidFill>
                  <a:srgbClr val="A7B5BC"/>
                </a:solidFill>
                <a:latin typeface="Helvetica Neue"/>
                <a:ea typeface="Hiragino Sans GB"/>
              </a:rPr>
              <a:t>能承担多少？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0527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74243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判断原则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72414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最强模型 ≠ 最适合的模型。先确定场景约束，再比较候选模型。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第一节 · 模型选型的工作场景与产品经理职责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960729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选错模型会产生什么后果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API单价只是局部，最终问题会出现在效果、总成本、体验和风险上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56816"/>
            <a:ext cx="5148072" cy="1527048"/>
          </a:xfrm>
          <a:prstGeom prst="roundRect">
            <a:avLst>
              <a:gd name="adj" fmla="val 958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214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F6969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68880"/>
            <a:ext cx="470916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能力不够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953512"/>
            <a:ext cx="4709160" cy="39319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漏判和误判过多，大量结果回到人工，便宜模型反而不省钱。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956816"/>
            <a:ext cx="5148072" cy="1527048"/>
          </a:xfrm>
          <a:prstGeom prst="roundRect">
            <a:avLst>
              <a:gd name="adj" fmla="val 958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21214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468880"/>
            <a:ext cx="470916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能力过剩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953512"/>
            <a:ext cx="4709160" cy="39319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只提升少量效果，却让响应时间和调用成本成倍增加。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730752"/>
            <a:ext cx="5148072" cy="1527048"/>
          </a:xfrm>
          <a:prstGeom prst="roundRect">
            <a:avLst>
              <a:gd name="adj" fmla="val 958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9534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242816"/>
            <a:ext cx="470916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体验不匹配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727448"/>
            <a:ext cx="4709160" cy="39319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后台离线可等十分钟；发布前实时审核可能连十秒都不可接受。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3730752"/>
            <a:ext cx="5148072" cy="1527048"/>
          </a:xfrm>
          <a:prstGeom prst="roundRect">
            <a:avLst>
              <a:gd name="adj" fmla="val 958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389534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4242816"/>
            <a:ext cx="470916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风险不满足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4727448"/>
            <a:ext cx="4709160" cy="39319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数据、合规、稳定性和供应商切换能力不通过，效果再好也不能上线。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7900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91616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看整体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89788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“模型便宜”不等于“系统省钱”，“模型强”也不等于“产品适合”。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第一节 · 模型选型的工作场景与产品经理职责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200912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产品经理在模型选型中的职责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技术团队回答“怎么接”，产品经理定义“什么才算值得接”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65960"/>
            <a:ext cx="5010912" cy="3246120"/>
          </a:xfrm>
          <a:prstGeom prst="roundRect">
            <a:avLst>
              <a:gd name="adj" fmla="val 4507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" y="2203704"/>
            <a:ext cx="1234440" cy="310896"/>
          </a:xfrm>
          <a:prstGeom prst="roundRect">
            <a:avLst>
              <a:gd name="adj" fmla="val 47058"/>
            </a:avLst>
          </a:prstGeom>
          <a:solidFill>
            <a:srgbClr val="133843"/>
          </a:solidFill>
          <a:ln w="755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231136"/>
            <a:ext cx="1234440" cy="21945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技术团队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2834639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2752344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接入：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接口、并发与部署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" y="3263391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3181096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测试：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评测集上的表现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" y="3692143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3609848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工程：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稳定性与资源要求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" y="4120896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576" y="4038600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故障：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限流、超时与恢复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71032" y="1965960"/>
            <a:ext cx="5266944" cy="3246120"/>
          </a:xfrm>
          <a:prstGeom prst="roundRect">
            <a:avLst>
              <a:gd name="adj" fmla="val 4507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08776" y="2203704"/>
            <a:ext cx="1481328" cy="310896"/>
          </a:xfrm>
          <a:prstGeom prst="roundRect">
            <a:avLst>
              <a:gd name="adj" fmla="val 47058"/>
            </a:avLst>
          </a:prstGeom>
          <a:solidFill>
            <a:srgbClr val="133843"/>
          </a:solidFill>
          <a:ln w="755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8776" y="2231136"/>
            <a:ext cx="1481328" cy="21945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产品经理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834639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752344"/>
            <a:ext cx="437083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标准：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什么错误能接受？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63391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1096"/>
            <a:ext cx="437083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体验：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用户最多等多久？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92143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609848"/>
            <a:ext cx="437083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经济性：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单次和月度成本合理吗？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120896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038600"/>
            <a:ext cx="437083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决策：</a:t>
            </a: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达到什么条件才上线？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77900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91616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真正产出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9112" y="589788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不是“选了模型B”，而是一份能进入评审、预算与研发实施的选型结论。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第二节 · 模型选型的比较维度与决策标准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44109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模型选型的三个比较维度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三个问题缺少任何一个，选型都可能失败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48256"/>
            <a:ext cx="3236976" cy="2926080"/>
          </a:xfrm>
          <a:prstGeom prst="roundRect">
            <a:avLst>
              <a:gd name="adj" fmla="val 500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1284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560320"/>
            <a:ext cx="2798064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F2E9"/>
                </a:solidFill>
                <a:latin typeface="Helvetica Neue"/>
                <a:ea typeface="Hiragino Sans GB"/>
              </a:rPr>
              <a:t>能力与性能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044952"/>
            <a:ext cx="2798064" cy="1792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7B5BC"/>
                </a:solidFill>
                <a:latin typeface="Helvetica Neue"/>
                <a:ea typeface="Hiragino Sans GB"/>
              </a:rPr>
              <a:t>能否完成真实业务任务？
效果、召回、结构化输出、上下文、速度与特殊能力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2048256"/>
            <a:ext cx="3236976" cy="2926080"/>
          </a:xfrm>
          <a:prstGeom prst="roundRect">
            <a:avLst>
              <a:gd name="adj" fmla="val 500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3984" y="221284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2560320"/>
            <a:ext cx="2798064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F2E9"/>
                </a:solidFill>
                <a:latin typeface="Helvetica Neue"/>
                <a:ea typeface="Hiragino Sans GB"/>
              </a:rPr>
              <a:t>完整成本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3044952"/>
            <a:ext cx="2798064" cy="1792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7B5BC"/>
                </a:solidFill>
                <a:latin typeface="Helvetica Neue"/>
                <a:ea typeface="Hiragino Sans GB"/>
              </a:rPr>
              <a:t>业务是否承担得起？
调用、重试、工具、人工、开发、维护与错误损失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9248" y="2048256"/>
            <a:ext cx="3547872" cy="2926080"/>
          </a:xfrm>
          <a:prstGeom prst="roundRect">
            <a:avLst>
              <a:gd name="adj" fmla="val 500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8704" y="221284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2560320"/>
            <a:ext cx="310896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F2E9"/>
                </a:solidFill>
                <a:latin typeface="Helvetica Neue"/>
                <a:ea typeface="Hiragino Sans GB"/>
              </a:rPr>
              <a:t>长期风险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8704" y="3044952"/>
            <a:ext cx="3108960" cy="17922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7B5BC"/>
                </a:solidFill>
                <a:latin typeface="Helvetica Neue"/>
                <a:ea typeface="Hiragino Sans GB"/>
              </a:rPr>
              <a:t>能否稳定合规地使用？
数据、合规、稳定性、部署方式与供应商切换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7900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91616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比较逻辑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589788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先判断能不能用，再判断用起来是否划算、能否长期使用。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第二节 · 模型选型的比较维度与决策标准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68127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能力与性能如何拆解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不要问模型“聪不聪明”，要问它在业务任务上是否达标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329184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395728"/>
            <a:ext cx="285292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业务判断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0360"/>
            <a:ext cx="2852928" cy="2834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A7B5BC"/>
                </a:solidFill>
                <a:latin typeface="Helvetica Neue"/>
                <a:ea typeface="Hiragino Sans GB"/>
              </a:rPr>
              <a:t>风险类型、等级和上下文组合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883664"/>
            <a:ext cx="329184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395728"/>
            <a:ext cx="285292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高风险召回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880360"/>
            <a:ext cx="2852928" cy="2834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A7B5BC"/>
                </a:solidFill>
                <a:latin typeface="Helvetica Neue"/>
                <a:ea typeface="Hiragino Sans GB"/>
              </a:rPr>
              <a:t>漏判、误判和低置信度比例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08975" y="1883664"/>
            <a:ext cx="329184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2395728"/>
            <a:ext cx="285292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结构化输出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2880360"/>
            <a:ext cx="2852928" cy="2834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A7B5BC"/>
                </a:solidFill>
                <a:latin typeface="Helvetica Neue"/>
                <a:ea typeface="Hiragino Sans GB"/>
              </a:rPr>
              <a:t>JSON、字段、枚举与原文引用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557016"/>
            <a:ext cx="329184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37216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69080"/>
            <a:ext cx="285292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上下文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4553712"/>
            <a:ext cx="2852928" cy="2834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A7B5BC"/>
                </a:solidFill>
                <a:latin typeface="Helvetica Neue"/>
                <a:ea typeface="Hiragino Sans GB"/>
              </a:rPr>
              <a:t>长内容、中间信息和Token增长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557016"/>
            <a:ext cx="329184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8848" y="37216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069080"/>
            <a:ext cx="285292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响应速度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553712"/>
            <a:ext cx="2852928" cy="2834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A7B5BC"/>
                </a:solidFill>
                <a:latin typeface="Helvetica Neue"/>
                <a:ea typeface="Hiragino Sans GB"/>
              </a:rPr>
              <a:t>首字、完整、P95与高峰稳定性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08975" y="3557016"/>
            <a:ext cx="3291840" cy="1417320"/>
          </a:xfrm>
          <a:prstGeom prst="roundRect">
            <a:avLst>
              <a:gd name="adj" fmla="val 1032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28431" y="37216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1" y="4069080"/>
            <a:ext cx="285292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特殊能力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553712"/>
            <a:ext cx="2852928" cy="28346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A7B5BC"/>
                </a:solidFill>
                <a:latin typeface="Helvetica Neue"/>
                <a:ea typeface="Hiragino Sans GB"/>
              </a:rPr>
              <a:t>多模态、工具调用、批量与私有化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431536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5568696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指标来源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39112" y="5550408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评测指标来自业务目标：审核看漏判，客服看解决率，报告看事实与完整性。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第二节 · 模型选型的比较维度与决策标准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921459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成本不能只看公开单价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低价模型如果带来更多人工复核，整体成本可能更高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965960"/>
            <a:ext cx="352044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elvetica Neue"/>
                <a:ea typeface="Hiragino Sans GB"/>
              </a:rPr>
              <a:t>模型公开价格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68880"/>
            <a:ext cx="3520440" cy="8412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2E9"/>
                </a:solidFill>
                <a:latin typeface="Helvetica Neue"/>
                <a:ea typeface="Hiragino Sans GB"/>
              </a:rPr>
              <a:t>输入 Token
+ 输出 Token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87368" y="2761488"/>
            <a:ext cx="640080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865376"/>
            <a:ext cx="6355080" cy="3182112"/>
          </a:xfrm>
          <a:prstGeom prst="roundRect">
            <a:avLst>
              <a:gd name="adj" fmla="val 4597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112264"/>
            <a:ext cx="5212080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F2E9"/>
                </a:solidFill>
                <a:latin typeface="Helvetica Neue"/>
                <a:ea typeface="Hiragino Sans GB"/>
              </a:rPr>
              <a:t>完成一次业务任务的总成本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38928" y="2743200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096" y="2660904"/>
            <a:ext cx="52395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流程：</a:t>
            </a:r>
            <a:r>
              <a:rPr sz="1550" b="0" i="0">
                <a:solidFill>
                  <a:srgbClr val="A7B5BC"/>
                </a:solidFill>
                <a:latin typeface="Helvetica Neue"/>
                <a:ea typeface="Hiragino Sans GB"/>
              </a:rPr>
              <a:t>调用次数、重试与反思循环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8928" y="3128264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3045968"/>
            <a:ext cx="52395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服务：</a:t>
            </a:r>
            <a:r>
              <a:rPr sz="1550" b="0" i="0">
                <a:solidFill>
                  <a:srgbClr val="A7B5BC"/>
                </a:solidFill>
                <a:latin typeface="Helvetica Neue"/>
                <a:ea typeface="Hiragino Sans GB"/>
              </a:rPr>
              <a:t>OCR、检索、存储和第三方接口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38928" y="3513328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096" y="3431032"/>
            <a:ext cx="52395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交付：</a:t>
            </a:r>
            <a:r>
              <a:rPr sz="1550" b="0" i="0">
                <a:solidFill>
                  <a:srgbClr val="A7B5BC"/>
                </a:solidFill>
                <a:latin typeface="Helvetica Neue"/>
                <a:ea typeface="Hiragino Sans GB"/>
              </a:rPr>
              <a:t>开发、数据、测试、监控与维护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38928" y="3898392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3816096"/>
            <a:ext cx="52395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人工：</a:t>
            </a:r>
            <a:r>
              <a:rPr sz="1550" b="0" i="0">
                <a:solidFill>
                  <a:srgbClr val="A7B5BC"/>
                </a:solidFill>
                <a:latin typeface="Helvetica Neue"/>
                <a:ea typeface="Hiragino Sans GB"/>
              </a:rPr>
              <a:t>复核、异常处理和返工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38928" y="4283456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096" y="4201160"/>
            <a:ext cx="52395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风险：</a:t>
            </a:r>
            <a:r>
              <a:rPr sz="1550" b="0" i="0">
                <a:solidFill>
                  <a:srgbClr val="A7B5BC"/>
                </a:solidFill>
                <a:latin typeface="Helvetica Neue"/>
                <a:ea typeface="Hiragino Sans GB"/>
              </a:rPr>
              <a:t>失败与错误结果造成的损失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7900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91616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成本口径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9112" y="589788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比较的是“完成任务付出多少”，不是“一百万Token谁最便宜”。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第二节 · 模型选型的比较维度与决策标准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216164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风险与国内业务环境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部分项目的候选池会先被行业、采购、数据和部署条件缩小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2496312" cy="1993392"/>
          </a:xfrm>
          <a:prstGeom prst="roundRect">
            <a:avLst>
              <a:gd name="adj" fmla="val 733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395728"/>
            <a:ext cx="205740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数据风险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0360"/>
            <a:ext cx="2057400" cy="8595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 i="0">
                <a:solidFill>
                  <a:srgbClr val="A7B5BC"/>
                </a:solidFill>
                <a:latin typeface="Helvetica Neue"/>
                <a:ea typeface="Hiragino Sans GB"/>
              </a:rPr>
              <a:t>外部传输、留存、训练使用、个人信息与商业秘密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883664"/>
            <a:ext cx="2496312" cy="1993392"/>
          </a:xfrm>
          <a:prstGeom prst="roundRect">
            <a:avLst>
              <a:gd name="adj" fmla="val 733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95728"/>
            <a:ext cx="205740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合规风险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2057400" cy="8595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 i="0">
                <a:solidFill>
                  <a:srgbClr val="A7B5BC"/>
                </a:solidFill>
                <a:latin typeface="Helvetica Neue"/>
                <a:ea typeface="Hiragino Sans GB"/>
              </a:rPr>
              <a:t>地区、行业、审计留痕、版权、隐私与内容安全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883664"/>
            <a:ext cx="2496312" cy="1993392"/>
          </a:xfrm>
          <a:prstGeom prst="roundRect">
            <a:avLst>
              <a:gd name="adj" fmla="val 733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395728"/>
            <a:ext cx="205740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稳定性风险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880360"/>
            <a:ext cx="2057400" cy="8595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 i="0">
                <a:solidFill>
                  <a:srgbClr val="A7B5BC"/>
                </a:solidFill>
                <a:latin typeface="Helvetica Neue"/>
                <a:ea typeface="Hiragino Sans GB"/>
              </a:rPr>
              <a:t>可用性、限流、超时、版本变化和效果漂移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14816" y="1883664"/>
            <a:ext cx="2496312" cy="1993392"/>
          </a:xfrm>
          <a:prstGeom prst="roundRect">
            <a:avLst>
              <a:gd name="adj" fmla="val 7339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2395728"/>
            <a:ext cx="205740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供应商风险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880360"/>
            <a:ext cx="2057400" cy="8595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 i="0">
                <a:solidFill>
                  <a:srgbClr val="A7B5BC"/>
                </a:solidFill>
                <a:latin typeface="Helvetica Neue"/>
                <a:ea typeface="Hiragino Sans GB"/>
              </a:rPr>
              <a:t>涨价、停服、接口变化、迁移和厂商绑定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151376"/>
            <a:ext cx="10561320" cy="1152144"/>
          </a:xfrm>
          <a:prstGeom prst="roundRect">
            <a:avLst>
              <a:gd name="adj" fmla="val 11111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4379976"/>
            <a:ext cx="208483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特殊部署硬门槛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343400"/>
            <a:ext cx="7845552" cy="5943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7B5BC"/>
                </a:solidFill>
                <a:latin typeface="Helvetica Neue"/>
                <a:ea typeface="Hiragino Sans GB"/>
              </a:rPr>
              <a:t>国内备案与服务要求 · 数据不出域 · 内网/离线运行 · 国产软硬件适配
日志审计 · 权限隔离 · 私有化部署 · 真实中文业务数据测试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55955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69671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先排除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9112" y="567842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硬门槛应在建立候选名单前确认，而不是模型测完才发现无法采购或部署。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第二节 · 模型选型的比较维度与决策标准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240182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按目标建立模型候选池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具体名单用于缩小测试范围，不是长期有效的排行榜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47088"/>
          <a:ext cx="10561320" cy="2926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2606040"/>
                <a:gridCol w="3246120"/>
                <a:gridCol w="3291840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选型目标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国外候选示例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国内候选示例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典型场景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优先质量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GPT-5 / Claude Sonnet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Qwen-Max / DeepSeek V4 Pro / Kimi K3 / GLM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复杂推理、多步骤任务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优先速度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GPT-4o mini / Llama-8B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Qwen-7B / Yi-Lightning / Doubao Lite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实时语音、高频客服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优先成本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—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DeepSeek V4 / Qwen-2.5-7B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离线分析、批量处理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ight Arrow 9"/>
          <p:cNvSpPr/>
          <p:nvPr/>
        </p:nvSpPr>
        <p:spPr>
          <a:xfrm>
            <a:off x="3294126" y="496976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4617720"/>
            <a:ext cx="2553462" cy="868680"/>
          </a:xfrm>
          <a:prstGeom prst="roundRect">
            <a:avLst>
              <a:gd name="adj" fmla="val 14736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745736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① 按目标选一类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093208"/>
            <a:ext cx="2260854" cy="30175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质量 / 速度 / 成本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93892" y="496976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9574" y="4617720"/>
            <a:ext cx="2553462" cy="868680"/>
          </a:xfrm>
          <a:prstGeom prst="roundRect">
            <a:avLst>
              <a:gd name="adj" fmla="val 14736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5878" y="4745736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② 先排硬门槛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5878" y="5093208"/>
            <a:ext cx="2260854" cy="30175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合规 / 数据 / 部署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93658" y="496976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49340" y="4617720"/>
            <a:ext cx="2553462" cy="868680"/>
          </a:xfrm>
          <a:prstGeom prst="roundRect">
            <a:avLst>
              <a:gd name="adj" fmla="val 14736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5644" y="4745736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③ 同评测集验证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5644" y="5093208"/>
            <a:ext cx="2260854" cy="30175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效果 / 速度 / 成本 / 风险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49106" y="4617720"/>
            <a:ext cx="2553462" cy="868680"/>
          </a:xfrm>
          <a:prstGeom prst="roundRect">
            <a:avLst>
              <a:gd name="adj" fmla="val 14736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410" y="4745736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④ 上课前核验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410" y="5093208"/>
            <a:ext cx="2260854" cy="30175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名称 / 版本 / 价格 / 范围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第二节 · 模型选型的比较维度与决策标准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264200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模型选型为什么不能直接加权打分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合规不通过，不能靠效果高分把总分补回来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4736592" cy="3401568"/>
          </a:xfrm>
          <a:prstGeom prst="roundRect">
            <a:avLst>
              <a:gd name="adj" fmla="val 4301"/>
            </a:avLst>
          </a:prstGeom>
          <a:solidFill>
            <a:srgbClr val="102B37"/>
          </a:solidFill>
          <a:ln w="10795">
            <a:solidFill>
              <a:srgbClr val="EF69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30552"/>
            <a:ext cx="4206240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F6969"/>
                </a:solidFill>
                <a:latin typeface="Helvetica Neue"/>
                <a:ea typeface="Hiragino Sans GB"/>
              </a:rPr>
              <a:t>错误做法：所有指标一起平均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70632"/>
            <a:ext cx="4041648" cy="1417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效果 40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>
                <a:solidFill>
                  <a:srgbClr val="A7B5BC"/>
                </a:solidFill>
                <a:latin typeface="Helvetica Neue"/>
                <a:ea typeface="Hiragino Sans GB"/>
              </a:rPr>
              <a:t>速度 20  +  成本 20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风险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663440"/>
            <a:ext cx="4087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7B5BC"/>
                </a:solidFill>
                <a:latin typeface="Helvetica Neue"/>
                <a:ea typeface="Hiragino Sans GB"/>
              </a:rPr>
              <a:t>硬风险可能被其他高分掩盖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23560" y="3273552"/>
            <a:ext cx="594360" cy="2286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5936" y="1883664"/>
            <a:ext cx="4901184" cy="3401568"/>
          </a:xfrm>
          <a:prstGeom prst="roundRect">
            <a:avLst>
              <a:gd name="adj" fmla="val 4301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2130552"/>
            <a:ext cx="4389120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36D6C2"/>
                </a:solidFill>
                <a:latin typeface="Helvetica Neue"/>
                <a:ea typeface="Hiragino Sans GB"/>
              </a:rPr>
              <a:t>正确顺序：门槛 → 比较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0256" y="2779776"/>
            <a:ext cx="1078992" cy="310896"/>
          </a:xfrm>
          <a:prstGeom prst="roundRect">
            <a:avLst>
              <a:gd name="adj" fmla="val 47058"/>
            </a:avLst>
          </a:prstGeom>
          <a:solidFill>
            <a:srgbClr val="133843"/>
          </a:solidFill>
          <a:ln w="7556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2807208"/>
            <a:ext cx="1078992" cy="21945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2770632"/>
            <a:ext cx="28712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先淘汰任何硬门槛不通过的模型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0256" y="3858768"/>
            <a:ext cx="1078992" cy="310896"/>
          </a:xfrm>
          <a:prstGeom prst="roundRect">
            <a:avLst>
              <a:gd name="adj" fmla="val 47058"/>
            </a:avLst>
          </a:prstGeom>
          <a:solidFill>
            <a:srgbClr val="133843"/>
          </a:solidFill>
          <a:ln w="755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3886200"/>
            <a:ext cx="1078992" cy="21945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849624"/>
            <a:ext cx="2871216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2E9"/>
                </a:solidFill>
                <a:latin typeface="Helvetica Neue"/>
                <a:ea typeface="Hiragino Sans GB"/>
              </a:rPr>
              <a:t>只在通过者中比较稳定性、总成本、维护和供应商风险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62356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76072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决策顺序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9112" y="574243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先判断能不能用，再判断哪个更划算。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第二节 · 模型选型的比较维度与决策标准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288218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智能审核项目的模型比较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效果最高和价格最低的模型都可能被业务门槛淘汰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10512"/>
          <a:ext cx="10561320" cy="31821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58568"/>
                <a:gridCol w="1828800"/>
                <a:gridCol w="2011680"/>
                <a:gridCol w="2011680"/>
                <a:gridCol w="2450592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指标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验收要求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模型 A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模型 B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模型 C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高风险召回率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≥95%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98%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96%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89%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结构化输出成功率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≥97%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99%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98%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99%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P95响应时间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≤2秒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5.2秒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1.2秒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0.4秒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3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单次调用成本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≤0.05元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0.30元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0.03元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0.005元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数据与合规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必须通过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通过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通过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通过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9808" y="5212080"/>
            <a:ext cx="3227832" cy="603504"/>
          </a:xfrm>
          <a:prstGeom prst="roundRect">
            <a:avLst>
              <a:gd name="adj" fmla="val 19696"/>
            </a:avLst>
          </a:prstGeom>
          <a:solidFill>
            <a:srgbClr val="133843"/>
          </a:solidFill>
          <a:ln w="8636">
            <a:solidFill>
              <a:srgbClr val="EF69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21808"/>
            <a:ext cx="6217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F6969"/>
                </a:solidFill>
                <a:latin typeface="Helvetica Neue"/>
                <a:ea typeface="Hiragino Sans GB"/>
              </a:rPr>
              <a:t>模型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5303520"/>
            <a:ext cx="2240279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2E9"/>
                </a:solidFill>
                <a:latin typeface="Helvetica Neue"/>
                <a:ea typeface="Hiragino Sans GB"/>
              </a:rPr>
              <a:t>效果最好，但速度与成本不通过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5384" y="5212080"/>
            <a:ext cx="3227832" cy="603504"/>
          </a:xfrm>
          <a:prstGeom prst="roundRect">
            <a:avLst>
              <a:gd name="adj" fmla="val 19696"/>
            </a:avLst>
          </a:prstGeom>
          <a:solidFill>
            <a:srgbClr val="133843"/>
          </a:solidFill>
          <a:ln w="8636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9976" y="5321808"/>
            <a:ext cx="6217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6D6C2"/>
                </a:solidFill>
                <a:latin typeface="Helvetica Neue"/>
                <a:ea typeface="Hiragino Sans GB"/>
              </a:rPr>
              <a:t>模型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6632" y="5303520"/>
            <a:ext cx="2240279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2E9"/>
                </a:solidFill>
                <a:latin typeface="Helvetica Neue"/>
                <a:ea typeface="Hiragino Sans GB"/>
              </a:rPr>
              <a:t>全部门槛通过 → 第一阶段主模型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5212080"/>
            <a:ext cx="3630168" cy="603504"/>
          </a:xfrm>
          <a:prstGeom prst="roundRect">
            <a:avLst>
              <a:gd name="adj" fmla="val 19696"/>
            </a:avLst>
          </a:prstGeom>
          <a:solidFill>
            <a:srgbClr val="133843"/>
          </a:solidFill>
          <a:ln w="8636">
            <a:solidFill>
              <a:srgbClr val="F0C5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5552" y="5321808"/>
            <a:ext cx="6217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C565"/>
                </a:solidFill>
                <a:latin typeface="Helvetica Neue"/>
                <a:ea typeface="Hiragino Sans GB"/>
              </a:rPr>
              <a:t>模型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8" y="5303520"/>
            <a:ext cx="2642616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2E9"/>
                </a:solidFill>
                <a:latin typeface="Helvetica Neue"/>
                <a:ea typeface="Hiragino Sans GB"/>
              </a:rPr>
              <a:t>最快最便宜，但高风险召回不通过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第三节 · 模型选型的实施流程与产品阶段策略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312237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模型选型的完整实施流程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从业务任务开始，而不是从“最近哪个模型最火”开始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37083" y="2578608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048256"/>
            <a:ext cx="1396419" cy="1225296"/>
          </a:xfrm>
          <a:prstGeom prst="roundRect">
            <a:avLst>
              <a:gd name="adj" fmla="val 10447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76272"/>
            <a:ext cx="1103811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1 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523744"/>
            <a:ext cx="110381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拆成可测试能力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679806" y="2578608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92531" y="2048256"/>
            <a:ext cx="1396419" cy="1225296"/>
          </a:xfrm>
          <a:prstGeom prst="roundRect">
            <a:avLst>
              <a:gd name="adj" fmla="val 10447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8835" y="2176272"/>
            <a:ext cx="1103811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2 标准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8835" y="2523744"/>
            <a:ext cx="110381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先写验收门槛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222530" y="2578608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35254" y="2048256"/>
            <a:ext cx="1396419" cy="1225296"/>
          </a:xfrm>
          <a:prstGeom prst="roundRect">
            <a:avLst>
              <a:gd name="adj" fmla="val 10447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1558" y="2176272"/>
            <a:ext cx="1103811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3 候选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1558" y="2523744"/>
            <a:ext cx="110381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3—5个代表模型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765253" y="2578608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77978" y="2048256"/>
            <a:ext cx="1396419" cy="1225296"/>
          </a:xfrm>
          <a:prstGeom prst="roundRect">
            <a:avLst>
              <a:gd name="adj" fmla="val 10447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24282" y="2176272"/>
            <a:ext cx="1103811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4 评测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4282" y="2523744"/>
            <a:ext cx="110381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同数据同条件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307977" y="2578608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20701" y="2048256"/>
            <a:ext cx="1396419" cy="1225296"/>
          </a:xfrm>
          <a:prstGeom prst="roundRect">
            <a:avLst>
              <a:gd name="adj" fmla="val 10447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7005" y="2176272"/>
            <a:ext cx="1103811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5 成本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7005" y="2523744"/>
            <a:ext cx="110381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单次到规模化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850700" y="2578608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63425" y="2048256"/>
            <a:ext cx="1396419" cy="1225296"/>
          </a:xfrm>
          <a:prstGeom prst="roundRect">
            <a:avLst>
              <a:gd name="adj" fmla="val 10447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9729" y="2176272"/>
            <a:ext cx="1103811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6 风险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9729" y="2523744"/>
            <a:ext cx="110381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数据与切换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06148" y="2048256"/>
            <a:ext cx="1396419" cy="1225296"/>
          </a:xfrm>
          <a:prstGeom prst="roundRect">
            <a:avLst>
              <a:gd name="adj" fmla="val 10447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52452" y="2176272"/>
            <a:ext cx="1103811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7 试点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2452" y="2523744"/>
            <a:ext cx="110381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记录结论持续复评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3822191"/>
            <a:ext cx="10552176" cy="1399032"/>
          </a:xfrm>
          <a:prstGeom prst="roundRect">
            <a:avLst>
              <a:gd name="adj" fmla="val 10457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4087368"/>
            <a:ext cx="2286000" cy="3017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最终选型记录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5224" y="4032504"/>
            <a:ext cx="7955279" cy="7132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业务任务 · 验收标准 · 候选与评测结果 · 成本测算 · 风险分析
主模型与备选模型 · 路由与人工复核 · 当前结论 · 重新评测条件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77900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91616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可复评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39112" y="589788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选型记录不是永久结论；模型、价格和业务量变化后都要重新评估。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第三节 · 模型选型的实施流程与产品阶段策略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336255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先把“智能审核”拆成AI任务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产品包含多个AI任务时，应分别选型，不默认一个模型全包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47088"/>
          <a:ext cx="10561319" cy="34015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4133087"/>
                <a:gridCol w="368503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AI任务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需要的能力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可观察输出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文本风险判断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语义理解、规则理解、分类判断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风险类型与等级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风险原因解释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内容生成、事实一致性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原因与原文证据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修改建议生成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指令遵循、文案生成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可执行的修改方案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图片文字审核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OCR或多模态理解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文字与图文风险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审核结果结构化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JSON输出、字段稳定性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可被后端消费的数据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55955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69671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任务定义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9112" y="567842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越能明确输入、输出和判断标准，模型测试越可比。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第三节 · 模型选型的实施流程与产品阶段策略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360273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不同产品阶段的选型目标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同一个产品在验证、试点、规模化和成熟阶段，不应追求同一件事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2432304" cy="3200400"/>
          </a:xfrm>
          <a:prstGeom prst="roundRect">
            <a:avLst>
              <a:gd name="adj" fmla="val 6015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76272"/>
            <a:ext cx="202996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6D6C2"/>
                </a:solidFill>
                <a:latin typeface="Helvetica Neue"/>
                <a:ea typeface="Hiragino Sans GB"/>
              </a:rPr>
              <a:t>01 · 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88920"/>
            <a:ext cx="202996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能力上限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730752"/>
            <a:ext cx="2029968" cy="7498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先判断能不能做
暂不追求最低成本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947672"/>
            <a:ext cx="2432304" cy="3200400"/>
          </a:xfrm>
          <a:prstGeom prst="roundRect">
            <a:avLst>
              <a:gd name="adj" fmla="val 6015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176272"/>
            <a:ext cx="202996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7657"/>
                </a:solidFill>
                <a:latin typeface="Helvetica Neue"/>
                <a:ea typeface="Hiragino Sans GB"/>
              </a:rPr>
              <a:t>02 · 试点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788920"/>
            <a:ext cx="202996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稳定可控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730752"/>
            <a:ext cx="2029968" cy="7498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效果、体验、人工
和成本形成平衡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1947672"/>
            <a:ext cx="2432304" cy="3200400"/>
          </a:xfrm>
          <a:prstGeom prst="roundRect">
            <a:avLst>
              <a:gd name="adj" fmla="val 6015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2176272"/>
            <a:ext cx="202996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0C565"/>
                </a:solidFill>
                <a:latin typeface="Helvetica Neue"/>
                <a:ea typeface="Hiragino Sans GB"/>
              </a:rPr>
              <a:t>03 · 规模化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788920"/>
            <a:ext cx="202996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系统效率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730752"/>
            <a:ext cx="2029968" cy="7498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路由、工程优化
控制单位任务成本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1947672"/>
            <a:ext cx="2432304" cy="3200400"/>
          </a:xfrm>
          <a:prstGeom prst="roundRect">
            <a:avLst>
              <a:gd name="adj" fmla="val 6015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33688" y="2176272"/>
            <a:ext cx="202996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8D391"/>
                </a:solidFill>
                <a:latin typeface="Helvetica Neue"/>
                <a:ea typeface="Hiragino Sans GB"/>
              </a:rPr>
              <a:t>04 · 成熟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2788920"/>
            <a:ext cx="202996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长期经济性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3688" y="3730752"/>
            <a:ext cx="2029968" cy="7498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再评估私有化
开源与微调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7900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91616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阶段原则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89788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验证失败先改任务和流程；成熟也不意味着一定私有化或微调。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第三节 · 模型选型的实施流程与产品阶段策略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384291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规模化阶段的模型路由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不同难度、风险和价值的任务，进入不同处理层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26767" y="1874519"/>
            <a:ext cx="8138160" cy="630936"/>
          </a:xfrm>
          <a:prstGeom prst="roundRect">
            <a:avLst>
              <a:gd name="adj" fmla="val 21739"/>
            </a:avLst>
          </a:prstGeom>
          <a:solidFill>
            <a:srgbClr val="102B37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7935" y="2020824"/>
            <a:ext cx="214884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6D6C2"/>
                </a:solidFill>
                <a:latin typeface="Helvetica Neue"/>
                <a:ea typeface="Hiragino Sans GB"/>
              </a:rPr>
              <a:t>规则处理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7631" y="2020824"/>
            <a:ext cx="559612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确定性规则 · 最快最便宜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6867" y="2715768"/>
            <a:ext cx="6537960" cy="630936"/>
          </a:xfrm>
          <a:prstGeom prst="roundRect">
            <a:avLst>
              <a:gd name="adj" fmla="val 21739"/>
            </a:avLst>
          </a:prstGeom>
          <a:solidFill>
            <a:srgbClr val="102B37"/>
          </a:solidFill>
          <a:ln w="10795">
            <a:solidFill>
              <a:srgbClr val="68D39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8035" y="2862072"/>
            <a:ext cx="214884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8D391"/>
                </a:solidFill>
                <a:latin typeface="Helvetica Neue"/>
                <a:ea typeface="Hiragino Sans GB"/>
              </a:rPr>
              <a:t>轻量模型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7731" y="2862072"/>
            <a:ext cx="399592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简单分类 · 低风险初筛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4107" y="3557015"/>
            <a:ext cx="4983480" cy="630936"/>
          </a:xfrm>
          <a:prstGeom prst="roundRect">
            <a:avLst>
              <a:gd name="adj" fmla="val 21739"/>
            </a:avLst>
          </a:prstGeom>
          <a:solidFill>
            <a:srgbClr val="102B37"/>
          </a:solidFill>
          <a:ln w="1079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5275" y="3703320"/>
            <a:ext cx="214884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7657"/>
                </a:solidFill>
                <a:latin typeface="Helvetica Neue"/>
                <a:ea typeface="Hiragino Sans GB"/>
              </a:rPr>
              <a:t>主模型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4971" y="3703320"/>
            <a:ext cx="244144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复杂语义 · 综合判断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5627" y="4398264"/>
            <a:ext cx="3520440" cy="630936"/>
          </a:xfrm>
          <a:prstGeom prst="roundRect">
            <a:avLst>
              <a:gd name="adj" fmla="val 21739"/>
            </a:avLst>
          </a:prstGeom>
          <a:solidFill>
            <a:srgbClr val="133843"/>
          </a:solidFill>
          <a:ln w="10795">
            <a:solidFill>
              <a:srgbClr val="EF69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6795" y="4544568"/>
            <a:ext cx="214884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F6969"/>
                </a:solidFill>
                <a:latin typeface="Helvetica Neue"/>
                <a:ea typeface="Hiragino Sans GB"/>
              </a:rPr>
              <a:t>强模型 / 人工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6491" y="4544568"/>
            <a:ext cx="97840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极高风险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614416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751576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路由逻辑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5733288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先用低成本确定性能力处理；任务越复杂、风险越高，处理能力越强。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第三节 · 模型选型的实施流程与产品阶段策略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408310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模型路由与失败降级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一个决定正常情况下交给谁；另一个决定原方案失败后怎么办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01952"/>
            <a:ext cx="5074920" cy="3493008"/>
          </a:xfrm>
          <a:prstGeom prst="roundRect">
            <a:avLst>
              <a:gd name="adj" fmla="val 4188"/>
            </a:avLst>
          </a:prstGeom>
          <a:solidFill>
            <a:srgbClr val="102B37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57984"/>
            <a:ext cx="45262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模型路由：正常分工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843784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761488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规则路由：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按行业、长度、模态和风险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242868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160572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分类路由：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先判断难度与后续模型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641953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559657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置信度路由：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不一致或低置信度升级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041038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3958742"/>
            <a:ext cx="41879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价值路由：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按任务价值配置资源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901952"/>
            <a:ext cx="5157216" cy="3493008"/>
          </a:xfrm>
          <a:prstGeom prst="roundRect">
            <a:avLst>
              <a:gd name="adj" fmla="val 4188"/>
            </a:avLst>
          </a:prstGeom>
          <a:solidFill>
            <a:srgbClr val="133843"/>
          </a:solidFill>
          <a:ln w="1079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57984"/>
            <a:ext cx="460857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失败降级：异常兜底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2843784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2761488"/>
            <a:ext cx="426110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模型超时：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切换备选模型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5936" y="3242868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7104" y="3160572"/>
            <a:ext cx="426110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格式失败：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程序修复或有限重试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45936" y="3641953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3559657"/>
            <a:ext cx="426110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连续失败：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进入人工队列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5936" y="4041038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3958742"/>
            <a:ext cx="426110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外部停服：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保留规则与基础流程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66928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80644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产品要求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39112" y="578815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降级不仅是接口异常处理，还要明确用户看到什么、多久返回。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第三节 · 模型选型的实施流程与产品阶段策略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432328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成熟阶段的模型策略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私有化与微调都是选项，不是成熟产品的必经之路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38528"/>
            <a:ext cx="3273552" cy="3136392"/>
          </a:xfrm>
          <a:prstGeom prst="roundRect">
            <a:avLst>
              <a:gd name="adj" fmla="val 466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031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2"/>
            <a:ext cx="28346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是否值得微调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935224"/>
            <a:ext cx="2834640" cy="20025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 i="0">
                <a:solidFill>
                  <a:srgbClr val="A7B5BC"/>
                </a:solidFill>
                <a:latin typeface="Helvetica Neue"/>
                <a:ea typeface="Hiragino Sans GB"/>
              </a:rPr>
              <a:t>数据是否足够且稳定？
提升能否通过评测证明？
底座升级后如何维护？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33672" y="1938528"/>
            <a:ext cx="3273552" cy="3136392"/>
          </a:xfrm>
          <a:prstGeom prst="roundRect">
            <a:avLst>
              <a:gd name="adj" fmla="val 466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21031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2450592"/>
            <a:ext cx="28346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是否值得私有化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935224"/>
            <a:ext cx="2834640" cy="20025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 i="0">
                <a:solidFill>
                  <a:srgbClr val="A7B5BC"/>
                </a:solidFill>
                <a:latin typeface="Helvetica Neue"/>
                <a:ea typeface="Hiragino Sans GB"/>
              </a:rPr>
              <a:t>是否存在数据硬门槛？
GPU、部署和运维多少钱？
团队是否具备维护能力？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17536" y="1938528"/>
            <a:ext cx="3538728" cy="3136392"/>
          </a:xfrm>
          <a:prstGeom prst="roundRect">
            <a:avLst>
              <a:gd name="adj" fmla="val 466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1031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6992" y="2450592"/>
            <a:ext cx="309981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何时重新选型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935224"/>
            <a:ext cx="3099816" cy="20025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 i="0">
                <a:solidFill>
                  <a:srgbClr val="A7B5BC"/>
                </a:solidFill>
                <a:latin typeface="Helvetica Neue"/>
                <a:ea typeface="Hiragino Sans GB"/>
              </a:rPr>
              <a:t>新版本或价格变化
业务量、模态和Bad Case变化
合规、稳定性或人工比例变化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7900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91616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切换流程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589788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候选 → 回归评测 → 小流量灰度 → 观察真实结果 → 再全面切换。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第四节 · 多模态任务的拆解与模型选型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456346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多模态不是一种能力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图片、文档、语音和视频对应不同输入、输出、评测和计费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56231"/>
          <a:ext cx="10561320" cy="31089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23160"/>
                <a:gridCol w="2313432"/>
                <a:gridCol w="2404872"/>
                <a:gridCol w="3419856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8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能力类型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输入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输出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典型任务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多模态理解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图片 / 文档 / 视频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文字或结构化结果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看图、读表、页面解析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图片与视频生成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文字 / 图片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图片或视频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海报、商品图、营销视频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TTS语音合成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文字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音频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配音、语音客服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ASR语音识别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音频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文字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8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转写、字幕、质检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60527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4243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选型对象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9112" y="572414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多模态产品经常选择的是一组模型与处理流程，而不是一个“全能模型”。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第四节 · 多模态任务的拆解与模型选型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480364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先区分识别、提取和理解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同一张营销海报，三个层次对应完全不同的能力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91000" y="2724912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2084831"/>
            <a:ext cx="3432048" cy="1444752"/>
          </a:xfrm>
          <a:prstGeom prst="roundRect">
            <a:avLst>
              <a:gd name="adj" fmla="val 886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3139440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识别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3139440" cy="8778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哪里有文字、二维码和视觉元素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69352" y="2724912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6448" y="2084831"/>
            <a:ext cx="3432048" cy="1444752"/>
          </a:xfrm>
          <a:prstGeom prst="roundRect">
            <a:avLst>
              <a:gd name="adj" fmla="val 886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2752" y="2212848"/>
            <a:ext cx="3139440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提取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2752" y="2560320"/>
            <a:ext cx="3139440" cy="8778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OCR转成可处理文本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0" y="2084831"/>
            <a:ext cx="3432048" cy="1444752"/>
          </a:xfrm>
          <a:prstGeom prst="roundRect">
            <a:avLst>
              <a:gd name="adj" fmla="val 886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1104" y="2212848"/>
            <a:ext cx="3139440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理解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1104" y="2560320"/>
            <a:ext cx="3139440" cy="8778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判断图文关系、风险与视觉暗示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3913632"/>
            <a:ext cx="10588752" cy="1225296"/>
          </a:xfrm>
          <a:prstGeom prst="roundRect">
            <a:avLst>
              <a:gd name="adj" fmla="val 11940"/>
            </a:avLst>
          </a:prstGeom>
          <a:solidFill>
            <a:srgbClr val="133843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133087"/>
            <a:ext cx="9966960" cy="7132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7657"/>
                </a:solidFill>
                <a:latin typeface="Helvetica Neue"/>
                <a:ea typeface="Hiragino Sans GB"/>
              </a:rPr>
              <a:t>海报示例：</a:t>
            </a:r>
            <a:r>
              <a:rPr sz="2400" b="1" i="0">
                <a:solidFill>
                  <a:srgbClr val="F5F2E9"/>
                </a:solidFill>
                <a:latin typeface="Helvetica Neue"/>
                <a:ea typeface="Hiragino Sans GB"/>
              </a:rPr>
              <a:t>“三天瘦十斤，无效退款”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OCR能读出文字；视觉理解还要判断免责声明、小字弱化和图文组合后的风险。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65099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78815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PRD写法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9112" y="576986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不要只写“使用多模态模型识别图片”，要明确到底完成哪一层任务。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第四节 · 多模态任务的拆解与模型选型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504383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图片与文档理解模型看什么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高清标准图测得好，不代表真实用户素材也能处理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75104"/>
            <a:ext cx="1938528" cy="3255264"/>
          </a:xfrm>
          <a:prstGeom prst="roundRect">
            <a:avLst>
              <a:gd name="adj" fmla="val 754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969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87168"/>
            <a:ext cx="149961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文字识别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971800"/>
            <a:ext cx="1499616" cy="21214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elvetica Neue"/>
                <a:ea typeface="Hiragino Sans GB"/>
              </a:rPr>
              <a:t>中文、小字、旋转、艺术字、模糊和表格数字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71215" y="1975104"/>
            <a:ext cx="1938528" cy="3255264"/>
          </a:xfrm>
          <a:prstGeom prst="roundRect">
            <a:avLst>
              <a:gd name="adj" fmla="val 754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13969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2487168"/>
            <a:ext cx="149961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语义理解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2971800"/>
            <a:ext cx="1499616" cy="21214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elvetica Neue"/>
                <a:ea typeface="Hiragino Sans GB"/>
              </a:rPr>
              <a:t>人物、商品、图文关系、视觉暗示和趋势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1975104"/>
            <a:ext cx="1938528" cy="3255264"/>
          </a:xfrm>
          <a:prstGeom prst="roundRect">
            <a:avLst>
              <a:gd name="adj" fmla="val 754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13969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487168"/>
            <a:ext cx="149961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结构空间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971800"/>
            <a:ext cx="1499616" cy="21214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elvetica Neue"/>
                <a:ea typeface="Hiragino Sans GB"/>
              </a:rPr>
              <a:t>标题正文、栏列、跨页表格、免责声明关联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14031" y="1975104"/>
            <a:ext cx="1938528" cy="3255264"/>
          </a:xfrm>
          <a:prstGeom prst="roundRect">
            <a:avLst>
              <a:gd name="adj" fmla="val 754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3488" y="213969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2487168"/>
            <a:ext cx="149961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输入限制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2971800"/>
            <a:ext cx="1499616" cy="21214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elvetica Neue"/>
                <a:ea typeface="Hiragino Sans GB"/>
              </a:rPr>
              <a:t>张数、格式、分辨率、PDF页数和批量能力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35440" y="1975104"/>
            <a:ext cx="1938528" cy="3255264"/>
          </a:xfrm>
          <a:prstGeom prst="roundRect">
            <a:avLst>
              <a:gd name="adj" fmla="val 754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54896" y="213969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F6969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896" y="2487168"/>
            <a:ext cx="149961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时间成本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54896" y="2971800"/>
            <a:ext cx="1499616" cy="21214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A7B5BC"/>
                </a:solidFill>
                <a:latin typeface="Helvetica Neue"/>
                <a:ea typeface="Hiragino Sans GB"/>
              </a:rPr>
              <a:t>图片、分辨率、视觉Token、页数与调用次数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63270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769864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真实评测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39112" y="5751576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必须包含截图、拍照、压缩图、小字、复杂背景与坏样本。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第四节 · 多模态任务的拆解与模型选型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5284012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智能审核中的图片处理方案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不要把所有图片直接交给最强视觉模型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94126" y="2679192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029968"/>
            <a:ext cx="2553462" cy="1463040"/>
          </a:xfrm>
          <a:prstGeom prst="roundRect">
            <a:avLst>
              <a:gd name="adj" fmla="val 875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基础检查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505456"/>
            <a:ext cx="2260854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格式、损坏、尺寸、二维码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93892" y="2679192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49574" y="2029968"/>
            <a:ext cx="2553462" cy="1463040"/>
          </a:xfrm>
          <a:prstGeom prst="roundRect">
            <a:avLst>
              <a:gd name="adj" fmla="val 875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5878" y="2157984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OCR提取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5878" y="2505456"/>
            <a:ext cx="2260854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转文字后复用规则与文本审核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93658" y="2679192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49340" y="2029968"/>
            <a:ext cx="2553462" cy="1463040"/>
          </a:xfrm>
          <a:prstGeom prst="roundRect">
            <a:avLst>
              <a:gd name="adj" fmla="val 875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5644" y="2157984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视觉理解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5644" y="2505456"/>
            <a:ext cx="2260854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图文关系、视觉暗示和复杂页面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49106" y="2029968"/>
            <a:ext cx="2553462" cy="1463040"/>
          </a:xfrm>
          <a:prstGeom prst="roundRect">
            <a:avLst>
              <a:gd name="adj" fmla="val 875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5410" y="2157984"/>
            <a:ext cx="2260854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人工复核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5410" y="2505456"/>
            <a:ext cx="2260854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模糊、冲突、高风险与不确定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986784"/>
            <a:ext cx="10561320" cy="1051560"/>
          </a:xfrm>
          <a:prstGeom prst="roundRect">
            <a:avLst>
              <a:gd name="adj" fmla="val 13913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242816"/>
            <a:ext cx="996696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图片 → OCR → 规则审核 → 文本模型 → 必要时视觉模型 → 人工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62356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76072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分层原则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9112" y="574243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规则优先、专项能力处理、复杂任务升级、低置信度人工兜底。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第四节 · 多模态任务的拆解与模型选型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552419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生成、TTS与ASR的选型重点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不同模态不能共用一套评价指标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01952"/>
            <a:ext cx="3246120" cy="3511296"/>
          </a:xfrm>
          <a:prstGeom prst="roundRect">
            <a:avLst>
              <a:gd name="adj" fmla="val 45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6654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14016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图片 / 视频生成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98648"/>
            <a:ext cx="2807208" cy="237743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A7B5BC"/>
                </a:solidFill>
                <a:latin typeface="Helvetica Neue"/>
                <a:ea typeface="Hiragino Sans GB"/>
              </a:rPr>
              <a:t>生成质量与指令遵循
主体和品牌一致性
局部编辑与参考图
平均生成次数和成本
版权、肖像与深度伪造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5384" y="1901952"/>
            <a:ext cx="3246120" cy="3511296"/>
          </a:xfrm>
          <a:prstGeom prst="roundRect">
            <a:avLst>
              <a:gd name="adj" fmla="val 45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06654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414016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TTS 语音合成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898648"/>
            <a:ext cx="2807208" cy="237743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A7B5BC"/>
                </a:solidFill>
                <a:latin typeface="Helvetica Neue"/>
                <a:ea typeface="Hiragino Sans GB"/>
              </a:rPr>
              <a:t>自然度与发音准确性
数字、金额、术语和缩写
情绪与声音风格
实时首段延迟
声音克隆授权与防滥用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901952"/>
            <a:ext cx="3630168" cy="3511296"/>
          </a:xfrm>
          <a:prstGeom prst="roundRect">
            <a:avLst>
              <a:gd name="adj" fmla="val 4166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416" y="206654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0416" y="2414016"/>
            <a:ext cx="319125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ASR 语音识别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0416" y="2898648"/>
            <a:ext cx="3191256" cy="237743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A7B5BC"/>
                </a:solidFill>
                <a:latin typeface="Helvetica Neue"/>
                <a:ea typeface="Hiragino Sans GB"/>
              </a:rPr>
              <a:t>口音、中英混合与术语
噪声、回声和多人说话
说话人区分与时间戳
实时与离线处理
音频存储、校对与隐私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73328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87044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隐藏成本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5852159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生成一次不满意会继续生成；真实任务成本要乘以平均尝试次数。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第四节 · 多模态任务的拆解与模型选型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576437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视频审核是一条组合链路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拆开处理更容易评测、控制成本和定位问题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94204" y="259232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057400"/>
            <a:ext cx="1653540" cy="1234440"/>
          </a:xfrm>
          <a:prstGeom prst="roundRect">
            <a:avLst>
              <a:gd name="adj" fmla="val 1037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85416"/>
            <a:ext cx="1360932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视频输入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532888"/>
            <a:ext cx="1360932" cy="6675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音轨 + 关键帧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94048" y="259232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49652" y="2057400"/>
            <a:ext cx="1653540" cy="1234440"/>
          </a:xfrm>
          <a:prstGeom prst="roundRect">
            <a:avLst>
              <a:gd name="adj" fmla="val 1037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5956" y="2185416"/>
            <a:ext cx="1360932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ASR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5956" y="2532888"/>
            <a:ext cx="1360932" cy="6675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语音转写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93892" y="259232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9496" y="2057400"/>
            <a:ext cx="1653540" cy="1234440"/>
          </a:xfrm>
          <a:prstGeom prst="roundRect">
            <a:avLst>
              <a:gd name="adj" fmla="val 1037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5800" y="2185416"/>
            <a:ext cx="1360932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OCR / 视觉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5800" y="2532888"/>
            <a:ext cx="1360932" cy="6675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画面文字与语义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793736" y="259232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49340" y="2057400"/>
            <a:ext cx="1653540" cy="1234440"/>
          </a:xfrm>
          <a:prstGeom prst="roundRect">
            <a:avLst>
              <a:gd name="adj" fmla="val 1037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5644" y="2185416"/>
            <a:ext cx="1360932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文本审核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5644" y="2532888"/>
            <a:ext cx="1360932" cy="6675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规则 + 大模型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93580" y="2592324"/>
            <a:ext cx="173736" cy="16459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49184" y="2057400"/>
            <a:ext cx="1653540" cy="1234440"/>
          </a:xfrm>
          <a:prstGeom prst="roundRect">
            <a:avLst>
              <a:gd name="adj" fmla="val 1037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5488" y="2185416"/>
            <a:ext cx="1360932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结果合并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5488" y="2532888"/>
            <a:ext cx="1360932" cy="6675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时间点 + 风险类型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49028" y="2057400"/>
            <a:ext cx="1653540" cy="1234440"/>
          </a:xfrm>
          <a:prstGeom prst="roundRect">
            <a:avLst>
              <a:gd name="adj" fmla="val 10370"/>
            </a:avLst>
          </a:prstGeom>
          <a:solidFill>
            <a:srgbClr val="102B37"/>
          </a:solidFill>
          <a:ln w="809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5332" y="2185416"/>
            <a:ext cx="1360932" cy="2468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2E9"/>
                </a:solidFill>
                <a:latin typeface="Helvetica Neue"/>
                <a:ea typeface="Hiragino Sans GB"/>
              </a:rPr>
              <a:t>人工复核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5332" y="2532888"/>
            <a:ext cx="1360932" cy="6675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B5BC"/>
                </a:solidFill>
                <a:latin typeface="Helvetica Neue"/>
                <a:ea typeface="Hiragino Sans GB"/>
              </a:rPr>
              <a:t>高风险与冲突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3858768"/>
            <a:ext cx="10561320" cy="1234440"/>
          </a:xfrm>
          <a:prstGeom prst="roundRect">
            <a:avLst>
              <a:gd name="adj" fmla="val 11851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096512"/>
            <a:ext cx="214884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错误定位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4059936"/>
            <a:ext cx="8119872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是ASR听错、OCR漏字、视觉理解错误，还是多路结果合并错误？
只有拆开链路，Bad Case才知道该改模型、流程还是数据。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5099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78815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产品价值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39112" y="576986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比起寻找“全能视频模型”，可拆解的链路更容易控制。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第四节 · 多模态任务的拆解与模型选型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600456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通用多模态模型还是专项模型组合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产品阶段不同，最合适的系统复杂度也不同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5074920" cy="3246120"/>
          </a:xfrm>
          <a:prstGeom prst="roundRect">
            <a:avLst>
              <a:gd name="adj" fmla="val 4507"/>
            </a:avLst>
          </a:prstGeom>
          <a:solidFill>
            <a:srgbClr val="102B37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76272"/>
            <a:ext cx="45262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通用多模态模型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834639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752344"/>
            <a:ext cx="42062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优点：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接入快、开放任务灵活、适合验证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288588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206292"/>
            <a:ext cx="42062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代价：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单项未必最优、成本高、输出不稳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742537"/>
            <a:ext cx="82296" cy="82296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660241"/>
            <a:ext cx="42062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适合：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验证阶段快速判断可行性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9048" y="1920240"/>
            <a:ext cx="5148072" cy="3246120"/>
          </a:xfrm>
          <a:prstGeom prst="roundRect">
            <a:avLst>
              <a:gd name="adj" fmla="val 4507"/>
            </a:avLst>
          </a:prstGeom>
          <a:solidFill>
            <a:srgbClr val="133843"/>
          </a:solidFill>
          <a:ln w="1079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176272"/>
            <a:ext cx="459943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专项模型组合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834639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6248" y="2752344"/>
            <a:ext cx="424281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优点：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可测试、可替换、成本与问题易定位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288588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3206292"/>
            <a:ext cx="424281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代价：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链路复杂、接口多、中间误差累积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3742537"/>
            <a:ext cx="82296" cy="82296"/>
          </a:xfrm>
          <a:prstGeom prst="rect">
            <a:avLst/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3660241"/>
            <a:ext cx="424281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F5F2E9"/>
                </a:solidFill>
                <a:latin typeface="Helvetica Neue"/>
                <a:ea typeface="Hiragino Sans GB"/>
              </a:rPr>
              <a:t>适合：</a:t>
            </a:r>
            <a:r>
              <a:rPr sz="1520" b="0" i="0">
                <a:solidFill>
                  <a:srgbClr val="A7B5BC"/>
                </a:solidFill>
                <a:latin typeface="Helvetica Neue"/>
                <a:ea typeface="Hiragino Sans GB"/>
              </a:rPr>
              <a:t>试点后按Bad Case逐步拆分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2356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76072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阶段策略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74243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验证先快，试点再拆，规模化后优化组合与成本。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6244742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一次请求里哪些内容消耗Token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用户输入只是模型真实上下文中的一小部分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10512"/>
          <a:ext cx="6601968" cy="3584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20440"/>
                <a:gridCol w="1481328"/>
                <a:gridCol w="1600200"/>
              </a:tblGrid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输入组成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Token示例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是否容易忽略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System Prompt与角色说明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800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是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风险分类与审核规则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1,200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是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输出字段与格式要求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300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是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RAG法规内容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1,500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是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用户营销内容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400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否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Few-shot示例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600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是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输入合计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4,800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7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—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626096" y="1920240"/>
            <a:ext cx="3621024" cy="3566160"/>
          </a:xfrm>
          <a:prstGeom prst="roundRect">
            <a:avLst>
              <a:gd name="adj" fmla="val 4102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2194560"/>
            <a:ext cx="305409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36D6C2"/>
                </a:solidFill>
                <a:latin typeface="Helvetica Neue"/>
                <a:ea typeface="Hiragino Sans GB"/>
              </a:rPr>
              <a:t>一次调用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816352"/>
            <a:ext cx="3054096" cy="1417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F5F2E9"/>
                </a:solidFill>
                <a:latin typeface="Helvetica Neue"/>
                <a:ea typeface="Hiragino Sans GB"/>
              </a:rPr>
              <a:t>4,800</a:t>
            </a: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 输入Token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FF7657"/>
                </a:solidFill>
                <a:latin typeface="Helvetica Neue"/>
                <a:ea typeface="Hiragino Sans GB"/>
              </a:rPr>
              <a:t>+ 600</a:t>
            </a: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 输出Token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828032"/>
            <a:ext cx="2907792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7B5BC"/>
                </a:solidFill>
                <a:latin typeface="Helvetica Neue"/>
                <a:ea typeface="Hiragino Sans GB"/>
              </a:rPr>
              <a:t>以实际调用日志为准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8756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82472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Token认知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9112" y="580644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不要用固定汉字比例长期估算；不同模型和模态的计费方式不同。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648492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单次模型调用成本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输入与输出通常分别计价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0561320" cy="1060704"/>
          </a:xfrm>
          <a:prstGeom prst="roundRect">
            <a:avLst>
              <a:gd name="adj" fmla="val 13793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57984"/>
            <a:ext cx="10058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F2E9"/>
                </a:solidFill>
                <a:latin typeface="Helvetica Neue"/>
                <a:ea typeface="Hiragino Sans GB"/>
              </a:rPr>
              <a:t>单次调用成本 = 输入成本 ＋ 输出成本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310128"/>
            <a:ext cx="3246120" cy="1609344"/>
          </a:xfrm>
          <a:prstGeom prst="roundRect">
            <a:avLst>
              <a:gd name="adj" fmla="val 909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4747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822191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输入成本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306824"/>
            <a:ext cx="2807208" cy="4754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 i="0">
                <a:solidFill>
                  <a:srgbClr val="A7B5BC"/>
                </a:solidFill>
                <a:latin typeface="Helvetica Neue"/>
                <a:ea typeface="Hiragino Sans GB"/>
              </a:rPr>
              <a:t>4,800 ÷ 1,000,000 × 2
= 0.0096 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5384" y="3310128"/>
            <a:ext cx="3246120" cy="1609344"/>
          </a:xfrm>
          <a:prstGeom prst="roundRect">
            <a:avLst>
              <a:gd name="adj" fmla="val 909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34747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822191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输出成本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306824"/>
            <a:ext cx="2807208" cy="4754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 i="0">
                <a:solidFill>
                  <a:srgbClr val="A7B5BC"/>
                </a:solidFill>
                <a:latin typeface="Helvetica Neue"/>
                <a:ea typeface="Hiragino Sans GB"/>
              </a:rPr>
              <a:t>600 ÷ 1,000,000 × 8
= 0.0048 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3310128"/>
            <a:ext cx="3630168" cy="1609344"/>
          </a:xfrm>
          <a:prstGeom prst="roundRect">
            <a:avLst>
              <a:gd name="adj" fmla="val 9090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416" y="34747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0416" y="3822191"/>
            <a:ext cx="319125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本次调用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0416" y="4306824"/>
            <a:ext cx="3191256" cy="4754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 i="0">
                <a:solidFill>
                  <a:srgbClr val="A7B5BC"/>
                </a:solidFill>
                <a:latin typeface="Helvetica Neue"/>
                <a:ea typeface="Hiragino Sans GB"/>
              </a:rPr>
              <a:t>0.0096 + 0.0048
= 0.0144 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59612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73328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教学假设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9112" y="571500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一次调用约1.44分钱，但这还不是一次业务任务的完整成本。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6725107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一次调用不等于一次业务任务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多节点调用要按发生概率折算平均成本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47088"/>
          <a:ext cx="742492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600"/>
                <a:gridCol w="1618488"/>
                <a:gridCol w="1463040"/>
                <a:gridCol w="1828800"/>
              </a:tblGrid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调用环节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单次成本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发生概率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平均成本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轻量分类模型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0.001元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0.001元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主审核模型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0.0144元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70%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0.01008元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强模型复核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0.08元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5%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0.004元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格式修复调用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0.005元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3%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0.00015元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平均业务任务模型成本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—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—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0.01523元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430768" y="2057400"/>
            <a:ext cx="2816352" cy="3236976"/>
          </a:xfrm>
          <a:prstGeom prst="roundRect">
            <a:avLst>
              <a:gd name="adj" fmla="val 5194"/>
            </a:avLst>
          </a:prstGeom>
          <a:solidFill>
            <a:srgbClr val="133843"/>
          </a:solidFill>
          <a:ln w="1079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2331720"/>
            <a:ext cx="2304288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7657"/>
                </a:solidFill>
                <a:latin typeface="Helvetica Neue"/>
                <a:ea typeface="Hiragino Sans GB"/>
              </a:rPr>
              <a:t>任务成本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3090672"/>
            <a:ext cx="23317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5F2E9"/>
                </a:solidFill>
                <a:latin typeface="Helvetica Neue"/>
                <a:ea typeface="Hiragino Sans GB"/>
              </a:rPr>
              <a:t>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877056"/>
            <a:ext cx="2304288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7B5BC"/>
                </a:solidFill>
                <a:latin typeface="Helvetica Neue"/>
                <a:ea typeface="Hiragino Sans GB"/>
              </a:rPr>
              <a:t>每个节点成本
× 触发概率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6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76072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计算对象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9112" y="574243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以业务任务为单位，把所有可能发生的模型节点算进来。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6965289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重试与规模化成本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单次看似便宜，重试和业务量会把差异放大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38528"/>
            <a:ext cx="3246120" cy="2487168"/>
          </a:xfrm>
          <a:prstGeom prst="roundRect">
            <a:avLst>
              <a:gd name="adj" fmla="val 588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031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50592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考虑重试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935224"/>
            <a:ext cx="2807208" cy="1353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7B5BC"/>
                </a:solidFill>
                <a:latin typeface="Helvetica Neue"/>
                <a:ea typeface="Hiragino Sans GB"/>
              </a:rPr>
              <a:t>理论任务成本 0.015元
8%请求重新调用
0.015 × 1.08
= 0.0162元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5384" y="1938528"/>
            <a:ext cx="3246120" cy="2487168"/>
          </a:xfrm>
          <a:prstGeom prst="roundRect">
            <a:avLst>
              <a:gd name="adj" fmla="val 588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1031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450592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每天 5 万条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935224"/>
            <a:ext cx="2807208" cy="1353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7B5BC"/>
                </a:solidFill>
                <a:latin typeface="Helvetica Neue"/>
                <a:ea typeface="Hiragino Sans GB"/>
              </a:rPr>
              <a:t>0.0162 × 50,000
= 810元 / 天
× 30天
= 24,300元 / 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938528"/>
            <a:ext cx="3630168" cy="2487168"/>
          </a:xfrm>
          <a:prstGeom prst="roundRect">
            <a:avLst>
              <a:gd name="adj" fmla="val 588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416" y="210312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0416" y="2450592"/>
            <a:ext cx="319125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F2E9"/>
                </a:solidFill>
                <a:latin typeface="Helvetica Neue"/>
                <a:ea typeface="Hiragino Sans GB"/>
              </a:rPr>
              <a:t>每天 50 万条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0416" y="2935224"/>
            <a:ext cx="3191256" cy="1353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7B5BC"/>
                </a:solidFill>
                <a:latin typeface="Helvetica Neue"/>
                <a:ea typeface="Hiragino Sans GB"/>
              </a:rPr>
              <a:t>0.0162 × 500,000
× 30天
= 243,000元 / 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12064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规模效应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510235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单次只差一分钱，规模化后也可能形成显著月度差异。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5760720"/>
            <a:ext cx="103327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7B5BC"/>
                </a:solidFill>
                <a:latin typeface="Helvetica Neue"/>
                <a:ea typeface="Hiragino Sans GB"/>
              </a:rPr>
              <a:t>日志要记录：每个任务实际调用几次、哪个节点最贵、哪些调用来自失败与重试。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7205472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平均成本会掩盖任务分布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成本表应按照业务任务分类，而不是只按照模型名称分类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56231"/>
          <a:ext cx="7635240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86000"/>
                <a:gridCol w="1572768"/>
                <a:gridCol w="2194560"/>
                <a:gridCol w="1581912"/>
              </a:tblGrid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39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内容类型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典型输入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9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调用方式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单次成本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短标题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100字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轻量模型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0.002元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普通营销文案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800字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主模型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0.015元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长图文方案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5,000字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主模型 + RAG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0.08元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高风险金融文案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2,000字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主模型 + 强模型复核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0.15元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图片海报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1张图片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OCR + 视觉模型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9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0.20元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641080" y="1901952"/>
            <a:ext cx="2633472" cy="3438144"/>
          </a:xfrm>
          <a:prstGeom prst="roundRect">
            <a:avLst>
              <a:gd name="adj" fmla="val 5555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7112" y="2185416"/>
            <a:ext cx="2121408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elvetica Neue"/>
                <a:ea typeface="Hiragino Sans GB"/>
              </a:rPr>
              <a:t>同时观察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7968" y="2944368"/>
            <a:ext cx="214884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平均值
中位数
P95 Token
最大值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0527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4243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P95价值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9112" y="572414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帮助决定输入限制、长文拆分、单独定价、预算与限流。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744565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人工复核可能比Token更贵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优化方向要看成本占比，而不是盯着最容易计算的一项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01952"/>
            <a:ext cx="3858768" cy="3429000"/>
          </a:xfrm>
          <a:prstGeom prst="roundRect">
            <a:avLst>
              <a:gd name="adj" fmla="val 4266"/>
            </a:avLst>
          </a:prstGeom>
          <a:solidFill>
            <a:srgbClr val="102B37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212848"/>
            <a:ext cx="3310128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elvetica Neue"/>
                <a:ea typeface="Hiragino Sans GB"/>
              </a:rPr>
              <a:t>月度模型成本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63240"/>
            <a:ext cx="333756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5F2E9"/>
                </a:solidFill>
                <a:latin typeface="Helvetica Neue"/>
                <a:ea typeface="Hiragino Sans GB"/>
              </a:rPr>
              <a:t>24,300 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069080"/>
            <a:ext cx="3310128" cy="6217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5万条 / 天
任务成本 0.0162元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00600" y="3392424"/>
            <a:ext cx="685800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FF76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0136" y="1901952"/>
            <a:ext cx="5577840" cy="3429000"/>
          </a:xfrm>
          <a:prstGeom prst="roundRect">
            <a:avLst>
              <a:gd name="adj" fmla="val 4266"/>
            </a:avLst>
          </a:prstGeom>
          <a:solidFill>
            <a:srgbClr val="133843"/>
          </a:solidFill>
          <a:ln w="1079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34456" y="2212848"/>
            <a:ext cx="502920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7657"/>
                </a:solidFill>
                <a:latin typeface="Helvetica Neue"/>
                <a:ea typeface="Hiragino Sans GB"/>
              </a:rPr>
              <a:t>月度人工复核成本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6168" y="3063240"/>
            <a:ext cx="5065776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5F2E9"/>
                </a:solidFill>
                <a:latin typeface="Helvetica Neue"/>
                <a:ea typeface="Hiragino Sans GB"/>
              </a:rPr>
              <a:t>225,000 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4456" y="4041648"/>
            <a:ext cx="502920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5万条 / 天 × 10%复核率
× 1.5元 / 次 × 30天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5099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78815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关键杠杆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576986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复核率从10%降到5%，可能比压缩几百个Token更有价值。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768583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AI产品的完整成本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项目能否持续运行，取决于四类成本共同作用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一次性建设成本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0360"/>
            <a:ext cx="4663440" cy="43891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调研、产品、研发、集成、测试、数据、权限安全和培训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883664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持续固定成本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880360"/>
            <a:ext cx="4663440" cy="43891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维护、监控、知识更新、评测、运营、安全合规和基础设施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694176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5876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206240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可变成本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690872"/>
            <a:ext cx="4663440" cy="4389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Token、多模态、接口、存储带宽、人工复核、实施与重试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694176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385876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F6969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206240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错误与风险成本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690872"/>
            <a:ext cx="4663440" cy="4389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漏审、误拦、投诉、返工、处罚、品牌损失和客户流失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5099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78815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完整口径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76986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模型贵一万元，但能显著降低重大风险时，这一万元可能值得。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第五节 · Token成本与AI产品完整成本计算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7926019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计算成功完成一次任务的成本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请求数不是产品价值，成功完成的业务任务才是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92807"/>
            <a:ext cx="4773168" cy="3355848"/>
          </a:xfrm>
          <a:prstGeom prst="roundRect">
            <a:avLst>
              <a:gd name="adj" fmla="val 4359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4224528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A7B5BC"/>
                </a:solidFill>
                <a:latin typeface="Helvetica Neue"/>
                <a:ea typeface="Hiragino Sans GB"/>
              </a:rPr>
              <a:t>如果按请求数计算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07792"/>
            <a:ext cx="4187952" cy="7132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2E9"/>
                </a:solidFill>
                <a:latin typeface="Helvetica Neue"/>
                <a:ea typeface="Hiragino Sans GB"/>
              </a:rPr>
              <a:t>200 ÷ 10,000
= 0.02元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334256"/>
            <a:ext cx="418795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969"/>
                </a:solidFill>
                <a:latin typeface="Helvetica Neue"/>
                <a:ea typeface="Hiragino Sans GB"/>
              </a:rPr>
              <a:t>但只有8,000次自动成功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05272" y="3328416"/>
            <a:ext cx="585216" cy="21945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8504" y="1892807"/>
            <a:ext cx="4928616" cy="3355848"/>
          </a:xfrm>
          <a:prstGeom prst="roundRect">
            <a:avLst>
              <a:gd name="adj" fmla="val 4359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4536" y="2194560"/>
            <a:ext cx="4379976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elvetica Neue"/>
                <a:ea typeface="Hiragino Sans GB"/>
              </a:rPr>
              <a:t>按自动成功任务计算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07792"/>
            <a:ext cx="4361688" cy="7132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2E9"/>
                </a:solidFill>
                <a:latin typeface="Helvetica Neue"/>
                <a:ea typeface="Hiragino Sans GB"/>
              </a:rPr>
              <a:t>200 ÷ 8,000
= 0.025元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315968"/>
            <a:ext cx="436168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7B5BC"/>
                </a:solidFill>
                <a:latin typeface="Helvetica Neue"/>
                <a:ea typeface="Hiragino Sans GB"/>
              </a:rPr>
              <a:t>再加入人工复核，完整成本还会增加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5099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78815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监控升级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576986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试点用真实样本测算；上线后按任务、节点、用户持续监控。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816620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成本优化的目标与基线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不是尽量少用Token，而是降低成功任务的总成本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4791456" cy="3419856"/>
          </a:xfrm>
          <a:prstGeom prst="roundRect">
            <a:avLst>
              <a:gd name="adj" fmla="val 4278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57984"/>
            <a:ext cx="4224528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elvetica Neue"/>
                <a:ea typeface="Hiragino Sans GB"/>
              </a:rPr>
              <a:t>优化目标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79776"/>
            <a:ext cx="4224528" cy="10241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业务效果达标
+ 体验不恶化
+ 成本不转移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35424"/>
            <a:ext cx="4224528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7B5BC"/>
                </a:solidFill>
                <a:latin typeface="Helvetica Neue"/>
                <a:ea typeface="Hiragino Sans GB"/>
              </a:rPr>
              <a:t>降低成功完成一次任务的总成本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843016" y="1856231"/>
          <a:ext cx="5468112" cy="33649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19856"/>
                <a:gridCol w="2048256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基线指标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当前值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高风险召回率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96%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结构化输出成功率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98%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P95响应时间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1.2秒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单次业务任务成本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0.015元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人工复核率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任务自动完成率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70%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月度总成本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88,000元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31520" y="5641848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779008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先找主因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9112" y="5760720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如果人工占80%，只压缩Prompt里的几百Token，优化方向就错了。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8406384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成本优化方法（一）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先优化处理方式和模型配置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规则与模型合理分工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0360"/>
            <a:ext cx="4663440" cy="42062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关键词、计算、数据库和固定校验走确定性能力；复杂语义再调用大模型。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883664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模型分层与路由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880360"/>
            <a:ext cx="4663440" cy="42062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简单任务轻量模型，普通任务主模型，复杂任务强模型，高风险人工。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685032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4962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197096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减少无效上下文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681728"/>
            <a:ext cx="466344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合并重复Prompt、保留有效Few-shot、按需读取资料，并验证缓存效果。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685032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384962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197096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控制RAG召回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681728"/>
            <a:ext cx="466344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调整Top K、切片、去重和重排；只保留支持当前判断的片段。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3270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769864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边界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751576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不能为了省Token，把真正需要语义理解的任务强行堆成复杂规则。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36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864656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成本优化方法（二）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再控制状态、循环、时效和多模态调用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控制对话历史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0360"/>
            <a:ext cx="4663440" cy="42062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近期对话 + 摘要 + 结构化状态；按当前任务读取必要记忆。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883664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限制重试与循环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880360"/>
            <a:ext cx="4663440" cy="42062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最大调用次数、输出长度、任务时长、预算上限和人工接管条件。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685032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4962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197096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区分实时与异步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681728"/>
            <a:ext cx="466344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用户等待的任务追求延迟；批处理任务可换更慢更便宜的方案。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685032"/>
            <a:ext cx="5102352" cy="1554480"/>
          </a:xfrm>
          <a:prstGeom prst="roundRect">
            <a:avLst>
              <a:gd name="adj" fmla="val 9411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3849624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8D391"/>
                </a:solidFill>
                <a:latin typeface="Helvetica Neue"/>
                <a:ea typeface="Hiragino Sans GB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197096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控制多模态调用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681728"/>
            <a:ext cx="466344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图片先压缩和OCR，视频拆音轨与关键帧，只在必要时升级视觉模型。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3270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769864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产品约束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751576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成本控制要写进产品：次数、时长、输入大小、预算和退出条件。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37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888674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模型路由能省多少钱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把强模型留给真正复杂的5%任务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3675887" cy="3246120"/>
          </a:xfrm>
          <a:prstGeom prst="roundRect">
            <a:avLst>
              <a:gd name="adj" fmla="val 4507"/>
            </a:avLst>
          </a:prstGeom>
          <a:solidFill>
            <a:srgbClr val="102B37"/>
          </a:solidFill>
          <a:ln w="10795">
            <a:solidFill>
              <a:srgbClr val="EF69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76272"/>
            <a:ext cx="3127248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F6969"/>
                </a:solidFill>
                <a:latin typeface="Helvetica Neue"/>
                <a:ea typeface="Hiragino Sans GB"/>
              </a:rPr>
              <a:t>原方案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44368"/>
            <a:ext cx="3127248" cy="7498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F2E9"/>
                </a:solidFill>
                <a:latin typeface="Helvetica Neue"/>
                <a:ea typeface="Hiragino Sans GB"/>
              </a:rPr>
              <a:t>100% 强模型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913632"/>
            <a:ext cx="3127248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7B5BC"/>
                </a:solidFill>
                <a:latin typeface="Helvetica Neue"/>
                <a:ea typeface="Hiragino Sans GB"/>
              </a:rPr>
              <a:t>平均 0.08元 / 任务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90288" y="3246120"/>
            <a:ext cx="658368" cy="2286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31536" y="1901952"/>
          <a:ext cx="5806440" cy="23408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592"/>
                <a:gridCol w="1417320"/>
                <a:gridCol w="1938528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路由后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占比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单价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轻量模型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60%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0.005元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主模型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35%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0.03元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强模型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5%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3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0.08元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742432" y="4590288"/>
            <a:ext cx="5184648" cy="676656"/>
          </a:xfrm>
          <a:prstGeom prst="roundRect">
            <a:avLst>
              <a:gd name="adj" fmla="val 18918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2744" y="4773168"/>
            <a:ext cx="477316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加权平均 = 0.0175元 / 任务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6928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80644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必须验证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9112" y="578815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路由本身也会出错：高风险任务是否被误分到低能力模型？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38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9126931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所有降本动作都要重新评测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成本下降不等于优化成功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47088"/>
          <a:ext cx="7059168" cy="3584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600"/>
                <a:gridCol w="1435608"/>
                <a:gridCol w="1435608"/>
                <a:gridCol w="1673352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指标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优化前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优化后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判断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高风险召回率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96%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95.5%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通过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结构化输出成功率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98%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98%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通过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P95响应时间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1.2秒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0.8秒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通过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单次任务成本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0.015元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0.009元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改善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人工复核率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11%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需评估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自动完成率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70%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2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72%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改善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solidFill>
                      <a:srgbClr val="13384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083296" y="1901952"/>
            <a:ext cx="3191256" cy="3438144"/>
          </a:xfrm>
          <a:prstGeom prst="roundRect">
            <a:avLst>
              <a:gd name="adj" fmla="val 4584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76272"/>
            <a:ext cx="34747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167128"/>
            <a:ext cx="93268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F5F2E9"/>
                </a:solidFill>
                <a:latin typeface="Helvetica Neue"/>
                <a:ea typeface="Hiragino Sans GB"/>
              </a:rPr>
              <a:t>提出方案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167128"/>
            <a:ext cx="1280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elvetica Neue"/>
                <a:ea typeface="Hiragino Sans GB"/>
              </a:rPr>
              <a:t>明确改了什么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89504"/>
            <a:ext cx="34747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880360"/>
            <a:ext cx="93268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F5F2E9"/>
                </a:solidFill>
                <a:latin typeface="Helvetica Neue"/>
                <a:ea typeface="Hiragino Sans GB"/>
              </a:rPr>
              <a:t>回归评测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880360"/>
            <a:ext cx="1280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elvetica Neue"/>
                <a:ea typeface="Hiragino Sans GB"/>
              </a:rPr>
              <a:t>第9课评测集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602736"/>
            <a:ext cx="34747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593592"/>
            <a:ext cx="93268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F5F2E9"/>
                </a:solidFill>
                <a:latin typeface="Helvetica Neue"/>
                <a:ea typeface="Hiragino Sans GB"/>
              </a:rPr>
              <a:t>小流量测试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3593592"/>
            <a:ext cx="1280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elvetica Neue"/>
                <a:ea typeface="Hiragino Sans GB"/>
              </a:rPr>
              <a:t>观察真实行为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15968"/>
            <a:ext cx="34747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306824"/>
            <a:ext cx="93268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F5F2E9"/>
                </a:solidFill>
                <a:latin typeface="Helvetica Neue"/>
                <a:ea typeface="Hiragino Sans GB"/>
              </a:rPr>
              <a:t>正式采用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306824"/>
            <a:ext cx="12801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A7B5BC"/>
                </a:solidFill>
                <a:latin typeface="Helvetica Neue"/>
                <a:ea typeface="Hiragino Sans GB"/>
              </a:rPr>
              <a:t>效果和总成本都通过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0527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74243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上线条件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9112" y="572414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关键业务指标跌破验收线，即使成本下降也不能上线。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936711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AI产品的收益从哪里来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收益必须可验证，并说明如果没有AI是否仍会发生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83664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节省人工成本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880360"/>
            <a:ext cx="4663440" cy="43891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原人工处理量 × 单次人工成本 − AI上线后剩余人工成本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883664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048256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395728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提升工作效率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880360"/>
            <a:ext cx="4663440" cy="438911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原处理时长 − AI处理后时长；只有真正释放或复用的时间才算价值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694176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5876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206240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增加收入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690872"/>
            <a:ext cx="4663440" cy="4389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业务量 × 转化率提升 × 单笔毛利；最好通过A/B或前后对照验证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694176"/>
            <a:ext cx="5102352" cy="1572768"/>
          </a:xfrm>
          <a:prstGeom prst="roundRect">
            <a:avLst>
              <a:gd name="adj" fmla="val 9302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385876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F6969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206240"/>
            <a:ext cx="46634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2E9"/>
                </a:solidFill>
                <a:latin typeface="Helvetica Neue"/>
                <a:ea typeface="Hiragino Sans GB"/>
              </a:rPr>
              <a:t>降低风险损失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690872"/>
            <a:ext cx="4663440" cy="4389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70" b="0" i="0">
                <a:solidFill>
                  <a:srgbClr val="A7B5BC"/>
                </a:solidFill>
                <a:latin typeface="Helvetica Neue"/>
                <a:ea typeface="Hiragino Sans GB"/>
              </a:rPr>
              <a:t>风险发生概率 × 单次损失；明确数据来源与不确定性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5099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78815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避免虚高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576986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不要把效率提升与人工节省、收入增长与全部GMV重复计算。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40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9607296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投入产出比与ROI不是一回事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正式汇报时必须把公式写清楚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01952"/>
            <a:ext cx="5074920" cy="3383280"/>
          </a:xfrm>
          <a:prstGeom prst="roundRect">
            <a:avLst>
              <a:gd name="adj" fmla="val 4324"/>
            </a:avLst>
          </a:prstGeom>
          <a:solidFill>
            <a:srgbClr val="102B37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452628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6D6C2"/>
                </a:solidFill>
                <a:latin typeface="Helvetica Neue"/>
                <a:ea typeface="Hiragino Sans GB"/>
              </a:rPr>
              <a:t>投入产出比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71216"/>
            <a:ext cx="452628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总收益 ÷ 总成本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67328"/>
            <a:ext cx="4526280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7657"/>
                </a:solidFill>
                <a:latin typeface="Helvetica Neue"/>
                <a:ea typeface="Hiragino Sans GB"/>
              </a:rPr>
              <a:t>180 ÷ 100 = 1.8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5262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每投入1元，产生1.8元收益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901952"/>
            <a:ext cx="5148072" cy="3383280"/>
          </a:xfrm>
          <a:prstGeom prst="roundRect">
            <a:avLst>
              <a:gd name="adj" fmla="val 4324"/>
            </a:avLst>
          </a:prstGeom>
          <a:solidFill>
            <a:srgbClr val="133843"/>
          </a:solidFill>
          <a:ln w="1079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94560"/>
            <a:ext cx="4599432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7657"/>
                </a:solidFill>
                <a:latin typeface="Helvetica Neue"/>
                <a:ea typeface="Hiragino Sans GB"/>
              </a:rPr>
              <a:t>投资回报率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871216"/>
            <a:ext cx="4599432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F2E9"/>
                </a:solidFill>
                <a:latin typeface="Helvetica Neue"/>
                <a:ea typeface="Hiragino Sans GB"/>
              </a:rPr>
              <a:t>（总收益 − 总成本）÷ 总成本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767328"/>
            <a:ext cx="4599432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6D6C2"/>
                </a:solidFill>
                <a:latin typeface="Helvetica Neue"/>
                <a:ea typeface="Hiragino Sans GB"/>
              </a:rPr>
              <a:t>（180 − 100）÷ 100 = 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72000"/>
            <a:ext cx="459943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7B5BC"/>
                </a:solidFill>
                <a:latin typeface="Helvetica Neue"/>
                <a:ea typeface="Hiragino Sans GB"/>
              </a:rPr>
              <a:t>扣除成本后，净收益相当于投入的80%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63270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5769864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口径一致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9112" y="5751576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不要只说“ROI大于1”，要同时展示计算公式和时间范围。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984747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智能审核项目的回本测算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AI持续成本降到8.8万元/月，每月净节省11.2万元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28800"/>
          <a:ext cx="6784848" cy="3392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52928"/>
                <a:gridCol w="1965960"/>
                <a:gridCol w="1965960"/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项目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原人工方案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AI方案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月审核量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10万条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10万条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一次性建设成本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—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30万元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模型、工具和基础设施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—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0.8万元/月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人工审核成本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20万元/月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6万元/月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运营、维护和评测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—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2万元/月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每月持续成本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20万元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6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8.8万元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18120" y="1901952"/>
            <a:ext cx="3429000" cy="3584448"/>
          </a:xfrm>
          <a:prstGeom prst="roundRect">
            <a:avLst>
              <a:gd name="adj" fmla="val 4266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28803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6D6C2"/>
                </a:solidFill>
                <a:latin typeface="Helvetica Neue"/>
                <a:ea typeface="Hiragino Sans GB"/>
              </a:rPr>
              <a:t>回本周期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889504"/>
            <a:ext cx="288036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F2E9"/>
                </a:solidFill>
                <a:latin typeface="Helvetica Neue"/>
                <a:ea typeface="Hiragino Sans GB"/>
              </a:rPr>
              <a:t>30 ÷ 11.2
≈ 2.68个月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187952"/>
            <a:ext cx="2880360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7657"/>
                </a:solidFill>
                <a:latin typeface="Helvetica Neue"/>
                <a:ea typeface="Hiragino Sans GB"/>
              </a:rPr>
              <a:t>盈亏平衡任务量
≈ 26.8万条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50992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788152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同一结论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9112" y="5769864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回本周期按时间看；盈亏平衡任务量按业务量看。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0087660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六个月投入产出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一次性投入必须和观察周期一起计算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56816"/>
            <a:ext cx="3246120" cy="2587752"/>
          </a:xfrm>
          <a:prstGeom prst="roundRect">
            <a:avLst>
              <a:gd name="adj" fmla="val 5653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214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7B5BC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468880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没有AI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953512"/>
            <a:ext cx="2807208" cy="145389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7B5BC"/>
                </a:solidFill>
                <a:latin typeface="Helvetica Neue"/>
                <a:ea typeface="Hiragino Sans GB"/>
              </a:rPr>
              <a:t>20万元 × 6个月
= 120万元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5384" y="1956816"/>
            <a:ext cx="3246120" cy="2587752"/>
          </a:xfrm>
          <a:prstGeom prst="roundRect">
            <a:avLst>
              <a:gd name="adj" fmla="val 5653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1214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6D6C2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468880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AI方案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953512"/>
            <a:ext cx="2807208" cy="145389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7B5BC"/>
                </a:solidFill>
                <a:latin typeface="Helvetica Neue"/>
                <a:ea typeface="Hiragino Sans GB"/>
              </a:rPr>
              <a:t>30万元建设
+ 8.8万元 × 6
= 82.8万元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956816"/>
            <a:ext cx="3630168" cy="2587752"/>
          </a:xfrm>
          <a:prstGeom prst="roundRect">
            <a:avLst>
              <a:gd name="adj" fmla="val 5653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416" y="2121408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0416" y="2468880"/>
            <a:ext cx="319125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六个月结果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0416" y="2953512"/>
            <a:ext cx="3191256" cy="145389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7B5BC"/>
                </a:solidFill>
                <a:latin typeface="Helvetica Neue"/>
                <a:ea typeface="Hiragino Sans GB"/>
              </a:rPr>
              <a:t>节省 37.2万元
ROI ≈ 44.9%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020056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谨慎解释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5138928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还要验证审核量、自动完成率、真实人力释放、风险与季节波动。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5788152"/>
            <a:ext cx="10241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A7B5BC"/>
                </a:solidFill>
                <a:latin typeface="Helvetica Neue"/>
                <a:ea typeface="Hiragino Sans GB"/>
              </a:rPr>
              <a:t>教学示例，不代表所有AI审核项目都能在三个月回本。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0327843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为什么需要三种情景测算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AI项目前期不确定，单一乐观数字不能支持决策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847088"/>
          <a:ext cx="7360920" cy="34015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97480"/>
                <a:gridCol w="1554480"/>
                <a:gridCol w="15544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4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指标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保守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基准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1" i="0">
                          <a:solidFill>
                            <a:srgbClr val="F5F2E9"/>
                          </a:solidFill>
                          <a:latin typeface="Helvetica Neue"/>
                          <a:ea typeface="Hiragino Sans GB"/>
                        </a:rPr>
                        <a:t>乐观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F5F2E9"/>
                      </a:solidFill>
                    </a:lnT>
                    <a:lnB w="10160" cap="flat" cmpd="sng" algn="ctr">
                      <a:solidFill>
                        <a:srgbClr val="416A78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每月有效审核量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6万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15万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AI自动完成率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45%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70%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80%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4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每月持续成本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9万元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8.8万元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1" i="0">
                          <a:solidFill>
                            <a:srgbClr val="36D6C2"/>
                          </a:solidFill>
                          <a:latin typeface="Helvetica Neue"/>
                          <a:ea typeface="Hiragino Sans GB"/>
                        </a:rPr>
                        <a:t>11万元</a:t>
                      </a:r>
                    </a:p>
                  </a:txBody>
                  <a:tcPr marL="88900" marR="88900" marT="25400" marB="25400" anchor="ctr">
                    <a:solidFill>
                      <a:srgbClr val="1338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每月产生价值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10万元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20万元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30万元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每月净收益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1万元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11.2万元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40" b="0" i="0">
                          <a:solidFill>
                            <a:srgbClr val="A7B5BC"/>
                          </a:solidFill>
                          <a:latin typeface="Helvetica Neue"/>
                          <a:ea typeface="Hiragino Sans GB"/>
                        </a:rPr>
                        <a:t>19万元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F5F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385048" y="1901952"/>
            <a:ext cx="2852928" cy="3456432"/>
          </a:xfrm>
          <a:prstGeom prst="roundRect">
            <a:avLst>
              <a:gd name="adj" fmla="val 5128"/>
            </a:avLst>
          </a:prstGeom>
          <a:solidFill>
            <a:srgbClr val="133843"/>
          </a:solidFill>
          <a:ln w="10795">
            <a:solidFill>
              <a:srgbClr val="FF765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194560"/>
            <a:ext cx="2340864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7657"/>
                </a:solidFill>
                <a:latin typeface="Helvetica Neue"/>
                <a:ea typeface="Hiragino Sans GB"/>
              </a:rPr>
              <a:t>关键判断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1936" y="2916936"/>
            <a:ext cx="2359152" cy="1417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F2E9"/>
                </a:solidFill>
                <a:latin typeface="Helvetica Neue"/>
                <a:ea typeface="Hiragino Sans GB"/>
              </a:rPr>
              <a:t>保守情景
几乎没有明显收益
项目依赖
使用量与自动完成率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32704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69864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9112" y="5751576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先做限定范围试点，验证最影响ROI的变量，而不是直接全面上线。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44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0568025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Go、No-Go与有条件试点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模型选型的终点不是模型名称，而是项目推进决策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3246120" cy="3383280"/>
          </a:xfrm>
          <a:prstGeom prst="roundRect">
            <a:avLst>
              <a:gd name="adj" fmla="val 45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67128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GO · 可以推进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651760"/>
            <a:ext cx="2807208" cy="2514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 i="0">
                <a:solidFill>
                  <a:srgbClr val="A7B5BC"/>
                </a:solidFill>
                <a:latin typeface="Helvetica Neue"/>
                <a:ea typeface="Hiragino Sans GB"/>
              </a:rPr>
              <a:t>效果与合规通过
成本在预算内
基准ROI合理
保守风险可承受
有人工和失败兜底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15384" y="1920240"/>
            <a:ext cx="3246120" cy="3383280"/>
          </a:xfrm>
          <a:prstGeom prst="roundRect">
            <a:avLst>
              <a:gd name="adj" fmla="val 4507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67128"/>
            <a:ext cx="2807208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NO-GO · 暂不推进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651760"/>
            <a:ext cx="2807208" cy="2514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 i="0">
                <a:solidFill>
                  <a:srgbClr val="A7B5BC"/>
                </a:solidFill>
                <a:latin typeface="Helvetica Neue"/>
                <a:ea typeface="Hiragino Sans GB"/>
              </a:rPr>
              <a:t>最强模型仍不达标
错误代价不可接受
使用量无法摊销投入
成本高于可验证收益
合规或部署问题无解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920240"/>
            <a:ext cx="3630168" cy="3383280"/>
          </a:xfrm>
          <a:prstGeom prst="roundRect">
            <a:avLst>
              <a:gd name="adj" fmla="val 4324"/>
            </a:avLst>
          </a:prstGeom>
          <a:solidFill>
            <a:srgbClr val="102B37"/>
          </a:solidFill>
          <a:ln w="8636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416" y="2167128"/>
            <a:ext cx="3191256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2E9"/>
                </a:solidFill>
                <a:latin typeface="Helvetica Neue"/>
                <a:ea typeface="Hiragino Sans GB"/>
              </a:rPr>
              <a:t>有条件试点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0416" y="2651760"/>
            <a:ext cx="3191256" cy="2514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 i="0">
                <a:solidFill>
                  <a:srgbClr val="A7B5BC"/>
                </a:solidFill>
                <a:latin typeface="Helvetica Neue"/>
                <a:ea typeface="Hiragino Sans GB"/>
              </a:rPr>
              <a:t>限定团队与低风险内容
先给建议、不自动拦截
高风险人工确认
设置观察周期
达到指标再扩大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69280"/>
            <a:ext cx="10716768" cy="530352"/>
          </a:xfrm>
          <a:prstGeom prst="roundRect">
            <a:avLst>
              <a:gd name="adj" fmla="val 24137"/>
            </a:avLst>
          </a:prstGeom>
          <a:solidFill>
            <a:srgbClr val="133843"/>
          </a:solidFill>
          <a:ln w="6477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806440"/>
            <a:ext cx="113385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7657"/>
                </a:solidFill>
                <a:latin typeface="Helvetica Neue"/>
                <a:ea typeface="Hiragino Sans GB"/>
              </a:rPr>
              <a:t>正确理解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5788152"/>
            <a:ext cx="9125712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No-Go不是项目失败，而是避免投入一个当前不值得做的项目。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256032"/>
            <a:ext cx="98755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D6C2"/>
                </a:solidFill>
                <a:latin typeface="Helvetica Neue"/>
                <a:ea typeface="Hiragino Sans GB"/>
              </a:rPr>
              <a:t>第六节 · 成本优化、ROI与选型决策输出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232" y="256032"/>
            <a:ext cx="5029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7B5BC"/>
                </a:solidFill>
                <a:latin typeface="Helvetica Neue"/>
                <a:ea typeface="Hiragino Sans GB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6565392"/>
            <a:ext cx="10808208" cy="10972"/>
          </a:xfrm>
          <a:prstGeom prst="rect">
            <a:avLst/>
          </a:prstGeom>
          <a:solidFill>
            <a:srgbClr val="416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deckkit-motif-quiet"/>
          <p:cNvSpPr/>
          <p:nvPr/>
        </p:nvSpPr>
        <p:spPr>
          <a:xfrm>
            <a:off x="694944" y="6547104"/>
            <a:ext cx="10808208" cy="3291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0936"/>
            <a:ext cx="10716768" cy="53035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2E9"/>
                </a:solidFill>
                <a:latin typeface="Helvetica Neue"/>
                <a:ea typeface="Hiragino Sans GB"/>
              </a:rPr>
              <a:t>第11课最终产出</a:t>
            </a:r>
          </a:p>
        </p:txBody>
      </p:sp>
      <p:sp>
        <p:nvSpPr>
          <p:cNvPr id="7" name="deckkit-motif-quiet"/>
          <p:cNvSpPr/>
          <p:nvPr/>
        </p:nvSpPr>
        <p:spPr>
          <a:xfrm>
            <a:off x="713232" y="1243584"/>
            <a:ext cx="1325880" cy="41148"/>
          </a:xfrm>
          <a:prstGeom prst="rect">
            <a:avLst/>
          </a:prstGeom>
          <a:solidFill>
            <a:srgbClr val="36D6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62456"/>
            <a:ext cx="106527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7B5BC"/>
                </a:solidFill>
                <a:latin typeface="Helvetica Neue"/>
                <a:ea typeface="Hiragino Sans GB"/>
              </a:rPr>
              <a:t>一份模型选型与价值决策表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5623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02536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1984248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业务任务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6887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模型负责什么、不负责什么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85623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002536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95928" y="1984248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验收标准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46887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效果、速度、成本和风险门槛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185623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002536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1984248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候选结果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46887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同一评测集的比较数据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185623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2002536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6" y="1984248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使用策略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46887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规则、模型与人工怎样分工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41071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557015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6D6C2"/>
                </a:solidFill>
                <a:latin typeface="Helvetica Neue"/>
                <a:ea typeface="Hiragino Sans GB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5024" y="3538727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成本测算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02335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单次、月度、一次性和完整成本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10712" y="341071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93592" y="3557015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7657"/>
                </a:solidFill>
                <a:latin typeface="Helvetica Neue"/>
                <a:ea typeface="Hiragino Sans GB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95928" y="3538727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收益测算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93592" y="402335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人工、效率、收入与风险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71616" y="341071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3557015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565"/>
                </a:solidFill>
                <a:latin typeface="Helvetica Neue"/>
                <a:ea typeface="Hiragino Sans GB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3538727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三种情景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4496" y="402335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保守、基准与乐观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32520" y="3410711"/>
            <a:ext cx="2432304" cy="1325880"/>
          </a:xfrm>
          <a:prstGeom prst="roundRect">
            <a:avLst>
              <a:gd name="adj" fmla="val 10344"/>
            </a:avLst>
          </a:prstGeom>
          <a:solidFill>
            <a:srgbClr val="102B37"/>
          </a:solidFill>
          <a:ln w="10795">
            <a:solidFill>
              <a:srgbClr val="416A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5400" y="3557015"/>
            <a:ext cx="36576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8D391"/>
                </a:solidFill>
                <a:latin typeface="Helvetica Neue"/>
                <a:ea typeface="Hiragino Sans GB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3538727"/>
            <a:ext cx="1664208" cy="2834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2E9"/>
                </a:solidFill>
                <a:latin typeface="Helvetica Neue"/>
                <a:ea typeface="Hiragino Sans GB"/>
              </a:rPr>
              <a:t>最终决策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4023359"/>
            <a:ext cx="2066544" cy="4937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A7B5BC"/>
                </a:solidFill>
                <a:latin typeface="Helvetica Neue"/>
                <a:ea typeface="Hiragino Sans GB"/>
              </a:rPr>
              <a:t>Go、No-Go或有条件试点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" y="5138928"/>
            <a:ext cx="10561320" cy="594360"/>
          </a:xfrm>
          <a:prstGeom prst="roundRect">
            <a:avLst>
              <a:gd name="adj" fmla="val 21538"/>
            </a:avLst>
          </a:prstGeom>
          <a:solidFill>
            <a:srgbClr val="133843"/>
          </a:solidFill>
          <a:ln w="10795">
            <a:solidFill>
              <a:srgbClr val="36D6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9264" y="5303520"/>
            <a:ext cx="10131552" cy="26517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5F2E9"/>
                </a:solidFill>
                <a:latin typeface="Helvetica Neue"/>
                <a:ea typeface="Hiragino Sans GB"/>
              </a:rPr>
              <a:t>选择什么模型组合，以什么成本服务多少业务量，并在什么条件下继续、扩大或停止。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