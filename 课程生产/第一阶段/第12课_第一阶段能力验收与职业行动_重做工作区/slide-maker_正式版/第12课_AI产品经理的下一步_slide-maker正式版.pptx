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7" r:id="rId42"/>
    <p:sldId id="298" r:id="rId43"/>
    <p:sldId id="299" r:id="rId44"/>
    <p:sldId id="300" r:id="rId45"/>
    <p:sldId id="301" r:id="rId46"/>
    <p:sldId id="302" r:id="rId47"/>
    <p:sldId id="303" r:id="rId48"/>
    <p:sldId id="304" r:id="rId49"/>
    <p:sldId id="305" r:id="rId50"/>
    <p:sldId id="306" r:id="rId51"/>
    <p:sldId id="309" r:id="rId52"/>
    <p:sldId id="310" r:id="rId53"/>
    <p:sldId id="311" r:id="rId5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30F1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23"/>
    <p:restoredTop sz="94653"/>
  </p:normalViewPr>
  <p:slideViewPr>
    <p:cSldViewPr snapToGrid="0" snapToObjects="1">
      <p:cViewPr varScale="1">
        <p:scale>
          <a:sx n="113" d="100"/>
          <a:sy n="113" d="100"/>
        </p:scale>
        <p:origin x="712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519407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今天不再追加一个新工具，而是做三件事：回顾第一阶段形成了什么能力；讨论AI产品、Agent、商业和职业正在发生的变化；最后说明第二阶段如何把这些能力变成项目证据。</a:t>
            </a:r>
          </a:p>
          <a:p>
            <a:endParaRPr dirty="0"/>
          </a:p>
          <a:p>
            <a:r>
              <a:rPr dirty="0"/>
              <a:t>[</a:t>
            </a:r>
            <a:r>
              <a:rPr dirty="0" err="1"/>
              <a:t>讲义来源</a:t>
            </a:r>
            <a:r>
              <a:rPr dirty="0"/>
              <a:t>]</a:t>
            </a:r>
          </a:p>
          <a:p>
            <a:r>
              <a:rPr dirty="0"/>
              <a:t>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/第12课_第一阶段能力验收与职业行动_重做工作区/第12课_第一阶段总结_AI产品趋势与项目实战_完整讲义_v0.2.md</a:t>
            </a:r>
          </a:p>
          <a:p>
            <a:r>
              <a:rPr dirty="0" err="1"/>
              <a:t>讲义标题与总体结构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把前11课从知识点重新整理成一条可交付的AI产品能力链。</a:t>
            </a:r>
          </a:p>
          <a:p>
            <a:endParaRPr dirty="0"/>
          </a:p>
          <a:p>
            <a:r>
              <a:rPr dirty="0"/>
              <a:t>[</a:t>
            </a:r>
            <a:r>
              <a:rPr dirty="0" err="1"/>
              <a:t>讲义来源</a:t>
            </a:r>
            <a:r>
              <a:rPr dirty="0"/>
              <a:t>]</a:t>
            </a:r>
          </a:p>
          <a:p>
            <a:r>
              <a:rPr dirty="0"/>
              <a:t>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/第12课_第一阶段能力验收与职业行动_重做工作区/第12课_第一阶段总结_AI产品趋势与项目实战_完整讲义_v0.2.md</a:t>
            </a:r>
          </a:p>
          <a:p>
            <a:r>
              <a:rPr dirty="0" err="1"/>
              <a:t>第一阶段，我们到底学会了什么</a:t>
            </a:r>
            <a:r>
              <a:rPr dirty="0"/>
              <a:t>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请学员先投票，再请1—2人说明理由。在这一页不公布答案，也不使用颜色暗示。</a:t>
            </a:r>
          </a:p>
          <a:p>
            <a:endParaRPr dirty="0"/>
          </a:p>
          <a:p>
            <a:r>
              <a:rPr dirty="0"/>
              <a:t>&gt; 建议时长：30分钟</a:t>
            </a:r>
          </a:p>
          <a:p>
            <a:endParaRPr dirty="0"/>
          </a:p>
          <a:p>
            <a:r>
              <a:rPr dirty="0"/>
              <a:t>这一部分不按照第1课、第2课重新复述，而是帮助学员回答：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经过第一阶段以后，我看待和设计AI产品的方式，究竟发生了什么变化</a:t>
            </a:r>
            <a:r>
              <a:rPr dirty="0"/>
              <a:t>？</a:t>
            </a:r>
          </a:p>
          <a:p>
            <a:endParaRPr dirty="0"/>
          </a:p>
          <a:p>
            <a:r>
              <a:rPr dirty="0" err="1"/>
              <a:t>这一部分要形成两个结果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1. </a:t>
            </a:r>
            <a:r>
              <a:rPr dirty="0" err="1"/>
              <a:t>让学员意识到前面的内容不是零散知识，而是一条完整的AI产品工作链路</a:t>
            </a:r>
            <a:r>
              <a:rPr dirty="0"/>
              <a:t>；</a:t>
            </a:r>
          </a:p>
          <a:p>
            <a:r>
              <a:rPr dirty="0"/>
              <a:t>2. </a:t>
            </a:r>
            <a:r>
              <a:rPr dirty="0" err="1"/>
              <a:t>诚实说明第一阶段已经完成什么、还没有完成什么，为后面的趋势讨论和项目班做好衔接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一、最后一课为什么不继续讲新工具</a:t>
            </a:r>
            <a:endParaRPr dirty="0"/>
          </a:p>
          <a:p>
            <a:endParaRPr dirty="0"/>
          </a:p>
          <a:p>
            <a:r>
              <a:rPr dirty="0" err="1"/>
              <a:t>教师可以这样开场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今天是第一阶段的最后一课</a:t>
            </a:r>
            <a:r>
              <a:rPr dirty="0"/>
              <a:t>。  </a:t>
            </a:r>
          </a:p>
          <a:p>
            <a:r>
              <a:rPr dirty="0"/>
              <a:t>&gt; 这一阶段，我们已经学习了大模型、Prompt、Workflow、RAG、Agent、需求分析、PRD、原型、Demo、评测、Bad </a:t>
            </a:r>
            <a:r>
              <a:rPr dirty="0" err="1"/>
              <a:t>Case、模型选型、成本和ROI</a:t>
            </a:r>
            <a:r>
              <a:rPr dirty="0"/>
              <a:t>。  </a:t>
            </a:r>
          </a:p>
          <a:p>
            <a:r>
              <a:rPr dirty="0"/>
              <a:t>&gt; </a:t>
            </a:r>
            <a:r>
              <a:rPr dirty="0" err="1"/>
              <a:t>今天不会再塞给大家一组新的工具和名词。我们先回头看看：这些内容连接起来以后，我们现在到底具备了什么能力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先让学员选择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如果只允许用一句话总结第一阶段，你觉得自己最大的变化是什么</a:t>
            </a:r>
            <a:r>
              <a:rPr dirty="0"/>
              <a:t>？</a:t>
            </a:r>
          </a:p>
          <a:p>
            <a:endParaRPr dirty="0"/>
          </a:p>
          <a:p>
            <a:r>
              <a:rPr dirty="0"/>
              <a:t>- A. </a:t>
            </a:r>
            <a:r>
              <a:rPr dirty="0" err="1"/>
              <a:t>会使用更多AI工具了</a:t>
            </a:r>
            <a:r>
              <a:rPr dirty="0"/>
              <a:t>；</a:t>
            </a:r>
          </a:p>
          <a:p>
            <a:r>
              <a:rPr dirty="0"/>
              <a:t>- B. </a:t>
            </a:r>
            <a:r>
              <a:rPr dirty="0" err="1"/>
              <a:t>理解了更多AI技术概念</a:t>
            </a:r>
            <a:r>
              <a:rPr dirty="0"/>
              <a:t>；</a:t>
            </a:r>
          </a:p>
          <a:p>
            <a:r>
              <a:rPr dirty="0"/>
              <a:t>- C. </a:t>
            </a:r>
            <a:r>
              <a:rPr dirty="0" err="1"/>
              <a:t>开始能够完整判断一个AI产品应该怎么做</a:t>
            </a:r>
            <a:r>
              <a:rPr dirty="0"/>
              <a:t>；</a:t>
            </a:r>
          </a:p>
          <a:p>
            <a:r>
              <a:rPr dirty="0"/>
              <a:t>- D. </a:t>
            </a:r>
            <a:r>
              <a:rPr dirty="0" err="1"/>
              <a:t>已经可以独立负责一个完整AI产品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可以分别请一名选择B、一名选择C或D的学员，用30秒说明原因。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对不同选择的回应</a:t>
            </a:r>
            <a:endParaRPr dirty="0"/>
          </a:p>
          <a:p>
            <a:endParaRPr dirty="0"/>
          </a:p>
          <a:p>
            <a:r>
              <a:rPr dirty="0" err="1"/>
              <a:t>如果选择A，可以回应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会使用更多工具当然是学习结果的一部分。但如果第一阶段只留下“我会用更多工具”，课程价值是不够的。工具会不断更新，真正应该留下来的，是即使工具变化，我们仍然知道怎样判断问题和设计产品。</a:t>
            </a:r>
          </a:p>
          <a:p>
            <a:endParaRPr dirty="0"/>
          </a:p>
          <a:p>
            <a:r>
              <a:rPr dirty="0" err="1"/>
              <a:t>如果选择B，可以回应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理解技术概念也很重要。至少业务方说RAG、Agent、Workflow或者模型选型时，我们不会把它们混在一起。但产品经理最终需要回答的不是“RAG是什么”，而是“这个产品为什么需要RAG，不使用会发生什么”。</a:t>
            </a:r>
          </a:p>
          <a:p>
            <a:endParaRPr dirty="0"/>
          </a:p>
          <a:p>
            <a:r>
              <a:rPr dirty="0" err="1"/>
              <a:t>如果选择C，可以回应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这正是第一阶段真正希望形成的变化。面对一个新的AI需求，我们开始知道应该问哪些问题、做哪些判断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如果选择D，可以回应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有真实业务和项目经验的同学，可能已经能够开始承担完整项目。但对大多数学员来说，目前更准确的状态是：理解了完整工作链路，也具备局部实践经验，还需要通过一个统一项目把这些能力连接起来。</a:t>
            </a:r>
          </a:p>
          <a:p>
            <a:endParaRPr dirty="0"/>
          </a:p>
          <a:p>
            <a:r>
              <a:rPr dirty="0" err="1"/>
              <a:t>本段收束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第一阶段最重要的变化，不是记住了更多AI名词，而是从“</a:t>
            </a:r>
            <a:r>
              <a:rPr dirty="0" err="1"/>
              <a:t>使用AI工具</a:t>
            </a:r>
            <a:r>
              <a:rPr dirty="0"/>
              <a:t>”，</a:t>
            </a:r>
            <a:r>
              <a:rPr dirty="0" err="1"/>
              <a:t>走向“开始具备AI产品判断</a:t>
            </a:r>
            <a:r>
              <a:rPr dirty="0"/>
              <a:t>”。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二、学习前后的思维差异</a:t>
            </a:r>
            <a:endParaRPr dirty="0"/>
          </a:p>
          <a:p>
            <a:endParaRPr dirty="0"/>
          </a:p>
          <a:p>
            <a:r>
              <a:rPr dirty="0" err="1"/>
              <a:t>给出一个情境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老板说</a:t>
            </a:r>
            <a:r>
              <a:rPr dirty="0"/>
              <a:t>：“</a:t>
            </a:r>
            <a:r>
              <a:rPr dirty="0" err="1"/>
              <a:t>竞品都在做Agent，我们也做一个吧</a:t>
            </a:r>
            <a:r>
              <a:rPr dirty="0"/>
              <a:t>。”</a:t>
            </a:r>
          </a:p>
          <a:p>
            <a:endParaRPr dirty="0"/>
          </a:p>
          <a:p>
            <a:r>
              <a:rPr dirty="0" err="1"/>
              <a:t>学习第一阶段以前，可能会这样反应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Agent现在很热门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先看看用哪个平台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找一个类似案例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让AI生成方案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搭一个Demo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看起来能运行就开始立项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学完第一阶段以后，应该先问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1. </a:t>
            </a:r>
            <a:r>
              <a:rPr dirty="0" err="1"/>
              <a:t>谁遇到了什么问题</a:t>
            </a:r>
            <a:r>
              <a:rPr dirty="0"/>
              <a:t>？</a:t>
            </a:r>
          </a:p>
          <a:p>
            <a:r>
              <a:rPr dirty="0"/>
              <a:t>2. </a:t>
            </a:r>
            <a:r>
              <a:rPr dirty="0" err="1"/>
              <a:t>这个问题现在怎样解决</a:t>
            </a:r>
            <a:r>
              <a:rPr dirty="0"/>
              <a:t>？</a:t>
            </a:r>
          </a:p>
          <a:p>
            <a:r>
              <a:rPr dirty="0"/>
              <a:t>3. </a:t>
            </a:r>
            <a:r>
              <a:rPr dirty="0" err="1"/>
              <a:t>问题发生频率有多高</a:t>
            </a:r>
            <a:r>
              <a:rPr dirty="0"/>
              <a:t>？</a:t>
            </a:r>
          </a:p>
          <a:p>
            <a:r>
              <a:rPr dirty="0"/>
              <a:t>4. </a:t>
            </a:r>
            <a:r>
              <a:rPr dirty="0" err="1"/>
              <a:t>不解决会产生什么影响</a:t>
            </a:r>
            <a:r>
              <a:rPr dirty="0"/>
              <a:t>？</a:t>
            </a:r>
          </a:p>
          <a:p>
            <a:r>
              <a:rPr dirty="0"/>
              <a:t>5. </a:t>
            </a:r>
            <a:r>
              <a:rPr dirty="0" err="1"/>
              <a:t>为什么需要AI</a:t>
            </a:r>
            <a:r>
              <a:rPr dirty="0"/>
              <a:t>？</a:t>
            </a:r>
          </a:p>
          <a:p>
            <a:r>
              <a:rPr dirty="0"/>
              <a:t>6. </a:t>
            </a:r>
            <a:r>
              <a:rPr dirty="0" err="1"/>
              <a:t>固定Workflow能不能解决</a:t>
            </a:r>
            <a:r>
              <a:rPr dirty="0"/>
              <a:t>？</a:t>
            </a:r>
          </a:p>
          <a:p>
            <a:r>
              <a:rPr dirty="0"/>
              <a:t>7. </a:t>
            </a:r>
            <a:r>
              <a:rPr dirty="0" err="1"/>
              <a:t>为什么一定需要Agent</a:t>
            </a:r>
            <a:r>
              <a:rPr dirty="0"/>
              <a:t>？</a:t>
            </a:r>
          </a:p>
          <a:p>
            <a:r>
              <a:rPr dirty="0"/>
              <a:t>8. </a:t>
            </a:r>
            <a:r>
              <a:rPr dirty="0" err="1"/>
              <a:t>Agent需要调用什么工具</a:t>
            </a:r>
            <a:r>
              <a:rPr dirty="0"/>
              <a:t>？</a:t>
            </a:r>
          </a:p>
          <a:p>
            <a:r>
              <a:rPr dirty="0"/>
              <a:t>9. </a:t>
            </a:r>
            <a:r>
              <a:rPr dirty="0" err="1"/>
              <a:t>哪些动作必须人工确认</a:t>
            </a:r>
            <a:r>
              <a:rPr dirty="0"/>
              <a:t>？</a:t>
            </a:r>
          </a:p>
          <a:p>
            <a:r>
              <a:rPr dirty="0"/>
              <a:t>10. </a:t>
            </a:r>
            <a:r>
              <a:rPr dirty="0" err="1"/>
              <a:t>如果Agent执行错误，能否发现和撤销</a:t>
            </a:r>
            <a:r>
              <a:rPr dirty="0"/>
              <a:t>？</a:t>
            </a:r>
          </a:p>
          <a:p>
            <a:r>
              <a:rPr dirty="0"/>
              <a:t>11. </a:t>
            </a:r>
            <a:r>
              <a:rPr dirty="0" err="1"/>
              <a:t>怎样建立评测集</a:t>
            </a:r>
            <a:r>
              <a:rPr dirty="0"/>
              <a:t>？</a:t>
            </a:r>
          </a:p>
          <a:p>
            <a:r>
              <a:rPr dirty="0"/>
              <a:t>12. </a:t>
            </a:r>
            <a:r>
              <a:rPr dirty="0" err="1"/>
              <a:t>模型、安全和部署有什么限制</a:t>
            </a:r>
            <a:r>
              <a:rPr dirty="0"/>
              <a:t>？</a:t>
            </a:r>
          </a:p>
          <a:p>
            <a:r>
              <a:rPr dirty="0"/>
              <a:t>13. </a:t>
            </a:r>
            <a:r>
              <a:rPr dirty="0" err="1"/>
              <a:t>单次和规模化成本是多少</a:t>
            </a:r>
            <a:r>
              <a:rPr dirty="0"/>
              <a:t>？</a:t>
            </a:r>
          </a:p>
          <a:p>
            <a:r>
              <a:rPr dirty="0"/>
              <a:t>14. </a:t>
            </a:r>
            <a:r>
              <a:rPr dirty="0" err="1"/>
              <a:t>项目是否真的值得做</a:t>
            </a:r>
            <a:r>
              <a:rPr dirty="0"/>
              <a:t>？</a:t>
            </a:r>
          </a:p>
          <a:p>
            <a:endParaRPr dirty="0"/>
          </a:p>
          <a:p>
            <a:r>
              <a:rPr dirty="0" err="1"/>
              <a:t>然后问学员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这两种反应之间最大的区别是什么</a:t>
            </a:r>
            <a:r>
              <a:rPr dirty="0"/>
              <a:t>？</a:t>
            </a:r>
          </a:p>
          <a:p>
            <a:endParaRPr dirty="0"/>
          </a:p>
          <a:p>
            <a:r>
              <a:rPr dirty="0" err="1"/>
              <a:t>教师收回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第一种反应是在寻找工具和功能，第二种反应是在完成产品决策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三、第一阶段形成的五项能力</a:t>
            </a:r>
            <a:endParaRPr dirty="0"/>
          </a:p>
          <a:p>
            <a:endParaRPr dirty="0"/>
          </a:p>
          <a:p>
            <a:r>
              <a:rPr dirty="0" err="1"/>
              <a:t>用一条完整链路回顾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**</a:t>
            </a:r>
            <a:r>
              <a:rPr dirty="0" err="1"/>
              <a:t>问题判断</a:t>
            </a:r>
            <a:r>
              <a:rPr dirty="0"/>
              <a:t> → </a:t>
            </a:r>
            <a:r>
              <a:rPr dirty="0" err="1"/>
              <a:t>AI方案</a:t>
            </a:r>
            <a:r>
              <a:rPr dirty="0"/>
              <a:t> → </a:t>
            </a:r>
            <a:r>
              <a:rPr dirty="0" err="1"/>
              <a:t>产品定义</a:t>
            </a:r>
            <a:r>
              <a:rPr dirty="0"/>
              <a:t> → </a:t>
            </a:r>
            <a:r>
              <a:rPr dirty="0" err="1"/>
              <a:t>效果验证</a:t>
            </a:r>
            <a:r>
              <a:rPr dirty="0"/>
              <a:t> → </a:t>
            </a:r>
            <a:r>
              <a:rPr dirty="0" err="1"/>
              <a:t>商业价值</a:t>
            </a:r>
            <a:r>
              <a:rPr dirty="0"/>
              <a:t>**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能力一：判断什么问题值得用AI解决</a:t>
            </a:r>
            <a:endParaRPr dirty="0"/>
          </a:p>
          <a:p>
            <a:endParaRPr dirty="0"/>
          </a:p>
          <a:p>
            <a:r>
              <a:rPr dirty="0" err="1"/>
              <a:t>以前容易问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能不能加一个AI功能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能不能做一个聊天助手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能不能做成Agent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能不能使用最新模型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现在应该进一步判断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核心用户是谁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用户正在完成什么任务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当前流程有什么问题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问题是否高频、高成本或高风险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传统产品、规则和流程优化能否解决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AI为什么是更合适的手段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AI介入以后会增加什么风险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第一期最值得验证什么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对应所学：岗位与工作、场景判断、产品形态、需求分析、AI介入和MVP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核心变化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从“</a:t>
            </a:r>
            <a:r>
              <a:rPr dirty="0" err="1"/>
              <a:t>这里能不能使用AI</a:t>
            </a:r>
            <a:r>
              <a:rPr dirty="0"/>
              <a:t>”，</a:t>
            </a:r>
            <a:r>
              <a:rPr dirty="0" err="1"/>
              <a:t>变成“这里是否值得使用AI，以及AI应该介入到什么程度</a:t>
            </a:r>
            <a:r>
              <a:rPr dirty="0"/>
              <a:t>”。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能力二：把AI能力组合成可控产品方案</a:t>
            </a:r>
            <a:endParaRPr dirty="0"/>
          </a:p>
          <a:p>
            <a:endParaRPr dirty="0"/>
          </a:p>
          <a:p>
            <a:r>
              <a:rPr dirty="0" err="1"/>
              <a:t>现在应该知道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| </a:t>
            </a:r>
            <a:r>
              <a:rPr dirty="0" err="1"/>
              <a:t>能力</a:t>
            </a:r>
            <a:r>
              <a:rPr dirty="0"/>
              <a:t> | </a:t>
            </a:r>
            <a:r>
              <a:rPr dirty="0" err="1"/>
              <a:t>主要解决的问题</a:t>
            </a:r>
            <a:r>
              <a:rPr dirty="0"/>
              <a:t> |</a:t>
            </a:r>
          </a:p>
          <a:p>
            <a:r>
              <a:rPr dirty="0"/>
              <a:t>|---|---|</a:t>
            </a:r>
          </a:p>
          <a:p>
            <a:r>
              <a:rPr dirty="0"/>
              <a:t>| Prompt | </a:t>
            </a:r>
            <a:r>
              <a:rPr dirty="0" err="1"/>
              <a:t>怎样让模型完成一次明确任务</a:t>
            </a:r>
            <a:r>
              <a:rPr dirty="0"/>
              <a:t> |</a:t>
            </a:r>
          </a:p>
          <a:p>
            <a:r>
              <a:rPr dirty="0"/>
              <a:t>| Workflow | </a:t>
            </a:r>
            <a:r>
              <a:rPr dirty="0" err="1"/>
              <a:t>怎样组织稳定、可控制的处理流程</a:t>
            </a:r>
            <a:r>
              <a:rPr dirty="0"/>
              <a:t> |</a:t>
            </a:r>
          </a:p>
          <a:p>
            <a:r>
              <a:rPr dirty="0"/>
              <a:t>| RAG | </a:t>
            </a:r>
            <a:r>
              <a:rPr dirty="0" err="1"/>
              <a:t>怎样让模型使用外部或私有知识</a:t>
            </a:r>
            <a:r>
              <a:rPr dirty="0"/>
              <a:t> |</a:t>
            </a:r>
          </a:p>
          <a:p>
            <a:r>
              <a:rPr dirty="0"/>
              <a:t>| Agent | </a:t>
            </a:r>
            <a:r>
              <a:rPr dirty="0" err="1"/>
              <a:t>怎样让系统根据任务调用工具和执行动作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规则</a:t>
            </a:r>
            <a:r>
              <a:rPr dirty="0"/>
              <a:t> | </a:t>
            </a:r>
            <a:r>
              <a:rPr dirty="0" err="1"/>
              <a:t>怎样完成确定性判断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人工</a:t>
            </a:r>
            <a:r>
              <a:rPr dirty="0"/>
              <a:t> | </a:t>
            </a:r>
            <a:r>
              <a:rPr dirty="0" err="1"/>
              <a:t>怎样处理责任、高风险和模糊问题</a:t>
            </a:r>
            <a:r>
              <a:rPr dirty="0"/>
              <a:t> |</a:t>
            </a:r>
          </a:p>
          <a:p>
            <a:endParaRPr dirty="0"/>
          </a:p>
          <a:p>
            <a:r>
              <a:rPr dirty="0" err="1"/>
              <a:t>AI产品方案不是选择一个最流行的技术，而是根据任务完成组合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例如智能审核产品中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敏感词由规则判断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复杂语义由大模型判断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企业规则和案例由RAG提供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高风险和不确定结果进入人工复核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确认后的动作再由系统执行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对应所学：大模型与上下文、Prompt、Workflow、RAG、Agent、Coze综合实践以及人机分工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核心变化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从“</a:t>
            </a:r>
            <a:r>
              <a:rPr dirty="0" err="1"/>
              <a:t>这个项目应该使用什么AI技术</a:t>
            </a:r>
            <a:r>
              <a:rPr dirty="0"/>
              <a:t>”，</a:t>
            </a:r>
            <a:r>
              <a:rPr dirty="0" err="1"/>
              <a:t>变成“不同任务应该分别由什么能力负责</a:t>
            </a:r>
            <a:r>
              <a:rPr dirty="0"/>
              <a:t>”。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能力三：把AI想法变成可以交付的产品</a:t>
            </a:r>
            <a:endParaRPr dirty="0"/>
          </a:p>
          <a:p>
            <a:endParaRPr dirty="0"/>
          </a:p>
          <a:p>
            <a:r>
              <a:rPr dirty="0" err="1"/>
              <a:t>一个AI产品需要被清楚定义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用户和场景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产品目标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当前流程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AI介入点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人机协作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输入和输出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MVP范围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页面、流程和交互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正常、异常和确认状态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AI无法判断时怎么办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验收标准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不在本期范围内的内容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PRD、原型和Demo解决的问题不同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| </a:t>
            </a:r>
            <a:r>
              <a:rPr dirty="0" err="1"/>
              <a:t>产出</a:t>
            </a:r>
            <a:r>
              <a:rPr dirty="0"/>
              <a:t> | </a:t>
            </a:r>
            <a:r>
              <a:rPr dirty="0" err="1"/>
              <a:t>主要证明什么</a:t>
            </a:r>
            <a:r>
              <a:rPr dirty="0"/>
              <a:t> |</a:t>
            </a:r>
          </a:p>
          <a:p>
            <a:r>
              <a:rPr dirty="0"/>
              <a:t>|---|---|</a:t>
            </a:r>
          </a:p>
          <a:p>
            <a:r>
              <a:rPr dirty="0"/>
              <a:t>| PRD | </a:t>
            </a:r>
            <a:r>
              <a:rPr dirty="0" err="1"/>
              <a:t>产品方案是否定义清楚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原型</a:t>
            </a:r>
            <a:r>
              <a:rPr dirty="0"/>
              <a:t> | </a:t>
            </a:r>
            <a:r>
              <a:rPr dirty="0" err="1"/>
              <a:t>用户流程和交互是否合理</a:t>
            </a:r>
            <a:r>
              <a:rPr dirty="0"/>
              <a:t> |</a:t>
            </a:r>
          </a:p>
          <a:p>
            <a:r>
              <a:rPr dirty="0"/>
              <a:t>| Demo | </a:t>
            </a:r>
            <a:r>
              <a:rPr dirty="0" err="1"/>
              <a:t>核心产品假设能否被体验和验证</a:t>
            </a:r>
            <a:r>
              <a:rPr dirty="0"/>
              <a:t> |</a:t>
            </a:r>
          </a:p>
          <a:p>
            <a:endParaRPr dirty="0"/>
          </a:p>
          <a:p>
            <a:r>
              <a:rPr dirty="0" err="1"/>
              <a:t>对应所学：需求分析、AI产品PRD、产品流程、MVP、原型、Vibe</a:t>
            </a:r>
            <a:r>
              <a:rPr dirty="0"/>
              <a:t> </a:t>
            </a:r>
            <a:r>
              <a:rPr dirty="0" err="1"/>
              <a:t>Coding、Demo和验收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核心变化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从“</a:t>
            </a:r>
            <a:r>
              <a:rPr dirty="0" err="1"/>
              <a:t>能不能快速做出Demo</a:t>
            </a:r>
            <a:r>
              <a:rPr dirty="0"/>
              <a:t>”，</a:t>
            </a:r>
            <a:r>
              <a:rPr dirty="0" err="1"/>
              <a:t>变成“这个Demo正在验证什么产品假设</a:t>
            </a:r>
            <a:r>
              <a:rPr dirty="0"/>
              <a:t>”。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能力四：用评测和Bad</a:t>
            </a:r>
            <a:r>
              <a:rPr dirty="0"/>
              <a:t> </a:t>
            </a:r>
            <a:r>
              <a:rPr dirty="0" err="1"/>
              <a:t>Case管理不确定性</a:t>
            </a:r>
            <a:endParaRPr dirty="0"/>
          </a:p>
          <a:p>
            <a:endParaRPr dirty="0"/>
          </a:p>
          <a:p>
            <a:r>
              <a:rPr dirty="0" err="1"/>
              <a:t>AI产品效果需要经过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1. </a:t>
            </a:r>
            <a:r>
              <a:rPr dirty="0" err="1"/>
              <a:t>明确业务任务</a:t>
            </a:r>
            <a:r>
              <a:rPr dirty="0"/>
              <a:t>；</a:t>
            </a:r>
          </a:p>
          <a:p>
            <a:r>
              <a:rPr dirty="0"/>
              <a:t>2. </a:t>
            </a:r>
            <a:r>
              <a:rPr dirty="0" err="1"/>
              <a:t>收集有代表性的输入</a:t>
            </a:r>
            <a:r>
              <a:rPr dirty="0"/>
              <a:t>；</a:t>
            </a:r>
          </a:p>
          <a:p>
            <a:r>
              <a:rPr dirty="0"/>
              <a:t>3. </a:t>
            </a:r>
            <a:r>
              <a:rPr dirty="0" err="1"/>
              <a:t>建立评测集</a:t>
            </a:r>
            <a:r>
              <a:rPr dirty="0"/>
              <a:t>；</a:t>
            </a:r>
          </a:p>
          <a:p>
            <a:r>
              <a:rPr dirty="0"/>
              <a:t>4. </a:t>
            </a:r>
            <a:r>
              <a:rPr dirty="0" err="1"/>
              <a:t>人工标注标准答案</a:t>
            </a:r>
            <a:r>
              <a:rPr dirty="0"/>
              <a:t>；</a:t>
            </a:r>
          </a:p>
          <a:p>
            <a:r>
              <a:rPr dirty="0"/>
              <a:t>5. </a:t>
            </a:r>
            <a:r>
              <a:rPr dirty="0" err="1"/>
              <a:t>定义核心指标</a:t>
            </a:r>
            <a:r>
              <a:rPr dirty="0"/>
              <a:t>；</a:t>
            </a:r>
          </a:p>
          <a:p>
            <a:r>
              <a:rPr dirty="0"/>
              <a:t>6. </a:t>
            </a:r>
            <a:r>
              <a:rPr dirty="0" err="1"/>
              <a:t>测试模型和产品方案</a:t>
            </a:r>
            <a:r>
              <a:rPr dirty="0"/>
              <a:t>；</a:t>
            </a:r>
          </a:p>
          <a:p>
            <a:r>
              <a:rPr dirty="0"/>
              <a:t>7. </a:t>
            </a:r>
            <a:r>
              <a:rPr dirty="0" err="1"/>
              <a:t>分析Bad</a:t>
            </a:r>
            <a:r>
              <a:rPr dirty="0"/>
              <a:t> Case；</a:t>
            </a:r>
          </a:p>
          <a:p>
            <a:r>
              <a:rPr dirty="0"/>
              <a:t>8. </a:t>
            </a:r>
            <a:r>
              <a:rPr dirty="0" err="1"/>
              <a:t>判断问题原因</a:t>
            </a:r>
            <a:r>
              <a:rPr dirty="0"/>
              <a:t>；</a:t>
            </a:r>
          </a:p>
          <a:p>
            <a:r>
              <a:rPr dirty="0"/>
              <a:t>9. </a:t>
            </a:r>
            <a:r>
              <a:rPr dirty="0" err="1"/>
              <a:t>修改数据、Prompt、RAG、Workflow、模型或产品设计</a:t>
            </a:r>
            <a:r>
              <a:rPr dirty="0"/>
              <a:t>；</a:t>
            </a:r>
          </a:p>
          <a:p>
            <a:r>
              <a:rPr dirty="0"/>
              <a:t>10. </a:t>
            </a:r>
            <a:r>
              <a:rPr dirty="0" err="1"/>
              <a:t>回归评测</a:t>
            </a:r>
            <a:r>
              <a:rPr dirty="0"/>
              <a:t>；</a:t>
            </a:r>
          </a:p>
          <a:p>
            <a:r>
              <a:rPr dirty="0"/>
              <a:t>11. </a:t>
            </a:r>
            <a:r>
              <a:rPr dirty="0" err="1"/>
              <a:t>持续收集新问题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指标必须与任务和错误后果对应。例如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RAG关注是否检索到正确来源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审核产品关注高风险问题是否漏判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会议助手关注行动项是否遗漏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Agent关注任务是否正确执行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核心变化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从“</a:t>
            </a:r>
            <a:r>
              <a:rPr dirty="0" err="1"/>
              <a:t>这个模型看起来效果不错</a:t>
            </a:r>
            <a:r>
              <a:rPr dirty="0"/>
              <a:t>”，</a:t>
            </a:r>
            <a:r>
              <a:rPr dirty="0" err="1"/>
              <a:t>变成“在什么数据、指标和风险标准下，它是否达到产品要求</a:t>
            </a:r>
            <a:r>
              <a:rPr dirty="0"/>
              <a:t>”。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能力五：判断产品能否真正落地并产生价值</a:t>
            </a:r>
            <a:endParaRPr dirty="0"/>
          </a:p>
          <a:p>
            <a:endParaRPr dirty="0"/>
          </a:p>
          <a:p>
            <a:r>
              <a:rPr dirty="0" err="1"/>
              <a:t>模型和产品方案需要同时考虑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业务效果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响应速度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Token和推理成本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调用规模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数据安全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国内外模型限制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私有化和云服务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人工复核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系统开发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错误成本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供应商风险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自研、采购还是组合建设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项目ROI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是否应该继续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核心变化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从“</a:t>
            </a:r>
            <a:r>
              <a:rPr dirty="0" err="1"/>
              <a:t>这个AI功能能不能实现</a:t>
            </a:r>
            <a:r>
              <a:rPr dirty="0"/>
              <a:t>”，</a:t>
            </a:r>
            <a:r>
              <a:rPr dirty="0" err="1"/>
              <a:t>变成“它能否在可以接受的效果、风险和成本下长期创造价值</a:t>
            </a:r>
            <a:r>
              <a:rPr dirty="0"/>
              <a:t>”。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四、五项能力是一条因果链</a:t>
            </a:r>
            <a:endParaRPr dirty="0"/>
          </a:p>
          <a:p>
            <a:endParaRPr dirty="0"/>
          </a:p>
          <a:p>
            <a:r>
              <a:rPr dirty="0" err="1"/>
              <a:t>例如，产品目标是减少营销内容中的高风险漏判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问题判断决定优先关注高风险内容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AI方案决定规则、大模型和人工如何分工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PRD需要定义风险等级和处理动作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评测需要关注高风险召回率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模型选型需要优先保证风险识别能力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ROI需要计算人工复核和错误损失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完整链路是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业务问题决定产品目标</a:t>
            </a:r>
            <a:r>
              <a:rPr dirty="0"/>
              <a:t>  </a:t>
            </a:r>
          </a:p>
          <a:p>
            <a:r>
              <a:rPr dirty="0"/>
              <a:t>&gt; </a:t>
            </a:r>
            <a:r>
              <a:rPr dirty="0" err="1"/>
              <a:t>产品目标决定AI方案</a:t>
            </a:r>
            <a:r>
              <a:rPr dirty="0"/>
              <a:t>  </a:t>
            </a:r>
          </a:p>
          <a:p>
            <a:r>
              <a:rPr dirty="0"/>
              <a:t>&gt; </a:t>
            </a:r>
            <a:r>
              <a:rPr dirty="0" err="1"/>
              <a:t>AI方案决定产品流程</a:t>
            </a:r>
            <a:r>
              <a:rPr dirty="0"/>
              <a:t>  </a:t>
            </a:r>
          </a:p>
          <a:p>
            <a:r>
              <a:rPr dirty="0"/>
              <a:t>&gt; </a:t>
            </a:r>
            <a:r>
              <a:rPr dirty="0" err="1"/>
              <a:t>产品流程决定评测方式</a:t>
            </a:r>
            <a:r>
              <a:rPr dirty="0"/>
              <a:t>  </a:t>
            </a:r>
          </a:p>
          <a:p>
            <a:r>
              <a:rPr dirty="0"/>
              <a:t>&gt; </a:t>
            </a:r>
            <a:r>
              <a:rPr dirty="0" err="1"/>
              <a:t>评测结果影响模型和迭代</a:t>
            </a:r>
            <a:r>
              <a:rPr dirty="0"/>
              <a:t>  </a:t>
            </a:r>
          </a:p>
          <a:p>
            <a:r>
              <a:rPr dirty="0"/>
              <a:t>&gt; </a:t>
            </a:r>
            <a:r>
              <a:rPr dirty="0" err="1"/>
              <a:t>成本与价值最终决定是否继续</a:t>
            </a:r>
            <a:endParaRPr dirty="0"/>
          </a:p>
          <a:p>
            <a:endParaRPr dirty="0"/>
          </a:p>
          <a:p>
            <a:r>
              <a:rPr dirty="0" err="1"/>
              <a:t>核心结论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第一阶段建立的不是一组AI知识点，而是一套从问题到价值的产品决策链路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五、第一阶段成果墙</a:t>
            </a:r>
            <a:endParaRPr dirty="0"/>
          </a:p>
          <a:p>
            <a:endParaRPr dirty="0"/>
          </a:p>
          <a:p>
            <a:r>
              <a:rPr dirty="0"/>
              <a:t>| </a:t>
            </a:r>
            <a:r>
              <a:rPr dirty="0" err="1"/>
              <a:t>第一阶段成果</a:t>
            </a:r>
            <a:r>
              <a:rPr dirty="0"/>
              <a:t> | </a:t>
            </a:r>
            <a:r>
              <a:rPr dirty="0" err="1"/>
              <a:t>它证明了什么</a:t>
            </a:r>
            <a:r>
              <a:rPr dirty="0"/>
              <a:t> |</a:t>
            </a:r>
          </a:p>
          <a:p>
            <a:r>
              <a:rPr dirty="0"/>
              <a:t>|---|---|</a:t>
            </a:r>
          </a:p>
          <a:p>
            <a:r>
              <a:rPr dirty="0"/>
              <a:t>| </a:t>
            </a:r>
            <a:r>
              <a:rPr dirty="0" err="1"/>
              <a:t>Prompt产品化练习</a:t>
            </a:r>
            <a:r>
              <a:rPr dirty="0"/>
              <a:t> | </a:t>
            </a:r>
            <a:r>
              <a:rPr dirty="0" err="1"/>
              <a:t>能定义AI任务、上下文、约束和输出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Workflow流程</a:t>
            </a:r>
            <a:r>
              <a:rPr dirty="0"/>
              <a:t> | </a:t>
            </a:r>
            <a:r>
              <a:rPr dirty="0" err="1"/>
              <a:t>能把复杂任务拆成稳定步骤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RAG知识库方案</a:t>
            </a:r>
            <a:r>
              <a:rPr dirty="0"/>
              <a:t> | </a:t>
            </a:r>
            <a:r>
              <a:rPr dirty="0" err="1"/>
              <a:t>理解外部知识如何进入AI产品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Agent工具调用方案</a:t>
            </a:r>
            <a:r>
              <a:rPr dirty="0"/>
              <a:t> | </a:t>
            </a:r>
            <a:r>
              <a:rPr dirty="0" err="1"/>
              <a:t>理解受控执行、权限和人工确认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Coze综合实践</a:t>
            </a:r>
            <a:r>
              <a:rPr dirty="0"/>
              <a:t> | </a:t>
            </a:r>
            <a:r>
              <a:rPr dirty="0" err="1"/>
              <a:t>能把多种AI能力组成可运行流程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需求分析和PRD</a:t>
            </a:r>
            <a:r>
              <a:rPr dirty="0"/>
              <a:t> | </a:t>
            </a:r>
            <a:r>
              <a:rPr dirty="0" err="1"/>
              <a:t>能把业务问题转化成产品方案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原型和Demo</a:t>
            </a:r>
            <a:r>
              <a:rPr dirty="0"/>
              <a:t> | </a:t>
            </a:r>
            <a:r>
              <a:rPr dirty="0" err="1"/>
              <a:t>能让产品假设被体验和验证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评测集和Bad</a:t>
            </a:r>
            <a:r>
              <a:rPr dirty="0"/>
              <a:t> Case | </a:t>
            </a:r>
            <a:r>
              <a:rPr dirty="0" err="1"/>
              <a:t>能定义效果并推动迭代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智能审核完整PRD</a:t>
            </a:r>
            <a:r>
              <a:rPr dirty="0"/>
              <a:t> | </a:t>
            </a:r>
            <a:r>
              <a:rPr dirty="0" err="1"/>
              <a:t>理解专业AI产品PRD的完整结构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模型、成本和ROI分析</a:t>
            </a:r>
            <a:r>
              <a:rPr dirty="0"/>
              <a:t> | </a:t>
            </a:r>
            <a:r>
              <a:rPr dirty="0" err="1"/>
              <a:t>能判断产品是否具备落地价值</a:t>
            </a:r>
            <a:r>
              <a:rPr dirty="0"/>
              <a:t> |</a:t>
            </a:r>
          </a:p>
          <a:p>
            <a:endParaRPr dirty="0"/>
          </a:p>
          <a:p>
            <a:r>
              <a:rPr dirty="0" err="1"/>
              <a:t>需要准确表述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第一阶段已经让大家接触并实践了完整项目中的主要能力模块，但这些模块还没有集中在一个个人项目中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六、第一阶段还没有完成什么</a:t>
            </a:r>
            <a:endParaRPr dirty="0"/>
          </a:p>
          <a:p>
            <a:endParaRPr dirty="0"/>
          </a:p>
          <a:p>
            <a:r>
              <a:rPr dirty="0" err="1"/>
              <a:t>对大多数学员来说，目前还缺少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一个自己选择并持续推进的统一项目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前后口径一致的需求、PRD和Demo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真实或可解释的用户问题证据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自己建立并运行的评测集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真实Bad</a:t>
            </a:r>
            <a:r>
              <a:rPr dirty="0"/>
              <a:t> Case；</a:t>
            </a:r>
          </a:p>
          <a:p>
            <a:r>
              <a:rPr dirty="0"/>
              <a:t>- </a:t>
            </a:r>
            <a:r>
              <a:rPr dirty="0" err="1"/>
              <a:t>根据测试结果进行的迭代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模型、成本和ROI的统一判断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能够接受面试追问的个人项目过程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本部分最终总结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| </a:t>
            </a:r>
            <a:r>
              <a:rPr dirty="0" err="1"/>
              <a:t>学习前</a:t>
            </a:r>
            <a:r>
              <a:rPr dirty="0"/>
              <a:t> | </a:t>
            </a:r>
            <a:r>
              <a:rPr dirty="0" err="1"/>
              <a:t>第一阶段以后</a:t>
            </a:r>
            <a:r>
              <a:rPr dirty="0"/>
              <a:t> |</a:t>
            </a:r>
          </a:p>
          <a:p>
            <a:r>
              <a:rPr dirty="0"/>
              <a:t>|---|---|</a:t>
            </a:r>
          </a:p>
          <a:p>
            <a:r>
              <a:rPr dirty="0"/>
              <a:t>| </a:t>
            </a:r>
            <a:r>
              <a:rPr dirty="0" err="1"/>
              <a:t>从工具开始</a:t>
            </a:r>
            <a:r>
              <a:rPr dirty="0"/>
              <a:t> | </a:t>
            </a:r>
            <a:r>
              <a:rPr dirty="0" err="1"/>
              <a:t>从问题开始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追求生成效果</a:t>
            </a:r>
            <a:r>
              <a:rPr dirty="0"/>
              <a:t> | </a:t>
            </a:r>
            <a:r>
              <a:rPr dirty="0" err="1"/>
              <a:t>设计完整产品系统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凭感觉判断</a:t>
            </a:r>
            <a:r>
              <a:rPr dirty="0"/>
              <a:t> | </a:t>
            </a:r>
            <a:r>
              <a:rPr dirty="0" err="1"/>
              <a:t>用评测和Bad</a:t>
            </a:r>
            <a:r>
              <a:rPr dirty="0"/>
              <a:t> </a:t>
            </a:r>
            <a:r>
              <a:rPr dirty="0" err="1"/>
              <a:t>Case验证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关注能不能做</a:t>
            </a:r>
            <a:r>
              <a:rPr dirty="0"/>
              <a:t> | </a:t>
            </a:r>
            <a:r>
              <a:rPr dirty="0" err="1"/>
              <a:t>判断值不值得做</a:t>
            </a:r>
            <a:r>
              <a:rPr dirty="0"/>
              <a:t> |</a:t>
            </a:r>
          </a:p>
          <a:p>
            <a:endParaRPr dirty="0"/>
          </a:p>
          <a:p>
            <a:r>
              <a:rPr dirty="0" err="1"/>
              <a:t>过渡语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如果模型还会继续变强，Prompt、代码、设计和内容生产的门槛继续下降，那么AI产品真正的价值会转移到哪里？模型公司会不会吃掉大量AI应用？未来的软件还需不需要页面和按钮？接下来，我们把视角再抬高一层。</a:t>
            </a:r>
          </a:p>
          <a:p>
            <a:endParaRPr dirty="0"/>
          </a:p>
          <a:p>
            <a:r>
              <a:rPr dirty="0"/>
              <a:t>---</a:t>
            </a:r>
          </a:p>
          <a:p>
            <a:endParaRPr dirty="0"/>
          </a:p>
          <a:p>
            <a:r>
              <a:rPr dirty="0"/>
              <a:t>[</a:t>
            </a:r>
            <a:r>
              <a:rPr dirty="0" err="1"/>
              <a:t>讲义来源</a:t>
            </a:r>
            <a:r>
              <a:rPr dirty="0"/>
              <a:t>]</a:t>
            </a:r>
          </a:p>
          <a:p>
            <a:r>
              <a:rPr dirty="0"/>
              <a:t>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/第12课_第一阶段能力验收与职业行动_重做工作区/第12课_第一阶段总结_AI产品趋势与项目实战_完整讲义_v0.2.md</a:t>
            </a:r>
          </a:p>
          <a:p>
            <a:r>
              <a:rPr dirty="0" err="1"/>
              <a:t>第一部分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变化不只是会用AI，而是开始对完整产品决策负责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讲义中的相关部分：第一阶段，我们到底学会了什么</a:t>
            </a:r>
            <a:endParaRPr dirty="0"/>
          </a:p>
          <a:p>
            <a:endParaRPr dirty="0"/>
          </a:p>
          <a:p>
            <a:r>
              <a:rPr dirty="0"/>
              <a:t>[</a:t>
            </a:r>
            <a:r>
              <a:rPr dirty="0" err="1"/>
              <a:t>讲义来源</a:t>
            </a:r>
            <a:r>
              <a:rPr dirty="0"/>
              <a:t>]</a:t>
            </a:r>
          </a:p>
          <a:p>
            <a:r>
              <a:rPr dirty="0"/>
              <a:t>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/第12课_第一阶段能力验收与职业行动_重做工作区/第12课_第一阶段总结_AI产品趋势与项目实战_完整讲义_v0.2.md</a:t>
            </a:r>
          </a:p>
          <a:p>
            <a:r>
              <a:rPr dirty="0" err="1"/>
              <a:t>第一阶段，我们到底学会了什么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能从问题走到价值，才是完整的AI产品能力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讲义中的相关部分：第一阶段，我们到底学会了什么</a:t>
            </a:r>
            <a:endParaRPr dirty="0"/>
          </a:p>
          <a:p>
            <a:endParaRPr dirty="0"/>
          </a:p>
          <a:p>
            <a:r>
              <a:rPr dirty="0"/>
              <a:t>[</a:t>
            </a:r>
            <a:r>
              <a:rPr dirty="0" err="1"/>
              <a:t>讲义来源</a:t>
            </a:r>
            <a:r>
              <a:rPr dirty="0"/>
              <a:t>]</a:t>
            </a:r>
          </a:p>
          <a:p>
            <a:r>
              <a:rPr dirty="0"/>
              <a:t>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/第12课_第一阶段能力验收与职业行动_重做工作区/第12课_第一阶段总结_AI产品趋势与项目实战_完整讲义_v0.2.md</a:t>
            </a:r>
          </a:p>
          <a:p>
            <a:r>
              <a:rPr dirty="0" err="1"/>
              <a:t>第一阶段，我们到底学会了什么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方案质量取决于问题定义和人机边界，而不是模型名称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讲义中的相关部分：问题判断</a:t>
            </a:r>
            <a:endParaRPr dirty="0"/>
          </a:p>
          <a:p>
            <a:endParaRPr dirty="0"/>
          </a:p>
          <a:p>
            <a:r>
              <a:rPr dirty="0" err="1"/>
              <a:t>讲义中的相关部分：AI方案</a:t>
            </a:r>
            <a:endParaRPr dirty="0"/>
          </a:p>
          <a:p>
            <a:endParaRPr dirty="0"/>
          </a:p>
          <a:p>
            <a:r>
              <a:rPr dirty="0"/>
              <a:t>[</a:t>
            </a:r>
            <a:r>
              <a:rPr dirty="0" err="1"/>
              <a:t>讲义来源</a:t>
            </a:r>
            <a:r>
              <a:rPr dirty="0"/>
              <a:t>]</a:t>
            </a:r>
          </a:p>
          <a:p>
            <a:r>
              <a:rPr dirty="0"/>
              <a:t>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/第12课_第一阶段能力验收与职业行动_重做工作区/第12课_第一阶段总结_AI产品趋势与项目实战_完整讲义_v0.2.md</a:t>
            </a:r>
          </a:p>
          <a:p>
            <a:r>
              <a:rPr dirty="0" err="1"/>
              <a:t>问题判断；AI方案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PRD定义决策，原型呈现交互，Demo验证真实运行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AI可以快速生成PRD结构、功能描述、用户故事、验收标准和异常场景。这意味着“写出一份看起来完整的PRD”不再稀缺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真正重要的是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需求来源是否可信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前后逻辑是否一致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AI输入输出是否清楚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人机边界是否合理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异常和风险是否真实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验收标准能否执行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文档能否支持团队协作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结论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AI时代，PRD的价值从“</a:t>
            </a:r>
            <a:r>
              <a:rPr dirty="0" err="1"/>
              <a:t>证明会写文档</a:t>
            </a:r>
            <a:r>
              <a:rPr dirty="0"/>
              <a:t>”，</a:t>
            </a:r>
            <a:r>
              <a:rPr dirty="0" err="1"/>
              <a:t>转向“证明完成了严谨的产品决策</a:t>
            </a:r>
            <a:r>
              <a:rPr dirty="0"/>
              <a:t>”。</a:t>
            </a:r>
          </a:p>
          <a:p>
            <a:endParaRPr dirty="0"/>
          </a:p>
          <a:p>
            <a:r>
              <a:rPr dirty="0" err="1"/>
              <a:t>完成PRD、产品流程、页面、输入输出、异常、确认和验收标准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形成问答、来源、无答案、权限和反馈等可运行状态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[</a:t>
            </a:r>
            <a:r>
              <a:rPr dirty="0" err="1"/>
              <a:t>讲义来源</a:t>
            </a:r>
            <a:r>
              <a:rPr dirty="0"/>
              <a:t>]</a:t>
            </a:r>
          </a:p>
          <a:p>
            <a:r>
              <a:rPr dirty="0"/>
              <a:t>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/第12课_第一阶段能力验收与职业行动_重做工作区/第12课_第一阶段总结_AI产品趋势与项目实战_完整讲义_v0.2.md</a:t>
            </a:r>
          </a:p>
          <a:p>
            <a:r>
              <a:rPr dirty="0" err="1"/>
              <a:t>PRD；原型；Demo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评测集让改进有依据，Bad</a:t>
            </a:r>
            <a:r>
              <a:rPr dirty="0"/>
              <a:t> </a:t>
            </a:r>
            <a:r>
              <a:rPr dirty="0" err="1"/>
              <a:t>Case让问题能够被归因和回归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讲义中的相关部分：评测集</a:t>
            </a:r>
            <a:endParaRPr dirty="0"/>
          </a:p>
          <a:p>
            <a:endParaRPr dirty="0"/>
          </a:p>
          <a:p>
            <a:r>
              <a:rPr dirty="0" err="1"/>
              <a:t>AI产品效果需要经过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1. </a:t>
            </a:r>
            <a:r>
              <a:rPr dirty="0" err="1"/>
              <a:t>明确业务任务</a:t>
            </a:r>
            <a:r>
              <a:rPr dirty="0"/>
              <a:t>；</a:t>
            </a:r>
          </a:p>
          <a:p>
            <a:r>
              <a:rPr dirty="0"/>
              <a:t>2. </a:t>
            </a:r>
            <a:r>
              <a:rPr dirty="0" err="1"/>
              <a:t>收集有代表性的输入</a:t>
            </a:r>
            <a:r>
              <a:rPr dirty="0"/>
              <a:t>；</a:t>
            </a:r>
          </a:p>
          <a:p>
            <a:r>
              <a:rPr dirty="0"/>
              <a:t>3. </a:t>
            </a:r>
            <a:r>
              <a:rPr dirty="0" err="1"/>
              <a:t>建立评测集</a:t>
            </a:r>
            <a:r>
              <a:rPr dirty="0"/>
              <a:t>；</a:t>
            </a:r>
          </a:p>
          <a:p>
            <a:r>
              <a:rPr dirty="0"/>
              <a:t>4. </a:t>
            </a:r>
            <a:r>
              <a:rPr dirty="0" err="1"/>
              <a:t>人工标注标准答案</a:t>
            </a:r>
            <a:r>
              <a:rPr dirty="0"/>
              <a:t>；</a:t>
            </a:r>
          </a:p>
          <a:p>
            <a:r>
              <a:rPr dirty="0"/>
              <a:t>5. </a:t>
            </a:r>
            <a:r>
              <a:rPr dirty="0" err="1"/>
              <a:t>定义核心指标</a:t>
            </a:r>
            <a:r>
              <a:rPr dirty="0"/>
              <a:t>；</a:t>
            </a:r>
          </a:p>
          <a:p>
            <a:r>
              <a:rPr dirty="0"/>
              <a:t>6. </a:t>
            </a:r>
            <a:r>
              <a:rPr dirty="0" err="1"/>
              <a:t>测试模型和产品方案</a:t>
            </a:r>
            <a:r>
              <a:rPr dirty="0"/>
              <a:t>；</a:t>
            </a:r>
          </a:p>
          <a:p>
            <a:r>
              <a:rPr dirty="0"/>
              <a:t>7. </a:t>
            </a:r>
            <a:r>
              <a:rPr dirty="0" err="1"/>
              <a:t>分析Bad</a:t>
            </a:r>
            <a:r>
              <a:rPr dirty="0"/>
              <a:t> Case；</a:t>
            </a:r>
          </a:p>
          <a:p>
            <a:r>
              <a:rPr dirty="0"/>
              <a:t>8. </a:t>
            </a:r>
            <a:r>
              <a:rPr dirty="0" err="1"/>
              <a:t>判断问题原因</a:t>
            </a:r>
            <a:r>
              <a:rPr dirty="0"/>
              <a:t>；</a:t>
            </a:r>
          </a:p>
          <a:p>
            <a:r>
              <a:rPr dirty="0"/>
              <a:t>9. </a:t>
            </a:r>
            <a:r>
              <a:rPr dirty="0" err="1"/>
              <a:t>修改数据、Prompt、RAG、Workflow、模型或产品设计</a:t>
            </a:r>
            <a:r>
              <a:rPr dirty="0"/>
              <a:t>；</a:t>
            </a:r>
          </a:p>
          <a:p>
            <a:r>
              <a:rPr dirty="0"/>
              <a:t>10. </a:t>
            </a:r>
            <a:r>
              <a:rPr dirty="0" err="1"/>
              <a:t>回归评测</a:t>
            </a:r>
            <a:r>
              <a:rPr dirty="0"/>
              <a:t>；</a:t>
            </a:r>
          </a:p>
          <a:p>
            <a:r>
              <a:rPr dirty="0"/>
              <a:t>11. </a:t>
            </a:r>
            <a:r>
              <a:rPr dirty="0" err="1"/>
              <a:t>持续收集新问题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指标必须与任务和错误后果对应。例如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RAG关注是否检索到正确来源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审核产品关注高风险问题是否漏判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会议助手关注行动项是否遗漏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Agent关注任务是否正确执行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核心变化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从“</a:t>
            </a:r>
            <a:r>
              <a:rPr dirty="0" err="1"/>
              <a:t>这个模型看起来效果不错</a:t>
            </a:r>
            <a:r>
              <a:rPr dirty="0"/>
              <a:t>”，</a:t>
            </a:r>
            <a:r>
              <a:rPr dirty="0" err="1"/>
              <a:t>变成“在什么数据、指标和风险标准下，它是否达到产品要求</a:t>
            </a:r>
            <a:r>
              <a:rPr dirty="0"/>
              <a:t>”。</a:t>
            </a:r>
          </a:p>
          <a:p>
            <a:endParaRPr dirty="0"/>
          </a:p>
          <a:p>
            <a:r>
              <a:rPr dirty="0"/>
              <a:t>[</a:t>
            </a:r>
            <a:r>
              <a:rPr dirty="0" err="1"/>
              <a:t>讲义来源</a:t>
            </a:r>
            <a:r>
              <a:rPr dirty="0"/>
              <a:t>]</a:t>
            </a:r>
          </a:p>
          <a:p>
            <a:r>
              <a:rPr dirty="0"/>
              <a:t>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/第12课_第一阶段能力验收与职业行动_重做工作区/第12课_第一阶段总结_AI产品趋势与项目实战_完整讲义_v0.2.md</a:t>
            </a:r>
          </a:p>
          <a:p>
            <a:r>
              <a:rPr dirty="0" err="1"/>
              <a:t>评测集；Bad</a:t>
            </a:r>
            <a:r>
              <a:rPr dirty="0"/>
              <a:t> Case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最强的模型未必是最合适的模型，最便宜也未必创造价值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讲义中的相关部分：模型选型</a:t>
            </a:r>
            <a:endParaRPr dirty="0"/>
          </a:p>
          <a:p>
            <a:endParaRPr dirty="0"/>
          </a:p>
          <a:p>
            <a:r>
              <a:rPr dirty="0" err="1"/>
              <a:t>完成方案修改、回归评测、模型选择、使用成本、ROI和项目局限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讲义中的相关部分：ROI</a:t>
            </a:r>
            <a:endParaRPr dirty="0"/>
          </a:p>
          <a:p>
            <a:endParaRPr dirty="0"/>
          </a:p>
          <a:p>
            <a:r>
              <a:rPr dirty="0"/>
              <a:t>[</a:t>
            </a:r>
            <a:r>
              <a:rPr dirty="0" err="1"/>
              <a:t>讲义来源</a:t>
            </a:r>
            <a:r>
              <a:rPr dirty="0"/>
              <a:t>]</a:t>
            </a:r>
          </a:p>
          <a:p>
            <a:r>
              <a:rPr dirty="0"/>
              <a:t>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/第12课_第一阶段能力验收与职业行动_重做工作区/第12课_第一阶段总结_AI产品趋势与项目实战_完整讲义_v0.2.md</a:t>
            </a:r>
          </a:p>
          <a:p>
            <a:r>
              <a:rPr dirty="0" err="1"/>
              <a:t>模型选型；成本；ROI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这些不是十份作业，而是一个AI产品项目可能需要的十类证据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&gt; 建议时长：30分钟</a:t>
            </a:r>
          </a:p>
          <a:p>
            <a:endParaRPr dirty="0"/>
          </a:p>
          <a:p>
            <a:r>
              <a:rPr dirty="0"/>
              <a:t>这一部分不按照第1课、第2课重新复述，而是帮助学员回答：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经过第一阶段以后，我看待和设计AI产品的方式，究竟发生了什么变化</a:t>
            </a:r>
            <a:r>
              <a:rPr dirty="0"/>
              <a:t>？</a:t>
            </a:r>
          </a:p>
          <a:p>
            <a:endParaRPr dirty="0"/>
          </a:p>
          <a:p>
            <a:r>
              <a:rPr dirty="0" err="1"/>
              <a:t>这一部分要形成两个结果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1. </a:t>
            </a:r>
            <a:r>
              <a:rPr dirty="0" err="1"/>
              <a:t>让学员意识到前面的内容不是零散知识，而是一条完整的AI产品工作链路</a:t>
            </a:r>
            <a:r>
              <a:rPr dirty="0"/>
              <a:t>；</a:t>
            </a:r>
          </a:p>
          <a:p>
            <a:r>
              <a:rPr dirty="0"/>
              <a:t>2. </a:t>
            </a:r>
            <a:r>
              <a:rPr dirty="0" err="1"/>
              <a:t>诚实说明第一阶段已经完成什么、还没有完成什么，为后面的趋势讨论和项目班做好衔接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一、最后一课为什么不继续讲新工具</a:t>
            </a:r>
            <a:endParaRPr dirty="0"/>
          </a:p>
          <a:p>
            <a:endParaRPr dirty="0"/>
          </a:p>
          <a:p>
            <a:r>
              <a:rPr dirty="0" err="1"/>
              <a:t>教师可以这样开场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今天是第一阶段的最后一课</a:t>
            </a:r>
            <a:r>
              <a:rPr dirty="0"/>
              <a:t>。  </a:t>
            </a:r>
          </a:p>
          <a:p>
            <a:r>
              <a:rPr dirty="0"/>
              <a:t>&gt; 这一阶段，我们已经学习了大模型、Prompt、Workflow、RAG、Agent、需求分析、PRD、原型、Demo、评测、Bad </a:t>
            </a:r>
            <a:r>
              <a:rPr dirty="0" err="1"/>
              <a:t>Case、模型选型、成本和ROI</a:t>
            </a:r>
            <a:r>
              <a:rPr dirty="0"/>
              <a:t>。  </a:t>
            </a:r>
          </a:p>
          <a:p>
            <a:r>
              <a:rPr dirty="0"/>
              <a:t>&gt; </a:t>
            </a:r>
            <a:r>
              <a:rPr dirty="0" err="1"/>
              <a:t>今天不会再塞给大家一组新的工具和名词。我们先回头看看：这些内容连接起来以后，我们现在到底具备了什么能力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先让学员选择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如果只允许用一句话总结第一阶段，你觉得自己最大的变化是什么</a:t>
            </a:r>
            <a:r>
              <a:rPr dirty="0"/>
              <a:t>？</a:t>
            </a:r>
          </a:p>
          <a:p>
            <a:endParaRPr dirty="0"/>
          </a:p>
          <a:p>
            <a:r>
              <a:rPr dirty="0"/>
              <a:t>- A. </a:t>
            </a:r>
            <a:r>
              <a:rPr dirty="0" err="1"/>
              <a:t>会使用更多AI工具了</a:t>
            </a:r>
            <a:r>
              <a:rPr dirty="0"/>
              <a:t>；</a:t>
            </a:r>
          </a:p>
          <a:p>
            <a:r>
              <a:rPr dirty="0"/>
              <a:t>- B. </a:t>
            </a:r>
            <a:r>
              <a:rPr dirty="0" err="1"/>
              <a:t>理解了更多AI技术概念</a:t>
            </a:r>
            <a:r>
              <a:rPr dirty="0"/>
              <a:t>；</a:t>
            </a:r>
          </a:p>
          <a:p>
            <a:r>
              <a:rPr dirty="0"/>
              <a:t>- C. </a:t>
            </a:r>
            <a:r>
              <a:rPr dirty="0" err="1"/>
              <a:t>开始能够完整判断一个AI产品应该怎么做</a:t>
            </a:r>
            <a:r>
              <a:rPr dirty="0"/>
              <a:t>；</a:t>
            </a:r>
          </a:p>
          <a:p>
            <a:r>
              <a:rPr dirty="0"/>
              <a:t>- D. </a:t>
            </a:r>
            <a:r>
              <a:rPr dirty="0" err="1"/>
              <a:t>已经可以独立负责一个完整AI产品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可以分别请一名选择B、一名选择C或D的学员，用30秒说明原因。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对不同选择的回应</a:t>
            </a:r>
            <a:endParaRPr dirty="0"/>
          </a:p>
          <a:p>
            <a:endParaRPr dirty="0"/>
          </a:p>
          <a:p>
            <a:r>
              <a:rPr dirty="0" err="1"/>
              <a:t>如果选择A，可以回应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会使用更多工具当然是学习结果的一部分。但如果第一阶段只留下“我会用更多工具”，课程价值是不够的。工具会不断更新，真正应该留下来的，是即使工具变化，我们仍然知道怎样判断问题和设计产品。</a:t>
            </a:r>
          </a:p>
          <a:p>
            <a:endParaRPr dirty="0"/>
          </a:p>
          <a:p>
            <a:r>
              <a:rPr dirty="0" err="1"/>
              <a:t>如果选择B，可以回应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理解技术概念也很重要。至少业务方说RAG、Agent、Workflow或者模型选型时，我们不会把它们混在一起。但产品经理最终需要回答的不是“RAG是什么”，而是“这个产品为什么需要RAG，不使用会发生什么”。</a:t>
            </a:r>
          </a:p>
          <a:p>
            <a:endParaRPr dirty="0"/>
          </a:p>
          <a:p>
            <a:r>
              <a:rPr dirty="0" err="1"/>
              <a:t>如果选择C，可以回应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这正是第一阶段真正希望形成的变化。面对一个新的AI需求，我们开始知道应该问哪些问题、做哪些判断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如果选择D，可以回应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有真实业务和项目经验的同学，可能已经能够开始承担完整项目。但对大多数学员来说，目前更准确的状态是：理解了完整工作链路，也具备局部实践经验，还需要通过一个统一项目把这些能力连接起来。</a:t>
            </a:r>
          </a:p>
          <a:p>
            <a:endParaRPr dirty="0"/>
          </a:p>
          <a:p>
            <a:r>
              <a:rPr dirty="0" err="1"/>
              <a:t>本段收束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第一阶段最重要的变化，不是记住了更多AI名词，而是从“</a:t>
            </a:r>
            <a:r>
              <a:rPr dirty="0" err="1"/>
              <a:t>使用AI工具</a:t>
            </a:r>
            <a:r>
              <a:rPr dirty="0"/>
              <a:t>”，</a:t>
            </a:r>
            <a:r>
              <a:rPr dirty="0" err="1"/>
              <a:t>走向“开始具备AI产品判断</a:t>
            </a:r>
            <a:r>
              <a:rPr dirty="0"/>
              <a:t>”。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二、学习前后的思维差异</a:t>
            </a:r>
            <a:endParaRPr dirty="0"/>
          </a:p>
          <a:p>
            <a:endParaRPr dirty="0"/>
          </a:p>
          <a:p>
            <a:r>
              <a:rPr dirty="0" err="1"/>
              <a:t>给出一个情境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老板说</a:t>
            </a:r>
            <a:r>
              <a:rPr dirty="0"/>
              <a:t>：“</a:t>
            </a:r>
            <a:r>
              <a:rPr dirty="0" err="1"/>
              <a:t>竞品都在做Agent，我们也做一个吧</a:t>
            </a:r>
            <a:r>
              <a:rPr dirty="0"/>
              <a:t>。”</a:t>
            </a:r>
          </a:p>
          <a:p>
            <a:endParaRPr dirty="0"/>
          </a:p>
          <a:p>
            <a:r>
              <a:rPr dirty="0" err="1"/>
              <a:t>学习第一阶段以前，可能会这样反应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Agent现在很热门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先看看用哪个平台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找一个类似案例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让AI生成方案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搭一个Demo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看起来能运行就开始立项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学完第一阶段以后，应该先问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1. </a:t>
            </a:r>
            <a:r>
              <a:rPr dirty="0" err="1"/>
              <a:t>谁遇到了什么问题</a:t>
            </a:r>
            <a:r>
              <a:rPr dirty="0"/>
              <a:t>？</a:t>
            </a:r>
          </a:p>
          <a:p>
            <a:r>
              <a:rPr dirty="0"/>
              <a:t>2. </a:t>
            </a:r>
            <a:r>
              <a:rPr dirty="0" err="1"/>
              <a:t>这个问题现在怎样解决</a:t>
            </a:r>
            <a:r>
              <a:rPr dirty="0"/>
              <a:t>？</a:t>
            </a:r>
          </a:p>
          <a:p>
            <a:r>
              <a:rPr dirty="0"/>
              <a:t>3. </a:t>
            </a:r>
            <a:r>
              <a:rPr dirty="0" err="1"/>
              <a:t>问题发生频率有多高</a:t>
            </a:r>
            <a:r>
              <a:rPr dirty="0"/>
              <a:t>？</a:t>
            </a:r>
          </a:p>
          <a:p>
            <a:r>
              <a:rPr dirty="0"/>
              <a:t>4. </a:t>
            </a:r>
            <a:r>
              <a:rPr dirty="0" err="1"/>
              <a:t>不解决会产生什么影响</a:t>
            </a:r>
            <a:r>
              <a:rPr dirty="0"/>
              <a:t>？</a:t>
            </a:r>
          </a:p>
          <a:p>
            <a:r>
              <a:rPr dirty="0"/>
              <a:t>5. </a:t>
            </a:r>
            <a:r>
              <a:rPr dirty="0" err="1"/>
              <a:t>为什么需要AI</a:t>
            </a:r>
            <a:r>
              <a:rPr dirty="0"/>
              <a:t>？</a:t>
            </a:r>
          </a:p>
          <a:p>
            <a:r>
              <a:rPr dirty="0"/>
              <a:t>6. </a:t>
            </a:r>
            <a:r>
              <a:rPr dirty="0" err="1"/>
              <a:t>固定Workflow能不能解决</a:t>
            </a:r>
            <a:r>
              <a:rPr dirty="0"/>
              <a:t>？</a:t>
            </a:r>
          </a:p>
          <a:p>
            <a:r>
              <a:rPr dirty="0"/>
              <a:t>7. </a:t>
            </a:r>
            <a:r>
              <a:rPr dirty="0" err="1"/>
              <a:t>为什么一定需要Agent</a:t>
            </a:r>
            <a:r>
              <a:rPr dirty="0"/>
              <a:t>？</a:t>
            </a:r>
          </a:p>
          <a:p>
            <a:r>
              <a:rPr dirty="0"/>
              <a:t>8. </a:t>
            </a:r>
            <a:r>
              <a:rPr dirty="0" err="1"/>
              <a:t>Agent需要调用什么工具</a:t>
            </a:r>
            <a:r>
              <a:rPr dirty="0"/>
              <a:t>？</a:t>
            </a:r>
          </a:p>
          <a:p>
            <a:r>
              <a:rPr dirty="0"/>
              <a:t>9. </a:t>
            </a:r>
            <a:r>
              <a:rPr dirty="0" err="1"/>
              <a:t>哪些动作必须人工确认</a:t>
            </a:r>
            <a:r>
              <a:rPr dirty="0"/>
              <a:t>？</a:t>
            </a:r>
          </a:p>
          <a:p>
            <a:r>
              <a:rPr dirty="0"/>
              <a:t>10. </a:t>
            </a:r>
            <a:r>
              <a:rPr dirty="0" err="1"/>
              <a:t>如果Agent执行错误，能否发现和撤销</a:t>
            </a:r>
            <a:r>
              <a:rPr dirty="0"/>
              <a:t>？</a:t>
            </a:r>
          </a:p>
          <a:p>
            <a:r>
              <a:rPr dirty="0"/>
              <a:t>11. </a:t>
            </a:r>
            <a:r>
              <a:rPr dirty="0" err="1"/>
              <a:t>怎样建立评测集</a:t>
            </a:r>
            <a:r>
              <a:rPr dirty="0"/>
              <a:t>？</a:t>
            </a:r>
          </a:p>
          <a:p>
            <a:r>
              <a:rPr dirty="0"/>
              <a:t>12. </a:t>
            </a:r>
            <a:r>
              <a:rPr dirty="0" err="1"/>
              <a:t>模型、安全和部署有什么限制</a:t>
            </a:r>
            <a:r>
              <a:rPr dirty="0"/>
              <a:t>？</a:t>
            </a:r>
          </a:p>
          <a:p>
            <a:r>
              <a:rPr dirty="0"/>
              <a:t>13. </a:t>
            </a:r>
            <a:r>
              <a:rPr dirty="0" err="1"/>
              <a:t>单次和规模化成本是多少</a:t>
            </a:r>
            <a:r>
              <a:rPr dirty="0"/>
              <a:t>？</a:t>
            </a:r>
          </a:p>
          <a:p>
            <a:r>
              <a:rPr dirty="0"/>
              <a:t>14. </a:t>
            </a:r>
            <a:r>
              <a:rPr dirty="0" err="1"/>
              <a:t>项目是否真的值得做</a:t>
            </a:r>
            <a:r>
              <a:rPr dirty="0"/>
              <a:t>？</a:t>
            </a:r>
          </a:p>
          <a:p>
            <a:endParaRPr dirty="0"/>
          </a:p>
          <a:p>
            <a:r>
              <a:rPr dirty="0" err="1"/>
              <a:t>然后问学员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这两种反应之间最大的区别是什么</a:t>
            </a:r>
            <a:r>
              <a:rPr dirty="0"/>
              <a:t>？</a:t>
            </a:r>
          </a:p>
          <a:p>
            <a:endParaRPr dirty="0"/>
          </a:p>
          <a:p>
            <a:r>
              <a:rPr dirty="0" err="1"/>
              <a:t>教师收回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第一种反应是在寻找工具和功能，第二种反应是在完成产品决策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三、第一阶段形成的五项能力</a:t>
            </a:r>
            <a:endParaRPr dirty="0"/>
          </a:p>
          <a:p>
            <a:endParaRPr dirty="0"/>
          </a:p>
          <a:p>
            <a:r>
              <a:rPr dirty="0" err="1"/>
              <a:t>用一条完整链路回顾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**</a:t>
            </a:r>
            <a:r>
              <a:rPr dirty="0" err="1"/>
              <a:t>问题判断</a:t>
            </a:r>
            <a:r>
              <a:rPr dirty="0"/>
              <a:t> → </a:t>
            </a:r>
            <a:r>
              <a:rPr dirty="0" err="1"/>
              <a:t>AI方案</a:t>
            </a:r>
            <a:r>
              <a:rPr dirty="0"/>
              <a:t> → </a:t>
            </a:r>
            <a:r>
              <a:rPr dirty="0" err="1"/>
              <a:t>产品定义</a:t>
            </a:r>
            <a:r>
              <a:rPr dirty="0"/>
              <a:t> → </a:t>
            </a:r>
            <a:r>
              <a:rPr dirty="0" err="1"/>
              <a:t>效果验证</a:t>
            </a:r>
            <a:r>
              <a:rPr dirty="0"/>
              <a:t> → </a:t>
            </a:r>
            <a:r>
              <a:rPr dirty="0" err="1"/>
              <a:t>商业价值</a:t>
            </a:r>
            <a:r>
              <a:rPr dirty="0"/>
              <a:t>**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能力一：判断什么问题值得用AI解决</a:t>
            </a:r>
            <a:endParaRPr dirty="0"/>
          </a:p>
          <a:p>
            <a:endParaRPr dirty="0"/>
          </a:p>
          <a:p>
            <a:r>
              <a:rPr dirty="0" err="1"/>
              <a:t>以前容易问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能不能加一个AI功能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能不能做一个聊天助手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能不能做成Agent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能不能使用最新模型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现在应该进一步判断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核心用户是谁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用户正在完成什么任务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当前流程有什么问题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问题是否高频、高成本或高风险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传统产品、规则和流程优化能否解决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AI为什么是更合适的手段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AI介入以后会增加什么风险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第一期最值得验证什么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对应所学：岗位与工作、场景判断、产品形态、需求分析、AI介入和MVP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核心变化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从“</a:t>
            </a:r>
            <a:r>
              <a:rPr dirty="0" err="1"/>
              <a:t>这里能不能使用AI</a:t>
            </a:r>
            <a:r>
              <a:rPr dirty="0"/>
              <a:t>”，</a:t>
            </a:r>
            <a:r>
              <a:rPr dirty="0" err="1"/>
              <a:t>变成“这里是否值得使用AI，以及AI应该介入到什么程度</a:t>
            </a:r>
            <a:r>
              <a:rPr dirty="0"/>
              <a:t>”。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能力二：把AI能力组合成可控产品方案</a:t>
            </a:r>
            <a:endParaRPr dirty="0"/>
          </a:p>
          <a:p>
            <a:endParaRPr dirty="0"/>
          </a:p>
          <a:p>
            <a:r>
              <a:rPr dirty="0" err="1"/>
              <a:t>现在应该知道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| </a:t>
            </a:r>
            <a:r>
              <a:rPr dirty="0" err="1"/>
              <a:t>能力</a:t>
            </a:r>
            <a:r>
              <a:rPr dirty="0"/>
              <a:t> | </a:t>
            </a:r>
            <a:r>
              <a:rPr dirty="0" err="1"/>
              <a:t>主要解决的问题</a:t>
            </a:r>
            <a:r>
              <a:rPr dirty="0"/>
              <a:t> |</a:t>
            </a:r>
          </a:p>
          <a:p>
            <a:r>
              <a:rPr dirty="0"/>
              <a:t>|---|---|</a:t>
            </a:r>
          </a:p>
          <a:p>
            <a:r>
              <a:rPr dirty="0"/>
              <a:t>| Prompt | </a:t>
            </a:r>
            <a:r>
              <a:rPr dirty="0" err="1"/>
              <a:t>怎样让模型完成一次明确任务</a:t>
            </a:r>
            <a:r>
              <a:rPr dirty="0"/>
              <a:t> |</a:t>
            </a:r>
          </a:p>
          <a:p>
            <a:r>
              <a:rPr dirty="0"/>
              <a:t>| Workflow | </a:t>
            </a:r>
            <a:r>
              <a:rPr dirty="0" err="1"/>
              <a:t>怎样组织稳定、可控制的处理流程</a:t>
            </a:r>
            <a:r>
              <a:rPr dirty="0"/>
              <a:t> |</a:t>
            </a:r>
          </a:p>
          <a:p>
            <a:r>
              <a:rPr dirty="0"/>
              <a:t>| RAG | </a:t>
            </a:r>
            <a:r>
              <a:rPr dirty="0" err="1"/>
              <a:t>怎样让模型使用外部或私有知识</a:t>
            </a:r>
            <a:r>
              <a:rPr dirty="0"/>
              <a:t> |</a:t>
            </a:r>
          </a:p>
          <a:p>
            <a:r>
              <a:rPr dirty="0"/>
              <a:t>| Agent | </a:t>
            </a:r>
            <a:r>
              <a:rPr dirty="0" err="1"/>
              <a:t>怎样让系统根据任务调用工具和执行动作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规则</a:t>
            </a:r>
            <a:r>
              <a:rPr dirty="0"/>
              <a:t> | </a:t>
            </a:r>
            <a:r>
              <a:rPr dirty="0" err="1"/>
              <a:t>怎样完成确定性判断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人工</a:t>
            </a:r>
            <a:r>
              <a:rPr dirty="0"/>
              <a:t> | </a:t>
            </a:r>
            <a:r>
              <a:rPr dirty="0" err="1"/>
              <a:t>怎样处理责任、高风险和模糊问题</a:t>
            </a:r>
            <a:r>
              <a:rPr dirty="0"/>
              <a:t> |</a:t>
            </a:r>
          </a:p>
          <a:p>
            <a:endParaRPr dirty="0"/>
          </a:p>
          <a:p>
            <a:r>
              <a:rPr dirty="0" err="1"/>
              <a:t>AI产品方案不是选择一个最流行的技术，而是根据任务完成组合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例如智能审核产品中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敏感词由规则判断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复杂语义由大模型判断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企业规则和案例由RAG提供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高风险和不确定结果进入人工复核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确认后的动作再由系统执行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对应所学：大模型与上下文、Prompt、Workflow、RAG、Agent、Coze综合实践以及人机分工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核心变化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从“</a:t>
            </a:r>
            <a:r>
              <a:rPr dirty="0" err="1"/>
              <a:t>这个项目应该使用什么AI技术</a:t>
            </a:r>
            <a:r>
              <a:rPr dirty="0"/>
              <a:t>”，</a:t>
            </a:r>
            <a:r>
              <a:rPr dirty="0" err="1"/>
              <a:t>变成“不同任务应该分别由什么能力负责</a:t>
            </a:r>
            <a:r>
              <a:rPr dirty="0"/>
              <a:t>”。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能力三：把AI想法变成可以交付的产品</a:t>
            </a:r>
            <a:endParaRPr dirty="0"/>
          </a:p>
          <a:p>
            <a:endParaRPr dirty="0"/>
          </a:p>
          <a:p>
            <a:r>
              <a:rPr dirty="0" err="1"/>
              <a:t>一个AI产品需要被清楚定义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用户和场景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产品目标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当前流程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AI介入点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人机协作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输入和输出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MVP范围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页面、流程和交互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正常、异常和确认状态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AI无法判断时怎么办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验收标准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不在本期范围内的内容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PRD、原型和Demo解决的问题不同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| </a:t>
            </a:r>
            <a:r>
              <a:rPr dirty="0" err="1"/>
              <a:t>产出</a:t>
            </a:r>
            <a:r>
              <a:rPr dirty="0"/>
              <a:t> | </a:t>
            </a:r>
            <a:r>
              <a:rPr dirty="0" err="1"/>
              <a:t>主要证明什么</a:t>
            </a:r>
            <a:r>
              <a:rPr dirty="0"/>
              <a:t> |</a:t>
            </a:r>
          </a:p>
          <a:p>
            <a:r>
              <a:rPr dirty="0"/>
              <a:t>|---|---|</a:t>
            </a:r>
          </a:p>
          <a:p>
            <a:r>
              <a:rPr dirty="0"/>
              <a:t>| PRD | </a:t>
            </a:r>
            <a:r>
              <a:rPr dirty="0" err="1"/>
              <a:t>产品方案是否定义清楚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原型</a:t>
            </a:r>
            <a:r>
              <a:rPr dirty="0"/>
              <a:t> | </a:t>
            </a:r>
            <a:r>
              <a:rPr dirty="0" err="1"/>
              <a:t>用户流程和交互是否合理</a:t>
            </a:r>
            <a:r>
              <a:rPr dirty="0"/>
              <a:t> |</a:t>
            </a:r>
          </a:p>
          <a:p>
            <a:r>
              <a:rPr dirty="0"/>
              <a:t>| Demo | </a:t>
            </a:r>
            <a:r>
              <a:rPr dirty="0" err="1"/>
              <a:t>核心产品假设能否被体验和验证</a:t>
            </a:r>
            <a:r>
              <a:rPr dirty="0"/>
              <a:t> |</a:t>
            </a:r>
          </a:p>
          <a:p>
            <a:endParaRPr dirty="0"/>
          </a:p>
          <a:p>
            <a:r>
              <a:rPr dirty="0" err="1"/>
              <a:t>对应所学：需求分析、AI产品PRD、产品流程、MVP、原型、Vibe</a:t>
            </a:r>
            <a:r>
              <a:rPr dirty="0"/>
              <a:t> </a:t>
            </a:r>
            <a:r>
              <a:rPr dirty="0" err="1"/>
              <a:t>Coding、Demo和验收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核心变化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从“</a:t>
            </a:r>
            <a:r>
              <a:rPr dirty="0" err="1"/>
              <a:t>能不能快速做出Demo</a:t>
            </a:r>
            <a:r>
              <a:rPr dirty="0"/>
              <a:t>”，</a:t>
            </a:r>
            <a:r>
              <a:rPr dirty="0" err="1"/>
              <a:t>变成“这个Demo正在验证什么产品假设</a:t>
            </a:r>
            <a:r>
              <a:rPr dirty="0"/>
              <a:t>”。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能力四：用评测和Bad</a:t>
            </a:r>
            <a:r>
              <a:rPr dirty="0"/>
              <a:t> </a:t>
            </a:r>
            <a:r>
              <a:rPr dirty="0" err="1"/>
              <a:t>Case管理不确定性</a:t>
            </a:r>
            <a:endParaRPr dirty="0"/>
          </a:p>
          <a:p>
            <a:endParaRPr dirty="0"/>
          </a:p>
          <a:p>
            <a:r>
              <a:rPr dirty="0" err="1"/>
              <a:t>AI产品效果需要经过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1. </a:t>
            </a:r>
            <a:r>
              <a:rPr dirty="0" err="1"/>
              <a:t>明确业务任务</a:t>
            </a:r>
            <a:r>
              <a:rPr dirty="0"/>
              <a:t>；</a:t>
            </a:r>
          </a:p>
          <a:p>
            <a:r>
              <a:rPr dirty="0"/>
              <a:t>2. </a:t>
            </a:r>
            <a:r>
              <a:rPr dirty="0" err="1"/>
              <a:t>收集有代表性的输入</a:t>
            </a:r>
            <a:r>
              <a:rPr dirty="0"/>
              <a:t>；</a:t>
            </a:r>
          </a:p>
          <a:p>
            <a:r>
              <a:rPr dirty="0"/>
              <a:t>3. </a:t>
            </a:r>
            <a:r>
              <a:rPr dirty="0" err="1"/>
              <a:t>建立评测集</a:t>
            </a:r>
            <a:r>
              <a:rPr dirty="0"/>
              <a:t>；</a:t>
            </a:r>
          </a:p>
          <a:p>
            <a:r>
              <a:rPr dirty="0"/>
              <a:t>4. </a:t>
            </a:r>
            <a:r>
              <a:rPr dirty="0" err="1"/>
              <a:t>人工标注标准答案</a:t>
            </a:r>
            <a:r>
              <a:rPr dirty="0"/>
              <a:t>；</a:t>
            </a:r>
          </a:p>
          <a:p>
            <a:r>
              <a:rPr dirty="0"/>
              <a:t>5. </a:t>
            </a:r>
            <a:r>
              <a:rPr dirty="0" err="1"/>
              <a:t>定义核心指标</a:t>
            </a:r>
            <a:r>
              <a:rPr dirty="0"/>
              <a:t>；</a:t>
            </a:r>
          </a:p>
          <a:p>
            <a:r>
              <a:rPr dirty="0"/>
              <a:t>6. </a:t>
            </a:r>
            <a:r>
              <a:rPr dirty="0" err="1"/>
              <a:t>测试模型和产品方案</a:t>
            </a:r>
            <a:r>
              <a:rPr dirty="0"/>
              <a:t>；</a:t>
            </a:r>
          </a:p>
          <a:p>
            <a:r>
              <a:rPr dirty="0"/>
              <a:t>7. </a:t>
            </a:r>
            <a:r>
              <a:rPr dirty="0" err="1"/>
              <a:t>分析Bad</a:t>
            </a:r>
            <a:r>
              <a:rPr dirty="0"/>
              <a:t> Case；</a:t>
            </a:r>
          </a:p>
          <a:p>
            <a:r>
              <a:rPr dirty="0"/>
              <a:t>8. </a:t>
            </a:r>
            <a:r>
              <a:rPr dirty="0" err="1"/>
              <a:t>判断问题原因</a:t>
            </a:r>
            <a:r>
              <a:rPr dirty="0"/>
              <a:t>；</a:t>
            </a:r>
          </a:p>
          <a:p>
            <a:r>
              <a:rPr dirty="0"/>
              <a:t>9. </a:t>
            </a:r>
            <a:r>
              <a:rPr dirty="0" err="1"/>
              <a:t>修改数据、Prompt、RAG、Workflow、模型或产品设计</a:t>
            </a:r>
            <a:r>
              <a:rPr dirty="0"/>
              <a:t>；</a:t>
            </a:r>
          </a:p>
          <a:p>
            <a:r>
              <a:rPr dirty="0"/>
              <a:t>10. </a:t>
            </a:r>
            <a:r>
              <a:rPr dirty="0" err="1"/>
              <a:t>回归评测</a:t>
            </a:r>
            <a:r>
              <a:rPr dirty="0"/>
              <a:t>；</a:t>
            </a:r>
          </a:p>
          <a:p>
            <a:r>
              <a:rPr dirty="0"/>
              <a:t>11. </a:t>
            </a:r>
            <a:r>
              <a:rPr dirty="0" err="1"/>
              <a:t>持续收集新问题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指标必须与任务和错误后果对应。例如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RAG关注是否检索到正确来源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审核产品关注高风险问题是否漏判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会议助手关注行动项是否遗漏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Agent关注任务是否正确执行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核心变化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从“</a:t>
            </a:r>
            <a:r>
              <a:rPr dirty="0" err="1"/>
              <a:t>这个模型看起来效果不错</a:t>
            </a:r>
            <a:r>
              <a:rPr dirty="0"/>
              <a:t>”，</a:t>
            </a:r>
            <a:r>
              <a:rPr dirty="0" err="1"/>
              <a:t>变成“在什么数据、指标和风险标准下，它是否达到产品要求</a:t>
            </a:r>
            <a:r>
              <a:rPr dirty="0"/>
              <a:t>”。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能力五：判断产品能否真正落地并产生价值</a:t>
            </a:r>
            <a:endParaRPr dirty="0"/>
          </a:p>
          <a:p>
            <a:endParaRPr dirty="0"/>
          </a:p>
          <a:p>
            <a:r>
              <a:rPr dirty="0" err="1"/>
              <a:t>模型和产品方案需要同时考虑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业务效果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响应速度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Token和推理成本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调用规模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数据安全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国内外模型限制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私有化和云服务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人工复核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系统开发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错误成本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供应商风险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自研、采购还是组合建设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项目ROI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是否应该继续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核心变化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从“</a:t>
            </a:r>
            <a:r>
              <a:rPr dirty="0" err="1"/>
              <a:t>这个AI功能能不能实现</a:t>
            </a:r>
            <a:r>
              <a:rPr dirty="0"/>
              <a:t>”，</a:t>
            </a:r>
            <a:r>
              <a:rPr dirty="0" err="1"/>
              <a:t>变成“它能否在可以接受的效果、风险和成本下长期创造价值</a:t>
            </a:r>
            <a:r>
              <a:rPr dirty="0"/>
              <a:t>”。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四、五项能力是一条因果链</a:t>
            </a:r>
            <a:endParaRPr dirty="0"/>
          </a:p>
          <a:p>
            <a:endParaRPr dirty="0"/>
          </a:p>
          <a:p>
            <a:r>
              <a:rPr dirty="0" err="1"/>
              <a:t>例如，产品目标是减少营销内容中的高风险漏判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问题判断决定优先关注高风险内容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AI方案决定规则、大模型和人工如何分工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PRD需要定义风险等级和处理动作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评测需要关注高风险召回率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模型选型需要优先保证风险识别能力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ROI需要计算人工复核和错误损失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完整链路是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业务问题决定产品目标</a:t>
            </a:r>
            <a:r>
              <a:rPr dirty="0"/>
              <a:t>  </a:t>
            </a:r>
          </a:p>
          <a:p>
            <a:r>
              <a:rPr dirty="0"/>
              <a:t>&gt; </a:t>
            </a:r>
            <a:r>
              <a:rPr dirty="0" err="1"/>
              <a:t>产品目标决定AI方案</a:t>
            </a:r>
            <a:r>
              <a:rPr dirty="0"/>
              <a:t>  </a:t>
            </a:r>
          </a:p>
          <a:p>
            <a:r>
              <a:rPr dirty="0"/>
              <a:t>&gt; </a:t>
            </a:r>
            <a:r>
              <a:rPr dirty="0" err="1"/>
              <a:t>AI方案决定产品流程</a:t>
            </a:r>
            <a:r>
              <a:rPr dirty="0"/>
              <a:t>  </a:t>
            </a:r>
          </a:p>
          <a:p>
            <a:r>
              <a:rPr dirty="0"/>
              <a:t>&gt; </a:t>
            </a:r>
            <a:r>
              <a:rPr dirty="0" err="1"/>
              <a:t>产品流程决定评测方式</a:t>
            </a:r>
            <a:r>
              <a:rPr dirty="0"/>
              <a:t>  </a:t>
            </a:r>
          </a:p>
          <a:p>
            <a:r>
              <a:rPr dirty="0"/>
              <a:t>&gt; </a:t>
            </a:r>
            <a:r>
              <a:rPr dirty="0" err="1"/>
              <a:t>评测结果影响模型和迭代</a:t>
            </a:r>
            <a:r>
              <a:rPr dirty="0"/>
              <a:t>  </a:t>
            </a:r>
          </a:p>
          <a:p>
            <a:r>
              <a:rPr dirty="0"/>
              <a:t>&gt; </a:t>
            </a:r>
            <a:r>
              <a:rPr dirty="0" err="1"/>
              <a:t>成本与价值最终决定是否继续</a:t>
            </a:r>
            <a:endParaRPr dirty="0"/>
          </a:p>
          <a:p>
            <a:endParaRPr dirty="0"/>
          </a:p>
          <a:p>
            <a:r>
              <a:rPr dirty="0" err="1"/>
              <a:t>核心结论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第一阶段建立的不是一组AI知识点，而是一套从问题到价值的产品决策链路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五、第一阶段成果墙</a:t>
            </a:r>
            <a:endParaRPr dirty="0"/>
          </a:p>
          <a:p>
            <a:endParaRPr dirty="0"/>
          </a:p>
          <a:p>
            <a:r>
              <a:rPr dirty="0"/>
              <a:t>| </a:t>
            </a:r>
            <a:r>
              <a:rPr dirty="0" err="1"/>
              <a:t>第一阶段成果</a:t>
            </a:r>
            <a:r>
              <a:rPr dirty="0"/>
              <a:t> | </a:t>
            </a:r>
            <a:r>
              <a:rPr dirty="0" err="1"/>
              <a:t>它证明了什么</a:t>
            </a:r>
            <a:r>
              <a:rPr dirty="0"/>
              <a:t> |</a:t>
            </a:r>
          </a:p>
          <a:p>
            <a:r>
              <a:rPr dirty="0"/>
              <a:t>|---|---|</a:t>
            </a:r>
          </a:p>
          <a:p>
            <a:r>
              <a:rPr dirty="0"/>
              <a:t>| </a:t>
            </a:r>
            <a:r>
              <a:rPr dirty="0" err="1"/>
              <a:t>Prompt产品化练习</a:t>
            </a:r>
            <a:r>
              <a:rPr dirty="0"/>
              <a:t> | </a:t>
            </a:r>
            <a:r>
              <a:rPr dirty="0" err="1"/>
              <a:t>能定义AI任务、上下文、约束和输出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Workflow流程</a:t>
            </a:r>
            <a:r>
              <a:rPr dirty="0"/>
              <a:t> | </a:t>
            </a:r>
            <a:r>
              <a:rPr dirty="0" err="1"/>
              <a:t>能把复杂任务拆成稳定步骤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RAG知识库方案</a:t>
            </a:r>
            <a:r>
              <a:rPr dirty="0"/>
              <a:t> | </a:t>
            </a:r>
            <a:r>
              <a:rPr dirty="0" err="1"/>
              <a:t>理解外部知识如何进入AI产品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Agent工具调用方案</a:t>
            </a:r>
            <a:r>
              <a:rPr dirty="0"/>
              <a:t> | </a:t>
            </a:r>
            <a:r>
              <a:rPr dirty="0" err="1"/>
              <a:t>理解受控执行、权限和人工确认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Coze综合实践</a:t>
            </a:r>
            <a:r>
              <a:rPr dirty="0"/>
              <a:t> | </a:t>
            </a:r>
            <a:r>
              <a:rPr dirty="0" err="1"/>
              <a:t>能把多种AI能力组成可运行流程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需求分析和PRD</a:t>
            </a:r>
            <a:r>
              <a:rPr dirty="0"/>
              <a:t> | </a:t>
            </a:r>
            <a:r>
              <a:rPr dirty="0" err="1"/>
              <a:t>能把业务问题转化成产品方案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原型和Demo</a:t>
            </a:r>
            <a:r>
              <a:rPr dirty="0"/>
              <a:t> | </a:t>
            </a:r>
            <a:r>
              <a:rPr dirty="0" err="1"/>
              <a:t>能让产品假设被体验和验证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评测集和Bad</a:t>
            </a:r>
            <a:r>
              <a:rPr dirty="0"/>
              <a:t> Case | </a:t>
            </a:r>
            <a:r>
              <a:rPr dirty="0" err="1"/>
              <a:t>能定义效果并推动迭代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智能审核完整PRD</a:t>
            </a:r>
            <a:r>
              <a:rPr dirty="0"/>
              <a:t> | </a:t>
            </a:r>
            <a:r>
              <a:rPr dirty="0" err="1"/>
              <a:t>理解专业AI产品PRD的完整结构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模型、成本和ROI分析</a:t>
            </a:r>
            <a:r>
              <a:rPr dirty="0"/>
              <a:t> | </a:t>
            </a:r>
            <a:r>
              <a:rPr dirty="0" err="1"/>
              <a:t>能判断产品是否具备落地价值</a:t>
            </a:r>
            <a:r>
              <a:rPr dirty="0"/>
              <a:t> |</a:t>
            </a:r>
          </a:p>
          <a:p>
            <a:endParaRPr dirty="0"/>
          </a:p>
          <a:p>
            <a:r>
              <a:rPr dirty="0" err="1"/>
              <a:t>需要准确表述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第一阶段已经让大家接触并实践了完整项目中的主要能力模块，但这些模块还没有集中在一个个人项目中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六、第一阶段还没有完成什么</a:t>
            </a:r>
            <a:endParaRPr dirty="0"/>
          </a:p>
          <a:p>
            <a:endParaRPr dirty="0"/>
          </a:p>
          <a:p>
            <a:r>
              <a:rPr dirty="0" err="1"/>
              <a:t>对大多数学员来说，目前还缺少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一个自己选择并持续推进的统一项目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前后口径一致的需求、PRD和Demo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真实或可解释的用户问题证据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自己建立并运行的评测集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真实Bad</a:t>
            </a:r>
            <a:r>
              <a:rPr dirty="0"/>
              <a:t> Case；</a:t>
            </a:r>
          </a:p>
          <a:p>
            <a:r>
              <a:rPr dirty="0"/>
              <a:t>- </a:t>
            </a:r>
            <a:r>
              <a:rPr dirty="0" err="1"/>
              <a:t>根据测试结果进行的迭代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模型、成本和ROI的统一判断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能够接受面试追问的个人项目过程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本部分最终总结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| </a:t>
            </a:r>
            <a:r>
              <a:rPr dirty="0" err="1"/>
              <a:t>学习前</a:t>
            </a:r>
            <a:r>
              <a:rPr dirty="0"/>
              <a:t> | </a:t>
            </a:r>
            <a:r>
              <a:rPr dirty="0" err="1"/>
              <a:t>第一阶段以后</a:t>
            </a:r>
            <a:r>
              <a:rPr dirty="0"/>
              <a:t> |</a:t>
            </a:r>
          </a:p>
          <a:p>
            <a:r>
              <a:rPr dirty="0"/>
              <a:t>|---|---|</a:t>
            </a:r>
          </a:p>
          <a:p>
            <a:r>
              <a:rPr dirty="0"/>
              <a:t>| </a:t>
            </a:r>
            <a:r>
              <a:rPr dirty="0" err="1"/>
              <a:t>从工具开始</a:t>
            </a:r>
            <a:r>
              <a:rPr dirty="0"/>
              <a:t> | </a:t>
            </a:r>
            <a:r>
              <a:rPr dirty="0" err="1"/>
              <a:t>从问题开始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追求生成效果</a:t>
            </a:r>
            <a:r>
              <a:rPr dirty="0"/>
              <a:t> | </a:t>
            </a:r>
            <a:r>
              <a:rPr dirty="0" err="1"/>
              <a:t>设计完整产品系统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凭感觉判断</a:t>
            </a:r>
            <a:r>
              <a:rPr dirty="0"/>
              <a:t> | </a:t>
            </a:r>
            <a:r>
              <a:rPr dirty="0" err="1"/>
              <a:t>用评测和Bad</a:t>
            </a:r>
            <a:r>
              <a:rPr dirty="0"/>
              <a:t> </a:t>
            </a:r>
            <a:r>
              <a:rPr dirty="0" err="1"/>
              <a:t>Case验证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关注能不能做</a:t>
            </a:r>
            <a:r>
              <a:rPr dirty="0"/>
              <a:t> | </a:t>
            </a:r>
            <a:r>
              <a:rPr dirty="0" err="1"/>
              <a:t>判断值不值得做</a:t>
            </a:r>
            <a:r>
              <a:rPr dirty="0"/>
              <a:t> |</a:t>
            </a:r>
          </a:p>
          <a:p>
            <a:endParaRPr dirty="0"/>
          </a:p>
          <a:p>
            <a:r>
              <a:rPr dirty="0" err="1"/>
              <a:t>过渡语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如果模型还会继续变强，Prompt、代码、设计和内容生产的门槛继续下降，那么AI产品真正的价值会转移到哪里？模型公司会不会吃掉大量AI应用？未来的软件还需不需要页面和按钮？接下来，我们把视角再抬高一层。</a:t>
            </a:r>
          </a:p>
          <a:p>
            <a:endParaRPr dirty="0"/>
          </a:p>
          <a:p>
            <a:r>
              <a:rPr dirty="0"/>
              <a:t>---</a:t>
            </a:r>
          </a:p>
          <a:p>
            <a:endParaRPr dirty="0"/>
          </a:p>
          <a:p>
            <a:r>
              <a:rPr dirty="0"/>
              <a:t>[</a:t>
            </a:r>
            <a:r>
              <a:rPr dirty="0" err="1"/>
              <a:t>讲义来源</a:t>
            </a:r>
            <a:r>
              <a:rPr dirty="0"/>
              <a:t>]</a:t>
            </a:r>
          </a:p>
          <a:p>
            <a:r>
              <a:rPr dirty="0"/>
              <a:t>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/第12课_第一阶段能力验收与职业行动_重做工作区/第12课_第一阶段总结_AI产品趋势与项目实战_完整讲义_v0.2.md</a:t>
            </a:r>
          </a:p>
          <a:p>
            <a:r>
              <a:rPr dirty="0" err="1"/>
              <a:t>第一阶段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从‘知道怎样做’到‘</a:t>
            </a:r>
            <a:r>
              <a:rPr dirty="0" err="1"/>
              <a:t>真正做过并讲得清</a:t>
            </a:r>
            <a:r>
              <a:rPr dirty="0"/>
              <a:t>’，</a:t>
            </a:r>
            <a:r>
              <a:rPr dirty="0" err="1"/>
              <a:t>中间还隔着完整项目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&gt; 建议时长：30分钟</a:t>
            </a:r>
          </a:p>
          <a:p>
            <a:endParaRPr dirty="0"/>
          </a:p>
          <a:p>
            <a:r>
              <a:rPr dirty="0"/>
              <a:t>这一部分不按照第1课、第2课重新复述，而是帮助学员回答：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经过第一阶段以后，我看待和设计AI产品的方式，究竟发生了什么变化</a:t>
            </a:r>
            <a:r>
              <a:rPr dirty="0"/>
              <a:t>？</a:t>
            </a:r>
          </a:p>
          <a:p>
            <a:endParaRPr dirty="0"/>
          </a:p>
          <a:p>
            <a:r>
              <a:rPr dirty="0" err="1"/>
              <a:t>这一部分要形成两个结果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1. </a:t>
            </a:r>
            <a:r>
              <a:rPr dirty="0" err="1"/>
              <a:t>让学员意识到前面的内容不是零散知识，而是一条完整的AI产品工作链路</a:t>
            </a:r>
            <a:r>
              <a:rPr dirty="0"/>
              <a:t>；</a:t>
            </a:r>
          </a:p>
          <a:p>
            <a:r>
              <a:rPr dirty="0"/>
              <a:t>2. </a:t>
            </a:r>
            <a:r>
              <a:rPr dirty="0" err="1"/>
              <a:t>诚实说明第一阶段已经完成什么、还没有完成什么，为后面的趋势讨论和项目班做好衔接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一、最后一课为什么不继续讲新工具</a:t>
            </a:r>
            <a:endParaRPr dirty="0"/>
          </a:p>
          <a:p>
            <a:endParaRPr dirty="0"/>
          </a:p>
          <a:p>
            <a:r>
              <a:rPr dirty="0" err="1"/>
              <a:t>教师可以这样开场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今天是第一阶段的最后一课</a:t>
            </a:r>
            <a:r>
              <a:rPr dirty="0"/>
              <a:t>。  </a:t>
            </a:r>
          </a:p>
          <a:p>
            <a:r>
              <a:rPr dirty="0"/>
              <a:t>&gt; 这一阶段，我们已经学习了大模型、Prompt、Workflow、RAG、Agent、需求分析、PRD、原型、Demo、评测、Bad </a:t>
            </a:r>
            <a:r>
              <a:rPr dirty="0" err="1"/>
              <a:t>Case、模型选型、成本和ROI</a:t>
            </a:r>
            <a:r>
              <a:rPr dirty="0"/>
              <a:t>。  </a:t>
            </a:r>
          </a:p>
          <a:p>
            <a:r>
              <a:rPr dirty="0"/>
              <a:t>&gt; </a:t>
            </a:r>
            <a:r>
              <a:rPr dirty="0" err="1"/>
              <a:t>今天不会再塞给大家一组新的工具和名词。我们先回头看看：这些内容连接起来以后，我们现在到底具备了什么能力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先让学员选择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如果只允许用一句话总结第一阶段，你觉得自己最大的变化是什么</a:t>
            </a:r>
            <a:r>
              <a:rPr dirty="0"/>
              <a:t>？</a:t>
            </a:r>
          </a:p>
          <a:p>
            <a:endParaRPr dirty="0"/>
          </a:p>
          <a:p>
            <a:r>
              <a:rPr dirty="0"/>
              <a:t>- A. </a:t>
            </a:r>
            <a:r>
              <a:rPr dirty="0" err="1"/>
              <a:t>会使用更多AI工具了</a:t>
            </a:r>
            <a:r>
              <a:rPr dirty="0"/>
              <a:t>；</a:t>
            </a:r>
          </a:p>
          <a:p>
            <a:r>
              <a:rPr dirty="0"/>
              <a:t>- B. </a:t>
            </a:r>
            <a:r>
              <a:rPr dirty="0" err="1"/>
              <a:t>理解了更多AI技术概念</a:t>
            </a:r>
            <a:r>
              <a:rPr dirty="0"/>
              <a:t>；</a:t>
            </a:r>
          </a:p>
          <a:p>
            <a:r>
              <a:rPr dirty="0"/>
              <a:t>- C. </a:t>
            </a:r>
            <a:r>
              <a:rPr dirty="0" err="1"/>
              <a:t>开始能够完整判断一个AI产品应该怎么做</a:t>
            </a:r>
            <a:r>
              <a:rPr dirty="0"/>
              <a:t>；</a:t>
            </a:r>
          </a:p>
          <a:p>
            <a:r>
              <a:rPr dirty="0"/>
              <a:t>- D. </a:t>
            </a:r>
            <a:r>
              <a:rPr dirty="0" err="1"/>
              <a:t>已经可以独立负责一个完整AI产品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可以分别请一名选择B、一名选择C或D的学员，用30秒说明原因。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对不同选择的回应</a:t>
            </a:r>
            <a:endParaRPr dirty="0"/>
          </a:p>
          <a:p>
            <a:endParaRPr dirty="0"/>
          </a:p>
          <a:p>
            <a:r>
              <a:rPr dirty="0" err="1"/>
              <a:t>如果选择A，可以回应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会使用更多工具当然是学习结果的一部分。但如果第一阶段只留下“我会用更多工具”，课程价值是不够的。工具会不断更新，真正应该留下来的，是即使工具变化，我们仍然知道怎样判断问题和设计产品。</a:t>
            </a:r>
          </a:p>
          <a:p>
            <a:endParaRPr dirty="0"/>
          </a:p>
          <a:p>
            <a:r>
              <a:rPr dirty="0" err="1"/>
              <a:t>如果选择B，可以回应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理解技术概念也很重要。至少业务方说RAG、Agent、Workflow或者模型选型时，我们不会把它们混在一起。但产品经理最终需要回答的不是“RAG是什么”，而是“这个产品为什么需要RAG，不使用会发生什么”。</a:t>
            </a:r>
          </a:p>
          <a:p>
            <a:endParaRPr dirty="0"/>
          </a:p>
          <a:p>
            <a:r>
              <a:rPr dirty="0" err="1"/>
              <a:t>如果选择C，可以回应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这正是第一阶段真正希望形成的变化。面对一个新的AI需求，我们开始知道应该问哪些问题、做哪些判断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如果选择D，可以回应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有真实业务和项目经验的同学，可能已经能够开始承担完整项目。但对大多数学员来说，目前更准确的状态是：理解了完整工作链路，也具备局部实践经验，还需要通过一个统一项目把这些能力连接起来。</a:t>
            </a:r>
          </a:p>
          <a:p>
            <a:endParaRPr dirty="0"/>
          </a:p>
          <a:p>
            <a:r>
              <a:rPr dirty="0" err="1"/>
              <a:t>本段收束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第一阶段最重要的变化，不是记住了更多AI名词，而是从“</a:t>
            </a:r>
            <a:r>
              <a:rPr dirty="0" err="1"/>
              <a:t>使用AI工具</a:t>
            </a:r>
            <a:r>
              <a:rPr dirty="0"/>
              <a:t>”，</a:t>
            </a:r>
            <a:r>
              <a:rPr dirty="0" err="1"/>
              <a:t>走向“开始具备AI产品判断</a:t>
            </a:r>
            <a:r>
              <a:rPr dirty="0"/>
              <a:t>”。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二、学习前后的思维差异</a:t>
            </a:r>
            <a:endParaRPr dirty="0"/>
          </a:p>
          <a:p>
            <a:endParaRPr dirty="0"/>
          </a:p>
          <a:p>
            <a:r>
              <a:rPr dirty="0" err="1"/>
              <a:t>给出一个情境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老板说</a:t>
            </a:r>
            <a:r>
              <a:rPr dirty="0"/>
              <a:t>：“</a:t>
            </a:r>
            <a:r>
              <a:rPr dirty="0" err="1"/>
              <a:t>竞品都在做Agent，我们也做一个吧</a:t>
            </a:r>
            <a:r>
              <a:rPr dirty="0"/>
              <a:t>。”</a:t>
            </a:r>
          </a:p>
          <a:p>
            <a:endParaRPr dirty="0"/>
          </a:p>
          <a:p>
            <a:r>
              <a:rPr dirty="0" err="1"/>
              <a:t>学习第一阶段以前，可能会这样反应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Agent现在很热门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先看看用哪个平台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找一个类似案例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让AI生成方案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搭一个Demo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看起来能运行就开始立项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学完第一阶段以后，应该先问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1. </a:t>
            </a:r>
            <a:r>
              <a:rPr dirty="0" err="1"/>
              <a:t>谁遇到了什么问题</a:t>
            </a:r>
            <a:r>
              <a:rPr dirty="0"/>
              <a:t>？</a:t>
            </a:r>
          </a:p>
          <a:p>
            <a:r>
              <a:rPr dirty="0"/>
              <a:t>2. </a:t>
            </a:r>
            <a:r>
              <a:rPr dirty="0" err="1"/>
              <a:t>这个问题现在怎样解决</a:t>
            </a:r>
            <a:r>
              <a:rPr dirty="0"/>
              <a:t>？</a:t>
            </a:r>
          </a:p>
          <a:p>
            <a:r>
              <a:rPr dirty="0"/>
              <a:t>3. </a:t>
            </a:r>
            <a:r>
              <a:rPr dirty="0" err="1"/>
              <a:t>问题发生频率有多高</a:t>
            </a:r>
            <a:r>
              <a:rPr dirty="0"/>
              <a:t>？</a:t>
            </a:r>
          </a:p>
          <a:p>
            <a:r>
              <a:rPr dirty="0"/>
              <a:t>4. </a:t>
            </a:r>
            <a:r>
              <a:rPr dirty="0" err="1"/>
              <a:t>不解决会产生什么影响</a:t>
            </a:r>
            <a:r>
              <a:rPr dirty="0"/>
              <a:t>？</a:t>
            </a:r>
          </a:p>
          <a:p>
            <a:r>
              <a:rPr dirty="0"/>
              <a:t>5. </a:t>
            </a:r>
            <a:r>
              <a:rPr dirty="0" err="1"/>
              <a:t>为什么需要AI</a:t>
            </a:r>
            <a:r>
              <a:rPr dirty="0"/>
              <a:t>？</a:t>
            </a:r>
          </a:p>
          <a:p>
            <a:r>
              <a:rPr dirty="0"/>
              <a:t>6. </a:t>
            </a:r>
            <a:r>
              <a:rPr dirty="0" err="1"/>
              <a:t>固定Workflow能不能解决</a:t>
            </a:r>
            <a:r>
              <a:rPr dirty="0"/>
              <a:t>？</a:t>
            </a:r>
          </a:p>
          <a:p>
            <a:r>
              <a:rPr dirty="0"/>
              <a:t>7. </a:t>
            </a:r>
            <a:r>
              <a:rPr dirty="0" err="1"/>
              <a:t>为什么一定需要Agent</a:t>
            </a:r>
            <a:r>
              <a:rPr dirty="0"/>
              <a:t>？</a:t>
            </a:r>
          </a:p>
          <a:p>
            <a:r>
              <a:rPr dirty="0"/>
              <a:t>8. </a:t>
            </a:r>
            <a:r>
              <a:rPr dirty="0" err="1"/>
              <a:t>Agent需要调用什么工具</a:t>
            </a:r>
            <a:r>
              <a:rPr dirty="0"/>
              <a:t>？</a:t>
            </a:r>
          </a:p>
          <a:p>
            <a:r>
              <a:rPr dirty="0"/>
              <a:t>9. </a:t>
            </a:r>
            <a:r>
              <a:rPr dirty="0" err="1"/>
              <a:t>哪些动作必须人工确认</a:t>
            </a:r>
            <a:r>
              <a:rPr dirty="0"/>
              <a:t>？</a:t>
            </a:r>
          </a:p>
          <a:p>
            <a:r>
              <a:rPr dirty="0"/>
              <a:t>10. </a:t>
            </a:r>
            <a:r>
              <a:rPr dirty="0" err="1"/>
              <a:t>如果Agent执行错误，能否发现和撤销</a:t>
            </a:r>
            <a:r>
              <a:rPr dirty="0"/>
              <a:t>？</a:t>
            </a:r>
          </a:p>
          <a:p>
            <a:r>
              <a:rPr dirty="0"/>
              <a:t>11. </a:t>
            </a:r>
            <a:r>
              <a:rPr dirty="0" err="1"/>
              <a:t>怎样建立评测集</a:t>
            </a:r>
            <a:r>
              <a:rPr dirty="0"/>
              <a:t>？</a:t>
            </a:r>
          </a:p>
          <a:p>
            <a:r>
              <a:rPr dirty="0"/>
              <a:t>12. </a:t>
            </a:r>
            <a:r>
              <a:rPr dirty="0" err="1"/>
              <a:t>模型、安全和部署有什么限制</a:t>
            </a:r>
            <a:r>
              <a:rPr dirty="0"/>
              <a:t>？</a:t>
            </a:r>
          </a:p>
          <a:p>
            <a:r>
              <a:rPr dirty="0"/>
              <a:t>13. </a:t>
            </a:r>
            <a:r>
              <a:rPr dirty="0" err="1"/>
              <a:t>单次和规模化成本是多少</a:t>
            </a:r>
            <a:r>
              <a:rPr dirty="0"/>
              <a:t>？</a:t>
            </a:r>
          </a:p>
          <a:p>
            <a:r>
              <a:rPr dirty="0"/>
              <a:t>14. </a:t>
            </a:r>
            <a:r>
              <a:rPr dirty="0" err="1"/>
              <a:t>项目是否真的值得做</a:t>
            </a:r>
            <a:r>
              <a:rPr dirty="0"/>
              <a:t>？</a:t>
            </a:r>
          </a:p>
          <a:p>
            <a:endParaRPr dirty="0"/>
          </a:p>
          <a:p>
            <a:r>
              <a:rPr dirty="0" err="1"/>
              <a:t>然后问学员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这两种反应之间最大的区别是什么</a:t>
            </a:r>
            <a:r>
              <a:rPr dirty="0"/>
              <a:t>？</a:t>
            </a:r>
          </a:p>
          <a:p>
            <a:endParaRPr dirty="0"/>
          </a:p>
          <a:p>
            <a:r>
              <a:rPr dirty="0" err="1"/>
              <a:t>教师收回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第一种反应是在寻找工具和功能，第二种反应是在完成产品决策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三、第一阶段形成的五项能力</a:t>
            </a:r>
            <a:endParaRPr dirty="0"/>
          </a:p>
          <a:p>
            <a:endParaRPr dirty="0"/>
          </a:p>
          <a:p>
            <a:r>
              <a:rPr dirty="0" err="1"/>
              <a:t>用一条完整链路回顾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**</a:t>
            </a:r>
            <a:r>
              <a:rPr dirty="0" err="1"/>
              <a:t>问题判断</a:t>
            </a:r>
            <a:r>
              <a:rPr dirty="0"/>
              <a:t> → </a:t>
            </a:r>
            <a:r>
              <a:rPr dirty="0" err="1"/>
              <a:t>AI方案</a:t>
            </a:r>
            <a:r>
              <a:rPr dirty="0"/>
              <a:t> → </a:t>
            </a:r>
            <a:r>
              <a:rPr dirty="0" err="1"/>
              <a:t>产品定义</a:t>
            </a:r>
            <a:r>
              <a:rPr dirty="0"/>
              <a:t> → </a:t>
            </a:r>
            <a:r>
              <a:rPr dirty="0" err="1"/>
              <a:t>效果验证</a:t>
            </a:r>
            <a:r>
              <a:rPr dirty="0"/>
              <a:t> → </a:t>
            </a:r>
            <a:r>
              <a:rPr dirty="0" err="1"/>
              <a:t>商业价值</a:t>
            </a:r>
            <a:r>
              <a:rPr dirty="0"/>
              <a:t>**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能力一：判断什么问题值得用AI解决</a:t>
            </a:r>
            <a:endParaRPr dirty="0"/>
          </a:p>
          <a:p>
            <a:endParaRPr dirty="0"/>
          </a:p>
          <a:p>
            <a:r>
              <a:rPr dirty="0" err="1"/>
              <a:t>以前容易问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能不能加一个AI功能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能不能做一个聊天助手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能不能做成Agent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能不能使用最新模型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现在应该进一步判断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核心用户是谁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用户正在完成什么任务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当前流程有什么问题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问题是否高频、高成本或高风险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传统产品、规则和流程优化能否解决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AI为什么是更合适的手段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AI介入以后会增加什么风险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第一期最值得验证什么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对应所学：岗位与工作、场景判断、产品形态、需求分析、AI介入和MVP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核心变化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从“</a:t>
            </a:r>
            <a:r>
              <a:rPr dirty="0" err="1"/>
              <a:t>这里能不能使用AI</a:t>
            </a:r>
            <a:r>
              <a:rPr dirty="0"/>
              <a:t>”，</a:t>
            </a:r>
            <a:r>
              <a:rPr dirty="0" err="1"/>
              <a:t>变成“这里是否值得使用AI，以及AI应该介入到什么程度</a:t>
            </a:r>
            <a:r>
              <a:rPr dirty="0"/>
              <a:t>”。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能力二：把AI能力组合成可控产品方案</a:t>
            </a:r>
            <a:endParaRPr dirty="0"/>
          </a:p>
          <a:p>
            <a:endParaRPr dirty="0"/>
          </a:p>
          <a:p>
            <a:r>
              <a:rPr dirty="0" err="1"/>
              <a:t>现在应该知道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| </a:t>
            </a:r>
            <a:r>
              <a:rPr dirty="0" err="1"/>
              <a:t>能力</a:t>
            </a:r>
            <a:r>
              <a:rPr dirty="0"/>
              <a:t> | </a:t>
            </a:r>
            <a:r>
              <a:rPr dirty="0" err="1"/>
              <a:t>主要解决的问题</a:t>
            </a:r>
            <a:r>
              <a:rPr dirty="0"/>
              <a:t> |</a:t>
            </a:r>
          </a:p>
          <a:p>
            <a:r>
              <a:rPr dirty="0"/>
              <a:t>|---|---|</a:t>
            </a:r>
          </a:p>
          <a:p>
            <a:r>
              <a:rPr dirty="0"/>
              <a:t>| Prompt | </a:t>
            </a:r>
            <a:r>
              <a:rPr dirty="0" err="1"/>
              <a:t>怎样让模型完成一次明确任务</a:t>
            </a:r>
            <a:r>
              <a:rPr dirty="0"/>
              <a:t> |</a:t>
            </a:r>
          </a:p>
          <a:p>
            <a:r>
              <a:rPr dirty="0"/>
              <a:t>| Workflow | </a:t>
            </a:r>
            <a:r>
              <a:rPr dirty="0" err="1"/>
              <a:t>怎样组织稳定、可控制的处理流程</a:t>
            </a:r>
            <a:r>
              <a:rPr dirty="0"/>
              <a:t> |</a:t>
            </a:r>
          </a:p>
          <a:p>
            <a:r>
              <a:rPr dirty="0"/>
              <a:t>| RAG | </a:t>
            </a:r>
            <a:r>
              <a:rPr dirty="0" err="1"/>
              <a:t>怎样让模型使用外部或私有知识</a:t>
            </a:r>
            <a:r>
              <a:rPr dirty="0"/>
              <a:t> |</a:t>
            </a:r>
          </a:p>
          <a:p>
            <a:r>
              <a:rPr dirty="0"/>
              <a:t>| Agent | </a:t>
            </a:r>
            <a:r>
              <a:rPr dirty="0" err="1"/>
              <a:t>怎样让系统根据任务调用工具和执行动作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规则</a:t>
            </a:r>
            <a:r>
              <a:rPr dirty="0"/>
              <a:t> | </a:t>
            </a:r>
            <a:r>
              <a:rPr dirty="0" err="1"/>
              <a:t>怎样完成确定性判断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人工</a:t>
            </a:r>
            <a:r>
              <a:rPr dirty="0"/>
              <a:t> | </a:t>
            </a:r>
            <a:r>
              <a:rPr dirty="0" err="1"/>
              <a:t>怎样处理责任、高风险和模糊问题</a:t>
            </a:r>
            <a:r>
              <a:rPr dirty="0"/>
              <a:t> |</a:t>
            </a:r>
          </a:p>
          <a:p>
            <a:endParaRPr dirty="0"/>
          </a:p>
          <a:p>
            <a:r>
              <a:rPr dirty="0" err="1"/>
              <a:t>AI产品方案不是选择一个最流行的技术，而是根据任务完成组合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例如智能审核产品中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敏感词由规则判断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复杂语义由大模型判断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企业规则和案例由RAG提供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高风险和不确定结果进入人工复核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确认后的动作再由系统执行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对应所学：大模型与上下文、Prompt、Workflow、RAG、Agent、Coze综合实践以及人机分工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核心变化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从“</a:t>
            </a:r>
            <a:r>
              <a:rPr dirty="0" err="1"/>
              <a:t>这个项目应该使用什么AI技术</a:t>
            </a:r>
            <a:r>
              <a:rPr dirty="0"/>
              <a:t>”，</a:t>
            </a:r>
            <a:r>
              <a:rPr dirty="0" err="1"/>
              <a:t>变成“不同任务应该分别由什么能力负责</a:t>
            </a:r>
            <a:r>
              <a:rPr dirty="0"/>
              <a:t>”。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能力三：把AI想法变成可以交付的产品</a:t>
            </a:r>
            <a:endParaRPr dirty="0"/>
          </a:p>
          <a:p>
            <a:endParaRPr dirty="0"/>
          </a:p>
          <a:p>
            <a:r>
              <a:rPr dirty="0" err="1"/>
              <a:t>一个AI产品需要被清楚定义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用户和场景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产品目标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当前流程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AI介入点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人机协作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输入和输出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MVP范围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页面、流程和交互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正常、异常和确认状态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AI无法判断时怎么办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验收标准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不在本期范围内的内容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PRD、原型和Demo解决的问题不同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| </a:t>
            </a:r>
            <a:r>
              <a:rPr dirty="0" err="1"/>
              <a:t>产出</a:t>
            </a:r>
            <a:r>
              <a:rPr dirty="0"/>
              <a:t> | </a:t>
            </a:r>
            <a:r>
              <a:rPr dirty="0" err="1"/>
              <a:t>主要证明什么</a:t>
            </a:r>
            <a:r>
              <a:rPr dirty="0"/>
              <a:t> |</a:t>
            </a:r>
          </a:p>
          <a:p>
            <a:r>
              <a:rPr dirty="0"/>
              <a:t>|---|---|</a:t>
            </a:r>
          </a:p>
          <a:p>
            <a:r>
              <a:rPr dirty="0"/>
              <a:t>| PRD | </a:t>
            </a:r>
            <a:r>
              <a:rPr dirty="0" err="1"/>
              <a:t>产品方案是否定义清楚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原型</a:t>
            </a:r>
            <a:r>
              <a:rPr dirty="0"/>
              <a:t> | </a:t>
            </a:r>
            <a:r>
              <a:rPr dirty="0" err="1"/>
              <a:t>用户流程和交互是否合理</a:t>
            </a:r>
            <a:r>
              <a:rPr dirty="0"/>
              <a:t> |</a:t>
            </a:r>
          </a:p>
          <a:p>
            <a:r>
              <a:rPr dirty="0"/>
              <a:t>| Demo | </a:t>
            </a:r>
            <a:r>
              <a:rPr dirty="0" err="1"/>
              <a:t>核心产品假设能否被体验和验证</a:t>
            </a:r>
            <a:r>
              <a:rPr dirty="0"/>
              <a:t> |</a:t>
            </a:r>
          </a:p>
          <a:p>
            <a:endParaRPr dirty="0"/>
          </a:p>
          <a:p>
            <a:r>
              <a:rPr dirty="0" err="1"/>
              <a:t>对应所学：需求分析、AI产品PRD、产品流程、MVP、原型、Vibe</a:t>
            </a:r>
            <a:r>
              <a:rPr dirty="0"/>
              <a:t> </a:t>
            </a:r>
            <a:r>
              <a:rPr dirty="0" err="1"/>
              <a:t>Coding、Demo和验收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核心变化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从“</a:t>
            </a:r>
            <a:r>
              <a:rPr dirty="0" err="1"/>
              <a:t>能不能快速做出Demo</a:t>
            </a:r>
            <a:r>
              <a:rPr dirty="0"/>
              <a:t>”，</a:t>
            </a:r>
            <a:r>
              <a:rPr dirty="0" err="1"/>
              <a:t>变成“这个Demo正在验证什么产品假设</a:t>
            </a:r>
            <a:r>
              <a:rPr dirty="0"/>
              <a:t>”。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能力四：用评测和Bad</a:t>
            </a:r>
            <a:r>
              <a:rPr dirty="0"/>
              <a:t> </a:t>
            </a:r>
            <a:r>
              <a:rPr dirty="0" err="1"/>
              <a:t>Case管理不确定性</a:t>
            </a:r>
            <a:endParaRPr dirty="0"/>
          </a:p>
          <a:p>
            <a:endParaRPr dirty="0"/>
          </a:p>
          <a:p>
            <a:r>
              <a:rPr dirty="0" err="1"/>
              <a:t>AI产品效果需要经过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1. </a:t>
            </a:r>
            <a:r>
              <a:rPr dirty="0" err="1"/>
              <a:t>明确业务任务</a:t>
            </a:r>
            <a:r>
              <a:rPr dirty="0"/>
              <a:t>；</a:t>
            </a:r>
          </a:p>
          <a:p>
            <a:r>
              <a:rPr dirty="0"/>
              <a:t>2. </a:t>
            </a:r>
            <a:r>
              <a:rPr dirty="0" err="1"/>
              <a:t>收集有代表性的输入</a:t>
            </a:r>
            <a:r>
              <a:rPr dirty="0"/>
              <a:t>；</a:t>
            </a:r>
          </a:p>
          <a:p>
            <a:r>
              <a:rPr dirty="0"/>
              <a:t>3. </a:t>
            </a:r>
            <a:r>
              <a:rPr dirty="0" err="1"/>
              <a:t>建立评测集</a:t>
            </a:r>
            <a:r>
              <a:rPr dirty="0"/>
              <a:t>；</a:t>
            </a:r>
          </a:p>
          <a:p>
            <a:r>
              <a:rPr dirty="0"/>
              <a:t>4. </a:t>
            </a:r>
            <a:r>
              <a:rPr dirty="0" err="1"/>
              <a:t>人工标注标准答案</a:t>
            </a:r>
            <a:r>
              <a:rPr dirty="0"/>
              <a:t>；</a:t>
            </a:r>
          </a:p>
          <a:p>
            <a:r>
              <a:rPr dirty="0"/>
              <a:t>5. </a:t>
            </a:r>
            <a:r>
              <a:rPr dirty="0" err="1"/>
              <a:t>定义核心指标</a:t>
            </a:r>
            <a:r>
              <a:rPr dirty="0"/>
              <a:t>；</a:t>
            </a:r>
          </a:p>
          <a:p>
            <a:r>
              <a:rPr dirty="0"/>
              <a:t>6. </a:t>
            </a:r>
            <a:r>
              <a:rPr dirty="0" err="1"/>
              <a:t>测试模型和产品方案</a:t>
            </a:r>
            <a:r>
              <a:rPr dirty="0"/>
              <a:t>；</a:t>
            </a:r>
          </a:p>
          <a:p>
            <a:r>
              <a:rPr dirty="0"/>
              <a:t>7. </a:t>
            </a:r>
            <a:r>
              <a:rPr dirty="0" err="1"/>
              <a:t>分析Bad</a:t>
            </a:r>
            <a:r>
              <a:rPr dirty="0"/>
              <a:t> Case；</a:t>
            </a:r>
          </a:p>
          <a:p>
            <a:r>
              <a:rPr dirty="0"/>
              <a:t>8. </a:t>
            </a:r>
            <a:r>
              <a:rPr dirty="0" err="1"/>
              <a:t>判断问题原因</a:t>
            </a:r>
            <a:r>
              <a:rPr dirty="0"/>
              <a:t>；</a:t>
            </a:r>
          </a:p>
          <a:p>
            <a:r>
              <a:rPr dirty="0"/>
              <a:t>9. </a:t>
            </a:r>
            <a:r>
              <a:rPr dirty="0" err="1"/>
              <a:t>修改数据、Prompt、RAG、Workflow、模型或产品设计</a:t>
            </a:r>
            <a:r>
              <a:rPr dirty="0"/>
              <a:t>；</a:t>
            </a:r>
          </a:p>
          <a:p>
            <a:r>
              <a:rPr dirty="0"/>
              <a:t>10. </a:t>
            </a:r>
            <a:r>
              <a:rPr dirty="0" err="1"/>
              <a:t>回归评测</a:t>
            </a:r>
            <a:r>
              <a:rPr dirty="0"/>
              <a:t>；</a:t>
            </a:r>
          </a:p>
          <a:p>
            <a:r>
              <a:rPr dirty="0"/>
              <a:t>11. </a:t>
            </a:r>
            <a:r>
              <a:rPr dirty="0" err="1"/>
              <a:t>持续收集新问题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指标必须与任务和错误后果对应。例如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RAG关注是否检索到正确来源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审核产品关注高风险问题是否漏判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会议助手关注行动项是否遗漏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Agent关注任务是否正确执行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核心变化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从“</a:t>
            </a:r>
            <a:r>
              <a:rPr dirty="0" err="1"/>
              <a:t>这个模型看起来效果不错</a:t>
            </a:r>
            <a:r>
              <a:rPr dirty="0"/>
              <a:t>”，</a:t>
            </a:r>
            <a:r>
              <a:rPr dirty="0" err="1"/>
              <a:t>变成“在什么数据、指标和风险标准下，它是否达到产品要求</a:t>
            </a:r>
            <a:r>
              <a:rPr dirty="0"/>
              <a:t>”。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能力五：判断产品能否真正落地并产生价值</a:t>
            </a:r>
            <a:endParaRPr dirty="0"/>
          </a:p>
          <a:p>
            <a:endParaRPr dirty="0"/>
          </a:p>
          <a:p>
            <a:r>
              <a:rPr dirty="0" err="1"/>
              <a:t>模型和产品方案需要同时考虑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业务效果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响应速度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Token和推理成本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调用规模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数据安全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国内外模型限制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私有化和云服务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人工复核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系统开发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错误成本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供应商风险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自研、采购还是组合建设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项目ROI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是否应该继续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核心变化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从“</a:t>
            </a:r>
            <a:r>
              <a:rPr dirty="0" err="1"/>
              <a:t>这个AI功能能不能实现</a:t>
            </a:r>
            <a:r>
              <a:rPr dirty="0"/>
              <a:t>”，</a:t>
            </a:r>
            <a:r>
              <a:rPr dirty="0" err="1"/>
              <a:t>变成“它能否在可以接受的效果、风险和成本下长期创造价值</a:t>
            </a:r>
            <a:r>
              <a:rPr dirty="0"/>
              <a:t>”。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四、五项能力是一条因果链</a:t>
            </a:r>
            <a:endParaRPr dirty="0"/>
          </a:p>
          <a:p>
            <a:endParaRPr dirty="0"/>
          </a:p>
          <a:p>
            <a:r>
              <a:rPr dirty="0" err="1"/>
              <a:t>例如，产品目标是减少营销内容中的高风险漏判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问题判断决定优先关注高风险内容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AI方案决定规则、大模型和人工如何分工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PRD需要定义风险等级和处理动作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评测需要关注高风险召回率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模型选型需要优先保证风险识别能力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ROI需要计算人工复核和错误损失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完整链路是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业务问题决定产品目标</a:t>
            </a:r>
            <a:r>
              <a:rPr dirty="0"/>
              <a:t>  </a:t>
            </a:r>
          </a:p>
          <a:p>
            <a:r>
              <a:rPr dirty="0"/>
              <a:t>&gt; </a:t>
            </a:r>
            <a:r>
              <a:rPr dirty="0" err="1"/>
              <a:t>产品目标决定AI方案</a:t>
            </a:r>
            <a:r>
              <a:rPr dirty="0"/>
              <a:t>  </a:t>
            </a:r>
          </a:p>
          <a:p>
            <a:r>
              <a:rPr dirty="0"/>
              <a:t>&gt; </a:t>
            </a:r>
            <a:r>
              <a:rPr dirty="0" err="1"/>
              <a:t>AI方案决定产品流程</a:t>
            </a:r>
            <a:r>
              <a:rPr dirty="0"/>
              <a:t>  </a:t>
            </a:r>
          </a:p>
          <a:p>
            <a:r>
              <a:rPr dirty="0"/>
              <a:t>&gt; </a:t>
            </a:r>
            <a:r>
              <a:rPr dirty="0" err="1"/>
              <a:t>产品流程决定评测方式</a:t>
            </a:r>
            <a:r>
              <a:rPr dirty="0"/>
              <a:t>  </a:t>
            </a:r>
          </a:p>
          <a:p>
            <a:r>
              <a:rPr dirty="0"/>
              <a:t>&gt; </a:t>
            </a:r>
            <a:r>
              <a:rPr dirty="0" err="1"/>
              <a:t>评测结果影响模型和迭代</a:t>
            </a:r>
            <a:r>
              <a:rPr dirty="0"/>
              <a:t>  </a:t>
            </a:r>
          </a:p>
          <a:p>
            <a:r>
              <a:rPr dirty="0"/>
              <a:t>&gt; </a:t>
            </a:r>
            <a:r>
              <a:rPr dirty="0" err="1"/>
              <a:t>成本与价值最终决定是否继续</a:t>
            </a:r>
            <a:endParaRPr dirty="0"/>
          </a:p>
          <a:p>
            <a:endParaRPr dirty="0"/>
          </a:p>
          <a:p>
            <a:r>
              <a:rPr dirty="0" err="1"/>
              <a:t>核心结论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第一阶段建立的不是一组AI知识点，而是一套从问题到价值的产品决策链路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五、第一阶段成果墙</a:t>
            </a:r>
            <a:endParaRPr dirty="0"/>
          </a:p>
          <a:p>
            <a:endParaRPr dirty="0"/>
          </a:p>
          <a:p>
            <a:r>
              <a:rPr dirty="0"/>
              <a:t>| </a:t>
            </a:r>
            <a:r>
              <a:rPr dirty="0" err="1"/>
              <a:t>第一阶段成果</a:t>
            </a:r>
            <a:r>
              <a:rPr dirty="0"/>
              <a:t> | </a:t>
            </a:r>
            <a:r>
              <a:rPr dirty="0" err="1"/>
              <a:t>它证明了什么</a:t>
            </a:r>
            <a:r>
              <a:rPr dirty="0"/>
              <a:t> |</a:t>
            </a:r>
          </a:p>
          <a:p>
            <a:r>
              <a:rPr dirty="0"/>
              <a:t>|---|---|</a:t>
            </a:r>
          </a:p>
          <a:p>
            <a:r>
              <a:rPr dirty="0"/>
              <a:t>| </a:t>
            </a:r>
            <a:r>
              <a:rPr dirty="0" err="1"/>
              <a:t>Prompt产品化练习</a:t>
            </a:r>
            <a:r>
              <a:rPr dirty="0"/>
              <a:t> | </a:t>
            </a:r>
            <a:r>
              <a:rPr dirty="0" err="1"/>
              <a:t>能定义AI任务、上下文、约束和输出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Workflow流程</a:t>
            </a:r>
            <a:r>
              <a:rPr dirty="0"/>
              <a:t> | </a:t>
            </a:r>
            <a:r>
              <a:rPr dirty="0" err="1"/>
              <a:t>能把复杂任务拆成稳定步骤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RAG知识库方案</a:t>
            </a:r>
            <a:r>
              <a:rPr dirty="0"/>
              <a:t> | </a:t>
            </a:r>
            <a:r>
              <a:rPr dirty="0" err="1"/>
              <a:t>理解外部知识如何进入AI产品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Agent工具调用方案</a:t>
            </a:r>
            <a:r>
              <a:rPr dirty="0"/>
              <a:t> | </a:t>
            </a:r>
            <a:r>
              <a:rPr dirty="0" err="1"/>
              <a:t>理解受控执行、权限和人工确认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Coze综合实践</a:t>
            </a:r>
            <a:r>
              <a:rPr dirty="0"/>
              <a:t> | </a:t>
            </a:r>
            <a:r>
              <a:rPr dirty="0" err="1"/>
              <a:t>能把多种AI能力组成可运行流程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需求分析和PRD</a:t>
            </a:r>
            <a:r>
              <a:rPr dirty="0"/>
              <a:t> | </a:t>
            </a:r>
            <a:r>
              <a:rPr dirty="0" err="1"/>
              <a:t>能把业务问题转化成产品方案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原型和Demo</a:t>
            </a:r>
            <a:r>
              <a:rPr dirty="0"/>
              <a:t> | </a:t>
            </a:r>
            <a:r>
              <a:rPr dirty="0" err="1"/>
              <a:t>能让产品假设被体验和验证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评测集和Bad</a:t>
            </a:r>
            <a:r>
              <a:rPr dirty="0"/>
              <a:t> Case | </a:t>
            </a:r>
            <a:r>
              <a:rPr dirty="0" err="1"/>
              <a:t>能定义效果并推动迭代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智能审核完整PRD</a:t>
            </a:r>
            <a:r>
              <a:rPr dirty="0"/>
              <a:t> | </a:t>
            </a:r>
            <a:r>
              <a:rPr dirty="0" err="1"/>
              <a:t>理解专业AI产品PRD的完整结构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模型、成本和ROI分析</a:t>
            </a:r>
            <a:r>
              <a:rPr dirty="0"/>
              <a:t> | </a:t>
            </a:r>
            <a:r>
              <a:rPr dirty="0" err="1"/>
              <a:t>能判断产品是否具备落地价值</a:t>
            </a:r>
            <a:r>
              <a:rPr dirty="0"/>
              <a:t> |</a:t>
            </a:r>
          </a:p>
          <a:p>
            <a:endParaRPr dirty="0"/>
          </a:p>
          <a:p>
            <a:r>
              <a:rPr dirty="0" err="1"/>
              <a:t>需要准确表述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第一阶段已经让大家接触并实践了完整项目中的主要能力模块，但这些模块还没有集中在一个个人项目中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六、第一阶段还没有完成什么</a:t>
            </a:r>
            <a:endParaRPr dirty="0"/>
          </a:p>
          <a:p>
            <a:endParaRPr dirty="0"/>
          </a:p>
          <a:p>
            <a:r>
              <a:rPr dirty="0" err="1"/>
              <a:t>对大多数学员来说，目前还缺少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一个自己选择并持续推进的统一项目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前后口径一致的需求、PRD和Demo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真实或可解释的用户问题证据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自己建立并运行的评测集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真实Bad</a:t>
            </a:r>
            <a:r>
              <a:rPr dirty="0"/>
              <a:t> Case；</a:t>
            </a:r>
          </a:p>
          <a:p>
            <a:r>
              <a:rPr dirty="0"/>
              <a:t>- </a:t>
            </a:r>
            <a:r>
              <a:rPr dirty="0" err="1"/>
              <a:t>根据测试结果进行的迭代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模型、成本和ROI的统一判断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能够接受面试追问的个人项目过程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本部分最终总结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| </a:t>
            </a:r>
            <a:r>
              <a:rPr dirty="0" err="1"/>
              <a:t>学习前</a:t>
            </a:r>
            <a:r>
              <a:rPr dirty="0"/>
              <a:t> | </a:t>
            </a:r>
            <a:r>
              <a:rPr dirty="0" err="1"/>
              <a:t>第一阶段以后</a:t>
            </a:r>
            <a:r>
              <a:rPr dirty="0"/>
              <a:t> |</a:t>
            </a:r>
          </a:p>
          <a:p>
            <a:r>
              <a:rPr dirty="0"/>
              <a:t>|---|---|</a:t>
            </a:r>
          </a:p>
          <a:p>
            <a:r>
              <a:rPr dirty="0"/>
              <a:t>| </a:t>
            </a:r>
            <a:r>
              <a:rPr dirty="0" err="1"/>
              <a:t>从工具开始</a:t>
            </a:r>
            <a:r>
              <a:rPr dirty="0"/>
              <a:t> | </a:t>
            </a:r>
            <a:r>
              <a:rPr dirty="0" err="1"/>
              <a:t>从问题开始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追求生成效果</a:t>
            </a:r>
            <a:r>
              <a:rPr dirty="0"/>
              <a:t> | </a:t>
            </a:r>
            <a:r>
              <a:rPr dirty="0" err="1"/>
              <a:t>设计完整产品系统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凭感觉判断</a:t>
            </a:r>
            <a:r>
              <a:rPr dirty="0"/>
              <a:t> | </a:t>
            </a:r>
            <a:r>
              <a:rPr dirty="0" err="1"/>
              <a:t>用评测和Bad</a:t>
            </a:r>
            <a:r>
              <a:rPr dirty="0"/>
              <a:t> </a:t>
            </a:r>
            <a:r>
              <a:rPr dirty="0" err="1"/>
              <a:t>Case验证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关注能不能做</a:t>
            </a:r>
            <a:r>
              <a:rPr dirty="0"/>
              <a:t> | </a:t>
            </a:r>
            <a:r>
              <a:rPr dirty="0" err="1"/>
              <a:t>判断值不值得做</a:t>
            </a:r>
            <a:r>
              <a:rPr dirty="0"/>
              <a:t> |</a:t>
            </a:r>
          </a:p>
          <a:p>
            <a:endParaRPr dirty="0"/>
          </a:p>
          <a:p>
            <a:r>
              <a:rPr dirty="0" err="1"/>
              <a:t>过渡语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如果模型还会继续变强，Prompt、代码、设计和内容生产的门槛继续下降，那么AI产品真正的价值会转移到哪里？模型公司会不会吃掉大量AI应用？未来的软件还需不需要页面和按钮？接下来，我们把视角再抬高一层。</a:t>
            </a:r>
          </a:p>
          <a:p>
            <a:endParaRPr dirty="0"/>
          </a:p>
          <a:p>
            <a:r>
              <a:rPr dirty="0"/>
              <a:t>---</a:t>
            </a:r>
          </a:p>
          <a:p>
            <a:endParaRPr dirty="0"/>
          </a:p>
          <a:p>
            <a:r>
              <a:rPr dirty="0"/>
              <a:t>&gt; 建议时长：30分钟</a:t>
            </a:r>
          </a:p>
          <a:p>
            <a:endParaRPr dirty="0"/>
          </a:p>
          <a:p>
            <a:r>
              <a:rPr dirty="0" err="1"/>
              <a:t>这一部分既承担第一阶段收尾，也承担第二阶段介绍。需要让学员看见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1. </a:t>
            </a:r>
            <a:r>
              <a:rPr dirty="0" err="1"/>
              <a:t>为什么听懂以后仍然需要项目</a:t>
            </a:r>
            <a:r>
              <a:rPr dirty="0"/>
              <a:t>；</a:t>
            </a:r>
          </a:p>
          <a:p>
            <a:r>
              <a:rPr dirty="0"/>
              <a:t>2. </a:t>
            </a:r>
            <a:r>
              <a:rPr dirty="0" err="1"/>
              <a:t>项目班和普通课程有什么不同</a:t>
            </a:r>
            <a:r>
              <a:rPr dirty="0"/>
              <a:t>；</a:t>
            </a:r>
          </a:p>
          <a:p>
            <a:r>
              <a:rPr dirty="0"/>
              <a:t>3. </a:t>
            </a:r>
            <a:r>
              <a:rPr dirty="0" err="1"/>
              <a:t>一个项目会怎样一步一步做出来</a:t>
            </a:r>
            <a:r>
              <a:rPr dirty="0"/>
              <a:t>；</a:t>
            </a:r>
          </a:p>
          <a:p>
            <a:r>
              <a:rPr dirty="0"/>
              <a:t>4. </a:t>
            </a:r>
            <a:r>
              <a:rPr dirty="0" err="1"/>
              <a:t>学员需要投入什么</a:t>
            </a:r>
            <a:r>
              <a:rPr dirty="0"/>
              <a:t>；</a:t>
            </a:r>
          </a:p>
          <a:p>
            <a:r>
              <a:rPr dirty="0"/>
              <a:t>5. </a:t>
            </a:r>
            <a:r>
              <a:rPr dirty="0" err="1"/>
              <a:t>最终能够带走什么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一、目前距离真实工作最缺什么</a:t>
            </a:r>
            <a:endParaRPr dirty="0"/>
          </a:p>
          <a:p>
            <a:endParaRPr dirty="0"/>
          </a:p>
          <a:p>
            <a:r>
              <a:rPr dirty="0" err="1"/>
              <a:t>让学员选择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A. </a:t>
            </a:r>
            <a:r>
              <a:rPr dirty="0" err="1"/>
              <a:t>还需要学习更多AI概念</a:t>
            </a:r>
            <a:r>
              <a:rPr dirty="0"/>
              <a:t>；</a:t>
            </a:r>
          </a:p>
          <a:p>
            <a:r>
              <a:rPr dirty="0"/>
              <a:t>- B. </a:t>
            </a:r>
            <a:r>
              <a:rPr dirty="0" err="1"/>
              <a:t>还需要掌握更多AI工具</a:t>
            </a:r>
            <a:r>
              <a:rPr dirty="0"/>
              <a:t>；</a:t>
            </a:r>
          </a:p>
          <a:p>
            <a:r>
              <a:rPr dirty="0"/>
              <a:t>- C. </a:t>
            </a:r>
            <a:r>
              <a:rPr dirty="0" err="1"/>
              <a:t>缺少一个自己完整做过的AI项目</a:t>
            </a:r>
            <a:r>
              <a:rPr dirty="0"/>
              <a:t>；</a:t>
            </a:r>
          </a:p>
          <a:p>
            <a:r>
              <a:rPr dirty="0"/>
              <a:t>- D. </a:t>
            </a:r>
            <a:r>
              <a:rPr dirty="0" err="1"/>
              <a:t>缺少简历、作品集和面试技巧</a:t>
            </a:r>
            <a:r>
              <a:rPr dirty="0"/>
              <a:t>；</a:t>
            </a:r>
          </a:p>
          <a:p>
            <a:r>
              <a:rPr dirty="0"/>
              <a:t>- E. </a:t>
            </a:r>
            <a:r>
              <a:rPr dirty="0" err="1"/>
              <a:t>还不确定职业方向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教师说明：不同学员可能答案不同，但对许多人来说，中间最关键的一步是C</a:t>
            </a:r>
            <a:r>
              <a:rPr dirty="0"/>
              <a:t>——</a:t>
            </a:r>
            <a:r>
              <a:rPr dirty="0" err="1"/>
              <a:t>还没有一个能够把前面能力连接起来的个人项目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展示三阶段关系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第一阶段解决“你懂不懂</a:t>
            </a:r>
            <a:r>
              <a:rPr dirty="0"/>
              <a:t>”  </a:t>
            </a:r>
          </a:p>
          <a:p>
            <a:r>
              <a:rPr dirty="0"/>
              <a:t>&gt; </a:t>
            </a:r>
            <a:r>
              <a:rPr dirty="0" err="1"/>
              <a:t>第二阶段解决“你做没做</a:t>
            </a:r>
            <a:r>
              <a:rPr dirty="0"/>
              <a:t>”  </a:t>
            </a:r>
          </a:p>
          <a:p>
            <a:r>
              <a:rPr dirty="0"/>
              <a:t>&gt; </a:t>
            </a:r>
            <a:r>
              <a:rPr dirty="0" err="1"/>
              <a:t>第三阶段解决“你讲不讲得清</a:t>
            </a:r>
            <a:r>
              <a:rPr dirty="0"/>
              <a:t>”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二、为什么听懂不等于做过</a:t>
            </a:r>
            <a:endParaRPr dirty="0"/>
          </a:p>
          <a:p>
            <a:endParaRPr dirty="0"/>
          </a:p>
          <a:p>
            <a:r>
              <a:rPr dirty="0" err="1"/>
              <a:t>真实项目需要连续完成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找到具体用户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验证真实问题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判断AI是否适合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准备数据和材料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设计AI、规则和人工分工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确定MVP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编写PRD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做原型和Demo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建立评测集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分析Bad</a:t>
            </a:r>
            <a:r>
              <a:rPr dirty="0"/>
              <a:t> Case；</a:t>
            </a:r>
          </a:p>
          <a:p>
            <a:r>
              <a:rPr dirty="0"/>
              <a:t>- </a:t>
            </a:r>
            <a:r>
              <a:rPr dirty="0" err="1"/>
              <a:t>比较模型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判断成本和ROI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根据测试结果修改方案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第一阶段中每项能力都接触过，但分散在不同案例。第二阶段要把它们集中到一个项目，并保持前后一致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三、第一阶段和项目班的区别</a:t>
            </a:r>
            <a:endParaRPr dirty="0"/>
          </a:p>
          <a:p>
            <a:endParaRPr dirty="0"/>
          </a:p>
          <a:p>
            <a:r>
              <a:rPr dirty="0"/>
              <a:t>| </a:t>
            </a:r>
            <a:r>
              <a:rPr dirty="0" err="1"/>
              <a:t>第一阶段系统课程</a:t>
            </a:r>
            <a:r>
              <a:rPr dirty="0"/>
              <a:t> | </a:t>
            </a:r>
            <a:r>
              <a:rPr dirty="0" err="1"/>
              <a:t>第二阶段项目班</a:t>
            </a:r>
            <a:r>
              <a:rPr dirty="0"/>
              <a:t> |</a:t>
            </a:r>
          </a:p>
          <a:p>
            <a:r>
              <a:rPr dirty="0"/>
              <a:t>|---|---|</a:t>
            </a:r>
          </a:p>
          <a:p>
            <a:r>
              <a:rPr dirty="0"/>
              <a:t>| </a:t>
            </a:r>
            <a:r>
              <a:rPr dirty="0" err="1"/>
              <a:t>以知识和方法为主</a:t>
            </a:r>
            <a:r>
              <a:rPr dirty="0"/>
              <a:t> | </a:t>
            </a:r>
            <a:r>
              <a:rPr dirty="0" err="1"/>
              <a:t>以项目交付为主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教师先解释概念</a:t>
            </a:r>
            <a:r>
              <a:rPr dirty="0"/>
              <a:t> | </a:t>
            </a:r>
            <a:r>
              <a:rPr dirty="0" err="1"/>
              <a:t>学员先面对不完整任务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案例用于理解知识</a:t>
            </a:r>
            <a:r>
              <a:rPr dirty="0"/>
              <a:t> | </a:t>
            </a:r>
            <a:r>
              <a:rPr dirty="0" err="1"/>
              <a:t>知识用于解决项目问题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练习相对独立</a:t>
            </a:r>
            <a:r>
              <a:rPr dirty="0"/>
              <a:t> | </a:t>
            </a:r>
            <a:r>
              <a:rPr dirty="0" err="1"/>
              <a:t>每次产出进入同一个项目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教师提供较多结构</a:t>
            </a:r>
            <a:r>
              <a:rPr dirty="0"/>
              <a:t> | </a:t>
            </a:r>
            <a:r>
              <a:rPr dirty="0" err="1"/>
              <a:t>学员需要做出自己的取舍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重点是是否理解</a:t>
            </a:r>
            <a:r>
              <a:rPr dirty="0"/>
              <a:t> | </a:t>
            </a:r>
            <a:r>
              <a:rPr dirty="0" err="1"/>
              <a:t>重点是是否有证据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看见参考答案</a:t>
            </a:r>
            <a:r>
              <a:rPr dirty="0"/>
              <a:t> | </a:t>
            </a:r>
            <a:r>
              <a:rPr dirty="0" err="1"/>
              <a:t>接受评审、修改和迭代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完成课堂练习</a:t>
            </a:r>
            <a:r>
              <a:rPr dirty="0"/>
              <a:t> | </a:t>
            </a:r>
            <a:r>
              <a:rPr dirty="0" err="1"/>
              <a:t>形成完整项目材料</a:t>
            </a:r>
            <a:r>
              <a:rPr dirty="0"/>
              <a:t> |</a:t>
            </a:r>
          </a:p>
          <a:p>
            <a:endParaRPr dirty="0"/>
          </a:p>
          <a:p>
            <a:r>
              <a:rPr dirty="0" err="1"/>
              <a:t>项目班不是把第一阶段再讲一次，而更接近一个项目工作室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四、公共项目＋个人方向项目</a:t>
            </a:r>
            <a:endParaRPr dirty="0"/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公共项目</a:t>
            </a:r>
            <a:endParaRPr dirty="0"/>
          </a:p>
          <a:p>
            <a:endParaRPr dirty="0"/>
          </a:p>
          <a:p>
            <a:r>
              <a:rPr dirty="0"/>
              <a:t>所有学员围绕一个共同项目走通AI产品从0到1：</a:t>
            </a:r>
          </a:p>
          <a:p>
            <a:endParaRPr dirty="0"/>
          </a:p>
          <a:p>
            <a:r>
              <a:rPr dirty="0"/>
              <a:t>1. </a:t>
            </a:r>
            <a:r>
              <a:rPr dirty="0" err="1"/>
              <a:t>教师发布业务任务和基础材料</a:t>
            </a:r>
            <a:r>
              <a:rPr dirty="0"/>
              <a:t>；</a:t>
            </a:r>
          </a:p>
          <a:p>
            <a:r>
              <a:rPr dirty="0"/>
              <a:t>2. </a:t>
            </a:r>
            <a:r>
              <a:rPr dirty="0" err="1"/>
              <a:t>学员先提交个人判断</a:t>
            </a:r>
            <a:r>
              <a:rPr dirty="0"/>
              <a:t>；</a:t>
            </a:r>
          </a:p>
          <a:p>
            <a:r>
              <a:rPr dirty="0"/>
              <a:t>3. </a:t>
            </a:r>
            <a:r>
              <a:rPr dirty="0" err="1"/>
              <a:t>课堂比较不同方案</a:t>
            </a:r>
            <a:r>
              <a:rPr dirty="0"/>
              <a:t>；</a:t>
            </a:r>
          </a:p>
          <a:p>
            <a:r>
              <a:rPr dirty="0"/>
              <a:t>4. </a:t>
            </a:r>
            <a:r>
              <a:rPr dirty="0" err="1"/>
              <a:t>教师讲评关键决策</a:t>
            </a:r>
            <a:r>
              <a:rPr dirty="0"/>
              <a:t>；</a:t>
            </a:r>
          </a:p>
          <a:p>
            <a:r>
              <a:rPr dirty="0"/>
              <a:t>5. </a:t>
            </a:r>
            <a:r>
              <a:rPr dirty="0" err="1"/>
              <a:t>学员修改个人版本</a:t>
            </a:r>
            <a:r>
              <a:rPr dirty="0"/>
              <a:t>；</a:t>
            </a:r>
          </a:p>
          <a:p>
            <a:r>
              <a:rPr dirty="0"/>
              <a:t>6. </a:t>
            </a:r>
            <a:r>
              <a:rPr dirty="0" err="1"/>
              <a:t>继续进入下一阶段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公共项目用于统一项目标准，降低第一次独立选题的困难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个人方向项目</a:t>
            </a:r>
            <a:endParaRPr dirty="0"/>
          </a:p>
          <a:p>
            <a:endParaRPr dirty="0"/>
          </a:p>
          <a:p>
            <a:r>
              <a:rPr dirty="0" err="1"/>
              <a:t>学员结合过去行业、工作场景、可访问用户、可获得数据、目标岗位和希望证明的能力选择项目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可能方向包括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企业知识库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销售辅助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内容生产与审核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用户反馈分析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会议任务跟进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商品决策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招聘或培训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特定行业AI应用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个人项目用于形成与背景和求职方向有关的差异化证据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五、小组形式怎样工作</a:t>
            </a:r>
            <a:endParaRPr dirty="0"/>
          </a:p>
          <a:p>
            <a:endParaRPr dirty="0"/>
          </a:p>
          <a:p>
            <a:r>
              <a:rPr dirty="0" err="1"/>
              <a:t>小组不是多人共同交一份作业。每个人对自己的项目负责，小组用于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质疑问题是否真实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检查MVP是否过大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体验彼此Demo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交换测试用例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帮助发现Bad</a:t>
            </a:r>
            <a:r>
              <a:rPr dirty="0"/>
              <a:t> Case；</a:t>
            </a:r>
          </a:p>
          <a:p>
            <a:r>
              <a:rPr dirty="0"/>
              <a:t>- </a:t>
            </a:r>
            <a:r>
              <a:rPr dirty="0" err="1"/>
              <a:t>模拟产品评审和用户反馈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比较不同项目的处理方式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这样学员重点完成自己的项目，同时可以通过同学接触更多Workflow、RAG、Agent、To</a:t>
            </a:r>
            <a:r>
              <a:rPr dirty="0"/>
              <a:t> </a:t>
            </a:r>
            <a:r>
              <a:rPr dirty="0" err="1"/>
              <a:t>B、To</a:t>
            </a:r>
            <a:r>
              <a:rPr dirty="0"/>
              <a:t> </a:t>
            </a:r>
            <a:r>
              <a:rPr dirty="0" err="1"/>
              <a:t>C和行业案例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六、每次项目课的六步节奏</a:t>
            </a:r>
            <a:endParaRPr dirty="0"/>
          </a:p>
          <a:p>
            <a:endParaRPr dirty="0"/>
          </a:p>
          <a:p>
            <a:r>
              <a:rPr dirty="0"/>
              <a:t>1. **</a:t>
            </a:r>
            <a:r>
              <a:rPr dirty="0" err="1"/>
              <a:t>项目任务发布</a:t>
            </a:r>
            <a:r>
              <a:rPr dirty="0"/>
              <a:t>**：</a:t>
            </a:r>
            <a:r>
              <a:rPr dirty="0" err="1"/>
              <a:t>教师明确本阶段需要解决的问题</a:t>
            </a:r>
            <a:r>
              <a:rPr dirty="0"/>
              <a:t>；</a:t>
            </a:r>
          </a:p>
          <a:p>
            <a:r>
              <a:rPr dirty="0"/>
              <a:t>2. **</a:t>
            </a:r>
            <a:r>
              <a:rPr dirty="0" err="1"/>
              <a:t>学员完成初稿</a:t>
            </a:r>
            <a:r>
              <a:rPr dirty="0"/>
              <a:t>**：先形成个人V0.1，不等待标准答案；</a:t>
            </a:r>
          </a:p>
          <a:p>
            <a:r>
              <a:rPr dirty="0"/>
              <a:t>3. **</a:t>
            </a:r>
            <a:r>
              <a:rPr dirty="0" err="1"/>
              <a:t>展示代表方案</a:t>
            </a:r>
            <a:r>
              <a:rPr dirty="0"/>
              <a:t>**：</a:t>
            </a:r>
            <a:r>
              <a:rPr dirty="0" err="1"/>
              <a:t>选择范围过大、过于保守、技术堆叠或证据充分的典型作业</a:t>
            </a:r>
            <a:r>
              <a:rPr dirty="0"/>
              <a:t>；</a:t>
            </a:r>
          </a:p>
          <a:p>
            <a:r>
              <a:rPr dirty="0"/>
              <a:t>4. **</a:t>
            </a:r>
            <a:r>
              <a:rPr dirty="0" err="1"/>
              <a:t>同学互评</a:t>
            </a:r>
            <a:r>
              <a:rPr dirty="0"/>
              <a:t>**：</a:t>
            </a:r>
            <a:r>
              <a:rPr dirty="0" err="1"/>
              <a:t>围绕问题、MVP、数据、评测和风险提出问题</a:t>
            </a:r>
            <a:r>
              <a:rPr dirty="0"/>
              <a:t>；</a:t>
            </a:r>
          </a:p>
          <a:p>
            <a:r>
              <a:rPr dirty="0"/>
              <a:t>5. **</a:t>
            </a:r>
            <a:r>
              <a:rPr dirty="0" err="1"/>
              <a:t>教师点评</a:t>
            </a:r>
            <a:r>
              <a:rPr dirty="0"/>
              <a:t>**：</a:t>
            </a:r>
            <a:r>
              <a:rPr dirty="0" err="1"/>
              <a:t>指出缺少证据、范围不合理、自动化风险和指标问题</a:t>
            </a:r>
            <a:r>
              <a:rPr dirty="0"/>
              <a:t>；</a:t>
            </a:r>
          </a:p>
          <a:p>
            <a:r>
              <a:rPr dirty="0"/>
              <a:t>6. **</a:t>
            </a:r>
            <a:r>
              <a:rPr dirty="0" err="1"/>
              <a:t>修改迭代</a:t>
            </a:r>
            <a:r>
              <a:rPr dirty="0"/>
              <a:t>**：保留V0.1、V0.2、V1.0以及修改原因。</a:t>
            </a:r>
          </a:p>
          <a:p>
            <a:endParaRPr dirty="0"/>
          </a:p>
          <a:p>
            <a:r>
              <a:rPr dirty="0" err="1"/>
              <a:t>项目班的价值不是只得到最终答案，而是看见项目怎样被迭代出来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七、一个项目怎样成长</a:t>
            </a:r>
            <a:endParaRPr dirty="0"/>
          </a:p>
          <a:p>
            <a:endParaRPr dirty="0"/>
          </a:p>
          <a:p>
            <a:r>
              <a:rPr dirty="0" err="1"/>
              <a:t>以“企业AI知识库”为例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初始想法</a:t>
            </a:r>
            <a:endParaRPr dirty="0"/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做一个企业AI知识库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此时缺少用户、问题、数据、评测和权限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问题验证后</a:t>
            </a:r>
            <a:endParaRPr dirty="0"/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面向售前顾问的产品资料检索与回答助手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场景是售前顾问准备客户方案时，需要从分散的产品手册、报价说明和历史案例中查找信息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MVP设计后</a:t>
            </a:r>
            <a:endParaRPr dirty="0"/>
          </a:p>
          <a:p>
            <a:endParaRPr dirty="0"/>
          </a:p>
          <a:p>
            <a:r>
              <a:rPr dirty="0" err="1"/>
              <a:t>第一期做：资料上传、检索、候选答案、来源展示、无答案兜底和用户反馈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第一期不做：自动生成完整销售方案、自动发送客户、自动承诺价格和连接所有企业系统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Demo以后</a:t>
            </a:r>
            <a:endParaRPr dirty="0"/>
          </a:p>
          <a:p>
            <a:endParaRPr dirty="0"/>
          </a:p>
          <a:p>
            <a:r>
              <a:rPr dirty="0" err="1"/>
              <a:t>形成问答、来源、无答案、权限和反馈等可运行状态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评测以后</a:t>
            </a:r>
            <a:endParaRPr dirty="0"/>
          </a:p>
          <a:p>
            <a:endParaRPr dirty="0"/>
          </a:p>
          <a:p>
            <a:r>
              <a:rPr dirty="0" err="1"/>
              <a:t>建立真实问题、标准答案、来源文档、检索命中率、答案正确性和无依据回答率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Bad </a:t>
            </a:r>
            <a:r>
              <a:rPr dirty="0" err="1"/>
              <a:t>Case迭代以后</a:t>
            </a:r>
            <a:endParaRPr dirty="0"/>
          </a:p>
          <a:p>
            <a:endParaRPr dirty="0"/>
          </a:p>
          <a:p>
            <a:r>
              <a:rPr dirty="0"/>
              <a:t>发现型号混淆、旧价格资料误检索、表格切分差和多产品对比不稳定，进而修改文档版本、Metadata过滤、表格处理、问题改写和无答案兜底。</a:t>
            </a:r>
          </a:p>
          <a:p>
            <a:endParaRPr dirty="0"/>
          </a:p>
          <a:p>
            <a:r>
              <a:rPr dirty="0" err="1"/>
              <a:t>最终学员能够讲清：为什么选题、为什么需要RAG、MVP如何取舍、评测集从哪里来、发现什么问题、怎样修改，以及项目仍有什么限制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教师总结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项目班不是把“企业知识库”五个字扩写成一份长PRD，而是把它一步一步变成有问题、有产品、有测试、有迭代的完整项目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八、项目推进的七个阶段</a:t>
            </a:r>
            <a:endParaRPr dirty="0"/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阶段一：选题与问题验证</a:t>
            </a:r>
            <a:endParaRPr dirty="0"/>
          </a:p>
          <a:p>
            <a:endParaRPr dirty="0"/>
          </a:p>
          <a:p>
            <a:r>
              <a:rPr dirty="0" err="1"/>
              <a:t>完成用户、场景、当前流程、问题证据、数据来源和继续条件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阶段二：AI介入与MVP</a:t>
            </a:r>
            <a:endParaRPr dirty="0"/>
          </a:p>
          <a:p>
            <a:endParaRPr dirty="0"/>
          </a:p>
          <a:p>
            <a:r>
              <a:rPr dirty="0" err="1"/>
              <a:t>完成人机分工、技术选择、MVP范围和初始评测计划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阶段三：正式PRD与原型</a:t>
            </a:r>
            <a:endParaRPr dirty="0"/>
          </a:p>
          <a:p>
            <a:endParaRPr dirty="0"/>
          </a:p>
          <a:p>
            <a:r>
              <a:rPr dirty="0" err="1"/>
              <a:t>完成PRD、产品流程、页面、输入输出、异常、确认和验收标准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阶段四：可运行Demo</a:t>
            </a:r>
            <a:endParaRPr dirty="0"/>
          </a:p>
          <a:p>
            <a:endParaRPr dirty="0"/>
          </a:p>
          <a:p>
            <a:r>
              <a:rPr dirty="0" err="1"/>
              <a:t>覆盖核心任务、正常输入、AI结果、错误状态和用户确认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阶段五：评测与Bad</a:t>
            </a:r>
            <a:r>
              <a:rPr dirty="0"/>
              <a:t> Case</a:t>
            </a:r>
          </a:p>
          <a:p>
            <a:endParaRPr dirty="0"/>
          </a:p>
          <a:p>
            <a:r>
              <a:rPr dirty="0" err="1"/>
              <a:t>完成评测集、标准答案、指标、模型测试、Bad</a:t>
            </a:r>
            <a:r>
              <a:rPr dirty="0"/>
              <a:t> </a:t>
            </a:r>
            <a:r>
              <a:rPr dirty="0" err="1"/>
              <a:t>Case和高风险错误分析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阶段六：迭代、成本与价值</a:t>
            </a:r>
            <a:endParaRPr dirty="0"/>
          </a:p>
          <a:p>
            <a:endParaRPr dirty="0"/>
          </a:p>
          <a:p>
            <a:r>
              <a:rPr dirty="0" err="1"/>
              <a:t>完成方案修改、回归评测、模型选择、使用成本、ROI和项目局限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阶段七：项目展示与复盘</a:t>
            </a:r>
            <a:endParaRPr dirty="0"/>
          </a:p>
          <a:p>
            <a:endParaRPr dirty="0"/>
          </a:p>
          <a:p>
            <a:r>
              <a:rPr dirty="0" err="1"/>
              <a:t>完成项目展示、证据链、个人贡献和项目讲述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九、最终交付物</a:t>
            </a:r>
            <a:endParaRPr dirty="0"/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问题与证据</a:t>
            </a:r>
            <a:endParaRPr dirty="0"/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用户和场景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访谈或业务材料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当前流程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问题和价值判断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产品方案</a:t>
            </a:r>
            <a:endParaRPr dirty="0"/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AI产品决策图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产品流程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人机协作</a:t>
            </a:r>
            <a:r>
              <a:rPr dirty="0"/>
              <a:t>；</a:t>
            </a:r>
          </a:p>
          <a:p>
            <a:r>
              <a:rPr dirty="0"/>
              <a:t>- MVP；</a:t>
            </a:r>
          </a:p>
          <a:p>
            <a:r>
              <a:rPr dirty="0"/>
              <a:t>- </a:t>
            </a:r>
            <a:r>
              <a:rPr dirty="0" err="1"/>
              <a:t>正式PRD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产品实现</a:t>
            </a:r>
            <a:endParaRPr dirty="0"/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原型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可运行Demo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正常和异常状态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用户确认流程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AI效果</a:t>
            </a:r>
            <a:endParaRPr dirty="0"/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评测集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评测报告</a:t>
            </a:r>
            <a:r>
              <a:rPr dirty="0"/>
              <a:t>；</a:t>
            </a:r>
          </a:p>
          <a:p>
            <a:r>
              <a:rPr dirty="0"/>
              <a:t>- Bad Case；</a:t>
            </a:r>
          </a:p>
          <a:p>
            <a:r>
              <a:rPr dirty="0"/>
              <a:t>- </a:t>
            </a:r>
            <a:r>
              <a:rPr dirty="0" err="1"/>
              <a:t>模型比较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迭代前后变化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落地判断</a:t>
            </a:r>
            <a:endParaRPr dirty="0"/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模型方案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部署和安全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成本</a:t>
            </a:r>
            <a:r>
              <a:rPr dirty="0"/>
              <a:t>；</a:t>
            </a:r>
          </a:p>
          <a:p>
            <a:r>
              <a:rPr dirty="0"/>
              <a:t>- ROI；</a:t>
            </a:r>
          </a:p>
          <a:p>
            <a:r>
              <a:rPr dirty="0"/>
              <a:t>- </a:t>
            </a:r>
            <a:r>
              <a:rPr dirty="0" err="1"/>
              <a:t>风险和局限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对外展示</a:t>
            </a:r>
            <a:endParaRPr dirty="0"/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作品集项目页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项目展示材料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项目讲述稿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个人贡献说明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第二阶段重点是把项目做完整；第三阶段再结合具体JD打磨简历、作品集和面试表达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十、项目班不替学员批量生成项目材料</a:t>
            </a:r>
            <a:endParaRPr dirty="0"/>
          </a:p>
          <a:p>
            <a:endParaRPr dirty="0"/>
          </a:p>
          <a:p>
            <a:r>
              <a:rPr dirty="0" err="1"/>
              <a:t>如果只是把选题交给AI，让AI生成PRD、流程图、原型和总结，这些材料很快会失去区分度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项目班真正训练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为什么选择问题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使用什么证据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方案经过什么取舍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数据从哪里来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怎样测试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发现什么错误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为什么修改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学员本人完成什么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哪些结论仍然是假设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核心观点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AI可以帮助生产材料，但不能替学员完成项目责任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十一、适合项目班的学员</a:t>
            </a:r>
            <a:endParaRPr dirty="0"/>
          </a:p>
          <a:p>
            <a:endParaRPr dirty="0"/>
          </a:p>
          <a:p>
            <a:r>
              <a:rPr dirty="0" err="1"/>
              <a:t>适合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已经理解AI产品基础概念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学过Prompt、Workflow、RAG或Agent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但缺少完整项目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希望转型AI产品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想把原行业场景改造成AI产品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自己做项目容易停在想法或Demo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需要外部节奏、点评和多轮修改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愿意投入时间完成作业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暂时不适合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只想听课，不准备完成项目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希望老师直接提供可以投递的成品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不愿意接受方案被修改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希望把课程项目包装成企业上线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没有时间做任何课后产出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只想收集更多工具和资料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十二、学员需要投入什么</a:t>
            </a:r>
            <a:endParaRPr dirty="0"/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完成每阶段初稿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接受小组和教师评审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根据反馈修改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收集测试材料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建立评测集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运行真实测试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记录Bad</a:t>
            </a:r>
            <a:r>
              <a:rPr dirty="0"/>
              <a:t> Case；</a:t>
            </a:r>
          </a:p>
          <a:p>
            <a:r>
              <a:rPr dirty="0"/>
              <a:t>- </a:t>
            </a:r>
            <a:r>
              <a:rPr dirty="0" err="1"/>
              <a:t>保存项目版本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清楚说明个人贡献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对项目最终质量负责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项目班不是买完以后等待老师发项目，而是在教师、同学和里程碑支持下真正完成自己的项目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十三、项目班的三个具体价值</a:t>
            </a:r>
            <a:endParaRPr dirty="0"/>
          </a:p>
          <a:p>
            <a:endParaRPr dirty="0"/>
          </a:p>
          <a:p>
            <a:r>
              <a:rPr dirty="0"/>
              <a:t>1. **</a:t>
            </a:r>
            <a:r>
              <a:rPr dirty="0" err="1"/>
              <a:t>作业会被真正评审</a:t>
            </a:r>
            <a:r>
              <a:rPr dirty="0"/>
              <a:t>**：</a:t>
            </a:r>
            <a:r>
              <a:rPr dirty="0" err="1"/>
              <a:t>不仅检查是否提交，还判断问题、MVP、评测和证据是否成立</a:t>
            </a:r>
            <a:r>
              <a:rPr dirty="0"/>
              <a:t>；</a:t>
            </a:r>
          </a:p>
          <a:p>
            <a:r>
              <a:rPr dirty="0"/>
              <a:t>2. **</a:t>
            </a:r>
            <a:r>
              <a:rPr dirty="0" err="1"/>
              <a:t>能看见项目版本变化</a:t>
            </a:r>
            <a:r>
              <a:rPr dirty="0"/>
              <a:t>**：</a:t>
            </a:r>
            <a:r>
              <a:rPr dirty="0" err="1"/>
              <a:t>从模糊想法到PRD、Demo、评测和迭代</a:t>
            </a:r>
            <a:r>
              <a:rPr dirty="0"/>
              <a:t>；</a:t>
            </a:r>
          </a:p>
          <a:p>
            <a:r>
              <a:rPr dirty="0"/>
              <a:t>3. **</a:t>
            </a:r>
            <a:r>
              <a:rPr dirty="0" err="1"/>
              <a:t>接触多个行业案例</a:t>
            </a:r>
            <a:r>
              <a:rPr dirty="0"/>
              <a:t>**：</a:t>
            </a:r>
            <a:r>
              <a:rPr dirty="0" err="1"/>
              <a:t>通过同学项目看到不同用户、产品形态、Bad</a:t>
            </a:r>
            <a:r>
              <a:rPr dirty="0"/>
              <a:t> </a:t>
            </a:r>
            <a:r>
              <a:rPr dirty="0" err="1"/>
              <a:t>Case、模型和成本方案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十四、整节课最终收尾</a:t>
            </a:r>
            <a:endParaRPr dirty="0"/>
          </a:p>
          <a:p>
            <a:endParaRPr dirty="0"/>
          </a:p>
          <a:p>
            <a:r>
              <a:rPr dirty="0" err="1"/>
              <a:t>教师可以这样说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第一阶段结束以后，我不希望大家只记得自己学过Prompt、RAG、Agent、PRD和评测</a:t>
            </a:r>
            <a:r>
              <a:rPr dirty="0"/>
              <a:t>。  </a:t>
            </a:r>
          </a:p>
          <a:p>
            <a:r>
              <a:rPr dirty="0"/>
              <a:t>&gt; 更重要的是，当一个新的AI产品需求出现在面前，你已经开始知道应该问什么：谁的问题、为什么需要AI、规则和模型怎样分工、MVP做什么、怎样评测、错了怎么办，以及这件事是否值得做。  </a:t>
            </a:r>
          </a:p>
          <a:p>
            <a:r>
              <a:rPr dirty="0"/>
              <a:t>&gt; </a:t>
            </a:r>
            <a:r>
              <a:rPr dirty="0" err="1"/>
              <a:t>这意味着我们已经从简单使用AI工具，开始走向AI产品判断</a:t>
            </a:r>
            <a:r>
              <a:rPr dirty="0"/>
              <a:t>。  </a:t>
            </a:r>
          </a:p>
          <a:p>
            <a:r>
              <a:rPr dirty="0"/>
              <a:t>&gt; </a:t>
            </a:r>
            <a:r>
              <a:rPr dirty="0" err="1"/>
              <a:t>但判断只有进入一个真实项目，经过产品设计、Demo、评测和迭代，才会变成可以被证明的能力。第二阶段要完成的，就是这一步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最后三句话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第一阶段，让你理解AI产品</a:t>
            </a:r>
            <a:r>
              <a:rPr dirty="0"/>
              <a:t>。  </a:t>
            </a:r>
          </a:p>
          <a:p>
            <a:r>
              <a:rPr dirty="0"/>
              <a:t>&gt; </a:t>
            </a:r>
            <a:r>
              <a:rPr dirty="0" err="1"/>
              <a:t>第二阶段，让你真正做出AI项目</a:t>
            </a:r>
            <a:r>
              <a:rPr dirty="0"/>
              <a:t>。  </a:t>
            </a:r>
          </a:p>
          <a:p>
            <a:r>
              <a:rPr dirty="0"/>
              <a:t>&gt; </a:t>
            </a:r>
            <a:r>
              <a:rPr dirty="0" err="1"/>
              <a:t>第三阶段，让你把项目转化成职业机会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可以补充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如果你目前的目标只是系统理解AI产品，第一阶段已经提供了一套相对完整的方法</a:t>
            </a:r>
            <a:r>
              <a:rPr dirty="0"/>
              <a:t>。  </a:t>
            </a:r>
          </a:p>
          <a:p>
            <a:r>
              <a:rPr dirty="0"/>
              <a:t>&gt; </a:t>
            </a:r>
            <a:r>
              <a:rPr dirty="0" err="1"/>
              <a:t>如果你希望进一步完成个人项目、形成项目证据，第二阶段会更适合你</a:t>
            </a:r>
            <a:r>
              <a:rPr dirty="0"/>
              <a:t>。  </a:t>
            </a:r>
          </a:p>
          <a:p>
            <a:r>
              <a:rPr dirty="0"/>
              <a:t>&gt; </a:t>
            </a:r>
            <a:r>
              <a:rPr dirty="0" err="1"/>
              <a:t>大家可以结合自己的时间、目标和投入意愿，判断是否继续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---</a:t>
            </a:r>
          </a:p>
          <a:p>
            <a:endParaRPr dirty="0"/>
          </a:p>
          <a:p>
            <a:r>
              <a:rPr dirty="0"/>
              <a:t>[</a:t>
            </a:r>
            <a:r>
              <a:rPr dirty="0" err="1"/>
              <a:t>讲义来源</a:t>
            </a:r>
            <a:r>
              <a:rPr dirty="0"/>
              <a:t>]</a:t>
            </a:r>
          </a:p>
          <a:p>
            <a:r>
              <a:rPr dirty="0"/>
              <a:t>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/第12课_第一阶段能力验收与职业行动_重做工作区/第12课_第一阶段总结_AI产品趋势与项目实战_完整讲义_v0.2.md</a:t>
            </a:r>
          </a:p>
          <a:p>
            <a:r>
              <a:rPr dirty="0" err="1"/>
              <a:t>第一阶段；项目班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用16个有争议的问题练习判断：先选择，再用框架解释自己的选择。</a:t>
            </a:r>
          </a:p>
          <a:p>
            <a:endParaRPr dirty="0"/>
          </a:p>
          <a:p>
            <a:r>
              <a:rPr dirty="0"/>
              <a:t>[</a:t>
            </a:r>
            <a:r>
              <a:rPr dirty="0" err="1"/>
              <a:t>讲义来源</a:t>
            </a:r>
            <a:r>
              <a:rPr dirty="0"/>
              <a:t>]</a:t>
            </a:r>
          </a:p>
          <a:p>
            <a:r>
              <a:rPr dirty="0"/>
              <a:t>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/第12课_第一阶段能力验收与职业行动_重做工作区/第12课_第一阶段总结_AI产品趋势与项目实战_完整讲义_v0.2.md</a:t>
            </a:r>
          </a:p>
          <a:p>
            <a:r>
              <a:rPr dirty="0" err="1"/>
              <a:t>AI产品正在发生什么变化</a:t>
            </a:r>
            <a:r>
              <a:rPr dirty="0"/>
              <a:t>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请学员先投票，再请1—2人说明理由。在这一页不公布答案，也不使用颜色暗示。</a:t>
            </a:r>
          </a:p>
          <a:p>
            <a:endParaRPr dirty="0"/>
          </a:p>
          <a:p>
            <a:r>
              <a:rPr dirty="0" err="1"/>
              <a:t>让学员选择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A. </a:t>
            </a:r>
            <a:r>
              <a:rPr dirty="0" err="1"/>
              <a:t>使用比别人更强的模型</a:t>
            </a:r>
            <a:r>
              <a:rPr dirty="0"/>
              <a:t>；</a:t>
            </a:r>
          </a:p>
          <a:p>
            <a:r>
              <a:rPr dirty="0"/>
              <a:t>- B. </a:t>
            </a:r>
            <a:r>
              <a:rPr dirty="0" err="1"/>
              <a:t>拥有别人没有的私有数据</a:t>
            </a:r>
            <a:r>
              <a:rPr dirty="0"/>
              <a:t>；</a:t>
            </a:r>
          </a:p>
          <a:p>
            <a:r>
              <a:rPr dirty="0"/>
              <a:t>- C. </a:t>
            </a:r>
            <a:r>
              <a:rPr dirty="0" err="1"/>
              <a:t>深入用户的真实工作流程</a:t>
            </a:r>
            <a:r>
              <a:rPr dirty="0"/>
              <a:t>；</a:t>
            </a:r>
          </a:p>
          <a:p>
            <a:r>
              <a:rPr dirty="0"/>
              <a:t>- D. </a:t>
            </a:r>
            <a:r>
              <a:rPr dirty="0" err="1"/>
              <a:t>拥有用户入口、品牌和信任</a:t>
            </a:r>
            <a:r>
              <a:rPr dirty="0"/>
              <a:t>；</a:t>
            </a:r>
          </a:p>
          <a:p>
            <a:r>
              <a:rPr dirty="0"/>
              <a:t>- E. </a:t>
            </a:r>
            <a:r>
              <a:rPr dirty="0" err="1"/>
              <a:t>以上都有，但不同产品的核心价值不同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请一位选择A或B、一位选择C或D的学员说明理由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教师讲解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模型能力可以形成阶段性优势，但当更强模型被广泛开放时，其他产品也可以接入。早期显得独特的摘要、写作、文件问答、代码生成和会议提取，可能逐渐进入模型平台、办公软件、浏览器和企业协作工具。</a:t>
            </a:r>
          </a:p>
          <a:p>
            <a:endParaRPr dirty="0"/>
          </a:p>
          <a:p>
            <a:r>
              <a:rPr dirty="0" err="1"/>
              <a:t>因此，需要追问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如果明天所有竞争对手都能使用同样的模型，产品还剩下什么难以复制</a:t>
            </a:r>
            <a:r>
              <a:rPr dirty="0"/>
              <a:t>？</a:t>
            </a:r>
          </a:p>
          <a:p>
            <a:endParaRPr dirty="0"/>
          </a:p>
          <a:p>
            <a:r>
              <a:rPr dirty="0"/>
              <a:t>[</a:t>
            </a:r>
            <a:r>
              <a:rPr dirty="0" err="1"/>
              <a:t>讲义来源</a:t>
            </a:r>
            <a:r>
              <a:rPr dirty="0"/>
              <a:t>]</a:t>
            </a:r>
          </a:p>
          <a:p>
            <a:r>
              <a:rPr dirty="0"/>
              <a:t>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/第12课_第一阶段能力验收与职业行动_重做工作区/第12课_第一阶段总结_AI产品趋势与项目实战_完整讲义_v0.2.md</a:t>
            </a:r>
          </a:p>
          <a:p>
            <a:r>
              <a:rPr dirty="0" err="1"/>
              <a:t>模型越来越强，AI产品还剩下什么价值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判断结论：基础模型决定起点，任务、数据、流程和信任形成长期价值</a:t>
            </a:r>
            <a:endParaRPr dirty="0"/>
          </a:p>
          <a:p>
            <a:endParaRPr dirty="0"/>
          </a:p>
          <a:p>
            <a:r>
              <a:rPr dirty="0" err="1"/>
              <a:t>如果通用模型已经能完成转写、摘要和行动项提取，只提供“上传录音、生成摘要”的产品很容易被覆盖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但进入企业流程以后，还需要解决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不同项目的人员和权限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企业内部任务模板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历史会议和项目决策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行动项是否已经存在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负责人是否正式确认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如何同步任务系统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哪些动作需要审批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是否保留操作日志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如何处理敏感会议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如何统计执行情况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核心区别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模型解决内容能否被理解和生成，产品解决理解结果怎样进入真实工作流程，并产生可承担的结果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第一层：基础模型能力</a:t>
            </a:r>
            <a:endParaRPr dirty="0"/>
          </a:p>
          <a:p>
            <a:endParaRPr dirty="0"/>
          </a:p>
          <a:p>
            <a:r>
              <a:rPr dirty="0" err="1"/>
              <a:t>理解、生成、推理、多模态、工具调用和长上下文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第二层：任务设计</a:t>
            </a:r>
            <a:endParaRPr dirty="0"/>
          </a:p>
          <a:p>
            <a:endParaRPr dirty="0"/>
          </a:p>
          <a:p>
            <a:r>
              <a:rPr dirty="0" err="1"/>
              <a:t>输入、输出、Prompt、处理步骤、异常和调用方式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第三层：业务数据和知识</a:t>
            </a:r>
            <a:endParaRPr dirty="0"/>
          </a:p>
          <a:p>
            <a:endParaRPr dirty="0"/>
          </a:p>
          <a:p>
            <a:r>
              <a:rPr dirty="0" err="1"/>
              <a:t>企业知识库、用户历史、业务规则、商品、项目资料和权限数据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第四层：业务流程和系统连接</a:t>
            </a:r>
            <a:endParaRPr dirty="0"/>
          </a:p>
          <a:p>
            <a:endParaRPr dirty="0"/>
          </a:p>
          <a:p>
            <a:r>
              <a:rPr dirty="0" err="1"/>
              <a:t>谁使用、谁确认、进入哪个系统、怎样回滚、怎样持续跟踪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第五层：用户关系、反馈和信任</a:t>
            </a:r>
            <a:endParaRPr dirty="0"/>
          </a:p>
          <a:p>
            <a:endParaRPr dirty="0"/>
          </a:p>
          <a:p>
            <a:r>
              <a:rPr dirty="0" err="1"/>
              <a:t>使用习惯、长期状态、纠错反馈、可靠交付以及错误处理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结论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基础模型决定产品能力的起点，任务、数据、流程和信任决定产品能否形成长期价值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[</a:t>
            </a:r>
            <a:r>
              <a:rPr dirty="0" err="1"/>
              <a:t>讲义来源</a:t>
            </a:r>
            <a:r>
              <a:rPr dirty="0"/>
              <a:t>]</a:t>
            </a:r>
          </a:p>
          <a:p>
            <a:r>
              <a:rPr dirty="0"/>
              <a:t>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/第12课_第一阶段能力验收与职业行动_重做工作区/第12课_第一阶段总结_AI产品趋势与项目实战_完整讲义_v0.2.md</a:t>
            </a:r>
          </a:p>
          <a:p>
            <a:r>
              <a:rPr dirty="0" err="1"/>
              <a:t>用会议助手说明；AI产品价值的五层结构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请学员先投票，再请1—2人说明理由。在这一页不公布答案，也不使用颜色暗示。</a:t>
            </a:r>
          </a:p>
          <a:p>
            <a:endParaRPr dirty="0"/>
          </a:p>
          <a:p>
            <a:r>
              <a:rPr dirty="0" err="1"/>
              <a:t>让学员选择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A. </a:t>
            </a:r>
            <a:r>
              <a:rPr dirty="0" err="1"/>
              <a:t>会，大部分AI应用都会被模型公司取代</a:t>
            </a:r>
            <a:r>
              <a:rPr dirty="0"/>
              <a:t>；</a:t>
            </a:r>
          </a:p>
          <a:p>
            <a:r>
              <a:rPr dirty="0"/>
              <a:t>- B. </a:t>
            </a:r>
            <a:r>
              <a:rPr dirty="0" err="1"/>
              <a:t>不会，模型公司不了解具体用户</a:t>
            </a:r>
            <a:r>
              <a:rPr dirty="0"/>
              <a:t>；</a:t>
            </a:r>
          </a:p>
          <a:p>
            <a:r>
              <a:rPr dirty="0"/>
              <a:t>- C. </a:t>
            </a:r>
            <a:r>
              <a:rPr dirty="0" err="1"/>
              <a:t>通用、浅层应用风险较高，深业务应用仍有空间</a:t>
            </a:r>
            <a:r>
              <a:rPr dirty="0"/>
              <a:t>；</a:t>
            </a:r>
          </a:p>
          <a:p>
            <a:r>
              <a:rPr dirty="0"/>
              <a:t>- D. </a:t>
            </a:r>
            <a:r>
              <a:rPr dirty="0" err="1"/>
              <a:t>最终取决于谁控制用户入口和业务流程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更容易被覆盖的产品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只是模型的简单包装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只有聊天框和固定Prompt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解决通用任务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没有独特数据和系统连接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没有持续反馈和结果责任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相对更有空间的产品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深入专业场景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进入真实业务流程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处理权限、数据和异常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与现有系统连接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对结果和持续运营负责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准确表述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深业务不是天然护城河，但它提高了产品被简单复制和替代的难度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[</a:t>
            </a:r>
            <a:r>
              <a:rPr dirty="0" err="1"/>
              <a:t>讲义来源</a:t>
            </a:r>
            <a:r>
              <a:rPr dirty="0"/>
              <a:t>]</a:t>
            </a:r>
          </a:p>
          <a:p>
            <a:r>
              <a:rPr dirty="0"/>
              <a:t>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/第12课_第一阶段能力验收与职业行动_重做工作区/第12课_第一阶段总结_AI产品趋势与项目实战_完整讲义_v0.2.md</a:t>
            </a:r>
          </a:p>
          <a:p>
            <a:r>
              <a:rPr dirty="0" err="1"/>
              <a:t>模型公司会不会吃掉大量AI应用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判断结论：深业务不是天然护城河，但会增加复制与替代的难度</a:t>
            </a:r>
            <a:endParaRPr dirty="0"/>
          </a:p>
          <a:p>
            <a:endParaRPr dirty="0"/>
          </a:p>
          <a:p>
            <a:r>
              <a:rPr dirty="0" err="1"/>
              <a:t>让学员选择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A. </a:t>
            </a:r>
            <a:r>
              <a:rPr dirty="0" err="1"/>
              <a:t>会，大部分AI应用都会被模型公司取代</a:t>
            </a:r>
            <a:r>
              <a:rPr dirty="0"/>
              <a:t>；</a:t>
            </a:r>
          </a:p>
          <a:p>
            <a:r>
              <a:rPr dirty="0"/>
              <a:t>- B. </a:t>
            </a:r>
            <a:r>
              <a:rPr dirty="0" err="1"/>
              <a:t>不会，模型公司不了解具体用户</a:t>
            </a:r>
            <a:r>
              <a:rPr dirty="0"/>
              <a:t>；</a:t>
            </a:r>
          </a:p>
          <a:p>
            <a:r>
              <a:rPr dirty="0"/>
              <a:t>- C. </a:t>
            </a:r>
            <a:r>
              <a:rPr dirty="0" err="1"/>
              <a:t>通用、浅层应用风险较高，深业务应用仍有空间</a:t>
            </a:r>
            <a:r>
              <a:rPr dirty="0"/>
              <a:t>；</a:t>
            </a:r>
          </a:p>
          <a:p>
            <a:r>
              <a:rPr dirty="0"/>
              <a:t>- D. </a:t>
            </a:r>
            <a:r>
              <a:rPr dirty="0" err="1"/>
              <a:t>最终取决于谁控制用户入口和业务流程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更容易被覆盖的产品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只是模型的简单包装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只有聊天框和固定Prompt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解决通用任务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没有独特数据和系统连接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没有持续反馈和结果责任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相对更有空间的产品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深入专业场景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进入真实业务流程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处理权限、数据和异常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与现有系统连接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对结果和持续运营负责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准确表述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深业务不是天然护城河，但它提高了产品被简单复制和替代的难度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[</a:t>
            </a:r>
            <a:r>
              <a:rPr dirty="0" err="1"/>
              <a:t>讲义来源</a:t>
            </a:r>
            <a:r>
              <a:rPr dirty="0"/>
              <a:t>]</a:t>
            </a:r>
          </a:p>
          <a:p>
            <a:r>
              <a:rPr dirty="0"/>
              <a:t>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/第12课_第一阶段能力验收与职业行动_重做工作区/第12课_第一阶段总结_AI产品趋势与项目实战_完整讲义_v0.2.md</a:t>
            </a:r>
          </a:p>
          <a:p>
            <a:r>
              <a:rPr dirty="0" err="1"/>
              <a:t>模型公司会不会吃掉大量AI应用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请学员先投票，再请1—2人说明理由。在这一页不公布答案，也不使用颜色暗示。</a:t>
            </a:r>
          </a:p>
          <a:p>
            <a:endParaRPr dirty="0"/>
          </a:p>
          <a:p>
            <a:r>
              <a:rPr dirty="0" err="1"/>
              <a:t>以会议助手为例，让学员选择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A. </a:t>
            </a:r>
            <a:r>
              <a:rPr dirty="0" err="1"/>
              <a:t>其他AI会议产品</a:t>
            </a:r>
            <a:r>
              <a:rPr dirty="0"/>
              <a:t>；</a:t>
            </a:r>
          </a:p>
          <a:p>
            <a:r>
              <a:rPr dirty="0"/>
              <a:t>- B. </a:t>
            </a:r>
            <a:r>
              <a:rPr dirty="0" err="1"/>
              <a:t>项目经理人工整理</a:t>
            </a:r>
            <a:r>
              <a:rPr dirty="0"/>
              <a:t>；</a:t>
            </a:r>
          </a:p>
          <a:p>
            <a:r>
              <a:rPr dirty="0"/>
              <a:t>- C. </a:t>
            </a:r>
            <a:r>
              <a:rPr dirty="0" err="1"/>
              <a:t>企业现有会议和协作软件</a:t>
            </a:r>
            <a:r>
              <a:rPr dirty="0"/>
              <a:t>；</a:t>
            </a:r>
          </a:p>
          <a:p>
            <a:r>
              <a:rPr dirty="0"/>
              <a:t>- D. </a:t>
            </a:r>
            <a:r>
              <a:rPr dirty="0" err="1"/>
              <a:t>用户临时使用通用大模型，或者根本不整理</a:t>
            </a:r>
            <a:r>
              <a:rPr dirty="0"/>
              <a:t>；</a:t>
            </a:r>
          </a:p>
          <a:p>
            <a:r>
              <a:rPr dirty="0"/>
              <a:t>- E. </a:t>
            </a:r>
            <a:r>
              <a:rPr dirty="0" err="1"/>
              <a:t>以上都是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用户真正比较的是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是否需要学习一个新工具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是否要重新上传资料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结果是否仍需大量修改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是否能进入现有任务系统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是否增加确认工作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数据是否安全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改变工作方式是否值得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结论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AI产品首先要战胜的，通常不是另一个AI产品，而是用户已经习惯并能够接受的现有工作方式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[</a:t>
            </a:r>
            <a:r>
              <a:rPr dirty="0" err="1"/>
              <a:t>讲义来源</a:t>
            </a:r>
            <a:r>
              <a:rPr dirty="0"/>
              <a:t>]</a:t>
            </a:r>
          </a:p>
          <a:p>
            <a:r>
              <a:rPr dirty="0"/>
              <a:t>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/第12课_第一阶段能力验收与职业行动_重做工作区/第12课_第一阶段总结_AI产品趋势与项目实战_完整讲义_v0.2.md</a:t>
            </a:r>
          </a:p>
          <a:p>
            <a:r>
              <a:rPr dirty="0" err="1"/>
              <a:t>AI产品真正的竞争对手是谁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判断结论：AI产品首先要战胜用户已经习惯的工作方式</a:t>
            </a:r>
            <a:endParaRPr dirty="0"/>
          </a:p>
          <a:p>
            <a:endParaRPr dirty="0"/>
          </a:p>
          <a:p>
            <a:r>
              <a:rPr dirty="0" err="1"/>
              <a:t>以会议助手为例，让学员选择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A. </a:t>
            </a:r>
            <a:r>
              <a:rPr dirty="0" err="1"/>
              <a:t>其他AI会议产品</a:t>
            </a:r>
            <a:r>
              <a:rPr dirty="0"/>
              <a:t>；</a:t>
            </a:r>
          </a:p>
          <a:p>
            <a:r>
              <a:rPr dirty="0"/>
              <a:t>- B. </a:t>
            </a:r>
            <a:r>
              <a:rPr dirty="0" err="1"/>
              <a:t>项目经理人工整理</a:t>
            </a:r>
            <a:r>
              <a:rPr dirty="0"/>
              <a:t>；</a:t>
            </a:r>
          </a:p>
          <a:p>
            <a:r>
              <a:rPr dirty="0"/>
              <a:t>- C. </a:t>
            </a:r>
            <a:r>
              <a:rPr dirty="0" err="1"/>
              <a:t>企业现有会议和协作软件</a:t>
            </a:r>
            <a:r>
              <a:rPr dirty="0"/>
              <a:t>；</a:t>
            </a:r>
          </a:p>
          <a:p>
            <a:r>
              <a:rPr dirty="0"/>
              <a:t>- D. </a:t>
            </a:r>
            <a:r>
              <a:rPr dirty="0" err="1"/>
              <a:t>用户临时使用通用大模型，或者根本不整理</a:t>
            </a:r>
            <a:r>
              <a:rPr dirty="0"/>
              <a:t>；</a:t>
            </a:r>
          </a:p>
          <a:p>
            <a:r>
              <a:rPr dirty="0"/>
              <a:t>- E. </a:t>
            </a:r>
            <a:r>
              <a:rPr dirty="0" err="1"/>
              <a:t>以上都是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用户真正比较的是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是否需要学习一个新工具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是否要重新上传资料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结果是否仍需大量修改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是否能进入现有任务系统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是否增加确认工作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数据是否安全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改变工作方式是否值得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结论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AI产品首先要战胜的，通常不是另一个AI产品，而是用户已经习惯并能够接受的现有工作方式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[</a:t>
            </a:r>
            <a:r>
              <a:rPr dirty="0" err="1"/>
              <a:t>讲义来源</a:t>
            </a:r>
            <a:r>
              <a:rPr dirty="0"/>
              <a:t>]</a:t>
            </a:r>
          </a:p>
          <a:p>
            <a:r>
              <a:rPr dirty="0"/>
              <a:t>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/第12课_第一阶段能力验收与职业行动_重做工作区/第12课_第一阶段总结_AI产品趋势与项目实战_完整讲义_v0.2.md</a:t>
            </a:r>
          </a:p>
          <a:p>
            <a:r>
              <a:rPr dirty="0" err="1"/>
              <a:t>AI产品真正的竞争对手是谁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请学员先投票，再请1—2人说明理由。在这一页不公布答案，也不使用颜色暗示。</a:t>
            </a:r>
          </a:p>
          <a:p>
            <a:endParaRPr dirty="0"/>
          </a:p>
          <a:p>
            <a:r>
              <a:rPr dirty="0" err="1"/>
              <a:t>让学员选择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A. </a:t>
            </a:r>
            <a:r>
              <a:rPr dirty="0" err="1"/>
              <a:t>应该突出AI，让用户感知能力</a:t>
            </a:r>
            <a:r>
              <a:rPr dirty="0"/>
              <a:t>；</a:t>
            </a:r>
          </a:p>
          <a:p>
            <a:r>
              <a:rPr dirty="0"/>
              <a:t>- B. </a:t>
            </a:r>
            <a:r>
              <a:rPr dirty="0" err="1"/>
              <a:t>不应该突出AI，用户只关心结果</a:t>
            </a:r>
            <a:r>
              <a:rPr dirty="0"/>
              <a:t>；</a:t>
            </a:r>
          </a:p>
          <a:p>
            <a:r>
              <a:rPr dirty="0"/>
              <a:t>- C. </a:t>
            </a:r>
            <a:r>
              <a:rPr dirty="0" err="1"/>
              <a:t>高风险场景必须明确说明AI参与了什么</a:t>
            </a:r>
            <a:r>
              <a:rPr dirty="0"/>
              <a:t>；</a:t>
            </a:r>
          </a:p>
          <a:p>
            <a:r>
              <a:rPr dirty="0"/>
              <a:t>- D. </a:t>
            </a:r>
            <a:r>
              <a:rPr dirty="0" err="1"/>
              <a:t>是否强调AI，要看它对用户决策和责任的影响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在价值层面，可以弱化技术名词。用户通常不关心模型参数、RAG、Agent数量和Workflow节点，而关心是否完成任务、是否可靠、是否容易修改。</a:t>
            </a:r>
          </a:p>
          <a:p>
            <a:endParaRPr dirty="0"/>
          </a:p>
          <a:p>
            <a:r>
              <a:rPr dirty="0" err="1"/>
              <a:t>在责任层面，不能完全隐藏AI。如果AI参与内容生成、风险判断、人员评价、审批或外部动作，用户需要知道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哪部分由AI产生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依据来自哪里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是否经过人工确认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AI执行了哪些动作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如何修改或申诉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结论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好的AI产品可以不使用技术名词打扰用户，但不能隐藏AI的能力边界、信息依据和责任影响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[</a:t>
            </a:r>
            <a:r>
              <a:rPr dirty="0" err="1"/>
              <a:t>讲义来源</a:t>
            </a:r>
            <a:r>
              <a:rPr dirty="0"/>
              <a:t>]</a:t>
            </a:r>
          </a:p>
          <a:p>
            <a:r>
              <a:rPr dirty="0"/>
              <a:t>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/第12课_第一阶段能力验收与职业行动_重做工作区/第12课_第一阶段总结_AI产品趋势与项目实战_完整讲义_v0.2.md</a:t>
            </a:r>
          </a:p>
          <a:p>
            <a:r>
              <a:rPr dirty="0" err="1"/>
              <a:t>高级AI产品是否应该弱化AI存在感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判断结论：价值表达可以弱化技术，责任影响不能被隐藏</a:t>
            </a:r>
            <a:endParaRPr dirty="0"/>
          </a:p>
          <a:p>
            <a:endParaRPr dirty="0"/>
          </a:p>
          <a:p>
            <a:r>
              <a:rPr dirty="0" err="1"/>
              <a:t>让学员选择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A. </a:t>
            </a:r>
            <a:r>
              <a:rPr dirty="0" err="1"/>
              <a:t>应该突出AI，让用户感知能力</a:t>
            </a:r>
            <a:r>
              <a:rPr dirty="0"/>
              <a:t>；</a:t>
            </a:r>
          </a:p>
          <a:p>
            <a:r>
              <a:rPr dirty="0"/>
              <a:t>- B. </a:t>
            </a:r>
            <a:r>
              <a:rPr dirty="0" err="1"/>
              <a:t>不应该突出AI，用户只关心结果</a:t>
            </a:r>
            <a:r>
              <a:rPr dirty="0"/>
              <a:t>；</a:t>
            </a:r>
          </a:p>
          <a:p>
            <a:r>
              <a:rPr dirty="0"/>
              <a:t>- C. </a:t>
            </a:r>
            <a:r>
              <a:rPr dirty="0" err="1"/>
              <a:t>高风险场景必须明确说明AI参与了什么</a:t>
            </a:r>
            <a:r>
              <a:rPr dirty="0"/>
              <a:t>；</a:t>
            </a:r>
          </a:p>
          <a:p>
            <a:r>
              <a:rPr dirty="0"/>
              <a:t>- D. </a:t>
            </a:r>
            <a:r>
              <a:rPr dirty="0" err="1"/>
              <a:t>是否强调AI，要看它对用户决策和责任的影响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在价值层面，可以弱化技术名词。用户通常不关心模型参数、RAG、Agent数量和Workflow节点，而关心是否完成任务、是否可靠、是否容易修改。</a:t>
            </a:r>
          </a:p>
          <a:p>
            <a:endParaRPr dirty="0"/>
          </a:p>
          <a:p>
            <a:r>
              <a:rPr dirty="0" err="1"/>
              <a:t>在责任层面，不能完全隐藏AI。如果AI参与内容生成、风险判断、人员评价、审批或外部动作，用户需要知道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哪部分由AI产生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依据来自哪里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是否经过人工确认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AI执行了哪些动作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如何修改或申诉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结论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好的AI产品可以不使用技术名词打扰用户，但不能隐藏AI的能力边界、信息依据和责任影响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[</a:t>
            </a:r>
            <a:r>
              <a:rPr dirty="0" err="1"/>
              <a:t>讲义来源</a:t>
            </a:r>
            <a:r>
              <a:rPr dirty="0"/>
              <a:t>]</a:t>
            </a:r>
          </a:p>
          <a:p>
            <a:r>
              <a:rPr dirty="0"/>
              <a:t>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/第12课_第一阶段能力验收与职业行动_重做工作区/第12课_第一阶段总结_AI产品趋势与项目实战_完整讲义_v0.2.md</a:t>
            </a:r>
          </a:p>
          <a:p>
            <a:r>
              <a:rPr dirty="0" err="1"/>
              <a:t>高级AI产品是否应该弱化AI存在感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请学员先投票，再请1—2人说明理由。在这一页不公布答案，也不使用颜色暗示。</a:t>
            </a:r>
          </a:p>
          <a:p>
            <a:endParaRPr dirty="0"/>
          </a:p>
          <a:p>
            <a:r>
              <a:rPr dirty="0" err="1"/>
              <a:t>让学员选择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A. </a:t>
            </a:r>
            <a:r>
              <a:rPr dirty="0" err="1"/>
              <a:t>不需要，全部变成聊天框</a:t>
            </a:r>
            <a:r>
              <a:rPr dirty="0"/>
              <a:t>；</a:t>
            </a:r>
          </a:p>
          <a:p>
            <a:r>
              <a:rPr dirty="0"/>
              <a:t>- B. </a:t>
            </a:r>
            <a:r>
              <a:rPr dirty="0" err="1"/>
              <a:t>需要，聊天无法替代复杂产品</a:t>
            </a:r>
            <a:r>
              <a:rPr dirty="0"/>
              <a:t>；</a:t>
            </a:r>
          </a:p>
          <a:p>
            <a:r>
              <a:rPr dirty="0"/>
              <a:t>- C. </a:t>
            </a:r>
            <a:r>
              <a:rPr dirty="0" err="1"/>
              <a:t>自然语言负责表达意图，界面负责检查和控制</a:t>
            </a:r>
            <a:r>
              <a:rPr dirty="0"/>
              <a:t>；</a:t>
            </a:r>
          </a:p>
          <a:p>
            <a:r>
              <a:rPr dirty="0"/>
              <a:t>- D. </a:t>
            </a:r>
            <a:r>
              <a:rPr dirty="0" err="1"/>
              <a:t>Agent最终会在后台完成一切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自然语言适合：表达复杂目标、开放提问、连续追问和生成解释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结构化界面适合：比较结果、修改表格、批量操作、查看状态、配置权限、核对来源、确认高风险动作和撤销恢复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更可能的混合形态是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1. </a:t>
            </a:r>
            <a:r>
              <a:rPr dirty="0" err="1"/>
              <a:t>用户用自然语言表达目标</a:t>
            </a:r>
            <a:r>
              <a:rPr dirty="0"/>
              <a:t>；</a:t>
            </a:r>
          </a:p>
          <a:p>
            <a:r>
              <a:rPr dirty="0"/>
              <a:t>2. </a:t>
            </a:r>
            <a:r>
              <a:rPr dirty="0" err="1"/>
              <a:t>AI理解和执行</a:t>
            </a:r>
            <a:r>
              <a:rPr dirty="0"/>
              <a:t>；</a:t>
            </a:r>
          </a:p>
          <a:p>
            <a:r>
              <a:rPr dirty="0"/>
              <a:t>3. </a:t>
            </a:r>
            <a:r>
              <a:rPr dirty="0" err="1"/>
              <a:t>系统用结构化页面展示结果、依据、风险和待确认项</a:t>
            </a:r>
            <a:r>
              <a:rPr dirty="0"/>
              <a:t>；</a:t>
            </a:r>
          </a:p>
          <a:p>
            <a:r>
              <a:rPr dirty="0"/>
              <a:t>4. </a:t>
            </a:r>
            <a:r>
              <a:rPr dirty="0" err="1"/>
              <a:t>用户修改和确认</a:t>
            </a:r>
            <a:r>
              <a:rPr dirty="0"/>
              <a:t>；</a:t>
            </a:r>
          </a:p>
          <a:p>
            <a:r>
              <a:rPr dirty="0"/>
              <a:t>5. </a:t>
            </a:r>
            <a:r>
              <a:rPr dirty="0" err="1"/>
              <a:t>Agent执行经过确认的任务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结论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自然语言更适合表达意图，Agent更适合执行任务，结构化界面仍然负责展示状态、检查结果和控制风险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[</a:t>
            </a:r>
            <a:r>
              <a:rPr dirty="0" err="1"/>
              <a:t>讲义来源</a:t>
            </a:r>
            <a:r>
              <a:rPr dirty="0"/>
              <a:t>]</a:t>
            </a:r>
          </a:p>
          <a:p>
            <a:r>
              <a:rPr dirty="0"/>
              <a:t>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/第12课_第一阶段能力验收与职业行动_重做工作区/第12课_第一阶段总结_AI产品趋势与项目实战_完整讲义_v0.2.md</a:t>
            </a:r>
          </a:p>
          <a:p>
            <a:r>
              <a:rPr dirty="0" err="1"/>
              <a:t>未来AI产品还需要页面和按钮吗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判断结论：自然语言表达意图，Agent执行任务，界面展示状态并控制风险</a:t>
            </a:r>
            <a:endParaRPr dirty="0"/>
          </a:p>
          <a:p>
            <a:endParaRPr dirty="0"/>
          </a:p>
          <a:p>
            <a:r>
              <a:rPr dirty="0" err="1"/>
              <a:t>让学员选择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A. </a:t>
            </a:r>
            <a:r>
              <a:rPr dirty="0" err="1"/>
              <a:t>不需要，全部变成聊天框</a:t>
            </a:r>
            <a:r>
              <a:rPr dirty="0"/>
              <a:t>；</a:t>
            </a:r>
          </a:p>
          <a:p>
            <a:r>
              <a:rPr dirty="0"/>
              <a:t>- B. </a:t>
            </a:r>
            <a:r>
              <a:rPr dirty="0" err="1"/>
              <a:t>需要，聊天无法替代复杂产品</a:t>
            </a:r>
            <a:r>
              <a:rPr dirty="0"/>
              <a:t>；</a:t>
            </a:r>
          </a:p>
          <a:p>
            <a:r>
              <a:rPr dirty="0"/>
              <a:t>- C. </a:t>
            </a:r>
            <a:r>
              <a:rPr dirty="0" err="1"/>
              <a:t>自然语言负责表达意图，界面负责检查和控制</a:t>
            </a:r>
            <a:r>
              <a:rPr dirty="0"/>
              <a:t>；</a:t>
            </a:r>
          </a:p>
          <a:p>
            <a:r>
              <a:rPr dirty="0"/>
              <a:t>- D. </a:t>
            </a:r>
            <a:r>
              <a:rPr dirty="0" err="1"/>
              <a:t>Agent最终会在后台完成一切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自然语言适合：表达复杂目标、开放提问、连续追问和生成解释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结构化界面适合：比较结果、修改表格、批量操作、查看状态、配置权限、核对来源、确认高风险动作和撤销恢复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更可能的混合形态是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1. </a:t>
            </a:r>
            <a:r>
              <a:rPr dirty="0" err="1"/>
              <a:t>用户用自然语言表达目标</a:t>
            </a:r>
            <a:r>
              <a:rPr dirty="0"/>
              <a:t>；</a:t>
            </a:r>
          </a:p>
          <a:p>
            <a:r>
              <a:rPr dirty="0"/>
              <a:t>2. </a:t>
            </a:r>
            <a:r>
              <a:rPr dirty="0" err="1"/>
              <a:t>AI理解和执行</a:t>
            </a:r>
            <a:r>
              <a:rPr dirty="0"/>
              <a:t>；</a:t>
            </a:r>
          </a:p>
          <a:p>
            <a:r>
              <a:rPr dirty="0"/>
              <a:t>3. </a:t>
            </a:r>
            <a:r>
              <a:rPr dirty="0" err="1"/>
              <a:t>系统用结构化页面展示结果、依据、风险和待确认项</a:t>
            </a:r>
            <a:r>
              <a:rPr dirty="0"/>
              <a:t>；</a:t>
            </a:r>
          </a:p>
          <a:p>
            <a:r>
              <a:rPr dirty="0"/>
              <a:t>4. </a:t>
            </a:r>
            <a:r>
              <a:rPr dirty="0" err="1"/>
              <a:t>用户修改和确认</a:t>
            </a:r>
            <a:r>
              <a:rPr dirty="0"/>
              <a:t>；</a:t>
            </a:r>
          </a:p>
          <a:p>
            <a:r>
              <a:rPr dirty="0"/>
              <a:t>5. </a:t>
            </a:r>
            <a:r>
              <a:rPr dirty="0" err="1"/>
              <a:t>Agent执行经过确认的任务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结论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自然语言更适合表达意图，Agent更适合执行任务，结构化界面仍然负责展示状态、检查结果和控制风险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[</a:t>
            </a:r>
            <a:r>
              <a:rPr dirty="0" err="1"/>
              <a:t>讲义来源</a:t>
            </a:r>
            <a:r>
              <a:rPr dirty="0"/>
              <a:t>]</a:t>
            </a:r>
          </a:p>
          <a:p>
            <a:r>
              <a:rPr dirty="0"/>
              <a:t>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/第12课_第一阶段能力验收与职业行动_重做工作区/第12课_第一阶段总结_AI产品趋势与项目实战_完整讲义_v0.2.md</a:t>
            </a:r>
          </a:p>
          <a:p>
            <a:r>
              <a:rPr dirty="0" err="1"/>
              <a:t>未来AI产品还需要页面和按钮吗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请学员先投票，再请1—2人说明理由。在这一页不公布答案，也不使用颜色暗示。</a:t>
            </a:r>
          </a:p>
          <a:p>
            <a:endParaRPr dirty="0"/>
          </a:p>
          <a:p>
            <a:r>
              <a:rPr dirty="0" err="1"/>
              <a:t>让学员选择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A. </a:t>
            </a:r>
            <a:r>
              <a:rPr dirty="0" err="1"/>
              <a:t>一项更高级的软件功能</a:t>
            </a:r>
            <a:r>
              <a:rPr dirty="0"/>
              <a:t>；</a:t>
            </a:r>
          </a:p>
          <a:p>
            <a:r>
              <a:rPr dirty="0"/>
              <a:t>- B. </a:t>
            </a:r>
            <a:r>
              <a:rPr dirty="0" err="1"/>
              <a:t>一套自动化Workflow</a:t>
            </a:r>
            <a:r>
              <a:rPr dirty="0"/>
              <a:t>；</a:t>
            </a:r>
          </a:p>
          <a:p>
            <a:r>
              <a:rPr dirty="0"/>
              <a:t>- C. </a:t>
            </a:r>
            <a:r>
              <a:rPr dirty="0" err="1"/>
              <a:t>能够接受目标并执行任务的数字劳动力</a:t>
            </a:r>
            <a:r>
              <a:rPr dirty="0"/>
              <a:t>；</a:t>
            </a:r>
          </a:p>
          <a:p>
            <a:r>
              <a:rPr dirty="0"/>
              <a:t>- D. </a:t>
            </a:r>
            <a:r>
              <a:rPr dirty="0" err="1"/>
              <a:t>现阶段主要还是营销概念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请一位选择A或B、一位选择C的学员说明理由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教师讲解：Agent不是一个二元概念。很多所谓Agent只是调用固定工具的自动化流程；更接近“数字劳动力”的Agent需要接受目标、拆解任务、调用多种工具、保存状态、识别异常并在需要时寻求人类帮助。</a:t>
            </a:r>
          </a:p>
          <a:p>
            <a:endParaRPr dirty="0"/>
          </a:p>
          <a:p>
            <a:r>
              <a:rPr dirty="0"/>
              <a:t>[</a:t>
            </a:r>
            <a:r>
              <a:rPr dirty="0" err="1"/>
              <a:t>讲义来源</a:t>
            </a:r>
            <a:r>
              <a:rPr dirty="0"/>
              <a:t>]</a:t>
            </a:r>
          </a:p>
          <a:p>
            <a:r>
              <a:rPr dirty="0"/>
              <a:t>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/第12课_第一阶段能力验收与职业行动_重做工作区/第12课_第一阶段总结_AI产品趋势与项目实战_完整讲义_v0.2.md</a:t>
            </a:r>
          </a:p>
          <a:p>
            <a:r>
              <a:rPr dirty="0" err="1"/>
              <a:t>Agent究竟是什么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判断结论：先决定系统被允许承担多少责任，再决定自主性</a:t>
            </a:r>
            <a:endParaRPr dirty="0"/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第一层：AI助手</a:t>
            </a:r>
            <a:endParaRPr dirty="0"/>
          </a:p>
          <a:p>
            <a:endParaRPr dirty="0"/>
          </a:p>
          <a:p>
            <a:r>
              <a:rPr dirty="0" err="1"/>
              <a:t>生成和建议，由用户采用并完成后续动作。重点是质量、来源和可修改性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第二层：半自动执行</a:t>
            </a:r>
            <a:endParaRPr dirty="0"/>
          </a:p>
          <a:p>
            <a:endParaRPr dirty="0"/>
          </a:p>
          <a:p>
            <a:r>
              <a:rPr dirty="0" err="1"/>
              <a:t>AI准备下一步动作，用户确认后执行。重点增加确认、权限、证据、撤销和执行反馈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第三层：受监督Agent</a:t>
            </a:r>
            <a:endParaRPr dirty="0"/>
          </a:p>
          <a:p>
            <a:endParaRPr dirty="0"/>
          </a:p>
          <a:p>
            <a:r>
              <a:rPr dirty="0" err="1"/>
              <a:t>Agent在明确范围内自动执行，人类主要处理异常。重点增加行动范围、停止条件、异常升级、日志、监控和失败恢复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第四层：高自主Agent</a:t>
            </a:r>
            <a:endParaRPr dirty="0"/>
          </a:p>
          <a:p>
            <a:endParaRPr dirty="0"/>
          </a:p>
          <a:p>
            <a:r>
              <a:rPr dirty="0" err="1"/>
              <a:t>Agent根据目标自主规划并执行较长任务链，对上下文、状态、工具可靠性、权限、安全和责任要求很高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结论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产品经理需要先确定系统被允许承担多少行动责任，再确定需要多高程度的自主性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让学员选择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A. </a:t>
            </a:r>
            <a:r>
              <a:rPr dirty="0" err="1"/>
              <a:t>一项更高级的软件功能</a:t>
            </a:r>
            <a:r>
              <a:rPr dirty="0"/>
              <a:t>；</a:t>
            </a:r>
          </a:p>
          <a:p>
            <a:r>
              <a:rPr dirty="0"/>
              <a:t>- B. </a:t>
            </a:r>
            <a:r>
              <a:rPr dirty="0" err="1"/>
              <a:t>一套自动化Workflow</a:t>
            </a:r>
            <a:r>
              <a:rPr dirty="0"/>
              <a:t>；</a:t>
            </a:r>
          </a:p>
          <a:p>
            <a:r>
              <a:rPr dirty="0"/>
              <a:t>- C. </a:t>
            </a:r>
            <a:r>
              <a:rPr dirty="0" err="1"/>
              <a:t>能够接受目标并执行任务的数字劳动力</a:t>
            </a:r>
            <a:r>
              <a:rPr dirty="0"/>
              <a:t>；</a:t>
            </a:r>
          </a:p>
          <a:p>
            <a:r>
              <a:rPr dirty="0"/>
              <a:t>- D. </a:t>
            </a:r>
            <a:r>
              <a:rPr dirty="0" err="1"/>
              <a:t>现阶段主要还是营销概念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请一位选择A或B、一位选择C的学员说明理由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教师讲解：Agent不是一个二元概念。很多所谓Agent只是调用固定工具的自动化流程；更接近“数字劳动力”的Agent需要接受目标、拆解任务、调用多种工具、保存状态、识别异常并在需要时寻求人类帮助。</a:t>
            </a:r>
          </a:p>
          <a:p>
            <a:endParaRPr dirty="0"/>
          </a:p>
          <a:p>
            <a:r>
              <a:rPr dirty="0"/>
              <a:t>[</a:t>
            </a:r>
            <a:r>
              <a:rPr dirty="0" err="1"/>
              <a:t>讲义来源</a:t>
            </a:r>
            <a:r>
              <a:rPr dirty="0"/>
              <a:t>]</a:t>
            </a:r>
          </a:p>
          <a:p>
            <a:r>
              <a:rPr dirty="0"/>
              <a:t>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/第12课_第一阶段能力验收与职业行动_重做工作区/第12课_第一阶段总结_AI产品趋势与项目实战_完整讲义_v0.2.md</a:t>
            </a:r>
          </a:p>
          <a:p>
            <a:r>
              <a:rPr dirty="0" err="1"/>
              <a:t>AI产品的四个行动层级；Agent究竟是什么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请学员先投票，再请1—2人说明理由。在这一页不公布答案，也不使用颜色暗示。</a:t>
            </a:r>
          </a:p>
          <a:p>
            <a:endParaRPr dirty="0"/>
          </a:p>
          <a:p>
            <a:r>
              <a:rPr dirty="0" err="1"/>
              <a:t>给出情境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会议助手错误地把一项尚未确定的任务分配给研发负责人，并自动设置了三天后截止。研发团队据此调整了排期，后来发现会议上根本没有形成正式决定。</a:t>
            </a:r>
          </a:p>
          <a:p>
            <a:endParaRPr dirty="0"/>
          </a:p>
          <a:p>
            <a:r>
              <a:rPr dirty="0" err="1"/>
              <a:t>让学员选择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A. </a:t>
            </a:r>
            <a:r>
              <a:rPr dirty="0" err="1"/>
              <a:t>模型厂商</a:t>
            </a:r>
            <a:r>
              <a:rPr dirty="0"/>
              <a:t>；</a:t>
            </a:r>
          </a:p>
          <a:p>
            <a:r>
              <a:rPr dirty="0"/>
              <a:t>- B. </a:t>
            </a:r>
            <a:r>
              <a:rPr dirty="0" err="1"/>
              <a:t>Agent产品公司</a:t>
            </a:r>
            <a:r>
              <a:rPr dirty="0"/>
              <a:t>；</a:t>
            </a:r>
          </a:p>
          <a:p>
            <a:r>
              <a:rPr dirty="0"/>
              <a:t>- C. </a:t>
            </a:r>
            <a:r>
              <a:rPr dirty="0" err="1"/>
              <a:t>使用Agent的企业</a:t>
            </a:r>
            <a:r>
              <a:rPr dirty="0"/>
              <a:t>；</a:t>
            </a:r>
          </a:p>
          <a:p>
            <a:r>
              <a:rPr dirty="0"/>
              <a:t>- D. </a:t>
            </a:r>
            <a:r>
              <a:rPr dirty="0" err="1"/>
              <a:t>最终使用者</a:t>
            </a:r>
            <a:r>
              <a:rPr dirty="0"/>
              <a:t>；</a:t>
            </a:r>
          </a:p>
          <a:p>
            <a:r>
              <a:rPr dirty="0"/>
              <a:t>- E. </a:t>
            </a:r>
            <a:r>
              <a:rPr dirty="0" err="1"/>
              <a:t>需要根据指令、产品设计、权限和确认流程具体划分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不寻找唯一责任人，而是拆解五类错误来源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1. </a:t>
            </a:r>
            <a:r>
              <a:rPr dirty="0" err="1"/>
              <a:t>用户指令不完整或模糊</a:t>
            </a:r>
            <a:r>
              <a:rPr dirty="0"/>
              <a:t>；</a:t>
            </a:r>
          </a:p>
          <a:p>
            <a:r>
              <a:rPr dirty="0"/>
              <a:t>2. </a:t>
            </a:r>
            <a:r>
              <a:rPr dirty="0" err="1"/>
              <a:t>模型理解错误</a:t>
            </a:r>
            <a:r>
              <a:rPr dirty="0"/>
              <a:t>；</a:t>
            </a:r>
          </a:p>
          <a:p>
            <a:r>
              <a:rPr dirty="0"/>
              <a:t>3. </a:t>
            </a:r>
            <a:r>
              <a:rPr dirty="0" err="1"/>
              <a:t>产品流程缺少确认和兜底</a:t>
            </a:r>
            <a:r>
              <a:rPr dirty="0"/>
              <a:t>；</a:t>
            </a:r>
          </a:p>
          <a:p>
            <a:r>
              <a:rPr dirty="0"/>
              <a:t>4. </a:t>
            </a:r>
            <a:r>
              <a:rPr dirty="0" err="1"/>
              <a:t>工具或系统调用错误</a:t>
            </a:r>
            <a:r>
              <a:rPr dirty="0"/>
              <a:t>；</a:t>
            </a:r>
          </a:p>
          <a:p>
            <a:r>
              <a:rPr dirty="0"/>
              <a:t>5. </a:t>
            </a:r>
            <a:r>
              <a:rPr dirty="0" err="1"/>
              <a:t>企业授予过大权限或缺少治理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核心观点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Agent错误通常不是某一个组件单独造成的，而是指令、模型、产品流程、工具系统和组织治理共同作用的结果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[</a:t>
            </a:r>
            <a:r>
              <a:rPr dirty="0" err="1"/>
              <a:t>讲义来源</a:t>
            </a:r>
            <a:r>
              <a:rPr dirty="0"/>
              <a:t>]</a:t>
            </a:r>
          </a:p>
          <a:p>
            <a:r>
              <a:rPr dirty="0"/>
              <a:t>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/第12课_第一阶段能力验收与职业行动_重做工作区/第12课_第一阶段总结_AI产品趋势与项目实战_完整讲义_v0.2.md</a:t>
            </a:r>
          </a:p>
          <a:p>
            <a:r>
              <a:rPr dirty="0" err="1"/>
              <a:t>Agent犯错应该由谁负责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判断结论：责任需要被提前设计进权限、确认、日志和回滚机制</a:t>
            </a:r>
            <a:endParaRPr dirty="0"/>
          </a:p>
          <a:p>
            <a:endParaRPr dirty="0"/>
          </a:p>
          <a:p>
            <a:r>
              <a:rPr dirty="0" err="1"/>
              <a:t>给出情境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会议助手错误地把一项尚未确定的任务分配给研发负责人，并自动设置了三天后截止。研发团队据此调整了排期，后来发现会议上根本没有形成正式决定。</a:t>
            </a:r>
          </a:p>
          <a:p>
            <a:endParaRPr dirty="0"/>
          </a:p>
          <a:p>
            <a:r>
              <a:rPr dirty="0" err="1"/>
              <a:t>让学员选择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A. </a:t>
            </a:r>
            <a:r>
              <a:rPr dirty="0" err="1"/>
              <a:t>模型厂商</a:t>
            </a:r>
            <a:r>
              <a:rPr dirty="0"/>
              <a:t>；</a:t>
            </a:r>
          </a:p>
          <a:p>
            <a:r>
              <a:rPr dirty="0"/>
              <a:t>- B. </a:t>
            </a:r>
            <a:r>
              <a:rPr dirty="0" err="1"/>
              <a:t>Agent产品公司</a:t>
            </a:r>
            <a:r>
              <a:rPr dirty="0"/>
              <a:t>；</a:t>
            </a:r>
          </a:p>
          <a:p>
            <a:r>
              <a:rPr dirty="0"/>
              <a:t>- C. </a:t>
            </a:r>
            <a:r>
              <a:rPr dirty="0" err="1"/>
              <a:t>使用Agent的企业</a:t>
            </a:r>
            <a:r>
              <a:rPr dirty="0"/>
              <a:t>；</a:t>
            </a:r>
          </a:p>
          <a:p>
            <a:r>
              <a:rPr dirty="0"/>
              <a:t>- D. </a:t>
            </a:r>
            <a:r>
              <a:rPr dirty="0" err="1"/>
              <a:t>最终使用者</a:t>
            </a:r>
            <a:r>
              <a:rPr dirty="0"/>
              <a:t>；</a:t>
            </a:r>
          </a:p>
          <a:p>
            <a:r>
              <a:rPr dirty="0"/>
              <a:t>- E. </a:t>
            </a:r>
            <a:r>
              <a:rPr dirty="0" err="1"/>
              <a:t>需要根据指令、产品设计、权限和确认流程具体划分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不寻找唯一责任人，而是拆解五类错误来源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1. </a:t>
            </a:r>
            <a:r>
              <a:rPr dirty="0" err="1"/>
              <a:t>用户指令不完整或模糊</a:t>
            </a:r>
            <a:r>
              <a:rPr dirty="0"/>
              <a:t>；</a:t>
            </a:r>
          </a:p>
          <a:p>
            <a:r>
              <a:rPr dirty="0"/>
              <a:t>2. </a:t>
            </a:r>
            <a:r>
              <a:rPr dirty="0" err="1"/>
              <a:t>模型理解错误</a:t>
            </a:r>
            <a:r>
              <a:rPr dirty="0"/>
              <a:t>；</a:t>
            </a:r>
          </a:p>
          <a:p>
            <a:r>
              <a:rPr dirty="0"/>
              <a:t>3. </a:t>
            </a:r>
            <a:r>
              <a:rPr dirty="0" err="1"/>
              <a:t>产品流程缺少确认和兜底</a:t>
            </a:r>
            <a:r>
              <a:rPr dirty="0"/>
              <a:t>；</a:t>
            </a:r>
          </a:p>
          <a:p>
            <a:r>
              <a:rPr dirty="0"/>
              <a:t>4. </a:t>
            </a:r>
            <a:r>
              <a:rPr dirty="0" err="1"/>
              <a:t>工具或系统调用错误</a:t>
            </a:r>
            <a:r>
              <a:rPr dirty="0"/>
              <a:t>；</a:t>
            </a:r>
          </a:p>
          <a:p>
            <a:r>
              <a:rPr dirty="0"/>
              <a:t>5. </a:t>
            </a:r>
            <a:r>
              <a:rPr dirty="0" err="1"/>
              <a:t>企业授予过大权限或缺少治理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核心观点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Agent错误通常不是某一个组件单独造成的，而是指令、模型、产品流程、工具系统和组织治理共同作用的结果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需要设计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最小权限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分级确认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执行前可见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执行后可追溯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可暂停、取消、撤销和回滚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异常时停止并升级人工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参考控制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| </a:t>
            </a:r>
            <a:r>
              <a:rPr dirty="0" err="1"/>
              <a:t>动作</a:t>
            </a:r>
            <a:r>
              <a:rPr dirty="0"/>
              <a:t> | </a:t>
            </a:r>
            <a:r>
              <a:rPr dirty="0" err="1"/>
              <a:t>建议控制</a:t>
            </a:r>
            <a:r>
              <a:rPr dirty="0"/>
              <a:t> |</a:t>
            </a:r>
          </a:p>
          <a:p>
            <a:r>
              <a:rPr dirty="0"/>
              <a:t>|---|---|</a:t>
            </a:r>
          </a:p>
          <a:p>
            <a:r>
              <a:rPr dirty="0"/>
              <a:t>| </a:t>
            </a:r>
            <a:r>
              <a:rPr dirty="0" err="1"/>
              <a:t>生成摘要</a:t>
            </a:r>
            <a:r>
              <a:rPr dirty="0"/>
              <a:t> | </a:t>
            </a:r>
            <a:r>
              <a:rPr dirty="0" err="1"/>
              <a:t>可以自动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提取行动项</a:t>
            </a:r>
            <a:r>
              <a:rPr dirty="0"/>
              <a:t> | </a:t>
            </a:r>
            <a:r>
              <a:rPr dirty="0" err="1"/>
              <a:t>自动生成，用户检查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推荐负责人</a:t>
            </a:r>
            <a:r>
              <a:rPr dirty="0"/>
              <a:t> | </a:t>
            </a:r>
            <a:r>
              <a:rPr dirty="0" err="1"/>
              <a:t>显示为建议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创建草稿任务</a:t>
            </a:r>
            <a:r>
              <a:rPr dirty="0"/>
              <a:t> | </a:t>
            </a:r>
            <a:r>
              <a:rPr dirty="0" err="1"/>
              <a:t>可批量确认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创建正式任务</a:t>
            </a:r>
            <a:r>
              <a:rPr dirty="0"/>
              <a:t> | </a:t>
            </a:r>
            <a:r>
              <a:rPr dirty="0" err="1"/>
              <a:t>明确确认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修改负责人</a:t>
            </a:r>
            <a:r>
              <a:rPr dirty="0"/>
              <a:t> | </a:t>
            </a:r>
            <a:r>
              <a:rPr dirty="0" err="1"/>
              <a:t>再次确认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删除任务或对外发送</a:t>
            </a:r>
            <a:r>
              <a:rPr dirty="0"/>
              <a:t> | </a:t>
            </a:r>
            <a:r>
              <a:rPr dirty="0" err="1"/>
              <a:t>强确认或禁止</a:t>
            </a:r>
            <a:r>
              <a:rPr dirty="0"/>
              <a:t> |</a:t>
            </a:r>
          </a:p>
          <a:p>
            <a:endParaRPr dirty="0"/>
          </a:p>
          <a:p>
            <a:r>
              <a:rPr dirty="0" err="1"/>
              <a:t>结论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Agent产品真正高级的地方，不是执行了多少动作，而是把权限、确认、日志、暂停、回滚和人工接管设计成完整系统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[</a:t>
            </a:r>
            <a:r>
              <a:rPr dirty="0" err="1"/>
              <a:t>讲义来源</a:t>
            </a:r>
            <a:r>
              <a:rPr dirty="0"/>
              <a:t>]</a:t>
            </a:r>
          </a:p>
          <a:p>
            <a:r>
              <a:rPr dirty="0"/>
              <a:t>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/第12课_第一阶段能力验收与职业行动_重做工作区/第12课_第一阶段总结_AI产品趋势与项目实战_完整讲义_v0.2.md</a:t>
            </a:r>
          </a:p>
          <a:p>
            <a:r>
              <a:rPr dirty="0" err="1"/>
              <a:t>Agent犯错应该由谁负责；如何把责任设计进产品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请学员先投票，再请1—2人说明理由。在这一页不公布答案，也不使用颜色暗示。</a:t>
            </a:r>
          </a:p>
          <a:p>
            <a:endParaRPr dirty="0"/>
          </a:p>
          <a:p>
            <a:r>
              <a:rPr dirty="0" err="1"/>
              <a:t>让学员选择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A. </a:t>
            </a:r>
            <a:r>
              <a:rPr dirty="0" err="1"/>
              <a:t>工作量明显减少</a:t>
            </a:r>
            <a:r>
              <a:rPr dirty="0"/>
              <a:t>；</a:t>
            </a:r>
          </a:p>
          <a:p>
            <a:r>
              <a:rPr dirty="0"/>
              <a:t>- B. </a:t>
            </a:r>
            <a:r>
              <a:rPr dirty="0" err="1"/>
              <a:t>企业会安排员工完成更多任务</a:t>
            </a:r>
            <a:r>
              <a:rPr dirty="0"/>
              <a:t>；</a:t>
            </a:r>
          </a:p>
          <a:p>
            <a:r>
              <a:rPr dirty="0"/>
              <a:t>- C. </a:t>
            </a:r>
            <a:r>
              <a:rPr dirty="0" err="1"/>
              <a:t>部分任务减少，但监督、评测和治理工作增加</a:t>
            </a:r>
            <a:r>
              <a:rPr dirty="0"/>
              <a:t>；</a:t>
            </a:r>
          </a:p>
          <a:p>
            <a:r>
              <a:rPr dirty="0"/>
              <a:t>- D. </a:t>
            </a:r>
            <a:r>
              <a:rPr dirty="0" err="1"/>
              <a:t>取决于企业是否重新设计流程和岗位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可能减少的工作：信息搜集、初稿、格式整理、重复查询、数据录入和固定操作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可能增加的工作：定义标准、维护数据、评测、检查高风险结果、分析Bad</a:t>
            </a:r>
            <a:r>
              <a:rPr dirty="0"/>
              <a:t> </a:t>
            </a:r>
            <a:r>
              <a:rPr dirty="0" err="1"/>
              <a:t>Case、配置权限、监督Agent和处理异常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如果企业只是把Agent叠加到原流程上，可能出现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AI生成一次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员工完整检查一次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原流程再走一次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管理者增加一次审批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最终工作反而更多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更专业的做法是重新判断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1. </a:t>
            </a:r>
            <a:r>
              <a:rPr dirty="0" err="1"/>
              <a:t>哪些任务可以取消</a:t>
            </a:r>
            <a:r>
              <a:rPr dirty="0"/>
              <a:t>；</a:t>
            </a:r>
          </a:p>
          <a:p>
            <a:r>
              <a:rPr dirty="0"/>
              <a:t>2. </a:t>
            </a:r>
            <a:r>
              <a:rPr dirty="0" err="1"/>
              <a:t>哪些交给AI</a:t>
            </a:r>
            <a:r>
              <a:rPr dirty="0"/>
              <a:t>；</a:t>
            </a:r>
          </a:p>
          <a:p>
            <a:r>
              <a:rPr dirty="0"/>
              <a:t>3. </a:t>
            </a:r>
            <a:r>
              <a:rPr dirty="0" err="1"/>
              <a:t>哪些由人工确认</a:t>
            </a:r>
            <a:r>
              <a:rPr dirty="0"/>
              <a:t>；</a:t>
            </a:r>
          </a:p>
          <a:p>
            <a:r>
              <a:rPr dirty="0"/>
              <a:t>4. </a:t>
            </a:r>
            <a:r>
              <a:rPr dirty="0" err="1"/>
              <a:t>哪些旧环节不再需要</a:t>
            </a:r>
            <a:r>
              <a:rPr dirty="0"/>
              <a:t>；</a:t>
            </a:r>
          </a:p>
          <a:p>
            <a:r>
              <a:rPr dirty="0"/>
              <a:t>5. </a:t>
            </a:r>
            <a:r>
              <a:rPr dirty="0" err="1"/>
              <a:t>哪些新风险需要控制</a:t>
            </a:r>
            <a:r>
              <a:rPr dirty="0"/>
              <a:t>；</a:t>
            </a:r>
          </a:p>
          <a:p>
            <a:r>
              <a:rPr dirty="0"/>
              <a:t>6. </a:t>
            </a:r>
            <a:r>
              <a:rPr dirty="0" err="1"/>
              <a:t>岗位职责和绩效指标怎样变化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核心观点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AI真正产生效率，不是把Agent叠加在旧流程上，而是重新设计人、AI和组织之间的工作分工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[</a:t>
            </a:r>
            <a:r>
              <a:rPr dirty="0" err="1"/>
              <a:t>讲义来源</a:t>
            </a:r>
            <a:r>
              <a:rPr dirty="0"/>
              <a:t>]</a:t>
            </a:r>
          </a:p>
          <a:p>
            <a:r>
              <a:rPr dirty="0"/>
              <a:t>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/第12课_第一阶段能力验收与职业行动_重做工作区/第12课_第一阶段总结_AI产品趋势与项目实战_完整讲义_v0.2.md</a:t>
            </a:r>
          </a:p>
          <a:p>
            <a:r>
              <a:rPr dirty="0" err="1"/>
              <a:t>AI提升效率以后，人类工作会减少吗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判断结论：真正的效率来自重新设计人、AI和组织的分工</a:t>
            </a:r>
            <a:endParaRPr dirty="0"/>
          </a:p>
          <a:p>
            <a:endParaRPr dirty="0"/>
          </a:p>
          <a:p>
            <a:r>
              <a:rPr dirty="0" err="1"/>
              <a:t>让学员选择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A. </a:t>
            </a:r>
            <a:r>
              <a:rPr dirty="0" err="1"/>
              <a:t>工作量明显减少</a:t>
            </a:r>
            <a:r>
              <a:rPr dirty="0"/>
              <a:t>；</a:t>
            </a:r>
          </a:p>
          <a:p>
            <a:r>
              <a:rPr dirty="0"/>
              <a:t>- B. </a:t>
            </a:r>
            <a:r>
              <a:rPr dirty="0" err="1"/>
              <a:t>企业会安排员工完成更多任务</a:t>
            </a:r>
            <a:r>
              <a:rPr dirty="0"/>
              <a:t>；</a:t>
            </a:r>
          </a:p>
          <a:p>
            <a:r>
              <a:rPr dirty="0"/>
              <a:t>- C. </a:t>
            </a:r>
            <a:r>
              <a:rPr dirty="0" err="1"/>
              <a:t>部分任务减少，但监督、评测和治理工作增加</a:t>
            </a:r>
            <a:r>
              <a:rPr dirty="0"/>
              <a:t>；</a:t>
            </a:r>
          </a:p>
          <a:p>
            <a:r>
              <a:rPr dirty="0"/>
              <a:t>- D. </a:t>
            </a:r>
            <a:r>
              <a:rPr dirty="0" err="1"/>
              <a:t>取决于企业是否重新设计流程和岗位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可能减少的工作：信息搜集、初稿、格式整理、重复查询、数据录入和固定操作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可能增加的工作：定义标准、维护数据、评测、检查高风险结果、分析Bad</a:t>
            </a:r>
            <a:r>
              <a:rPr dirty="0"/>
              <a:t> </a:t>
            </a:r>
            <a:r>
              <a:rPr dirty="0" err="1"/>
              <a:t>Case、配置权限、监督Agent和处理异常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如果企业只是把Agent叠加到原流程上，可能出现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AI生成一次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员工完整检查一次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原流程再走一次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管理者增加一次审批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最终工作反而更多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更专业的做法是重新判断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1. </a:t>
            </a:r>
            <a:r>
              <a:rPr dirty="0" err="1"/>
              <a:t>哪些任务可以取消</a:t>
            </a:r>
            <a:r>
              <a:rPr dirty="0"/>
              <a:t>；</a:t>
            </a:r>
          </a:p>
          <a:p>
            <a:r>
              <a:rPr dirty="0"/>
              <a:t>2. </a:t>
            </a:r>
            <a:r>
              <a:rPr dirty="0" err="1"/>
              <a:t>哪些交给AI</a:t>
            </a:r>
            <a:r>
              <a:rPr dirty="0"/>
              <a:t>；</a:t>
            </a:r>
          </a:p>
          <a:p>
            <a:r>
              <a:rPr dirty="0"/>
              <a:t>3. </a:t>
            </a:r>
            <a:r>
              <a:rPr dirty="0" err="1"/>
              <a:t>哪些由人工确认</a:t>
            </a:r>
            <a:r>
              <a:rPr dirty="0"/>
              <a:t>；</a:t>
            </a:r>
          </a:p>
          <a:p>
            <a:r>
              <a:rPr dirty="0"/>
              <a:t>4. </a:t>
            </a:r>
            <a:r>
              <a:rPr dirty="0" err="1"/>
              <a:t>哪些旧环节不再需要</a:t>
            </a:r>
            <a:r>
              <a:rPr dirty="0"/>
              <a:t>；</a:t>
            </a:r>
          </a:p>
          <a:p>
            <a:r>
              <a:rPr dirty="0"/>
              <a:t>5. </a:t>
            </a:r>
            <a:r>
              <a:rPr dirty="0" err="1"/>
              <a:t>哪些新风险需要控制</a:t>
            </a:r>
            <a:r>
              <a:rPr dirty="0"/>
              <a:t>；</a:t>
            </a:r>
          </a:p>
          <a:p>
            <a:r>
              <a:rPr dirty="0"/>
              <a:t>6. </a:t>
            </a:r>
            <a:r>
              <a:rPr dirty="0" err="1"/>
              <a:t>岗位职责和绩效指标怎样变化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核心观点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AI真正产生效率，不是把Agent叠加在旧流程上，而是重新设计人、AI和组织之间的工作分工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除传统DAU、点击率和功能使用率外，还需要关注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任务完成率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无需人工介入的完成率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人工接管率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错误执行率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撤销和回滚率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单个成功任务成本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平均完成时间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高风险动作数量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用户确认和修改比例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结论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Agent产品的衡量单位会从“</a:t>
            </a:r>
            <a:r>
              <a:rPr dirty="0" err="1"/>
              <a:t>用户使用了多少功能</a:t>
            </a:r>
            <a:r>
              <a:rPr dirty="0"/>
              <a:t>”，</a:t>
            </a:r>
            <a:r>
              <a:rPr dirty="0" err="1"/>
              <a:t>逐渐转向“系统完成了多少有效任务</a:t>
            </a:r>
            <a:r>
              <a:rPr dirty="0"/>
              <a:t>”。</a:t>
            </a:r>
          </a:p>
          <a:p>
            <a:endParaRPr dirty="0"/>
          </a:p>
          <a:p>
            <a:r>
              <a:rPr dirty="0"/>
              <a:t>[</a:t>
            </a:r>
            <a:r>
              <a:rPr dirty="0" err="1"/>
              <a:t>讲义来源</a:t>
            </a:r>
            <a:r>
              <a:rPr dirty="0"/>
              <a:t>]</a:t>
            </a:r>
          </a:p>
          <a:p>
            <a:r>
              <a:rPr dirty="0"/>
              <a:t>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/第12课_第一阶段能力验收与职业行动_重做工作区/第12课_第一阶段总结_AI产品趋势与项目实战_完整讲义_v0.2.md</a:t>
            </a:r>
          </a:p>
          <a:p>
            <a:r>
              <a:rPr dirty="0" err="1"/>
              <a:t>AI提升效率以后，人类工作会减少吗；Agent产品的新指标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请学员先投票，再请1—2人说明理由。在这一页不公布答案，也不使用颜色暗示。</a:t>
            </a:r>
          </a:p>
          <a:p>
            <a:endParaRPr dirty="0"/>
          </a:p>
          <a:p>
            <a:r>
              <a:rPr dirty="0"/>
              <a:t>给出会议助手场景：轻度用户每月处理5场会议，重度用户可能处理100场，每次都会产生转写、模型、存储和系统执行成本。</a:t>
            </a:r>
          </a:p>
          <a:p>
            <a:endParaRPr dirty="0"/>
          </a:p>
          <a:p>
            <a:r>
              <a:rPr dirty="0" err="1"/>
              <a:t>让学员选择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A. </a:t>
            </a:r>
            <a:r>
              <a:rPr dirty="0" err="1"/>
              <a:t>按账号收取固定月费</a:t>
            </a:r>
            <a:r>
              <a:rPr dirty="0"/>
              <a:t>；</a:t>
            </a:r>
          </a:p>
          <a:p>
            <a:r>
              <a:rPr dirty="0"/>
              <a:t>- B. </a:t>
            </a:r>
            <a:r>
              <a:rPr dirty="0" err="1"/>
              <a:t>按会议时长、Token或调用量</a:t>
            </a:r>
            <a:r>
              <a:rPr dirty="0"/>
              <a:t>；</a:t>
            </a:r>
          </a:p>
          <a:p>
            <a:r>
              <a:rPr dirty="0"/>
              <a:t>- C. </a:t>
            </a:r>
            <a:r>
              <a:rPr dirty="0" err="1"/>
              <a:t>按成功整理的会议和任务数量</a:t>
            </a:r>
            <a:r>
              <a:rPr dirty="0"/>
              <a:t>；</a:t>
            </a:r>
          </a:p>
          <a:p>
            <a:r>
              <a:rPr dirty="0"/>
              <a:t>- D. </a:t>
            </a:r>
            <a:r>
              <a:rPr dirty="0" err="1"/>
              <a:t>按最终节省的人工成本</a:t>
            </a:r>
            <a:r>
              <a:rPr dirty="0"/>
              <a:t>；</a:t>
            </a:r>
          </a:p>
          <a:p>
            <a:r>
              <a:rPr dirty="0"/>
              <a:t>- E. </a:t>
            </a:r>
            <a:r>
              <a:rPr dirty="0" err="1"/>
              <a:t>基础订阅＋使用量或结果的混合收费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五种收费方式</a:t>
            </a:r>
            <a:endParaRPr dirty="0"/>
          </a:p>
          <a:p>
            <a:endParaRPr dirty="0"/>
          </a:p>
          <a:p>
            <a:r>
              <a:rPr dirty="0"/>
              <a:t>#### </a:t>
            </a:r>
            <a:r>
              <a:rPr dirty="0" err="1"/>
              <a:t>按账号订阅</a:t>
            </a:r>
            <a:endParaRPr dirty="0"/>
          </a:p>
          <a:p>
            <a:endParaRPr dirty="0"/>
          </a:p>
          <a:p>
            <a:r>
              <a:rPr dirty="0" err="1"/>
              <a:t>容易理解和预算，但重度用户可能产生远高于轻度用户的成本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#### </a:t>
            </a:r>
            <a:r>
              <a:rPr dirty="0" err="1"/>
              <a:t>按使用量</a:t>
            </a:r>
            <a:endParaRPr dirty="0"/>
          </a:p>
          <a:p>
            <a:endParaRPr dirty="0"/>
          </a:p>
          <a:p>
            <a:r>
              <a:rPr dirty="0" err="1"/>
              <a:t>收入与推理成本更接近，但Token和技术消耗不一定是用户能够理解的价值单位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#### </a:t>
            </a:r>
            <a:r>
              <a:rPr dirty="0" err="1"/>
              <a:t>按任务</a:t>
            </a:r>
            <a:endParaRPr dirty="0"/>
          </a:p>
          <a:p>
            <a:endParaRPr dirty="0"/>
          </a:p>
          <a:p>
            <a:r>
              <a:rPr dirty="0" err="1"/>
              <a:t>例如按会议、报告、工单或审核任务收费，更接近用户工作单位，但需要定义什么叫完成、失败是否收费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#### </a:t>
            </a:r>
            <a:r>
              <a:rPr dirty="0" err="1"/>
              <a:t>按结果</a:t>
            </a:r>
            <a:endParaRPr dirty="0"/>
          </a:p>
          <a:p>
            <a:endParaRPr dirty="0"/>
          </a:p>
          <a:p>
            <a:r>
              <a:rPr dirty="0" err="1"/>
              <a:t>最接近业务价值，但难以界定因果、成功标准和结果责任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#### </a:t>
            </a:r>
            <a:r>
              <a:rPr dirty="0" err="1"/>
              <a:t>混合收费</a:t>
            </a:r>
            <a:endParaRPr dirty="0"/>
          </a:p>
          <a:p>
            <a:endParaRPr dirty="0"/>
          </a:p>
          <a:p>
            <a:r>
              <a:rPr dirty="0" err="1"/>
              <a:t>基础订阅覆盖固定成本，使用量或结果费用覆盖随使用增加的成本与价值，但解释和定价更复杂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定价需要同时看三个单位</a:t>
            </a:r>
            <a:endParaRPr dirty="0"/>
          </a:p>
          <a:p>
            <a:endParaRPr dirty="0"/>
          </a:p>
          <a:p>
            <a:r>
              <a:rPr dirty="0"/>
              <a:t>1. </a:t>
            </a:r>
            <a:r>
              <a:rPr dirty="0" err="1"/>
              <a:t>成本单位：每分钟语音、每千Token、每次搜索、每次人工复核</a:t>
            </a:r>
            <a:r>
              <a:rPr dirty="0"/>
              <a:t>；</a:t>
            </a:r>
          </a:p>
          <a:p>
            <a:r>
              <a:rPr dirty="0"/>
              <a:t>2. </a:t>
            </a:r>
            <a:r>
              <a:rPr dirty="0" err="1"/>
              <a:t>价值单位：一场会议、一份报告、一个解决的工单、一个有效线索</a:t>
            </a:r>
            <a:r>
              <a:rPr dirty="0"/>
              <a:t>；</a:t>
            </a:r>
          </a:p>
          <a:p>
            <a:r>
              <a:rPr dirty="0"/>
              <a:t>3. </a:t>
            </a:r>
            <a:r>
              <a:rPr dirty="0" err="1"/>
              <a:t>收费单位：账号、调用、任务、结果或组合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核心观点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AI产品定价需要在成本单位、价值单位和收费单位之间建立合理关系。否则可能出现用户越活跃，产品亏得越多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[</a:t>
            </a:r>
            <a:r>
              <a:rPr dirty="0" err="1"/>
              <a:t>讲义来源</a:t>
            </a:r>
            <a:r>
              <a:rPr dirty="0"/>
              <a:t>]</a:t>
            </a:r>
          </a:p>
          <a:p>
            <a:r>
              <a:rPr dirty="0"/>
              <a:t>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/第12课_第一阶段能力验收与职业行动_重做工作区/第12课_第一阶段总结_AI产品趋势与项目实战_完整讲义_v0.2.md</a:t>
            </a:r>
          </a:p>
          <a:p>
            <a:r>
              <a:rPr dirty="0" err="1"/>
              <a:t>AI产品应该按照什么收费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判断结论：成本单位、价值单位和收费单位需要相互匹配</a:t>
            </a:r>
            <a:endParaRPr dirty="0"/>
          </a:p>
          <a:p>
            <a:endParaRPr dirty="0"/>
          </a:p>
          <a:p>
            <a:r>
              <a:rPr dirty="0"/>
              <a:t>给出会议助手场景：轻度用户每月处理5场会议，重度用户可能处理100场，每次都会产生转写、模型、存储和系统执行成本。</a:t>
            </a:r>
          </a:p>
          <a:p>
            <a:endParaRPr dirty="0"/>
          </a:p>
          <a:p>
            <a:r>
              <a:rPr dirty="0" err="1"/>
              <a:t>让学员选择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A. </a:t>
            </a:r>
            <a:r>
              <a:rPr dirty="0" err="1"/>
              <a:t>按账号收取固定月费</a:t>
            </a:r>
            <a:r>
              <a:rPr dirty="0"/>
              <a:t>；</a:t>
            </a:r>
          </a:p>
          <a:p>
            <a:r>
              <a:rPr dirty="0"/>
              <a:t>- B. </a:t>
            </a:r>
            <a:r>
              <a:rPr dirty="0" err="1"/>
              <a:t>按会议时长、Token或调用量</a:t>
            </a:r>
            <a:r>
              <a:rPr dirty="0"/>
              <a:t>；</a:t>
            </a:r>
          </a:p>
          <a:p>
            <a:r>
              <a:rPr dirty="0"/>
              <a:t>- C. </a:t>
            </a:r>
            <a:r>
              <a:rPr dirty="0" err="1"/>
              <a:t>按成功整理的会议和任务数量</a:t>
            </a:r>
            <a:r>
              <a:rPr dirty="0"/>
              <a:t>；</a:t>
            </a:r>
          </a:p>
          <a:p>
            <a:r>
              <a:rPr dirty="0"/>
              <a:t>- D. </a:t>
            </a:r>
            <a:r>
              <a:rPr dirty="0" err="1"/>
              <a:t>按最终节省的人工成本</a:t>
            </a:r>
            <a:r>
              <a:rPr dirty="0"/>
              <a:t>；</a:t>
            </a:r>
          </a:p>
          <a:p>
            <a:r>
              <a:rPr dirty="0"/>
              <a:t>- E. </a:t>
            </a:r>
            <a:r>
              <a:rPr dirty="0" err="1"/>
              <a:t>基础订阅＋使用量或结果的混合收费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五种收费方式</a:t>
            </a:r>
            <a:endParaRPr dirty="0"/>
          </a:p>
          <a:p>
            <a:endParaRPr dirty="0"/>
          </a:p>
          <a:p>
            <a:r>
              <a:rPr dirty="0"/>
              <a:t>#### </a:t>
            </a:r>
            <a:r>
              <a:rPr dirty="0" err="1"/>
              <a:t>按账号订阅</a:t>
            </a:r>
            <a:endParaRPr dirty="0"/>
          </a:p>
          <a:p>
            <a:endParaRPr dirty="0"/>
          </a:p>
          <a:p>
            <a:r>
              <a:rPr dirty="0" err="1"/>
              <a:t>容易理解和预算，但重度用户可能产生远高于轻度用户的成本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#### </a:t>
            </a:r>
            <a:r>
              <a:rPr dirty="0" err="1"/>
              <a:t>按使用量</a:t>
            </a:r>
            <a:endParaRPr dirty="0"/>
          </a:p>
          <a:p>
            <a:endParaRPr dirty="0"/>
          </a:p>
          <a:p>
            <a:r>
              <a:rPr dirty="0" err="1"/>
              <a:t>收入与推理成本更接近，但Token和技术消耗不一定是用户能够理解的价值单位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#### </a:t>
            </a:r>
            <a:r>
              <a:rPr dirty="0" err="1"/>
              <a:t>按任务</a:t>
            </a:r>
            <a:endParaRPr dirty="0"/>
          </a:p>
          <a:p>
            <a:endParaRPr dirty="0"/>
          </a:p>
          <a:p>
            <a:r>
              <a:rPr dirty="0" err="1"/>
              <a:t>例如按会议、报告、工单或审核任务收费，更接近用户工作单位，但需要定义什么叫完成、失败是否收费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#### </a:t>
            </a:r>
            <a:r>
              <a:rPr dirty="0" err="1"/>
              <a:t>按结果</a:t>
            </a:r>
            <a:endParaRPr dirty="0"/>
          </a:p>
          <a:p>
            <a:endParaRPr dirty="0"/>
          </a:p>
          <a:p>
            <a:r>
              <a:rPr dirty="0" err="1"/>
              <a:t>最接近业务价值，但难以界定因果、成功标准和结果责任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#### </a:t>
            </a:r>
            <a:r>
              <a:rPr dirty="0" err="1"/>
              <a:t>混合收费</a:t>
            </a:r>
            <a:endParaRPr dirty="0"/>
          </a:p>
          <a:p>
            <a:endParaRPr dirty="0"/>
          </a:p>
          <a:p>
            <a:r>
              <a:rPr dirty="0" err="1"/>
              <a:t>基础订阅覆盖固定成本，使用量或结果费用覆盖随使用增加的成本与价值，但解释和定价更复杂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定价需要同时看三个单位</a:t>
            </a:r>
            <a:endParaRPr dirty="0"/>
          </a:p>
          <a:p>
            <a:endParaRPr dirty="0"/>
          </a:p>
          <a:p>
            <a:r>
              <a:rPr dirty="0"/>
              <a:t>1. </a:t>
            </a:r>
            <a:r>
              <a:rPr dirty="0" err="1"/>
              <a:t>成本单位：每分钟语音、每千Token、每次搜索、每次人工复核</a:t>
            </a:r>
            <a:r>
              <a:rPr dirty="0"/>
              <a:t>；</a:t>
            </a:r>
          </a:p>
          <a:p>
            <a:r>
              <a:rPr dirty="0"/>
              <a:t>2. </a:t>
            </a:r>
            <a:r>
              <a:rPr dirty="0" err="1"/>
              <a:t>价值单位：一场会议、一份报告、一个解决的工单、一个有效线索</a:t>
            </a:r>
            <a:r>
              <a:rPr dirty="0"/>
              <a:t>；</a:t>
            </a:r>
          </a:p>
          <a:p>
            <a:r>
              <a:rPr dirty="0"/>
              <a:t>3. </a:t>
            </a:r>
            <a:r>
              <a:rPr dirty="0" err="1"/>
              <a:t>收费单位：账号、调用、任务、结果或组合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核心观点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AI产品定价需要在成本单位、价值单位和收费单位之间建立合理关系。否则可能出现用户越活跃，产品亏得越多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[</a:t>
            </a:r>
            <a:r>
              <a:rPr dirty="0" err="1"/>
              <a:t>讲义来源</a:t>
            </a:r>
            <a:r>
              <a:rPr dirty="0"/>
              <a:t>]</a:t>
            </a:r>
          </a:p>
          <a:p>
            <a:r>
              <a:rPr dirty="0"/>
              <a:t>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/第12课_第一阶段能力验收与职业行动_重做工作区/第12课_第一阶段总结_AI产品趋势与项目实战_完整讲义_v0.2.md</a:t>
            </a:r>
          </a:p>
          <a:p>
            <a:r>
              <a:rPr dirty="0" err="1"/>
              <a:t>AI产品应该按照什么收费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请学员先投票，再请1—2人说明理由。在这一页不公布答案，也不使用颜色暗示。</a:t>
            </a:r>
          </a:p>
          <a:p>
            <a:endParaRPr dirty="0"/>
          </a:p>
          <a:p>
            <a:r>
              <a:rPr dirty="0" err="1"/>
              <a:t>让学员选择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A. </a:t>
            </a:r>
            <a:r>
              <a:rPr dirty="0" err="1"/>
              <a:t>是，数据越多壁垒越高</a:t>
            </a:r>
            <a:r>
              <a:rPr dirty="0"/>
              <a:t>；</a:t>
            </a:r>
          </a:p>
          <a:p>
            <a:r>
              <a:rPr dirty="0"/>
              <a:t>- B. </a:t>
            </a:r>
            <a:r>
              <a:rPr dirty="0" err="1"/>
              <a:t>不一定，大量数据未必能够改善产品</a:t>
            </a:r>
            <a:r>
              <a:rPr dirty="0"/>
              <a:t>；</a:t>
            </a:r>
          </a:p>
          <a:p>
            <a:r>
              <a:rPr dirty="0"/>
              <a:t>- C. </a:t>
            </a:r>
            <a:r>
              <a:rPr dirty="0" err="1"/>
              <a:t>只有独家数据才有价值</a:t>
            </a:r>
            <a:r>
              <a:rPr dirty="0"/>
              <a:t>；</a:t>
            </a:r>
          </a:p>
          <a:p>
            <a:r>
              <a:rPr dirty="0"/>
              <a:t>- D. </a:t>
            </a:r>
            <a:r>
              <a:rPr dirty="0" err="1"/>
              <a:t>数据必须合法、相关、可使用并进入改进闭环</a:t>
            </a:r>
            <a:r>
              <a:rPr dirty="0"/>
              <a:t>；</a:t>
            </a:r>
          </a:p>
          <a:p>
            <a:r>
              <a:rPr dirty="0"/>
              <a:t>- E. </a:t>
            </a:r>
            <a:r>
              <a:rPr dirty="0" err="1"/>
              <a:t>模型越来越强以后，数据不再重要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不是所有用户对话、点击日志、文件和生成内容都能形成壁垒。数据可能与核心任务无关、没有可信标签、不能合法使用、质量差或者无法进入优化。</a:t>
            </a:r>
          </a:p>
          <a:p>
            <a:endParaRPr dirty="0"/>
          </a:p>
          <a:p>
            <a:r>
              <a:rPr dirty="0" err="1"/>
              <a:t>真正有价值的数据需要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1. </a:t>
            </a:r>
            <a:r>
              <a:rPr dirty="0" err="1"/>
              <a:t>与核心任务直接相关</a:t>
            </a:r>
            <a:r>
              <a:rPr dirty="0"/>
              <a:t>；</a:t>
            </a:r>
          </a:p>
          <a:p>
            <a:r>
              <a:rPr dirty="0"/>
              <a:t>2. </a:t>
            </a:r>
            <a:r>
              <a:rPr dirty="0" err="1"/>
              <a:t>结果可以被判断</a:t>
            </a:r>
            <a:r>
              <a:rPr dirty="0"/>
              <a:t>；</a:t>
            </a:r>
          </a:p>
          <a:p>
            <a:r>
              <a:rPr dirty="0"/>
              <a:t>3. </a:t>
            </a:r>
            <a:r>
              <a:rPr dirty="0" err="1"/>
              <a:t>能够合法使用</a:t>
            </a:r>
            <a:r>
              <a:rPr dirty="0"/>
              <a:t>；</a:t>
            </a:r>
          </a:p>
          <a:p>
            <a:r>
              <a:rPr dirty="0"/>
              <a:t>4. </a:t>
            </a:r>
            <a:r>
              <a:rPr dirty="0" err="1"/>
              <a:t>能持续产生</a:t>
            </a:r>
            <a:r>
              <a:rPr dirty="0"/>
              <a:t>；</a:t>
            </a:r>
          </a:p>
          <a:p>
            <a:r>
              <a:rPr dirty="0"/>
              <a:t>5. </a:t>
            </a:r>
            <a:r>
              <a:rPr dirty="0" err="1"/>
              <a:t>能进入评测和产品改进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数据反馈闭环</a:t>
            </a:r>
            <a:endParaRPr dirty="0"/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用户完成真实任务</a:t>
            </a:r>
            <a:r>
              <a:rPr dirty="0"/>
              <a:t>  </a:t>
            </a:r>
          </a:p>
          <a:p>
            <a:r>
              <a:rPr dirty="0"/>
              <a:t>&gt; → </a:t>
            </a:r>
            <a:r>
              <a:rPr dirty="0" err="1"/>
              <a:t>AI产生结果</a:t>
            </a:r>
            <a:r>
              <a:rPr dirty="0"/>
              <a:t>  </a:t>
            </a:r>
          </a:p>
          <a:p>
            <a:r>
              <a:rPr dirty="0"/>
              <a:t>&gt; → </a:t>
            </a:r>
            <a:r>
              <a:rPr dirty="0" err="1"/>
              <a:t>用户确认、修改或拒绝</a:t>
            </a:r>
            <a:r>
              <a:rPr dirty="0"/>
              <a:t>  </a:t>
            </a:r>
          </a:p>
          <a:p>
            <a:r>
              <a:rPr dirty="0"/>
              <a:t>&gt; → </a:t>
            </a:r>
            <a:r>
              <a:rPr dirty="0" err="1"/>
              <a:t>系统记录反馈和原始依据</a:t>
            </a:r>
            <a:r>
              <a:rPr dirty="0"/>
              <a:t>  </a:t>
            </a:r>
          </a:p>
          <a:p>
            <a:r>
              <a:rPr dirty="0"/>
              <a:t>&gt; → </a:t>
            </a:r>
            <a:r>
              <a:rPr dirty="0" err="1"/>
              <a:t>分类Bad</a:t>
            </a:r>
            <a:r>
              <a:rPr dirty="0"/>
              <a:t> Case  </a:t>
            </a:r>
          </a:p>
          <a:p>
            <a:r>
              <a:rPr dirty="0"/>
              <a:t>&gt; → </a:t>
            </a:r>
            <a:r>
              <a:rPr dirty="0" err="1"/>
              <a:t>更新评测集</a:t>
            </a:r>
            <a:r>
              <a:rPr dirty="0"/>
              <a:t>  </a:t>
            </a:r>
          </a:p>
          <a:p>
            <a:r>
              <a:rPr dirty="0"/>
              <a:t>&gt; → </a:t>
            </a:r>
            <a:r>
              <a:rPr dirty="0" err="1"/>
              <a:t>调整数据、Prompt、RAG、Workflow或模型</a:t>
            </a:r>
            <a:r>
              <a:rPr dirty="0"/>
              <a:t>  </a:t>
            </a:r>
          </a:p>
          <a:p>
            <a:r>
              <a:rPr dirty="0"/>
              <a:t>&gt; → </a:t>
            </a:r>
            <a:r>
              <a:rPr dirty="0" err="1"/>
              <a:t>回归评测</a:t>
            </a:r>
            <a:r>
              <a:rPr dirty="0"/>
              <a:t>  </a:t>
            </a:r>
          </a:p>
          <a:p>
            <a:r>
              <a:rPr dirty="0"/>
              <a:t>&gt; → </a:t>
            </a:r>
            <a:r>
              <a:rPr dirty="0" err="1"/>
              <a:t>产品改善</a:t>
            </a:r>
            <a:endParaRPr dirty="0"/>
          </a:p>
          <a:p>
            <a:endParaRPr dirty="0"/>
          </a:p>
          <a:p>
            <a:r>
              <a:rPr dirty="0" err="1"/>
              <a:t>数据层级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| </a:t>
            </a:r>
            <a:r>
              <a:rPr dirty="0" err="1"/>
              <a:t>数据层级</a:t>
            </a:r>
            <a:r>
              <a:rPr dirty="0"/>
              <a:t> | </a:t>
            </a:r>
            <a:r>
              <a:rPr dirty="0" err="1"/>
              <a:t>示例</a:t>
            </a:r>
            <a:r>
              <a:rPr dirty="0"/>
              <a:t> | </a:t>
            </a:r>
            <a:r>
              <a:rPr dirty="0" err="1"/>
              <a:t>价值</a:t>
            </a:r>
            <a:r>
              <a:rPr dirty="0"/>
              <a:t> |</a:t>
            </a:r>
          </a:p>
          <a:p>
            <a:r>
              <a:rPr dirty="0"/>
              <a:t>|---|---|---|</a:t>
            </a:r>
          </a:p>
          <a:p>
            <a:r>
              <a:rPr dirty="0"/>
              <a:t>| </a:t>
            </a:r>
            <a:r>
              <a:rPr dirty="0" err="1"/>
              <a:t>公共数据</a:t>
            </a:r>
            <a:r>
              <a:rPr dirty="0"/>
              <a:t> | </a:t>
            </a:r>
            <a:r>
              <a:rPr dirty="0" err="1"/>
              <a:t>公开文档、网页、通用知识</a:t>
            </a:r>
            <a:r>
              <a:rPr dirty="0"/>
              <a:t> | </a:t>
            </a:r>
            <a:r>
              <a:rPr dirty="0" err="1"/>
              <a:t>容易获得，也容易复制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企业私有数据</a:t>
            </a:r>
            <a:r>
              <a:rPr dirty="0"/>
              <a:t> | </a:t>
            </a:r>
            <a:r>
              <a:rPr dirty="0" err="1"/>
              <a:t>制度、项目资料、客户信息</a:t>
            </a:r>
            <a:r>
              <a:rPr dirty="0"/>
              <a:t> | </a:t>
            </a:r>
            <a:r>
              <a:rPr dirty="0" err="1"/>
              <a:t>有场景价值，但需要权限和治理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任务过程数据</a:t>
            </a:r>
            <a:r>
              <a:rPr dirty="0"/>
              <a:t> | </a:t>
            </a:r>
            <a:r>
              <a:rPr dirty="0" err="1"/>
              <a:t>用户怎样修改、确认和执行</a:t>
            </a:r>
            <a:r>
              <a:rPr dirty="0"/>
              <a:t> | </a:t>
            </a:r>
            <a:r>
              <a:rPr dirty="0" err="1"/>
              <a:t>能反映真实使用过程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结果反馈数据</a:t>
            </a:r>
            <a:r>
              <a:rPr dirty="0"/>
              <a:t> | </a:t>
            </a:r>
            <a:r>
              <a:rPr dirty="0" err="1"/>
              <a:t>任务是否成功、错误是否发生</a:t>
            </a:r>
            <a:r>
              <a:rPr dirty="0"/>
              <a:t> | </a:t>
            </a:r>
            <a:r>
              <a:rPr dirty="0" err="1"/>
              <a:t>最接近产品效果和业务价值</a:t>
            </a:r>
            <a:r>
              <a:rPr dirty="0"/>
              <a:t> |</a:t>
            </a:r>
          </a:p>
          <a:p>
            <a:endParaRPr dirty="0"/>
          </a:p>
          <a:p>
            <a:r>
              <a:rPr dirty="0" err="1"/>
              <a:t>核心观点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数据本身不是护城河。能够合法、持续获得高质量任务反馈，并把它转化成产品改进，才可能形成数据壁垒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[</a:t>
            </a:r>
            <a:r>
              <a:rPr dirty="0" err="1"/>
              <a:t>讲义来源</a:t>
            </a:r>
            <a:r>
              <a:rPr dirty="0"/>
              <a:t>]</a:t>
            </a:r>
          </a:p>
          <a:p>
            <a:r>
              <a:rPr dirty="0"/>
              <a:t>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/第12课_第一阶段能力验收与职业行动_重做工作区/第12课_第一阶段总结_AI产品趋势与项目实战_完整讲义_v0.2.md</a:t>
            </a:r>
          </a:p>
          <a:p>
            <a:r>
              <a:rPr dirty="0" err="1"/>
              <a:t>数据是不是AI产品的护城河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判断结论：壁垒来自持续获得任务反馈，并把它转化为产品改进</a:t>
            </a:r>
            <a:endParaRPr dirty="0"/>
          </a:p>
          <a:p>
            <a:endParaRPr dirty="0"/>
          </a:p>
          <a:p>
            <a:r>
              <a:rPr dirty="0" err="1"/>
              <a:t>让学员选择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A. </a:t>
            </a:r>
            <a:r>
              <a:rPr dirty="0" err="1"/>
              <a:t>是，数据越多壁垒越高</a:t>
            </a:r>
            <a:r>
              <a:rPr dirty="0"/>
              <a:t>；</a:t>
            </a:r>
          </a:p>
          <a:p>
            <a:r>
              <a:rPr dirty="0"/>
              <a:t>- B. </a:t>
            </a:r>
            <a:r>
              <a:rPr dirty="0" err="1"/>
              <a:t>不一定，大量数据未必能够改善产品</a:t>
            </a:r>
            <a:r>
              <a:rPr dirty="0"/>
              <a:t>；</a:t>
            </a:r>
          </a:p>
          <a:p>
            <a:r>
              <a:rPr dirty="0"/>
              <a:t>- C. </a:t>
            </a:r>
            <a:r>
              <a:rPr dirty="0" err="1"/>
              <a:t>只有独家数据才有价值</a:t>
            </a:r>
            <a:r>
              <a:rPr dirty="0"/>
              <a:t>；</a:t>
            </a:r>
          </a:p>
          <a:p>
            <a:r>
              <a:rPr dirty="0"/>
              <a:t>- D. </a:t>
            </a:r>
            <a:r>
              <a:rPr dirty="0" err="1"/>
              <a:t>数据必须合法、相关、可使用并进入改进闭环</a:t>
            </a:r>
            <a:r>
              <a:rPr dirty="0"/>
              <a:t>；</a:t>
            </a:r>
          </a:p>
          <a:p>
            <a:r>
              <a:rPr dirty="0"/>
              <a:t>- E. </a:t>
            </a:r>
            <a:r>
              <a:rPr dirty="0" err="1"/>
              <a:t>模型越来越强以后，数据不再重要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不是所有用户对话、点击日志、文件和生成内容都能形成壁垒。数据可能与核心任务无关、没有可信标签、不能合法使用、质量差或者无法进入优化。</a:t>
            </a:r>
          </a:p>
          <a:p>
            <a:endParaRPr dirty="0"/>
          </a:p>
          <a:p>
            <a:r>
              <a:rPr dirty="0" err="1"/>
              <a:t>真正有价值的数据需要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1. </a:t>
            </a:r>
            <a:r>
              <a:rPr dirty="0" err="1"/>
              <a:t>与核心任务直接相关</a:t>
            </a:r>
            <a:r>
              <a:rPr dirty="0"/>
              <a:t>；</a:t>
            </a:r>
          </a:p>
          <a:p>
            <a:r>
              <a:rPr dirty="0"/>
              <a:t>2. </a:t>
            </a:r>
            <a:r>
              <a:rPr dirty="0" err="1"/>
              <a:t>结果可以被判断</a:t>
            </a:r>
            <a:r>
              <a:rPr dirty="0"/>
              <a:t>；</a:t>
            </a:r>
          </a:p>
          <a:p>
            <a:r>
              <a:rPr dirty="0"/>
              <a:t>3. </a:t>
            </a:r>
            <a:r>
              <a:rPr dirty="0" err="1"/>
              <a:t>能够合法使用</a:t>
            </a:r>
            <a:r>
              <a:rPr dirty="0"/>
              <a:t>；</a:t>
            </a:r>
          </a:p>
          <a:p>
            <a:r>
              <a:rPr dirty="0"/>
              <a:t>4. </a:t>
            </a:r>
            <a:r>
              <a:rPr dirty="0" err="1"/>
              <a:t>能持续产生</a:t>
            </a:r>
            <a:r>
              <a:rPr dirty="0"/>
              <a:t>；</a:t>
            </a:r>
          </a:p>
          <a:p>
            <a:r>
              <a:rPr dirty="0"/>
              <a:t>5. </a:t>
            </a:r>
            <a:r>
              <a:rPr dirty="0" err="1"/>
              <a:t>能进入评测和产品改进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数据反馈闭环</a:t>
            </a:r>
            <a:endParaRPr dirty="0"/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用户完成真实任务</a:t>
            </a:r>
            <a:r>
              <a:rPr dirty="0"/>
              <a:t>  </a:t>
            </a:r>
          </a:p>
          <a:p>
            <a:r>
              <a:rPr dirty="0"/>
              <a:t>&gt; → </a:t>
            </a:r>
            <a:r>
              <a:rPr dirty="0" err="1"/>
              <a:t>AI产生结果</a:t>
            </a:r>
            <a:r>
              <a:rPr dirty="0"/>
              <a:t>  </a:t>
            </a:r>
          </a:p>
          <a:p>
            <a:r>
              <a:rPr dirty="0"/>
              <a:t>&gt; → </a:t>
            </a:r>
            <a:r>
              <a:rPr dirty="0" err="1"/>
              <a:t>用户确认、修改或拒绝</a:t>
            </a:r>
            <a:r>
              <a:rPr dirty="0"/>
              <a:t>  </a:t>
            </a:r>
          </a:p>
          <a:p>
            <a:r>
              <a:rPr dirty="0"/>
              <a:t>&gt; → </a:t>
            </a:r>
            <a:r>
              <a:rPr dirty="0" err="1"/>
              <a:t>系统记录反馈和原始依据</a:t>
            </a:r>
            <a:r>
              <a:rPr dirty="0"/>
              <a:t>  </a:t>
            </a:r>
          </a:p>
          <a:p>
            <a:r>
              <a:rPr dirty="0"/>
              <a:t>&gt; → </a:t>
            </a:r>
            <a:r>
              <a:rPr dirty="0" err="1"/>
              <a:t>分类Bad</a:t>
            </a:r>
            <a:r>
              <a:rPr dirty="0"/>
              <a:t> Case  </a:t>
            </a:r>
          </a:p>
          <a:p>
            <a:r>
              <a:rPr dirty="0"/>
              <a:t>&gt; → </a:t>
            </a:r>
            <a:r>
              <a:rPr dirty="0" err="1"/>
              <a:t>更新评测集</a:t>
            </a:r>
            <a:r>
              <a:rPr dirty="0"/>
              <a:t>  </a:t>
            </a:r>
          </a:p>
          <a:p>
            <a:r>
              <a:rPr dirty="0"/>
              <a:t>&gt; → </a:t>
            </a:r>
            <a:r>
              <a:rPr dirty="0" err="1"/>
              <a:t>调整数据、Prompt、RAG、Workflow或模型</a:t>
            </a:r>
            <a:r>
              <a:rPr dirty="0"/>
              <a:t>  </a:t>
            </a:r>
          </a:p>
          <a:p>
            <a:r>
              <a:rPr dirty="0"/>
              <a:t>&gt; → </a:t>
            </a:r>
            <a:r>
              <a:rPr dirty="0" err="1"/>
              <a:t>回归评测</a:t>
            </a:r>
            <a:r>
              <a:rPr dirty="0"/>
              <a:t>  </a:t>
            </a:r>
          </a:p>
          <a:p>
            <a:r>
              <a:rPr dirty="0"/>
              <a:t>&gt; → </a:t>
            </a:r>
            <a:r>
              <a:rPr dirty="0" err="1"/>
              <a:t>产品改善</a:t>
            </a:r>
            <a:endParaRPr dirty="0"/>
          </a:p>
          <a:p>
            <a:endParaRPr dirty="0"/>
          </a:p>
          <a:p>
            <a:r>
              <a:rPr dirty="0" err="1"/>
              <a:t>数据层级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| </a:t>
            </a:r>
            <a:r>
              <a:rPr dirty="0" err="1"/>
              <a:t>数据层级</a:t>
            </a:r>
            <a:r>
              <a:rPr dirty="0"/>
              <a:t> | </a:t>
            </a:r>
            <a:r>
              <a:rPr dirty="0" err="1"/>
              <a:t>示例</a:t>
            </a:r>
            <a:r>
              <a:rPr dirty="0"/>
              <a:t> | </a:t>
            </a:r>
            <a:r>
              <a:rPr dirty="0" err="1"/>
              <a:t>价值</a:t>
            </a:r>
            <a:r>
              <a:rPr dirty="0"/>
              <a:t> |</a:t>
            </a:r>
          </a:p>
          <a:p>
            <a:r>
              <a:rPr dirty="0"/>
              <a:t>|---|---|---|</a:t>
            </a:r>
          </a:p>
          <a:p>
            <a:r>
              <a:rPr dirty="0"/>
              <a:t>| </a:t>
            </a:r>
            <a:r>
              <a:rPr dirty="0" err="1"/>
              <a:t>公共数据</a:t>
            </a:r>
            <a:r>
              <a:rPr dirty="0"/>
              <a:t> | </a:t>
            </a:r>
            <a:r>
              <a:rPr dirty="0" err="1"/>
              <a:t>公开文档、网页、通用知识</a:t>
            </a:r>
            <a:r>
              <a:rPr dirty="0"/>
              <a:t> | </a:t>
            </a:r>
            <a:r>
              <a:rPr dirty="0" err="1"/>
              <a:t>容易获得，也容易复制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企业私有数据</a:t>
            </a:r>
            <a:r>
              <a:rPr dirty="0"/>
              <a:t> | </a:t>
            </a:r>
            <a:r>
              <a:rPr dirty="0" err="1"/>
              <a:t>制度、项目资料、客户信息</a:t>
            </a:r>
            <a:r>
              <a:rPr dirty="0"/>
              <a:t> | </a:t>
            </a:r>
            <a:r>
              <a:rPr dirty="0" err="1"/>
              <a:t>有场景价值，但需要权限和治理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任务过程数据</a:t>
            </a:r>
            <a:r>
              <a:rPr dirty="0"/>
              <a:t> | </a:t>
            </a:r>
            <a:r>
              <a:rPr dirty="0" err="1"/>
              <a:t>用户怎样修改、确认和执行</a:t>
            </a:r>
            <a:r>
              <a:rPr dirty="0"/>
              <a:t> | </a:t>
            </a:r>
            <a:r>
              <a:rPr dirty="0" err="1"/>
              <a:t>能反映真实使用过程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结果反馈数据</a:t>
            </a:r>
            <a:r>
              <a:rPr dirty="0"/>
              <a:t> | </a:t>
            </a:r>
            <a:r>
              <a:rPr dirty="0" err="1"/>
              <a:t>任务是否成功、错误是否发生</a:t>
            </a:r>
            <a:r>
              <a:rPr dirty="0"/>
              <a:t> | </a:t>
            </a:r>
            <a:r>
              <a:rPr dirty="0" err="1"/>
              <a:t>最接近产品效果和业务价值</a:t>
            </a:r>
            <a:r>
              <a:rPr dirty="0"/>
              <a:t> |</a:t>
            </a:r>
          </a:p>
          <a:p>
            <a:endParaRPr dirty="0"/>
          </a:p>
          <a:p>
            <a:r>
              <a:rPr dirty="0" err="1"/>
              <a:t>核心观点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数据本身不是护城河。能够合法、持续获得高质量任务反馈，并把它转化成产品改进，才可能形成数据壁垒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[</a:t>
            </a:r>
            <a:r>
              <a:rPr dirty="0" err="1"/>
              <a:t>讲义来源</a:t>
            </a:r>
            <a:r>
              <a:rPr dirty="0"/>
              <a:t>]</a:t>
            </a:r>
          </a:p>
          <a:p>
            <a:r>
              <a:rPr dirty="0"/>
              <a:t>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/第12课_第一阶段能力验收与职业行动_重做工作区/第12课_第一阶段总结_AI产品趋势与项目实战_完整讲义_v0.2.md</a:t>
            </a:r>
          </a:p>
          <a:p>
            <a:r>
              <a:rPr dirty="0" err="1"/>
              <a:t>数据是不是AI产品的护城河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先不公布答案。请学员投票，再问一位选择全部自研、一位选择组合建设的学员说明理由。后续讲解时比较四个维度：能力是否形成差异化；数据和安全要求；使用规模和长期总成本；企业是否有持续建设和维护能力。讨论页上的所有选项必须保持中性，不用颜色或高亮提前暗示结论。</a:t>
            </a:r>
          </a:p>
          <a:p>
            <a:endParaRPr dirty="0"/>
          </a:p>
          <a:p>
            <a:r>
              <a:rPr dirty="0"/>
              <a:t>[</a:t>
            </a:r>
            <a:r>
              <a:rPr dirty="0" err="1"/>
              <a:t>讲义来源</a:t>
            </a:r>
            <a:r>
              <a:rPr dirty="0"/>
              <a:t>]</a:t>
            </a:r>
          </a:p>
          <a:p>
            <a:r>
              <a:rPr dirty="0"/>
              <a:t>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/第12课_第一阶段能力验收与职业行动_重做工作区/第12课_第一阶段总结_AI产品趋势与项目实战_完整讲义_v0.2.md</a:t>
            </a:r>
          </a:p>
          <a:p>
            <a:r>
              <a:rPr dirty="0" err="1"/>
              <a:t>第四部分·三｜自研、采购还是组合建设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判断结论：通用能力可以采购，业务标准和差异化流程必须掌握</a:t>
            </a:r>
            <a:endParaRPr dirty="0"/>
          </a:p>
          <a:p>
            <a:endParaRPr dirty="0"/>
          </a:p>
          <a:p>
            <a:r>
              <a:rPr dirty="0" err="1"/>
              <a:t>给出场景：市场已有成熟转写和会议摘要能力，但企业有自己的项目权限、历史决策资料和审批流程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让学员选择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A. </a:t>
            </a:r>
            <a:r>
              <a:rPr dirty="0" err="1"/>
              <a:t>全部自研，包括模型和语音</a:t>
            </a:r>
            <a:r>
              <a:rPr dirty="0"/>
              <a:t>；</a:t>
            </a:r>
          </a:p>
          <a:p>
            <a:r>
              <a:rPr dirty="0"/>
              <a:t>- B. </a:t>
            </a:r>
            <a:r>
              <a:rPr dirty="0" err="1"/>
              <a:t>全部采购成熟会议产品</a:t>
            </a:r>
            <a:r>
              <a:rPr dirty="0"/>
              <a:t>；</a:t>
            </a:r>
          </a:p>
          <a:p>
            <a:r>
              <a:rPr dirty="0"/>
              <a:t>- C. </a:t>
            </a:r>
            <a:r>
              <a:rPr dirty="0" err="1"/>
              <a:t>使用通用模型和转写服务，自建差异化流程</a:t>
            </a:r>
            <a:r>
              <a:rPr dirty="0"/>
              <a:t>；</a:t>
            </a:r>
          </a:p>
          <a:p>
            <a:r>
              <a:rPr dirty="0"/>
              <a:t>- D. </a:t>
            </a:r>
            <a:r>
              <a:rPr dirty="0" err="1"/>
              <a:t>使用开源模型私有化，自研全部系统</a:t>
            </a:r>
            <a:r>
              <a:rPr dirty="0"/>
              <a:t>；</a:t>
            </a:r>
          </a:p>
          <a:p>
            <a:r>
              <a:rPr dirty="0"/>
              <a:t>- E. </a:t>
            </a:r>
            <a:r>
              <a:rPr dirty="0" err="1"/>
              <a:t>根据安全、规模、差异化和团队能力判断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需要比较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1. </a:t>
            </a:r>
            <a:r>
              <a:rPr dirty="0" err="1"/>
              <a:t>能力是否形成差异化</a:t>
            </a:r>
            <a:r>
              <a:rPr dirty="0"/>
              <a:t>；</a:t>
            </a:r>
          </a:p>
          <a:p>
            <a:r>
              <a:rPr dirty="0"/>
              <a:t>2. </a:t>
            </a:r>
            <a:r>
              <a:rPr dirty="0" err="1"/>
              <a:t>数据和安全要求</a:t>
            </a:r>
            <a:r>
              <a:rPr dirty="0"/>
              <a:t>；</a:t>
            </a:r>
          </a:p>
          <a:p>
            <a:r>
              <a:rPr dirty="0"/>
              <a:t>3. </a:t>
            </a:r>
            <a:r>
              <a:rPr dirty="0" err="1"/>
              <a:t>使用规模和长期总成本</a:t>
            </a:r>
            <a:r>
              <a:rPr dirty="0"/>
              <a:t>；</a:t>
            </a:r>
          </a:p>
          <a:p>
            <a:r>
              <a:rPr dirty="0"/>
              <a:t>4. </a:t>
            </a:r>
            <a:r>
              <a:rPr dirty="0" err="1"/>
              <a:t>企业是否有持续建设和维护能力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参考判断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| </a:t>
            </a:r>
            <a:r>
              <a:rPr dirty="0" err="1"/>
              <a:t>能力</a:t>
            </a:r>
            <a:r>
              <a:rPr dirty="0"/>
              <a:t> | </a:t>
            </a:r>
            <a:r>
              <a:rPr dirty="0" err="1"/>
              <a:t>常见建设方式</a:t>
            </a:r>
            <a:r>
              <a:rPr dirty="0"/>
              <a:t> |</a:t>
            </a:r>
          </a:p>
          <a:p>
            <a:r>
              <a:rPr dirty="0"/>
              <a:t>|---|---|</a:t>
            </a:r>
          </a:p>
          <a:p>
            <a:r>
              <a:rPr dirty="0"/>
              <a:t>| </a:t>
            </a:r>
            <a:r>
              <a:rPr dirty="0" err="1"/>
              <a:t>基础大模型</a:t>
            </a:r>
            <a:r>
              <a:rPr dirty="0"/>
              <a:t> | </a:t>
            </a:r>
            <a:r>
              <a:rPr dirty="0" err="1"/>
              <a:t>API、云服务或部署开源模型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语音转写、OCR</a:t>
            </a:r>
            <a:r>
              <a:rPr dirty="0"/>
              <a:t> | </a:t>
            </a:r>
            <a:r>
              <a:rPr dirty="0" err="1"/>
              <a:t>优先采购成熟能力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通用检索组件</a:t>
            </a:r>
            <a:r>
              <a:rPr dirty="0"/>
              <a:t> | </a:t>
            </a:r>
            <a:r>
              <a:rPr dirty="0" err="1"/>
              <a:t>采购或成熟开源组件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企业业务流程</a:t>
            </a:r>
            <a:r>
              <a:rPr dirty="0"/>
              <a:t> | </a:t>
            </a:r>
            <a:r>
              <a:rPr dirty="0" err="1"/>
              <a:t>由企业自己定义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权限和责任机制</a:t>
            </a:r>
            <a:r>
              <a:rPr dirty="0"/>
              <a:t> | </a:t>
            </a:r>
            <a:r>
              <a:rPr dirty="0" err="1"/>
              <a:t>必须结合组织设计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业务评测标准</a:t>
            </a:r>
            <a:r>
              <a:rPr dirty="0"/>
              <a:t> | </a:t>
            </a:r>
            <a:r>
              <a:rPr dirty="0" err="1"/>
              <a:t>企业必须自己掌握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高质量评测集</a:t>
            </a:r>
            <a:r>
              <a:rPr dirty="0"/>
              <a:t> | </a:t>
            </a:r>
            <a:r>
              <a:rPr dirty="0" err="1"/>
              <a:t>业务和产品共同建设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企业知识和数据治理</a:t>
            </a:r>
            <a:r>
              <a:rPr dirty="0"/>
              <a:t> | </a:t>
            </a:r>
            <a:r>
              <a:rPr dirty="0" err="1"/>
              <a:t>企业持续负责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内部系统连接</a:t>
            </a:r>
            <a:r>
              <a:rPr dirty="0"/>
              <a:t> | </a:t>
            </a:r>
            <a:r>
              <a:rPr dirty="0" err="1"/>
              <a:t>根据差异化和安全要求建设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用户反馈和Bad</a:t>
            </a:r>
            <a:r>
              <a:rPr dirty="0"/>
              <a:t> </a:t>
            </a:r>
            <a:r>
              <a:rPr dirty="0" err="1"/>
              <a:t>Case闭环</a:t>
            </a:r>
            <a:r>
              <a:rPr dirty="0"/>
              <a:t> | </a:t>
            </a:r>
            <a:r>
              <a:rPr dirty="0" err="1"/>
              <a:t>产品团队长期掌握</a:t>
            </a:r>
            <a:r>
              <a:rPr dirty="0"/>
              <a:t> |</a:t>
            </a:r>
          </a:p>
          <a:p>
            <a:endParaRPr dirty="0"/>
          </a:p>
          <a:p>
            <a:r>
              <a:rPr dirty="0" err="1"/>
              <a:t>会议助手可能采用：成熟语音服务＋通用模型＋企业RAG＋自建规则、权限、确认流程和评测闭环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核心观点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企业不一定需要拥有自己的基础模型，但必须拥有自己的业务判断标准。通用能力可以采购，差异化流程需要掌握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[</a:t>
            </a:r>
            <a:r>
              <a:rPr dirty="0" err="1"/>
              <a:t>讲义来源</a:t>
            </a:r>
            <a:r>
              <a:rPr dirty="0"/>
              <a:t>]</a:t>
            </a:r>
          </a:p>
          <a:p>
            <a:r>
              <a:rPr dirty="0"/>
              <a:t>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/第12课_第一阶段能力验收与职业行动_重做工作区/第12课_第一阶段总结_AI产品趋势与项目实战_完整讲义_v0.2.md</a:t>
            </a:r>
          </a:p>
          <a:p>
            <a:r>
              <a:rPr dirty="0" err="1"/>
              <a:t>自研、采购还是组合建设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请学员先投票，再请1—2人说明理由。在这一页不公布答案，也不使用颜色暗示。</a:t>
            </a:r>
          </a:p>
          <a:p>
            <a:endParaRPr dirty="0"/>
          </a:p>
          <a:p>
            <a:r>
              <a:rPr dirty="0" err="1"/>
              <a:t>让学员选择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A. </a:t>
            </a:r>
            <a:r>
              <a:rPr dirty="0" err="1"/>
              <a:t>产品经理的价值会大幅下降</a:t>
            </a:r>
            <a:r>
              <a:rPr dirty="0"/>
              <a:t>；</a:t>
            </a:r>
          </a:p>
          <a:p>
            <a:r>
              <a:rPr dirty="0"/>
              <a:t>- B. </a:t>
            </a:r>
            <a:r>
              <a:rPr dirty="0" err="1"/>
              <a:t>产品经理需要逐渐转型成开发</a:t>
            </a:r>
            <a:r>
              <a:rPr dirty="0"/>
              <a:t>；</a:t>
            </a:r>
          </a:p>
          <a:p>
            <a:r>
              <a:rPr dirty="0"/>
              <a:t>- C. </a:t>
            </a:r>
            <a:r>
              <a:rPr dirty="0" err="1"/>
              <a:t>产品经理主要负责使用和管理AI工具</a:t>
            </a:r>
            <a:r>
              <a:rPr dirty="0"/>
              <a:t>；</a:t>
            </a:r>
          </a:p>
          <a:p>
            <a:r>
              <a:rPr dirty="0"/>
              <a:t>- D. </a:t>
            </a:r>
            <a:r>
              <a:rPr dirty="0" err="1"/>
              <a:t>产出成本下降，问题判断、验证和责任价值上升</a:t>
            </a:r>
            <a:r>
              <a:rPr dirty="0"/>
              <a:t>；</a:t>
            </a:r>
          </a:p>
          <a:p>
            <a:r>
              <a:rPr dirty="0"/>
              <a:t>- E. </a:t>
            </a:r>
            <a:r>
              <a:rPr dirty="0" err="1"/>
              <a:t>取决于产品经理原来主要在做什么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需要先承认，AI确实在降低以下工作的成本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信息搜集和整理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竞品分析和用户反馈归纳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需求、PRD和汇报文档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原型、页面和简单代码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测试用例、数据分析和复盘初稿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这些工作通常有相对明确的输入、格式和产出要求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但需要区分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生成一份产出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对产出背后的决策负责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AI可以生成候选方案，但不能自动替企业决定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为什么选择这个问题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相信什么证据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哪些需求不做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什么错误不能接受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什么结果可以上线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项目值不值得继续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谁承担错误和后果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[</a:t>
            </a:r>
            <a:r>
              <a:rPr dirty="0" err="1"/>
              <a:t>讲义来源</a:t>
            </a:r>
            <a:r>
              <a:rPr dirty="0"/>
              <a:t>]</a:t>
            </a:r>
          </a:p>
          <a:p>
            <a:r>
              <a:rPr dirty="0"/>
              <a:t>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/第12课_第一阶段能力验收与职业行动_重做工作区/第12课_第一阶段总结_AI产品趋势与项目实战_完整讲义_v0.2.md</a:t>
            </a:r>
          </a:p>
          <a:p>
            <a:r>
              <a:rPr dirty="0" err="1"/>
              <a:t>AI什么都能生成以后，产品经理还剩什么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判断结论：AI能生成候选材料，但不能替企业承担完整产品决策</a:t>
            </a:r>
            <a:endParaRPr dirty="0"/>
          </a:p>
          <a:p>
            <a:endParaRPr dirty="0"/>
          </a:p>
          <a:p>
            <a:r>
              <a:rPr dirty="0" err="1"/>
              <a:t>让学员选择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A. </a:t>
            </a:r>
            <a:r>
              <a:rPr dirty="0" err="1"/>
              <a:t>产品经理的价值会大幅下降</a:t>
            </a:r>
            <a:r>
              <a:rPr dirty="0"/>
              <a:t>；</a:t>
            </a:r>
          </a:p>
          <a:p>
            <a:r>
              <a:rPr dirty="0"/>
              <a:t>- B. </a:t>
            </a:r>
            <a:r>
              <a:rPr dirty="0" err="1"/>
              <a:t>产品经理需要逐渐转型成开发</a:t>
            </a:r>
            <a:r>
              <a:rPr dirty="0"/>
              <a:t>；</a:t>
            </a:r>
          </a:p>
          <a:p>
            <a:r>
              <a:rPr dirty="0"/>
              <a:t>- C. </a:t>
            </a:r>
            <a:r>
              <a:rPr dirty="0" err="1"/>
              <a:t>产品经理主要负责使用和管理AI工具</a:t>
            </a:r>
            <a:r>
              <a:rPr dirty="0"/>
              <a:t>；</a:t>
            </a:r>
          </a:p>
          <a:p>
            <a:r>
              <a:rPr dirty="0"/>
              <a:t>- D. </a:t>
            </a:r>
            <a:r>
              <a:rPr dirty="0" err="1"/>
              <a:t>产出成本下降，问题判断、验证和责任价值上升</a:t>
            </a:r>
            <a:r>
              <a:rPr dirty="0"/>
              <a:t>；</a:t>
            </a:r>
          </a:p>
          <a:p>
            <a:r>
              <a:rPr dirty="0"/>
              <a:t>- E. </a:t>
            </a:r>
            <a:r>
              <a:rPr dirty="0" err="1"/>
              <a:t>取决于产品经理原来主要在做什么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需要先承认，AI确实在降低以下工作的成本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信息搜集和整理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竞品分析和用户反馈归纳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需求、PRD和汇报文档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原型、页面和简单代码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测试用例、数据分析和复盘初稿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这些工作通常有相对明确的输入、格式和产出要求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但需要区分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生成一份产出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对产出背后的决策负责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AI可以生成候选方案，但不能自动替企业决定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为什么选择这个问题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相信什么证据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哪些需求不做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什么错误不能接受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什么结果可以上线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项目值不值得继续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谁承担错误和后果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产品判断具体包括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1. </a:t>
            </a:r>
            <a:r>
              <a:rPr dirty="0" err="1"/>
              <a:t>问题判断：问题是否真实、值得解决，AI是否必要</a:t>
            </a:r>
            <a:r>
              <a:rPr dirty="0"/>
              <a:t>；</a:t>
            </a:r>
          </a:p>
          <a:p>
            <a:r>
              <a:rPr dirty="0"/>
              <a:t>2. </a:t>
            </a:r>
            <a:r>
              <a:rPr dirty="0" err="1"/>
              <a:t>证据判断：用户反馈和数据是否可信，哪些只是合理假设</a:t>
            </a:r>
            <a:r>
              <a:rPr dirty="0"/>
              <a:t>；</a:t>
            </a:r>
          </a:p>
          <a:p>
            <a:r>
              <a:rPr dirty="0"/>
              <a:t>3. </a:t>
            </a:r>
            <a:r>
              <a:rPr dirty="0" err="1"/>
              <a:t>方案判断：人机分工、技术组合、MVP和自动化边界</a:t>
            </a:r>
            <a:r>
              <a:rPr dirty="0"/>
              <a:t>；</a:t>
            </a:r>
          </a:p>
          <a:p>
            <a:r>
              <a:rPr dirty="0"/>
              <a:t>4. </a:t>
            </a:r>
            <a:r>
              <a:rPr dirty="0" err="1"/>
              <a:t>结果判断：评测集、指标、Bad</a:t>
            </a:r>
            <a:r>
              <a:rPr dirty="0"/>
              <a:t> </a:t>
            </a:r>
            <a:r>
              <a:rPr dirty="0" err="1"/>
              <a:t>Case和上线标准</a:t>
            </a:r>
            <a:r>
              <a:rPr dirty="0"/>
              <a:t>；</a:t>
            </a:r>
          </a:p>
          <a:p>
            <a:r>
              <a:rPr dirty="0"/>
              <a:t>5. </a:t>
            </a:r>
            <a:r>
              <a:rPr dirty="0" err="1"/>
              <a:t>商业判断：模型、建设方式、成本、ROI和停止条件</a:t>
            </a:r>
            <a:r>
              <a:rPr dirty="0"/>
              <a:t>；</a:t>
            </a:r>
          </a:p>
          <a:p>
            <a:r>
              <a:rPr dirty="0"/>
              <a:t>6. </a:t>
            </a:r>
            <a:r>
              <a:rPr dirty="0" err="1"/>
              <a:t>责任判断：决策权、确认、执行权限和错误承担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核心观点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AI可以帮助产品经理更快地产出材料，但产品经理仍然需要决定材料是否可信、方案是否合理、结果是否可以被使用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AI可以快速生成PRD结构、功能描述、用户故事、验收标准和异常场景。这意味着“写出一份看起来完整的PRD”不再稀缺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真正重要的是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需求来源是否可信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前后逻辑是否一致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AI输入输出是否清楚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人机边界是否合理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异常和风险是否真实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验收标准能否执行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文档能否支持团队协作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结论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AI时代，PRD的价值从“</a:t>
            </a:r>
            <a:r>
              <a:rPr dirty="0" err="1"/>
              <a:t>证明会写文档</a:t>
            </a:r>
            <a:r>
              <a:rPr dirty="0"/>
              <a:t>”，</a:t>
            </a:r>
            <a:r>
              <a:rPr dirty="0" err="1"/>
              <a:t>转向“证明完成了严谨的产品决策</a:t>
            </a:r>
            <a:r>
              <a:rPr dirty="0"/>
              <a:t>”。</a:t>
            </a:r>
          </a:p>
          <a:p>
            <a:endParaRPr dirty="0"/>
          </a:p>
          <a:p>
            <a:r>
              <a:rPr dirty="0"/>
              <a:t>[</a:t>
            </a:r>
            <a:r>
              <a:rPr dirty="0" err="1"/>
              <a:t>讲义来源</a:t>
            </a:r>
            <a:r>
              <a:rPr dirty="0"/>
              <a:t>]</a:t>
            </a:r>
          </a:p>
          <a:p>
            <a:r>
              <a:rPr dirty="0"/>
              <a:t>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/第12课_第一阶段能力验收与职业行动_重做工作区/第12课_第一阶段总结_AI产品趋势与项目实战_完整讲义_v0.2.md</a:t>
            </a:r>
          </a:p>
          <a:p>
            <a:r>
              <a:rPr dirty="0" err="1"/>
              <a:t>AI什么都能生成以后，产品经理还剩什么；产品判断不是抽象口号；AI时代PRD的价值变化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请学员先投票，再请1—2人说明理由。在这一页不公布答案，也不使用颜色暗示。</a:t>
            </a:r>
          </a:p>
          <a:p>
            <a:endParaRPr dirty="0"/>
          </a:p>
          <a:p>
            <a:r>
              <a:rPr dirty="0" err="1"/>
              <a:t>讲义中的相关部分：AI产品经理这个岗位名称会不会消失</a:t>
            </a:r>
            <a:endParaRPr dirty="0"/>
          </a:p>
          <a:p>
            <a:endParaRPr dirty="0"/>
          </a:p>
          <a:p>
            <a:r>
              <a:rPr dirty="0"/>
              <a:t>[</a:t>
            </a:r>
            <a:r>
              <a:rPr dirty="0" err="1"/>
              <a:t>讲义来源</a:t>
            </a:r>
            <a:r>
              <a:rPr dirty="0"/>
              <a:t>]</a:t>
            </a:r>
          </a:p>
          <a:p>
            <a:r>
              <a:rPr dirty="0"/>
              <a:t>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/第12课_第一阶段能力验收与职业行动_重做工作区/第12课_第一阶段总结_AI产品趋势与项目实战_完整讲义_v0.2.md</a:t>
            </a:r>
          </a:p>
          <a:p>
            <a:r>
              <a:rPr dirty="0" err="1"/>
              <a:t>AI产品经理这个岗位名称会不会消失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判断结论：岗位名称可能变化，AI产品判断会成为更普遍的基础能力</a:t>
            </a:r>
            <a:endParaRPr dirty="0"/>
          </a:p>
          <a:p>
            <a:endParaRPr dirty="0"/>
          </a:p>
          <a:p>
            <a:r>
              <a:rPr dirty="0" err="1"/>
              <a:t>讲义中的相关部分：AI产品经理这个岗位名称会不会消失</a:t>
            </a:r>
            <a:endParaRPr dirty="0"/>
          </a:p>
          <a:p>
            <a:endParaRPr dirty="0"/>
          </a:p>
          <a:p>
            <a:r>
              <a:rPr dirty="0"/>
              <a:t>[</a:t>
            </a:r>
            <a:r>
              <a:rPr dirty="0" err="1"/>
              <a:t>讲义来源</a:t>
            </a:r>
            <a:r>
              <a:rPr dirty="0"/>
              <a:t>]</a:t>
            </a:r>
          </a:p>
          <a:p>
            <a:r>
              <a:rPr dirty="0"/>
              <a:t>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/第12课_第一阶段能力验收与职业行动_重做工作区/第12课_第一阶段总结_AI产品趋势与项目实战_完整讲义_v0.2.md</a:t>
            </a:r>
          </a:p>
          <a:p>
            <a:r>
              <a:rPr dirty="0" err="1"/>
              <a:t>AI产品经理这个岗位名称会不会消失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请学员先投票，再请1—2人说明理由。在这一页不公布答案，也不使用颜色暗示。</a:t>
            </a:r>
          </a:p>
          <a:p>
            <a:endParaRPr dirty="0"/>
          </a:p>
          <a:p>
            <a:r>
              <a:rPr dirty="0" err="1"/>
              <a:t>让学员选择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A. </a:t>
            </a:r>
            <a:r>
              <a:rPr dirty="0" err="1"/>
              <a:t>通用AI产品经理</a:t>
            </a:r>
            <a:r>
              <a:rPr dirty="0"/>
              <a:t>；</a:t>
            </a:r>
          </a:p>
          <a:p>
            <a:r>
              <a:rPr dirty="0"/>
              <a:t>- B. </a:t>
            </a:r>
            <a:r>
              <a:rPr dirty="0" err="1"/>
              <a:t>行业专家</a:t>
            </a:r>
            <a:r>
              <a:rPr dirty="0"/>
              <a:t>；</a:t>
            </a:r>
          </a:p>
          <a:p>
            <a:r>
              <a:rPr dirty="0"/>
              <a:t>- C. </a:t>
            </a:r>
            <a:r>
              <a:rPr dirty="0" err="1"/>
              <a:t>懂行业并补齐AI产品能力的人</a:t>
            </a:r>
            <a:r>
              <a:rPr dirty="0"/>
              <a:t>；</a:t>
            </a:r>
          </a:p>
          <a:p>
            <a:r>
              <a:rPr dirty="0"/>
              <a:t>- D. </a:t>
            </a:r>
            <a:r>
              <a:rPr dirty="0" err="1"/>
              <a:t>懂AI技术再进入具体行业的人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Prompt、Workflow、RAG、Agent、Vibe</a:t>
            </a:r>
            <a:r>
              <a:rPr dirty="0"/>
              <a:t> </a:t>
            </a:r>
            <a:r>
              <a:rPr dirty="0" err="1"/>
              <a:t>Coding和PRD生成越来越容易学习。当多数候选人都会使用这些工具以后，企业会继续比较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谁更理解用户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谁熟悉业务流程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谁知道真实风险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谁能获得行业数据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谁能推动落地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谁能判断结果是否有价值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过去的行业经历可以转化为用户理解、场景、数据来源、业务判断、人脉和项目机会。但行业经验不能自动替代产品和AI能力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更完整的组合是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**</a:t>
            </a:r>
            <a:r>
              <a:rPr dirty="0" err="1"/>
              <a:t>行业和业务资产＋产品判断能力＋AI能力理解</a:t>
            </a:r>
            <a:r>
              <a:rPr dirty="0"/>
              <a:t>**</a:t>
            </a:r>
          </a:p>
          <a:p>
            <a:endParaRPr dirty="0"/>
          </a:p>
          <a:p>
            <a:r>
              <a:rPr dirty="0" err="1"/>
              <a:t>结论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对多数转型者而言，最现实的竞争力不是抛弃过去成为通用AI专家，而是把过去的行业资产和AI产品能力重新组合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[</a:t>
            </a:r>
            <a:r>
              <a:rPr dirty="0" err="1"/>
              <a:t>讲义来源</a:t>
            </a:r>
            <a:r>
              <a:rPr dirty="0"/>
              <a:t>]</a:t>
            </a:r>
          </a:p>
          <a:p>
            <a:r>
              <a:rPr dirty="0"/>
              <a:t>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/第12课_第一阶段能力验收与职业行动_重做工作区/第12课_第一阶段总结_AI产品趋势与项目实战_完整讲义_v0.2.md</a:t>
            </a:r>
          </a:p>
          <a:p>
            <a:r>
              <a:rPr dirty="0" err="1"/>
              <a:t>通用AI产品经理和行业专家谁更有竞争力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判断结论：更现实的竞争力来自行业资产、产品判断和AI理解的组合</a:t>
            </a:r>
            <a:endParaRPr dirty="0"/>
          </a:p>
          <a:p>
            <a:endParaRPr dirty="0"/>
          </a:p>
          <a:p>
            <a:r>
              <a:rPr dirty="0" err="1"/>
              <a:t>让学员选择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A. </a:t>
            </a:r>
            <a:r>
              <a:rPr dirty="0" err="1"/>
              <a:t>通用AI产品经理</a:t>
            </a:r>
            <a:r>
              <a:rPr dirty="0"/>
              <a:t>；</a:t>
            </a:r>
          </a:p>
          <a:p>
            <a:r>
              <a:rPr dirty="0"/>
              <a:t>- B. </a:t>
            </a:r>
            <a:r>
              <a:rPr dirty="0" err="1"/>
              <a:t>行业专家</a:t>
            </a:r>
            <a:r>
              <a:rPr dirty="0"/>
              <a:t>；</a:t>
            </a:r>
          </a:p>
          <a:p>
            <a:r>
              <a:rPr dirty="0"/>
              <a:t>- C. </a:t>
            </a:r>
            <a:r>
              <a:rPr dirty="0" err="1"/>
              <a:t>懂行业并补齐AI产品能力的人</a:t>
            </a:r>
            <a:r>
              <a:rPr dirty="0"/>
              <a:t>；</a:t>
            </a:r>
          </a:p>
          <a:p>
            <a:r>
              <a:rPr dirty="0"/>
              <a:t>- D. </a:t>
            </a:r>
            <a:r>
              <a:rPr dirty="0" err="1"/>
              <a:t>懂AI技术再进入具体行业的人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Prompt、Workflow、RAG、Agent、Vibe</a:t>
            </a:r>
            <a:r>
              <a:rPr dirty="0"/>
              <a:t> </a:t>
            </a:r>
            <a:r>
              <a:rPr dirty="0" err="1"/>
              <a:t>Coding和PRD生成越来越容易学习。当多数候选人都会使用这些工具以后，企业会继续比较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谁更理解用户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谁熟悉业务流程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谁知道真实风险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谁能获得行业数据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谁能推动落地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谁能判断结果是否有价值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过去的行业经历可以转化为用户理解、场景、数据来源、业务判断、人脉和项目机会。但行业经验不能自动替代产品和AI能力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更完整的组合是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**</a:t>
            </a:r>
            <a:r>
              <a:rPr dirty="0" err="1"/>
              <a:t>行业和业务资产＋产品判断能力＋AI能力理解</a:t>
            </a:r>
            <a:r>
              <a:rPr dirty="0"/>
              <a:t>**</a:t>
            </a:r>
          </a:p>
          <a:p>
            <a:endParaRPr dirty="0"/>
          </a:p>
          <a:p>
            <a:r>
              <a:rPr dirty="0" err="1"/>
              <a:t>结论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对多数转型者而言，最现实的竞争力不是抛弃过去成为通用AI专家，而是把过去的行业资产和AI产品能力重新组合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[</a:t>
            </a:r>
            <a:r>
              <a:rPr dirty="0" err="1"/>
              <a:t>讲义来源</a:t>
            </a:r>
            <a:r>
              <a:rPr dirty="0"/>
              <a:t>]</a:t>
            </a:r>
          </a:p>
          <a:p>
            <a:r>
              <a:rPr dirty="0"/>
              <a:t>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/第12课_第一阶段能力验收与职业行动_重做工作区/第12课_第一阶段总结_AI产品趋势与项目实战_完整讲义_v0.2.md</a:t>
            </a:r>
          </a:p>
          <a:p>
            <a:r>
              <a:rPr dirty="0" err="1"/>
              <a:t>通用AI产品经理和行业专家谁更有竞争力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请学员先投票，再请1—2人说明理由。在这一页不公布答案，也不使用颜色暗示。</a:t>
            </a:r>
          </a:p>
          <a:p>
            <a:endParaRPr dirty="0"/>
          </a:p>
          <a:p>
            <a:r>
              <a:rPr dirty="0" err="1"/>
              <a:t>让学员选择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A. </a:t>
            </a:r>
            <a:r>
              <a:rPr dirty="0" err="1"/>
              <a:t>不需要，基础工作都能被AI完成</a:t>
            </a:r>
            <a:r>
              <a:rPr dirty="0"/>
              <a:t>；</a:t>
            </a:r>
          </a:p>
          <a:p>
            <a:r>
              <a:rPr dirty="0"/>
              <a:t>- B. </a:t>
            </a:r>
            <a:r>
              <a:rPr dirty="0" err="1"/>
              <a:t>需要，但初级岗位要求会提高</a:t>
            </a:r>
            <a:r>
              <a:rPr dirty="0"/>
              <a:t>；</a:t>
            </a:r>
          </a:p>
          <a:p>
            <a:r>
              <a:rPr dirty="0"/>
              <a:t>- C. </a:t>
            </a:r>
            <a:r>
              <a:rPr dirty="0" err="1"/>
              <a:t>需要，组织仍然需要培养人才</a:t>
            </a:r>
            <a:r>
              <a:rPr dirty="0"/>
              <a:t>；</a:t>
            </a:r>
          </a:p>
          <a:p>
            <a:r>
              <a:rPr dirty="0"/>
              <a:t>- D. </a:t>
            </a:r>
            <a:r>
              <a:rPr dirty="0" err="1"/>
              <a:t>初级岗位可能减少，但不会完全消失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初级岗位中，信息整理、竞品、基础需求、简单原型、会议纪要和汇报材料更容易被AI辅助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但企业仍然需要培养未来负责人，真实项目也需要通过接触用户、处理异常和承担小决策积累上下文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新人需要更早证明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能发现具体问题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能判断AI是否适合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能借助AI提高效率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能检查AI结果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能建立基本评测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能完成小型Demo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能根据Bad</a:t>
            </a:r>
            <a:r>
              <a:rPr dirty="0"/>
              <a:t> </a:t>
            </a:r>
            <a:r>
              <a:rPr dirty="0" err="1"/>
              <a:t>Case修改方案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能讲清自己的判断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结论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初级产品经理不会简单消失，但只依赖基础执行的岗位可能减少，企业会更早要求新人独立完成一个小闭环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[</a:t>
            </a:r>
            <a:r>
              <a:rPr dirty="0" err="1"/>
              <a:t>讲义来源</a:t>
            </a:r>
            <a:r>
              <a:rPr dirty="0"/>
              <a:t>]</a:t>
            </a:r>
          </a:p>
          <a:p>
            <a:r>
              <a:rPr dirty="0"/>
              <a:t>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/第12课_第一阶段能力验收与职业行动_重做工作区/第12课_第一阶段总结_AI产品趋势与项目实战_完整讲义_v0.2.md</a:t>
            </a:r>
          </a:p>
          <a:p>
            <a:r>
              <a:rPr dirty="0" err="1"/>
              <a:t>AI时代还需要初级产品经理吗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判断结论：初级岗位不会简单消失，但只依赖基础执行的岗位可能减少</a:t>
            </a:r>
            <a:endParaRPr dirty="0"/>
          </a:p>
          <a:p>
            <a:endParaRPr dirty="0"/>
          </a:p>
          <a:p>
            <a:r>
              <a:rPr dirty="0" err="1"/>
              <a:t>让学员选择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A. </a:t>
            </a:r>
            <a:r>
              <a:rPr dirty="0" err="1"/>
              <a:t>不需要，基础工作都能被AI完成</a:t>
            </a:r>
            <a:r>
              <a:rPr dirty="0"/>
              <a:t>；</a:t>
            </a:r>
          </a:p>
          <a:p>
            <a:r>
              <a:rPr dirty="0"/>
              <a:t>- B. </a:t>
            </a:r>
            <a:r>
              <a:rPr dirty="0" err="1"/>
              <a:t>需要，但初级岗位要求会提高</a:t>
            </a:r>
            <a:r>
              <a:rPr dirty="0"/>
              <a:t>；</a:t>
            </a:r>
          </a:p>
          <a:p>
            <a:r>
              <a:rPr dirty="0"/>
              <a:t>- C. </a:t>
            </a:r>
            <a:r>
              <a:rPr dirty="0" err="1"/>
              <a:t>需要，组织仍然需要培养人才</a:t>
            </a:r>
            <a:r>
              <a:rPr dirty="0"/>
              <a:t>；</a:t>
            </a:r>
          </a:p>
          <a:p>
            <a:r>
              <a:rPr dirty="0"/>
              <a:t>- D. </a:t>
            </a:r>
            <a:r>
              <a:rPr dirty="0" err="1"/>
              <a:t>初级岗位可能减少，但不会完全消失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初级岗位中，信息整理、竞品、基础需求、简单原型、会议纪要和汇报材料更容易被AI辅助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但企业仍然需要培养未来负责人，真实项目也需要通过接触用户、处理异常和承担小决策积累上下文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新人需要更早证明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能发现具体问题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能判断AI是否适合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能借助AI提高效率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能检查AI结果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能建立基本评测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能完成小型Demo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能根据Bad</a:t>
            </a:r>
            <a:r>
              <a:rPr dirty="0"/>
              <a:t> </a:t>
            </a:r>
            <a:r>
              <a:rPr dirty="0" err="1"/>
              <a:t>Case修改方案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能讲清自己的判断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结论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初级产品经理不会简单消失，但只依赖基础执行的岗位可能减少，企业会更早要求新人独立完成一个小闭环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[</a:t>
            </a:r>
            <a:r>
              <a:rPr dirty="0" err="1"/>
              <a:t>讲义来源</a:t>
            </a:r>
            <a:r>
              <a:rPr dirty="0"/>
              <a:t>]</a:t>
            </a:r>
          </a:p>
          <a:p>
            <a:r>
              <a:rPr dirty="0"/>
              <a:t>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/第12课_第一阶段能力验收与职业行动_重做工作区/第12课_第一阶段总结_AI产品趋势与项目实战_完整讲义_v0.2.md</a:t>
            </a:r>
          </a:p>
          <a:p>
            <a:r>
              <a:rPr dirty="0" err="1"/>
              <a:t>AI时代还需要初级产品经理吗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请学员先投票，再请1—2人说明理由。在这一页不公布答案，也不使用颜色暗示。</a:t>
            </a:r>
          </a:p>
          <a:p>
            <a:endParaRPr dirty="0"/>
          </a:p>
          <a:p>
            <a:r>
              <a:rPr dirty="0" err="1"/>
              <a:t>讲义中的相关部分：未来会不会出现一人产品团队</a:t>
            </a:r>
            <a:endParaRPr dirty="0"/>
          </a:p>
          <a:p>
            <a:endParaRPr dirty="0"/>
          </a:p>
          <a:p>
            <a:r>
              <a:rPr dirty="0"/>
              <a:t>[</a:t>
            </a:r>
            <a:r>
              <a:rPr dirty="0" err="1"/>
              <a:t>讲义来源</a:t>
            </a:r>
            <a:r>
              <a:rPr dirty="0"/>
              <a:t>]</a:t>
            </a:r>
          </a:p>
          <a:p>
            <a:r>
              <a:rPr dirty="0"/>
              <a:t>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/第12课_第一阶段能力验收与职业行动_重做工作区/第12课_第一阶段总结_AI产品趋势与项目实战_完整讲义_v0.2.md</a:t>
            </a:r>
          </a:p>
          <a:p>
            <a:r>
              <a:rPr dirty="0" err="1"/>
              <a:t>未来会不会出现一人产品团队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判断结论：一个人更可能成为验证团队，而非完整的规模化交付团队</a:t>
            </a:r>
            <a:endParaRPr dirty="0"/>
          </a:p>
          <a:p>
            <a:endParaRPr dirty="0"/>
          </a:p>
          <a:p>
            <a:r>
              <a:rPr dirty="0" err="1"/>
              <a:t>讲义中的相关部分：未来会不会出现一人产品团队</a:t>
            </a:r>
            <a:endParaRPr dirty="0"/>
          </a:p>
          <a:p>
            <a:endParaRPr dirty="0"/>
          </a:p>
          <a:p>
            <a:r>
              <a:rPr dirty="0"/>
              <a:t>| </a:t>
            </a:r>
            <a:r>
              <a:rPr dirty="0" err="1"/>
              <a:t>浅层AI功能</a:t>
            </a:r>
            <a:r>
              <a:rPr dirty="0"/>
              <a:t> | </a:t>
            </a:r>
            <a:r>
              <a:rPr dirty="0" err="1"/>
              <a:t>深入业务的AI产品</a:t>
            </a:r>
            <a:r>
              <a:rPr dirty="0"/>
              <a:t> |</a:t>
            </a:r>
          </a:p>
          <a:p>
            <a:r>
              <a:rPr dirty="0"/>
              <a:t>|---|---|</a:t>
            </a:r>
          </a:p>
          <a:p>
            <a:r>
              <a:rPr dirty="0"/>
              <a:t>| </a:t>
            </a:r>
            <a:r>
              <a:rPr dirty="0" err="1"/>
              <a:t>接入模型</a:t>
            </a:r>
            <a:r>
              <a:rPr dirty="0"/>
              <a:t> | </a:t>
            </a:r>
            <a:r>
              <a:rPr dirty="0" err="1"/>
              <a:t>重新设计工作流程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提供回答</a:t>
            </a:r>
            <a:r>
              <a:rPr dirty="0"/>
              <a:t> | </a:t>
            </a:r>
            <a:r>
              <a:rPr dirty="0" err="1"/>
              <a:t>完成任务闭环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通用数据</a:t>
            </a:r>
            <a:r>
              <a:rPr dirty="0"/>
              <a:t> | </a:t>
            </a:r>
            <a:r>
              <a:rPr dirty="0" err="1"/>
              <a:t>行业与用户数据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单次使用</a:t>
            </a:r>
            <a:r>
              <a:rPr dirty="0"/>
              <a:t> | </a:t>
            </a:r>
            <a:r>
              <a:rPr dirty="0" err="1"/>
              <a:t>持续状态和反馈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只展示结果</a:t>
            </a:r>
            <a:r>
              <a:rPr dirty="0"/>
              <a:t> | </a:t>
            </a:r>
            <a:r>
              <a:rPr dirty="0" err="1"/>
              <a:t>展示依据、状态和风险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用户自己处理后续</a:t>
            </a:r>
            <a:r>
              <a:rPr dirty="0"/>
              <a:t> | </a:t>
            </a:r>
            <a:r>
              <a:rPr dirty="0" err="1"/>
              <a:t>与系统和业务动作连接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容易切换模型或工具</a:t>
            </a:r>
            <a:r>
              <a:rPr dirty="0"/>
              <a:t> | </a:t>
            </a:r>
            <a:r>
              <a:rPr dirty="0" err="1"/>
              <a:t>形成流程、数据和信任成本</a:t>
            </a:r>
            <a:r>
              <a:rPr dirty="0"/>
              <a:t> |</a:t>
            </a:r>
          </a:p>
          <a:p>
            <a:endParaRPr dirty="0"/>
          </a:p>
          <a:p>
            <a:r>
              <a:rPr dirty="0" err="1"/>
              <a:t>过渡语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如果AI产品只是提供答案，它仍然更像工具。但当Agent开始接受目标、调用系统、创建任务甚至代表用户执行动作时，软件的性质就发生了变化。接下来讨论：Agent是一项功能，还是一种数字劳动力？</a:t>
            </a:r>
          </a:p>
          <a:p>
            <a:endParaRPr dirty="0"/>
          </a:p>
          <a:p>
            <a:r>
              <a:rPr dirty="0"/>
              <a:t>---</a:t>
            </a:r>
          </a:p>
          <a:p>
            <a:endParaRPr dirty="0"/>
          </a:p>
          <a:p>
            <a:r>
              <a:rPr dirty="0"/>
              <a:t>[</a:t>
            </a:r>
            <a:r>
              <a:rPr dirty="0" err="1"/>
              <a:t>讲义来源</a:t>
            </a:r>
            <a:r>
              <a:rPr dirty="0"/>
              <a:t>]</a:t>
            </a:r>
          </a:p>
          <a:p>
            <a:r>
              <a:rPr dirty="0"/>
              <a:t>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/第12课_第一阶段能力验收与职业行动_重做工作区/第12课_第一阶段总结_AI产品趋势与项目实战_完整讲义_v0.2.md</a:t>
            </a:r>
          </a:p>
          <a:p>
            <a:r>
              <a:rPr dirty="0" err="1"/>
              <a:t>未来会不会出现一人产品团队；本部分总结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第二阶段不再围绕课程章节推进，而是围绕一个项目持续评审和迭代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[</a:t>
            </a:r>
            <a:r>
              <a:rPr dirty="0" err="1"/>
              <a:t>讲义来源</a:t>
            </a:r>
            <a:r>
              <a:rPr dirty="0"/>
              <a:t>]</a:t>
            </a:r>
          </a:p>
          <a:p>
            <a:r>
              <a:rPr dirty="0"/>
              <a:t>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/第12课_第一阶段能力验收与职业行动_重做工作区/第12课_第一阶段总结_AI产品趋势与项目实战_完整讲义_v0.2.md</a:t>
            </a:r>
          </a:p>
          <a:p>
            <a:r>
              <a:rPr dirty="0" err="1"/>
              <a:t>怎样把能力变成真正的项目</a:t>
            </a:r>
            <a:r>
              <a:rPr dirty="0"/>
              <a:t>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请学员先选择，再说明自己当前最真实的缺口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&gt; 建议时长：30分钟</a:t>
            </a:r>
          </a:p>
          <a:p>
            <a:endParaRPr dirty="0"/>
          </a:p>
          <a:p>
            <a:r>
              <a:rPr dirty="0" err="1"/>
              <a:t>这一部分既承担第一阶段收尾，也承担第二阶段介绍。需要让学员看见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1. </a:t>
            </a:r>
            <a:r>
              <a:rPr dirty="0" err="1"/>
              <a:t>为什么听懂以后仍然需要项目</a:t>
            </a:r>
            <a:r>
              <a:rPr dirty="0"/>
              <a:t>；</a:t>
            </a:r>
          </a:p>
          <a:p>
            <a:r>
              <a:rPr dirty="0"/>
              <a:t>2. </a:t>
            </a:r>
            <a:r>
              <a:rPr dirty="0" err="1"/>
              <a:t>项目班和普通课程有什么不同</a:t>
            </a:r>
            <a:r>
              <a:rPr dirty="0"/>
              <a:t>；</a:t>
            </a:r>
          </a:p>
          <a:p>
            <a:r>
              <a:rPr dirty="0"/>
              <a:t>3. </a:t>
            </a:r>
            <a:r>
              <a:rPr dirty="0" err="1"/>
              <a:t>一个项目会怎样一步一步做出来</a:t>
            </a:r>
            <a:r>
              <a:rPr dirty="0"/>
              <a:t>；</a:t>
            </a:r>
          </a:p>
          <a:p>
            <a:r>
              <a:rPr dirty="0"/>
              <a:t>4. </a:t>
            </a:r>
            <a:r>
              <a:rPr dirty="0" err="1"/>
              <a:t>学员需要投入什么</a:t>
            </a:r>
            <a:r>
              <a:rPr dirty="0"/>
              <a:t>；</a:t>
            </a:r>
          </a:p>
          <a:p>
            <a:r>
              <a:rPr dirty="0"/>
              <a:t>5. </a:t>
            </a:r>
            <a:r>
              <a:rPr dirty="0" err="1"/>
              <a:t>最终能够带走什么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一、目前距离真实工作最缺什么</a:t>
            </a:r>
            <a:endParaRPr dirty="0"/>
          </a:p>
          <a:p>
            <a:endParaRPr dirty="0"/>
          </a:p>
          <a:p>
            <a:r>
              <a:rPr dirty="0" err="1"/>
              <a:t>让学员选择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A. </a:t>
            </a:r>
            <a:r>
              <a:rPr dirty="0" err="1"/>
              <a:t>还需要学习更多AI概念</a:t>
            </a:r>
            <a:r>
              <a:rPr dirty="0"/>
              <a:t>；</a:t>
            </a:r>
          </a:p>
          <a:p>
            <a:r>
              <a:rPr dirty="0"/>
              <a:t>- B. </a:t>
            </a:r>
            <a:r>
              <a:rPr dirty="0" err="1"/>
              <a:t>还需要掌握更多AI工具</a:t>
            </a:r>
            <a:r>
              <a:rPr dirty="0"/>
              <a:t>；</a:t>
            </a:r>
          </a:p>
          <a:p>
            <a:r>
              <a:rPr dirty="0"/>
              <a:t>- C. </a:t>
            </a:r>
            <a:r>
              <a:rPr dirty="0" err="1"/>
              <a:t>缺少一个自己完整做过的AI项目</a:t>
            </a:r>
            <a:r>
              <a:rPr dirty="0"/>
              <a:t>；</a:t>
            </a:r>
          </a:p>
          <a:p>
            <a:r>
              <a:rPr dirty="0"/>
              <a:t>- D. </a:t>
            </a:r>
            <a:r>
              <a:rPr dirty="0" err="1"/>
              <a:t>缺少简历、作品集和面试技巧</a:t>
            </a:r>
            <a:r>
              <a:rPr dirty="0"/>
              <a:t>；</a:t>
            </a:r>
          </a:p>
          <a:p>
            <a:r>
              <a:rPr dirty="0"/>
              <a:t>- E. </a:t>
            </a:r>
            <a:r>
              <a:rPr dirty="0" err="1"/>
              <a:t>还不确定职业方向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教师说明：不同学员可能答案不同，但对许多人来说，中间最关键的一步是C</a:t>
            </a:r>
            <a:r>
              <a:rPr dirty="0"/>
              <a:t>——</a:t>
            </a:r>
            <a:r>
              <a:rPr dirty="0" err="1"/>
              <a:t>还没有一个能够把前面能力连接起来的个人项目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展示三阶段关系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第一阶段解决“你懂不懂</a:t>
            </a:r>
            <a:r>
              <a:rPr dirty="0"/>
              <a:t>”  </a:t>
            </a:r>
          </a:p>
          <a:p>
            <a:r>
              <a:rPr dirty="0"/>
              <a:t>&gt; </a:t>
            </a:r>
            <a:r>
              <a:rPr dirty="0" err="1"/>
              <a:t>第二阶段解决“你做没做</a:t>
            </a:r>
            <a:r>
              <a:rPr dirty="0"/>
              <a:t>”  </a:t>
            </a:r>
          </a:p>
          <a:p>
            <a:r>
              <a:rPr dirty="0"/>
              <a:t>&gt; </a:t>
            </a:r>
            <a:r>
              <a:rPr dirty="0" err="1"/>
              <a:t>第三阶段解决“你讲不讲得清</a:t>
            </a:r>
            <a:r>
              <a:rPr dirty="0"/>
              <a:t>”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二、为什么听懂不等于做过</a:t>
            </a:r>
            <a:endParaRPr dirty="0"/>
          </a:p>
          <a:p>
            <a:endParaRPr dirty="0"/>
          </a:p>
          <a:p>
            <a:r>
              <a:rPr dirty="0" err="1"/>
              <a:t>真实项目需要连续完成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找到具体用户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验证真实问题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判断AI是否适合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准备数据和材料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设计AI、规则和人工分工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确定MVP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编写PRD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做原型和Demo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建立评测集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分析Bad</a:t>
            </a:r>
            <a:r>
              <a:rPr dirty="0"/>
              <a:t> Case；</a:t>
            </a:r>
          </a:p>
          <a:p>
            <a:r>
              <a:rPr dirty="0"/>
              <a:t>- </a:t>
            </a:r>
            <a:r>
              <a:rPr dirty="0" err="1"/>
              <a:t>比较模型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判断成本和ROI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根据测试结果修改方案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第一阶段中每项能力都接触过，但分散在不同案例。第二阶段要把它们集中到一个项目，并保持前后一致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三、第一阶段和项目班的区别</a:t>
            </a:r>
            <a:endParaRPr dirty="0"/>
          </a:p>
          <a:p>
            <a:endParaRPr dirty="0"/>
          </a:p>
          <a:p>
            <a:r>
              <a:rPr dirty="0"/>
              <a:t>| </a:t>
            </a:r>
            <a:r>
              <a:rPr dirty="0" err="1"/>
              <a:t>第一阶段系统课程</a:t>
            </a:r>
            <a:r>
              <a:rPr dirty="0"/>
              <a:t> | </a:t>
            </a:r>
            <a:r>
              <a:rPr dirty="0" err="1"/>
              <a:t>第二阶段项目班</a:t>
            </a:r>
            <a:r>
              <a:rPr dirty="0"/>
              <a:t> |</a:t>
            </a:r>
          </a:p>
          <a:p>
            <a:r>
              <a:rPr dirty="0"/>
              <a:t>|---|---|</a:t>
            </a:r>
          </a:p>
          <a:p>
            <a:r>
              <a:rPr dirty="0"/>
              <a:t>| </a:t>
            </a:r>
            <a:r>
              <a:rPr dirty="0" err="1"/>
              <a:t>以知识和方法为主</a:t>
            </a:r>
            <a:r>
              <a:rPr dirty="0"/>
              <a:t> | </a:t>
            </a:r>
            <a:r>
              <a:rPr dirty="0" err="1"/>
              <a:t>以项目交付为主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教师先解释概念</a:t>
            </a:r>
            <a:r>
              <a:rPr dirty="0"/>
              <a:t> | </a:t>
            </a:r>
            <a:r>
              <a:rPr dirty="0" err="1"/>
              <a:t>学员先面对不完整任务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案例用于理解知识</a:t>
            </a:r>
            <a:r>
              <a:rPr dirty="0"/>
              <a:t> | </a:t>
            </a:r>
            <a:r>
              <a:rPr dirty="0" err="1"/>
              <a:t>知识用于解决项目问题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练习相对独立</a:t>
            </a:r>
            <a:r>
              <a:rPr dirty="0"/>
              <a:t> | </a:t>
            </a:r>
            <a:r>
              <a:rPr dirty="0" err="1"/>
              <a:t>每次产出进入同一个项目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教师提供较多结构</a:t>
            </a:r>
            <a:r>
              <a:rPr dirty="0"/>
              <a:t> | </a:t>
            </a:r>
            <a:r>
              <a:rPr dirty="0" err="1"/>
              <a:t>学员需要做出自己的取舍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重点是是否理解</a:t>
            </a:r>
            <a:r>
              <a:rPr dirty="0"/>
              <a:t> | </a:t>
            </a:r>
            <a:r>
              <a:rPr dirty="0" err="1"/>
              <a:t>重点是是否有证据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看见参考答案</a:t>
            </a:r>
            <a:r>
              <a:rPr dirty="0"/>
              <a:t> | </a:t>
            </a:r>
            <a:r>
              <a:rPr dirty="0" err="1"/>
              <a:t>接受评审、修改和迭代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完成课堂练习</a:t>
            </a:r>
            <a:r>
              <a:rPr dirty="0"/>
              <a:t> | </a:t>
            </a:r>
            <a:r>
              <a:rPr dirty="0" err="1"/>
              <a:t>形成完整项目材料</a:t>
            </a:r>
            <a:r>
              <a:rPr dirty="0"/>
              <a:t> |</a:t>
            </a:r>
          </a:p>
          <a:p>
            <a:endParaRPr dirty="0"/>
          </a:p>
          <a:p>
            <a:r>
              <a:rPr dirty="0" err="1"/>
              <a:t>项目班不是把第一阶段再讲一次，而更接近一个项目工作室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四、公共项目＋个人方向项目</a:t>
            </a:r>
            <a:endParaRPr dirty="0"/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公共项目</a:t>
            </a:r>
            <a:endParaRPr dirty="0"/>
          </a:p>
          <a:p>
            <a:endParaRPr dirty="0"/>
          </a:p>
          <a:p>
            <a:r>
              <a:rPr dirty="0"/>
              <a:t>所有学员围绕一个共同项目走通AI产品从0到1：</a:t>
            </a:r>
          </a:p>
          <a:p>
            <a:endParaRPr dirty="0"/>
          </a:p>
          <a:p>
            <a:r>
              <a:rPr dirty="0"/>
              <a:t>1. </a:t>
            </a:r>
            <a:r>
              <a:rPr dirty="0" err="1"/>
              <a:t>教师发布业务任务和基础材料</a:t>
            </a:r>
            <a:r>
              <a:rPr dirty="0"/>
              <a:t>；</a:t>
            </a:r>
          </a:p>
          <a:p>
            <a:r>
              <a:rPr dirty="0"/>
              <a:t>2. </a:t>
            </a:r>
            <a:r>
              <a:rPr dirty="0" err="1"/>
              <a:t>学员先提交个人判断</a:t>
            </a:r>
            <a:r>
              <a:rPr dirty="0"/>
              <a:t>；</a:t>
            </a:r>
          </a:p>
          <a:p>
            <a:r>
              <a:rPr dirty="0"/>
              <a:t>3. </a:t>
            </a:r>
            <a:r>
              <a:rPr dirty="0" err="1"/>
              <a:t>课堂比较不同方案</a:t>
            </a:r>
            <a:r>
              <a:rPr dirty="0"/>
              <a:t>；</a:t>
            </a:r>
          </a:p>
          <a:p>
            <a:r>
              <a:rPr dirty="0"/>
              <a:t>4. </a:t>
            </a:r>
            <a:r>
              <a:rPr dirty="0" err="1"/>
              <a:t>教师讲评关键决策</a:t>
            </a:r>
            <a:r>
              <a:rPr dirty="0"/>
              <a:t>；</a:t>
            </a:r>
          </a:p>
          <a:p>
            <a:r>
              <a:rPr dirty="0"/>
              <a:t>5. </a:t>
            </a:r>
            <a:r>
              <a:rPr dirty="0" err="1"/>
              <a:t>学员修改个人版本</a:t>
            </a:r>
            <a:r>
              <a:rPr dirty="0"/>
              <a:t>；</a:t>
            </a:r>
          </a:p>
          <a:p>
            <a:r>
              <a:rPr dirty="0"/>
              <a:t>6. </a:t>
            </a:r>
            <a:r>
              <a:rPr dirty="0" err="1"/>
              <a:t>继续进入下一阶段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公共项目用于统一项目标准，降低第一次独立选题的困难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个人方向项目</a:t>
            </a:r>
            <a:endParaRPr dirty="0"/>
          </a:p>
          <a:p>
            <a:endParaRPr dirty="0"/>
          </a:p>
          <a:p>
            <a:r>
              <a:rPr dirty="0" err="1"/>
              <a:t>学员结合过去行业、工作场景、可访问用户、可获得数据、目标岗位和希望证明的能力选择项目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可能方向包括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企业知识库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销售辅助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内容生产与审核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用户反馈分析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会议任务跟进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商品决策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招聘或培训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特定行业AI应用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个人项目用于形成与背景和求职方向有关的差异化证据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五、小组形式怎样工作</a:t>
            </a:r>
            <a:endParaRPr dirty="0"/>
          </a:p>
          <a:p>
            <a:endParaRPr dirty="0"/>
          </a:p>
          <a:p>
            <a:r>
              <a:rPr dirty="0" err="1"/>
              <a:t>小组不是多人共同交一份作业。每个人对自己的项目负责，小组用于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质疑问题是否真实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检查MVP是否过大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体验彼此Demo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交换测试用例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帮助发现Bad</a:t>
            </a:r>
            <a:r>
              <a:rPr dirty="0"/>
              <a:t> Case；</a:t>
            </a:r>
          </a:p>
          <a:p>
            <a:r>
              <a:rPr dirty="0"/>
              <a:t>- </a:t>
            </a:r>
            <a:r>
              <a:rPr dirty="0" err="1"/>
              <a:t>模拟产品评审和用户反馈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比较不同项目的处理方式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这样学员重点完成自己的项目，同时可以通过同学接触更多Workflow、RAG、Agent、To</a:t>
            </a:r>
            <a:r>
              <a:rPr dirty="0"/>
              <a:t> </a:t>
            </a:r>
            <a:r>
              <a:rPr dirty="0" err="1"/>
              <a:t>B、To</a:t>
            </a:r>
            <a:r>
              <a:rPr dirty="0"/>
              <a:t> </a:t>
            </a:r>
            <a:r>
              <a:rPr dirty="0" err="1"/>
              <a:t>C和行业案例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六、每次项目课的六步节奏</a:t>
            </a:r>
            <a:endParaRPr dirty="0"/>
          </a:p>
          <a:p>
            <a:endParaRPr dirty="0"/>
          </a:p>
          <a:p>
            <a:r>
              <a:rPr dirty="0"/>
              <a:t>1. **</a:t>
            </a:r>
            <a:r>
              <a:rPr dirty="0" err="1"/>
              <a:t>项目任务发布</a:t>
            </a:r>
            <a:r>
              <a:rPr dirty="0"/>
              <a:t>**：</a:t>
            </a:r>
            <a:r>
              <a:rPr dirty="0" err="1"/>
              <a:t>教师明确本阶段需要解决的问题</a:t>
            </a:r>
            <a:r>
              <a:rPr dirty="0"/>
              <a:t>；</a:t>
            </a:r>
          </a:p>
          <a:p>
            <a:r>
              <a:rPr dirty="0"/>
              <a:t>2. **</a:t>
            </a:r>
            <a:r>
              <a:rPr dirty="0" err="1"/>
              <a:t>学员完成初稿</a:t>
            </a:r>
            <a:r>
              <a:rPr dirty="0"/>
              <a:t>**：先形成个人V0.1，不等待标准答案；</a:t>
            </a:r>
          </a:p>
          <a:p>
            <a:r>
              <a:rPr dirty="0"/>
              <a:t>3. **</a:t>
            </a:r>
            <a:r>
              <a:rPr dirty="0" err="1"/>
              <a:t>展示代表方案</a:t>
            </a:r>
            <a:r>
              <a:rPr dirty="0"/>
              <a:t>**：</a:t>
            </a:r>
            <a:r>
              <a:rPr dirty="0" err="1"/>
              <a:t>选择范围过大、过于保守、技术堆叠或证据充分的典型作业</a:t>
            </a:r>
            <a:r>
              <a:rPr dirty="0"/>
              <a:t>；</a:t>
            </a:r>
          </a:p>
          <a:p>
            <a:r>
              <a:rPr dirty="0"/>
              <a:t>4. **</a:t>
            </a:r>
            <a:r>
              <a:rPr dirty="0" err="1"/>
              <a:t>同学互评</a:t>
            </a:r>
            <a:r>
              <a:rPr dirty="0"/>
              <a:t>**：</a:t>
            </a:r>
            <a:r>
              <a:rPr dirty="0" err="1"/>
              <a:t>围绕问题、MVP、数据、评测和风险提出问题</a:t>
            </a:r>
            <a:r>
              <a:rPr dirty="0"/>
              <a:t>；</a:t>
            </a:r>
          </a:p>
          <a:p>
            <a:r>
              <a:rPr dirty="0"/>
              <a:t>5. **</a:t>
            </a:r>
            <a:r>
              <a:rPr dirty="0" err="1"/>
              <a:t>教师点评</a:t>
            </a:r>
            <a:r>
              <a:rPr dirty="0"/>
              <a:t>**：</a:t>
            </a:r>
            <a:r>
              <a:rPr dirty="0" err="1"/>
              <a:t>指出缺少证据、范围不合理、自动化风险和指标问题</a:t>
            </a:r>
            <a:r>
              <a:rPr dirty="0"/>
              <a:t>；</a:t>
            </a:r>
          </a:p>
          <a:p>
            <a:r>
              <a:rPr dirty="0"/>
              <a:t>6. **</a:t>
            </a:r>
            <a:r>
              <a:rPr dirty="0" err="1"/>
              <a:t>修改迭代</a:t>
            </a:r>
            <a:r>
              <a:rPr dirty="0"/>
              <a:t>**：保留V0.1、V0.2、V1.0以及修改原因。</a:t>
            </a:r>
          </a:p>
          <a:p>
            <a:endParaRPr dirty="0"/>
          </a:p>
          <a:p>
            <a:r>
              <a:rPr dirty="0" err="1"/>
              <a:t>项目班的价值不是只得到最终答案，而是看见项目怎样被迭代出来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七、一个项目怎样成长</a:t>
            </a:r>
            <a:endParaRPr dirty="0"/>
          </a:p>
          <a:p>
            <a:endParaRPr dirty="0"/>
          </a:p>
          <a:p>
            <a:r>
              <a:rPr dirty="0" err="1"/>
              <a:t>以“企业AI知识库”为例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初始想法</a:t>
            </a:r>
            <a:endParaRPr dirty="0"/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做一个企业AI知识库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此时缺少用户、问题、数据、评测和权限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问题验证后</a:t>
            </a:r>
            <a:endParaRPr dirty="0"/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面向售前顾问的产品资料检索与回答助手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场景是售前顾问准备客户方案时，需要从分散的产品手册、报价说明和历史案例中查找信息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MVP设计后</a:t>
            </a:r>
            <a:endParaRPr dirty="0"/>
          </a:p>
          <a:p>
            <a:endParaRPr dirty="0"/>
          </a:p>
          <a:p>
            <a:r>
              <a:rPr dirty="0" err="1"/>
              <a:t>第一期做：资料上传、检索、候选答案、来源展示、无答案兜底和用户反馈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第一期不做：自动生成完整销售方案、自动发送客户、自动承诺价格和连接所有企业系统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Demo以后</a:t>
            </a:r>
            <a:endParaRPr dirty="0"/>
          </a:p>
          <a:p>
            <a:endParaRPr dirty="0"/>
          </a:p>
          <a:p>
            <a:r>
              <a:rPr dirty="0" err="1"/>
              <a:t>形成问答、来源、无答案、权限和反馈等可运行状态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评测以后</a:t>
            </a:r>
            <a:endParaRPr dirty="0"/>
          </a:p>
          <a:p>
            <a:endParaRPr dirty="0"/>
          </a:p>
          <a:p>
            <a:r>
              <a:rPr dirty="0" err="1"/>
              <a:t>建立真实问题、标准答案、来源文档、检索命中率、答案正确性和无依据回答率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Bad </a:t>
            </a:r>
            <a:r>
              <a:rPr dirty="0" err="1"/>
              <a:t>Case迭代以后</a:t>
            </a:r>
            <a:endParaRPr dirty="0"/>
          </a:p>
          <a:p>
            <a:endParaRPr dirty="0"/>
          </a:p>
          <a:p>
            <a:r>
              <a:rPr dirty="0"/>
              <a:t>发现型号混淆、旧价格资料误检索、表格切分差和多产品对比不稳定，进而修改文档版本、Metadata过滤、表格处理、问题改写和无答案兜底。</a:t>
            </a:r>
          </a:p>
          <a:p>
            <a:endParaRPr dirty="0"/>
          </a:p>
          <a:p>
            <a:r>
              <a:rPr dirty="0" err="1"/>
              <a:t>最终学员能够讲清：为什么选题、为什么需要RAG、MVP如何取舍、评测集从哪里来、发现什么问题、怎样修改，以及项目仍有什么限制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教师总结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项目班不是把“企业知识库”五个字扩写成一份长PRD，而是把它一步一步变成有问题、有产品、有测试、有迭代的完整项目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八、项目推进的七个阶段</a:t>
            </a:r>
            <a:endParaRPr dirty="0"/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阶段一：选题与问题验证</a:t>
            </a:r>
            <a:endParaRPr dirty="0"/>
          </a:p>
          <a:p>
            <a:endParaRPr dirty="0"/>
          </a:p>
          <a:p>
            <a:r>
              <a:rPr dirty="0" err="1"/>
              <a:t>完成用户、场景、当前流程、问题证据、数据来源和继续条件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阶段二：AI介入与MVP</a:t>
            </a:r>
            <a:endParaRPr dirty="0"/>
          </a:p>
          <a:p>
            <a:endParaRPr dirty="0"/>
          </a:p>
          <a:p>
            <a:r>
              <a:rPr dirty="0" err="1"/>
              <a:t>完成人机分工、技术选择、MVP范围和初始评测计划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阶段三：正式PRD与原型</a:t>
            </a:r>
            <a:endParaRPr dirty="0"/>
          </a:p>
          <a:p>
            <a:endParaRPr dirty="0"/>
          </a:p>
          <a:p>
            <a:r>
              <a:rPr dirty="0" err="1"/>
              <a:t>完成PRD、产品流程、页面、输入输出、异常、确认和验收标准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阶段四：可运行Demo</a:t>
            </a:r>
            <a:endParaRPr dirty="0"/>
          </a:p>
          <a:p>
            <a:endParaRPr dirty="0"/>
          </a:p>
          <a:p>
            <a:r>
              <a:rPr dirty="0" err="1"/>
              <a:t>覆盖核心任务、正常输入、AI结果、错误状态和用户确认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阶段五：评测与Bad</a:t>
            </a:r>
            <a:r>
              <a:rPr dirty="0"/>
              <a:t> Case</a:t>
            </a:r>
          </a:p>
          <a:p>
            <a:endParaRPr dirty="0"/>
          </a:p>
          <a:p>
            <a:r>
              <a:rPr dirty="0" err="1"/>
              <a:t>完成评测集、标准答案、指标、模型测试、Bad</a:t>
            </a:r>
            <a:r>
              <a:rPr dirty="0"/>
              <a:t> </a:t>
            </a:r>
            <a:r>
              <a:rPr dirty="0" err="1"/>
              <a:t>Case和高风险错误分析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阶段六：迭代、成本与价值</a:t>
            </a:r>
            <a:endParaRPr dirty="0"/>
          </a:p>
          <a:p>
            <a:endParaRPr dirty="0"/>
          </a:p>
          <a:p>
            <a:r>
              <a:rPr dirty="0" err="1"/>
              <a:t>完成方案修改、回归评测、模型选择、使用成本、ROI和项目局限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阶段七：项目展示与复盘</a:t>
            </a:r>
            <a:endParaRPr dirty="0"/>
          </a:p>
          <a:p>
            <a:endParaRPr dirty="0"/>
          </a:p>
          <a:p>
            <a:r>
              <a:rPr dirty="0" err="1"/>
              <a:t>完成项目展示、证据链、个人贡献和项目讲述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九、最终交付物</a:t>
            </a:r>
            <a:endParaRPr dirty="0"/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问题与证据</a:t>
            </a:r>
            <a:endParaRPr dirty="0"/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用户和场景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访谈或业务材料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当前流程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问题和价值判断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产品方案</a:t>
            </a:r>
            <a:endParaRPr dirty="0"/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AI产品决策图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产品流程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人机协作</a:t>
            </a:r>
            <a:r>
              <a:rPr dirty="0"/>
              <a:t>；</a:t>
            </a:r>
          </a:p>
          <a:p>
            <a:r>
              <a:rPr dirty="0"/>
              <a:t>- MVP；</a:t>
            </a:r>
          </a:p>
          <a:p>
            <a:r>
              <a:rPr dirty="0"/>
              <a:t>- </a:t>
            </a:r>
            <a:r>
              <a:rPr dirty="0" err="1"/>
              <a:t>正式PRD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产品实现</a:t>
            </a:r>
            <a:endParaRPr dirty="0"/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原型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可运行Demo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正常和异常状态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用户确认流程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AI效果</a:t>
            </a:r>
            <a:endParaRPr dirty="0"/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评测集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评测报告</a:t>
            </a:r>
            <a:r>
              <a:rPr dirty="0"/>
              <a:t>；</a:t>
            </a:r>
          </a:p>
          <a:p>
            <a:r>
              <a:rPr dirty="0"/>
              <a:t>- Bad Case；</a:t>
            </a:r>
          </a:p>
          <a:p>
            <a:r>
              <a:rPr dirty="0"/>
              <a:t>- </a:t>
            </a:r>
            <a:r>
              <a:rPr dirty="0" err="1"/>
              <a:t>模型比较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迭代前后变化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落地判断</a:t>
            </a:r>
            <a:endParaRPr dirty="0"/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模型方案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部署和安全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成本</a:t>
            </a:r>
            <a:r>
              <a:rPr dirty="0"/>
              <a:t>；</a:t>
            </a:r>
          </a:p>
          <a:p>
            <a:r>
              <a:rPr dirty="0"/>
              <a:t>- ROI；</a:t>
            </a:r>
          </a:p>
          <a:p>
            <a:r>
              <a:rPr dirty="0"/>
              <a:t>- </a:t>
            </a:r>
            <a:r>
              <a:rPr dirty="0" err="1"/>
              <a:t>风险和局限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对外展示</a:t>
            </a:r>
            <a:endParaRPr dirty="0"/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作品集项目页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项目展示材料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项目讲述稿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个人贡献说明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第二阶段重点是把项目做完整；第三阶段再结合具体JD打磨简历、作品集和面试表达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十、项目班不替学员批量生成项目材料</a:t>
            </a:r>
            <a:endParaRPr dirty="0"/>
          </a:p>
          <a:p>
            <a:endParaRPr dirty="0"/>
          </a:p>
          <a:p>
            <a:r>
              <a:rPr dirty="0" err="1"/>
              <a:t>如果只是把选题交给AI，让AI生成PRD、流程图、原型和总结，这些材料很快会失去区分度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项目班真正训练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为什么选择问题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使用什么证据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方案经过什么取舍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数据从哪里来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怎样测试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发现什么错误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为什么修改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学员本人完成什么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哪些结论仍然是假设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核心观点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AI可以帮助生产材料，但不能替学员完成项目责任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十一、适合项目班的学员</a:t>
            </a:r>
            <a:endParaRPr dirty="0"/>
          </a:p>
          <a:p>
            <a:endParaRPr dirty="0"/>
          </a:p>
          <a:p>
            <a:r>
              <a:rPr dirty="0" err="1"/>
              <a:t>适合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已经理解AI产品基础概念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学过Prompt、Workflow、RAG或Agent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但缺少完整项目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希望转型AI产品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想把原行业场景改造成AI产品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自己做项目容易停在想法或Demo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需要外部节奏、点评和多轮修改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愿意投入时间完成作业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暂时不适合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只想听课，不准备完成项目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希望老师直接提供可以投递的成品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不愿意接受方案被修改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希望把课程项目包装成企业上线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没有时间做任何课后产出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只想收集更多工具和资料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十二、学员需要投入什么</a:t>
            </a:r>
            <a:endParaRPr dirty="0"/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完成每阶段初稿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接受小组和教师评审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根据反馈修改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收集测试材料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建立评测集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运行真实测试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记录Bad</a:t>
            </a:r>
            <a:r>
              <a:rPr dirty="0"/>
              <a:t> Case；</a:t>
            </a:r>
          </a:p>
          <a:p>
            <a:r>
              <a:rPr dirty="0"/>
              <a:t>- </a:t>
            </a:r>
            <a:r>
              <a:rPr dirty="0" err="1"/>
              <a:t>保存项目版本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清楚说明个人贡献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对项目最终质量负责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项目班不是买完以后等待老师发项目，而是在教师、同学和里程碑支持下真正完成自己的项目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十三、项目班的三个具体价值</a:t>
            </a:r>
            <a:endParaRPr dirty="0"/>
          </a:p>
          <a:p>
            <a:endParaRPr dirty="0"/>
          </a:p>
          <a:p>
            <a:r>
              <a:rPr dirty="0"/>
              <a:t>1. **</a:t>
            </a:r>
            <a:r>
              <a:rPr dirty="0" err="1"/>
              <a:t>作业会被真正评审</a:t>
            </a:r>
            <a:r>
              <a:rPr dirty="0"/>
              <a:t>**：</a:t>
            </a:r>
            <a:r>
              <a:rPr dirty="0" err="1"/>
              <a:t>不仅检查是否提交，还判断问题、MVP、评测和证据是否成立</a:t>
            </a:r>
            <a:r>
              <a:rPr dirty="0"/>
              <a:t>；</a:t>
            </a:r>
          </a:p>
          <a:p>
            <a:r>
              <a:rPr dirty="0"/>
              <a:t>2. **</a:t>
            </a:r>
            <a:r>
              <a:rPr dirty="0" err="1"/>
              <a:t>能看见项目版本变化</a:t>
            </a:r>
            <a:r>
              <a:rPr dirty="0"/>
              <a:t>**：</a:t>
            </a:r>
            <a:r>
              <a:rPr dirty="0" err="1"/>
              <a:t>从模糊想法到PRD、Demo、评测和迭代</a:t>
            </a:r>
            <a:r>
              <a:rPr dirty="0"/>
              <a:t>；</a:t>
            </a:r>
          </a:p>
          <a:p>
            <a:r>
              <a:rPr dirty="0"/>
              <a:t>3. **</a:t>
            </a:r>
            <a:r>
              <a:rPr dirty="0" err="1"/>
              <a:t>接触多个行业案例</a:t>
            </a:r>
            <a:r>
              <a:rPr dirty="0"/>
              <a:t>**：</a:t>
            </a:r>
            <a:r>
              <a:rPr dirty="0" err="1"/>
              <a:t>通过同学项目看到不同用户、产品形态、Bad</a:t>
            </a:r>
            <a:r>
              <a:rPr dirty="0"/>
              <a:t> </a:t>
            </a:r>
            <a:r>
              <a:rPr dirty="0" err="1"/>
              <a:t>Case、模型和成本方案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十四、整节课最终收尾</a:t>
            </a:r>
            <a:endParaRPr dirty="0"/>
          </a:p>
          <a:p>
            <a:endParaRPr dirty="0"/>
          </a:p>
          <a:p>
            <a:r>
              <a:rPr dirty="0" err="1"/>
              <a:t>教师可以这样说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第一阶段结束以后，我不希望大家只记得自己学过Prompt、RAG、Agent、PRD和评测</a:t>
            </a:r>
            <a:r>
              <a:rPr dirty="0"/>
              <a:t>。  </a:t>
            </a:r>
          </a:p>
          <a:p>
            <a:r>
              <a:rPr dirty="0"/>
              <a:t>&gt; 更重要的是，当一个新的AI产品需求出现在面前，你已经开始知道应该问什么：谁的问题、为什么需要AI、规则和模型怎样分工、MVP做什么、怎样评测、错了怎么办，以及这件事是否值得做。  </a:t>
            </a:r>
          </a:p>
          <a:p>
            <a:r>
              <a:rPr dirty="0"/>
              <a:t>&gt; </a:t>
            </a:r>
            <a:r>
              <a:rPr dirty="0" err="1"/>
              <a:t>这意味着我们已经从简单使用AI工具，开始走向AI产品判断</a:t>
            </a:r>
            <a:r>
              <a:rPr dirty="0"/>
              <a:t>。  </a:t>
            </a:r>
          </a:p>
          <a:p>
            <a:r>
              <a:rPr dirty="0"/>
              <a:t>&gt; </a:t>
            </a:r>
            <a:r>
              <a:rPr dirty="0" err="1"/>
              <a:t>但判断只有进入一个真实项目，经过产品设计、Demo、评测和迭代，才会变成可以被证明的能力。第二阶段要完成的，就是这一步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最后三句话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第一阶段，让你理解AI产品</a:t>
            </a:r>
            <a:r>
              <a:rPr dirty="0"/>
              <a:t>。  </a:t>
            </a:r>
          </a:p>
          <a:p>
            <a:r>
              <a:rPr dirty="0"/>
              <a:t>&gt; </a:t>
            </a:r>
            <a:r>
              <a:rPr dirty="0" err="1"/>
              <a:t>第二阶段，让你真正做出AI项目</a:t>
            </a:r>
            <a:r>
              <a:rPr dirty="0"/>
              <a:t>。  </a:t>
            </a:r>
          </a:p>
          <a:p>
            <a:r>
              <a:rPr dirty="0"/>
              <a:t>&gt; </a:t>
            </a:r>
            <a:r>
              <a:rPr dirty="0" err="1"/>
              <a:t>第三阶段，让你把项目转化成职业机会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可以补充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如果你目前的目标只是系统理解AI产品，第一阶段已经提供了一套相对完整的方法</a:t>
            </a:r>
            <a:r>
              <a:rPr dirty="0"/>
              <a:t>。  </a:t>
            </a:r>
          </a:p>
          <a:p>
            <a:r>
              <a:rPr dirty="0"/>
              <a:t>&gt; </a:t>
            </a:r>
            <a:r>
              <a:rPr dirty="0" err="1"/>
              <a:t>如果你希望进一步完成个人项目、形成项目证据，第二阶段会更适合你</a:t>
            </a:r>
            <a:r>
              <a:rPr dirty="0"/>
              <a:t>。  </a:t>
            </a:r>
          </a:p>
          <a:p>
            <a:r>
              <a:rPr dirty="0"/>
              <a:t>&gt; </a:t>
            </a:r>
            <a:r>
              <a:rPr dirty="0" err="1"/>
              <a:t>大家可以结合自己的时间、目标和投入意愿，判断是否继续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---</a:t>
            </a:r>
          </a:p>
          <a:p>
            <a:endParaRPr dirty="0"/>
          </a:p>
          <a:p>
            <a:r>
              <a:rPr dirty="0"/>
              <a:t>&gt; 建议时长：30分钟</a:t>
            </a:r>
          </a:p>
          <a:p>
            <a:endParaRPr dirty="0"/>
          </a:p>
          <a:p>
            <a:r>
              <a:rPr dirty="0" err="1"/>
              <a:t>这一部分既承担第一阶段收尾，也承担第二阶段介绍。需要让学员看见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1. </a:t>
            </a:r>
            <a:r>
              <a:rPr dirty="0" err="1"/>
              <a:t>为什么听懂以后仍然需要项目</a:t>
            </a:r>
            <a:r>
              <a:rPr dirty="0"/>
              <a:t>；</a:t>
            </a:r>
          </a:p>
          <a:p>
            <a:r>
              <a:rPr dirty="0"/>
              <a:t>2. </a:t>
            </a:r>
            <a:r>
              <a:rPr dirty="0" err="1"/>
              <a:t>项目班和普通课程有什么不同</a:t>
            </a:r>
            <a:r>
              <a:rPr dirty="0"/>
              <a:t>；</a:t>
            </a:r>
          </a:p>
          <a:p>
            <a:r>
              <a:rPr dirty="0"/>
              <a:t>3. </a:t>
            </a:r>
            <a:r>
              <a:rPr dirty="0" err="1"/>
              <a:t>一个项目会怎样一步一步做出来</a:t>
            </a:r>
            <a:r>
              <a:rPr dirty="0"/>
              <a:t>；</a:t>
            </a:r>
          </a:p>
          <a:p>
            <a:r>
              <a:rPr dirty="0"/>
              <a:t>4. </a:t>
            </a:r>
            <a:r>
              <a:rPr dirty="0" err="1"/>
              <a:t>学员需要投入什么</a:t>
            </a:r>
            <a:r>
              <a:rPr dirty="0"/>
              <a:t>；</a:t>
            </a:r>
          </a:p>
          <a:p>
            <a:r>
              <a:rPr dirty="0"/>
              <a:t>5. </a:t>
            </a:r>
            <a:r>
              <a:rPr dirty="0" err="1"/>
              <a:t>最终能够带走什么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一、目前距离真实工作最缺什么</a:t>
            </a:r>
            <a:endParaRPr dirty="0"/>
          </a:p>
          <a:p>
            <a:endParaRPr dirty="0"/>
          </a:p>
          <a:p>
            <a:r>
              <a:rPr dirty="0" err="1"/>
              <a:t>让学员选择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A. </a:t>
            </a:r>
            <a:r>
              <a:rPr dirty="0" err="1"/>
              <a:t>还需要学习更多AI概念</a:t>
            </a:r>
            <a:r>
              <a:rPr dirty="0"/>
              <a:t>；</a:t>
            </a:r>
          </a:p>
          <a:p>
            <a:r>
              <a:rPr dirty="0"/>
              <a:t>- B. </a:t>
            </a:r>
            <a:r>
              <a:rPr dirty="0" err="1"/>
              <a:t>还需要掌握更多AI工具</a:t>
            </a:r>
            <a:r>
              <a:rPr dirty="0"/>
              <a:t>；</a:t>
            </a:r>
          </a:p>
          <a:p>
            <a:r>
              <a:rPr dirty="0"/>
              <a:t>- C. </a:t>
            </a:r>
            <a:r>
              <a:rPr dirty="0" err="1"/>
              <a:t>缺少一个自己完整做过的AI项目</a:t>
            </a:r>
            <a:r>
              <a:rPr dirty="0"/>
              <a:t>；</a:t>
            </a:r>
          </a:p>
          <a:p>
            <a:r>
              <a:rPr dirty="0"/>
              <a:t>- D. </a:t>
            </a:r>
            <a:r>
              <a:rPr dirty="0" err="1"/>
              <a:t>缺少简历、作品集和面试技巧</a:t>
            </a:r>
            <a:r>
              <a:rPr dirty="0"/>
              <a:t>；</a:t>
            </a:r>
          </a:p>
          <a:p>
            <a:r>
              <a:rPr dirty="0"/>
              <a:t>- E. </a:t>
            </a:r>
            <a:r>
              <a:rPr dirty="0" err="1"/>
              <a:t>还不确定职业方向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教师说明：不同学员可能答案不同，但对许多人来说，中间最关键的一步是C</a:t>
            </a:r>
            <a:r>
              <a:rPr dirty="0"/>
              <a:t>——</a:t>
            </a:r>
            <a:r>
              <a:rPr dirty="0" err="1"/>
              <a:t>还没有一个能够把前面能力连接起来的个人项目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展示三阶段关系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第一阶段解决“你懂不懂</a:t>
            </a:r>
            <a:r>
              <a:rPr dirty="0"/>
              <a:t>”  </a:t>
            </a:r>
          </a:p>
          <a:p>
            <a:r>
              <a:rPr dirty="0"/>
              <a:t>&gt; </a:t>
            </a:r>
            <a:r>
              <a:rPr dirty="0" err="1"/>
              <a:t>第二阶段解决“你做没做</a:t>
            </a:r>
            <a:r>
              <a:rPr dirty="0"/>
              <a:t>”  </a:t>
            </a:r>
          </a:p>
          <a:p>
            <a:r>
              <a:rPr dirty="0"/>
              <a:t>&gt; </a:t>
            </a:r>
            <a:r>
              <a:rPr dirty="0" err="1"/>
              <a:t>第三阶段解决“你讲不讲得清</a:t>
            </a:r>
            <a:r>
              <a:rPr dirty="0"/>
              <a:t>”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二、为什么听懂不等于做过</a:t>
            </a:r>
            <a:endParaRPr dirty="0"/>
          </a:p>
          <a:p>
            <a:endParaRPr dirty="0"/>
          </a:p>
          <a:p>
            <a:r>
              <a:rPr dirty="0" err="1"/>
              <a:t>真实项目需要连续完成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找到具体用户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验证真实问题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判断AI是否适合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准备数据和材料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设计AI、规则和人工分工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确定MVP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编写PRD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做原型和Demo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建立评测集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分析Bad</a:t>
            </a:r>
            <a:r>
              <a:rPr dirty="0"/>
              <a:t> Case；</a:t>
            </a:r>
          </a:p>
          <a:p>
            <a:r>
              <a:rPr dirty="0"/>
              <a:t>- </a:t>
            </a:r>
            <a:r>
              <a:rPr dirty="0" err="1"/>
              <a:t>比较模型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判断成本和ROI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根据测试结果修改方案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第一阶段中每项能力都接触过，但分散在不同案例。第二阶段要把它们集中到一个项目，并保持前后一致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三、第一阶段和项目班的区别</a:t>
            </a:r>
            <a:endParaRPr dirty="0"/>
          </a:p>
          <a:p>
            <a:endParaRPr dirty="0"/>
          </a:p>
          <a:p>
            <a:r>
              <a:rPr dirty="0"/>
              <a:t>| </a:t>
            </a:r>
            <a:r>
              <a:rPr dirty="0" err="1"/>
              <a:t>第一阶段系统课程</a:t>
            </a:r>
            <a:r>
              <a:rPr dirty="0"/>
              <a:t> | </a:t>
            </a:r>
            <a:r>
              <a:rPr dirty="0" err="1"/>
              <a:t>第二阶段项目班</a:t>
            </a:r>
            <a:r>
              <a:rPr dirty="0"/>
              <a:t> |</a:t>
            </a:r>
          </a:p>
          <a:p>
            <a:r>
              <a:rPr dirty="0"/>
              <a:t>|---|---|</a:t>
            </a:r>
          </a:p>
          <a:p>
            <a:r>
              <a:rPr dirty="0"/>
              <a:t>| </a:t>
            </a:r>
            <a:r>
              <a:rPr dirty="0" err="1"/>
              <a:t>以知识和方法为主</a:t>
            </a:r>
            <a:r>
              <a:rPr dirty="0"/>
              <a:t> | </a:t>
            </a:r>
            <a:r>
              <a:rPr dirty="0" err="1"/>
              <a:t>以项目交付为主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教师先解释概念</a:t>
            </a:r>
            <a:r>
              <a:rPr dirty="0"/>
              <a:t> | </a:t>
            </a:r>
            <a:r>
              <a:rPr dirty="0" err="1"/>
              <a:t>学员先面对不完整任务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案例用于理解知识</a:t>
            </a:r>
            <a:r>
              <a:rPr dirty="0"/>
              <a:t> | </a:t>
            </a:r>
            <a:r>
              <a:rPr dirty="0" err="1"/>
              <a:t>知识用于解决项目问题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练习相对独立</a:t>
            </a:r>
            <a:r>
              <a:rPr dirty="0"/>
              <a:t> | </a:t>
            </a:r>
            <a:r>
              <a:rPr dirty="0" err="1"/>
              <a:t>每次产出进入同一个项目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教师提供较多结构</a:t>
            </a:r>
            <a:r>
              <a:rPr dirty="0"/>
              <a:t> | </a:t>
            </a:r>
            <a:r>
              <a:rPr dirty="0" err="1"/>
              <a:t>学员需要做出自己的取舍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重点是是否理解</a:t>
            </a:r>
            <a:r>
              <a:rPr dirty="0"/>
              <a:t> | </a:t>
            </a:r>
            <a:r>
              <a:rPr dirty="0" err="1"/>
              <a:t>重点是是否有证据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看见参考答案</a:t>
            </a:r>
            <a:r>
              <a:rPr dirty="0"/>
              <a:t> | </a:t>
            </a:r>
            <a:r>
              <a:rPr dirty="0" err="1"/>
              <a:t>接受评审、修改和迭代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完成课堂练习</a:t>
            </a:r>
            <a:r>
              <a:rPr dirty="0"/>
              <a:t> | </a:t>
            </a:r>
            <a:r>
              <a:rPr dirty="0" err="1"/>
              <a:t>形成完整项目材料</a:t>
            </a:r>
            <a:r>
              <a:rPr dirty="0"/>
              <a:t> |</a:t>
            </a:r>
          </a:p>
          <a:p>
            <a:endParaRPr dirty="0"/>
          </a:p>
          <a:p>
            <a:r>
              <a:rPr dirty="0" err="1"/>
              <a:t>项目班不是把第一阶段再讲一次，而更接近一个项目工作室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四、公共项目＋个人方向项目</a:t>
            </a:r>
            <a:endParaRPr dirty="0"/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公共项目</a:t>
            </a:r>
            <a:endParaRPr dirty="0"/>
          </a:p>
          <a:p>
            <a:endParaRPr dirty="0"/>
          </a:p>
          <a:p>
            <a:r>
              <a:rPr dirty="0"/>
              <a:t>所有学员围绕一个共同项目走通AI产品从0到1：</a:t>
            </a:r>
          </a:p>
          <a:p>
            <a:endParaRPr dirty="0"/>
          </a:p>
          <a:p>
            <a:r>
              <a:rPr dirty="0"/>
              <a:t>1. </a:t>
            </a:r>
            <a:r>
              <a:rPr dirty="0" err="1"/>
              <a:t>教师发布业务任务和基础材料</a:t>
            </a:r>
            <a:r>
              <a:rPr dirty="0"/>
              <a:t>；</a:t>
            </a:r>
          </a:p>
          <a:p>
            <a:r>
              <a:rPr dirty="0"/>
              <a:t>2. </a:t>
            </a:r>
            <a:r>
              <a:rPr dirty="0" err="1"/>
              <a:t>学员先提交个人判断</a:t>
            </a:r>
            <a:r>
              <a:rPr dirty="0"/>
              <a:t>；</a:t>
            </a:r>
          </a:p>
          <a:p>
            <a:r>
              <a:rPr dirty="0"/>
              <a:t>3. </a:t>
            </a:r>
            <a:r>
              <a:rPr dirty="0" err="1"/>
              <a:t>课堂比较不同方案</a:t>
            </a:r>
            <a:r>
              <a:rPr dirty="0"/>
              <a:t>；</a:t>
            </a:r>
          </a:p>
          <a:p>
            <a:r>
              <a:rPr dirty="0"/>
              <a:t>4. </a:t>
            </a:r>
            <a:r>
              <a:rPr dirty="0" err="1"/>
              <a:t>教师讲评关键决策</a:t>
            </a:r>
            <a:r>
              <a:rPr dirty="0"/>
              <a:t>；</a:t>
            </a:r>
          </a:p>
          <a:p>
            <a:r>
              <a:rPr dirty="0"/>
              <a:t>5. </a:t>
            </a:r>
            <a:r>
              <a:rPr dirty="0" err="1"/>
              <a:t>学员修改个人版本</a:t>
            </a:r>
            <a:r>
              <a:rPr dirty="0"/>
              <a:t>；</a:t>
            </a:r>
          </a:p>
          <a:p>
            <a:r>
              <a:rPr dirty="0"/>
              <a:t>6. </a:t>
            </a:r>
            <a:r>
              <a:rPr dirty="0" err="1"/>
              <a:t>继续进入下一阶段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公共项目用于统一项目标准，降低第一次独立选题的困难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个人方向项目</a:t>
            </a:r>
            <a:endParaRPr dirty="0"/>
          </a:p>
          <a:p>
            <a:endParaRPr dirty="0"/>
          </a:p>
          <a:p>
            <a:r>
              <a:rPr dirty="0" err="1"/>
              <a:t>学员结合过去行业、工作场景、可访问用户、可获得数据、目标岗位和希望证明的能力选择项目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可能方向包括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企业知识库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销售辅助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内容生产与审核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用户反馈分析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会议任务跟进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商品决策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招聘或培训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特定行业AI应用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个人项目用于形成与背景和求职方向有关的差异化证据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五、小组形式怎样工作</a:t>
            </a:r>
            <a:endParaRPr dirty="0"/>
          </a:p>
          <a:p>
            <a:endParaRPr dirty="0"/>
          </a:p>
          <a:p>
            <a:r>
              <a:rPr dirty="0" err="1"/>
              <a:t>小组不是多人共同交一份作业。每个人对自己的项目负责，小组用于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质疑问题是否真实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检查MVP是否过大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体验彼此Demo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交换测试用例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帮助发现Bad</a:t>
            </a:r>
            <a:r>
              <a:rPr dirty="0"/>
              <a:t> Case；</a:t>
            </a:r>
          </a:p>
          <a:p>
            <a:r>
              <a:rPr dirty="0"/>
              <a:t>- </a:t>
            </a:r>
            <a:r>
              <a:rPr dirty="0" err="1"/>
              <a:t>模拟产品评审和用户反馈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比较不同项目的处理方式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这样学员重点完成自己的项目，同时可以通过同学接触更多Workflow、RAG、Agent、To</a:t>
            </a:r>
            <a:r>
              <a:rPr dirty="0"/>
              <a:t> </a:t>
            </a:r>
            <a:r>
              <a:rPr dirty="0" err="1"/>
              <a:t>B、To</a:t>
            </a:r>
            <a:r>
              <a:rPr dirty="0"/>
              <a:t> </a:t>
            </a:r>
            <a:r>
              <a:rPr dirty="0" err="1"/>
              <a:t>C和行业案例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六、每次项目课的六步节奏</a:t>
            </a:r>
            <a:endParaRPr dirty="0"/>
          </a:p>
          <a:p>
            <a:endParaRPr dirty="0"/>
          </a:p>
          <a:p>
            <a:r>
              <a:rPr dirty="0"/>
              <a:t>1. **</a:t>
            </a:r>
            <a:r>
              <a:rPr dirty="0" err="1"/>
              <a:t>项目任务发布</a:t>
            </a:r>
            <a:r>
              <a:rPr dirty="0"/>
              <a:t>**：</a:t>
            </a:r>
            <a:r>
              <a:rPr dirty="0" err="1"/>
              <a:t>教师明确本阶段需要解决的问题</a:t>
            </a:r>
            <a:r>
              <a:rPr dirty="0"/>
              <a:t>；</a:t>
            </a:r>
          </a:p>
          <a:p>
            <a:r>
              <a:rPr dirty="0"/>
              <a:t>2. **</a:t>
            </a:r>
            <a:r>
              <a:rPr dirty="0" err="1"/>
              <a:t>学员完成初稿</a:t>
            </a:r>
            <a:r>
              <a:rPr dirty="0"/>
              <a:t>**：先形成个人V0.1，不等待标准答案；</a:t>
            </a:r>
          </a:p>
          <a:p>
            <a:r>
              <a:rPr dirty="0"/>
              <a:t>3. **</a:t>
            </a:r>
            <a:r>
              <a:rPr dirty="0" err="1"/>
              <a:t>展示代表方案</a:t>
            </a:r>
            <a:r>
              <a:rPr dirty="0"/>
              <a:t>**：</a:t>
            </a:r>
            <a:r>
              <a:rPr dirty="0" err="1"/>
              <a:t>选择范围过大、过于保守、技术堆叠或证据充分的典型作业</a:t>
            </a:r>
            <a:r>
              <a:rPr dirty="0"/>
              <a:t>；</a:t>
            </a:r>
          </a:p>
          <a:p>
            <a:r>
              <a:rPr dirty="0"/>
              <a:t>4. **</a:t>
            </a:r>
            <a:r>
              <a:rPr dirty="0" err="1"/>
              <a:t>同学互评</a:t>
            </a:r>
            <a:r>
              <a:rPr dirty="0"/>
              <a:t>**：</a:t>
            </a:r>
            <a:r>
              <a:rPr dirty="0" err="1"/>
              <a:t>围绕问题、MVP、数据、评测和风险提出问题</a:t>
            </a:r>
            <a:r>
              <a:rPr dirty="0"/>
              <a:t>；</a:t>
            </a:r>
          </a:p>
          <a:p>
            <a:r>
              <a:rPr dirty="0"/>
              <a:t>5. **</a:t>
            </a:r>
            <a:r>
              <a:rPr dirty="0" err="1"/>
              <a:t>教师点评</a:t>
            </a:r>
            <a:r>
              <a:rPr dirty="0"/>
              <a:t>**：</a:t>
            </a:r>
            <a:r>
              <a:rPr dirty="0" err="1"/>
              <a:t>指出缺少证据、范围不合理、自动化风险和指标问题</a:t>
            </a:r>
            <a:r>
              <a:rPr dirty="0"/>
              <a:t>；</a:t>
            </a:r>
          </a:p>
          <a:p>
            <a:r>
              <a:rPr dirty="0"/>
              <a:t>6. **</a:t>
            </a:r>
            <a:r>
              <a:rPr dirty="0" err="1"/>
              <a:t>修改迭代</a:t>
            </a:r>
            <a:r>
              <a:rPr dirty="0"/>
              <a:t>**：保留V0.1、V0.2、V1.0以及修改原因。</a:t>
            </a:r>
          </a:p>
          <a:p>
            <a:endParaRPr dirty="0"/>
          </a:p>
          <a:p>
            <a:r>
              <a:rPr dirty="0" err="1"/>
              <a:t>项目班的价值不是只得到最终答案，而是看见项目怎样被迭代出来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七、一个项目怎样成长</a:t>
            </a:r>
            <a:endParaRPr dirty="0"/>
          </a:p>
          <a:p>
            <a:endParaRPr dirty="0"/>
          </a:p>
          <a:p>
            <a:r>
              <a:rPr dirty="0" err="1"/>
              <a:t>以“企业AI知识库”为例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初始想法</a:t>
            </a:r>
            <a:endParaRPr dirty="0"/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做一个企业AI知识库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此时缺少用户、问题、数据、评测和权限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问题验证后</a:t>
            </a:r>
            <a:endParaRPr dirty="0"/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面向售前顾问的产品资料检索与回答助手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场景是售前顾问准备客户方案时，需要从分散的产品手册、报价说明和历史案例中查找信息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MVP设计后</a:t>
            </a:r>
            <a:endParaRPr dirty="0"/>
          </a:p>
          <a:p>
            <a:endParaRPr dirty="0"/>
          </a:p>
          <a:p>
            <a:r>
              <a:rPr dirty="0" err="1"/>
              <a:t>第一期做：资料上传、检索、候选答案、来源展示、无答案兜底和用户反馈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第一期不做：自动生成完整销售方案、自动发送客户、自动承诺价格和连接所有企业系统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Demo以后</a:t>
            </a:r>
            <a:endParaRPr dirty="0"/>
          </a:p>
          <a:p>
            <a:endParaRPr dirty="0"/>
          </a:p>
          <a:p>
            <a:r>
              <a:rPr dirty="0" err="1"/>
              <a:t>形成问答、来源、无答案、权限和反馈等可运行状态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评测以后</a:t>
            </a:r>
            <a:endParaRPr dirty="0"/>
          </a:p>
          <a:p>
            <a:endParaRPr dirty="0"/>
          </a:p>
          <a:p>
            <a:r>
              <a:rPr dirty="0" err="1"/>
              <a:t>建立真实问题、标准答案、来源文档、检索命中率、答案正确性和无依据回答率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Bad </a:t>
            </a:r>
            <a:r>
              <a:rPr dirty="0" err="1"/>
              <a:t>Case迭代以后</a:t>
            </a:r>
            <a:endParaRPr dirty="0"/>
          </a:p>
          <a:p>
            <a:endParaRPr dirty="0"/>
          </a:p>
          <a:p>
            <a:r>
              <a:rPr dirty="0"/>
              <a:t>发现型号混淆、旧价格资料误检索、表格切分差和多产品对比不稳定，进而修改文档版本、Metadata过滤、表格处理、问题改写和无答案兜底。</a:t>
            </a:r>
          </a:p>
          <a:p>
            <a:endParaRPr dirty="0"/>
          </a:p>
          <a:p>
            <a:r>
              <a:rPr dirty="0" err="1"/>
              <a:t>最终学员能够讲清：为什么选题、为什么需要RAG、MVP如何取舍、评测集从哪里来、发现什么问题、怎样修改，以及项目仍有什么限制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教师总结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项目班不是把“企业知识库”五个字扩写成一份长PRD，而是把它一步一步变成有问题、有产品、有测试、有迭代的完整项目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八、项目推进的七个阶段</a:t>
            </a:r>
            <a:endParaRPr dirty="0"/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阶段一：选题与问题验证</a:t>
            </a:r>
            <a:endParaRPr dirty="0"/>
          </a:p>
          <a:p>
            <a:endParaRPr dirty="0"/>
          </a:p>
          <a:p>
            <a:r>
              <a:rPr dirty="0" err="1"/>
              <a:t>完成用户、场景、当前流程、问题证据、数据来源和继续条件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阶段二：AI介入与MVP</a:t>
            </a:r>
            <a:endParaRPr dirty="0"/>
          </a:p>
          <a:p>
            <a:endParaRPr dirty="0"/>
          </a:p>
          <a:p>
            <a:r>
              <a:rPr dirty="0" err="1"/>
              <a:t>完成人机分工、技术选择、MVP范围和初始评测计划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阶段三：正式PRD与原型</a:t>
            </a:r>
            <a:endParaRPr dirty="0"/>
          </a:p>
          <a:p>
            <a:endParaRPr dirty="0"/>
          </a:p>
          <a:p>
            <a:r>
              <a:rPr dirty="0" err="1"/>
              <a:t>完成PRD、产品流程、页面、输入输出、异常、确认和验收标准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阶段四：可运行Demo</a:t>
            </a:r>
            <a:endParaRPr dirty="0"/>
          </a:p>
          <a:p>
            <a:endParaRPr dirty="0"/>
          </a:p>
          <a:p>
            <a:r>
              <a:rPr dirty="0" err="1"/>
              <a:t>覆盖核心任务、正常输入、AI结果、错误状态和用户确认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阶段五：评测与Bad</a:t>
            </a:r>
            <a:r>
              <a:rPr dirty="0"/>
              <a:t> Case</a:t>
            </a:r>
          </a:p>
          <a:p>
            <a:endParaRPr dirty="0"/>
          </a:p>
          <a:p>
            <a:r>
              <a:rPr dirty="0" err="1"/>
              <a:t>完成评测集、标准答案、指标、模型测试、Bad</a:t>
            </a:r>
            <a:r>
              <a:rPr dirty="0"/>
              <a:t> </a:t>
            </a:r>
            <a:r>
              <a:rPr dirty="0" err="1"/>
              <a:t>Case和高风险错误分析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阶段六：迭代、成本与价值</a:t>
            </a:r>
            <a:endParaRPr dirty="0"/>
          </a:p>
          <a:p>
            <a:endParaRPr dirty="0"/>
          </a:p>
          <a:p>
            <a:r>
              <a:rPr dirty="0" err="1"/>
              <a:t>完成方案修改、回归评测、模型选择、使用成本、ROI和项目局限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阶段七：项目展示与复盘</a:t>
            </a:r>
            <a:endParaRPr dirty="0"/>
          </a:p>
          <a:p>
            <a:endParaRPr dirty="0"/>
          </a:p>
          <a:p>
            <a:r>
              <a:rPr dirty="0" err="1"/>
              <a:t>完成项目展示、证据链、个人贡献和项目讲述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九、最终交付物</a:t>
            </a:r>
            <a:endParaRPr dirty="0"/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问题与证据</a:t>
            </a:r>
            <a:endParaRPr dirty="0"/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用户和场景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访谈或业务材料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当前流程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问题和价值判断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产品方案</a:t>
            </a:r>
            <a:endParaRPr dirty="0"/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AI产品决策图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产品流程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人机协作</a:t>
            </a:r>
            <a:r>
              <a:rPr dirty="0"/>
              <a:t>；</a:t>
            </a:r>
          </a:p>
          <a:p>
            <a:r>
              <a:rPr dirty="0"/>
              <a:t>- MVP；</a:t>
            </a:r>
          </a:p>
          <a:p>
            <a:r>
              <a:rPr dirty="0"/>
              <a:t>- </a:t>
            </a:r>
            <a:r>
              <a:rPr dirty="0" err="1"/>
              <a:t>正式PRD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产品实现</a:t>
            </a:r>
            <a:endParaRPr dirty="0"/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原型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可运行Demo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正常和异常状态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用户确认流程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AI效果</a:t>
            </a:r>
            <a:endParaRPr dirty="0"/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评测集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评测报告</a:t>
            </a:r>
            <a:r>
              <a:rPr dirty="0"/>
              <a:t>；</a:t>
            </a:r>
          </a:p>
          <a:p>
            <a:r>
              <a:rPr dirty="0"/>
              <a:t>- Bad Case；</a:t>
            </a:r>
          </a:p>
          <a:p>
            <a:r>
              <a:rPr dirty="0"/>
              <a:t>- </a:t>
            </a:r>
            <a:r>
              <a:rPr dirty="0" err="1"/>
              <a:t>模型比较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迭代前后变化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落地判断</a:t>
            </a:r>
            <a:endParaRPr dirty="0"/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模型方案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部署和安全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成本</a:t>
            </a:r>
            <a:r>
              <a:rPr dirty="0"/>
              <a:t>；</a:t>
            </a:r>
          </a:p>
          <a:p>
            <a:r>
              <a:rPr dirty="0"/>
              <a:t>- ROI；</a:t>
            </a:r>
          </a:p>
          <a:p>
            <a:r>
              <a:rPr dirty="0"/>
              <a:t>- </a:t>
            </a:r>
            <a:r>
              <a:rPr dirty="0" err="1"/>
              <a:t>风险和局限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对外展示</a:t>
            </a:r>
            <a:endParaRPr dirty="0"/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作品集项目页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项目展示材料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项目讲述稿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个人贡献说明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第二阶段重点是把项目做完整；第三阶段再结合具体JD打磨简历、作品集和面试表达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十、项目班不替学员批量生成项目材料</a:t>
            </a:r>
            <a:endParaRPr dirty="0"/>
          </a:p>
          <a:p>
            <a:endParaRPr dirty="0"/>
          </a:p>
          <a:p>
            <a:r>
              <a:rPr dirty="0" err="1"/>
              <a:t>如果只是把选题交给AI，让AI生成PRD、流程图、原型和总结，这些材料很快会失去区分度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项目班真正训练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为什么选择问题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使用什么证据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方案经过什么取舍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数据从哪里来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怎样测试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发现什么错误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为什么修改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学员本人完成什么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哪些结论仍然是假设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核心观点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AI可以帮助生产材料，但不能替学员完成项目责任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十一、适合项目班的学员</a:t>
            </a:r>
            <a:endParaRPr dirty="0"/>
          </a:p>
          <a:p>
            <a:endParaRPr dirty="0"/>
          </a:p>
          <a:p>
            <a:r>
              <a:rPr dirty="0" err="1"/>
              <a:t>适合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已经理解AI产品基础概念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学过Prompt、Workflow、RAG或Agent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但缺少完整项目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希望转型AI产品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想把原行业场景改造成AI产品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自己做项目容易停在想法或Demo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需要外部节奏、点评和多轮修改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愿意投入时间完成作业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暂时不适合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只想听课，不准备完成项目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希望老师直接提供可以投递的成品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不愿意接受方案被修改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希望把课程项目包装成企业上线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没有时间做任何课后产出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只想收集更多工具和资料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十二、学员需要投入什么</a:t>
            </a:r>
            <a:endParaRPr dirty="0"/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完成每阶段初稿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接受小组和教师评审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根据反馈修改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收集测试材料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建立评测集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运行真实测试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记录Bad</a:t>
            </a:r>
            <a:r>
              <a:rPr dirty="0"/>
              <a:t> Case；</a:t>
            </a:r>
          </a:p>
          <a:p>
            <a:r>
              <a:rPr dirty="0"/>
              <a:t>- </a:t>
            </a:r>
            <a:r>
              <a:rPr dirty="0" err="1"/>
              <a:t>保存项目版本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清楚说明个人贡献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对项目最终质量负责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项目班不是买完以后等待老师发项目，而是在教师、同学和里程碑支持下真正完成自己的项目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十三、项目班的三个具体价值</a:t>
            </a:r>
            <a:endParaRPr dirty="0"/>
          </a:p>
          <a:p>
            <a:endParaRPr dirty="0"/>
          </a:p>
          <a:p>
            <a:r>
              <a:rPr dirty="0"/>
              <a:t>1. **</a:t>
            </a:r>
            <a:r>
              <a:rPr dirty="0" err="1"/>
              <a:t>作业会被真正评审</a:t>
            </a:r>
            <a:r>
              <a:rPr dirty="0"/>
              <a:t>**：</a:t>
            </a:r>
            <a:r>
              <a:rPr dirty="0" err="1"/>
              <a:t>不仅检查是否提交，还判断问题、MVP、评测和证据是否成立</a:t>
            </a:r>
            <a:r>
              <a:rPr dirty="0"/>
              <a:t>；</a:t>
            </a:r>
          </a:p>
          <a:p>
            <a:r>
              <a:rPr dirty="0"/>
              <a:t>2. **</a:t>
            </a:r>
            <a:r>
              <a:rPr dirty="0" err="1"/>
              <a:t>能看见项目版本变化</a:t>
            </a:r>
            <a:r>
              <a:rPr dirty="0"/>
              <a:t>**：</a:t>
            </a:r>
            <a:r>
              <a:rPr dirty="0" err="1"/>
              <a:t>从模糊想法到PRD、Demo、评测和迭代</a:t>
            </a:r>
            <a:r>
              <a:rPr dirty="0"/>
              <a:t>；</a:t>
            </a:r>
          </a:p>
          <a:p>
            <a:r>
              <a:rPr dirty="0"/>
              <a:t>3. **</a:t>
            </a:r>
            <a:r>
              <a:rPr dirty="0" err="1"/>
              <a:t>接触多个行业案例</a:t>
            </a:r>
            <a:r>
              <a:rPr dirty="0"/>
              <a:t>**：</a:t>
            </a:r>
            <a:r>
              <a:rPr dirty="0" err="1"/>
              <a:t>通过同学项目看到不同用户、产品形态、Bad</a:t>
            </a:r>
            <a:r>
              <a:rPr dirty="0"/>
              <a:t> </a:t>
            </a:r>
            <a:r>
              <a:rPr dirty="0" err="1"/>
              <a:t>Case、模型和成本方案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十四、整节课最终收尾</a:t>
            </a:r>
            <a:endParaRPr dirty="0"/>
          </a:p>
          <a:p>
            <a:endParaRPr dirty="0"/>
          </a:p>
          <a:p>
            <a:r>
              <a:rPr dirty="0" err="1"/>
              <a:t>教师可以这样说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第一阶段结束以后，我不希望大家只记得自己学过Prompt、RAG、Agent、PRD和评测</a:t>
            </a:r>
            <a:r>
              <a:rPr dirty="0"/>
              <a:t>。  </a:t>
            </a:r>
          </a:p>
          <a:p>
            <a:r>
              <a:rPr dirty="0"/>
              <a:t>&gt; 更重要的是，当一个新的AI产品需求出现在面前，你已经开始知道应该问什么：谁的问题、为什么需要AI、规则和模型怎样分工、MVP做什么、怎样评测、错了怎么办，以及这件事是否值得做。  </a:t>
            </a:r>
          </a:p>
          <a:p>
            <a:r>
              <a:rPr dirty="0"/>
              <a:t>&gt; </a:t>
            </a:r>
            <a:r>
              <a:rPr dirty="0" err="1"/>
              <a:t>这意味着我们已经从简单使用AI工具，开始走向AI产品判断</a:t>
            </a:r>
            <a:r>
              <a:rPr dirty="0"/>
              <a:t>。  </a:t>
            </a:r>
          </a:p>
          <a:p>
            <a:r>
              <a:rPr dirty="0"/>
              <a:t>&gt; </a:t>
            </a:r>
            <a:r>
              <a:rPr dirty="0" err="1"/>
              <a:t>但判断只有进入一个真实项目，经过产品设计、Demo、评测和迭代，才会变成可以被证明的能力。第二阶段要完成的，就是这一步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最后三句话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第一阶段，让你理解AI产品</a:t>
            </a:r>
            <a:r>
              <a:rPr dirty="0"/>
              <a:t>。  </a:t>
            </a:r>
          </a:p>
          <a:p>
            <a:r>
              <a:rPr dirty="0"/>
              <a:t>&gt; </a:t>
            </a:r>
            <a:r>
              <a:rPr dirty="0" err="1"/>
              <a:t>第二阶段，让你真正做出AI项目</a:t>
            </a:r>
            <a:r>
              <a:rPr dirty="0"/>
              <a:t>。  </a:t>
            </a:r>
          </a:p>
          <a:p>
            <a:r>
              <a:rPr dirty="0"/>
              <a:t>&gt; </a:t>
            </a:r>
            <a:r>
              <a:rPr dirty="0" err="1"/>
              <a:t>第三阶段，让你把项目转化成职业机会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可以补充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如果你目前的目标只是系统理解AI产品，第一阶段已经提供了一套相对完整的方法</a:t>
            </a:r>
            <a:r>
              <a:rPr dirty="0"/>
              <a:t>。  </a:t>
            </a:r>
          </a:p>
          <a:p>
            <a:r>
              <a:rPr dirty="0"/>
              <a:t>&gt; </a:t>
            </a:r>
            <a:r>
              <a:rPr dirty="0" err="1"/>
              <a:t>如果你希望进一步完成个人项目、形成项目证据，第二阶段会更适合你</a:t>
            </a:r>
            <a:r>
              <a:rPr dirty="0"/>
              <a:t>。  </a:t>
            </a:r>
          </a:p>
          <a:p>
            <a:r>
              <a:rPr dirty="0"/>
              <a:t>&gt; </a:t>
            </a:r>
            <a:r>
              <a:rPr dirty="0" err="1"/>
              <a:t>大家可以结合自己的时间、目标和投入意愿，判断是否继续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---</a:t>
            </a:r>
          </a:p>
          <a:p>
            <a:endParaRPr dirty="0"/>
          </a:p>
          <a:p>
            <a:r>
              <a:rPr dirty="0"/>
              <a:t>[</a:t>
            </a:r>
            <a:r>
              <a:rPr dirty="0" err="1"/>
              <a:t>讲义来源</a:t>
            </a:r>
            <a:r>
              <a:rPr dirty="0"/>
              <a:t>]</a:t>
            </a:r>
          </a:p>
          <a:p>
            <a:r>
              <a:rPr dirty="0"/>
              <a:t>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/第12课_第一阶段能力验收与职业行动_重做工作区/第12课_第一阶段总结_AI产品趋势与项目实战_完整讲义_v0.2.md</a:t>
            </a:r>
          </a:p>
          <a:p>
            <a:r>
              <a:rPr dirty="0" err="1"/>
              <a:t>第二阶段；项目班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只有走完整条链，才会暴露单点练习看不到的矛盾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讲义中的相关部分：理解为什么不等于真正做过</a:t>
            </a:r>
            <a:endParaRPr dirty="0"/>
          </a:p>
          <a:p>
            <a:endParaRPr dirty="0"/>
          </a:p>
          <a:p>
            <a:r>
              <a:rPr dirty="0"/>
              <a:t>&gt; 建议时长：30分钟</a:t>
            </a:r>
          </a:p>
          <a:p>
            <a:endParaRPr dirty="0"/>
          </a:p>
          <a:p>
            <a:r>
              <a:rPr dirty="0" err="1"/>
              <a:t>这一部分既承担第一阶段收尾，也承担第二阶段介绍。需要让学员看见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1. </a:t>
            </a:r>
            <a:r>
              <a:rPr dirty="0" err="1"/>
              <a:t>为什么听懂以后仍然需要项目</a:t>
            </a:r>
            <a:r>
              <a:rPr dirty="0"/>
              <a:t>；</a:t>
            </a:r>
          </a:p>
          <a:p>
            <a:r>
              <a:rPr dirty="0"/>
              <a:t>2. </a:t>
            </a:r>
            <a:r>
              <a:rPr dirty="0" err="1"/>
              <a:t>项目班和普通课程有什么不同</a:t>
            </a:r>
            <a:r>
              <a:rPr dirty="0"/>
              <a:t>；</a:t>
            </a:r>
          </a:p>
          <a:p>
            <a:r>
              <a:rPr dirty="0"/>
              <a:t>3. </a:t>
            </a:r>
            <a:r>
              <a:rPr dirty="0" err="1"/>
              <a:t>一个项目会怎样一步一步做出来</a:t>
            </a:r>
            <a:r>
              <a:rPr dirty="0"/>
              <a:t>；</a:t>
            </a:r>
          </a:p>
          <a:p>
            <a:r>
              <a:rPr dirty="0"/>
              <a:t>4. </a:t>
            </a:r>
            <a:r>
              <a:rPr dirty="0" err="1"/>
              <a:t>学员需要投入什么</a:t>
            </a:r>
            <a:r>
              <a:rPr dirty="0"/>
              <a:t>；</a:t>
            </a:r>
          </a:p>
          <a:p>
            <a:r>
              <a:rPr dirty="0"/>
              <a:t>5. </a:t>
            </a:r>
            <a:r>
              <a:rPr dirty="0" err="1"/>
              <a:t>最终能够带走什么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一、目前距离真实工作最缺什么</a:t>
            </a:r>
            <a:endParaRPr dirty="0"/>
          </a:p>
          <a:p>
            <a:endParaRPr dirty="0"/>
          </a:p>
          <a:p>
            <a:r>
              <a:rPr dirty="0" err="1"/>
              <a:t>让学员选择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A. </a:t>
            </a:r>
            <a:r>
              <a:rPr dirty="0" err="1"/>
              <a:t>还需要学习更多AI概念</a:t>
            </a:r>
            <a:r>
              <a:rPr dirty="0"/>
              <a:t>；</a:t>
            </a:r>
          </a:p>
          <a:p>
            <a:r>
              <a:rPr dirty="0"/>
              <a:t>- B. </a:t>
            </a:r>
            <a:r>
              <a:rPr dirty="0" err="1"/>
              <a:t>还需要掌握更多AI工具</a:t>
            </a:r>
            <a:r>
              <a:rPr dirty="0"/>
              <a:t>；</a:t>
            </a:r>
          </a:p>
          <a:p>
            <a:r>
              <a:rPr dirty="0"/>
              <a:t>- C. </a:t>
            </a:r>
            <a:r>
              <a:rPr dirty="0" err="1"/>
              <a:t>缺少一个自己完整做过的AI项目</a:t>
            </a:r>
            <a:r>
              <a:rPr dirty="0"/>
              <a:t>；</a:t>
            </a:r>
          </a:p>
          <a:p>
            <a:r>
              <a:rPr dirty="0"/>
              <a:t>- D. </a:t>
            </a:r>
            <a:r>
              <a:rPr dirty="0" err="1"/>
              <a:t>缺少简历、作品集和面试技巧</a:t>
            </a:r>
            <a:r>
              <a:rPr dirty="0"/>
              <a:t>；</a:t>
            </a:r>
          </a:p>
          <a:p>
            <a:r>
              <a:rPr dirty="0"/>
              <a:t>- E. </a:t>
            </a:r>
            <a:r>
              <a:rPr dirty="0" err="1"/>
              <a:t>还不确定职业方向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教师说明：不同学员可能答案不同，但对许多人来说，中间最关键的一步是C</a:t>
            </a:r>
            <a:r>
              <a:rPr dirty="0"/>
              <a:t>——</a:t>
            </a:r>
            <a:r>
              <a:rPr dirty="0" err="1"/>
              <a:t>还没有一个能够把前面能力连接起来的个人项目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展示三阶段关系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第一阶段解决“你懂不懂</a:t>
            </a:r>
            <a:r>
              <a:rPr dirty="0"/>
              <a:t>”  </a:t>
            </a:r>
          </a:p>
          <a:p>
            <a:r>
              <a:rPr dirty="0"/>
              <a:t>&gt; </a:t>
            </a:r>
            <a:r>
              <a:rPr dirty="0" err="1"/>
              <a:t>第二阶段解决“你做没做</a:t>
            </a:r>
            <a:r>
              <a:rPr dirty="0"/>
              <a:t>”  </a:t>
            </a:r>
          </a:p>
          <a:p>
            <a:r>
              <a:rPr dirty="0"/>
              <a:t>&gt; </a:t>
            </a:r>
            <a:r>
              <a:rPr dirty="0" err="1"/>
              <a:t>第三阶段解决“你讲不讲得清</a:t>
            </a:r>
            <a:r>
              <a:rPr dirty="0"/>
              <a:t>”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二、为什么听懂不等于做过</a:t>
            </a:r>
            <a:endParaRPr dirty="0"/>
          </a:p>
          <a:p>
            <a:endParaRPr dirty="0"/>
          </a:p>
          <a:p>
            <a:r>
              <a:rPr dirty="0" err="1"/>
              <a:t>真实项目需要连续完成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找到具体用户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验证真实问题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判断AI是否适合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准备数据和材料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设计AI、规则和人工分工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确定MVP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编写PRD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做原型和Demo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建立评测集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分析Bad</a:t>
            </a:r>
            <a:r>
              <a:rPr dirty="0"/>
              <a:t> Case；</a:t>
            </a:r>
          </a:p>
          <a:p>
            <a:r>
              <a:rPr dirty="0"/>
              <a:t>- </a:t>
            </a:r>
            <a:r>
              <a:rPr dirty="0" err="1"/>
              <a:t>比较模型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判断成本和ROI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根据测试结果修改方案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第一阶段中每项能力都接触过，但分散在不同案例。第二阶段要把它们集中到一个项目，并保持前后一致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三、第一阶段和项目班的区别</a:t>
            </a:r>
            <a:endParaRPr dirty="0"/>
          </a:p>
          <a:p>
            <a:endParaRPr dirty="0"/>
          </a:p>
          <a:p>
            <a:r>
              <a:rPr dirty="0"/>
              <a:t>| </a:t>
            </a:r>
            <a:r>
              <a:rPr dirty="0" err="1"/>
              <a:t>第一阶段系统课程</a:t>
            </a:r>
            <a:r>
              <a:rPr dirty="0"/>
              <a:t> | </a:t>
            </a:r>
            <a:r>
              <a:rPr dirty="0" err="1"/>
              <a:t>第二阶段项目班</a:t>
            </a:r>
            <a:r>
              <a:rPr dirty="0"/>
              <a:t> |</a:t>
            </a:r>
          </a:p>
          <a:p>
            <a:r>
              <a:rPr dirty="0"/>
              <a:t>|---|---|</a:t>
            </a:r>
          </a:p>
          <a:p>
            <a:r>
              <a:rPr dirty="0"/>
              <a:t>| </a:t>
            </a:r>
            <a:r>
              <a:rPr dirty="0" err="1"/>
              <a:t>以知识和方法为主</a:t>
            </a:r>
            <a:r>
              <a:rPr dirty="0"/>
              <a:t> | </a:t>
            </a:r>
            <a:r>
              <a:rPr dirty="0" err="1"/>
              <a:t>以项目交付为主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教师先解释概念</a:t>
            </a:r>
            <a:r>
              <a:rPr dirty="0"/>
              <a:t> | </a:t>
            </a:r>
            <a:r>
              <a:rPr dirty="0" err="1"/>
              <a:t>学员先面对不完整任务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案例用于理解知识</a:t>
            </a:r>
            <a:r>
              <a:rPr dirty="0"/>
              <a:t> | </a:t>
            </a:r>
            <a:r>
              <a:rPr dirty="0" err="1"/>
              <a:t>知识用于解决项目问题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练习相对独立</a:t>
            </a:r>
            <a:r>
              <a:rPr dirty="0"/>
              <a:t> | </a:t>
            </a:r>
            <a:r>
              <a:rPr dirty="0" err="1"/>
              <a:t>每次产出进入同一个项目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教师提供较多结构</a:t>
            </a:r>
            <a:r>
              <a:rPr dirty="0"/>
              <a:t> | </a:t>
            </a:r>
            <a:r>
              <a:rPr dirty="0" err="1"/>
              <a:t>学员需要做出自己的取舍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重点是是否理解</a:t>
            </a:r>
            <a:r>
              <a:rPr dirty="0"/>
              <a:t> | </a:t>
            </a:r>
            <a:r>
              <a:rPr dirty="0" err="1"/>
              <a:t>重点是是否有证据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看见参考答案</a:t>
            </a:r>
            <a:r>
              <a:rPr dirty="0"/>
              <a:t> | </a:t>
            </a:r>
            <a:r>
              <a:rPr dirty="0" err="1"/>
              <a:t>接受评审、修改和迭代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完成课堂练习</a:t>
            </a:r>
            <a:r>
              <a:rPr dirty="0"/>
              <a:t> | </a:t>
            </a:r>
            <a:r>
              <a:rPr dirty="0" err="1"/>
              <a:t>形成完整项目材料</a:t>
            </a:r>
            <a:r>
              <a:rPr dirty="0"/>
              <a:t> |</a:t>
            </a:r>
          </a:p>
          <a:p>
            <a:endParaRPr dirty="0"/>
          </a:p>
          <a:p>
            <a:r>
              <a:rPr dirty="0" err="1"/>
              <a:t>项目班不是把第一阶段再讲一次，而更接近一个项目工作室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四、公共项目＋个人方向项目</a:t>
            </a:r>
            <a:endParaRPr dirty="0"/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公共项目</a:t>
            </a:r>
            <a:endParaRPr dirty="0"/>
          </a:p>
          <a:p>
            <a:endParaRPr dirty="0"/>
          </a:p>
          <a:p>
            <a:r>
              <a:rPr dirty="0"/>
              <a:t>所有学员围绕一个共同项目走通AI产品从0到1：</a:t>
            </a:r>
          </a:p>
          <a:p>
            <a:endParaRPr dirty="0"/>
          </a:p>
          <a:p>
            <a:r>
              <a:rPr dirty="0"/>
              <a:t>1. </a:t>
            </a:r>
            <a:r>
              <a:rPr dirty="0" err="1"/>
              <a:t>教师发布业务任务和基础材料</a:t>
            </a:r>
            <a:r>
              <a:rPr dirty="0"/>
              <a:t>；</a:t>
            </a:r>
          </a:p>
          <a:p>
            <a:r>
              <a:rPr dirty="0"/>
              <a:t>2. </a:t>
            </a:r>
            <a:r>
              <a:rPr dirty="0" err="1"/>
              <a:t>学员先提交个人判断</a:t>
            </a:r>
            <a:r>
              <a:rPr dirty="0"/>
              <a:t>；</a:t>
            </a:r>
          </a:p>
          <a:p>
            <a:r>
              <a:rPr dirty="0"/>
              <a:t>3. </a:t>
            </a:r>
            <a:r>
              <a:rPr dirty="0" err="1"/>
              <a:t>课堂比较不同方案</a:t>
            </a:r>
            <a:r>
              <a:rPr dirty="0"/>
              <a:t>；</a:t>
            </a:r>
          </a:p>
          <a:p>
            <a:r>
              <a:rPr dirty="0"/>
              <a:t>4. </a:t>
            </a:r>
            <a:r>
              <a:rPr dirty="0" err="1"/>
              <a:t>教师讲评关键决策</a:t>
            </a:r>
            <a:r>
              <a:rPr dirty="0"/>
              <a:t>；</a:t>
            </a:r>
          </a:p>
          <a:p>
            <a:r>
              <a:rPr dirty="0"/>
              <a:t>5. </a:t>
            </a:r>
            <a:r>
              <a:rPr dirty="0" err="1"/>
              <a:t>学员修改个人版本</a:t>
            </a:r>
            <a:r>
              <a:rPr dirty="0"/>
              <a:t>；</a:t>
            </a:r>
          </a:p>
          <a:p>
            <a:r>
              <a:rPr dirty="0"/>
              <a:t>6. </a:t>
            </a:r>
            <a:r>
              <a:rPr dirty="0" err="1"/>
              <a:t>继续进入下一阶段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公共项目用于统一项目标准，降低第一次独立选题的困难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个人方向项目</a:t>
            </a:r>
            <a:endParaRPr dirty="0"/>
          </a:p>
          <a:p>
            <a:endParaRPr dirty="0"/>
          </a:p>
          <a:p>
            <a:r>
              <a:rPr dirty="0" err="1"/>
              <a:t>学员结合过去行业、工作场景、可访问用户、可获得数据、目标岗位和希望证明的能力选择项目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可能方向包括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企业知识库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销售辅助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内容生产与审核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用户反馈分析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会议任务跟进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商品决策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招聘或培训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特定行业AI应用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个人项目用于形成与背景和求职方向有关的差异化证据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五、小组形式怎样工作</a:t>
            </a:r>
            <a:endParaRPr dirty="0"/>
          </a:p>
          <a:p>
            <a:endParaRPr dirty="0"/>
          </a:p>
          <a:p>
            <a:r>
              <a:rPr dirty="0" err="1"/>
              <a:t>小组不是多人共同交一份作业。每个人对自己的项目负责，小组用于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质疑问题是否真实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检查MVP是否过大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体验彼此Demo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交换测试用例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帮助发现Bad</a:t>
            </a:r>
            <a:r>
              <a:rPr dirty="0"/>
              <a:t> Case；</a:t>
            </a:r>
          </a:p>
          <a:p>
            <a:r>
              <a:rPr dirty="0"/>
              <a:t>- </a:t>
            </a:r>
            <a:r>
              <a:rPr dirty="0" err="1"/>
              <a:t>模拟产品评审和用户反馈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比较不同项目的处理方式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这样学员重点完成自己的项目，同时可以通过同学接触更多Workflow、RAG、Agent、To</a:t>
            </a:r>
            <a:r>
              <a:rPr dirty="0"/>
              <a:t> </a:t>
            </a:r>
            <a:r>
              <a:rPr dirty="0" err="1"/>
              <a:t>B、To</a:t>
            </a:r>
            <a:r>
              <a:rPr dirty="0"/>
              <a:t> </a:t>
            </a:r>
            <a:r>
              <a:rPr dirty="0" err="1"/>
              <a:t>C和行业案例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六、每次项目课的六步节奏</a:t>
            </a:r>
            <a:endParaRPr dirty="0"/>
          </a:p>
          <a:p>
            <a:endParaRPr dirty="0"/>
          </a:p>
          <a:p>
            <a:r>
              <a:rPr dirty="0"/>
              <a:t>1. **</a:t>
            </a:r>
            <a:r>
              <a:rPr dirty="0" err="1"/>
              <a:t>项目任务发布</a:t>
            </a:r>
            <a:r>
              <a:rPr dirty="0"/>
              <a:t>**：</a:t>
            </a:r>
            <a:r>
              <a:rPr dirty="0" err="1"/>
              <a:t>教师明确本阶段需要解决的问题</a:t>
            </a:r>
            <a:r>
              <a:rPr dirty="0"/>
              <a:t>；</a:t>
            </a:r>
          </a:p>
          <a:p>
            <a:r>
              <a:rPr dirty="0"/>
              <a:t>2. **</a:t>
            </a:r>
            <a:r>
              <a:rPr dirty="0" err="1"/>
              <a:t>学员完成初稿</a:t>
            </a:r>
            <a:r>
              <a:rPr dirty="0"/>
              <a:t>**：先形成个人V0.1，不等待标准答案；</a:t>
            </a:r>
          </a:p>
          <a:p>
            <a:r>
              <a:rPr dirty="0"/>
              <a:t>3. **</a:t>
            </a:r>
            <a:r>
              <a:rPr dirty="0" err="1"/>
              <a:t>展示代表方案</a:t>
            </a:r>
            <a:r>
              <a:rPr dirty="0"/>
              <a:t>**：</a:t>
            </a:r>
            <a:r>
              <a:rPr dirty="0" err="1"/>
              <a:t>选择范围过大、过于保守、技术堆叠或证据充分的典型作业</a:t>
            </a:r>
            <a:r>
              <a:rPr dirty="0"/>
              <a:t>；</a:t>
            </a:r>
          </a:p>
          <a:p>
            <a:r>
              <a:rPr dirty="0"/>
              <a:t>4. **</a:t>
            </a:r>
            <a:r>
              <a:rPr dirty="0" err="1"/>
              <a:t>同学互评</a:t>
            </a:r>
            <a:r>
              <a:rPr dirty="0"/>
              <a:t>**：</a:t>
            </a:r>
            <a:r>
              <a:rPr dirty="0" err="1"/>
              <a:t>围绕问题、MVP、数据、评测和风险提出问题</a:t>
            </a:r>
            <a:r>
              <a:rPr dirty="0"/>
              <a:t>；</a:t>
            </a:r>
          </a:p>
          <a:p>
            <a:r>
              <a:rPr dirty="0"/>
              <a:t>5. **</a:t>
            </a:r>
            <a:r>
              <a:rPr dirty="0" err="1"/>
              <a:t>教师点评</a:t>
            </a:r>
            <a:r>
              <a:rPr dirty="0"/>
              <a:t>**：</a:t>
            </a:r>
            <a:r>
              <a:rPr dirty="0" err="1"/>
              <a:t>指出缺少证据、范围不合理、自动化风险和指标问题</a:t>
            </a:r>
            <a:r>
              <a:rPr dirty="0"/>
              <a:t>；</a:t>
            </a:r>
          </a:p>
          <a:p>
            <a:r>
              <a:rPr dirty="0"/>
              <a:t>6. **</a:t>
            </a:r>
            <a:r>
              <a:rPr dirty="0" err="1"/>
              <a:t>修改迭代</a:t>
            </a:r>
            <a:r>
              <a:rPr dirty="0"/>
              <a:t>**：保留V0.1、V0.2、V1.0以及修改原因。</a:t>
            </a:r>
          </a:p>
          <a:p>
            <a:endParaRPr dirty="0"/>
          </a:p>
          <a:p>
            <a:r>
              <a:rPr dirty="0" err="1"/>
              <a:t>项目班的价值不是只得到最终答案，而是看见项目怎样被迭代出来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七、一个项目怎样成长</a:t>
            </a:r>
            <a:endParaRPr dirty="0"/>
          </a:p>
          <a:p>
            <a:endParaRPr dirty="0"/>
          </a:p>
          <a:p>
            <a:r>
              <a:rPr dirty="0" err="1"/>
              <a:t>以“企业AI知识库”为例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初始想法</a:t>
            </a:r>
            <a:endParaRPr dirty="0"/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做一个企业AI知识库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此时缺少用户、问题、数据、评测和权限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问题验证后</a:t>
            </a:r>
            <a:endParaRPr dirty="0"/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面向售前顾问的产品资料检索与回答助手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场景是售前顾问准备客户方案时，需要从分散的产品手册、报价说明和历史案例中查找信息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MVP设计后</a:t>
            </a:r>
            <a:endParaRPr dirty="0"/>
          </a:p>
          <a:p>
            <a:endParaRPr dirty="0"/>
          </a:p>
          <a:p>
            <a:r>
              <a:rPr dirty="0" err="1"/>
              <a:t>第一期做：资料上传、检索、候选答案、来源展示、无答案兜底和用户反馈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第一期不做：自动生成完整销售方案、自动发送客户、自动承诺价格和连接所有企业系统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Demo以后</a:t>
            </a:r>
            <a:endParaRPr dirty="0"/>
          </a:p>
          <a:p>
            <a:endParaRPr dirty="0"/>
          </a:p>
          <a:p>
            <a:r>
              <a:rPr dirty="0" err="1"/>
              <a:t>形成问答、来源、无答案、权限和反馈等可运行状态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评测以后</a:t>
            </a:r>
            <a:endParaRPr dirty="0"/>
          </a:p>
          <a:p>
            <a:endParaRPr dirty="0"/>
          </a:p>
          <a:p>
            <a:r>
              <a:rPr dirty="0" err="1"/>
              <a:t>建立真实问题、标准答案、来源文档、检索命中率、答案正确性和无依据回答率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Bad </a:t>
            </a:r>
            <a:r>
              <a:rPr dirty="0" err="1"/>
              <a:t>Case迭代以后</a:t>
            </a:r>
            <a:endParaRPr dirty="0"/>
          </a:p>
          <a:p>
            <a:endParaRPr dirty="0"/>
          </a:p>
          <a:p>
            <a:r>
              <a:rPr dirty="0"/>
              <a:t>发现型号混淆、旧价格资料误检索、表格切分差和多产品对比不稳定，进而修改文档版本、Metadata过滤、表格处理、问题改写和无答案兜底。</a:t>
            </a:r>
          </a:p>
          <a:p>
            <a:endParaRPr dirty="0"/>
          </a:p>
          <a:p>
            <a:r>
              <a:rPr dirty="0" err="1"/>
              <a:t>最终学员能够讲清：为什么选题、为什么需要RAG、MVP如何取舍、评测集从哪里来、发现什么问题、怎样修改，以及项目仍有什么限制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教师总结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项目班不是把“企业知识库”五个字扩写成一份长PRD，而是把它一步一步变成有问题、有产品、有测试、有迭代的完整项目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八、项目推进的七个阶段</a:t>
            </a:r>
            <a:endParaRPr dirty="0"/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阶段一：选题与问题验证</a:t>
            </a:r>
            <a:endParaRPr dirty="0"/>
          </a:p>
          <a:p>
            <a:endParaRPr dirty="0"/>
          </a:p>
          <a:p>
            <a:r>
              <a:rPr dirty="0" err="1"/>
              <a:t>完成用户、场景、当前流程、问题证据、数据来源和继续条件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阶段二：AI介入与MVP</a:t>
            </a:r>
            <a:endParaRPr dirty="0"/>
          </a:p>
          <a:p>
            <a:endParaRPr dirty="0"/>
          </a:p>
          <a:p>
            <a:r>
              <a:rPr dirty="0" err="1"/>
              <a:t>完成人机分工、技术选择、MVP范围和初始评测计划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阶段三：正式PRD与原型</a:t>
            </a:r>
            <a:endParaRPr dirty="0"/>
          </a:p>
          <a:p>
            <a:endParaRPr dirty="0"/>
          </a:p>
          <a:p>
            <a:r>
              <a:rPr dirty="0" err="1"/>
              <a:t>完成PRD、产品流程、页面、输入输出、异常、确认和验收标准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阶段四：可运行Demo</a:t>
            </a:r>
            <a:endParaRPr dirty="0"/>
          </a:p>
          <a:p>
            <a:endParaRPr dirty="0"/>
          </a:p>
          <a:p>
            <a:r>
              <a:rPr dirty="0" err="1"/>
              <a:t>覆盖核心任务、正常输入、AI结果、错误状态和用户确认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阶段五：评测与Bad</a:t>
            </a:r>
            <a:r>
              <a:rPr dirty="0"/>
              <a:t> Case</a:t>
            </a:r>
          </a:p>
          <a:p>
            <a:endParaRPr dirty="0"/>
          </a:p>
          <a:p>
            <a:r>
              <a:rPr dirty="0" err="1"/>
              <a:t>完成评测集、标准答案、指标、模型测试、Bad</a:t>
            </a:r>
            <a:r>
              <a:rPr dirty="0"/>
              <a:t> </a:t>
            </a:r>
            <a:r>
              <a:rPr dirty="0" err="1"/>
              <a:t>Case和高风险错误分析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阶段六：迭代、成本与价值</a:t>
            </a:r>
            <a:endParaRPr dirty="0"/>
          </a:p>
          <a:p>
            <a:endParaRPr dirty="0"/>
          </a:p>
          <a:p>
            <a:r>
              <a:rPr dirty="0" err="1"/>
              <a:t>完成方案修改、回归评测、模型选择、使用成本、ROI和项目局限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阶段七：项目展示与复盘</a:t>
            </a:r>
            <a:endParaRPr dirty="0"/>
          </a:p>
          <a:p>
            <a:endParaRPr dirty="0"/>
          </a:p>
          <a:p>
            <a:r>
              <a:rPr dirty="0" err="1"/>
              <a:t>完成项目展示、证据链、个人贡献和项目讲述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九、最终交付物</a:t>
            </a:r>
            <a:endParaRPr dirty="0"/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问题与证据</a:t>
            </a:r>
            <a:endParaRPr dirty="0"/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用户和场景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访谈或业务材料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当前流程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问题和价值判断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产品方案</a:t>
            </a:r>
            <a:endParaRPr dirty="0"/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AI产品决策图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产品流程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人机协作</a:t>
            </a:r>
            <a:r>
              <a:rPr dirty="0"/>
              <a:t>；</a:t>
            </a:r>
          </a:p>
          <a:p>
            <a:r>
              <a:rPr dirty="0"/>
              <a:t>- MVP；</a:t>
            </a:r>
          </a:p>
          <a:p>
            <a:r>
              <a:rPr dirty="0"/>
              <a:t>- </a:t>
            </a:r>
            <a:r>
              <a:rPr dirty="0" err="1"/>
              <a:t>正式PRD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产品实现</a:t>
            </a:r>
            <a:endParaRPr dirty="0"/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原型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可运行Demo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正常和异常状态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用户确认流程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AI效果</a:t>
            </a:r>
            <a:endParaRPr dirty="0"/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评测集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评测报告</a:t>
            </a:r>
            <a:r>
              <a:rPr dirty="0"/>
              <a:t>；</a:t>
            </a:r>
          </a:p>
          <a:p>
            <a:r>
              <a:rPr dirty="0"/>
              <a:t>- Bad Case；</a:t>
            </a:r>
          </a:p>
          <a:p>
            <a:r>
              <a:rPr dirty="0"/>
              <a:t>- </a:t>
            </a:r>
            <a:r>
              <a:rPr dirty="0" err="1"/>
              <a:t>模型比较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迭代前后变化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落地判断</a:t>
            </a:r>
            <a:endParaRPr dirty="0"/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模型方案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部署和安全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成本</a:t>
            </a:r>
            <a:r>
              <a:rPr dirty="0"/>
              <a:t>；</a:t>
            </a:r>
          </a:p>
          <a:p>
            <a:r>
              <a:rPr dirty="0"/>
              <a:t>- ROI；</a:t>
            </a:r>
          </a:p>
          <a:p>
            <a:r>
              <a:rPr dirty="0"/>
              <a:t>- </a:t>
            </a:r>
            <a:r>
              <a:rPr dirty="0" err="1"/>
              <a:t>风险和局限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对外展示</a:t>
            </a:r>
            <a:endParaRPr dirty="0"/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作品集项目页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项目展示材料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项目讲述稿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个人贡献说明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第二阶段重点是把项目做完整；第三阶段再结合具体JD打磨简历、作品集和面试表达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十、项目班不替学员批量生成项目材料</a:t>
            </a:r>
            <a:endParaRPr dirty="0"/>
          </a:p>
          <a:p>
            <a:endParaRPr dirty="0"/>
          </a:p>
          <a:p>
            <a:r>
              <a:rPr dirty="0" err="1"/>
              <a:t>如果只是把选题交给AI，让AI生成PRD、流程图、原型和总结，这些材料很快会失去区分度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项目班真正训练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为什么选择问题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使用什么证据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方案经过什么取舍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数据从哪里来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怎样测试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发现什么错误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为什么修改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学员本人完成什么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哪些结论仍然是假设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核心观点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AI可以帮助生产材料，但不能替学员完成项目责任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十一、适合项目班的学员</a:t>
            </a:r>
            <a:endParaRPr dirty="0"/>
          </a:p>
          <a:p>
            <a:endParaRPr dirty="0"/>
          </a:p>
          <a:p>
            <a:r>
              <a:rPr dirty="0" err="1"/>
              <a:t>适合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已经理解AI产品基础概念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学过Prompt、Workflow、RAG或Agent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但缺少完整项目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希望转型AI产品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想把原行业场景改造成AI产品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自己做项目容易停在想法或Demo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需要外部节奏、点评和多轮修改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愿意投入时间完成作业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暂时不适合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只想听课，不准备完成项目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希望老师直接提供可以投递的成品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不愿意接受方案被修改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希望把课程项目包装成企业上线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没有时间做任何课后产出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只想收集更多工具和资料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十二、学员需要投入什么</a:t>
            </a:r>
            <a:endParaRPr dirty="0"/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完成每阶段初稿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接受小组和教师评审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根据反馈修改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收集测试材料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建立评测集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运行真实测试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记录Bad</a:t>
            </a:r>
            <a:r>
              <a:rPr dirty="0"/>
              <a:t> Case；</a:t>
            </a:r>
          </a:p>
          <a:p>
            <a:r>
              <a:rPr dirty="0"/>
              <a:t>- </a:t>
            </a:r>
            <a:r>
              <a:rPr dirty="0" err="1"/>
              <a:t>保存项目版本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清楚说明个人贡献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对项目最终质量负责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项目班不是买完以后等待老师发项目，而是在教师、同学和里程碑支持下真正完成自己的项目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十三、项目班的三个具体价值</a:t>
            </a:r>
            <a:endParaRPr dirty="0"/>
          </a:p>
          <a:p>
            <a:endParaRPr dirty="0"/>
          </a:p>
          <a:p>
            <a:r>
              <a:rPr dirty="0"/>
              <a:t>1. **</a:t>
            </a:r>
            <a:r>
              <a:rPr dirty="0" err="1"/>
              <a:t>作业会被真正评审</a:t>
            </a:r>
            <a:r>
              <a:rPr dirty="0"/>
              <a:t>**：</a:t>
            </a:r>
            <a:r>
              <a:rPr dirty="0" err="1"/>
              <a:t>不仅检查是否提交，还判断问题、MVP、评测和证据是否成立</a:t>
            </a:r>
            <a:r>
              <a:rPr dirty="0"/>
              <a:t>；</a:t>
            </a:r>
          </a:p>
          <a:p>
            <a:r>
              <a:rPr dirty="0"/>
              <a:t>2. **</a:t>
            </a:r>
            <a:r>
              <a:rPr dirty="0" err="1"/>
              <a:t>能看见项目版本变化</a:t>
            </a:r>
            <a:r>
              <a:rPr dirty="0"/>
              <a:t>**：</a:t>
            </a:r>
            <a:r>
              <a:rPr dirty="0" err="1"/>
              <a:t>从模糊想法到PRD、Demo、评测和迭代</a:t>
            </a:r>
            <a:r>
              <a:rPr dirty="0"/>
              <a:t>；</a:t>
            </a:r>
          </a:p>
          <a:p>
            <a:r>
              <a:rPr dirty="0"/>
              <a:t>3. **</a:t>
            </a:r>
            <a:r>
              <a:rPr dirty="0" err="1"/>
              <a:t>接触多个行业案例</a:t>
            </a:r>
            <a:r>
              <a:rPr dirty="0"/>
              <a:t>**：</a:t>
            </a:r>
            <a:r>
              <a:rPr dirty="0" err="1"/>
              <a:t>通过同学项目看到不同用户、产品形态、Bad</a:t>
            </a:r>
            <a:r>
              <a:rPr dirty="0"/>
              <a:t> </a:t>
            </a:r>
            <a:r>
              <a:rPr dirty="0" err="1"/>
              <a:t>Case、模型和成本方案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十四、整节课最终收尾</a:t>
            </a:r>
            <a:endParaRPr dirty="0"/>
          </a:p>
          <a:p>
            <a:endParaRPr dirty="0"/>
          </a:p>
          <a:p>
            <a:r>
              <a:rPr dirty="0" err="1"/>
              <a:t>教师可以这样说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第一阶段结束以后，我不希望大家只记得自己学过Prompt、RAG、Agent、PRD和评测</a:t>
            </a:r>
            <a:r>
              <a:rPr dirty="0"/>
              <a:t>。  </a:t>
            </a:r>
          </a:p>
          <a:p>
            <a:r>
              <a:rPr dirty="0"/>
              <a:t>&gt; 更重要的是，当一个新的AI产品需求出现在面前，你已经开始知道应该问什么：谁的问题、为什么需要AI、规则和模型怎样分工、MVP做什么、怎样评测、错了怎么办，以及这件事是否值得做。  </a:t>
            </a:r>
          </a:p>
          <a:p>
            <a:r>
              <a:rPr dirty="0"/>
              <a:t>&gt; </a:t>
            </a:r>
            <a:r>
              <a:rPr dirty="0" err="1"/>
              <a:t>这意味着我们已经从简单使用AI工具，开始走向AI产品判断</a:t>
            </a:r>
            <a:r>
              <a:rPr dirty="0"/>
              <a:t>。  </a:t>
            </a:r>
          </a:p>
          <a:p>
            <a:r>
              <a:rPr dirty="0"/>
              <a:t>&gt; </a:t>
            </a:r>
            <a:r>
              <a:rPr dirty="0" err="1"/>
              <a:t>但判断只有进入一个真实项目，经过产品设计、Demo、评测和迭代，才会变成可以被证明的能力。第二阶段要完成的，就是这一步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最后三句话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第一阶段，让你理解AI产品</a:t>
            </a:r>
            <a:r>
              <a:rPr dirty="0"/>
              <a:t>。  </a:t>
            </a:r>
          </a:p>
          <a:p>
            <a:r>
              <a:rPr dirty="0"/>
              <a:t>&gt; </a:t>
            </a:r>
            <a:r>
              <a:rPr dirty="0" err="1"/>
              <a:t>第二阶段，让你真正做出AI项目</a:t>
            </a:r>
            <a:r>
              <a:rPr dirty="0"/>
              <a:t>。  </a:t>
            </a:r>
          </a:p>
          <a:p>
            <a:r>
              <a:rPr dirty="0"/>
              <a:t>&gt; </a:t>
            </a:r>
            <a:r>
              <a:rPr dirty="0" err="1"/>
              <a:t>第三阶段，让你把项目转化成职业机会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可以补充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如果你目前的目标只是系统理解AI产品，第一阶段已经提供了一套相对完整的方法</a:t>
            </a:r>
            <a:r>
              <a:rPr dirty="0"/>
              <a:t>。  </a:t>
            </a:r>
          </a:p>
          <a:p>
            <a:r>
              <a:rPr dirty="0"/>
              <a:t>&gt; </a:t>
            </a:r>
            <a:r>
              <a:rPr dirty="0" err="1"/>
              <a:t>如果你希望进一步完成个人项目、形成项目证据，第二阶段会更适合你</a:t>
            </a:r>
            <a:r>
              <a:rPr dirty="0"/>
              <a:t>。  </a:t>
            </a:r>
          </a:p>
          <a:p>
            <a:r>
              <a:rPr dirty="0"/>
              <a:t>&gt; </a:t>
            </a:r>
            <a:r>
              <a:rPr dirty="0" err="1"/>
              <a:t>大家可以结合自己的时间、目标和投入意愿，判断是否继续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---</a:t>
            </a:r>
          </a:p>
          <a:p>
            <a:endParaRPr dirty="0"/>
          </a:p>
          <a:p>
            <a:r>
              <a:rPr dirty="0"/>
              <a:t>[</a:t>
            </a:r>
            <a:r>
              <a:rPr dirty="0" err="1"/>
              <a:t>讲义来源</a:t>
            </a:r>
            <a:r>
              <a:rPr dirty="0"/>
              <a:t>]</a:t>
            </a:r>
          </a:p>
          <a:p>
            <a:r>
              <a:rPr dirty="0"/>
              <a:t>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/第12课_第一阶段能力验收与职业行动_重做工作区/第12课_第一阶段总结_AI产品趋势与项目实战_完整讲义_v0.2.md</a:t>
            </a:r>
          </a:p>
          <a:p>
            <a:r>
              <a:rPr dirty="0" err="1"/>
              <a:t>理解为什么不等于真正做过；项目班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逐行解释两阶段的差异，尤其强调版本推进和证据链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&gt; 建议时长：30分钟</a:t>
            </a:r>
          </a:p>
          <a:p>
            <a:endParaRPr dirty="0"/>
          </a:p>
          <a:p>
            <a:r>
              <a:rPr dirty="0" err="1"/>
              <a:t>这一部分既承担第一阶段收尾，也承担第二阶段介绍。需要让学员看见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1. </a:t>
            </a:r>
            <a:r>
              <a:rPr dirty="0" err="1"/>
              <a:t>为什么听懂以后仍然需要项目</a:t>
            </a:r>
            <a:r>
              <a:rPr dirty="0"/>
              <a:t>；</a:t>
            </a:r>
          </a:p>
          <a:p>
            <a:r>
              <a:rPr dirty="0"/>
              <a:t>2. </a:t>
            </a:r>
            <a:r>
              <a:rPr dirty="0" err="1"/>
              <a:t>项目班和普通课程有什么不同</a:t>
            </a:r>
            <a:r>
              <a:rPr dirty="0"/>
              <a:t>；</a:t>
            </a:r>
          </a:p>
          <a:p>
            <a:r>
              <a:rPr dirty="0"/>
              <a:t>3. </a:t>
            </a:r>
            <a:r>
              <a:rPr dirty="0" err="1"/>
              <a:t>一个项目会怎样一步一步做出来</a:t>
            </a:r>
            <a:r>
              <a:rPr dirty="0"/>
              <a:t>；</a:t>
            </a:r>
          </a:p>
          <a:p>
            <a:r>
              <a:rPr dirty="0"/>
              <a:t>4. </a:t>
            </a:r>
            <a:r>
              <a:rPr dirty="0" err="1"/>
              <a:t>学员需要投入什么</a:t>
            </a:r>
            <a:r>
              <a:rPr dirty="0"/>
              <a:t>；</a:t>
            </a:r>
          </a:p>
          <a:p>
            <a:r>
              <a:rPr dirty="0"/>
              <a:t>5. </a:t>
            </a:r>
            <a:r>
              <a:rPr dirty="0" err="1"/>
              <a:t>最终能够带走什么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一、目前距离真实工作最缺什么</a:t>
            </a:r>
            <a:endParaRPr dirty="0"/>
          </a:p>
          <a:p>
            <a:endParaRPr dirty="0"/>
          </a:p>
          <a:p>
            <a:r>
              <a:rPr dirty="0" err="1"/>
              <a:t>让学员选择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A. </a:t>
            </a:r>
            <a:r>
              <a:rPr dirty="0" err="1"/>
              <a:t>还需要学习更多AI概念</a:t>
            </a:r>
            <a:r>
              <a:rPr dirty="0"/>
              <a:t>；</a:t>
            </a:r>
          </a:p>
          <a:p>
            <a:r>
              <a:rPr dirty="0"/>
              <a:t>- B. </a:t>
            </a:r>
            <a:r>
              <a:rPr dirty="0" err="1"/>
              <a:t>还需要掌握更多AI工具</a:t>
            </a:r>
            <a:r>
              <a:rPr dirty="0"/>
              <a:t>；</a:t>
            </a:r>
          </a:p>
          <a:p>
            <a:r>
              <a:rPr dirty="0"/>
              <a:t>- C. </a:t>
            </a:r>
            <a:r>
              <a:rPr dirty="0" err="1"/>
              <a:t>缺少一个自己完整做过的AI项目</a:t>
            </a:r>
            <a:r>
              <a:rPr dirty="0"/>
              <a:t>；</a:t>
            </a:r>
          </a:p>
          <a:p>
            <a:r>
              <a:rPr dirty="0"/>
              <a:t>- D. </a:t>
            </a:r>
            <a:r>
              <a:rPr dirty="0" err="1"/>
              <a:t>缺少简历、作品集和面试技巧</a:t>
            </a:r>
            <a:r>
              <a:rPr dirty="0"/>
              <a:t>；</a:t>
            </a:r>
          </a:p>
          <a:p>
            <a:r>
              <a:rPr dirty="0"/>
              <a:t>- E. </a:t>
            </a:r>
            <a:r>
              <a:rPr dirty="0" err="1"/>
              <a:t>还不确定职业方向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教师说明：不同学员可能答案不同，但对许多人来说，中间最关键的一步是C</a:t>
            </a:r>
            <a:r>
              <a:rPr dirty="0"/>
              <a:t>——</a:t>
            </a:r>
            <a:r>
              <a:rPr dirty="0" err="1"/>
              <a:t>还没有一个能够把前面能力连接起来的个人项目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展示三阶段关系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第一阶段解决“你懂不懂</a:t>
            </a:r>
            <a:r>
              <a:rPr dirty="0"/>
              <a:t>”  </a:t>
            </a:r>
          </a:p>
          <a:p>
            <a:r>
              <a:rPr dirty="0"/>
              <a:t>&gt; </a:t>
            </a:r>
            <a:r>
              <a:rPr dirty="0" err="1"/>
              <a:t>第二阶段解决“你做没做</a:t>
            </a:r>
            <a:r>
              <a:rPr dirty="0"/>
              <a:t>”  </a:t>
            </a:r>
          </a:p>
          <a:p>
            <a:r>
              <a:rPr dirty="0"/>
              <a:t>&gt; </a:t>
            </a:r>
            <a:r>
              <a:rPr dirty="0" err="1"/>
              <a:t>第三阶段解决“你讲不讲得清</a:t>
            </a:r>
            <a:r>
              <a:rPr dirty="0"/>
              <a:t>”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二、为什么听懂不等于做过</a:t>
            </a:r>
            <a:endParaRPr dirty="0"/>
          </a:p>
          <a:p>
            <a:endParaRPr dirty="0"/>
          </a:p>
          <a:p>
            <a:r>
              <a:rPr dirty="0" err="1"/>
              <a:t>真实项目需要连续完成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找到具体用户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验证真实问题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判断AI是否适合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准备数据和材料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设计AI、规则和人工分工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确定MVP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编写PRD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做原型和Demo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建立评测集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分析Bad</a:t>
            </a:r>
            <a:r>
              <a:rPr dirty="0"/>
              <a:t> Case；</a:t>
            </a:r>
          </a:p>
          <a:p>
            <a:r>
              <a:rPr dirty="0"/>
              <a:t>- </a:t>
            </a:r>
            <a:r>
              <a:rPr dirty="0" err="1"/>
              <a:t>比较模型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判断成本和ROI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根据测试结果修改方案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第一阶段中每项能力都接触过，但分散在不同案例。第二阶段要把它们集中到一个项目，并保持前后一致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三、第一阶段和项目班的区别</a:t>
            </a:r>
            <a:endParaRPr dirty="0"/>
          </a:p>
          <a:p>
            <a:endParaRPr dirty="0"/>
          </a:p>
          <a:p>
            <a:r>
              <a:rPr dirty="0"/>
              <a:t>| </a:t>
            </a:r>
            <a:r>
              <a:rPr dirty="0" err="1"/>
              <a:t>第一阶段系统课程</a:t>
            </a:r>
            <a:r>
              <a:rPr dirty="0"/>
              <a:t> | </a:t>
            </a:r>
            <a:r>
              <a:rPr dirty="0" err="1"/>
              <a:t>第二阶段项目班</a:t>
            </a:r>
            <a:r>
              <a:rPr dirty="0"/>
              <a:t> |</a:t>
            </a:r>
          </a:p>
          <a:p>
            <a:r>
              <a:rPr dirty="0"/>
              <a:t>|---|---|</a:t>
            </a:r>
          </a:p>
          <a:p>
            <a:r>
              <a:rPr dirty="0"/>
              <a:t>| </a:t>
            </a:r>
            <a:r>
              <a:rPr dirty="0" err="1"/>
              <a:t>以知识和方法为主</a:t>
            </a:r>
            <a:r>
              <a:rPr dirty="0"/>
              <a:t> | </a:t>
            </a:r>
            <a:r>
              <a:rPr dirty="0" err="1"/>
              <a:t>以项目交付为主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教师先解释概念</a:t>
            </a:r>
            <a:r>
              <a:rPr dirty="0"/>
              <a:t> | </a:t>
            </a:r>
            <a:r>
              <a:rPr dirty="0" err="1"/>
              <a:t>学员先面对不完整任务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案例用于理解知识</a:t>
            </a:r>
            <a:r>
              <a:rPr dirty="0"/>
              <a:t> | </a:t>
            </a:r>
            <a:r>
              <a:rPr dirty="0" err="1"/>
              <a:t>知识用于解决项目问题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练习相对独立</a:t>
            </a:r>
            <a:r>
              <a:rPr dirty="0"/>
              <a:t> | </a:t>
            </a:r>
            <a:r>
              <a:rPr dirty="0" err="1"/>
              <a:t>每次产出进入同一个项目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教师提供较多结构</a:t>
            </a:r>
            <a:r>
              <a:rPr dirty="0"/>
              <a:t> | </a:t>
            </a:r>
            <a:r>
              <a:rPr dirty="0" err="1"/>
              <a:t>学员需要做出自己的取舍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重点是是否理解</a:t>
            </a:r>
            <a:r>
              <a:rPr dirty="0"/>
              <a:t> | </a:t>
            </a:r>
            <a:r>
              <a:rPr dirty="0" err="1"/>
              <a:t>重点是是否有证据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看见参考答案</a:t>
            </a:r>
            <a:r>
              <a:rPr dirty="0"/>
              <a:t> | </a:t>
            </a:r>
            <a:r>
              <a:rPr dirty="0" err="1"/>
              <a:t>接受评审、修改和迭代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完成课堂练习</a:t>
            </a:r>
            <a:r>
              <a:rPr dirty="0"/>
              <a:t> | </a:t>
            </a:r>
            <a:r>
              <a:rPr dirty="0" err="1"/>
              <a:t>形成完整项目材料</a:t>
            </a:r>
            <a:r>
              <a:rPr dirty="0"/>
              <a:t> |</a:t>
            </a:r>
          </a:p>
          <a:p>
            <a:endParaRPr dirty="0"/>
          </a:p>
          <a:p>
            <a:r>
              <a:rPr dirty="0" err="1"/>
              <a:t>项目班不是把第一阶段再讲一次，而更接近一个项目工作室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四、公共项目＋个人方向项目</a:t>
            </a:r>
            <a:endParaRPr dirty="0"/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公共项目</a:t>
            </a:r>
            <a:endParaRPr dirty="0"/>
          </a:p>
          <a:p>
            <a:endParaRPr dirty="0"/>
          </a:p>
          <a:p>
            <a:r>
              <a:rPr dirty="0"/>
              <a:t>所有学员围绕一个共同项目走通AI产品从0到1：</a:t>
            </a:r>
          </a:p>
          <a:p>
            <a:endParaRPr dirty="0"/>
          </a:p>
          <a:p>
            <a:r>
              <a:rPr dirty="0"/>
              <a:t>1. </a:t>
            </a:r>
            <a:r>
              <a:rPr dirty="0" err="1"/>
              <a:t>教师发布业务任务和基础材料</a:t>
            </a:r>
            <a:r>
              <a:rPr dirty="0"/>
              <a:t>；</a:t>
            </a:r>
          </a:p>
          <a:p>
            <a:r>
              <a:rPr dirty="0"/>
              <a:t>2. </a:t>
            </a:r>
            <a:r>
              <a:rPr dirty="0" err="1"/>
              <a:t>学员先提交个人判断</a:t>
            </a:r>
            <a:r>
              <a:rPr dirty="0"/>
              <a:t>；</a:t>
            </a:r>
          </a:p>
          <a:p>
            <a:r>
              <a:rPr dirty="0"/>
              <a:t>3. </a:t>
            </a:r>
            <a:r>
              <a:rPr dirty="0" err="1"/>
              <a:t>课堂比较不同方案</a:t>
            </a:r>
            <a:r>
              <a:rPr dirty="0"/>
              <a:t>；</a:t>
            </a:r>
          </a:p>
          <a:p>
            <a:r>
              <a:rPr dirty="0"/>
              <a:t>4. </a:t>
            </a:r>
            <a:r>
              <a:rPr dirty="0" err="1"/>
              <a:t>教师讲评关键决策</a:t>
            </a:r>
            <a:r>
              <a:rPr dirty="0"/>
              <a:t>；</a:t>
            </a:r>
          </a:p>
          <a:p>
            <a:r>
              <a:rPr dirty="0"/>
              <a:t>5. </a:t>
            </a:r>
            <a:r>
              <a:rPr dirty="0" err="1"/>
              <a:t>学员修改个人版本</a:t>
            </a:r>
            <a:r>
              <a:rPr dirty="0"/>
              <a:t>；</a:t>
            </a:r>
          </a:p>
          <a:p>
            <a:r>
              <a:rPr dirty="0"/>
              <a:t>6. </a:t>
            </a:r>
            <a:r>
              <a:rPr dirty="0" err="1"/>
              <a:t>继续进入下一阶段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公共项目用于统一项目标准，降低第一次独立选题的困难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个人方向项目</a:t>
            </a:r>
            <a:endParaRPr dirty="0"/>
          </a:p>
          <a:p>
            <a:endParaRPr dirty="0"/>
          </a:p>
          <a:p>
            <a:r>
              <a:rPr dirty="0" err="1"/>
              <a:t>学员结合过去行业、工作场景、可访问用户、可获得数据、目标岗位和希望证明的能力选择项目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可能方向包括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企业知识库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销售辅助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内容生产与审核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用户反馈分析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会议任务跟进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商品决策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招聘或培训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特定行业AI应用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个人项目用于形成与背景和求职方向有关的差异化证据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五、小组形式怎样工作</a:t>
            </a:r>
            <a:endParaRPr dirty="0"/>
          </a:p>
          <a:p>
            <a:endParaRPr dirty="0"/>
          </a:p>
          <a:p>
            <a:r>
              <a:rPr dirty="0" err="1"/>
              <a:t>小组不是多人共同交一份作业。每个人对自己的项目负责，小组用于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质疑问题是否真实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检查MVP是否过大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体验彼此Demo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交换测试用例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帮助发现Bad</a:t>
            </a:r>
            <a:r>
              <a:rPr dirty="0"/>
              <a:t> Case；</a:t>
            </a:r>
          </a:p>
          <a:p>
            <a:r>
              <a:rPr dirty="0"/>
              <a:t>- </a:t>
            </a:r>
            <a:r>
              <a:rPr dirty="0" err="1"/>
              <a:t>模拟产品评审和用户反馈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比较不同项目的处理方式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这样学员重点完成自己的项目，同时可以通过同学接触更多Workflow、RAG、Agent、To</a:t>
            </a:r>
            <a:r>
              <a:rPr dirty="0"/>
              <a:t> </a:t>
            </a:r>
            <a:r>
              <a:rPr dirty="0" err="1"/>
              <a:t>B、To</a:t>
            </a:r>
            <a:r>
              <a:rPr dirty="0"/>
              <a:t> </a:t>
            </a:r>
            <a:r>
              <a:rPr dirty="0" err="1"/>
              <a:t>C和行业案例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六、每次项目课的六步节奏</a:t>
            </a:r>
            <a:endParaRPr dirty="0"/>
          </a:p>
          <a:p>
            <a:endParaRPr dirty="0"/>
          </a:p>
          <a:p>
            <a:r>
              <a:rPr dirty="0"/>
              <a:t>1. **</a:t>
            </a:r>
            <a:r>
              <a:rPr dirty="0" err="1"/>
              <a:t>项目任务发布</a:t>
            </a:r>
            <a:r>
              <a:rPr dirty="0"/>
              <a:t>**：</a:t>
            </a:r>
            <a:r>
              <a:rPr dirty="0" err="1"/>
              <a:t>教师明确本阶段需要解决的问题</a:t>
            </a:r>
            <a:r>
              <a:rPr dirty="0"/>
              <a:t>；</a:t>
            </a:r>
          </a:p>
          <a:p>
            <a:r>
              <a:rPr dirty="0"/>
              <a:t>2. **</a:t>
            </a:r>
            <a:r>
              <a:rPr dirty="0" err="1"/>
              <a:t>学员完成初稿</a:t>
            </a:r>
            <a:r>
              <a:rPr dirty="0"/>
              <a:t>**：先形成个人V0.1，不等待标准答案；</a:t>
            </a:r>
          </a:p>
          <a:p>
            <a:r>
              <a:rPr dirty="0"/>
              <a:t>3. **</a:t>
            </a:r>
            <a:r>
              <a:rPr dirty="0" err="1"/>
              <a:t>展示代表方案</a:t>
            </a:r>
            <a:r>
              <a:rPr dirty="0"/>
              <a:t>**：</a:t>
            </a:r>
            <a:r>
              <a:rPr dirty="0" err="1"/>
              <a:t>选择范围过大、过于保守、技术堆叠或证据充分的典型作业</a:t>
            </a:r>
            <a:r>
              <a:rPr dirty="0"/>
              <a:t>；</a:t>
            </a:r>
          </a:p>
          <a:p>
            <a:r>
              <a:rPr dirty="0"/>
              <a:t>4. **</a:t>
            </a:r>
            <a:r>
              <a:rPr dirty="0" err="1"/>
              <a:t>同学互评</a:t>
            </a:r>
            <a:r>
              <a:rPr dirty="0"/>
              <a:t>**：</a:t>
            </a:r>
            <a:r>
              <a:rPr dirty="0" err="1"/>
              <a:t>围绕问题、MVP、数据、评测和风险提出问题</a:t>
            </a:r>
            <a:r>
              <a:rPr dirty="0"/>
              <a:t>；</a:t>
            </a:r>
          </a:p>
          <a:p>
            <a:r>
              <a:rPr dirty="0"/>
              <a:t>5. **</a:t>
            </a:r>
            <a:r>
              <a:rPr dirty="0" err="1"/>
              <a:t>教师点评</a:t>
            </a:r>
            <a:r>
              <a:rPr dirty="0"/>
              <a:t>**：</a:t>
            </a:r>
            <a:r>
              <a:rPr dirty="0" err="1"/>
              <a:t>指出缺少证据、范围不合理、自动化风险和指标问题</a:t>
            </a:r>
            <a:r>
              <a:rPr dirty="0"/>
              <a:t>；</a:t>
            </a:r>
          </a:p>
          <a:p>
            <a:r>
              <a:rPr dirty="0"/>
              <a:t>6. **</a:t>
            </a:r>
            <a:r>
              <a:rPr dirty="0" err="1"/>
              <a:t>修改迭代</a:t>
            </a:r>
            <a:r>
              <a:rPr dirty="0"/>
              <a:t>**：保留V0.1、V0.2、V1.0以及修改原因。</a:t>
            </a:r>
          </a:p>
          <a:p>
            <a:endParaRPr dirty="0"/>
          </a:p>
          <a:p>
            <a:r>
              <a:rPr dirty="0" err="1"/>
              <a:t>项目班的价值不是只得到最终答案，而是看见项目怎样被迭代出来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七、一个项目怎样成长</a:t>
            </a:r>
            <a:endParaRPr dirty="0"/>
          </a:p>
          <a:p>
            <a:endParaRPr dirty="0"/>
          </a:p>
          <a:p>
            <a:r>
              <a:rPr dirty="0" err="1"/>
              <a:t>以“企业AI知识库”为例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初始想法</a:t>
            </a:r>
            <a:endParaRPr dirty="0"/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做一个企业AI知识库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此时缺少用户、问题、数据、评测和权限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问题验证后</a:t>
            </a:r>
            <a:endParaRPr dirty="0"/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面向售前顾问的产品资料检索与回答助手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场景是售前顾问准备客户方案时，需要从分散的产品手册、报价说明和历史案例中查找信息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MVP设计后</a:t>
            </a:r>
            <a:endParaRPr dirty="0"/>
          </a:p>
          <a:p>
            <a:endParaRPr dirty="0"/>
          </a:p>
          <a:p>
            <a:r>
              <a:rPr dirty="0" err="1"/>
              <a:t>第一期做：资料上传、检索、候选答案、来源展示、无答案兜底和用户反馈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第一期不做：自动生成完整销售方案、自动发送客户、自动承诺价格和连接所有企业系统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Demo以后</a:t>
            </a:r>
            <a:endParaRPr dirty="0"/>
          </a:p>
          <a:p>
            <a:endParaRPr dirty="0"/>
          </a:p>
          <a:p>
            <a:r>
              <a:rPr dirty="0" err="1"/>
              <a:t>形成问答、来源、无答案、权限和反馈等可运行状态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评测以后</a:t>
            </a:r>
            <a:endParaRPr dirty="0"/>
          </a:p>
          <a:p>
            <a:endParaRPr dirty="0"/>
          </a:p>
          <a:p>
            <a:r>
              <a:rPr dirty="0" err="1"/>
              <a:t>建立真实问题、标准答案、来源文档、检索命中率、答案正确性和无依据回答率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Bad </a:t>
            </a:r>
            <a:r>
              <a:rPr dirty="0" err="1"/>
              <a:t>Case迭代以后</a:t>
            </a:r>
            <a:endParaRPr dirty="0"/>
          </a:p>
          <a:p>
            <a:endParaRPr dirty="0"/>
          </a:p>
          <a:p>
            <a:r>
              <a:rPr dirty="0"/>
              <a:t>发现型号混淆、旧价格资料误检索、表格切分差和多产品对比不稳定，进而修改文档版本、Metadata过滤、表格处理、问题改写和无答案兜底。</a:t>
            </a:r>
          </a:p>
          <a:p>
            <a:endParaRPr dirty="0"/>
          </a:p>
          <a:p>
            <a:r>
              <a:rPr dirty="0" err="1"/>
              <a:t>最终学员能够讲清：为什么选题、为什么需要RAG、MVP如何取舍、评测集从哪里来、发现什么问题、怎样修改，以及项目仍有什么限制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教师总结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项目班不是把“企业知识库”五个字扩写成一份长PRD，而是把它一步一步变成有问题、有产品、有测试、有迭代的完整项目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八、项目推进的七个阶段</a:t>
            </a:r>
            <a:endParaRPr dirty="0"/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阶段一：选题与问题验证</a:t>
            </a:r>
            <a:endParaRPr dirty="0"/>
          </a:p>
          <a:p>
            <a:endParaRPr dirty="0"/>
          </a:p>
          <a:p>
            <a:r>
              <a:rPr dirty="0" err="1"/>
              <a:t>完成用户、场景、当前流程、问题证据、数据来源和继续条件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阶段二：AI介入与MVP</a:t>
            </a:r>
            <a:endParaRPr dirty="0"/>
          </a:p>
          <a:p>
            <a:endParaRPr dirty="0"/>
          </a:p>
          <a:p>
            <a:r>
              <a:rPr dirty="0" err="1"/>
              <a:t>完成人机分工、技术选择、MVP范围和初始评测计划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阶段三：正式PRD与原型</a:t>
            </a:r>
            <a:endParaRPr dirty="0"/>
          </a:p>
          <a:p>
            <a:endParaRPr dirty="0"/>
          </a:p>
          <a:p>
            <a:r>
              <a:rPr dirty="0" err="1"/>
              <a:t>完成PRD、产品流程、页面、输入输出、异常、确认和验收标准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阶段四：可运行Demo</a:t>
            </a:r>
            <a:endParaRPr dirty="0"/>
          </a:p>
          <a:p>
            <a:endParaRPr dirty="0"/>
          </a:p>
          <a:p>
            <a:r>
              <a:rPr dirty="0" err="1"/>
              <a:t>覆盖核心任务、正常输入、AI结果、错误状态和用户确认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阶段五：评测与Bad</a:t>
            </a:r>
            <a:r>
              <a:rPr dirty="0"/>
              <a:t> Case</a:t>
            </a:r>
          </a:p>
          <a:p>
            <a:endParaRPr dirty="0"/>
          </a:p>
          <a:p>
            <a:r>
              <a:rPr dirty="0" err="1"/>
              <a:t>完成评测集、标准答案、指标、模型测试、Bad</a:t>
            </a:r>
            <a:r>
              <a:rPr dirty="0"/>
              <a:t> </a:t>
            </a:r>
            <a:r>
              <a:rPr dirty="0" err="1"/>
              <a:t>Case和高风险错误分析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阶段六：迭代、成本与价值</a:t>
            </a:r>
            <a:endParaRPr dirty="0"/>
          </a:p>
          <a:p>
            <a:endParaRPr dirty="0"/>
          </a:p>
          <a:p>
            <a:r>
              <a:rPr dirty="0" err="1"/>
              <a:t>完成方案修改、回归评测、模型选择、使用成本、ROI和项目局限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阶段七：项目展示与复盘</a:t>
            </a:r>
            <a:endParaRPr dirty="0"/>
          </a:p>
          <a:p>
            <a:endParaRPr dirty="0"/>
          </a:p>
          <a:p>
            <a:r>
              <a:rPr dirty="0" err="1"/>
              <a:t>完成项目展示、证据链、个人贡献和项目讲述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九、最终交付物</a:t>
            </a:r>
            <a:endParaRPr dirty="0"/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问题与证据</a:t>
            </a:r>
            <a:endParaRPr dirty="0"/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用户和场景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访谈或业务材料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当前流程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问题和价值判断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产品方案</a:t>
            </a:r>
            <a:endParaRPr dirty="0"/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AI产品决策图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产品流程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人机协作</a:t>
            </a:r>
            <a:r>
              <a:rPr dirty="0"/>
              <a:t>；</a:t>
            </a:r>
          </a:p>
          <a:p>
            <a:r>
              <a:rPr dirty="0"/>
              <a:t>- MVP；</a:t>
            </a:r>
          </a:p>
          <a:p>
            <a:r>
              <a:rPr dirty="0"/>
              <a:t>- </a:t>
            </a:r>
            <a:r>
              <a:rPr dirty="0" err="1"/>
              <a:t>正式PRD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产品实现</a:t>
            </a:r>
            <a:endParaRPr dirty="0"/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原型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可运行Demo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正常和异常状态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用户确认流程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AI效果</a:t>
            </a:r>
            <a:endParaRPr dirty="0"/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评测集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评测报告</a:t>
            </a:r>
            <a:r>
              <a:rPr dirty="0"/>
              <a:t>；</a:t>
            </a:r>
          </a:p>
          <a:p>
            <a:r>
              <a:rPr dirty="0"/>
              <a:t>- Bad Case；</a:t>
            </a:r>
          </a:p>
          <a:p>
            <a:r>
              <a:rPr dirty="0"/>
              <a:t>- </a:t>
            </a:r>
            <a:r>
              <a:rPr dirty="0" err="1"/>
              <a:t>模型比较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迭代前后变化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落地判断</a:t>
            </a:r>
            <a:endParaRPr dirty="0"/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模型方案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部署和安全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成本</a:t>
            </a:r>
            <a:r>
              <a:rPr dirty="0"/>
              <a:t>；</a:t>
            </a:r>
          </a:p>
          <a:p>
            <a:r>
              <a:rPr dirty="0"/>
              <a:t>- ROI；</a:t>
            </a:r>
          </a:p>
          <a:p>
            <a:r>
              <a:rPr dirty="0"/>
              <a:t>- </a:t>
            </a:r>
            <a:r>
              <a:rPr dirty="0" err="1"/>
              <a:t>风险和局限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对外展示</a:t>
            </a:r>
            <a:endParaRPr dirty="0"/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作品集项目页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项目展示材料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项目讲述稿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个人贡献说明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第二阶段重点是把项目做完整；第三阶段再结合具体JD打磨简历、作品集和面试表达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十、项目班不替学员批量生成项目材料</a:t>
            </a:r>
            <a:endParaRPr dirty="0"/>
          </a:p>
          <a:p>
            <a:endParaRPr dirty="0"/>
          </a:p>
          <a:p>
            <a:r>
              <a:rPr dirty="0" err="1"/>
              <a:t>如果只是把选题交给AI，让AI生成PRD、流程图、原型和总结，这些材料很快会失去区分度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项目班真正训练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为什么选择问题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使用什么证据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方案经过什么取舍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数据从哪里来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怎样测试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发现什么错误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为什么修改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学员本人完成什么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哪些结论仍然是假设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核心观点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AI可以帮助生产材料，但不能替学员完成项目责任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十一、适合项目班的学员</a:t>
            </a:r>
            <a:endParaRPr dirty="0"/>
          </a:p>
          <a:p>
            <a:endParaRPr dirty="0"/>
          </a:p>
          <a:p>
            <a:r>
              <a:rPr dirty="0" err="1"/>
              <a:t>适合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已经理解AI产品基础概念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学过Prompt、Workflow、RAG或Agent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但缺少完整项目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希望转型AI产品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想把原行业场景改造成AI产品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自己做项目容易停在想法或Demo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需要外部节奏、点评和多轮修改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愿意投入时间完成作业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暂时不适合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只想听课，不准备完成项目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希望老师直接提供可以投递的成品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不愿意接受方案被修改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希望把课程项目包装成企业上线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没有时间做任何课后产出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只想收集更多工具和资料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十二、学员需要投入什么</a:t>
            </a:r>
            <a:endParaRPr dirty="0"/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完成每阶段初稿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接受小组和教师评审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根据反馈修改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收集测试材料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建立评测集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运行真实测试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记录Bad</a:t>
            </a:r>
            <a:r>
              <a:rPr dirty="0"/>
              <a:t> Case；</a:t>
            </a:r>
          </a:p>
          <a:p>
            <a:r>
              <a:rPr dirty="0"/>
              <a:t>- </a:t>
            </a:r>
            <a:r>
              <a:rPr dirty="0" err="1"/>
              <a:t>保存项目版本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清楚说明个人贡献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对项目最终质量负责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项目班不是买完以后等待老师发项目，而是在教师、同学和里程碑支持下真正完成自己的项目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十三、项目班的三个具体价值</a:t>
            </a:r>
            <a:endParaRPr dirty="0"/>
          </a:p>
          <a:p>
            <a:endParaRPr dirty="0"/>
          </a:p>
          <a:p>
            <a:r>
              <a:rPr dirty="0"/>
              <a:t>1. **</a:t>
            </a:r>
            <a:r>
              <a:rPr dirty="0" err="1"/>
              <a:t>作业会被真正评审</a:t>
            </a:r>
            <a:r>
              <a:rPr dirty="0"/>
              <a:t>**：</a:t>
            </a:r>
            <a:r>
              <a:rPr dirty="0" err="1"/>
              <a:t>不仅检查是否提交，还判断问题、MVP、评测和证据是否成立</a:t>
            </a:r>
            <a:r>
              <a:rPr dirty="0"/>
              <a:t>；</a:t>
            </a:r>
          </a:p>
          <a:p>
            <a:r>
              <a:rPr dirty="0"/>
              <a:t>2. **</a:t>
            </a:r>
            <a:r>
              <a:rPr dirty="0" err="1"/>
              <a:t>能看见项目版本变化</a:t>
            </a:r>
            <a:r>
              <a:rPr dirty="0"/>
              <a:t>**：</a:t>
            </a:r>
            <a:r>
              <a:rPr dirty="0" err="1"/>
              <a:t>从模糊想法到PRD、Demo、评测和迭代</a:t>
            </a:r>
            <a:r>
              <a:rPr dirty="0"/>
              <a:t>；</a:t>
            </a:r>
          </a:p>
          <a:p>
            <a:r>
              <a:rPr dirty="0"/>
              <a:t>3. **</a:t>
            </a:r>
            <a:r>
              <a:rPr dirty="0" err="1"/>
              <a:t>接触多个行业案例</a:t>
            </a:r>
            <a:r>
              <a:rPr dirty="0"/>
              <a:t>**：</a:t>
            </a:r>
            <a:r>
              <a:rPr dirty="0" err="1"/>
              <a:t>通过同学项目看到不同用户、产品形态、Bad</a:t>
            </a:r>
            <a:r>
              <a:rPr dirty="0"/>
              <a:t> </a:t>
            </a:r>
            <a:r>
              <a:rPr dirty="0" err="1"/>
              <a:t>Case、模型和成本方案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十四、整节课最终收尾</a:t>
            </a:r>
            <a:endParaRPr dirty="0"/>
          </a:p>
          <a:p>
            <a:endParaRPr dirty="0"/>
          </a:p>
          <a:p>
            <a:r>
              <a:rPr dirty="0" err="1"/>
              <a:t>教师可以这样说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第一阶段结束以后，我不希望大家只记得自己学过Prompt、RAG、Agent、PRD和评测</a:t>
            </a:r>
            <a:r>
              <a:rPr dirty="0"/>
              <a:t>。  </a:t>
            </a:r>
          </a:p>
          <a:p>
            <a:r>
              <a:rPr dirty="0"/>
              <a:t>&gt; 更重要的是，当一个新的AI产品需求出现在面前，你已经开始知道应该问什么：谁的问题、为什么需要AI、规则和模型怎样分工、MVP做什么、怎样评测、错了怎么办，以及这件事是否值得做。  </a:t>
            </a:r>
          </a:p>
          <a:p>
            <a:r>
              <a:rPr dirty="0"/>
              <a:t>&gt; </a:t>
            </a:r>
            <a:r>
              <a:rPr dirty="0" err="1"/>
              <a:t>这意味着我们已经从简单使用AI工具，开始走向AI产品判断</a:t>
            </a:r>
            <a:r>
              <a:rPr dirty="0"/>
              <a:t>。  </a:t>
            </a:r>
          </a:p>
          <a:p>
            <a:r>
              <a:rPr dirty="0"/>
              <a:t>&gt; </a:t>
            </a:r>
            <a:r>
              <a:rPr dirty="0" err="1"/>
              <a:t>但判断只有进入一个真实项目，经过产品设计、Demo、评测和迭代，才会变成可以被证明的能力。第二阶段要完成的，就是这一步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最后三句话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第一阶段，让你理解AI产品</a:t>
            </a:r>
            <a:r>
              <a:rPr dirty="0"/>
              <a:t>。  </a:t>
            </a:r>
          </a:p>
          <a:p>
            <a:r>
              <a:rPr dirty="0"/>
              <a:t>&gt; </a:t>
            </a:r>
            <a:r>
              <a:rPr dirty="0" err="1"/>
              <a:t>第二阶段，让你真正做出AI项目</a:t>
            </a:r>
            <a:r>
              <a:rPr dirty="0"/>
              <a:t>。  </a:t>
            </a:r>
          </a:p>
          <a:p>
            <a:r>
              <a:rPr dirty="0"/>
              <a:t>&gt; </a:t>
            </a:r>
            <a:r>
              <a:rPr dirty="0" err="1"/>
              <a:t>第三阶段，让你把项目转化成职业机会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可以补充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如果你目前的目标只是系统理解AI产品，第一阶段已经提供了一套相对完整的方法</a:t>
            </a:r>
            <a:r>
              <a:rPr dirty="0"/>
              <a:t>。  </a:t>
            </a:r>
          </a:p>
          <a:p>
            <a:r>
              <a:rPr dirty="0"/>
              <a:t>&gt; </a:t>
            </a:r>
            <a:r>
              <a:rPr dirty="0" err="1"/>
              <a:t>如果你希望进一步完成个人项目、形成项目证据，第二阶段会更适合你</a:t>
            </a:r>
            <a:r>
              <a:rPr dirty="0"/>
              <a:t>。  </a:t>
            </a:r>
          </a:p>
          <a:p>
            <a:r>
              <a:rPr dirty="0"/>
              <a:t>&gt; </a:t>
            </a:r>
            <a:r>
              <a:rPr dirty="0" err="1"/>
              <a:t>大家可以结合自己的时间、目标和投入意愿，判断是否继续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---</a:t>
            </a:r>
          </a:p>
          <a:p>
            <a:endParaRPr dirty="0"/>
          </a:p>
          <a:p>
            <a:r>
              <a:rPr dirty="0"/>
              <a:t>&gt; 建议时长：30分钟</a:t>
            </a:r>
          </a:p>
          <a:p>
            <a:endParaRPr dirty="0"/>
          </a:p>
          <a:p>
            <a:r>
              <a:rPr dirty="0" err="1"/>
              <a:t>这一部分既承担第一阶段收尾，也承担第二阶段介绍。需要让学员看见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1. </a:t>
            </a:r>
            <a:r>
              <a:rPr dirty="0" err="1"/>
              <a:t>为什么听懂以后仍然需要项目</a:t>
            </a:r>
            <a:r>
              <a:rPr dirty="0"/>
              <a:t>；</a:t>
            </a:r>
          </a:p>
          <a:p>
            <a:r>
              <a:rPr dirty="0"/>
              <a:t>2. </a:t>
            </a:r>
            <a:r>
              <a:rPr dirty="0" err="1"/>
              <a:t>项目班和普通课程有什么不同</a:t>
            </a:r>
            <a:r>
              <a:rPr dirty="0"/>
              <a:t>；</a:t>
            </a:r>
          </a:p>
          <a:p>
            <a:r>
              <a:rPr dirty="0"/>
              <a:t>3. </a:t>
            </a:r>
            <a:r>
              <a:rPr dirty="0" err="1"/>
              <a:t>一个项目会怎样一步一步做出来</a:t>
            </a:r>
            <a:r>
              <a:rPr dirty="0"/>
              <a:t>；</a:t>
            </a:r>
          </a:p>
          <a:p>
            <a:r>
              <a:rPr dirty="0"/>
              <a:t>4. </a:t>
            </a:r>
            <a:r>
              <a:rPr dirty="0" err="1"/>
              <a:t>学员需要投入什么</a:t>
            </a:r>
            <a:r>
              <a:rPr dirty="0"/>
              <a:t>；</a:t>
            </a:r>
          </a:p>
          <a:p>
            <a:r>
              <a:rPr dirty="0"/>
              <a:t>5. </a:t>
            </a:r>
            <a:r>
              <a:rPr dirty="0" err="1"/>
              <a:t>最终能够带走什么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一、目前距离真实工作最缺什么</a:t>
            </a:r>
            <a:endParaRPr dirty="0"/>
          </a:p>
          <a:p>
            <a:endParaRPr dirty="0"/>
          </a:p>
          <a:p>
            <a:r>
              <a:rPr dirty="0" err="1"/>
              <a:t>让学员选择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A. </a:t>
            </a:r>
            <a:r>
              <a:rPr dirty="0" err="1"/>
              <a:t>还需要学习更多AI概念</a:t>
            </a:r>
            <a:r>
              <a:rPr dirty="0"/>
              <a:t>；</a:t>
            </a:r>
          </a:p>
          <a:p>
            <a:r>
              <a:rPr dirty="0"/>
              <a:t>- B. </a:t>
            </a:r>
            <a:r>
              <a:rPr dirty="0" err="1"/>
              <a:t>还需要掌握更多AI工具</a:t>
            </a:r>
            <a:r>
              <a:rPr dirty="0"/>
              <a:t>；</a:t>
            </a:r>
          </a:p>
          <a:p>
            <a:r>
              <a:rPr dirty="0"/>
              <a:t>- C. </a:t>
            </a:r>
            <a:r>
              <a:rPr dirty="0" err="1"/>
              <a:t>缺少一个自己完整做过的AI项目</a:t>
            </a:r>
            <a:r>
              <a:rPr dirty="0"/>
              <a:t>；</a:t>
            </a:r>
          </a:p>
          <a:p>
            <a:r>
              <a:rPr dirty="0"/>
              <a:t>- D. </a:t>
            </a:r>
            <a:r>
              <a:rPr dirty="0" err="1"/>
              <a:t>缺少简历、作品集和面试技巧</a:t>
            </a:r>
            <a:r>
              <a:rPr dirty="0"/>
              <a:t>；</a:t>
            </a:r>
          </a:p>
          <a:p>
            <a:r>
              <a:rPr dirty="0"/>
              <a:t>- E. </a:t>
            </a:r>
            <a:r>
              <a:rPr dirty="0" err="1"/>
              <a:t>还不确定职业方向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教师说明：不同学员可能答案不同，但对许多人来说，中间最关键的一步是C</a:t>
            </a:r>
            <a:r>
              <a:rPr dirty="0"/>
              <a:t>——</a:t>
            </a:r>
            <a:r>
              <a:rPr dirty="0" err="1"/>
              <a:t>还没有一个能够把前面能力连接起来的个人项目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展示三阶段关系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第一阶段解决“你懂不懂</a:t>
            </a:r>
            <a:r>
              <a:rPr dirty="0"/>
              <a:t>”  </a:t>
            </a:r>
          </a:p>
          <a:p>
            <a:r>
              <a:rPr dirty="0"/>
              <a:t>&gt; </a:t>
            </a:r>
            <a:r>
              <a:rPr dirty="0" err="1"/>
              <a:t>第二阶段解决“你做没做</a:t>
            </a:r>
            <a:r>
              <a:rPr dirty="0"/>
              <a:t>”  </a:t>
            </a:r>
          </a:p>
          <a:p>
            <a:r>
              <a:rPr dirty="0"/>
              <a:t>&gt; </a:t>
            </a:r>
            <a:r>
              <a:rPr dirty="0" err="1"/>
              <a:t>第三阶段解决“你讲不讲得清</a:t>
            </a:r>
            <a:r>
              <a:rPr dirty="0"/>
              <a:t>”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二、为什么听懂不等于做过</a:t>
            </a:r>
            <a:endParaRPr dirty="0"/>
          </a:p>
          <a:p>
            <a:endParaRPr dirty="0"/>
          </a:p>
          <a:p>
            <a:r>
              <a:rPr dirty="0" err="1"/>
              <a:t>真实项目需要连续完成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找到具体用户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验证真实问题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判断AI是否适合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准备数据和材料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设计AI、规则和人工分工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确定MVP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编写PRD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做原型和Demo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建立评测集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分析Bad</a:t>
            </a:r>
            <a:r>
              <a:rPr dirty="0"/>
              <a:t> Case；</a:t>
            </a:r>
          </a:p>
          <a:p>
            <a:r>
              <a:rPr dirty="0"/>
              <a:t>- </a:t>
            </a:r>
            <a:r>
              <a:rPr dirty="0" err="1"/>
              <a:t>比较模型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判断成本和ROI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根据测试结果修改方案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第一阶段中每项能力都接触过，但分散在不同案例。第二阶段要把它们集中到一个项目，并保持前后一致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三、第一阶段和项目班的区别</a:t>
            </a:r>
            <a:endParaRPr dirty="0"/>
          </a:p>
          <a:p>
            <a:endParaRPr dirty="0"/>
          </a:p>
          <a:p>
            <a:r>
              <a:rPr dirty="0"/>
              <a:t>| </a:t>
            </a:r>
            <a:r>
              <a:rPr dirty="0" err="1"/>
              <a:t>第一阶段系统课程</a:t>
            </a:r>
            <a:r>
              <a:rPr dirty="0"/>
              <a:t> | </a:t>
            </a:r>
            <a:r>
              <a:rPr dirty="0" err="1"/>
              <a:t>第二阶段项目班</a:t>
            </a:r>
            <a:r>
              <a:rPr dirty="0"/>
              <a:t> |</a:t>
            </a:r>
          </a:p>
          <a:p>
            <a:r>
              <a:rPr dirty="0"/>
              <a:t>|---|---|</a:t>
            </a:r>
          </a:p>
          <a:p>
            <a:r>
              <a:rPr dirty="0"/>
              <a:t>| </a:t>
            </a:r>
            <a:r>
              <a:rPr dirty="0" err="1"/>
              <a:t>以知识和方法为主</a:t>
            </a:r>
            <a:r>
              <a:rPr dirty="0"/>
              <a:t> | </a:t>
            </a:r>
            <a:r>
              <a:rPr dirty="0" err="1"/>
              <a:t>以项目交付为主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教师先解释概念</a:t>
            </a:r>
            <a:r>
              <a:rPr dirty="0"/>
              <a:t> | </a:t>
            </a:r>
            <a:r>
              <a:rPr dirty="0" err="1"/>
              <a:t>学员先面对不完整任务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案例用于理解知识</a:t>
            </a:r>
            <a:r>
              <a:rPr dirty="0"/>
              <a:t> | </a:t>
            </a:r>
            <a:r>
              <a:rPr dirty="0" err="1"/>
              <a:t>知识用于解决项目问题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练习相对独立</a:t>
            </a:r>
            <a:r>
              <a:rPr dirty="0"/>
              <a:t> | </a:t>
            </a:r>
            <a:r>
              <a:rPr dirty="0" err="1"/>
              <a:t>每次产出进入同一个项目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教师提供较多结构</a:t>
            </a:r>
            <a:r>
              <a:rPr dirty="0"/>
              <a:t> | </a:t>
            </a:r>
            <a:r>
              <a:rPr dirty="0" err="1"/>
              <a:t>学员需要做出自己的取舍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重点是是否理解</a:t>
            </a:r>
            <a:r>
              <a:rPr dirty="0"/>
              <a:t> | </a:t>
            </a:r>
            <a:r>
              <a:rPr dirty="0" err="1"/>
              <a:t>重点是是否有证据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看见参考答案</a:t>
            </a:r>
            <a:r>
              <a:rPr dirty="0"/>
              <a:t> | </a:t>
            </a:r>
            <a:r>
              <a:rPr dirty="0" err="1"/>
              <a:t>接受评审、修改和迭代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完成课堂练习</a:t>
            </a:r>
            <a:r>
              <a:rPr dirty="0"/>
              <a:t> | </a:t>
            </a:r>
            <a:r>
              <a:rPr dirty="0" err="1"/>
              <a:t>形成完整项目材料</a:t>
            </a:r>
            <a:r>
              <a:rPr dirty="0"/>
              <a:t> |</a:t>
            </a:r>
          </a:p>
          <a:p>
            <a:endParaRPr dirty="0"/>
          </a:p>
          <a:p>
            <a:r>
              <a:rPr dirty="0" err="1"/>
              <a:t>项目班不是把第一阶段再讲一次，而更接近一个项目工作室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四、公共项目＋个人方向项目</a:t>
            </a:r>
            <a:endParaRPr dirty="0"/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公共项目</a:t>
            </a:r>
            <a:endParaRPr dirty="0"/>
          </a:p>
          <a:p>
            <a:endParaRPr dirty="0"/>
          </a:p>
          <a:p>
            <a:r>
              <a:rPr dirty="0"/>
              <a:t>所有学员围绕一个共同项目走通AI产品从0到1：</a:t>
            </a:r>
          </a:p>
          <a:p>
            <a:endParaRPr dirty="0"/>
          </a:p>
          <a:p>
            <a:r>
              <a:rPr dirty="0"/>
              <a:t>1. </a:t>
            </a:r>
            <a:r>
              <a:rPr dirty="0" err="1"/>
              <a:t>教师发布业务任务和基础材料</a:t>
            </a:r>
            <a:r>
              <a:rPr dirty="0"/>
              <a:t>；</a:t>
            </a:r>
          </a:p>
          <a:p>
            <a:r>
              <a:rPr dirty="0"/>
              <a:t>2. </a:t>
            </a:r>
            <a:r>
              <a:rPr dirty="0" err="1"/>
              <a:t>学员先提交个人判断</a:t>
            </a:r>
            <a:r>
              <a:rPr dirty="0"/>
              <a:t>；</a:t>
            </a:r>
          </a:p>
          <a:p>
            <a:r>
              <a:rPr dirty="0"/>
              <a:t>3. </a:t>
            </a:r>
            <a:r>
              <a:rPr dirty="0" err="1"/>
              <a:t>课堂比较不同方案</a:t>
            </a:r>
            <a:r>
              <a:rPr dirty="0"/>
              <a:t>；</a:t>
            </a:r>
          </a:p>
          <a:p>
            <a:r>
              <a:rPr dirty="0"/>
              <a:t>4. </a:t>
            </a:r>
            <a:r>
              <a:rPr dirty="0" err="1"/>
              <a:t>教师讲评关键决策</a:t>
            </a:r>
            <a:r>
              <a:rPr dirty="0"/>
              <a:t>；</a:t>
            </a:r>
          </a:p>
          <a:p>
            <a:r>
              <a:rPr dirty="0"/>
              <a:t>5. </a:t>
            </a:r>
            <a:r>
              <a:rPr dirty="0" err="1"/>
              <a:t>学员修改个人版本</a:t>
            </a:r>
            <a:r>
              <a:rPr dirty="0"/>
              <a:t>；</a:t>
            </a:r>
          </a:p>
          <a:p>
            <a:r>
              <a:rPr dirty="0"/>
              <a:t>6. </a:t>
            </a:r>
            <a:r>
              <a:rPr dirty="0" err="1"/>
              <a:t>继续进入下一阶段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公共项目用于统一项目标准，降低第一次独立选题的困难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个人方向项目</a:t>
            </a:r>
            <a:endParaRPr dirty="0"/>
          </a:p>
          <a:p>
            <a:endParaRPr dirty="0"/>
          </a:p>
          <a:p>
            <a:r>
              <a:rPr dirty="0" err="1"/>
              <a:t>学员结合过去行业、工作场景、可访问用户、可获得数据、目标岗位和希望证明的能力选择项目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可能方向包括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企业知识库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销售辅助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内容生产与审核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用户反馈分析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会议任务跟进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商品决策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招聘或培训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特定行业AI应用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个人项目用于形成与背景和求职方向有关的差异化证据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五、小组形式怎样工作</a:t>
            </a:r>
            <a:endParaRPr dirty="0"/>
          </a:p>
          <a:p>
            <a:endParaRPr dirty="0"/>
          </a:p>
          <a:p>
            <a:r>
              <a:rPr dirty="0" err="1"/>
              <a:t>小组不是多人共同交一份作业。每个人对自己的项目负责，小组用于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质疑问题是否真实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检查MVP是否过大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体验彼此Demo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交换测试用例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帮助发现Bad</a:t>
            </a:r>
            <a:r>
              <a:rPr dirty="0"/>
              <a:t> Case；</a:t>
            </a:r>
          </a:p>
          <a:p>
            <a:r>
              <a:rPr dirty="0"/>
              <a:t>- </a:t>
            </a:r>
            <a:r>
              <a:rPr dirty="0" err="1"/>
              <a:t>模拟产品评审和用户反馈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比较不同项目的处理方式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这样学员重点完成自己的项目，同时可以通过同学接触更多Workflow、RAG、Agent、To</a:t>
            </a:r>
            <a:r>
              <a:rPr dirty="0"/>
              <a:t> </a:t>
            </a:r>
            <a:r>
              <a:rPr dirty="0" err="1"/>
              <a:t>B、To</a:t>
            </a:r>
            <a:r>
              <a:rPr dirty="0"/>
              <a:t> </a:t>
            </a:r>
            <a:r>
              <a:rPr dirty="0" err="1"/>
              <a:t>C和行业案例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六、每次项目课的六步节奏</a:t>
            </a:r>
            <a:endParaRPr dirty="0"/>
          </a:p>
          <a:p>
            <a:endParaRPr dirty="0"/>
          </a:p>
          <a:p>
            <a:r>
              <a:rPr dirty="0"/>
              <a:t>1. **</a:t>
            </a:r>
            <a:r>
              <a:rPr dirty="0" err="1"/>
              <a:t>项目任务发布</a:t>
            </a:r>
            <a:r>
              <a:rPr dirty="0"/>
              <a:t>**：</a:t>
            </a:r>
            <a:r>
              <a:rPr dirty="0" err="1"/>
              <a:t>教师明确本阶段需要解决的问题</a:t>
            </a:r>
            <a:r>
              <a:rPr dirty="0"/>
              <a:t>；</a:t>
            </a:r>
          </a:p>
          <a:p>
            <a:r>
              <a:rPr dirty="0"/>
              <a:t>2. **</a:t>
            </a:r>
            <a:r>
              <a:rPr dirty="0" err="1"/>
              <a:t>学员完成初稿</a:t>
            </a:r>
            <a:r>
              <a:rPr dirty="0"/>
              <a:t>**：先形成个人V0.1，不等待标准答案；</a:t>
            </a:r>
          </a:p>
          <a:p>
            <a:r>
              <a:rPr dirty="0"/>
              <a:t>3. **</a:t>
            </a:r>
            <a:r>
              <a:rPr dirty="0" err="1"/>
              <a:t>展示代表方案</a:t>
            </a:r>
            <a:r>
              <a:rPr dirty="0"/>
              <a:t>**：</a:t>
            </a:r>
            <a:r>
              <a:rPr dirty="0" err="1"/>
              <a:t>选择范围过大、过于保守、技术堆叠或证据充分的典型作业</a:t>
            </a:r>
            <a:r>
              <a:rPr dirty="0"/>
              <a:t>；</a:t>
            </a:r>
          </a:p>
          <a:p>
            <a:r>
              <a:rPr dirty="0"/>
              <a:t>4. **</a:t>
            </a:r>
            <a:r>
              <a:rPr dirty="0" err="1"/>
              <a:t>同学互评</a:t>
            </a:r>
            <a:r>
              <a:rPr dirty="0"/>
              <a:t>**：</a:t>
            </a:r>
            <a:r>
              <a:rPr dirty="0" err="1"/>
              <a:t>围绕问题、MVP、数据、评测和风险提出问题</a:t>
            </a:r>
            <a:r>
              <a:rPr dirty="0"/>
              <a:t>；</a:t>
            </a:r>
          </a:p>
          <a:p>
            <a:r>
              <a:rPr dirty="0"/>
              <a:t>5. **</a:t>
            </a:r>
            <a:r>
              <a:rPr dirty="0" err="1"/>
              <a:t>教师点评</a:t>
            </a:r>
            <a:r>
              <a:rPr dirty="0"/>
              <a:t>**：</a:t>
            </a:r>
            <a:r>
              <a:rPr dirty="0" err="1"/>
              <a:t>指出缺少证据、范围不合理、自动化风险和指标问题</a:t>
            </a:r>
            <a:r>
              <a:rPr dirty="0"/>
              <a:t>；</a:t>
            </a:r>
          </a:p>
          <a:p>
            <a:r>
              <a:rPr dirty="0"/>
              <a:t>6. **</a:t>
            </a:r>
            <a:r>
              <a:rPr dirty="0" err="1"/>
              <a:t>修改迭代</a:t>
            </a:r>
            <a:r>
              <a:rPr dirty="0"/>
              <a:t>**：保留V0.1、V0.2、V1.0以及修改原因。</a:t>
            </a:r>
          </a:p>
          <a:p>
            <a:endParaRPr dirty="0"/>
          </a:p>
          <a:p>
            <a:r>
              <a:rPr dirty="0" err="1"/>
              <a:t>项目班的价值不是只得到最终答案，而是看见项目怎样被迭代出来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七、一个项目怎样成长</a:t>
            </a:r>
            <a:endParaRPr dirty="0"/>
          </a:p>
          <a:p>
            <a:endParaRPr dirty="0"/>
          </a:p>
          <a:p>
            <a:r>
              <a:rPr dirty="0" err="1"/>
              <a:t>以“企业AI知识库”为例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初始想法</a:t>
            </a:r>
            <a:endParaRPr dirty="0"/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做一个企业AI知识库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此时缺少用户、问题、数据、评测和权限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问题验证后</a:t>
            </a:r>
            <a:endParaRPr dirty="0"/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面向售前顾问的产品资料检索与回答助手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场景是售前顾问准备客户方案时，需要从分散的产品手册、报价说明和历史案例中查找信息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MVP设计后</a:t>
            </a:r>
            <a:endParaRPr dirty="0"/>
          </a:p>
          <a:p>
            <a:endParaRPr dirty="0"/>
          </a:p>
          <a:p>
            <a:r>
              <a:rPr dirty="0" err="1"/>
              <a:t>第一期做：资料上传、检索、候选答案、来源展示、无答案兜底和用户反馈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第一期不做：自动生成完整销售方案、自动发送客户、自动承诺价格和连接所有企业系统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Demo以后</a:t>
            </a:r>
            <a:endParaRPr dirty="0"/>
          </a:p>
          <a:p>
            <a:endParaRPr dirty="0"/>
          </a:p>
          <a:p>
            <a:r>
              <a:rPr dirty="0" err="1"/>
              <a:t>形成问答、来源、无答案、权限和反馈等可运行状态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评测以后</a:t>
            </a:r>
            <a:endParaRPr dirty="0"/>
          </a:p>
          <a:p>
            <a:endParaRPr dirty="0"/>
          </a:p>
          <a:p>
            <a:r>
              <a:rPr dirty="0" err="1"/>
              <a:t>建立真实问题、标准答案、来源文档、检索命中率、答案正确性和无依据回答率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Bad </a:t>
            </a:r>
            <a:r>
              <a:rPr dirty="0" err="1"/>
              <a:t>Case迭代以后</a:t>
            </a:r>
            <a:endParaRPr dirty="0"/>
          </a:p>
          <a:p>
            <a:endParaRPr dirty="0"/>
          </a:p>
          <a:p>
            <a:r>
              <a:rPr dirty="0"/>
              <a:t>发现型号混淆、旧价格资料误检索、表格切分差和多产品对比不稳定，进而修改文档版本、Metadata过滤、表格处理、问题改写和无答案兜底。</a:t>
            </a:r>
          </a:p>
          <a:p>
            <a:endParaRPr dirty="0"/>
          </a:p>
          <a:p>
            <a:r>
              <a:rPr dirty="0" err="1"/>
              <a:t>最终学员能够讲清：为什么选题、为什么需要RAG、MVP如何取舍、评测集从哪里来、发现什么问题、怎样修改，以及项目仍有什么限制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教师总结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项目班不是把“企业知识库”五个字扩写成一份长PRD，而是把它一步一步变成有问题、有产品、有测试、有迭代的完整项目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八、项目推进的七个阶段</a:t>
            </a:r>
            <a:endParaRPr dirty="0"/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阶段一：选题与问题验证</a:t>
            </a:r>
            <a:endParaRPr dirty="0"/>
          </a:p>
          <a:p>
            <a:endParaRPr dirty="0"/>
          </a:p>
          <a:p>
            <a:r>
              <a:rPr dirty="0" err="1"/>
              <a:t>完成用户、场景、当前流程、问题证据、数据来源和继续条件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阶段二：AI介入与MVP</a:t>
            </a:r>
            <a:endParaRPr dirty="0"/>
          </a:p>
          <a:p>
            <a:endParaRPr dirty="0"/>
          </a:p>
          <a:p>
            <a:r>
              <a:rPr dirty="0" err="1"/>
              <a:t>完成人机分工、技术选择、MVP范围和初始评测计划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阶段三：正式PRD与原型</a:t>
            </a:r>
            <a:endParaRPr dirty="0"/>
          </a:p>
          <a:p>
            <a:endParaRPr dirty="0"/>
          </a:p>
          <a:p>
            <a:r>
              <a:rPr dirty="0" err="1"/>
              <a:t>完成PRD、产品流程、页面、输入输出、异常、确认和验收标准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阶段四：可运行Demo</a:t>
            </a:r>
            <a:endParaRPr dirty="0"/>
          </a:p>
          <a:p>
            <a:endParaRPr dirty="0"/>
          </a:p>
          <a:p>
            <a:r>
              <a:rPr dirty="0" err="1"/>
              <a:t>覆盖核心任务、正常输入、AI结果、错误状态和用户确认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阶段五：评测与Bad</a:t>
            </a:r>
            <a:r>
              <a:rPr dirty="0"/>
              <a:t> Case</a:t>
            </a:r>
          </a:p>
          <a:p>
            <a:endParaRPr dirty="0"/>
          </a:p>
          <a:p>
            <a:r>
              <a:rPr dirty="0" err="1"/>
              <a:t>完成评测集、标准答案、指标、模型测试、Bad</a:t>
            </a:r>
            <a:r>
              <a:rPr dirty="0"/>
              <a:t> </a:t>
            </a:r>
            <a:r>
              <a:rPr dirty="0" err="1"/>
              <a:t>Case和高风险错误分析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阶段六：迭代、成本与价值</a:t>
            </a:r>
            <a:endParaRPr dirty="0"/>
          </a:p>
          <a:p>
            <a:endParaRPr dirty="0"/>
          </a:p>
          <a:p>
            <a:r>
              <a:rPr dirty="0" err="1"/>
              <a:t>完成方案修改、回归评测、模型选择、使用成本、ROI和项目局限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阶段七：项目展示与复盘</a:t>
            </a:r>
            <a:endParaRPr dirty="0"/>
          </a:p>
          <a:p>
            <a:endParaRPr dirty="0"/>
          </a:p>
          <a:p>
            <a:r>
              <a:rPr dirty="0" err="1"/>
              <a:t>完成项目展示、证据链、个人贡献和项目讲述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九、最终交付物</a:t>
            </a:r>
            <a:endParaRPr dirty="0"/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问题与证据</a:t>
            </a:r>
            <a:endParaRPr dirty="0"/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用户和场景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访谈或业务材料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当前流程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问题和价值判断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产品方案</a:t>
            </a:r>
            <a:endParaRPr dirty="0"/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AI产品决策图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产品流程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人机协作</a:t>
            </a:r>
            <a:r>
              <a:rPr dirty="0"/>
              <a:t>；</a:t>
            </a:r>
          </a:p>
          <a:p>
            <a:r>
              <a:rPr dirty="0"/>
              <a:t>- MVP；</a:t>
            </a:r>
          </a:p>
          <a:p>
            <a:r>
              <a:rPr dirty="0"/>
              <a:t>- </a:t>
            </a:r>
            <a:r>
              <a:rPr dirty="0" err="1"/>
              <a:t>正式PRD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产品实现</a:t>
            </a:r>
            <a:endParaRPr dirty="0"/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原型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可运行Demo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正常和异常状态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用户确认流程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AI效果</a:t>
            </a:r>
            <a:endParaRPr dirty="0"/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评测集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评测报告</a:t>
            </a:r>
            <a:r>
              <a:rPr dirty="0"/>
              <a:t>；</a:t>
            </a:r>
          </a:p>
          <a:p>
            <a:r>
              <a:rPr dirty="0"/>
              <a:t>- Bad Case；</a:t>
            </a:r>
          </a:p>
          <a:p>
            <a:r>
              <a:rPr dirty="0"/>
              <a:t>- </a:t>
            </a:r>
            <a:r>
              <a:rPr dirty="0" err="1"/>
              <a:t>模型比较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迭代前后变化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落地判断</a:t>
            </a:r>
            <a:endParaRPr dirty="0"/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模型方案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部署和安全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成本</a:t>
            </a:r>
            <a:r>
              <a:rPr dirty="0"/>
              <a:t>；</a:t>
            </a:r>
          </a:p>
          <a:p>
            <a:r>
              <a:rPr dirty="0"/>
              <a:t>- ROI；</a:t>
            </a:r>
          </a:p>
          <a:p>
            <a:r>
              <a:rPr dirty="0"/>
              <a:t>- </a:t>
            </a:r>
            <a:r>
              <a:rPr dirty="0" err="1"/>
              <a:t>风险和局限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对外展示</a:t>
            </a:r>
            <a:endParaRPr dirty="0"/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作品集项目页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项目展示材料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项目讲述稿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个人贡献说明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第二阶段重点是把项目做完整；第三阶段再结合具体JD打磨简历、作品集和面试表达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十、项目班不替学员批量生成项目材料</a:t>
            </a:r>
            <a:endParaRPr dirty="0"/>
          </a:p>
          <a:p>
            <a:endParaRPr dirty="0"/>
          </a:p>
          <a:p>
            <a:r>
              <a:rPr dirty="0" err="1"/>
              <a:t>如果只是把选题交给AI，让AI生成PRD、流程图、原型和总结，这些材料很快会失去区分度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项目班真正训练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为什么选择问题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使用什么证据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方案经过什么取舍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数据从哪里来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怎样测试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发现什么错误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为什么修改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学员本人完成什么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哪些结论仍然是假设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核心观点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AI可以帮助生产材料，但不能替学员完成项目责任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十一、适合项目班的学员</a:t>
            </a:r>
            <a:endParaRPr dirty="0"/>
          </a:p>
          <a:p>
            <a:endParaRPr dirty="0"/>
          </a:p>
          <a:p>
            <a:r>
              <a:rPr dirty="0" err="1"/>
              <a:t>适合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已经理解AI产品基础概念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学过Prompt、Workflow、RAG或Agent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但缺少完整项目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希望转型AI产品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想把原行业场景改造成AI产品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自己做项目容易停在想法或Demo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需要外部节奏、点评和多轮修改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愿意投入时间完成作业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暂时不适合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只想听课，不准备完成项目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希望老师直接提供可以投递的成品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不愿意接受方案被修改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希望把课程项目包装成企业上线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没有时间做任何课后产出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只想收集更多工具和资料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十二、学员需要投入什么</a:t>
            </a:r>
            <a:endParaRPr dirty="0"/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完成每阶段初稿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接受小组和教师评审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根据反馈修改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收集测试材料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建立评测集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运行真实测试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记录Bad</a:t>
            </a:r>
            <a:r>
              <a:rPr dirty="0"/>
              <a:t> Case；</a:t>
            </a:r>
          </a:p>
          <a:p>
            <a:r>
              <a:rPr dirty="0"/>
              <a:t>- </a:t>
            </a:r>
            <a:r>
              <a:rPr dirty="0" err="1"/>
              <a:t>保存项目版本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清楚说明个人贡献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对项目最终质量负责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项目班不是买完以后等待老师发项目，而是在教师、同学和里程碑支持下真正完成自己的项目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十三、项目班的三个具体价值</a:t>
            </a:r>
            <a:endParaRPr dirty="0"/>
          </a:p>
          <a:p>
            <a:endParaRPr dirty="0"/>
          </a:p>
          <a:p>
            <a:r>
              <a:rPr dirty="0"/>
              <a:t>1. **</a:t>
            </a:r>
            <a:r>
              <a:rPr dirty="0" err="1"/>
              <a:t>作业会被真正评审</a:t>
            </a:r>
            <a:r>
              <a:rPr dirty="0"/>
              <a:t>**：</a:t>
            </a:r>
            <a:r>
              <a:rPr dirty="0" err="1"/>
              <a:t>不仅检查是否提交，还判断问题、MVP、评测和证据是否成立</a:t>
            </a:r>
            <a:r>
              <a:rPr dirty="0"/>
              <a:t>；</a:t>
            </a:r>
          </a:p>
          <a:p>
            <a:r>
              <a:rPr dirty="0"/>
              <a:t>2. **</a:t>
            </a:r>
            <a:r>
              <a:rPr dirty="0" err="1"/>
              <a:t>能看见项目版本变化</a:t>
            </a:r>
            <a:r>
              <a:rPr dirty="0"/>
              <a:t>**：</a:t>
            </a:r>
            <a:r>
              <a:rPr dirty="0" err="1"/>
              <a:t>从模糊想法到PRD、Demo、评测和迭代</a:t>
            </a:r>
            <a:r>
              <a:rPr dirty="0"/>
              <a:t>；</a:t>
            </a:r>
          </a:p>
          <a:p>
            <a:r>
              <a:rPr dirty="0"/>
              <a:t>3. **</a:t>
            </a:r>
            <a:r>
              <a:rPr dirty="0" err="1"/>
              <a:t>接触多个行业案例</a:t>
            </a:r>
            <a:r>
              <a:rPr dirty="0"/>
              <a:t>**：</a:t>
            </a:r>
            <a:r>
              <a:rPr dirty="0" err="1"/>
              <a:t>通过同学项目看到不同用户、产品形态、Bad</a:t>
            </a:r>
            <a:r>
              <a:rPr dirty="0"/>
              <a:t> </a:t>
            </a:r>
            <a:r>
              <a:rPr dirty="0" err="1"/>
              <a:t>Case、模型和成本方案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十四、整节课最终收尾</a:t>
            </a:r>
            <a:endParaRPr dirty="0"/>
          </a:p>
          <a:p>
            <a:endParaRPr dirty="0"/>
          </a:p>
          <a:p>
            <a:r>
              <a:rPr dirty="0" err="1"/>
              <a:t>教师可以这样说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第一阶段结束以后，我不希望大家只记得自己学过Prompt、RAG、Agent、PRD和评测</a:t>
            </a:r>
            <a:r>
              <a:rPr dirty="0"/>
              <a:t>。  </a:t>
            </a:r>
          </a:p>
          <a:p>
            <a:r>
              <a:rPr dirty="0"/>
              <a:t>&gt; 更重要的是，当一个新的AI产品需求出现在面前，你已经开始知道应该问什么：谁的问题、为什么需要AI、规则和模型怎样分工、MVP做什么、怎样评测、错了怎么办，以及这件事是否值得做。  </a:t>
            </a:r>
          </a:p>
          <a:p>
            <a:r>
              <a:rPr dirty="0"/>
              <a:t>&gt; </a:t>
            </a:r>
            <a:r>
              <a:rPr dirty="0" err="1"/>
              <a:t>这意味着我们已经从简单使用AI工具，开始走向AI产品判断</a:t>
            </a:r>
            <a:r>
              <a:rPr dirty="0"/>
              <a:t>。  </a:t>
            </a:r>
          </a:p>
          <a:p>
            <a:r>
              <a:rPr dirty="0"/>
              <a:t>&gt; </a:t>
            </a:r>
            <a:r>
              <a:rPr dirty="0" err="1"/>
              <a:t>但判断只有进入一个真实项目，经过产品设计、Demo、评测和迭代，才会变成可以被证明的能力。第二阶段要完成的，就是这一步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最后三句话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第一阶段，让你理解AI产品</a:t>
            </a:r>
            <a:r>
              <a:rPr dirty="0"/>
              <a:t>。  </a:t>
            </a:r>
          </a:p>
          <a:p>
            <a:r>
              <a:rPr dirty="0"/>
              <a:t>&gt; </a:t>
            </a:r>
            <a:r>
              <a:rPr dirty="0" err="1"/>
              <a:t>第二阶段，让你真正做出AI项目</a:t>
            </a:r>
            <a:r>
              <a:rPr dirty="0"/>
              <a:t>。  </a:t>
            </a:r>
          </a:p>
          <a:p>
            <a:r>
              <a:rPr dirty="0"/>
              <a:t>&gt; </a:t>
            </a:r>
            <a:r>
              <a:rPr dirty="0" err="1"/>
              <a:t>第三阶段，让你把项目转化成职业机会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可以补充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如果你目前的目标只是系统理解AI产品，第一阶段已经提供了一套相对完整的方法</a:t>
            </a:r>
            <a:r>
              <a:rPr dirty="0"/>
              <a:t>。  </a:t>
            </a:r>
          </a:p>
          <a:p>
            <a:r>
              <a:rPr dirty="0"/>
              <a:t>&gt; </a:t>
            </a:r>
            <a:r>
              <a:rPr dirty="0" err="1"/>
              <a:t>如果你希望进一步完成个人项目、形成项目证据，第二阶段会更适合你</a:t>
            </a:r>
            <a:r>
              <a:rPr dirty="0"/>
              <a:t>。  </a:t>
            </a:r>
          </a:p>
          <a:p>
            <a:r>
              <a:rPr dirty="0"/>
              <a:t>&gt; </a:t>
            </a:r>
            <a:r>
              <a:rPr dirty="0" err="1"/>
              <a:t>大家可以结合自己的时间、目标和投入意愿，判断是否继续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---</a:t>
            </a:r>
          </a:p>
          <a:p>
            <a:endParaRPr dirty="0"/>
          </a:p>
          <a:p>
            <a:r>
              <a:rPr dirty="0"/>
              <a:t>[</a:t>
            </a:r>
            <a:r>
              <a:rPr dirty="0" err="1"/>
              <a:t>讲义来源</a:t>
            </a:r>
            <a:r>
              <a:rPr dirty="0"/>
              <a:t>]</a:t>
            </a:r>
          </a:p>
          <a:p>
            <a:r>
              <a:rPr dirty="0"/>
              <a:t>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/第12课_第一阶段能力验收与职业行动_重做工作区/第12课_第一阶段总结_AI产品趋势与项目实战_完整讲义_v0.2.md</a:t>
            </a:r>
          </a:p>
          <a:p>
            <a:r>
              <a:rPr dirty="0" err="1"/>
              <a:t>第二阶段；项目班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共同项目学方法，个人项目形成方向与差异化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公共项目</a:t>
            </a:r>
            <a:endParaRPr dirty="0"/>
          </a:p>
          <a:p>
            <a:endParaRPr dirty="0"/>
          </a:p>
          <a:p>
            <a:r>
              <a:rPr dirty="0"/>
              <a:t>所有学员围绕一个共同项目走通AI产品从0到1：</a:t>
            </a:r>
          </a:p>
          <a:p>
            <a:endParaRPr dirty="0"/>
          </a:p>
          <a:p>
            <a:r>
              <a:rPr dirty="0"/>
              <a:t>1. </a:t>
            </a:r>
            <a:r>
              <a:rPr dirty="0" err="1"/>
              <a:t>教师发布业务任务和基础材料</a:t>
            </a:r>
            <a:r>
              <a:rPr dirty="0"/>
              <a:t>；</a:t>
            </a:r>
          </a:p>
          <a:p>
            <a:r>
              <a:rPr dirty="0"/>
              <a:t>2. </a:t>
            </a:r>
            <a:r>
              <a:rPr dirty="0" err="1"/>
              <a:t>学员先提交个人判断</a:t>
            </a:r>
            <a:r>
              <a:rPr dirty="0"/>
              <a:t>；</a:t>
            </a:r>
          </a:p>
          <a:p>
            <a:r>
              <a:rPr dirty="0"/>
              <a:t>3. </a:t>
            </a:r>
            <a:r>
              <a:rPr dirty="0" err="1"/>
              <a:t>课堂比较不同方案</a:t>
            </a:r>
            <a:r>
              <a:rPr dirty="0"/>
              <a:t>；</a:t>
            </a:r>
          </a:p>
          <a:p>
            <a:r>
              <a:rPr dirty="0"/>
              <a:t>4. </a:t>
            </a:r>
            <a:r>
              <a:rPr dirty="0" err="1"/>
              <a:t>教师讲评关键决策</a:t>
            </a:r>
            <a:r>
              <a:rPr dirty="0"/>
              <a:t>；</a:t>
            </a:r>
          </a:p>
          <a:p>
            <a:r>
              <a:rPr dirty="0"/>
              <a:t>5. </a:t>
            </a:r>
            <a:r>
              <a:rPr dirty="0" err="1"/>
              <a:t>学员修改个人版本</a:t>
            </a:r>
            <a:r>
              <a:rPr dirty="0"/>
              <a:t>；</a:t>
            </a:r>
          </a:p>
          <a:p>
            <a:r>
              <a:rPr dirty="0"/>
              <a:t>6. </a:t>
            </a:r>
            <a:r>
              <a:rPr dirty="0" err="1"/>
              <a:t>继续进入下一阶段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公共项目用于统一项目标准，降低第一次独立选题的困难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个人方向项目</a:t>
            </a:r>
            <a:endParaRPr dirty="0"/>
          </a:p>
          <a:p>
            <a:endParaRPr dirty="0"/>
          </a:p>
          <a:p>
            <a:r>
              <a:rPr dirty="0" err="1"/>
              <a:t>学员结合过去行业、工作场景、可访问用户、可获得数据、目标岗位和希望证明的能力选择项目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可能方向包括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企业知识库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销售辅助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内容生产与审核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用户反馈分析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会议任务跟进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商品决策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招聘或培训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特定行业AI应用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个人项目用于形成与背景和求职方向有关的差异化证据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讲义中的相关部分：个人项目</a:t>
            </a:r>
            <a:endParaRPr dirty="0"/>
          </a:p>
          <a:p>
            <a:endParaRPr dirty="0"/>
          </a:p>
          <a:p>
            <a:r>
              <a:rPr dirty="0"/>
              <a:t>[</a:t>
            </a:r>
            <a:r>
              <a:rPr dirty="0" err="1"/>
              <a:t>讲义来源</a:t>
            </a:r>
            <a:r>
              <a:rPr dirty="0"/>
              <a:t>]</a:t>
            </a:r>
          </a:p>
          <a:p>
            <a:r>
              <a:rPr dirty="0"/>
              <a:t>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/第12课_第一阶段能力验收与职业行动_重做工作区/第12课_第一阶段总结_AI产品趋势与项目实战_完整讲义_v0.2.md</a:t>
            </a:r>
          </a:p>
          <a:p>
            <a:r>
              <a:rPr dirty="0" err="1"/>
              <a:t>公共项目；个人项目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每一轮都要有可见版本：产出</a:t>
            </a:r>
            <a:r>
              <a:rPr dirty="0"/>
              <a:t>—</a:t>
            </a:r>
            <a:r>
              <a:rPr dirty="0" err="1"/>
              <a:t>评审</a:t>
            </a:r>
            <a:r>
              <a:rPr dirty="0"/>
              <a:t>—</a:t>
            </a:r>
            <a:r>
              <a:rPr dirty="0" err="1"/>
              <a:t>修改</a:t>
            </a:r>
            <a:r>
              <a:rPr dirty="0"/>
              <a:t>—</a:t>
            </a:r>
            <a:r>
              <a:rPr dirty="0" err="1"/>
              <a:t>验证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讲义中的相关部分：小组协作</a:t>
            </a:r>
            <a:endParaRPr dirty="0"/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阶段一：选题与问题验证</a:t>
            </a:r>
            <a:endParaRPr dirty="0"/>
          </a:p>
          <a:p>
            <a:endParaRPr dirty="0"/>
          </a:p>
          <a:p>
            <a:r>
              <a:rPr dirty="0" err="1"/>
              <a:t>完成用户、场景、当前流程、问题证据、数据来源和继续条件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阶段二：AI介入与MVP</a:t>
            </a:r>
            <a:endParaRPr dirty="0"/>
          </a:p>
          <a:p>
            <a:endParaRPr dirty="0"/>
          </a:p>
          <a:p>
            <a:r>
              <a:rPr dirty="0" err="1"/>
              <a:t>完成人机分工、技术选择、MVP范围和初始评测计划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阶段三：正式PRD与原型</a:t>
            </a:r>
            <a:endParaRPr dirty="0"/>
          </a:p>
          <a:p>
            <a:endParaRPr dirty="0"/>
          </a:p>
          <a:p>
            <a:r>
              <a:rPr dirty="0" err="1"/>
              <a:t>完成PRD、产品流程、页面、输入输出、异常、确认和验收标准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阶段四：可运行Demo</a:t>
            </a:r>
            <a:endParaRPr dirty="0"/>
          </a:p>
          <a:p>
            <a:endParaRPr dirty="0"/>
          </a:p>
          <a:p>
            <a:r>
              <a:rPr dirty="0" err="1"/>
              <a:t>覆盖核心任务、正常输入、AI结果、错误状态和用户确认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阶段五：评测与Bad</a:t>
            </a:r>
            <a:r>
              <a:rPr dirty="0"/>
              <a:t> Case</a:t>
            </a:r>
          </a:p>
          <a:p>
            <a:endParaRPr dirty="0"/>
          </a:p>
          <a:p>
            <a:r>
              <a:rPr dirty="0" err="1"/>
              <a:t>完成评测集、标准答案、指标、模型测试、Bad</a:t>
            </a:r>
            <a:r>
              <a:rPr dirty="0"/>
              <a:t> </a:t>
            </a:r>
            <a:r>
              <a:rPr dirty="0" err="1"/>
              <a:t>Case和高风险错误分析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阶段六：迭代、成本与价值</a:t>
            </a:r>
            <a:endParaRPr dirty="0"/>
          </a:p>
          <a:p>
            <a:endParaRPr dirty="0"/>
          </a:p>
          <a:p>
            <a:r>
              <a:rPr dirty="0" err="1"/>
              <a:t>完成方案修改、回归评测、模型选择、使用成本、ROI和项目局限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阶段七：项目展示与复盘</a:t>
            </a:r>
            <a:endParaRPr dirty="0"/>
          </a:p>
          <a:p>
            <a:endParaRPr dirty="0"/>
          </a:p>
          <a:p>
            <a:r>
              <a:rPr dirty="0" err="1"/>
              <a:t>完成项目展示、证据链、个人贡献和项目讲述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[</a:t>
            </a:r>
            <a:r>
              <a:rPr dirty="0" err="1"/>
              <a:t>讲义来源</a:t>
            </a:r>
            <a:r>
              <a:rPr dirty="0"/>
              <a:t>]</a:t>
            </a:r>
          </a:p>
          <a:p>
            <a:r>
              <a:rPr dirty="0"/>
              <a:t>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/第12课_第一阶段能力验收与职业行动_重做工作区/第12课_第一阶段总结_AI产品趋势与项目实战_完整讲义_v0.2.md</a:t>
            </a:r>
          </a:p>
          <a:p>
            <a:r>
              <a:rPr dirty="0" err="1"/>
              <a:t>小组协作；项目推进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一套完整材料，要同时证明判断、交付、验证、价值和表达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问题与证据</a:t>
            </a:r>
            <a:endParaRPr dirty="0"/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用户和场景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访谈或业务材料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当前流程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问题和价值判断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产品方案</a:t>
            </a:r>
            <a:endParaRPr dirty="0"/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AI产品决策图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产品流程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人机协作</a:t>
            </a:r>
            <a:r>
              <a:rPr dirty="0"/>
              <a:t>；</a:t>
            </a:r>
          </a:p>
          <a:p>
            <a:r>
              <a:rPr dirty="0"/>
              <a:t>- MVP；</a:t>
            </a:r>
          </a:p>
          <a:p>
            <a:r>
              <a:rPr dirty="0"/>
              <a:t>- </a:t>
            </a:r>
            <a:r>
              <a:rPr dirty="0" err="1"/>
              <a:t>正式PRD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产品实现</a:t>
            </a:r>
            <a:endParaRPr dirty="0"/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原型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可运行Demo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正常和异常状态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用户确认流程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AI效果</a:t>
            </a:r>
            <a:endParaRPr dirty="0"/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评测集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评测报告</a:t>
            </a:r>
            <a:r>
              <a:rPr dirty="0"/>
              <a:t>；</a:t>
            </a:r>
          </a:p>
          <a:p>
            <a:r>
              <a:rPr dirty="0"/>
              <a:t>- Bad Case；</a:t>
            </a:r>
          </a:p>
          <a:p>
            <a:r>
              <a:rPr dirty="0"/>
              <a:t>- </a:t>
            </a:r>
            <a:r>
              <a:rPr dirty="0" err="1"/>
              <a:t>模型比较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迭代前后变化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落地判断</a:t>
            </a:r>
            <a:endParaRPr dirty="0"/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模型方案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部署和安全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成本</a:t>
            </a:r>
            <a:r>
              <a:rPr dirty="0"/>
              <a:t>；</a:t>
            </a:r>
          </a:p>
          <a:p>
            <a:r>
              <a:rPr dirty="0"/>
              <a:t>- ROI；</a:t>
            </a:r>
          </a:p>
          <a:p>
            <a:r>
              <a:rPr dirty="0"/>
              <a:t>- </a:t>
            </a:r>
            <a:r>
              <a:rPr dirty="0" err="1"/>
              <a:t>风险和局限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对外展示</a:t>
            </a:r>
            <a:endParaRPr dirty="0"/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作品集项目页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项目展示材料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项目讲述稿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个人贡献说明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第二阶段重点是把项目做完整；第三阶段再结合具体JD打磨简历、作品集和面试表达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&gt; 建议时长：30分钟</a:t>
            </a:r>
          </a:p>
          <a:p>
            <a:endParaRPr dirty="0"/>
          </a:p>
          <a:p>
            <a:r>
              <a:rPr dirty="0" err="1"/>
              <a:t>这一部分既承担第一阶段收尾，也承担第二阶段介绍。需要让学员看见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1. </a:t>
            </a:r>
            <a:r>
              <a:rPr dirty="0" err="1"/>
              <a:t>为什么听懂以后仍然需要项目</a:t>
            </a:r>
            <a:r>
              <a:rPr dirty="0"/>
              <a:t>；</a:t>
            </a:r>
          </a:p>
          <a:p>
            <a:r>
              <a:rPr dirty="0"/>
              <a:t>2. </a:t>
            </a:r>
            <a:r>
              <a:rPr dirty="0" err="1"/>
              <a:t>项目班和普通课程有什么不同</a:t>
            </a:r>
            <a:r>
              <a:rPr dirty="0"/>
              <a:t>；</a:t>
            </a:r>
          </a:p>
          <a:p>
            <a:r>
              <a:rPr dirty="0"/>
              <a:t>3. </a:t>
            </a:r>
            <a:r>
              <a:rPr dirty="0" err="1"/>
              <a:t>一个项目会怎样一步一步做出来</a:t>
            </a:r>
            <a:r>
              <a:rPr dirty="0"/>
              <a:t>；</a:t>
            </a:r>
          </a:p>
          <a:p>
            <a:r>
              <a:rPr dirty="0"/>
              <a:t>4. </a:t>
            </a:r>
            <a:r>
              <a:rPr dirty="0" err="1"/>
              <a:t>学员需要投入什么</a:t>
            </a:r>
            <a:r>
              <a:rPr dirty="0"/>
              <a:t>；</a:t>
            </a:r>
          </a:p>
          <a:p>
            <a:r>
              <a:rPr dirty="0"/>
              <a:t>5. </a:t>
            </a:r>
            <a:r>
              <a:rPr dirty="0" err="1"/>
              <a:t>最终能够带走什么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一、目前距离真实工作最缺什么</a:t>
            </a:r>
            <a:endParaRPr dirty="0"/>
          </a:p>
          <a:p>
            <a:endParaRPr dirty="0"/>
          </a:p>
          <a:p>
            <a:r>
              <a:rPr dirty="0" err="1"/>
              <a:t>让学员选择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A. </a:t>
            </a:r>
            <a:r>
              <a:rPr dirty="0" err="1"/>
              <a:t>还需要学习更多AI概念</a:t>
            </a:r>
            <a:r>
              <a:rPr dirty="0"/>
              <a:t>；</a:t>
            </a:r>
          </a:p>
          <a:p>
            <a:r>
              <a:rPr dirty="0"/>
              <a:t>- B. </a:t>
            </a:r>
            <a:r>
              <a:rPr dirty="0" err="1"/>
              <a:t>还需要掌握更多AI工具</a:t>
            </a:r>
            <a:r>
              <a:rPr dirty="0"/>
              <a:t>；</a:t>
            </a:r>
          </a:p>
          <a:p>
            <a:r>
              <a:rPr dirty="0"/>
              <a:t>- C. </a:t>
            </a:r>
            <a:r>
              <a:rPr dirty="0" err="1"/>
              <a:t>缺少一个自己完整做过的AI项目</a:t>
            </a:r>
            <a:r>
              <a:rPr dirty="0"/>
              <a:t>；</a:t>
            </a:r>
          </a:p>
          <a:p>
            <a:r>
              <a:rPr dirty="0"/>
              <a:t>- D. </a:t>
            </a:r>
            <a:r>
              <a:rPr dirty="0" err="1"/>
              <a:t>缺少简历、作品集和面试技巧</a:t>
            </a:r>
            <a:r>
              <a:rPr dirty="0"/>
              <a:t>；</a:t>
            </a:r>
          </a:p>
          <a:p>
            <a:r>
              <a:rPr dirty="0"/>
              <a:t>- E. </a:t>
            </a:r>
            <a:r>
              <a:rPr dirty="0" err="1"/>
              <a:t>还不确定职业方向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教师说明：不同学员可能答案不同，但对许多人来说，中间最关键的一步是C</a:t>
            </a:r>
            <a:r>
              <a:rPr dirty="0"/>
              <a:t>——</a:t>
            </a:r>
            <a:r>
              <a:rPr dirty="0" err="1"/>
              <a:t>还没有一个能够把前面能力连接起来的个人项目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展示三阶段关系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第一阶段解决“你懂不懂</a:t>
            </a:r>
            <a:r>
              <a:rPr dirty="0"/>
              <a:t>”  </a:t>
            </a:r>
          </a:p>
          <a:p>
            <a:r>
              <a:rPr dirty="0"/>
              <a:t>&gt; </a:t>
            </a:r>
            <a:r>
              <a:rPr dirty="0" err="1"/>
              <a:t>第二阶段解决“你做没做</a:t>
            </a:r>
            <a:r>
              <a:rPr dirty="0"/>
              <a:t>”  </a:t>
            </a:r>
          </a:p>
          <a:p>
            <a:r>
              <a:rPr dirty="0"/>
              <a:t>&gt; </a:t>
            </a:r>
            <a:r>
              <a:rPr dirty="0" err="1"/>
              <a:t>第三阶段解决“你讲不讲得清</a:t>
            </a:r>
            <a:r>
              <a:rPr dirty="0"/>
              <a:t>”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二、为什么听懂不等于做过</a:t>
            </a:r>
            <a:endParaRPr dirty="0"/>
          </a:p>
          <a:p>
            <a:endParaRPr dirty="0"/>
          </a:p>
          <a:p>
            <a:r>
              <a:rPr dirty="0" err="1"/>
              <a:t>真实项目需要连续完成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找到具体用户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验证真实问题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判断AI是否适合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准备数据和材料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设计AI、规则和人工分工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确定MVP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编写PRD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做原型和Demo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建立评测集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分析Bad</a:t>
            </a:r>
            <a:r>
              <a:rPr dirty="0"/>
              <a:t> Case；</a:t>
            </a:r>
          </a:p>
          <a:p>
            <a:r>
              <a:rPr dirty="0"/>
              <a:t>- </a:t>
            </a:r>
            <a:r>
              <a:rPr dirty="0" err="1"/>
              <a:t>比较模型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判断成本和ROI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根据测试结果修改方案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第一阶段中每项能力都接触过，但分散在不同案例。第二阶段要把它们集中到一个项目，并保持前后一致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三、第一阶段和项目班的区别</a:t>
            </a:r>
            <a:endParaRPr dirty="0"/>
          </a:p>
          <a:p>
            <a:endParaRPr dirty="0"/>
          </a:p>
          <a:p>
            <a:r>
              <a:rPr dirty="0"/>
              <a:t>| </a:t>
            </a:r>
            <a:r>
              <a:rPr dirty="0" err="1"/>
              <a:t>第一阶段系统课程</a:t>
            </a:r>
            <a:r>
              <a:rPr dirty="0"/>
              <a:t> | </a:t>
            </a:r>
            <a:r>
              <a:rPr dirty="0" err="1"/>
              <a:t>第二阶段项目班</a:t>
            </a:r>
            <a:r>
              <a:rPr dirty="0"/>
              <a:t> |</a:t>
            </a:r>
          </a:p>
          <a:p>
            <a:r>
              <a:rPr dirty="0"/>
              <a:t>|---|---|</a:t>
            </a:r>
          </a:p>
          <a:p>
            <a:r>
              <a:rPr dirty="0"/>
              <a:t>| </a:t>
            </a:r>
            <a:r>
              <a:rPr dirty="0" err="1"/>
              <a:t>以知识和方法为主</a:t>
            </a:r>
            <a:r>
              <a:rPr dirty="0"/>
              <a:t> | </a:t>
            </a:r>
            <a:r>
              <a:rPr dirty="0" err="1"/>
              <a:t>以项目交付为主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教师先解释概念</a:t>
            </a:r>
            <a:r>
              <a:rPr dirty="0"/>
              <a:t> | </a:t>
            </a:r>
            <a:r>
              <a:rPr dirty="0" err="1"/>
              <a:t>学员先面对不完整任务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案例用于理解知识</a:t>
            </a:r>
            <a:r>
              <a:rPr dirty="0"/>
              <a:t> | </a:t>
            </a:r>
            <a:r>
              <a:rPr dirty="0" err="1"/>
              <a:t>知识用于解决项目问题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练习相对独立</a:t>
            </a:r>
            <a:r>
              <a:rPr dirty="0"/>
              <a:t> | </a:t>
            </a:r>
            <a:r>
              <a:rPr dirty="0" err="1"/>
              <a:t>每次产出进入同一个项目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教师提供较多结构</a:t>
            </a:r>
            <a:r>
              <a:rPr dirty="0"/>
              <a:t> | </a:t>
            </a:r>
            <a:r>
              <a:rPr dirty="0" err="1"/>
              <a:t>学员需要做出自己的取舍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重点是是否理解</a:t>
            </a:r>
            <a:r>
              <a:rPr dirty="0"/>
              <a:t> | </a:t>
            </a:r>
            <a:r>
              <a:rPr dirty="0" err="1"/>
              <a:t>重点是是否有证据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看见参考答案</a:t>
            </a:r>
            <a:r>
              <a:rPr dirty="0"/>
              <a:t> | </a:t>
            </a:r>
            <a:r>
              <a:rPr dirty="0" err="1"/>
              <a:t>接受评审、修改和迭代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完成课堂练习</a:t>
            </a:r>
            <a:r>
              <a:rPr dirty="0"/>
              <a:t> | </a:t>
            </a:r>
            <a:r>
              <a:rPr dirty="0" err="1"/>
              <a:t>形成完整项目材料</a:t>
            </a:r>
            <a:r>
              <a:rPr dirty="0"/>
              <a:t> |</a:t>
            </a:r>
          </a:p>
          <a:p>
            <a:endParaRPr dirty="0"/>
          </a:p>
          <a:p>
            <a:r>
              <a:rPr dirty="0" err="1"/>
              <a:t>项目班不是把第一阶段再讲一次，而更接近一个项目工作室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四、公共项目＋个人方向项目</a:t>
            </a:r>
            <a:endParaRPr dirty="0"/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公共项目</a:t>
            </a:r>
            <a:endParaRPr dirty="0"/>
          </a:p>
          <a:p>
            <a:endParaRPr dirty="0"/>
          </a:p>
          <a:p>
            <a:r>
              <a:rPr dirty="0"/>
              <a:t>所有学员围绕一个共同项目走通AI产品从0到1：</a:t>
            </a:r>
          </a:p>
          <a:p>
            <a:endParaRPr dirty="0"/>
          </a:p>
          <a:p>
            <a:r>
              <a:rPr dirty="0"/>
              <a:t>1. </a:t>
            </a:r>
            <a:r>
              <a:rPr dirty="0" err="1"/>
              <a:t>教师发布业务任务和基础材料</a:t>
            </a:r>
            <a:r>
              <a:rPr dirty="0"/>
              <a:t>；</a:t>
            </a:r>
          </a:p>
          <a:p>
            <a:r>
              <a:rPr dirty="0"/>
              <a:t>2. </a:t>
            </a:r>
            <a:r>
              <a:rPr dirty="0" err="1"/>
              <a:t>学员先提交个人判断</a:t>
            </a:r>
            <a:r>
              <a:rPr dirty="0"/>
              <a:t>；</a:t>
            </a:r>
          </a:p>
          <a:p>
            <a:r>
              <a:rPr dirty="0"/>
              <a:t>3. </a:t>
            </a:r>
            <a:r>
              <a:rPr dirty="0" err="1"/>
              <a:t>课堂比较不同方案</a:t>
            </a:r>
            <a:r>
              <a:rPr dirty="0"/>
              <a:t>；</a:t>
            </a:r>
          </a:p>
          <a:p>
            <a:r>
              <a:rPr dirty="0"/>
              <a:t>4. </a:t>
            </a:r>
            <a:r>
              <a:rPr dirty="0" err="1"/>
              <a:t>教师讲评关键决策</a:t>
            </a:r>
            <a:r>
              <a:rPr dirty="0"/>
              <a:t>；</a:t>
            </a:r>
          </a:p>
          <a:p>
            <a:r>
              <a:rPr dirty="0"/>
              <a:t>5. </a:t>
            </a:r>
            <a:r>
              <a:rPr dirty="0" err="1"/>
              <a:t>学员修改个人版本</a:t>
            </a:r>
            <a:r>
              <a:rPr dirty="0"/>
              <a:t>；</a:t>
            </a:r>
          </a:p>
          <a:p>
            <a:r>
              <a:rPr dirty="0"/>
              <a:t>6. </a:t>
            </a:r>
            <a:r>
              <a:rPr dirty="0" err="1"/>
              <a:t>继续进入下一阶段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公共项目用于统一项目标准，降低第一次独立选题的困难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个人方向项目</a:t>
            </a:r>
            <a:endParaRPr dirty="0"/>
          </a:p>
          <a:p>
            <a:endParaRPr dirty="0"/>
          </a:p>
          <a:p>
            <a:r>
              <a:rPr dirty="0" err="1"/>
              <a:t>学员结合过去行业、工作场景、可访问用户、可获得数据、目标岗位和希望证明的能力选择项目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可能方向包括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企业知识库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销售辅助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内容生产与审核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用户反馈分析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会议任务跟进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商品决策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招聘或培训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特定行业AI应用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个人项目用于形成与背景和求职方向有关的差异化证据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五、小组形式怎样工作</a:t>
            </a:r>
            <a:endParaRPr dirty="0"/>
          </a:p>
          <a:p>
            <a:endParaRPr dirty="0"/>
          </a:p>
          <a:p>
            <a:r>
              <a:rPr dirty="0" err="1"/>
              <a:t>小组不是多人共同交一份作业。每个人对自己的项目负责，小组用于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质疑问题是否真实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检查MVP是否过大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体验彼此Demo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交换测试用例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帮助发现Bad</a:t>
            </a:r>
            <a:r>
              <a:rPr dirty="0"/>
              <a:t> Case；</a:t>
            </a:r>
          </a:p>
          <a:p>
            <a:r>
              <a:rPr dirty="0"/>
              <a:t>- </a:t>
            </a:r>
            <a:r>
              <a:rPr dirty="0" err="1"/>
              <a:t>模拟产品评审和用户反馈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比较不同项目的处理方式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这样学员重点完成自己的项目，同时可以通过同学接触更多Workflow、RAG、Agent、To</a:t>
            </a:r>
            <a:r>
              <a:rPr dirty="0"/>
              <a:t> </a:t>
            </a:r>
            <a:r>
              <a:rPr dirty="0" err="1"/>
              <a:t>B、To</a:t>
            </a:r>
            <a:r>
              <a:rPr dirty="0"/>
              <a:t> </a:t>
            </a:r>
            <a:r>
              <a:rPr dirty="0" err="1"/>
              <a:t>C和行业案例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六、每次项目课的六步节奏</a:t>
            </a:r>
            <a:endParaRPr dirty="0"/>
          </a:p>
          <a:p>
            <a:endParaRPr dirty="0"/>
          </a:p>
          <a:p>
            <a:r>
              <a:rPr dirty="0"/>
              <a:t>1. **</a:t>
            </a:r>
            <a:r>
              <a:rPr dirty="0" err="1"/>
              <a:t>项目任务发布</a:t>
            </a:r>
            <a:r>
              <a:rPr dirty="0"/>
              <a:t>**：</a:t>
            </a:r>
            <a:r>
              <a:rPr dirty="0" err="1"/>
              <a:t>教师明确本阶段需要解决的问题</a:t>
            </a:r>
            <a:r>
              <a:rPr dirty="0"/>
              <a:t>；</a:t>
            </a:r>
          </a:p>
          <a:p>
            <a:r>
              <a:rPr dirty="0"/>
              <a:t>2. **</a:t>
            </a:r>
            <a:r>
              <a:rPr dirty="0" err="1"/>
              <a:t>学员完成初稿</a:t>
            </a:r>
            <a:r>
              <a:rPr dirty="0"/>
              <a:t>**：先形成个人V0.1，不等待标准答案；</a:t>
            </a:r>
          </a:p>
          <a:p>
            <a:r>
              <a:rPr dirty="0"/>
              <a:t>3. **</a:t>
            </a:r>
            <a:r>
              <a:rPr dirty="0" err="1"/>
              <a:t>展示代表方案</a:t>
            </a:r>
            <a:r>
              <a:rPr dirty="0"/>
              <a:t>**：</a:t>
            </a:r>
            <a:r>
              <a:rPr dirty="0" err="1"/>
              <a:t>选择范围过大、过于保守、技术堆叠或证据充分的典型作业</a:t>
            </a:r>
            <a:r>
              <a:rPr dirty="0"/>
              <a:t>；</a:t>
            </a:r>
          </a:p>
          <a:p>
            <a:r>
              <a:rPr dirty="0"/>
              <a:t>4. **</a:t>
            </a:r>
            <a:r>
              <a:rPr dirty="0" err="1"/>
              <a:t>同学互评</a:t>
            </a:r>
            <a:r>
              <a:rPr dirty="0"/>
              <a:t>**：</a:t>
            </a:r>
            <a:r>
              <a:rPr dirty="0" err="1"/>
              <a:t>围绕问题、MVP、数据、评测和风险提出问题</a:t>
            </a:r>
            <a:r>
              <a:rPr dirty="0"/>
              <a:t>；</a:t>
            </a:r>
          </a:p>
          <a:p>
            <a:r>
              <a:rPr dirty="0"/>
              <a:t>5. **</a:t>
            </a:r>
            <a:r>
              <a:rPr dirty="0" err="1"/>
              <a:t>教师点评</a:t>
            </a:r>
            <a:r>
              <a:rPr dirty="0"/>
              <a:t>**：</a:t>
            </a:r>
            <a:r>
              <a:rPr dirty="0" err="1"/>
              <a:t>指出缺少证据、范围不合理、自动化风险和指标问题</a:t>
            </a:r>
            <a:r>
              <a:rPr dirty="0"/>
              <a:t>；</a:t>
            </a:r>
          </a:p>
          <a:p>
            <a:r>
              <a:rPr dirty="0"/>
              <a:t>6. **</a:t>
            </a:r>
            <a:r>
              <a:rPr dirty="0" err="1"/>
              <a:t>修改迭代</a:t>
            </a:r>
            <a:r>
              <a:rPr dirty="0"/>
              <a:t>**：保留V0.1、V0.2、V1.0以及修改原因。</a:t>
            </a:r>
          </a:p>
          <a:p>
            <a:endParaRPr dirty="0"/>
          </a:p>
          <a:p>
            <a:r>
              <a:rPr dirty="0" err="1"/>
              <a:t>项目班的价值不是只得到最终答案，而是看见项目怎样被迭代出来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七、一个项目怎样成长</a:t>
            </a:r>
            <a:endParaRPr dirty="0"/>
          </a:p>
          <a:p>
            <a:endParaRPr dirty="0"/>
          </a:p>
          <a:p>
            <a:r>
              <a:rPr dirty="0" err="1"/>
              <a:t>以“企业AI知识库”为例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初始想法</a:t>
            </a:r>
            <a:endParaRPr dirty="0"/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做一个企业AI知识库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此时缺少用户、问题、数据、评测和权限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问题验证后</a:t>
            </a:r>
            <a:endParaRPr dirty="0"/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面向售前顾问的产品资料检索与回答助手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场景是售前顾问准备客户方案时，需要从分散的产品手册、报价说明和历史案例中查找信息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MVP设计后</a:t>
            </a:r>
            <a:endParaRPr dirty="0"/>
          </a:p>
          <a:p>
            <a:endParaRPr dirty="0"/>
          </a:p>
          <a:p>
            <a:r>
              <a:rPr dirty="0" err="1"/>
              <a:t>第一期做：资料上传、检索、候选答案、来源展示、无答案兜底和用户反馈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第一期不做：自动生成完整销售方案、自动发送客户、自动承诺价格和连接所有企业系统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Demo以后</a:t>
            </a:r>
            <a:endParaRPr dirty="0"/>
          </a:p>
          <a:p>
            <a:endParaRPr dirty="0"/>
          </a:p>
          <a:p>
            <a:r>
              <a:rPr dirty="0" err="1"/>
              <a:t>形成问答、来源、无答案、权限和反馈等可运行状态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评测以后</a:t>
            </a:r>
            <a:endParaRPr dirty="0"/>
          </a:p>
          <a:p>
            <a:endParaRPr dirty="0"/>
          </a:p>
          <a:p>
            <a:r>
              <a:rPr dirty="0" err="1"/>
              <a:t>建立真实问题、标准答案、来源文档、检索命中率、答案正确性和无依据回答率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Bad </a:t>
            </a:r>
            <a:r>
              <a:rPr dirty="0" err="1"/>
              <a:t>Case迭代以后</a:t>
            </a:r>
            <a:endParaRPr dirty="0"/>
          </a:p>
          <a:p>
            <a:endParaRPr dirty="0"/>
          </a:p>
          <a:p>
            <a:r>
              <a:rPr dirty="0"/>
              <a:t>发现型号混淆、旧价格资料误检索、表格切分差和多产品对比不稳定，进而修改文档版本、Metadata过滤、表格处理、问题改写和无答案兜底。</a:t>
            </a:r>
          </a:p>
          <a:p>
            <a:endParaRPr dirty="0"/>
          </a:p>
          <a:p>
            <a:r>
              <a:rPr dirty="0" err="1"/>
              <a:t>最终学员能够讲清：为什么选题、为什么需要RAG、MVP如何取舍、评测集从哪里来、发现什么问题、怎样修改，以及项目仍有什么限制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教师总结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项目班不是把“企业知识库”五个字扩写成一份长PRD，而是把它一步一步变成有问题、有产品、有测试、有迭代的完整项目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八、项目推进的七个阶段</a:t>
            </a:r>
            <a:endParaRPr dirty="0"/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阶段一：选题与问题验证</a:t>
            </a:r>
            <a:endParaRPr dirty="0"/>
          </a:p>
          <a:p>
            <a:endParaRPr dirty="0"/>
          </a:p>
          <a:p>
            <a:r>
              <a:rPr dirty="0" err="1"/>
              <a:t>完成用户、场景、当前流程、问题证据、数据来源和继续条件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阶段二：AI介入与MVP</a:t>
            </a:r>
            <a:endParaRPr dirty="0"/>
          </a:p>
          <a:p>
            <a:endParaRPr dirty="0"/>
          </a:p>
          <a:p>
            <a:r>
              <a:rPr dirty="0" err="1"/>
              <a:t>完成人机分工、技术选择、MVP范围和初始评测计划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阶段三：正式PRD与原型</a:t>
            </a:r>
            <a:endParaRPr dirty="0"/>
          </a:p>
          <a:p>
            <a:endParaRPr dirty="0"/>
          </a:p>
          <a:p>
            <a:r>
              <a:rPr dirty="0" err="1"/>
              <a:t>完成PRD、产品流程、页面、输入输出、异常、确认和验收标准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阶段四：可运行Demo</a:t>
            </a:r>
            <a:endParaRPr dirty="0"/>
          </a:p>
          <a:p>
            <a:endParaRPr dirty="0"/>
          </a:p>
          <a:p>
            <a:r>
              <a:rPr dirty="0" err="1"/>
              <a:t>覆盖核心任务、正常输入、AI结果、错误状态和用户确认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阶段五：评测与Bad</a:t>
            </a:r>
            <a:r>
              <a:rPr dirty="0"/>
              <a:t> Case</a:t>
            </a:r>
          </a:p>
          <a:p>
            <a:endParaRPr dirty="0"/>
          </a:p>
          <a:p>
            <a:r>
              <a:rPr dirty="0" err="1"/>
              <a:t>完成评测集、标准答案、指标、模型测试、Bad</a:t>
            </a:r>
            <a:r>
              <a:rPr dirty="0"/>
              <a:t> </a:t>
            </a:r>
            <a:r>
              <a:rPr dirty="0" err="1"/>
              <a:t>Case和高风险错误分析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阶段六：迭代、成本与价值</a:t>
            </a:r>
            <a:endParaRPr dirty="0"/>
          </a:p>
          <a:p>
            <a:endParaRPr dirty="0"/>
          </a:p>
          <a:p>
            <a:r>
              <a:rPr dirty="0" err="1"/>
              <a:t>完成方案修改、回归评测、模型选择、使用成本、ROI和项目局限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阶段七：项目展示与复盘</a:t>
            </a:r>
            <a:endParaRPr dirty="0"/>
          </a:p>
          <a:p>
            <a:endParaRPr dirty="0"/>
          </a:p>
          <a:p>
            <a:r>
              <a:rPr dirty="0" err="1"/>
              <a:t>完成项目展示、证据链、个人贡献和项目讲述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九、最终交付物</a:t>
            </a:r>
            <a:endParaRPr dirty="0"/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问题与证据</a:t>
            </a:r>
            <a:endParaRPr dirty="0"/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用户和场景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访谈或业务材料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当前流程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问题和价值判断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产品方案</a:t>
            </a:r>
            <a:endParaRPr dirty="0"/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AI产品决策图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产品流程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人机协作</a:t>
            </a:r>
            <a:r>
              <a:rPr dirty="0"/>
              <a:t>；</a:t>
            </a:r>
          </a:p>
          <a:p>
            <a:r>
              <a:rPr dirty="0"/>
              <a:t>- MVP；</a:t>
            </a:r>
          </a:p>
          <a:p>
            <a:r>
              <a:rPr dirty="0"/>
              <a:t>- </a:t>
            </a:r>
            <a:r>
              <a:rPr dirty="0" err="1"/>
              <a:t>正式PRD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产品实现</a:t>
            </a:r>
            <a:endParaRPr dirty="0"/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原型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可运行Demo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正常和异常状态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用户确认流程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AI效果</a:t>
            </a:r>
            <a:endParaRPr dirty="0"/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评测集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评测报告</a:t>
            </a:r>
            <a:r>
              <a:rPr dirty="0"/>
              <a:t>；</a:t>
            </a:r>
          </a:p>
          <a:p>
            <a:r>
              <a:rPr dirty="0"/>
              <a:t>- Bad Case；</a:t>
            </a:r>
          </a:p>
          <a:p>
            <a:r>
              <a:rPr dirty="0"/>
              <a:t>- </a:t>
            </a:r>
            <a:r>
              <a:rPr dirty="0" err="1"/>
              <a:t>模型比较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迭代前后变化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落地判断</a:t>
            </a:r>
            <a:endParaRPr dirty="0"/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模型方案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部署和安全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成本</a:t>
            </a:r>
            <a:r>
              <a:rPr dirty="0"/>
              <a:t>；</a:t>
            </a:r>
          </a:p>
          <a:p>
            <a:r>
              <a:rPr dirty="0"/>
              <a:t>- ROI；</a:t>
            </a:r>
          </a:p>
          <a:p>
            <a:r>
              <a:rPr dirty="0"/>
              <a:t>- </a:t>
            </a:r>
            <a:r>
              <a:rPr dirty="0" err="1"/>
              <a:t>风险和局限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对外展示</a:t>
            </a:r>
            <a:endParaRPr dirty="0"/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作品集项目页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项目展示材料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项目讲述稿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个人贡献说明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第二阶段重点是把项目做完整；第三阶段再结合具体JD打磨简历、作品集和面试表达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十、项目班不替学员批量生成项目材料</a:t>
            </a:r>
            <a:endParaRPr dirty="0"/>
          </a:p>
          <a:p>
            <a:endParaRPr dirty="0"/>
          </a:p>
          <a:p>
            <a:r>
              <a:rPr dirty="0" err="1"/>
              <a:t>如果只是把选题交给AI，让AI生成PRD、流程图、原型和总结，这些材料很快会失去区分度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项目班真正训练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为什么选择问题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使用什么证据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方案经过什么取舍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数据从哪里来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怎样测试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发现什么错误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为什么修改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学员本人完成什么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哪些结论仍然是假设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核心观点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AI可以帮助生产材料，但不能替学员完成项目责任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十一、适合项目班的学员</a:t>
            </a:r>
            <a:endParaRPr dirty="0"/>
          </a:p>
          <a:p>
            <a:endParaRPr dirty="0"/>
          </a:p>
          <a:p>
            <a:r>
              <a:rPr dirty="0" err="1"/>
              <a:t>适合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已经理解AI产品基础概念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学过Prompt、Workflow、RAG或Agent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但缺少完整项目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希望转型AI产品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想把原行业场景改造成AI产品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自己做项目容易停在想法或Demo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需要外部节奏、点评和多轮修改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愿意投入时间完成作业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暂时不适合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只想听课，不准备完成项目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希望老师直接提供可以投递的成品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不愿意接受方案被修改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希望把课程项目包装成企业上线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没有时间做任何课后产出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只想收集更多工具和资料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十二、学员需要投入什么</a:t>
            </a:r>
            <a:endParaRPr dirty="0"/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完成每阶段初稿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接受小组和教师评审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根据反馈修改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收集测试材料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建立评测集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运行真实测试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记录Bad</a:t>
            </a:r>
            <a:r>
              <a:rPr dirty="0"/>
              <a:t> Case；</a:t>
            </a:r>
          </a:p>
          <a:p>
            <a:r>
              <a:rPr dirty="0"/>
              <a:t>- </a:t>
            </a:r>
            <a:r>
              <a:rPr dirty="0" err="1"/>
              <a:t>保存项目版本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清楚说明个人贡献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对项目最终质量负责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项目班不是买完以后等待老师发项目，而是在教师、同学和里程碑支持下真正完成自己的项目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十三、项目班的三个具体价值</a:t>
            </a:r>
            <a:endParaRPr dirty="0"/>
          </a:p>
          <a:p>
            <a:endParaRPr dirty="0"/>
          </a:p>
          <a:p>
            <a:r>
              <a:rPr dirty="0"/>
              <a:t>1. **</a:t>
            </a:r>
            <a:r>
              <a:rPr dirty="0" err="1"/>
              <a:t>作业会被真正评审</a:t>
            </a:r>
            <a:r>
              <a:rPr dirty="0"/>
              <a:t>**：</a:t>
            </a:r>
            <a:r>
              <a:rPr dirty="0" err="1"/>
              <a:t>不仅检查是否提交，还判断问题、MVP、评测和证据是否成立</a:t>
            </a:r>
            <a:r>
              <a:rPr dirty="0"/>
              <a:t>；</a:t>
            </a:r>
          </a:p>
          <a:p>
            <a:r>
              <a:rPr dirty="0"/>
              <a:t>2. **</a:t>
            </a:r>
            <a:r>
              <a:rPr dirty="0" err="1"/>
              <a:t>能看见项目版本变化</a:t>
            </a:r>
            <a:r>
              <a:rPr dirty="0"/>
              <a:t>**：</a:t>
            </a:r>
            <a:r>
              <a:rPr dirty="0" err="1"/>
              <a:t>从模糊想法到PRD、Demo、评测和迭代</a:t>
            </a:r>
            <a:r>
              <a:rPr dirty="0"/>
              <a:t>；</a:t>
            </a:r>
          </a:p>
          <a:p>
            <a:r>
              <a:rPr dirty="0"/>
              <a:t>3. **</a:t>
            </a:r>
            <a:r>
              <a:rPr dirty="0" err="1"/>
              <a:t>接触多个行业案例</a:t>
            </a:r>
            <a:r>
              <a:rPr dirty="0"/>
              <a:t>**：</a:t>
            </a:r>
            <a:r>
              <a:rPr dirty="0" err="1"/>
              <a:t>通过同学项目看到不同用户、产品形态、Bad</a:t>
            </a:r>
            <a:r>
              <a:rPr dirty="0"/>
              <a:t> </a:t>
            </a:r>
            <a:r>
              <a:rPr dirty="0" err="1"/>
              <a:t>Case、模型和成本方案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十四、整节课最终收尾</a:t>
            </a:r>
            <a:endParaRPr dirty="0"/>
          </a:p>
          <a:p>
            <a:endParaRPr dirty="0"/>
          </a:p>
          <a:p>
            <a:r>
              <a:rPr dirty="0" err="1"/>
              <a:t>教师可以这样说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第一阶段结束以后，我不希望大家只记得自己学过Prompt、RAG、Agent、PRD和评测</a:t>
            </a:r>
            <a:r>
              <a:rPr dirty="0"/>
              <a:t>。  </a:t>
            </a:r>
          </a:p>
          <a:p>
            <a:r>
              <a:rPr dirty="0"/>
              <a:t>&gt; 更重要的是，当一个新的AI产品需求出现在面前，你已经开始知道应该问什么：谁的问题、为什么需要AI、规则和模型怎样分工、MVP做什么、怎样评测、错了怎么办，以及这件事是否值得做。  </a:t>
            </a:r>
          </a:p>
          <a:p>
            <a:r>
              <a:rPr dirty="0"/>
              <a:t>&gt; </a:t>
            </a:r>
            <a:r>
              <a:rPr dirty="0" err="1"/>
              <a:t>这意味着我们已经从简单使用AI工具，开始走向AI产品判断</a:t>
            </a:r>
            <a:r>
              <a:rPr dirty="0"/>
              <a:t>。  </a:t>
            </a:r>
          </a:p>
          <a:p>
            <a:r>
              <a:rPr dirty="0"/>
              <a:t>&gt; </a:t>
            </a:r>
            <a:r>
              <a:rPr dirty="0" err="1"/>
              <a:t>但判断只有进入一个真实项目，经过产品设计、Demo、评测和迭代，才会变成可以被证明的能力。第二阶段要完成的，就是这一步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最后三句话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第一阶段，让你理解AI产品</a:t>
            </a:r>
            <a:r>
              <a:rPr dirty="0"/>
              <a:t>。  </a:t>
            </a:r>
          </a:p>
          <a:p>
            <a:r>
              <a:rPr dirty="0"/>
              <a:t>&gt; </a:t>
            </a:r>
            <a:r>
              <a:rPr dirty="0" err="1"/>
              <a:t>第二阶段，让你真正做出AI项目</a:t>
            </a:r>
            <a:r>
              <a:rPr dirty="0"/>
              <a:t>。  </a:t>
            </a:r>
          </a:p>
          <a:p>
            <a:r>
              <a:rPr dirty="0"/>
              <a:t>&gt; </a:t>
            </a:r>
            <a:r>
              <a:rPr dirty="0" err="1"/>
              <a:t>第三阶段，让你把项目转化成职业机会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可以补充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如果你目前的目标只是系统理解AI产品，第一阶段已经提供了一套相对完整的方法</a:t>
            </a:r>
            <a:r>
              <a:rPr dirty="0"/>
              <a:t>。  </a:t>
            </a:r>
          </a:p>
          <a:p>
            <a:r>
              <a:rPr dirty="0"/>
              <a:t>&gt; </a:t>
            </a:r>
            <a:r>
              <a:rPr dirty="0" err="1"/>
              <a:t>如果你希望进一步完成个人项目、形成项目证据，第二阶段会更适合你</a:t>
            </a:r>
            <a:r>
              <a:rPr dirty="0"/>
              <a:t>。  </a:t>
            </a:r>
          </a:p>
          <a:p>
            <a:r>
              <a:rPr dirty="0"/>
              <a:t>&gt; </a:t>
            </a:r>
            <a:r>
              <a:rPr dirty="0" err="1"/>
              <a:t>大家可以结合自己的时间、目标和投入意愿，判断是否继续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---</a:t>
            </a:r>
          </a:p>
          <a:p>
            <a:endParaRPr dirty="0"/>
          </a:p>
          <a:p>
            <a:r>
              <a:rPr dirty="0"/>
              <a:t>[</a:t>
            </a:r>
            <a:r>
              <a:rPr dirty="0" err="1"/>
              <a:t>讲义来源</a:t>
            </a:r>
            <a:r>
              <a:rPr dirty="0"/>
              <a:t>]</a:t>
            </a:r>
          </a:p>
          <a:p>
            <a:r>
              <a:rPr dirty="0"/>
              <a:t>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/第12课_第一阶段能力验收与职业行动_重做工作区/第12课_第一阶段总结_AI产品趋势与项目实战_完整讲义_v0.2.md</a:t>
            </a:r>
          </a:p>
          <a:p>
            <a:r>
              <a:rPr dirty="0" err="1"/>
              <a:t>最终交付；项目班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最后不要以工具清单收尾。请强调：真正拉开差距的，是能否用完整项目证明自己的判断、执行和复盘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讲义中的相关部分：课程收尾</a:t>
            </a:r>
            <a:endParaRPr dirty="0"/>
          </a:p>
          <a:p>
            <a:endParaRPr dirty="0"/>
          </a:p>
          <a:p>
            <a:r>
              <a:rPr dirty="0"/>
              <a:t>&gt; 建议时长：30分钟</a:t>
            </a:r>
          </a:p>
          <a:p>
            <a:endParaRPr dirty="0"/>
          </a:p>
          <a:p>
            <a:r>
              <a:rPr dirty="0" err="1"/>
              <a:t>这一部分既承担第一阶段收尾，也承担第二阶段介绍。需要让学员看见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1. </a:t>
            </a:r>
            <a:r>
              <a:rPr dirty="0" err="1"/>
              <a:t>为什么听懂以后仍然需要项目</a:t>
            </a:r>
            <a:r>
              <a:rPr dirty="0"/>
              <a:t>；</a:t>
            </a:r>
          </a:p>
          <a:p>
            <a:r>
              <a:rPr dirty="0"/>
              <a:t>2. </a:t>
            </a:r>
            <a:r>
              <a:rPr dirty="0" err="1"/>
              <a:t>项目班和普通课程有什么不同</a:t>
            </a:r>
            <a:r>
              <a:rPr dirty="0"/>
              <a:t>；</a:t>
            </a:r>
          </a:p>
          <a:p>
            <a:r>
              <a:rPr dirty="0"/>
              <a:t>3. </a:t>
            </a:r>
            <a:r>
              <a:rPr dirty="0" err="1"/>
              <a:t>一个项目会怎样一步一步做出来</a:t>
            </a:r>
            <a:r>
              <a:rPr dirty="0"/>
              <a:t>；</a:t>
            </a:r>
          </a:p>
          <a:p>
            <a:r>
              <a:rPr dirty="0"/>
              <a:t>4. </a:t>
            </a:r>
            <a:r>
              <a:rPr dirty="0" err="1"/>
              <a:t>学员需要投入什么</a:t>
            </a:r>
            <a:r>
              <a:rPr dirty="0"/>
              <a:t>；</a:t>
            </a:r>
          </a:p>
          <a:p>
            <a:r>
              <a:rPr dirty="0"/>
              <a:t>5. </a:t>
            </a:r>
            <a:r>
              <a:rPr dirty="0" err="1"/>
              <a:t>最终能够带走什么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一、目前距离真实工作最缺什么</a:t>
            </a:r>
            <a:endParaRPr dirty="0"/>
          </a:p>
          <a:p>
            <a:endParaRPr dirty="0"/>
          </a:p>
          <a:p>
            <a:r>
              <a:rPr dirty="0" err="1"/>
              <a:t>让学员选择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A. </a:t>
            </a:r>
            <a:r>
              <a:rPr dirty="0" err="1"/>
              <a:t>还需要学习更多AI概念</a:t>
            </a:r>
            <a:r>
              <a:rPr dirty="0"/>
              <a:t>；</a:t>
            </a:r>
          </a:p>
          <a:p>
            <a:r>
              <a:rPr dirty="0"/>
              <a:t>- B. </a:t>
            </a:r>
            <a:r>
              <a:rPr dirty="0" err="1"/>
              <a:t>还需要掌握更多AI工具</a:t>
            </a:r>
            <a:r>
              <a:rPr dirty="0"/>
              <a:t>；</a:t>
            </a:r>
          </a:p>
          <a:p>
            <a:r>
              <a:rPr dirty="0"/>
              <a:t>- C. </a:t>
            </a:r>
            <a:r>
              <a:rPr dirty="0" err="1"/>
              <a:t>缺少一个自己完整做过的AI项目</a:t>
            </a:r>
            <a:r>
              <a:rPr dirty="0"/>
              <a:t>；</a:t>
            </a:r>
          </a:p>
          <a:p>
            <a:r>
              <a:rPr dirty="0"/>
              <a:t>- D. </a:t>
            </a:r>
            <a:r>
              <a:rPr dirty="0" err="1"/>
              <a:t>缺少简历、作品集和面试技巧</a:t>
            </a:r>
            <a:r>
              <a:rPr dirty="0"/>
              <a:t>；</a:t>
            </a:r>
          </a:p>
          <a:p>
            <a:r>
              <a:rPr dirty="0"/>
              <a:t>- E. </a:t>
            </a:r>
            <a:r>
              <a:rPr dirty="0" err="1"/>
              <a:t>还不确定职业方向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教师说明：不同学员可能答案不同，但对许多人来说，中间最关键的一步是C</a:t>
            </a:r>
            <a:r>
              <a:rPr dirty="0"/>
              <a:t>——</a:t>
            </a:r>
            <a:r>
              <a:rPr dirty="0" err="1"/>
              <a:t>还没有一个能够把前面能力连接起来的个人项目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展示三阶段关系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第一阶段解决“你懂不懂</a:t>
            </a:r>
            <a:r>
              <a:rPr dirty="0"/>
              <a:t>”  </a:t>
            </a:r>
          </a:p>
          <a:p>
            <a:r>
              <a:rPr dirty="0"/>
              <a:t>&gt; </a:t>
            </a:r>
            <a:r>
              <a:rPr dirty="0" err="1"/>
              <a:t>第二阶段解决“你做没做</a:t>
            </a:r>
            <a:r>
              <a:rPr dirty="0"/>
              <a:t>”  </a:t>
            </a:r>
          </a:p>
          <a:p>
            <a:r>
              <a:rPr dirty="0"/>
              <a:t>&gt; </a:t>
            </a:r>
            <a:r>
              <a:rPr dirty="0" err="1"/>
              <a:t>第三阶段解决“你讲不讲得清</a:t>
            </a:r>
            <a:r>
              <a:rPr dirty="0"/>
              <a:t>”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二、为什么听懂不等于做过</a:t>
            </a:r>
            <a:endParaRPr dirty="0"/>
          </a:p>
          <a:p>
            <a:endParaRPr dirty="0"/>
          </a:p>
          <a:p>
            <a:r>
              <a:rPr dirty="0" err="1"/>
              <a:t>真实项目需要连续完成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找到具体用户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验证真实问题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判断AI是否适合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准备数据和材料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设计AI、规则和人工分工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确定MVP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编写PRD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做原型和Demo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建立评测集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分析Bad</a:t>
            </a:r>
            <a:r>
              <a:rPr dirty="0"/>
              <a:t> Case；</a:t>
            </a:r>
          </a:p>
          <a:p>
            <a:r>
              <a:rPr dirty="0"/>
              <a:t>- </a:t>
            </a:r>
            <a:r>
              <a:rPr dirty="0" err="1"/>
              <a:t>比较模型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判断成本和ROI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根据测试结果修改方案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第一阶段中每项能力都接触过，但分散在不同案例。第二阶段要把它们集中到一个项目，并保持前后一致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三、第一阶段和项目班的区别</a:t>
            </a:r>
            <a:endParaRPr dirty="0"/>
          </a:p>
          <a:p>
            <a:endParaRPr dirty="0"/>
          </a:p>
          <a:p>
            <a:r>
              <a:rPr dirty="0"/>
              <a:t>| </a:t>
            </a:r>
            <a:r>
              <a:rPr dirty="0" err="1"/>
              <a:t>第一阶段系统课程</a:t>
            </a:r>
            <a:r>
              <a:rPr dirty="0"/>
              <a:t> | </a:t>
            </a:r>
            <a:r>
              <a:rPr dirty="0" err="1"/>
              <a:t>第二阶段项目班</a:t>
            </a:r>
            <a:r>
              <a:rPr dirty="0"/>
              <a:t> |</a:t>
            </a:r>
          </a:p>
          <a:p>
            <a:r>
              <a:rPr dirty="0"/>
              <a:t>|---|---|</a:t>
            </a:r>
          </a:p>
          <a:p>
            <a:r>
              <a:rPr dirty="0"/>
              <a:t>| </a:t>
            </a:r>
            <a:r>
              <a:rPr dirty="0" err="1"/>
              <a:t>以知识和方法为主</a:t>
            </a:r>
            <a:r>
              <a:rPr dirty="0"/>
              <a:t> | </a:t>
            </a:r>
            <a:r>
              <a:rPr dirty="0" err="1"/>
              <a:t>以项目交付为主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教师先解释概念</a:t>
            </a:r>
            <a:r>
              <a:rPr dirty="0"/>
              <a:t> | </a:t>
            </a:r>
            <a:r>
              <a:rPr dirty="0" err="1"/>
              <a:t>学员先面对不完整任务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案例用于理解知识</a:t>
            </a:r>
            <a:r>
              <a:rPr dirty="0"/>
              <a:t> | </a:t>
            </a:r>
            <a:r>
              <a:rPr dirty="0" err="1"/>
              <a:t>知识用于解决项目问题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练习相对独立</a:t>
            </a:r>
            <a:r>
              <a:rPr dirty="0"/>
              <a:t> | </a:t>
            </a:r>
            <a:r>
              <a:rPr dirty="0" err="1"/>
              <a:t>每次产出进入同一个项目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教师提供较多结构</a:t>
            </a:r>
            <a:r>
              <a:rPr dirty="0"/>
              <a:t> | </a:t>
            </a:r>
            <a:r>
              <a:rPr dirty="0" err="1"/>
              <a:t>学员需要做出自己的取舍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重点是是否理解</a:t>
            </a:r>
            <a:r>
              <a:rPr dirty="0"/>
              <a:t> | </a:t>
            </a:r>
            <a:r>
              <a:rPr dirty="0" err="1"/>
              <a:t>重点是是否有证据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看见参考答案</a:t>
            </a:r>
            <a:r>
              <a:rPr dirty="0"/>
              <a:t> | </a:t>
            </a:r>
            <a:r>
              <a:rPr dirty="0" err="1"/>
              <a:t>接受评审、修改和迭代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完成课堂练习</a:t>
            </a:r>
            <a:r>
              <a:rPr dirty="0"/>
              <a:t> | </a:t>
            </a:r>
            <a:r>
              <a:rPr dirty="0" err="1"/>
              <a:t>形成完整项目材料</a:t>
            </a:r>
            <a:r>
              <a:rPr dirty="0"/>
              <a:t> |</a:t>
            </a:r>
          </a:p>
          <a:p>
            <a:endParaRPr dirty="0"/>
          </a:p>
          <a:p>
            <a:r>
              <a:rPr dirty="0" err="1"/>
              <a:t>项目班不是把第一阶段再讲一次，而更接近一个项目工作室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四、公共项目＋个人方向项目</a:t>
            </a:r>
            <a:endParaRPr dirty="0"/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公共项目</a:t>
            </a:r>
            <a:endParaRPr dirty="0"/>
          </a:p>
          <a:p>
            <a:endParaRPr dirty="0"/>
          </a:p>
          <a:p>
            <a:r>
              <a:rPr dirty="0"/>
              <a:t>所有学员围绕一个共同项目走通AI产品从0到1：</a:t>
            </a:r>
          </a:p>
          <a:p>
            <a:endParaRPr dirty="0"/>
          </a:p>
          <a:p>
            <a:r>
              <a:rPr dirty="0"/>
              <a:t>1. </a:t>
            </a:r>
            <a:r>
              <a:rPr dirty="0" err="1"/>
              <a:t>教师发布业务任务和基础材料</a:t>
            </a:r>
            <a:r>
              <a:rPr dirty="0"/>
              <a:t>；</a:t>
            </a:r>
          </a:p>
          <a:p>
            <a:r>
              <a:rPr dirty="0"/>
              <a:t>2. </a:t>
            </a:r>
            <a:r>
              <a:rPr dirty="0" err="1"/>
              <a:t>学员先提交个人判断</a:t>
            </a:r>
            <a:r>
              <a:rPr dirty="0"/>
              <a:t>；</a:t>
            </a:r>
          </a:p>
          <a:p>
            <a:r>
              <a:rPr dirty="0"/>
              <a:t>3. </a:t>
            </a:r>
            <a:r>
              <a:rPr dirty="0" err="1"/>
              <a:t>课堂比较不同方案</a:t>
            </a:r>
            <a:r>
              <a:rPr dirty="0"/>
              <a:t>；</a:t>
            </a:r>
          </a:p>
          <a:p>
            <a:r>
              <a:rPr dirty="0"/>
              <a:t>4. </a:t>
            </a:r>
            <a:r>
              <a:rPr dirty="0" err="1"/>
              <a:t>教师讲评关键决策</a:t>
            </a:r>
            <a:r>
              <a:rPr dirty="0"/>
              <a:t>；</a:t>
            </a:r>
          </a:p>
          <a:p>
            <a:r>
              <a:rPr dirty="0"/>
              <a:t>5. </a:t>
            </a:r>
            <a:r>
              <a:rPr dirty="0" err="1"/>
              <a:t>学员修改个人版本</a:t>
            </a:r>
            <a:r>
              <a:rPr dirty="0"/>
              <a:t>；</a:t>
            </a:r>
          </a:p>
          <a:p>
            <a:r>
              <a:rPr dirty="0"/>
              <a:t>6. </a:t>
            </a:r>
            <a:r>
              <a:rPr dirty="0" err="1"/>
              <a:t>继续进入下一阶段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公共项目用于统一项目标准，降低第一次独立选题的困难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个人方向项目</a:t>
            </a:r>
            <a:endParaRPr dirty="0"/>
          </a:p>
          <a:p>
            <a:endParaRPr dirty="0"/>
          </a:p>
          <a:p>
            <a:r>
              <a:rPr dirty="0" err="1"/>
              <a:t>学员结合过去行业、工作场景、可访问用户、可获得数据、目标岗位和希望证明的能力选择项目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可能方向包括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企业知识库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销售辅助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内容生产与审核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用户反馈分析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会议任务跟进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商品决策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招聘或培训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特定行业AI应用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个人项目用于形成与背景和求职方向有关的差异化证据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五、小组形式怎样工作</a:t>
            </a:r>
            <a:endParaRPr dirty="0"/>
          </a:p>
          <a:p>
            <a:endParaRPr dirty="0"/>
          </a:p>
          <a:p>
            <a:r>
              <a:rPr dirty="0" err="1"/>
              <a:t>小组不是多人共同交一份作业。每个人对自己的项目负责，小组用于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质疑问题是否真实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检查MVP是否过大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体验彼此Demo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交换测试用例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帮助发现Bad</a:t>
            </a:r>
            <a:r>
              <a:rPr dirty="0"/>
              <a:t> Case；</a:t>
            </a:r>
          </a:p>
          <a:p>
            <a:r>
              <a:rPr dirty="0"/>
              <a:t>- </a:t>
            </a:r>
            <a:r>
              <a:rPr dirty="0" err="1"/>
              <a:t>模拟产品评审和用户反馈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比较不同项目的处理方式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这样学员重点完成自己的项目，同时可以通过同学接触更多Workflow、RAG、Agent、To</a:t>
            </a:r>
            <a:r>
              <a:rPr dirty="0"/>
              <a:t> </a:t>
            </a:r>
            <a:r>
              <a:rPr dirty="0" err="1"/>
              <a:t>B、To</a:t>
            </a:r>
            <a:r>
              <a:rPr dirty="0"/>
              <a:t> </a:t>
            </a:r>
            <a:r>
              <a:rPr dirty="0" err="1"/>
              <a:t>C和行业案例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六、每次项目课的六步节奏</a:t>
            </a:r>
            <a:endParaRPr dirty="0"/>
          </a:p>
          <a:p>
            <a:endParaRPr dirty="0"/>
          </a:p>
          <a:p>
            <a:r>
              <a:rPr dirty="0"/>
              <a:t>1. **</a:t>
            </a:r>
            <a:r>
              <a:rPr dirty="0" err="1"/>
              <a:t>项目任务发布</a:t>
            </a:r>
            <a:r>
              <a:rPr dirty="0"/>
              <a:t>**：</a:t>
            </a:r>
            <a:r>
              <a:rPr dirty="0" err="1"/>
              <a:t>教师明确本阶段需要解决的问题</a:t>
            </a:r>
            <a:r>
              <a:rPr dirty="0"/>
              <a:t>；</a:t>
            </a:r>
          </a:p>
          <a:p>
            <a:r>
              <a:rPr dirty="0"/>
              <a:t>2. **</a:t>
            </a:r>
            <a:r>
              <a:rPr dirty="0" err="1"/>
              <a:t>学员完成初稿</a:t>
            </a:r>
            <a:r>
              <a:rPr dirty="0"/>
              <a:t>**：先形成个人V0.1，不等待标准答案；</a:t>
            </a:r>
          </a:p>
          <a:p>
            <a:r>
              <a:rPr dirty="0"/>
              <a:t>3. **</a:t>
            </a:r>
            <a:r>
              <a:rPr dirty="0" err="1"/>
              <a:t>展示代表方案</a:t>
            </a:r>
            <a:r>
              <a:rPr dirty="0"/>
              <a:t>**：</a:t>
            </a:r>
            <a:r>
              <a:rPr dirty="0" err="1"/>
              <a:t>选择范围过大、过于保守、技术堆叠或证据充分的典型作业</a:t>
            </a:r>
            <a:r>
              <a:rPr dirty="0"/>
              <a:t>；</a:t>
            </a:r>
          </a:p>
          <a:p>
            <a:r>
              <a:rPr dirty="0"/>
              <a:t>4. **</a:t>
            </a:r>
            <a:r>
              <a:rPr dirty="0" err="1"/>
              <a:t>同学互评</a:t>
            </a:r>
            <a:r>
              <a:rPr dirty="0"/>
              <a:t>**：</a:t>
            </a:r>
            <a:r>
              <a:rPr dirty="0" err="1"/>
              <a:t>围绕问题、MVP、数据、评测和风险提出问题</a:t>
            </a:r>
            <a:r>
              <a:rPr dirty="0"/>
              <a:t>；</a:t>
            </a:r>
          </a:p>
          <a:p>
            <a:r>
              <a:rPr dirty="0"/>
              <a:t>5. **</a:t>
            </a:r>
            <a:r>
              <a:rPr dirty="0" err="1"/>
              <a:t>教师点评</a:t>
            </a:r>
            <a:r>
              <a:rPr dirty="0"/>
              <a:t>**：</a:t>
            </a:r>
            <a:r>
              <a:rPr dirty="0" err="1"/>
              <a:t>指出缺少证据、范围不合理、自动化风险和指标问题</a:t>
            </a:r>
            <a:r>
              <a:rPr dirty="0"/>
              <a:t>；</a:t>
            </a:r>
          </a:p>
          <a:p>
            <a:r>
              <a:rPr dirty="0"/>
              <a:t>6. **</a:t>
            </a:r>
            <a:r>
              <a:rPr dirty="0" err="1"/>
              <a:t>修改迭代</a:t>
            </a:r>
            <a:r>
              <a:rPr dirty="0"/>
              <a:t>**：保留V0.1、V0.2、V1.0以及修改原因。</a:t>
            </a:r>
          </a:p>
          <a:p>
            <a:endParaRPr dirty="0"/>
          </a:p>
          <a:p>
            <a:r>
              <a:rPr dirty="0" err="1"/>
              <a:t>项目班的价值不是只得到最终答案，而是看见项目怎样被迭代出来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七、一个项目怎样成长</a:t>
            </a:r>
            <a:endParaRPr dirty="0"/>
          </a:p>
          <a:p>
            <a:endParaRPr dirty="0"/>
          </a:p>
          <a:p>
            <a:r>
              <a:rPr dirty="0" err="1"/>
              <a:t>以“企业AI知识库”为例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初始想法</a:t>
            </a:r>
            <a:endParaRPr dirty="0"/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做一个企业AI知识库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此时缺少用户、问题、数据、评测和权限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问题验证后</a:t>
            </a:r>
            <a:endParaRPr dirty="0"/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面向售前顾问的产品资料检索与回答助手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场景是售前顾问准备客户方案时，需要从分散的产品手册、报价说明和历史案例中查找信息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MVP设计后</a:t>
            </a:r>
            <a:endParaRPr dirty="0"/>
          </a:p>
          <a:p>
            <a:endParaRPr dirty="0"/>
          </a:p>
          <a:p>
            <a:r>
              <a:rPr dirty="0" err="1"/>
              <a:t>第一期做：资料上传、检索、候选答案、来源展示、无答案兜底和用户反馈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第一期不做：自动生成完整销售方案、自动发送客户、自动承诺价格和连接所有企业系统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Demo以后</a:t>
            </a:r>
            <a:endParaRPr dirty="0"/>
          </a:p>
          <a:p>
            <a:endParaRPr dirty="0"/>
          </a:p>
          <a:p>
            <a:r>
              <a:rPr dirty="0" err="1"/>
              <a:t>形成问答、来源、无答案、权限和反馈等可运行状态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评测以后</a:t>
            </a:r>
            <a:endParaRPr dirty="0"/>
          </a:p>
          <a:p>
            <a:endParaRPr dirty="0"/>
          </a:p>
          <a:p>
            <a:r>
              <a:rPr dirty="0" err="1"/>
              <a:t>建立真实问题、标准答案、来源文档、检索命中率、答案正确性和无依据回答率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Bad </a:t>
            </a:r>
            <a:r>
              <a:rPr dirty="0" err="1"/>
              <a:t>Case迭代以后</a:t>
            </a:r>
            <a:endParaRPr dirty="0"/>
          </a:p>
          <a:p>
            <a:endParaRPr dirty="0"/>
          </a:p>
          <a:p>
            <a:r>
              <a:rPr dirty="0"/>
              <a:t>发现型号混淆、旧价格资料误检索、表格切分差和多产品对比不稳定，进而修改文档版本、Metadata过滤、表格处理、问题改写和无答案兜底。</a:t>
            </a:r>
          </a:p>
          <a:p>
            <a:endParaRPr dirty="0"/>
          </a:p>
          <a:p>
            <a:r>
              <a:rPr dirty="0" err="1"/>
              <a:t>最终学员能够讲清：为什么选题、为什么需要RAG、MVP如何取舍、评测集从哪里来、发现什么问题、怎样修改，以及项目仍有什么限制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教师总结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项目班不是把“企业知识库”五个字扩写成一份长PRD，而是把它一步一步变成有问题、有产品、有测试、有迭代的完整项目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八、项目推进的七个阶段</a:t>
            </a:r>
            <a:endParaRPr dirty="0"/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阶段一：选题与问题验证</a:t>
            </a:r>
            <a:endParaRPr dirty="0"/>
          </a:p>
          <a:p>
            <a:endParaRPr dirty="0"/>
          </a:p>
          <a:p>
            <a:r>
              <a:rPr dirty="0" err="1"/>
              <a:t>完成用户、场景、当前流程、问题证据、数据来源和继续条件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阶段二：AI介入与MVP</a:t>
            </a:r>
            <a:endParaRPr dirty="0"/>
          </a:p>
          <a:p>
            <a:endParaRPr dirty="0"/>
          </a:p>
          <a:p>
            <a:r>
              <a:rPr dirty="0" err="1"/>
              <a:t>完成人机分工、技术选择、MVP范围和初始评测计划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阶段三：正式PRD与原型</a:t>
            </a:r>
            <a:endParaRPr dirty="0"/>
          </a:p>
          <a:p>
            <a:endParaRPr dirty="0"/>
          </a:p>
          <a:p>
            <a:r>
              <a:rPr dirty="0" err="1"/>
              <a:t>完成PRD、产品流程、页面、输入输出、异常、确认和验收标准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阶段四：可运行Demo</a:t>
            </a:r>
            <a:endParaRPr dirty="0"/>
          </a:p>
          <a:p>
            <a:endParaRPr dirty="0"/>
          </a:p>
          <a:p>
            <a:r>
              <a:rPr dirty="0" err="1"/>
              <a:t>覆盖核心任务、正常输入、AI结果、错误状态和用户确认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阶段五：评测与Bad</a:t>
            </a:r>
            <a:r>
              <a:rPr dirty="0"/>
              <a:t> Case</a:t>
            </a:r>
          </a:p>
          <a:p>
            <a:endParaRPr dirty="0"/>
          </a:p>
          <a:p>
            <a:r>
              <a:rPr dirty="0" err="1"/>
              <a:t>完成评测集、标准答案、指标、模型测试、Bad</a:t>
            </a:r>
            <a:r>
              <a:rPr dirty="0"/>
              <a:t> </a:t>
            </a:r>
            <a:r>
              <a:rPr dirty="0" err="1"/>
              <a:t>Case和高风险错误分析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阶段六：迭代、成本与价值</a:t>
            </a:r>
            <a:endParaRPr dirty="0"/>
          </a:p>
          <a:p>
            <a:endParaRPr dirty="0"/>
          </a:p>
          <a:p>
            <a:r>
              <a:rPr dirty="0" err="1"/>
              <a:t>完成方案修改、回归评测、模型选择、使用成本、ROI和项目局限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阶段七：项目展示与复盘</a:t>
            </a:r>
            <a:endParaRPr dirty="0"/>
          </a:p>
          <a:p>
            <a:endParaRPr dirty="0"/>
          </a:p>
          <a:p>
            <a:r>
              <a:rPr dirty="0" err="1"/>
              <a:t>完成项目展示、证据链、个人贡献和项目讲述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九、最终交付物</a:t>
            </a:r>
            <a:endParaRPr dirty="0"/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问题与证据</a:t>
            </a:r>
            <a:endParaRPr dirty="0"/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用户和场景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访谈或业务材料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当前流程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问题和价值判断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产品方案</a:t>
            </a:r>
            <a:endParaRPr dirty="0"/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AI产品决策图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产品流程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人机协作</a:t>
            </a:r>
            <a:r>
              <a:rPr dirty="0"/>
              <a:t>；</a:t>
            </a:r>
          </a:p>
          <a:p>
            <a:r>
              <a:rPr dirty="0"/>
              <a:t>- MVP；</a:t>
            </a:r>
          </a:p>
          <a:p>
            <a:r>
              <a:rPr dirty="0"/>
              <a:t>- </a:t>
            </a:r>
            <a:r>
              <a:rPr dirty="0" err="1"/>
              <a:t>正式PRD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产品实现</a:t>
            </a:r>
            <a:endParaRPr dirty="0"/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原型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可运行Demo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正常和异常状态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用户确认流程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AI效果</a:t>
            </a:r>
            <a:endParaRPr dirty="0"/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评测集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评测报告</a:t>
            </a:r>
            <a:r>
              <a:rPr dirty="0"/>
              <a:t>；</a:t>
            </a:r>
          </a:p>
          <a:p>
            <a:r>
              <a:rPr dirty="0"/>
              <a:t>- Bad Case；</a:t>
            </a:r>
          </a:p>
          <a:p>
            <a:r>
              <a:rPr dirty="0"/>
              <a:t>- </a:t>
            </a:r>
            <a:r>
              <a:rPr dirty="0" err="1"/>
              <a:t>模型比较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迭代前后变化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落地判断</a:t>
            </a:r>
            <a:endParaRPr dirty="0"/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模型方案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部署和安全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成本</a:t>
            </a:r>
            <a:r>
              <a:rPr dirty="0"/>
              <a:t>；</a:t>
            </a:r>
          </a:p>
          <a:p>
            <a:r>
              <a:rPr dirty="0"/>
              <a:t>- ROI；</a:t>
            </a:r>
          </a:p>
          <a:p>
            <a:r>
              <a:rPr dirty="0"/>
              <a:t>- </a:t>
            </a:r>
            <a:r>
              <a:rPr dirty="0" err="1"/>
              <a:t>风险和局限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对外展示</a:t>
            </a:r>
            <a:endParaRPr dirty="0"/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作品集项目页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项目展示材料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项目讲述稿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个人贡献说明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第二阶段重点是把项目做完整；第三阶段再结合具体JD打磨简历、作品集和面试表达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十、项目班不替学员批量生成项目材料</a:t>
            </a:r>
            <a:endParaRPr dirty="0"/>
          </a:p>
          <a:p>
            <a:endParaRPr dirty="0"/>
          </a:p>
          <a:p>
            <a:r>
              <a:rPr dirty="0" err="1"/>
              <a:t>如果只是把选题交给AI，让AI生成PRD、流程图、原型和总结，这些材料很快会失去区分度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项目班真正训练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为什么选择问题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使用什么证据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方案经过什么取舍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数据从哪里来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怎样测试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发现什么错误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为什么修改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学员本人完成什么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哪些结论仍然是假设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核心观点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AI可以帮助生产材料，但不能替学员完成项目责任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十一、适合项目班的学员</a:t>
            </a:r>
            <a:endParaRPr dirty="0"/>
          </a:p>
          <a:p>
            <a:endParaRPr dirty="0"/>
          </a:p>
          <a:p>
            <a:r>
              <a:rPr dirty="0" err="1"/>
              <a:t>适合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已经理解AI产品基础概念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学过Prompt、Workflow、RAG或Agent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但缺少完整项目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希望转型AI产品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想把原行业场景改造成AI产品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自己做项目容易停在想法或Demo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需要外部节奏、点评和多轮修改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愿意投入时间完成作业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暂时不适合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只想听课，不准备完成项目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希望老师直接提供可以投递的成品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不愿意接受方案被修改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希望把课程项目包装成企业上线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没有时间做任何课后产出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只想收集更多工具和资料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十二、学员需要投入什么</a:t>
            </a:r>
            <a:endParaRPr dirty="0"/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完成每阶段初稿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接受小组和教师评审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根据反馈修改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收集测试材料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建立评测集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运行真实测试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记录Bad</a:t>
            </a:r>
            <a:r>
              <a:rPr dirty="0"/>
              <a:t> Case；</a:t>
            </a:r>
          </a:p>
          <a:p>
            <a:r>
              <a:rPr dirty="0"/>
              <a:t>- </a:t>
            </a:r>
            <a:r>
              <a:rPr dirty="0" err="1"/>
              <a:t>保存项目版本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清楚说明个人贡献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对项目最终质量负责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项目班不是买完以后等待老师发项目，而是在教师、同学和里程碑支持下真正完成自己的项目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十三、项目班的三个具体价值</a:t>
            </a:r>
            <a:endParaRPr dirty="0"/>
          </a:p>
          <a:p>
            <a:endParaRPr dirty="0"/>
          </a:p>
          <a:p>
            <a:r>
              <a:rPr dirty="0"/>
              <a:t>1. **</a:t>
            </a:r>
            <a:r>
              <a:rPr dirty="0" err="1"/>
              <a:t>作业会被真正评审</a:t>
            </a:r>
            <a:r>
              <a:rPr dirty="0"/>
              <a:t>**：</a:t>
            </a:r>
            <a:r>
              <a:rPr dirty="0" err="1"/>
              <a:t>不仅检查是否提交，还判断问题、MVP、评测和证据是否成立</a:t>
            </a:r>
            <a:r>
              <a:rPr dirty="0"/>
              <a:t>；</a:t>
            </a:r>
          </a:p>
          <a:p>
            <a:r>
              <a:rPr dirty="0"/>
              <a:t>2. **</a:t>
            </a:r>
            <a:r>
              <a:rPr dirty="0" err="1"/>
              <a:t>能看见项目版本变化</a:t>
            </a:r>
            <a:r>
              <a:rPr dirty="0"/>
              <a:t>**：</a:t>
            </a:r>
            <a:r>
              <a:rPr dirty="0" err="1"/>
              <a:t>从模糊想法到PRD、Demo、评测和迭代</a:t>
            </a:r>
            <a:r>
              <a:rPr dirty="0"/>
              <a:t>；</a:t>
            </a:r>
          </a:p>
          <a:p>
            <a:r>
              <a:rPr dirty="0"/>
              <a:t>3. **</a:t>
            </a:r>
            <a:r>
              <a:rPr dirty="0" err="1"/>
              <a:t>接触多个行业案例</a:t>
            </a:r>
            <a:r>
              <a:rPr dirty="0"/>
              <a:t>**：</a:t>
            </a:r>
            <a:r>
              <a:rPr dirty="0" err="1"/>
              <a:t>通过同学项目看到不同用户、产品形态、Bad</a:t>
            </a:r>
            <a:r>
              <a:rPr dirty="0"/>
              <a:t> </a:t>
            </a:r>
            <a:r>
              <a:rPr dirty="0" err="1"/>
              <a:t>Case、模型和成本方案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十四、整节课最终收尾</a:t>
            </a:r>
            <a:endParaRPr dirty="0"/>
          </a:p>
          <a:p>
            <a:endParaRPr dirty="0"/>
          </a:p>
          <a:p>
            <a:r>
              <a:rPr dirty="0" err="1"/>
              <a:t>教师可以这样说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第一阶段结束以后，我不希望大家只记得自己学过Prompt、RAG、Agent、PRD和评测</a:t>
            </a:r>
            <a:r>
              <a:rPr dirty="0"/>
              <a:t>。  </a:t>
            </a:r>
          </a:p>
          <a:p>
            <a:r>
              <a:rPr dirty="0"/>
              <a:t>&gt; 更重要的是，当一个新的AI产品需求出现在面前，你已经开始知道应该问什么：谁的问题、为什么需要AI、规则和模型怎样分工、MVP做什么、怎样评测、错了怎么办，以及这件事是否值得做。  </a:t>
            </a:r>
          </a:p>
          <a:p>
            <a:r>
              <a:rPr dirty="0"/>
              <a:t>&gt; </a:t>
            </a:r>
            <a:r>
              <a:rPr dirty="0" err="1"/>
              <a:t>这意味着我们已经从简单使用AI工具，开始走向AI产品判断</a:t>
            </a:r>
            <a:r>
              <a:rPr dirty="0"/>
              <a:t>。  </a:t>
            </a:r>
          </a:p>
          <a:p>
            <a:r>
              <a:rPr dirty="0"/>
              <a:t>&gt; </a:t>
            </a:r>
            <a:r>
              <a:rPr dirty="0" err="1"/>
              <a:t>但判断只有进入一个真实项目，经过产品设计、Demo、评测和迭代，才会变成可以被证明的能力。第二阶段要完成的，就是这一步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最后三句话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第一阶段，让你理解AI产品</a:t>
            </a:r>
            <a:r>
              <a:rPr dirty="0"/>
              <a:t>。  </a:t>
            </a:r>
          </a:p>
          <a:p>
            <a:r>
              <a:rPr dirty="0"/>
              <a:t>&gt; </a:t>
            </a:r>
            <a:r>
              <a:rPr dirty="0" err="1"/>
              <a:t>第二阶段，让你真正做出AI项目</a:t>
            </a:r>
            <a:r>
              <a:rPr dirty="0"/>
              <a:t>。  </a:t>
            </a:r>
          </a:p>
          <a:p>
            <a:r>
              <a:rPr dirty="0"/>
              <a:t>&gt; </a:t>
            </a:r>
            <a:r>
              <a:rPr dirty="0" err="1"/>
              <a:t>第三阶段，让你把项目转化成职业机会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可以补充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如果你目前的目标只是系统理解AI产品，第一阶段已经提供了一套相对完整的方法</a:t>
            </a:r>
            <a:r>
              <a:rPr dirty="0"/>
              <a:t>。  </a:t>
            </a:r>
          </a:p>
          <a:p>
            <a:r>
              <a:rPr dirty="0"/>
              <a:t>&gt; </a:t>
            </a:r>
            <a:r>
              <a:rPr dirty="0" err="1"/>
              <a:t>如果你希望进一步完成个人项目、形成项目证据，第二阶段会更适合你</a:t>
            </a:r>
            <a:r>
              <a:rPr dirty="0"/>
              <a:t>。  </a:t>
            </a:r>
          </a:p>
          <a:p>
            <a:r>
              <a:rPr dirty="0"/>
              <a:t>&gt; </a:t>
            </a:r>
            <a:r>
              <a:rPr dirty="0" err="1"/>
              <a:t>大家可以结合自己的时间、目标和投入意愿，判断是否继续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---</a:t>
            </a:r>
          </a:p>
          <a:p>
            <a:endParaRPr dirty="0"/>
          </a:p>
          <a:p>
            <a:r>
              <a:rPr dirty="0"/>
              <a:t>[</a:t>
            </a:r>
            <a:r>
              <a:rPr dirty="0" err="1"/>
              <a:t>讲义来源</a:t>
            </a:r>
            <a:r>
              <a:rPr dirty="0"/>
              <a:t>]</a:t>
            </a:r>
          </a:p>
          <a:p>
            <a:r>
              <a:rPr dirty="0"/>
              <a:t>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/第12课_第一阶段能力验收与职业行动_重做工作区/第12课_第一阶段总结_AI产品趋势与项目实战_完整讲义_v0.2.md</a:t>
            </a:r>
          </a:p>
          <a:p>
            <a:r>
              <a:rPr dirty="0" err="1"/>
              <a:t>课程收尾；第二阶段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9A64CB-0E9B-C2B5-C7AA-841D8F75BD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F60273-7337-CAB0-66C3-582CA7BFFE9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B986F1-2C15-A78F-0D78-2183A2981F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最后不要以工具清单收尾。请强调：真正拉开差距的，是能否用完整项目证明自己的判断、执行和复盘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讲义中的相关部分：课程收尾</a:t>
            </a:r>
            <a:endParaRPr dirty="0"/>
          </a:p>
          <a:p>
            <a:endParaRPr dirty="0"/>
          </a:p>
          <a:p>
            <a:r>
              <a:rPr dirty="0"/>
              <a:t>&gt; 建议时长：30分钟</a:t>
            </a:r>
          </a:p>
          <a:p>
            <a:endParaRPr dirty="0"/>
          </a:p>
          <a:p>
            <a:r>
              <a:rPr dirty="0" err="1"/>
              <a:t>这一部分既承担第一阶段收尾，也承担第二阶段介绍。需要让学员看见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1. </a:t>
            </a:r>
            <a:r>
              <a:rPr dirty="0" err="1"/>
              <a:t>为什么听懂以后仍然需要项目</a:t>
            </a:r>
            <a:r>
              <a:rPr dirty="0"/>
              <a:t>；</a:t>
            </a:r>
          </a:p>
          <a:p>
            <a:r>
              <a:rPr dirty="0"/>
              <a:t>2. </a:t>
            </a:r>
            <a:r>
              <a:rPr dirty="0" err="1"/>
              <a:t>项目班和普通课程有什么不同</a:t>
            </a:r>
            <a:r>
              <a:rPr dirty="0"/>
              <a:t>；</a:t>
            </a:r>
          </a:p>
          <a:p>
            <a:r>
              <a:rPr dirty="0"/>
              <a:t>3. </a:t>
            </a:r>
            <a:r>
              <a:rPr dirty="0" err="1"/>
              <a:t>一个项目会怎样一步一步做出来</a:t>
            </a:r>
            <a:r>
              <a:rPr dirty="0"/>
              <a:t>；</a:t>
            </a:r>
          </a:p>
          <a:p>
            <a:r>
              <a:rPr dirty="0"/>
              <a:t>4. </a:t>
            </a:r>
            <a:r>
              <a:rPr dirty="0" err="1"/>
              <a:t>学员需要投入什么</a:t>
            </a:r>
            <a:r>
              <a:rPr dirty="0"/>
              <a:t>；</a:t>
            </a:r>
          </a:p>
          <a:p>
            <a:r>
              <a:rPr dirty="0"/>
              <a:t>5. </a:t>
            </a:r>
            <a:r>
              <a:rPr dirty="0" err="1"/>
              <a:t>最终能够带走什么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一、目前距离真实工作最缺什么</a:t>
            </a:r>
            <a:endParaRPr dirty="0"/>
          </a:p>
          <a:p>
            <a:endParaRPr dirty="0"/>
          </a:p>
          <a:p>
            <a:r>
              <a:rPr dirty="0" err="1"/>
              <a:t>让学员选择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A. </a:t>
            </a:r>
            <a:r>
              <a:rPr dirty="0" err="1"/>
              <a:t>还需要学习更多AI概念</a:t>
            </a:r>
            <a:r>
              <a:rPr dirty="0"/>
              <a:t>；</a:t>
            </a:r>
          </a:p>
          <a:p>
            <a:r>
              <a:rPr dirty="0"/>
              <a:t>- B. </a:t>
            </a:r>
            <a:r>
              <a:rPr dirty="0" err="1"/>
              <a:t>还需要掌握更多AI工具</a:t>
            </a:r>
            <a:r>
              <a:rPr dirty="0"/>
              <a:t>；</a:t>
            </a:r>
          </a:p>
          <a:p>
            <a:r>
              <a:rPr dirty="0"/>
              <a:t>- C. </a:t>
            </a:r>
            <a:r>
              <a:rPr dirty="0" err="1"/>
              <a:t>缺少一个自己完整做过的AI项目</a:t>
            </a:r>
            <a:r>
              <a:rPr dirty="0"/>
              <a:t>；</a:t>
            </a:r>
          </a:p>
          <a:p>
            <a:r>
              <a:rPr dirty="0"/>
              <a:t>- D. </a:t>
            </a:r>
            <a:r>
              <a:rPr dirty="0" err="1"/>
              <a:t>缺少简历、作品集和面试技巧</a:t>
            </a:r>
            <a:r>
              <a:rPr dirty="0"/>
              <a:t>；</a:t>
            </a:r>
          </a:p>
          <a:p>
            <a:r>
              <a:rPr dirty="0"/>
              <a:t>- E. </a:t>
            </a:r>
            <a:r>
              <a:rPr dirty="0" err="1"/>
              <a:t>还不确定职业方向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教师说明：不同学员可能答案不同，但对许多人来说，中间最关键的一步是C</a:t>
            </a:r>
            <a:r>
              <a:rPr dirty="0"/>
              <a:t>——</a:t>
            </a:r>
            <a:r>
              <a:rPr dirty="0" err="1"/>
              <a:t>还没有一个能够把前面能力连接起来的个人项目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展示三阶段关系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第一阶段解决“你懂不懂</a:t>
            </a:r>
            <a:r>
              <a:rPr dirty="0"/>
              <a:t>”  </a:t>
            </a:r>
          </a:p>
          <a:p>
            <a:r>
              <a:rPr dirty="0"/>
              <a:t>&gt; </a:t>
            </a:r>
            <a:r>
              <a:rPr dirty="0" err="1"/>
              <a:t>第二阶段解决“你做没做</a:t>
            </a:r>
            <a:r>
              <a:rPr dirty="0"/>
              <a:t>”  </a:t>
            </a:r>
          </a:p>
          <a:p>
            <a:r>
              <a:rPr dirty="0"/>
              <a:t>&gt; </a:t>
            </a:r>
            <a:r>
              <a:rPr dirty="0" err="1"/>
              <a:t>第三阶段解决“你讲不讲得清</a:t>
            </a:r>
            <a:r>
              <a:rPr dirty="0"/>
              <a:t>”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二、为什么听懂不等于做过</a:t>
            </a:r>
            <a:endParaRPr dirty="0"/>
          </a:p>
          <a:p>
            <a:endParaRPr dirty="0"/>
          </a:p>
          <a:p>
            <a:r>
              <a:rPr dirty="0" err="1"/>
              <a:t>真实项目需要连续完成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找到具体用户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验证真实问题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判断AI是否适合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准备数据和材料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设计AI、规则和人工分工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确定MVP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编写PRD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做原型和Demo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建立评测集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分析Bad</a:t>
            </a:r>
            <a:r>
              <a:rPr dirty="0"/>
              <a:t> Case；</a:t>
            </a:r>
          </a:p>
          <a:p>
            <a:r>
              <a:rPr dirty="0"/>
              <a:t>- </a:t>
            </a:r>
            <a:r>
              <a:rPr dirty="0" err="1"/>
              <a:t>比较模型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判断成本和ROI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根据测试结果修改方案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第一阶段中每项能力都接触过，但分散在不同案例。第二阶段要把它们集中到一个项目，并保持前后一致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三、第一阶段和项目班的区别</a:t>
            </a:r>
            <a:endParaRPr dirty="0"/>
          </a:p>
          <a:p>
            <a:endParaRPr dirty="0"/>
          </a:p>
          <a:p>
            <a:r>
              <a:rPr dirty="0"/>
              <a:t>| </a:t>
            </a:r>
            <a:r>
              <a:rPr dirty="0" err="1"/>
              <a:t>第一阶段系统课程</a:t>
            </a:r>
            <a:r>
              <a:rPr dirty="0"/>
              <a:t> | </a:t>
            </a:r>
            <a:r>
              <a:rPr dirty="0" err="1"/>
              <a:t>第二阶段项目班</a:t>
            </a:r>
            <a:r>
              <a:rPr dirty="0"/>
              <a:t> |</a:t>
            </a:r>
          </a:p>
          <a:p>
            <a:r>
              <a:rPr dirty="0"/>
              <a:t>|---|---|</a:t>
            </a:r>
          </a:p>
          <a:p>
            <a:r>
              <a:rPr dirty="0"/>
              <a:t>| </a:t>
            </a:r>
            <a:r>
              <a:rPr dirty="0" err="1"/>
              <a:t>以知识和方法为主</a:t>
            </a:r>
            <a:r>
              <a:rPr dirty="0"/>
              <a:t> | </a:t>
            </a:r>
            <a:r>
              <a:rPr dirty="0" err="1"/>
              <a:t>以项目交付为主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教师先解释概念</a:t>
            </a:r>
            <a:r>
              <a:rPr dirty="0"/>
              <a:t> | </a:t>
            </a:r>
            <a:r>
              <a:rPr dirty="0" err="1"/>
              <a:t>学员先面对不完整任务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案例用于理解知识</a:t>
            </a:r>
            <a:r>
              <a:rPr dirty="0"/>
              <a:t> | </a:t>
            </a:r>
            <a:r>
              <a:rPr dirty="0" err="1"/>
              <a:t>知识用于解决项目问题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练习相对独立</a:t>
            </a:r>
            <a:r>
              <a:rPr dirty="0"/>
              <a:t> | </a:t>
            </a:r>
            <a:r>
              <a:rPr dirty="0" err="1"/>
              <a:t>每次产出进入同一个项目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教师提供较多结构</a:t>
            </a:r>
            <a:r>
              <a:rPr dirty="0"/>
              <a:t> | </a:t>
            </a:r>
            <a:r>
              <a:rPr dirty="0" err="1"/>
              <a:t>学员需要做出自己的取舍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重点是是否理解</a:t>
            </a:r>
            <a:r>
              <a:rPr dirty="0"/>
              <a:t> | </a:t>
            </a:r>
            <a:r>
              <a:rPr dirty="0" err="1"/>
              <a:t>重点是是否有证据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看见参考答案</a:t>
            </a:r>
            <a:r>
              <a:rPr dirty="0"/>
              <a:t> | </a:t>
            </a:r>
            <a:r>
              <a:rPr dirty="0" err="1"/>
              <a:t>接受评审、修改和迭代</a:t>
            </a:r>
            <a:r>
              <a:rPr dirty="0"/>
              <a:t> |</a:t>
            </a:r>
          </a:p>
          <a:p>
            <a:r>
              <a:rPr dirty="0"/>
              <a:t>| </a:t>
            </a:r>
            <a:r>
              <a:rPr dirty="0" err="1"/>
              <a:t>完成课堂练习</a:t>
            </a:r>
            <a:r>
              <a:rPr dirty="0"/>
              <a:t> | </a:t>
            </a:r>
            <a:r>
              <a:rPr dirty="0" err="1"/>
              <a:t>形成完整项目材料</a:t>
            </a:r>
            <a:r>
              <a:rPr dirty="0"/>
              <a:t> |</a:t>
            </a:r>
          </a:p>
          <a:p>
            <a:endParaRPr dirty="0"/>
          </a:p>
          <a:p>
            <a:r>
              <a:rPr dirty="0" err="1"/>
              <a:t>项目班不是把第一阶段再讲一次，而更接近一个项目工作室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四、公共项目＋个人方向项目</a:t>
            </a:r>
            <a:endParaRPr dirty="0"/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公共项目</a:t>
            </a:r>
            <a:endParaRPr dirty="0"/>
          </a:p>
          <a:p>
            <a:endParaRPr dirty="0"/>
          </a:p>
          <a:p>
            <a:r>
              <a:rPr dirty="0"/>
              <a:t>所有学员围绕一个共同项目走通AI产品从0到1：</a:t>
            </a:r>
          </a:p>
          <a:p>
            <a:endParaRPr dirty="0"/>
          </a:p>
          <a:p>
            <a:r>
              <a:rPr dirty="0"/>
              <a:t>1. </a:t>
            </a:r>
            <a:r>
              <a:rPr dirty="0" err="1"/>
              <a:t>教师发布业务任务和基础材料</a:t>
            </a:r>
            <a:r>
              <a:rPr dirty="0"/>
              <a:t>；</a:t>
            </a:r>
          </a:p>
          <a:p>
            <a:r>
              <a:rPr dirty="0"/>
              <a:t>2. </a:t>
            </a:r>
            <a:r>
              <a:rPr dirty="0" err="1"/>
              <a:t>学员先提交个人判断</a:t>
            </a:r>
            <a:r>
              <a:rPr dirty="0"/>
              <a:t>；</a:t>
            </a:r>
          </a:p>
          <a:p>
            <a:r>
              <a:rPr dirty="0"/>
              <a:t>3. </a:t>
            </a:r>
            <a:r>
              <a:rPr dirty="0" err="1"/>
              <a:t>课堂比较不同方案</a:t>
            </a:r>
            <a:r>
              <a:rPr dirty="0"/>
              <a:t>；</a:t>
            </a:r>
          </a:p>
          <a:p>
            <a:r>
              <a:rPr dirty="0"/>
              <a:t>4. </a:t>
            </a:r>
            <a:r>
              <a:rPr dirty="0" err="1"/>
              <a:t>教师讲评关键决策</a:t>
            </a:r>
            <a:r>
              <a:rPr dirty="0"/>
              <a:t>；</a:t>
            </a:r>
          </a:p>
          <a:p>
            <a:r>
              <a:rPr dirty="0"/>
              <a:t>5. </a:t>
            </a:r>
            <a:r>
              <a:rPr dirty="0" err="1"/>
              <a:t>学员修改个人版本</a:t>
            </a:r>
            <a:r>
              <a:rPr dirty="0"/>
              <a:t>；</a:t>
            </a:r>
          </a:p>
          <a:p>
            <a:r>
              <a:rPr dirty="0"/>
              <a:t>6. </a:t>
            </a:r>
            <a:r>
              <a:rPr dirty="0" err="1"/>
              <a:t>继续进入下一阶段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公共项目用于统一项目标准，降低第一次独立选题的困难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个人方向项目</a:t>
            </a:r>
            <a:endParaRPr dirty="0"/>
          </a:p>
          <a:p>
            <a:endParaRPr dirty="0"/>
          </a:p>
          <a:p>
            <a:r>
              <a:rPr dirty="0" err="1"/>
              <a:t>学员结合过去行业、工作场景、可访问用户、可获得数据、目标岗位和希望证明的能力选择项目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可能方向包括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企业知识库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销售辅助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内容生产与审核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用户反馈分析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会议任务跟进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商品决策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招聘或培训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特定行业AI应用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个人项目用于形成与背景和求职方向有关的差异化证据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五、小组形式怎样工作</a:t>
            </a:r>
            <a:endParaRPr dirty="0"/>
          </a:p>
          <a:p>
            <a:endParaRPr dirty="0"/>
          </a:p>
          <a:p>
            <a:r>
              <a:rPr dirty="0" err="1"/>
              <a:t>小组不是多人共同交一份作业。每个人对自己的项目负责，小组用于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质疑问题是否真实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检查MVP是否过大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体验彼此Demo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交换测试用例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帮助发现Bad</a:t>
            </a:r>
            <a:r>
              <a:rPr dirty="0"/>
              <a:t> Case；</a:t>
            </a:r>
          </a:p>
          <a:p>
            <a:r>
              <a:rPr dirty="0"/>
              <a:t>- </a:t>
            </a:r>
            <a:r>
              <a:rPr dirty="0" err="1"/>
              <a:t>模拟产品评审和用户反馈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比较不同项目的处理方式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这样学员重点完成自己的项目，同时可以通过同学接触更多Workflow、RAG、Agent、To</a:t>
            </a:r>
            <a:r>
              <a:rPr dirty="0"/>
              <a:t> </a:t>
            </a:r>
            <a:r>
              <a:rPr dirty="0" err="1"/>
              <a:t>B、To</a:t>
            </a:r>
            <a:r>
              <a:rPr dirty="0"/>
              <a:t> </a:t>
            </a:r>
            <a:r>
              <a:rPr dirty="0" err="1"/>
              <a:t>C和行业案例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六、每次项目课的六步节奏</a:t>
            </a:r>
            <a:endParaRPr dirty="0"/>
          </a:p>
          <a:p>
            <a:endParaRPr dirty="0"/>
          </a:p>
          <a:p>
            <a:r>
              <a:rPr dirty="0"/>
              <a:t>1. **</a:t>
            </a:r>
            <a:r>
              <a:rPr dirty="0" err="1"/>
              <a:t>项目任务发布</a:t>
            </a:r>
            <a:r>
              <a:rPr dirty="0"/>
              <a:t>**：</a:t>
            </a:r>
            <a:r>
              <a:rPr dirty="0" err="1"/>
              <a:t>教师明确本阶段需要解决的问题</a:t>
            </a:r>
            <a:r>
              <a:rPr dirty="0"/>
              <a:t>；</a:t>
            </a:r>
          </a:p>
          <a:p>
            <a:r>
              <a:rPr dirty="0"/>
              <a:t>2. **</a:t>
            </a:r>
            <a:r>
              <a:rPr dirty="0" err="1"/>
              <a:t>学员完成初稿</a:t>
            </a:r>
            <a:r>
              <a:rPr dirty="0"/>
              <a:t>**：先形成个人V0.1，不等待标准答案；</a:t>
            </a:r>
          </a:p>
          <a:p>
            <a:r>
              <a:rPr dirty="0"/>
              <a:t>3. **</a:t>
            </a:r>
            <a:r>
              <a:rPr dirty="0" err="1"/>
              <a:t>展示代表方案</a:t>
            </a:r>
            <a:r>
              <a:rPr dirty="0"/>
              <a:t>**：</a:t>
            </a:r>
            <a:r>
              <a:rPr dirty="0" err="1"/>
              <a:t>选择范围过大、过于保守、技术堆叠或证据充分的典型作业</a:t>
            </a:r>
            <a:r>
              <a:rPr dirty="0"/>
              <a:t>；</a:t>
            </a:r>
          </a:p>
          <a:p>
            <a:r>
              <a:rPr dirty="0"/>
              <a:t>4. **</a:t>
            </a:r>
            <a:r>
              <a:rPr dirty="0" err="1"/>
              <a:t>同学互评</a:t>
            </a:r>
            <a:r>
              <a:rPr dirty="0"/>
              <a:t>**：</a:t>
            </a:r>
            <a:r>
              <a:rPr dirty="0" err="1"/>
              <a:t>围绕问题、MVP、数据、评测和风险提出问题</a:t>
            </a:r>
            <a:r>
              <a:rPr dirty="0"/>
              <a:t>；</a:t>
            </a:r>
          </a:p>
          <a:p>
            <a:r>
              <a:rPr dirty="0"/>
              <a:t>5. **</a:t>
            </a:r>
            <a:r>
              <a:rPr dirty="0" err="1"/>
              <a:t>教师点评</a:t>
            </a:r>
            <a:r>
              <a:rPr dirty="0"/>
              <a:t>**：</a:t>
            </a:r>
            <a:r>
              <a:rPr dirty="0" err="1"/>
              <a:t>指出缺少证据、范围不合理、自动化风险和指标问题</a:t>
            </a:r>
            <a:r>
              <a:rPr dirty="0"/>
              <a:t>；</a:t>
            </a:r>
          </a:p>
          <a:p>
            <a:r>
              <a:rPr dirty="0"/>
              <a:t>6. **</a:t>
            </a:r>
            <a:r>
              <a:rPr dirty="0" err="1"/>
              <a:t>修改迭代</a:t>
            </a:r>
            <a:r>
              <a:rPr dirty="0"/>
              <a:t>**：保留V0.1、V0.2、V1.0以及修改原因。</a:t>
            </a:r>
          </a:p>
          <a:p>
            <a:endParaRPr dirty="0"/>
          </a:p>
          <a:p>
            <a:r>
              <a:rPr dirty="0" err="1"/>
              <a:t>项目班的价值不是只得到最终答案，而是看见项目怎样被迭代出来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七、一个项目怎样成长</a:t>
            </a:r>
            <a:endParaRPr dirty="0"/>
          </a:p>
          <a:p>
            <a:endParaRPr dirty="0"/>
          </a:p>
          <a:p>
            <a:r>
              <a:rPr dirty="0" err="1"/>
              <a:t>以“企业AI知识库”为例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初始想法</a:t>
            </a:r>
            <a:endParaRPr dirty="0"/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做一个企业AI知识库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此时缺少用户、问题、数据、评测和权限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问题验证后</a:t>
            </a:r>
            <a:endParaRPr dirty="0"/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面向售前顾问的产品资料检索与回答助手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场景是售前顾问准备客户方案时，需要从分散的产品手册、报价说明和历史案例中查找信息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MVP设计后</a:t>
            </a:r>
            <a:endParaRPr dirty="0"/>
          </a:p>
          <a:p>
            <a:endParaRPr dirty="0"/>
          </a:p>
          <a:p>
            <a:r>
              <a:rPr dirty="0" err="1"/>
              <a:t>第一期做：资料上传、检索、候选答案、来源展示、无答案兜底和用户反馈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第一期不做：自动生成完整销售方案、自动发送客户、自动承诺价格和连接所有企业系统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Demo以后</a:t>
            </a:r>
            <a:endParaRPr dirty="0"/>
          </a:p>
          <a:p>
            <a:endParaRPr dirty="0"/>
          </a:p>
          <a:p>
            <a:r>
              <a:rPr dirty="0" err="1"/>
              <a:t>形成问答、来源、无答案、权限和反馈等可运行状态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评测以后</a:t>
            </a:r>
            <a:endParaRPr dirty="0"/>
          </a:p>
          <a:p>
            <a:endParaRPr dirty="0"/>
          </a:p>
          <a:p>
            <a:r>
              <a:rPr dirty="0" err="1"/>
              <a:t>建立真实问题、标准答案、来源文档、检索命中率、答案正确性和无依据回答率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Bad </a:t>
            </a:r>
            <a:r>
              <a:rPr dirty="0" err="1"/>
              <a:t>Case迭代以后</a:t>
            </a:r>
            <a:endParaRPr dirty="0"/>
          </a:p>
          <a:p>
            <a:endParaRPr dirty="0"/>
          </a:p>
          <a:p>
            <a:r>
              <a:rPr dirty="0"/>
              <a:t>发现型号混淆、旧价格资料误检索、表格切分差和多产品对比不稳定，进而修改文档版本、Metadata过滤、表格处理、问题改写和无答案兜底。</a:t>
            </a:r>
          </a:p>
          <a:p>
            <a:endParaRPr dirty="0"/>
          </a:p>
          <a:p>
            <a:r>
              <a:rPr dirty="0" err="1"/>
              <a:t>最终学员能够讲清：为什么选题、为什么需要RAG、MVP如何取舍、评测集从哪里来、发现什么问题、怎样修改，以及项目仍有什么限制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教师总结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项目班不是把“企业知识库”五个字扩写成一份长PRD，而是把它一步一步变成有问题、有产品、有测试、有迭代的完整项目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八、项目推进的七个阶段</a:t>
            </a:r>
            <a:endParaRPr dirty="0"/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阶段一：选题与问题验证</a:t>
            </a:r>
            <a:endParaRPr dirty="0"/>
          </a:p>
          <a:p>
            <a:endParaRPr dirty="0"/>
          </a:p>
          <a:p>
            <a:r>
              <a:rPr dirty="0" err="1"/>
              <a:t>完成用户、场景、当前流程、问题证据、数据来源和继续条件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阶段二：AI介入与MVP</a:t>
            </a:r>
            <a:endParaRPr dirty="0"/>
          </a:p>
          <a:p>
            <a:endParaRPr dirty="0"/>
          </a:p>
          <a:p>
            <a:r>
              <a:rPr dirty="0" err="1"/>
              <a:t>完成人机分工、技术选择、MVP范围和初始评测计划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阶段三：正式PRD与原型</a:t>
            </a:r>
            <a:endParaRPr dirty="0"/>
          </a:p>
          <a:p>
            <a:endParaRPr dirty="0"/>
          </a:p>
          <a:p>
            <a:r>
              <a:rPr dirty="0" err="1"/>
              <a:t>完成PRD、产品流程、页面、输入输出、异常、确认和验收标准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阶段四：可运行Demo</a:t>
            </a:r>
            <a:endParaRPr dirty="0"/>
          </a:p>
          <a:p>
            <a:endParaRPr dirty="0"/>
          </a:p>
          <a:p>
            <a:r>
              <a:rPr dirty="0" err="1"/>
              <a:t>覆盖核心任务、正常输入、AI结果、错误状态和用户确认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阶段五：评测与Bad</a:t>
            </a:r>
            <a:r>
              <a:rPr dirty="0"/>
              <a:t> Case</a:t>
            </a:r>
          </a:p>
          <a:p>
            <a:endParaRPr dirty="0"/>
          </a:p>
          <a:p>
            <a:r>
              <a:rPr dirty="0" err="1"/>
              <a:t>完成评测集、标准答案、指标、模型测试、Bad</a:t>
            </a:r>
            <a:r>
              <a:rPr dirty="0"/>
              <a:t> </a:t>
            </a:r>
            <a:r>
              <a:rPr dirty="0" err="1"/>
              <a:t>Case和高风险错误分析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阶段六：迭代、成本与价值</a:t>
            </a:r>
            <a:endParaRPr dirty="0"/>
          </a:p>
          <a:p>
            <a:endParaRPr dirty="0"/>
          </a:p>
          <a:p>
            <a:r>
              <a:rPr dirty="0" err="1"/>
              <a:t>完成方案修改、回归评测、模型选择、使用成本、ROI和项目局限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阶段七：项目展示与复盘</a:t>
            </a:r>
            <a:endParaRPr dirty="0"/>
          </a:p>
          <a:p>
            <a:endParaRPr dirty="0"/>
          </a:p>
          <a:p>
            <a:r>
              <a:rPr dirty="0" err="1"/>
              <a:t>完成项目展示、证据链、个人贡献和项目讲述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九、最终交付物</a:t>
            </a:r>
            <a:endParaRPr dirty="0"/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问题与证据</a:t>
            </a:r>
            <a:endParaRPr dirty="0"/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用户和场景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访谈或业务材料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当前流程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问题和价值判断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产品方案</a:t>
            </a:r>
            <a:endParaRPr dirty="0"/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AI产品决策图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产品流程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人机协作</a:t>
            </a:r>
            <a:r>
              <a:rPr dirty="0"/>
              <a:t>；</a:t>
            </a:r>
          </a:p>
          <a:p>
            <a:r>
              <a:rPr dirty="0"/>
              <a:t>- MVP；</a:t>
            </a:r>
          </a:p>
          <a:p>
            <a:r>
              <a:rPr dirty="0"/>
              <a:t>- </a:t>
            </a:r>
            <a:r>
              <a:rPr dirty="0" err="1"/>
              <a:t>正式PRD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产品实现</a:t>
            </a:r>
            <a:endParaRPr dirty="0"/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原型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可运行Demo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正常和异常状态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用户确认流程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AI效果</a:t>
            </a:r>
            <a:endParaRPr dirty="0"/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评测集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评测报告</a:t>
            </a:r>
            <a:r>
              <a:rPr dirty="0"/>
              <a:t>；</a:t>
            </a:r>
          </a:p>
          <a:p>
            <a:r>
              <a:rPr dirty="0"/>
              <a:t>- Bad Case；</a:t>
            </a:r>
          </a:p>
          <a:p>
            <a:r>
              <a:rPr dirty="0"/>
              <a:t>- </a:t>
            </a:r>
            <a:r>
              <a:rPr dirty="0" err="1"/>
              <a:t>模型比较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迭代前后变化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落地判断</a:t>
            </a:r>
            <a:endParaRPr dirty="0"/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模型方案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部署和安全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成本</a:t>
            </a:r>
            <a:r>
              <a:rPr dirty="0"/>
              <a:t>；</a:t>
            </a:r>
          </a:p>
          <a:p>
            <a:r>
              <a:rPr dirty="0"/>
              <a:t>- ROI；</a:t>
            </a:r>
          </a:p>
          <a:p>
            <a:r>
              <a:rPr dirty="0"/>
              <a:t>- </a:t>
            </a:r>
            <a:r>
              <a:rPr dirty="0" err="1"/>
              <a:t>风险和局限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### </a:t>
            </a:r>
            <a:r>
              <a:rPr dirty="0" err="1"/>
              <a:t>对外展示</a:t>
            </a:r>
            <a:endParaRPr dirty="0"/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作品集项目页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项目展示材料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项目讲述稿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个人贡献说明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第二阶段重点是把项目做完整；第三阶段再结合具体JD打磨简历、作品集和面试表达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十、项目班不替学员批量生成项目材料</a:t>
            </a:r>
            <a:endParaRPr dirty="0"/>
          </a:p>
          <a:p>
            <a:endParaRPr dirty="0"/>
          </a:p>
          <a:p>
            <a:r>
              <a:rPr dirty="0" err="1"/>
              <a:t>如果只是把选题交给AI，让AI生成PRD、流程图、原型和总结，这些材料很快会失去区分度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项目班真正训练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为什么选择问题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使用什么证据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方案经过什么取舍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数据从哪里来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怎样测试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发现什么错误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为什么修改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学员本人完成什么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哪些结论仍然是假设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核心观点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AI可以帮助生产材料，但不能替学员完成项目责任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十一、适合项目班的学员</a:t>
            </a:r>
            <a:endParaRPr dirty="0"/>
          </a:p>
          <a:p>
            <a:endParaRPr dirty="0"/>
          </a:p>
          <a:p>
            <a:r>
              <a:rPr dirty="0" err="1"/>
              <a:t>适合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已经理解AI产品基础概念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学过Prompt、Workflow、RAG或Agent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但缺少完整项目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希望转型AI产品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想把原行业场景改造成AI产品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自己做项目容易停在想法或Demo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需要外部节奏、点评和多轮修改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愿意投入时间完成作业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暂时不适合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只想听课，不准备完成项目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希望老师直接提供可以投递的成品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不愿意接受方案被修改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希望把课程项目包装成企业上线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没有时间做任何课后产出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只想收集更多工具和资料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十二、学员需要投入什么</a:t>
            </a:r>
            <a:endParaRPr dirty="0"/>
          </a:p>
          <a:p>
            <a:endParaRPr dirty="0"/>
          </a:p>
          <a:p>
            <a:r>
              <a:rPr dirty="0"/>
              <a:t>- </a:t>
            </a:r>
            <a:r>
              <a:rPr dirty="0" err="1"/>
              <a:t>完成每阶段初稿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接受小组和教师评审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根据反馈修改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收集测试材料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建立评测集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运行真实测试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记录Bad</a:t>
            </a:r>
            <a:r>
              <a:rPr dirty="0"/>
              <a:t> Case；</a:t>
            </a:r>
          </a:p>
          <a:p>
            <a:r>
              <a:rPr dirty="0"/>
              <a:t>- </a:t>
            </a:r>
            <a:r>
              <a:rPr dirty="0" err="1"/>
              <a:t>保存项目版本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清楚说明个人贡献</a:t>
            </a:r>
            <a:r>
              <a:rPr dirty="0"/>
              <a:t>；</a:t>
            </a:r>
          </a:p>
          <a:p>
            <a:r>
              <a:rPr dirty="0"/>
              <a:t>- </a:t>
            </a:r>
            <a:r>
              <a:rPr dirty="0" err="1"/>
              <a:t>对项目最终质量负责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项目班不是买完以后等待老师发项目，而是在教师、同学和里程碑支持下真正完成自己的项目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十三、项目班的三个具体价值</a:t>
            </a:r>
            <a:endParaRPr dirty="0"/>
          </a:p>
          <a:p>
            <a:endParaRPr dirty="0"/>
          </a:p>
          <a:p>
            <a:r>
              <a:rPr dirty="0"/>
              <a:t>1. **</a:t>
            </a:r>
            <a:r>
              <a:rPr dirty="0" err="1"/>
              <a:t>作业会被真正评审</a:t>
            </a:r>
            <a:r>
              <a:rPr dirty="0"/>
              <a:t>**：</a:t>
            </a:r>
            <a:r>
              <a:rPr dirty="0" err="1"/>
              <a:t>不仅检查是否提交，还判断问题、MVP、评测和证据是否成立</a:t>
            </a:r>
            <a:r>
              <a:rPr dirty="0"/>
              <a:t>；</a:t>
            </a:r>
          </a:p>
          <a:p>
            <a:r>
              <a:rPr dirty="0"/>
              <a:t>2. **</a:t>
            </a:r>
            <a:r>
              <a:rPr dirty="0" err="1"/>
              <a:t>能看见项目版本变化</a:t>
            </a:r>
            <a:r>
              <a:rPr dirty="0"/>
              <a:t>**：</a:t>
            </a:r>
            <a:r>
              <a:rPr dirty="0" err="1"/>
              <a:t>从模糊想法到PRD、Demo、评测和迭代</a:t>
            </a:r>
            <a:r>
              <a:rPr dirty="0"/>
              <a:t>；</a:t>
            </a:r>
          </a:p>
          <a:p>
            <a:r>
              <a:rPr dirty="0"/>
              <a:t>3. **</a:t>
            </a:r>
            <a:r>
              <a:rPr dirty="0" err="1"/>
              <a:t>接触多个行业案例</a:t>
            </a:r>
            <a:r>
              <a:rPr dirty="0"/>
              <a:t>**：</a:t>
            </a:r>
            <a:r>
              <a:rPr dirty="0" err="1"/>
              <a:t>通过同学项目看到不同用户、产品形态、Bad</a:t>
            </a:r>
            <a:r>
              <a:rPr dirty="0"/>
              <a:t> </a:t>
            </a:r>
            <a:r>
              <a:rPr dirty="0" err="1"/>
              <a:t>Case、模型和成本方案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## </a:t>
            </a:r>
            <a:r>
              <a:rPr dirty="0" err="1"/>
              <a:t>十四、整节课最终收尾</a:t>
            </a:r>
            <a:endParaRPr dirty="0"/>
          </a:p>
          <a:p>
            <a:endParaRPr dirty="0"/>
          </a:p>
          <a:p>
            <a:r>
              <a:rPr dirty="0" err="1"/>
              <a:t>教师可以这样说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第一阶段结束以后，我不希望大家只记得自己学过Prompt、RAG、Agent、PRD和评测</a:t>
            </a:r>
            <a:r>
              <a:rPr dirty="0"/>
              <a:t>。  </a:t>
            </a:r>
          </a:p>
          <a:p>
            <a:r>
              <a:rPr dirty="0"/>
              <a:t>&gt; 更重要的是，当一个新的AI产品需求出现在面前，你已经开始知道应该问什么：谁的问题、为什么需要AI、规则和模型怎样分工、MVP做什么、怎样评测、错了怎么办，以及这件事是否值得做。  </a:t>
            </a:r>
          </a:p>
          <a:p>
            <a:r>
              <a:rPr dirty="0"/>
              <a:t>&gt; </a:t>
            </a:r>
            <a:r>
              <a:rPr dirty="0" err="1"/>
              <a:t>这意味着我们已经从简单使用AI工具，开始走向AI产品判断</a:t>
            </a:r>
            <a:r>
              <a:rPr dirty="0"/>
              <a:t>。  </a:t>
            </a:r>
          </a:p>
          <a:p>
            <a:r>
              <a:rPr dirty="0"/>
              <a:t>&gt; </a:t>
            </a:r>
            <a:r>
              <a:rPr dirty="0" err="1"/>
              <a:t>但判断只有进入一个真实项目，经过产品设计、Demo、评测和迭代，才会变成可以被证明的能力。第二阶段要完成的，就是这一步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最后三句话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第一阶段，让你理解AI产品</a:t>
            </a:r>
            <a:r>
              <a:rPr dirty="0"/>
              <a:t>。  </a:t>
            </a:r>
          </a:p>
          <a:p>
            <a:r>
              <a:rPr dirty="0"/>
              <a:t>&gt; </a:t>
            </a:r>
            <a:r>
              <a:rPr dirty="0" err="1"/>
              <a:t>第二阶段，让你真正做出AI项目</a:t>
            </a:r>
            <a:r>
              <a:rPr dirty="0"/>
              <a:t>。  </a:t>
            </a:r>
          </a:p>
          <a:p>
            <a:r>
              <a:rPr dirty="0"/>
              <a:t>&gt; </a:t>
            </a:r>
            <a:r>
              <a:rPr dirty="0" err="1"/>
              <a:t>第三阶段，让你把项目转化成职业机会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可以补充</a:t>
            </a:r>
            <a:r>
              <a:rPr dirty="0"/>
              <a:t>：</a:t>
            </a:r>
          </a:p>
          <a:p>
            <a:endParaRPr dirty="0"/>
          </a:p>
          <a:p>
            <a:r>
              <a:rPr dirty="0"/>
              <a:t>&gt; </a:t>
            </a:r>
            <a:r>
              <a:rPr dirty="0" err="1"/>
              <a:t>如果你目前的目标只是系统理解AI产品，第一阶段已经提供了一套相对完整的方法</a:t>
            </a:r>
            <a:r>
              <a:rPr dirty="0"/>
              <a:t>。  </a:t>
            </a:r>
          </a:p>
          <a:p>
            <a:r>
              <a:rPr dirty="0"/>
              <a:t>&gt; </a:t>
            </a:r>
            <a:r>
              <a:rPr dirty="0" err="1"/>
              <a:t>如果你希望进一步完成个人项目、形成项目证据，第二阶段会更适合你</a:t>
            </a:r>
            <a:r>
              <a:rPr dirty="0"/>
              <a:t>。  </a:t>
            </a:r>
          </a:p>
          <a:p>
            <a:r>
              <a:rPr dirty="0"/>
              <a:t>&gt; </a:t>
            </a:r>
            <a:r>
              <a:rPr dirty="0" err="1"/>
              <a:t>大家可以结合自己的时间、目标和投入意愿，判断是否继续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---</a:t>
            </a:r>
          </a:p>
          <a:p>
            <a:endParaRPr dirty="0"/>
          </a:p>
          <a:p>
            <a:r>
              <a:rPr dirty="0"/>
              <a:t>[</a:t>
            </a:r>
            <a:r>
              <a:rPr dirty="0" err="1"/>
              <a:t>讲义来源</a:t>
            </a:r>
            <a:r>
              <a:rPr dirty="0"/>
              <a:t>]</a:t>
            </a:r>
          </a:p>
          <a:p>
            <a:r>
              <a:rPr dirty="0"/>
              <a:t>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/第12课_第一阶段能力验收与职业行动_重做工作区/第12课_第一阶段总结_AI产品趋势与项目实战_完整讲义_v0.2.md</a:t>
            </a:r>
          </a:p>
          <a:p>
            <a:r>
              <a:rPr dirty="0" err="1"/>
              <a:t>课程收尾；第二阶段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749A10-3FB8-A855-BE0B-F74A6D908C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5927727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kkit-motif-loud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41248" y="694944"/>
            <a:ext cx="5120640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36D6C2"/>
                </a:solidFill>
                <a:latin typeface="Helvetica Neue"/>
                <a:ea typeface="Hiragino Sans GB"/>
              </a:rPr>
              <a:t>AI PRODUCT MANAGER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609344"/>
            <a:ext cx="9784080" cy="603504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F5F2E9"/>
                </a:solidFill>
                <a:latin typeface="Helvetica Neue"/>
                <a:ea typeface="Hiragino Sans GB"/>
              </a:rPr>
              <a:t>AI产品经理的下一步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2615184"/>
            <a:ext cx="9326880" cy="512064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5F2E9"/>
                </a:solidFill>
                <a:latin typeface="Helvetica Neue"/>
                <a:ea typeface="Hiragino Sans GB"/>
              </a:rPr>
              <a:t>课程总结、产品趋势与项目实战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319272"/>
            <a:ext cx="2011680" cy="310896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A7B5BC"/>
                </a:solidFill>
                <a:latin typeface="Helvetica Neue"/>
                <a:ea typeface="Hiragino Sans GB"/>
              </a:rPr>
              <a:t>第 12 课</a:t>
            </a:r>
          </a:p>
        </p:txBody>
      </p:sp>
      <p:sp>
        <p:nvSpPr>
          <p:cNvPr id="7" name="deckkit-motif-loud"/>
          <p:cNvSpPr/>
          <p:nvPr/>
        </p:nvSpPr>
        <p:spPr>
          <a:xfrm>
            <a:off x="841248" y="3959352"/>
            <a:ext cx="2816352" cy="45720"/>
          </a:xfrm>
          <a:prstGeom prst="rect">
            <a:avLst/>
          </a:prstGeom>
          <a:solidFill>
            <a:srgbClr val="FF76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41248" y="5687568"/>
            <a:ext cx="950976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REVIEW · DISCUSS · BUILD EVIDENCE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64624" y="4352544"/>
            <a:ext cx="1828800" cy="1170432"/>
          </a:xfrm>
          <a:prstGeom prst="rect">
            <a:avLst/>
          </a:prstGeom>
          <a:noFill/>
        </p:spPr>
        <p:txBody>
          <a:bodyPr wrap="non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0" b="1" i="0">
                <a:solidFill>
                  <a:srgbClr val="416A78"/>
                </a:solidFill>
                <a:latin typeface="Helvetica Neue"/>
                <a:ea typeface="Hiragino Sans GB"/>
              </a:rPr>
              <a:t>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94944" y="228600"/>
            <a:ext cx="905256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第一部分 · 章节导航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91088" y="228600"/>
            <a:ext cx="512064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65392"/>
            <a:ext cx="10808208" cy="12801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deckkit-motif-quiet"/>
          <p:cNvSpPr/>
          <p:nvPr/>
        </p:nvSpPr>
        <p:spPr>
          <a:xfrm>
            <a:off x="694944" y="6519672"/>
            <a:ext cx="393025" cy="3291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04672" y="1207008"/>
            <a:ext cx="32918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6D6C2"/>
                </a:solidFill>
                <a:latin typeface="Helvetica Neue"/>
                <a:ea typeface="Hiragino Sans GB"/>
              </a:rPr>
              <a:t>第一部分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865376"/>
            <a:ext cx="9966960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 i="0">
                <a:solidFill>
                  <a:srgbClr val="F5F2E9"/>
                </a:solidFill>
                <a:latin typeface="Helvetica Neue"/>
                <a:ea typeface="Hiragino Sans GB"/>
              </a:rPr>
              <a:t>第一阶段，我们到底学会了什么？</a:t>
            </a:r>
          </a:p>
        </p:txBody>
      </p:sp>
      <p:sp>
        <p:nvSpPr>
          <p:cNvPr id="8" name="deckkit-motif-quiet"/>
          <p:cNvSpPr/>
          <p:nvPr/>
        </p:nvSpPr>
        <p:spPr>
          <a:xfrm>
            <a:off x="804672" y="2743200"/>
            <a:ext cx="2331720" cy="50292"/>
          </a:xfrm>
          <a:prstGeom prst="rect">
            <a:avLst/>
          </a:prstGeom>
          <a:solidFill>
            <a:srgbClr val="FF76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3182112"/>
            <a:ext cx="9875520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A7B5BC"/>
                </a:solidFill>
                <a:latin typeface="Helvetica Neue"/>
                <a:ea typeface="Hiragino Sans GB"/>
              </a:rPr>
              <a:t>把前11课从知识点重新整理成一条可交付的AI产品能力链。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251960"/>
            <a:ext cx="1444752" cy="530352"/>
          </a:xfrm>
          <a:prstGeom prst="roundRect">
            <a:avLst>
              <a:gd name="adj" fmla="val 27586"/>
            </a:avLst>
          </a:prstGeom>
          <a:solidFill>
            <a:srgbClr val="133843"/>
          </a:solidFill>
          <a:ln w="10795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4251960"/>
            <a:ext cx="1444752" cy="53035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6D6C2"/>
                </a:solidFill>
                <a:latin typeface="Helvetica Neue"/>
                <a:ea typeface="Hiragino Sans GB"/>
              </a:rPr>
              <a:t>问题判断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68880" y="4251960"/>
            <a:ext cx="1444752" cy="530352"/>
          </a:xfrm>
          <a:prstGeom prst="roundRect">
            <a:avLst>
              <a:gd name="adj" fmla="val 27586"/>
            </a:avLst>
          </a:prstGeom>
          <a:solidFill>
            <a:srgbClr val="133843"/>
          </a:solidFill>
          <a:ln w="10795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468880" y="4251960"/>
            <a:ext cx="1444752" cy="53035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7657"/>
                </a:solidFill>
                <a:latin typeface="Helvetica Neue"/>
                <a:ea typeface="Hiragino Sans GB"/>
              </a:rPr>
              <a:t>AI方案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0" y="4251960"/>
            <a:ext cx="1444752" cy="530352"/>
          </a:xfrm>
          <a:prstGeom prst="roundRect">
            <a:avLst>
              <a:gd name="adj" fmla="val 27586"/>
            </a:avLst>
          </a:prstGeom>
          <a:solidFill>
            <a:srgbClr val="133843"/>
          </a:solidFill>
          <a:ln w="10795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114800" y="4251960"/>
            <a:ext cx="1444752" cy="53035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0C565"/>
                </a:solidFill>
                <a:latin typeface="Helvetica Neue"/>
                <a:ea typeface="Hiragino Sans GB"/>
              </a:rPr>
              <a:t>产品交付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60720" y="4251960"/>
            <a:ext cx="1444752" cy="530352"/>
          </a:xfrm>
          <a:prstGeom prst="roundRect">
            <a:avLst>
              <a:gd name="adj" fmla="val 27586"/>
            </a:avLst>
          </a:prstGeom>
          <a:solidFill>
            <a:srgbClr val="133843"/>
          </a:solidFill>
          <a:ln w="10795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760720" y="4251960"/>
            <a:ext cx="1444752" cy="53035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6D6C2"/>
                </a:solidFill>
                <a:latin typeface="Helvetica Neue"/>
                <a:ea typeface="Hiragino Sans GB"/>
              </a:rPr>
              <a:t>评测迭代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06640" y="4251960"/>
            <a:ext cx="1444752" cy="530352"/>
          </a:xfrm>
          <a:prstGeom prst="roundRect">
            <a:avLst>
              <a:gd name="adj" fmla="val 27586"/>
            </a:avLst>
          </a:prstGeom>
          <a:solidFill>
            <a:srgbClr val="133843"/>
          </a:solidFill>
          <a:ln w="10795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406640" y="4251960"/>
            <a:ext cx="1444752" cy="53035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7657"/>
                </a:solidFill>
                <a:latin typeface="Helvetica Neue"/>
                <a:ea typeface="Hiragino Sans GB"/>
              </a:rPr>
              <a:t>成本价值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94944" y="228600"/>
            <a:ext cx="905256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第一部分 · 课堂选择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91088" y="228600"/>
            <a:ext cx="512064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03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65392"/>
            <a:ext cx="10808208" cy="12801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deckkit-motif-quiet"/>
          <p:cNvSpPr/>
          <p:nvPr/>
        </p:nvSpPr>
        <p:spPr>
          <a:xfrm>
            <a:off x="694944" y="6519672"/>
            <a:ext cx="589538" cy="3291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12648"/>
            <a:ext cx="10716768" cy="62179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2E9"/>
                </a:solidFill>
                <a:latin typeface="Helvetica Neue"/>
                <a:ea typeface="Hiragino Sans GB"/>
              </a:rPr>
              <a:t>第一阶段，你觉得自己最大的变化是什么？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52728"/>
            <a:ext cx="1325880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2" y="1371600"/>
            <a:ext cx="10661904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请选择最接近你判断的一项，再说明理由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83664"/>
            <a:ext cx="5138928" cy="1353312"/>
          </a:xfrm>
          <a:prstGeom prst="roundRect">
            <a:avLst>
              <a:gd name="adj" fmla="val 10810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32688" y="2075688"/>
            <a:ext cx="438912" cy="438912"/>
          </a:xfrm>
          <a:prstGeom prst="roundRect">
            <a:avLst>
              <a:gd name="adj" fmla="val 29166"/>
            </a:avLst>
          </a:prstGeom>
          <a:solidFill>
            <a:srgbClr val="133843"/>
          </a:solidFill>
          <a:ln w="8096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32688" y="2075688"/>
            <a:ext cx="438912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6D6C2"/>
                </a:solidFill>
                <a:latin typeface="Helvetica Neue"/>
                <a:ea typeface="Hiragino Sans GB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7904" y="2039112"/>
            <a:ext cx="4151376" cy="1042415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会使用更多AI工具了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6" y="1883664"/>
            <a:ext cx="5138928" cy="1353312"/>
          </a:xfrm>
          <a:prstGeom prst="roundRect">
            <a:avLst>
              <a:gd name="adj" fmla="val 10810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345936" y="2075688"/>
            <a:ext cx="438912" cy="438912"/>
          </a:xfrm>
          <a:prstGeom prst="roundRect">
            <a:avLst>
              <a:gd name="adj" fmla="val 29166"/>
            </a:avLst>
          </a:prstGeom>
          <a:solidFill>
            <a:srgbClr val="133843"/>
          </a:solidFill>
          <a:ln w="8096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45936" y="2075688"/>
            <a:ext cx="438912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6D6C2"/>
                </a:solidFill>
                <a:latin typeface="Helvetica Neue"/>
                <a:ea typeface="Hiragino Sans GB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31152" y="2039112"/>
            <a:ext cx="4151376" cy="1042415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理解了更多技术概念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3465576"/>
            <a:ext cx="5138928" cy="1353312"/>
          </a:xfrm>
          <a:prstGeom prst="roundRect">
            <a:avLst>
              <a:gd name="adj" fmla="val 10810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932688" y="3657600"/>
            <a:ext cx="438912" cy="438912"/>
          </a:xfrm>
          <a:prstGeom prst="roundRect">
            <a:avLst>
              <a:gd name="adj" fmla="val 29166"/>
            </a:avLst>
          </a:prstGeom>
          <a:solidFill>
            <a:srgbClr val="133843"/>
          </a:solidFill>
          <a:ln w="8096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32688" y="3657600"/>
            <a:ext cx="438912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6D6C2"/>
                </a:solidFill>
                <a:latin typeface="Helvetica Neue"/>
                <a:ea typeface="Hiragino Sans GB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7904" y="3621024"/>
            <a:ext cx="4151376" cy="1042415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开始完整判断AI产品怎么做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6" y="3465576"/>
            <a:ext cx="5138928" cy="1353312"/>
          </a:xfrm>
          <a:prstGeom prst="roundRect">
            <a:avLst>
              <a:gd name="adj" fmla="val 10810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6345936" y="3657600"/>
            <a:ext cx="438912" cy="438912"/>
          </a:xfrm>
          <a:prstGeom prst="roundRect">
            <a:avLst>
              <a:gd name="adj" fmla="val 29166"/>
            </a:avLst>
          </a:prstGeom>
          <a:solidFill>
            <a:srgbClr val="133843"/>
          </a:solidFill>
          <a:ln w="8096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45936" y="3657600"/>
            <a:ext cx="438912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6D6C2"/>
                </a:solidFill>
                <a:latin typeface="Helvetica Neue"/>
                <a:ea typeface="Hiragino Sans GB"/>
              </a:rPr>
              <a:t>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31152" y="3621024"/>
            <a:ext cx="4151376" cy="1042415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已经可以独立负责完整AI产品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94944" y="228600"/>
            <a:ext cx="905256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第一部分 · 学习前后对照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91088" y="228600"/>
            <a:ext cx="512064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04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65392"/>
            <a:ext cx="10808208" cy="12801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deckkit-motif-quiet"/>
          <p:cNvSpPr/>
          <p:nvPr/>
        </p:nvSpPr>
        <p:spPr>
          <a:xfrm>
            <a:off x="694944" y="6519672"/>
            <a:ext cx="786051" cy="3291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12648"/>
            <a:ext cx="10716768" cy="62179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2E9"/>
                </a:solidFill>
                <a:latin typeface="Helvetica Neue"/>
                <a:ea typeface="Hiragino Sans GB"/>
              </a:rPr>
              <a:t>同一个需求，学习前后会怎样回答？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52728"/>
            <a:ext cx="1325880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2" y="1371600"/>
            <a:ext cx="10661904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从工具出发，到从问题与责任出发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920240"/>
            <a:ext cx="5166360" cy="3438144"/>
          </a:xfrm>
          <a:prstGeom prst="roundRect">
            <a:avLst>
              <a:gd name="adj" fmla="val 4255"/>
            </a:avLst>
          </a:prstGeom>
          <a:solidFill>
            <a:srgbClr val="102B37"/>
          </a:solidFill>
          <a:ln w="8636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2167128"/>
            <a:ext cx="452628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36D6C2"/>
                </a:solidFill>
                <a:latin typeface="Helvetica Neue"/>
                <a:ea typeface="Hiragino Sans GB"/>
              </a:rPr>
              <a:t>学习之前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7" y="2880360"/>
            <a:ext cx="100584" cy="100584"/>
          </a:xfrm>
          <a:prstGeom prst="roundRect">
            <a:avLst>
              <a:gd name="adj" fmla="val 45454"/>
            </a:avLst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252728" y="2788920"/>
            <a:ext cx="4261104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F2E9"/>
                </a:solidFill>
                <a:latin typeface="Helvetica Neue"/>
                <a:ea typeface="Hiragino Sans GB"/>
              </a:rPr>
              <a:t>先找一个大模型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24127" y="3438144"/>
            <a:ext cx="100584" cy="100584"/>
          </a:xfrm>
          <a:prstGeom prst="roundRect">
            <a:avLst>
              <a:gd name="adj" fmla="val 45454"/>
            </a:avLst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252728" y="3346703"/>
            <a:ext cx="4261104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F2E9"/>
                </a:solidFill>
                <a:latin typeface="Helvetica Neue"/>
                <a:ea typeface="Hiragino Sans GB"/>
              </a:rPr>
              <a:t>让它自动执行任务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24127" y="3995927"/>
            <a:ext cx="100584" cy="100584"/>
          </a:xfrm>
          <a:prstGeom prst="roundRect">
            <a:avLst>
              <a:gd name="adj" fmla="val 45454"/>
            </a:avLst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252728" y="3904487"/>
            <a:ext cx="4261104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F2E9"/>
                </a:solidFill>
                <a:latin typeface="Helvetica Neue"/>
                <a:ea typeface="Hiragino Sans GB"/>
              </a:rPr>
              <a:t>效果不好就换模型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7" y="4553712"/>
            <a:ext cx="100584" cy="100584"/>
          </a:xfrm>
          <a:prstGeom prst="roundRect">
            <a:avLst>
              <a:gd name="adj" fmla="val 45454"/>
            </a:avLst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252728" y="4462272"/>
            <a:ext cx="4261104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F2E9"/>
                </a:solidFill>
                <a:latin typeface="Helvetica Neue"/>
                <a:ea typeface="Hiragino Sans GB"/>
              </a:rPr>
              <a:t>做出Demo就算完成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89904" y="1920240"/>
            <a:ext cx="5166360" cy="3438144"/>
          </a:xfrm>
          <a:prstGeom prst="roundRect">
            <a:avLst>
              <a:gd name="adj" fmla="val 4255"/>
            </a:avLst>
          </a:prstGeom>
          <a:solidFill>
            <a:srgbClr val="133843"/>
          </a:solidFill>
          <a:ln w="8636">
            <a:solidFill>
              <a:srgbClr val="FF7657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45936" y="2167128"/>
            <a:ext cx="452628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7657"/>
                </a:solidFill>
                <a:latin typeface="Helvetica Neue"/>
                <a:ea typeface="Hiragino Sans GB"/>
              </a:rPr>
              <a:t>学习之后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64224" y="2880360"/>
            <a:ext cx="100584" cy="100584"/>
          </a:xfrm>
          <a:prstGeom prst="roundRect">
            <a:avLst>
              <a:gd name="adj" fmla="val 45454"/>
            </a:avLst>
          </a:prstGeom>
          <a:solidFill>
            <a:srgbClr val="FF76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92824" y="2788920"/>
            <a:ext cx="4261104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F2E9"/>
                </a:solidFill>
                <a:latin typeface="Helvetica Neue"/>
                <a:ea typeface="Hiragino Sans GB"/>
              </a:rPr>
              <a:t>先确认用户和任务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64224" y="3438144"/>
            <a:ext cx="100584" cy="100584"/>
          </a:xfrm>
          <a:prstGeom prst="roundRect">
            <a:avLst>
              <a:gd name="adj" fmla="val 45454"/>
            </a:avLst>
          </a:prstGeom>
          <a:solidFill>
            <a:srgbClr val="FF76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592824" y="3346703"/>
            <a:ext cx="4261104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F2E9"/>
                </a:solidFill>
                <a:latin typeface="Helvetica Neue"/>
                <a:ea typeface="Hiragino Sans GB"/>
              </a:rPr>
              <a:t>再设计人机分工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64224" y="3995927"/>
            <a:ext cx="100584" cy="100584"/>
          </a:xfrm>
          <a:prstGeom prst="roundRect">
            <a:avLst>
              <a:gd name="adj" fmla="val 45454"/>
            </a:avLst>
          </a:prstGeom>
          <a:solidFill>
            <a:srgbClr val="FF76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592824" y="3904487"/>
            <a:ext cx="4261104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F2E9"/>
                </a:solidFill>
                <a:latin typeface="Helvetica Neue"/>
                <a:ea typeface="Hiragino Sans GB"/>
              </a:rPr>
              <a:t>用评测和Bad Case验证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64224" y="4553712"/>
            <a:ext cx="100584" cy="100584"/>
          </a:xfrm>
          <a:prstGeom prst="roundRect">
            <a:avLst>
              <a:gd name="adj" fmla="val 45454"/>
            </a:avLst>
          </a:prstGeom>
          <a:solidFill>
            <a:srgbClr val="FF76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592824" y="4462272"/>
            <a:ext cx="4261104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F2E9"/>
                </a:solidFill>
                <a:latin typeface="Helvetica Neue"/>
                <a:ea typeface="Hiragino Sans GB"/>
              </a:rPr>
              <a:t>把成本、风险和价值算清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5769864"/>
            <a:ext cx="10716768" cy="530352"/>
          </a:xfrm>
          <a:prstGeom prst="roundRect">
            <a:avLst>
              <a:gd name="adj" fmla="val 24137"/>
            </a:avLst>
          </a:prstGeom>
          <a:solidFill>
            <a:srgbClr val="133843"/>
          </a:solidFill>
          <a:ln w="6477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23544" y="5897879"/>
            <a:ext cx="109728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elvetica Neue"/>
                <a:ea typeface="Hiragino Sans GB"/>
              </a:rPr>
              <a:t>核心区别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11680" y="5870448"/>
            <a:ext cx="9079992" cy="29260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变化不只是会用AI，而是开始对完整产品决策负责。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94944" y="228600"/>
            <a:ext cx="905256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第一部分 · 能力总览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91088" y="228600"/>
            <a:ext cx="512064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05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65392"/>
            <a:ext cx="10808208" cy="12801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deckkit-motif-quiet"/>
          <p:cNvSpPr/>
          <p:nvPr/>
        </p:nvSpPr>
        <p:spPr>
          <a:xfrm>
            <a:off x="694944" y="6519672"/>
            <a:ext cx="982564" cy="3291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12648"/>
            <a:ext cx="10716768" cy="490584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dirty="0" err="1">
                <a:solidFill>
                  <a:srgbClr val="F5F2E9"/>
                </a:solidFill>
                <a:latin typeface="Helvetica Neue"/>
                <a:ea typeface="Hiragino Sans GB"/>
              </a:rPr>
              <a:t>第一阶段形成了怎样的能力结构</a:t>
            </a:r>
            <a:r>
              <a:rPr sz="2800" b="1" i="0" dirty="0">
                <a:solidFill>
                  <a:srgbClr val="F5F2E9"/>
                </a:solidFill>
                <a:latin typeface="Helvetica Neue"/>
                <a:ea typeface="Hiragino Sans GB"/>
              </a:rPr>
              <a:t>？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52728"/>
            <a:ext cx="1325880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2" y="1371600"/>
            <a:ext cx="10661904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五项能力按真实产品决策顺序连接，而不是五组孤立知识。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2148840"/>
            <a:ext cx="2024481" cy="2148840"/>
          </a:xfrm>
          <a:prstGeom prst="roundRect">
            <a:avLst>
              <a:gd name="adj" fmla="val 7226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50976" y="2295144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6D6C2"/>
                </a:solidFill>
                <a:latin typeface="Helvetica Neue"/>
                <a:ea typeface="Hiragino Sans GB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587752"/>
            <a:ext cx="1622145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5F2E9"/>
                </a:solidFill>
                <a:latin typeface="Helvetica Neue"/>
                <a:ea typeface="Hiragino Sans GB"/>
              </a:rPr>
              <a:t>问题判断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3026664"/>
            <a:ext cx="1622145" cy="11430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7B5BC"/>
                </a:solidFill>
                <a:latin typeface="Helvetica Neue"/>
                <a:ea typeface="Hiragino Sans GB"/>
              </a:rPr>
              <a:t>值得做什么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765145" y="2898648"/>
            <a:ext cx="146304" cy="164592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2884017" y="2148840"/>
            <a:ext cx="2024481" cy="2148840"/>
          </a:xfrm>
          <a:prstGeom prst="roundRect">
            <a:avLst>
              <a:gd name="adj" fmla="val 7226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085185" y="2295144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6D6C2"/>
                </a:solidFill>
                <a:latin typeface="Helvetica Neue"/>
                <a:ea typeface="Hiragino Sans GB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85185" y="2587752"/>
            <a:ext cx="1622145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5F2E9"/>
                </a:solidFill>
                <a:latin typeface="Helvetica Neue"/>
                <a:ea typeface="Hiragino Sans GB"/>
              </a:rPr>
              <a:t>AI方案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85185" y="3026664"/>
            <a:ext cx="1622145" cy="11430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7B5BC"/>
                </a:solidFill>
                <a:latin typeface="Helvetica Neue"/>
                <a:ea typeface="Hiragino Sans GB"/>
              </a:rPr>
              <a:t>AI怎样介入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899355" y="2898648"/>
            <a:ext cx="146304" cy="164592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5018227" y="2148840"/>
            <a:ext cx="2024481" cy="2148840"/>
          </a:xfrm>
          <a:prstGeom prst="roundRect">
            <a:avLst>
              <a:gd name="adj" fmla="val 7226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219395" y="2295144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6D6C2"/>
                </a:solidFill>
                <a:latin typeface="Helvetica Neue"/>
                <a:ea typeface="Hiragino Sans GB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9395" y="2587752"/>
            <a:ext cx="1622145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5F2E9"/>
                </a:solidFill>
                <a:latin typeface="Helvetica Neue"/>
                <a:ea typeface="Hiragino Sans GB"/>
              </a:rPr>
              <a:t>产品定义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9395" y="3026664"/>
            <a:ext cx="1622145" cy="11430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7B5BC"/>
                </a:solidFill>
                <a:latin typeface="Helvetica Neue"/>
                <a:ea typeface="Hiragino Sans GB"/>
              </a:rPr>
              <a:t>怎样交付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7033564" y="2898648"/>
            <a:ext cx="146304" cy="164592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7152436" y="2148840"/>
            <a:ext cx="2024481" cy="2148840"/>
          </a:xfrm>
          <a:prstGeom prst="roundRect">
            <a:avLst>
              <a:gd name="adj" fmla="val 7226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353604" y="2295144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0C565"/>
                </a:solidFill>
                <a:latin typeface="Helvetica Neue"/>
                <a:ea typeface="Hiragino Sans GB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53604" y="2587752"/>
            <a:ext cx="1622145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5F2E9"/>
                </a:solidFill>
                <a:latin typeface="Helvetica Neue"/>
                <a:ea typeface="Hiragino Sans GB"/>
              </a:rPr>
              <a:t>效果验证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53604" y="3026664"/>
            <a:ext cx="1622145" cy="11430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7B5BC"/>
                </a:solidFill>
                <a:latin typeface="Helvetica Neue"/>
                <a:ea typeface="Hiragino Sans GB"/>
              </a:rPr>
              <a:t>如何证明有效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9167774" y="2898648"/>
            <a:ext cx="146304" cy="164592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9286646" y="2148840"/>
            <a:ext cx="2024481" cy="2148840"/>
          </a:xfrm>
          <a:prstGeom prst="roundRect">
            <a:avLst>
              <a:gd name="adj" fmla="val 7226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487814" y="2295144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7657"/>
                </a:solidFill>
                <a:latin typeface="Helvetica Neue"/>
                <a:ea typeface="Hiragino Sans GB"/>
              </a:rPr>
              <a:t>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87814" y="2587752"/>
            <a:ext cx="1622145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5F2E9"/>
                </a:solidFill>
                <a:latin typeface="Helvetica Neue"/>
                <a:ea typeface="Hiragino Sans GB"/>
              </a:rPr>
              <a:t>商业价值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87814" y="3026664"/>
            <a:ext cx="1622145" cy="11430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7B5BC"/>
                </a:solidFill>
                <a:latin typeface="Helvetica Neue"/>
                <a:ea typeface="Hiragino Sans GB"/>
              </a:rPr>
              <a:t>是否值得继续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" y="5769864"/>
            <a:ext cx="10716768" cy="530352"/>
          </a:xfrm>
          <a:prstGeom prst="roundRect">
            <a:avLst>
              <a:gd name="adj" fmla="val 24137"/>
            </a:avLst>
          </a:prstGeom>
          <a:solidFill>
            <a:srgbClr val="133843"/>
          </a:solidFill>
          <a:ln w="6477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23544" y="5897879"/>
            <a:ext cx="109728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elvetica Neue"/>
                <a:ea typeface="Hiragino Sans GB"/>
              </a:rPr>
              <a:t>串联关系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11680" y="5870448"/>
            <a:ext cx="9079992" cy="29260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能从问题走到价值，才是完整的AI产品能力。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94944" y="228600"/>
            <a:ext cx="905256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第一部分 · 能力一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91088" y="228600"/>
            <a:ext cx="512064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06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65392"/>
            <a:ext cx="10808208" cy="12801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deckkit-motif-quiet"/>
          <p:cNvSpPr/>
          <p:nvPr/>
        </p:nvSpPr>
        <p:spPr>
          <a:xfrm>
            <a:off x="694944" y="6519672"/>
            <a:ext cx="1179077" cy="3291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12648"/>
            <a:ext cx="10716768" cy="62179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2E9"/>
                </a:solidFill>
                <a:latin typeface="Helvetica Neue"/>
                <a:ea typeface="Hiragino Sans GB"/>
              </a:rPr>
              <a:t>问题判断与AI方案｜先决定做什么，再决定怎么做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52728"/>
            <a:ext cx="1325880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2" y="1371600"/>
            <a:ext cx="10661904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不是所有问题都值得用AI，也不是所有环节都适合交给模型。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920240"/>
            <a:ext cx="5166360" cy="3438144"/>
          </a:xfrm>
          <a:prstGeom prst="roundRect">
            <a:avLst>
              <a:gd name="adj" fmla="val 4255"/>
            </a:avLst>
          </a:prstGeom>
          <a:solidFill>
            <a:srgbClr val="102B37"/>
          </a:solidFill>
          <a:ln w="8636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2167128"/>
            <a:ext cx="452628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36D6C2"/>
                </a:solidFill>
                <a:latin typeface="Helvetica Neue"/>
                <a:ea typeface="Hiragino Sans GB"/>
              </a:rPr>
              <a:t>问题判断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7" y="2880360"/>
            <a:ext cx="100584" cy="100584"/>
          </a:xfrm>
          <a:prstGeom prst="roundRect">
            <a:avLst>
              <a:gd name="adj" fmla="val 45454"/>
            </a:avLst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252728" y="2788920"/>
            <a:ext cx="4261104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F2E9"/>
                </a:solidFill>
                <a:latin typeface="Helvetica Neue"/>
                <a:ea typeface="Hiragino Sans GB"/>
              </a:rPr>
              <a:t>用户是谁、任务是什么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24127" y="3438144"/>
            <a:ext cx="100584" cy="100584"/>
          </a:xfrm>
          <a:prstGeom prst="roundRect">
            <a:avLst>
              <a:gd name="adj" fmla="val 45454"/>
            </a:avLst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252728" y="3346703"/>
            <a:ext cx="4261104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F2E9"/>
                </a:solidFill>
                <a:latin typeface="Helvetica Neue"/>
                <a:ea typeface="Hiragino Sans GB"/>
              </a:rPr>
              <a:t>现有流程哪里真的痛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24127" y="3995927"/>
            <a:ext cx="100584" cy="100584"/>
          </a:xfrm>
          <a:prstGeom prst="roundRect">
            <a:avLst>
              <a:gd name="adj" fmla="val 45454"/>
            </a:avLst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252728" y="3904487"/>
            <a:ext cx="4261104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F2E9"/>
                </a:solidFill>
                <a:latin typeface="Helvetica Neue"/>
                <a:ea typeface="Hiragino Sans GB"/>
              </a:rPr>
              <a:t>问题是否高频且有价值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7" y="4553712"/>
            <a:ext cx="100584" cy="100584"/>
          </a:xfrm>
          <a:prstGeom prst="roundRect">
            <a:avLst>
              <a:gd name="adj" fmla="val 45454"/>
            </a:avLst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252728" y="4462272"/>
            <a:ext cx="4261104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F2E9"/>
                </a:solidFill>
                <a:latin typeface="Helvetica Neue"/>
                <a:ea typeface="Hiragino Sans GB"/>
              </a:rPr>
              <a:t>结果能否被判断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89904" y="1920240"/>
            <a:ext cx="5166360" cy="3438144"/>
          </a:xfrm>
          <a:prstGeom prst="roundRect">
            <a:avLst>
              <a:gd name="adj" fmla="val 4255"/>
            </a:avLst>
          </a:prstGeom>
          <a:solidFill>
            <a:srgbClr val="133843"/>
          </a:solidFill>
          <a:ln w="8636">
            <a:solidFill>
              <a:srgbClr val="FF7657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45936" y="2167128"/>
            <a:ext cx="452628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7657"/>
                </a:solidFill>
                <a:latin typeface="Helvetica Neue"/>
                <a:ea typeface="Hiragino Sans GB"/>
              </a:rPr>
              <a:t>AI方案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64224" y="2880360"/>
            <a:ext cx="100584" cy="100584"/>
          </a:xfrm>
          <a:prstGeom prst="roundRect">
            <a:avLst>
              <a:gd name="adj" fmla="val 45454"/>
            </a:avLst>
          </a:prstGeom>
          <a:solidFill>
            <a:srgbClr val="FF76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92824" y="2788920"/>
            <a:ext cx="4261104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F2E9"/>
                </a:solidFill>
                <a:latin typeface="Helvetica Neue"/>
                <a:ea typeface="Hiragino Sans GB"/>
              </a:rPr>
              <a:t>规则、模型还是人工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64224" y="3438144"/>
            <a:ext cx="100584" cy="100584"/>
          </a:xfrm>
          <a:prstGeom prst="roundRect">
            <a:avLst>
              <a:gd name="adj" fmla="val 45454"/>
            </a:avLst>
          </a:prstGeom>
          <a:solidFill>
            <a:srgbClr val="FF76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592824" y="3346703"/>
            <a:ext cx="4261104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F2E9"/>
                </a:solidFill>
                <a:latin typeface="Helvetica Neue"/>
                <a:ea typeface="Hiragino Sans GB"/>
              </a:rPr>
              <a:t>Prompt、Workflow、RAG或Agent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64224" y="3995927"/>
            <a:ext cx="100584" cy="100584"/>
          </a:xfrm>
          <a:prstGeom prst="roundRect">
            <a:avLst>
              <a:gd name="adj" fmla="val 45454"/>
            </a:avLst>
          </a:prstGeom>
          <a:solidFill>
            <a:srgbClr val="FF76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592824" y="3904487"/>
            <a:ext cx="4261104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F2E9"/>
                </a:solidFill>
                <a:latin typeface="Helvetica Neue"/>
                <a:ea typeface="Hiragino Sans GB"/>
              </a:rPr>
              <a:t>AI做到哪一步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64224" y="4553712"/>
            <a:ext cx="100584" cy="100584"/>
          </a:xfrm>
          <a:prstGeom prst="roundRect">
            <a:avLst>
              <a:gd name="adj" fmla="val 45454"/>
            </a:avLst>
          </a:prstGeom>
          <a:solidFill>
            <a:srgbClr val="FF76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592824" y="4462272"/>
            <a:ext cx="4261104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F2E9"/>
                </a:solidFill>
                <a:latin typeface="Helvetica Neue"/>
                <a:ea typeface="Hiragino Sans GB"/>
              </a:rPr>
              <a:t>异常与高风险怎样升级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5769864"/>
            <a:ext cx="10716768" cy="530352"/>
          </a:xfrm>
          <a:prstGeom prst="roundRect">
            <a:avLst>
              <a:gd name="adj" fmla="val 24137"/>
            </a:avLst>
          </a:prstGeom>
          <a:solidFill>
            <a:srgbClr val="133843"/>
          </a:solidFill>
          <a:ln w="6477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23544" y="5897879"/>
            <a:ext cx="109728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elvetica Neue"/>
                <a:ea typeface="Hiragino Sans GB"/>
              </a:rPr>
              <a:t>核心区别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11680" y="5870448"/>
            <a:ext cx="9079992" cy="29260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方案质量取决于问题定义和人机边界，而不是模型名称。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94944" y="228600"/>
            <a:ext cx="905256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第一部分 · 能力二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91088" y="228600"/>
            <a:ext cx="512064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07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65392"/>
            <a:ext cx="10808208" cy="12801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deckkit-motif-quiet"/>
          <p:cNvSpPr/>
          <p:nvPr/>
        </p:nvSpPr>
        <p:spPr>
          <a:xfrm>
            <a:off x="694944" y="6519672"/>
            <a:ext cx="1375590" cy="3291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12648"/>
            <a:ext cx="10716768" cy="62179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2E9"/>
                </a:solidFill>
                <a:latin typeface="Helvetica Neue"/>
                <a:ea typeface="Hiragino Sans GB"/>
              </a:rPr>
              <a:t>产品定义与交付｜把AI能力变成可用产品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52728"/>
            <a:ext cx="1325880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2" y="1371600"/>
            <a:ext cx="10661904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从想法到交付，需要一套能被团队执行、被用户体验的产品表达。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911095"/>
            <a:ext cx="3386328" cy="3538728"/>
          </a:xfrm>
          <a:prstGeom prst="roundRect">
            <a:avLst>
              <a:gd name="adj" fmla="val 4320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50976" y="2057400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6D6C2"/>
                </a:solidFill>
                <a:latin typeface="Helvetica Neue"/>
                <a:ea typeface="Hiragino Sans GB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350008"/>
            <a:ext cx="2983992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5F2E9"/>
                </a:solidFill>
                <a:latin typeface="Helvetica Neue"/>
                <a:ea typeface="Hiragino Sans GB"/>
              </a:rPr>
              <a:t>AI产品PRD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788920"/>
            <a:ext cx="2983992" cy="2532888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7B5BC"/>
                </a:solidFill>
                <a:latin typeface="Helvetica Neue"/>
                <a:ea typeface="Hiragino Sans GB"/>
              </a:rPr>
              <a:t>用户·场景·流程·人机分工·异常·验收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37304" y="1911095"/>
            <a:ext cx="3386328" cy="3538728"/>
          </a:xfrm>
          <a:prstGeom prst="roundRect">
            <a:avLst>
              <a:gd name="adj" fmla="val 4320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38472" y="2057400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7657"/>
                </a:solidFill>
                <a:latin typeface="Helvetica Neue"/>
                <a:ea typeface="Hiragino Sans GB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8472" y="2350008"/>
            <a:ext cx="2983992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5F2E9"/>
                </a:solidFill>
                <a:latin typeface="Helvetica Neue"/>
                <a:ea typeface="Hiragino Sans GB"/>
              </a:rPr>
              <a:t>原型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38472" y="2788920"/>
            <a:ext cx="2983992" cy="2532888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7B5BC"/>
                </a:solidFill>
                <a:latin typeface="Helvetica Neue"/>
                <a:ea typeface="Hiragino Sans GB"/>
              </a:rPr>
              <a:t>页面·状态·来源·确认·修改·权限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24800" y="1911095"/>
            <a:ext cx="3386328" cy="3538728"/>
          </a:xfrm>
          <a:prstGeom prst="roundRect">
            <a:avLst>
              <a:gd name="adj" fmla="val 4320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125968" y="2057400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0C565"/>
                </a:solidFill>
                <a:latin typeface="Helvetica Neue"/>
                <a:ea typeface="Hiragino Sans GB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5968" y="2350008"/>
            <a:ext cx="2983992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5F2E9"/>
                </a:solidFill>
                <a:latin typeface="Helvetica Neue"/>
                <a:ea typeface="Hiragino Sans GB"/>
              </a:rPr>
              <a:t>可运行Demo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5968" y="2788920"/>
            <a:ext cx="2983992" cy="2532888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7B5BC"/>
                </a:solidFill>
                <a:latin typeface="Helvetica Neue"/>
                <a:ea typeface="Hiragino Sans GB"/>
              </a:rPr>
              <a:t>正常路径·错误状态·人工接管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769864"/>
            <a:ext cx="10716768" cy="530352"/>
          </a:xfrm>
          <a:prstGeom prst="roundRect">
            <a:avLst>
              <a:gd name="adj" fmla="val 24137"/>
            </a:avLst>
          </a:prstGeom>
          <a:solidFill>
            <a:srgbClr val="133843"/>
          </a:solidFill>
          <a:ln w="6477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23544" y="5897879"/>
            <a:ext cx="109728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elvetica Neue"/>
                <a:ea typeface="Hiragino Sans GB"/>
              </a:rPr>
              <a:t>判断框架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5870448"/>
            <a:ext cx="9079992" cy="29260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PRD定义决策，原型呈现交互，Demo验证真实运行。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94944" y="228600"/>
            <a:ext cx="905256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第一部分 · 能力三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91088" y="228600"/>
            <a:ext cx="512064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08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65392"/>
            <a:ext cx="10808208" cy="12801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deckkit-motif-quiet"/>
          <p:cNvSpPr/>
          <p:nvPr/>
        </p:nvSpPr>
        <p:spPr>
          <a:xfrm>
            <a:off x="694944" y="6519672"/>
            <a:ext cx="1572102" cy="3291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12648"/>
            <a:ext cx="10716768" cy="62179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2E9"/>
                </a:solidFill>
                <a:latin typeface="Helvetica Neue"/>
                <a:ea typeface="Hiragino Sans GB"/>
              </a:rPr>
              <a:t>效果验证与数据反馈｜从感觉不错走向可重复验证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52728"/>
            <a:ext cx="1325880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2" y="1371600"/>
            <a:ext cx="10661904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评测不是上线前的一次考试，而是产品持续改进的反馈系统。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920240"/>
            <a:ext cx="2503170" cy="1417320"/>
          </a:xfrm>
          <a:prstGeom prst="roundRect">
            <a:avLst>
              <a:gd name="adj" fmla="val 10322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50976" y="2066544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6D6C2"/>
                </a:solidFill>
                <a:latin typeface="Helvetica Neue"/>
                <a:ea typeface="Hiragino Sans GB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359152"/>
            <a:ext cx="2100834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任务定义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798064"/>
            <a:ext cx="2100834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A7B5BC"/>
                </a:solidFill>
                <a:latin typeface="Helvetica Neue"/>
                <a:ea typeface="Hiragino Sans GB"/>
              </a:rPr>
              <a:t>测什么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35858" y="1920240"/>
            <a:ext cx="2503170" cy="1417320"/>
          </a:xfrm>
          <a:prstGeom prst="roundRect">
            <a:avLst>
              <a:gd name="adj" fmla="val 10322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37026" y="2066544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7657"/>
                </a:solidFill>
                <a:latin typeface="Helvetica Neue"/>
                <a:ea typeface="Hiragino Sans GB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7026" y="2359152"/>
            <a:ext cx="2100834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评测集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37026" y="2798064"/>
            <a:ext cx="2100834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A7B5BC"/>
                </a:solidFill>
                <a:latin typeface="Helvetica Neue"/>
                <a:ea typeface="Hiragino Sans GB"/>
              </a:rPr>
              <a:t>Excel/数据表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1908" y="1920240"/>
            <a:ext cx="2503170" cy="1417320"/>
          </a:xfrm>
          <a:prstGeom prst="roundRect">
            <a:avLst>
              <a:gd name="adj" fmla="val 10322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23076" y="2066544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0C565"/>
                </a:solidFill>
                <a:latin typeface="Helvetica Neue"/>
                <a:ea typeface="Hiragino Sans GB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23076" y="2359152"/>
            <a:ext cx="2100834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参考答案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23076" y="2798064"/>
            <a:ext cx="2100834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A7B5BC"/>
                </a:solidFill>
                <a:latin typeface="Helvetica Neue"/>
                <a:ea typeface="Hiragino Sans GB"/>
              </a:rPr>
              <a:t>金标准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807958" y="1920240"/>
            <a:ext cx="2503170" cy="1417320"/>
          </a:xfrm>
          <a:prstGeom prst="roundRect">
            <a:avLst>
              <a:gd name="adj" fmla="val 10322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009126" y="2066544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8D391"/>
                </a:solidFill>
                <a:latin typeface="Helvetica Neue"/>
                <a:ea typeface="Hiragino Sans GB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09126" y="2359152"/>
            <a:ext cx="2100834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指标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09126" y="2798064"/>
            <a:ext cx="2100834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A7B5BC"/>
                </a:solidFill>
                <a:latin typeface="Helvetica Neue"/>
                <a:ea typeface="Hiragino Sans GB"/>
              </a:rPr>
              <a:t>规则·语义·人工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9808" y="3675887"/>
            <a:ext cx="2503170" cy="1417320"/>
          </a:xfrm>
          <a:prstGeom prst="roundRect">
            <a:avLst>
              <a:gd name="adj" fmla="val 10322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50976" y="3822191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6D6C2"/>
                </a:solidFill>
                <a:latin typeface="Helvetica Neue"/>
                <a:ea typeface="Hiragino Sans GB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0976" y="4114800"/>
            <a:ext cx="2100834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批量测试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0976" y="4553712"/>
            <a:ext cx="2100834" cy="411479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A7B5BC"/>
                </a:solidFill>
                <a:latin typeface="Helvetica Neue"/>
                <a:ea typeface="Hiragino Sans GB"/>
              </a:rPr>
              <a:t>版本对比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35858" y="3675887"/>
            <a:ext cx="2503170" cy="1417320"/>
          </a:xfrm>
          <a:prstGeom prst="roundRect">
            <a:avLst>
              <a:gd name="adj" fmla="val 10322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637026" y="3822191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7657"/>
                </a:solidFill>
                <a:latin typeface="Helvetica Neue"/>
                <a:ea typeface="Hiragino Sans GB"/>
              </a:rP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37026" y="4114800"/>
            <a:ext cx="2100834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Bad Case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37026" y="4553712"/>
            <a:ext cx="2100834" cy="411479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A7B5BC"/>
                </a:solidFill>
                <a:latin typeface="Helvetica Neue"/>
                <a:ea typeface="Hiragino Sans GB"/>
              </a:rPr>
              <a:t>失败样本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21908" y="3675887"/>
            <a:ext cx="2503170" cy="1417320"/>
          </a:xfrm>
          <a:prstGeom prst="roundRect">
            <a:avLst>
              <a:gd name="adj" fmla="val 10322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323076" y="3822191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0C565"/>
                </a:solidFill>
                <a:latin typeface="Helvetica Neue"/>
                <a:ea typeface="Hiragino Sans GB"/>
              </a:rPr>
              <a:t>07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23076" y="4114800"/>
            <a:ext cx="2100834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归因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23076" y="4553712"/>
            <a:ext cx="2100834" cy="411479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A7B5BC"/>
                </a:solidFill>
                <a:latin typeface="Helvetica Neue"/>
                <a:ea typeface="Hiragino Sans GB"/>
              </a:rPr>
              <a:t>模型·数据·流程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807958" y="3675887"/>
            <a:ext cx="2503170" cy="1417320"/>
          </a:xfrm>
          <a:prstGeom prst="roundRect">
            <a:avLst>
              <a:gd name="adj" fmla="val 10322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009126" y="3822191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8D391"/>
                </a:solidFill>
                <a:latin typeface="Helvetica Neue"/>
                <a:ea typeface="Hiragino Sans GB"/>
              </a:rPr>
              <a:t>08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09126" y="4114800"/>
            <a:ext cx="2100834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修改回归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09126" y="4553712"/>
            <a:ext cx="2100834" cy="411479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A7B5BC"/>
                </a:solidFill>
                <a:latin typeface="Helvetica Neue"/>
                <a:ea typeface="Hiragino Sans GB"/>
              </a:rPr>
              <a:t>防止旧错复发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31520" y="5769864"/>
            <a:ext cx="10716768" cy="530352"/>
          </a:xfrm>
          <a:prstGeom prst="roundRect">
            <a:avLst>
              <a:gd name="adj" fmla="val 24137"/>
            </a:avLst>
          </a:prstGeom>
          <a:solidFill>
            <a:srgbClr val="133843"/>
          </a:solidFill>
          <a:ln w="6477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23544" y="5897879"/>
            <a:ext cx="109728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elvetica Neue"/>
                <a:ea typeface="Hiragino Sans GB"/>
              </a:rPr>
              <a:t>串联关系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011680" y="5870448"/>
            <a:ext cx="9079992" cy="29260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评测集让改进有依据，Bad Case让问题能够被归因和回归。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94944" y="228600"/>
            <a:ext cx="905256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第一部分 · 能力四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91088" y="228600"/>
            <a:ext cx="512064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09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65392"/>
            <a:ext cx="10808208" cy="12801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deckkit-motif-quiet"/>
          <p:cNvSpPr/>
          <p:nvPr/>
        </p:nvSpPr>
        <p:spPr>
          <a:xfrm>
            <a:off x="694944" y="6519672"/>
            <a:ext cx="1768615" cy="3291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12648"/>
            <a:ext cx="10716768" cy="62179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2E9"/>
                </a:solidFill>
                <a:latin typeface="Helvetica Neue"/>
                <a:ea typeface="Hiragino Sans GB"/>
              </a:rPr>
              <a:t>模型、成本与价值｜从技术指标走到商业判断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52728"/>
            <a:ext cx="1325880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2" y="1371600"/>
            <a:ext cx="10661904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模型选型不是排行榜选择，而是效果、约束和长期价值的综合决策。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911095"/>
            <a:ext cx="3386328" cy="1659636"/>
          </a:xfrm>
          <a:prstGeom prst="roundRect">
            <a:avLst>
              <a:gd name="adj" fmla="val 8815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50976" y="2057400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6D6C2"/>
                </a:solidFill>
                <a:latin typeface="Helvetica Neue"/>
                <a:ea typeface="Hiragino Sans GB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350008"/>
            <a:ext cx="2983992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5F2E9"/>
                </a:solidFill>
                <a:latin typeface="Helvetica Neue"/>
                <a:ea typeface="Hiragino Sans GB"/>
              </a:rPr>
              <a:t>效果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788920"/>
            <a:ext cx="2983992" cy="653796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7B5BC"/>
                </a:solidFill>
                <a:latin typeface="Helvetica Neue"/>
                <a:ea typeface="Hiragino Sans GB"/>
              </a:rPr>
              <a:t>任务质量·稳定性·长文本·多模态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37304" y="1911095"/>
            <a:ext cx="3386328" cy="1659636"/>
          </a:xfrm>
          <a:prstGeom prst="roundRect">
            <a:avLst>
              <a:gd name="adj" fmla="val 8815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38472" y="2057400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7657"/>
                </a:solidFill>
                <a:latin typeface="Helvetica Neue"/>
                <a:ea typeface="Hiragino Sans GB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8472" y="2350008"/>
            <a:ext cx="2983992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5F2E9"/>
                </a:solidFill>
                <a:latin typeface="Helvetica Neue"/>
                <a:ea typeface="Hiragino Sans GB"/>
              </a:rPr>
              <a:t>速度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38472" y="2788920"/>
            <a:ext cx="2983992" cy="653796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7B5BC"/>
                </a:solidFill>
                <a:latin typeface="Helvetica Neue"/>
                <a:ea typeface="Hiragino Sans GB"/>
              </a:rPr>
              <a:t>首字延迟·总耗时·并发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24800" y="1911095"/>
            <a:ext cx="3386328" cy="1659636"/>
          </a:xfrm>
          <a:prstGeom prst="roundRect">
            <a:avLst>
              <a:gd name="adj" fmla="val 8815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125968" y="2057400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0C565"/>
                </a:solidFill>
                <a:latin typeface="Helvetica Neue"/>
                <a:ea typeface="Hiragino Sans GB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5968" y="2350008"/>
            <a:ext cx="2983992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5F2E9"/>
                </a:solidFill>
                <a:latin typeface="Helvetica Neue"/>
                <a:ea typeface="Hiragino Sans GB"/>
              </a:rPr>
              <a:t>成本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5968" y="2788920"/>
            <a:ext cx="2983992" cy="653796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7B5BC"/>
                </a:solidFill>
                <a:latin typeface="Helvetica Neue"/>
                <a:ea typeface="Hiragino Sans GB"/>
              </a:rPr>
              <a:t>Token·调用·推理·人工复核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9808" y="3790187"/>
            <a:ext cx="3386328" cy="1659636"/>
          </a:xfrm>
          <a:prstGeom prst="roundRect">
            <a:avLst>
              <a:gd name="adj" fmla="val 8815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50976" y="3936491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8D391"/>
                </a:solidFill>
                <a:latin typeface="Helvetica Neue"/>
                <a:ea typeface="Hiragino Sans GB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0976" y="4229100"/>
            <a:ext cx="2983992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5F2E9"/>
                </a:solidFill>
                <a:latin typeface="Helvetica Neue"/>
                <a:ea typeface="Hiragino Sans GB"/>
              </a:rPr>
              <a:t>风险约束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0976" y="4668012"/>
            <a:ext cx="2983992" cy="653795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7B5BC"/>
                </a:solidFill>
                <a:latin typeface="Helvetica Neue"/>
                <a:ea typeface="Hiragino Sans GB"/>
              </a:rPr>
              <a:t>安全·部署·供应商·错误代价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37304" y="3790187"/>
            <a:ext cx="3386328" cy="1659636"/>
          </a:xfrm>
          <a:prstGeom prst="roundRect">
            <a:avLst>
              <a:gd name="adj" fmla="val 8815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538472" y="3936491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F6969"/>
                </a:solidFill>
                <a:latin typeface="Helvetica Neue"/>
                <a:ea typeface="Hiragino Sans GB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38472" y="4229100"/>
            <a:ext cx="2983992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5F2E9"/>
                </a:solidFill>
                <a:latin typeface="Helvetica Neue"/>
                <a:ea typeface="Hiragino Sans GB"/>
              </a:rPr>
              <a:t>ROI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38472" y="4668012"/>
            <a:ext cx="2983992" cy="653795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7B5BC"/>
                </a:solidFill>
                <a:latin typeface="Helvetica Neue"/>
                <a:ea typeface="Hiragino Sans GB"/>
              </a:rPr>
              <a:t>规模化收益·使用频次·继续条件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5769864"/>
            <a:ext cx="10716768" cy="530352"/>
          </a:xfrm>
          <a:prstGeom prst="roundRect">
            <a:avLst>
              <a:gd name="adj" fmla="val 24137"/>
            </a:avLst>
          </a:prstGeom>
          <a:solidFill>
            <a:srgbClr val="133843"/>
          </a:solidFill>
          <a:ln w="6477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23544" y="5897879"/>
            <a:ext cx="109728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elvetica Neue"/>
                <a:ea typeface="Hiragino Sans GB"/>
              </a:rPr>
              <a:t>判断框架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11680" y="5870448"/>
            <a:ext cx="9079992" cy="29260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最强的模型未必是最合适的模型，最便宜也未必创造价值。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94944" y="228600"/>
            <a:ext cx="905256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第一部分 · 学习成果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91088" y="228600"/>
            <a:ext cx="512064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11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65392"/>
            <a:ext cx="10808208" cy="12801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deckkit-motif-quiet"/>
          <p:cNvSpPr/>
          <p:nvPr/>
        </p:nvSpPr>
        <p:spPr>
          <a:xfrm>
            <a:off x="694944" y="6519672"/>
            <a:ext cx="2161641" cy="3291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12648"/>
            <a:ext cx="10716768" cy="62179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2E9"/>
                </a:solidFill>
                <a:latin typeface="Helvetica Neue"/>
                <a:ea typeface="Hiragino Sans GB"/>
              </a:rPr>
              <a:t>第一阶段的十类产出｜你已经做过哪些？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52728"/>
            <a:ext cx="1325880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2" y="1371600"/>
            <a:ext cx="10661904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把课程知识重新看成一组可以继续积累的项目材料。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911095"/>
            <a:ext cx="1951329" cy="1659636"/>
          </a:xfrm>
          <a:prstGeom prst="roundRect">
            <a:avLst>
              <a:gd name="adj" fmla="val 8815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50976" y="2057400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6D6C2"/>
                </a:solidFill>
                <a:latin typeface="Helvetica Neue"/>
                <a:ea typeface="Hiragino Sans GB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350008"/>
            <a:ext cx="1548993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Prompt产品化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02305" y="1911095"/>
            <a:ext cx="1951329" cy="1659636"/>
          </a:xfrm>
          <a:prstGeom prst="roundRect">
            <a:avLst>
              <a:gd name="adj" fmla="val 8815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103473" y="2057400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7657"/>
                </a:solidFill>
                <a:latin typeface="Helvetica Neue"/>
                <a:ea typeface="Hiragino Sans GB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3473" y="2350008"/>
            <a:ext cx="1548993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Workflow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54803" y="1911095"/>
            <a:ext cx="1951329" cy="1659636"/>
          </a:xfrm>
          <a:prstGeom prst="roundRect">
            <a:avLst>
              <a:gd name="adj" fmla="val 8815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255971" y="2057400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0C565"/>
                </a:solidFill>
                <a:latin typeface="Helvetica Neue"/>
                <a:ea typeface="Hiragino Sans GB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55971" y="2350008"/>
            <a:ext cx="1548993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RAG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07300" y="1911095"/>
            <a:ext cx="1951329" cy="1659636"/>
          </a:xfrm>
          <a:prstGeom prst="roundRect">
            <a:avLst>
              <a:gd name="adj" fmla="val 8815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408468" y="2057400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8D391"/>
                </a:solidFill>
                <a:latin typeface="Helvetica Neue"/>
                <a:ea typeface="Hiragino Sans GB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8468" y="2350008"/>
            <a:ext cx="1548993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Agent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59798" y="1911095"/>
            <a:ext cx="1951329" cy="1659636"/>
          </a:xfrm>
          <a:prstGeom prst="roundRect">
            <a:avLst>
              <a:gd name="adj" fmla="val 8815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560966" y="2057400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F6969"/>
                </a:solidFill>
                <a:latin typeface="Helvetica Neue"/>
                <a:ea typeface="Hiragino Sans GB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60966" y="2350008"/>
            <a:ext cx="1548993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Coze实践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49808" y="3790187"/>
            <a:ext cx="1951329" cy="1659636"/>
          </a:xfrm>
          <a:prstGeom prst="roundRect">
            <a:avLst>
              <a:gd name="adj" fmla="val 8815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50976" y="3936491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6D6C2"/>
                </a:solidFill>
                <a:latin typeface="Helvetica Neue"/>
                <a:ea typeface="Hiragino Sans GB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0976" y="4229100"/>
            <a:ext cx="1548993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需求与PRD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902305" y="3790187"/>
            <a:ext cx="1951329" cy="1659636"/>
          </a:xfrm>
          <a:prstGeom prst="roundRect">
            <a:avLst>
              <a:gd name="adj" fmla="val 8815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103473" y="3936491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7657"/>
                </a:solidFill>
                <a:latin typeface="Helvetica Neue"/>
                <a:ea typeface="Hiragino Sans GB"/>
              </a:rPr>
              <a:t>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03473" y="4229100"/>
            <a:ext cx="1548993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原型与Demo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54803" y="3790187"/>
            <a:ext cx="1951329" cy="1659636"/>
          </a:xfrm>
          <a:prstGeom prst="roundRect">
            <a:avLst>
              <a:gd name="adj" fmla="val 8815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255971" y="3936491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0C565"/>
                </a:solidFill>
                <a:latin typeface="Helvetica Neue"/>
                <a:ea typeface="Hiragino Sans GB"/>
              </a:rPr>
              <a:t>08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55971" y="4229100"/>
            <a:ext cx="1548993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评测与Bad Case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207300" y="3790187"/>
            <a:ext cx="1951329" cy="1659636"/>
          </a:xfrm>
          <a:prstGeom prst="roundRect">
            <a:avLst>
              <a:gd name="adj" fmla="val 8815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408468" y="3936491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8D391"/>
                </a:solidFill>
                <a:latin typeface="Helvetica Neue"/>
                <a:ea typeface="Hiragino Sans GB"/>
              </a:rPr>
              <a:t>09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8468" y="4229100"/>
            <a:ext cx="1548993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智能审核PRD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359798" y="3790187"/>
            <a:ext cx="1951329" cy="1659636"/>
          </a:xfrm>
          <a:prstGeom prst="roundRect">
            <a:avLst>
              <a:gd name="adj" fmla="val 8815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560966" y="3936491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F6969"/>
                </a:solidFill>
                <a:latin typeface="Helvetica Neue"/>
                <a:ea typeface="Hiragino Sans GB"/>
              </a:rPr>
              <a:t>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60966" y="4229100"/>
            <a:ext cx="1548993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模型成本与ROI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31520" y="5769864"/>
            <a:ext cx="10716768" cy="530352"/>
          </a:xfrm>
          <a:prstGeom prst="roundRect">
            <a:avLst>
              <a:gd name="adj" fmla="val 24137"/>
            </a:avLst>
          </a:prstGeom>
          <a:solidFill>
            <a:srgbClr val="133843"/>
          </a:solidFill>
          <a:ln w="6477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923544" y="5897879"/>
            <a:ext cx="109728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elvetica Neue"/>
                <a:ea typeface="Hiragino Sans GB"/>
              </a:rPr>
              <a:t>判断框架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011680" y="5870448"/>
            <a:ext cx="9079992" cy="29260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这些不是十份作业，而是一个AI产品项目可能需要的十类证据。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94944" y="228600"/>
            <a:ext cx="905256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第一部分 · 阶段边界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91088" y="228600"/>
            <a:ext cx="512064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12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65392"/>
            <a:ext cx="10808208" cy="12801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deckkit-motif-quiet"/>
          <p:cNvSpPr/>
          <p:nvPr/>
        </p:nvSpPr>
        <p:spPr>
          <a:xfrm>
            <a:off x="694944" y="6519672"/>
            <a:ext cx="2358154" cy="3291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12648"/>
            <a:ext cx="10716768" cy="62179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2E9"/>
                </a:solidFill>
                <a:latin typeface="Helvetica Neue"/>
                <a:ea typeface="Hiragino Sans GB"/>
              </a:rPr>
              <a:t>已经具备什么，还缺少什么？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52728"/>
            <a:ext cx="1325880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2" y="1371600"/>
            <a:ext cx="10661904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第一阶段建立共同语言和判断框架；下一阶段把它们串成完整项目。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920240"/>
            <a:ext cx="5166360" cy="3438144"/>
          </a:xfrm>
          <a:prstGeom prst="roundRect">
            <a:avLst>
              <a:gd name="adj" fmla="val 4255"/>
            </a:avLst>
          </a:prstGeom>
          <a:solidFill>
            <a:srgbClr val="102B37"/>
          </a:solidFill>
          <a:ln w="8636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2167128"/>
            <a:ext cx="452628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36D6C2"/>
                </a:solidFill>
                <a:latin typeface="Helvetica Neue"/>
                <a:ea typeface="Hiragino Sans GB"/>
              </a:rPr>
              <a:t>已经具备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7" y="2880360"/>
            <a:ext cx="100584" cy="100584"/>
          </a:xfrm>
          <a:prstGeom prst="roundRect">
            <a:avLst>
              <a:gd name="adj" fmla="val 45454"/>
            </a:avLst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252728" y="2788920"/>
            <a:ext cx="4261104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F2E9"/>
                </a:solidFill>
                <a:latin typeface="Helvetica Neue"/>
                <a:ea typeface="Hiragino Sans GB"/>
              </a:rPr>
              <a:t>理解主要AI产品形态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24127" y="3438144"/>
            <a:ext cx="100584" cy="100584"/>
          </a:xfrm>
          <a:prstGeom prst="roundRect">
            <a:avLst>
              <a:gd name="adj" fmla="val 45454"/>
            </a:avLst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252728" y="3346703"/>
            <a:ext cx="4261104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F2E9"/>
                </a:solidFill>
                <a:latin typeface="Helvetica Neue"/>
                <a:ea typeface="Hiragino Sans GB"/>
              </a:rPr>
              <a:t>能设计基本人机分工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24127" y="3995927"/>
            <a:ext cx="100584" cy="100584"/>
          </a:xfrm>
          <a:prstGeom prst="roundRect">
            <a:avLst>
              <a:gd name="adj" fmla="val 45454"/>
            </a:avLst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252728" y="3904487"/>
            <a:ext cx="4261104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F2E9"/>
                </a:solidFill>
                <a:latin typeface="Helvetica Neue"/>
                <a:ea typeface="Hiragino Sans GB"/>
              </a:rPr>
              <a:t>会写核心PRD与原型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7" y="4553712"/>
            <a:ext cx="100584" cy="100584"/>
          </a:xfrm>
          <a:prstGeom prst="roundRect">
            <a:avLst>
              <a:gd name="adj" fmla="val 45454"/>
            </a:avLst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252728" y="4462272"/>
            <a:ext cx="4261104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F2E9"/>
                </a:solidFill>
                <a:latin typeface="Helvetica Neue"/>
                <a:ea typeface="Hiragino Sans GB"/>
              </a:rPr>
              <a:t>知道怎样评测和算成本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89904" y="1920240"/>
            <a:ext cx="5166360" cy="3438144"/>
          </a:xfrm>
          <a:prstGeom prst="roundRect">
            <a:avLst>
              <a:gd name="adj" fmla="val 4255"/>
            </a:avLst>
          </a:prstGeom>
          <a:solidFill>
            <a:srgbClr val="133843"/>
          </a:solidFill>
          <a:ln w="8636">
            <a:solidFill>
              <a:srgbClr val="FF7657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45936" y="2167128"/>
            <a:ext cx="452628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7657"/>
                </a:solidFill>
                <a:latin typeface="Helvetica Neue"/>
                <a:ea typeface="Hiragino Sans GB"/>
              </a:rPr>
              <a:t>仍然缺少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64224" y="2880360"/>
            <a:ext cx="100584" cy="100584"/>
          </a:xfrm>
          <a:prstGeom prst="roundRect">
            <a:avLst>
              <a:gd name="adj" fmla="val 45454"/>
            </a:avLst>
          </a:prstGeom>
          <a:solidFill>
            <a:srgbClr val="FF76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92824" y="2788920"/>
            <a:ext cx="4261104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F2E9"/>
                </a:solidFill>
                <a:latin typeface="Helvetica Neue"/>
                <a:ea typeface="Hiragino Sans GB"/>
              </a:rPr>
              <a:t>从零推进完整项目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64224" y="3438144"/>
            <a:ext cx="100584" cy="100584"/>
          </a:xfrm>
          <a:prstGeom prst="roundRect">
            <a:avLst>
              <a:gd name="adj" fmla="val 45454"/>
            </a:avLst>
          </a:prstGeom>
          <a:solidFill>
            <a:srgbClr val="FF76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592824" y="3346703"/>
            <a:ext cx="4261104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F2E9"/>
                </a:solidFill>
                <a:latin typeface="Helvetica Neue"/>
                <a:ea typeface="Hiragino Sans GB"/>
              </a:rPr>
              <a:t>面对真实约束持续修改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64224" y="3995927"/>
            <a:ext cx="100584" cy="100584"/>
          </a:xfrm>
          <a:prstGeom prst="roundRect">
            <a:avLst>
              <a:gd name="adj" fmla="val 45454"/>
            </a:avLst>
          </a:prstGeom>
          <a:solidFill>
            <a:srgbClr val="FF76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592824" y="3904487"/>
            <a:ext cx="4261104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F2E9"/>
                </a:solidFill>
                <a:latin typeface="Helvetica Neue"/>
                <a:ea typeface="Hiragino Sans GB"/>
              </a:rPr>
              <a:t>形成版本与决策证据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64224" y="4553712"/>
            <a:ext cx="100584" cy="100584"/>
          </a:xfrm>
          <a:prstGeom prst="roundRect">
            <a:avLst>
              <a:gd name="adj" fmla="val 45454"/>
            </a:avLst>
          </a:prstGeom>
          <a:solidFill>
            <a:srgbClr val="FF76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592824" y="4462272"/>
            <a:ext cx="4261104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F2E9"/>
                </a:solidFill>
                <a:latin typeface="Helvetica Neue"/>
                <a:ea typeface="Hiragino Sans GB"/>
              </a:rPr>
              <a:t>把项目讲成可信作品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5769864"/>
            <a:ext cx="10716768" cy="530352"/>
          </a:xfrm>
          <a:prstGeom prst="roundRect">
            <a:avLst>
              <a:gd name="adj" fmla="val 24137"/>
            </a:avLst>
          </a:prstGeom>
          <a:solidFill>
            <a:srgbClr val="133843"/>
          </a:solidFill>
          <a:ln w="6477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23544" y="5897879"/>
            <a:ext cx="109728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elvetica Neue"/>
                <a:ea typeface="Hiragino Sans GB"/>
              </a:rPr>
              <a:t>核心区别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11680" y="5870448"/>
            <a:ext cx="9079992" cy="29260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从‘知道怎样做’到‘真正做过并讲得清’，中间还隔着完整项目。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94944" y="228600"/>
            <a:ext cx="905256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第二部分 · 章节导航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91088" y="228600"/>
            <a:ext cx="512064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13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65392"/>
            <a:ext cx="10808208" cy="12801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deckkit-motif-quiet"/>
          <p:cNvSpPr/>
          <p:nvPr/>
        </p:nvSpPr>
        <p:spPr>
          <a:xfrm>
            <a:off x="694944" y="6519672"/>
            <a:ext cx="2554667" cy="3291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04672" y="1207008"/>
            <a:ext cx="32918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6D6C2"/>
                </a:solidFill>
                <a:latin typeface="Helvetica Neue"/>
                <a:ea typeface="Hiragino Sans GB"/>
              </a:rPr>
              <a:t>第二部分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865376"/>
            <a:ext cx="9966960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 i="0">
                <a:solidFill>
                  <a:srgbClr val="F5F2E9"/>
                </a:solidFill>
                <a:latin typeface="Helvetica Neue"/>
                <a:ea typeface="Hiragino Sans GB"/>
              </a:rPr>
              <a:t>AI产品正在发生什么变化？</a:t>
            </a:r>
          </a:p>
        </p:txBody>
      </p:sp>
      <p:sp>
        <p:nvSpPr>
          <p:cNvPr id="8" name="deckkit-motif-quiet"/>
          <p:cNvSpPr/>
          <p:nvPr/>
        </p:nvSpPr>
        <p:spPr>
          <a:xfrm>
            <a:off x="804672" y="2743200"/>
            <a:ext cx="2331720" cy="50292"/>
          </a:xfrm>
          <a:prstGeom prst="rect">
            <a:avLst/>
          </a:prstGeom>
          <a:solidFill>
            <a:srgbClr val="FF76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3182112"/>
            <a:ext cx="9875520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A7B5BC"/>
                </a:solidFill>
                <a:latin typeface="Helvetica Neue"/>
                <a:ea typeface="Hiragino Sans GB"/>
              </a:rPr>
              <a:t>用16个有争议的问题练习判断：先选择，再用框架解释自己的选择。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251960"/>
            <a:ext cx="1444752" cy="530352"/>
          </a:xfrm>
          <a:prstGeom prst="roundRect">
            <a:avLst>
              <a:gd name="adj" fmla="val 27586"/>
            </a:avLst>
          </a:prstGeom>
          <a:solidFill>
            <a:srgbClr val="133843"/>
          </a:solidFill>
          <a:ln w="10795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4251960"/>
            <a:ext cx="1444752" cy="53035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6D6C2"/>
                </a:solidFill>
                <a:latin typeface="Helvetica Neue"/>
                <a:ea typeface="Hiragino Sans GB"/>
              </a:rPr>
              <a:t>产品价值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68880" y="4251960"/>
            <a:ext cx="2075688" cy="530352"/>
          </a:xfrm>
          <a:prstGeom prst="roundRect">
            <a:avLst>
              <a:gd name="adj" fmla="val 27586"/>
            </a:avLst>
          </a:prstGeom>
          <a:solidFill>
            <a:srgbClr val="133843"/>
          </a:solidFill>
          <a:ln w="10795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468880" y="4251960"/>
            <a:ext cx="2075688" cy="53035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7657"/>
                </a:solidFill>
                <a:latin typeface="Helvetica Neue"/>
                <a:ea typeface="Hiragino Sans GB"/>
              </a:rPr>
              <a:t>Agent与组织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45736" y="4251960"/>
            <a:ext cx="1444752" cy="530352"/>
          </a:xfrm>
          <a:prstGeom prst="roundRect">
            <a:avLst>
              <a:gd name="adj" fmla="val 27586"/>
            </a:avLst>
          </a:prstGeom>
          <a:solidFill>
            <a:srgbClr val="133843"/>
          </a:solidFill>
          <a:ln w="10795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745736" y="4251960"/>
            <a:ext cx="1444752" cy="53035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0C565"/>
                </a:solidFill>
                <a:latin typeface="Helvetica Neue"/>
                <a:ea typeface="Hiragino Sans GB"/>
              </a:rPr>
              <a:t>商业建设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91656" y="4251960"/>
            <a:ext cx="1444752" cy="530352"/>
          </a:xfrm>
          <a:prstGeom prst="roundRect">
            <a:avLst>
              <a:gd name="adj" fmla="val 27586"/>
            </a:avLst>
          </a:prstGeom>
          <a:solidFill>
            <a:srgbClr val="133843"/>
          </a:solidFill>
          <a:ln w="10795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91656" y="4251960"/>
            <a:ext cx="1444752" cy="53035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6D6C2"/>
                </a:solidFill>
                <a:latin typeface="Helvetica Neue"/>
                <a:ea typeface="Hiragino Sans GB"/>
              </a:rPr>
              <a:t>职业个人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94944" y="228600"/>
            <a:ext cx="905256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第二部分 · 讨论 01/16 · 产品价值与形态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91088" y="228600"/>
            <a:ext cx="512064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14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65392"/>
            <a:ext cx="10808208" cy="12801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deckkit-motif-quiet"/>
          <p:cNvSpPr/>
          <p:nvPr/>
        </p:nvSpPr>
        <p:spPr>
          <a:xfrm>
            <a:off x="694944" y="6519672"/>
            <a:ext cx="2751180" cy="3291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12648"/>
            <a:ext cx="10716768" cy="62179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2E9"/>
                </a:solidFill>
                <a:latin typeface="Helvetica Neue"/>
                <a:ea typeface="Hiragino Sans GB"/>
              </a:rPr>
              <a:t>模型越来越强，AI产品还剩下什么价值？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52728"/>
            <a:ext cx="1325880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2" y="1371600"/>
            <a:ext cx="10661904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请选择最接近你判断的一项，再说明理由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83664"/>
            <a:ext cx="3416808" cy="1188720"/>
          </a:xfrm>
          <a:prstGeom prst="roundRect">
            <a:avLst>
              <a:gd name="adj" fmla="val 12307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32688" y="2075688"/>
            <a:ext cx="438912" cy="438912"/>
          </a:xfrm>
          <a:prstGeom prst="roundRect">
            <a:avLst>
              <a:gd name="adj" fmla="val 29166"/>
            </a:avLst>
          </a:prstGeom>
          <a:solidFill>
            <a:srgbClr val="133843"/>
          </a:solidFill>
          <a:ln w="8096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32688" y="2075688"/>
            <a:ext cx="438912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6D6C2"/>
                </a:solidFill>
                <a:latin typeface="Helvetica Neue"/>
                <a:ea typeface="Hiragino Sans GB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7904" y="2039112"/>
            <a:ext cx="2429256" cy="877824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使用比别人更强的模型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2064" y="1883664"/>
            <a:ext cx="3416808" cy="1188720"/>
          </a:xfrm>
          <a:prstGeom prst="roundRect">
            <a:avLst>
              <a:gd name="adj" fmla="val 12307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504944" y="2075688"/>
            <a:ext cx="438912" cy="438912"/>
          </a:xfrm>
          <a:prstGeom prst="roundRect">
            <a:avLst>
              <a:gd name="adj" fmla="val 29166"/>
            </a:avLst>
          </a:prstGeom>
          <a:solidFill>
            <a:srgbClr val="133843"/>
          </a:solidFill>
          <a:ln w="8096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04944" y="2075688"/>
            <a:ext cx="438912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6D6C2"/>
                </a:solidFill>
                <a:latin typeface="Helvetica Neue"/>
                <a:ea typeface="Hiragino Sans GB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90160" y="2039112"/>
            <a:ext cx="2429256" cy="877824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拥有别人没有的私有数据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94320" y="1883664"/>
            <a:ext cx="3416808" cy="1188720"/>
          </a:xfrm>
          <a:prstGeom prst="roundRect">
            <a:avLst>
              <a:gd name="adj" fmla="val 12307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077199" y="2075688"/>
            <a:ext cx="438912" cy="438912"/>
          </a:xfrm>
          <a:prstGeom prst="roundRect">
            <a:avLst>
              <a:gd name="adj" fmla="val 29166"/>
            </a:avLst>
          </a:prstGeom>
          <a:solidFill>
            <a:srgbClr val="133843"/>
          </a:solidFill>
          <a:ln w="8096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077199" y="2075688"/>
            <a:ext cx="438912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6D6C2"/>
                </a:solidFill>
                <a:latin typeface="Helvetica Neue"/>
                <a:ea typeface="Hiragino Sans GB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62416" y="2039112"/>
            <a:ext cx="2429256" cy="877824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深入用户的真实工作流程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426464" y="3300984"/>
            <a:ext cx="4334256" cy="1188720"/>
          </a:xfrm>
          <a:prstGeom prst="roundRect">
            <a:avLst>
              <a:gd name="adj" fmla="val 12307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1609344" y="3493008"/>
            <a:ext cx="438912" cy="438912"/>
          </a:xfrm>
          <a:prstGeom prst="roundRect">
            <a:avLst>
              <a:gd name="adj" fmla="val 29166"/>
            </a:avLst>
          </a:prstGeom>
          <a:solidFill>
            <a:srgbClr val="133843"/>
          </a:solidFill>
          <a:ln w="8096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609344" y="3493008"/>
            <a:ext cx="438912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6D6C2"/>
                </a:solidFill>
                <a:latin typeface="Helvetica Neue"/>
                <a:ea typeface="Hiragino Sans GB"/>
              </a:rPr>
              <a:t>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94560" y="3456432"/>
            <a:ext cx="3346704" cy="877824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拥有用户入口、品牌和信任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0" y="3300984"/>
            <a:ext cx="4334256" cy="1188720"/>
          </a:xfrm>
          <a:prstGeom prst="roundRect">
            <a:avLst>
              <a:gd name="adj" fmla="val 12307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6583680" y="3493008"/>
            <a:ext cx="438912" cy="438912"/>
          </a:xfrm>
          <a:prstGeom prst="roundRect">
            <a:avLst>
              <a:gd name="adj" fmla="val 29166"/>
            </a:avLst>
          </a:prstGeom>
          <a:solidFill>
            <a:srgbClr val="133843"/>
          </a:solidFill>
          <a:ln w="8096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583680" y="3493008"/>
            <a:ext cx="438912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6D6C2"/>
                </a:solidFill>
                <a:latin typeface="Helvetica Neue"/>
                <a:ea typeface="Hiragino Sans GB"/>
              </a:rPr>
              <a:t>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68896" y="3456432"/>
            <a:ext cx="3346704" cy="877824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以上都有，但不同产品的核心价值不同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94944" y="228600"/>
            <a:ext cx="905256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第二部分 · 讨论解析 · 产品价值与形态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91088" y="228600"/>
            <a:ext cx="512064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15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65392"/>
            <a:ext cx="10808208" cy="12801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deckkit-motif-quiet"/>
          <p:cNvSpPr/>
          <p:nvPr/>
        </p:nvSpPr>
        <p:spPr>
          <a:xfrm>
            <a:off x="694944" y="6519672"/>
            <a:ext cx="2947693" cy="3291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12648"/>
            <a:ext cx="10716768" cy="62179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2E9"/>
                </a:solidFill>
                <a:latin typeface="Helvetica Neue"/>
                <a:ea typeface="Hiragino Sans GB"/>
              </a:rPr>
              <a:t>AI产品价值的五层结构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52728"/>
            <a:ext cx="1325880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2" y="1371600"/>
            <a:ext cx="10661904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基础模型决定起点，任务、数据、流程和信任形成长期价值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911095"/>
            <a:ext cx="3386328" cy="1659636"/>
          </a:xfrm>
          <a:prstGeom prst="roundRect">
            <a:avLst>
              <a:gd name="adj" fmla="val 8815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50976" y="2057400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6D6C2"/>
                </a:solidFill>
                <a:latin typeface="Helvetica Neue"/>
                <a:ea typeface="Hiragino Sans GB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350008"/>
            <a:ext cx="2983992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5F2E9"/>
                </a:solidFill>
                <a:latin typeface="Helvetica Neue"/>
                <a:ea typeface="Hiragino Sans GB"/>
              </a:rPr>
              <a:t>基础模型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788920"/>
            <a:ext cx="2983992" cy="653796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7B5BC"/>
                </a:solidFill>
                <a:latin typeface="Helvetica Neue"/>
                <a:ea typeface="Hiragino Sans GB"/>
              </a:rPr>
              <a:t>理解、生成、推理与多模态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37304" y="1911095"/>
            <a:ext cx="3386328" cy="1659636"/>
          </a:xfrm>
          <a:prstGeom prst="roundRect">
            <a:avLst>
              <a:gd name="adj" fmla="val 8815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38472" y="2057400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7657"/>
                </a:solidFill>
                <a:latin typeface="Helvetica Neue"/>
                <a:ea typeface="Hiragino Sans GB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8472" y="2350008"/>
            <a:ext cx="2983992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5F2E9"/>
                </a:solidFill>
                <a:latin typeface="Helvetica Neue"/>
                <a:ea typeface="Hiragino Sans GB"/>
              </a:rPr>
              <a:t>任务设计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38472" y="2788920"/>
            <a:ext cx="2983992" cy="653796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7B5BC"/>
                </a:solidFill>
                <a:latin typeface="Helvetica Neue"/>
                <a:ea typeface="Hiragino Sans GB"/>
              </a:rPr>
              <a:t>输入、步骤、标准与人机分工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24800" y="1911095"/>
            <a:ext cx="3386328" cy="1659636"/>
          </a:xfrm>
          <a:prstGeom prst="roundRect">
            <a:avLst>
              <a:gd name="adj" fmla="val 8815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125968" y="2057400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0C565"/>
                </a:solidFill>
                <a:latin typeface="Helvetica Neue"/>
                <a:ea typeface="Hiragino Sans GB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5968" y="2350008"/>
            <a:ext cx="2983992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5F2E9"/>
                </a:solidFill>
                <a:latin typeface="Helvetica Neue"/>
                <a:ea typeface="Hiragino Sans GB"/>
              </a:rPr>
              <a:t>业务数据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5968" y="2788920"/>
            <a:ext cx="2983992" cy="653796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7B5BC"/>
                </a:solidFill>
                <a:latin typeface="Helvetica Neue"/>
                <a:ea typeface="Hiragino Sans GB"/>
              </a:rPr>
              <a:t>私有知识、权限和上下文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9808" y="3790187"/>
            <a:ext cx="3386328" cy="1659636"/>
          </a:xfrm>
          <a:prstGeom prst="roundRect">
            <a:avLst>
              <a:gd name="adj" fmla="val 8815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50976" y="3936491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8D391"/>
                </a:solidFill>
                <a:latin typeface="Helvetica Neue"/>
                <a:ea typeface="Hiragino Sans GB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0976" y="4229100"/>
            <a:ext cx="2983992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5F2E9"/>
                </a:solidFill>
                <a:latin typeface="Helvetica Neue"/>
                <a:ea typeface="Hiragino Sans GB"/>
              </a:rPr>
              <a:t>流程与连接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0976" y="4668012"/>
            <a:ext cx="2983992" cy="653795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7B5BC"/>
                </a:solidFill>
                <a:latin typeface="Helvetica Neue"/>
                <a:ea typeface="Hiragino Sans GB"/>
              </a:rPr>
              <a:t>系统、审批、任务与日志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37304" y="3790187"/>
            <a:ext cx="3386328" cy="1659636"/>
          </a:xfrm>
          <a:prstGeom prst="roundRect">
            <a:avLst>
              <a:gd name="adj" fmla="val 8815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538472" y="3936491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F6969"/>
                </a:solidFill>
                <a:latin typeface="Helvetica Neue"/>
                <a:ea typeface="Hiragino Sans GB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38472" y="4229100"/>
            <a:ext cx="2983992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5F2E9"/>
                </a:solidFill>
                <a:latin typeface="Helvetica Neue"/>
                <a:ea typeface="Hiragino Sans GB"/>
              </a:rPr>
              <a:t>反馈与信任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38472" y="4668012"/>
            <a:ext cx="2983992" cy="653795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7B5BC"/>
                </a:solidFill>
                <a:latin typeface="Helvetica Neue"/>
                <a:ea typeface="Hiragino Sans GB"/>
              </a:rPr>
              <a:t>修改、确认、评测和长期关系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5769864"/>
            <a:ext cx="10716768" cy="530352"/>
          </a:xfrm>
          <a:prstGeom prst="roundRect">
            <a:avLst>
              <a:gd name="adj" fmla="val 24137"/>
            </a:avLst>
          </a:prstGeom>
          <a:solidFill>
            <a:srgbClr val="133843"/>
          </a:solidFill>
          <a:ln w="6477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23544" y="5897879"/>
            <a:ext cx="109728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elvetica Neue"/>
                <a:ea typeface="Hiragino Sans GB"/>
              </a:rPr>
              <a:t>判断框架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11680" y="5870448"/>
            <a:ext cx="9079992" cy="29260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判断结论：基础模型决定起点，任务、数据、流程和信任形成长期价值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94944" y="228600"/>
            <a:ext cx="905256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第二部分 · 讨论 02/16 · 产品价值与形态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91088" y="228600"/>
            <a:ext cx="512064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16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65392"/>
            <a:ext cx="10808208" cy="12801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deckkit-motif-quiet"/>
          <p:cNvSpPr/>
          <p:nvPr/>
        </p:nvSpPr>
        <p:spPr>
          <a:xfrm>
            <a:off x="694944" y="6519672"/>
            <a:ext cx="3144205" cy="3291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12648"/>
            <a:ext cx="10716768" cy="62179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2E9"/>
                </a:solidFill>
                <a:latin typeface="Helvetica Neue"/>
                <a:ea typeface="Hiragino Sans GB"/>
              </a:rPr>
              <a:t>模型公司会不会吃掉大量AI应用？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52728"/>
            <a:ext cx="1325880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2" y="1371600"/>
            <a:ext cx="10661904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请选择最接近你判断的一项，再说明理由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83664"/>
            <a:ext cx="5138928" cy="1353312"/>
          </a:xfrm>
          <a:prstGeom prst="roundRect">
            <a:avLst>
              <a:gd name="adj" fmla="val 10810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32688" y="2075688"/>
            <a:ext cx="438912" cy="438912"/>
          </a:xfrm>
          <a:prstGeom prst="roundRect">
            <a:avLst>
              <a:gd name="adj" fmla="val 29166"/>
            </a:avLst>
          </a:prstGeom>
          <a:solidFill>
            <a:srgbClr val="133843"/>
          </a:solidFill>
          <a:ln w="8096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32688" y="2075688"/>
            <a:ext cx="438912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6D6C2"/>
                </a:solidFill>
                <a:latin typeface="Helvetica Neue"/>
                <a:ea typeface="Hiragino Sans GB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7904" y="2039112"/>
            <a:ext cx="4151376" cy="1042415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会，大部分AI应用都会被模型公司取代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6" y="1883664"/>
            <a:ext cx="5138928" cy="1353312"/>
          </a:xfrm>
          <a:prstGeom prst="roundRect">
            <a:avLst>
              <a:gd name="adj" fmla="val 10810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345936" y="2075688"/>
            <a:ext cx="438912" cy="438912"/>
          </a:xfrm>
          <a:prstGeom prst="roundRect">
            <a:avLst>
              <a:gd name="adj" fmla="val 29166"/>
            </a:avLst>
          </a:prstGeom>
          <a:solidFill>
            <a:srgbClr val="133843"/>
          </a:solidFill>
          <a:ln w="8096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45936" y="2075688"/>
            <a:ext cx="438912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6D6C2"/>
                </a:solidFill>
                <a:latin typeface="Helvetica Neue"/>
                <a:ea typeface="Hiragino Sans GB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31152" y="2039112"/>
            <a:ext cx="4151376" cy="1042415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不会，模型公司不了解具体用户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3465576"/>
            <a:ext cx="5138928" cy="1353312"/>
          </a:xfrm>
          <a:prstGeom prst="roundRect">
            <a:avLst>
              <a:gd name="adj" fmla="val 10810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932688" y="3657600"/>
            <a:ext cx="438912" cy="438912"/>
          </a:xfrm>
          <a:prstGeom prst="roundRect">
            <a:avLst>
              <a:gd name="adj" fmla="val 29166"/>
            </a:avLst>
          </a:prstGeom>
          <a:solidFill>
            <a:srgbClr val="133843"/>
          </a:solidFill>
          <a:ln w="8096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32688" y="3657600"/>
            <a:ext cx="438912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6D6C2"/>
                </a:solidFill>
                <a:latin typeface="Helvetica Neue"/>
                <a:ea typeface="Hiragino Sans GB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7904" y="3621024"/>
            <a:ext cx="4151376" cy="1042415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通用、浅层应用风险较高，深业务应用仍有空间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6" y="3465576"/>
            <a:ext cx="5138928" cy="1353312"/>
          </a:xfrm>
          <a:prstGeom prst="roundRect">
            <a:avLst>
              <a:gd name="adj" fmla="val 10810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6345936" y="3657600"/>
            <a:ext cx="438912" cy="438912"/>
          </a:xfrm>
          <a:prstGeom prst="roundRect">
            <a:avLst>
              <a:gd name="adj" fmla="val 29166"/>
            </a:avLst>
          </a:prstGeom>
          <a:solidFill>
            <a:srgbClr val="133843"/>
          </a:solidFill>
          <a:ln w="8096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45936" y="3657600"/>
            <a:ext cx="438912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6D6C2"/>
                </a:solidFill>
                <a:latin typeface="Helvetica Neue"/>
                <a:ea typeface="Hiragino Sans GB"/>
              </a:rPr>
              <a:t>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31152" y="3621024"/>
            <a:ext cx="4151376" cy="1042415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最终取决于谁控制用户入口和业务流程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94944" y="228600"/>
            <a:ext cx="905256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第二部分 · 讨论解析 · 产品价值与形态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91088" y="228600"/>
            <a:ext cx="512064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17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65392"/>
            <a:ext cx="10808208" cy="12801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deckkit-motif-quiet"/>
          <p:cNvSpPr/>
          <p:nvPr/>
        </p:nvSpPr>
        <p:spPr>
          <a:xfrm>
            <a:off x="694944" y="6519672"/>
            <a:ext cx="3340718" cy="3291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12648"/>
            <a:ext cx="10716768" cy="62179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2E9"/>
                </a:solidFill>
                <a:latin typeface="Helvetica Neue"/>
                <a:ea typeface="Hiragino Sans GB"/>
              </a:rPr>
              <a:t>应用被基础平台覆盖的风险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52728"/>
            <a:ext cx="1325880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2" y="1371600"/>
            <a:ext cx="10661904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深业务不是天然护城河，但会增加复制与替代的难度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911095"/>
            <a:ext cx="5180076" cy="1659636"/>
          </a:xfrm>
          <a:prstGeom prst="roundRect">
            <a:avLst>
              <a:gd name="adj" fmla="val 8815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50976" y="2057400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6D6C2"/>
                </a:solidFill>
                <a:latin typeface="Helvetica Neue"/>
                <a:ea typeface="Hiragino Sans GB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350008"/>
            <a:ext cx="477774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5F2E9"/>
                </a:solidFill>
                <a:latin typeface="Helvetica Neue"/>
                <a:ea typeface="Hiragino Sans GB"/>
              </a:rPr>
              <a:t>高风险特征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788920"/>
            <a:ext cx="4777740" cy="653796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7B5BC"/>
                </a:solidFill>
                <a:latin typeface="Helvetica Neue"/>
                <a:ea typeface="Hiragino Sans GB"/>
              </a:rPr>
              <a:t>简单包装·固定Prompt·通用任务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31052" y="1911095"/>
            <a:ext cx="5180076" cy="1659636"/>
          </a:xfrm>
          <a:prstGeom prst="roundRect">
            <a:avLst>
              <a:gd name="adj" fmla="val 8815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32220" y="2057400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7657"/>
                </a:solidFill>
                <a:latin typeface="Helvetica Neue"/>
                <a:ea typeface="Hiragino Sans GB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2220" y="2350008"/>
            <a:ext cx="477774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5F2E9"/>
                </a:solidFill>
                <a:latin typeface="Helvetica Neue"/>
                <a:ea typeface="Hiragino Sans GB"/>
              </a:rPr>
              <a:t>缺少连接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2220" y="2788920"/>
            <a:ext cx="4777740" cy="653796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7B5BC"/>
                </a:solidFill>
                <a:latin typeface="Helvetica Neue"/>
                <a:ea typeface="Hiragino Sans GB"/>
              </a:rPr>
              <a:t>无独特数据·无系统连接·无反馈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3790187"/>
            <a:ext cx="5180076" cy="1659636"/>
          </a:xfrm>
          <a:prstGeom prst="roundRect">
            <a:avLst>
              <a:gd name="adj" fmla="val 8815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50976" y="3936491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0C565"/>
                </a:solidFill>
                <a:latin typeface="Helvetica Neue"/>
                <a:ea typeface="Hiragino Sans GB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" y="4229100"/>
            <a:ext cx="477774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5F2E9"/>
                </a:solidFill>
                <a:latin typeface="Helvetica Neue"/>
                <a:ea typeface="Hiragino Sans GB"/>
              </a:rPr>
              <a:t>相对有空间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0976" y="4668012"/>
            <a:ext cx="4777740" cy="653795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7B5BC"/>
                </a:solidFill>
                <a:latin typeface="Helvetica Neue"/>
                <a:ea typeface="Hiragino Sans GB"/>
              </a:rPr>
              <a:t>专业场景·真实流程·权限异常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31052" y="3790187"/>
            <a:ext cx="5180076" cy="1659636"/>
          </a:xfrm>
          <a:prstGeom prst="roundRect">
            <a:avLst>
              <a:gd name="adj" fmla="val 8815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332220" y="3936491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8D391"/>
                </a:solidFill>
                <a:latin typeface="Helvetica Neue"/>
                <a:ea typeface="Hiragino Sans GB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32220" y="4229100"/>
            <a:ext cx="477774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5F2E9"/>
                </a:solidFill>
                <a:latin typeface="Helvetica Neue"/>
                <a:ea typeface="Hiragino Sans GB"/>
              </a:rPr>
              <a:t>仍需验证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32220" y="4668012"/>
            <a:ext cx="4777740" cy="653795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7B5BC"/>
                </a:solidFill>
                <a:latin typeface="Helvetica Neue"/>
                <a:ea typeface="Hiragino Sans GB"/>
              </a:rPr>
              <a:t>结果责任·用户入口·改变成本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5769864"/>
            <a:ext cx="10716768" cy="530352"/>
          </a:xfrm>
          <a:prstGeom prst="roundRect">
            <a:avLst>
              <a:gd name="adj" fmla="val 24137"/>
            </a:avLst>
          </a:prstGeom>
          <a:solidFill>
            <a:srgbClr val="133843"/>
          </a:solidFill>
          <a:ln w="6477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23544" y="5897879"/>
            <a:ext cx="109728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elvetica Neue"/>
                <a:ea typeface="Hiragino Sans GB"/>
              </a:rPr>
              <a:t>判断框架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11680" y="5870448"/>
            <a:ext cx="9079992" cy="29260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判断结论：深业务不是天然护城河，但会增加复制与替代的难度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94944" y="228600"/>
            <a:ext cx="905256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第二部分 · 讨论 03/16 · 产品价值与形态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91088" y="228600"/>
            <a:ext cx="512064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18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65392"/>
            <a:ext cx="10808208" cy="12801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deckkit-motif-quiet"/>
          <p:cNvSpPr/>
          <p:nvPr/>
        </p:nvSpPr>
        <p:spPr>
          <a:xfrm>
            <a:off x="694944" y="6519672"/>
            <a:ext cx="3537231" cy="3291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12648"/>
            <a:ext cx="10716768" cy="62179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2E9"/>
                </a:solidFill>
                <a:latin typeface="Helvetica Neue"/>
                <a:ea typeface="Hiragino Sans GB"/>
              </a:rPr>
              <a:t>AI产品真正的竞争对手是谁？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52728"/>
            <a:ext cx="1325880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2" y="1371600"/>
            <a:ext cx="10661904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请选择最接近你判断的一项，再说明理由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83664"/>
            <a:ext cx="10561320" cy="640080"/>
          </a:xfrm>
          <a:prstGeom prst="roundRect">
            <a:avLst>
              <a:gd name="adj" fmla="val 20000"/>
            </a:avLst>
          </a:prstGeom>
          <a:solidFill>
            <a:srgbClr val="133843"/>
          </a:solidFill>
          <a:ln w="755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50976" y="2039112"/>
            <a:ext cx="841248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elvetica Neue"/>
                <a:ea typeface="Hiragino Sans GB"/>
              </a:rPr>
              <a:t>场景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73352" y="1975104"/>
            <a:ext cx="9162288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5F2E9"/>
                </a:solidFill>
                <a:latin typeface="Helvetica Neue"/>
                <a:ea typeface="Hiragino Sans GB"/>
              </a:rPr>
              <a:t>以会议助手为例。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2715768"/>
            <a:ext cx="3416808" cy="1188720"/>
          </a:xfrm>
          <a:prstGeom prst="roundRect">
            <a:avLst>
              <a:gd name="adj" fmla="val 12307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932688" y="2907792"/>
            <a:ext cx="438912" cy="438912"/>
          </a:xfrm>
          <a:prstGeom prst="roundRect">
            <a:avLst>
              <a:gd name="adj" fmla="val 29166"/>
            </a:avLst>
          </a:prstGeom>
          <a:solidFill>
            <a:srgbClr val="133843"/>
          </a:solidFill>
          <a:ln w="8096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32688" y="2907792"/>
            <a:ext cx="438912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6D6C2"/>
                </a:solidFill>
                <a:latin typeface="Helvetica Neue"/>
                <a:ea typeface="Hiragino Sans GB"/>
              </a:rPr>
              <a:t>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7904" y="2871216"/>
            <a:ext cx="2429256" cy="877824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其他AI会议产品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2064" y="2715768"/>
            <a:ext cx="3416808" cy="1188720"/>
          </a:xfrm>
          <a:prstGeom prst="roundRect">
            <a:avLst>
              <a:gd name="adj" fmla="val 12307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4504944" y="2907792"/>
            <a:ext cx="438912" cy="438912"/>
          </a:xfrm>
          <a:prstGeom prst="roundRect">
            <a:avLst>
              <a:gd name="adj" fmla="val 29166"/>
            </a:avLst>
          </a:prstGeom>
          <a:solidFill>
            <a:srgbClr val="133843"/>
          </a:solidFill>
          <a:ln w="8096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04944" y="2907792"/>
            <a:ext cx="438912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6D6C2"/>
                </a:solidFill>
                <a:latin typeface="Helvetica Neue"/>
                <a:ea typeface="Hiragino Sans GB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90160" y="2871216"/>
            <a:ext cx="2429256" cy="877824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项目经理人工整理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94320" y="2715768"/>
            <a:ext cx="3416808" cy="1188720"/>
          </a:xfrm>
          <a:prstGeom prst="roundRect">
            <a:avLst>
              <a:gd name="adj" fmla="val 12307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077199" y="2907792"/>
            <a:ext cx="438912" cy="438912"/>
          </a:xfrm>
          <a:prstGeom prst="roundRect">
            <a:avLst>
              <a:gd name="adj" fmla="val 29166"/>
            </a:avLst>
          </a:prstGeom>
          <a:solidFill>
            <a:srgbClr val="133843"/>
          </a:solidFill>
          <a:ln w="8096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077199" y="2907792"/>
            <a:ext cx="438912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6D6C2"/>
                </a:solidFill>
                <a:latin typeface="Helvetica Neue"/>
                <a:ea typeface="Hiragino Sans GB"/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62416" y="2871216"/>
            <a:ext cx="2429256" cy="877824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企业现有会议和协作软件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426464" y="4133088"/>
            <a:ext cx="4334256" cy="1188720"/>
          </a:xfrm>
          <a:prstGeom prst="roundRect">
            <a:avLst>
              <a:gd name="adj" fmla="val 12307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1609344" y="4325112"/>
            <a:ext cx="438912" cy="438912"/>
          </a:xfrm>
          <a:prstGeom prst="roundRect">
            <a:avLst>
              <a:gd name="adj" fmla="val 29166"/>
            </a:avLst>
          </a:prstGeom>
          <a:solidFill>
            <a:srgbClr val="133843"/>
          </a:solidFill>
          <a:ln w="8096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609344" y="4325112"/>
            <a:ext cx="438912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6D6C2"/>
                </a:solidFill>
                <a:latin typeface="Helvetica Neue"/>
                <a:ea typeface="Hiragino Sans GB"/>
              </a:rPr>
              <a:t>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4560" y="4288536"/>
            <a:ext cx="3346704" cy="877824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用户临时使用通用大模型，或者根本不整理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0" y="4133088"/>
            <a:ext cx="4334256" cy="1188720"/>
          </a:xfrm>
          <a:prstGeom prst="roundRect">
            <a:avLst>
              <a:gd name="adj" fmla="val 12307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6583680" y="4325112"/>
            <a:ext cx="438912" cy="438912"/>
          </a:xfrm>
          <a:prstGeom prst="roundRect">
            <a:avLst>
              <a:gd name="adj" fmla="val 29166"/>
            </a:avLst>
          </a:prstGeom>
          <a:solidFill>
            <a:srgbClr val="133843"/>
          </a:solidFill>
          <a:ln w="8096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583680" y="4325112"/>
            <a:ext cx="438912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6D6C2"/>
                </a:solidFill>
                <a:latin typeface="Helvetica Neue"/>
                <a:ea typeface="Hiragino Sans GB"/>
              </a:rPr>
              <a:t>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68896" y="4288536"/>
            <a:ext cx="3346704" cy="877824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以上都是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94944" y="228600"/>
            <a:ext cx="905256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第二部分 · 讨论解析 · 产品价值与形态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91088" y="228600"/>
            <a:ext cx="512064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19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65392"/>
            <a:ext cx="10808208" cy="12801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deckkit-motif-quiet"/>
          <p:cNvSpPr/>
          <p:nvPr/>
        </p:nvSpPr>
        <p:spPr>
          <a:xfrm>
            <a:off x="694944" y="6519672"/>
            <a:ext cx="3733744" cy="3291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12648"/>
            <a:ext cx="10716768" cy="62179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2E9"/>
                </a:solidFill>
                <a:latin typeface="Helvetica Neue"/>
                <a:ea typeface="Hiragino Sans GB"/>
              </a:rPr>
              <a:t>AI产品的竞争判断范围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52728"/>
            <a:ext cx="1325880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2" y="1371600"/>
            <a:ext cx="10661904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AI产品首先要战胜用户已经习惯的工作方式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911095"/>
            <a:ext cx="3386328" cy="1659636"/>
          </a:xfrm>
          <a:prstGeom prst="roundRect">
            <a:avLst>
              <a:gd name="adj" fmla="val 8815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50976" y="2057400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6D6C2"/>
                </a:solidFill>
                <a:latin typeface="Helvetica Neue"/>
                <a:ea typeface="Hiragino Sans GB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350008"/>
            <a:ext cx="2983992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5F2E9"/>
                </a:solidFill>
                <a:latin typeface="Helvetica Neue"/>
                <a:ea typeface="Hiragino Sans GB"/>
              </a:rPr>
              <a:t>同类AI产品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788920"/>
            <a:ext cx="2983992" cy="653796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7B5BC"/>
                </a:solidFill>
                <a:latin typeface="Helvetica Neue"/>
                <a:ea typeface="Hiragino Sans GB"/>
              </a:rPr>
              <a:t>功能、效果、价格与体验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37304" y="1911095"/>
            <a:ext cx="3386328" cy="1659636"/>
          </a:xfrm>
          <a:prstGeom prst="roundRect">
            <a:avLst>
              <a:gd name="adj" fmla="val 8815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38472" y="2057400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7657"/>
                </a:solidFill>
                <a:latin typeface="Helvetica Neue"/>
                <a:ea typeface="Hiragino Sans GB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8472" y="2350008"/>
            <a:ext cx="2983992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5F2E9"/>
                </a:solidFill>
                <a:latin typeface="Helvetica Neue"/>
                <a:ea typeface="Hiragino Sans GB"/>
              </a:rPr>
              <a:t>人工方式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38472" y="2788920"/>
            <a:ext cx="2983992" cy="653796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7B5BC"/>
                </a:solidFill>
                <a:latin typeface="Helvetica Neue"/>
                <a:ea typeface="Hiragino Sans GB"/>
              </a:rPr>
              <a:t>已知流程、灵活处理和责任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24800" y="1911095"/>
            <a:ext cx="3386328" cy="1659636"/>
          </a:xfrm>
          <a:prstGeom prst="roundRect">
            <a:avLst>
              <a:gd name="adj" fmla="val 8815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125968" y="2057400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0C565"/>
                </a:solidFill>
                <a:latin typeface="Helvetica Neue"/>
                <a:ea typeface="Hiragino Sans GB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5968" y="2350008"/>
            <a:ext cx="2983992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5F2E9"/>
                </a:solidFill>
                <a:latin typeface="Helvetica Neue"/>
                <a:ea typeface="Hiragino Sans GB"/>
              </a:rPr>
              <a:t>现有软件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5968" y="2788920"/>
            <a:ext cx="2983992" cy="653796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7B5BC"/>
                </a:solidFill>
                <a:latin typeface="Helvetica Neue"/>
                <a:ea typeface="Hiragino Sans GB"/>
              </a:rPr>
              <a:t>已有数据、用户和协作入口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9808" y="3790187"/>
            <a:ext cx="3386328" cy="1659636"/>
          </a:xfrm>
          <a:prstGeom prst="roundRect">
            <a:avLst>
              <a:gd name="adj" fmla="val 8815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50976" y="3936491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8D391"/>
                </a:solidFill>
                <a:latin typeface="Helvetica Neue"/>
                <a:ea typeface="Hiragino Sans GB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0976" y="4229100"/>
            <a:ext cx="2983992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5F2E9"/>
                </a:solidFill>
                <a:latin typeface="Helvetica Neue"/>
                <a:ea typeface="Hiragino Sans GB"/>
              </a:rPr>
              <a:t>通用模型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0976" y="4668012"/>
            <a:ext cx="2983992" cy="653795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7B5BC"/>
                </a:solidFill>
                <a:latin typeface="Helvetica Neue"/>
                <a:ea typeface="Hiragino Sans GB"/>
              </a:rPr>
              <a:t>低成本临时替代与自由组合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37304" y="3790187"/>
            <a:ext cx="3386328" cy="1659636"/>
          </a:xfrm>
          <a:prstGeom prst="roundRect">
            <a:avLst>
              <a:gd name="adj" fmla="val 8815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538472" y="3936491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F6969"/>
                </a:solidFill>
                <a:latin typeface="Helvetica Neue"/>
                <a:ea typeface="Hiragino Sans GB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38472" y="4229100"/>
            <a:ext cx="2983992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5F2E9"/>
                </a:solidFill>
                <a:latin typeface="Helvetica Neue"/>
                <a:ea typeface="Hiragino Sans GB"/>
              </a:rPr>
              <a:t>不做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38472" y="4668012"/>
            <a:ext cx="2983992" cy="653795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7B5BC"/>
                </a:solidFill>
                <a:latin typeface="Helvetica Neue"/>
                <a:ea typeface="Hiragino Sans GB"/>
              </a:rPr>
              <a:t>问题的真实价值和改变习惯成本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5769864"/>
            <a:ext cx="10716768" cy="530352"/>
          </a:xfrm>
          <a:prstGeom prst="roundRect">
            <a:avLst>
              <a:gd name="adj" fmla="val 24137"/>
            </a:avLst>
          </a:prstGeom>
          <a:solidFill>
            <a:srgbClr val="133843"/>
          </a:solidFill>
          <a:ln w="6477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23544" y="5897879"/>
            <a:ext cx="109728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elvetica Neue"/>
                <a:ea typeface="Hiragino Sans GB"/>
              </a:rPr>
              <a:t>判断框架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11680" y="5870448"/>
            <a:ext cx="9079992" cy="29260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判断结论：AI产品首先要战胜用户已经习惯的工作方式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94944" y="228600"/>
            <a:ext cx="905256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第二部分 · 讨论 04/16 · 产品价值与形态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91088" y="228600"/>
            <a:ext cx="512064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20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65392"/>
            <a:ext cx="10808208" cy="12801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deckkit-motif-quiet"/>
          <p:cNvSpPr/>
          <p:nvPr/>
        </p:nvSpPr>
        <p:spPr>
          <a:xfrm>
            <a:off x="694944" y="6519672"/>
            <a:ext cx="3930257" cy="3291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12648"/>
            <a:ext cx="10716768" cy="62179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2E9"/>
                </a:solidFill>
                <a:latin typeface="Helvetica Neue"/>
                <a:ea typeface="Hiragino Sans GB"/>
              </a:rPr>
              <a:t>高级AI产品是否应该弱化AI存在感？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52728"/>
            <a:ext cx="1325880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2" y="1371600"/>
            <a:ext cx="10661904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请选择最接近你判断的一项，再说明理由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83664"/>
            <a:ext cx="5138928" cy="1353312"/>
          </a:xfrm>
          <a:prstGeom prst="roundRect">
            <a:avLst>
              <a:gd name="adj" fmla="val 10810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32688" y="2075688"/>
            <a:ext cx="438912" cy="438912"/>
          </a:xfrm>
          <a:prstGeom prst="roundRect">
            <a:avLst>
              <a:gd name="adj" fmla="val 29166"/>
            </a:avLst>
          </a:prstGeom>
          <a:solidFill>
            <a:srgbClr val="133843"/>
          </a:solidFill>
          <a:ln w="8096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32688" y="2075688"/>
            <a:ext cx="438912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6D6C2"/>
                </a:solidFill>
                <a:latin typeface="Helvetica Neue"/>
                <a:ea typeface="Hiragino Sans GB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7904" y="2039112"/>
            <a:ext cx="4151376" cy="1042415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应该突出AI，让用户感知能力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6" y="1883664"/>
            <a:ext cx="5138928" cy="1353312"/>
          </a:xfrm>
          <a:prstGeom prst="roundRect">
            <a:avLst>
              <a:gd name="adj" fmla="val 10810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345936" y="2075688"/>
            <a:ext cx="438912" cy="438912"/>
          </a:xfrm>
          <a:prstGeom prst="roundRect">
            <a:avLst>
              <a:gd name="adj" fmla="val 29166"/>
            </a:avLst>
          </a:prstGeom>
          <a:solidFill>
            <a:srgbClr val="133843"/>
          </a:solidFill>
          <a:ln w="8096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45936" y="2075688"/>
            <a:ext cx="438912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6D6C2"/>
                </a:solidFill>
                <a:latin typeface="Helvetica Neue"/>
                <a:ea typeface="Hiragino Sans GB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31152" y="2039112"/>
            <a:ext cx="4151376" cy="1042415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不应该突出AI，用户只关心结果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3465576"/>
            <a:ext cx="5138928" cy="1353312"/>
          </a:xfrm>
          <a:prstGeom prst="roundRect">
            <a:avLst>
              <a:gd name="adj" fmla="val 10810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932688" y="3657600"/>
            <a:ext cx="438912" cy="438912"/>
          </a:xfrm>
          <a:prstGeom prst="roundRect">
            <a:avLst>
              <a:gd name="adj" fmla="val 29166"/>
            </a:avLst>
          </a:prstGeom>
          <a:solidFill>
            <a:srgbClr val="133843"/>
          </a:solidFill>
          <a:ln w="8096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32688" y="3657600"/>
            <a:ext cx="438912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6D6C2"/>
                </a:solidFill>
                <a:latin typeface="Helvetica Neue"/>
                <a:ea typeface="Hiragino Sans GB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7904" y="3621024"/>
            <a:ext cx="4151376" cy="1042415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高风险场景必须明确说明AI参与了什么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6" y="3465576"/>
            <a:ext cx="5138928" cy="1353312"/>
          </a:xfrm>
          <a:prstGeom prst="roundRect">
            <a:avLst>
              <a:gd name="adj" fmla="val 10810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6345936" y="3657600"/>
            <a:ext cx="438912" cy="438912"/>
          </a:xfrm>
          <a:prstGeom prst="roundRect">
            <a:avLst>
              <a:gd name="adj" fmla="val 29166"/>
            </a:avLst>
          </a:prstGeom>
          <a:solidFill>
            <a:srgbClr val="133843"/>
          </a:solidFill>
          <a:ln w="8096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45936" y="3657600"/>
            <a:ext cx="438912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6D6C2"/>
                </a:solidFill>
                <a:latin typeface="Helvetica Neue"/>
                <a:ea typeface="Hiragino Sans GB"/>
              </a:rPr>
              <a:t>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31152" y="3621024"/>
            <a:ext cx="4151376" cy="1042415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是否强调AI，要看它对用户决策和责任的影响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94944" y="228600"/>
            <a:ext cx="905256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第二部分 · 讨论解析 · 产品价值与形态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91088" y="228600"/>
            <a:ext cx="512064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21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65392"/>
            <a:ext cx="10808208" cy="12801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deckkit-motif-quiet"/>
          <p:cNvSpPr/>
          <p:nvPr/>
        </p:nvSpPr>
        <p:spPr>
          <a:xfrm>
            <a:off x="694944" y="6519672"/>
            <a:ext cx="4126770" cy="3291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12648"/>
            <a:ext cx="10716768" cy="62179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2E9"/>
                </a:solidFill>
                <a:latin typeface="Helvetica Neue"/>
                <a:ea typeface="Hiragino Sans GB"/>
              </a:rPr>
              <a:t>AI存在感的两层判断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52728"/>
            <a:ext cx="1325880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2" y="1371600"/>
            <a:ext cx="10661904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价值表达可以弱化技术，责任影响不能被隐藏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911095"/>
            <a:ext cx="3386328" cy="3538728"/>
          </a:xfrm>
          <a:prstGeom prst="roundRect">
            <a:avLst>
              <a:gd name="adj" fmla="val 4320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50976" y="2057400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6D6C2"/>
                </a:solidFill>
                <a:latin typeface="Helvetica Neue"/>
                <a:ea typeface="Hiragino Sans GB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350008"/>
            <a:ext cx="2983992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5F2E9"/>
                </a:solidFill>
                <a:latin typeface="Helvetica Neue"/>
                <a:ea typeface="Hiragino Sans GB"/>
              </a:rPr>
              <a:t>价值层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788920"/>
            <a:ext cx="2983992" cy="2532888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7B5BC"/>
                </a:solidFill>
                <a:latin typeface="Helvetica Neue"/>
                <a:ea typeface="Hiragino Sans GB"/>
              </a:rPr>
              <a:t>完成任务·稳定可靠·易修改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37304" y="1911095"/>
            <a:ext cx="3386328" cy="3538728"/>
          </a:xfrm>
          <a:prstGeom prst="roundRect">
            <a:avLst>
              <a:gd name="adj" fmla="val 4320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38472" y="2057400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7657"/>
                </a:solidFill>
                <a:latin typeface="Helvetica Neue"/>
                <a:ea typeface="Hiragino Sans GB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8472" y="2350008"/>
            <a:ext cx="2983992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5F2E9"/>
                </a:solidFill>
                <a:latin typeface="Helvetica Neue"/>
                <a:ea typeface="Hiragino Sans GB"/>
              </a:rPr>
              <a:t>责任层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38472" y="2788920"/>
            <a:ext cx="2983992" cy="2532888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7B5BC"/>
                </a:solidFill>
                <a:latin typeface="Helvetica Neue"/>
                <a:ea typeface="Hiragino Sans GB"/>
              </a:rPr>
              <a:t>AI生成部分·信息依据·人工确认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24800" y="1911095"/>
            <a:ext cx="3386328" cy="3538728"/>
          </a:xfrm>
          <a:prstGeom prst="roundRect">
            <a:avLst>
              <a:gd name="adj" fmla="val 4320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125968" y="2057400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0C565"/>
                </a:solidFill>
                <a:latin typeface="Helvetica Neue"/>
                <a:ea typeface="Hiragino Sans GB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5968" y="2350008"/>
            <a:ext cx="2983992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5F2E9"/>
                </a:solidFill>
                <a:latin typeface="Helvetica Neue"/>
                <a:ea typeface="Hiragino Sans GB"/>
              </a:rPr>
              <a:t>执行层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5968" y="2788920"/>
            <a:ext cx="2983992" cy="2532888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7B5BC"/>
                </a:solidFill>
                <a:latin typeface="Helvetica Neue"/>
                <a:ea typeface="Hiragino Sans GB"/>
              </a:rPr>
              <a:t>执行动作·修改申诉·错误追溯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769864"/>
            <a:ext cx="10716768" cy="530352"/>
          </a:xfrm>
          <a:prstGeom prst="roundRect">
            <a:avLst>
              <a:gd name="adj" fmla="val 24137"/>
            </a:avLst>
          </a:prstGeom>
          <a:solidFill>
            <a:srgbClr val="133843"/>
          </a:solidFill>
          <a:ln w="6477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23544" y="5897879"/>
            <a:ext cx="109728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elvetica Neue"/>
                <a:ea typeface="Hiragino Sans GB"/>
              </a:rPr>
              <a:t>判断框架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5870448"/>
            <a:ext cx="9079992" cy="29260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判断结论：价值表达可以弱化技术，责任影响不能被隐藏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94944" y="228600"/>
            <a:ext cx="905256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第二部分 · 讨论 05/16 · 产品价值与形态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91088" y="228600"/>
            <a:ext cx="512064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22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65392"/>
            <a:ext cx="10808208" cy="12801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deckkit-motif-quiet"/>
          <p:cNvSpPr/>
          <p:nvPr/>
        </p:nvSpPr>
        <p:spPr>
          <a:xfrm>
            <a:off x="694944" y="6519672"/>
            <a:ext cx="4323283" cy="3291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12648"/>
            <a:ext cx="10716768" cy="62179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2E9"/>
                </a:solidFill>
                <a:latin typeface="Helvetica Neue"/>
                <a:ea typeface="Hiragino Sans GB"/>
              </a:rPr>
              <a:t>未来AI产品还需要页面和按钮吗？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52728"/>
            <a:ext cx="1325880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2" y="1371600"/>
            <a:ext cx="10661904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请选择最接近你判断的一项，再说明理由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83664"/>
            <a:ext cx="5138928" cy="1353312"/>
          </a:xfrm>
          <a:prstGeom prst="roundRect">
            <a:avLst>
              <a:gd name="adj" fmla="val 10810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32688" y="2075688"/>
            <a:ext cx="438912" cy="438912"/>
          </a:xfrm>
          <a:prstGeom prst="roundRect">
            <a:avLst>
              <a:gd name="adj" fmla="val 29166"/>
            </a:avLst>
          </a:prstGeom>
          <a:solidFill>
            <a:srgbClr val="133843"/>
          </a:solidFill>
          <a:ln w="8096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32688" y="2075688"/>
            <a:ext cx="438912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6D6C2"/>
                </a:solidFill>
                <a:latin typeface="Helvetica Neue"/>
                <a:ea typeface="Hiragino Sans GB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7904" y="2039112"/>
            <a:ext cx="4151376" cy="1042415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不需要，全部变成聊天框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6" y="1883664"/>
            <a:ext cx="5138928" cy="1353312"/>
          </a:xfrm>
          <a:prstGeom prst="roundRect">
            <a:avLst>
              <a:gd name="adj" fmla="val 10810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345936" y="2075688"/>
            <a:ext cx="438912" cy="438912"/>
          </a:xfrm>
          <a:prstGeom prst="roundRect">
            <a:avLst>
              <a:gd name="adj" fmla="val 29166"/>
            </a:avLst>
          </a:prstGeom>
          <a:solidFill>
            <a:srgbClr val="133843"/>
          </a:solidFill>
          <a:ln w="8096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45936" y="2075688"/>
            <a:ext cx="438912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6D6C2"/>
                </a:solidFill>
                <a:latin typeface="Helvetica Neue"/>
                <a:ea typeface="Hiragino Sans GB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31152" y="2039112"/>
            <a:ext cx="4151376" cy="1042415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需要，聊天无法替代复杂产品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3465576"/>
            <a:ext cx="5138928" cy="1353312"/>
          </a:xfrm>
          <a:prstGeom prst="roundRect">
            <a:avLst>
              <a:gd name="adj" fmla="val 10810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932688" y="3657600"/>
            <a:ext cx="438912" cy="438912"/>
          </a:xfrm>
          <a:prstGeom prst="roundRect">
            <a:avLst>
              <a:gd name="adj" fmla="val 29166"/>
            </a:avLst>
          </a:prstGeom>
          <a:solidFill>
            <a:srgbClr val="133843"/>
          </a:solidFill>
          <a:ln w="8096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32688" y="3657600"/>
            <a:ext cx="438912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6D6C2"/>
                </a:solidFill>
                <a:latin typeface="Helvetica Neue"/>
                <a:ea typeface="Hiragino Sans GB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7904" y="3621024"/>
            <a:ext cx="4151376" cy="1042415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自然语言负责表达意图，界面负责检查和控制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6" y="3465576"/>
            <a:ext cx="5138928" cy="1353312"/>
          </a:xfrm>
          <a:prstGeom prst="roundRect">
            <a:avLst>
              <a:gd name="adj" fmla="val 10810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6345936" y="3657600"/>
            <a:ext cx="438912" cy="438912"/>
          </a:xfrm>
          <a:prstGeom prst="roundRect">
            <a:avLst>
              <a:gd name="adj" fmla="val 29166"/>
            </a:avLst>
          </a:prstGeom>
          <a:solidFill>
            <a:srgbClr val="133843"/>
          </a:solidFill>
          <a:ln w="8096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45936" y="3657600"/>
            <a:ext cx="438912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6D6C2"/>
                </a:solidFill>
                <a:latin typeface="Helvetica Neue"/>
                <a:ea typeface="Hiragino Sans GB"/>
              </a:rPr>
              <a:t>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31152" y="3621024"/>
            <a:ext cx="4151376" cy="1042415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Agent最终会在后台完成一切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94944" y="228600"/>
            <a:ext cx="905256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第二部分 · 讨论解析 · 产品价值与形态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91088" y="228600"/>
            <a:ext cx="512064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23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65392"/>
            <a:ext cx="10808208" cy="12801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deckkit-motif-quiet"/>
          <p:cNvSpPr/>
          <p:nvPr/>
        </p:nvSpPr>
        <p:spPr>
          <a:xfrm>
            <a:off x="694944" y="6519672"/>
            <a:ext cx="4519796" cy="3291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12648"/>
            <a:ext cx="10716768" cy="62179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2E9"/>
                </a:solidFill>
                <a:latin typeface="Helvetica Neue"/>
                <a:ea typeface="Hiragino Sans GB"/>
              </a:rPr>
              <a:t>自然语言、Agent与界面的分工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52728"/>
            <a:ext cx="1325880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2" y="1371600"/>
            <a:ext cx="10661904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自然语言表达意图，Agent执行任务，界面展示状态并控制风险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911095"/>
            <a:ext cx="3386328" cy="3538728"/>
          </a:xfrm>
          <a:prstGeom prst="roundRect">
            <a:avLst>
              <a:gd name="adj" fmla="val 4320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50976" y="2057400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6D6C2"/>
                </a:solidFill>
                <a:latin typeface="Helvetica Neue"/>
                <a:ea typeface="Hiragino Sans GB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350008"/>
            <a:ext cx="2983992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5F2E9"/>
                </a:solidFill>
                <a:latin typeface="Helvetica Neue"/>
                <a:ea typeface="Hiragino Sans GB"/>
              </a:rPr>
              <a:t>自然语言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788920"/>
            <a:ext cx="2983992" cy="2532888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7B5BC"/>
                </a:solidFill>
                <a:latin typeface="Helvetica Neue"/>
                <a:ea typeface="Hiragino Sans GB"/>
              </a:rPr>
              <a:t>表达目标·补充上下文·追问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37304" y="1911095"/>
            <a:ext cx="3386328" cy="3538728"/>
          </a:xfrm>
          <a:prstGeom prst="roundRect">
            <a:avLst>
              <a:gd name="adj" fmla="val 4320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38472" y="2057400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7657"/>
                </a:solidFill>
                <a:latin typeface="Helvetica Neue"/>
                <a:ea typeface="Hiragino Sans GB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8472" y="2350008"/>
            <a:ext cx="2983992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5F2E9"/>
                </a:solidFill>
                <a:latin typeface="Helvetica Neue"/>
                <a:ea typeface="Hiragino Sans GB"/>
              </a:rPr>
              <a:t>Agent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38472" y="2788920"/>
            <a:ext cx="2983992" cy="2532888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7B5BC"/>
                </a:solidFill>
                <a:latin typeface="Helvetica Neue"/>
                <a:ea typeface="Hiragino Sans GB"/>
              </a:rPr>
              <a:t>规划·调用工具·执行·异常升级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24800" y="1911095"/>
            <a:ext cx="3386328" cy="3538728"/>
          </a:xfrm>
          <a:prstGeom prst="roundRect">
            <a:avLst>
              <a:gd name="adj" fmla="val 4320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125968" y="2057400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0C565"/>
                </a:solidFill>
                <a:latin typeface="Helvetica Neue"/>
                <a:ea typeface="Hiragino Sans GB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5968" y="2350008"/>
            <a:ext cx="2983992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5F2E9"/>
                </a:solidFill>
                <a:latin typeface="Helvetica Neue"/>
                <a:ea typeface="Hiragino Sans GB"/>
              </a:rPr>
              <a:t>界面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5968" y="2788920"/>
            <a:ext cx="2983992" cy="2532888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7B5BC"/>
                </a:solidFill>
                <a:latin typeface="Helvetica Neue"/>
                <a:ea typeface="Hiragino Sans GB"/>
              </a:rPr>
              <a:t>比较·修改·状态·权限·来源·确认·撤销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769864"/>
            <a:ext cx="10716768" cy="530352"/>
          </a:xfrm>
          <a:prstGeom prst="roundRect">
            <a:avLst>
              <a:gd name="adj" fmla="val 24137"/>
            </a:avLst>
          </a:prstGeom>
          <a:solidFill>
            <a:srgbClr val="133843"/>
          </a:solidFill>
          <a:ln w="6477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23544" y="5897879"/>
            <a:ext cx="109728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elvetica Neue"/>
                <a:ea typeface="Hiragino Sans GB"/>
              </a:rPr>
              <a:t>判断框架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5870448"/>
            <a:ext cx="9079992" cy="29260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判断结论：自然语言表达意图，Agent执行任务，界面展示状态并控制风险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94944" y="228600"/>
            <a:ext cx="905256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第二部分 · 讨论 06/16 · Agent与组织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91088" y="228600"/>
            <a:ext cx="512064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24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65392"/>
            <a:ext cx="10808208" cy="12801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deckkit-motif-quiet"/>
          <p:cNvSpPr/>
          <p:nvPr/>
        </p:nvSpPr>
        <p:spPr>
          <a:xfrm>
            <a:off x="694944" y="6519672"/>
            <a:ext cx="4716308" cy="3291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12648"/>
            <a:ext cx="10716768" cy="62179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2E9"/>
                </a:solidFill>
                <a:latin typeface="Helvetica Neue"/>
                <a:ea typeface="Hiragino Sans GB"/>
              </a:rPr>
              <a:t>Agent究竟是什么？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52728"/>
            <a:ext cx="1325880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2" y="1371600"/>
            <a:ext cx="10661904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请选择最接近你判断的一项，再说明理由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83664"/>
            <a:ext cx="5138928" cy="1353312"/>
          </a:xfrm>
          <a:prstGeom prst="roundRect">
            <a:avLst>
              <a:gd name="adj" fmla="val 10810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32688" y="2075688"/>
            <a:ext cx="438912" cy="438912"/>
          </a:xfrm>
          <a:prstGeom prst="roundRect">
            <a:avLst>
              <a:gd name="adj" fmla="val 29166"/>
            </a:avLst>
          </a:prstGeom>
          <a:solidFill>
            <a:srgbClr val="133843"/>
          </a:solidFill>
          <a:ln w="8096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32688" y="2075688"/>
            <a:ext cx="438912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6D6C2"/>
                </a:solidFill>
                <a:latin typeface="Helvetica Neue"/>
                <a:ea typeface="Hiragino Sans GB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7904" y="2039112"/>
            <a:ext cx="4151376" cy="1042415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一项更高级的软件功能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6" y="1883664"/>
            <a:ext cx="5138928" cy="1353312"/>
          </a:xfrm>
          <a:prstGeom prst="roundRect">
            <a:avLst>
              <a:gd name="adj" fmla="val 10810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345936" y="2075688"/>
            <a:ext cx="438912" cy="438912"/>
          </a:xfrm>
          <a:prstGeom prst="roundRect">
            <a:avLst>
              <a:gd name="adj" fmla="val 29166"/>
            </a:avLst>
          </a:prstGeom>
          <a:solidFill>
            <a:srgbClr val="133843"/>
          </a:solidFill>
          <a:ln w="8096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45936" y="2075688"/>
            <a:ext cx="438912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6D6C2"/>
                </a:solidFill>
                <a:latin typeface="Helvetica Neue"/>
                <a:ea typeface="Hiragino Sans GB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31152" y="2039112"/>
            <a:ext cx="4151376" cy="1042415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一套自动化Workflow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3465576"/>
            <a:ext cx="5138928" cy="1353312"/>
          </a:xfrm>
          <a:prstGeom prst="roundRect">
            <a:avLst>
              <a:gd name="adj" fmla="val 10810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932688" y="3657600"/>
            <a:ext cx="438912" cy="438912"/>
          </a:xfrm>
          <a:prstGeom prst="roundRect">
            <a:avLst>
              <a:gd name="adj" fmla="val 29166"/>
            </a:avLst>
          </a:prstGeom>
          <a:solidFill>
            <a:srgbClr val="133843"/>
          </a:solidFill>
          <a:ln w="8096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32688" y="3657600"/>
            <a:ext cx="438912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6D6C2"/>
                </a:solidFill>
                <a:latin typeface="Helvetica Neue"/>
                <a:ea typeface="Hiragino Sans GB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7904" y="3621024"/>
            <a:ext cx="4151376" cy="1042415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能够接受目标并执行任务的数字劳动力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6" y="3465576"/>
            <a:ext cx="5138928" cy="1353312"/>
          </a:xfrm>
          <a:prstGeom prst="roundRect">
            <a:avLst>
              <a:gd name="adj" fmla="val 10810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6345936" y="3657600"/>
            <a:ext cx="438912" cy="438912"/>
          </a:xfrm>
          <a:prstGeom prst="roundRect">
            <a:avLst>
              <a:gd name="adj" fmla="val 29166"/>
            </a:avLst>
          </a:prstGeom>
          <a:solidFill>
            <a:srgbClr val="133843"/>
          </a:solidFill>
          <a:ln w="8096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45936" y="3657600"/>
            <a:ext cx="438912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6D6C2"/>
                </a:solidFill>
                <a:latin typeface="Helvetica Neue"/>
                <a:ea typeface="Hiragino Sans GB"/>
              </a:rPr>
              <a:t>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31152" y="3621024"/>
            <a:ext cx="4151376" cy="1042415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现阶段主要还是营销概念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94944" y="228600"/>
            <a:ext cx="905256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第二部分 · 讨论解析 · Agent与组织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91088" y="228600"/>
            <a:ext cx="512064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25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65392"/>
            <a:ext cx="10808208" cy="12801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deckkit-motif-quiet"/>
          <p:cNvSpPr/>
          <p:nvPr/>
        </p:nvSpPr>
        <p:spPr>
          <a:xfrm>
            <a:off x="694944" y="6519672"/>
            <a:ext cx="4912821" cy="3291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12648"/>
            <a:ext cx="10716768" cy="62179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2E9"/>
                </a:solidFill>
                <a:latin typeface="Helvetica Neue"/>
                <a:ea typeface="Hiragino Sans GB"/>
              </a:rPr>
              <a:t>Agent的四个行动层级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52728"/>
            <a:ext cx="1325880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2" y="1371600"/>
            <a:ext cx="10661904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先决定系统被允许承担多少责任，再决定自主性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911095"/>
            <a:ext cx="5180076" cy="1659636"/>
          </a:xfrm>
          <a:prstGeom prst="roundRect">
            <a:avLst>
              <a:gd name="adj" fmla="val 8815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50976" y="2057400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6D6C2"/>
                </a:solidFill>
                <a:latin typeface="Helvetica Neue"/>
                <a:ea typeface="Hiragino Sans GB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350008"/>
            <a:ext cx="477774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5F2E9"/>
                </a:solidFill>
                <a:latin typeface="Helvetica Neue"/>
                <a:ea typeface="Hiragino Sans GB"/>
              </a:rPr>
              <a:t>AI助手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788920"/>
            <a:ext cx="4777740" cy="653796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7B5BC"/>
                </a:solidFill>
                <a:latin typeface="Helvetica Neue"/>
                <a:ea typeface="Hiragino Sans GB"/>
              </a:rPr>
              <a:t>生成与建议，用户完成后续动作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31052" y="1911095"/>
            <a:ext cx="5180076" cy="1659636"/>
          </a:xfrm>
          <a:prstGeom prst="roundRect">
            <a:avLst>
              <a:gd name="adj" fmla="val 8815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32220" y="2057400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7657"/>
                </a:solidFill>
                <a:latin typeface="Helvetica Neue"/>
                <a:ea typeface="Hiragino Sans GB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2220" y="2350008"/>
            <a:ext cx="477774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5F2E9"/>
                </a:solidFill>
                <a:latin typeface="Helvetica Neue"/>
                <a:ea typeface="Hiragino Sans GB"/>
              </a:rPr>
              <a:t>半自动执行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2220" y="2788920"/>
            <a:ext cx="4777740" cy="653796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7B5BC"/>
                </a:solidFill>
                <a:latin typeface="Helvetica Neue"/>
                <a:ea typeface="Hiragino Sans GB"/>
              </a:rPr>
              <a:t>AI准备动作，用户确认后执行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3790187"/>
            <a:ext cx="5180076" cy="1659636"/>
          </a:xfrm>
          <a:prstGeom prst="roundRect">
            <a:avLst>
              <a:gd name="adj" fmla="val 8815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50976" y="3936491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0C565"/>
                </a:solidFill>
                <a:latin typeface="Helvetica Neue"/>
                <a:ea typeface="Hiragino Sans GB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" y="4229100"/>
            <a:ext cx="477774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5F2E9"/>
                </a:solidFill>
                <a:latin typeface="Helvetica Neue"/>
                <a:ea typeface="Hiragino Sans GB"/>
              </a:rPr>
              <a:t>受监督Agent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0976" y="4668012"/>
            <a:ext cx="4777740" cy="653795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7B5BC"/>
                </a:solidFill>
                <a:latin typeface="Helvetica Neue"/>
                <a:ea typeface="Hiragino Sans GB"/>
              </a:rPr>
              <a:t>限定范围自动执行，人处理异常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31052" y="3790187"/>
            <a:ext cx="5180076" cy="1659636"/>
          </a:xfrm>
          <a:prstGeom prst="roundRect">
            <a:avLst>
              <a:gd name="adj" fmla="val 8815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332220" y="3936491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8D391"/>
                </a:solidFill>
                <a:latin typeface="Helvetica Neue"/>
                <a:ea typeface="Hiragino Sans GB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32220" y="4229100"/>
            <a:ext cx="477774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5F2E9"/>
                </a:solidFill>
                <a:latin typeface="Helvetica Neue"/>
                <a:ea typeface="Hiragino Sans GB"/>
              </a:rPr>
              <a:t>高自主Agent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32220" y="4668012"/>
            <a:ext cx="4777740" cy="653795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7B5BC"/>
                </a:solidFill>
                <a:latin typeface="Helvetica Neue"/>
                <a:ea typeface="Hiragino Sans GB"/>
              </a:rPr>
              <a:t>围绕目标规划并执行长任务链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5769864"/>
            <a:ext cx="10716768" cy="530352"/>
          </a:xfrm>
          <a:prstGeom prst="roundRect">
            <a:avLst>
              <a:gd name="adj" fmla="val 24137"/>
            </a:avLst>
          </a:prstGeom>
          <a:solidFill>
            <a:srgbClr val="133843"/>
          </a:solidFill>
          <a:ln w="6477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23544" y="5897879"/>
            <a:ext cx="109728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elvetica Neue"/>
                <a:ea typeface="Hiragino Sans GB"/>
              </a:rPr>
              <a:t>判断框架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11680" y="5870448"/>
            <a:ext cx="9079992" cy="29260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判断结论：先决定系统被允许承担多少责任，再决定自主性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94944" y="228600"/>
            <a:ext cx="905256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第二部分 · 讨论 07/16 · Agent与组织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91088" y="228600"/>
            <a:ext cx="512064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26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65392"/>
            <a:ext cx="10808208" cy="12801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deckkit-motif-quiet"/>
          <p:cNvSpPr/>
          <p:nvPr/>
        </p:nvSpPr>
        <p:spPr>
          <a:xfrm>
            <a:off x="694944" y="6519672"/>
            <a:ext cx="5109334" cy="3291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12648"/>
            <a:ext cx="10716768" cy="62179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2E9"/>
                </a:solidFill>
                <a:latin typeface="Helvetica Neue"/>
                <a:ea typeface="Hiragino Sans GB"/>
              </a:rPr>
              <a:t>Agent犯错应该由谁负责？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52728"/>
            <a:ext cx="1325880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2" y="1371600"/>
            <a:ext cx="10661904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请选择最接近你判断的一项，再说明理由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83664"/>
            <a:ext cx="10561320" cy="640080"/>
          </a:xfrm>
          <a:prstGeom prst="roundRect">
            <a:avLst>
              <a:gd name="adj" fmla="val 20000"/>
            </a:avLst>
          </a:prstGeom>
          <a:solidFill>
            <a:srgbClr val="133843"/>
          </a:solidFill>
          <a:ln w="755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50976" y="2039112"/>
            <a:ext cx="841248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elvetica Neue"/>
                <a:ea typeface="Hiragino Sans GB"/>
              </a:rPr>
              <a:t>场景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73352" y="1975104"/>
            <a:ext cx="9162288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5F2E9"/>
                </a:solidFill>
                <a:latin typeface="Helvetica Neue"/>
                <a:ea typeface="Hiragino Sans GB"/>
              </a:rPr>
              <a:t>会议助手错误创建正式任务，并影响了研发排期。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2715768"/>
            <a:ext cx="3416808" cy="1188720"/>
          </a:xfrm>
          <a:prstGeom prst="roundRect">
            <a:avLst>
              <a:gd name="adj" fmla="val 12307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932688" y="2907792"/>
            <a:ext cx="438912" cy="438912"/>
          </a:xfrm>
          <a:prstGeom prst="roundRect">
            <a:avLst>
              <a:gd name="adj" fmla="val 29166"/>
            </a:avLst>
          </a:prstGeom>
          <a:solidFill>
            <a:srgbClr val="133843"/>
          </a:solidFill>
          <a:ln w="8096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32688" y="2907792"/>
            <a:ext cx="438912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6D6C2"/>
                </a:solidFill>
                <a:latin typeface="Helvetica Neue"/>
                <a:ea typeface="Hiragino Sans GB"/>
              </a:rPr>
              <a:t>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7904" y="2871216"/>
            <a:ext cx="2429256" cy="877824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模型厂商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2064" y="2715768"/>
            <a:ext cx="3416808" cy="1188720"/>
          </a:xfrm>
          <a:prstGeom prst="roundRect">
            <a:avLst>
              <a:gd name="adj" fmla="val 12307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4504944" y="2907792"/>
            <a:ext cx="438912" cy="438912"/>
          </a:xfrm>
          <a:prstGeom prst="roundRect">
            <a:avLst>
              <a:gd name="adj" fmla="val 29166"/>
            </a:avLst>
          </a:prstGeom>
          <a:solidFill>
            <a:srgbClr val="133843"/>
          </a:solidFill>
          <a:ln w="8096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04944" y="2907792"/>
            <a:ext cx="438912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6D6C2"/>
                </a:solidFill>
                <a:latin typeface="Helvetica Neue"/>
                <a:ea typeface="Hiragino Sans GB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90160" y="2871216"/>
            <a:ext cx="2429256" cy="877824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Agent产品公司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94320" y="2715768"/>
            <a:ext cx="3416808" cy="1188720"/>
          </a:xfrm>
          <a:prstGeom prst="roundRect">
            <a:avLst>
              <a:gd name="adj" fmla="val 12307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077199" y="2907792"/>
            <a:ext cx="438912" cy="438912"/>
          </a:xfrm>
          <a:prstGeom prst="roundRect">
            <a:avLst>
              <a:gd name="adj" fmla="val 29166"/>
            </a:avLst>
          </a:prstGeom>
          <a:solidFill>
            <a:srgbClr val="133843"/>
          </a:solidFill>
          <a:ln w="8096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077199" y="2907792"/>
            <a:ext cx="438912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6D6C2"/>
                </a:solidFill>
                <a:latin typeface="Helvetica Neue"/>
                <a:ea typeface="Hiragino Sans GB"/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62416" y="2871216"/>
            <a:ext cx="2429256" cy="877824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使用Agent的企业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426464" y="4133088"/>
            <a:ext cx="4334256" cy="1188720"/>
          </a:xfrm>
          <a:prstGeom prst="roundRect">
            <a:avLst>
              <a:gd name="adj" fmla="val 12307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1609344" y="4325112"/>
            <a:ext cx="438912" cy="438912"/>
          </a:xfrm>
          <a:prstGeom prst="roundRect">
            <a:avLst>
              <a:gd name="adj" fmla="val 29166"/>
            </a:avLst>
          </a:prstGeom>
          <a:solidFill>
            <a:srgbClr val="133843"/>
          </a:solidFill>
          <a:ln w="8096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609344" y="4325112"/>
            <a:ext cx="438912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6D6C2"/>
                </a:solidFill>
                <a:latin typeface="Helvetica Neue"/>
                <a:ea typeface="Hiragino Sans GB"/>
              </a:rPr>
              <a:t>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4560" y="4288536"/>
            <a:ext cx="3346704" cy="877824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最终使用者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0" y="4133088"/>
            <a:ext cx="4334256" cy="1188720"/>
          </a:xfrm>
          <a:prstGeom prst="roundRect">
            <a:avLst>
              <a:gd name="adj" fmla="val 12307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6583680" y="4325112"/>
            <a:ext cx="438912" cy="438912"/>
          </a:xfrm>
          <a:prstGeom prst="roundRect">
            <a:avLst>
              <a:gd name="adj" fmla="val 29166"/>
            </a:avLst>
          </a:prstGeom>
          <a:solidFill>
            <a:srgbClr val="133843"/>
          </a:solidFill>
          <a:ln w="8096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583680" y="4325112"/>
            <a:ext cx="438912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6D6C2"/>
                </a:solidFill>
                <a:latin typeface="Helvetica Neue"/>
                <a:ea typeface="Hiragino Sans GB"/>
              </a:rPr>
              <a:t>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68896" y="4288536"/>
            <a:ext cx="3346704" cy="877824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需要根据指令、产品设计、权限和确认流程具体划分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94944" y="228600"/>
            <a:ext cx="905256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第二部分 · 讨论解析 · Agent与组织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91088" y="228600"/>
            <a:ext cx="512064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27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65392"/>
            <a:ext cx="10808208" cy="12801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deckkit-motif-quiet"/>
          <p:cNvSpPr/>
          <p:nvPr/>
        </p:nvSpPr>
        <p:spPr>
          <a:xfrm>
            <a:off x="694944" y="6519672"/>
            <a:ext cx="5305847" cy="3291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12648"/>
            <a:ext cx="10716768" cy="62179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2E9"/>
                </a:solidFill>
                <a:latin typeface="Helvetica Neue"/>
                <a:ea typeface="Hiragino Sans GB"/>
              </a:rPr>
              <a:t>Agent责任的拆解与控制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52728"/>
            <a:ext cx="1325880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2" y="1371600"/>
            <a:ext cx="10661904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责任需要被提前设计进权限、确认、日志和回滚机制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911095"/>
            <a:ext cx="5180076" cy="1659636"/>
          </a:xfrm>
          <a:prstGeom prst="roundRect">
            <a:avLst>
              <a:gd name="adj" fmla="val 8815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50976" y="2057400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6D6C2"/>
                </a:solidFill>
                <a:latin typeface="Helvetica Neue"/>
                <a:ea typeface="Hiragino Sans GB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350008"/>
            <a:ext cx="477774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5F2E9"/>
                </a:solidFill>
                <a:latin typeface="Helvetica Neue"/>
                <a:ea typeface="Hiragino Sans GB"/>
              </a:rPr>
              <a:t>五类错误来源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788920"/>
            <a:ext cx="4777740" cy="653796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7B5BC"/>
                </a:solidFill>
                <a:latin typeface="Helvetica Neue"/>
                <a:ea typeface="Hiragino Sans GB"/>
              </a:rPr>
              <a:t>用户指令·模型·产品流程·工具系统·组织治理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31052" y="1911095"/>
            <a:ext cx="5180076" cy="1659636"/>
          </a:xfrm>
          <a:prstGeom prst="roundRect">
            <a:avLst>
              <a:gd name="adj" fmla="val 8815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32220" y="2057400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7657"/>
                </a:solidFill>
                <a:latin typeface="Helvetica Neue"/>
                <a:ea typeface="Hiragino Sans GB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2220" y="2350008"/>
            <a:ext cx="477774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5F2E9"/>
                </a:solidFill>
                <a:latin typeface="Helvetica Neue"/>
                <a:ea typeface="Hiragino Sans GB"/>
              </a:rPr>
              <a:t>最小权限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2220" y="2788920"/>
            <a:ext cx="4777740" cy="653796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7B5BC"/>
                </a:solidFill>
                <a:latin typeface="Helvetica Neue"/>
                <a:ea typeface="Hiragino Sans GB"/>
              </a:rPr>
              <a:t>只授予完成当前任务必需的行动范围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3790187"/>
            <a:ext cx="5180076" cy="1659636"/>
          </a:xfrm>
          <a:prstGeom prst="roundRect">
            <a:avLst>
              <a:gd name="adj" fmla="val 8815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50976" y="3936491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0C565"/>
                </a:solidFill>
                <a:latin typeface="Helvetica Neue"/>
                <a:ea typeface="Hiragino Sans GB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" y="4229100"/>
            <a:ext cx="477774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5F2E9"/>
                </a:solidFill>
                <a:latin typeface="Helvetica Neue"/>
                <a:ea typeface="Hiragino Sans GB"/>
              </a:rPr>
              <a:t>分级确认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0976" y="4668012"/>
            <a:ext cx="4777740" cy="653795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7B5BC"/>
                </a:solidFill>
                <a:latin typeface="Helvetica Neue"/>
                <a:ea typeface="Hiragino Sans GB"/>
              </a:rPr>
              <a:t>草稿、正式执行、修改和删除使用不同控制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31052" y="3790187"/>
            <a:ext cx="5180076" cy="1659636"/>
          </a:xfrm>
          <a:prstGeom prst="roundRect">
            <a:avLst>
              <a:gd name="adj" fmla="val 8815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332220" y="3936491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8D391"/>
                </a:solidFill>
                <a:latin typeface="Helvetica Neue"/>
                <a:ea typeface="Hiragino Sans GB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32220" y="4229100"/>
            <a:ext cx="477774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5F2E9"/>
                </a:solidFill>
                <a:latin typeface="Helvetica Neue"/>
                <a:ea typeface="Hiragino Sans GB"/>
              </a:rPr>
              <a:t>可追溯与回滚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32220" y="4668012"/>
            <a:ext cx="4777740" cy="653795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7B5BC"/>
                </a:solidFill>
                <a:latin typeface="Helvetica Neue"/>
                <a:ea typeface="Hiragino Sans GB"/>
              </a:rPr>
              <a:t>执行前可见，执行后有日志，可暂停撤销和人工接管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5769864"/>
            <a:ext cx="10716768" cy="530352"/>
          </a:xfrm>
          <a:prstGeom prst="roundRect">
            <a:avLst>
              <a:gd name="adj" fmla="val 24137"/>
            </a:avLst>
          </a:prstGeom>
          <a:solidFill>
            <a:srgbClr val="133843"/>
          </a:solidFill>
          <a:ln w="6477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23544" y="5897879"/>
            <a:ext cx="109728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elvetica Neue"/>
                <a:ea typeface="Hiragino Sans GB"/>
              </a:rPr>
              <a:t>判断框架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11680" y="5870448"/>
            <a:ext cx="9079992" cy="29260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判断结论：责任需要被提前设计进权限、确认、日志和回滚机制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94944" y="228600"/>
            <a:ext cx="905256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第二部分 · 讨论 08/16 · Agent与组织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91088" y="228600"/>
            <a:ext cx="512064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28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65392"/>
            <a:ext cx="10808208" cy="12801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deckkit-motif-quiet"/>
          <p:cNvSpPr/>
          <p:nvPr/>
        </p:nvSpPr>
        <p:spPr>
          <a:xfrm>
            <a:off x="694944" y="6519672"/>
            <a:ext cx="5502360" cy="3291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12648"/>
            <a:ext cx="10716768" cy="62179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2E9"/>
                </a:solidFill>
                <a:latin typeface="Helvetica Neue"/>
                <a:ea typeface="Hiragino Sans GB"/>
              </a:rPr>
              <a:t>AI提升效率以后，人类工作会减少吗？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52728"/>
            <a:ext cx="1325880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2" y="1371600"/>
            <a:ext cx="10661904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请选择最接近你判断的一项，再说明理由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83664"/>
            <a:ext cx="5138928" cy="1353312"/>
          </a:xfrm>
          <a:prstGeom prst="roundRect">
            <a:avLst>
              <a:gd name="adj" fmla="val 10810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32688" y="2075688"/>
            <a:ext cx="438912" cy="438912"/>
          </a:xfrm>
          <a:prstGeom prst="roundRect">
            <a:avLst>
              <a:gd name="adj" fmla="val 29166"/>
            </a:avLst>
          </a:prstGeom>
          <a:solidFill>
            <a:srgbClr val="133843"/>
          </a:solidFill>
          <a:ln w="8096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32688" y="2075688"/>
            <a:ext cx="438912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6D6C2"/>
                </a:solidFill>
                <a:latin typeface="Helvetica Neue"/>
                <a:ea typeface="Hiragino Sans GB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7904" y="2039112"/>
            <a:ext cx="4151376" cy="1042415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工作量明显减少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6" y="1883664"/>
            <a:ext cx="5138928" cy="1353312"/>
          </a:xfrm>
          <a:prstGeom prst="roundRect">
            <a:avLst>
              <a:gd name="adj" fmla="val 10810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345936" y="2075688"/>
            <a:ext cx="438912" cy="438912"/>
          </a:xfrm>
          <a:prstGeom prst="roundRect">
            <a:avLst>
              <a:gd name="adj" fmla="val 29166"/>
            </a:avLst>
          </a:prstGeom>
          <a:solidFill>
            <a:srgbClr val="133843"/>
          </a:solidFill>
          <a:ln w="8096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45936" y="2075688"/>
            <a:ext cx="438912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6D6C2"/>
                </a:solidFill>
                <a:latin typeface="Helvetica Neue"/>
                <a:ea typeface="Hiragino Sans GB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31152" y="2039112"/>
            <a:ext cx="4151376" cy="1042415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企业会安排员工完成更多任务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3465576"/>
            <a:ext cx="5138928" cy="1353312"/>
          </a:xfrm>
          <a:prstGeom prst="roundRect">
            <a:avLst>
              <a:gd name="adj" fmla="val 10810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932688" y="3657600"/>
            <a:ext cx="438912" cy="438912"/>
          </a:xfrm>
          <a:prstGeom prst="roundRect">
            <a:avLst>
              <a:gd name="adj" fmla="val 29166"/>
            </a:avLst>
          </a:prstGeom>
          <a:solidFill>
            <a:srgbClr val="133843"/>
          </a:solidFill>
          <a:ln w="8096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32688" y="3657600"/>
            <a:ext cx="438912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6D6C2"/>
                </a:solidFill>
                <a:latin typeface="Helvetica Neue"/>
                <a:ea typeface="Hiragino Sans GB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7904" y="3621024"/>
            <a:ext cx="4151376" cy="1042415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部分任务减少，但监督、评测和治理工作增加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6" y="3465576"/>
            <a:ext cx="5138928" cy="1353312"/>
          </a:xfrm>
          <a:prstGeom prst="roundRect">
            <a:avLst>
              <a:gd name="adj" fmla="val 10810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6345936" y="3657600"/>
            <a:ext cx="438912" cy="438912"/>
          </a:xfrm>
          <a:prstGeom prst="roundRect">
            <a:avLst>
              <a:gd name="adj" fmla="val 29166"/>
            </a:avLst>
          </a:prstGeom>
          <a:solidFill>
            <a:srgbClr val="133843"/>
          </a:solidFill>
          <a:ln w="8096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45936" y="3657600"/>
            <a:ext cx="438912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6D6C2"/>
                </a:solidFill>
                <a:latin typeface="Helvetica Neue"/>
                <a:ea typeface="Hiragino Sans GB"/>
              </a:rPr>
              <a:t>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31152" y="3621024"/>
            <a:ext cx="4151376" cy="1042415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取决于企业是否重新设计流程和岗位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94944" y="228600"/>
            <a:ext cx="905256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第二部分 · 讨论解析 · Agent与组织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91088" y="228600"/>
            <a:ext cx="512064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29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65392"/>
            <a:ext cx="10808208" cy="12801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deckkit-motif-quiet"/>
          <p:cNvSpPr/>
          <p:nvPr/>
        </p:nvSpPr>
        <p:spPr>
          <a:xfrm>
            <a:off x="694944" y="6519672"/>
            <a:ext cx="5698873" cy="3291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12648"/>
            <a:ext cx="10716768" cy="62179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2E9"/>
                </a:solidFill>
                <a:latin typeface="Helvetica Neue"/>
                <a:ea typeface="Hiragino Sans GB"/>
              </a:rPr>
              <a:t>AI效率怎样进入组织流程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52728"/>
            <a:ext cx="1325880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2" y="1371600"/>
            <a:ext cx="10661904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真正的效率来自重新设计人、AI和组织的分工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911095"/>
            <a:ext cx="5180076" cy="1659636"/>
          </a:xfrm>
          <a:prstGeom prst="roundRect">
            <a:avLst>
              <a:gd name="adj" fmla="val 8815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50976" y="2057400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6D6C2"/>
                </a:solidFill>
                <a:latin typeface="Helvetica Neue"/>
                <a:ea typeface="Hiragino Sans GB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350008"/>
            <a:ext cx="477774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5F2E9"/>
                </a:solidFill>
                <a:latin typeface="Helvetica Neue"/>
                <a:ea typeface="Hiragino Sans GB"/>
              </a:rPr>
              <a:t>可能减少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788920"/>
            <a:ext cx="4777740" cy="653796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7B5BC"/>
                </a:solidFill>
                <a:latin typeface="Helvetica Neue"/>
                <a:ea typeface="Hiragino Sans GB"/>
              </a:rPr>
              <a:t>信息搜集·初稿·整理·录入·固定操作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31052" y="1911095"/>
            <a:ext cx="5180076" cy="1659636"/>
          </a:xfrm>
          <a:prstGeom prst="roundRect">
            <a:avLst>
              <a:gd name="adj" fmla="val 8815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32220" y="2057400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7657"/>
                </a:solidFill>
                <a:latin typeface="Helvetica Neue"/>
                <a:ea typeface="Hiragino Sans GB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2220" y="2350008"/>
            <a:ext cx="477774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5F2E9"/>
                </a:solidFill>
                <a:latin typeface="Helvetica Neue"/>
                <a:ea typeface="Hiragino Sans GB"/>
              </a:rPr>
              <a:t>可能增加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2220" y="2788920"/>
            <a:ext cx="4777740" cy="653796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7B5BC"/>
                </a:solidFill>
                <a:latin typeface="Helvetica Neue"/>
                <a:ea typeface="Hiragino Sans GB"/>
              </a:rPr>
              <a:t>标准·数据·评测·监督·权限·异常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3790187"/>
            <a:ext cx="5180076" cy="1659636"/>
          </a:xfrm>
          <a:prstGeom prst="roundRect">
            <a:avLst>
              <a:gd name="adj" fmla="val 8815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50976" y="3936491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0C565"/>
                </a:solidFill>
                <a:latin typeface="Helvetica Neue"/>
                <a:ea typeface="Hiragino Sans GB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" y="4229100"/>
            <a:ext cx="477774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5F2E9"/>
                </a:solidFill>
                <a:latin typeface="Helvetica Neue"/>
                <a:ea typeface="Hiragino Sans GB"/>
              </a:rPr>
              <a:t>低效叠加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0976" y="4668012"/>
            <a:ext cx="4777740" cy="653795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7B5BC"/>
                </a:solidFill>
                <a:latin typeface="Helvetica Neue"/>
                <a:ea typeface="Hiragino Sans GB"/>
              </a:rPr>
              <a:t>AI一遍·人工一遍·旧流程再一遍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31052" y="3790187"/>
            <a:ext cx="5180076" cy="1659636"/>
          </a:xfrm>
          <a:prstGeom prst="roundRect">
            <a:avLst>
              <a:gd name="adj" fmla="val 8815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332220" y="3936491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8D391"/>
                </a:solidFill>
                <a:latin typeface="Helvetica Neue"/>
                <a:ea typeface="Hiragino Sans GB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32220" y="4229100"/>
            <a:ext cx="477774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5F2E9"/>
                </a:solidFill>
                <a:latin typeface="Helvetica Neue"/>
                <a:ea typeface="Hiragino Sans GB"/>
              </a:rPr>
              <a:t>流程重构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32220" y="4668012"/>
            <a:ext cx="4777740" cy="653795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7B5BC"/>
                </a:solidFill>
                <a:latin typeface="Helvetica Neue"/>
                <a:ea typeface="Hiragino Sans GB"/>
              </a:rPr>
              <a:t>取消旧环节·设置确认·增加风险治理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5769864"/>
            <a:ext cx="10716768" cy="530352"/>
          </a:xfrm>
          <a:prstGeom prst="roundRect">
            <a:avLst>
              <a:gd name="adj" fmla="val 24137"/>
            </a:avLst>
          </a:prstGeom>
          <a:solidFill>
            <a:srgbClr val="133843"/>
          </a:solidFill>
          <a:ln w="6477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23544" y="5897879"/>
            <a:ext cx="109728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elvetica Neue"/>
                <a:ea typeface="Hiragino Sans GB"/>
              </a:rPr>
              <a:t>判断框架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11680" y="5870448"/>
            <a:ext cx="9079992" cy="29260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判断结论：真正的效率来自重新设计人、AI和组织的分工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94944" y="228600"/>
            <a:ext cx="905256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第二部分 · 讨论 09/16 · 商业与建设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91088" y="228600"/>
            <a:ext cx="512064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30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65392"/>
            <a:ext cx="10808208" cy="12801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deckkit-motif-quiet"/>
          <p:cNvSpPr/>
          <p:nvPr/>
        </p:nvSpPr>
        <p:spPr>
          <a:xfrm>
            <a:off x="694944" y="6519672"/>
            <a:ext cx="5895386" cy="3291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12648"/>
            <a:ext cx="10716768" cy="62179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2E9"/>
                </a:solidFill>
                <a:latin typeface="Helvetica Neue"/>
                <a:ea typeface="Hiragino Sans GB"/>
              </a:rPr>
              <a:t>AI产品应该按照什么收费？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52728"/>
            <a:ext cx="1325880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2" y="1371600"/>
            <a:ext cx="10661904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请选择最接近你判断的一项，再说明理由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83664"/>
            <a:ext cx="10561320" cy="640080"/>
          </a:xfrm>
          <a:prstGeom prst="roundRect">
            <a:avLst>
              <a:gd name="adj" fmla="val 20000"/>
            </a:avLst>
          </a:prstGeom>
          <a:solidFill>
            <a:srgbClr val="133843"/>
          </a:solidFill>
          <a:ln w="755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50976" y="2039112"/>
            <a:ext cx="841248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elvetica Neue"/>
                <a:ea typeface="Hiragino Sans GB"/>
              </a:rPr>
              <a:t>场景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73352" y="1975104"/>
            <a:ext cx="9162288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5F2E9"/>
                </a:solidFill>
                <a:latin typeface="Helvetica Neue"/>
                <a:ea typeface="Hiragino Sans GB"/>
              </a:rPr>
              <a:t>轻度用户每月5场会议，重度用户可能100场，每次都产生执行成本。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2715768"/>
            <a:ext cx="3416808" cy="1188720"/>
          </a:xfrm>
          <a:prstGeom prst="roundRect">
            <a:avLst>
              <a:gd name="adj" fmla="val 12307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932688" y="2907792"/>
            <a:ext cx="438912" cy="438912"/>
          </a:xfrm>
          <a:prstGeom prst="roundRect">
            <a:avLst>
              <a:gd name="adj" fmla="val 29166"/>
            </a:avLst>
          </a:prstGeom>
          <a:solidFill>
            <a:srgbClr val="133843"/>
          </a:solidFill>
          <a:ln w="8096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32688" y="2907792"/>
            <a:ext cx="438912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6D6C2"/>
                </a:solidFill>
                <a:latin typeface="Helvetica Neue"/>
                <a:ea typeface="Hiragino Sans GB"/>
              </a:rPr>
              <a:t>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7904" y="2871216"/>
            <a:ext cx="2429256" cy="877824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按账号收取固定月费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2064" y="2715768"/>
            <a:ext cx="3416808" cy="1188720"/>
          </a:xfrm>
          <a:prstGeom prst="roundRect">
            <a:avLst>
              <a:gd name="adj" fmla="val 12307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4504944" y="2907792"/>
            <a:ext cx="438912" cy="438912"/>
          </a:xfrm>
          <a:prstGeom prst="roundRect">
            <a:avLst>
              <a:gd name="adj" fmla="val 29166"/>
            </a:avLst>
          </a:prstGeom>
          <a:solidFill>
            <a:srgbClr val="133843"/>
          </a:solidFill>
          <a:ln w="8096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04944" y="2907792"/>
            <a:ext cx="438912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6D6C2"/>
                </a:solidFill>
                <a:latin typeface="Helvetica Neue"/>
                <a:ea typeface="Hiragino Sans GB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90160" y="2871216"/>
            <a:ext cx="2429256" cy="877824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按会议时长、Token或调用次数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94320" y="2715768"/>
            <a:ext cx="3416808" cy="1188720"/>
          </a:xfrm>
          <a:prstGeom prst="roundRect">
            <a:avLst>
              <a:gd name="adj" fmla="val 12307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077199" y="2907792"/>
            <a:ext cx="438912" cy="438912"/>
          </a:xfrm>
          <a:prstGeom prst="roundRect">
            <a:avLst>
              <a:gd name="adj" fmla="val 29166"/>
            </a:avLst>
          </a:prstGeom>
          <a:solidFill>
            <a:srgbClr val="133843"/>
          </a:solidFill>
          <a:ln w="8096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077199" y="2907792"/>
            <a:ext cx="438912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6D6C2"/>
                </a:solidFill>
                <a:latin typeface="Helvetica Neue"/>
                <a:ea typeface="Hiragino Sans GB"/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62416" y="2871216"/>
            <a:ext cx="2429256" cy="877824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按完成的会议和任务计费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426464" y="4133088"/>
            <a:ext cx="4334256" cy="1188720"/>
          </a:xfrm>
          <a:prstGeom prst="roundRect">
            <a:avLst>
              <a:gd name="adj" fmla="val 12307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1609344" y="4325112"/>
            <a:ext cx="438912" cy="438912"/>
          </a:xfrm>
          <a:prstGeom prst="roundRect">
            <a:avLst>
              <a:gd name="adj" fmla="val 29166"/>
            </a:avLst>
          </a:prstGeom>
          <a:solidFill>
            <a:srgbClr val="133843"/>
          </a:solidFill>
          <a:ln w="8096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609344" y="4325112"/>
            <a:ext cx="438912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6D6C2"/>
                </a:solidFill>
                <a:latin typeface="Helvetica Neue"/>
                <a:ea typeface="Hiragino Sans GB"/>
              </a:rPr>
              <a:t>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4560" y="4288536"/>
            <a:ext cx="3346704" cy="877824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按最终节省的人工成本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0" y="4133088"/>
            <a:ext cx="4334256" cy="1188720"/>
          </a:xfrm>
          <a:prstGeom prst="roundRect">
            <a:avLst>
              <a:gd name="adj" fmla="val 12307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6583680" y="4325112"/>
            <a:ext cx="438912" cy="438912"/>
          </a:xfrm>
          <a:prstGeom prst="roundRect">
            <a:avLst>
              <a:gd name="adj" fmla="val 29166"/>
            </a:avLst>
          </a:prstGeom>
          <a:solidFill>
            <a:srgbClr val="133843"/>
          </a:solidFill>
          <a:ln w="8096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583680" y="4325112"/>
            <a:ext cx="438912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6D6C2"/>
                </a:solidFill>
                <a:latin typeface="Helvetica Neue"/>
                <a:ea typeface="Hiragino Sans GB"/>
              </a:rPr>
              <a:t>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68896" y="4288536"/>
            <a:ext cx="3346704" cy="877824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基础订阅＋使用量或结果的混合收费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94944" y="228600"/>
            <a:ext cx="905256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第二部分 · 讨论解析 · 商业与建设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91088" y="228600"/>
            <a:ext cx="512064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31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65392"/>
            <a:ext cx="10808208" cy="12801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deckkit-motif-quiet"/>
          <p:cNvSpPr/>
          <p:nvPr/>
        </p:nvSpPr>
        <p:spPr>
          <a:xfrm>
            <a:off x="694944" y="6519672"/>
            <a:ext cx="6091899" cy="3291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12648"/>
            <a:ext cx="10716768" cy="62179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2E9"/>
                </a:solidFill>
                <a:latin typeface="Helvetica Neue"/>
                <a:ea typeface="Hiragino Sans GB"/>
              </a:rPr>
              <a:t>AI产品定价的三个判断单位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52728"/>
            <a:ext cx="1325880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749808" y="1911095"/>
            <a:ext cx="3386328" cy="3538728"/>
          </a:xfrm>
          <a:prstGeom prst="roundRect">
            <a:avLst>
              <a:gd name="adj" fmla="val 4320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50976" y="2057400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6D6C2"/>
                </a:solidFill>
                <a:latin typeface="Helvetica Neue"/>
                <a:ea typeface="Hiragino Sans GB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350008"/>
            <a:ext cx="2983992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5F2E9"/>
                </a:solidFill>
                <a:latin typeface="Helvetica Neue"/>
                <a:ea typeface="Hiragino Sans GB"/>
              </a:rPr>
              <a:t>成本单位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788920"/>
            <a:ext cx="2983992" cy="2532888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7B5BC"/>
                </a:solidFill>
                <a:latin typeface="Helvetica Neue"/>
                <a:ea typeface="Hiragino Sans GB"/>
              </a:rPr>
              <a:t>每分钟语音·每次搜索·每次人工复核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37304" y="1911095"/>
            <a:ext cx="3386328" cy="3538728"/>
          </a:xfrm>
          <a:prstGeom prst="roundRect">
            <a:avLst>
              <a:gd name="adj" fmla="val 4320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38472" y="2057400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7657"/>
                </a:solidFill>
                <a:latin typeface="Helvetica Neue"/>
                <a:ea typeface="Hiragino Sans GB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8472" y="2350008"/>
            <a:ext cx="2983992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5F2E9"/>
                </a:solidFill>
                <a:latin typeface="Helvetica Neue"/>
                <a:ea typeface="Hiragino Sans GB"/>
              </a:rPr>
              <a:t>价值单位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38472" y="2788920"/>
            <a:ext cx="2983992" cy="2532888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7B5BC"/>
                </a:solidFill>
                <a:latin typeface="Helvetica Neue"/>
                <a:ea typeface="Hiragino Sans GB"/>
              </a:rPr>
              <a:t>一场会议·一份报告·一个解决的工单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24800" y="1911095"/>
            <a:ext cx="3386328" cy="3538728"/>
          </a:xfrm>
          <a:prstGeom prst="roundRect">
            <a:avLst>
              <a:gd name="adj" fmla="val 4320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125968" y="2057400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0C565"/>
                </a:solidFill>
                <a:latin typeface="Helvetica Neue"/>
                <a:ea typeface="Hiragino Sans GB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5968" y="2350008"/>
            <a:ext cx="2983992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5F2E9"/>
                </a:solidFill>
                <a:latin typeface="Helvetica Neue"/>
                <a:ea typeface="Hiragino Sans GB"/>
              </a:rPr>
              <a:t>收费单位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5968" y="2788920"/>
            <a:ext cx="2983992" cy="2532888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7B5BC"/>
                </a:solidFill>
                <a:latin typeface="Helvetica Neue"/>
                <a:ea typeface="Hiragino Sans GB"/>
              </a:rPr>
              <a:t>账号·调用·任务·结果·组合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769864"/>
            <a:ext cx="10716768" cy="530352"/>
          </a:xfrm>
          <a:prstGeom prst="roundRect">
            <a:avLst>
              <a:gd name="adj" fmla="val 24137"/>
            </a:avLst>
          </a:prstGeom>
          <a:solidFill>
            <a:srgbClr val="133843"/>
          </a:solidFill>
          <a:ln w="6477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23544" y="5897879"/>
            <a:ext cx="109728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elvetica Neue"/>
                <a:ea typeface="Hiragino Sans GB"/>
              </a:rPr>
              <a:t>判断框架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5870448"/>
            <a:ext cx="9079992" cy="29260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判断结论：成本单位、价值单位和收费单位需要相互匹配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94944" y="228600"/>
            <a:ext cx="905256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第二部分 · 讨论 10/16 · 商业与建设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91088" y="228600"/>
            <a:ext cx="512064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32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65392"/>
            <a:ext cx="10808208" cy="12801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deckkit-motif-quiet"/>
          <p:cNvSpPr/>
          <p:nvPr/>
        </p:nvSpPr>
        <p:spPr>
          <a:xfrm>
            <a:off x="694944" y="6519672"/>
            <a:ext cx="6288411" cy="3291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12648"/>
            <a:ext cx="10716768" cy="62179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2E9"/>
                </a:solidFill>
                <a:latin typeface="Helvetica Neue"/>
                <a:ea typeface="Hiragino Sans GB"/>
              </a:rPr>
              <a:t>数据是不是AI产品的护城河？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52728"/>
            <a:ext cx="1325880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2" y="1371600"/>
            <a:ext cx="10661904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请选择最接近你判断的一项，再说明理由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83664"/>
            <a:ext cx="3416808" cy="1188720"/>
          </a:xfrm>
          <a:prstGeom prst="roundRect">
            <a:avLst>
              <a:gd name="adj" fmla="val 12307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32688" y="2075688"/>
            <a:ext cx="438912" cy="438912"/>
          </a:xfrm>
          <a:prstGeom prst="roundRect">
            <a:avLst>
              <a:gd name="adj" fmla="val 29166"/>
            </a:avLst>
          </a:prstGeom>
          <a:solidFill>
            <a:srgbClr val="133843"/>
          </a:solidFill>
          <a:ln w="8096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32688" y="2075688"/>
            <a:ext cx="438912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6D6C2"/>
                </a:solidFill>
                <a:latin typeface="Helvetica Neue"/>
                <a:ea typeface="Hiragino Sans GB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7904" y="2039112"/>
            <a:ext cx="2429256" cy="877824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是，数据越多壁垒越高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2064" y="1883664"/>
            <a:ext cx="3416808" cy="1188720"/>
          </a:xfrm>
          <a:prstGeom prst="roundRect">
            <a:avLst>
              <a:gd name="adj" fmla="val 12307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504944" y="2075688"/>
            <a:ext cx="438912" cy="438912"/>
          </a:xfrm>
          <a:prstGeom prst="roundRect">
            <a:avLst>
              <a:gd name="adj" fmla="val 29166"/>
            </a:avLst>
          </a:prstGeom>
          <a:solidFill>
            <a:srgbClr val="133843"/>
          </a:solidFill>
          <a:ln w="8096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04944" y="2075688"/>
            <a:ext cx="438912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6D6C2"/>
                </a:solidFill>
                <a:latin typeface="Helvetica Neue"/>
                <a:ea typeface="Hiragino Sans GB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90160" y="2039112"/>
            <a:ext cx="2429256" cy="877824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不一定，大量数据未必能够改善产品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94320" y="1883664"/>
            <a:ext cx="3416808" cy="1188720"/>
          </a:xfrm>
          <a:prstGeom prst="roundRect">
            <a:avLst>
              <a:gd name="adj" fmla="val 12307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077199" y="2075688"/>
            <a:ext cx="438912" cy="438912"/>
          </a:xfrm>
          <a:prstGeom prst="roundRect">
            <a:avLst>
              <a:gd name="adj" fmla="val 29166"/>
            </a:avLst>
          </a:prstGeom>
          <a:solidFill>
            <a:srgbClr val="133843"/>
          </a:solidFill>
          <a:ln w="8096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077199" y="2075688"/>
            <a:ext cx="438912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6D6C2"/>
                </a:solidFill>
                <a:latin typeface="Helvetica Neue"/>
                <a:ea typeface="Hiragino Sans GB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62416" y="2039112"/>
            <a:ext cx="2429256" cy="877824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只有独家数据才有价值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426464" y="3300984"/>
            <a:ext cx="4334256" cy="1188720"/>
          </a:xfrm>
          <a:prstGeom prst="roundRect">
            <a:avLst>
              <a:gd name="adj" fmla="val 12307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1609344" y="3493008"/>
            <a:ext cx="438912" cy="438912"/>
          </a:xfrm>
          <a:prstGeom prst="roundRect">
            <a:avLst>
              <a:gd name="adj" fmla="val 29166"/>
            </a:avLst>
          </a:prstGeom>
          <a:solidFill>
            <a:srgbClr val="133843"/>
          </a:solidFill>
          <a:ln w="8096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609344" y="3493008"/>
            <a:ext cx="438912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6D6C2"/>
                </a:solidFill>
                <a:latin typeface="Helvetica Neue"/>
                <a:ea typeface="Hiragino Sans GB"/>
              </a:rPr>
              <a:t>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94560" y="3456432"/>
            <a:ext cx="3346704" cy="877824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数据必须合法、相关、可使用并进入改进闭环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0" y="3300984"/>
            <a:ext cx="4334256" cy="1188720"/>
          </a:xfrm>
          <a:prstGeom prst="roundRect">
            <a:avLst>
              <a:gd name="adj" fmla="val 12307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6583680" y="3493008"/>
            <a:ext cx="438912" cy="438912"/>
          </a:xfrm>
          <a:prstGeom prst="roundRect">
            <a:avLst>
              <a:gd name="adj" fmla="val 29166"/>
            </a:avLst>
          </a:prstGeom>
          <a:solidFill>
            <a:srgbClr val="133843"/>
          </a:solidFill>
          <a:ln w="8096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583680" y="3493008"/>
            <a:ext cx="438912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6D6C2"/>
                </a:solidFill>
                <a:latin typeface="Helvetica Neue"/>
                <a:ea typeface="Hiragino Sans GB"/>
              </a:rPr>
              <a:t>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68896" y="3456432"/>
            <a:ext cx="3346704" cy="877824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模型越来越强以后，数据不再重要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94944" y="228600"/>
            <a:ext cx="905256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第二部分 · 讨论解析 · 商业与建设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91088" y="228600"/>
            <a:ext cx="512064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33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65392"/>
            <a:ext cx="10808208" cy="12801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deckkit-motif-quiet"/>
          <p:cNvSpPr/>
          <p:nvPr/>
        </p:nvSpPr>
        <p:spPr>
          <a:xfrm>
            <a:off x="694944" y="6519672"/>
            <a:ext cx="6484924" cy="3291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12648"/>
            <a:ext cx="10716768" cy="62179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2E9"/>
                </a:solidFill>
                <a:latin typeface="Helvetica Neue"/>
                <a:ea typeface="Hiragino Sans GB"/>
              </a:rPr>
              <a:t>可能形成数据壁垒的五个条件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52728"/>
            <a:ext cx="1325880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2" y="1371600"/>
            <a:ext cx="10661904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壁垒来自持续获得任务反馈，并把它转化为产品改进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911095"/>
            <a:ext cx="3386328" cy="1659636"/>
          </a:xfrm>
          <a:prstGeom prst="roundRect">
            <a:avLst>
              <a:gd name="adj" fmla="val 8815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50976" y="2057400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6D6C2"/>
                </a:solidFill>
                <a:latin typeface="Helvetica Neue"/>
                <a:ea typeface="Hiragino Sans GB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350008"/>
            <a:ext cx="2983992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5F2E9"/>
                </a:solidFill>
                <a:latin typeface="Helvetica Neue"/>
                <a:ea typeface="Hiragino Sans GB"/>
              </a:rPr>
              <a:t>任务相关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788920"/>
            <a:ext cx="2983992" cy="653796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7B5BC"/>
                </a:solidFill>
                <a:latin typeface="Helvetica Neue"/>
                <a:ea typeface="Hiragino Sans GB"/>
              </a:rPr>
              <a:t>直接反映产品的核心工作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37304" y="1911095"/>
            <a:ext cx="3386328" cy="1659636"/>
          </a:xfrm>
          <a:prstGeom prst="roundRect">
            <a:avLst>
              <a:gd name="adj" fmla="val 8815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38472" y="2057400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7657"/>
                </a:solidFill>
                <a:latin typeface="Helvetica Neue"/>
                <a:ea typeface="Hiragino Sans GB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8472" y="2350008"/>
            <a:ext cx="2983992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5F2E9"/>
                </a:solidFill>
                <a:latin typeface="Helvetica Neue"/>
                <a:ea typeface="Hiragino Sans GB"/>
              </a:rPr>
              <a:t>结果可判断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38472" y="2788920"/>
            <a:ext cx="2983992" cy="653796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7B5BC"/>
                </a:solidFill>
                <a:latin typeface="Helvetica Neue"/>
                <a:ea typeface="Hiragino Sans GB"/>
              </a:rPr>
              <a:t>有可信标准，知道成功或失败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24800" y="1911095"/>
            <a:ext cx="3386328" cy="1659636"/>
          </a:xfrm>
          <a:prstGeom prst="roundRect">
            <a:avLst>
              <a:gd name="adj" fmla="val 8815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125968" y="2057400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0C565"/>
                </a:solidFill>
                <a:latin typeface="Helvetica Neue"/>
                <a:ea typeface="Hiragino Sans GB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5968" y="2350008"/>
            <a:ext cx="2983992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5F2E9"/>
                </a:solidFill>
                <a:latin typeface="Helvetica Neue"/>
                <a:ea typeface="Hiragino Sans GB"/>
              </a:rPr>
              <a:t>合法使用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5968" y="2788920"/>
            <a:ext cx="2983992" cy="653796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7B5BC"/>
                </a:solidFill>
                <a:latin typeface="Helvetica Neue"/>
                <a:ea typeface="Hiragino Sans GB"/>
              </a:rPr>
              <a:t>权限、隐私、用途和保留符合要求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9808" y="3790187"/>
            <a:ext cx="3386328" cy="1659636"/>
          </a:xfrm>
          <a:prstGeom prst="roundRect">
            <a:avLst>
              <a:gd name="adj" fmla="val 8815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50976" y="3936491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8D391"/>
                </a:solidFill>
                <a:latin typeface="Helvetica Neue"/>
                <a:ea typeface="Hiragino Sans GB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0976" y="4229100"/>
            <a:ext cx="2983992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5F2E9"/>
                </a:solidFill>
                <a:latin typeface="Helvetica Neue"/>
                <a:ea typeface="Hiragino Sans GB"/>
              </a:rPr>
              <a:t>持续产生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0976" y="4668012"/>
            <a:ext cx="2983992" cy="653795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7B5BC"/>
                </a:solidFill>
                <a:latin typeface="Helvetica Neue"/>
                <a:ea typeface="Hiragino Sans GB"/>
              </a:rPr>
              <a:t>真实任务持续进入产品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37304" y="3790187"/>
            <a:ext cx="3386328" cy="1659636"/>
          </a:xfrm>
          <a:prstGeom prst="roundRect">
            <a:avLst>
              <a:gd name="adj" fmla="val 8815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538472" y="3936491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F6969"/>
                </a:solidFill>
                <a:latin typeface="Helvetica Neue"/>
                <a:ea typeface="Hiragino Sans GB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38472" y="4229100"/>
            <a:ext cx="2983992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5F2E9"/>
                </a:solidFill>
                <a:latin typeface="Helvetica Neue"/>
                <a:ea typeface="Hiragino Sans GB"/>
              </a:rPr>
              <a:t>进入改进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38472" y="4668012"/>
            <a:ext cx="2983992" cy="653795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7B5BC"/>
                </a:solidFill>
                <a:latin typeface="Helvetica Neue"/>
                <a:ea typeface="Hiragino Sans GB"/>
              </a:rPr>
              <a:t>反馈进入Bad Case、评测集与回归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5769864"/>
            <a:ext cx="10716768" cy="530352"/>
          </a:xfrm>
          <a:prstGeom prst="roundRect">
            <a:avLst>
              <a:gd name="adj" fmla="val 24137"/>
            </a:avLst>
          </a:prstGeom>
          <a:solidFill>
            <a:srgbClr val="133843"/>
          </a:solidFill>
          <a:ln w="6477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23544" y="5897879"/>
            <a:ext cx="109728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elvetica Neue"/>
                <a:ea typeface="Hiragino Sans GB"/>
              </a:rPr>
              <a:t>判断框架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11680" y="5870448"/>
            <a:ext cx="9079992" cy="29260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判断结论：壁垒来自持续获得任务反馈，并把它转化为产品改进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94944" y="228600"/>
            <a:ext cx="905256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第二部分 · 讨论 11/16 · 商业与建设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91088" y="228600"/>
            <a:ext cx="512064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34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65392"/>
            <a:ext cx="10808208" cy="12801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deckkit-motif-quiet"/>
          <p:cNvSpPr/>
          <p:nvPr/>
        </p:nvSpPr>
        <p:spPr>
          <a:xfrm>
            <a:off x="694944" y="6519672"/>
            <a:ext cx="6681437" cy="3291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12648"/>
            <a:ext cx="10716768" cy="62179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2E9"/>
                </a:solidFill>
                <a:latin typeface="Helvetica Neue"/>
                <a:ea typeface="Hiragino Sans GB"/>
              </a:rPr>
              <a:t>AI能力应该自研、采购还是组合建设？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52728"/>
            <a:ext cx="1325880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2" y="1371600"/>
            <a:ext cx="10661904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请选择最接近你判断的一项，再说明理由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28800"/>
            <a:ext cx="10561320" cy="640080"/>
          </a:xfrm>
          <a:prstGeom prst="roundRect">
            <a:avLst>
              <a:gd name="adj" fmla="val 20000"/>
            </a:avLst>
          </a:prstGeom>
          <a:solidFill>
            <a:srgbClr val="133843"/>
          </a:solidFill>
          <a:ln w="755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50976" y="1993392"/>
            <a:ext cx="932688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elvetica Neue"/>
                <a:ea typeface="Hiragino Sans GB"/>
              </a:rPr>
              <a:t>场景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19072" y="1929384"/>
            <a:ext cx="9107424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F2E9"/>
                </a:solidFill>
                <a:latin typeface="Helvetica Neue"/>
                <a:ea typeface="Hiragino Sans GB"/>
              </a:rPr>
              <a:t>市场已有成熟转写和会议摘要；企业有自己的项目权限、历史决策资料和审批流程。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2688336"/>
            <a:ext cx="3416808" cy="1188720"/>
          </a:xfrm>
          <a:prstGeom prst="roundRect">
            <a:avLst>
              <a:gd name="adj" fmla="val 12307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932688" y="2880360"/>
            <a:ext cx="438912" cy="438912"/>
          </a:xfrm>
          <a:prstGeom prst="roundRect">
            <a:avLst>
              <a:gd name="adj" fmla="val 29166"/>
            </a:avLst>
          </a:prstGeom>
          <a:solidFill>
            <a:srgbClr val="133843"/>
          </a:solidFill>
          <a:ln w="8096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32688" y="2880360"/>
            <a:ext cx="438912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6D6C2"/>
                </a:solidFill>
                <a:latin typeface="Helvetica Neue"/>
                <a:ea typeface="Hiragino Sans GB"/>
              </a:rPr>
              <a:t>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7904" y="2843784"/>
            <a:ext cx="2429256" cy="877824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全部自研，包括
模型和语音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2064" y="2688336"/>
            <a:ext cx="3416808" cy="1188720"/>
          </a:xfrm>
          <a:prstGeom prst="roundRect">
            <a:avLst>
              <a:gd name="adj" fmla="val 12307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4504944" y="2880360"/>
            <a:ext cx="438912" cy="438912"/>
          </a:xfrm>
          <a:prstGeom prst="roundRect">
            <a:avLst>
              <a:gd name="adj" fmla="val 29166"/>
            </a:avLst>
          </a:prstGeom>
          <a:solidFill>
            <a:srgbClr val="133843"/>
          </a:solidFill>
          <a:ln w="8096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04944" y="2880360"/>
            <a:ext cx="438912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6D6C2"/>
                </a:solidFill>
                <a:latin typeface="Helvetica Neue"/>
                <a:ea typeface="Hiragino Sans GB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90160" y="2843784"/>
            <a:ext cx="2429256" cy="877824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全部采购成熟会议产品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94320" y="2688336"/>
            <a:ext cx="3416808" cy="1188720"/>
          </a:xfrm>
          <a:prstGeom prst="roundRect">
            <a:avLst>
              <a:gd name="adj" fmla="val 12307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077199" y="2880360"/>
            <a:ext cx="438912" cy="438912"/>
          </a:xfrm>
          <a:prstGeom prst="roundRect">
            <a:avLst>
              <a:gd name="adj" fmla="val 29166"/>
            </a:avLst>
          </a:prstGeom>
          <a:solidFill>
            <a:srgbClr val="133843"/>
          </a:solidFill>
          <a:ln w="8096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077199" y="2880360"/>
            <a:ext cx="438912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6D6C2"/>
                </a:solidFill>
                <a:latin typeface="Helvetica Neue"/>
                <a:ea typeface="Hiragino Sans GB"/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62416" y="2843784"/>
            <a:ext cx="2429256" cy="877824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使用通用模型和转写服务，自建差异化流程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426464" y="4105656"/>
            <a:ext cx="4334256" cy="1188720"/>
          </a:xfrm>
          <a:prstGeom prst="roundRect">
            <a:avLst>
              <a:gd name="adj" fmla="val 12307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1609344" y="4297680"/>
            <a:ext cx="438912" cy="438912"/>
          </a:xfrm>
          <a:prstGeom prst="roundRect">
            <a:avLst>
              <a:gd name="adj" fmla="val 29166"/>
            </a:avLst>
          </a:prstGeom>
          <a:solidFill>
            <a:srgbClr val="133843"/>
          </a:solidFill>
          <a:ln w="8096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609344" y="4297680"/>
            <a:ext cx="438912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6D6C2"/>
                </a:solidFill>
                <a:latin typeface="Helvetica Neue"/>
                <a:ea typeface="Hiragino Sans GB"/>
              </a:rPr>
              <a:t>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4560" y="4261104"/>
            <a:ext cx="3346704" cy="877824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使用开源模型私有化，
自研全部系统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0" y="4105656"/>
            <a:ext cx="4334256" cy="1188720"/>
          </a:xfrm>
          <a:prstGeom prst="roundRect">
            <a:avLst>
              <a:gd name="adj" fmla="val 12307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6583680" y="4297680"/>
            <a:ext cx="438912" cy="438912"/>
          </a:xfrm>
          <a:prstGeom prst="roundRect">
            <a:avLst>
              <a:gd name="adj" fmla="val 29166"/>
            </a:avLst>
          </a:prstGeom>
          <a:solidFill>
            <a:srgbClr val="133843"/>
          </a:solidFill>
          <a:ln w="8096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583680" y="4297680"/>
            <a:ext cx="438912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6D6C2"/>
                </a:solidFill>
                <a:latin typeface="Helvetica Neue"/>
                <a:ea typeface="Hiragino Sans GB"/>
              </a:rPr>
              <a:t>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68896" y="4261104"/>
            <a:ext cx="3346704" cy="877824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根据安全、规模、差异化和团队能力综合判断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8096" y="5623560"/>
            <a:ext cx="10515600" cy="292608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7B5BC"/>
                </a:solidFill>
                <a:latin typeface="Helvetica Neue"/>
                <a:ea typeface="Hiragino Sans GB"/>
              </a:rPr>
              <a:t>先选择，再用“差异化 · 安全 · 规模成本 · 持续能力”检查自己的理由。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94944" y="228600"/>
            <a:ext cx="905256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第二部分 · 讨论解析 · 商业与建设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91088" y="228600"/>
            <a:ext cx="512064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35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65392"/>
            <a:ext cx="10808208" cy="12801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deckkit-motif-quiet"/>
          <p:cNvSpPr/>
          <p:nvPr/>
        </p:nvSpPr>
        <p:spPr>
          <a:xfrm>
            <a:off x="694944" y="6519672"/>
            <a:ext cx="6877950" cy="3291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12648"/>
            <a:ext cx="10716768" cy="62179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2E9"/>
                </a:solidFill>
                <a:latin typeface="Helvetica Neue"/>
                <a:ea typeface="Hiragino Sans GB"/>
              </a:rPr>
              <a:t>自研与采购的判断框架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52728"/>
            <a:ext cx="1325880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2" y="1371600"/>
            <a:ext cx="10661904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通用能力可以采购，业务标准和差异化流程必须掌握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911095"/>
            <a:ext cx="5180076" cy="1659636"/>
          </a:xfrm>
          <a:prstGeom prst="roundRect">
            <a:avLst>
              <a:gd name="adj" fmla="val 8815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50976" y="2057400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6D6C2"/>
                </a:solidFill>
                <a:latin typeface="Helvetica Neue"/>
                <a:ea typeface="Hiragino Sans GB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350008"/>
            <a:ext cx="477774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5F2E9"/>
                </a:solidFill>
                <a:latin typeface="Helvetica Neue"/>
                <a:ea typeface="Hiragino Sans GB"/>
              </a:rPr>
              <a:t>差异化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788920"/>
            <a:ext cx="4777740" cy="653796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7B5BC"/>
                </a:solidFill>
                <a:latin typeface="Helvetica Neue"/>
                <a:ea typeface="Hiragino Sans GB"/>
              </a:rPr>
              <a:t>这项能力是否直接决定产品竞争力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31052" y="1911095"/>
            <a:ext cx="5180076" cy="1659636"/>
          </a:xfrm>
          <a:prstGeom prst="roundRect">
            <a:avLst>
              <a:gd name="adj" fmla="val 8815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32220" y="2057400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7657"/>
                </a:solidFill>
                <a:latin typeface="Helvetica Neue"/>
                <a:ea typeface="Hiragino Sans GB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2220" y="2350008"/>
            <a:ext cx="477774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5F2E9"/>
                </a:solidFill>
                <a:latin typeface="Helvetica Neue"/>
                <a:ea typeface="Hiragino Sans GB"/>
              </a:rPr>
              <a:t>数据与安全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2220" y="2788920"/>
            <a:ext cx="4777740" cy="653796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7B5BC"/>
                </a:solidFill>
                <a:latin typeface="Helvetica Neue"/>
                <a:ea typeface="Hiragino Sans GB"/>
              </a:rPr>
              <a:t>能否传输、存储、部署和审计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3790187"/>
            <a:ext cx="5180076" cy="1659636"/>
          </a:xfrm>
          <a:prstGeom prst="roundRect">
            <a:avLst>
              <a:gd name="adj" fmla="val 8815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50976" y="3936491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0C565"/>
                </a:solidFill>
                <a:latin typeface="Helvetica Neue"/>
                <a:ea typeface="Hiragino Sans GB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" y="4229100"/>
            <a:ext cx="477774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5F2E9"/>
                </a:solidFill>
                <a:latin typeface="Helvetica Neue"/>
                <a:ea typeface="Hiragino Sans GB"/>
              </a:rPr>
              <a:t>规模与总成本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0976" y="4668012"/>
            <a:ext cx="4777740" cy="653795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7B5BC"/>
                </a:solidFill>
                <a:latin typeface="Helvetica Neue"/>
                <a:ea typeface="Hiragino Sans GB"/>
              </a:rPr>
              <a:t>采购、开发、维护和迁移的长期成本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31052" y="3790187"/>
            <a:ext cx="5180076" cy="1659636"/>
          </a:xfrm>
          <a:prstGeom prst="roundRect">
            <a:avLst>
              <a:gd name="adj" fmla="val 8815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332220" y="3936491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8D391"/>
                </a:solidFill>
                <a:latin typeface="Helvetica Neue"/>
                <a:ea typeface="Hiragino Sans GB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32220" y="4229100"/>
            <a:ext cx="477774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5F2E9"/>
                </a:solidFill>
                <a:latin typeface="Helvetica Neue"/>
                <a:ea typeface="Hiragino Sans GB"/>
              </a:rPr>
              <a:t>持续能力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32220" y="4668012"/>
            <a:ext cx="4777740" cy="653795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7B5BC"/>
                </a:solidFill>
                <a:latin typeface="Helvetica Neue"/>
                <a:ea typeface="Hiragino Sans GB"/>
              </a:rPr>
              <a:t>团队是否能长期建设、评测和维护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5769864"/>
            <a:ext cx="10716768" cy="530352"/>
          </a:xfrm>
          <a:prstGeom prst="roundRect">
            <a:avLst>
              <a:gd name="adj" fmla="val 24137"/>
            </a:avLst>
          </a:prstGeom>
          <a:solidFill>
            <a:srgbClr val="133843"/>
          </a:solidFill>
          <a:ln w="6477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23544" y="5897879"/>
            <a:ext cx="109728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elvetica Neue"/>
                <a:ea typeface="Hiragino Sans GB"/>
              </a:rPr>
              <a:t>判断框架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11680" y="5870448"/>
            <a:ext cx="9079992" cy="29260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判断结论：通用能力可以采购，业务标准和差异化流程必须掌握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94944" y="228600"/>
            <a:ext cx="905256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第二部分 · 讨论 12/16 · 职业与个人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91088" y="228600"/>
            <a:ext cx="512064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36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65392"/>
            <a:ext cx="10808208" cy="12801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deckkit-motif-quiet"/>
          <p:cNvSpPr/>
          <p:nvPr/>
        </p:nvSpPr>
        <p:spPr>
          <a:xfrm>
            <a:off x="694944" y="6519672"/>
            <a:ext cx="7074463" cy="3291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12648"/>
            <a:ext cx="10716768" cy="62179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2E9"/>
                </a:solidFill>
                <a:latin typeface="Helvetica Neue"/>
                <a:ea typeface="Hiragino Sans GB"/>
              </a:rPr>
              <a:t>AI生成PRD、原型和代码以后，产品经理还剩什么？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52728"/>
            <a:ext cx="1325880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2" y="1371600"/>
            <a:ext cx="10661904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请选择最接近你判断的一项，再说明理由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83664"/>
            <a:ext cx="3416808" cy="1188720"/>
          </a:xfrm>
          <a:prstGeom prst="roundRect">
            <a:avLst>
              <a:gd name="adj" fmla="val 12307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32688" y="2075688"/>
            <a:ext cx="438912" cy="438912"/>
          </a:xfrm>
          <a:prstGeom prst="roundRect">
            <a:avLst>
              <a:gd name="adj" fmla="val 29166"/>
            </a:avLst>
          </a:prstGeom>
          <a:solidFill>
            <a:srgbClr val="133843"/>
          </a:solidFill>
          <a:ln w="8096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32688" y="2075688"/>
            <a:ext cx="438912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6D6C2"/>
                </a:solidFill>
                <a:latin typeface="Helvetica Neue"/>
                <a:ea typeface="Hiragino Sans GB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7904" y="2039112"/>
            <a:ext cx="2429256" cy="877824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产品经理的价值会大幅下降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2064" y="1883664"/>
            <a:ext cx="3416808" cy="1188720"/>
          </a:xfrm>
          <a:prstGeom prst="roundRect">
            <a:avLst>
              <a:gd name="adj" fmla="val 12307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504944" y="2075688"/>
            <a:ext cx="438912" cy="438912"/>
          </a:xfrm>
          <a:prstGeom prst="roundRect">
            <a:avLst>
              <a:gd name="adj" fmla="val 29166"/>
            </a:avLst>
          </a:prstGeom>
          <a:solidFill>
            <a:srgbClr val="133843"/>
          </a:solidFill>
          <a:ln w="8096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04944" y="2075688"/>
            <a:ext cx="438912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6D6C2"/>
                </a:solidFill>
                <a:latin typeface="Helvetica Neue"/>
                <a:ea typeface="Hiragino Sans GB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90160" y="2039112"/>
            <a:ext cx="2429256" cy="877824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产品经理需要逐步转向开发工作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94320" y="1883664"/>
            <a:ext cx="3416808" cy="1188720"/>
          </a:xfrm>
          <a:prstGeom prst="roundRect">
            <a:avLst>
              <a:gd name="adj" fmla="val 12307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077199" y="2075688"/>
            <a:ext cx="438912" cy="438912"/>
          </a:xfrm>
          <a:prstGeom prst="roundRect">
            <a:avLst>
              <a:gd name="adj" fmla="val 29166"/>
            </a:avLst>
          </a:prstGeom>
          <a:solidFill>
            <a:srgbClr val="133843"/>
          </a:solidFill>
          <a:ln w="8096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077199" y="2075688"/>
            <a:ext cx="438912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6D6C2"/>
                </a:solidFill>
                <a:latin typeface="Helvetica Neue"/>
                <a:ea typeface="Hiragino Sans GB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62416" y="2039112"/>
            <a:ext cx="2429256" cy="877824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产品经理主要负责使用和管理AI工具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426464" y="3300984"/>
            <a:ext cx="4334256" cy="1188720"/>
          </a:xfrm>
          <a:prstGeom prst="roundRect">
            <a:avLst>
              <a:gd name="adj" fmla="val 12307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1609344" y="3493008"/>
            <a:ext cx="438912" cy="438912"/>
          </a:xfrm>
          <a:prstGeom prst="roundRect">
            <a:avLst>
              <a:gd name="adj" fmla="val 29166"/>
            </a:avLst>
          </a:prstGeom>
          <a:solidFill>
            <a:srgbClr val="133843"/>
          </a:solidFill>
          <a:ln w="8096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609344" y="3493008"/>
            <a:ext cx="438912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6D6C2"/>
                </a:solidFill>
                <a:latin typeface="Helvetica Neue"/>
                <a:ea typeface="Hiragino Sans GB"/>
              </a:rPr>
              <a:t>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94560" y="3456432"/>
            <a:ext cx="3346704" cy="877824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产出成本下降，问题判断、验证和责任价值上升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0" y="3300984"/>
            <a:ext cx="4334256" cy="1188720"/>
          </a:xfrm>
          <a:prstGeom prst="roundRect">
            <a:avLst>
              <a:gd name="adj" fmla="val 12307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6583680" y="3493008"/>
            <a:ext cx="438912" cy="438912"/>
          </a:xfrm>
          <a:prstGeom prst="roundRect">
            <a:avLst>
              <a:gd name="adj" fmla="val 29166"/>
            </a:avLst>
          </a:prstGeom>
          <a:solidFill>
            <a:srgbClr val="133843"/>
          </a:solidFill>
          <a:ln w="8096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583680" y="3493008"/>
            <a:ext cx="438912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6D6C2"/>
                </a:solidFill>
                <a:latin typeface="Helvetica Neue"/>
                <a:ea typeface="Hiragino Sans GB"/>
              </a:rPr>
              <a:t>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68896" y="3456432"/>
            <a:ext cx="3346704" cy="877824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取决于产品经理原来主要在做什么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94944" y="228600"/>
            <a:ext cx="905256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第二部分 · 讨论解析 · 职业与个人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91088" y="228600"/>
            <a:ext cx="512064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37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65392"/>
            <a:ext cx="10808208" cy="12801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deckkit-motif-quiet"/>
          <p:cNvSpPr/>
          <p:nvPr/>
        </p:nvSpPr>
        <p:spPr>
          <a:xfrm>
            <a:off x="694944" y="6519672"/>
            <a:ext cx="7270976" cy="3291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12648"/>
            <a:ext cx="10716768" cy="62179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2E9"/>
                </a:solidFill>
                <a:latin typeface="Helvetica Neue"/>
                <a:ea typeface="Hiragino Sans GB"/>
              </a:rPr>
              <a:t>AI时代产品经理的工作重心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52728"/>
            <a:ext cx="1325880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2" y="1371600"/>
            <a:ext cx="10661904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AI能生成候选材料，但不能替企业承担完整产品决策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911095"/>
            <a:ext cx="3386328" cy="3538728"/>
          </a:xfrm>
          <a:prstGeom prst="roundRect">
            <a:avLst>
              <a:gd name="adj" fmla="val 4320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50976" y="2057400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6D6C2"/>
                </a:solidFill>
                <a:latin typeface="Helvetica Neue"/>
                <a:ea typeface="Hiragino Sans GB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350008"/>
            <a:ext cx="2983992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5F2E9"/>
                </a:solidFill>
                <a:latin typeface="Helvetica Neue"/>
                <a:ea typeface="Hiragino Sans GB"/>
              </a:rPr>
              <a:t>被压缩的产出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788920"/>
            <a:ext cx="2983992" cy="2532888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7B5BC"/>
                </a:solidFill>
                <a:latin typeface="Helvetica Neue"/>
                <a:ea typeface="Hiragino Sans GB"/>
              </a:rPr>
              <a:t>搜集·归纳·文档·原型·简单代码·初稿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37304" y="1911095"/>
            <a:ext cx="3386328" cy="3538728"/>
          </a:xfrm>
          <a:prstGeom prst="roundRect">
            <a:avLst>
              <a:gd name="adj" fmla="val 4320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38472" y="2057400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7657"/>
                </a:solidFill>
                <a:latin typeface="Helvetica Neue"/>
                <a:ea typeface="Hiragino Sans GB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8472" y="2350008"/>
            <a:ext cx="2983992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5F2E9"/>
                </a:solidFill>
                <a:latin typeface="Helvetica Neue"/>
                <a:ea typeface="Hiragino Sans GB"/>
              </a:rPr>
              <a:t>仍需承担的判断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38472" y="2788920"/>
            <a:ext cx="2983992" cy="2532888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7B5BC"/>
                </a:solidFill>
                <a:latin typeface="Helvetica Neue"/>
                <a:ea typeface="Hiragino Sans GB"/>
              </a:rPr>
              <a:t>问题·证据·方案·结果·商业·责任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24800" y="1911095"/>
            <a:ext cx="3386328" cy="3538728"/>
          </a:xfrm>
          <a:prstGeom prst="roundRect">
            <a:avLst>
              <a:gd name="adj" fmla="val 4320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125968" y="2057400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0C565"/>
                </a:solidFill>
                <a:latin typeface="Helvetica Neue"/>
                <a:ea typeface="Hiragino Sans GB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5968" y="2350008"/>
            <a:ext cx="2983992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5F2E9"/>
                </a:solidFill>
                <a:latin typeface="Helvetica Neue"/>
                <a:ea typeface="Hiragino Sans GB"/>
              </a:rPr>
              <a:t>PRD的新价值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5968" y="2788920"/>
            <a:ext cx="2983992" cy="2532888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7B5BC"/>
                </a:solidFill>
                <a:latin typeface="Helvetica Neue"/>
                <a:ea typeface="Hiragino Sans GB"/>
              </a:rPr>
              <a:t>从‘会写’转向‘决策是否严谨与可执行’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769864"/>
            <a:ext cx="10716768" cy="530352"/>
          </a:xfrm>
          <a:prstGeom prst="roundRect">
            <a:avLst>
              <a:gd name="adj" fmla="val 24137"/>
            </a:avLst>
          </a:prstGeom>
          <a:solidFill>
            <a:srgbClr val="133843"/>
          </a:solidFill>
          <a:ln w="6477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23544" y="5897879"/>
            <a:ext cx="109728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elvetica Neue"/>
                <a:ea typeface="Hiragino Sans GB"/>
              </a:rPr>
              <a:t>判断框架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5870448"/>
            <a:ext cx="9079992" cy="29260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判断结论：AI能生成候选材料，但不能替企业承担完整产品决策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94944" y="228600"/>
            <a:ext cx="905256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第二部分 · 讨论 13/16 · 职业与个人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91088" y="228600"/>
            <a:ext cx="512064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38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65392"/>
            <a:ext cx="10808208" cy="12801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deckkit-motif-quiet"/>
          <p:cNvSpPr/>
          <p:nvPr/>
        </p:nvSpPr>
        <p:spPr>
          <a:xfrm>
            <a:off x="694944" y="6519672"/>
            <a:ext cx="7467489" cy="3291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12648"/>
            <a:ext cx="10716768" cy="62179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2E9"/>
                </a:solidFill>
                <a:latin typeface="Helvetica Neue"/>
                <a:ea typeface="Hiragino Sans GB"/>
              </a:rPr>
              <a:t>“AI产品经理”这个岗位名称会不会消失？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52728"/>
            <a:ext cx="1325880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2" y="1371600"/>
            <a:ext cx="10661904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请选择最接近你判断的一项，再说明理由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83664"/>
            <a:ext cx="5138928" cy="1353312"/>
          </a:xfrm>
          <a:prstGeom prst="roundRect">
            <a:avLst>
              <a:gd name="adj" fmla="val 10810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32688" y="2075688"/>
            <a:ext cx="438912" cy="438912"/>
          </a:xfrm>
          <a:prstGeom prst="roundRect">
            <a:avLst>
              <a:gd name="adj" fmla="val 29166"/>
            </a:avLst>
          </a:prstGeom>
          <a:solidFill>
            <a:srgbClr val="133843"/>
          </a:solidFill>
          <a:ln w="8096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32688" y="2075688"/>
            <a:ext cx="438912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6D6C2"/>
                </a:solidFill>
                <a:latin typeface="Helvetica Neue"/>
                <a:ea typeface="Hiragino Sans GB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7904" y="2039112"/>
            <a:ext cx="4151376" cy="1042415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会，未来所有产品经理都需要懂AI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6" y="1883664"/>
            <a:ext cx="5138928" cy="1353312"/>
          </a:xfrm>
          <a:prstGeom prst="roundRect">
            <a:avLst>
              <a:gd name="adj" fmla="val 10810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345936" y="2075688"/>
            <a:ext cx="438912" cy="438912"/>
          </a:xfrm>
          <a:prstGeom prst="roundRect">
            <a:avLst>
              <a:gd name="adj" fmla="val 29166"/>
            </a:avLst>
          </a:prstGeom>
          <a:solidFill>
            <a:srgbClr val="133843"/>
          </a:solidFill>
          <a:ln w="8096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45936" y="2075688"/>
            <a:ext cx="438912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6D6C2"/>
                </a:solidFill>
                <a:latin typeface="Helvetica Neue"/>
                <a:ea typeface="Hiragino Sans GB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31152" y="2039112"/>
            <a:ext cx="4151376" cy="1042415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不会，AI产品经理会长期成为独立岗位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3465576"/>
            <a:ext cx="5138928" cy="1353312"/>
          </a:xfrm>
          <a:prstGeom prst="roundRect">
            <a:avLst>
              <a:gd name="adj" fmla="val 10810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932688" y="3657600"/>
            <a:ext cx="438912" cy="438912"/>
          </a:xfrm>
          <a:prstGeom prst="roundRect">
            <a:avLst>
              <a:gd name="adj" fmla="val 29166"/>
            </a:avLst>
          </a:prstGeom>
          <a:solidFill>
            <a:srgbClr val="133843"/>
          </a:solidFill>
          <a:ln w="8096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32688" y="3657600"/>
            <a:ext cx="438912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6D6C2"/>
                </a:solidFill>
                <a:latin typeface="Helvetica Neue"/>
                <a:ea typeface="Hiragino Sans GB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7904" y="3621024"/>
            <a:ext cx="4151376" cy="1042415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基础AI能力会普及，但复杂AI岗位仍会专业化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6" y="3465576"/>
            <a:ext cx="5138928" cy="1353312"/>
          </a:xfrm>
          <a:prstGeom prst="roundRect">
            <a:avLst>
              <a:gd name="adj" fmla="val 10810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6345936" y="3657600"/>
            <a:ext cx="438912" cy="438912"/>
          </a:xfrm>
          <a:prstGeom prst="roundRect">
            <a:avLst>
              <a:gd name="adj" fmla="val 29166"/>
            </a:avLst>
          </a:prstGeom>
          <a:solidFill>
            <a:srgbClr val="133843"/>
          </a:solidFill>
          <a:ln w="8096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45936" y="3657600"/>
            <a:ext cx="438912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6D6C2"/>
                </a:solidFill>
                <a:latin typeface="Helvetica Neue"/>
                <a:ea typeface="Hiragino Sans GB"/>
              </a:rPr>
              <a:t>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31152" y="3621024"/>
            <a:ext cx="4151376" cy="1042415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取决于行业和产品类型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94944" y="228600"/>
            <a:ext cx="905256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第二部分 · 讨论解析 · 职业与个人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91088" y="228600"/>
            <a:ext cx="512064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39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65392"/>
            <a:ext cx="10808208" cy="12801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deckkit-motif-quiet"/>
          <p:cNvSpPr/>
          <p:nvPr/>
        </p:nvSpPr>
        <p:spPr>
          <a:xfrm>
            <a:off x="694944" y="6519672"/>
            <a:ext cx="7664002" cy="3291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12648"/>
            <a:ext cx="10716768" cy="62179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2E9"/>
                </a:solidFill>
                <a:latin typeface="Helvetica Neue"/>
                <a:ea typeface="Hiragino Sans GB"/>
              </a:rPr>
              <a:t>AI基础能力与专业岗位的分化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52728"/>
            <a:ext cx="1325880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749808" y="1911095"/>
            <a:ext cx="5180076" cy="3538728"/>
          </a:xfrm>
          <a:prstGeom prst="roundRect">
            <a:avLst>
              <a:gd name="adj" fmla="val 4134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50976" y="2057400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6D6C2"/>
                </a:solidFill>
                <a:latin typeface="Helvetica Neue"/>
                <a:ea typeface="Hiragino Sans GB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350008"/>
            <a:ext cx="477774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5F2E9"/>
                </a:solidFill>
                <a:latin typeface="Helvetica Neue"/>
                <a:ea typeface="Hiragino Sans GB"/>
              </a:rPr>
              <a:t>普遍基础能力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788920"/>
            <a:ext cx="4777740" cy="2532888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7B5BC"/>
                </a:solidFill>
                <a:latin typeface="Helvetica Neue"/>
                <a:ea typeface="Hiragino Sans GB"/>
              </a:rPr>
              <a:t>AI场景·人机边界·评测·Bad Case·成本·风险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31052" y="1911095"/>
            <a:ext cx="5180076" cy="3538728"/>
          </a:xfrm>
          <a:prstGeom prst="roundRect">
            <a:avLst>
              <a:gd name="adj" fmla="val 4134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32220" y="2057400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7657"/>
                </a:solidFill>
                <a:latin typeface="Helvetica Neue"/>
                <a:ea typeface="Hiragino Sans GB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2220" y="2350008"/>
            <a:ext cx="477774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5F2E9"/>
                </a:solidFill>
                <a:latin typeface="Helvetica Neue"/>
                <a:ea typeface="Hiragino Sans GB"/>
              </a:rPr>
              <a:t>仍需专业化的方向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2220" y="2788920"/>
            <a:ext cx="4777740" cy="2532888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7B5BC"/>
                </a:solidFill>
                <a:latin typeface="Helvetica Neue"/>
                <a:ea typeface="Hiragino Sans GB"/>
              </a:rPr>
              <a:t>模型与评测平台·Agent·数据知识·高风险行业·私有化·多模态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769864"/>
            <a:ext cx="10716768" cy="530352"/>
          </a:xfrm>
          <a:prstGeom prst="roundRect">
            <a:avLst>
              <a:gd name="adj" fmla="val 24137"/>
            </a:avLst>
          </a:prstGeom>
          <a:solidFill>
            <a:srgbClr val="133843"/>
          </a:solidFill>
          <a:ln w="6477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23544" y="5897879"/>
            <a:ext cx="109728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elvetica Neue"/>
                <a:ea typeface="Hiragino Sans GB"/>
              </a:rPr>
              <a:t>判断框架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5870448"/>
            <a:ext cx="9079992" cy="29260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判断结论：岗位名称可能变化，AI产品判断会成为更普遍的基础能力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94944" y="228600"/>
            <a:ext cx="905256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第二部分 · 讨论 14/16 · 职业与个人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91088" y="228600"/>
            <a:ext cx="512064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40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65392"/>
            <a:ext cx="10808208" cy="12801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deckkit-motif-quiet"/>
          <p:cNvSpPr/>
          <p:nvPr/>
        </p:nvSpPr>
        <p:spPr>
          <a:xfrm>
            <a:off x="694944" y="6519672"/>
            <a:ext cx="7860514" cy="3291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12648"/>
            <a:ext cx="10716768" cy="62179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2E9"/>
                </a:solidFill>
                <a:latin typeface="Helvetica Neue"/>
                <a:ea typeface="Hiragino Sans GB"/>
              </a:rPr>
              <a:t>通用AI产品经理和行业专家谁更有竞争力？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52728"/>
            <a:ext cx="1325880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2" y="1371600"/>
            <a:ext cx="10661904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请选择最接近你判断的一项，再说明理由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83664"/>
            <a:ext cx="5138928" cy="1353312"/>
          </a:xfrm>
          <a:prstGeom prst="roundRect">
            <a:avLst>
              <a:gd name="adj" fmla="val 10810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32688" y="2075688"/>
            <a:ext cx="438912" cy="438912"/>
          </a:xfrm>
          <a:prstGeom prst="roundRect">
            <a:avLst>
              <a:gd name="adj" fmla="val 29166"/>
            </a:avLst>
          </a:prstGeom>
          <a:solidFill>
            <a:srgbClr val="133843"/>
          </a:solidFill>
          <a:ln w="8096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32688" y="2075688"/>
            <a:ext cx="438912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6D6C2"/>
                </a:solidFill>
                <a:latin typeface="Helvetica Neue"/>
                <a:ea typeface="Hiragino Sans GB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7904" y="2039112"/>
            <a:ext cx="4151376" cy="1042415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通用AI产品经理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6" y="1883664"/>
            <a:ext cx="5138928" cy="1353312"/>
          </a:xfrm>
          <a:prstGeom prst="roundRect">
            <a:avLst>
              <a:gd name="adj" fmla="val 10810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345936" y="2075688"/>
            <a:ext cx="438912" cy="438912"/>
          </a:xfrm>
          <a:prstGeom prst="roundRect">
            <a:avLst>
              <a:gd name="adj" fmla="val 29166"/>
            </a:avLst>
          </a:prstGeom>
          <a:solidFill>
            <a:srgbClr val="133843"/>
          </a:solidFill>
          <a:ln w="8096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45936" y="2075688"/>
            <a:ext cx="438912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6D6C2"/>
                </a:solidFill>
                <a:latin typeface="Helvetica Neue"/>
                <a:ea typeface="Hiragino Sans GB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31152" y="2039112"/>
            <a:ext cx="4151376" cy="1042415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行业专家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3465576"/>
            <a:ext cx="5138928" cy="1353312"/>
          </a:xfrm>
          <a:prstGeom prst="roundRect">
            <a:avLst>
              <a:gd name="adj" fmla="val 10810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932688" y="3657600"/>
            <a:ext cx="438912" cy="438912"/>
          </a:xfrm>
          <a:prstGeom prst="roundRect">
            <a:avLst>
              <a:gd name="adj" fmla="val 29166"/>
            </a:avLst>
          </a:prstGeom>
          <a:solidFill>
            <a:srgbClr val="133843"/>
          </a:solidFill>
          <a:ln w="8096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32688" y="3657600"/>
            <a:ext cx="438912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6D6C2"/>
                </a:solidFill>
                <a:latin typeface="Helvetica Neue"/>
                <a:ea typeface="Hiragino Sans GB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7904" y="3621024"/>
            <a:ext cx="4151376" cy="1042415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懂行业并补齐AI产品能力的人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6" y="3465576"/>
            <a:ext cx="5138928" cy="1353312"/>
          </a:xfrm>
          <a:prstGeom prst="roundRect">
            <a:avLst>
              <a:gd name="adj" fmla="val 10810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6345936" y="3657600"/>
            <a:ext cx="438912" cy="438912"/>
          </a:xfrm>
          <a:prstGeom prst="roundRect">
            <a:avLst>
              <a:gd name="adj" fmla="val 29166"/>
            </a:avLst>
          </a:prstGeom>
          <a:solidFill>
            <a:srgbClr val="133843"/>
          </a:solidFill>
          <a:ln w="8096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45936" y="3657600"/>
            <a:ext cx="438912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6D6C2"/>
                </a:solidFill>
                <a:latin typeface="Helvetica Neue"/>
                <a:ea typeface="Hiragino Sans GB"/>
              </a:rPr>
              <a:t>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31152" y="3621024"/>
            <a:ext cx="4151376" cy="1042415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懂AI技术再进入具体行业的人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94944" y="228600"/>
            <a:ext cx="905256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第二部分 · 讨论解析 · 职业与个人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91088" y="228600"/>
            <a:ext cx="512064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41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65392"/>
            <a:ext cx="10808208" cy="12801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deckkit-motif-quiet"/>
          <p:cNvSpPr/>
          <p:nvPr/>
        </p:nvSpPr>
        <p:spPr>
          <a:xfrm>
            <a:off x="694944" y="6519672"/>
            <a:ext cx="8057027" cy="3291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12648"/>
            <a:ext cx="10716768" cy="62179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2E9"/>
                </a:solidFill>
                <a:latin typeface="Helvetica Neue"/>
                <a:ea typeface="Hiragino Sans GB"/>
              </a:rPr>
              <a:t>行业资产与AI产品能力的组合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52728"/>
            <a:ext cx="1325880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2" y="1371600"/>
            <a:ext cx="10661904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更现实的竞争力来自行业资产、产品判断和AI理解的组合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911095"/>
            <a:ext cx="3386328" cy="3538728"/>
          </a:xfrm>
          <a:prstGeom prst="roundRect">
            <a:avLst>
              <a:gd name="adj" fmla="val 4320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50976" y="2057400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6D6C2"/>
                </a:solidFill>
                <a:latin typeface="Helvetica Neue"/>
                <a:ea typeface="Hiragino Sans GB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350008"/>
            <a:ext cx="2983992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5F2E9"/>
                </a:solidFill>
                <a:latin typeface="Helvetica Neue"/>
                <a:ea typeface="Hiragino Sans GB"/>
              </a:rPr>
              <a:t>行业与业务资产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788920"/>
            <a:ext cx="2983992" cy="2532888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7B5BC"/>
                </a:solidFill>
                <a:latin typeface="Helvetica Neue"/>
                <a:ea typeface="Hiragino Sans GB"/>
              </a:rPr>
              <a:t>用户·流程·风险·数据·人脉·项目机会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37304" y="1911095"/>
            <a:ext cx="3386328" cy="3538728"/>
          </a:xfrm>
          <a:prstGeom prst="roundRect">
            <a:avLst>
              <a:gd name="adj" fmla="val 4320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38472" y="2057400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7657"/>
                </a:solidFill>
                <a:latin typeface="Helvetica Neue"/>
                <a:ea typeface="Hiragino Sans GB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8472" y="2350008"/>
            <a:ext cx="2983992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5F2E9"/>
                </a:solidFill>
                <a:latin typeface="Helvetica Neue"/>
                <a:ea typeface="Hiragino Sans GB"/>
              </a:rPr>
              <a:t>产品判断能力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38472" y="2788920"/>
            <a:ext cx="2983992" cy="2532888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7B5BC"/>
                </a:solidFill>
                <a:latin typeface="Helvetica Neue"/>
                <a:ea typeface="Hiragino Sans GB"/>
              </a:rPr>
              <a:t>问题·证据·方案·评测·价值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24800" y="1911095"/>
            <a:ext cx="3386328" cy="3538728"/>
          </a:xfrm>
          <a:prstGeom prst="roundRect">
            <a:avLst>
              <a:gd name="adj" fmla="val 4320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125968" y="2057400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0C565"/>
                </a:solidFill>
                <a:latin typeface="Helvetica Neue"/>
                <a:ea typeface="Hiragino Sans GB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5968" y="2350008"/>
            <a:ext cx="2983992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5F2E9"/>
                </a:solidFill>
                <a:latin typeface="Helvetica Neue"/>
                <a:ea typeface="Hiragino Sans GB"/>
              </a:rPr>
              <a:t>AI能力理解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5968" y="2788920"/>
            <a:ext cx="2983992" cy="2532888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7B5BC"/>
                </a:solidFill>
                <a:latin typeface="Helvetica Neue"/>
                <a:ea typeface="Hiragino Sans GB"/>
              </a:rPr>
              <a:t>Prompt·Workflow·RAG·Agent·模型边界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769864"/>
            <a:ext cx="10716768" cy="530352"/>
          </a:xfrm>
          <a:prstGeom prst="roundRect">
            <a:avLst>
              <a:gd name="adj" fmla="val 24137"/>
            </a:avLst>
          </a:prstGeom>
          <a:solidFill>
            <a:srgbClr val="133843"/>
          </a:solidFill>
          <a:ln w="6477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23544" y="5897879"/>
            <a:ext cx="109728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elvetica Neue"/>
                <a:ea typeface="Hiragino Sans GB"/>
              </a:rPr>
              <a:t>判断框架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5870448"/>
            <a:ext cx="9079992" cy="29260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判断结论：更现实的竞争力来自行业资产、产品判断和AI理解的组合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94944" y="228600"/>
            <a:ext cx="905256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第二部分 · 讨论 15/16 · 职业与个人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91088" y="228600"/>
            <a:ext cx="512064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42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65392"/>
            <a:ext cx="10808208" cy="12801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deckkit-motif-quiet"/>
          <p:cNvSpPr/>
          <p:nvPr/>
        </p:nvSpPr>
        <p:spPr>
          <a:xfrm>
            <a:off x="694944" y="6519672"/>
            <a:ext cx="8253540" cy="3291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12648"/>
            <a:ext cx="10716768" cy="62179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2E9"/>
                </a:solidFill>
                <a:latin typeface="Helvetica Neue"/>
                <a:ea typeface="Hiragino Sans GB"/>
              </a:rPr>
              <a:t>AI时代还需要初级产品经理吗？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52728"/>
            <a:ext cx="1325880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2" y="1371600"/>
            <a:ext cx="10661904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请选择最接近你判断的一项，再说明理由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83664"/>
            <a:ext cx="5138928" cy="1353312"/>
          </a:xfrm>
          <a:prstGeom prst="roundRect">
            <a:avLst>
              <a:gd name="adj" fmla="val 10810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32688" y="2075688"/>
            <a:ext cx="438912" cy="438912"/>
          </a:xfrm>
          <a:prstGeom prst="roundRect">
            <a:avLst>
              <a:gd name="adj" fmla="val 29166"/>
            </a:avLst>
          </a:prstGeom>
          <a:solidFill>
            <a:srgbClr val="133843"/>
          </a:solidFill>
          <a:ln w="8096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32688" y="2075688"/>
            <a:ext cx="438912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6D6C2"/>
                </a:solidFill>
                <a:latin typeface="Helvetica Neue"/>
                <a:ea typeface="Hiragino Sans GB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7904" y="2039112"/>
            <a:ext cx="4151376" cy="1042415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不需要，基础工作都能被AI完成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6" y="1883664"/>
            <a:ext cx="5138928" cy="1353312"/>
          </a:xfrm>
          <a:prstGeom prst="roundRect">
            <a:avLst>
              <a:gd name="adj" fmla="val 10810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345936" y="2075688"/>
            <a:ext cx="438912" cy="438912"/>
          </a:xfrm>
          <a:prstGeom prst="roundRect">
            <a:avLst>
              <a:gd name="adj" fmla="val 29166"/>
            </a:avLst>
          </a:prstGeom>
          <a:solidFill>
            <a:srgbClr val="133843"/>
          </a:solidFill>
          <a:ln w="8096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45936" y="2075688"/>
            <a:ext cx="438912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6D6C2"/>
                </a:solidFill>
                <a:latin typeface="Helvetica Neue"/>
                <a:ea typeface="Hiragino Sans GB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31152" y="2039112"/>
            <a:ext cx="4151376" cy="1042415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需要，但初级岗位要求会提高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3465576"/>
            <a:ext cx="5138928" cy="1353312"/>
          </a:xfrm>
          <a:prstGeom prst="roundRect">
            <a:avLst>
              <a:gd name="adj" fmla="val 10810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932688" y="3657600"/>
            <a:ext cx="438912" cy="438912"/>
          </a:xfrm>
          <a:prstGeom prst="roundRect">
            <a:avLst>
              <a:gd name="adj" fmla="val 29166"/>
            </a:avLst>
          </a:prstGeom>
          <a:solidFill>
            <a:srgbClr val="133843"/>
          </a:solidFill>
          <a:ln w="8096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32688" y="3657600"/>
            <a:ext cx="438912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6D6C2"/>
                </a:solidFill>
                <a:latin typeface="Helvetica Neue"/>
                <a:ea typeface="Hiragino Sans GB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7904" y="3621024"/>
            <a:ext cx="4151376" cy="1042415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需要，组织仍然需要培养人才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6" y="3465576"/>
            <a:ext cx="5138928" cy="1353312"/>
          </a:xfrm>
          <a:prstGeom prst="roundRect">
            <a:avLst>
              <a:gd name="adj" fmla="val 10810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6345936" y="3657600"/>
            <a:ext cx="438912" cy="438912"/>
          </a:xfrm>
          <a:prstGeom prst="roundRect">
            <a:avLst>
              <a:gd name="adj" fmla="val 29166"/>
            </a:avLst>
          </a:prstGeom>
          <a:solidFill>
            <a:srgbClr val="133843"/>
          </a:solidFill>
          <a:ln w="8096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45936" y="3657600"/>
            <a:ext cx="438912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6D6C2"/>
                </a:solidFill>
                <a:latin typeface="Helvetica Neue"/>
                <a:ea typeface="Hiragino Sans GB"/>
              </a:rPr>
              <a:t>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31152" y="3621024"/>
            <a:ext cx="4151376" cy="1042415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初级岗位可能减少，但不会完全消失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94944" y="228600"/>
            <a:ext cx="905256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第二部分 · 讨论解析 · 职业与个人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91088" y="228600"/>
            <a:ext cx="512064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43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65392"/>
            <a:ext cx="10808208" cy="12801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deckkit-motif-quiet"/>
          <p:cNvSpPr/>
          <p:nvPr/>
        </p:nvSpPr>
        <p:spPr>
          <a:xfrm>
            <a:off x="694944" y="6519672"/>
            <a:ext cx="8450053" cy="3291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12648"/>
            <a:ext cx="10716768" cy="62179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2E9"/>
                </a:solidFill>
                <a:latin typeface="Helvetica Neue"/>
                <a:ea typeface="Hiragino Sans GB"/>
              </a:rPr>
              <a:t>初级产品经理的新能力门槛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52728"/>
            <a:ext cx="1325880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2" y="1371600"/>
            <a:ext cx="10661904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初级岗位不会简单消失，但只依赖基础执行的岗位可能减少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911095"/>
            <a:ext cx="5180076" cy="3538728"/>
          </a:xfrm>
          <a:prstGeom prst="roundRect">
            <a:avLst>
              <a:gd name="adj" fmla="val 4134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50976" y="2057400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6D6C2"/>
                </a:solidFill>
                <a:latin typeface="Helvetica Neue"/>
                <a:ea typeface="Hiragino Sans GB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350008"/>
            <a:ext cx="477774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5F2E9"/>
                </a:solidFill>
                <a:latin typeface="Helvetica Neue"/>
                <a:ea typeface="Hiragino Sans GB"/>
              </a:rPr>
              <a:t>更容易被AI辅助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788920"/>
            <a:ext cx="4777740" cy="2532888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7B5BC"/>
                </a:solidFill>
                <a:latin typeface="Helvetica Neue"/>
                <a:ea typeface="Hiragino Sans GB"/>
              </a:rPr>
              <a:t>信息整理·竞品·基础需求·简单原型·纪要·汇报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31052" y="1911095"/>
            <a:ext cx="5180076" cy="3538728"/>
          </a:xfrm>
          <a:prstGeom prst="roundRect">
            <a:avLst>
              <a:gd name="adj" fmla="val 4134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32220" y="2057400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7657"/>
                </a:solidFill>
                <a:latin typeface="Helvetica Neue"/>
                <a:ea typeface="Hiragino Sans GB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2220" y="2350008"/>
            <a:ext cx="477774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5F2E9"/>
                </a:solidFill>
                <a:latin typeface="Helvetica Neue"/>
                <a:ea typeface="Hiragino Sans GB"/>
              </a:rPr>
              <a:t>更早需要证明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2220" y="2788920"/>
            <a:ext cx="4777740" cy="2532888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7B5BC"/>
                </a:solidFill>
                <a:latin typeface="Helvetica Neue"/>
                <a:ea typeface="Hiragino Sans GB"/>
              </a:rPr>
              <a:t>具体问题·AI判断·结果检查·评测·Demo·Bad Case·小闭环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769864"/>
            <a:ext cx="10716768" cy="530352"/>
          </a:xfrm>
          <a:prstGeom prst="roundRect">
            <a:avLst>
              <a:gd name="adj" fmla="val 24137"/>
            </a:avLst>
          </a:prstGeom>
          <a:solidFill>
            <a:srgbClr val="133843"/>
          </a:solidFill>
          <a:ln w="6477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23544" y="5897879"/>
            <a:ext cx="109728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elvetica Neue"/>
                <a:ea typeface="Hiragino Sans GB"/>
              </a:rPr>
              <a:t>判断框架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5870448"/>
            <a:ext cx="9079992" cy="29260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判断结论：初级岗位不会简单消失，但只依赖基础执行的岗位可能减少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94944" y="228600"/>
            <a:ext cx="905256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第二部分 · 讨论 16/16 · 职业与个人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91088" y="228600"/>
            <a:ext cx="512064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44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65392"/>
            <a:ext cx="10808208" cy="12801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deckkit-motif-quiet"/>
          <p:cNvSpPr/>
          <p:nvPr/>
        </p:nvSpPr>
        <p:spPr>
          <a:xfrm>
            <a:off x="694944" y="6519672"/>
            <a:ext cx="8646566" cy="3291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12648"/>
            <a:ext cx="10716768" cy="62179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2E9"/>
                </a:solidFill>
                <a:latin typeface="Helvetica Neue"/>
                <a:ea typeface="Hiragino Sans GB"/>
              </a:rPr>
              <a:t>未来会不会出现“一人产品团队”？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52728"/>
            <a:ext cx="1325880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2" y="1371600"/>
            <a:ext cx="10661904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请选择最接近你判断的一项，再说明理由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83664"/>
            <a:ext cx="5138928" cy="1353312"/>
          </a:xfrm>
          <a:prstGeom prst="roundRect">
            <a:avLst>
              <a:gd name="adj" fmla="val 10810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32688" y="2075688"/>
            <a:ext cx="438912" cy="438912"/>
          </a:xfrm>
          <a:prstGeom prst="roundRect">
            <a:avLst>
              <a:gd name="adj" fmla="val 29166"/>
            </a:avLst>
          </a:prstGeom>
          <a:solidFill>
            <a:srgbClr val="133843"/>
          </a:solidFill>
          <a:ln w="8096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32688" y="2075688"/>
            <a:ext cx="438912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6D6C2"/>
                </a:solidFill>
                <a:latin typeface="Helvetica Neue"/>
                <a:ea typeface="Hiragino Sans GB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7904" y="2039112"/>
            <a:ext cx="4151376" cy="1042415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会，一个人可以完成产品、设计、开发和运营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6" y="1883664"/>
            <a:ext cx="5138928" cy="1353312"/>
          </a:xfrm>
          <a:prstGeom prst="roundRect">
            <a:avLst>
              <a:gd name="adj" fmla="val 10810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345936" y="2075688"/>
            <a:ext cx="438912" cy="438912"/>
          </a:xfrm>
          <a:prstGeom prst="roundRect">
            <a:avLst>
              <a:gd name="adj" fmla="val 29166"/>
            </a:avLst>
          </a:prstGeom>
          <a:solidFill>
            <a:srgbClr val="133843"/>
          </a:solidFill>
          <a:ln w="8096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45936" y="2075688"/>
            <a:ext cx="438912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6D6C2"/>
                </a:solidFill>
                <a:latin typeface="Helvetica Neue"/>
                <a:ea typeface="Hiragino Sans GB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31152" y="2039112"/>
            <a:ext cx="4151376" cy="1042415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不会，产品永远需要完整团队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3465576"/>
            <a:ext cx="5138928" cy="1353312"/>
          </a:xfrm>
          <a:prstGeom prst="roundRect">
            <a:avLst>
              <a:gd name="adj" fmla="val 10810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932688" y="3657600"/>
            <a:ext cx="438912" cy="438912"/>
          </a:xfrm>
          <a:prstGeom prst="roundRect">
            <a:avLst>
              <a:gd name="adj" fmla="val 29166"/>
            </a:avLst>
          </a:prstGeom>
          <a:solidFill>
            <a:srgbClr val="133843"/>
          </a:solidFill>
          <a:ln w="8096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32688" y="3657600"/>
            <a:ext cx="438912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6D6C2"/>
                </a:solidFill>
                <a:latin typeface="Helvetica Neue"/>
                <a:ea typeface="Hiragino Sans GB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7904" y="3621024"/>
            <a:ext cx="4151376" cy="1042415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一个人完成产品验证越来越可行，但规模化仍需团队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6" y="3465576"/>
            <a:ext cx="5138928" cy="1353312"/>
          </a:xfrm>
          <a:prstGeom prst="roundRect">
            <a:avLst>
              <a:gd name="adj" fmla="val 10810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6345936" y="3657600"/>
            <a:ext cx="438912" cy="438912"/>
          </a:xfrm>
          <a:prstGeom prst="roundRect">
            <a:avLst>
              <a:gd name="adj" fmla="val 29166"/>
            </a:avLst>
          </a:prstGeom>
          <a:solidFill>
            <a:srgbClr val="133843"/>
          </a:solidFill>
          <a:ln w="8096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45936" y="3657600"/>
            <a:ext cx="438912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6D6C2"/>
                </a:solidFill>
                <a:latin typeface="Helvetica Neue"/>
                <a:ea typeface="Hiragino Sans GB"/>
              </a:rPr>
              <a:t>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31152" y="3621024"/>
            <a:ext cx="4151376" cy="1042415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只适用于独立开发者和小工具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94944" y="228600"/>
            <a:ext cx="905256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第二部分 · 讨论解析 · 职业与个人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91088" y="228600"/>
            <a:ext cx="512064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45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65392"/>
            <a:ext cx="10808208" cy="12801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deckkit-motif-quiet"/>
          <p:cNvSpPr/>
          <p:nvPr/>
        </p:nvSpPr>
        <p:spPr>
          <a:xfrm>
            <a:off x="694944" y="6519672"/>
            <a:ext cx="8843079" cy="3291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12648"/>
            <a:ext cx="10716768" cy="62179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2E9"/>
                </a:solidFill>
                <a:latin typeface="Helvetica Neue"/>
                <a:ea typeface="Hiragino Sans GB"/>
              </a:rPr>
              <a:t>个人验证与规模化交付的边界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52728"/>
            <a:ext cx="1325880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2" y="1371600"/>
            <a:ext cx="10661904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一个人更可能成为验证团队，而非完整的规模化交付团队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911095"/>
            <a:ext cx="5180076" cy="3538728"/>
          </a:xfrm>
          <a:prstGeom prst="roundRect">
            <a:avLst>
              <a:gd name="adj" fmla="val 4134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50976" y="2057400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6D6C2"/>
                </a:solidFill>
                <a:latin typeface="Helvetica Neue"/>
                <a:ea typeface="Hiragino Sans GB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350008"/>
            <a:ext cx="477774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5F2E9"/>
                </a:solidFill>
                <a:latin typeface="Helvetica Neue"/>
                <a:ea typeface="Hiragino Sans GB"/>
              </a:rPr>
              <a:t>AI让个人更容易完成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788920"/>
            <a:ext cx="4777740" cy="2532888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7B5BC"/>
                </a:solidFill>
                <a:latin typeface="Helvetica Neue"/>
                <a:ea typeface="Hiragino Sans GB"/>
              </a:rPr>
              <a:t>调研·PRD·原型·页面·简单开发·测试·分析·演示部署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31052" y="1911095"/>
            <a:ext cx="5180076" cy="3538728"/>
          </a:xfrm>
          <a:prstGeom prst="roundRect">
            <a:avLst>
              <a:gd name="adj" fmla="val 4134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32220" y="2057400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7657"/>
                </a:solidFill>
                <a:latin typeface="Helvetica Neue"/>
                <a:ea typeface="Hiragino Sans GB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2220" y="2350008"/>
            <a:ext cx="477774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5F2E9"/>
                </a:solidFill>
                <a:latin typeface="Helvetica Neue"/>
                <a:ea typeface="Hiragino Sans GB"/>
              </a:rPr>
              <a:t>规模化仍需专业团队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2220" y="2788920"/>
            <a:ext cx="4777740" cy="2532888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7B5BC"/>
                </a:solidFill>
                <a:latin typeface="Helvetica Neue"/>
                <a:ea typeface="Hiragino Sans GB"/>
              </a:rPr>
              <a:t>架构·性能·安全·权限·法务·运维·销售·支持·持续运营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769864"/>
            <a:ext cx="10716768" cy="530352"/>
          </a:xfrm>
          <a:prstGeom prst="roundRect">
            <a:avLst>
              <a:gd name="adj" fmla="val 24137"/>
            </a:avLst>
          </a:prstGeom>
          <a:solidFill>
            <a:srgbClr val="133843"/>
          </a:solidFill>
          <a:ln w="6477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23544" y="5897879"/>
            <a:ext cx="109728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elvetica Neue"/>
                <a:ea typeface="Hiragino Sans GB"/>
              </a:rPr>
              <a:t>判断框架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5870448"/>
            <a:ext cx="9079992" cy="29260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判断结论：一个人更可能成为验证团队，而非完整的规模化交付团队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94944" y="228600"/>
            <a:ext cx="905256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第三部分 · 章节导航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91088" y="228600"/>
            <a:ext cx="512064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46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65392"/>
            <a:ext cx="10808208" cy="12801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deckkit-motif-quiet"/>
          <p:cNvSpPr/>
          <p:nvPr/>
        </p:nvSpPr>
        <p:spPr>
          <a:xfrm>
            <a:off x="694944" y="6519672"/>
            <a:ext cx="9039592" cy="3291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04672" y="1207008"/>
            <a:ext cx="32918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6D6C2"/>
                </a:solidFill>
                <a:latin typeface="Helvetica Neue"/>
                <a:ea typeface="Hiragino Sans GB"/>
              </a:rPr>
              <a:t>第三部分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865376"/>
            <a:ext cx="9966960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 i="0">
                <a:solidFill>
                  <a:srgbClr val="F5F2E9"/>
                </a:solidFill>
                <a:latin typeface="Helvetica Neue"/>
                <a:ea typeface="Hiragino Sans GB"/>
              </a:rPr>
              <a:t>怎样把能力变成真正的项目？</a:t>
            </a:r>
          </a:p>
        </p:txBody>
      </p:sp>
      <p:sp>
        <p:nvSpPr>
          <p:cNvPr id="8" name="deckkit-motif-quiet"/>
          <p:cNvSpPr/>
          <p:nvPr/>
        </p:nvSpPr>
        <p:spPr>
          <a:xfrm>
            <a:off x="804672" y="2743200"/>
            <a:ext cx="2331720" cy="50292"/>
          </a:xfrm>
          <a:prstGeom prst="rect">
            <a:avLst/>
          </a:prstGeom>
          <a:solidFill>
            <a:srgbClr val="FF76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3182112"/>
            <a:ext cx="9875520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dirty="0" err="1">
                <a:solidFill>
                  <a:srgbClr val="A7B5BC"/>
                </a:solidFill>
                <a:latin typeface="Helvetica Neue"/>
                <a:ea typeface="Hiragino Sans GB"/>
              </a:rPr>
              <a:t>第二阶段不再围绕课程章节推进，而是围绕一个项目持续评审和迭代</a:t>
            </a:r>
            <a:r>
              <a:rPr sz="2000" b="1" i="0" dirty="0">
                <a:solidFill>
                  <a:srgbClr val="A7B5BC"/>
                </a:solidFill>
                <a:latin typeface="Helvetica Neue"/>
                <a:ea typeface="Hiragino Sans GB"/>
              </a:rPr>
              <a:t>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251960"/>
            <a:ext cx="1444752" cy="530352"/>
          </a:xfrm>
          <a:prstGeom prst="roundRect">
            <a:avLst>
              <a:gd name="adj" fmla="val 27586"/>
            </a:avLst>
          </a:prstGeom>
          <a:solidFill>
            <a:srgbClr val="133843"/>
          </a:solidFill>
          <a:ln w="10795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4251960"/>
            <a:ext cx="1444752" cy="53035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6D6C2"/>
                </a:solidFill>
                <a:latin typeface="Helvetica Neue"/>
                <a:ea typeface="Hiragino Sans GB"/>
              </a:rPr>
              <a:t>完整项目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68880" y="4251960"/>
            <a:ext cx="1444752" cy="530352"/>
          </a:xfrm>
          <a:prstGeom prst="roundRect">
            <a:avLst>
              <a:gd name="adj" fmla="val 27586"/>
            </a:avLst>
          </a:prstGeom>
          <a:solidFill>
            <a:srgbClr val="133843"/>
          </a:solidFill>
          <a:ln w="10795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468880" y="4251960"/>
            <a:ext cx="1444752" cy="53035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7657"/>
                </a:solidFill>
                <a:latin typeface="Helvetica Neue"/>
                <a:ea typeface="Hiragino Sans GB"/>
              </a:rPr>
              <a:t>版本迭代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0" y="4251960"/>
            <a:ext cx="1444752" cy="530352"/>
          </a:xfrm>
          <a:prstGeom prst="roundRect">
            <a:avLst>
              <a:gd name="adj" fmla="val 27586"/>
            </a:avLst>
          </a:prstGeom>
          <a:solidFill>
            <a:srgbClr val="133843"/>
          </a:solidFill>
          <a:ln w="10795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114800" y="4251960"/>
            <a:ext cx="1444752" cy="53035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0C565"/>
                </a:solidFill>
                <a:latin typeface="Helvetica Neue"/>
                <a:ea typeface="Hiragino Sans GB"/>
              </a:rPr>
              <a:t>评审反馈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60720" y="4251960"/>
            <a:ext cx="1444752" cy="530352"/>
          </a:xfrm>
          <a:prstGeom prst="roundRect">
            <a:avLst>
              <a:gd name="adj" fmla="val 27586"/>
            </a:avLst>
          </a:prstGeom>
          <a:solidFill>
            <a:srgbClr val="133843"/>
          </a:solidFill>
          <a:ln w="10795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760720" y="4251960"/>
            <a:ext cx="1444752" cy="53035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6D6C2"/>
                </a:solidFill>
                <a:latin typeface="Helvetica Neue"/>
                <a:ea typeface="Hiragino Sans GB"/>
              </a:rPr>
              <a:t>职业证据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94944" y="228600"/>
            <a:ext cx="905256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第三部分 · 项目班定位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91088" y="228600"/>
            <a:ext cx="512064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47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65392"/>
            <a:ext cx="10808208" cy="12801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deckkit-motif-quiet"/>
          <p:cNvSpPr/>
          <p:nvPr/>
        </p:nvSpPr>
        <p:spPr>
          <a:xfrm>
            <a:off x="694944" y="6519672"/>
            <a:ext cx="9236105" cy="3291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12648"/>
            <a:ext cx="10716768" cy="62179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2E9"/>
                </a:solidFill>
                <a:latin typeface="Helvetica Neue"/>
                <a:ea typeface="Hiragino Sans GB"/>
              </a:rPr>
              <a:t>下一阶段，你最希望解决哪一个问题？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52728"/>
            <a:ext cx="1325880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2" y="1371600"/>
            <a:ext cx="10661904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请选择目前最真实的缺口，再看项目班怎样回应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74519"/>
            <a:ext cx="3416808" cy="1005840"/>
          </a:xfrm>
          <a:prstGeom prst="roundRect">
            <a:avLst>
              <a:gd name="adj" fmla="val 14545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32688" y="2066543"/>
            <a:ext cx="438912" cy="438912"/>
          </a:xfrm>
          <a:prstGeom prst="roundRect">
            <a:avLst>
              <a:gd name="adj" fmla="val 29166"/>
            </a:avLst>
          </a:prstGeom>
          <a:solidFill>
            <a:srgbClr val="133843"/>
          </a:solidFill>
          <a:ln w="8096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32688" y="2066543"/>
            <a:ext cx="438912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6D6C2"/>
                </a:solidFill>
                <a:latin typeface="Helvetica Neue"/>
                <a:ea typeface="Hiragino Sans GB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7904" y="2029967"/>
            <a:ext cx="2429256" cy="694944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还想理解更多概念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2064" y="1874519"/>
            <a:ext cx="3416808" cy="1005840"/>
          </a:xfrm>
          <a:prstGeom prst="roundRect">
            <a:avLst>
              <a:gd name="adj" fmla="val 14545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504944" y="2066543"/>
            <a:ext cx="438912" cy="438912"/>
          </a:xfrm>
          <a:prstGeom prst="roundRect">
            <a:avLst>
              <a:gd name="adj" fmla="val 29166"/>
            </a:avLst>
          </a:prstGeom>
          <a:solidFill>
            <a:srgbClr val="133843"/>
          </a:solidFill>
          <a:ln w="8096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04944" y="2066543"/>
            <a:ext cx="438912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6D6C2"/>
                </a:solidFill>
                <a:latin typeface="Helvetica Neue"/>
                <a:ea typeface="Hiragino Sans GB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90160" y="2029967"/>
            <a:ext cx="2429256" cy="694944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还想学习更多工具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94320" y="1874519"/>
            <a:ext cx="3416808" cy="1005840"/>
          </a:xfrm>
          <a:prstGeom prst="roundRect">
            <a:avLst>
              <a:gd name="adj" fmla="val 14545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077199" y="2066543"/>
            <a:ext cx="438912" cy="438912"/>
          </a:xfrm>
          <a:prstGeom prst="roundRect">
            <a:avLst>
              <a:gd name="adj" fmla="val 29166"/>
            </a:avLst>
          </a:prstGeom>
          <a:solidFill>
            <a:srgbClr val="133843"/>
          </a:solidFill>
          <a:ln w="8096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077199" y="2066543"/>
            <a:ext cx="438912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6D6C2"/>
                </a:solidFill>
                <a:latin typeface="Helvetica Neue"/>
                <a:ea typeface="Hiragino Sans GB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62416" y="2029967"/>
            <a:ext cx="2429256" cy="694944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想完成一个完整的个人AI项目闭环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426464" y="3081528"/>
            <a:ext cx="4334256" cy="1005840"/>
          </a:xfrm>
          <a:prstGeom prst="roundRect">
            <a:avLst>
              <a:gd name="adj" fmla="val 14545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1609344" y="3273552"/>
            <a:ext cx="438912" cy="438912"/>
          </a:xfrm>
          <a:prstGeom prst="roundRect">
            <a:avLst>
              <a:gd name="adj" fmla="val 29166"/>
            </a:avLst>
          </a:prstGeom>
          <a:solidFill>
            <a:srgbClr val="133843"/>
          </a:solidFill>
          <a:ln w="8096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609344" y="3273552"/>
            <a:ext cx="438912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6D6C2"/>
                </a:solidFill>
                <a:latin typeface="Helvetica Neue"/>
                <a:ea typeface="Hiragino Sans GB"/>
              </a:rPr>
              <a:t>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94560" y="3236976"/>
            <a:ext cx="3346704" cy="694944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想形成简历、作品集和面试材料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0" y="3081528"/>
            <a:ext cx="4334256" cy="1005840"/>
          </a:xfrm>
          <a:prstGeom prst="roundRect">
            <a:avLst>
              <a:gd name="adj" fmla="val 14545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6583680" y="3273552"/>
            <a:ext cx="438912" cy="438912"/>
          </a:xfrm>
          <a:prstGeom prst="roundRect">
            <a:avLst>
              <a:gd name="adj" fmla="val 29166"/>
            </a:avLst>
          </a:prstGeom>
          <a:solidFill>
            <a:srgbClr val="133843"/>
          </a:solidFill>
          <a:ln w="8096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583680" y="3273552"/>
            <a:ext cx="438912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6D6C2"/>
                </a:solidFill>
                <a:latin typeface="Helvetica Neue"/>
                <a:ea typeface="Hiragino Sans GB"/>
              </a:rPr>
              <a:t>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68896" y="3236976"/>
            <a:ext cx="3346704" cy="694944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想找到更明确的职业与项目方向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05840" y="4617720"/>
            <a:ext cx="10058400" cy="658368"/>
          </a:xfrm>
          <a:prstGeom prst="roundRect">
            <a:avLst>
              <a:gd name="adj" fmla="val 22222"/>
            </a:avLst>
          </a:prstGeom>
          <a:solidFill>
            <a:srgbClr val="133843"/>
          </a:solidFill>
          <a:ln w="8636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225296" y="4800600"/>
            <a:ext cx="242316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6D6C2"/>
                </a:solidFill>
                <a:latin typeface="Helvetica Neue"/>
                <a:ea typeface="Hiragino Sans GB"/>
              </a:rPr>
              <a:t>第一阶段 · 懂不懂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69080" y="4800600"/>
            <a:ext cx="242316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0C565"/>
                </a:solidFill>
                <a:latin typeface="Helvetica Neue"/>
                <a:ea typeface="Hiragino Sans GB"/>
              </a:rPr>
              <a:t>第二阶段 · 做没做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31152" y="4800600"/>
            <a:ext cx="297180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7657"/>
                </a:solidFill>
                <a:latin typeface="Helvetica Neue"/>
                <a:ea typeface="Hiragino Sans GB"/>
              </a:rPr>
              <a:t>职业表达 · 讲不讲得清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3319272" y="4855464"/>
            <a:ext cx="502920" cy="146304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ight Arrow 33"/>
          <p:cNvSpPr/>
          <p:nvPr/>
        </p:nvSpPr>
        <p:spPr>
          <a:xfrm>
            <a:off x="6190488" y="4855464"/>
            <a:ext cx="502920" cy="146304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731520" y="5769864"/>
            <a:ext cx="10716768" cy="530352"/>
          </a:xfrm>
          <a:prstGeom prst="roundRect">
            <a:avLst>
              <a:gd name="adj" fmla="val 24137"/>
            </a:avLst>
          </a:prstGeom>
          <a:solidFill>
            <a:srgbClr val="133843"/>
          </a:solidFill>
          <a:ln w="6477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23544" y="5897879"/>
            <a:ext cx="109728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elvetica Neue"/>
                <a:ea typeface="Hiragino Sans GB"/>
              </a:rPr>
              <a:t>阶段目标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11680" y="5870448"/>
            <a:ext cx="9079992" cy="29260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下一阶段不是再听更多知识，而是把知识变成项目与职业证据。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94944" y="228600"/>
            <a:ext cx="905256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第三部分 · 为什么需要项目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91088" y="228600"/>
            <a:ext cx="512064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48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65392"/>
            <a:ext cx="10808208" cy="12801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deckkit-motif-quiet"/>
          <p:cNvSpPr/>
          <p:nvPr/>
        </p:nvSpPr>
        <p:spPr>
          <a:xfrm>
            <a:off x="694944" y="6519672"/>
            <a:ext cx="9432617" cy="3291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12648"/>
            <a:ext cx="10716768" cy="62179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2E9"/>
                </a:solidFill>
                <a:latin typeface="Helvetica Neue"/>
                <a:ea typeface="Hiragino Sans GB"/>
              </a:rPr>
              <a:t>理解为什么不等于真正做过？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52728"/>
            <a:ext cx="1325880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2" y="1371600"/>
            <a:ext cx="10661904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完整项目会迫使每一个判断彼此连接，并接受真实约束。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920240"/>
            <a:ext cx="2503170" cy="1417320"/>
          </a:xfrm>
          <a:prstGeom prst="roundRect">
            <a:avLst>
              <a:gd name="adj" fmla="val 10322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50976" y="2066544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6D6C2"/>
                </a:solidFill>
                <a:latin typeface="Helvetica Neue"/>
                <a:ea typeface="Hiragino Sans GB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359152"/>
            <a:ext cx="2100834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用户与问题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798064"/>
            <a:ext cx="2100834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A7B5BC"/>
                </a:solidFill>
                <a:latin typeface="Helvetica Neue"/>
                <a:ea typeface="Hiragino Sans GB"/>
              </a:rPr>
              <a:t>有无证据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35858" y="1920240"/>
            <a:ext cx="2503170" cy="1417320"/>
          </a:xfrm>
          <a:prstGeom prst="roundRect">
            <a:avLst>
              <a:gd name="adj" fmla="val 10322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37026" y="2066544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7657"/>
                </a:solidFill>
                <a:latin typeface="Helvetica Neue"/>
                <a:ea typeface="Hiragino Sans GB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7026" y="2359152"/>
            <a:ext cx="2100834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AI介入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37026" y="2798064"/>
            <a:ext cx="2100834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A7B5BC"/>
                </a:solidFill>
                <a:latin typeface="Helvetica Neue"/>
                <a:ea typeface="Hiragino Sans GB"/>
              </a:rPr>
              <a:t>是否合理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1908" y="1920240"/>
            <a:ext cx="2503170" cy="1417320"/>
          </a:xfrm>
          <a:prstGeom prst="roundRect">
            <a:avLst>
              <a:gd name="adj" fmla="val 10322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23076" y="2066544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0C565"/>
                </a:solidFill>
                <a:latin typeface="Helvetica Neue"/>
                <a:ea typeface="Hiragino Sans GB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23076" y="2359152"/>
            <a:ext cx="2100834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MVP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23076" y="2798064"/>
            <a:ext cx="2100834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A7B5BC"/>
                </a:solidFill>
                <a:latin typeface="Helvetica Neue"/>
                <a:ea typeface="Hiragino Sans GB"/>
              </a:rPr>
              <a:t>范围取舍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807958" y="1920240"/>
            <a:ext cx="2503170" cy="1417320"/>
          </a:xfrm>
          <a:prstGeom prst="roundRect">
            <a:avLst>
              <a:gd name="adj" fmla="val 10322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009126" y="2066544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8D391"/>
                </a:solidFill>
                <a:latin typeface="Helvetica Neue"/>
                <a:ea typeface="Hiragino Sans GB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09126" y="2359152"/>
            <a:ext cx="2100834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PRD原型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09126" y="2798064"/>
            <a:ext cx="2100834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A7B5BC"/>
                </a:solidFill>
                <a:latin typeface="Helvetica Neue"/>
                <a:ea typeface="Hiragino Sans GB"/>
              </a:rPr>
              <a:t>流程异常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9808" y="3675887"/>
            <a:ext cx="2503170" cy="1417320"/>
          </a:xfrm>
          <a:prstGeom prst="roundRect">
            <a:avLst>
              <a:gd name="adj" fmla="val 10322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50976" y="3822191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6D6C2"/>
                </a:solidFill>
                <a:latin typeface="Helvetica Neue"/>
                <a:ea typeface="Hiragino Sans GB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0976" y="4114800"/>
            <a:ext cx="2100834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Demo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0976" y="4553712"/>
            <a:ext cx="2100834" cy="411479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A7B5BC"/>
                </a:solidFill>
                <a:latin typeface="Helvetica Neue"/>
                <a:ea typeface="Hiragino Sans GB"/>
              </a:rPr>
              <a:t>真实运行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35858" y="3675887"/>
            <a:ext cx="2503170" cy="1417320"/>
          </a:xfrm>
          <a:prstGeom prst="roundRect">
            <a:avLst>
              <a:gd name="adj" fmla="val 10322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637026" y="3822191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7657"/>
                </a:solidFill>
                <a:latin typeface="Helvetica Neue"/>
                <a:ea typeface="Hiragino Sans GB"/>
              </a:rP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37026" y="4114800"/>
            <a:ext cx="2100834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评测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37026" y="4553712"/>
            <a:ext cx="2100834" cy="411479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A7B5BC"/>
                </a:solidFill>
                <a:latin typeface="Helvetica Neue"/>
                <a:ea typeface="Hiragino Sans GB"/>
              </a:rPr>
              <a:t>结果标准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21908" y="3675887"/>
            <a:ext cx="2503170" cy="1417320"/>
          </a:xfrm>
          <a:prstGeom prst="roundRect">
            <a:avLst>
              <a:gd name="adj" fmla="val 10322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323076" y="3822191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0C565"/>
                </a:solidFill>
                <a:latin typeface="Helvetica Neue"/>
                <a:ea typeface="Hiragino Sans GB"/>
              </a:rPr>
              <a:t>07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23076" y="4114800"/>
            <a:ext cx="2100834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Bad Case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23076" y="4553712"/>
            <a:ext cx="2100834" cy="411479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A7B5BC"/>
                </a:solidFill>
                <a:latin typeface="Helvetica Neue"/>
                <a:ea typeface="Hiragino Sans GB"/>
              </a:rPr>
              <a:t>归因修改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807958" y="3675887"/>
            <a:ext cx="2503170" cy="1417320"/>
          </a:xfrm>
          <a:prstGeom prst="roundRect">
            <a:avLst>
              <a:gd name="adj" fmla="val 10322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009126" y="3822191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8D391"/>
                </a:solidFill>
                <a:latin typeface="Helvetica Neue"/>
                <a:ea typeface="Hiragino Sans GB"/>
              </a:rPr>
              <a:t>08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09126" y="4114800"/>
            <a:ext cx="2100834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成本价值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09126" y="4553712"/>
            <a:ext cx="2100834" cy="411479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A7B5BC"/>
                </a:solidFill>
                <a:latin typeface="Helvetica Neue"/>
                <a:ea typeface="Hiragino Sans GB"/>
              </a:rPr>
              <a:t>继续判断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31520" y="5769864"/>
            <a:ext cx="10716768" cy="530352"/>
          </a:xfrm>
          <a:prstGeom prst="roundRect">
            <a:avLst>
              <a:gd name="adj" fmla="val 24137"/>
            </a:avLst>
          </a:prstGeom>
          <a:solidFill>
            <a:srgbClr val="133843"/>
          </a:solidFill>
          <a:ln w="6477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23544" y="5897879"/>
            <a:ext cx="109728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elvetica Neue"/>
                <a:ea typeface="Hiragino Sans GB"/>
              </a:rPr>
              <a:t>串联关系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011680" y="5870448"/>
            <a:ext cx="9079992" cy="29260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只有走完整条链，才会暴露单点练习看不到的矛盾。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94944" y="228600"/>
            <a:ext cx="905256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第三部分 · 项目班定位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91088" y="228600"/>
            <a:ext cx="512064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49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65392"/>
            <a:ext cx="10808208" cy="12801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deckkit-motif-quiet"/>
          <p:cNvSpPr/>
          <p:nvPr/>
        </p:nvSpPr>
        <p:spPr>
          <a:xfrm>
            <a:off x="694944" y="6519672"/>
            <a:ext cx="9629130" cy="3291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12648"/>
            <a:ext cx="10716768" cy="62179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2E9"/>
                </a:solidFill>
                <a:latin typeface="Helvetica Neue"/>
                <a:ea typeface="Hiragino Sans GB"/>
              </a:rPr>
              <a:t>第一阶段与项目班｜学习方式发生什么变化？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52728"/>
            <a:ext cx="1325880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2" y="1371600"/>
            <a:ext cx="10661904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从学习共同方法，转向在真实约束中完成一个项目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901952"/>
            <a:ext cx="1627632" cy="603504"/>
          </a:xfrm>
          <a:prstGeom prst="roundRect">
            <a:avLst>
              <a:gd name="adj" fmla="val 18181"/>
            </a:avLst>
          </a:prstGeom>
          <a:solidFill>
            <a:srgbClr val="133843"/>
          </a:solidFill>
          <a:ln w="10795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59536" y="1901952"/>
            <a:ext cx="1408176" cy="603504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6D6C2"/>
                </a:solidFill>
                <a:latin typeface="Helvetica Neue"/>
                <a:ea typeface="Hiragino Sans GB"/>
              </a:rPr>
              <a:t>维度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42032" y="1901952"/>
            <a:ext cx="3931920" cy="603504"/>
          </a:xfrm>
          <a:prstGeom prst="roundRect">
            <a:avLst>
              <a:gd name="adj" fmla="val 18181"/>
            </a:avLst>
          </a:prstGeom>
          <a:solidFill>
            <a:srgbClr val="133843"/>
          </a:solidFill>
          <a:ln w="10795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651760" y="1901952"/>
            <a:ext cx="3712463" cy="603504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A7B5BC"/>
                </a:solidFill>
                <a:latin typeface="Helvetica Neue"/>
                <a:ea typeface="Hiragino Sans GB"/>
              </a:rPr>
              <a:t>第一阶段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38544" y="1901952"/>
            <a:ext cx="4663440" cy="603504"/>
          </a:xfrm>
          <a:prstGeom prst="roundRect">
            <a:avLst>
              <a:gd name="adj" fmla="val 18181"/>
            </a:avLst>
          </a:prstGeom>
          <a:solidFill>
            <a:srgbClr val="133843"/>
          </a:solidFill>
          <a:ln w="10795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748272" y="1901952"/>
            <a:ext cx="4443983" cy="603504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7657"/>
                </a:solidFill>
                <a:latin typeface="Helvetica Neue"/>
                <a:ea typeface="Hiragino Sans GB"/>
              </a:rPr>
              <a:t>第二阶段项目班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9808" y="2651760"/>
            <a:ext cx="1627632" cy="566928"/>
          </a:xfrm>
          <a:prstGeom prst="roundRect">
            <a:avLst>
              <a:gd name="adj" fmla="val 12903"/>
            </a:avLst>
          </a:prstGeom>
          <a:solidFill>
            <a:srgbClr val="102B37"/>
          </a:solidFill>
          <a:ln w="5937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77824" y="2688336"/>
            <a:ext cx="1371600" cy="493776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36D6C2"/>
                </a:solidFill>
                <a:latin typeface="Helvetica Neue"/>
                <a:ea typeface="Hiragino Sans GB"/>
              </a:rPr>
              <a:t>核心问题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42032" y="2651760"/>
            <a:ext cx="3931920" cy="566928"/>
          </a:xfrm>
          <a:prstGeom prst="roundRect">
            <a:avLst>
              <a:gd name="adj" fmla="val 12903"/>
            </a:avLst>
          </a:prstGeom>
          <a:solidFill>
            <a:srgbClr val="102B37"/>
          </a:solidFill>
          <a:ln w="5937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670048" y="2688336"/>
            <a:ext cx="3675887" cy="493776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5F2E9"/>
                </a:solidFill>
                <a:latin typeface="Helvetica Neue"/>
                <a:ea typeface="Hiragino Sans GB"/>
              </a:rPr>
              <a:t>这类AI产品怎样判断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38544" y="2651760"/>
            <a:ext cx="4663440" cy="566928"/>
          </a:xfrm>
          <a:prstGeom prst="roundRect">
            <a:avLst>
              <a:gd name="adj" fmla="val 12903"/>
            </a:avLst>
          </a:prstGeom>
          <a:solidFill>
            <a:srgbClr val="102B37"/>
          </a:solidFill>
          <a:ln w="5937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766559" y="2688336"/>
            <a:ext cx="4407407" cy="493776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5F2E9"/>
                </a:solidFill>
                <a:latin typeface="Helvetica Neue"/>
                <a:ea typeface="Hiragino Sans GB"/>
              </a:rPr>
              <a:t>我的项目怎样真正推进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9808" y="3346704"/>
            <a:ext cx="1627632" cy="566928"/>
          </a:xfrm>
          <a:prstGeom prst="roundRect">
            <a:avLst>
              <a:gd name="adj" fmla="val 12903"/>
            </a:avLst>
          </a:prstGeom>
          <a:solidFill>
            <a:srgbClr val="133843"/>
          </a:solidFill>
          <a:ln w="5937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77824" y="3383280"/>
            <a:ext cx="1371600" cy="493776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36D6C2"/>
                </a:solidFill>
                <a:latin typeface="Helvetica Neue"/>
                <a:ea typeface="Hiragino Sans GB"/>
              </a:rPr>
              <a:t>学习方式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542032" y="3346704"/>
            <a:ext cx="3931920" cy="566928"/>
          </a:xfrm>
          <a:prstGeom prst="roundRect">
            <a:avLst>
              <a:gd name="adj" fmla="val 12903"/>
            </a:avLst>
          </a:prstGeom>
          <a:solidFill>
            <a:srgbClr val="133843"/>
          </a:solidFill>
          <a:ln w="5937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670048" y="3383280"/>
            <a:ext cx="3675887" cy="493776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5F2E9"/>
                </a:solidFill>
                <a:latin typeface="Helvetica Neue"/>
                <a:ea typeface="Hiragino Sans GB"/>
              </a:rPr>
              <a:t>课程讲解＋局部练习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38544" y="3346704"/>
            <a:ext cx="4663440" cy="566928"/>
          </a:xfrm>
          <a:prstGeom prst="roundRect">
            <a:avLst>
              <a:gd name="adj" fmla="val 12903"/>
            </a:avLst>
          </a:prstGeom>
          <a:solidFill>
            <a:srgbClr val="133843"/>
          </a:solidFill>
          <a:ln w="5937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766559" y="3383280"/>
            <a:ext cx="4407407" cy="493776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5F2E9"/>
                </a:solidFill>
                <a:latin typeface="Helvetica Neue"/>
                <a:ea typeface="Hiragino Sans GB"/>
              </a:rPr>
              <a:t>评审＋修改＋版本推进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9808" y="4041648"/>
            <a:ext cx="1627632" cy="566928"/>
          </a:xfrm>
          <a:prstGeom prst="roundRect">
            <a:avLst>
              <a:gd name="adj" fmla="val 12903"/>
            </a:avLst>
          </a:prstGeom>
          <a:solidFill>
            <a:srgbClr val="102B37"/>
          </a:solidFill>
          <a:ln w="5937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77824" y="4078224"/>
            <a:ext cx="1371600" cy="493776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36D6C2"/>
                </a:solidFill>
                <a:latin typeface="Helvetica Neue"/>
                <a:ea typeface="Hiragino Sans GB"/>
              </a:rPr>
              <a:t>主要产出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542032" y="4041648"/>
            <a:ext cx="3931920" cy="566928"/>
          </a:xfrm>
          <a:prstGeom prst="roundRect">
            <a:avLst>
              <a:gd name="adj" fmla="val 12903"/>
            </a:avLst>
          </a:prstGeom>
          <a:solidFill>
            <a:srgbClr val="102B37"/>
          </a:solidFill>
          <a:ln w="5937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670048" y="4078224"/>
            <a:ext cx="3675887" cy="493776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5F2E9"/>
                </a:solidFill>
                <a:latin typeface="Helvetica Neue"/>
                <a:ea typeface="Hiragino Sans GB"/>
              </a:rPr>
              <a:t>方法、练习与单点材料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38544" y="4041648"/>
            <a:ext cx="4663440" cy="566928"/>
          </a:xfrm>
          <a:prstGeom prst="roundRect">
            <a:avLst>
              <a:gd name="adj" fmla="val 12903"/>
            </a:avLst>
          </a:prstGeom>
          <a:solidFill>
            <a:srgbClr val="102B37"/>
          </a:solidFill>
          <a:ln w="5937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766559" y="4078224"/>
            <a:ext cx="4407407" cy="493776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5F2E9"/>
                </a:solidFill>
                <a:latin typeface="Helvetica Neue"/>
                <a:ea typeface="Hiragino Sans GB"/>
              </a:rPr>
              <a:t>完整PRD、原型、Demo、评测与复盘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49808" y="4736592"/>
            <a:ext cx="1627632" cy="566928"/>
          </a:xfrm>
          <a:prstGeom prst="roundRect">
            <a:avLst>
              <a:gd name="adj" fmla="val 12903"/>
            </a:avLst>
          </a:prstGeom>
          <a:solidFill>
            <a:srgbClr val="133843"/>
          </a:solidFill>
          <a:ln w="5937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77824" y="4773168"/>
            <a:ext cx="1371600" cy="493776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36D6C2"/>
                </a:solidFill>
                <a:latin typeface="Helvetica Neue"/>
                <a:ea typeface="Hiragino Sans GB"/>
              </a:rPr>
              <a:t>完成标准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542032" y="4736592"/>
            <a:ext cx="3931920" cy="566928"/>
          </a:xfrm>
          <a:prstGeom prst="roundRect">
            <a:avLst>
              <a:gd name="adj" fmla="val 12903"/>
            </a:avLst>
          </a:prstGeom>
          <a:solidFill>
            <a:srgbClr val="133843"/>
          </a:solidFill>
          <a:ln w="5937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670048" y="4773168"/>
            <a:ext cx="3675887" cy="493776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5F2E9"/>
                </a:solidFill>
                <a:latin typeface="Helvetica Neue"/>
                <a:ea typeface="Hiragino Sans GB"/>
              </a:rPr>
              <a:t>理解并能够应用框架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638544" y="4736592"/>
            <a:ext cx="4663440" cy="566928"/>
          </a:xfrm>
          <a:prstGeom prst="roundRect">
            <a:avLst>
              <a:gd name="adj" fmla="val 12903"/>
            </a:avLst>
          </a:prstGeom>
          <a:solidFill>
            <a:srgbClr val="133843"/>
          </a:solidFill>
          <a:ln w="5937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766559" y="4773168"/>
            <a:ext cx="4407407" cy="493776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5F2E9"/>
                </a:solidFill>
                <a:latin typeface="Helvetica Neue"/>
                <a:ea typeface="Hiragino Sans GB"/>
              </a:rPr>
              <a:t>形成可展示、可追溯的项目证据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31520" y="5769864"/>
            <a:ext cx="10716768" cy="530352"/>
          </a:xfrm>
          <a:prstGeom prst="roundRect">
            <a:avLst>
              <a:gd name="adj" fmla="val 24137"/>
            </a:avLst>
          </a:prstGeom>
          <a:solidFill>
            <a:srgbClr val="133843"/>
          </a:solidFill>
          <a:ln w="6477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923544" y="5897879"/>
            <a:ext cx="109728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elvetica Neue"/>
                <a:ea typeface="Hiragino Sans GB"/>
              </a:rPr>
              <a:t>核心变化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011680" y="5870448"/>
            <a:ext cx="9079992" cy="29260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项目班的重点不是交作业，而是在评审和修改中完成真实产品决策。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94944" y="228600"/>
            <a:ext cx="905256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第三部分 · 项目设置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91088" y="228600"/>
            <a:ext cx="512064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50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65392"/>
            <a:ext cx="10808208" cy="12801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deckkit-motif-quiet"/>
          <p:cNvSpPr/>
          <p:nvPr/>
        </p:nvSpPr>
        <p:spPr>
          <a:xfrm>
            <a:off x="694944" y="6519672"/>
            <a:ext cx="9825643" cy="3291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12648"/>
            <a:ext cx="10716768" cy="490584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dirty="0" err="1">
                <a:solidFill>
                  <a:srgbClr val="F5F2E9"/>
                </a:solidFill>
                <a:latin typeface="Helvetica Neue"/>
                <a:ea typeface="Hiragino Sans GB"/>
              </a:rPr>
              <a:t>公共项目＋个人方向项目</a:t>
            </a:r>
            <a:endParaRPr sz="2800" b="1" i="0" dirty="0">
              <a:solidFill>
                <a:srgbClr val="F5F2E9"/>
              </a:solidFill>
              <a:latin typeface="Helvetica Neue"/>
              <a:ea typeface="Hiragino Sans GB"/>
            </a:endParaRPr>
          </a:p>
        </p:txBody>
      </p:sp>
      <p:sp>
        <p:nvSpPr>
          <p:cNvPr id="7" name="deckkit-motif-quiet"/>
          <p:cNvSpPr/>
          <p:nvPr/>
        </p:nvSpPr>
        <p:spPr>
          <a:xfrm>
            <a:off x="713232" y="1252728"/>
            <a:ext cx="1325880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2" y="1371600"/>
            <a:ext cx="10661904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公共项目保证共同训练，个人项目让能力连接真实行业和职业方向。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920240"/>
            <a:ext cx="5166360" cy="3438144"/>
          </a:xfrm>
          <a:prstGeom prst="roundRect">
            <a:avLst>
              <a:gd name="adj" fmla="val 4255"/>
            </a:avLst>
          </a:prstGeom>
          <a:solidFill>
            <a:srgbClr val="102B37"/>
          </a:solidFill>
          <a:ln w="8636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2167128"/>
            <a:ext cx="452628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36D6C2"/>
                </a:solidFill>
                <a:latin typeface="Helvetica Neue"/>
                <a:ea typeface="Hiragino Sans GB"/>
              </a:rPr>
              <a:t>公共项目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7" y="2880360"/>
            <a:ext cx="100584" cy="100584"/>
          </a:xfrm>
          <a:prstGeom prst="roundRect">
            <a:avLst>
              <a:gd name="adj" fmla="val 45454"/>
            </a:avLst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252728" y="2788920"/>
            <a:ext cx="4261104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F2E9"/>
                </a:solidFill>
                <a:latin typeface="Helvetica Neue"/>
                <a:ea typeface="Hiragino Sans GB"/>
              </a:rPr>
              <a:t>同一业务背景和基础材料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24127" y="3438144"/>
            <a:ext cx="100584" cy="100584"/>
          </a:xfrm>
          <a:prstGeom prst="roundRect">
            <a:avLst>
              <a:gd name="adj" fmla="val 45454"/>
            </a:avLst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252728" y="3346703"/>
            <a:ext cx="4261104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F2E9"/>
                </a:solidFill>
                <a:latin typeface="Helvetica Neue"/>
                <a:ea typeface="Hiragino Sans GB"/>
              </a:rPr>
              <a:t>课堂统一评审关键决策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24127" y="3995927"/>
            <a:ext cx="100584" cy="100584"/>
          </a:xfrm>
          <a:prstGeom prst="roundRect">
            <a:avLst>
              <a:gd name="adj" fmla="val 45454"/>
            </a:avLst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252728" y="3904487"/>
            <a:ext cx="4261104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F2E9"/>
                </a:solidFill>
                <a:latin typeface="Helvetica Neue"/>
                <a:ea typeface="Hiragino Sans GB"/>
              </a:rPr>
              <a:t>便于横向比较不同方案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7" y="4553712"/>
            <a:ext cx="100584" cy="100584"/>
          </a:xfrm>
          <a:prstGeom prst="roundRect">
            <a:avLst>
              <a:gd name="adj" fmla="val 45454"/>
            </a:avLst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252728" y="4462272"/>
            <a:ext cx="4261104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F2E9"/>
                </a:solidFill>
                <a:latin typeface="Helvetica Neue"/>
                <a:ea typeface="Hiragino Sans GB"/>
              </a:rPr>
              <a:t>训练完整推进方法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89904" y="1920240"/>
            <a:ext cx="5166360" cy="3438144"/>
          </a:xfrm>
          <a:prstGeom prst="roundRect">
            <a:avLst>
              <a:gd name="adj" fmla="val 4255"/>
            </a:avLst>
          </a:prstGeom>
          <a:solidFill>
            <a:srgbClr val="133843"/>
          </a:solidFill>
          <a:ln w="8636">
            <a:solidFill>
              <a:srgbClr val="FF7657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45936" y="2167128"/>
            <a:ext cx="452628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7657"/>
                </a:solidFill>
                <a:latin typeface="Helvetica Neue"/>
                <a:ea typeface="Hiragino Sans GB"/>
              </a:rPr>
              <a:t>个人方向项目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64224" y="2880360"/>
            <a:ext cx="100584" cy="100584"/>
          </a:xfrm>
          <a:prstGeom prst="roundRect">
            <a:avLst>
              <a:gd name="adj" fmla="val 45454"/>
            </a:avLst>
          </a:prstGeom>
          <a:solidFill>
            <a:srgbClr val="FF76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92824" y="2788920"/>
            <a:ext cx="4261104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F2E9"/>
                </a:solidFill>
                <a:latin typeface="Helvetica Neue"/>
                <a:ea typeface="Hiragino Sans GB"/>
              </a:rPr>
              <a:t>来自自己的行业或兴趣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64224" y="3438144"/>
            <a:ext cx="100584" cy="100584"/>
          </a:xfrm>
          <a:prstGeom prst="roundRect">
            <a:avLst>
              <a:gd name="adj" fmla="val 45454"/>
            </a:avLst>
          </a:prstGeom>
          <a:solidFill>
            <a:srgbClr val="FF76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592824" y="3346703"/>
            <a:ext cx="4261104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F2E9"/>
                </a:solidFill>
                <a:latin typeface="Helvetica Neue"/>
                <a:ea typeface="Hiragino Sans GB"/>
              </a:rPr>
              <a:t>沉淀个人独特业务资产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64224" y="3995927"/>
            <a:ext cx="100584" cy="100584"/>
          </a:xfrm>
          <a:prstGeom prst="roundRect">
            <a:avLst>
              <a:gd name="adj" fmla="val 45454"/>
            </a:avLst>
          </a:prstGeom>
          <a:solidFill>
            <a:srgbClr val="FF76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592824" y="3904487"/>
            <a:ext cx="4261104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F2E9"/>
                </a:solidFill>
                <a:latin typeface="Helvetica Neue"/>
                <a:ea typeface="Hiragino Sans GB"/>
              </a:rPr>
              <a:t>形成作品集差异化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64224" y="4553712"/>
            <a:ext cx="100584" cy="100584"/>
          </a:xfrm>
          <a:prstGeom prst="roundRect">
            <a:avLst>
              <a:gd name="adj" fmla="val 45454"/>
            </a:avLst>
          </a:prstGeom>
          <a:solidFill>
            <a:srgbClr val="FF76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592824" y="4462272"/>
            <a:ext cx="4261104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F2E9"/>
                </a:solidFill>
                <a:latin typeface="Helvetica Neue"/>
                <a:ea typeface="Hiragino Sans GB"/>
              </a:rPr>
              <a:t>可继续用于求职或创业验证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5769864"/>
            <a:ext cx="10716768" cy="530352"/>
          </a:xfrm>
          <a:prstGeom prst="roundRect">
            <a:avLst>
              <a:gd name="adj" fmla="val 24137"/>
            </a:avLst>
          </a:prstGeom>
          <a:solidFill>
            <a:srgbClr val="133843"/>
          </a:solidFill>
          <a:ln w="6477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23544" y="5897879"/>
            <a:ext cx="109728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elvetica Neue"/>
                <a:ea typeface="Hiragino Sans GB"/>
              </a:rPr>
              <a:t>核心区别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11680" y="5870448"/>
            <a:ext cx="9079992" cy="29260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共同项目学方法，个人项目形成方向与差异化。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94944" y="228600"/>
            <a:ext cx="905256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第三部分 · 协作方式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91088" y="228600"/>
            <a:ext cx="512064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51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65392"/>
            <a:ext cx="10808208" cy="12801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deckkit-motif-quiet"/>
          <p:cNvSpPr/>
          <p:nvPr/>
        </p:nvSpPr>
        <p:spPr>
          <a:xfrm>
            <a:off x="694944" y="6519672"/>
            <a:ext cx="10022156" cy="3291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12648"/>
            <a:ext cx="10716768" cy="62179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2E9"/>
                </a:solidFill>
                <a:latin typeface="Helvetica Neue"/>
                <a:ea typeface="Hiragino Sans GB"/>
              </a:rPr>
              <a:t>小组协作与六步推进节奏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52728"/>
            <a:ext cx="1325880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2" y="1371600"/>
            <a:ext cx="10661904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项目不是课后独立消化，而是在固定节奏里持续输出、评审和修改。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920240"/>
            <a:ext cx="5166360" cy="3438144"/>
          </a:xfrm>
          <a:prstGeom prst="roundRect">
            <a:avLst>
              <a:gd name="adj" fmla="val 4255"/>
            </a:avLst>
          </a:prstGeom>
          <a:solidFill>
            <a:srgbClr val="102B37"/>
          </a:solidFill>
          <a:ln w="8636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2167128"/>
            <a:ext cx="452628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36D6C2"/>
                </a:solidFill>
                <a:latin typeface="Helvetica Neue"/>
                <a:ea typeface="Hiragino Sans GB"/>
              </a:rPr>
              <a:t>小组协作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7" y="2880360"/>
            <a:ext cx="100584" cy="100584"/>
          </a:xfrm>
          <a:prstGeom prst="roundRect">
            <a:avLst>
              <a:gd name="adj" fmla="val 45454"/>
            </a:avLst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252728" y="2788920"/>
            <a:ext cx="4261104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F2E9"/>
                </a:solidFill>
                <a:latin typeface="Helvetica Neue"/>
                <a:ea typeface="Hiragino Sans GB"/>
              </a:rPr>
              <a:t>角色分工但共同负责结果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24127" y="3438144"/>
            <a:ext cx="100584" cy="100584"/>
          </a:xfrm>
          <a:prstGeom prst="roundRect">
            <a:avLst>
              <a:gd name="adj" fmla="val 45454"/>
            </a:avLst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252728" y="3346703"/>
            <a:ext cx="4261104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F2E9"/>
                </a:solidFill>
                <a:latin typeface="Helvetica Neue"/>
                <a:ea typeface="Hiragino Sans GB"/>
              </a:rPr>
              <a:t>课前提交本轮版本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24127" y="3995927"/>
            <a:ext cx="100584" cy="100584"/>
          </a:xfrm>
          <a:prstGeom prst="roundRect">
            <a:avLst>
              <a:gd name="adj" fmla="val 45454"/>
            </a:avLst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252728" y="3904487"/>
            <a:ext cx="4261104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F2E9"/>
                </a:solidFill>
                <a:latin typeface="Helvetica Neue"/>
                <a:ea typeface="Hiragino Sans GB"/>
              </a:rPr>
              <a:t>课堂说明关键判断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7" y="4553712"/>
            <a:ext cx="100584" cy="100584"/>
          </a:xfrm>
          <a:prstGeom prst="roundRect">
            <a:avLst>
              <a:gd name="adj" fmla="val 45454"/>
            </a:avLst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252728" y="4462272"/>
            <a:ext cx="4261104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F2E9"/>
                </a:solidFill>
                <a:latin typeface="Helvetica Neue"/>
                <a:ea typeface="Hiragino Sans GB"/>
              </a:rPr>
              <a:t>保留分歧和修改原因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89904" y="1920240"/>
            <a:ext cx="5166360" cy="3438144"/>
          </a:xfrm>
          <a:prstGeom prst="roundRect">
            <a:avLst>
              <a:gd name="adj" fmla="val 4255"/>
            </a:avLst>
          </a:prstGeom>
          <a:solidFill>
            <a:srgbClr val="133843"/>
          </a:solidFill>
          <a:ln w="8636">
            <a:solidFill>
              <a:srgbClr val="FF7657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45936" y="2167128"/>
            <a:ext cx="452628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7657"/>
                </a:solidFill>
                <a:latin typeface="Helvetica Neue"/>
                <a:ea typeface="Hiragino Sans GB"/>
              </a:rPr>
              <a:t>六步循环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64224" y="2880360"/>
            <a:ext cx="100584" cy="100584"/>
          </a:xfrm>
          <a:prstGeom prst="roundRect">
            <a:avLst>
              <a:gd name="adj" fmla="val 45454"/>
            </a:avLst>
          </a:prstGeom>
          <a:solidFill>
            <a:srgbClr val="FF76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92824" y="2788920"/>
            <a:ext cx="4261104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5F2E9"/>
                </a:solidFill>
                <a:latin typeface="Helvetica Neue"/>
                <a:ea typeface="Hiragino Sans GB"/>
              </a:rPr>
              <a:t>学习任务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64224" y="3291840"/>
            <a:ext cx="100584" cy="100584"/>
          </a:xfrm>
          <a:prstGeom prst="roundRect">
            <a:avLst>
              <a:gd name="adj" fmla="val 45454"/>
            </a:avLst>
          </a:prstGeom>
          <a:solidFill>
            <a:srgbClr val="FF76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592824" y="3200400"/>
            <a:ext cx="4261104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5F2E9"/>
                </a:solidFill>
                <a:latin typeface="Helvetica Neue"/>
                <a:ea typeface="Hiragino Sans GB"/>
              </a:rPr>
              <a:t>小组产出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64224" y="3703320"/>
            <a:ext cx="100584" cy="100584"/>
          </a:xfrm>
          <a:prstGeom prst="roundRect">
            <a:avLst>
              <a:gd name="adj" fmla="val 45454"/>
            </a:avLst>
          </a:prstGeom>
          <a:solidFill>
            <a:srgbClr val="FF76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592824" y="3611880"/>
            <a:ext cx="4261104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5F2E9"/>
                </a:solidFill>
                <a:latin typeface="Helvetica Neue"/>
                <a:ea typeface="Hiragino Sans GB"/>
              </a:rPr>
              <a:t>课堂评审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64224" y="4114800"/>
            <a:ext cx="100584" cy="100584"/>
          </a:xfrm>
          <a:prstGeom prst="roundRect">
            <a:avLst>
              <a:gd name="adj" fmla="val 45454"/>
            </a:avLst>
          </a:prstGeom>
          <a:solidFill>
            <a:srgbClr val="FF76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592824" y="4023360"/>
            <a:ext cx="4261104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5F2E9"/>
                </a:solidFill>
                <a:latin typeface="Helvetica Neue"/>
                <a:ea typeface="Hiragino Sans GB"/>
              </a:rPr>
              <a:t>修改版本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64224" y="4526280"/>
            <a:ext cx="100584" cy="100584"/>
          </a:xfrm>
          <a:prstGeom prst="roundRect">
            <a:avLst>
              <a:gd name="adj" fmla="val 45454"/>
            </a:avLst>
          </a:prstGeom>
          <a:solidFill>
            <a:srgbClr val="FF76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592824" y="4434840"/>
            <a:ext cx="4261104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5F2E9"/>
                </a:solidFill>
                <a:latin typeface="Helvetica Neue"/>
                <a:ea typeface="Hiragino Sans GB"/>
              </a:rPr>
              <a:t>回归验证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64224" y="4937760"/>
            <a:ext cx="100584" cy="100584"/>
          </a:xfrm>
          <a:prstGeom prst="roundRect">
            <a:avLst>
              <a:gd name="adj" fmla="val 45454"/>
            </a:avLst>
          </a:prstGeom>
          <a:solidFill>
            <a:srgbClr val="FF76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592824" y="4846320"/>
            <a:ext cx="4261104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5F2E9"/>
                </a:solidFill>
                <a:latin typeface="Helvetica Neue"/>
                <a:ea typeface="Hiragino Sans GB"/>
              </a:rPr>
              <a:t>复盘归档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" y="5769864"/>
            <a:ext cx="10716768" cy="530352"/>
          </a:xfrm>
          <a:prstGeom prst="roundRect">
            <a:avLst>
              <a:gd name="adj" fmla="val 24137"/>
            </a:avLst>
          </a:prstGeom>
          <a:solidFill>
            <a:srgbClr val="133843"/>
          </a:solidFill>
          <a:ln w="6477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23544" y="5897879"/>
            <a:ext cx="109728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elvetica Neue"/>
                <a:ea typeface="Hiragino Sans GB"/>
              </a:rPr>
              <a:t>核心区别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11680" y="5870448"/>
            <a:ext cx="9079992" cy="29260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每一轮都要有可见版本：产出—评审—修改—验证。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94944" y="228600"/>
            <a:ext cx="905256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第三部分 · 最终交付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91088" y="228600"/>
            <a:ext cx="512064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54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65392"/>
            <a:ext cx="10808208" cy="12801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deckkit-motif-quiet"/>
          <p:cNvSpPr/>
          <p:nvPr/>
        </p:nvSpPr>
        <p:spPr>
          <a:xfrm>
            <a:off x="694944" y="6519672"/>
            <a:ext cx="10611695" cy="3291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12648"/>
            <a:ext cx="10716768" cy="62179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2E9"/>
                </a:solidFill>
                <a:latin typeface="Helvetica Neue"/>
                <a:ea typeface="Hiragino Sans GB"/>
              </a:rPr>
              <a:t>完成项目班后，你会留下哪些正式材料？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52728"/>
            <a:ext cx="1325880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2" y="1371600"/>
            <a:ext cx="10661904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最终材料不仅要完整，还要能说明你为什么这样判断、怎样修改。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911095"/>
            <a:ext cx="3386328" cy="1659636"/>
          </a:xfrm>
          <a:prstGeom prst="roundRect">
            <a:avLst>
              <a:gd name="adj" fmla="val 8815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50976" y="2057400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6D6C2"/>
                </a:solidFill>
                <a:latin typeface="Helvetica Neue"/>
                <a:ea typeface="Hiragino Sans GB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350008"/>
            <a:ext cx="2983992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5F2E9"/>
                </a:solidFill>
                <a:latin typeface="Helvetica Neue"/>
                <a:ea typeface="Hiragino Sans GB"/>
              </a:rPr>
              <a:t>研究与选题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788920"/>
            <a:ext cx="2983992" cy="653796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7B5BC"/>
                </a:solidFill>
                <a:latin typeface="Helvetica Neue"/>
                <a:ea typeface="Hiragino Sans GB"/>
              </a:rPr>
              <a:t>用户、场景、流程与问题证据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37304" y="1911095"/>
            <a:ext cx="3386328" cy="1659636"/>
          </a:xfrm>
          <a:prstGeom prst="roundRect">
            <a:avLst>
              <a:gd name="adj" fmla="val 8815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38472" y="2057400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7657"/>
                </a:solidFill>
                <a:latin typeface="Helvetica Neue"/>
                <a:ea typeface="Hiragino Sans GB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8472" y="2350008"/>
            <a:ext cx="2983992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5F2E9"/>
                </a:solidFill>
                <a:latin typeface="Helvetica Neue"/>
                <a:ea typeface="Hiragino Sans GB"/>
              </a:rPr>
              <a:t>产品定义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38472" y="2788920"/>
            <a:ext cx="2983992" cy="653796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7B5BC"/>
                </a:solidFill>
                <a:latin typeface="Helvetica Neue"/>
                <a:ea typeface="Hiragino Sans GB"/>
              </a:rPr>
              <a:t>MVP、PRD、人机分工与验收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24800" y="1911095"/>
            <a:ext cx="3386328" cy="1659636"/>
          </a:xfrm>
          <a:prstGeom prst="roundRect">
            <a:avLst>
              <a:gd name="adj" fmla="val 8815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125968" y="2057400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0C565"/>
                </a:solidFill>
                <a:latin typeface="Helvetica Neue"/>
                <a:ea typeface="Hiragino Sans GB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5968" y="2350008"/>
            <a:ext cx="2983992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5F2E9"/>
                </a:solidFill>
                <a:latin typeface="Helvetica Neue"/>
                <a:ea typeface="Hiragino Sans GB"/>
              </a:rPr>
              <a:t>产品表达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5968" y="2788920"/>
            <a:ext cx="2983992" cy="653796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7B5BC"/>
                </a:solidFill>
                <a:latin typeface="Helvetica Neue"/>
                <a:ea typeface="Hiragino Sans GB"/>
              </a:rPr>
              <a:t>原型、流程、状态与可运行Demo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9808" y="3790187"/>
            <a:ext cx="3386328" cy="1659636"/>
          </a:xfrm>
          <a:prstGeom prst="roundRect">
            <a:avLst>
              <a:gd name="adj" fmla="val 8815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50976" y="3936491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8D391"/>
                </a:solidFill>
                <a:latin typeface="Helvetica Neue"/>
                <a:ea typeface="Hiragino Sans GB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0976" y="4229100"/>
            <a:ext cx="2983992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5F2E9"/>
                </a:solidFill>
                <a:latin typeface="Helvetica Neue"/>
                <a:ea typeface="Hiragino Sans GB"/>
              </a:rPr>
              <a:t>效果证据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0976" y="4668012"/>
            <a:ext cx="2983992" cy="653795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7B5BC"/>
                </a:solidFill>
                <a:latin typeface="Helvetica Neue"/>
                <a:ea typeface="Hiragino Sans GB"/>
              </a:rPr>
              <a:t>评测集、指标、Bad Case与回归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37304" y="3790187"/>
            <a:ext cx="3386328" cy="1659636"/>
          </a:xfrm>
          <a:prstGeom prst="roundRect">
            <a:avLst>
              <a:gd name="adj" fmla="val 8815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538472" y="3936491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F6969"/>
                </a:solidFill>
                <a:latin typeface="Helvetica Neue"/>
                <a:ea typeface="Hiragino Sans GB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38472" y="4229100"/>
            <a:ext cx="2983992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5F2E9"/>
                </a:solidFill>
                <a:latin typeface="Helvetica Neue"/>
                <a:ea typeface="Hiragino Sans GB"/>
              </a:rPr>
              <a:t>商业判断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38472" y="4668012"/>
            <a:ext cx="2983992" cy="653795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7B5BC"/>
                </a:solidFill>
                <a:latin typeface="Helvetica Neue"/>
                <a:ea typeface="Hiragino Sans GB"/>
              </a:rPr>
              <a:t>模型选型、成本、风险与ROI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924800" y="3790187"/>
            <a:ext cx="3386328" cy="1659636"/>
          </a:xfrm>
          <a:prstGeom prst="roundRect">
            <a:avLst>
              <a:gd name="adj" fmla="val 8815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125968" y="3936491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6D6C2"/>
                </a:solidFill>
                <a:latin typeface="Helvetica Neue"/>
                <a:ea typeface="Hiragino Sans GB"/>
              </a:rP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25968" y="4229100"/>
            <a:ext cx="2983992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5F2E9"/>
                </a:solidFill>
                <a:latin typeface="Helvetica Neue"/>
                <a:ea typeface="Hiragino Sans GB"/>
              </a:rPr>
              <a:t>职业表达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5968" y="4668012"/>
            <a:ext cx="2983992" cy="653795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7B5BC"/>
                </a:solidFill>
                <a:latin typeface="Helvetica Neue"/>
                <a:ea typeface="Hiragino Sans GB"/>
              </a:rPr>
              <a:t>作品集、项目复盘、个人贡献与答辩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" y="5769864"/>
            <a:ext cx="10716768" cy="530352"/>
          </a:xfrm>
          <a:prstGeom prst="roundRect">
            <a:avLst>
              <a:gd name="adj" fmla="val 24137"/>
            </a:avLst>
          </a:prstGeom>
          <a:solidFill>
            <a:srgbClr val="133843"/>
          </a:solidFill>
          <a:ln w="6477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23544" y="5897879"/>
            <a:ext cx="109728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elvetica Neue"/>
                <a:ea typeface="Hiragino Sans GB"/>
              </a:rPr>
              <a:t>判断框架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11680" y="5870448"/>
            <a:ext cx="9079992" cy="29260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一套完整材料，要同时证明判断、交付、验证、价值和表达。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94944" y="228600"/>
            <a:ext cx="905256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第三部分 · 课程收尾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91088" y="228600"/>
            <a:ext cx="512064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55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65392"/>
            <a:ext cx="10808208" cy="12801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deckkit-motif-quiet"/>
          <p:cNvSpPr/>
          <p:nvPr/>
        </p:nvSpPr>
        <p:spPr>
          <a:xfrm>
            <a:off x="694944" y="6519672"/>
            <a:ext cx="10808208" cy="3291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86384" y="804672"/>
            <a:ext cx="1014984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F5F2E9"/>
                </a:solidFill>
                <a:latin typeface="Helvetica Neue"/>
                <a:ea typeface="Hiragino Sans GB"/>
              </a:rPr>
              <a:t>下一步｜用项目证明自己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996696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A7B5BC"/>
                </a:solidFill>
                <a:latin typeface="Helvetica Neue"/>
                <a:ea typeface="Hiragino Sans GB"/>
              </a:rPr>
              <a:t>把判断变成项目，把项目变成证据，把证据变成机会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" y="2359152"/>
            <a:ext cx="3383280" cy="1993392"/>
          </a:xfrm>
          <a:prstGeom prst="roundRect">
            <a:avLst>
              <a:gd name="adj" fmla="val 7339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2505456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6D6C2"/>
                </a:solidFill>
                <a:latin typeface="Helvetica Neue"/>
                <a:ea typeface="Hiragino Sans GB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798064"/>
            <a:ext cx="2980944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5F2E9"/>
                </a:solidFill>
                <a:latin typeface="Helvetica Neue"/>
                <a:ea typeface="Hiragino Sans GB"/>
              </a:rPr>
              <a:t>投入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236976"/>
            <a:ext cx="2980944" cy="98755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A7B5BC"/>
                </a:solidFill>
                <a:latin typeface="Helvetica Neue"/>
                <a:ea typeface="Hiragino Sans GB"/>
              </a:rPr>
              <a:t>真实时间
持续修改
接受评审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07992" y="2359152"/>
            <a:ext cx="3383280" cy="1993392"/>
          </a:xfrm>
          <a:prstGeom prst="roundRect">
            <a:avLst>
              <a:gd name="adj" fmla="val 7339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709159" y="2505456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0C565"/>
                </a:solidFill>
                <a:latin typeface="Helvetica Neue"/>
                <a:ea typeface="Hiragino Sans GB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59" y="2798064"/>
            <a:ext cx="2980944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5F2E9"/>
                </a:solidFill>
                <a:latin typeface="Helvetica Neue"/>
                <a:ea typeface="Hiragino Sans GB"/>
              </a:rPr>
              <a:t>获得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9159" y="3236976"/>
            <a:ext cx="2980944" cy="98755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A7B5BC"/>
                </a:solidFill>
                <a:latin typeface="Helvetica Neue"/>
                <a:ea typeface="Hiragino Sans GB"/>
              </a:rPr>
              <a:t>完整项目
方法证据
职业表达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11312" y="2359152"/>
            <a:ext cx="3383280" cy="1993392"/>
          </a:xfrm>
          <a:prstGeom prst="roundRect">
            <a:avLst>
              <a:gd name="adj" fmla="val 7339"/>
            </a:avLst>
          </a:prstGeom>
          <a:solidFill>
            <a:srgbClr val="133843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12480" y="2505456"/>
            <a:ext cx="457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7657"/>
                </a:solidFill>
                <a:latin typeface="Helvetica Neue"/>
                <a:ea typeface="Hiragino Sans GB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2798064"/>
            <a:ext cx="2980944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5F2E9"/>
                </a:solidFill>
                <a:latin typeface="Helvetica Neue"/>
                <a:ea typeface="Hiragino Sans GB"/>
              </a:rPr>
              <a:t>带走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3236976"/>
            <a:ext cx="2980944" cy="98755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A7B5BC"/>
                </a:solidFill>
                <a:latin typeface="Helvetica Neue"/>
                <a:ea typeface="Hiragino Sans GB"/>
              </a:rPr>
              <a:t>判断力
交付力
可信度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" y="4736592"/>
            <a:ext cx="10771632" cy="859536"/>
          </a:xfrm>
          <a:prstGeom prst="roundRect">
            <a:avLst>
              <a:gd name="adj" fmla="val 17021"/>
            </a:avLst>
          </a:prstGeom>
          <a:solidFill>
            <a:srgbClr val="133843"/>
          </a:solidFill>
          <a:ln w="9175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51560" y="4882896"/>
            <a:ext cx="10259568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 i="0">
                <a:solidFill>
                  <a:srgbClr val="F5F2E9"/>
                </a:solidFill>
                <a:latin typeface="Helvetica Neue"/>
                <a:ea typeface="Hiragino Sans GB"/>
              </a:rPr>
              <a:t>第一阶段：我知道怎样判断  →  第二阶段：我真正做过  →  下一步：我能够清楚证明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6044184"/>
            <a:ext cx="1069848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THE NEXT STEP IS NOT MORE KNOWLEDGE. IT IS EVIDENCE.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0F1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AF8F97-9D8E-CB43-2BA7-A5366014D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7011C7C-3D5B-8D9B-C6B6-1766C98AEB5E}"/>
              </a:ext>
            </a:extLst>
          </p:cNvPr>
          <p:cNvSpPr txBox="1"/>
          <p:nvPr/>
        </p:nvSpPr>
        <p:spPr>
          <a:xfrm>
            <a:off x="694944" y="228600"/>
            <a:ext cx="905256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第三部分 · 课程收尾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B5ACE4-E095-BC96-9C88-AD7F4C01D5B9}"/>
              </a:ext>
            </a:extLst>
          </p:cNvPr>
          <p:cNvSpPr txBox="1"/>
          <p:nvPr/>
        </p:nvSpPr>
        <p:spPr>
          <a:xfrm>
            <a:off x="10991088" y="228600"/>
            <a:ext cx="512064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55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8812CE6-4E8B-D6C5-FB05-5647D35DE09B}"/>
              </a:ext>
            </a:extLst>
          </p:cNvPr>
          <p:cNvSpPr txBox="1"/>
          <p:nvPr/>
        </p:nvSpPr>
        <p:spPr>
          <a:xfrm>
            <a:off x="786384" y="804672"/>
            <a:ext cx="10149840" cy="648960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3800" b="1" i="0" dirty="0">
                <a:solidFill>
                  <a:srgbClr val="F5F2E9"/>
                </a:solidFill>
                <a:latin typeface="Helvetica Neue"/>
                <a:ea typeface="Hiragino Sans GB"/>
              </a:rPr>
              <a:t>最后</a:t>
            </a:r>
            <a:endParaRPr sz="3800" b="1" i="0" dirty="0">
              <a:solidFill>
                <a:srgbClr val="F5F2E9"/>
              </a:solidFill>
              <a:latin typeface="Helvetica Neue"/>
              <a:ea typeface="Hiragino Sans GB"/>
            </a:endParaRPr>
          </a:p>
        </p:txBody>
      </p:sp>
      <p:sp>
        <p:nvSpPr>
          <p:cNvPr id="23" name="TextBox 5">
            <a:extLst>
              <a:ext uri="{FF2B5EF4-FFF2-40B4-BE49-F238E27FC236}">
                <a16:creationId xmlns:a16="http://schemas.microsoft.com/office/drawing/2014/main" id="{7EBAEAFC-D8B8-0EC2-DB99-B64DE39B6F7B}"/>
              </a:ext>
            </a:extLst>
          </p:cNvPr>
          <p:cNvSpPr txBox="1"/>
          <p:nvPr/>
        </p:nvSpPr>
        <p:spPr>
          <a:xfrm>
            <a:off x="1021080" y="2885646"/>
            <a:ext cx="10149840" cy="1086708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6600" b="1" i="0" dirty="0">
                <a:solidFill>
                  <a:srgbClr val="F5F2E9"/>
                </a:solidFill>
                <a:latin typeface="Helvetica Neue"/>
                <a:ea typeface="Hiragino Sans GB"/>
              </a:rPr>
              <a:t>感谢</a:t>
            </a:r>
            <a:endParaRPr sz="6600" b="1" i="0" dirty="0">
              <a:solidFill>
                <a:srgbClr val="F5F2E9"/>
              </a:solidFill>
              <a:latin typeface="Helvetica Neue"/>
              <a:ea typeface="Hiragino Sans GB"/>
            </a:endParaRPr>
          </a:p>
        </p:txBody>
      </p:sp>
      <p:sp>
        <p:nvSpPr>
          <p:cNvPr id="24" name="TextBox 5">
            <a:extLst>
              <a:ext uri="{FF2B5EF4-FFF2-40B4-BE49-F238E27FC236}">
                <a16:creationId xmlns:a16="http://schemas.microsoft.com/office/drawing/2014/main" id="{018E3165-39E1-251D-24A8-895BC55DB333}"/>
              </a:ext>
            </a:extLst>
          </p:cNvPr>
          <p:cNvSpPr txBox="1"/>
          <p:nvPr/>
        </p:nvSpPr>
        <p:spPr>
          <a:xfrm>
            <a:off x="1021080" y="5525355"/>
            <a:ext cx="10149840" cy="723018"/>
          </a:xfrm>
          <a:prstGeom prst="rect">
            <a:avLst/>
          </a:prstGeom>
          <a:noFill/>
          <a:ln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2000" dirty="0">
                <a:solidFill>
                  <a:srgbClr val="F5F2E9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课程群永久答疑</a:t>
            </a:r>
            <a:endParaRPr lang="en-US" altLang="zh-CN" sz="2000" dirty="0">
              <a:solidFill>
                <a:srgbClr val="F5F2E9"/>
              </a:solidFill>
              <a:latin typeface="DengXian" panose="02010600030101010101" pitchFamily="2" charset="-122"/>
              <a:ea typeface="DengXian" panose="02010600030101010101" pitchFamily="2" charset="-122"/>
            </a:endParaRPr>
          </a:p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2000" dirty="0">
                <a:solidFill>
                  <a:srgbClr val="F5F2E9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可以免费上后续的</a:t>
            </a:r>
            <a:r>
              <a:rPr lang="en-US" altLang="zh-CN" sz="2000" dirty="0">
                <a:solidFill>
                  <a:srgbClr val="F5F2E9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AI</a:t>
            </a:r>
            <a:r>
              <a:rPr lang="zh-CN" altLang="en-US" sz="2000" dirty="0">
                <a:solidFill>
                  <a:srgbClr val="F5F2E9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课程更新</a:t>
            </a:r>
            <a:endParaRPr sz="2000" dirty="0">
              <a:solidFill>
                <a:srgbClr val="F5F2E9"/>
              </a:solidFill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3726982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882</TotalTime>
  <Words>21742</Words>
  <Application>Microsoft Macintosh PowerPoint</Application>
  <PresentationFormat>宽屏</PresentationFormat>
  <Paragraphs>5987</Paragraphs>
  <Slides>53</Slides>
  <Notes>53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53</vt:i4>
      </vt:variant>
    </vt:vector>
  </HeadingPairs>
  <TitlesOfParts>
    <vt:vector size="58" baseType="lpstr">
      <vt:lpstr>DengXian</vt:lpstr>
      <vt:lpstr>Arial</vt:lpstr>
      <vt:lpstr>Calibri</vt:lpstr>
      <vt:lpstr>Helvetica Neue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didi</cp:lastModifiedBy>
  <cp:revision>3</cp:revision>
  <dcterms:created xsi:type="dcterms:W3CDTF">2013-01-27T09:14:16Z</dcterms:created>
  <dcterms:modified xsi:type="dcterms:W3CDTF">2026-08-28T02:33:11Z</dcterms:modified>
  <cp:category/>
</cp:coreProperties>
</file>