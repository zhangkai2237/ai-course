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今天不再追加一个新工具，而是做三件事：回顾第一阶段形成了什么能力；讨论AI产品、Agent、商业和职业正在发生的变化；最后说明第二阶段如何把这些能力变成项目证据。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讲义标题与总体结构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把前11课从知识点重新整理成一条可交付的AI产品能力链。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第一阶段，我们到底学会了什么？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&gt; 建议时长：30分钟</a:t>
            </a:r>
          </a:p>
          <a:p/>
          <a:p>
            <a:r>
              <a:t>这一部分不按照第1课、第2课重新复述，而是帮助学员回答：</a:t>
            </a:r>
          </a:p>
          <a:p/>
          <a:p>
            <a:r>
              <a:t>&gt; 经过第一阶段以后，我看待和设计AI产品的方式，究竟发生了什么变化？</a:t>
            </a:r>
          </a:p>
          <a:p/>
          <a:p>
            <a:r>
              <a:t>这一部分要形成两个结果：</a:t>
            </a:r>
          </a:p>
          <a:p/>
          <a:p>
            <a:r>
              <a:t>1. 让学员意识到前面的内容不是零散知识，而是一条完整的AI产品工作链路；</a:t>
            </a:r>
          </a:p>
          <a:p>
            <a:r>
              <a:t>2. 诚实说明第一阶段已经完成什么、还没有完成什么，为后面的趋势讨论和项目班做好衔接。</a:t>
            </a:r>
          </a:p>
          <a:p/>
          <a:p>
            <a:r>
              <a:t>## 一、最后一课为什么不继续讲新工具</a:t>
            </a:r>
          </a:p>
          <a:p/>
          <a:p>
            <a:r>
              <a:t>教师可以这样开场：</a:t>
            </a:r>
          </a:p>
          <a:p/>
          <a:p>
            <a:r>
              <a:t>&gt; 今天是第一阶段的最后一课。  </a:t>
            </a:r>
          </a:p>
          <a:p>
            <a:r>
              <a:t>&gt; 这一阶段，我们已经学习了大模型、Prompt、Workflow、RAG、Agent、需求分析、PRD、原型、Demo、评测、Bad Case、模型选型、成本和ROI。  </a:t>
            </a:r>
          </a:p>
          <a:p>
            <a:r>
              <a:t>&gt; 今天不会再塞给大家一组新的工具和名词。我们先回头看看：这些内容连接起来以后，我们现在到底具备了什么能力。</a:t>
            </a:r>
          </a:p>
          <a:p/>
          <a:p>
            <a:r>
              <a:t>先让学员选择：</a:t>
            </a:r>
          </a:p>
          <a:p/>
          <a:p>
            <a:r>
              <a:t>&gt; 如果只允许用一句话总结第一阶段，你觉得自己最大的变化是什么？</a:t>
            </a:r>
          </a:p>
          <a:p/>
          <a:p>
            <a:r>
              <a:t>- A. 会使用更多AI工具了；</a:t>
            </a:r>
          </a:p>
          <a:p>
            <a:r>
              <a:t>- B. 理解了更多AI技术概念；</a:t>
            </a:r>
          </a:p>
          <a:p>
            <a:r>
              <a:t>- C. 开始能够完整判断一个AI产品应该怎么做；</a:t>
            </a:r>
          </a:p>
          <a:p>
            <a:r>
              <a:t>- D. 已经可以独立负责一个完整AI产品。</a:t>
            </a:r>
          </a:p>
          <a:p/>
          <a:p>
            <a:r>
              <a:t>可以分别请一名选择B、一名选择C或D的学员，用30秒说明原因。</a:t>
            </a:r>
          </a:p>
          <a:p/>
          <a:p>
            <a:r>
              <a:t>### 对不同选择的回应</a:t>
            </a:r>
          </a:p>
          <a:p/>
          <a:p>
            <a:r>
              <a:t>如果选择A，可以回应：</a:t>
            </a:r>
          </a:p>
          <a:p/>
          <a:p>
            <a:r>
              <a:t>&gt; 会使用更多工具当然是学习结果的一部分。但如果第一阶段只留下“我会用更多工具”，课程价值是不够的。工具会不断更新，真正应该留下来的，是即使工具变化，我们仍然知道怎样判断问题和设计产品。</a:t>
            </a:r>
          </a:p>
          <a:p/>
          <a:p>
            <a:r>
              <a:t>如果选择B，可以回应：</a:t>
            </a:r>
          </a:p>
          <a:p/>
          <a:p>
            <a:r>
              <a:t>&gt; 理解技术概念也很重要。至少业务方说RAG、Agent、Workflow或者模型选型时，我们不会把它们混在一起。但产品经理最终需要回答的不是“RAG是什么”，而是“这个产品为什么需要RAG，不使用会发生什么”。</a:t>
            </a:r>
          </a:p>
          <a:p/>
          <a:p>
            <a:r>
              <a:t>如果选择C，可以回应：</a:t>
            </a:r>
          </a:p>
          <a:p/>
          <a:p>
            <a:r>
              <a:t>&gt; 这正是第一阶段真正希望形成的变化。面对一个新的AI需求，我们开始知道应该问哪些问题、做哪些判断。</a:t>
            </a:r>
          </a:p>
          <a:p/>
          <a:p>
            <a:r>
              <a:t>如果选择D，可以回应：</a:t>
            </a:r>
          </a:p>
          <a:p/>
          <a:p>
            <a:r>
              <a:t>&gt; 有真实业务和项目经验的同学，可能已经能够开始承担完整项目。但对大多数学员来说，目前更准确的状态是：理解了完整工作链路，也具备局部实践经验，还需要通过一个统一项目把这些能力连接起来。</a:t>
            </a:r>
          </a:p>
          <a:p/>
          <a:p>
            <a:r>
              <a:t>本段收束：</a:t>
            </a:r>
          </a:p>
          <a:p/>
          <a:p>
            <a:r>
              <a:t>&gt; 第一阶段最重要的变化，不是记住了更多AI名词，而是从“使用AI工具”，走向“开始具备AI产品判断”。</a:t>
            </a:r>
          </a:p>
          <a:p/>
          <a:p>
            <a:r>
              <a:t>## 二、学习前后的思维差异</a:t>
            </a:r>
          </a:p>
          <a:p/>
          <a:p>
            <a:r>
              <a:t>给出一个情境：</a:t>
            </a:r>
          </a:p>
          <a:p/>
          <a:p>
            <a:r>
              <a:t>&gt; 老板说：“竞品都在做Agent，我们也做一个吧。”</a:t>
            </a:r>
          </a:p>
          <a:p/>
          <a:p>
            <a:r>
              <a:t>学习第一阶段以前，可能会这样反应：</a:t>
            </a:r>
          </a:p>
          <a:p/>
          <a:p>
            <a:r>
              <a:t>- Agent现在很热门；</a:t>
            </a:r>
          </a:p>
          <a:p>
            <a:r>
              <a:t>- 先看看用哪个平台；</a:t>
            </a:r>
          </a:p>
          <a:p>
            <a:r>
              <a:t>- 找一个类似案例；</a:t>
            </a:r>
          </a:p>
          <a:p>
            <a:r>
              <a:t>- 让AI生成方案；</a:t>
            </a:r>
          </a:p>
          <a:p>
            <a:r>
              <a:t>- 搭一个Demo；</a:t>
            </a:r>
          </a:p>
          <a:p>
            <a:r>
              <a:t>- 看起来能运行就开始立项。</a:t>
            </a:r>
          </a:p>
          <a:p/>
          <a:p>
            <a:r>
              <a:t>学完第一阶段以后，应该先问：</a:t>
            </a:r>
          </a:p>
          <a:p/>
          <a:p>
            <a:r>
              <a:t>1. 谁遇到了什么问题？</a:t>
            </a:r>
          </a:p>
          <a:p>
            <a:r>
              <a:t>2. 这个问题现在怎样解决？</a:t>
            </a:r>
          </a:p>
          <a:p>
            <a:r>
              <a:t>3. 问题发生频率有多高？</a:t>
            </a:r>
          </a:p>
          <a:p>
            <a:r>
              <a:t>4. 不解决会产生什么影响？</a:t>
            </a:r>
          </a:p>
          <a:p>
            <a:r>
              <a:t>5. 为什么需要AI？</a:t>
            </a:r>
          </a:p>
          <a:p>
            <a:r>
              <a:t>6. 固定Workflow能不能解决？</a:t>
            </a:r>
          </a:p>
          <a:p>
            <a:r>
              <a:t>7. 为什么一定需要Agent？</a:t>
            </a:r>
          </a:p>
          <a:p>
            <a:r>
              <a:t>8. Agent需要调用什么工具？</a:t>
            </a:r>
          </a:p>
          <a:p>
            <a:r>
              <a:t>9. 哪些动作必须人工确认？</a:t>
            </a:r>
          </a:p>
          <a:p>
            <a:r>
              <a:t>10. 如果Agent执行错误，能否发现和撤销？</a:t>
            </a:r>
          </a:p>
          <a:p>
            <a:r>
              <a:t>11. 怎样建立评测集？</a:t>
            </a:r>
          </a:p>
          <a:p>
            <a:r>
              <a:t>12. 模型、安全和部署有什么限制？</a:t>
            </a:r>
          </a:p>
          <a:p>
            <a:r>
              <a:t>13. 单次和规模化成本是多少？</a:t>
            </a:r>
          </a:p>
          <a:p>
            <a:r>
              <a:t>14. 项目是否真的值得做？</a:t>
            </a:r>
          </a:p>
          <a:p/>
          <a:p>
            <a:r>
              <a:t>然后问学员：</a:t>
            </a:r>
          </a:p>
          <a:p/>
          <a:p>
            <a:r>
              <a:t>&gt; 这两种反应之间最大的区别是什么？</a:t>
            </a:r>
          </a:p>
          <a:p/>
          <a:p>
            <a:r>
              <a:t>教师收回：</a:t>
            </a:r>
          </a:p>
          <a:p/>
          <a:p>
            <a:r>
              <a:t>&gt; 第一种反应是在寻找工具和功能，第二种反应是在完成产品决策。</a:t>
            </a:r>
          </a:p>
          <a:p/>
          <a:p>
            <a:r>
              <a:t>## 三、第一阶段形成的五项能力</a:t>
            </a:r>
          </a:p>
          <a:p/>
          <a:p>
            <a:r>
              <a:t>用一条完整链路回顾：</a:t>
            </a:r>
          </a:p>
          <a:p/>
          <a:p>
            <a:r>
              <a:t>&gt; **问题判断 → AI方案 → 产品定义 → 效果验证 → 商业价值**</a:t>
            </a:r>
          </a:p>
          <a:p/>
          <a:p>
            <a:r>
              <a:t>### 能力一：判断什么问题值得用AI解决</a:t>
            </a:r>
          </a:p>
          <a:p/>
          <a:p>
            <a:r>
              <a:t>以前容易问：</a:t>
            </a:r>
          </a:p>
          <a:p/>
          <a:p>
            <a:r>
              <a:t>- 能不能加一个AI功能；</a:t>
            </a:r>
          </a:p>
          <a:p>
            <a:r>
              <a:t>- 能不能做一个聊天助手；</a:t>
            </a:r>
          </a:p>
          <a:p>
            <a:r>
              <a:t>- 能不能做成Agent；</a:t>
            </a:r>
          </a:p>
          <a:p>
            <a:r>
              <a:t>- 能不能使用最新模型。</a:t>
            </a:r>
          </a:p>
          <a:p/>
          <a:p>
            <a:r>
              <a:t>现在应该进一步判断：</a:t>
            </a:r>
          </a:p>
          <a:p/>
          <a:p>
            <a:r>
              <a:t>- 核心用户是谁；</a:t>
            </a:r>
          </a:p>
          <a:p>
            <a:r>
              <a:t>- 用户正在完成什么任务；</a:t>
            </a:r>
          </a:p>
          <a:p>
            <a:r>
              <a:t>- 当前流程有什么问题；</a:t>
            </a:r>
          </a:p>
          <a:p>
            <a:r>
              <a:t>- 问题是否高频、高成本或高风险；</a:t>
            </a:r>
          </a:p>
          <a:p>
            <a:r>
              <a:t>- 传统产品、规则和流程优化能否解决；</a:t>
            </a:r>
          </a:p>
          <a:p>
            <a:r>
              <a:t>- AI为什么是更合适的手段；</a:t>
            </a:r>
          </a:p>
          <a:p>
            <a:r>
              <a:t>- AI介入以后会增加什么风险；</a:t>
            </a:r>
          </a:p>
          <a:p>
            <a:r>
              <a:t>- 第一期最值得验证什么。</a:t>
            </a:r>
          </a:p>
          <a:p/>
          <a:p>
            <a:r>
              <a:t>对应所学：岗位与工作、场景判断、产品形态、需求分析、AI介入和MVP。</a:t>
            </a:r>
          </a:p>
          <a:p/>
          <a:p>
            <a:r>
              <a:t>核心变化：</a:t>
            </a:r>
          </a:p>
          <a:p/>
          <a:p>
            <a:r>
              <a:t>&gt; 从“这里能不能使用AI”，变成“这里是否值得使用AI，以及AI应该介入到什么程度”。</a:t>
            </a:r>
          </a:p>
          <a:p/>
          <a:p>
            <a:r>
              <a:t>### 能力二：把AI能力组合成可控产品方案</a:t>
            </a:r>
          </a:p>
          <a:p/>
          <a:p>
            <a:r>
              <a:t>现在应该知道：</a:t>
            </a:r>
          </a:p>
          <a:p/>
          <a:p>
            <a:r>
              <a:t>| 能力 | 主要解决的问题 |</a:t>
            </a:r>
          </a:p>
          <a:p>
            <a:r>
              <a:t>|---|---|</a:t>
            </a:r>
          </a:p>
          <a:p>
            <a:r>
              <a:t>| Prompt | 怎样让模型完成一次明确任务 |</a:t>
            </a:r>
          </a:p>
          <a:p>
            <a:r>
              <a:t>| Workflow | 怎样组织稳定、可控制的处理流程 |</a:t>
            </a:r>
          </a:p>
          <a:p>
            <a:r>
              <a:t>| RAG | 怎样让模型使用外部或私有知识 |</a:t>
            </a:r>
          </a:p>
          <a:p>
            <a:r>
              <a:t>| Agent | 怎样让系统根据任务调用工具和执行动作 |</a:t>
            </a:r>
          </a:p>
          <a:p>
            <a:r>
              <a:t>| 规则 | 怎样完成确定性判断 |</a:t>
            </a:r>
          </a:p>
          <a:p>
            <a:r>
              <a:t>| 人工 | 怎样处理责任、高风险和模糊问题 |</a:t>
            </a:r>
          </a:p>
          <a:p/>
          <a:p>
            <a:r>
              <a:t>AI产品方案不是选择一个最流行的技术，而是根据任务完成组合。</a:t>
            </a:r>
          </a:p>
          <a:p/>
          <a:p>
            <a:r>
              <a:t>例如智能审核产品中：</a:t>
            </a:r>
          </a:p>
          <a:p/>
          <a:p>
            <a:r>
              <a:t>- 敏感词由规则判断；</a:t>
            </a:r>
          </a:p>
          <a:p>
            <a:r>
              <a:t>- 复杂语义由大模型判断；</a:t>
            </a:r>
          </a:p>
          <a:p>
            <a:r>
              <a:t>- 企业规则和案例由RAG提供；</a:t>
            </a:r>
          </a:p>
          <a:p>
            <a:r>
              <a:t>- 高风险和不确定结果进入人工复核；</a:t>
            </a:r>
          </a:p>
          <a:p>
            <a:r>
              <a:t>- 确认后的动作再由系统执行。</a:t>
            </a:r>
          </a:p>
          <a:p/>
          <a:p>
            <a:r>
              <a:t>对应所学：大模型与上下文、Prompt、Workflow、RAG、Agent、Coze综合实践以及人机分工。</a:t>
            </a:r>
          </a:p>
          <a:p/>
          <a:p>
            <a:r>
              <a:t>核心变化：</a:t>
            </a:r>
          </a:p>
          <a:p/>
          <a:p>
            <a:r>
              <a:t>&gt; 从“这个项目应该使用什么AI技术”，变成“不同任务应该分别由什么能力负责”。</a:t>
            </a:r>
          </a:p>
          <a:p/>
          <a:p>
            <a:r>
              <a:t>### 能力三：把AI想法变成可以交付的产品</a:t>
            </a:r>
          </a:p>
          <a:p/>
          <a:p>
            <a:r>
              <a:t>一个AI产品需要被清楚定义：</a:t>
            </a:r>
          </a:p>
          <a:p/>
          <a:p>
            <a:r>
              <a:t>- 用户和场景；</a:t>
            </a:r>
          </a:p>
          <a:p>
            <a:r>
              <a:t>- 产品目标；</a:t>
            </a:r>
          </a:p>
          <a:p>
            <a:r>
              <a:t>- 当前流程；</a:t>
            </a:r>
          </a:p>
          <a:p>
            <a:r>
              <a:t>- AI介入点；</a:t>
            </a:r>
          </a:p>
          <a:p>
            <a:r>
              <a:t>- 人机协作；</a:t>
            </a:r>
          </a:p>
          <a:p>
            <a:r>
              <a:t>- 输入和输出；</a:t>
            </a:r>
          </a:p>
          <a:p>
            <a:r>
              <a:t>- MVP范围；</a:t>
            </a:r>
          </a:p>
          <a:p>
            <a:r>
              <a:t>- 页面、流程和交互；</a:t>
            </a:r>
          </a:p>
          <a:p>
            <a:r>
              <a:t>- 正常、异常和确认状态；</a:t>
            </a:r>
          </a:p>
          <a:p>
            <a:r>
              <a:t>- AI无法判断时怎么办；</a:t>
            </a:r>
          </a:p>
          <a:p>
            <a:r>
              <a:t>- 验收标准；</a:t>
            </a:r>
          </a:p>
          <a:p>
            <a:r>
              <a:t>- 不在本期范围内的内容。</a:t>
            </a:r>
          </a:p>
          <a:p/>
          <a:p>
            <a:r>
              <a:t>PRD、原型和Demo解决的问题不同：</a:t>
            </a:r>
          </a:p>
          <a:p/>
          <a:p>
            <a:r>
              <a:t>| 产出 | 主要证明什么 |</a:t>
            </a:r>
          </a:p>
          <a:p>
            <a:r>
              <a:t>|---|---|</a:t>
            </a:r>
          </a:p>
          <a:p>
            <a:r>
              <a:t>| PRD | 产品方案是否定义清楚 |</a:t>
            </a:r>
          </a:p>
          <a:p>
            <a:r>
              <a:t>| 原型 | 用户流程和交互是否合理 |</a:t>
            </a:r>
          </a:p>
          <a:p>
            <a:r>
              <a:t>| Demo | 核心产品假设能否被体验和验证 |</a:t>
            </a:r>
          </a:p>
          <a:p/>
          <a:p>
            <a:r>
              <a:t>对应所学：需求分析、AI产品PRD、产品流程、MVP、原型、Vibe Coding、Demo和验收。</a:t>
            </a:r>
          </a:p>
          <a:p/>
          <a:p>
            <a:r>
              <a:t>核心变化：</a:t>
            </a:r>
          </a:p>
          <a:p/>
          <a:p>
            <a:r>
              <a:t>&gt; 从“能不能快速做出Demo”，变成“这个Demo正在验证什么产品假设”。</a:t>
            </a:r>
          </a:p>
          <a:p/>
          <a:p>
            <a:r>
              <a:t>### 能力四：用评测和Bad Case管理不确定性</a:t>
            </a:r>
          </a:p>
          <a:p/>
          <a:p>
            <a:r>
              <a:t>AI产品效果需要经过：</a:t>
            </a:r>
          </a:p>
          <a:p/>
          <a:p>
            <a:r>
              <a:t>1. 明确业务任务；</a:t>
            </a:r>
          </a:p>
          <a:p>
            <a:r>
              <a:t>2. 收集有代表性的输入；</a:t>
            </a:r>
          </a:p>
          <a:p>
            <a:r>
              <a:t>3. 建立评测集；</a:t>
            </a:r>
          </a:p>
          <a:p>
            <a:r>
              <a:t>4. 人工标注标准答案；</a:t>
            </a:r>
          </a:p>
          <a:p>
            <a:r>
              <a:t>5. 定义核心指标；</a:t>
            </a:r>
          </a:p>
          <a:p>
            <a:r>
              <a:t>6. 测试模型和产品方案；</a:t>
            </a:r>
          </a:p>
          <a:p>
            <a:r>
              <a:t>7. 分析Bad Case；</a:t>
            </a:r>
          </a:p>
          <a:p>
            <a:r>
              <a:t>8. 判断问题原因；</a:t>
            </a:r>
          </a:p>
          <a:p>
            <a:r>
              <a:t>9. 修改数据、Prompt、RAG、Workflow、模型或产品设计；</a:t>
            </a:r>
          </a:p>
          <a:p>
            <a:r>
              <a:t>10. 回归评测；</a:t>
            </a:r>
          </a:p>
          <a:p>
            <a:r>
              <a:t>11. 持续收集新问题。</a:t>
            </a:r>
          </a:p>
          <a:p/>
          <a:p>
            <a:r>
              <a:t>指标必须与任务和错误后果对应。例如：</a:t>
            </a:r>
          </a:p>
          <a:p/>
          <a:p>
            <a:r>
              <a:t>- RAG关注是否检索到正确来源；</a:t>
            </a:r>
          </a:p>
          <a:p>
            <a:r>
              <a:t>- 审核产品关注高风险问题是否漏判；</a:t>
            </a:r>
          </a:p>
          <a:p>
            <a:r>
              <a:t>- 会议助手关注行动项是否遗漏；</a:t>
            </a:r>
          </a:p>
          <a:p>
            <a:r>
              <a:t>- Agent关注任务是否正确执行。</a:t>
            </a:r>
          </a:p>
          <a:p/>
          <a:p>
            <a:r>
              <a:t>核心变化：</a:t>
            </a:r>
          </a:p>
          <a:p/>
          <a:p>
            <a:r>
              <a:t>&gt; 从“这个模型看起来效果不错”，变成“在什么数据、指标和风险标准下，它是否达到产品要求”。</a:t>
            </a:r>
          </a:p>
          <a:p/>
          <a:p>
            <a:r>
              <a:t>### 能力五：判断产品能否真正落地并产生价值</a:t>
            </a:r>
          </a:p>
          <a:p/>
          <a:p>
            <a:r>
              <a:t>模型和产品方案需要同时考虑：</a:t>
            </a:r>
          </a:p>
          <a:p/>
          <a:p>
            <a:r>
              <a:t>- 业务效果；</a:t>
            </a:r>
          </a:p>
          <a:p>
            <a:r>
              <a:t>- 响应速度；</a:t>
            </a:r>
          </a:p>
          <a:p>
            <a:r>
              <a:t>- Token和推理成本；</a:t>
            </a:r>
          </a:p>
          <a:p>
            <a:r>
              <a:t>- 调用规模；</a:t>
            </a:r>
          </a:p>
          <a:p>
            <a:r>
              <a:t>- 数据安全；</a:t>
            </a:r>
          </a:p>
          <a:p>
            <a:r>
              <a:t>- 国内外模型限制；</a:t>
            </a:r>
          </a:p>
          <a:p>
            <a:r>
              <a:t>- 私有化和云服务；</a:t>
            </a:r>
          </a:p>
          <a:p>
            <a:r>
              <a:t>- 人工复核；</a:t>
            </a:r>
          </a:p>
          <a:p>
            <a:r>
              <a:t>- 系统开发；</a:t>
            </a:r>
          </a:p>
          <a:p>
            <a:r>
              <a:t>- 错误成本；</a:t>
            </a:r>
          </a:p>
          <a:p>
            <a:r>
              <a:t>- 供应商风险；</a:t>
            </a:r>
          </a:p>
          <a:p>
            <a:r>
              <a:t>- 自研、采购还是组合建设；</a:t>
            </a:r>
          </a:p>
          <a:p>
            <a:r>
              <a:t>- 项目ROI；</a:t>
            </a:r>
          </a:p>
          <a:p>
            <a:r>
              <a:t>- 是否应该继续。</a:t>
            </a:r>
          </a:p>
          <a:p/>
          <a:p>
            <a:r>
              <a:t>核心变化：</a:t>
            </a:r>
          </a:p>
          <a:p/>
          <a:p>
            <a:r>
              <a:t>&gt; 从“这个AI功能能不能实现”，变成“它能否在可以接受的效果、风险和成本下长期创造价值”。</a:t>
            </a:r>
          </a:p>
          <a:p/>
          <a:p>
            <a:r>
              <a:t>## 四、五项能力是一条因果链</a:t>
            </a:r>
          </a:p>
          <a:p/>
          <a:p>
            <a:r>
              <a:t>例如，产品目标是减少营销内容中的高风险漏判：</a:t>
            </a:r>
          </a:p>
          <a:p/>
          <a:p>
            <a:r>
              <a:t>- 问题判断决定优先关注高风险内容；</a:t>
            </a:r>
          </a:p>
          <a:p>
            <a:r>
              <a:t>- AI方案决定规则、大模型和人工如何分工；</a:t>
            </a:r>
          </a:p>
          <a:p>
            <a:r>
              <a:t>- PRD需要定义风险等级和处理动作；</a:t>
            </a:r>
          </a:p>
          <a:p>
            <a:r>
              <a:t>- 评测需要关注高风险召回率；</a:t>
            </a:r>
          </a:p>
          <a:p>
            <a:r>
              <a:t>- 模型选型需要优先保证风险识别能力；</a:t>
            </a:r>
          </a:p>
          <a:p>
            <a:r>
              <a:t>- ROI需要计算人工复核和错误损失。</a:t>
            </a:r>
          </a:p>
          <a:p/>
          <a:p>
            <a:r>
              <a:t>完整链路是：</a:t>
            </a:r>
          </a:p>
          <a:p/>
          <a:p>
            <a:r>
              <a:t>&gt; 业务问题决定产品目标  </a:t>
            </a:r>
          </a:p>
          <a:p>
            <a:r>
              <a:t>&gt; 产品目标决定AI方案  </a:t>
            </a:r>
          </a:p>
          <a:p>
            <a:r>
              <a:t>&gt; AI方案决定产品流程  </a:t>
            </a:r>
          </a:p>
          <a:p>
            <a:r>
              <a:t>&gt; 产品流程决定评测方式  </a:t>
            </a:r>
          </a:p>
          <a:p>
            <a:r>
              <a:t>&gt; 评测结果影响模型和迭代  </a:t>
            </a:r>
          </a:p>
          <a:p>
            <a:r>
              <a:t>&gt; 成本与价值最终决定是否继续</a:t>
            </a:r>
          </a:p>
          <a:p/>
          <a:p>
            <a:r>
              <a:t>核心结论：</a:t>
            </a:r>
          </a:p>
          <a:p/>
          <a:p>
            <a:r>
              <a:t>&gt; 第一阶段建立的不是一组AI知识点，而是一套从问题到价值的产品决策链路。</a:t>
            </a:r>
          </a:p>
          <a:p/>
          <a:p>
            <a:r>
              <a:t>## 五、第一阶段成果墙</a:t>
            </a:r>
          </a:p>
          <a:p/>
          <a:p>
            <a:r>
              <a:t>| 第一阶段成果 | 它证明了什么 |</a:t>
            </a:r>
          </a:p>
          <a:p>
            <a:r>
              <a:t>|---|---|</a:t>
            </a:r>
          </a:p>
          <a:p>
            <a:r>
              <a:t>| Prompt产品化练习 | 能定义AI任务、上下文、约束和输出 |</a:t>
            </a:r>
          </a:p>
          <a:p>
            <a:r>
              <a:t>| Workflow流程 | 能把复杂任务拆成稳定步骤 |</a:t>
            </a:r>
          </a:p>
          <a:p>
            <a:r>
              <a:t>| RAG知识库方案 | 理解外部知识如何进入AI产品 |</a:t>
            </a:r>
          </a:p>
          <a:p>
            <a:r>
              <a:t>| Agent工具调用方案 | 理解受控执行、权限和人工确认 |</a:t>
            </a:r>
          </a:p>
          <a:p>
            <a:r>
              <a:t>| Coze综合实践 | 能把多种AI能力组成可运行流程 |</a:t>
            </a:r>
          </a:p>
          <a:p>
            <a:r>
              <a:t>| 需求分析和PRD | 能把业务问题转化成产品方案 |</a:t>
            </a:r>
          </a:p>
          <a:p>
            <a:r>
              <a:t>| 原型和Demo | 能让产品假设被体验和验证 |</a:t>
            </a:r>
          </a:p>
          <a:p>
            <a:r>
              <a:t>| 评测集和Bad Case | 能定义效果并推动迭代 |</a:t>
            </a:r>
          </a:p>
          <a:p>
            <a:r>
              <a:t>| 智能审核完整PRD | 理解专业AI产品PRD的完整结构 |</a:t>
            </a:r>
          </a:p>
          <a:p>
            <a:r>
              <a:t>| 模型、成本和ROI分析 | 能判断产品是否具备落地价值 |</a:t>
            </a:r>
          </a:p>
          <a:p/>
          <a:p>
            <a:r>
              <a:t>需要准确表述：</a:t>
            </a:r>
          </a:p>
          <a:p/>
          <a:p>
            <a:r>
              <a:t>&gt; 第一阶段已经让大家接触并实践了完整项目中的主要能力模块，但这些模块还没有集中在一个个人项目中。</a:t>
            </a:r>
          </a:p>
          <a:p/>
          <a:p>
            <a:r>
              <a:t>## 六、第一阶段还没有完成什么</a:t>
            </a:r>
          </a:p>
          <a:p/>
          <a:p>
            <a:r>
              <a:t>对大多数学员来说，目前还缺少：</a:t>
            </a:r>
          </a:p>
          <a:p/>
          <a:p>
            <a:r>
              <a:t>- 一个自己选择并持续推进的统一项目；</a:t>
            </a:r>
          </a:p>
          <a:p>
            <a:r>
              <a:t>- 前后口径一致的需求、PRD和Demo；</a:t>
            </a:r>
          </a:p>
          <a:p>
            <a:r>
              <a:t>- 真实或可解释的用户问题证据；</a:t>
            </a:r>
          </a:p>
          <a:p>
            <a:r>
              <a:t>- 自己建立并运行的评测集；</a:t>
            </a:r>
          </a:p>
          <a:p>
            <a:r>
              <a:t>- 真实Bad Case；</a:t>
            </a:r>
          </a:p>
          <a:p>
            <a:r>
              <a:t>- 根据测试结果进行的迭代；</a:t>
            </a:r>
          </a:p>
          <a:p>
            <a:r>
              <a:t>- 模型、成本和ROI的统一判断；</a:t>
            </a:r>
          </a:p>
          <a:p>
            <a:r>
              <a:t>- 能够接受面试追问的个人项目过程。</a:t>
            </a:r>
          </a:p>
          <a:p/>
          <a:p>
            <a:r>
              <a:t>本部分最终总结：</a:t>
            </a:r>
          </a:p>
          <a:p/>
          <a:p>
            <a:r>
              <a:t>| 学习前 | 第一阶段以后 |</a:t>
            </a:r>
          </a:p>
          <a:p>
            <a:r>
              <a:t>|---|---|</a:t>
            </a:r>
          </a:p>
          <a:p>
            <a:r>
              <a:t>| 从工具开始 | 从问题开始 |</a:t>
            </a:r>
          </a:p>
          <a:p>
            <a:r>
              <a:t>| 追求生成效果 | 设计完整产品系统 |</a:t>
            </a:r>
          </a:p>
          <a:p>
            <a:r>
              <a:t>| 凭感觉判断 | 用评测和Bad Case验证 |</a:t>
            </a:r>
          </a:p>
          <a:p>
            <a:r>
              <a:t>| 关注能不能做 | 判断值不值得做 |</a:t>
            </a:r>
          </a:p>
          <a:p/>
          <a:p>
            <a:r>
              <a:t>过渡语：</a:t>
            </a:r>
          </a:p>
          <a:p/>
          <a:p>
            <a:r>
              <a:t>&gt; 如果模型还会继续变强，Prompt、代码、设计和内容生产的门槛继续下降，那么AI产品真正的价值会转移到哪里？模型公司会不会吃掉大量AI应用？未来的软件还需不需要页面和按钮？接下来，我们把视角再抬高一层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第一部分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变化不只是会用AI，而是开始对完整产品决策负责。</a:t>
            </a:r>
          </a:p>
          <a:p/>
          <a:p>
            <a:r>
              <a:t>讲义中的相关部分：第一阶段，我们到底学会了什么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第一阶段，我们到底学会了什么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能从问题走到价值，才是完整的AI产品能力。</a:t>
            </a:r>
          </a:p>
          <a:p/>
          <a:p>
            <a:r>
              <a:t>讲义中的相关部分：第一阶段，我们到底学会了什么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第一阶段，我们到底学会了什么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方案质量取决于问题定义和人机边界，而不是模型名称。</a:t>
            </a:r>
          </a:p>
          <a:p/>
          <a:p>
            <a:r>
              <a:t>讲义中的相关部分：问题判断</a:t>
            </a:r>
          </a:p>
          <a:p/>
          <a:p>
            <a:r>
              <a:t>讲义中的相关部分：AI方案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问题判断；AI方案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PRD定义决策，原型呈现交互，Demo验证真实运行。</a:t>
            </a:r>
          </a:p>
          <a:p/>
          <a:p>
            <a:r>
              <a:t>AI可以快速生成PRD结构、功能描述、用户故事、验收标准和异常场景。这意味着“写出一份看起来完整的PRD”不再稀缺。</a:t>
            </a:r>
          </a:p>
          <a:p/>
          <a:p>
            <a:r>
              <a:t>真正重要的是：</a:t>
            </a:r>
          </a:p>
          <a:p/>
          <a:p>
            <a:r>
              <a:t>- 需求来源是否可信；</a:t>
            </a:r>
          </a:p>
          <a:p>
            <a:r>
              <a:t>- 前后逻辑是否一致；</a:t>
            </a:r>
          </a:p>
          <a:p>
            <a:r>
              <a:t>- AI输入输出是否清楚；</a:t>
            </a:r>
          </a:p>
          <a:p>
            <a:r>
              <a:t>- 人机边界是否合理；</a:t>
            </a:r>
          </a:p>
          <a:p>
            <a:r>
              <a:t>- 异常和风险是否真实；</a:t>
            </a:r>
          </a:p>
          <a:p>
            <a:r>
              <a:t>- 验收标准能否执行；</a:t>
            </a:r>
          </a:p>
          <a:p>
            <a:r>
              <a:t>- 文档能否支持团队协作。</a:t>
            </a:r>
          </a:p>
          <a:p/>
          <a:p>
            <a:r>
              <a:t>结论：</a:t>
            </a:r>
          </a:p>
          <a:p/>
          <a:p>
            <a:r>
              <a:t>&gt; AI时代，PRD的价值从“证明会写文档”，转向“证明完成了严谨的产品决策”。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PRD；原型；Demo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评测集让改进有依据，Bad Case让问题能够被归因和回归。</a:t>
            </a:r>
          </a:p>
          <a:p/>
          <a:p>
            <a:r>
              <a:t>讲义中的相关部分：评测集</a:t>
            </a:r>
          </a:p>
          <a:p/>
          <a:p>
            <a:r>
              <a:t>AI产品效果需要经过：</a:t>
            </a:r>
          </a:p>
          <a:p/>
          <a:p>
            <a:r>
              <a:t>1. 明确业务任务；</a:t>
            </a:r>
          </a:p>
          <a:p>
            <a:r>
              <a:t>2. 收集有代表性的输入；</a:t>
            </a:r>
          </a:p>
          <a:p>
            <a:r>
              <a:t>3. 建立评测集；</a:t>
            </a:r>
          </a:p>
          <a:p>
            <a:r>
              <a:t>4. 人工标注标准答案；</a:t>
            </a:r>
          </a:p>
          <a:p>
            <a:r>
              <a:t>5. 定义核心指标；</a:t>
            </a:r>
          </a:p>
          <a:p>
            <a:r>
              <a:t>6. 测试模型和产品方案；</a:t>
            </a:r>
          </a:p>
          <a:p>
            <a:r>
              <a:t>7. 分析Bad Case；</a:t>
            </a:r>
          </a:p>
          <a:p>
            <a:r>
              <a:t>8. 判断问题原因；</a:t>
            </a:r>
          </a:p>
          <a:p>
            <a:r>
              <a:t>9. 修改数据、Prompt、RAG、Workflow、模型或产品设计；</a:t>
            </a:r>
          </a:p>
          <a:p>
            <a:r>
              <a:t>10. 回归评测；</a:t>
            </a:r>
          </a:p>
          <a:p>
            <a:r>
              <a:t>11. 持续收集新问题。</a:t>
            </a:r>
          </a:p>
          <a:p/>
          <a:p>
            <a:r>
              <a:t>指标必须与任务和错误后果对应。例如：</a:t>
            </a:r>
          </a:p>
          <a:p/>
          <a:p>
            <a:r>
              <a:t>- RAG关注是否检索到正确来源；</a:t>
            </a:r>
          </a:p>
          <a:p>
            <a:r>
              <a:t>- 审核产品关注高风险问题是否漏判；</a:t>
            </a:r>
          </a:p>
          <a:p>
            <a:r>
              <a:t>- 会议助手关注行动项是否遗漏；</a:t>
            </a:r>
          </a:p>
          <a:p>
            <a:r>
              <a:t>- Agent关注任务是否正确执行。</a:t>
            </a:r>
          </a:p>
          <a:p/>
          <a:p>
            <a:r>
              <a:t>核心变化：</a:t>
            </a:r>
          </a:p>
          <a:p/>
          <a:p>
            <a:r>
              <a:t>&gt; 从“这个模型看起来效果不错”，变成“在什么数据、指标和风险标准下，它是否达到产品要求”。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评测集；Bad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最强的模型未必是最合适的模型，最便宜也未必创造价值。</a:t>
            </a:r>
          </a:p>
          <a:p/>
          <a:p>
            <a:r>
              <a:t>讲义中的相关部分：模型选型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讲义中的相关部分：ROI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模型选型；成本；ROI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这一页把前11课串起来。以营销内容审核为例：如果从‘完全自动发布’改为‘AI识别风险，人工决定是否修改’，那么产品流程会新增风险等级、原文引用、修改建议和人工确认；评测需要同时看高风险漏判和误判；成本也要把人工复核算进去。说明上游的产品判断会一直传导到最后的商业判断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第一部分·四｜五项能力是一条因果链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这些不是十份作业，而是一个AI产品项目可能需要的十类证据。</a:t>
            </a:r>
          </a:p>
          <a:p/>
          <a:p>
            <a:r>
              <a:t>&gt; 建议时长：30分钟</a:t>
            </a:r>
          </a:p>
          <a:p/>
          <a:p>
            <a:r>
              <a:t>这一部分不按照第1课、第2课重新复述，而是帮助学员回答：</a:t>
            </a:r>
          </a:p>
          <a:p/>
          <a:p>
            <a:r>
              <a:t>&gt; 经过第一阶段以后，我看待和设计AI产品的方式，究竟发生了什么变化？</a:t>
            </a:r>
          </a:p>
          <a:p/>
          <a:p>
            <a:r>
              <a:t>这一部分要形成两个结果：</a:t>
            </a:r>
          </a:p>
          <a:p/>
          <a:p>
            <a:r>
              <a:t>1. 让学员意识到前面的内容不是零散知识，而是一条完整的AI产品工作链路；</a:t>
            </a:r>
          </a:p>
          <a:p>
            <a:r>
              <a:t>2. 诚实说明第一阶段已经完成什么、还没有完成什么，为后面的趋势讨论和项目班做好衔接。</a:t>
            </a:r>
          </a:p>
          <a:p/>
          <a:p>
            <a:r>
              <a:t>## 一、最后一课为什么不继续讲新工具</a:t>
            </a:r>
          </a:p>
          <a:p/>
          <a:p>
            <a:r>
              <a:t>教师可以这样开场：</a:t>
            </a:r>
          </a:p>
          <a:p/>
          <a:p>
            <a:r>
              <a:t>&gt; 今天是第一阶段的最后一课。  </a:t>
            </a:r>
          </a:p>
          <a:p>
            <a:r>
              <a:t>&gt; 这一阶段，我们已经学习了大模型、Prompt、Workflow、RAG、Agent、需求分析、PRD、原型、Demo、评测、Bad Case、模型选型、成本和ROI。  </a:t>
            </a:r>
          </a:p>
          <a:p>
            <a:r>
              <a:t>&gt; 今天不会再塞给大家一组新的工具和名词。我们先回头看看：这些内容连接起来以后，我们现在到底具备了什么能力。</a:t>
            </a:r>
          </a:p>
          <a:p/>
          <a:p>
            <a:r>
              <a:t>先让学员选择：</a:t>
            </a:r>
          </a:p>
          <a:p/>
          <a:p>
            <a:r>
              <a:t>&gt; 如果只允许用一句话总结第一阶段，你觉得自己最大的变化是什么？</a:t>
            </a:r>
          </a:p>
          <a:p/>
          <a:p>
            <a:r>
              <a:t>- A. 会使用更多AI工具了；</a:t>
            </a:r>
          </a:p>
          <a:p>
            <a:r>
              <a:t>- B. 理解了更多AI技术概念；</a:t>
            </a:r>
          </a:p>
          <a:p>
            <a:r>
              <a:t>- C. 开始能够完整判断一个AI产品应该怎么做；</a:t>
            </a:r>
          </a:p>
          <a:p>
            <a:r>
              <a:t>- D. 已经可以独立负责一个完整AI产品。</a:t>
            </a:r>
          </a:p>
          <a:p/>
          <a:p>
            <a:r>
              <a:t>可以分别请一名选择B、一名选择C或D的学员，用30秒说明原因。</a:t>
            </a:r>
          </a:p>
          <a:p/>
          <a:p>
            <a:r>
              <a:t>### 对不同选择的回应</a:t>
            </a:r>
          </a:p>
          <a:p/>
          <a:p>
            <a:r>
              <a:t>如果选择A，可以回应：</a:t>
            </a:r>
          </a:p>
          <a:p/>
          <a:p>
            <a:r>
              <a:t>&gt; 会使用更多工具当然是学习结果的一部分。但如果第一阶段只留下“我会用更多工具”，课程价值是不够的。工具会不断更新，真正应该留下来的，是即使工具变化，我们仍然知道怎样判断问题和设计产品。</a:t>
            </a:r>
          </a:p>
          <a:p/>
          <a:p>
            <a:r>
              <a:t>如果选择B，可以回应：</a:t>
            </a:r>
          </a:p>
          <a:p/>
          <a:p>
            <a:r>
              <a:t>&gt; 理解技术概念也很重要。至少业务方说RAG、Agent、Workflow或者模型选型时，我们不会把它们混在一起。但产品经理最终需要回答的不是“RAG是什么”，而是“这个产品为什么需要RAG，不使用会发生什么”。</a:t>
            </a:r>
          </a:p>
          <a:p/>
          <a:p>
            <a:r>
              <a:t>如果选择C，可以回应：</a:t>
            </a:r>
          </a:p>
          <a:p/>
          <a:p>
            <a:r>
              <a:t>&gt; 这正是第一阶段真正希望形成的变化。面对一个新的AI需求，我们开始知道应该问哪些问题、做哪些判断。</a:t>
            </a:r>
          </a:p>
          <a:p/>
          <a:p>
            <a:r>
              <a:t>如果选择D，可以回应：</a:t>
            </a:r>
          </a:p>
          <a:p/>
          <a:p>
            <a:r>
              <a:t>&gt; 有真实业务和项目经验的同学，可能已经能够开始承担完整项目。但对大多数学员来说，目前更准确的状态是：理解了完整工作链路，也具备局部实践经验，还需要通过一个统一项目把这些能力连接起来。</a:t>
            </a:r>
          </a:p>
          <a:p/>
          <a:p>
            <a:r>
              <a:t>本段收束：</a:t>
            </a:r>
          </a:p>
          <a:p/>
          <a:p>
            <a:r>
              <a:t>&gt; 第一阶段最重要的变化，不是记住了更多AI名词，而是从“使用AI工具”，走向“开始具备AI产品判断”。</a:t>
            </a:r>
          </a:p>
          <a:p/>
          <a:p>
            <a:r>
              <a:t>## 二、学习前后的思维差异</a:t>
            </a:r>
          </a:p>
          <a:p/>
          <a:p>
            <a:r>
              <a:t>给出一个情境：</a:t>
            </a:r>
          </a:p>
          <a:p/>
          <a:p>
            <a:r>
              <a:t>&gt; 老板说：“竞品都在做Agent，我们也做一个吧。”</a:t>
            </a:r>
          </a:p>
          <a:p/>
          <a:p>
            <a:r>
              <a:t>学习第一阶段以前，可能会这样反应：</a:t>
            </a:r>
          </a:p>
          <a:p/>
          <a:p>
            <a:r>
              <a:t>- Agent现在很热门；</a:t>
            </a:r>
          </a:p>
          <a:p>
            <a:r>
              <a:t>- 先看看用哪个平台；</a:t>
            </a:r>
          </a:p>
          <a:p>
            <a:r>
              <a:t>- 找一个类似案例；</a:t>
            </a:r>
          </a:p>
          <a:p>
            <a:r>
              <a:t>- 让AI生成方案；</a:t>
            </a:r>
          </a:p>
          <a:p>
            <a:r>
              <a:t>- 搭一个Demo；</a:t>
            </a:r>
          </a:p>
          <a:p>
            <a:r>
              <a:t>- 看起来能运行就开始立项。</a:t>
            </a:r>
          </a:p>
          <a:p/>
          <a:p>
            <a:r>
              <a:t>学完第一阶段以后，应该先问：</a:t>
            </a:r>
          </a:p>
          <a:p/>
          <a:p>
            <a:r>
              <a:t>1. 谁遇到了什么问题？</a:t>
            </a:r>
          </a:p>
          <a:p>
            <a:r>
              <a:t>2. 这个问题现在怎样解决？</a:t>
            </a:r>
          </a:p>
          <a:p>
            <a:r>
              <a:t>3. 问题发生频率有多高？</a:t>
            </a:r>
          </a:p>
          <a:p>
            <a:r>
              <a:t>4. 不解决会产生什么影响？</a:t>
            </a:r>
          </a:p>
          <a:p>
            <a:r>
              <a:t>5. 为什么需要AI？</a:t>
            </a:r>
          </a:p>
          <a:p>
            <a:r>
              <a:t>6. 固定Workflow能不能解决？</a:t>
            </a:r>
          </a:p>
          <a:p>
            <a:r>
              <a:t>7. 为什么一定需要Agent？</a:t>
            </a:r>
          </a:p>
          <a:p>
            <a:r>
              <a:t>8. Agent需要调用什么工具？</a:t>
            </a:r>
          </a:p>
          <a:p>
            <a:r>
              <a:t>9. 哪些动作必须人工确认？</a:t>
            </a:r>
          </a:p>
          <a:p>
            <a:r>
              <a:t>10. 如果Agent执行错误，能否发现和撤销？</a:t>
            </a:r>
          </a:p>
          <a:p>
            <a:r>
              <a:t>11. 怎样建立评测集？</a:t>
            </a:r>
          </a:p>
          <a:p>
            <a:r>
              <a:t>12. 模型、安全和部署有什么限制？</a:t>
            </a:r>
          </a:p>
          <a:p>
            <a:r>
              <a:t>13. 单次和规模化成本是多少？</a:t>
            </a:r>
          </a:p>
          <a:p>
            <a:r>
              <a:t>14. 项目是否真的值得做？</a:t>
            </a:r>
          </a:p>
          <a:p/>
          <a:p>
            <a:r>
              <a:t>然后问学员：</a:t>
            </a:r>
          </a:p>
          <a:p/>
          <a:p>
            <a:r>
              <a:t>&gt; 这两种反应之间最大的区别是什么？</a:t>
            </a:r>
          </a:p>
          <a:p/>
          <a:p>
            <a:r>
              <a:t>教师收回：</a:t>
            </a:r>
          </a:p>
          <a:p/>
          <a:p>
            <a:r>
              <a:t>&gt; 第一种反应是在寻找工具和功能，第二种反应是在完成产品决策。</a:t>
            </a:r>
          </a:p>
          <a:p/>
          <a:p>
            <a:r>
              <a:t>## 三、第一阶段形成的五项能力</a:t>
            </a:r>
          </a:p>
          <a:p/>
          <a:p>
            <a:r>
              <a:t>用一条完整链路回顾：</a:t>
            </a:r>
          </a:p>
          <a:p/>
          <a:p>
            <a:r>
              <a:t>&gt; **问题判断 → AI方案 → 产品定义 → 效果验证 → 商业价值**</a:t>
            </a:r>
          </a:p>
          <a:p/>
          <a:p>
            <a:r>
              <a:t>### 能力一：判断什么问题值得用AI解决</a:t>
            </a:r>
          </a:p>
          <a:p/>
          <a:p>
            <a:r>
              <a:t>以前容易问：</a:t>
            </a:r>
          </a:p>
          <a:p/>
          <a:p>
            <a:r>
              <a:t>- 能不能加一个AI功能；</a:t>
            </a:r>
          </a:p>
          <a:p>
            <a:r>
              <a:t>- 能不能做一个聊天助手；</a:t>
            </a:r>
          </a:p>
          <a:p>
            <a:r>
              <a:t>- 能不能做成Agent；</a:t>
            </a:r>
          </a:p>
          <a:p>
            <a:r>
              <a:t>- 能不能使用最新模型。</a:t>
            </a:r>
          </a:p>
          <a:p/>
          <a:p>
            <a:r>
              <a:t>现在应该进一步判断：</a:t>
            </a:r>
          </a:p>
          <a:p/>
          <a:p>
            <a:r>
              <a:t>- 核心用户是谁；</a:t>
            </a:r>
          </a:p>
          <a:p>
            <a:r>
              <a:t>- 用户正在完成什么任务；</a:t>
            </a:r>
          </a:p>
          <a:p>
            <a:r>
              <a:t>- 当前流程有什么问题；</a:t>
            </a:r>
          </a:p>
          <a:p>
            <a:r>
              <a:t>- 问题是否高频、高成本或高风险；</a:t>
            </a:r>
          </a:p>
          <a:p>
            <a:r>
              <a:t>- 传统产品、规则和流程优化能否解决；</a:t>
            </a:r>
          </a:p>
          <a:p>
            <a:r>
              <a:t>- AI为什么是更合适的手段；</a:t>
            </a:r>
          </a:p>
          <a:p>
            <a:r>
              <a:t>- AI介入以后会增加什么风险；</a:t>
            </a:r>
          </a:p>
          <a:p>
            <a:r>
              <a:t>- 第一期最值得验证什么。</a:t>
            </a:r>
          </a:p>
          <a:p/>
          <a:p>
            <a:r>
              <a:t>对应所学：岗位与工作、场景判断、产品形态、需求分析、AI介入和MVP。</a:t>
            </a:r>
          </a:p>
          <a:p/>
          <a:p>
            <a:r>
              <a:t>核心变化：</a:t>
            </a:r>
          </a:p>
          <a:p/>
          <a:p>
            <a:r>
              <a:t>&gt; 从“这里能不能使用AI”，变成“这里是否值得使用AI，以及AI应该介入到什么程度”。</a:t>
            </a:r>
          </a:p>
          <a:p/>
          <a:p>
            <a:r>
              <a:t>### 能力二：把AI能力组合成可控产品方案</a:t>
            </a:r>
          </a:p>
          <a:p/>
          <a:p>
            <a:r>
              <a:t>现在应该知道：</a:t>
            </a:r>
          </a:p>
          <a:p/>
          <a:p>
            <a:r>
              <a:t>| 能力 | 主要解决的问题 |</a:t>
            </a:r>
          </a:p>
          <a:p>
            <a:r>
              <a:t>|---|---|</a:t>
            </a:r>
          </a:p>
          <a:p>
            <a:r>
              <a:t>| Prompt | 怎样让模型完成一次明确任务 |</a:t>
            </a:r>
          </a:p>
          <a:p>
            <a:r>
              <a:t>| Workflow | 怎样组织稳定、可控制的处理流程 |</a:t>
            </a:r>
          </a:p>
          <a:p>
            <a:r>
              <a:t>| RAG | 怎样让模型使用外部或私有知识 |</a:t>
            </a:r>
          </a:p>
          <a:p>
            <a:r>
              <a:t>| Agent | 怎样让系统根据任务调用工具和执行动作 |</a:t>
            </a:r>
          </a:p>
          <a:p>
            <a:r>
              <a:t>| 规则 | 怎样完成确定性判断 |</a:t>
            </a:r>
          </a:p>
          <a:p>
            <a:r>
              <a:t>| 人工 | 怎样处理责任、高风险和模糊问题 |</a:t>
            </a:r>
          </a:p>
          <a:p/>
          <a:p>
            <a:r>
              <a:t>AI产品方案不是选择一个最流行的技术，而是根据任务完成组合。</a:t>
            </a:r>
          </a:p>
          <a:p/>
          <a:p>
            <a:r>
              <a:t>例如智能审核产品中：</a:t>
            </a:r>
          </a:p>
          <a:p/>
          <a:p>
            <a:r>
              <a:t>- 敏感词由规则判断；</a:t>
            </a:r>
          </a:p>
          <a:p>
            <a:r>
              <a:t>- 复杂语义由大模型判断；</a:t>
            </a:r>
          </a:p>
          <a:p>
            <a:r>
              <a:t>- 企业规则和案例由RAG提供；</a:t>
            </a:r>
          </a:p>
          <a:p>
            <a:r>
              <a:t>- 高风险和不确定结果进入人工复核；</a:t>
            </a:r>
          </a:p>
          <a:p>
            <a:r>
              <a:t>- 确认后的动作再由系统执行。</a:t>
            </a:r>
          </a:p>
          <a:p/>
          <a:p>
            <a:r>
              <a:t>对应所学：大模型与上下文、Prompt、Workflow、RAG、Agent、Coze综合实践以及人机分工。</a:t>
            </a:r>
          </a:p>
          <a:p/>
          <a:p>
            <a:r>
              <a:t>核心变化：</a:t>
            </a:r>
          </a:p>
          <a:p/>
          <a:p>
            <a:r>
              <a:t>&gt; 从“这个项目应该使用什么AI技术”，变成“不同任务应该分别由什么能力负责”。</a:t>
            </a:r>
          </a:p>
          <a:p/>
          <a:p>
            <a:r>
              <a:t>### 能力三：把AI想法变成可以交付的产品</a:t>
            </a:r>
          </a:p>
          <a:p/>
          <a:p>
            <a:r>
              <a:t>一个AI产品需要被清楚定义：</a:t>
            </a:r>
          </a:p>
          <a:p/>
          <a:p>
            <a:r>
              <a:t>- 用户和场景；</a:t>
            </a:r>
          </a:p>
          <a:p>
            <a:r>
              <a:t>- 产品目标；</a:t>
            </a:r>
          </a:p>
          <a:p>
            <a:r>
              <a:t>- 当前流程；</a:t>
            </a:r>
          </a:p>
          <a:p>
            <a:r>
              <a:t>- AI介入点；</a:t>
            </a:r>
          </a:p>
          <a:p>
            <a:r>
              <a:t>- 人机协作；</a:t>
            </a:r>
          </a:p>
          <a:p>
            <a:r>
              <a:t>- 输入和输出；</a:t>
            </a:r>
          </a:p>
          <a:p>
            <a:r>
              <a:t>- MVP范围；</a:t>
            </a:r>
          </a:p>
          <a:p>
            <a:r>
              <a:t>- 页面、流程和交互；</a:t>
            </a:r>
          </a:p>
          <a:p>
            <a:r>
              <a:t>- 正常、异常和确认状态；</a:t>
            </a:r>
          </a:p>
          <a:p>
            <a:r>
              <a:t>- AI无法判断时怎么办；</a:t>
            </a:r>
          </a:p>
          <a:p>
            <a:r>
              <a:t>- 验收标准；</a:t>
            </a:r>
          </a:p>
          <a:p>
            <a:r>
              <a:t>- 不在本期范围内的内容。</a:t>
            </a:r>
          </a:p>
          <a:p/>
          <a:p>
            <a:r>
              <a:t>PRD、原型和Demo解决的问题不同：</a:t>
            </a:r>
          </a:p>
          <a:p/>
          <a:p>
            <a:r>
              <a:t>| 产出 | 主要证明什么 |</a:t>
            </a:r>
          </a:p>
          <a:p>
            <a:r>
              <a:t>|---|---|</a:t>
            </a:r>
          </a:p>
          <a:p>
            <a:r>
              <a:t>| PRD | 产品方案是否定义清楚 |</a:t>
            </a:r>
          </a:p>
          <a:p>
            <a:r>
              <a:t>| 原型 | 用户流程和交互是否合理 |</a:t>
            </a:r>
          </a:p>
          <a:p>
            <a:r>
              <a:t>| Demo | 核心产品假设能否被体验和验证 |</a:t>
            </a:r>
          </a:p>
          <a:p/>
          <a:p>
            <a:r>
              <a:t>对应所学：需求分析、AI产品PRD、产品流程、MVP、原型、Vibe Coding、Demo和验收。</a:t>
            </a:r>
          </a:p>
          <a:p/>
          <a:p>
            <a:r>
              <a:t>核心变化：</a:t>
            </a:r>
          </a:p>
          <a:p/>
          <a:p>
            <a:r>
              <a:t>&gt; 从“能不能快速做出Demo”，变成“这个Demo正在验证什么产品假设”。</a:t>
            </a:r>
          </a:p>
          <a:p/>
          <a:p>
            <a:r>
              <a:t>### 能力四：用评测和Bad Case管理不确定性</a:t>
            </a:r>
          </a:p>
          <a:p/>
          <a:p>
            <a:r>
              <a:t>AI产品效果需要经过：</a:t>
            </a:r>
          </a:p>
          <a:p/>
          <a:p>
            <a:r>
              <a:t>1. 明确业务任务；</a:t>
            </a:r>
          </a:p>
          <a:p>
            <a:r>
              <a:t>2. 收集有代表性的输入；</a:t>
            </a:r>
          </a:p>
          <a:p>
            <a:r>
              <a:t>3. 建立评测集；</a:t>
            </a:r>
          </a:p>
          <a:p>
            <a:r>
              <a:t>4. 人工标注标准答案；</a:t>
            </a:r>
          </a:p>
          <a:p>
            <a:r>
              <a:t>5. 定义核心指标；</a:t>
            </a:r>
          </a:p>
          <a:p>
            <a:r>
              <a:t>6. 测试模型和产品方案；</a:t>
            </a:r>
          </a:p>
          <a:p>
            <a:r>
              <a:t>7. 分析Bad Case；</a:t>
            </a:r>
          </a:p>
          <a:p>
            <a:r>
              <a:t>8. 判断问题原因；</a:t>
            </a:r>
          </a:p>
          <a:p>
            <a:r>
              <a:t>9. 修改数据、Prompt、RAG、Workflow、模型或产品设计；</a:t>
            </a:r>
          </a:p>
          <a:p>
            <a:r>
              <a:t>10. 回归评测；</a:t>
            </a:r>
          </a:p>
          <a:p>
            <a:r>
              <a:t>11. 持续收集新问题。</a:t>
            </a:r>
          </a:p>
          <a:p/>
          <a:p>
            <a:r>
              <a:t>指标必须与任务和错误后果对应。例如：</a:t>
            </a:r>
          </a:p>
          <a:p/>
          <a:p>
            <a:r>
              <a:t>- RAG关注是否检索到正确来源；</a:t>
            </a:r>
          </a:p>
          <a:p>
            <a:r>
              <a:t>- 审核产品关注高风险问题是否漏判；</a:t>
            </a:r>
          </a:p>
          <a:p>
            <a:r>
              <a:t>- 会议助手关注行动项是否遗漏；</a:t>
            </a:r>
          </a:p>
          <a:p>
            <a:r>
              <a:t>- Agent关注任务是否正确执行。</a:t>
            </a:r>
          </a:p>
          <a:p/>
          <a:p>
            <a:r>
              <a:t>核心变化：</a:t>
            </a:r>
          </a:p>
          <a:p/>
          <a:p>
            <a:r>
              <a:t>&gt; 从“这个模型看起来效果不错”，变成“在什么数据、指标和风险标准下，它是否达到产品要求”。</a:t>
            </a:r>
          </a:p>
          <a:p/>
          <a:p>
            <a:r>
              <a:t>### 能力五：判断产品能否真正落地并产生价值</a:t>
            </a:r>
          </a:p>
          <a:p/>
          <a:p>
            <a:r>
              <a:t>模型和产品方案需要同时考虑：</a:t>
            </a:r>
          </a:p>
          <a:p/>
          <a:p>
            <a:r>
              <a:t>- 业务效果；</a:t>
            </a:r>
          </a:p>
          <a:p>
            <a:r>
              <a:t>- 响应速度；</a:t>
            </a:r>
          </a:p>
          <a:p>
            <a:r>
              <a:t>- Token和推理成本；</a:t>
            </a:r>
          </a:p>
          <a:p>
            <a:r>
              <a:t>- 调用规模；</a:t>
            </a:r>
          </a:p>
          <a:p>
            <a:r>
              <a:t>- 数据安全；</a:t>
            </a:r>
          </a:p>
          <a:p>
            <a:r>
              <a:t>- 国内外模型限制；</a:t>
            </a:r>
          </a:p>
          <a:p>
            <a:r>
              <a:t>- 私有化和云服务；</a:t>
            </a:r>
          </a:p>
          <a:p>
            <a:r>
              <a:t>- 人工复核；</a:t>
            </a:r>
          </a:p>
          <a:p>
            <a:r>
              <a:t>- 系统开发；</a:t>
            </a:r>
          </a:p>
          <a:p>
            <a:r>
              <a:t>- 错误成本；</a:t>
            </a:r>
          </a:p>
          <a:p>
            <a:r>
              <a:t>- 供应商风险；</a:t>
            </a:r>
          </a:p>
          <a:p>
            <a:r>
              <a:t>- 自研、采购还是组合建设；</a:t>
            </a:r>
          </a:p>
          <a:p>
            <a:r>
              <a:t>- 项目ROI；</a:t>
            </a:r>
          </a:p>
          <a:p>
            <a:r>
              <a:t>- 是否应该继续。</a:t>
            </a:r>
          </a:p>
          <a:p/>
          <a:p>
            <a:r>
              <a:t>核心变化：</a:t>
            </a:r>
          </a:p>
          <a:p/>
          <a:p>
            <a:r>
              <a:t>&gt; 从“这个AI功能能不能实现”，变成“它能否在可以接受的效果、风险和成本下长期创造价值”。</a:t>
            </a:r>
          </a:p>
          <a:p/>
          <a:p>
            <a:r>
              <a:t>## 四、五项能力是一条因果链</a:t>
            </a:r>
          </a:p>
          <a:p/>
          <a:p>
            <a:r>
              <a:t>例如，产品目标是减少营销内容中的高风险漏判：</a:t>
            </a:r>
          </a:p>
          <a:p/>
          <a:p>
            <a:r>
              <a:t>- 问题判断决定优先关注高风险内容；</a:t>
            </a:r>
          </a:p>
          <a:p>
            <a:r>
              <a:t>- AI方案决定规则、大模型和人工如何分工；</a:t>
            </a:r>
          </a:p>
          <a:p>
            <a:r>
              <a:t>- PRD需要定义风险等级和处理动作；</a:t>
            </a:r>
          </a:p>
          <a:p>
            <a:r>
              <a:t>- 评测需要关注高风险召回率；</a:t>
            </a:r>
          </a:p>
          <a:p>
            <a:r>
              <a:t>- 模型选型需要优先保证风险识别能力；</a:t>
            </a:r>
          </a:p>
          <a:p>
            <a:r>
              <a:t>- ROI需要计算人工复核和错误损失。</a:t>
            </a:r>
          </a:p>
          <a:p/>
          <a:p>
            <a:r>
              <a:t>完整链路是：</a:t>
            </a:r>
          </a:p>
          <a:p/>
          <a:p>
            <a:r>
              <a:t>&gt; 业务问题决定产品目标  </a:t>
            </a:r>
          </a:p>
          <a:p>
            <a:r>
              <a:t>&gt; 产品目标决定AI方案  </a:t>
            </a:r>
          </a:p>
          <a:p>
            <a:r>
              <a:t>&gt; AI方案决定产品流程  </a:t>
            </a:r>
          </a:p>
          <a:p>
            <a:r>
              <a:t>&gt; 产品流程决定评测方式  </a:t>
            </a:r>
          </a:p>
          <a:p>
            <a:r>
              <a:t>&gt; 评测结果影响模型和迭代  </a:t>
            </a:r>
          </a:p>
          <a:p>
            <a:r>
              <a:t>&gt; 成本与价值最终决定是否继续</a:t>
            </a:r>
          </a:p>
          <a:p/>
          <a:p>
            <a:r>
              <a:t>核心结论：</a:t>
            </a:r>
          </a:p>
          <a:p/>
          <a:p>
            <a:r>
              <a:t>&gt; 第一阶段建立的不是一组AI知识点，而是一套从问题到价值的产品决策链路。</a:t>
            </a:r>
          </a:p>
          <a:p/>
          <a:p>
            <a:r>
              <a:t>## 五、第一阶段成果墙</a:t>
            </a:r>
          </a:p>
          <a:p/>
          <a:p>
            <a:r>
              <a:t>| 第一阶段成果 | 它证明了什么 |</a:t>
            </a:r>
          </a:p>
          <a:p>
            <a:r>
              <a:t>|---|---|</a:t>
            </a:r>
          </a:p>
          <a:p>
            <a:r>
              <a:t>| Prompt产品化练习 | 能定义AI任务、上下文、约束和输出 |</a:t>
            </a:r>
          </a:p>
          <a:p>
            <a:r>
              <a:t>| Workflow流程 | 能把复杂任务拆成稳定步骤 |</a:t>
            </a:r>
          </a:p>
          <a:p>
            <a:r>
              <a:t>| RAG知识库方案 | 理解外部知识如何进入AI产品 |</a:t>
            </a:r>
          </a:p>
          <a:p>
            <a:r>
              <a:t>| Agent工具调用方案 | 理解受控执行、权限和人工确认 |</a:t>
            </a:r>
          </a:p>
          <a:p>
            <a:r>
              <a:t>| Coze综合实践 | 能把多种AI能力组成可运行流程 |</a:t>
            </a:r>
          </a:p>
          <a:p>
            <a:r>
              <a:t>| 需求分析和PRD | 能把业务问题转化成产品方案 |</a:t>
            </a:r>
          </a:p>
          <a:p>
            <a:r>
              <a:t>| 原型和Demo | 能让产品假设被体验和验证 |</a:t>
            </a:r>
          </a:p>
          <a:p>
            <a:r>
              <a:t>| 评测集和Bad Case | 能定义效果并推动迭代 |</a:t>
            </a:r>
          </a:p>
          <a:p>
            <a:r>
              <a:t>| 智能审核完整PRD | 理解专业AI产品PRD的完整结构 |</a:t>
            </a:r>
          </a:p>
          <a:p>
            <a:r>
              <a:t>| 模型、成本和ROI分析 | 能判断产品是否具备落地价值 |</a:t>
            </a:r>
          </a:p>
          <a:p/>
          <a:p>
            <a:r>
              <a:t>需要准确表述：</a:t>
            </a:r>
          </a:p>
          <a:p/>
          <a:p>
            <a:r>
              <a:t>&gt; 第一阶段已经让大家接触并实践了完整项目中的主要能力模块，但这些模块还没有集中在一个个人项目中。</a:t>
            </a:r>
          </a:p>
          <a:p/>
          <a:p>
            <a:r>
              <a:t>## 六、第一阶段还没有完成什么</a:t>
            </a:r>
          </a:p>
          <a:p/>
          <a:p>
            <a:r>
              <a:t>对大多数学员来说，目前还缺少：</a:t>
            </a:r>
          </a:p>
          <a:p/>
          <a:p>
            <a:r>
              <a:t>- 一个自己选择并持续推进的统一项目；</a:t>
            </a:r>
          </a:p>
          <a:p>
            <a:r>
              <a:t>- 前后口径一致的需求、PRD和Demo；</a:t>
            </a:r>
          </a:p>
          <a:p>
            <a:r>
              <a:t>- 真实或可解释的用户问题证据；</a:t>
            </a:r>
          </a:p>
          <a:p>
            <a:r>
              <a:t>- 自己建立并运行的评测集；</a:t>
            </a:r>
          </a:p>
          <a:p>
            <a:r>
              <a:t>- 真实Bad Case；</a:t>
            </a:r>
          </a:p>
          <a:p>
            <a:r>
              <a:t>- 根据测试结果进行的迭代；</a:t>
            </a:r>
          </a:p>
          <a:p>
            <a:r>
              <a:t>- 模型、成本和ROI的统一判断；</a:t>
            </a:r>
          </a:p>
          <a:p>
            <a:r>
              <a:t>- 能够接受面试追问的个人项目过程。</a:t>
            </a:r>
          </a:p>
          <a:p/>
          <a:p>
            <a:r>
              <a:t>本部分最终总结：</a:t>
            </a:r>
          </a:p>
          <a:p/>
          <a:p>
            <a:r>
              <a:t>| 学习前 | 第一阶段以后 |</a:t>
            </a:r>
          </a:p>
          <a:p>
            <a:r>
              <a:t>|---|---|</a:t>
            </a:r>
          </a:p>
          <a:p>
            <a:r>
              <a:t>| 从工具开始 | 从问题开始 |</a:t>
            </a:r>
          </a:p>
          <a:p>
            <a:r>
              <a:t>| 追求生成效果 | 设计完整产品系统 |</a:t>
            </a:r>
          </a:p>
          <a:p>
            <a:r>
              <a:t>| 凭感觉判断 | 用评测和Bad Case验证 |</a:t>
            </a:r>
          </a:p>
          <a:p>
            <a:r>
              <a:t>| 关注能不能做 | 判断值不值得做 |</a:t>
            </a:r>
          </a:p>
          <a:p/>
          <a:p>
            <a:r>
              <a:t>过渡语：</a:t>
            </a:r>
          </a:p>
          <a:p/>
          <a:p>
            <a:r>
              <a:t>&gt; 如果模型还会继续变强，Prompt、代码、设计和内容生产的门槛继续下降，那么AI产品真正的价值会转移到哪里？模型公司会不会吃掉大量AI应用？未来的软件还需不需要页面和按钮？接下来，我们把视角再抬高一层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从‘知道怎样做’到‘真正做过并讲得清’，中间还隔着完整项目。</a:t>
            </a:r>
          </a:p>
          <a:p/>
          <a:p>
            <a:r>
              <a:t>&gt; 建议时长：30分钟</a:t>
            </a:r>
          </a:p>
          <a:p/>
          <a:p>
            <a:r>
              <a:t>这一部分不按照第1课、第2课重新复述，而是帮助学员回答：</a:t>
            </a:r>
          </a:p>
          <a:p/>
          <a:p>
            <a:r>
              <a:t>&gt; 经过第一阶段以后，我看待和设计AI产品的方式，究竟发生了什么变化？</a:t>
            </a:r>
          </a:p>
          <a:p/>
          <a:p>
            <a:r>
              <a:t>这一部分要形成两个结果：</a:t>
            </a:r>
          </a:p>
          <a:p/>
          <a:p>
            <a:r>
              <a:t>1. 让学员意识到前面的内容不是零散知识，而是一条完整的AI产品工作链路；</a:t>
            </a:r>
          </a:p>
          <a:p>
            <a:r>
              <a:t>2. 诚实说明第一阶段已经完成什么、还没有完成什么，为后面的趋势讨论和项目班做好衔接。</a:t>
            </a:r>
          </a:p>
          <a:p/>
          <a:p>
            <a:r>
              <a:t>## 一、最后一课为什么不继续讲新工具</a:t>
            </a:r>
          </a:p>
          <a:p/>
          <a:p>
            <a:r>
              <a:t>教师可以这样开场：</a:t>
            </a:r>
          </a:p>
          <a:p/>
          <a:p>
            <a:r>
              <a:t>&gt; 今天是第一阶段的最后一课。  </a:t>
            </a:r>
          </a:p>
          <a:p>
            <a:r>
              <a:t>&gt; 这一阶段，我们已经学习了大模型、Prompt、Workflow、RAG、Agent、需求分析、PRD、原型、Demo、评测、Bad Case、模型选型、成本和ROI。  </a:t>
            </a:r>
          </a:p>
          <a:p>
            <a:r>
              <a:t>&gt; 今天不会再塞给大家一组新的工具和名词。我们先回头看看：这些内容连接起来以后，我们现在到底具备了什么能力。</a:t>
            </a:r>
          </a:p>
          <a:p/>
          <a:p>
            <a:r>
              <a:t>先让学员选择：</a:t>
            </a:r>
          </a:p>
          <a:p/>
          <a:p>
            <a:r>
              <a:t>&gt; 如果只允许用一句话总结第一阶段，你觉得自己最大的变化是什么？</a:t>
            </a:r>
          </a:p>
          <a:p/>
          <a:p>
            <a:r>
              <a:t>- A. 会使用更多AI工具了；</a:t>
            </a:r>
          </a:p>
          <a:p>
            <a:r>
              <a:t>- B. 理解了更多AI技术概念；</a:t>
            </a:r>
          </a:p>
          <a:p>
            <a:r>
              <a:t>- C. 开始能够完整判断一个AI产品应该怎么做；</a:t>
            </a:r>
          </a:p>
          <a:p>
            <a:r>
              <a:t>- D. 已经可以独立负责一个完整AI产品。</a:t>
            </a:r>
          </a:p>
          <a:p/>
          <a:p>
            <a:r>
              <a:t>可以分别请一名选择B、一名选择C或D的学员，用30秒说明原因。</a:t>
            </a:r>
          </a:p>
          <a:p/>
          <a:p>
            <a:r>
              <a:t>### 对不同选择的回应</a:t>
            </a:r>
          </a:p>
          <a:p/>
          <a:p>
            <a:r>
              <a:t>如果选择A，可以回应：</a:t>
            </a:r>
          </a:p>
          <a:p/>
          <a:p>
            <a:r>
              <a:t>&gt; 会使用更多工具当然是学习结果的一部分。但如果第一阶段只留下“我会用更多工具”，课程价值是不够的。工具会不断更新，真正应该留下来的，是即使工具变化，我们仍然知道怎样判断问题和设计产品。</a:t>
            </a:r>
          </a:p>
          <a:p/>
          <a:p>
            <a:r>
              <a:t>如果选择B，可以回应：</a:t>
            </a:r>
          </a:p>
          <a:p/>
          <a:p>
            <a:r>
              <a:t>&gt; 理解技术概念也很重要。至少业务方说RAG、Agent、Workflow或者模型选型时，我们不会把它们混在一起。但产品经理最终需要回答的不是“RAG是什么”，而是“这个产品为什么需要RAG，不使用会发生什么”。</a:t>
            </a:r>
          </a:p>
          <a:p/>
          <a:p>
            <a:r>
              <a:t>如果选择C，可以回应：</a:t>
            </a:r>
          </a:p>
          <a:p/>
          <a:p>
            <a:r>
              <a:t>&gt; 这正是第一阶段真正希望形成的变化。面对一个新的AI需求，我们开始知道应该问哪些问题、做哪些判断。</a:t>
            </a:r>
          </a:p>
          <a:p/>
          <a:p>
            <a:r>
              <a:t>如果选择D，可以回应：</a:t>
            </a:r>
          </a:p>
          <a:p/>
          <a:p>
            <a:r>
              <a:t>&gt; 有真实业务和项目经验的同学，可能已经能够开始承担完整项目。但对大多数学员来说，目前更准确的状态是：理解了完整工作链路，也具备局部实践经验，还需要通过一个统一项目把这些能力连接起来。</a:t>
            </a:r>
          </a:p>
          <a:p/>
          <a:p>
            <a:r>
              <a:t>本段收束：</a:t>
            </a:r>
          </a:p>
          <a:p/>
          <a:p>
            <a:r>
              <a:t>&gt; 第一阶段最重要的变化，不是记住了更多AI名词，而是从“使用AI工具”，走向“开始具备AI产品判断”。</a:t>
            </a:r>
          </a:p>
          <a:p/>
          <a:p>
            <a:r>
              <a:t>## 二、学习前后的思维差异</a:t>
            </a:r>
          </a:p>
          <a:p/>
          <a:p>
            <a:r>
              <a:t>给出一个情境：</a:t>
            </a:r>
          </a:p>
          <a:p/>
          <a:p>
            <a:r>
              <a:t>&gt; 老板说：“竞品都在做Agent，我们也做一个吧。”</a:t>
            </a:r>
          </a:p>
          <a:p/>
          <a:p>
            <a:r>
              <a:t>学习第一阶段以前，可能会这样反应：</a:t>
            </a:r>
          </a:p>
          <a:p/>
          <a:p>
            <a:r>
              <a:t>- Agent现在很热门；</a:t>
            </a:r>
          </a:p>
          <a:p>
            <a:r>
              <a:t>- 先看看用哪个平台；</a:t>
            </a:r>
          </a:p>
          <a:p>
            <a:r>
              <a:t>- 找一个类似案例；</a:t>
            </a:r>
          </a:p>
          <a:p>
            <a:r>
              <a:t>- 让AI生成方案；</a:t>
            </a:r>
          </a:p>
          <a:p>
            <a:r>
              <a:t>- 搭一个Demo；</a:t>
            </a:r>
          </a:p>
          <a:p>
            <a:r>
              <a:t>- 看起来能运行就开始立项。</a:t>
            </a:r>
          </a:p>
          <a:p/>
          <a:p>
            <a:r>
              <a:t>学完第一阶段以后，应该先问：</a:t>
            </a:r>
          </a:p>
          <a:p/>
          <a:p>
            <a:r>
              <a:t>1. 谁遇到了什么问题？</a:t>
            </a:r>
          </a:p>
          <a:p>
            <a:r>
              <a:t>2. 这个问题现在怎样解决？</a:t>
            </a:r>
          </a:p>
          <a:p>
            <a:r>
              <a:t>3. 问题发生频率有多高？</a:t>
            </a:r>
          </a:p>
          <a:p>
            <a:r>
              <a:t>4. 不解决会产生什么影响？</a:t>
            </a:r>
          </a:p>
          <a:p>
            <a:r>
              <a:t>5. 为什么需要AI？</a:t>
            </a:r>
          </a:p>
          <a:p>
            <a:r>
              <a:t>6. 固定Workflow能不能解决？</a:t>
            </a:r>
          </a:p>
          <a:p>
            <a:r>
              <a:t>7. 为什么一定需要Agent？</a:t>
            </a:r>
          </a:p>
          <a:p>
            <a:r>
              <a:t>8. Agent需要调用什么工具？</a:t>
            </a:r>
          </a:p>
          <a:p>
            <a:r>
              <a:t>9. 哪些动作必须人工确认？</a:t>
            </a:r>
          </a:p>
          <a:p>
            <a:r>
              <a:t>10. 如果Agent执行错误，能否发现和撤销？</a:t>
            </a:r>
          </a:p>
          <a:p>
            <a:r>
              <a:t>11. 怎样建立评测集？</a:t>
            </a:r>
          </a:p>
          <a:p>
            <a:r>
              <a:t>12. 模型、安全和部署有什么限制？</a:t>
            </a:r>
          </a:p>
          <a:p>
            <a:r>
              <a:t>13. 单次和规模化成本是多少？</a:t>
            </a:r>
          </a:p>
          <a:p>
            <a:r>
              <a:t>14. 项目是否真的值得做？</a:t>
            </a:r>
          </a:p>
          <a:p/>
          <a:p>
            <a:r>
              <a:t>然后问学员：</a:t>
            </a:r>
          </a:p>
          <a:p/>
          <a:p>
            <a:r>
              <a:t>&gt; 这两种反应之间最大的区别是什么？</a:t>
            </a:r>
          </a:p>
          <a:p/>
          <a:p>
            <a:r>
              <a:t>教师收回：</a:t>
            </a:r>
          </a:p>
          <a:p/>
          <a:p>
            <a:r>
              <a:t>&gt; 第一种反应是在寻找工具和功能，第二种反应是在完成产品决策。</a:t>
            </a:r>
          </a:p>
          <a:p/>
          <a:p>
            <a:r>
              <a:t>## 三、第一阶段形成的五项能力</a:t>
            </a:r>
          </a:p>
          <a:p/>
          <a:p>
            <a:r>
              <a:t>用一条完整链路回顾：</a:t>
            </a:r>
          </a:p>
          <a:p/>
          <a:p>
            <a:r>
              <a:t>&gt; **问题判断 → AI方案 → 产品定义 → 效果验证 → 商业价值**</a:t>
            </a:r>
          </a:p>
          <a:p/>
          <a:p>
            <a:r>
              <a:t>### 能力一：判断什么问题值得用AI解决</a:t>
            </a:r>
          </a:p>
          <a:p/>
          <a:p>
            <a:r>
              <a:t>以前容易问：</a:t>
            </a:r>
          </a:p>
          <a:p/>
          <a:p>
            <a:r>
              <a:t>- 能不能加一个AI功能；</a:t>
            </a:r>
          </a:p>
          <a:p>
            <a:r>
              <a:t>- 能不能做一个聊天助手；</a:t>
            </a:r>
          </a:p>
          <a:p>
            <a:r>
              <a:t>- 能不能做成Agent；</a:t>
            </a:r>
          </a:p>
          <a:p>
            <a:r>
              <a:t>- 能不能使用最新模型。</a:t>
            </a:r>
          </a:p>
          <a:p/>
          <a:p>
            <a:r>
              <a:t>现在应该进一步判断：</a:t>
            </a:r>
          </a:p>
          <a:p/>
          <a:p>
            <a:r>
              <a:t>- 核心用户是谁；</a:t>
            </a:r>
          </a:p>
          <a:p>
            <a:r>
              <a:t>- 用户正在完成什么任务；</a:t>
            </a:r>
          </a:p>
          <a:p>
            <a:r>
              <a:t>- 当前流程有什么问题；</a:t>
            </a:r>
          </a:p>
          <a:p>
            <a:r>
              <a:t>- 问题是否高频、高成本或高风险；</a:t>
            </a:r>
          </a:p>
          <a:p>
            <a:r>
              <a:t>- 传统产品、规则和流程优化能否解决；</a:t>
            </a:r>
          </a:p>
          <a:p>
            <a:r>
              <a:t>- AI为什么是更合适的手段；</a:t>
            </a:r>
          </a:p>
          <a:p>
            <a:r>
              <a:t>- AI介入以后会增加什么风险；</a:t>
            </a:r>
          </a:p>
          <a:p>
            <a:r>
              <a:t>- 第一期最值得验证什么。</a:t>
            </a:r>
          </a:p>
          <a:p/>
          <a:p>
            <a:r>
              <a:t>对应所学：岗位与工作、场景判断、产品形态、需求分析、AI介入和MVP。</a:t>
            </a:r>
          </a:p>
          <a:p/>
          <a:p>
            <a:r>
              <a:t>核心变化：</a:t>
            </a:r>
          </a:p>
          <a:p/>
          <a:p>
            <a:r>
              <a:t>&gt; 从“这里能不能使用AI”，变成“这里是否值得使用AI，以及AI应该介入到什么程度”。</a:t>
            </a:r>
          </a:p>
          <a:p/>
          <a:p>
            <a:r>
              <a:t>### 能力二：把AI能力组合成可控产品方案</a:t>
            </a:r>
          </a:p>
          <a:p/>
          <a:p>
            <a:r>
              <a:t>现在应该知道：</a:t>
            </a:r>
          </a:p>
          <a:p/>
          <a:p>
            <a:r>
              <a:t>| 能力 | 主要解决的问题 |</a:t>
            </a:r>
          </a:p>
          <a:p>
            <a:r>
              <a:t>|---|---|</a:t>
            </a:r>
          </a:p>
          <a:p>
            <a:r>
              <a:t>| Prompt | 怎样让模型完成一次明确任务 |</a:t>
            </a:r>
          </a:p>
          <a:p>
            <a:r>
              <a:t>| Workflow | 怎样组织稳定、可控制的处理流程 |</a:t>
            </a:r>
          </a:p>
          <a:p>
            <a:r>
              <a:t>| RAG | 怎样让模型使用外部或私有知识 |</a:t>
            </a:r>
          </a:p>
          <a:p>
            <a:r>
              <a:t>| Agent | 怎样让系统根据任务调用工具和执行动作 |</a:t>
            </a:r>
          </a:p>
          <a:p>
            <a:r>
              <a:t>| 规则 | 怎样完成确定性判断 |</a:t>
            </a:r>
          </a:p>
          <a:p>
            <a:r>
              <a:t>| 人工 | 怎样处理责任、高风险和模糊问题 |</a:t>
            </a:r>
          </a:p>
          <a:p/>
          <a:p>
            <a:r>
              <a:t>AI产品方案不是选择一个最流行的技术，而是根据任务完成组合。</a:t>
            </a:r>
          </a:p>
          <a:p/>
          <a:p>
            <a:r>
              <a:t>例如智能审核产品中：</a:t>
            </a:r>
          </a:p>
          <a:p/>
          <a:p>
            <a:r>
              <a:t>- 敏感词由规则判断；</a:t>
            </a:r>
          </a:p>
          <a:p>
            <a:r>
              <a:t>- 复杂语义由大模型判断；</a:t>
            </a:r>
          </a:p>
          <a:p>
            <a:r>
              <a:t>- 企业规则和案例由RAG提供；</a:t>
            </a:r>
          </a:p>
          <a:p>
            <a:r>
              <a:t>- 高风险和不确定结果进入人工复核；</a:t>
            </a:r>
          </a:p>
          <a:p>
            <a:r>
              <a:t>- 确认后的动作再由系统执行。</a:t>
            </a:r>
          </a:p>
          <a:p/>
          <a:p>
            <a:r>
              <a:t>对应所学：大模型与上下文、Prompt、Workflow、RAG、Agent、Coze综合实践以及人机分工。</a:t>
            </a:r>
          </a:p>
          <a:p/>
          <a:p>
            <a:r>
              <a:t>核心变化：</a:t>
            </a:r>
          </a:p>
          <a:p/>
          <a:p>
            <a:r>
              <a:t>&gt; 从“这个项目应该使用什么AI技术”，变成“不同任务应该分别由什么能力负责”。</a:t>
            </a:r>
          </a:p>
          <a:p/>
          <a:p>
            <a:r>
              <a:t>### 能力三：把AI想法变成可以交付的产品</a:t>
            </a:r>
          </a:p>
          <a:p/>
          <a:p>
            <a:r>
              <a:t>一个AI产品需要被清楚定义：</a:t>
            </a:r>
          </a:p>
          <a:p/>
          <a:p>
            <a:r>
              <a:t>- 用户和场景；</a:t>
            </a:r>
          </a:p>
          <a:p>
            <a:r>
              <a:t>- 产品目标；</a:t>
            </a:r>
          </a:p>
          <a:p>
            <a:r>
              <a:t>- 当前流程；</a:t>
            </a:r>
          </a:p>
          <a:p>
            <a:r>
              <a:t>- AI介入点；</a:t>
            </a:r>
          </a:p>
          <a:p>
            <a:r>
              <a:t>- 人机协作；</a:t>
            </a:r>
          </a:p>
          <a:p>
            <a:r>
              <a:t>- 输入和输出；</a:t>
            </a:r>
          </a:p>
          <a:p>
            <a:r>
              <a:t>- MVP范围；</a:t>
            </a:r>
          </a:p>
          <a:p>
            <a:r>
              <a:t>- 页面、流程和交互；</a:t>
            </a:r>
          </a:p>
          <a:p>
            <a:r>
              <a:t>- 正常、异常和确认状态；</a:t>
            </a:r>
          </a:p>
          <a:p>
            <a:r>
              <a:t>- AI无法判断时怎么办；</a:t>
            </a:r>
          </a:p>
          <a:p>
            <a:r>
              <a:t>- 验收标准；</a:t>
            </a:r>
          </a:p>
          <a:p>
            <a:r>
              <a:t>- 不在本期范围内的内容。</a:t>
            </a:r>
          </a:p>
          <a:p/>
          <a:p>
            <a:r>
              <a:t>PRD、原型和Demo解决的问题不同：</a:t>
            </a:r>
          </a:p>
          <a:p/>
          <a:p>
            <a:r>
              <a:t>| 产出 | 主要证明什么 |</a:t>
            </a:r>
          </a:p>
          <a:p>
            <a:r>
              <a:t>|---|---|</a:t>
            </a:r>
          </a:p>
          <a:p>
            <a:r>
              <a:t>| PRD | 产品方案是否定义清楚 |</a:t>
            </a:r>
          </a:p>
          <a:p>
            <a:r>
              <a:t>| 原型 | 用户流程和交互是否合理 |</a:t>
            </a:r>
          </a:p>
          <a:p>
            <a:r>
              <a:t>| Demo | 核心产品假设能否被体验和验证 |</a:t>
            </a:r>
          </a:p>
          <a:p/>
          <a:p>
            <a:r>
              <a:t>对应所学：需求分析、AI产品PRD、产品流程、MVP、原型、Vibe Coding、Demo和验收。</a:t>
            </a:r>
          </a:p>
          <a:p/>
          <a:p>
            <a:r>
              <a:t>核心变化：</a:t>
            </a:r>
          </a:p>
          <a:p/>
          <a:p>
            <a:r>
              <a:t>&gt; 从“能不能快速做出Demo”，变成“这个Demo正在验证什么产品假设”。</a:t>
            </a:r>
          </a:p>
          <a:p/>
          <a:p>
            <a:r>
              <a:t>### 能力四：用评测和Bad Case管理不确定性</a:t>
            </a:r>
          </a:p>
          <a:p/>
          <a:p>
            <a:r>
              <a:t>AI产品效果需要经过：</a:t>
            </a:r>
          </a:p>
          <a:p/>
          <a:p>
            <a:r>
              <a:t>1. 明确业务任务；</a:t>
            </a:r>
          </a:p>
          <a:p>
            <a:r>
              <a:t>2. 收集有代表性的输入；</a:t>
            </a:r>
          </a:p>
          <a:p>
            <a:r>
              <a:t>3. 建立评测集；</a:t>
            </a:r>
          </a:p>
          <a:p>
            <a:r>
              <a:t>4. 人工标注标准答案；</a:t>
            </a:r>
          </a:p>
          <a:p>
            <a:r>
              <a:t>5. 定义核心指标；</a:t>
            </a:r>
          </a:p>
          <a:p>
            <a:r>
              <a:t>6. 测试模型和产品方案；</a:t>
            </a:r>
          </a:p>
          <a:p>
            <a:r>
              <a:t>7. 分析Bad Case；</a:t>
            </a:r>
          </a:p>
          <a:p>
            <a:r>
              <a:t>8. 判断问题原因；</a:t>
            </a:r>
          </a:p>
          <a:p>
            <a:r>
              <a:t>9. 修改数据、Prompt、RAG、Workflow、模型或产品设计；</a:t>
            </a:r>
          </a:p>
          <a:p>
            <a:r>
              <a:t>10. 回归评测；</a:t>
            </a:r>
          </a:p>
          <a:p>
            <a:r>
              <a:t>11. 持续收集新问题。</a:t>
            </a:r>
          </a:p>
          <a:p/>
          <a:p>
            <a:r>
              <a:t>指标必须与任务和错误后果对应。例如：</a:t>
            </a:r>
          </a:p>
          <a:p/>
          <a:p>
            <a:r>
              <a:t>- RAG关注是否检索到正确来源；</a:t>
            </a:r>
          </a:p>
          <a:p>
            <a:r>
              <a:t>- 审核产品关注高风险问题是否漏判；</a:t>
            </a:r>
          </a:p>
          <a:p>
            <a:r>
              <a:t>- 会议助手关注行动项是否遗漏；</a:t>
            </a:r>
          </a:p>
          <a:p>
            <a:r>
              <a:t>- Agent关注任务是否正确执行。</a:t>
            </a:r>
          </a:p>
          <a:p/>
          <a:p>
            <a:r>
              <a:t>核心变化：</a:t>
            </a:r>
          </a:p>
          <a:p/>
          <a:p>
            <a:r>
              <a:t>&gt; 从“这个模型看起来效果不错”，变成“在什么数据、指标和风险标准下，它是否达到产品要求”。</a:t>
            </a:r>
          </a:p>
          <a:p/>
          <a:p>
            <a:r>
              <a:t>### 能力五：判断产品能否真正落地并产生价值</a:t>
            </a:r>
          </a:p>
          <a:p/>
          <a:p>
            <a:r>
              <a:t>模型和产品方案需要同时考虑：</a:t>
            </a:r>
          </a:p>
          <a:p/>
          <a:p>
            <a:r>
              <a:t>- 业务效果；</a:t>
            </a:r>
          </a:p>
          <a:p>
            <a:r>
              <a:t>- 响应速度；</a:t>
            </a:r>
          </a:p>
          <a:p>
            <a:r>
              <a:t>- Token和推理成本；</a:t>
            </a:r>
          </a:p>
          <a:p>
            <a:r>
              <a:t>- 调用规模；</a:t>
            </a:r>
          </a:p>
          <a:p>
            <a:r>
              <a:t>- 数据安全；</a:t>
            </a:r>
          </a:p>
          <a:p>
            <a:r>
              <a:t>- 国内外模型限制；</a:t>
            </a:r>
          </a:p>
          <a:p>
            <a:r>
              <a:t>- 私有化和云服务；</a:t>
            </a:r>
          </a:p>
          <a:p>
            <a:r>
              <a:t>- 人工复核；</a:t>
            </a:r>
          </a:p>
          <a:p>
            <a:r>
              <a:t>- 系统开发；</a:t>
            </a:r>
          </a:p>
          <a:p>
            <a:r>
              <a:t>- 错误成本；</a:t>
            </a:r>
          </a:p>
          <a:p>
            <a:r>
              <a:t>- 供应商风险；</a:t>
            </a:r>
          </a:p>
          <a:p>
            <a:r>
              <a:t>- 自研、采购还是组合建设；</a:t>
            </a:r>
          </a:p>
          <a:p>
            <a:r>
              <a:t>- 项目ROI；</a:t>
            </a:r>
          </a:p>
          <a:p>
            <a:r>
              <a:t>- 是否应该继续。</a:t>
            </a:r>
          </a:p>
          <a:p/>
          <a:p>
            <a:r>
              <a:t>核心变化：</a:t>
            </a:r>
          </a:p>
          <a:p/>
          <a:p>
            <a:r>
              <a:t>&gt; 从“这个AI功能能不能实现”，变成“它能否在可以接受的效果、风险和成本下长期创造价值”。</a:t>
            </a:r>
          </a:p>
          <a:p/>
          <a:p>
            <a:r>
              <a:t>## 四、五项能力是一条因果链</a:t>
            </a:r>
          </a:p>
          <a:p/>
          <a:p>
            <a:r>
              <a:t>例如，产品目标是减少营销内容中的高风险漏判：</a:t>
            </a:r>
          </a:p>
          <a:p/>
          <a:p>
            <a:r>
              <a:t>- 问题判断决定优先关注高风险内容；</a:t>
            </a:r>
          </a:p>
          <a:p>
            <a:r>
              <a:t>- AI方案决定规则、大模型和人工如何分工；</a:t>
            </a:r>
          </a:p>
          <a:p>
            <a:r>
              <a:t>- PRD需要定义风险等级和处理动作；</a:t>
            </a:r>
          </a:p>
          <a:p>
            <a:r>
              <a:t>- 评测需要关注高风险召回率；</a:t>
            </a:r>
          </a:p>
          <a:p>
            <a:r>
              <a:t>- 模型选型需要优先保证风险识别能力；</a:t>
            </a:r>
          </a:p>
          <a:p>
            <a:r>
              <a:t>- ROI需要计算人工复核和错误损失。</a:t>
            </a:r>
          </a:p>
          <a:p/>
          <a:p>
            <a:r>
              <a:t>完整链路是：</a:t>
            </a:r>
          </a:p>
          <a:p/>
          <a:p>
            <a:r>
              <a:t>&gt; 业务问题决定产品目标  </a:t>
            </a:r>
          </a:p>
          <a:p>
            <a:r>
              <a:t>&gt; 产品目标决定AI方案  </a:t>
            </a:r>
          </a:p>
          <a:p>
            <a:r>
              <a:t>&gt; AI方案决定产品流程  </a:t>
            </a:r>
          </a:p>
          <a:p>
            <a:r>
              <a:t>&gt; 产品流程决定评测方式  </a:t>
            </a:r>
          </a:p>
          <a:p>
            <a:r>
              <a:t>&gt; 评测结果影响模型和迭代  </a:t>
            </a:r>
          </a:p>
          <a:p>
            <a:r>
              <a:t>&gt; 成本与价值最终决定是否继续</a:t>
            </a:r>
          </a:p>
          <a:p/>
          <a:p>
            <a:r>
              <a:t>核心结论：</a:t>
            </a:r>
          </a:p>
          <a:p/>
          <a:p>
            <a:r>
              <a:t>&gt; 第一阶段建立的不是一组AI知识点，而是一套从问题到价值的产品决策链路。</a:t>
            </a:r>
          </a:p>
          <a:p/>
          <a:p>
            <a:r>
              <a:t>## 五、第一阶段成果墙</a:t>
            </a:r>
          </a:p>
          <a:p/>
          <a:p>
            <a:r>
              <a:t>| 第一阶段成果 | 它证明了什么 |</a:t>
            </a:r>
          </a:p>
          <a:p>
            <a:r>
              <a:t>|---|---|</a:t>
            </a:r>
          </a:p>
          <a:p>
            <a:r>
              <a:t>| Prompt产品化练习 | 能定义AI任务、上下文、约束和输出 |</a:t>
            </a:r>
          </a:p>
          <a:p>
            <a:r>
              <a:t>| Workflow流程 | 能把复杂任务拆成稳定步骤 |</a:t>
            </a:r>
          </a:p>
          <a:p>
            <a:r>
              <a:t>| RAG知识库方案 | 理解外部知识如何进入AI产品 |</a:t>
            </a:r>
          </a:p>
          <a:p>
            <a:r>
              <a:t>| Agent工具调用方案 | 理解受控执行、权限和人工确认 |</a:t>
            </a:r>
          </a:p>
          <a:p>
            <a:r>
              <a:t>| Coze综合实践 | 能把多种AI能力组成可运行流程 |</a:t>
            </a:r>
          </a:p>
          <a:p>
            <a:r>
              <a:t>| 需求分析和PRD | 能把业务问题转化成产品方案 |</a:t>
            </a:r>
          </a:p>
          <a:p>
            <a:r>
              <a:t>| 原型和Demo | 能让产品假设被体验和验证 |</a:t>
            </a:r>
          </a:p>
          <a:p>
            <a:r>
              <a:t>| 评测集和Bad Case | 能定义效果并推动迭代 |</a:t>
            </a:r>
          </a:p>
          <a:p>
            <a:r>
              <a:t>| 智能审核完整PRD | 理解专业AI产品PRD的完整结构 |</a:t>
            </a:r>
          </a:p>
          <a:p>
            <a:r>
              <a:t>| 模型、成本和ROI分析 | 能判断产品是否具备落地价值 |</a:t>
            </a:r>
          </a:p>
          <a:p/>
          <a:p>
            <a:r>
              <a:t>需要准确表述：</a:t>
            </a:r>
          </a:p>
          <a:p/>
          <a:p>
            <a:r>
              <a:t>&gt; 第一阶段已经让大家接触并实践了完整项目中的主要能力模块，但这些模块还没有集中在一个个人项目中。</a:t>
            </a:r>
          </a:p>
          <a:p/>
          <a:p>
            <a:r>
              <a:t>## 六、第一阶段还没有完成什么</a:t>
            </a:r>
          </a:p>
          <a:p/>
          <a:p>
            <a:r>
              <a:t>对大多数学员来说，目前还缺少：</a:t>
            </a:r>
          </a:p>
          <a:p/>
          <a:p>
            <a:r>
              <a:t>- 一个自己选择并持续推进的统一项目；</a:t>
            </a:r>
          </a:p>
          <a:p>
            <a:r>
              <a:t>- 前后口径一致的需求、PRD和Demo；</a:t>
            </a:r>
          </a:p>
          <a:p>
            <a:r>
              <a:t>- 真实或可解释的用户问题证据；</a:t>
            </a:r>
          </a:p>
          <a:p>
            <a:r>
              <a:t>- 自己建立并运行的评测集；</a:t>
            </a:r>
          </a:p>
          <a:p>
            <a:r>
              <a:t>- 真实Bad Case；</a:t>
            </a:r>
          </a:p>
          <a:p>
            <a:r>
              <a:t>- 根据测试结果进行的迭代；</a:t>
            </a:r>
          </a:p>
          <a:p>
            <a:r>
              <a:t>- 模型、成本和ROI的统一判断；</a:t>
            </a:r>
          </a:p>
          <a:p>
            <a:r>
              <a:t>- 能够接受面试追问的个人项目过程。</a:t>
            </a:r>
          </a:p>
          <a:p/>
          <a:p>
            <a:r>
              <a:t>本部分最终总结：</a:t>
            </a:r>
          </a:p>
          <a:p/>
          <a:p>
            <a:r>
              <a:t>| 学习前 | 第一阶段以后 |</a:t>
            </a:r>
          </a:p>
          <a:p>
            <a:r>
              <a:t>|---|---|</a:t>
            </a:r>
          </a:p>
          <a:p>
            <a:r>
              <a:t>| 从工具开始 | 从问题开始 |</a:t>
            </a:r>
          </a:p>
          <a:p>
            <a:r>
              <a:t>| 追求生成效果 | 设计完整产品系统 |</a:t>
            </a:r>
          </a:p>
          <a:p>
            <a:r>
              <a:t>| 凭感觉判断 | 用评测和Bad Case验证 |</a:t>
            </a:r>
          </a:p>
          <a:p>
            <a:r>
              <a:t>| 关注能不能做 | 判断值不值得做 |</a:t>
            </a:r>
          </a:p>
          <a:p/>
          <a:p>
            <a:r>
              <a:t>过渡语：</a:t>
            </a:r>
          </a:p>
          <a:p/>
          <a:p>
            <a:r>
              <a:t>&gt; 如果模型还会继续变强，Prompt、代码、设计和内容生产的门槛继续下降，那么AI产品真正的价值会转移到哪里？模型公司会不会吃掉大量AI应用？未来的软件还需不需要页面和按钮？接下来，我们把视角再抬高一层。</a:t>
            </a:r>
          </a:p>
          <a:p/>
          <a:p>
            <a:r>
              <a:t>---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第一阶段；项目班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用16个有争议的问题练习判断：先选择，再用框架解释自己的选择。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AI产品正在发生什么变化？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使用比别人更强的模型；</a:t>
            </a:r>
          </a:p>
          <a:p>
            <a:r>
              <a:t>- B. 拥有别人没有的私有数据；</a:t>
            </a:r>
          </a:p>
          <a:p>
            <a:r>
              <a:t>- C. 深入用户的真实工作流程；</a:t>
            </a:r>
          </a:p>
          <a:p>
            <a:r>
              <a:t>- D. 拥有用户入口、品牌和信任；</a:t>
            </a:r>
          </a:p>
          <a:p>
            <a:r>
              <a:t>- E. 以上都有，但不同产品的核心价值不同。</a:t>
            </a:r>
          </a:p>
          <a:p/>
          <a:p>
            <a:r>
              <a:t>请一位选择A或B、一位选择C或D的学员说明理由。</a:t>
            </a:r>
          </a:p>
          <a:p/>
          <a:p>
            <a:r>
              <a:t>教师讲解：</a:t>
            </a:r>
          </a:p>
          <a:p/>
          <a:p>
            <a:r>
              <a:t>模型能力可以形成阶段性优势，但当更强模型被广泛开放时，其他产品也可以接入。早期显得独特的摘要、写作、文件问答、代码生成和会议提取，可能逐渐进入模型平台、办公软件、浏览器和企业协作工具。</a:t>
            </a:r>
          </a:p>
          <a:p/>
          <a:p>
            <a:r>
              <a:t>因此，需要追问：</a:t>
            </a:r>
          </a:p>
          <a:p/>
          <a:p>
            <a:r>
              <a:t>&gt; 如果明天所有竞争对手都能使用同样的模型，产品还剩下什么难以复制？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模型越来越强，AI产品还剩下什么价值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判断结论：基础模型决定起点，任务、数据、流程和信任形成长期价值</a:t>
            </a:r>
          </a:p>
          <a:p/>
          <a:p>
            <a:r>
              <a:t>如果通用模型已经能完成转写、摘要和行动项提取，只提供“上传录音、生成摘要”的产品很容易被覆盖。</a:t>
            </a:r>
          </a:p>
          <a:p/>
          <a:p>
            <a:r>
              <a:t>但进入企业流程以后，还需要解决：</a:t>
            </a:r>
          </a:p>
          <a:p/>
          <a:p>
            <a:r>
              <a:t>- 不同项目的人员和权限；</a:t>
            </a:r>
          </a:p>
          <a:p>
            <a:r>
              <a:t>- 企业内部任务模板；</a:t>
            </a:r>
          </a:p>
          <a:p>
            <a:r>
              <a:t>- 历史会议和项目决策；</a:t>
            </a:r>
          </a:p>
          <a:p>
            <a:r>
              <a:t>- 行动项是否已经存在；</a:t>
            </a:r>
          </a:p>
          <a:p>
            <a:r>
              <a:t>- 负责人是否正式确认；</a:t>
            </a:r>
          </a:p>
          <a:p>
            <a:r>
              <a:t>- 如何同步任务系统；</a:t>
            </a:r>
          </a:p>
          <a:p>
            <a:r>
              <a:t>- 哪些动作需要审批；</a:t>
            </a:r>
          </a:p>
          <a:p>
            <a:r>
              <a:t>- 是否保留操作日志；</a:t>
            </a:r>
          </a:p>
          <a:p>
            <a:r>
              <a:t>- 如何处理敏感会议；</a:t>
            </a:r>
          </a:p>
          <a:p>
            <a:r>
              <a:t>- 如何统计执行情况。</a:t>
            </a:r>
          </a:p>
          <a:p/>
          <a:p>
            <a:r>
              <a:t>核心区别：</a:t>
            </a:r>
          </a:p>
          <a:p/>
          <a:p>
            <a:r>
              <a:t>&gt; 模型解决内容能否被理解和生成，产品解决理解结果怎样进入真实工作流程，并产生可承担的结果。</a:t>
            </a:r>
          </a:p>
          <a:p/>
          <a:p>
            <a:r>
              <a:t>### 第一层：基础模型能力</a:t>
            </a:r>
          </a:p>
          <a:p/>
          <a:p>
            <a:r>
              <a:t>理解、生成、推理、多模态、工具调用和长上下文。</a:t>
            </a:r>
          </a:p>
          <a:p/>
          <a:p>
            <a:r>
              <a:t>### 第二层：任务设计</a:t>
            </a:r>
          </a:p>
          <a:p/>
          <a:p>
            <a:r>
              <a:t>输入、输出、Prompt、处理步骤、异常和调用方式。</a:t>
            </a:r>
          </a:p>
          <a:p/>
          <a:p>
            <a:r>
              <a:t>### 第三层：业务数据和知识</a:t>
            </a:r>
          </a:p>
          <a:p/>
          <a:p>
            <a:r>
              <a:t>企业知识库、用户历史、业务规则、商品、项目资料和权限数据。</a:t>
            </a:r>
          </a:p>
          <a:p/>
          <a:p>
            <a:r>
              <a:t>### 第四层：业务流程和系统连接</a:t>
            </a:r>
          </a:p>
          <a:p/>
          <a:p>
            <a:r>
              <a:t>谁使用、谁确认、进入哪个系统、怎样回滚、怎样持续跟踪。</a:t>
            </a:r>
          </a:p>
          <a:p/>
          <a:p>
            <a:r>
              <a:t>### 第五层：用户关系、反馈和信任</a:t>
            </a:r>
          </a:p>
          <a:p/>
          <a:p>
            <a:r>
              <a:t>使用习惯、长期状态、纠错反馈、可靠交付以及错误处理。</a:t>
            </a:r>
          </a:p>
          <a:p/>
          <a:p>
            <a:r>
              <a:t>结论：</a:t>
            </a:r>
          </a:p>
          <a:p/>
          <a:p>
            <a:r>
              <a:t>&gt; 基础模型决定产品能力的起点，任务、数据、流程和信任决定产品能否形成长期价值。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用会议助手说明；AI产品价值的五层结构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会，大部分AI应用都会被模型公司取代；</a:t>
            </a:r>
          </a:p>
          <a:p>
            <a:r>
              <a:t>- B. 不会，模型公司不了解具体用户；</a:t>
            </a:r>
          </a:p>
          <a:p>
            <a:r>
              <a:t>- C. 通用、浅层应用风险较高，深业务应用仍有空间；</a:t>
            </a:r>
          </a:p>
          <a:p>
            <a:r>
              <a:t>- D. 最终取决于谁控制用户入口和业务流程。</a:t>
            </a:r>
          </a:p>
          <a:p/>
          <a:p>
            <a:r>
              <a:t>更容易被覆盖的产品：</a:t>
            </a:r>
          </a:p>
          <a:p/>
          <a:p>
            <a:r>
              <a:t>- 只是模型的简单包装；</a:t>
            </a:r>
          </a:p>
          <a:p>
            <a:r>
              <a:t>- 只有聊天框和固定Prompt；</a:t>
            </a:r>
          </a:p>
          <a:p>
            <a:r>
              <a:t>- 解决通用任务；</a:t>
            </a:r>
          </a:p>
          <a:p>
            <a:r>
              <a:t>- 没有独特数据和系统连接；</a:t>
            </a:r>
          </a:p>
          <a:p>
            <a:r>
              <a:t>- 没有持续反馈和结果责任。</a:t>
            </a:r>
          </a:p>
          <a:p/>
          <a:p>
            <a:r>
              <a:t>相对更有空间的产品：</a:t>
            </a:r>
          </a:p>
          <a:p/>
          <a:p>
            <a:r>
              <a:t>- 深入专业场景；</a:t>
            </a:r>
          </a:p>
          <a:p>
            <a:r>
              <a:t>- 进入真实业务流程；</a:t>
            </a:r>
          </a:p>
          <a:p>
            <a:r>
              <a:t>- 处理权限、数据和异常；</a:t>
            </a:r>
          </a:p>
          <a:p>
            <a:r>
              <a:t>- 与现有系统连接；</a:t>
            </a:r>
          </a:p>
          <a:p>
            <a:r>
              <a:t>- 对结果和持续运营负责。</a:t>
            </a:r>
          </a:p>
          <a:p/>
          <a:p>
            <a:r>
              <a:t>准确表述：</a:t>
            </a:r>
          </a:p>
          <a:p/>
          <a:p>
            <a:r>
              <a:t>&gt; 深业务不是天然护城河，但它提高了产品被简单复制和替代的难度。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模型公司会不会吃掉大量AI应用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判断结论：深业务不是天然护城河，但会增加复制与替代的难度</a:t>
            </a:r>
          </a:p>
          <a:p/>
          <a:p>
            <a:r>
              <a:t>让学员选择：</a:t>
            </a:r>
          </a:p>
          <a:p/>
          <a:p>
            <a:r>
              <a:t>- A. 会，大部分AI应用都会被模型公司取代；</a:t>
            </a:r>
          </a:p>
          <a:p>
            <a:r>
              <a:t>- B. 不会，模型公司不了解具体用户；</a:t>
            </a:r>
          </a:p>
          <a:p>
            <a:r>
              <a:t>- C. 通用、浅层应用风险较高，深业务应用仍有空间；</a:t>
            </a:r>
          </a:p>
          <a:p>
            <a:r>
              <a:t>- D. 最终取决于谁控制用户入口和业务流程。</a:t>
            </a:r>
          </a:p>
          <a:p/>
          <a:p>
            <a:r>
              <a:t>更容易被覆盖的产品：</a:t>
            </a:r>
          </a:p>
          <a:p/>
          <a:p>
            <a:r>
              <a:t>- 只是模型的简单包装；</a:t>
            </a:r>
          </a:p>
          <a:p>
            <a:r>
              <a:t>- 只有聊天框和固定Prompt；</a:t>
            </a:r>
          </a:p>
          <a:p>
            <a:r>
              <a:t>- 解决通用任务；</a:t>
            </a:r>
          </a:p>
          <a:p>
            <a:r>
              <a:t>- 没有独特数据和系统连接；</a:t>
            </a:r>
          </a:p>
          <a:p>
            <a:r>
              <a:t>- 没有持续反馈和结果责任。</a:t>
            </a:r>
          </a:p>
          <a:p/>
          <a:p>
            <a:r>
              <a:t>相对更有空间的产品：</a:t>
            </a:r>
          </a:p>
          <a:p/>
          <a:p>
            <a:r>
              <a:t>- 深入专业场景；</a:t>
            </a:r>
          </a:p>
          <a:p>
            <a:r>
              <a:t>- 进入真实业务流程；</a:t>
            </a:r>
          </a:p>
          <a:p>
            <a:r>
              <a:t>- 处理权限、数据和异常；</a:t>
            </a:r>
          </a:p>
          <a:p>
            <a:r>
              <a:t>- 与现有系统连接；</a:t>
            </a:r>
          </a:p>
          <a:p>
            <a:r>
              <a:t>- 对结果和持续运营负责。</a:t>
            </a:r>
          </a:p>
          <a:p/>
          <a:p>
            <a:r>
              <a:t>准确表述：</a:t>
            </a:r>
          </a:p>
          <a:p/>
          <a:p>
            <a:r>
              <a:t>&gt; 深业务不是天然护城河，但它提高了产品被简单复制和替代的难度。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模型公司会不会吃掉大量AI应用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以会议助手为例，让学员选择：</a:t>
            </a:r>
          </a:p>
          <a:p/>
          <a:p>
            <a:r>
              <a:t>- A. 其他AI会议产品；</a:t>
            </a:r>
          </a:p>
          <a:p>
            <a:r>
              <a:t>- B. 项目经理人工整理；</a:t>
            </a:r>
          </a:p>
          <a:p>
            <a:r>
              <a:t>- C. 企业现有会议和协作软件；</a:t>
            </a:r>
          </a:p>
          <a:p>
            <a:r>
              <a:t>- D. 用户临时使用通用大模型，或者根本不整理；</a:t>
            </a:r>
          </a:p>
          <a:p>
            <a:r>
              <a:t>- E. 以上都是。</a:t>
            </a:r>
          </a:p>
          <a:p/>
          <a:p>
            <a:r>
              <a:t>用户真正比较的是：</a:t>
            </a:r>
          </a:p>
          <a:p/>
          <a:p>
            <a:r>
              <a:t>- 是否需要学习一个新工具；</a:t>
            </a:r>
          </a:p>
          <a:p>
            <a:r>
              <a:t>- 是否要重新上传资料；</a:t>
            </a:r>
          </a:p>
          <a:p>
            <a:r>
              <a:t>- 结果是否仍需大量修改；</a:t>
            </a:r>
          </a:p>
          <a:p>
            <a:r>
              <a:t>- 是否能进入现有任务系统；</a:t>
            </a:r>
          </a:p>
          <a:p>
            <a:r>
              <a:t>- 是否增加确认工作；</a:t>
            </a:r>
          </a:p>
          <a:p>
            <a:r>
              <a:t>- 数据是否安全；</a:t>
            </a:r>
          </a:p>
          <a:p>
            <a:r>
              <a:t>- 改变工作方式是否值得。</a:t>
            </a:r>
          </a:p>
          <a:p/>
          <a:p>
            <a:r>
              <a:t>结论：</a:t>
            </a:r>
          </a:p>
          <a:p/>
          <a:p>
            <a:r>
              <a:t>&gt; AI产品首先要战胜的，通常不是另一个AI产品，而是用户已经习惯并能够接受的现有工作方式。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AI产品真正的竞争对手是谁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判断结论：AI产品首先要战胜用户已经习惯的工作方式</a:t>
            </a:r>
          </a:p>
          <a:p/>
          <a:p>
            <a:r>
              <a:t>以会议助手为例，让学员选择：</a:t>
            </a:r>
          </a:p>
          <a:p/>
          <a:p>
            <a:r>
              <a:t>- A. 其他AI会议产品；</a:t>
            </a:r>
          </a:p>
          <a:p>
            <a:r>
              <a:t>- B. 项目经理人工整理；</a:t>
            </a:r>
          </a:p>
          <a:p>
            <a:r>
              <a:t>- C. 企业现有会议和协作软件；</a:t>
            </a:r>
          </a:p>
          <a:p>
            <a:r>
              <a:t>- D. 用户临时使用通用大模型，或者根本不整理；</a:t>
            </a:r>
          </a:p>
          <a:p>
            <a:r>
              <a:t>- E. 以上都是。</a:t>
            </a:r>
          </a:p>
          <a:p/>
          <a:p>
            <a:r>
              <a:t>用户真正比较的是：</a:t>
            </a:r>
          </a:p>
          <a:p/>
          <a:p>
            <a:r>
              <a:t>- 是否需要学习一个新工具；</a:t>
            </a:r>
          </a:p>
          <a:p>
            <a:r>
              <a:t>- 是否要重新上传资料；</a:t>
            </a:r>
          </a:p>
          <a:p>
            <a:r>
              <a:t>- 结果是否仍需大量修改；</a:t>
            </a:r>
          </a:p>
          <a:p>
            <a:r>
              <a:t>- 是否能进入现有任务系统；</a:t>
            </a:r>
          </a:p>
          <a:p>
            <a:r>
              <a:t>- 是否增加确认工作；</a:t>
            </a:r>
          </a:p>
          <a:p>
            <a:r>
              <a:t>- 数据是否安全；</a:t>
            </a:r>
          </a:p>
          <a:p>
            <a:r>
              <a:t>- 改变工作方式是否值得。</a:t>
            </a:r>
          </a:p>
          <a:p/>
          <a:p>
            <a:r>
              <a:t>结论：</a:t>
            </a:r>
          </a:p>
          <a:p/>
          <a:p>
            <a:r>
              <a:t>&gt; AI产品首先要战胜的，通常不是另一个AI产品，而是用户已经习惯并能够接受的现有工作方式。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AI产品真正的竞争对手是谁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应该突出AI，让用户感知能力；</a:t>
            </a:r>
          </a:p>
          <a:p>
            <a:r>
              <a:t>- B. 不应该突出AI，用户只关心结果；</a:t>
            </a:r>
          </a:p>
          <a:p>
            <a:r>
              <a:t>- C. 高风险场景必须明确说明AI参与了什么；</a:t>
            </a:r>
          </a:p>
          <a:p>
            <a:r>
              <a:t>- D. 是否强调AI，要看它对用户决策和责任的影响。</a:t>
            </a:r>
          </a:p>
          <a:p/>
          <a:p>
            <a:r>
              <a:t>在价值层面，可以弱化技术名词。用户通常不关心模型参数、RAG、Agent数量和Workflow节点，而关心是否完成任务、是否可靠、是否容易修改。</a:t>
            </a:r>
          </a:p>
          <a:p/>
          <a:p>
            <a:r>
              <a:t>在责任层面，不能完全隐藏AI。如果AI参与内容生成、风险判断、人员评价、审批或外部动作，用户需要知道：</a:t>
            </a:r>
          </a:p>
          <a:p/>
          <a:p>
            <a:r>
              <a:t>- 哪部分由AI产生；</a:t>
            </a:r>
          </a:p>
          <a:p>
            <a:r>
              <a:t>- 依据来自哪里；</a:t>
            </a:r>
          </a:p>
          <a:p>
            <a:r>
              <a:t>- 是否经过人工确认；</a:t>
            </a:r>
          </a:p>
          <a:p>
            <a:r>
              <a:t>- AI执行了哪些动作；</a:t>
            </a:r>
          </a:p>
          <a:p>
            <a:r>
              <a:t>- 如何修改或申诉。</a:t>
            </a:r>
          </a:p>
          <a:p/>
          <a:p>
            <a:r>
              <a:t>结论：</a:t>
            </a:r>
          </a:p>
          <a:p/>
          <a:p>
            <a:r>
              <a:t>&gt; 好的AI产品可以不使用技术名词打扰用户，但不能隐藏AI的能力边界、信息依据和责任影响。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高级AI产品是否应该弱化AI存在感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判断结论：价值表达可以弱化技术，责任影响不能被隐藏</a:t>
            </a:r>
          </a:p>
          <a:p/>
          <a:p>
            <a:r>
              <a:t>让学员选择：</a:t>
            </a:r>
          </a:p>
          <a:p/>
          <a:p>
            <a:r>
              <a:t>- A. 应该突出AI，让用户感知能力；</a:t>
            </a:r>
          </a:p>
          <a:p>
            <a:r>
              <a:t>- B. 不应该突出AI，用户只关心结果；</a:t>
            </a:r>
          </a:p>
          <a:p>
            <a:r>
              <a:t>- C. 高风险场景必须明确说明AI参与了什么；</a:t>
            </a:r>
          </a:p>
          <a:p>
            <a:r>
              <a:t>- D. 是否强调AI，要看它对用户决策和责任的影响。</a:t>
            </a:r>
          </a:p>
          <a:p/>
          <a:p>
            <a:r>
              <a:t>在价值层面，可以弱化技术名词。用户通常不关心模型参数、RAG、Agent数量和Workflow节点，而关心是否完成任务、是否可靠、是否容易修改。</a:t>
            </a:r>
          </a:p>
          <a:p/>
          <a:p>
            <a:r>
              <a:t>在责任层面，不能完全隐藏AI。如果AI参与内容生成、风险判断、人员评价、审批或外部动作，用户需要知道：</a:t>
            </a:r>
          </a:p>
          <a:p/>
          <a:p>
            <a:r>
              <a:t>- 哪部分由AI产生；</a:t>
            </a:r>
          </a:p>
          <a:p>
            <a:r>
              <a:t>- 依据来自哪里；</a:t>
            </a:r>
          </a:p>
          <a:p>
            <a:r>
              <a:t>- 是否经过人工确认；</a:t>
            </a:r>
          </a:p>
          <a:p>
            <a:r>
              <a:t>- AI执行了哪些动作；</a:t>
            </a:r>
          </a:p>
          <a:p>
            <a:r>
              <a:t>- 如何修改或申诉。</a:t>
            </a:r>
          </a:p>
          <a:p/>
          <a:p>
            <a:r>
              <a:t>结论：</a:t>
            </a:r>
          </a:p>
          <a:p/>
          <a:p>
            <a:r>
              <a:t>&gt; 好的AI产品可以不使用技术名词打扰用户，但不能隐藏AI的能力边界、信息依据和责任影响。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高级AI产品是否应该弱化AI存在感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不需要，全部变成聊天框；</a:t>
            </a:r>
          </a:p>
          <a:p>
            <a:r>
              <a:t>- B. 需要，聊天无法替代复杂产品；</a:t>
            </a:r>
          </a:p>
          <a:p>
            <a:r>
              <a:t>- C. 自然语言负责表达意图，界面负责检查和控制；</a:t>
            </a:r>
          </a:p>
          <a:p>
            <a:r>
              <a:t>- D. Agent最终会在后台完成一切。</a:t>
            </a:r>
          </a:p>
          <a:p/>
          <a:p>
            <a:r>
              <a:t>自然语言适合：表达复杂目标、开放提问、连续追问和生成解释。</a:t>
            </a:r>
          </a:p>
          <a:p/>
          <a:p>
            <a:r>
              <a:t>结构化界面适合：比较结果、修改表格、批量操作、查看状态、配置权限、核对来源、确认高风险动作和撤销恢复。</a:t>
            </a:r>
          </a:p>
          <a:p/>
          <a:p>
            <a:r>
              <a:t>更可能的混合形态是：</a:t>
            </a:r>
          </a:p>
          <a:p/>
          <a:p>
            <a:r>
              <a:t>1. 用户用自然语言表达目标；</a:t>
            </a:r>
          </a:p>
          <a:p>
            <a:r>
              <a:t>2. AI理解和执行；</a:t>
            </a:r>
          </a:p>
          <a:p>
            <a:r>
              <a:t>3. 系统用结构化页面展示结果、依据、风险和待确认项；</a:t>
            </a:r>
          </a:p>
          <a:p>
            <a:r>
              <a:t>4. 用户修改和确认；</a:t>
            </a:r>
          </a:p>
          <a:p>
            <a:r>
              <a:t>5. Agent执行经过确认的任务。</a:t>
            </a:r>
          </a:p>
          <a:p/>
          <a:p>
            <a:r>
              <a:t>结论：</a:t>
            </a:r>
          </a:p>
          <a:p/>
          <a:p>
            <a:r>
              <a:t>&gt; 自然语言更适合表达意图，Agent更适合执行任务，结构化界面仍然负责展示状态、检查结果和控制风险。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未来AI产品还需要页面和按钮吗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判断结论：自然语言表达意图，Agent执行任务，界面展示状态并控制风险</a:t>
            </a:r>
          </a:p>
          <a:p/>
          <a:p>
            <a:r>
              <a:t>让学员选择：</a:t>
            </a:r>
          </a:p>
          <a:p/>
          <a:p>
            <a:r>
              <a:t>- A. 不需要，全部变成聊天框；</a:t>
            </a:r>
          </a:p>
          <a:p>
            <a:r>
              <a:t>- B. 需要，聊天无法替代复杂产品；</a:t>
            </a:r>
          </a:p>
          <a:p>
            <a:r>
              <a:t>- C. 自然语言负责表达意图，界面负责检查和控制；</a:t>
            </a:r>
          </a:p>
          <a:p>
            <a:r>
              <a:t>- D. Agent最终会在后台完成一切。</a:t>
            </a:r>
          </a:p>
          <a:p/>
          <a:p>
            <a:r>
              <a:t>自然语言适合：表达复杂目标、开放提问、连续追问和生成解释。</a:t>
            </a:r>
          </a:p>
          <a:p/>
          <a:p>
            <a:r>
              <a:t>结构化界面适合：比较结果、修改表格、批量操作、查看状态、配置权限、核对来源、确认高风险动作和撤销恢复。</a:t>
            </a:r>
          </a:p>
          <a:p/>
          <a:p>
            <a:r>
              <a:t>更可能的混合形态是：</a:t>
            </a:r>
          </a:p>
          <a:p/>
          <a:p>
            <a:r>
              <a:t>1. 用户用自然语言表达目标；</a:t>
            </a:r>
          </a:p>
          <a:p>
            <a:r>
              <a:t>2. AI理解和执行；</a:t>
            </a:r>
          </a:p>
          <a:p>
            <a:r>
              <a:t>3. 系统用结构化页面展示结果、依据、风险和待确认项；</a:t>
            </a:r>
          </a:p>
          <a:p>
            <a:r>
              <a:t>4. 用户修改和确认；</a:t>
            </a:r>
          </a:p>
          <a:p>
            <a:r>
              <a:t>5. Agent执行经过确认的任务。</a:t>
            </a:r>
          </a:p>
          <a:p/>
          <a:p>
            <a:r>
              <a:t>结论：</a:t>
            </a:r>
          </a:p>
          <a:p/>
          <a:p>
            <a:r>
              <a:t>&gt; 自然语言更适合表达意图，Agent更适合执行任务，结构化界面仍然负责展示状态、检查结果和控制风险。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未来AI产品还需要页面和按钮吗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一项更高级的软件功能；</a:t>
            </a:r>
          </a:p>
          <a:p>
            <a:r>
              <a:t>- B. 一套自动化Workflow；</a:t>
            </a:r>
          </a:p>
          <a:p>
            <a:r>
              <a:t>- C. 能够接受目标并执行任务的数字劳动力；</a:t>
            </a:r>
          </a:p>
          <a:p>
            <a:r>
              <a:t>- D. 现阶段主要还是营销概念。</a:t>
            </a:r>
          </a:p>
          <a:p/>
          <a:p>
            <a:r>
              <a:t>请一位选择A或B、一位选择C的学员说明理由。</a:t>
            </a:r>
          </a:p>
          <a:p/>
          <a:p>
            <a:r>
              <a:t>教师讲解：Agent不是一个二元概念。很多所谓Agent只是调用固定工具的自动化流程；更接近“数字劳动力”的Agent需要接受目标、拆解任务、调用多种工具、保存状态、识别异常并在需要时寻求人类帮助。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Agent究竟是什么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判断结论：先决定系统被允许承担多少责任，再决定自主性</a:t>
            </a:r>
          </a:p>
          <a:p/>
          <a:p>
            <a:r>
              <a:t>### 第一层：AI助手</a:t>
            </a:r>
          </a:p>
          <a:p/>
          <a:p>
            <a:r>
              <a:t>生成和建议，由用户采用并完成后续动作。重点是质量、来源和可修改性。</a:t>
            </a:r>
          </a:p>
          <a:p/>
          <a:p>
            <a:r>
              <a:t>### 第二层：半自动执行</a:t>
            </a:r>
          </a:p>
          <a:p/>
          <a:p>
            <a:r>
              <a:t>AI准备下一步动作，用户确认后执行。重点增加确认、权限、证据、撤销和执行反馈。</a:t>
            </a:r>
          </a:p>
          <a:p/>
          <a:p>
            <a:r>
              <a:t>### 第三层：受监督Agent</a:t>
            </a:r>
          </a:p>
          <a:p/>
          <a:p>
            <a:r>
              <a:t>Agent在明确范围内自动执行，人类主要处理异常。重点增加行动范围、停止条件、异常升级、日志、监控和失败恢复。</a:t>
            </a:r>
          </a:p>
          <a:p/>
          <a:p>
            <a:r>
              <a:t>### 第四层：高自主Agent</a:t>
            </a:r>
          </a:p>
          <a:p/>
          <a:p>
            <a:r>
              <a:t>Agent根据目标自主规划并执行较长任务链，对上下文、状态、工具可靠性、权限、安全和责任要求很高。</a:t>
            </a:r>
          </a:p>
          <a:p/>
          <a:p>
            <a:r>
              <a:t>结论：</a:t>
            </a:r>
          </a:p>
          <a:p/>
          <a:p>
            <a:r>
              <a:t>&gt; 产品经理需要先确定系统被允许承担多少行动责任，再确定需要多高程度的自主性。</a:t>
            </a:r>
          </a:p>
          <a:p/>
          <a:p>
            <a:r>
              <a:t>让学员选择：</a:t>
            </a:r>
          </a:p>
          <a:p/>
          <a:p>
            <a:r>
              <a:t>- A. 一项更高级的软件功能；</a:t>
            </a:r>
          </a:p>
          <a:p>
            <a:r>
              <a:t>- B. 一套自动化Workflow；</a:t>
            </a:r>
          </a:p>
          <a:p>
            <a:r>
              <a:t>- C. 能够接受目标并执行任务的数字劳动力；</a:t>
            </a:r>
          </a:p>
          <a:p>
            <a:r>
              <a:t>- D. 现阶段主要还是营销概念。</a:t>
            </a:r>
          </a:p>
          <a:p/>
          <a:p>
            <a:r>
              <a:t>请一位选择A或B、一位选择C的学员说明理由。</a:t>
            </a:r>
          </a:p>
          <a:p/>
          <a:p>
            <a:r>
              <a:t>教师讲解：Agent不是一个二元概念。很多所谓Agent只是调用固定工具的自动化流程；更接近“数字劳动力”的Agent需要接受目标、拆解任务、调用多种工具、保存状态、识别异常并在需要时寻求人类帮助。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AI产品的四个行动层级；Agent究竟是什么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给出情境：</a:t>
            </a:r>
          </a:p>
          <a:p/>
          <a:p>
            <a:r>
              <a:t>&gt; 会议助手错误地把一项尚未确定的任务分配给研发负责人，并自动设置了三天后截止。研发团队据此调整了排期，后来发现会议上根本没有形成正式决定。</a:t>
            </a:r>
          </a:p>
          <a:p/>
          <a:p>
            <a:r>
              <a:t>让学员选择：</a:t>
            </a:r>
          </a:p>
          <a:p/>
          <a:p>
            <a:r>
              <a:t>- A. 模型厂商；</a:t>
            </a:r>
          </a:p>
          <a:p>
            <a:r>
              <a:t>- B. Agent产品公司；</a:t>
            </a:r>
          </a:p>
          <a:p>
            <a:r>
              <a:t>- C. 使用Agent的企业；</a:t>
            </a:r>
          </a:p>
          <a:p>
            <a:r>
              <a:t>- D. 最终使用者；</a:t>
            </a:r>
          </a:p>
          <a:p>
            <a:r>
              <a:t>- E. 需要根据指令、产品设计、权限和确认流程具体划分。</a:t>
            </a:r>
          </a:p>
          <a:p/>
          <a:p>
            <a:r>
              <a:t>不寻找唯一责任人，而是拆解五类错误来源：</a:t>
            </a:r>
          </a:p>
          <a:p/>
          <a:p>
            <a:r>
              <a:t>1. 用户指令不完整或模糊；</a:t>
            </a:r>
          </a:p>
          <a:p>
            <a:r>
              <a:t>2. 模型理解错误；</a:t>
            </a:r>
          </a:p>
          <a:p>
            <a:r>
              <a:t>3. 产品流程缺少确认和兜底；</a:t>
            </a:r>
          </a:p>
          <a:p>
            <a:r>
              <a:t>4. 工具或系统调用错误；</a:t>
            </a:r>
          </a:p>
          <a:p>
            <a:r>
              <a:t>5. 企业授予过大权限或缺少治理。</a:t>
            </a:r>
          </a:p>
          <a:p/>
          <a:p>
            <a:r>
              <a:t>核心观点：</a:t>
            </a:r>
          </a:p>
          <a:p/>
          <a:p>
            <a:r>
              <a:t>&gt; Agent错误通常不是某一个组件单独造成的，而是指令、模型、产品流程、工具系统和组织治理共同作用的结果。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Agent犯错应该由谁负责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判断结论：责任需要被提前设计进权限、确认、日志和回滚机制</a:t>
            </a:r>
          </a:p>
          <a:p/>
          <a:p>
            <a:r>
              <a:t>给出情境：</a:t>
            </a:r>
          </a:p>
          <a:p/>
          <a:p>
            <a:r>
              <a:t>&gt; 会议助手错误地把一项尚未确定的任务分配给研发负责人，并自动设置了三天后截止。研发团队据此调整了排期，后来发现会议上根本没有形成正式决定。</a:t>
            </a:r>
          </a:p>
          <a:p/>
          <a:p>
            <a:r>
              <a:t>让学员选择：</a:t>
            </a:r>
          </a:p>
          <a:p/>
          <a:p>
            <a:r>
              <a:t>- A. 模型厂商；</a:t>
            </a:r>
          </a:p>
          <a:p>
            <a:r>
              <a:t>- B. Agent产品公司；</a:t>
            </a:r>
          </a:p>
          <a:p>
            <a:r>
              <a:t>- C. 使用Agent的企业；</a:t>
            </a:r>
          </a:p>
          <a:p>
            <a:r>
              <a:t>- D. 最终使用者；</a:t>
            </a:r>
          </a:p>
          <a:p>
            <a:r>
              <a:t>- E. 需要根据指令、产品设计、权限和确认流程具体划分。</a:t>
            </a:r>
          </a:p>
          <a:p/>
          <a:p>
            <a:r>
              <a:t>不寻找唯一责任人，而是拆解五类错误来源：</a:t>
            </a:r>
          </a:p>
          <a:p/>
          <a:p>
            <a:r>
              <a:t>1. 用户指令不完整或模糊；</a:t>
            </a:r>
          </a:p>
          <a:p>
            <a:r>
              <a:t>2. 模型理解错误；</a:t>
            </a:r>
          </a:p>
          <a:p>
            <a:r>
              <a:t>3. 产品流程缺少确认和兜底；</a:t>
            </a:r>
          </a:p>
          <a:p>
            <a:r>
              <a:t>4. 工具或系统调用错误；</a:t>
            </a:r>
          </a:p>
          <a:p>
            <a:r>
              <a:t>5. 企业授予过大权限或缺少治理。</a:t>
            </a:r>
          </a:p>
          <a:p/>
          <a:p>
            <a:r>
              <a:t>核心观点：</a:t>
            </a:r>
          </a:p>
          <a:p/>
          <a:p>
            <a:r>
              <a:t>&gt; Agent错误通常不是某一个组件单独造成的，而是指令、模型、产品流程、工具系统和组织治理共同作用的结果。</a:t>
            </a:r>
          </a:p>
          <a:p/>
          <a:p>
            <a:r>
              <a:t>需要设计：</a:t>
            </a:r>
          </a:p>
          <a:p/>
          <a:p>
            <a:r>
              <a:t>- 最小权限；</a:t>
            </a:r>
          </a:p>
          <a:p>
            <a:r>
              <a:t>- 分级确认；</a:t>
            </a:r>
          </a:p>
          <a:p>
            <a:r>
              <a:t>- 执行前可见；</a:t>
            </a:r>
          </a:p>
          <a:p>
            <a:r>
              <a:t>- 执行后可追溯；</a:t>
            </a:r>
          </a:p>
          <a:p>
            <a:r>
              <a:t>- 可暂停、取消、撤销和回滚；</a:t>
            </a:r>
          </a:p>
          <a:p>
            <a:r>
              <a:t>- 异常时停止并升级人工。</a:t>
            </a:r>
          </a:p>
          <a:p/>
          <a:p>
            <a:r>
              <a:t>参考控制：</a:t>
            </a:r>
          </a:p>
          <a:p/>
          <a:p>
            <a:r>
              <a:t>| 动作 | 建议控制 |</a:t>
            </a:r>
          </a:p>
          <a:p>
            <a:r>
              <a:t>|---|---|</a:t>
            </a:r>
          </a:p>
          <a:p>
            <a:r>
              <a:t>| 生成摘要 | 可以自动 |</a:t>
            </a:r>
          </a:p>
          <a:p>
            <a:r>
              <a:t>| 提取行动项 | 自动生成，用户检查 |</a:t>
            </a:r>
          </a:p>
          <a:p>
            <a:r>
              <a:t>| 推荐负责人 | 显示为建议 |</a:t>
            </a:r>
          </a:p>
          <a:p>
            <a:r>
              <a:t>| 创建草稿任务 | 可批量确认 |</a:t>
            </a:r>
          </a:p>
          <a:p>
            <a:r>
              <a:t>| 创建正式任务 | 明确确认 |</a:t>
            </a:r>
          </a:p>
          <a:p>
            <a:r>
              <a:t>| 修改负责人 | 再次确认 |</a:t>
            </a:r>
          </a:p>
          <a:p>
            <a:r>
              <a:t>| 删除任务或对外发送 | 强确认或禁止 |</a:t>
            </a:r>
          </a:p>
          <a:p/>
          <a:p>
            <a:r>
              <a:t>结论：</a:t>
            </a:r>
          </a:p>
          <a:p/>
          <a:p>
            <a:r>
              <a:t>&gt; Agent产品真正高级的地方，不是执行了多少动作，而是把权限、确认、日志、暂停、回滚和人工接管设计成完整系统。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Agent犯错应该由谁负责；如何把责任设计进产品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工作量明显减少；</a:t>
            </a:r>
          </a:p>
          <a:p>
            <a:r>
              <a:t>- B. 企业会安排员工完成更多任务；</a:t>
            </a:r>
          </a:p>
          <a:p>
            <a:r>
              <a:t>- C. 部分任务减少，但监督、评测和治理工作增加；</a:t>
            </a:r>
          </a:p>
          <a:p>
            <a:r>
              <a:t>- D. 取决于企业是否重新设计流程和岗位。</a:t>
            </a:r>
          </a:p>
          <a:p/>
          <a:p>
            <a:r>
              <a:t>可能减少的工作：信息搜集、初稿、格式整理、重复查询、数据录入和固定操作。</a:t>
            </a:r>
          </a:p>
          <a:p/>
          <a:p>
            <a:r>
              <a:t>可能增加的工作：定义标准、维护数据、评测、检查高风险结果、分析Bad Case、配置权限、监督Agent和处理异常。</a:t>
            </a:r>
          </a:p>
          <a:p/>
          <a:p>
            <a:r>
              <a:t>如果企业只是把Agent叠加到原流程上，可能出现：</a:t>
            </a:r>
          </a:p>
          <a:p/>
          <a:p>
            <a:r>
              <a:t>- AI生成一次；</a:t>
            </a:r>
          </a:p>
          <a:p>
            <a:r>
              <a:t>- 员工完整检查一次；</a:t>
            </a:r>
          </a:p>
          <a:p>
            <a:r>
              <a:t>- 原流程再走一次；</a:t>
            </a:r>
          </a:p>
          <a:p>
            <a:r>
              <a:t>- 管理者增加一次审批；</a:t>
            </a:r>
          </a:p>
          <a:p>
            <a:r>
              <a:t>- 最终工作反而更多。</a:t>
            </a:r>
          </a:p>
          <a:p/>
          <a:p>
            <a:r>
              <a:t>更专业的做法是重新判断：</a:t>
            </a:r>
          </a:p>
          <a:p/>
          <a:p>
            <a:r>
              <a:t>1. 哪些任务可以取消；</a:t>
            </a:r>
          </a:p>
          <a:p>
            <a:r>
              <a:t>2. 哪些交给AI；</a:t>
            </a:r>
          </a:p>
          <a:p>
            <a:r>
              <a:t>3. 哪些由人工确认；</a:t>
            </a:r>
          </a:p>
          <a:p>
            <a:r>
              <a:t>4. 哪些旧环节不再需要；</a:t>
            </a:r>
          </a:p>
          <a:p>
            <a:r>
              <a:t>5. 哪些新风险需要控制；</a:t>
            </a:r>
          </a:p>
          <a:p>
            <a:r>
              <a:t>6. 岗位职责和绩效指标怎样变化。</a:t>
            </a:r>
          </a:p>
          <a:p/>
          <a:p>
            <a:r>
              <a:t>核心观点：</a:t>
            </a:r>
          </a:p>
          <a:p/>
          <a:p>
            <a:r>
              <a:t>&gt; AI真正产生效率，不是把Agent叠加在旧流程上，而是重新设计人、AI和组织之间的工作分工。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AI提升效率以后，人类工作会减少吗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判断结论：真正的效率来自重新设计人、AI和组织的分工</a:t>
            </a:r>
          </a:p>
          <a:p/>
          <a:p>
            <a:r>
              <a:t>让学员选择：</a:t>
            </a:r>
          </a:p>
          <a:p/>
          <a:p>
            <a:r>
              <a:t>- A. 工作量明显减少；</a:t>
            </a:r>
          </a:p>
          <a:p>
            <a:r>
              <a:t>- B. 企业会安排员工完成更多任务；</a:t>
            </a:r>
          </a:p>
          <a:p>
            <a:r>
              <a:t>- C. 部分任务减少，但监督、评测和治理工作增加；</a:t>
            </a:r>
          </a:p>
          <a:p>
            <a:r>
              <a:t>- D. 取决于企业是否重新设计流程和岗位。</a:t>
            </a:r>
          </a:p>
          <a:p/>
          <a:p>
            <a:r>
              <a:t>可能减少的工作：信息搜集、初稿、格式整理、重复查询、数据录入和固定操作。</a:t>
            </a:r>
          </a:p>
          <a:p/>
          <a:p>
            <a:r>
              <a:t>可能增加的工作：定义标准、维护数据、评测、检查高风险结果、分析Bad Case、配置权限、监督Agent和处理异常。</a:t>
            </a:r>
          </a:p>
          <a:p/>
          <a:p>
            <a:r>
              <a:t>如果企业只是把Agent叠加到原流程上，可能出现：</a:t>
            </a:r>
          </a:p>
          <a:p/>
          <a:p>
            <a:r>
              <a:t>- AI生成一次；</a:t>
            </a:r>
          </a:p>
          <a:p>
            <a:r>
              <a:t>- 员工完整检查一次；</a:t>
            </a:r>
          </a:p>
          <a:p>
            <a:r>
              <a:t>- 原流程再走一次；</a:t>
            </a:r>
          </a:p>
          <a:p>
            <a:r>
              <a:t>- 管理者增加一次审批；</a:t>
            </a:r>
          </a:p>
          <a:p>
            <a:r>
              <a:t>- 最终工作反而更多。</a:t>
            </a:r>
          </a:p>
          <a:p/>
          <a:p>
            <a:r>
              <a:t>更专业的做法是重新判断：</a:t>
            </a:r>
          </a:p>
          <a:p/>
          <a:p>
            <a:r>
              <a:t>1. 哪些任务可以取消；</a:t>
            </a:r>
          </a:p>
          <a:p>
            <a:r>
              <a:t>2. 哪些交给AI；</a:t>
            </a:r>
          </a:p>
          <a:p>
            <a:r>
              <a:t>3. 哪些由人工确认；</a:t>
            </a:r>
          </a:p>
          <a:p>
            <a:r>
              <a:t>4. 哪些旧环节不再需要；</a:t>
            </a:r>
          </a:p>
          <a:p>
            <a:r>
              <a:t>5. 哪些新风险需要控制；</a:t>
            </a:r>
          </a:p>
          <a:p>
            <a:r>
              <a:t>6. 岗位职责和绩效指标怎样变化。</a:t>
            </a:r>
          </a:p>
          <a:p/>
          <a:p>
            <a:r>
              <a:t>核心观点：</a:t>
            </a:r>
          </a:p>
          <a:p/>
          <a:p>
            <a:r>
              <a:t>&gt; AI真正产生效率，不是把Agent叠加在旧流程上，而是重新设计人、AI和组织之间的工作分工。</a:t>
            </a:r>
          </a:p>
          <a:p/>
          <a:p>
            <a:r>
              <a:t>除传统DAU、点击率和功能使用率外，还需要关注：</a:t>
            </a:r>
          </a:p>
          <a:p/>
          <a:p>
            <a:r>
              <a:t>- 任务完成率；</a:t>
            </a:r>
          </a:p>
          <a:p>
            <a:r>
              <a:t>- 无需人工介入的完成率；</a:t>
            </a:r>
          </a:p>
          <a:p>
            <a:r>
              <a:t>- 人工接管率；</a:t>
            </a:r>
          </a:p>
          <a:p>
            <a:r>
              <a:t>- 错误执行率；</a:t>
            </a:r>
          </a:p>
          <a:p>
            <a:r>
              <a:t>- 撤销和回滚率；</a:t>
            </a:r>
          </a:p>
          <a:p>
            <a:r>
              <a:t>- 单个成功任务成本；</a:t>
            </a:r>
          </a:p>
          <a:p>
            <a:r>
              <a:t>- 平均完成时间；</a:t>
            </a:r>
          </a:p>
          <a:p>
            <a:r>
              <a:t>- 高风险动作数量；</a:t>
            </a:r>
          </a:p>
          <a:p>
            <a:r>
              <a:t>- 用户确认和修改比例。</a:t>
            </a:r>
          </a:p>
          <a:p/>
          <a:p>
            <a:r>
              <a:t>结论：</a:t>
            </a:r>
          </a:p>
          <a:p/>
          <a:p>
            <a:r>
              <a:t>&gt; Agent产品的衡量单位会从“用户使用了多少功能”，逐渐转向“系统完成了多少有效任务”。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AI提升效率以后，人类工作会减少吗；Agent产品的新指标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给出会议助手场景：轻度用户每月处理5场会议，重度用户可能处理100场，每次都会产生转写、模型、存储和系统执行成本。</a:t>
            </a:r>
          </a:p>
          <a:p/>
          <a:p>
            <a:r>
              <a:t>让学员选择：</a:t>
            </a:r>
          </a:p>
          <a:p/>
          <a:p>
            <a:r>
              <a:t>- A. 按账号收取固定月费；</a:t>
            </a:r>
          </a:p>
          <a:p>
            <a:r>
              <a:t>- B. 按会议时长、Token或调用量；</a:t>
            </a:r>
          </a:p>
          <a:p>
            <a:r>
              <a:t>- C. 按成功整理的会议和任务数量；</a:t>
            </a:r>
          </a:p>
          <a:p>
            <a:r>
              <a:t>- D. 按最终节省的人工成本；</a:t>
            </a:r>
          </a:p>
          <a:p>
            <a:r>
              <a:t>- E. 基础订阅＋使用量或结果的混合收费。</a:t>
            </a:r>
          </a:p>
          <a:p/>
          <a:p>
            <a:r>
              <a:t>### 五种收费方式</a:t>
            </a:r>
          </a:p>
          <a:p/>
          <a:p>
            <a:r>
              <a:t>#### 按账号订阅</a:t>
            </a:r>
          </a:p>
          <a:p/>
          <a:p>
            <a:r>
              <a:t>容易理解和预算，但重度用户可能产生远高于轻度用户的成本。</a:t>
            </a:r>
          </a:p>
          <a:p/>
          <a:p>
            <a:r>
              <a:t>#### 按使用量</a:t>
            </a:r>
          </a:p>
          <a:p/>
          <a:p>
            <a:r>
              <a:t>收入与推理成本更接近，但Token和技术消耗不一定是用户能够理解的价值单位。</a:t>
            </a:r>
          </a:p>
          <a:p/>
          <a:p>
            <a:r>
              <a:t>#### 按任务</a:t>
            </a:r>
          </a:p>
          <a:p/>
          <a:p>
            <a:r>
              <a:t>例如按会议、报告、工单或审核任务收费，更接近用户工作单位，但需要定义什么叫完成、失败是否收费。</a:t>
            </a:r>
          </a:p>
          <a:p/>
          <a:p>
            <a:r>
              <a:t>#### 按结果</a:t>
            </a:r>
          </a:p>
          <a:p/>
          <a:p>
            <a:r>
              <a:t>最接近业务价值，但难以界定因果、成功标准和结果责任。</a:t>
            </a:r>
          </a:p>
          <a:p/>
          <a:p>
            <a:r>
              <a:t>#### 混合收费</a:t>
            </a:r>
          </a:p>
          <a:p/>
          <a:p>
            <a:r>
              <a:t>基础订阅覆盖固定成本，使用量或结果费用覆盖随使用增加的成本与价值，但解释和定价更复杂。</a:t>
            </a:r>
          </a:p>
          <a:p/>
          <a:p>
            <a:r>
              <a:t>### 定价需要同时看三个单位</a:t>
            </a:r>
          </a:p>
          <a:p/>
          <a:p>
            <a:r>
              <a:t>1. 成本单位：每分钟语音、每千Token、每次搜索、每次人工复核；</a:t>
            </a:r>
          </a:p>
          <a:p>
            <a:r>
              <a:t>2. 价值单位：一场会议、一份报告、一个解决的工单、一个有效线索；</a:t>
            </a:r>
          </a:p>
          <a:p>
            <a:r>
              <a:t>3. 收费单位：账号、调用、任务、结果或组合。</a:t>
            </a:r>
          </a:p>
          <a:p/>
          <a:p>
            <a:r>
              <a:t>核心观点：</a:t>
            </a:r>
          </a:p>
          <a:p/>
          <a:p>
            <a:r>
              <a:t>&gt; AI产品定价需要在成本单位、价值单位和收费单位之间建立合理关系。否则可能出现用户越活跃，产品亏得越多。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AI产品应该按照什么收费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判断结论：成本单位、价值单位和收费单位需要相互匹配</a:t>
            </a:r>
          </a:p>
          <a:p/>
          <a:p>
            <a:r>
              <a:t>给出会议助手场景：轻度用户每月处理5场会议，重度用户可能处理100场，每次都会产生转写、模型、存储和系统执行成本。</a:t>
            </a:r>
          </a:p>
          <a:p/>
          <a:p>
            <a:r>
              <a:t>让学员选择：</a:t>
            </a:r>
          </a:p>
          <a:p/>
          <a:p>
            <a:r>
              <a:t>- A. 按账号收取固定月费；</a:t>
            </a:r>
          </a:p>
          <a:p>
            <a:r>
              <a:t>- B. 按会议时长、Token或调用量；</a:t>
            </a:r>
          </a:p>
          <a:p>
            <a:r>
              <a:t>- C. 按成功整理的会议和任务数量；</a:t>
            </a:r>
          </a:p>
          <a:p>
            <a:r>
              <a:t>- D. 按最终节省的人工成本；</a:t>
            </a:r>
          </a:p>
          <a:p>
            <a:r>
              <a:t>- E. 基础订阅＋使用量或结果的混合收费。</a:t>
            </a:r>
          </a:p>
          <a:p/>
          <a:p>
            <a:r>
              <a:t>### 五种收费方式</a:t>
            </a:r>
          </a:p>
          <a:p/>
          <a:p>
            <a:r>
              <a:t>#### 按账号订阅</a:t>
            </a:r>
          </a:p>
          <a:p/>
          <a:p>
            <a:r>
              <a:t>容易理解和预算，但重度用户可能产生远高于轻度用户的成本。</a:t>
            </a:r>
          </a:p>
          <a:p/>
          <a:p>
            <a:r>
              <a:t>#### 按使用量</a:t>
            </a:r>
          </a:p>
          <a:p/>
          <a:p>
            <a:r>
              <a:t>收入与推理成本更接近，但Token和技术消耗不一定是用户能够理解的价值单位。</a:t>
            </a:r>
          </a:p>
          <a:p/>
          <a:p>
            <a:r>
              <a:t>#### 按任务</a:t>
            </a:r>
          </a:p>
          <a:p/>
          <a:p>
            <a:r>
              <a:t>例如按会议、报告、工单或审核任务收费，更接近用户工作单位，但需要定义什么叫完成、失败是否收费。</a:t>
            </a:r>
          </a:p>
          <a:p/>
          <a:p>
            <a:r>
              <a:t>#### 按结果</a:t>
            </a:r>
          </a:p>
          <a:p/>
          <a:p>
            <a:r>
              <a:t>最接近业务价值，但难以界定因果、成功标准和结果责任。</a:t>
            </a:r>
          </a:p>
          <a:p/>
          <a:p>
            <a:r>
              <a:t>#### 混合收费</a:t>
            </a:r>
          </a:p>
          <a:p/>
          <a:p>
            <a:r>
              <a:t>基础订阅覆盖固定成本，使用量或结果费用覆盖随使用增加的成本与价值，但解释和定价更复杂。</a:t>
            </a:r>
          </a:p>
          <a:p/>
          <a:p>
            <a:r>
              <a:t>### 定价需要同时看三个单位</a:t>
            </a:r>
          </a:p>
          <a:p/>
          <a:p>
            <a:r>
              <a:t>1. 成本单位：每分钟语音、每千Token、每次搜索、每次人工复核；</a:t>
            </a:r>
          </a:p>
          <a:p>
            <a:r>
              <a:t>2. 价值单位：一场会议、一份报告、一个解决的工单、一个有效线索；</a:t>
            </a:r>
          </a:p>
          <a:p>
            <a:r>
              <a:t>3. 收费单位：账号、调用、任务、结果或组合。</a:t>
            </a:r>
          </a:p>
          <a:p/>
          <a:p>
            <a:r>
              <a:t>核心观点：</a:t>
            </a:r>
          </a:p>
          <a:p/>
          <a:p>
            <a:r>
              <a:t>&gt; AI产品定价需要在成本单位、价值单位和收费单位之间建立合理关系。否则可能出现用户越活跃，产品亏得越多。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AI产品应该按照什么收费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是，数据越多壁垒越高；</a:t>
            </a:r>
          </a:p>
          <a:p>
            <a:r>
              <a:t>- B. 不一定，大量数据未必能够改善产品；</a:t>
            </a:r>
          </a:p>
          <a:p>
            <a:r>
              <a:t>- C. 只有独家数据才有价值；</a:t>
            </a:r>
          </a:p>
          <a:p>
            <a:r>
              <a:t>- D. 数据必须合法、相关、可使用并进入改进闭环；</a:t>
            </a:r>
          </a:p>
          <a:p>
            <a:r>
              <a:t>- E. 模型越来越强以后，数据不再重要。</a:t>
            </a:r>
          </a:p>
          <a:p/>
          <a:p>
            <a:r>
              <a:t>不是所有用户对话、点击日志、文件和生成内容都能形成壁垒。数据可能与核心任务无关、没有可信标签、不能合法使用、质量差或者无法进入优化。</a:t>
            </a:r>
          </a:p>
          <a:p/>
          <a:p>
            <a:r>
              <a:t>真正有价值的数据需要：</a:t>
            </a:r>
          </a:p>
          <a:p/>
          <a:p>
            <a:r>
              <a:t>1. 与核心任务直接相关；</a:t>
            </a:r>
          </a:p>
          <a:p>
            <a:r>
              <a:t>2. 结果可以被判断；</a:t>
            </a:r>
          </a:p>
          <a:p>
            <a:r>
              <a:t>3. 能够合法使用；</a:t>
            </a:r>
          </a:p>
          <a:p>
            <a:r>
              <a:t>4. 能持续产生；</a:t>
            </a:r>
          </a:p>
          <a:p>
            <a:r>
              <a:t>5. 能进入评测和产品改进。</a:t>
            </a:r>
          </a:p>
          <a:p/>
          <a:p>
            <a:r>
              <a:t>### 数据反馈闭环</a:t>
            </a:r>
          </a:p>
          <a:p/>
          <a:p>
            <a:r>
              <a:t>&gt; 用户完成真实任务  </a:t>
            </a:r>
          </a:p>
          <a:p>
            <a:r>
              <a:t>&gt; → AI产生结果  </a:t>
            </a:r>
          </a:p>
          <a:p>
            <a:r>
              <a:t>&gt; → 用户确认、修改或拒绝  </a:t>
            </a:r>
          </a:p>
          <a:p>
            <a:r>
              <a:t>&gt; → 系统记录反馈和原始依据  </a:t>
            </a:r>
          </a:p>
          <a:p>
            <a:r>
              <a:t>&gt; → 分类Bad Case  </a:t>
            </a:r>
          </a:p>
          <a:p>
            <a:r>
              <a:t>&gt; → 更新评测集  </a:t>
            </a:r>
          </a:p>
          <a:p>
            <a:r>
              <a:t>&gt; → 调整数据、Prompt、RAG、Workflow或模型  </a:t>
            </a:r>
          </a:p>
          <a:p>
            <a:r>
              <a:t>&gt; → 回归评测  </a:t>
            </a:r>
          </a:p>
          <a:p>
            <a:r>
              <a:t>&gt; → 产品改善</a:t>
            </a:r>
          </a:p>
          <a:p/>
          <a:p>
            <a:r>
              <a:t>数据层级：</a:t>
            </a:r>
          </a:p>
          <a:p/>
          <a:p>
            <a:r>
              <a:t>| 数据层级 | 示例 | 价值 |</a:t>
            </a:r>
          </a:p>
          <a:p>
            <a:r>
              <a:t>|---|---|---|</a:t>
            </a:r>
          </a:p>
          <a:p>
            <a:r>
              <a:t>| 公共数据 | 公开文档、网页、通用知识 | 容易获得，也容易复制 |</a:t>
            </a:r>
          </a:p>
          <a:p>
            <a:r>
              <a:t>| 企业私有数据 | 制度、项目资料、客户信息 | 有场景价值，但需要权限和治理 |</a:t>
            </a:r>
          </a:p>
          <a:p>
            <a:r>
              <a:t>| 任务过程数据 | 用户怎样修改、确认和执行 | 能反映真实使用过程 |</a:t>
            </a:r>
          </a:p>
          <a:p>
            <a:r>
              <a:t>| 结果反馈数据 | 任务是否成功、错误是否发生 | 最接近产品效果和业务价值 |</a:t>
            </a:r>
          </a:p>
          <a:p/>
          <a:p>
            <a:r>
              <a:t>核心观点：</a:t>
            </a:r>
          </a:p>
          <a:p/>
          <a:p>
            <a:r>
              <a:t>&gt; 数据本身不是护城河。能够合法、持续获得高质量任务反馈，并把它转化成产品改进，才可能形成数据壁垒。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数据是不是AI产品的护城河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判断结论：壁垒来自持续获得任务反馈，并把它转化为产品改进</a:t>
            </a:r>
          </a:p>
          <a:p/>
          <a:p>
            <a:r>
              <a:t>让学员选择：</a:t>
            </a:r>
          </a:p>
          <a:p/>
          <a:p>
            <a:r>
              <a:t>- A. 是，数据越多壁垒越高；</a:t>
            </a:r>
          </a:p>
          <a:p>
            <a:r>
              <a:t>- B. 不一定，大量数据未必能够改善产品；</a:t>
            </a:r>
          </a:p>
          <a:p>
            <a:r>
              <a:t>- C. 只有独家数据才有价值；</a:t>
            </a:r>
          </a:p>
          <a:p>
            <a:r>
              <a:t>- D. 数据必须合法、相关、可使用并进入改进闭环；</a:t>
            </a:r>
          </a:p>
          <a:p>
            <a:r>
              <a:t>- E. 模型越来越强以后，数据不再重要。</a:t>
            </a:r>
          </a:p>
          <a:p/>
          <a:p>
            <a:r>
              <a:t>不是所有用户对话、点击日志、文件和生成内容都能形成壁垒。数据可能与核心任务无关、没有可信标签、不能合法使用、质量差或者无法进入优化。</a:t>
            </a:r>
          </a:p>
          <a:p/>
          <a:p>
            <a:r>
              <a:t>真正有价值的数据需要：</a:t>
            </a:r>
          </a:p>
          <a:p/>
          <a:p>
            <a:r>
              <a:t>1. 与核心任务直接相关；</a:t>
            </a:r>
          </a:p>
          <a:p>
            <a:r>
              <a:t>2. 结果可以被判断；</a:t>
            </a:r>
          </a:p>
          <a:p>
            <a:r>
              <a:t>3. 能够合法使用；</a:t>
            </a:r>
          </a:p>
          <a:p>
            <a:r>
              <a:t>4. 能持续产生；</a:t>
            </a:r>
          </a:p>
          <a:p>
            <a:r>
              <a:t>5. 能进入评测和产品改进。</a:t>
            </a:r>
          </a:p>
          <a:p/>
          <a:p>
            <a:r>
              <a:t>### 数据反馈闭环</a:t>
            </a:r>
          </a:p>
          <a:p/>
          <a:p>
            <a:r>
              <a:t>&gt; 用户完成真实任务  </a:t>
            </a:r>
          </a:p>
          <a:p>
            <a:r>
              <a:t>&gt; → AI产生结果  </a:t>
            </a:r>
          </a:p>
          <a:p>
            <a:r>
              <a:t>&gt; → 用户确认、修改或拒绝  </a:t>
            </a:r>
          </a:p>
          <a:p>
            <a:r>
              <a:t>&gt; → 系统记录反馈和原始依据  </a:t>
            </a:r>
          </a:p>
          <a:p>
            <a:r>
              <a:t>&gt; → 分类Bad Case  </a:t>
            </a:r>
          </a:p>
          <a:p>
            <a:r>
              <a:t>&gt; → 更新评测集  </a:t>
            </a:r>
          </a:p>
          <a:p>
            <a:r>
              <a:t>&gt; → 调整数据、Prompt、RAG、Workflow或模型  </a:t>
            </a:r>
          </a:p>
          <a:p>
            <a:r>
              <a:t>&gt; → 回归评测  </a:t>
            </a:r>
          </a:p>
          <a:p>
            <a:r>
              <a:t>&gt; → 产品改善</a:t>
            </a:r>
          </a:p>
          <a:p/>
          <a:p>
            <a:r>
              <a:t>数据层级：</a:t>
            </a:r>
          </a:p>
          <a:p/>
          <a:p>
            <a:r>
              <a:t>| 数据层级 | 示例 | 价值 |</a:t>
            </a:r>
          </a:p>
          <a:p>
            <a:r>
              <a:t>|---|---|---|</a:t>
            </a:r>
          </a:p>
          <a:p>
            <a:r>
              <a:t>| 公共数据 | 公开文档、网页、通用知识 | 容易获得，也容易复制 |</a:t>
            </a:r>
          </a:p>
          <a:p>
            <a:r>
              <a:t>| 企业私有数据 | 制度、项目资料、客户信息 | 有场景价值，但需要权限和治理 |</a:t>
            </a:r>
          </a:p>
          <a:p>
            <a:r>
              <a:t>| 任务过程数据 | 用户怎样修改、确认和执行 | 能反映真实使用过程 |</a:t>
            </a:r>
          </a:p>
          <a:p>
            <a:r>
              <a:t>| 结果反馈数据 | 任务是否成功、错误是否发生 | 最接近产品效果和业务价值 |</a:t>
            </a:r>
          </a:p>
          <a:p/>
          <a:p>
            <a:r>
              <a:t>核心观点：</a:t>
            </a:r>
          </a:p>
          <a:p/>
          <a:p>
            <a:r>
              <a:t>&gt; 数据本身不是护城河。能够合法、持续获得高质量任务反馈，并把它转化成产品改进，才可能形成数据壁垒。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数据是不是AI产品的护城河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公布答案。请学员投票，再问一位选择全部自研、一位选择组合建设的学员说明理由。后续讲解时比较四个维度：能力是否形成差异化；数据和安全要求；使用规模和长期总成本；企业是否有持续建设和维护能力。讨论页上的所有选项必须保持中性，不用颜色或高亮提前暗示结论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第四部分·三｜自研、采购还是组合建设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判断结论：通用能力可以采购，业务标准和差异化流程必须掌握</a:t>
            </a:r>
          </a:p>
          <a:p/>
          <a:p>
            <a:r>
              <a:t>给出场景：市场已有成熟转写和会议摘要能力，但企业有自己的项目权限、历史决策资料和审批流程。</a:t>
            </a:r>
          </a:p>
          <a:p/>
          <a:p>
            <a:r>
              <a:t>让学员选择：</a:t>
            </a:r>
          </a:p>
          <a:p/>
          <a:p>
            <a:r>
              <a:t>- A. 全部自研，包括模型和语音；</a:t>
            </a:r>
          </a:p>
          <a:p>
            <a:r>
              <a:t>- B. 全部采购成熟会议产品；</a:t>
            </a:r>
          </a:p>
          <a:p>
            <a:r>
              <a:t>- C. 使用通用模型和转写服务，自建差异化流程；</a:t>
            </a:r>
          </a:p>
          <a:p>
            <a:r>
              <a:t>- D. 使用开源模型私有化，自研全部系统；</a:t>
            </a:r>
          </a:p>
          <a:p>
            <a:r>
              <a:t>- E. 根据安全、规模、差异化和团队能力判断。</a:t>
            </a:r>
          </a:p>
          <a:p/>
          <a:p>
            <a:r>
              <a:t>需要比较：</a:t>
            </a:r>
          </a:p>
          <a:p/>
          <a:p>
            <a:r>
              <a:t>1. 能力是否形成差异化；</a:t>
            </a:r>
          </a:p>
          <a:p>
            <a:r>
              <a:t>2. 数据和安全要求；</a:t>
            </a:r>
          </a:p>
          <a:p>
            <a:r>
              <a:t>3. 使用规模和长期总成本；</a:t>
            </a:r>
          </a:p>
          <a:p>
            <a:r>
              <a:t>4. 企业是否有持续建设和维护能力。</a:t>
            </a:r>
          </a:p>
          <a:p/>
          <a:p>
            <a:r>
              <a:t>参考判断：</a:t>
            </a:r>
          </a:p>
          <a:p/>
          <a:p>
            <a:r>
              <a:t>| 能力 | 常见建设方式 |</a:t>
            </a:r>
          </a:p>
          <a:p>
            <a:r>
              <a:t>|---|---|</a:t>
            </a:r>
          </a:p>
          <a:p>
            <a:r>
              <a:t>| 基础大模型 | API、云服务或部署开源模型 |</a:t>
            </a:r>
          </a:p>
          <a:p>
            <a:r>
              <a:t>| 语音转写、OCR | 优先采购成熟能力 |</a:t>
            </a:r>
          </a:p>
          <a:p>
            <a:r>
              <a:t>| 通用检索组件 | 采购或成熟开源组件 |</a:t>
            </a:r>
          </a:p>
          <a:p>
            <a:r>
              <a:t>| 企业业务流程 | 由企业自己定义 |</a:t>
            </a:r>
          </a:p>
          <a:p>
            <a:r>
              <a:t>| 权限和责任机制 | 必须结合组织设计 |</a:t>
            </a:r>
          </a:p>
          <a:p>
            <a:r>
              <a:t>| 业务评测标准 | 企业必须自己掌握 |</a:t>
            </a:r>
          </a:p>
          <a:p>
            <a:r>
              <a:t>| 高质量评测集 | 业务和产品共同建设 |</a:t>
            </a:r>
          </a:p>
          <a:p>
            <a:r>
              <a:t>| 企业知识和数据治理 | 企业持续负责 |</a:t>
            </a:r>
          </a:p>
          <a:p>
            <a:r>
              <a:t>| 内部系统连接 | 根据差异化和安全要求建设 |</a:t>
            </a:r>
          </a:p>
          <a:p>
            <a:r>
              <a:t>| 用户反馈和Bad Case闭环 | 产品团队长期掌握 |</a:t>
            </a:r>
          </a:p>
          <a:p/>
          <a:p>
            <a:r>
              <a:t>会议助手可能采用：成熟语音服务＋通用模型＋企业RAG＋自建规则、权限、确认流程和评测闭环。</a:t>
            </a:r>
          </a:p>
          <a:p/>
          <a:p>
            <a:r>
              <a:t>核心观点：</a:t>
            </a:r>
          </a:p>
          <a:p/>
          <a:p>
            <a:r>
              <a:t>&gt; 企业不一定需要拥有自己的基础模型，但必须拥有自己的业务判断标准。通用能力可以采购，差异化流程需要掌握。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自研、采购还是组合建设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产品经理的价值会大幅下降；</a:t>
            </a:r>
          </a:p>
          <a:p>
            <a:r>
              <a:t>- B. 产品经理需要逐渐转型成开发；</a:t>
            </a:r>
          </a:p>
          <a:p>
            <a:r>
              <a:t>- C. 产品经理主要负责使用和管理AI工具；</a:t>
            </a:r>
          </a:p>
          <a:p>
            <a:r>
              <a:t>- D. 产出成本下降，问题判断、验证和责任价值上升；</a:t>
            </a:r>
          </a:p>
          <a:p>
            <a:r>
              <a:t>- E. 取决于产品经理原来主要在做什么。</a:t>
            </a:r>
          </a:p>
          <a:p/>
          <a:p>
            <a:r>
              <a:t>需要先承认，AI确实在降低以下工作的成本：</a:t>
            </a:r>
          </a:p>
          <a:p/>
          <a:p>
            <a:r>
              <a:t>- 信息搜集和整理；</a:t>
            </a:r>
          </a:p>
          <a:p>
            <a:r>
              <a:t>- 竞品分析和用户反馈归纳；</a:t>
            </a:r>
          </a:p>
          <a:p>
            <a:r>
              <a:t>- 需求、PRD和汇报文档；</a:t>
            </a:r>
          </a:p>
          <a:p>
            <a:r>
              <a:t>- 原型、页面和简单代码；</a:t>
            </a:r>
          </a:p>
          <a:p>
            <a:r>
              <a:t>- 测试用例、数据分析和复盘初稿。</a:t>
            </a:r>
          </a:p>
          <a:p/>
          <a:p>
            <a:r>
              <a:t>这些工作通常有相对明确的输入、格式和产出要求。</a:t>
            </a:r>
          </a:p>
          <a:p/>
          <a:p>
            <a:r>
              <a:t>但需要区分：</a:t>
            </a:r>
          </a:p>
          <a:p/>
          <a:p>
            <a:r>
              <a:t>- 生成一份产出；</a:t>
            </a:r>
          </a:p>
          <a:p>
            <a:r>
              <a:t>- 对产出背后的决策负责。</a:t>
            </a:r>
          </a:p>
          <a:p/>
          <a:p>
            <a:r>
              <a:t>AI可以生成候选方案，但不能自动替企业决定：</a:t>
            </a:r>
          </a:p>
          <a:p/>
          <a:p>
            <a:r>
              <a:t>- 为什么选择这个问题；</a:t>
            </a:r>
          </a:p>
          <a:p>
            <a:r>
              <a:t>- 相信什么证据；</a:t>
            </a:r>
          </a:p>
          <a:p>
            <a:r>
              <a:t>- 哪些需求不做；</a:t>
            </a:r>
          </a:p>
          <a:p>
            <a:r>
              <a:t>- 什么错误不能接受；</a:t>
            </a:r>
          </a:p>
          <a:p>
            <a:r>
              <a:t>- 什么结果可以上线；</a:t>
            </a:r>
          </a:p>
          <a:p>
            <a:r>
              <a:t>- 项目值不值得继续；</a:t>
            </a:r>
          </a:p>
          <a:p>
            <a:r>
              <a:t>- 谁承担错误和后果。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AI什么都能生成以后，产品经理还剩什么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判断结论：AI能生成候选材料，但不能替企业承担完整产品决策</a:t>
            </a:r>
          </a:p>
          <a:p/>
          <a:p>
            <a:r>
              <a:t>让学员选择：</a:t>
            </a:r>
          </a:p>
          <a:p/>
          <a:p>
            <a:r>
              <a:t>- A. 产品经理的价值会大幅下降；</a:t>
            </a:r>
          </a:p>
          <a:p>
            <a:r>
              <a:t>- B. 产品经理需要逐渐转型成开发；</a:t>
            </a:r>
          </a:p>
          <a:p>
            <a:r>
              <a:t>- C. 产品经理主要负责使用和管理AI工具；</a:t>
            </a:r>
          </a:p>
          <a:p>
            <a:r>
              <a:t>- D. 产出成本下降，问题判断、验证和责任价值上升；</a:t>
            </a:r>
          </a:p>
          <a:p>
            <a:r>
              <a:t>- E. 取决于产品经理原来主要在做什么。</a:t>
            </a:r>
          </a:p>
          <a:p/>
          <a:p>
            <a:r>
              <a:t>需要先承认，AI确实在降低以下工作的成本：</a:t>
            </a:r>
          </a:p>
          <a:p/>
          <a:p>
            <a:r>
              <a:t>- 信息搜集和整理；</a:t>
            </a:r>
          </a:p>
          <a:p>
            <a:r>
              <a:t>- 竞品分析和用户反馈归纳；</a:t>
            </a:r>
          </a:p>
          <a:p>
            <a:r>
              <a:t>- 需求、PRD和汇报文档；</a:t>
            </a:r>
          </a:p>
          <a:p>
            <a:r>
              <a:t>- 原型、页面和简单代码；</a:t>
            </a:r>
          </a:p>
          <a:p>
            <a:r>
              <a:t>- 测试用例、数据分析和复盘初稿。</a:t>
            </a:r>
          </a:p>
          <a:p/>
          <a:p>
            <a:r>
              <a:t>这些工作通常有相对明确的输入、格式和产出要求。</a:t>
            </a:r>
          </a:p>
          <a:p/>
          <a:p>
            <a:r>
              <a:t>但需要区分：</a:t>
            </a:r>
          </a:p>
          <a:p/>
          <a:p>
            <a:r>
              <a:t>- 生成一份产出；</a:t>
            </a:r>
          </a:p>
          <a:p>
            <a:r>
              <a:t>- 对产出背后的决策负责。</a:t>
            </a:r>
          </a:p>
          <a:p/>
          <a:p>
            <a:r>
              <a:t>AI可以生成候选方案，但不能自动替企业决定：</a:t>
            </a:r>
          </a:p>
          <a:p/>
          <a:p>
            <a:r>
              <a:t>- 为什么选择这个问题；</a:t>
            </a:r>
          </a:p>
          <a:p>
            <a:r>
              <a:t>- 相信什么证据；</a:t>
            </a:r>
          </a:p>
          <a:p>
            <a:r>
              <a:t>- 哪些需求不做；</a:t>
            </a:r>
          </a:p>
          <a:p>
            <a:r>
              <a:t>- 什么错误不能接受；</a:t>
            </a:r>
          </a:p>
          <a:p>
            <a:r>
              <a:t>- 什么结果可以上线；</a:t>
            </a:r>
          </a:p>
          <a:p>
            <a:r>
              <a:t>- 项目值不值得继续；</a:t>
            </a:r>
          </a:p>
          <a:p>
            <a:r>
              <a:t>- 谁承担错误和后果。</a:t>
            </a:r>
          </a:p>
          <a:p/>
          <a:p>
            <a:r>
              <a:t>产品判断具体包括：</a:t>
            </a:r>
          </a:p>
          <a:p/>
          <a:p>
            <a:r>
              <a:t>1. 问题判断：问题是否真实、值得解决，AI是否必要；</a:t>
            </a:r>
          </a:p>
          <a:p>
            <a:r>
              <a:t>2. 证据判断：用户反馈和数据是否可信，哪些只是合理假设；</a:t>
            </a:r>
          </a:p>
          <a:p>
            <a:r>
              <a:t>3. 方案判断：人机分工、技术组合、MVP和自动化边界；</a:t>
            </a:r>
          </a:p>
          <a:p>
            <a:r>
              <a:t>4. 结果判断：评测集、指标、Bad Case和上线标准；</a:t>
            </a:r>
          </a:p>
          <a:p>
            <a:r>
              <a:t>5. 商业判断：模型、建设方式、成本、ROI和停止条件；</a:t>
            </a:r>
          </a:p>
          <a:p>
            <a:r>
              <a:t>6. 责任判断：决策权、确认、执行权限和错误承担。</a:t>
            </a:r>
          </a:p>
          <a:p/>
          <a:p>
            <a:r>
              <a:t>核心观点：</a:t>
            </a:r>
          </a:p>
          <a:p/>
          <a:p>
            <a:r>
              <a:t>&gt; AI可以帮助产品经理更快地产出材料，但产品经理仍然需要决定材料是否可信、方案是否合理、结果是否可以被使用。</a:t>
            </a:r>
          </a:p>
          <a:p/>
          <a:p>
            <a:r>
              <a:t>AI可以快速生成PRD结构、功能描述、用户故事、验收标准和异常场景。这意味着“写出一份看起来完整的PRD”不再稀缺。</a:t>
            </a:r>
          </a:p>
          <a:p/>
          <a:p>
            <a:r>
              <a:t>真正重要的是：</a:t>
            </a:r>
          </a:p>
          <a:p/>
          <a:p>
            <a:r>
              <a:t>- 需求来源是否可信；</a:t>
            </a:r>
          </a:p>
          <a:p>
            <a:r>
              <a:t>- 前后逻辑是否一致；</a:t>
            </a:r>
          </a:p>
          <a:p>
            <a:r>
              <a:t>- AI输入输出是否清楚；</a:t>
            </a:r>
          </a:p>
          <a:p>
            <a:r>
              <a:t>- 人机边界是否合理；</a:t>
            </a:r>
          </a:p>
          <a:p>
            <a:r>
              <a:t>- 异常和风险是否真实；</a:t>
            </a:r>
          </a:p>
          <a:p>
            <a:r>
              <a:t>- 验收标准能否执行；</a:t>
            </a:r>
          </a:p>
          <a:p>
            <a:r>
              <a:t>- 文档能否支持团队协作。</a:t>
            </a:r>
          </a:p>
          <a:p/>
          <a:p>
            <a:r>
              <a:t>结论：</a:t>
            </a:r>
          </a:p>
          <a:p/>
          <a:p>
            <a:r>
              <a:t>&gt; AI时代，PRD的价值从“证明会写文档”，转向“证明完成了严谨的产品决策”。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AI什么都能生成以后，产品经理还剩什么；产品判断不是抽象口号；AI时代PRD的价值变化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讲义中的相关部分：AI产品经理这个岗位名称会不会消失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AI产品经理这个岗位名称会不会消失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判断结论：岗位名称可能变化，AI产品判断会成为更普遍的基础能力</a:t>
            </a:r>
          </a:p>
          <a:p/>
          <a:p>
            <a:r>
              <a:t>讲义中的相关部分：AI产品经理这个岗位名称会不会消失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AI产品经理这个岗位名称会不会消失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通用AI产品经理；</a:t>
            </a:r>
          </a:p>
          <a:p>
            <a:r>
              <a:t>- B. 行业专家；</a:t>
            </a:r>
          </a:p>
          <a:p>
            <a:r>
              <a:t>- C. 懂行业并补齐AI产品能力的人；</a:t>
            </a:r>
          </a:p>
          <a:p>
            <a:r>
              <a:t>- D. 懂AI技术再进入具体行业的人。</a:t>
            </a:r>
          </a:p>
          <a:p/>
          <a:p>
            <a:r>
              <a:t>Prompt、Workflow、RAG、Agent、Vibe Coding和PRD生成越来越容易学习。当多数候选人都会使用这些工具以后，企业会继续比较：</a:t>
            </a:r>
          </a:p>
          <a:p/>
          <a:p>
            <a:r>
              <a:t>- 谁更理解用户；</a:t>
            </a:r>
          </a:p>
          <a:p>
            <a:r>
              <a:t>- 谁熟悉业务流程；</a:t>
            </a:r>
          </a:p>
          <a:p>
            <a:r>
              <a:t>- 谁知道真实风险；</a:t>
            </a:r>
          </a:p>
          <a:p>
            <a:r>
              <a:t>- 谁能获得行业数据；</a:t>
            </a:r>
          </a:p>
          <a:p>
            <a:r>
              <a:t>- 谁能推动落地；</a:t>
            </a:r>
          </a:p>
          <a:p>
            <a:r>
              <a:t>- 谁能判断结果是否有价值。</a:t>
            </a:r>
          </a:p>
          <a:p/>
          <a:p>
            <a:r>
              <a:t>过去的行业经历可以转化为用户理解、场景、数据来源、业务判断、人脉和项目机会。但行业经验不能自动替代产品和AI能力。</a:t>
            </a:r>
          </a:p>
          <a:p/>
          <a:p>
            <a:r>
              <a:t>更完整的组合是：</a:t>
            </a:r>
          </a:p>
          <a:p/>
          <a:p>
            <a:r>
              <a:t>&gt; **行业和业务资产＋产品判断能力＋AI能力理解**</a:t>
            </a:r>
          </a:p>
          <a:p/>
          <a:p>
            <a:r>
              <a:t>结论：</a:t>
            </a:r>
          </a:p>
          <a:p/>
          <a:p>
            <a:r>
              <a:t>&gt; 对多数转型者而言，最现实的竞争力不是抛弃过去成为通用AI专家，而是把过去的行业资产和AI产品能力重新组合。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通用AI产品经理和行业专家谁更有竞争力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判断结论：更现实的竞争力来自行业资产、产品判断和AI理解的组合</a:t>
            </a:r>
          </a:p>
          <a:p/>
          <a:p>
            <a:r>
              <a:t>让学员选择：</a:t>
            </a:r>
          </a:p>
          <a:p/>
          <a:p>
            <a:r>
              <a:t>- A. 通用AI产品经理；</a:t>
            </a:r>
          </a:p>
          <a:p>
            <a:r>
              <a:t>- B. 行业专家；</a:t>
            </a:r>
          </a:p>
          <a:p>
            <a:r>
              <a:t>- C. 懂行业并补齐AI产品能力的人；</a:t>
            </a:r>
          </a:p>
          <a:p>
            <a:r>
              <a:t>- D. 懂AI技术再进入具体行业的人。</a:t>
            </a:r>
          </a:p>
          <a:p/>
          <a:p>
            <a:r>
              <a:t>Prompt、Workflow、RAG、Agent、Vibe Coding和PRD生成越来越容易学习。当多数候选人都会使用这些工具以后，企业会继续比较：</a:t>
            </a:r>
          </a:p>
          <a:p/>
          <a:p>
            <a:r>
              <a:t>- 谁更理解用户；</a:t>
            </a:r>
          </a:p>
          <a:p>
            <a:r>
              <a:t>- 谁熟悉业务流程；</a:t>
            </a:r>
          </a:p>
          <a:p>
            <a:r>
              <a:t>- 谁知道真实风险；</a:t>
            </a:r>
          </a:p>
          <a:p>
            <a:r>
              <a:t>- 谁能获得行业数据；</a:t>
            </a:r>
          </a:p>
          <a:p>
            <a:r>
              <a:t>- 谁能推动落地；</a:t>
            </a:r>
          </a:p>
          <a:p>
            <a:r>
              <a:t>- 谁能判断结果是否有价值。</a:t>
            </a:r>
          </a:p>
          <a:p/>
          <a:p>
            <a:r>
              <a:t>过去的行业经历可以转化为用户理解、场景、数据来源、业务判断、人脉和项目机会。但行业经验不能自动替代产品和AI能力。</a:t>
            </a:r>
          </a:p>
          <a:p/>
          <a:p>
            <a:r>
              <a:t>更完整的组合是：</a:t>
            </a:r>
          </a:p>
          <a:p/>
          <a:p>
            <a:r>
              <a:t>&gt; **行业和业务资产＋产品判断能力＋AI能力理解**</a:t>
            </a:r>
          </a:p>
          <a:p/>
          <a:p>
            <a:r>
              <a:t>结论：</a:t>
            </a:r>
          </a:p>
          <a:p/>
          <a:p>
            <a:r>
              <a:t>&gt; 对多数转型者而言，最现实的竞争力不是抛弃过去成为通用AI专家，而是把过去的行业资产和AI产品能力重新组合。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通用AI产品经理和行业专家谁更有竞争力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让学员选择：</a:t>
            </a:r>
          </a:p>
          <a:p/>
          <a:p>
            <a:r>
              <a:t>- A. 不需要，基础工作都能被AI完成；</a:t>
            </a:r>
          </a:p>
          <a:p>
            <a:r>
              <a:t>- B. 需要，但初级岗位要求会提高；</a:t>
            </a:r>
          </a:p>
          <a:p>
            <a:r>
              <a:t>- C. 需要，组织仍然需要培养人才；</a:t>
            </a:r>
          </a:p>
          <a:p>
            <a:r>
              <a:t>- D. 初级岗位可能减少，但不会完全消失。</a:t>
            </a:r>
          </a:p>
          <a:p/>
          <a:p>
            <a:r>
              <a:t>初级岗位中，信息整理、竞品、基础需求、简单原型、会议纪要和汇报材料更容易被AI辅助。</a:t>
            </a:r>
          </a:p>
          <a:p/>
          <a:p>
            <a:r>
              <a:t>但企业仍然需要培养未来负责人，真实项目也需要通过接触用户、处理异常和承担小决策积累上下文。</a:t>
            </a:r>
          </a:p>
          <a:p/>
          <a:p>
            <a:r>
              <a:t>新人需要更早证明：</a:t>
            </a:r>
          </a:p>
          <a:p/>
          <a:p>
            <a:r>
              <a:t>- 能发现具体问题；</a:t>
            </a:r>
          </a:p>
          <a:p>
            <a:r>
              <a:t>- 能判断AI是否适合；</a:t>
            </a:r>
          </a:p>
          <a:p>
            <a:r>
              <a:t>- 能借助AI提高效率；</a:t>
            </a:r>
          </a:p>
          <a:p>
            <a:r>
              <a:t>- 能检查AI结果；</a:t>
            </a:r>
          </a:p>
          <a:p>
            <a:r>
              <a:t>- 能建立基本评测；</a:t>
            </a:r>
          </a:p>
          <a:p>
            <a:r>
              <a:t>- 能完成小型Demo；</a:t>
            </a:r>
          </a:p>
          <a:p>
            <a:r>
              <a:t>- 能根据Bad Case修改方案；</a:t>
            </a:r>
          </a:p>
          <a:p>
            <a:r>
              <a:t>- 能讲清自己的判断。</a:t>
            </a:r>
          </a:p>
          <a:p/>
          <a:p>
            <a:r>
              <a:t>结论：</a:t>
            </a:r>
          </a:p>
          <a:p/>
          <a:p>
            <a:r>
              <a:t>&gt; 初级产品经理不会简单消失，但只依赖基础执行的岗位可能减少，企业会更早要求新人独立完成一个小闭环。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AI时代还需要初级产品经理吗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判断结论：初级岗位不会简单消失，但只依赖基础执行的岗位可能减少</a:t>
            </a:r>
          </a:p>
          <a:p/>
          <a:p>
            <a:r>
              <a:t>让学员选择：</a:t>
            </a:r>
          </a:p>
          <a:p/>
          <a:p>
            <a:r>
              <a:t>- A. 不需要，基础工作都能被AI完成；</a:t>
            </a:r>
          </a:p>
          <a:p>
            <a:r>
              <a:t>- B. 需要，但初级岗位要求会提高；</a:t>
            </a:r>
          </a:p>
          <a:p>
            <a:r>
              <a:t>- C. 需要，组织仍然需要培养人才；</a:t>
            </a:r>
          </a:p>
          <a:p>
            <a:r>
              <a:t>- D. 初级岗位可能减少，但不会完全消失。</a:t>
            </a:r>
          </a:p>
          <a:p/>
          <a:p>
            <a:r>
              <a:t>初级岗位中，信息整理、竞品、基础需求、简单原型、会议纪要和汇报材料更容易被AI辅助。</a:t>
            </a:r>
          </a:p>
          <a:p/>
          <a:p>
            <a:r>
              <a:t>但企业仍然需要培养未来负责人，真实项目也需要通过接触用户、处理异常和承担小决策积累上下文。</a:t>
            </a:r>
          </a:p>
          <a:p/>
          <a:p>
            <a:r>
              <a:t>新人需要更早证明：</a:t>
            </a:r>
          </a:p>
          <a:p/>
          <a:p>
            <a:r>
              <a:t>- 能发现具体问题；</a:t>
            </a:r>
          </a:p>
          <a:p>
            <a:r>
              <a:t>- 能判断AI是否适合；</a:t>
            </a:r>
          </a:p>
          <a:p>
            <a:r>
              <a:t>- 能借助AI提高效率；</a:t>
            </a:r>
          </a:p>
          <a:p>
            <a:r>
              <a:t>- 能检查AI结果；</a:t>
            </a:r>
          </a:p>
          <a:p>
            <a:r>
              <a:t>- 能建立基本评测；</a:t>
            </a:r>
          </a:p>
          <a:p>
            <a:r>
              <a:t>- 能完成小型Demo；</a:t>
            </a:r>
          </a:p>
          <a:p>
            <a:r>
              <a:t>- 能根据Bad Case修改方案；</a:t>
            </a:r>
          </a:p>
          <a:p>
            <a:r>
              <a:t>- 能讲清自己的判断。</a:t>
            </a:r>
          </a:p>
          <a:p/>
          <a:p>
            <a:r>
              <a:t>结论：</a:t>
            </a:r>
          </a:p>
          <a:p/>
          <a:p>
            <a:r>
              <a:t>&gt; 初级产品经理不会简单消失，但只依赖基础执行的岗位可能减少，企业会更早要求新人独立完成一个小闭环。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AI时代还需要初级产品经理吗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请学员先投票，再请1—2人说明理由。在这一页不公布答案，也不使用颜色暗示。</a:t>
            </a:r>
          </a:p>
          <a:p/>
          <a:p>
            <a:r>
              <a:t>讲义中的相关部分：未来会不会出现一人产品团队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未来会不会出现一人产品团队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判断结论：一个人更可能成为验证团队，而非完整的规模化交付团队</a:t>
            </a:r>
          </a:p>
          <a:p/>
          <a:p>
            <a:r>
              <a:t>讲义中的相关部分：未来会不会出现一人产品团队</a:t>
            </a:r>
          </a:p>
          <a:p/>
          <a:p>
            <a:r>
              <a:t>| 浅层AI功能 | 深入业务的AI产品 |</a:t>
            </a:r>
          </a:p>
          <a:p>
            <a:r>
              <a:t>|---|---|</a:t>
            </a:r>
          </a:p>
          <a:p>
            <a:r>
              <a:t>| 接入模型 | 重新设计工作流程 |</a:t>
            </a:r>
          </a:p>
          <a:p>
            <a:r>
              <a:t>| 提供回答 | 完成任务闭环 |</a:t>
            </a:r>
          </a:p>
          <a:p>
            <a:r>
              <a:t>| 通用数据 | 行业与用户数据 |</a:t>
            </a:r>
          </a:p>
          <a:p>
            <a:r>
              <a:t>| 单次使用 | 持续状态和反馈 |</a:t>
            </a:r>
          </a:p>
          <a:p>
            <a:r>
              <a:t>| 只展示结果 | 展示依据、状态和风险 |</a:t>
            </a:r>
          </a:p>
          <a:p>
            <a:r>
              <a:t>| 用户自己处理后续 | 与系统和业务动作连接 |</a:t>
            </a:r>
          </a:p>
          <a:p>
            <a:r>
              <a:t>| 容易切换模型或工具 | 形成流程、数据和信任成本 |</a:t>
            </a:r>
          </a:p>
          <a:p/>
          <a:p>
            <a:r>
              <a:t>过渡语：</a:t>
            </a:r>
          </a:p>
          <a:p/>
          <a:p>
            <a:r>
              <a:t>&gt; 如果AI产品只是提供答案，它仍然更像工具。但当Agent开始接受目标、调用系统、创建任务甚至代表用户执行动作时，软件的性质就发生了变化。接下来讨论：Agent是一项功能，还是一种数字劳动力？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未来会不会出现一人产品团队；本部分总结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第二阶段不再围绕课程章节推进，而是围绕一个项目持续评审和迭代。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怎样把能力变成真正的项目？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请学员先选择，再说明自己当前最真实的缺口。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第二阶段；项目班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只有走完整条链，才会暴露单点练习看不到的矛盾。</a:t>
            </a:r>
          </a:p>
          <a:p/>
          <a:p>
            <a:r>
              <a:t>讲义中的相关部分：理解为什么不等于真正做过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理解为什么不等于真正做过；项目班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逐行解释两阶段的差异，尤其强调版本推进和证据链。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第二阶段；项目班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共同项目学方法，个人项目形成方向与差异化。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讲义中的相关部分：个人项目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公共项目；个人项目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每一轮都要有可见版本：产出—评审—修改—验证。</a:t>
            </a:r>
          </a:p>
          <a:p/>
          <a:p>
            <a:r>
              <a:t>讲义中的相关部分：小组协作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小组协作；项目推进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项目价值来自每一次被证据推动的范围和方案调整。</a:t>
            </a:r>
          </a:p>
          <a:p/>
          <a:p>
            <a:r>
              <a:t>讲义中的相关部分：企业AI知识库</a:t>
            </a:r>
          </a:p>
          <a:p/>
          <a:p>
            <a:r>
              <a:t>讲义中的相关部分：项目案例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企业AI知识库；项目案例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个阶段不是七份彼此无关的作业。选题阶段形成用户、场景、流程和问题证据；AI介入阶段形成人机分工、技术选择和MVP；PRD与原型阶段定义输入输出、异常和验收；Demo必须覆盖正常与错误状态；评测阶段建立评测集并分析Bad Case；然后用回归评测、成本和ROI判断项目价值；最后形成展示材料、证据链和个人贡献。项目班的价值不只是最终文档，而是看见一个项目怎样被评审和修改出来。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第六部分·八｜项目推进的七个阶段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一套完整材料，要同时证明判断、交付、验证、价值和表达。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最终交付；项目班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最后不要以工具清单收尾。请强调：真正拉开差距的，是能否用完整项目证明自己的判断、执行和复盘。</a:t>
            </a:r>
          </a:p>
          <a:p/>
          <a:p>
            <a:r>
              <a:t>讲义中的相关部分：课程收尾</a:t>
            </a:r>
          </a:p>
          <a:p/>
          <a:p>
            <a:r>
              <a:t>&gt; 建议时长：30分钟</a:t>
            </a:r>
          </a:p>
          <a:p/>
          <a:p>
            <a:r>
              <a:t>这一部分既承担第一阶段收尾，也承担第二阶段介绍。需要让学员看见：</a:t>
            </a:r>
          </a:p>
          <a:p/>
          <a:p>
            <a:r>
              <a:t>1. 为什么听懂以后仍然需要项目；</a:t>
            </a:r>
          </a:p>
          <a:p>
            <a:r>
              <a:t>2. 项目班和普通课程有什么不同；</a:t>
            </a:r>
          </a:p>
          <a:p>
            <a:r>
              <a:t>3. 一个项目会怎样一步一步做出来；</a:t>
            </a:r>
          </a:p>
          <a:p>
            <a:r>
              <a:t>4. 学员需要投入什么；</a:t>
            </a:r>
          </a:p>
          <a:p>
            <a:r>
              <a:t>5. 最终能够带走什么。</a:t>
            </a:r>
          </a:p>
          <a:p/>
          <a:p>
            <a:r>
              <a:t>## 一、目前距离真实工作最缺什么</a:t>
            </a:r>
          </a:p>
          <a:p/>
          <a:p>
            <a:r>
              <a:t>让学员选择：</a:t>
            </a:r>
          </a:p>
          <a:p/>
          <a:p>
            <a:r>
              <a:t>- A. 还需要学习更多AI概念；</a:t>
            </a:r>
          </a:p>
          <a:p>
            <a:r>
              <a:t>- B. 还需要掌握更多AI工具；</a:t>
            </a:r>
          </a:p>
          <a:p>
            <a:r>
              <a:t>- C. 缺少一个自己完整做过的AI项目；</a:t>
            </a:r>
          </a:p>
          <a:p>
            <a:r>
              <a:t>- D. 缺少简历、作品集和面试技巧；</a:t>
            </a:r>
          </a:p>
          <a:p>
            <a:r>
              <a:t>- E. 还不确定职业方向。</a:t>
            </a:r>
          </a:p>
          <a:p/>
          <a:p>
            <a:r>
              <a:t>教师说明：不同学员可能答案不同，但对许多人来说，中间最关键的一步是C——还没有一个能够把前面能力连接起来的个人项目。</a:t>
            </a:r>
          </a:p>
          <a:p/>
          <a:p>
            <a:r>
              <a:t>展示三阶段关系：</a:t>
            </a:r>
          </a:p>
          <a:p/>
          <a:p>
            <a:r>
              <a:t>&gt; 第一阶段解决“你懂不懂”  </a:t>
            </a:r>
          </a:p>
          <a:p>
            <a:r>
              <a:t>&gt; 第二阶段解决“你做没做”  </a:t>
            </a:r>
          </a:p>
          <a:p>
            <a:r>
              <a:t>&gt; 第三阶段解决“你讲不讲得清”</a:t>
            </a:r>
          </a:p>
          <a:p/>
          <a:p>
            <a:r>
              <a:t>## 二、为什么听懂不等于做过</a:t>
            </a:r>
          </a:p>
          <a:p/>
          <a:p>
            <a:r>
              <a:t>真实项目需要连续完成：</a:t>
            </a:r>
          </a:p>
          <a:p/>
          <a:p>
            <a:r>
              <a:t>- 找到具体用户；</a:t>
            </a:r>
          </a:p>
          <a:p>
            <a:r>
              <a:t>- 验证真实问题；</a:t>
            </a:r>
          </a:p>
          <a:p>
            <a:r>
              <a:t>- 判断AI是否适合；</a:t>
            </a:r>
          </a:p>
          <a:p>
            <a:r>
              <a:t>- 准备数据和材料；</a:t>
            </a:r>
          </a:p>
          <a:p>
            <a:r>
              <a:t>- 设计AI、规则和人工分工；</a:t>
            </a:r>
          </a:p>
          <a:p>
            <a:r>
              <a:t>- 确定MVP；</a:t>
            </a:r>
          </a:p>
          <a:p>
            <a:r>
              <a:t>- 编写PRD；</a:t>
            </a:r>
          </a:p>
          <a:p>
            <a:r>
              <a:t>- 做原型和Demo；</a:t>
            </a:r>
          </a:p>
          <a:p>
            <a:r>
              <a:t>- 建立评测集；</a:t>
            </a:r>
          </a:p>
          <a:p>
            <a:r>
              <a:t>- 分析Bad Case；</a:t>
            </a:r>
          </a:p>
          <a:p>
            <a:r>
              <a:t>- 比较模型；</a:t>
            </a:r>
          </a:p>
          <a:p>
            <a:r>
              <a:t>- 判断成本和ROI；</a:t>
            </a:r>
          </a:p>
          <a:p>
            <a:r>
              <a:t>- 根据测试结果修改方案。</a:t>
            </a:r>
          </a:p>
          <a:p/>
          <a:p>
            <a:r>
              <a:t>第一阶段中每项能力都接触过，但分散在不同案例。第二阶段要把它们集中到一个项目，并保持前后一致。</a:t>
            </a:r>
          </a:p>
          <a:p/>
          <a:p>
            <a:r>
              <a:t>## 三、第一阶段和项目班的区别</a:t>
            </a:r>
          </a:p>
          <a:p/>
          <a:p>
            <a:r>
              <a:t>| 第一阶段系统课程 | 第二阶段项目班 |</a:t>
            </a:r>
          </a:p>
          <a:p>
            <a:r>
              <a:t>|---|---|</a:t>
            </a:r>
          </a:p>
          <a:p>
            <a:r>
              <a:t>| 以知识和方法为主 | 以项目交付为主 |</a:t>
            </a:r>
          </a:p>
          <a:p>
            <a:r>
              <a:t>| 教师先解释概念 | 学员先面对不完整任务 |</a:t>
            </a:r>
          </a:p>
          <a:p>
            <a:r>
              <a:t>| 案例用于理解知识 | 知识用于解决项目问题 |</a:t>
            </a:r>
          </a:p>
          <a:p>
            <a:r>
              <a:t>| 练习相对独立 | 每次产出进入同一个项目 |</a:t>
            </a:r>
          </a:p>
          <a:p>
            <a:r>
              <a:t>| 教师提供较多结构 | 学员需要做出自己的取舍 |</a:t>
            </a:r>
          </a:p>
          <a:p>
            <a:r>
              <a:t>| 重点是是否理解 | 重点是是否有证据 |</a:t>
            </a:r>
          </a:p>
          <a:p>
            <a:r>
              <a:t>| 看见参考答案 | 接受评审、修改和迭代 |</a:t>
            </a:r>
          </a:p>
          <a:p>
            <a:r>
              <a:t>| 完成课堂练习 | 形成完整项目材料 |</a:t>
            </a:r>
          </a:p>
          <a:p/>
          <a:p>
            <a:r>
              <a:t>项目班不是把第一阶段再讲一次，而更接近一个项目工作室。</a:t>
            </a:r>
          </a:p>
          <a:p/>
          <a:p>
            <a:r>
              <a:t>## 四、公共项目＋个人方向项目</a:t>
            </a:r>
          </a:p>
          <a:p/>
          <a:p>
            <a:r>
              <a:t>### 公共项目</a:t>
            </a:r>
          </a:p>
          <a:p/>
          <a:p>
            <a:r>
              <a:t>所有学员围绕一个共同项目走通AI产品从0到1：</a:t>
            </a:r>
          </a:p>
          <a:p/>
          <a:p>
            <a:r>
              <a:t>1. 教师发布业务任务和基础材料；</a:t>
            </a:r>
          </a:p>
          <a:p>
            <a:r>
              <a:t>2. 学员先提交个人判断；</a:t>
            </a:r>
          </a:p>
          <a:p>
            <a:r>
              <a:t>3. 课堂比较不同方案；</a:t>
            </a:r>
          </a:p>
          <a:p>
            <a:r>
              <a:t>4. 教师讲评关键决策；</a:t>
            </a:r>
          </a:p>
          <a:p>
            <a:r>
              <a:t>5. 学员修改个人版本；</a:t>
            </a:r>
          </a:p>
          <a:p>
            <a:r>
              <a:t>6. 继续进入下一阶段。</a:t>
            </a:r>
          </a:p>
          <a:p/>
          <a:p>
            <a:r>
              <a:t>公共项目用于统一项目标准，降低第一次独立选题的困难。</a:t>
            </a:r>
          </a:p>
          <a:p/>
          <a:p>
            <a:r>
              <a:t>### 个人方向项目</a:t>
            </a:r>
          </a:p>
          <a:p/>
          <a:p>
            <a:r>
              <a:t>学员结合过去行业、工作场景、可访问用户、可获得数据、目标岗位和希望证明的能力选择项目。</a:t>
            </a:r>
          </a:p>
          <a:p/>
          <a:p>
            <a:r>
              <a:t>可能方向包括：</a:t>
            </a:r>
          </a:p>
          <a:p/>
          <a:p>
            <a:r>
              <a:t>- 企业知识库；</a:t>
            </a:r>
          </a:p>
          <a:p>
            <a:r>
              <a:t>- 销售辅助；</a:t>
            </a:r>
          </a:p>
          <a:p>
            <a:r>
              <a:t>- 内容生产与审核；</a:t>
            </a:r>
          </a:p>
          <a:p>
            <a:r>
              <a:t>- 用户反馈分析；</a:t>
            </a:r>
          </a:p>
          <a:p>
            <a:r>
              <a:t>- 会议任务跟进；</a:t>
            </a:r>
          </a:p>
          <a:p>
            <a:r>
              <a:t>- 商品决策；</a:t>
            </a:r>
          </a:p>
          <a:p>
            <a:r>
              <a:t>- 招聘或培训；</a:t>
            </a:r>
          </a:p>
          <a:p>
            <a:r>
              <a:t>- 特定行业AI应用。</a:t>
            </a:r>
          </a:p>
          <a:p/>
          <a:p>
            <a:r>
              <a:t>个人项目用于形成与背景和求职方向有关的差异化证据。</a:t>
            </a:r>
          </a:p>
          <a:p/>
          <a:p>
            <a:r>
              <a:t>## 五、小组形式怎样工作</a:t>
            </a:r>
          </a:p>
          <a:p/>
          <a:p>
            <a:r>
              <a:t>小组不是多人共同交一份作业。每个人对自己的项目负责，小组用于：</a:t>
            </a:r>
          </a:p>
          <a:p/>
          <a:p>
            <a:r>
              <a:t>- 质疑问题是否真实；</a:t>
            </a:r>
          </a:p>
          <a:p>
            <a:r>
              <a:t>- 检查MVP是否过大；</a:t>
            </a:r>
          </a:p>
          <a:p>
            <a:r>
              <a:t>- 体验彼此Demo；</a:t>
            </a:r>
          </a:p>
          <a:p>
            <a:r>
              <a:t>- 交换测试用例；</a:t>
            </a:r>
          </a:p>
          <a:p>
            <a:r>
              <a:t>- 帮助发现Bad Case；</a:t>
            </a:r>
          </a:p>
          <a:p>
            <a:r>
              <a:t>- 模拟产品评审和用户反馈；</a:t>
            </a:r>
          </a:p>
          <a:p>
            <a:r>
              <a:t>- 比较不同项目的处理方式。</a:t>
            </a:r>
          </a:p>
          <a:p/>
          <a:p>
            <a:r>
              <a:t>这样学员重点完成自己的项目，同时可以通过同学接触更多Workflow、RAG、Agent、To B、To C和行业案例。</a:t>
            </a:r>
          </a:p>
          <a:p/>
          <a:p>
            <a:r>
              <a:t>## 六、每次项目课的六步节奏</a:t>
            </a:r>
          </a:p>
          <a:p/>
          <a:p>
            <a:r>
              <a:t>1. **项目任务发布**：教师明确本阶段需要解决的问题；</a:t>
            </a:r>
          </a:p>
          <a:p>
            <a:r>
              <a:t>2. **学员完成初稿**：先形成个人V0.1，不等待标准答案；</a:t>
            </a:r>
          </a:p>
          <a:p>
            <a:r>
              <a:t>3. **展示代表方案**：选择范围过大、过于保守、技术堆叠或证据充分的典型作业；</a:t>
            </a:r>
          </a:p>
          <a:p>
            <a:r>
              <a:t>4. **同学互评**：围绕问题、MVP、数据、评测和风险提出问题；</a:t>
            </a:r>
          </a:p>
          <a:p>
            <a:r>
              <a:t>5. **教师点评**：指出缺少证据、范围不合理、自动化风险和指标问题；</a:t>
            </a:r>
          </a:p>
          <a:p>
            <a:r>
              <a:t>6. **修改迭代**：保留V0.1、V0.2、V1.0以及修改原因。</a:t>
            </a:r>
          </a:p>
          <a:p/>
          <a:p>
            <a:r>
              <a:t>项目班的价值不是只得到最终答案，而是看见项目怎样被迭代出来。</a:t>
            </a:r>
          </a:p>
          <a:p/>
          <a:p>
            <a:r>
              <a:t>## 七、一个项目怎样成长</a:t>
            </a:r>
          </a:p>
          <a:p/>
          <a:p>
            <a:r>
              <a:t>以“企业AI知识库”为例。</a:t>
            </a:r>
          </a:p>
          <a:p/>
          <a:p>
            <a:r>
              <a:t>### 初始想法</a:t>
            </a:r>
          </a:p>
          <a:p/>
          <a:p>
            <a:r>
              <a:t>&gt; 做一个企业AI知识库。</a:t>
            </a:r>
          </a:p>
          <a:p/>
          <a:p>
            <a:r>
              <a:t>此时缺少用户、问题、数据、评测和权限。</a:t>
            </a:r>
          </a:p>
          <a:p/>
          <a:p>
            <a:r>
              <a:t>### 问题验证后</a:t>
            </a:r>
          </a:p>
          <a:p/>
          <a:p>
            <a:r>
              <a:t>&gt; 面向售前顾问的产品资料检索与回答助手。</a:t>
            </a:r>
          </a:p>
          <a:p/>
          <a:p>
            <a:r>
              <a:t>场景是售前顾问准备客户方案时，需要从分散的产品手册、报价说明和历史案例中查找信息。</a:t>
            </a:r>
          </a:p>
          <a:p/>
          <a:p>
            <a:r>
              <a:t>### MVP设计后</a:t>
            </a:r>
          </a:p>
          <a:p/>
          <a:p>
            <a:r>
              <a:t>第一期做：资料上传、检索、候选答案、来源展示、无答案兜底和用户反馈。</a:t>
            </a:r>
          </a:p>
          <a:p/>
          <a:p>
            <a:r>
              <a:t>第一期不做：自动生成完整销售方案、自动发送客户、自动承诺价格和连接所有企业系统。</a:t>
            </a:r>
          </a:p>
          <a:p/>
          <a:p>
            <a:r>
              <a:t>### Demo以后</a:t>
            </a:r>
          </a:p>
          <a:p/>
          <a:p>
            <a:r>
              <a:t>形成问答、来源、无答案、权限和反馈等可运行状态。</a:t>
            </a:r>
          </a:p>
          <a:p/>
          <a:p>
            <a:r>
              <a:t>### 评测以后</a:t>
            </a:r>
          </a:p>
          <a:p/>
          <a:p>
            <a:r>
              <a:t>建立真实问题、标准答案、来源文档、检索命中率、答案正确性和无依据回答率。</a:t>
            </a:r>
          </a:p>
          <a:p/>
          <a:p>
            <a:r>
              <a:t>### Bad Case迭代以后</a:t>
            </a:r>
          </a:p>
          <a:p/>
          <a:p>
            <a:r>
              <a:t>发现型号混淆、旧价格资料误检索、表格切分差和多产品对比不稳定，进而修改文档版本、Metadata过滤、表格处理、问题改写和无答案兜底。</a:t>
            </a:r>
          </a:p>
          <a:p/>
          <a:p>
            <a:r>
              <a:t>最终学员能够讲清：为什么选题、为什么需要RAG、MVP如何取舍、评测集从哪里来、发现什么问题、怎样修改，以及项目仍有什么限制。</a:t>
            </a:r>
          </a:p>
          <a:p/>
          <a:p>
            <a:r>
              <a:t>教师总结：</a:t>
            </a:r>
          </a:p>
          <a:p/>
          <a:p>
            <a:r>
              <a:t>&gt; 项目班不是把“企业知识库”五个字扩写成一份长PRD，而是把它一步一步变成有问题、有产品、有测试、有迭代的完整项目。</a:t>
            </a:r>
          </a:p>
          <a:p/>
          <a:p>
            <a:r>
              <a:t>## 八、项目推进的七个阶段</a:t>
            </a:r>
          </a:p>
          <a:p/>
          <a:p>
            <a:r>
              <a:t>### 阶段一：选题与问题验证</a:t>
            </a:r>
          </a:p>
          <a:p/>
          <a:p>
            <a:r>
              <a:t>完成用户、场景、当前流程、问题证据、数据来源和继续条件。</a:t>
            </a:r>
          </a:p>
          <a:p/>
          <a:p>
            <a:r>
              <a:t>### 阶段二：AI介入与MVP</a:t>
            </a:r>
          </a:p>
          <a:p/>
          <a:p>
            <a:r>
              <a:t>完成人机分工、技术选择、MVP范围和初始评测计划。</a:t>
            </a:r>
          </a:p>
          <a:p/>
          <a:p>
            <a:r>
              <a:t>### 阶段三：正式PRD与原型</a:t>
            </a:r>
          </a:p>
          <a:p/>
          <a:p>
            <a:r>
              <a:t>完成PRD、产品流程、页面、输入输出、异常、确认和验收标准。</a:t>
            </a:r>
          </a:p>
          <a:p/>
          <a:p>
            <a:r>
              <a:t>### 阶段四：可运行Demo</a:t>
            </a:r>
          </a:p>
          <a:p/>
          <a:p>
            <a:r>
              <a:t>覆盖核心任务、正常输入、AI结果、错误状态和用户确认。</a:t>
            </a:r>
          </a:p>
          <a:p/>
          <a:p>
            <a:r>
              <a:t>### 阶段五：评测与Bad Case</a:t>
            </a:r>
          </a:p>
          <a:p/>
          <a:p>
            <a:r>
              <a:t>完成评测集、标准答案、指标、模型测试、Bad Case和高风险错误分析。</a:t>
            </a:r>
          </a:p>
          <a:p/>
          <a:p>
            <a:r>
              <a:t>### 阶段六：迭代、成本与价值</a:t>
            </a:r>
          </a:p>
          <a:p/>
          <a:p>
            <a:r>
              <a:t>完成方案修改、回归评测、模型选择、使用成本、ROI和项目局限。</a:t>
            </a:r>
          </a:p>
          <a:p/>
          <a:p>
            <a:r>
              <a:t>### 阶段七：项目展示与复盘</a:t>
            </a:r>
          </a:p>
          <a:p/>
          <a:p>
            <a:r>
              <a:t>完成项目展示、证据链、个人贡献和项目讲述。</a:t>
            </a:r>
          </a:p>
          <a:p/>
          <a:p>
            <a:r>
              <a:t>## 九、最终交付物</a:t>
            </a:r>
          </a:p>
          <a:p/>
          <a:p>
            <a:r>
              <a:t>### 问题与证据</a:t>
            </a:r>
          </a:p>
          <a:p/>
          <a:p>
            <a:r>
              <a:t>- 用户和场景；</a:t>
            </a:r>
          </a:p>
          <a:p>
            <a:r>
              <a:t>- 访谈或业务材料；</a:t>
            </a:r>
          </a:p>
          <a:p>
            <a:r>
              <a:t>- 当前流程；</a:t>
            </a:r>
          </a:p>
          <a:p>
            <a:r>
              <a:t>- 问题和价值判断。</a:t>
            </a:r>
          </a:p>
          <a:p/>
          <a:p>
            <a:r>
              <a:t>### 产品方案</a:t>
            </a:r>
          </a:p>
          <a:p/>
          <a:p>
            <a:r>
              <a:t>- AI产品决策图；</a:t>
            </a:r>
          </a:p>
          <a:p>
            <a:r>
              <a:t>- 产品流程；</a:t>
            </a:r>
          </a:p>
          <a:p>
            <a:r>
              <a:t>- 人机协作；</a:t>
            </a:r>
          </a:p>
          <a:p>
            <a:r>
              <a:t>- MVP；</a:t>
            </a:r>
          </a:p>
          <a:p>
            <a:r>
              <a:t>- 正式PRD。</a:t>
            </a:r>
          </a:p>
          <a:p/>
          <a:p>
            <a:r>
              <a:t>### 产品实现</a:t>
            </a:r>
          </a:p>
          <a:p/>
          <a:p>
            <a:r>
              <a:t>- 原型；</a:t>
            </a:r>
          </a:p>
          <a:p>
            <a:r>
              <a:t>- 可运行Demo；</a:t>
            </a:r>
          </a:p>
          <a:p>
            <a:r>
              <a:t>- 正常和异常状态；</a:t>
            </a:r>
          </a:p>
          <a:p>
            <a:r>
              <a:t>- 用户确认流程。</a:t>
            </a:r>
          </a:p>
          <a:p/>
          <a:p>
            <a:r>
              <a:t>### AI效果</a:t>
            </a:r>
          </a:p>
          <a:p/>
          <a:p>
            <a:r>
              <a:t>- 评测集；</a:t>
            </a:r>
          </a:p>
          <a:p>
            <a:r>
              <a:t>- 评测报告；</a:t>
            </a:r>
          </a:p>
          <a:p>
            <a:r>
              <a:t>- Bad Case；</a:t>
            </a:r>
          </a:p>
          <a:p>
            <a:r>
              <a:t>- 模型比较；</a:t>
            </a:r>
          </a:p>
          <a:p>
            <a:r>
              <a:t>- 迭代前后变化。</a:t>
            </a:r>
          </a:p>
          <a:p/>
          <a:p>
            <a:r>
              <a:t>### 落地判断</a:t>
            </a:r>
          </a:p>
          <a:p/>
          <a:p>
            <a:r>
              <a:t>- 模型方案；</a:t>
            </a:r>
          </a:p>
          <a:p>
            <a:r>
              <a:t>- 部署和安全；</a:t>
            </a:r>
          </a:p>
          <a:p>
            <a:r>
              <a:t>- 成本；</a:t>
            </a:r>
          </a:p>
          <a:p>
            <a:r>
              <a:t>- ROI；</a:t>
            </a:r>
          </a:p>
          <a:p>
            <a:r>
              <a:t>- 风险和局限。</a:t>
            </a:r>
          </a:p>
          <a:p/>
          <a:p>
            <a:r>
              <a:t>### 对外展示</a:t>
            </a:r>
          </a:p>
          <a:p/>
          <a:p>
            <a:r>
              <a:t>- 作品集项目页；</a:t>
            </a:r>
          </a:p>
          <a:p>
            <a:r>
              <a:t>- 项目展示材料；</a:t>
            </a:r>
          </a:p>
          <a:p>
            <a:r>
              <a:t>- 项目讲述稿；</a:t>
            </a:r>
          </a:p>
          <a:p>
            <a:r>
              <a:t>- 个人贡献说明。</a:t>
            </a:r>
          </a:p>
          <a:p/>
          <a:p>
            <a:r>
              <a:t>第二阶段重点是把项目做完整；第三阶段再结合具体JD打磨简历、作品集和面试表达。</a:t>
            </a:r>
          </a:p>
          <a:p/>
          <a:p>
            <a:r>
              <a:t>## 十、项目班不替学员批量生成项目材料</a:t>
            </a:r>
          </a:p>
          <a:p/>
          <a:p>
            <a:r>
              <a:t>如果只是把选题交给AI，让AI生成PRD、流程图、原型和总结，这些材料很快会失去区分度。</a:t>
            </a:r>
          </a:p>
          <a:p/>
          <a:p>
            <a:r>
              <a:t>项目班真正训练：</a:t>
            </a:r>
          </a:p>
          <a:p/>
          <a:p>
            <a:r>
              <a:t>- 为什么选择问题；</a:t>
            </a:r>
          </a:p>
          <a:p>
            <a:r>
              <a:t>- 使用什么证据；</a:t>
            </a:r>
          </a:p>
          <a:p>
            <a:r>
              <a:t>- 方案经过什么取舍；</a:t>
            </a:r>
          </a:p>
          <a:p>
            <a:r>
              <a:t>- 数据从哪里来；</a:t>
            </a:r>
          </a:p>
          <a:p>
            <a:r>
              <a:t>- 怎样测试；</a:t>
            </a:r>
          </a:p>
          <a:p>
            <a:r>
              <a:t>- 发现什么错误；</a:t>
            </a:r>
          </a:p>
          <a:p>
            <a:r>
              <a:t>- 为什么修改；</a:t>
            </a:r>
          </a:p>
          <a:p>
            <a:r>
              <a:t>- 学员本人完成什么；</a:t>
            </a:r>
          </a:p>
          <a:p>
            <a:r>
              <a:t>- 哪些结论仍然是假设。</a:t>
            </a:r>
          </a:p>
          <a:p/>
          <a:p>
            <a:r>
              <a:t>核心观点：</a:t>
            </a:r>
          </a:p>
          <a:p/>
          <a:p>
            <a:r>
              <a:t>&gt; AI可以帮助生产材料，但不能替学员完成项目责任。</a:t>
            </a:r>
          </a:p>
          <a:p/>
          <a:p>
            <a:r>
              <a:t>## 十一、适合项目班的学员</a:t>
            </a:r>
          </a:p>
          <a:p/>
          <a:p>
            <a:r>
              <a:t>适合：</a:t>
            </a:r>
          </a:p>
          <a:p/>
          <a:p>
            <a:r>
              <a:t>- 已经理解AI产品基础概念；</a:t>
            </a:r>
          </a:p>
          <a:p>
            <a:r>
              <a:t>- 学过Prompt、Workflow、RAG或Agent；</a:t>
            </a:r>
          </a:p>
          <a:p>
            <a:r>
              <a:t>- 但缺少完整项目；</a:t>
            </a:r>
          </a:p>
          <a:p>
            <a:r>
              <a:t>- 希望转型AI产品；</a:t>
            </a:r>
          </a:p>
          <a:p>
            <a:r>
              <a:t>- 想把原行业场景改造成AI产品；</a:t>
            </a:r>
          </a:p>
          <a:p>
            <a:r>
              <a:t>- 自己做项目容易停在想法或Demo；</a:t>
            </a:r>
          </a:p>
          <a:p>
            <a:r>
              <a:t>- 需要外部节奏、点评和多轮修改；</a:t>
            </a:r>
          </a:p>
          <a:p>
            <a:r>
              <a:t>- 愿意投入时间完成作业。</a:t>
            </a:r>
          </a:p>
          <a:p/>
          <a:p>
            <a:r>
              <a:t>暂时不适合：</a:t>
            </a:r>
          </a:p>
          <a:p/>
          <a:p>
            <a:r>
              <a:t>- 只想听课，不准备完成项目；</a:t>
            </a:r>
          </a:p>
          <a:p>
            <a:r>
              <a:t>- 希望老师直接提供可以投递的成品；</a:t>
            </a:r>
          </a:p>
          <a:p>
            <a:r>
              <a:t>- 不愿意接受方案被修改；</a:t>
            </a:r>
          </a:p>
          <a:p>
            <a:r>
              <a:t>- 希望把课程项目包装成企业上线；</a:t>
            </a:r>
          </a:p>
          <a:p>
            <a:r>
              <a:t>- 没有时间做任何课后产出；</a:t>
            </a:r>
          </a:p>
          <a:p>
            <a:r>
              <a:t>- 只想收集更多工具和资料。</a:t>
            </a:r>
          </a:p>
          <a:p/>
          <a:p>
            <a:r>
              <a:t>## 十二、学员需要投入什么</a:t>
            </a:r>
          </a:p>
          <a:p/>
          <a:p>
            <a:r>
              <a:t>- 完成每阶段初稿；</a:t>
            </a:r>
          </a:p>
          <a:p>
            <a:r>
              <a:t>- 接受小组和教师评审；</a:t>
            </a:r>
          </a:p>
          <a:p>
            <a:r>
              <a:t>- 根据反馈修改；</a:t>
            </a:r>
          </a:p>
          <a:p>
            <a:r>
              <a:t>- 收集测试材料；</a:t>
            </a:r>
          </a:p>
          <a:p>
            <a:r>
              <a:t>- 建立评测集；</a:t>
            </a:r>
          </a:p>
          <a:p>
            <a:r>
              <a:t>- 运行真实测试；</a:t>
            </a:r>
          </a:p>
          <a:p>
            <a:r>
              <a:t>- 记录Bad Case；</a:t>
            </a:r>
          </a:p>
          <a:p>
            <a:r>
              <a:t>- 保存项目版本；</a:t>
            </a:r>
          </a:p>
          <a:p>
            <a:r>
              <a:t>- 清楚说明个人贡献；</a:t>
            </a:r>
          </a:p>
          <a:p>
            <a:r>
              <a:t>- 对项目最终质量负责。</a:t>
            </a:r>
          </a:p>
          <a:p/>
          <a:p>
            <a:r>
              <a:t>项目班不是买完以后等待老师发项目，而是在教师、同学和里程碑支持下真正完成自己的项目。</a:t>
            </a:r>
          </a:p>
          <a:p/>
          <a:p>
            <a:r>
              <a:t>## 十三、项目班的三个具体价值</a:t>
            </a:r>
          </a:p>
          <a:p/>
          <a:p>
            <a:r>
              <a:t>1. **作业会被真正评审**：不仅检查是否提交，还判断问题、MVP、评测和证据是否成立；</a:t>
            </a:r>
          </a:p>
          <a:p>
            <a:r>
              <a:t>2. **能看见项目版本变化**：从模糊想法到PRD、Demo、评测和迭代；</a:t>
            </a:r>
          </a:p>
          <a:p>
            <a:r>
              <a:t>3. **接触多个行业案例**：通过同学项目看到不同用户、产品形态、Bad Case、模型和成本方案。</a:t>
            </a:r>
          </a:p>
          <a:p/>
          <a:p>
            <a:r>
              <a:t>## 十四、整节课最终收尾</a:t>
            </a:r>
          </a:p>
          <a:p/>
          <a:p>
            <a:r>
              <a:t>教师可以这样说：</a:t>
            </a:r>
          </a:p>
          <a:p/>
          <a:p>
            <a:r>
              <a:t>&gt; 第一阶段结束以后，我不希望大家只记得自己学过Prompt、RAG、Agent、PRD和评测。  </a:t>
            </a:r>
          </a:p>
          <a:p>
            <a:r>
              <a:t>&gt; 更重要的是，当一个新的AI产品需求出现在面前，你已经开始知道应该问什么：谁的问题、为什么需要AI、规则和模型怎样分工、MVP做什么、怎样评测、错了怎么办，以及这件事是否值得做。  </a:t>
            </a:r>
          </a:p>
          <a:p>
            <a:r>
              <a:t>&gt; 这意味着我们已经从简单使用AI工具，开始走向AI产品判断。  </a:t>
            </a:r>
          </a:p>
          <a:p>
            <a:r>
              <a:t>&gt; 但判断只有进入一个真实项目，经过产品设计、Demo、评测和迭代，才会变成可以被证明的能力。第二阶段要完成的，就是这一步。</a:t>
            </a:r>
          </a:p>
          <a:p/>
          <a:p>
            <a:r>
              <a:t>最后三句话：</a:t>
            </a:r>
          </a:p>
          <a:p/>
          <a:p>
            <a:r>
              <a:t>&gt; 第一阶段，让你理解AI产品。  </a:t>
            </a:r>
          </a:p>
          <a:p>
            <a:r>
              <a:t>&gt; 第二阶段，让你真正做出AI项目。  </a:t>
            </a:r>
          </a:p>
          <a:p>
            <a:r>
              <a:t>&gt; 第三阶段，让你把项目转化成职业机会。</a:t>
            </a:r>
          </a:p>
          <a:p/>
          <a:p>
            <a:r>
              <a:t>可以补充：</a:t>
            </a:r>
          </a:p>
          <a:p/>
          <a:p>
            <a:r>
              <a:t>&gt; 如果你目前的目标只是系统理解AI产品，第一阶段已经提供了一套相对完整的方法。  </a:t>
            </a:r>
          </a:p>
          <a:p>
            <a:r>
              <a:t>&gt; 如果你希望进一步完成个人项目、形成项目证据，第二阶段会更适合你。  </a:t>
            </a:r>
          </a:p>
          <a:p>
            <a:r>
              <a:t>&gt; 大家可以结合自己的时间、目标和投入意愿，判断是否继续。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/Users/keivn/Project/AI-Course/课程生产/第一阶段/第12课_第一阶段能力验收与职业行动_重做工作区/第12课_第一阶段总结_AI产品趋势与项目实战_完整讲义_v0.2.md</a:t>
            </a:r>
          </a:p>
          <a:p>
            <a:r>
              <a:t>课程收尾；第二阶段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motif-loud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94944"/>
            <a:ext cx="512064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6D6C2"/>
                </a:solidFill>
                <a:latin typeface="Helvetica Neue"/>
                <a:ea typeface="Hiragino Sans GB"/>
              </a:rPr>
              <a:t>AI PRODUCT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09344"/>
            <a:ext cx="9784080" cy="60350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5F2E9"/>
                </a:solidFill>
                <a:latin typeface="Helvetica Neue"/>
                <a:ea typeface="Hiragino Sans GB"/>
              </a:rPr>
              <a:t>AI产品经理的下一步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615184"/>
            <a:ext cx="9326880" cy="51206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elvetica Neue"/>
                <a:ea typeface="Hiragino Sans GB"/>
              </a:rPr>
              <a:t>课程总结、产品趋势与项目实战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319272"/>
            <a:ext cx="201168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elvetica Neue"/>
                <a:ea typeface="Hiragino Sans GB"/>
              </a:rPr>
              <a:t>第 12 课</a:t>
            </a:r>
          </a:p>
        </p:txBody>
      </p:sp>
      <p:sp>
        <p:nvSpPr>
          <p:cNvPr id="7" name="deckkit-motif-loud"/>
          <p:cNvSpPr/>
          <p:nvPr/>
        </p:nvSpPr>
        <p:spPr>
          <a:xfrm>
            <a:off x="841248" y="3959352"/>
            <a:ext cx="28163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07408"/>
            <a:ext cx="8961120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7B5BC"/>
                </a:solidFill>
                <a:latin typeface="Helvetica Neue"/>
                <a:ea typeface="Hiragino Sans GB"/>
              </a:rPr>
              <a:t>回顾已经学会的，讨论正在发生的，准备真正做项目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87568"/>
            <a:ext cx="95097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REVIEW · DISCUSS · BUILD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64624" y="4352544"/>
            <a:ext cx="1828800" cy="1170432"/>
          </a:xfrm>
          <a:prstGeom prst="rect">
            <a:avLst/>
          </a:prstGeom>
          <a:noFill/>
        </p:spPr>
        <p:txBody>
          <a:bodyPr wrap="non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416A78"/>
                </a:solidFill>
                <a:latin typeface="Helvetica Neue"/>
                <a:ea typeface="Hiragino Sans GB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章节导航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9302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07008"/>
            <a:ext cx="329184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996696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2E9"/>
                </a:solidFill>
                <a:latin typeface="Helvetica Neue"/>
                <a:ea typeface="Hiragino Sans GB"/>
              </a:rPr>
              <a:t>第一阶段，我们到底学会了什么？</a:t>
            </a:r>
          </a:p>
        </p:txBody>
      </p:sp>
      <p:sp>
        <p:nvSpPr>
          <p:cNvPr id="8" name="deckkit-motif-quiet"/>
          <p:cNvSpPr/>
          <p:nvPr/>
        </p:nvSpPr>
        <p:spPr>
          <a:xfrm>
            <a:off x="804672" y="2743200"/>
            <a:ext cx="2331720" cy="50292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98755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7B5BC"/>
                </a:solidFill>
                <a:latin typeface="Helvetica Neue"/>
                <a:ea typeface="Hiragino Sans GB"/>
              </a:rPr>
              <a:t>把前11课从知识点重新整理成一条可交付的AI产品能力链。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问题判断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0C565"/>
                </a:solidFill>
                <a:latin typeface="Helvetica Neue"/>
                <a:ea typeface="Hiragino Sans GB"/>
              </a:rPr>
              <a:t>产品交付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评测迭代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成本价值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课堂选择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8953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第一阶段，你觉得自己最大的变化是什么？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会使用更多AI工具了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理解了更多技术概念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开始完整判断AI产品怎么做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已经可以独立负责完整AI产品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学习前后对照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8605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同一个需求，学习前后会怎样回答？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从工具出发，到从问题与责任出发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学习之前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先找一个大模型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让它自动执行任务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效果不好就换模型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做出Demo就算完成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学习之后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先确认用户和任务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再设计人机分工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用评测和Bad Case验证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把成本、风险和价值算清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核心区别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变化不只是会用AI，而是开始对完整产品决策负责。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能力总览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8256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五项能力｜第一阶段形成了怎样的能力结构？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五项能力按真实产品决策顺序连接，而不是五组孤立知识。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48840"/>
            <a:ext cx="2024481" cy="2148840"/>
          </a:xfrm>
          <a:prstGeom prst="roundRect">
            <a:avLst>
              <a:gd name="adj" fmla="val 722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87752"/>
            <a:ext cx="162214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问题判断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26664"/>
            <a:ext cx="1622145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值得做什么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65145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4017" y="2148840"/>
            <a:ext cx="2024481" cy="2148840"/>
          </a:xfrm>
          <a:prstGeom prst="roundRect">
            <a:avLst>
              <a:gd name="adj" fmla="val 722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5185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5185" y="2587752"/>
            <a:ext cx="162214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5185" y="3026664"/>
            <a:ext cx="1622145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AI怎样介入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99355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18227" y="2148840"/>
            <a:ext cx="2024481" cy="2148840"/>
          </a:xfrm>
          <a:prstGeom prst="roundRect">
            <a:avLst>
              <a:gd name="adj" fmla="val 722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9395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9395" y="2587752"/>
            <a:ext cx="162214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产品定义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9395" y="3026664"/>
            <a:ext cx="1622145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怎样交付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33564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2436" y="2148840"/>
            <a:ext cx="2024481" cy="2148840"/>
          </a:xfrm>
          <a:prstGeom prst="roundRect">
            <a:avLst>
              <a:gd name="adj" fmla="val 722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3604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3604" y="2587752"/>
            <a:ext cx="162214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效果验证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3604" y="3026664"/>
            <a:ext cx="1622145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如何证明有效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67774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6646" y="2148840"/>
            <a:ext cx="2024481" cy="2148840"/>
          </a:xfrm>
          <a:prstGeom prst="roundRect">
            <a:avLst>
              <a:gd name="adj" fmla="val 7226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7814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7814" y="2587752"/>
            <a:ext cx="162214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商业价值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7814" y="3026664"/>
            <a:ext cx="1622145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是否值得继续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串联关系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能从问题走到价值，才是完整的AI产品能力。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能力一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17907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问题判断与AI方案｜先决定做什么，再决定怎么做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不是所有问题都值得用AI，也不是所有环节都适合交给模型。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问题判断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用户是谁、任务是什么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现有流程哪里真的痛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问题是否高频且有价值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结果能否被判断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规则、模型还是人工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Prompt、Workflow、RAG或Agent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AI做到哪一步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异常与高风险怎样升级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核心区别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方案质量取决于问题定义和人机边界，而不是模型名称。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能力二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37559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产品定义与交付｜把AI能力变成可用产品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从想法到交付，需要一套能被团队执行、被用户体验的产品表达。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AI产品PRD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用户·场景·流程·人机分工·异常·验收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原型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页面·状态·来源·确认·修改·权限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可运行Demo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正常路径·错误状态·人工接管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PRD定义决策，原型呈现交互，Demo验证真实运行。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能力三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57210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效果验证与数据反馈｜从感觉不错走向可重复验证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评测不是上线前的一次考试，而是产品持续改进的反馈系统。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任务定义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测什么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585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02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评测集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Excel/数据表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190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07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参考答案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金标准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795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912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912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912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规则·语义·人工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批量测试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版本对比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585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702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702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Bad 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702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失败样本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190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307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307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归因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307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模型·数据·流程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0795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912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912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修改回归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912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防止旧错复发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串联关系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评测集让改进有依据，Bad Case让问题能够被归因和回归。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能力四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76861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模型、成本与价值｜从技术指标走到商业判断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模型选型不是排行榜选择，而是效果、约束和长期价值的综合决策。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任务质量·稳定性·长文本·多模态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首字延迟·总耗时·并发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Token·调用·推理·人工复核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风险约束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安全·部署·供应商·错误代价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8472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8472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规模化收益·使用频次·继续条件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最强的模型未必是最合适的模型，最便宜也未必创造价值。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第一阶段能力回顾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96512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方法总览｜五项能力怎样形成因果链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上游决策会一直影响到评测、成本和是否继续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4065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业务问题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谁的什么任务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77194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72937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4105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4105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产品目标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4105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改善什么结果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00323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6066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7234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7234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AI方案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7234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规则·模型·人工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23452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19195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0363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0363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产品流程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0363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输入·状态·异常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46581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42324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3492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3492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评测方式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3492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数据·指标·风险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69710" y="257860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65453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6621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6621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模型与迭代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6621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Bad Case·回归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8582" y="2103120"/>
            <a:ext cx="1413401" cy="1417320"/>
          </a:xfrm>
          <a:prstGeom prst="roundRect">
            <a:avLst>
              <a:gd name="adj" fmla="val 1035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89750" y="224942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9750" y="2542032"/>
            <a:ext cx="1011065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成本和价值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89750" y="2980944"/>
            <a:ext cx="1011065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B5BC"/>
                </a:solidFill>
                <a:latin typeface="Helvetica Neue"/>
                <a:ea typeface="Hiragino Sans GB"/>
              </a:rPr>
              <a:t>ROI·继续条件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" y="3995928"/>
            <a:ext cx="10131552" cy="1005840"/>
          </a:xfrm>
          <a:prstGeom prst="roundRect">
            <a:avLst>
              <a:gd name="adj" fmla="val 14545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4224528"/>
            <a:ext cx="1920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6D6C2"/>
                </a:solidFill>
                <a:latin typeface="Helvetica Neue"/>
                <a:ea typeface="Hiragino Sans GB"/>
              </a:rPr>
              <a:t>一个改变的连锁反应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82112" y="4142232"/>
            <a:ext cx="7498079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人机分工改变 → 流程与PRD改变 → 评测集和指标改变 → 成本与上线判断改变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核心关系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前面五项能力不是五个知识点，而是一条完整决策链。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学习成果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216164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第一阶段的十类产出｜你已经做过哪些？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把课程知识重新看成一组可以继续积累的项目材料。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Prompt产品化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2305" y="1911095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3473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3473" y="2350008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4803" y="1911095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5971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5971" y="2350008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7300" y="1911095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84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8468" y="2350008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9798" y="1911095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096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0966" y="2350008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Coze实践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790187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229100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需求与PRD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2305" y="3790187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3473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3473" y="4229100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原型与Demo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4803" y="3790187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5971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5971" y="4229100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评测与Bad Case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7300" y="3790187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8468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8468" y="4229100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智能审核PRD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59798" y="3790187"/>
            <a:ext cx="1951329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096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0966" y="4229100"/>
            <a:ext cx="1548993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模型成本与ROI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这些不是十份作业，而是一个AI产品项目可能需要的十类证据。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第一部分 · 阶段边界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235815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已经具备什么，还缺少什么？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第一阶段建立共同语言和判断框架；下一阶段把它们串成完整项目。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已经具备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理解主要AI产品形态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能设计基本人机分工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会写核心PRD与原型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知道怎样评测和算成本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仍然缺少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从零推进完整项目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面对真实约束持续修改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形成版本与决策证据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把项目讲成可信作品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核心区别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从‘知道怎样做’到‘真正做过并讲得清’，中间还隔着完整项目。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章节导航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255466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07008"/>
            <a:ext cx="329184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996696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2E9"/>
                </a:solidFill>
                <a:latin typeface="Helvetica Neue"/>
                <a:ea typeface="Hiragino Sans GB"/>
              </a:rPr>
              <a:t>AI产品正在发生什么变化？</a:t>
            </a:r>
          </a:p>
        </p:txBody>
      </p:sp>
      <p:sp>
        <p:nvSpPr>
          <p:cNvPr id="8" name="deckkit-motif-quiet"/>
          <p:cNvSpPr/>
          <p:nvPr/>
        </p:nvSpPr>
        <p:spPr>
          <a:xfrm>
            <a:off x="804672" y="2743200"/>
            <a:ext cx="2331720" cy="50292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98755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7B5BC"/>
                </a:solidFill>
                <a:latin typeface="Helvetica Neue"/>
                <a:ea typeface="Hiragino Sans GB"/>
              </a:rPr>
              <a:t>用16个有争议的问题练习判断：先选择，再用框架解释自己的选择。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产品价值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251960"/>
            <a:ext cx="2075688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2075688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Agent与组织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45736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0C565"/>
                </a:solidFill>
                <a:latin typeface="Helvetica Neue"/>
                <a:ea typeface="Hiragino Sans GB"/>
              </a:rPr>
              <a:t>商业建设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6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职业个人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01/16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275118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模型越来越强，AI产品还剩下什么价值？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使用比别人更强的模型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4944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4944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160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拥有别人没有的私有数据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199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199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416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深入用户的真实工作流程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9344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拥有用户入口、品牌和信任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以上都有，但不同产品的核心价值不同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294769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AI产品价值的五层结构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基础模型决定起点，任务、数据、流程和信任形成长期价值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基础模型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理解、生成、推理与多模态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任务设计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输入、步骤、标准与人机分工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业务数据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私有知识、权限和上下文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流程与连接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系统、审批、任务与日志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8472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反馈与信任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8472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修改、确认、评测和长期关系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判断结论：基础模型决定起点，任务、数据、流程和信任形成长期价值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02/16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14420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模型公司会不会吃掉大量AI应用？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会，大部分AI应用都会被模型公司取代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不会，模型公司不了解具体用户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通用、浅层应用风险较高，深业务应用仍有空间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最终取决于谁控制用户入口和业务流程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34071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应用被基础平台覆盖的风险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深业务不是天然护城河，但会增加复制与替代的难度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高风险特征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简单包装·固定Prompt·通用任务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缺少连接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无独特数据·无系统连接·无反馈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相对有空间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专业场景·真实流程·权限异常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052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20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仍需验证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结果责任·用户入口·改变成本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判断结论：深业务不是天然护城河，但会增加复制与替代的难度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03/16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53723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AI产品真正的竞争对手是谁？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0561320" cy="640080"/>
          </a:xfrm>
          <a:prstGeom prst="roundRect">
            <a:avLst>
              <a:gd name="adj" fmla="val 20000"/>
            </a:avLst>
          </a:prstGeom>
          <a:solidFill>
            <a:srgbClr val="133843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39112"/>
            <a:ext cx="841248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975104"/>
            <a:ext cx="916228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以会议助手为例。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其他AI会议产品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4944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4944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160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项目经理人工整理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320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199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199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2416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企业现有会议和协作软件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用户临时使用通用大模型，或者根本不整理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以上都是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73374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AI产品的竞争判断范围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AI产品首先要战胜用户已经习惯的工作方式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同类AI产品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功能、效果、价格与体验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人工方式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已知流程、灵活处理和责任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现有软件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已有数据、用户和协作入口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通用模型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低成本临时替代与自由组合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8472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不做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8472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问题的真实价值和改变习惯成本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判断结论：AI产品首先要战胜用户已经习惯的工作方式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04/16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393025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高级AI产品是否应该弱化AI存在感？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应该突出AI，让用户感知能力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不应该突出AI，用户只关心结果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高风险场景必须明确说明AI参与了什么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是否强调AI，要看它对用户决策和责任的影响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412677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AI存在感的两层判断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价值表达可以弱化技术，责任影响不能被隐藏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价值层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完成任务·稳定可靠·易修改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责任层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AI生成部分·信息依据·人工确认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执行层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执行动作·修改申诉·错误追溯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判断结论：价值表达可以弱化技术，责任影响不能被隐藏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05/16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432328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未来AI产品还需要页面和按钮吗？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不需要，全部变成聊天框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需要，聊天无法替代复杂产品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自然语言负责表达意图，界面负责检查和控制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Agent最终会在后台完成一切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产品价值与形态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451979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自然语言、Agent与界面的分工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自然语言表达意图，Agent执行任务，界面展示状态并控制风险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自然语言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表达目标·补充上下文·追问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规划·调用工具·执行·异常升级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比较·修改·状态·权限·来源·确认·撤销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判断结论：自然语言表达意图，Agent执行任务，界面展示状态并控制风险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06/16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471630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Agent究竟是什么？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一项更高级的软件功能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一套自动化Workflow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能够接受目标并执行任务的数字劳动力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现阶段主要还是营销概念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491282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Agent的四个行动层级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先决定系统被允许承担多少责任，再决定自主性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AI助手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生成与建议，用户完成后续动作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半自动执行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AI准备动作，用户确认后执行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受监督Agent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限定范围自动执行，人处理异常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052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20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高自主Agent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围绕目标规划并执行长任务链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判断结论：先决定系统被允许承担多少责任，再决定自主性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07/16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10933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Agent犯错应该由谁负责？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0561320" cy="640080"/>
          </a:xfrm>
          <a:prstGeom prst="roundRect">
            <a:avLst>
              <a:gd name="adj" fmla="val 20000"/>
            </a:avLst>
          </a:prstGeom>
          <a:solidFill>
            <a:srgbClr val="133843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39112"/>
            <a:ext cx="841248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975104"/>
            <a:ext cx="916228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会议助手错误创建正式任务，并影响了研发排期。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模型厂商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4944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4944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160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Agent产品公司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320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199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199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2416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使用Agent的企业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最终使用者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需要根据指令、产品设计、权限和确认流程具体划分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30584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Agent责任的拆解与控制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责任需要被提前设计进权限、确认、日志和回滚机制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五类错误来源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用户指令·模型·产品流程·工具系统·组织治理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最小权限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只授予完成当前任务必需的行动范围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分级确认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草稿、正式执行、修改和删除使用不同控制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052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20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可追溯与回滚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执行前可见，执行后有日志，可暂停撤销和人工接管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判断结论：责任需要被提前设计进权限、确认、日志和回滚机制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08/16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50236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AI提升效率以后，人类工作会减少吗？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工作量明显减少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企业会安排员工完成更多任务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部分任务减少，但监督、评测和治理工作增加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取决于企业是否重新设计流程和岗位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Agent与组织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69887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AI效率怎样进入组织流程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真正的效率来自重新设计人、AI和组织的分工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可能减少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信息搜集·初稿·整理·录入·固定操作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可能增加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标准·数据·评测·监督·权限·异常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低效叠加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AI一遍·人工一遍·旧流程再一遍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052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20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流程重构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取消旧环节·设置确认·增加风险治理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判断结论：真正的效率来自重新设计人、AI和组织的分工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09/16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589538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AI产品应该按照什么收费？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0561320" cy="640080"/>
          </a:xfrm>
          <a:prstGeom prst="roundRect">
            <a:avLst>
              <a:gd name="adj" fmla="val 20000"/>
            </a:avLst>
          </a:prstGeom>
          <a:solidFill>
            <a:srgbClr val="133843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39112"/>
            <a:ext cx="841248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975104"/>
            <a:ext cx="916228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轻度用户每月5场会议，重度用户可能100场，每次都产生执行成本。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按账号收取固定月费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4944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4944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160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按会议时长、Token或调用次数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320" y="2715768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199" y="290779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199" y="290779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2416" y="2871216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按完成的会议和任务计费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按最终节省的人工成本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33088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32511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32511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288536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基础订阅＋使用量或结果的混合收费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09189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AI产品定价的三个判断单位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成本单位、价值单位和收费单位需要相互匹配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成本单位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每分钟语音·每次搜索·每次人工复核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价值单位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一场会议·一份报告·一个解决的工单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收费单位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账号·调用·任务·结果·组合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判断结论：成本单位、价值单位和收费单位需要相互匹配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10/16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288411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数据是不是AI产品的护城河？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是，数据越多壁垒越高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4944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4944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160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不一定，大量数据未必能够改善产品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199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199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416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只有独家数据才有价值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9344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数据必须合法、相关、可使用并进入改进闭环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模型越来越强以后，数据不再重要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48492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可能形成数据壁垒的五个条件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壁垒来自持续获得任务反馈，并把它转化为产品改进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任务相关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直接反映产品的核心工作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结果可判断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有可信标准，知道成功或失败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合法使用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权限、隐私、用途和保留符合要求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持续产生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真实任务持续进入产品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8472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进入改进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8472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反馈进入Bad Case、评测集与回归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判断结论：壁垒来自持续获得任务反馈，并把它转化为产品改进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11/16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68143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AI能力应该自研、采购还是组合建设？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28800"/>
            <a:ext cx="10561320" cy="640080"/>
          </a:xfrm>
          <a:prstGeom prst="roundRect">
            <a:avLst>
              <a:gd name="adj" fmla="val 20000"/>
            </a:avLst>
          </a:prstGeom>
          <a:solidFill>
            <a:srgbClr val="133843"/>
          </a:solidFill>
          <a:ln w="755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93392"/>
            <a:ext cx="932688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1929384"/>
            <a:ext cx="910742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市场已有成熟转写和会议摘要；企业有自己的项目权限、历史决策资料和审批流程。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全部自研，包括
模型和语音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4944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4944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160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全部采购成熟会议产品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4320" y="2688336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199" y="288036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199" y="288036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2416" y="2843784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使用通用模型和转写服务，自建差异化流程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6464" y="4105656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9344" y="429768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429768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261104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使用开源模型私有化，
自研全部系统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105656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429768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9768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8896" y="4261104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根据安全、规模、差异化和团队能力综合判断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623560"/>
            <a:ext cx="105156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先选择，再用“差异化 · 安全 · 规模成本 · 持续能力”检查自己的理由。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商业与建设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687795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自研与采购的判断框架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通用能力可以采购，业务标准和差异化流程必须掌握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差异化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这项能力是否直接决定产品竞争力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数据与安全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能否传输、存储、部署和审计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规模与总成本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采购、开发、维护和迁移的长期成本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1052" y="3790187"/>
            <a:ext cx="5180076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2220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2220" y="4229100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持续能力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668012"/>
            <a:ext cx="4777740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团队是否能长期建设、评测和维护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判断结论：通用能力可以采购，业务标准和差异化流程必须掌握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12/16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07446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AI生成PRD、原型和代码以后，产品经理还剩什么？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产品经理的价值会大幅下降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4944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4944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160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产品经理需要逐步转向开发工作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1883664"/>
            <a:ext cx="3416808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199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199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416" y="2039112"/>
            <a:ext cx="2429256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产品经理主要负责使用和管理AI工具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9344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产出成本下降，问题判断、验证和责任价值上升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300984"/>
            <a:ext cx="4334256" cy="1188720"/>
          </a:xfrm>
          <a:prstGeom prst="roundRect">
            <a:avLst>
              <a:gd name="adj" fmla="val 123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49300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456432"/>
            <a:ext cx="3346704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取决于产品经理原来主要在做什么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27097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AI时代产品经理的工作重心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AI能生成候选材料，但不能替企业承担完整产品决策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被压缩的产出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搜集·归纳·文档·原型·简单代码·初稿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仍需承担的判断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问题·证据·方案·结果·商业·责任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PRD的新价值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从‘会写’转向‘决策是否严谨与可执行’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判断结论：AI能生成候选材料，但不能替企业承担完整产品决策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13/16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46748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“AI产品经理”这个岗位名称会不会消失？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会，未来所有产品经理都需要懂AI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不会，AI产品经理会长期成为独立岗位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基础AI能力会普及，但复杂AI岗位仍会专业化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取决于行业和产品类型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66400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AI基础能力与专业岗位的分化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岗位名称可能变化，AI产品判断会成为更普遍的基础能力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普遍基础能力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AI场景·人机边界·评测·Bad Case·成本·风险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仍需专业化的方向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模型与评测平台·Agent·数据知识·高风险行业·私有化·多模态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判断结论：岗位名称可能变化，AI产品判断会成为更普遍的基础能力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14/16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7860514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通用AI产品经理和行业专家谁更有竞争力？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通用AI产品经理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行业专家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懂行业并补齐AI产品能力的人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懂AI技术再进入具体行业的人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805702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行业资产与AI产品能力的组合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更现实的竞争力来自行业资产、产品判断和AI理解的组合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行业与业务资产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用户·流程·风险·数据·人脉·项目机会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产品判断能力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问题·证据·方案·评测·价值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3538728"/>
          </a:xfrm>
          <a:prstGeom prst="roundRect">
            <a:avLst>
              <a:gd name="adj" fmla="val 432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AI能力理解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Prompt·Workflow·RAG·Agent·模型边界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判断结论：更现实的竞争力来自行业资产、产品判断和AI理解的组合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15/16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825354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AI时代还需要初级产品经理吗？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不需要，基础工作都能被AI完成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需要，但初级岗位要求会提高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需要，组织仍然需要培养人才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初级岗位可能减少，但不会完全消失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845005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初级产品经理的新能力门槛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初级岗位不会简单消失，但只依赖基础执行的岗位可能减少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更容易被AI辅助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信息整理·竞品·基础需求·简单原型·纪要·汇报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更早需要证明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具体问题·AI判断·结果检查·评测·Demo·Bad Case·小闭环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判断结论：初级岗位不会简单消失，但只依赖基础执行的岗位可能减少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 16/16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864656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未来会不会出现“一人产品团队”？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请选择最接近你判断的一项，再说明理由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会，一个人可以完成产品、设计、开发和运营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83664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075688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075688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039112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不会，产品永远需要完整团队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一个人完成产品验证越来越可行，但规模化仍需团队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465576"/>
            <a:ext cx="5138928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3657600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657600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621024"/>
            <a:ext cx="4151376" cy="104241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只适用于独立开发者和小工具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第二部分 · 讨论解析 · 职业与个人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884307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个人验证与规模化交付的边界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一个人更可能成为验证团队，而非完整的规模化交付团队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AI让个人更容易完成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调研·PRD·原型·页面·简单开发·测试·分析·演示部署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1911095"/>
            <a:ext cx="5180076" cy="3538728"/>
          </a:xfrm>
          <a:prstGeom prst="roundRect">
            <a:avLst>
              <a:gd name="adj" fmla="val 41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350008"/>
            <a:ext cx="477774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规模化仍需专业团队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788920"/>
            <a:ext cx="4777740" cy="253288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架构·性能·安全·权限·法务·运维·销售·支持·持续运营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判断结论：一个人更可能成为验证团队，而非完整的规模化交付团队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章节导航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03959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07008"/>
            <a:ext cx="329184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65376"/>
            <a:ext cx="9966960" cy="6583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2E9"/>
                </a:solidFill>
                <a:latin typeface="Helvetica Neue"/>
                <a:ea typeface="Hiragino Sans GB"/>
              </a:rPr>
              <a:t>怎样把能力变成真正的项目？</a:t>
            </a:r>
          </a:p>
        </p:txBody>
      </p:sp>
      <p:sp>
        <p:nvSpPr>
          <p:cNvPr id="8" name="deckkit-motif-quiet"/>
          <p:cNvSpPr/>
          <p:nvPr/>
        </p:nvSpPr>
        <p:spPr>
          <a:xfrm>
            <a:off x="804672" y="2743200"/>
            <a:ext cx="2331720" cy="50292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82112"/>
            <a:ext cx="987552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7B5BC"/>
                </a:solidFill>
                <a:latin typeface="Helvetica Neue"/>
                <a:ea typeface="Hiragino Sans GB"/>
              </a:rPr>
              <a:t>第二阶段不再围绕课程章节推进，而是围绕一个项目持续评审和迭代。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完整项目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版本迭代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0C565"/>
                </a:solidFill>
                <a:latin typeface="Helvetica Neue"/>
                <a:ea typeface="Hiragino Sans GB"/>
              </a:rPr>
              <a:t>评审反馈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251960"/>
            <a:ext cx="1444752" cy="530352"/>
          </a:xfrm>
          <a:prstGeom prst="roundRect">
            <a:avLst>
              <a:gd name="adj" fmla="val 27586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4251960"/>
            <a:ext cx="1444752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职业证据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项目班定位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23610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下一阶段，你最希望解决哪一个问题？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请选择目前最真实的缺口，再看项目班怎样回应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3416808" cy="1005840"/>
          </a:xfrm>
          <a:prstGeom prst="roundRect">
            <a:avLst>
              <a:gd name="adj" fmla="val 1454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66543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029967"/>
            <a:ext cx="2429256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还想理解更多概念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064" y="1874519"/>
            <a:ext cx="3416808" cy="1005840"/>
          </a:xfrm>
          <a:prstGeom prst="roundRect">
            <a:avLst>
              <a:gd name="adj" fmla="val 1454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4944" y="2066543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4944" y="2066543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0160" y="2029967"/>
            <a:ext cx="2429256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还想学习更多工具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4320" y="1874519"/>
            <a:ext cx="3416808" cy="1005840"/>
          </a:xfrm>
          <a:prstGeom prst="roundRect">
            <a:avLst>
              <a:gd name="adj" fmla="val 1454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77199" y="2066543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7199" y="2066543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2416" y="2029967"/>
            <a:ext cx="2429256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想完成一个完整的个人AI项目闭环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26464" y="3081528"/>
            <a:ext cx="4334256" cy="1005840"/>
          </a:xfrm>
          <a:prstGeom prst="roundRect">
            <a:avLst>
              <a:gd name="adj" fmla="val 1454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9344" y="327355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327355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236976"/>
            <a:ext cx="3346704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想形成简历、作品集和面试材料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81528"/>
            <a:ext cx="4334256" cy="1005840"/>
          </a:xfrm>
          <a:prstGeom prst="roundRect">
            <a:avLst>
              <a:gd name="adj" fmla="val 1454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3273552"/>
            <a:ext cx="438912" cy="438912"/>
          </a:xfrm>
          <a:prstGeom prst="roundRect">
            <a:avLst>
              <a:gd name="adj" fmla="val 29166"/>
            </a:avLst>
          </a:prstGeom>
          <a:solidFill>
            <a:srgbClr val="133843"/>
          </a:solidFill>
          <a:ln w="809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273552"/>
            <a:ext cx="438912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3236976"/>
            <a:ext cx="3346704" cy="69494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想找到更明确的职业与项目方向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617720"/>
            <a:ext cx="10058400" cy="658368"/>
          </a:xfrm>
          <a:prstGeom prst="roundRect">
            <a:avLst>
              <a:gd name="adj" fmla="val 22222"/>
            </a:avLst>
          </a:prstGeom>
          <a:solidFill>
            <a:srgbClr val="133843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5296" y="4800600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第一阶段 · 懂不懂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800600"/>
            <a:ext cx="24231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0C565"/>
                </a:solidFill>
                <a:latin typeface="Helvetica Neue"/>
                <a:ea typeface="Hiragino Sans GB"/>
              </a:rPr>
              <a:t>第二阶段 · 做没做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800600"/>
            <a:ext cx="29718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职业表达 · 讲不讲得清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319272" y="4855464"/>
            <a:ext cx="50292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6190488" y="4855464"/>
            <a:ext cx="50292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阶段目标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下一阶段不是再听更多知识，而是把知识变成项目与职业证据。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为什么需要项目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432617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理解为什么不等于真正做过？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完整项目会迫使每一个判断彼此连接，并接受真实约束。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用户与问题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有无证据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585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702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02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AI介入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02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是否合理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190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30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07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范围取舍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7958" y="1920240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912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9126" y="2359152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PRD原型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9126" y="2798064"/>
            <a:ext cx="2100834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流程异常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真实运行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585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702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702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702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结果标准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190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307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307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Bad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307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归因修改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07958" y="3675887"/>
            <a:ext cx="2503170" cy="1417320"/>
          </a:xfrm>
          <a:prstGeom prst="roundRect">
            <a:avLst>
              <a:gd name="adj" fmla="val 1032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912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9126" y="4114800"/>
            <a:ext cx="210083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成本价值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9126" y="4553712"/>
            <a:ext cx="2100834" cy="41147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继续判断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串联关系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只有走完整条链，才会暴露单点练习看不到的矛盾。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项目班定位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629130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第一阶段与项目班｜学习方式发生什么变化？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从学习共同方法，转向在真实约束中完成一个项目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1627632" cy="603504"/>
          </a:xfrm>
          <a:prstGeom prst="roundRect">
            <a:avLst>
              <a:gd name="adj" fmla="val 18181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1408176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6D6C2"/>
                </a:solidFill>
                <a:latin typeface="Helvetica Neue"/>
                <a:ea typeface="Hiragino Sans GB"/>
              </a:rPr>
              <a:t>维度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901952"/>
            <a:ext cx="3931920" cy="603504"/>
          </a:xfrm>
          <a:prstGeom prst="roundRect">
            <a:avLst>
              <a:gd name="adj" fmla="val 18181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901952"/>
            <a:ext cx="3712463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7B5BC"/>
                </a:solidFill>
                <a:latin typeface="Helvetica Neue"/>
                <a:ea typeface="Hiragino Sans GB"/>
              </a:rPr>
              <a:t>第一阶段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38544" y="1901952"/>
            <a:ext cx="4663440" cy="603504"/>
          </a:xfrm>
          <a:prstGeom prst="roundRect">
            <a:avLst>
              <a:gd name="adj" fmla="val 18181"/>
            </a:avLst>
          </a:prstGeom>
          <a:solidFill>
            <a:srgbClr val="133843"/>
          </a:solidFill>
          <a:ln w="10795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901952"/>
            <a:ext cx="4443983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7657"/>
                </a:solidFill>
                <a:latin typeface="Helvetica Neue"/>
                <a:ea typeface="Hiragino Sans GB"/>
              </a:rPr>
              <a:t>第二阶段项目班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651760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88336"/>
            <a:ext cx="1371600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elvetica Neue"/>
                <a:ea typeface="Hiragino Sans GB"/>
              </a:rPr>
              <a:t>核心问题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265176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688336"/>
            <a:ext cx="367588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这类AI产品怎样判断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544" y="26517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688336"/>
            <a:ext cx="440740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我的项目怎样真正推进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346704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83280"/>
            <a:ext cx="1371600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elvetica Neue"/>
                <a:ea typeface="Hiragino Sans GB"/>
              </a:rPr>
              <a:t>学习方式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2032" y="334670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3383280"/>
            <a:ext cx="367588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课程讲解＋局部练习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8544" y="334670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3383280"/>
            <a:ext cx="440740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评审＋修改＋版本推进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41648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078224"/>
            <a:ext cx="1371600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elvetica Neue"/>
                <a:ea typeface="Hiragino Sans GB"/>
              </a:rPr>
              <a:t>主要产出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42032" y="40416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048" y="4078224"/>
            <a:ext cx="367588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方法、练习与单点材料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8544" y="404164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02B37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59" y="4078224"/>
            <a:ext cx="440740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完整PRD、原型、Demo、评测与复盘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736592"/>
            <a:ext cx="1627632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773168"/>
            <a:ext cx="1371600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6D6C2"/>
                </a:solidFill>
                <a:latin typeface="Helvetica Neue"/>
                <a:ea typeface="Hiragino Sans GB"/>
              </a:rPr>
              <a:t>完成标准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42032" y="473659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0048" y="4773168"/>
            <a:ext cx="367588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理解并能够应用框架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38544" y="473659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3843"/>
          </a:solidFill>
          <a:ln w="593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59" y="4773168"/>
            <a:ext cx="4407407" cy="49377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5F2E9"/>
                </a:solidFill>
                <a:latin typeface="Helvetica Neue"/>
                <a:ea typeface="Hiragino Sans GB"/>
              </a:rPr>
              <a:t>形成可展示、可追溯的项目证据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项目班的重点不是交作业，而是在评审和修改中完成真实产品决策。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项目设置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9825643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一个公共项目＋一个个人方向项目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公共项目保证共同训练，个人项目让能力连接真实行业和职业方向。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公共项目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同一业务背景和基础材料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课堂统一评审关键决策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便于横向比较不同方案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训练完整推进方法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个人方向项目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来自自己的行业或兴趣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沉淀个人独特业务资产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形成作品集差异化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可继续用于求职或创业验证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核心区别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共同项目学方法，个人项目形成方向与差异化。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协作方式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022156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小组协作与六步推进节奏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项目不是课后独立消化，而是在固定节奏里持续输出、评审和修改。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6D6C2"/>
                </a:solidFill>
                <a:latin typeface="Helvetica Neue"/>
                <a:ea typeface="Hiragino Sans GB"/>
              </a:rPr>
              <a:t>小组协作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角色分工但共同负责结果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438144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3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课前提交本轮版本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995927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04487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课堂说明关键判断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4553712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462272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elvetica Neue"/>
                <a:ea typeface="Hiragino Sans GB"/>
              </a:rPr>
              <a:t>保留分歧和修改原因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166360" cy="3438144"/>
          </a:xfrm>
          <a:prstGeom prst="roundRect">
            <a:avLst>
              <a:gd name="adj" fmla="val 4255"/>
            </a:avLst>
          </a:prstGeom>
          <a:solidFill>
            <a:srgbClr val="133843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67128"/>
            <a:ext cx="4526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7657"/>
                </a:solidFill>
                <a:latin typeface="Helvetica Neue"/>
                <a:ea typeface="Hiragino Sans GB"/>
              </a:rPr>
              <a:t>六步循环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28803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7889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学习任务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29184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320040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小组产出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370332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361188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课堂评审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4224" y="411480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02336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修改版本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452628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2824" y="443484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回归验证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4937760"/>
            <a:ext cx="100584" cy="100584"/>
          </a:xfrm>
          <a:prstGeom prst="roundRect">
            <a:avLst>
              <a:gd name="adj" fmla="val 45454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2824" y="4846320"/>
            <a:ext cx="4261104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2E9"/>
                </a:solidFill>
                <a:latin typeface="Helvetica Neue"/>
                <a:ea typeface="Hiragino Sans GB"/>
              </a:rPr>
              <a:t>复盘归档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核心区别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每一轮都要有可见版本：产出—评审—修改—验证。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项目案例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218669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企业AI知识库｜一个项目怎样逐步长出来？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用同一个案例观察：项目不是一次写完，而是连续做出选择。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最初想法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做企业知识库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09444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28316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9484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真实场景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9484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销售售前找资料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87952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6824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检索＋回答＋引用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6460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5332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0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权限·来源·无答案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744968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63840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问题集·命中·引用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523476" y="2898648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2348" y="2148840"/>
            <a:ext cx="1668780" cy="2148840"/>
          </a:xfrm>
          <a:prstGeom prst="roundRect">
            <a:avLst>
              <a:gd name="adj" fmla="val 876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3516" y="22951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3516" y="2587752"/>
            <a:ext cx="12664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elvetica Neue"/>
                <a:ea typeface="Hiragino Sans GB"/>
              </a:rPr>
              <a:t>Bad Case迭代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3516" y="3026664"/>
            <a:ext cx="1266444" cy="11430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7B5BC"/>
                </a:solidFill>
                <a:latin typeface="Helvetica Neue"/>
                <a:ea typeface="Hiragino Sans GB"/>
              </a:rPr>
              <a:t>数据·召回·流程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串联关系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项目价值来自每一次被证据推动的范围和方案调整。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第二阶段项目班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415182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项目路径｜从选题到展示的七个阶段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每一阶段的产出都会进入同一个项目，并保留修改证据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选题与验证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用户·场景·问题证据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7550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31286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2454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2454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AI介入与MVP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2454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人机分工·范围取舍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39028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2764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932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PRD与原型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流程·状态·验收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20506" y="2414016"/>
            <a:ext cx="201168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94242" y="1920240"/>
            <a:ext cx="2516886" cy="1325880"/>
          </a:xfrm>
          <a:prstGeom prst="roundRect">
            <a:avLst>
              <a:gd name="adj" fmla="val 11034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5410" y="2066544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5410" y="2359152"/>
            <a:ext cx="211455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可运行Demo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5410" y="2798064"/>
            <a:ext cx="211455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正常·异常·确认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61872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39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39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评测与Bad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39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评测集·指标·错误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279392" y="418795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8888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迭代、成本与价值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回归·模型·ROI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635240" y="418795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973567" y="3675887"/>
            <a:ext cx="2971800" cy="1353312"/>
          </a:xfrm>
          <a:prstGeom prst="roundRect">
            <a:avLst>
              <a:gd name="adj" fmla="val 10810"/>
            </a:avLst>
          </a:prstGeom>
          <a:solidFill>
            <a:srgbClr val="133843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8221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256946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2E9"/>
                </a:solidFill>
                <a:latin typeface="Helvetica Neue"/>
                <a:ea typeface="Hiragino Sans GB"/>
              </a:rPr>
              <a:t>展示与复盘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4553712"/>
            <a:ext cx="2569464" cy="347471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7B5BC"/>
                </a:solidFill>
                <a:latin typeface="Helvetica Neue"/>
                <a:ea typeface="Hiragino Sans GB"/>
              </a:rPr>
              <a:t>证据链·贡献·讲述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版本意识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保留 V0.1、V0.2、V1.0 与修改原因，项目能力才能被看见。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最终交付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611695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"/>
            <a:ext cx="10716768" cy="6217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2E9"/>
                </a:solidFill>
                <a:latin typeface="Helvetica Neue"/>
                <a:ea typeface="Hiragino Sans GB"/>
              </a:rPr>
              <a:t>完成项目班后，你会留下哪些正式材料？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52728"/>
            <a:ext cx="1325880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elvetica Neue"/>
                <a:ea typeface="Hiragino Sans GB"/>
              </a:rPr>
              <a:t>最终材料不仅要完整，还要能说明你为什么这样判断、怎样修改。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研究与选题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用户、场景、流程与问题证据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8472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8472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产品定义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472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MVP、PRD、人机分工与验收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1911095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5968" y="2057400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2350008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产品表达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2788920"/>
            <a:ext cx="2983992" cy="6537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原型、流程、状态与可运行Demo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8D391"/>
                </a:solidFill>
                <a:latin typeface="Helvetica Neue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效果证据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评测集、指标、Bad Case与回归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8472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969"/>
                </a:solidFill>
                <a:latin typeface="Helvetica Neue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8472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商业判断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8472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模型选型、成本、风险与ROI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4800" y="3790187"/>
            <a:ext cx="3386328" cy="1659636"/>
          </a:xfrm>
          <a:prstGeom prst="roundRect">
            <a:avLst>
              <a:gd name="adj" fmla="val 8815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5968" y="3936491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5968" y="4229100"/>
            <a:ext cx="29839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2E9"/>
                </a:solidFill>
                <a:latin typeface="Helvetica Neue"/>
                <a:ea typeface="Hiragino Sans GB"/>
              </a:rPr>
              <a:t>职业表达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5968" y="4668012"/>
            <a:ext cx="2983992" cy="65379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B5BC"/>
                </a:solidFill>
                <a:latin typeface="Helvetica Neue"/>
                <a:ea typeface="Hiragino Sans GB"/>
              </a:rPr>
              <a:t>作品集、项目复盘、个人贡献与答辩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9864"/>
            <a:ext cx="10716768" cy="530352"/>
          </a:xfrm>
          <a:prstGeom prst="roundRect">
            <a:avLst>
              <a:gd name="adj" fmla="val 24137"/>
            </a:avLst>
          </a:prstGeom>
          <a:solidFill>
            <a:srgbClr val="133843"/>
          </a:solidFill>
          <a:ln w="6477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897879"/>
            <a:ext cx="1097280" cy="228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elvetica Neue"/>
                <a:ea typeface="Hiragino Sans GB"/>
              </a:rPr>
              <a:t>判断框架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870448"/>
            <a:ext cx="9079992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2E9"/>
                </a:solidFill>
                <a:latin typeface="Helvetica Neue"/>
                <a:ea typeface="Hiragino Sans GB"/>
              </a:rPr>
              <a:t>一套完整材料，要同时证明判断、交付、验证、价值和表达。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228600"/>
            <a:ext cx="905256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第三部分 · 课程收尾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91088" y="228600"/>
            <a:ext cx="5120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elvetica Neue"/>
                <a:ea typeface="Hiragino Sans GB"/>
              </a:rPr>
              <a:t>55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65392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19672"/>
            <a:ext cx="10808208" cy="3291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804672"/>
            <a:ext cx="1014984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5F2E9"/>
                </a:solidFill>
                <a:latin typeface="Helvetica Neue"/>
                <a:ea typeface="Hiragino Sans GB"/>
              </a:rPr>
              <a:t>下一步｜用项目证明自己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996696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7B5BC"/>
                </a:solidFill>
                <a:latin typeface="Helvetica Neue"/>
                <a:ea typeface="Hiragino Sans GB"/>
              </a:rPr>
              <a:t>把判断变成项目，把项目变成证据，把证据变成机会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59152"/>
            <a:ext cx="3383280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05456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6D6C2"/>
                </a:solidFill>
                <a:latin typeface="Helvetica Neue"/>
                <a:ea typeface="Hiragino Sans GB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98064"/>
            <a:ext cx="29809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36976"/>
            <a:ext cx="2980944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真实时间
持续修改
接受评审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359152"/>
            <a:ext cx="3383280" cy="1993392"/>
          </a:xfrm>
          <a:prstGeom prst="roundRect">
            <a:avLst>
              <a:gd name="adj" fmla="val 733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505456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C565"/>
                </a:solidFill>
                <a:latin typeface="Helvetica Neue"/>
                <a:ea typeface="Hiragino Sans GB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98064"/>
            <a:ext cx="29809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获得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236976"/>
            <a:ext cx="2980944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完整项目
方法证据
职业表达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59152"/>
            <a:ext cx="3383280" cy="1993392"/>
          </a:xfrm>
          <a:prstGeom prst="roundRect">
            <a:avLst>
              <a:gd name="adj" fmla="val 7339"/>
            </a:avLst>
          </a:prstGeom>
          <a:solidFill>
            <a:srgbClr val="133843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05456"/>
            <a:ext cx="45720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657"/>
                </a:solidFill>
                <a:latin typeface="Helvetica Neue"/>
                <a:ea typeface="Hiragino Sans GB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98064"/>
            <a:ext cx="2980944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elvetica Neue"/>
                <a:ea typeface="Hiragino Sans GB"/>
              </a:rPr>
              <a:t>带走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36976"/>
            <a:ext cx="2980944" cy="98755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7B5BC"/>
                </a:solidFill>
                <a:latin typeface="Helvetica Neue"/>
                <a:ea typeface="Hiragino Sans GB"/>
              </a:rPr>
              <a:t>判断力
交付力
可信度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736592"/>
            <a:ext cx="10771632" cy="859536"/>
          </a:xfrm>
          <a:prstGeom prst="roundRect">
            <a:avLst>
              <a:gd name="adj" fmla="val 17021"/>
            </a:avLst>
          </a:prstGeom>
          <a:solidFill>
            <a:srgbClr val="133843"/>
          </a:solidFill>
          <a:ln w="917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82896"/>
            <a:ext cx="10259568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5F2E9"/>
                </a:solidFill>
                <a:latin typeface="Helvetica Neue"/>
                <a:ea typeface="Hiragino Sans GB"/>
              </a:rPr>
              <a:t>第一阶段：我知道怎样判断  →  第二阶段：我真正做过  →  下一步：我能够清楚证明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44184"/>
            <a:ext cx="1069848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elvetica Neue"/>
                <a:ea typeface="Hiragino Sans GB"/>
              </a:rPr>
              <a:t>THE NEXT STEP IS NOT MORE KNOWLEDGE. IT IS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