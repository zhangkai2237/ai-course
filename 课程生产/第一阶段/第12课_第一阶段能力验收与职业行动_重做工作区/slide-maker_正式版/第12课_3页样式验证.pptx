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这一页把前11课串起来。以营销内容审核为例：如果从‘完全自动发布’改为‘AI识别风险，人工决定是否修改’，那么产品流程会新增风险等级、原文引用、修改建议和人工确认；评测需要同时看高风险漏判和误判；成本也要把人工复核算进去。说明上游的产品判断会一直传导到最后的商业判断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第一部分·四｜五项能力是一条因果链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不公布答案。请学员投票，再问一位选择全部自研、一位选择组合建设的学员说明理由。后续讲解时比较四个维度：能力是否形成差异化；数据和安全要求；使用规模和长期总成本；企业是否有持续建设和维护能力。讨论页上的所有选项必须保持中性，不用颜色或高亮提前暗示结论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第四部分·三｜自研、采购还是组合建设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七个阶段不是七份彼此无关的作业。选题阶段形成用户、场景、流程和问题证据；AI介入阶段形成人机分工、技术选择和MVP；PRD与原型阶段定义输入输出、异常和验收；Demo必须覆盖正常与错误状态；评测阶段建立评测集并分析Bad Case；然后用回归评测、成本和ROI判断项目价值；最后形成展示材料、证据链和个人贡献。项目班的价值不只是最终文档，而是看见一个项目怎样被评审和修改出来。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第六部分·八｜项目推进的七个阶段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第一部分 · 第一阶段能力回顾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1965128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方法总览｜五项能力怎样形成因果链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上游决策会一直影响到评测、成本和是否继续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54065" y="257860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103120"/>
            <a:ext cx="1413401" cy="1417320"/>
          </a:xfrm>
          <a:prstGeom prst="roundRect">
            <a:avLst>
              <a:gd name="adj" fmla="val 1035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24942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542032"/>
            <a:ext cx="101106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业务问题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80944"/>
            <a:ext cx="1011065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谁的什么任务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77194" y="257860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72937" y="2103120"/>
            <a:ext cx="1413401" cy="1417320"/>
          </a:xfrm>
          <a:prstGeom prst="roundRect">
            <a:avLst>
              <a:gd name="adj" fmla="val 1035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74105" y="224942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4105" y="2542032"/>
            <a:ext cx="101106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产品目标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74105" y="2980944"/>
            <a:ext cx="1011065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改善什么结果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00323" y="257860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96066" y="2103120"/>
            <a:ext cx="1413401" cy="1417320"/>
          </a:xfrm>
          <a:prstGeom prst="roundRect">
            <a:avLst>
              <a:gd name="adj" fmla="val 1035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7234" y="224942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7234" y="2542032"/>
            <a:ext cx="101106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AI方案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7234" y="2980944"/>
            <a:ext cx="1011065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规则·模型·人工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723452" y="257860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19195" y="2103120"/>
            <a:ext cx="1413401" cy="1417320"/>
          </a:xfrm>
          <a:prstGeom prst="roundRect">
            <a:avLst>
              <a:gd name="adj" fmla="val 1035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20363" y="224942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0363" y="2542032"/>
            <a:ext cx="101106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产品流程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0363" y="2980944"/>
            <a:ext cx="1011065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输入·状态·异常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246581" y="257860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42324" y="2103120"/>
            <a:ext cx="1413401" cy="1417320"/>
          </a:xfrm>
          <a:prstGeom prst="roundRect">
            <a:avLst>
              <a:gd name="adj" fmla="val 1035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3492" y="224942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3492" y="2542032"/>
            <a:ext cx="101106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评测方式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3492" y="2980944"/>
            <a:ext cx="1011065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数据·指标·风险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769710" y="257860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65453" y="2103120"/>
            <a:ext cx="1413401" cy="1417320"/>
          </a:xfrm>
          <a:prstGeom prst="roundRect">
            <a:avLst>
              <a:gd name="adj" fmla="val 1035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66621" y="224942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6621" y="2542032"/>
            <a:ext cx="101106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模型与迭代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6621" y="2980944"/>
            <a:ext cx="1011065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Bad Case·回归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88582" y="2103120"/>
            <a:ext cx="1413401" cy="1417320"/>
          </a:xfrm>
          <a:prstGeom prst="roundRect">
            <a:avLst>
              <a:gd name="adj" fmla="val 1035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89750" y="224942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89750" y="2542032"/>
            <a:ext cx="101106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成本和价值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89750" y="2980944"/>
            <a:ext cx="1011065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ROI·继续条件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" y="3995928"/>
            <a:ext cx="10131552" cy="1005840"/>
          </a:xfrm>
          <a:prstGeom prst="roundRect">
            <a:avLst>
              <a:gd name="adj" fmla="val 14545"/>
            </a:avLst>
          </a:prstGeom>
          <a:solidFill>
            <a:srgbClr val="133843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34440" y="4224528"/>
            <a:ext cx="1920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elvetica Neue"/>
                <a:ea typeface="Hiragino Sans GB"/>
              </a:rPr>
              <a:t>一个改变的连锁反应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82112" y="4142232"/>
            <a:ext cx="7498079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人机分工改变 → 流程与PRD改变 → 评测集和指标改变 → 成本与上线判断改变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核心关系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前面五项能力不是五个知识点，而是一条完整决策链。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11/16 · 商业与建设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6681437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AI能力应该自研、采购还是组合建设？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28800"/>
            <a:ext cx="10561320" cy="640080"/>
          </a:xfrm>
          <a:prstGeom prst="roundRect">
            <a:avLst>
              <a:gd name="adj" fmla="val 20000"/>
            </a:avLst>
          </a:prstGeom>
          <a:solidFill>
            <a:srgbClr val="133843"/>
          </a:solidFill>
          <a:ln w="755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93392"/>
            <a:ext cx="932688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1929384"/>
            <a:ext cx="910742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市场已有成熟转写和会议摘要；企业有自己的项目权限、历史决策资料和审批流程。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688336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288036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88036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843784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全部自研，包括
模型和语音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064" y="2688336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04944" y="288036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4944" y="288036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0160" y="2843784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全部采购成熟会议产品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94320" y="2688336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77199" y="288036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7199" y="288036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2416" y="2843784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使用通用模型和转写服务，自建差异化流程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26464" y="4105656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09344" y="429768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9344" y="429768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261104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使用开源模型私有化，
自研全部系统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105656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0" y="429768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29768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4261104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elvetica Neue"/>
                <a:ea typeface="Hiragino Sans GB"/>
              </a:rPr>
              <a:t>根据安全、规模、差异化和团队能力判断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5623560"/>
            <a:ext cx="105156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先选择，再用“差异化 · 安全 · 规模成本 · 持续能力”检查自己的理由。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第三部分 · 第二阶段项目班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53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10415182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项目路径｜从选题到展示的七个阶段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每一阶段的产出都会进入同一个项目，并保留修改证据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20240"/>
            <a:ext cx="2516886" cy="1325880"/>
          </a:xfrm>
          <a:prstGeom prst="roundRect">
            <a:avLst>
              <a:gd name="adj" fmla="val 1103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9152"/>
            <a:ext cx="211455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选题与验证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145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用户·场景·问题证据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57550" y="2414016"/>
            <a:ext cx="201168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31286" y="1920240"/>
            <a:ext cx="2516886" cy="1325880"/>
          </a:xfrm>
          <a:prstGeom prst="roundRect">
            <a:avLst>
              <a:gd name="adj" fmla="val 1103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2454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2454" y="2359152"/>
            <a:ext cx="211455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AI介入与MVP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2454" y="2798064"/>
            <a:ext cx="21145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人机分工·范围取舍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39028" y="2414016"/>
            <a:ext cx="201168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12764" y="1920240"/>
            <a:ext cx="2516886" cy="1325880"/>
          </a:xfrm>
          <a:prstGeom prst="roundRect">
            <a:avLst>
              <a:gd name="adj" fmla="val 1103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3932" y="2359152"/>
            <a:ext cx="211455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PRD与原型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3932" y="2798064"/>
            <a:ext cx="21145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流程·状态·验收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20506" y="2414016"/>
            <a:ext cx="201168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94242" y="1920240"/>
            <a:ext cx="2516886" cy="1325880"/>
          </a:xfrm>
          <a:prstGeom prst="roundRect">
            <a:avLst>
              <a:gd name="adj" fmla="val 1103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5410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5410" y="2359152"/>
            <a:ext cx="211455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可运行Demo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5410" y="2798064"/>
            <a:ext cx="21145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正常·异常·确认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61872" y="3675887"/>
            <a:ext cx="2971800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39" y="38221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39" y="4114800"/>
            <a:ext cx="256946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评测与Bad 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39" y="4553712"/>
            <a:ext cx="2569464" cy="34747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评测集·指标·错误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279392" y="4187952"/>
            <a:ext cx="256032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17720" y="3675887"/>
            <a:ext cx="2971800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18888" y="38221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4114800"/>
            <a:ext cx="256946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迭代、成本与价值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4553712"/>
            <a:ext cx="2569464" cy="34747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回归·模型·ROI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635240" y="4187952"/>
            <a:ext cx="256032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73567" y="3675887"/>
            <a:ext cx="2971800" cy="1353312"/>
          </a:xfrm>
          <a:prstGeom prst="roundRect">
            <a:avLst>
              <a:gd name="adj" fmla="val 10810"/>
            </a:avLst>
          </a:prstGeom>
          <a:solidFill>
            <a:srgbClr val="133843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8221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256946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展示与复盘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4736" y="4553712"/>
            <a:ext cx="2569464" cy="34747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证据链·贡献·讲述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版本意识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保留 V0.1、V0.2、V1.0 与修改原因，项目能力才能被看见。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