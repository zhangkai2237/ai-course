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58f3f649b4654" /><Relationship Type="http://schemas.openxmlformats.org/officeDocument/2006/relationships/extended-properties" Target="/docProps/app.xml" Id="R0d432cb376384c31" /><Relationship Type="http://schemas.openxmlformats.org/officeDocument/2006/relationships/officeDocument" Target="/ppt/presentation.xml" Id="Rbb8088a1476745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eab17300f264ca7"/>
  </p:sldMasterIdLst>
  <p:notesMasterIdLst>
    <p:notesMasterId xmlns:r="http://schemas.openxmlformats.org/officeDocument/2006/relationships" r:id="R1e0fb0d3f72b4d55"/>
  </p:notesMasterIdLst>
  <p:sldIdLst>
    <p:sldId xmlns:r="http://schemas.openxmlformats.org/officeDocument/2006/relationships" id="256" r:id="Ra1c9f43c3c804d36"/>
    <p:sldId xmlns:r="http://schemas.openxmlformats.org/officeDocument/2006/relationships" id="257" r:id="R9011cd1c59f14385"/>
    <p:sldId xmlns:r="http://schemas.openxmlformats.org/officeDocument/2006/relationships" id="258" r:id="R4efe816775194944"/>
    <p:sldId xmlns:r="http://schemas.openxmlformats.org/officeDocument/2006/relationships" id="259" r:id="R913f473ffb7f4f3b"/>
    <p:sldId xmlns:r="http://schemas.openxmlformats.org/officeDocument/2006/relationships" id="260" r:id="R5d1c68f971504a6f"/>
    <p:sldId xmlns:r="http://schemas.openxmlformats.org/officeDocument/2006/relationships" id="261" r:id="R009ad6805c3b41f3"/>
    <p:sldId xmlns:r="http://schemas.openxmlformats.org/officeDocument/2006/relationships" id="262" r:id="R8c2ca6b3e8f947e4"/>
    <p:sldId xmlns:r="http://schemas.openxmlformats.org/officeDocument/2006/relationships" id="263" r:id="Rcc311921988e4947"/>
    <p:sldId xmlns:r="http://schemas.openxmlformats.org/officeDocument/2006/relationships" id="264" r:id="R93effce9bec747b4"/>
    <p:sldId xmlns:r="http://schemas.openxmlformats.org/officeDocument/2006/relationships" id="265" r:id="Re364360dc43e478a"/>
    <p:sldId xmlns:r="http://schemas.openxmlformats.org/officeDocument/2006/relationships" id="266" r:id="Re3c576c88770451e"/>
    <p:sldId xmlns:r="http://schemas.openxmlformats.org/officeDocument/2006/relationships" id="267" r:id="Ra53703b076774a84"/>
    <p:sldId xmlns:r="http://schemas.openxmlformats.org/officeDocument/2006/relationships" id="268" r:id="Rb501cef4248040d5"/>
    <p:sldId xmlns:r="http://schemas.openxmlformats.org/officeDocument/2006/relationships" id="269" r:id="Rd3e86c88f25a4934"/>
    <p:sldId xmlns:r="http://schemas.openxmlformats.org/officeDocument/2006/relationships" id="270" r:id="R15d1db0596e2467c"/>
    <p:sldId xmlns:r="http://schemas.openxmlformats.org/officeDocument/2006/relationships" id="271" r:id="R2115fb7e07324762"/>
    <p:sldId xmlns:r="http://schemas.openxmlformats.org/officeDocument/2006/relationships" id="272" r:id="Rebd6100bc6704857"/>
    <p:sldId xmlns:r="http://schemas.openxmlformats.org/officeDocument/2006/relationships" id="273" r:id="Reee48b992b774a50"/>
    <p:sldId xmlns:r="http://schemas.openxmlformats.org/officeDocument/2006/relationships" id="274" r:id="R6eb667ee1ae749a8"/>
    <p:sldId xmlns:r="http://schemas.openxmlformats.org/officeDocument/2006/relationships" id="275" r:id="Ra060eac20e0a46ef"/>
    <p:sldId xmlns:r="http://schemas.openxmlformats.org/officeDocument/2006/relationships" id="276" r:id="R82e68c0b8224497c"/>
    <p:sldId xmlns:r="http://schemas.openxmlformats.org/officeDocument/2006/relationships" id="277" r:id="R3495039422104aee"/>
    <p:sldId xmlns:r="http://schemas.openxmlformats.org/officeDocument/2006/relationships" id="278" r:id="Rfbcc3143a05c425b"/>
    <p:sldId xmlns:r="http://schemas.openxmlformats.org/officeDocument/2006/relationships" id="279" r:id="R7442e8f520154f5c"/>
    <p:sldId xmlns:r="http://schemas.openxmlformats.org/officeDocument/2006/relationships" id="280" r:id="R2d04fe91d6e742c8"/>
    <p:sldId xmlns:r="http://schemas.openxmlformats.org/officeDocument/2006/relationships" id="281" r:id="R9e42b4fb58914ca1"/>
    <p:sldId xmlns:r="http://schemas.openxmlformats.org/officeDocument/2006/relationships" id="282" r:id="R33273a91aedf4d74"/>
    <p:sldId xmlns:r="http://schemas.openxmlformats.org/officeDocument/2006/relationships" id="283" r:id="R95531d6be83942bb"/>
    <p:sldId xmlns:r="http://schemas.openxmlformats.org/officeDocument/2006/relationships" id="284" r:id="R248eed3b8db44bda"/>
    <p:sldId xmlns:r="http://schemas.openxmlformats.org/officeDocument/2006/relationships" id="285" r:id="Ra945f24878214a01"/>
    <p:sldId xmlns:r="http://schemas.openxmlformats.org/officeDocument/2006/relationships" id="286" r:id="Ra647c5f398eb49c2"/>
    <p:sldId xmlns:r="http://schemas.openxmlformats.org/officeDocument/2006/relationships" id="287" r:id="Rd11d9354208c480e"/>
    <p:sldId xmlns:r="http://schemas.openxmlformats.org/officeDocument/2006/relationships" id="288" r:id="R4a1e654552164bfe"/>
    <p:sldId xmlns:r="http://schemas.openxmlformats.org/officeDocument/2006/relationships" id="289" r:id="R82aa0864cc2c4fc5"/>
    <p:sldId xmlns:r="http://schemas.openxmlformats.org/officeDocument/2006/relationships" id="290" r:id="R8a3fcb5704a549e9"/>
    <p:sldId xmlns:r="http://schemas.openxmlformats.org/officeDocument/2006/relationships" id="291" r:id="Raaf8272c2ea84817"/>
    <p:sldId xmlns:r="http://schemas.openxmlformats.org/officeDocument/2006/relationships" id="292" r:id="R03fbb12e90094837"/>
    <p:sldId xmlns:r="http://schemas.openxmlformats.org/officeDocument/2006/relationships" id="293" r:id="R9cf980d6fdf94d22"/>
    <p:sldId xmlns:r="http://schemas.openxmlformats.org/officeDocument/2006/relationships" id="294" r:id="Rd77d990602604576"/>
    <p:sldId xmlns:r="http://schemas.openxmlformats.org/officeDocument/2006/relationships" id="295" r:id="R7916c4f382e34f2f"/>
    <p:sldId xmlns:r="http://schemas.openxmlformats.org/officeDocument/2006/relationships" id="296" r:id="R8c22e0da37344808"/>
    <p:sldId xmlns:r="http://schemas.openxmlformats.org/officeDocument/2006/relationships" id="297" r:id="R465fc0d15abb4fc5"/>
    <p:sldId xmlns:r="http://schemas.openxmlformats.org/officeDocument/2006/relationships" id="298" r:id="Rbff9725f8849430e"/>
    <p:sldId xmlns:r="http://schemas.openxmlformats.org/officeDocument/2006/relationships" id="299" r:id="R7e9febafa5f94834"/>
    <p:sldId xmlns:r="http://schemas.openxmlformats.org/officeDocument/2006/relationships" id="300" r:id="R19f640390e6e476f"/>
    <p:sldId xmlns:r="http://schemas.openxmlformats.org/officeDocument/2006/relationships" id="301" r:id="R8c5fb8a5b7174840"/>
    <p:sldId xmlns:r="http://schemas.openxmlformats.org/officeDocument/2006/relationships" id="302" r:id="Rf98a108c968d47b9"/>
    <p:sldId xmlns:r="http://schemas.openxmlformats.org/officeDocument/2006/relationships" id="303" r:id="R14296596de1d441f"/>
    <p:sldId xmlns:r="http://schemas.openxmlformats.org/officeDocument/2006/relationships" id="304" r:id="R6138d31c9ccf4a02"/>
    <p:sldId xmlns:r="http://schemas.openxmlformats.org/officeDocument/2006/relationships" id="305" r:id="Rd60f9c55500c4e1c"/>
    <p:sldId xmlns:r="http://schemas.openxmlformats.org/officeDocument/2006/relationships" id="306" r:id="Rfc884854deba46cc"/>
    <p:sldId xmlns:r="http://schemas.openxmlformats.org/officeDocument/2006/relationships" id="307" r:id="R5d7c15d23ca94de9"/>
    <p:sldId xmlns:r="http://schemas.openxmlformats.org/officeDocument/2006/relationships" id="308" r:id="Rbbfd822e956d41c5"/>
    <p:sldId xmlns:r="http://schemas.openxmlformats.org/officeDocument/2006/relationships" id="309" r:id="R5a8ae7e36fd04f47"/>
    <p:sldId xmlns:r="http://schemas.openxmlformats.org/officeDocument/2006/relationships" id="310" r:id="Rb92c33d568b64518"/>
    <p:sldId xmlns:r="http://schemas.openxmlformats.org/officeDocument/2006/relationships" id="311" r:id="Rf58a9563c01942c8"/>
    <p:sldId xmlns:r="http://schemas.openxmlformats.org/officeDocument/2006/relationships" id="312" r:id="R4b0cd76a757242e1"/>
    <p:sldId xmlns:r="http://schemas.openxmlformats.org/officeDocument/2006/relationships" id="313" r:id="R9e7e2f11daf042b2"/>
    <p:sldId xmlns:r="http://schemas.openxmlformats.org/officeDocument/2006/relationships" id="314" r:id="R96dd163f21e442a0"/>
    <p:sldId xmlns:r="http://schemas.openxmlformats.org/officeDocument/2006/relationships" id="315" r:id="Rda68ca3fd8e04e75"/>
    <p:sldId xmlns:r="http://schemas.openxmlformats.org/officeDocument/2006/relationships" id="316" r:id="R91a585c2ebd74f9d"/>
    <p:sldId xmlns:r="http://schemas.openxmlformats.org/officeDocument/2006/relationships" id="317" r:id="R0dee4f5e49224d54"/>
    <p:sldId xmlns:r="http://schemas.openxmlformats.org/officeDocument/2006/relationships" id="318" r:id="Rc87b6b2dcfb24554"/>
    <p:sldId xmlns:r="http://schemas.openxmlformats.org/officeDocument/2006/relationships" id="319" r:id="Rfb8959ecebf540db"/>
    <p:sldId xmlns:r="http://schemas.openxmlformats.org/officeDocument/2006/relationships" id="320" r:id="Rb8ed3787e5084fa9"/>
    <p:sldId xmlns:r="http://schemas.openxmlformats.org/officeDocument/2006/relationships" id="321" r:id="Rd9c6330e77be491f"/>
    <p:sldId xmlns:r="http://schemas.openxmlformats.org/officeDocument/2006/relationships" id="322" r:id="Rce4f913999bb4fdc"/>
    <p:sldId xmlns:r="http://schemas.openxmlformats.org/officeDocument/2006/relationships" id="323" r:id="R4a2f6d3b01074dba"/>
    <p:sldId xmlns:r="http://schemas.openxmlformats.org/officeDocument/2006/relationships" id="324" r:id="R86dd1ba87b8e4138"/>
    <p:sldId xmlns:r="http://schemas.openxmlformats.org/officeDocument/2006/relationships" id="325" r:id="Ra046f0e57b7d49f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1a972ba15744cd" /><Relationship Type="http://schemas.openxmlformats.org/officeDocument/2006/relationships/slideMaster" Target="/ppt/slideMasters/slideMaster1.xml" Id="Rceab17300f264ca7" /><Relationship Type="http://schemas.openxmlformats.org/officeDocument/2006/relationships/notesMaster" Target="/ppt/notesMasters/notesMaster1.xml" Id="R1e0fb0d3f72b4d55" /><Relationship Type="http://schemas.openxmlformats.org/officeDocument/2006/relationships/presProps" Target="/ppt/presProps.xml" Id="R1520e3908ea743d3" /><Relationship Type="http://schemas.openxmlformats.org/officeDocument/2006/relationships/tableStyles" Target="/ppt/tableStyles.xml" Id="Rb0fd5d788f764969" /><Relationship Type="http://schemas.openxmlformats.org/officeDocument/2006/relationships/slide" Target="/ppt/slides/slide1.xml" Id="Ra1c9f43c3c804d36" /><Relationship Type="http://schemas.openxmlformats.org/officeDocument/2006/relationships/slide" Target="/ppt/slides/slide2.xml" Id="R9011cd1c59f14385" /><Relationship Type="http://schemas.openxmlformats.org/officeDocument/2006/relationships/slide" Target="/ppt/slides/slide3.xml" Id="R4efe816775194944" /><Relationship Type="http://schemas.openxmlformats.org/officeDocument/2006/relationships/slide" Target="/ppt/slides/slide4.xml" Id="R913f473ffb7f4f3b" /><Relationship Type="http://schemas.openxmlformats.org/officeDocument/2006/relationships/slide" Target="/ppt/slides/slide5.xml" Id="R5d1c68f971504a6f" /><Relationship Type="http://schemas.openxmlformats.org/officeDocument/2006/relationships/slide" Target="/ppt/slides/slide6.xml" Id="R009ad6805c3b41f3" /><Relationship Type="http://schemas.openxmlformats.org/officeDocument/2006/relationships/slide" Target="/ppt/slides/slide7.xml" Id="R8c2ca6b3e8f947e4" /><Relationship Type="http://schemas.openxmlformats.org/officeDocument/2006/relationships/slide" Target="/ppt/slides/slide8.xml" Id="Rcc311921988e4947" /><Relationship Type="http://schemas.openxmlformats.org/officeDocument/2006/relationships/slide" Target="/ppt/slides/slide9.xml" Id="R93effce9bec747b4" /><Relationship Type="http://schemas.openxmlformats.org/officeDocument/2006/relationships/slide" Target="/ppt/slides/slide10.xml" Id="Re364360dc43e478a" /><Relationship Type="http://schemas.openxmlformats.org/officeDocument/2006/relationships/slide" Target="/ppt/slides/slide11.xml" Id="Re3c576c88770451e" /><Relationship Type="http://schemas.openxmlformats.org/officeDocument/2006/relationships/slide" Target="/ppt/slides/slide12.xml" Id="Ra53703b076774a84" /><Relationship Type="http://schemas.openxmlformats.org/officeDocument/2006/relationships/slide" Target="/ppt/slides/slide13.xml" Id="Rb501cef4248040d5" /><Relationship Type="http://schemas.openxmlformats.org/officeDocument/2006/relationships/slide" Target="/ppt/slides/slide14.xml" Id="Rd3e86c88f25a4934" /><Relationship Type="http://schemas.openxmlformats.org/officeDocument/2006/relationships/slide" Target="/ppt/slides/slide15.xml" Id="R15d1db0596e2467c" /><Relationship Type="http://schemas.openxmlformats.org/officeDocument/2006/relationships/slide" Target="/ppt/slides/slide16.xml" Id="R2115fb7e07324762" /><Relationship Type="http://schemas.openxmlformats.org/officeDocument/2006/relationships/slide" Target="/ppt/slides/slide17.xml" Id="Rebd6100bc6704857" /><Relationship Type="http://schemas.openxmlformats.org/officeDocument/2006/relationships/slide" Target="/ppt/slides/slide18.xml" Id="Reee48b992b774a50" /><Relationship Type="http://schemas.openxmlformats.org/officeDocument/2006/relationships/slide" Target="/ppt/slides/slide19.xml" Id="R6eb667ee1ae749a8" /><Relationship Type="http://schemas.openxmlformats.org/officeDocument/2006/relationships/slide" Target="/ppt/slides/slide20.xml" Id="Ra060eac20e0a46ef" /><Relationship Type="http://schemas.openxmlformats.org/officeDocument/2006/relationships/slide" Target="/ppt/slides/slide21.xml" Id="R82e68c0b8224497c" /><Relationship Type="http://schemas.openxmlformats.org/officeDocument/2006/relationships/slide" Target="/ppt/slides/slide22.xml" Id="R3495039422104aee" /><Relationship Type="http://schemas.openxmlformats.org/officeDocument/2006/relationships/slide" Target="/ppt/slides/slide23.xml" Id="Rfbcc3143a05c425b" /><Relationship Type="http://schemas.openxmlformats.org/officeDocument/2006/relationships/slide" Target="/ppt/slides/slide24.xml" Id="R7442e8f520154f5c" /><Relationship Type="http://schemas.openxmlformats.org/officeDocument/2006/relationships/slide" Target="/ppt/slides/slide25.xml" Id="R2d04fe91d6e742c8" /><Relationship Type="http://schemas.openxmlformats.org/officeDocument/2006/relationships/slide" Target="/ppt/slides/slide26.xml" Id="R9e42b4fb58914ca1" /><Relationship Type="http://schemas.openxmlformats.org/officeDocument/2006/relationships/slide" Target="/ppt/slides/slide27.xml" Id="R33273a91aedf4d74" /><Relationship Type="http://schemas.openxmlformats.org/officeDocument/2006/relationships/slide" Target="/ppt/slides/slide28.xml" Id="R95531d6be83942bb" /><Relationship Type="http://schemas.openxmlformats.org/officeDocument/2006/relationships/slide" Target="/ppt/slides/slide29.xml" Id="R248eed3b8db44bda" /><Relationship Type="http://schemas.openxmlformats.org/officeDocument/2006/relationships/slide" Target="/ppt/slides/slide30.xml" Id="Ra945f24878214a01" /><Relationship Type="http://schemas.openxmlformats.org/officeDocument/2006/relationships/slide" Target="/ppt/slides/slide31.xml" Id="Ra647c5f398eb49c2" /><Relationship Type="http://schemas.openxmlformats.org/officeDocument/2006/relationships/slide" Target="/ppt/slides/slide32.xml" Id="Rd11d9354208c480e" /><Relationship Type="http://schemas.openxmlformats.org/officeDocument/2006/relationships/slide" Target="/ppt/slides/slide33.xml" Id="R4a1e654552164bfe" /><Relationship Type="http://schemas.openxmlformats.org/officeDocument/2006/relationships/slide" Target="/ppt/slides/slide34.xml" Id="R82aa0864cc2c4fc5" /><Relationship Type="http://schemas.openxmlformats.org/officeDocument/2006/relationships/slide" Target="/ppt/slides/slide35.xml" Id="R8a3fcb5704a549e9" /><Relationship Type="http://schemas.openxmlformats.org/officeDocument/2006/relationships/slide" Target="/ppt/slides/slide36.xml" Id="Raaf8272c2ea84817" /><Relationship Type="http://schemas.openxmlformats.org/officeDocument/2006/relationships/slide" Target="/ppt/slides/slide37.xml" Id="R03fbb12e90094837" /><Relationship Type="http://schemas.openxmlformats.org/officeDocument/2006/relationships/slide" Target="/ppt/slides/slide38.xml" Id="R9cf980d6fdf94d22" /><Relationship Type="http://schemas.openxmlformats.org/officeDocument/2006/relationships/slide" Target="/ppt/slides/slide39.xml" Id="Rd77d990602604576" /><Relationship Type="http://schemas.openxmlformats.org/officeDocument/2006/relationships/slide" Target="/ppt/slides/slide40.xml" Id="R7916c4f382e34f2f" /><Relationship Type="http://schemas.openxmlformats.org/officeDocument/2006/relationships/slide" Target="/ppt/slides/slide41.xml" Id="R8c22e0da37344808" /><Relationship Type="http://schemas.openxmlformats.org/officeDocument/2006/relationships/slide" Target="/ppt/slides/slide42.xml" Id="R465fc0d15abb4fc5" /><Relationship Type="http://schemas.openxmlformats.org/officeDocument/2006/relationships/slide" Target="/ppt/slides/slide43.xml" Id="Rbff9725f8849430e" /><Relationship Type="http://schemas.openxmlformats.org/officeDocument/2006/relationships/slide" Target="/ppt/slides/slide44.xml" Id="R7e9febafa5f94834" /><Relationship Type="http://schemas.openxmlformats.org/officeDocument/2006/relationships/slide" Target="/ppt/slides/slide45.xml" Id="R19f640390e6e476f" /><Relationship Type="http://schemas.openxmlformats.org/officeDocument/2006/relationships/slide" Target="/ppt/slides/slide46.xml" Id="R8c5fb8a5b7174840" /><Relationship Type="http://schemas.openxmlformats.org/officeDocument/2006/relationships/slide" Target="/ppt/slides/slide47.xml" Id="Rf98a108c968d47b9" /><Relationship Type="http://schemas.openxmlformats.org/officeDocument/2006/relationships/slide" Target="/ppt/slides/slide48.xml" Id="R14296596de1d441f" /><Relationship Type="http://schemas.openxmlformats.org/officeDocument/2006/relationships/slide" Target="/ppt/slides/slide49.xml" Id="R6138d31c9ccf4a02" /><Relationship Type="http://schemas.openxmlformats.org/officeDocument/2006/relationships/slide" Target="/ppt/slides/slide50.xml" Id="Rd60f9c55500c4e1c" /><Relationship Type="http://schemas.openxmlformats.org/officeDocument/2006/relationships/slide" Target="/ppt/slides/slide51.xml" Id="Rfc884854deba46cc" /><Relationship Type="http://schemas.openxmlformats.org/officeDocument/2006/relationships/slide" Target="/ppt/slides/slide52.xml" Id="R5d7c15d23ca94de9" /><Relationship Type="http://schemas.openxmlformats.org/officeDocument/2006/relationships/slide" Target="/ppt/slides/slide53.xml" Id="Rbbfd822e956d41c5" /><Relationship Type="http://schemas.openxmlformats.org/officeDocument/2006/relationships/slide" Target="/ppt/slides/slide54.xml" Id="R5a8ae7e36fd04f47" /><Relationship Type="http://schemas.openxmlformats.org/officeDocument/2006/relationships/slide" Target="/ppt/slides/slide55.xml" Id="Rb92c33d568b64518" /><Relationship Type="http://schemas.openxmlformats.org/officeDocument/2006/relationships/slide" Target="/ppt/slides/slide56.xml" Id="Rf58a9563c01942c8" /><Relationship Type="http://schemas.openxmlformats.org/officeDocument/2006/relationships/slide" Target="/ppt/slides/slide57.xml" Id="R4b0cd76a757242e1" /><Relationship Type="http://schemas.openxmlformats.org/officeDocument/2006/relationships/slide" Target="/ppt/slides/slide58.xml" Id="R9e7e2f11daf042b2" /><Relationship Type="http://schemas.openxmlformats.org/officeDocument/2006/relationships/slide" Target="/ppt/slides/slide59.xml" Id="R96dd163f21e442a0" /><Relationship Type="http://schemas.openxmlformats.org/officeDocument/2006/relationships/slide" Target="/ppt/slides/slide60.xml" Id="Rda68ca3fd8e04e75" /><Relationship Type="http://schemas.openxmlformats.org/officeDocument/2006/relationships/slide" Target="/ppt/slides/slide61.xml" Id="R91a585c2ebd74f9d" /><Relationship Type="http://schemas.openxmlformats.org/officeDocument/2006/relationships/slide" Target="/ppt/slides/slide62.xml" Id="R0dee4f5e49224d54" /><Relationship Type="http://schemas.openxmlformats.org/officeDocument/2006/relationships/slide" Target="/ppt/slides/slide63.xml" Id="Rc87b6b2dcfb24554" /><Relationship Type="http://schemas.openxmlformats.org/officeDocument/2006/relationships/slide" Target="/ppt/slides/slide64.xml" Id="Rfb8959ecebf540db" /><Relationship Type="http://schemas.openxmlformats.org/officeDocument/2006/relationships/slide" Target="/ppt/slides/slide65.xml" Id="Rb8ed3787e5084fa9" /><Relationship Type="http://schemas.openxmlformats.org/officeDocument/2006/relationships/slide" Target="/ppt/slides/slide66.xml" Id="Rd9c6330e77be491f" /><Relationship Type="http://schemas.openxmlformats.org/officeDocument/2006/relationships/slide" Target="/ppt/slides/slide67.xml" Id="Rce4f913999bb4fdc" /><Relationship Type="http://schemas.openxmlformats.org/officeDocument/2006/relationships/slide" Target="/ppt/slides/slide68.xml" Id="R4a2f6d3b01074dba" /><Relationship Type="http://schemas.openxmlformats.org/officeDocument/2006/relationships/slide" Target="/ppt/slides/slide69.xml" Id="R86dd1ba87b8e4138" /><Relationship Type="http://schemas.openxmlformats.org/officeDocument/2006/relationships/slide" Target="/ppt/slides/slide70.xml" Id="Ra046f0e57b7d49f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72662447014b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66fd3c00ab431c" /><Relationship Type="http://schemas.openxmlformats.org/officeDocument/2006/relationships/notesMaster" Target="/ppt/notesMasters/notesMaster1.xml" Id="R70a2a055a4024aa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db7f3711a341f3" /><Relationship Type="http://schemas.openxmlformats.org/officeDocument/2006/relationships/notesMaster" Target="/ppt/notesMasters/notesMaster1.xml" Id="Rb7b0d28806e84d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f6d0f827984983" /><Relationship Type="http://schemas.openxmlformats.org/officeDocument/2006/relationships/notesMaster" Target="/ppt/notesMasters/notesMaster1.xml" Id="R1a65b203b2f0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717c1e85da4f42" /><Relationship Type="http://schemas.openxmlformats.org/officeDocument/2006/relationships/notesMaster" Target="/ppt/notesMasters/notesMaster1.xml" Id="R0e1e74c9fa81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7da14ec96a4447d" /><Relationship Type="http://schemas.openxmlformats.org/officeDocument/2006/relationships/notesMaster" Target="/ppt/notesMasters/notesMaster1.xml" Id="Rfb48aaa19ade4f7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89282cd400472b" /><Relationship Type="http://schemas.openxmlformats.org/officeDocument/2006/relationships/notesMaster" Target="/ppt/notesMasters/notesMaster1.xml" Id="R0139f52ee8034b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43dd85c77844ecb" /><Relationship Type="http://schemas.openxmlformats.org/officeDocument/2006/relationships/notesMaster" Target="/ppt/notesMasters/notesMaster1.xml" Id="R1686a72a45974fc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35540a7a404e80" /><Relationship Type="http://schemas.openxmlformats.org/officeDocument/2006/relationships/notesMaster" Target="/ppt/notesMasters/notesMaster1.xml" Id="R03550150273d4f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3c1cae32cd844a9" /><Relationship Type="http://schemas.openxmlformats.org/officeDocument/2006/relationships/notesMaster" Target="/ppt/notesMasters/notesMaster1.xml" Id="Ra1158218977c40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9f74e38bb2d441c" /><Relationship Type="http://schemas.openxmlformats.org/officeDocument/2006/relationships/notesMaster" Target="/ppt/notesMasters/notesMaster1.xml" Id="R07859ffcbdf5400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0d8c95cd22c4531" /><Relationship Type="http://schemas.openxmlformats.org/officeDocument/2006/relationships/notesMaster" Target="/ppt/notesMasters/notesMaster1.xml" Id="Re0bbe44d39294c3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13f15f5e0e4114" /><Relationship Type="http://schemas.openxmlformats.org/officeDocument/2006/relationships/notesMaster" Target="/ppt/notesMasters/notesMaster1.xml" Id="R44e9b192149944f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e8f41f6cff49af" /><Relationship Type="http://schemas.openxmlformats.org/officeDocument/2006/relationships/notesMaster" Target="/ppt/notesMasters/notesMaster1.xml" Id="Rf18609e8801d42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b0b016afd84e08" /><Relationship Type="http://schemas.openxmlformats.org/officeDocument/2006/relationships/notesMaster" Target="/ppt/notesMasters/notesMaster1.xml" Id="Rdbfe01e61ef7457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f286a444474832" /><Relationship Type="http://schemas.openxmlformats.org/officeDocument/2006/relationships/notesMaster" Target="/ppt/notesMasters/notesMaster1.xml" Id="R7b6a67d1985b49f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fe7355fb024276" /><Relationship Type="http://schemas.openxmlformats.org/officeDocument/2006/relationships/notesMaster" Target="/ppt/notesMasters/notesMaster1.xml" Id="R8fc148d0d89243f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4362f7961d4dca" /><Relationship Type="http://schemas.openxmlformats.org/officeDocument/2006/relationships/notesMaster" Target="/ppt/notesMasters/notesMaster1.xml" Id="Rc8c8b1bfe616452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6e27cce342e4cbf" /><Relationship Type="http://schemas.openxmlformats.org/officeDocument/2006/relationships/notesMaster" Target="/ppt/notesMasters/notesMaster1.xml" Id="R8da6adac1232463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f46922a7b404623" /><Relationship Type="http://schemas.openxmlformats.org/officeDocument/2006/relationships/notesMaster" Target="/ppt/notesMasters/notesMaster1.xml" Id="R75a5f32e3a124f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7041e09f6c74c82" /><Relationship Type="http://schemas.openxmlformats.org/officeDocument/2006/relationships/notesMaster" Target="/ppt/notesMasters/notesMaster1.xml" Id="R0fd7740f89fc493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bb7325559304392" /><Relationship Type="http://schemas.openxmlformats.org/officeDocument/2006/relationships/notesMaster" Target="/ppt/notesMasters/notesMaster1.xml" Id="R5f1e608fd62143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eb92fc602f4247" /><Relationship Type="http://schemas.openxmlformats.org/officeDocument/2006/relationships/notesMaster" Target="/ppt/notesMasters/notesMaster1.xml" Id="R720842972d45456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362e4de298f4fed" /><Relationship Type="http://schemas.openxmlformats.org/officeDocument/2006/relationships/notesMaster" Target="/ppt/notesMasters/notesMaster1.xml" Id="R983cc71a7c784f6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7cdc97b63b42e5" /><Relationship Type="http://schemas.openxmlformats.org/officeDocument/2006/relationships/notesMaster" Target="/ppt/notesMasters/notesMaster1.xml" Id="Re632c13b1f5e4ed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63dd1e562d84520" /><Relationship Type="http://schemas.openxmlformats.org/officeDocument/2006/relationships/notesMaster" Target="/ppt/notesMasters/notesMaster1.xml" Id="R0a16cc2fb9b9413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45b1419c54d4d7c" /><Relationship Type="http://schemas.openxmlformats.org/officeDocument/2006/relationships/notesMaster" Target="/ppt/notesMasters/notesMaster1.xml" Id="R81204604112a4c0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a896b99b364970" /><Relationship Type="http://schemas.openxmlformats.org/officeDocument/2006/relationships/notesMaster" Target="/ppt/notesMasters/notesMaster1.xml" Id="Rdd8bec30d03c461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8cb1b0cbc834856" /><Relationship Type="http://schemas.openxmlformats.org/officeDocument/2006/relationships/notesMaster" Target="/ppt/notesMasters/notesMaster1.xml" Id="R6be73e30d3a046b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2ed91abd86448d7" /><Relationship Type="http://schemas.openxmlformats.org/officeDocument/2006/relationships/notesMaster" Target="/ppt/notesMasters/notesMaster1.xml" Id="R97a46d6eeb5a487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e7267311d3d4c00" /><Relationship Type="http://schemas.openxmlformats.org/officeDocument/2006/relationships/notesMaster" Target="/ppt/notesMasters/notesMaster1.xml" Id="Re159ef3505d9481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e58e83a97a4f4777" /><Relationship Type="http://schemas.openxmlformats.org/officeDocument/2006/relationships/notesMaster" Target="/ppt/notesMasters/notesMaster1.xml" Id="Rcf94982967f440b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42adf51b163e4fd1" /><Relationship Type="http://schemas.openxmlformats.org/officeDocument/2006/relationships/notesMaster" Target="/ppt/notesMasters/notesMaster1.xml" Id="R1b428bf8f180459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55f12d1649814404" /><Relationship Type="http://schemas.openxmlformats.org/officeDocument/2006/relationships/notesMaster" Target="/ppt/notesMasters/notesMaster1.xml" Id="R2558f8e670be4ff0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9e938b2e3df4bc3" /><Relationship Type="http://schemas.openxmlformats.org/officeDocument/2006/relationships/notesMaster" Target="/ppt/notesMasters/notesMaster1.xml" Id="R5027d7d83b544bed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84a49171c27d4f9d" /><Relationship Type="http://schemas.openxmlformats.org/officeDocument/2006/relationships/notesMaster" Target="/ppt/notesMasters/notesMaster1.xml" Id="R3a673da3385e4a3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9b5d64cf80647ba" /><Relationship Type="http://schemas.openxmlformats.org/officeDocument/2006/relationships/notesMaster" Target="/ppt/notesMasters/notesMaster1.xml" Id="Ra3f3ef5bb74847b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61e6ed8a7e374d95" /><Relationship Type="http://schemas.openxmlformats.org/officeDocument/2006/relationships/notesMaster" Target="/ppt/notesMasters/notesMaster1.xml" Id="R0628ea69d494476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1edb540c56941f8" /><Relationship Type="http://schemas.openxmlformats.org/officeDocument/2006/relationships/notesMaster" Target="/ppt/notesMasters/notesMaster1.xml" Id="R498b6363e9cb4f3c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1b9e965ca5884062" /><Relationship Type="http://schemas.openxmlformats.org/officeDocument/2006/relationships/notesMaster" Target="/ppt/notesMasters/notesMaster1.xml" Id="R8349f3b5deaf4ad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4c63dcad3e949eb" /><Relationship Type="http://schemas.openxmlformats.org/officeDocument/2006/relationships/notesMaster" Target="/ppt/notesMasters/notesMaster1.xml" Id="Rc0bcf3aff1744a95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a37731fbc1ad41aa" /><Relationship Type="http://schemas.openxmlformats.org/officeDocument/2006/relationships/notesMaster" Target="/ppt/notesMasters/notesMaster1.xml" Id="R978b3fa846764e43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b286c0e5ba5541f2" /><Relationship Type="http://schemas.openxmlformats.org/officeDocument/2006/relationships/notesMaster" Target="/ppt/notesMasters/notesMaster1.xml" Id="R2857e2b8cad2412c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f55be7f8e5547eb" /><Relationship Type="http://schemas.openxmlformats.org/officeDocument/2006/relationships/notesMaster" Target="/ppt/notesMasters/notesMaster1.xml" Id="R97960491aa3346c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619e9498aba0453a" /><Relationship Type="http://schemas.openxmlformats.org/officeDocument/2006/relationships/notesMaster" Target="/ppt/notesMasters/notesMaster1.xml" Id="Re004ea4028424f8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1d10a8b530249c8" /><Relationship Type="http://schemas.openxmlformats.org/officeDocument/2006/relationships/notesMaster" Target="/ppt/notesMasters/notesMaster1.xml" Id="R67f5e84f07964e7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a35f996145784ba3" /><Relationship Type="http://schemas.openxmlformats.org/officeDocument/2006/relationships/notesMaster" Target="/ppt/notesMasters/notesMaster1.xml" Id="R12a349a824dd4471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8553cce11bbe4c90" /><Relationship Type="http://schemas.openxmlformats.org/officeDocument/2006/relationships/notesMaster" Target="/ppt/notesMasters/notesMaster1.xml" Id="Rcf4b94a815894a3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225893a91624f9e" /><Relationship Type="http://schemas.openxmlformats.org/officeDocument/2006/relationships/notesMaster" Target="/ppt/notesMasters/notesMaster1.xml" Id="R88d01bd6cd494bef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4993ad757804b28" /><Relationship Type="http://schemas.openxmlformats.org/officeDocument/2006/relationships/notesMaster" Target="/ppt/notesMasters/notesMaster1.xml" Id="R3d625ba644ac4739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8163ee042a048dd" /><Relationship Type="http://schemas.openxmlformats.org/officeDocument/2006/relationships/notesMaster" Target="/ppt/notesMasters/notesMaster1.xml" Id="Ra48067f600a54f2a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e6d2db1ecf245bf" /><Relationship Type="http://schemas.openxmlformats.org/officeDocument/2006/relationships/notesMaster" Target="/ppt/notesMasters/notesMaster1.xml" Id="Rb70446de871442d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b977b4aa05f24725" /><Relationship Type="http://schemas.openxmlformats.org/officeDocument/2006/relationships/notesMaster" Target="/ppt/notesMasters/notesMaster1.xml" Id="R04171bb697434977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e61b3d83a3a4ee1" /><Relationship Type="http://schemas.openxmlformats.org/officeDocument/2006/relationships/notesMaster" Target="/ppt/notesMasters/notesMaster1.xml" Id="R455e656cae73404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b56ec41572454d8a" /><Relationship Type="http://schemas.openxmlformats.org/officeDocument/2006/relationships/notesMaster" Target="/ppt/notesMasters/notesMaster1.xml" Id="R67bccc632a834ff4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e8a57b853de843b7" /><Relationship Type="http://schemas.openxmlformats.org/officeDocument/2006/relationships/notesMaster" Target="/ppt/notesMasters/notesMaster1.xml" Id="R31d32edbe8fc4220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4c4c0d05c95b461f" /><Relationship Type="http://schemas.openxmlformats.org/officeDocument/2006/relationships/notesMaster" Target="/ppt/notesMasters/notesMaster1.xml" Id="R995170d9a3624b80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761104d683574441" /><Relationship Type="http://schemas.openxmlformats.org/officeDocument/2006/relationships/notesMaster" Target="/ppt/notesMasters/notesMaster1.xml" Id="Rf25324f4844f493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fd196f301a1b4639" /><Relationship Type="http://schemas.openxmlformats.org/officeDocument/2006/relationships/notesMaster" Target="/ppt/notesMasters/notesMaster1.xml" Id="R2f0bd5f8ac444f02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d98b3e86c00429e" /><Relationship Type="http://schemas.openxmlformats.org/officeDocument/2006/relationships/notesMaster" Target="/ppt/notesMasters/notesMaster1.xml" Id="R4f35de8ad8e54af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c5350e83da7140fd" /><Relationship Type="http://schemas.openxmlformats.org/officeDocument/2006/relationships/notesMaster" Target="/ppt/notesMasters/notesMaster1.xml" Id="R4fc794d5357c4c7b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ad7e3370a1f4b00" /><Relationship Type="http://schemas.openxmlformats.org/officeDocument/2006/relationships/notesMaster" Target="/ppt/notesMasters/notesMaster1.xml" Id="Reed7e719003649f7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a8f0e49778544b8" /><Relationship Type="http://schemas.openxmlformats.org/officeDocument/2006/relationships/notesMaster" Target="/ppt/notesMasters/notesMaster1.xml" Id="R5798116b26d34ed5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1214510e145440ee" /><Relationship Type="http://schemas.openxmlformats.org/officeDocument/2006/relationships/notesMaster" Target="/ppt/notesMasters/notesMaster1.xml" Id="Rb0f1a4ec72c1445f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eae0124d3bbd4351" /><Relationship Type="http://schemas.openxmlformats.org/officeDocument/2006/relationships/notesMaster" Target="/ppt/notesMasters/notesMaster1.xml" Id="R403bd2d5e63042d5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e201c90c5e3c4735" /><Relationship Type="http://schemas.openxmlformats.org/officeDocument/2006/relationships/notesMaster" Target="/ppt/notesMasters/notesMaster1.xml" Id="R5ec7bad0354044f6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2c1def6a9614fac" /><Relationship Type="http://schemas.openxmlformats.org/officeDocument/2006/relationships/notesMaster" Target="/ppt/notesMasters/notesMaster1.xml" Id="R4720d092584348f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5312732a88d54736" /><Relationship Type="http://schemas.openxmlformats.org/officeDocument/2006/relationships/notesMaster" Target="/ppt/notesMasters/notesMaster1.xml" Id="R9bf2cc44f7d4474a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93d2dd10948841f5" /><Relationship Type="http://schemas.openxmlformats.org/officeDocument/2006/relationships/notesMaster" Target="/ppt/notesMasters/notesMaster1.xml" Id="Rcf774919cb58465a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f98156d7b64d4f57" /><Relationship Type="http://schemas.openxmlformats.org/officeDocument/2006/relationships/notesMaster" Target="/ppt/notesMasters/notesMaster1.xml" Id="R1b3b5030c9224ac9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316149aec0b44746" /><Relationship Type="http://schemas.openxmlformats.org/officeDocument/2006/relationships/notesMaster" Target="/ppt/notesMasters/notesMaster1.xml" Id="R2e93705c2a154e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/Users/keivn/Project/AI-Course/准备材料/参考课程/知乎AI课程/正课/27.【测试与数据】大模型产品开发中的数据准备与反馈闭环.pdf（参考页：14–16、25）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/Users/keivn/Project/AI-Course/准备材料/参考课程/知乎AI课程/正课/27.【测试与数据】大模型产品开发中的数据准备与反馈闭环.pdf（参考页：25–27）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/Users/keivn/Project/AI-Course/准备材料/参考课程/知乎AI课程/正课/27.【测试与数据】大模型产品开发中的数据准备与反馈闭环.pdf（参考页：27–29）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/Users/keivn/Project/AI-Course/准备材料/参考课程/知乎AI课程/正课/27.【测试与数据】大模型产品开发中的数据准备与反馈闭环.pdf（参考页：9、24、72）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/Users/keivn/Project/AI-Course/准备材料/参考课程/知乎AI课程/正课/27.【测试与数据】大模型产品开发中的数据准备与反馈闭环.pdf（参考页：17、20）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/Users/keivn/Project/AI-Course/准备材料/参考课程/知乎AI课程/正课/27.【测试与数据】大模型产品开发中的数据准备与反馈闭环.pdf（参考页：23–24）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/Users/keivn/Project/AI-Course/准备材料/参考课程/知乎AI课程/正课/27.【测试与数据】大模型产品开发中的数据准备与反馈闭环.pdf（参考页：24）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/Users/keivn/Project/AI-Course/准备材料/参考课程/知乎AI课程/正课/27.【测试与数据】大模型产品开发中的数据准备与反馈闭环.pdf（参考页：26）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/Users/keivn/Project/AI-Course/准备材料/参考课程/知乎AI课程/正课/27.【测试与数据】大模型产品开发中的数据准备与反馈闭环.pdf（参考页：29）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/Users/keivn/Project/AI-Course/准备材料/参考课程/知乎AI课程/正课/27.【测试与数据】大模型产品开发中的数据准备与反馈闭环.pdf（参考页：46–50）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/Users/keivn/Project/AI-Course/准备材料/参考课程/知乎AI课程/正课/27.【测试与数据】大模型产品开发中的数据准备与反馈闭环.pdf（参考页：47、54）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/Users/keivn/Project/AI-Course/准备材料/参考课程/知乎AI课程/正课/27.【测试与数据】大模型产品开发中的数据准备与反馈闭环.pdf（参考页：47–50）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/Users/keivn/Project/AI-Course/准备材料/参考课程/知乎AI课程/正课/27.【测试与数据】大模型产品开发中的数据准备与反馈闭环.pdf（参考页：47–49）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/Users/keivn/Project/AI-Course/准备材料/参考课程/知乎AI课程/正课/27.【测试与数据】大模型产品开发中的数据准备与反馈闭环.pdf（参考页：31、33）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/Users/keivn/Project/AI-Course/准备材料/参考课程/知乎AI课程/正课/27.【测试与数据】大模型产品开发中的数据准备与反馈闭环.pdf（参考页：34–38）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/Users/keivn/Project/AI-Course/准备材料/参考课程/知乎AI课程/正课/27.【测试与数据】大模型产品开发中的数据准备与反馈闭环.pdf（参考页：40–41）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/Users/keivn/Project/AI-Course/准备材料/参考课程/知乎AI课程/正课/27.【测试与数据】大模型产品开发中的数据准备与反馈闭环.pdf（参考页：42、49）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/Users/keivn/Project/AI-Course/准备材料/参考课程/知乎AI课程/正课/27.【测试与数据】大模型产品开发中的数据准备与反馈闭环.pdf（参考页：42、49）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/Users/keivn/Project/AI-Course/准备材料/参考课程/知乎AI课程/正课/27.【测试与数据】大模型产品开发中的数据准备与反馈闭环.pdf（参考页：31–42）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/Users/keivn/Project/AI-Course/准备材料/参考课程/知乎AI课程/正课/27.【测试与数据】大模型产品开发中的数据准备与反馈闭环.pdf（参考页：49、55–57）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/Users/keivn/Project/AI-Course/准备材料/参考课程/知乎AI课程/正课/27.【测试与数据】大模型产品开发中的数据准备与反馈闭环.pdf（参考页：49、59）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/Users/keivn/Project/AI-Course/准备材料/参考课程/知乎AI课程/正课/27.【测试与数据】大模型产品开发中的数据准备与反馈闭环.pdf（参考页：44–45）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/Users/keivn/Project/AI-Course/准备材料/参考课程/知乎AI课程/正课/27.【测试与数据】大模型产品开发中的数据准备与反馈闭环.pdf（参考页：46）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/Users/keivn/Project/AI-Course/准备材料/参考课程/知乎AI课程/正课/27.【测试与数据】大模型产品开发中的数据准备与反馈闭环.pdf（参考页：49）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/Users/keivn/Project/AI-Course/准备材料/参考课程/知乎AI课程/正课/27.【测试与数据】大模型产品开发中的数据准备与反馈闭环.pdf（参考页：51–52）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/Users/keivn/Project/AI-Course/准备材料/参考课程/知乎AI课程/正课/27.【测试与数据】大模型产品开发中的数据准备与反馈闭环.pdf（参考页：54）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/Users/keivn/Project/AI-Course/准备材料/参考课程/知乎AI课程/正课/27.【测试与数据】大模型产品开发中的数据准备与反馈闭环.pdf（参考页：55–57）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/Users/keivn/Project/AI-Course/准备材料/参考课程/知乎AI课程/正课/27.【测试与数据】大模型产品开发中的数据准备与反馈闭环.pdf（参考页：55–57）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/Users/keivn/Project/AI-Course/准备材料/参考课程/知乎AI课程/正课/27.【测试与数据】大模型产品开发中的数据准备与反馈闭环.pdf（参考页：58）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/Users/keivn/Project/AI-Course/准备材料/参考课程/知乎AI课程/正课/27.【测试与数据】大模型产品开发中的数据准备与反馈闭环.pdf（参考页：60–62）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/Users/keivn/Project/AI-Course/准备材料/参考课程/知乎AI课程/正课/27.【测试与数据】大模型产品开发中的数据准备与反馈闭环.pdf（参考页：60–62）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/Users/keivn/Project/AI-Course/准备材料/参考课程/知乎AI课程/正课/27.【测试与数据】大模型产品开发中的数据准备与反馈闭环.pdf（参考页：65–66）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/Users/keivn/Project/AI-Course/准备材料/参考课程/知乎AI课程/正课/27.【测试与数据】大模型产品开发中的数据准备与反馈闭环.pdf（参考页：67–71）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/Users/keivn/Project/AI-Course/准备材料/参考课程/知乎AI课程/正课/27.【测试与数据】大模型产品开发中的数据准备与反馈闭环.pdf（参考页：72）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/Users/keivn/Project/AI-Course/准备材料/参考课程/知乎AI课程/正课/27.【测试与数据】大模型产品开发中的数据准备与反馈闭环.pdf（参考页：73）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/Users/keivn/Project/AI-Course/准备材料/参考课程/知乎AI课程/正课/27.【测试与数据】大模型产品开发中的数据准备与反馈闭环.pdf（参考页：74–75）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/Users/keivn/Project/AI-Course/准备材料/参考课程/知乎AI课程/正课/27.【测试与数据】大模型产品开发中的数据准备与反馈闭环.pdf（参考页：76）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/Users/keivn/Project/AI-Course/准备材料/参考课程/知乎AI课程/正课/27.【测试与数据】大模型产品开发中的数据准备与反馈闭环.pdf（参考页：77–79）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/Users/keivn/Project/AI-Course/准备材料/参考课程/知乎AI课程/正课/27.【测试与数据】大模型产品开发中的数据准备与反馈闭环.pdf（参考页：80–81）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/Users/keivn/Project/AI-Course/准备材料/参考课程/知乎AI课程/正课/27.【测试与数据】大模型产品开发中的数据准备与反馈闭环.pdf（参考页：82–83）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/Users/keivn/Project/AI-Course/准备材料/参考课程/知乎AI课程/正课/27.【测试与数据】大模型产品开发中的数据准备与反馈闭环.pdf（参考页：84）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/Users/keivn/Project/AI-Course/准备材料/参考课程/知乎AI课程/正课/27.【测试与数据】大模型产品开发中的数据准备与反馈闭环.pdf（参考页：85–86）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/Users/keivn/Project/AI-Course/准备材料/参考课程/知乎AI课程/正课/27.【测试与数据】大模型产品开发中的数据准备与反馈闭环.pdf（参考页：85–95）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/Users/keivn/Project/AI-Course/准备材料/参考课程/知乎AI课程/正课/27.【测试与数据】大模型产品开发中的数据准备与反馈闭环.pdf（参考页：87–90）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/Users/keivn/Project/AI-Course/准备材料/参考课程/知乎AI课程/正课/27.【测试与数据】大模型产品开发中的数据准备与反馈闭环.pdf（参考页：91–95）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/Users/keivn/Project/AI-Course/准备材料/参考课程/知乎AI课程/正课/27.【测试与数据】大模型产品开发中的数据准备与反馈闭环.pdf（参考页：60–63、91–95）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/Users/keivn/Project/AI-Course/准备材料/参考课程/知乎AI课程/正课/27.【测试与数据】大模型产品开发中的数据准备与反馈闭环.pdf（参考页：102–112）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/Users/keivn/Project/AI-Course/准备材料/参考课程/知乎AI课程/正课/27.【测试与数据】大模型产品开发中的数据准备与反馈闭环.pdf（参考页：60–63、72–101）</a:t>
            </a:r>
          </a:p>
          <a:p xmlns:a="http://schemas.openxmlformats.org/drawingml/2006/main">
            <a:r>
              <a:t>- /Users/keivn/Project/AI-Course/准备材料/参考课程/知乎AI课程/正课/录音/27.【测试与数据】大模型产品开发中的数据准备与反馈闭环_原文.docx</a:t>
            </a:r>
          </a:p>
          <a:p xmlns:a="http://schemas.openxmlformats.org/drawingml/2006/main">
            <a:r>
              <a:t>- /Users/keivn/Project/AI-Course/课程生产/第一阶段/第09课_AI产品测试、指标与Bad Case_重做工作区/第09课_课程设计与老师稿.md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6b14fc99f46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8ccd9eed8b4daa" /><Relationship Type="http://schemas.openxmlformats.org/officeDocument/2006/relationships/slideLayout" Target="/ppt/slideLayouts/slideLayout1.xml" Id="Ra06b56a319f54e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6b56a319f54e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06b4897157496e" /><Relationship Type="http://schemas.openxmlformats.org/officeDocument/2006/relationships/notesSlide" Target="/ppt/notesSlides/notesSlide1.xml" Id="R3daa25525c0a4d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0044b72224f89" /><Relationship Type="http://schemas.openxmlformats.org/officeDocument/2006/relationships/notesSlide" Target="/ppt/notesSlides/notesSlide2.xml" Id="R1512d172788c448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dd9e28feab4d3a" /><Relationship Type="http://schemas.openxmlformats.org/officeDocument/2006/relationships/notesSlide" Target="/ppt/notesSlides/notesSlide3.xml" Id="Ra801937b02f844c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a7d466b9f24171" /><Relationship Type="http://schemas.openxmlformats.org/officeDocument/2006/relationships/notesSlide" Target="/ppt/notesSlides/notesSlide4.xml" Id="R6f23e6bc888141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3533dbe7b4e62" /><Relationship Type="http://schemas.openxmlformats.org/officeDocument/2006/relationships/notesSlide" Target="/ppt/notesSlides/notesSlide5.xml" Id="Rc7118f05803042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3965e23a8c4fed" /><Relationship Type="http://schemas.openxmlformats.org/officeDocument/2006/relationships/notesSlide" Target="/ppt/notesSlides/notesSlide6.xml" Id="R548c22e025ab4e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7ab18314f4bfe" /><Relationship Type="http://schemas.openxmlformats.org/officeDocument/2006/relationships/notesSlide" Target="/ppt/notesSlides/notesSlide7.xml" Id="R84c115acbf3b44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be51a867694f68" /><Relationship Type="http://schemas.openxmlformats.org/officeDocument/2006/relationships/notesSlide" Target="/ppt/notesSlides/notesSlide8.xml" Id="R2afbea3a22c64d7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08e123f2ba4ae6" /><Relationship Type="http://schemas.openxmlformats.org/officeDocument/2006/relationships/notesSlide" Target="/ppt/notesSlides/notesSlide9.xml" Id="Rb77d6e7f365a49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da3e7c967d4bb5" /><Relationship Type="http://schemas.openxmlformats.org/officeDocument/2006/relationships/notesSlide" Target="/ppt/notesSlides/notesSlide10.xml" Id="R9637b67526384a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697d0e851d42f4" /><Relationship Type="http://schemas.openxmlformats.org/officeDocument/2006/relationships/notesSlide" Target="/ppt/notesSlides/notesSlide11.xml" Id="Rf6b97324a6844b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1308fdc1d4811" /><Relationship Type="http://schemas.openxmlformats.org/officeDocument/2006/relationships/notesSlide" Target="/ppt/notesSlides/notesSlide12.xml" Id="Ra4685e1857bc41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1e64e9ed443ec" /><Relationship Type="http://schemas.openxmlformats.org/officeDocument/2006/relationships/notesSlide" Target="/ppt/notesSlides/notesSlide13.xml" Id="R1d036d196e77418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7b629112c4972" /><Relationship Type="http://schemas.openxmlformats.org/officeDocument/2006/relationships/notesSlide" Target="/ppt/notesSlides/notesSlide14.xml" Id="R43e80daf8a9c44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9213b4b2f44d0" /><Relationship Type="http://schemas.openxmlformats.org/officeDocument/2006/relationships/notesSlide" Target="/ppt/notesSlides/notesSlide15.xml" Id="R0e8afbe6bb67402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f47bb2282f4d5c" /><Relationship Type="http://schemas.openxmlformats.org/officeDocument/2006/relationships/notesSlide" Target="/ppt/notesSlides/notesSlide16.xml" Id="Rf87ae255795346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02aeafb514e3f" /><Relationship Type="http://schemas.openxmlformats.org/officeDocument/2006/relationships/notesSlide" Target="/ppt/notesSlides/notesSlide17.xml" Id="R7f1c39cbca784ed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dd629b3294be1" /><Relationship Type="http://schemas.openxmlformats.org/officeDocument/2006/relationships/notesSlide" Target="/ppt/notesSlides/notesSlide18.xml" Id="R0f401a0101de4ca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cac032ea8d4f7b" /><Relationship Type="http://schemas.openxmlformats.org/officeDocument/2006/relationships/notesSlide" Target="/ppt/notesSlides/notesSlide19.xml" Id="R2a5ace6c7f58432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0d46418444e47" /><Relationship Type="http://schemas.openxmlformats.org/officeDocument/2006/relationships/notesSlide" Target="/ppt/notesSlides/notesSlide20.xml" Id="R44a88344773f443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4e873076294fac" /><Relationship Type="http://schemas.openxmlformats.org/officeDocument/2006/relationships/notesSlide" Target="/ppt/notesSlides/notesSlide21.xml" Id="R27c6634ad4024d9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b9cc1d2ba24d81" /><Relationship Type="http://schemas.openxmlformats.org/officeDocument/2006/relationships/notesSlide" Target="/ppt/notesSlides/notesSlide22.xml" Id="R77b122c0f44a452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e9078dd54461f" /><Relationship Type="http://schemas.openxmlformats.org/officeDocument/2006/relationships/notesSlide" Target="/ppt/notesSlides/notesSlide23.xml" Id="R56dc51d5cc43422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7c3f8b231419b" /><Relationship Type="http://schemas.openxmlformats.org/officeDocument/2006/relationships/notesSlide" Target="/ppt/notesSlides/notesSlide24.xml" Id="R771f0e3d72e44fd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b1555d5cb43c6" /><Relationship Type="http://schemas.openxmlformats.org/officeDocument/2006/relationships/notesSlide" Target="/ppt/notesSlides/notesSlide25.xml" Id="Rd4e6ad2b3b3e4c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0b8e5183284ec8" /><Relationship Type="http://schemas.openxmlformats.org/officeDocument/2006/relationships/notesSlide" Target="/ppt/notesSlides/notesSlide26.xml" Id="R785164d788bf47b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5b13ffbc7e4a03" /><Relationship Type="http://schemas.openxmlformats.org/officeDocument/2006/relationships/notesSlide" Target="/ppt/notesSlides/notesSlide27.xml" Id="R2cf3b7f278a642e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cc7274ff746d7" /><Relationship Type="http://schemas.openxmlformats.org/officeDocument/2006/relationships/notesSlide" Target="/ppt/notesSlides/notesSlide28.xml" Id="R72d239ddcb1f4ac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35cb605434575" /><Relationship Type="http://schemas.openxmlformats.org/officeDocument/2006/relationships/notesSlide" Target="/ppt/notesSlides/notesSlide29.xml" Id="R8eae155ad7cc4e5f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cc1c5ec21e4c75" /><Relationship Type="http://schemas.openxmlformats.org/officeDocument/2006/relationships/notesSlide" Target="/ppt/notesSlides/notesSlide30.xml" Id="R26471332c4544b0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2bd368c1f4d71" /><Relationship Type="http://schemas.openxmlformats.org/officeDocument/2006/relationships/notesSlide" Target="/ppt/notesSlides/notesSlide31.xml" Id="R67eaae622aca49d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f0a88ec9144a2" /><Relationship Type="http://schemas.openxmlformats.org/officeDocument/2006/relationships/notesSlide" Target="/ppt/notesSlides/notesSlide32.xml" Id="Rcb4ddda2709a4bf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bd2a3bcc54778" /><Relationship Type="http://schemas.openxmlformats.org/officeDocument/2006/relationships/notesSlide" Target="/ppt/notesSlides/notesSlide33.xml" Id="R7f04b0d30852400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909ba6b0d4a62" /><Relationship Type="http://schemas.openxmlformats.org/officeDocument/2006/relationships/notesSlide" Target="/ppt/notesSlides/notesSlide34.xml" Id="Rbe49077b20dc4c9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820e484a574f39" /><Relationship Type="http://schemas.openxmlformats.org/officeDocument/2006/relationships/notesSlide" Target="/ppt/notesSlides/notesSlide35.xml" Id="Rc31ce82e292b448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8b3857643e4419" /><Relationship Type="http://schemas.openxmlformats.org/officeDocument/2006/relationships/notesSlide" Target="/ppt/notesSlides/notesSlide36.xml" Id="Rec4f92310f2f43b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37d6687ed4325" /><Relationship Type="http://schemas.openxmlformats.org/officeDocument/2006/relationships/notesSlide" Target="/ppt/notesSlides/notesSlide37.xml" Id="R89d20600d30841a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10cf81024d4e25" /><Relationship Type="http://schemas.openxmlformats.org/officeDocument/2006/relationships/notesSlide" Target="/ppt/notesSlides/notesSlide38.xml" Id="Rd785a23c4b984ce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6aa3b0655c460a" /><Relationship Type="http://schemas.openxmlformats.org/officeDocument/2006/relationships/notesSlide" Target="/ppt/notesSlides/notesSlide39.xml" Id="R0a06188571cc47f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2f37a7300490f" /><Relationship Type="http://schemas.openxmlformats.org/officeDocument/2006/relationships/notesSlide" Target="/ppt/notesSlides/notesSlide40.xml" Id="R7c154247e1254ed2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43dc419dda4cb9" /><Relationship Type="http://schemas.openxmlformats.org/officeDocument/2006/relationships/notesSlide" Target="/ppt/notesSlides/notesSlide41.xml" Id="R8c259e36f55143e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88f9fc34f144b7" /><Relationship Type="http://schemas.openxmlformats.org/officeDocument/2006/relationships/notesSlide" Target="/ppt/notesSlides/notesSlide42.xml" Id="R5f27345341194464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dfffe84341450a" /><Relationship Type="http://schemas.openxmlformats.org/officeDocument/2006/relationships/notesSlide" Target="/ppt/notesSlides/notesSlide43.xml" Id="Rf8d105ac188d487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04cdce40cc4e4b" /><Relationship Type="http://schemas.openxmlformats.org/officeDocument/2006/relationships/notesSlide" Target="/ppt/notesSlides/notesSlide44.xml" Id="R62b08ba4e016469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3ad1093634c2c" /><Relationship Type="http://schemas.openxmlformats.org/officeDocument/2006/relationships/notesSlide" Target="/ppt/notesSlides/notesSlide45.xml" Id="Rd84ef55918c2484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254a301af4960" /><Relationship Type="http://schemas.openxmlformats.org/officeDocument/2006/relationships/notesSlide" Target="/ppt/notesSlides/notesSlide46.xml" Id="R79b26b0a3c7641ef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98a844a7841b3" /><Relationship Type="http://schemas.openxmlformats.org/officeDocument/2006/relationships/notesSlide" Target="/ppt/notesSlides/notesSlide47.xml" Id="Rfad60cb8f4544a9d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6d4430eab47bd" /><Relationship Type="http://schemas.openxmlformats.org/officeDocument/2006/relationships/notesSlide" Target="/ppt/notesSlides/notesSlide48.xml" Id="R9b4afd4fc5b348e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aeba62146247c8" /><Relationship Type="http://schemas.openxmlformats.org/officeDocument/2006/relationships/notesSlide" Target="/ppt/notesSlides/notesSlide49.xml" Id="Rbe1ab0ea9fa64b2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1a4882ff14fb2" /><Relationship Type="http://schemas.openxmlformats.org/officeDocument/2006/relationships/notesSlide" Target="/ppt/notesSlides/notesSlide50.xml" Id="Rc686bd2afd99493b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e7d7a7cca74ba1" /><Relationship Type="http://schemas.openxmlformats.org/officeDocument/2006/relationships/notesSlide" Target="/ppt/notesSlides/notesSlide51.xml" Id="R2949585cf0124cef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fafa6d5c884e23" /><Relationship Type="http://schemas.openxmlformats.org/officeDocument/2006/relationships/notesSlide" Target="/ppt/notesSlides/notesSlide52.xml" Id="R4f74f2a8865a477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60e76f5a7414f" /><Relationship Type="http://schemas.openxmlformats.org/officeDocument/2006/relationships/notesSlide" Target="/ppt/notesSlides/notesSlide53.xml" Id="R8d6e079835bd4619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1c771cfd34b19" /><Relationship Type="http://schemas.openxmlformats.org/officeDocument/2006/relationships/notesSlide" Target="/ppt/notesSlides/notesSlide54.xml" Id="R95f6505f01ff4e16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30af3343b4f5b" /><Relationship Type="http://schemas.openxmlformats.org/officeDocument/2006/relationships/notesSlide" Target="/ppt/notesSlides/notesSlide55.xml" Id="R5c98428ae9aa4cc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37bb44bec34e3b" /><Relationship Type="http://schemas.openxmlformats.org/officeDocument/2006/relationships/notesSlide" Target="/ppt/notesSlides/notesSlide56.xml" Id="R98dd14d191b84f31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c56a4d610f4588" /><Relationship Type="http://schemas.openxmlformats.org/officeDocument/2006/relationships/notesSlide" Target="/ppt/notesSlides/notesSlide57.xml" Id="Rc9fec0a67b124d06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45f4f2ead4d4e" /><Relationship Type="http://schemas.openxmlformats.org/officeDocument/2006/relationships/notesSlide" Target="/ppt/notesSlides/notesSlide58.xml" Id="R484bc36ec97245d6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fe5fb4ceb43a8" /><Relationship Type="http://schemas.openxmlformats.org/officeDocument/2006/relationships/notesSlide" Target="/ppt/notesSlides/notesSlide59.xml" Id="R84c5a14f9c994048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1246f12cb14e12" /><Relationship Type="http://schemas.openxmlformats.org/officeDocument/2006/relationships/notesSlide" Target="/ppt/notesSlides/notesSlide60.xml" Id="R17e4063f5c99419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9eb7c90cd147ba" /><Relationship Type="http://schemas.openxmlformats.org/officeDocument/2006/relationships/notesSlide" Target="/ppt/notesSlides/notesSlide61.xml" Id="Rd253998dede24c19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31b5827c44433" /><Relationship Type="http://schemas.openxmlformats.org/officeDocument/2006/relationships/notesSlide" Target="/ppt/notesSlides/notesSlide62.xml" Id="R6111b732a30d4dc4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490e045104d81" /><Relationship Type="http://schemas.openxmlformats.org/officeDocument/2006/relationships/notesSlide" Target="/ppt/notesSlides/notesSlide63.xml" Id="Rb7c626daa64749f7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d251210a84954" /><Relationship Type="http://schemas.openxmlformats.org/officeDocument/2006/relationships/notesSlide" Target="/ppt/notesSlides/notesSlide64.xml" Id="R57b35c8d5ae941da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0ce835f9e2456e" /><Relationship Type="http://schemas.openxmlformats.org/officeDocument/2006/relationships/notesSlide" Target="/ppt/notesSlides/notesSlide65.xml" Id="R5a08474fd1b64b6e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2c790e3d84cc5" /><Relationship Type="http://schemas.openxmlformats.org/officeDocument/2006/relationships/notesSlide" Target="/ppt/notesSlides/notesSlide66.xml" Id="R4a388bedc1724bbc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b92b099194ae9" /><Relationship Type="http://schemas.openxmlformats.org/officeDocument/2006/relationships/notesSlide" Target="/ppt/notesSlides/notesSlide67.xml" Id="Ra8c2b804edfb4691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0e22aa19043be" /><Relationship Type="http://schemas.openxmlformats.org/officeDocument/2006/relationships/notesSlide" Target="/ppt/notesSlides/notesSlide68.xml" Id="R55cb1705550b4cdc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d73d656ac4d32" /><Relationship Type="http://schemas.openxmlformats.org/officeDocument/2006/relationships/notesSlide" Target="/ppt/notesSlides/notesSlide69.xml" Id="R1ea4cc8fa09f4ded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d5d19f48d4ccd" /><Relationship Type="http://schemas.openxmlformats.org/officeDocument/2006/relationships/notesSlide" Target="/ppt/notesSlides/notesSlide70.xml" Id="R33d22bb487e74b6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6BA22-EFEE-4BBB-9DF8-A33CD3BA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63563-E752-40D1-A927-FC7E3FD7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6D6C2"/>
                </a:solidFill>
              </a:defRPr>
            </a:pPr>
            <a:r>
              <a:rPr sz="1200" b="1">
                <a:solidFill>
                  <a:srgbClr val="36D6C2"/>
                </a:solidFill>
              </a:rPr>
              <a:t>AI PRODUCT MANAGER</a:t>
            </a:r>
          </a:p>
        </p:txBody>
      </p:sp>
      <p:sp>
        <p:nvSpPr>
          <p:cNvPr id="3" name="deck-title">
            <a:extLst xmlns:a="http://schemas.openxmlformats.org/drawingml/2006/main">
              <a:ext uri="{FF2B5EF4-FFF2-40B4-BE49-F238E27FC236}">
                <a16:creationId xmlns:a16="http://schemas.microsoft.com/office/drawing/2014/main" id="{ECDAF69E-9AF6-4A93-8AA9-3337D2D2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990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5F2E9"/>
                </a:solidFill>
              </a:defRPr>
            </a:pPr>
            <a:r>
              <a:rPr sz="4350" b="1">
                <a:solidFill>
                  <a:srgbClr val="F5F2E9"/>
                </a:solidFill>
              </a:rPr>
              <a:t>AI产品评测与数据反馈闭环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964921-25DD-4CF6-A189-23F04F81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723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5BC"/>
                </a:solidFill>
              </a:defRPr>
            </a:pPr>
            <a:r>
              <a:rPr sz="1800" b="0">
                <a:solidFill>
                  <a:srgbClr val="A7B5BC"/>
                </a:solidFill>
              </a:rPr>
              <a:t>第09课｜从“Demo能跑”到“有依据地上线”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6CDD2-C4CC-47A2-911A-D8ED957C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67250"/>
            <a:ext cx="2476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579A33-BC83-44EB-9DC7-173AAC924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A7B5BC"/>
                </a:solidFill>
              </a:defRPr>
            </a:pPr>
            <a:r>
              <a:rPr sz="1125" b="1">
                <a:solidFill>
                  <a:srgbClr val="A7B5BC"/>
                </a:solidFill>
              </a:rPr>
              <a:t>EVAL · BAD CASE · REGRESSION · DATA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5BF7F-4DB2-44DA-9B8C-A5587848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629150"/>
            <a:ext cx="152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150" b="1">
                <a:solidFill>
                  <a:srgbClr val="26404A"/>
                </a:solidFill>
              </a:defRPr>
            </a:pPr>
            <a:r>
              <a:rPr sz="6150" b="1">
                <a:solidFill>
                  <a:srgbClr val="26404A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928667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B0E0AD-42ED-4C49-9168-543AC1BE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45C41D-2434-4D3F-BFCA-B91F60A6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5B774E-86F1-4DB0-94A5-2EDFE5A0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315953-8B5A-44AE-8D54-AA384E9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113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8FB3C54-B2DB-4219-BEDC-47340750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AI产品上线前的评测问题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A9A87B5D-149E-4ADB-902B-294B4FCA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因为一次漂亮回答，无法代表真实用户、真实边界和真实版本。</a:t>
            </a:r>
          </a:p>
        </p:txBody>
      </p:sp>
    </p:spTree>
    <p:extLst>
      <p:ext uri="{BB962C8B-B14F-4D97-AF65-F5344CB8AC3E}">
        <p14:creationId xmlns:p14="http://schemas.microsoft.com/office/powerpoint/2010/main" val="12072143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F3C59-745D-4EF0-A2BC-C7830256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AF67AB-9A6B-47E1-9A31-12BCD649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3DCEB-8A4C-44E7-82FB-73EE5834F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B3B908-CAAC-4C8B-BABC-6140A1F5C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669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900919-224E-4278-932D-DB7BE064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AI输出的不确定性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DF42C0-C0C1-4E19-A2BC-A407362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F11C-BE97-4E81-801D-D9DD6E017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从单点演示，转向成组评测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659BD-42B6-4358-8348-8CC46AF1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AI输出具有概率性；产品要验证的是一组场景下的稳定表现。</a:t>
            </a:r>
          </a:p>
        </p:txBody>
      </p:sp>
    </p:spTree>
    <p:extLst>
      <p:ext uri="{BB962C8B-B14F-4D97-AF65-F5344CB8AC3E}">
        <p14:creationId xmlns:p14="http://schemas.microsoft.com/office/powerpoint/2010/main" val="5906154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8D57BC-5CDF-4914-AF3A-A8AE2C68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E77CB-A1B3-463E-8AA8-2A87A3728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EB239-4B3D-40D6-9158-8B184E64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011D1-129B-4CA9-923C-99B05421B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226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0211EB-3B45-42FC-B2C2-72FDBAB7E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AI产品的版本组合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63D4F422-A5FD-4386-8A3A-B1FB163B1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任何一层变化，都可能改变最终输出。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57E295-284B-4AEF-AF31-AC8DC3779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712B3-73F0-4BD8-8CA5-DAA6BA3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B10BDF-D47A-41A7-90A1-07B92D21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8AF79B-8D88-43FB-BB29-D94242B7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模型版本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10B50A-2290-4A91-9DAB-AF693F0E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F35520-049B-47D5-8A52-DFDD4C33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CF9CD5-06AE-4A5E-8B21-2B82FD10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4A740-D805-4019-A0B9-5B97809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System Prompt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CC284C-E225-472B-A9CC-30AA1BE7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B580F7-093B-4B68-ACD7-90F9299A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64BD3-6C45-413D-A7AF-23A73C8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D4A6E6-F7A0-40B6-935A-25B6B4AE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知识库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20BEA-B96A-4FB2-B162-E16579AD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F7888-24E1-46CA-B169-3EB1D577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798990-3906-40F8-989E-FDEBBF2A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5E0AE5-FA5E-4927-B11E-6C3F1D43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工作流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7FA113-EF69-49C3-A143-1F609CA0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FEFB7C-2AE1-4A28-96FC-8EBC58DA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FFD311-2AD8-41CD-B118-0E5E1EDE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工具/API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93871A-7026-4561-896A-A0AA7252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评测结论必须绑定版本，而不是只写“模型效果不错”。</a:t>
            </a:r>
          </a:p>
        </p:txBody>
      </p:sp>
    </p:spTree>
    <p:extLst>
      <p:ext uri="{BB962C8B-B14F-4D97-AF65-F5344CB8AC3E}">
        <p14:creationId xmlns:p14="http://schemas.microsoft.com/office/powerpoint/2010/main" val="1114410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A31E7C-B6CB-45E4-A549-83F107AC9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8A63D-A43A-4874-8E45-AD0D101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1A291B-4AC3-4238-B6DA-DF9A1310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88E88-6BFE-402F-AC29-ACC6D19B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783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6E1C29-544F-41BD-A1B0-0AB0D9943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AI产品测试的三个层次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AC3E7-BD34-4B49-B3D2-53B0C433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73E76-1C28-4147-807F-4B3A48A20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5EA06-048A-4B91-867C-17EE16D6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D6C2"/>
                </a:solidFill>
              </a:defRPr>
            </a:pPr>
            <a:r>
              <a:rPr sz="2025" b="1">
                <a:solidFill>
                  <a:srgbClr val="36D6C2"/>
                </a:solidFill>
              </a:rPr>
              <a:t>功能验收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02B5D6-5148-47CA-B4C4-CC0E95001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C75E"/>
                </a:solidFill>
              </a:defRPr>
            </a:pPr>
            <a:r>
              <a:rPr sz="2025" b="1">
                <a:solidFill>
                  <a:srgbClr val="F0C75E"/>
                </a:solidFill>
              </a:rPr>
              <a:t>离线评测 × 线上监控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17FC6-38BB-4393-B88B-AB23CACAE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流程能不能走通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7FCF8D-AEAE-469A-A6F5-044EF5FD4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接口与权限是否正常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BC352E-0141-448A-850A-997BDC1F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固定样本上效果如何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D727E1-8C35-401D-995E-96CF794B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真实流量中是否持续稳定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D54925-C5C6-48EF-BAAD-FCFA0FA0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6D6C2"/>
                </a:solidFill>
              </a:defRPr>
            </a:pPr>
            <a:r>
              <a:rPr sz="1500" b="1">
                <a:solidFill>
                  <a:srgbClr val="36D6C2"/>
                </a:solidFill>
              </a:rPr>
              <a:t>上线前测得准，上线后看得住</a:t>
            </a:r>
          </a:p>
        </p:txBody>
      </p:sp>
    </p:spTree>
    <p:extLst>
      <p:ext uri="{BB962C8B-B14F-4D97-AF65-F5344CB8AC3E}">
        <p14:creationId xmlns:p14="http://schemas.microsoft.com/office/powerpoint/2010/main" val="17113810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A891A-8EFF-4A1C-806E-539D9677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283E8-DAB3-4172-81CB-D1E0D65A5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38893E-9779-48C9-B09D-97E16643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B4222B-EE27-4517-A0E5-42EDB92B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339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74B157A-9888-4DA7-A531-EE29F8E47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本课内容与学习路径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8F670-7758-4289-9B43-70E871D7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5A1A6-02FF-4719-B1D1-9938DAD8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CF89FE-0331-4428-9145-3F9C54CF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E1EA1-5338-4B15-95B6-0C533FA0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风险动机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97DCF-8265-4BF2-B130-7E2D7DD66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60F63-4672-48B1-86BB-DD7FF4F48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1FB609-5ABA-46E3-BE3A-983D9E1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81C62-7641-42D3-81F5-F20B4DEC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Eval体系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D405B7-15B1-497F-BE98-8CC25401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5133B-905B-4C8C-80A1-A3CEA4BA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8B1C49-C264-417F-993C-9211B4C2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25AE16-B159-4779-B77C-915CBCD1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Bad Case与回归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16F69-201D-40CE-BFC0-2B5CFE48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0DAB04-0099-4B82-9960-303CC465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1C8335-8C18-4D99-B3F0-65C3BD0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数据反馈闭环</a:t>
            </a:r>
          </a:p>
        </p:txBody>
      </p:sp>
    </p:spTree>
    <p:extLst>
      <p:ext uri="{BB962C8B-B14F-4D97-AF65-F5344CB8AC3E}">
        <p14:creationId xmlns:p14="http://schemas.microsoft.com/office/powerpoint/2010/main" val="12055728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D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53D25A-45A0-4B96-ABBA-0D319DA98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08EEC-9C9D-42D9-93D3-F6B35465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F53029-BADF-462C-A5E8-58B87F11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11F17-4783-414A-8B24-64420F4F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B38451-F8B0-4FEE-BF5C-7256668E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大模型幻觉及其业务风险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2E4DF8-0817-4A7D-B806-307D2BE1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0D356B-8963-4F2B-9146-68D4BBE9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7657"/>
                </a:solidFill>
              </a:defRPr>
            </a:pPr>
            <a:r>
              <a:rPr sz="2400" b="1">
                <a:solidFill>
                  <a:srgbClr val="FF7657"/>
                </a:solidFill>
              </a:rPr>
              <a:t>可接受的产品，不等于永不出错；而是错误可发现、可拦截、可追踪。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6C469-433F-4EB3-86A1-D90CE747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当答案进入客服、营销、医疗、金融或企业流程，错误会变成业务不可控。</a:t>
            </a:r>
          </a:p>
        </p:txBody>
      </p:sp>
    </p:spTree>
    <p:extLst>
      <p:ext uri="{BB962C8B-B14F-4D97-AF65-F5344CB8AC3E}">
        <p14:creationId xmlns:p14="http://schemas.microsoft.com/office/powerpoint/2010/main" val="11330777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F9F412-C7B4-4EFD-A7CD-1DB2DD3B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03B924-AC66-45C5-A676-BB013874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5496F6-02C2-4488-99AF-C5EDADA1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9D026-6FF5-4512-84AB-3B915A87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2453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BC25A4-6FD3-416B-B4DF-7887A0944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AI错误的业务影响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5A95CF31-0E8D-4F73-8904-55E0B5A9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错误的严重度，不由“错误率”单独决定。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E3D35-EAD5-4BF4-8993-D9C83CCE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5B94BA-309E-4C60-9E38-5FA298DCA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高频问题答错：持续侵蚀信任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06AC2-208A-472C-9EA2-E7B7CF96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E97891-4800-4297-863F-F48B0C9A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低频高风险问题答错：直接触发合规或资金损失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560BC4-65E0-46A2-82D0-51104768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F91E1-33BE-400F-AAE5-FF74F136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语气看似确定：让用户更难识别风险</a:t>
            </a:r>
          </a:p>
        </p:txBody>
      </p:sp>
    </p:spTree>
    <p:extLst>
      <p:ext uri="{BB962C8B-B14F-4D97-AF65-F5344CB8AC3E}">
        <p14:creationId xmlns:p14="http://schemas.microsoft.com/office/powerpoint/2010/main" val="84098954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47EBE1-A107-43B5-AC4F-8F5AB30EE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623E-8860-4BE7-8E35-F362A418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2F9392-50E2-44BB-BF92-5547DF13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F2209D-F87E-400E-AD64-7CE41007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40099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628C39-DFF7-4B0D-935C-E8E9EBF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大模型幻觉的三种类型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A8C68A-7409-4FF3-9F6B-BC4FEA91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9F68BC-6D3B-45BD-97FB-07F746A6B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66198-863C-472A-924D-2C06A4402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事实幻觉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34DF0B-14FF-402A-9A91-EC5DD120C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编造不存在的政策、价格、数据或出处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74E48-96A7-448F-9771-8B42CD682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4239C7-E54B-489C-A57B-5119D67D9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0A58EF-984A-4522-9A30-3E987695C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指令幻觉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89D597-1818-4EDB-9EEB-E4D0150B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没有遵守限制条件，擅自承诺或执行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DECC62-7FBF-4859-AABA-0EFE899C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E23950-0D02-447B-8F13-2767DA20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4C545-6584-4A92-A595-B4288879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上下文幻觉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66D271-0869-45DE-8B78-80B4565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忽略当前会话、用户身份或前置条件</a:t>
            </a:r>
          </a:p>
        </p:txBody>
      </p:sp>
    </p:spTree>
    <p:extLst>
      <p:ext uri="{BB962C8B-B14F-4D97-AF65-F5344CB8AC3E}">
        <p14:creationId xmlns:p14="http://schemas.microsoft.com/office/powerpoint/2010/main" val="668567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D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CB3C7-BFD6-4217-9372-B7DC407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ECAD03-0C56-40B3-8BF7-13C89379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30D372-62C5-4C19-9D5B-7201B3EE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39C00-D887-41F1-A133-5F6EE140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5566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0E6E3E-8D2F-41CA-AEE0-47A259D2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AI产品评测的核心价值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FA30C-9E90-4C56-9D64-F7549D74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424DC-1919-4583-A7E3-03B06B2D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7657"/>
                </a:solidFill>
              </a:defRPr>
            </a:pPr>
            <a:r>
              <a:rPr sz="2400" b="1">
                <a:solidFill>
                  <a:srgbClr val="FF7657"/>
                </a:solidFill>
              </a:rPr>
              <a:t>评测的价值：把“感觉不稳定”变成可讨论的证据。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36EE3-B216-4F2C-A2BE-6D00F62D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如果错误不可预测、不可观测、不可复现，团队就无法决定是否上线。</a:t>
            </a:r>
          </a:p>
        </p:txBody>
      </p:sp>
    </p:spTree>
    <p:extLst>
      <p:ext uri="{BB962C8B-B14F-4D97-AF65-F5344CB8AC3E}">
        <p14:creationId xmlns:p14="http://schemas.microsoft.com/office/powerpoint/2010/main" val="29465856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1BC899-BB4E-416B-8497-1D64E29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3B33F1-F28A-4E51-B00B-A8C6E6D7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B72B5-10C4-4597-BFEB-7A18B107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E649D-1263-465C-BACD-B9823FB2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7123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0C2C89-C234-4C07-BD4F-BDE5FADF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AI产品的五道风险防线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5F387-2D89-4136-89B6-E0BD158B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1A7B5-9DD4-43A6-B9F5-8BB110837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39371-96EE-4073-B0FE-B4C44B12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7605F-42EE-484F-A7BC-A520EAD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数据与知识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95881-D0BB-4344-A892-278D852A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FE49C8-C734-4D5E-B020-BD5F3DE47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513CE-4613-4060-9D9D-855BBA78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0BF303-0423-4F96-9E1C-8C5E1CF2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Prompt与规则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0C1F6-50EA-4E93-B609-F92AC09C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0EF372-5184-4782-8472-63B25E9B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27BBF-5F68-49B1-98A4-C714C3D9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29C65F-1DAE-46D8-A357-395EB432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模型与工具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377586-2159-4703-A0A7-19A0EB68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C01DE-638C-49C2-90F1-09ACBC8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C365C6-E643-4BC4-8BC3-C1B9D20A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276E9-39D4-4544-B0C6-C4F1B6F0F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输出校验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DDB51D-2EB6-438B-BB6C-329839A2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3EA37F-BD7D-4882-883C-234D164AD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4E8A9-51ED-49F7-B26E-0F7764F2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人工兜底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EA24BB-A245-4181-B5BA-52F04D38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本课聚焦：如何用评测判断这些防线是否真的有效。</a:t>
            </a:r>
          </a:p>
        </p:txBody>
      </p:sp>
    </p:spTree>
    <p:extLst>
      <p:ext uri="{BB962C8B-B14F-4D97-AF65-F5344CB8AC3E}">
        <p14:creationId xmlns:p14="http://schemas.microsoft.com/office/powerpoint/2010/main" val="8895813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4CE97E-48F7-497C-B90B-9D8575C2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3637EB-C9DC-4481-94C4-05030ED9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3683BB-F6D5-42A9-9CCD-988649CF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3C071D-483C-40F8-B036-03A94A98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8679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FA9758-9239-46FE-99B0-7965CA23C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客服场景的主要测试风险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83392-D6AA-4A0F-AD38-ACAF9AE3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A8CF09-0F44-4B12-A716-8BACE10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虚构退款、促销或物流政策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4278C3-873C-4015-B3AE-5EE31077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A7F7F7-F181-4FBB-BDE8-E14E54E2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未核验身份就泄露订单信息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F7BB5-EF88-4458-BEC4-FC9C5B464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B29655-D9DA-488B-AE2B-207CD7E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越权承诺赔付或到账时间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C10B4B-C5F1-4232-81FF-876E382E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152ED-2BA1-4547-9B4E-9FC96B3F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情绪激化、攻击性或歧视性表达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6CB85-497F-444E-8A3D-C73D6BF8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6E8446-525F-48B1-88A1-06D26D4FD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没有答案时仍强行作答</a:t>
            </a:r>
          </a:p>
        </p:txBody>
      </p:sp>
    </p:spTree>
    <p:extLst>
      <p:ext uri="{BB962C8B-B14F-4D97-AF65-F5344CB8AC3E}">
        <p14:creationId xmlns:p14="http://schemas.microsoft.com/office/powerpoint/2010/main" val="3241383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71BB36-C8C4-43CD-8B2A-AA1E493F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23A0A-3AB9-46F5-9162-BC3D36C4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F9128-39CB-48F7-80A0-0C262947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C35AF-2CE2-4117-AFDE-8ED1462D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0236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7BB0D59-3621-4163-8FAF-1A53FCDE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AI产品评测的三个常见误区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C97ABB-1F46-4059-8043-0D49C446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23FC16-9ABC-4ED1-B8A4-B419347E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0D3208-8525-45EC-92A4-32A7D0A9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只测正常问题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BB5A3-AB05-4952-B5CA-E6C0962F1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边界、异常和高风险样本被遗漏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131B5F-B368-4FC0-8B1A-7F9A1138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B6FF9-0BB0-4306-B460-2486AF88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FF542-0B3C-4F65-924D-29D431C37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只看平均分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132DF-3A9D-4015-8EDB-BD13FE0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严重错误被大量普通样本稀释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DEF7CF-ED1D-4A33-A26E-E01A13A9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F45920-9466-4D66-AA66-E8F208C44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22691-6CE3-4C94-8175-8645F9DB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改完只测原题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DD4759-E35E-43BF-A0BB-64BD9092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修复一个问题，却可能伤到其他能力</a:t>
            </a:r>
          </a:p>
        </p:txBody>
      </p:sp>
    </p:spTree>
    <p:extLst>
      <p:ext uri="{BB962C8B-B14F-4D97-AF65-F5344CB8AC3E}">
        <p14:creationId xmlns:p14="http://schemas.microsoft.com/office/powerpoint/2010/main" val="20379068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0B16E-5705-4196-87EA-1F1A04E6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WHY EVAL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92A307-6CA0-460E-B954-67DADCC8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D3D8A9-B21D-4E95-979B-1966DE040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E501BB-7DA1-4EDF-927B-019060DC1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1793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B80052-FEED-4DCF-9B16-ECA9C3CD0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从风险识别到评测体系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BFF9EC-7C22-4531-96B5-A187CFA4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0EB060-0E1F-4778-919D-DB0A2347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从“主观体验”进入“Eval体系”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BE03EF-445C-4A9A-BACF-8D60CF9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接下来把风险变成样本、指标、门槛和回归机制。</a:t>
            </a:r>
          </a:p>
        </p:txBody>
      </p:sp>
    </p:spTree>
    <p:extLst>
      <p:ext uri="{BB962C8B-B14F-4D97-AF65-F5344CB8AC3E}">
        <p14:creationId xmlns:p14="http://schemas.microsoft.com/office/powerpoint/2010/main" val="5686342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75F6D0-6DCA-47F6-8DC3-425AD12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761A15-633F-4A50-BC57-AF3B319D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0" b="1">
                <a:solidFill>
                  <a:srgbClr val="36D6C2"/>
                </a:solidFill>
              </a:defRPr>
            </a:pPr>
            <a:r>
              <a:rPr sz="91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E0987-2B54-4D70-85D7-423B819A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766A3-DEBB-4DC2-A14B-6832B2004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AI产品评测体系的构建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AB6471-E477-4662-9F2E-57C9F48C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5BC"/>
                </a:solidFill>
              </a:defRPr>
            </a:pPr>
            <a:r>
              <a:rPr sz="1800" b="0">
                <a:solidFill>
                  <a:srgbClr val="A7B5BC"/>
                </a:solidFill>
              </a:rPr>
              <a:t>固定题、统一判卷、重复运行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86877C-6E60-412C-BA05-85F9A734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C7E57-5729-48A2-9214-2331F36E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D80067-F205-4C95-BF5E-75311AB5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EEBE4-C280-4DF1-8D38-BE706FB6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33498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93482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F51C04-14A3-45D1-AF03-E4A726D6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D2BC3-966A-49DA-917C-05E58B7E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19271-83AF-4CFC-A115-C54002E3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82663-8D3F-417D-8E08-FA05AE4FD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4906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4202A87-59F1-45DE-B3A9-1E73ACAE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AI测试与传统测试的差异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8A758B-2191-4851-82BD-49E61EC8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466872-6A91-4F07-A96F-D6AF60C1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A74A53-9230-49FA-88AD-B1DFE20DE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D6C2"/>
                </a:solidFill>
              </a:defRPr>
            </a:pPr>
            <a:r>
              <a:rPr sz="2025" b="1">
                <a:solidFill>
                  <a:srgbClr val="36D6C2"/>
                </a:solidFill>
              </a:rPr>
              <a:t>传统软件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1F5F3-0CB9-4315-B939-6EB989F33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C75E"/>
                </a:solidFill>
              </a:defRPr>
            </a:pPr>
            <a:r>
              <a:rPr sz="2025" b="1">
                <a:solidFill>
                  <a:srgbClr val="F0C75E"/>
                </a:solidFill>
              </a:rPr>
              <a:t>AI产品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F6297-EABC-4CED-B727-73826A8D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输入—输出相对确定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CF670-0F3B-4436-8FC2-BD925B90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Pass / Fail 边界清晰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5EB72-C3E7-46EF-987A-05D34453F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相同版本容易复现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099D75-18F5-4CFA-AF2B-4890CAC70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同一输入可能多种合理答案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C56F0-0796-48D8-A59D-64EAB019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质量标准包含主观判断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431EBF-CDC8-4431-9429-F491461D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模型与上下文让结果波动</a:t>
            </a:r>
          </a:p>
        </p:txBody>
      </p:sp>
    </p:spTree>
    <p:extLst>
      <p:ext uri="{BB962C8B-B14F-4D97-AF65-F5344CB8AC3E}">
        <p14:creationId xmlns:p14="http://schemas.microsoft.com/office/powerpoint/2010/main" val="19380414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CEDEB0-01D7-46E0-A93A-BBF9FA77D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834ED-4798-45E5-8912-F2360DE6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E98B89-25FD-4B47-9003-6A0DC64A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580C6B-51E1-4AEF-A87D-C0FB8B1B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64631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74D5A7-C7A8-47A5-B8C6-3C997820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AI产品测试的四个难点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EAB9F-8DF3-4247-A557-660639625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97B0E5-881A-4C4A-8689-A829C3C93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B59FB-2478-4FEF-AADD-47DE130C7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输出不确定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8D7944-6A20-4E7E-87CC-C7101467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9A543-E2C6-4D63-A8B2-05EC72F0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F0B8D2-D6B9-4D14-8C76-A1A417323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标准不唯一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ECBA3-6976-441B-A440-B9E0F695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C23E15-7E9A-41A4-8A9B-FD768D5F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E91BB0-9B9A-4453-BC2A-62C848B72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覆盖成本高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713972-CB39-4430-BCF8-33ED54737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3CC3B-A45A-447C-80B8-30044C78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09A105-6AB4-43AE-843B-E79A89F3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版本变化快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D99C04-52CA-4160-AA14-4F4D1B54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解决方案不是找一个万能指标，而是建立组合评测系统。</a:t>
            </a:r>
          </a:p>
        </p:txBody>
      </p:sp>
    </p:spTree>
    <p:extLst>
      <p:ext uri="{BB962C8B-B14F-4D97-AF65-F5344CB8AC3E}">
        <p14:creationId xmlns:p14="http://schemas.microsoft.com/office/powerpoint/2010/main" val="13612806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59CCEB-0C67-4103-8B7F-926B8979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70B293-A984-42C7-8153-DEBFDEDE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B8C69-477C-4DF1-B109-8F18F042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377DF7-52E8-49E2-9AC8-7B11626D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80198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2FEC5B3-581C-41BF-89A9-45853BDBA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AI产品测试的六个维度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22D585-3CDE-4B9E-A659-0EA35B40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55540F-CCFD-41D1-BCB6-091FBFC3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BD308-A76C-43C1-942B-DB7A9966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7E305-69D7-4A87-A1C3-623FEBD2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B7EAF-01E4-498C-A4EA-2E202DD4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2725F8-8AAF-458A-BC21-09D7C2CA6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AI任务效果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E8712A-68DC-4446-9755-48E28C0CD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EFD746-9E1F-4CEF-A8AF-E984C0EF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07925-367C-475A-8E2C-38B0C171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可用性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C77FA9-6191-4407-8004-D0E7A280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9F222B-04A5-461F-9746-7C7FBC53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A4703B-0296-4AAC-9396-4136E7E3A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非功能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9667B7-F3A4-4449-806C-21CD4F3B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0F558B-A48D-4AF0-A6EA-E77F8840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8C6DE6-FC26-4CF6-8E4C-7F1F6805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鲁棒性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C4B4E-1F6E-411E-96CC-FB9AE3CF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D40947-6808-42BD-BE96-AB1C6BA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F454E-2585-4803-8EA3-B1234D9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安全与伦理</a:t>
            </a:r>
          </a:p>
        </p:txBody>
      </p:sp>
    </p:spTree>
    <p:extLst>
      <p:ext uri="{BB962C8B-B14F-4D97-AF65-F5344CB8AC3E}">
        <p14:creationId xmlns:p14="http://schemas.microsoft.com/office/powerpoint/2010/main" val="2053719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568C9-B262-4244-8BF8-F501D34E2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B0857B-55F6-4B55-A16A-CE4FCB62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67A2B-AE77-444F-9F88-73733637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107290-192A-4844-A103-924FC023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29576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AB8B43-F94F-4F4C-AF8B-EA412E3B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本课的重点评测范围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A6CFB-9542-4FAA-BA49-B2420D210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2F2F4-BCE9-4286-AC24-A97D23DE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其他测试类型最后统一速览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30A3F-444A-4971-A833-C72CCB35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先确保流程可用，再判断回答是否正确、相关、完整、安全、符合风格。</a:t>
            </a:r>
          </a:p>
        </p:txBody>
      </p:sp>
    </p:spTree>
    <p:extLst>
      <p:ext uri="{BB962C8B-B14F-4D97-AF65-F5344CB8AC3E}">
        <p14:creationId xmlns:p14="http://schemas.microsoft.com/office/powerpoint/2010/main" val="23897428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EBF3D-0F8F-4792-A46E-CC2609CF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49BC28-12D6-4D3D-B244-DE14A83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AEDE42-0586-404F-8A00-504F56AF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2D97E6-943A-4FFB-9200-B9F4EA57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1133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00A7A24-0087-4AA7-BC54-BBF3FC9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AI产品评测的三种执行方式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E81EA7-6C4E-4103-B01E-E58898DFD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020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EDD8A3-DE64-465E-9305-F278A894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49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51E31-D6CB-4F21-8DF9-F166EF264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4F58A8-A89A-4945-8EBD-107C06A8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326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用户场景模拟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00CD7-6B7C-445A-BA06-3A8F77D1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415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834CB-57B2-4631-8E96-241456AD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9750" y="2857500"/>
            <a:ext cx="349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3C3690-609F-4B62-97EC-62A357EA3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10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E8BD1A-907C-49B1-841D-447023BF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050" y="3362325"/>
            <a:ext cx="326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人工抽测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351434-58DB-4E77-9A21-ED094260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2857500"/>
            <a:ext cx="349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876698-AD89-47C1-B09F-487F3DE2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70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BDE45-6832-497B-B2BF-21445778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362325"/>
            <a:ext cx="326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自动化脚本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2D45F-4F9C-48C1-9830-16328973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小规模靠人工理解，大规模靠自动化复现；两者必须互相校准。</a:t>
            </a:r>
          </a:p>
        </p:txBody>
      </p:sp>
    </p:spTree>
    <p:extLst>
      <p:ext uri="{BB962C8B-B14F-4D97-AF65-F5344CB8AC3E}">
        <p14:creationId xmlns:p14="http://schemas.microsoft.com/office/powerpoint/2010/main" val="141752966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5D9DB-FA87-4632-B181-E4C499F6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E4A1F5-3D08-4ED2-AD93-0736ED0D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726A9-34FE-4826-A5FD-54940FFE1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AA4F0-6475-4D24-8A0D-3BEA5B2A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2689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47824A7-87F2-4759-B135-E2942810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AI产品评测的判分难点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B99AA4-BD09-446E-AEB2-2C0BF807E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C10BC1-5044-4F13-9722-3E6DB89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9FCC2-1D9E-4156-AA2F-E1DE06B9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非确定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FF2F0-EB04-4F55-8967-8887798F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同一题多次结果不完全相同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1A4F63-CD7E-4C54-8069-90FD7359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3C769B-687C-46DF-84B2-63BA0672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E3BCA6-2637-4651-BD4B-30E41034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主观标准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6FA133-F88E-4705-9027-5C0CF1E53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正确之外，还有语气、风格和完整性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27C28D-DD62-44F5-A7FA-C25CCF0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70DB22-C3E6-4D62-9684-739784D8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877371-BBFA-43E4-934C-AD29D884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规模覆盖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AD9585-4378-461D-9921-8AC5113E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真实用户表达远多于测试人员能穷举的范围</a:t>
            </a:r>
          </a:p>
        </p:txBody>
      </p:sp>
    </p:spTree>
    <p:extLst>
      <p:ext uri="{BB962C8B-B14F-4D97-AF65-F5344CB8AC3E}">
        <p14:creationId xmlns:p14="http://schemas.microsoft.com/office/powerpoint/2010/main" val="115200799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6E4E-3DE2-43BD-8E9A-9D195F162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4082C-38A9-40E9-AB57-E4F8512A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4C2856-C53B-4E09-97C2-D6A6BA8A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37A9E2-FC6B-40AB-9F0F-8ADE0757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4246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82B7A3-AFEF-469B-A7C8-176D8437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量化评测的作用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57BC33-ECAB-4D7F-8B85-B92F5D7C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2E217-2049-4FD2-8141-926127D18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没有统一尺子，就没有可靠回归。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740DE-A840-4B8B-9EF0-DA8B7D2C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量化的作用，是让版本可比较、问题可定位、上线门槛可执行。</a:t>
            </a:r>
          </a:p>
        </p:txBody>
      </p:sp>
    </p:spTree>
    <p:extLst>
      <p:ext uri="{BB962C8B-B14F-4D97-AF65-F5344CB8AC3E}">
        <p14:creationId xmlns:p14="http://schemas.microsoft.com/office/powerpoint/2010/main" val="111573187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1C0568-728A-42F0-A8A8-18847644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25245-5142-4A16-A1BD-B6E0EC90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1DBD85-B013-4B15-AE2D-3492E3A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4FD7AD-79B9-4B2E-826A-1029DFE0F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5803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6AC7D0-94DF-4DA2-B21A-BC4BA359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评测对象与版本控制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C22B2-310C-4D20-B5A4-733B14F2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6269C-32FB-4FFA-958F-26928400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CAE74-2D2F-43DF-A7E1-16740F42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77C3AB-B88F-49BF-90B8-88340FCC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记录版本组合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65305B-DF79-46EB-98E8-3FF96988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A28AF9-6828-4A55-A83C-C685F028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BFC92D-77B2-4B37-B0FD-B3C21AFF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DD0BB5-7333-42D9-AB9B-5DA76272D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锁定评测集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21BDB-9EEF-40ED-B871-D1FAD9B0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505823-81B0-4468-B6A6-CB0B6640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440FD-92AC-40AF-B2B1-E44445B6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F3F01C-D004-4B7C-8136-E4E18428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统一评分规则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607CE-97AA-43B4-95BC-5D7AD869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49FD0B-43C6-4A64-8629-19618112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985D2F-5D65-45D4-B801-A5D171C0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5A45F1-FC8D-44DA-B848-E262D7C6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重复运行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C90F6-1969-4EF4-A5FB-4A09F4A66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AAF25B-C2E7-44B6-9DC5-3F19E4F0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0BFC2F-86D6-4392-849C-CCB6AC9C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比较差异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321FD-C057-4BB1-9216-B390A1D53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每次报告都要能回答：测的是哪个版本？用的哪套题？谁来判？</a:t>
            </a:r>
          </a:p>
        </p:txBody>
      </p:sp>
    </p:spTree>
    <p:extLst>
      <p:ext uri="{BB962C8B-B14F-4D97-AF65-F5344CB8AC3E}">
        <p14:creationId xmlns:p14="http://schemas.microsoft.com/office/powerpoint/2010/main" val="18966031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DA6374-5016-49CE-A90A-CB228EB5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F8A61-D33B-4C09-A203-2F7EE3B8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8A104-2717-44EC-A8FA-4CECAC5B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8ACBD-F8E3-4996-916F-2F11DA2F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7359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8A6641-DE8B-437B-A9C8-8C36725B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评测集的四类样本来源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F030AE-F956-4B3B-B46A-6E0A6898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D0664B-DF5E-4719-A6EF-D67C9CCE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真实用户问题：最接近线上分布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5DF17-8537-47FA-ACD9-1A6A8FB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72CA2-67EB-4C62-AAF2-E3864792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历史 Bad Case：最值得回归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73F74-467E-47B1-8031-736FF5F5E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A45458-21D3-42BA-A47B-33B97644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业务规则与红线：最不能犯错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123BF-8C0D-4E67-8CFC-C5AF77F5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A6BC42-43E9-4FFB-B1CF-97E741961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AI扩写变体：提高表达覆盖</a:t>
            </a:r>
          </a:p>
        </p:txBody>
      </p:sp>
    </p:spTree>
    <p:extLst>
      <p:ext uri="{BB962C8B-B14F-4D97-AF65-F5344CB8AC3E}">
        <p14:creationId xmlns:p14="http://schemas.microsoft.com/office/powerpoint/2010/main" val="78166917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5BE067-7315-4D85-823D-A9EE80D26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94A58E-24A6-4C3A-BBE6-E54A4515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5C6CDF-3AEC-47F0-A9AC-F7706E2E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9E654-88ED-455E-B9B5-A14EC04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38916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0097A9-71B9-44A4-8B08-712E9374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评测集的五类样本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497900-BBDD-4D13-8DE7-6512AA168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8E434-B7EA-4A79-8FB0-DC3259E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D5662-CA25-4B12-9C5B-B149231D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典型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65D511-8F4B-47DC-8CB4-0792515F1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DC1F8-D4FF-4D65-9E1C-6708D8B7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B6496-1649-4888-BFDF-DC67AE27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CA85D4-CA65-4DE1-A9B3-815A7797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19C356-DA4A-4E70-ADF8-D1452AAD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58C3A9-F052-468E-8B6D-A65D28A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异常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4439C1-25CF-4922-9EC7-B6F184B36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2DBCFB-A6AF-47E8-9504-E704C05A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670692-3688-4086-B2C7-FC909A46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无答案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E4325B-E19D-4B22-8F6A-28C0DF82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6EB0E-F9EC-4BE9-BC35-5C2CB8F3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AFB678-87B8-4B3D-AF5B-D4761744F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高风险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4B0B17-C9EB-41BC-AFC1-6B49354F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比例不必平均；应按业务频率与风险加权。</a:t>
            </a:r>
          </a:p>
        </p:txBody>
      </p:sp>
    </p:spTree>
    <p:extLst>
      <p:ext uri="{BB962C8B-B14F-4D97-AF65-F5344CB8AC3E}">
        <p14:creationId xmlns:p14="http://schemas.microsoft.com/office/powerpoint/2010/main" val="95552967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16D37-3F87-4B15-9479-5F6EF19A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D67371-64D6-4F4F-9BC0-8FD388A7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89D90D-CF17-493D-A127-73237E5C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42D44-9B02-42AC-A58B-F324F07C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04730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233347-FD5B-4BB4-BFBF-243D1CC4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评测用例的字段设计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046969-D7A2-4650-89B2-88E291E1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6E028-1AB4-449C-94C4-05D5B99D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字段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F7A86-80CD-49FB-8AD8-87D73D2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729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作用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D4F20-D47B-455C-9CC2-CF82FD3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F2CD21-A12A-4639-94DF-CC7AA720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Case ID / 场景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CF3D6E-5B3F-440A-BD19-20E13DC0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813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确保可追踪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A4D48-1AB2-4445-985B-02D68D73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A463B1-0C88-4DF2-B2AE-8D8C19DA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用户输入 / 上下文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83286C-2D61-4D73-A109-53D0B58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99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还原真实条件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432FE-FAF2-4AAF-99FA-67B54DE9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AD569E-1542-41DF-BF7A-1127F035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参考答案 / 评分点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C58ABE-E08A-41F0-8642-D2F81CE9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明确判题依据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F1423B-BD83-4C29-81A5-34E17B3A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0B1584-ADB4-48D7-A306-58588278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风险等级 / 标签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84FC39-10BF-48F5-91BF-5B5C81CEA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支持加权与筛选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2754C-686A-41F6-8827-8258C1EF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ABD91F-2D2F-46C8-8B10-7C839E36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版本 / 实际输出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0CA86-7E75-4F4D-A0C1-757E379A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959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支持回归比较</a:t>
            </a:r>
          </a:p>
        </p:txBody>
      </p:sp>
    </p:spTree>
    <p:extLst>
      <p:ext uri="{BB962C8B-B14F-4D97-AF65-F5344CB8AC3E}">
        <p14:creationId xmlns:p14="http://schemas.microsoft.com/office/powerpoint/2010/main" val="9494641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AB95FE-FF02-4D1A-8ABE-1EEB2771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2B097-76CC-4740-8B9A-02760DF55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EE108E-81AB-4BD3-A07D-23717AC7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3EF7F-F658-41FC-BDE8-88C098D36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2029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238A82-33E9-4D4F-AA3C-D0230F287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评测用例示例：促销叠加规则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C0BAF-8B84-480A-8610-55D8DF06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F51D5B-E5F9-4E57-A07F-4335B7986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9"/>
                </a:solidFill>
              </a:defRPr>
            </a:pPr>
            <a:r>
              <a:rPr sz="2025" b="1">
                <a:solidFill>
                  <a:srgbClr val="F5F2E9"/>
                </a:solidFill>
              </a:rPr>
              <a:t>用户：会员券能和满减活动同时使用吗？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054B-544C-41B6-88BE-13EB69EF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77646-75A9-478B-8DCF-CFA43439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SCORING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F1294-7B60-4109-9D45-DBC8B2EB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评分点：说明适用条件；不得承诺所有门店通用；信息不足时引导核验活动页。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82A70-35E7-48AA-91CD-42C9E71C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53CF99-55E0-443A-95BA-10273FE2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业务规则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A09E9-DE30-40AF-865E-D88951240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404042-336A-4976-ADB8-5359B1BA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高频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FD5445-013D-4E59-B737-883DCF0F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5A6B2-6D51-4D13-9AC7-754641C1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中风险</a:t>
            </a:r>
          </a:p>
        </p:txBody>
      </p:sp>
    </p:spTree>
    <p:extLst>
      <p:ext uri="{BB962C8B-B14F-4D97-AF65-F5344CB8AC3E}">
        <p14:creationId xmlns:p14="http://schemas.microsoft.com/office/powerpoint/2010/main" val="76847471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6EF90-3224-4BFC-92B9-870ABF3F1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97965F-8F0A-4BA2-8DF9-33228274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F4D896-4258-4A0F-A342-D4144FF0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3E7FC-67E3-4CE7-9C4E-873D3CAA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3586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B92B607-B18B-41D6-8B22-BA3B415AD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语义相似度的作用与边界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514C2-7498-4B5A-A34D-71DECB0D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3BC0B-CBD6-40AF-9363-9387BF8B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适合判断表达接近度，不适合单独判断事实真伪。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F6423A-C680-434C-A1A9-2743601F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它比较答案在语义空间中的距离，而不是逐字比对。</a:t>
            </a:r>
          </a:p>
        </p:txBody>
      </p:sp>
    </p:spTree>
    <p:extLst>
      <p:ext uri="{BB962C8B-B14F-4D97-AF65-F5344CB8AC3E}">
        <p14:creationId xmlns:p14="http://schemas.microsoft.com/office/powerpoint/2010/main" val="22373406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CC673-9B68-46F7-A55F-6E97C55E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CA89C2-AA5F-428F-A08C-4AEDADA5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54EC87-2BDF-4C34-8F74-49EF65A5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1AEF6-0428-4C3D-8540-8E8AD2A41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51430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2E99ED-2876-4AC2-A7CB-F493F207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余弦相似度的基本原理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C8C08BC9-63F5-44C7-BCB7-59FD12B1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方向越接近，相似度越高；但“方向接近”不代表关键事实一定正确。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F9052A-04BD-4CC1-B561-308B7437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69C9C7-17A2-4707-A83C-F8722125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36D6C2"/>
                </a:solidFill>
              </a:defRPr>
            </a:pPr>
            <a:r>
              <a:rPr sz="6750" b="1">
                <a:solidFill>
                  <a:srgbClr val="36D6C2"/>
                </a:solidFill>
              </a:rPr>
              <a:t>0.86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2548E-7E4A-4851-9CCA-A98DA1B91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B5BC"/>
                </a:solidFill>
              </a:defRPr>
            </a:pPr>
            <a:r>
              <a:rPr sz="1800" b="1">
                <a:solidFill>
                  <a:srgbClr val="A7B5BC"/>
                </a:solidFill>
              </a:rPr>
              <a:t>语义接近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15187-F0F2-4952-BF6E-D83171F1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8CCE05-9138-40FE-BC91-7605B62C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76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0B5AD-F98E-4B24-96F0-3DA162D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答案A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221110-4C84-4BE6-B0C8-3C089F9C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答案B</a:t>
            </a:r>
          </a:p>
        </p:txBody>
      </p:sp>
    </p:spTree>
    <p:extLst>
      <p:ext uri="{BB962C8B-B14F-4D97-AF65-F5344CB8AC3E}">
        <p14:creationId xmlns:p14="http://schemas.microsoft.com/office/powerpoint/2010/main" val="27734256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23D9C-F896-403E-B7D6-A03D6ED9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DFFD45-A448-4271-8364-DB0A04DE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2A4BF4-9627-405A-8470-6182E04B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31F2E-A517-47A9-A554-8461B036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66997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C4E3AD2-3F3C-418E-BFF8-467BF5F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语义相似度评测示例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23D711-AA5F-49FC-8DB3-E6A65A8D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86DA4-4D74-404E-B8F8-A4FCD53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9"/>
                </a:solidFill>
              </a:defRPr>
            </a:pPr>
            <a:r>
              <a:rPr sz="2025" b="1">
                <a:solidFill>
                  <a:srgbClr val="F5F2E9"/>
                </a:solidFill>
              </a:rPr>
              <a:t>参考：订单付款后24小时内可以申请取消。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BFA0B0-6821-4690-95F0-78B9B584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9D32C3-84BC-4AA7-8207-0E9A74F2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SCORING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C34480-C30B-40D5-9C88-3E926FE2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AI：支付完成后的1天内，用户仍可发起取消申请。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3BF7E-0E02-4520-BF88-4CE1DA77F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7C9F8E-190B-4A5D-8077-BC67A56F6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核心条件一致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39387-DE38-4B28-823F-48F92750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FEB44C-9381-4C97-8A71-ECEB20F0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表达不同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CEAA8-59B5-4EFC-B286-346F9535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467E72-E242-40AF-9EC0-0C60D937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高相似</a:t>
            </a:r>
          </a:p>
        </p:txBody>
      </p:sp>
    </p:spTree>
    <p:extLst>
      <p:ext uri="{BB962C8B-B14F-4D97-AF65-F5344CB8AC3E}">
        <p14:creationId xmlns:p14="http://schemas.microsoft.com/office/powerpoint/2010/main" val="53675699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D11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5C53E-E80C-499F-B09A-8A4007A0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0F33C-C104-4F06-A33C-11DC2DCA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064D2-0EBB-42E4-AB6C-E80AE374A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1F5AB1-DF29-4080-A73E-6D5652E97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8256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DC0CCD-D1BB-4C6C-9A4F-19070E01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语义相似度的局限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823DA-CE2B-4651-84DF-35FFC3BA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5F26ED-B8B4-4345-AD39-CBC8D7C43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F1CC67-B64B-4413-8B9A-2776CF81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D6C2"/>
                </a:solidFill>
              </a:defRPr>
            </a:pPr>
            <a:r>
              <a:rPr sz="2025" b="1">
                <a:solidFill>
                  <a:srgbClr val="36D6C2"/>
                </a:solidFill>
              </a:rPr>
              <a:t>参考答案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F9665-2789-4473-AC58-4EC039BB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7657"/>
                </a:solidFill>
              </a:defRPr>
            </a:pPr>
            <a:r>
              <a:rPr sz="2025" b="1">
                <a:solidFill>
                  <a:srgbClr val="FF7657"/>
                </a:solidFill>
              </a:rPr>
              <a:t>AI答案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764BB2-4D49-49DE-9B7A-2B39AD4C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退款到账：3—5个工作日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FAB250-E505-4B18-AAA2-C7CDEA1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退款到账：5—7个工作日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4906C-D4B2-489A-8803-E9D273CB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其余表达几乎完全相同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AA0C05-477F-481D-8E0D-D5EFAE7A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7657"/>
                </a:solidFill>
              </a:defRPr>
            </a:pPr>
            <a:r>
              <a:rPr sz="1500" b="1">
                <a:solidFill>
                  <a:srgbClr val="FF7657"/>
                </a:solidFill>
              </a:rPr>
              <a:t>一个关键数字错误，足以让答案不可用</a:t>
            </a:r>
          </a:p>
        </p:txBody>
      </p:sp>
    </p:spTree>
    <p:extLst>
      <p:ext uri="{BB962C8B-B14F-4D97-AF65-F5344CB8AC3E}">
        <p14:creationId xmlns:p14="http://schemas.microsoft.com/office/powerpoint/2010/main" val="1206268304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E367A4-2709-4C2C-B6AF-7B331426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68B615-5786-4DD4-8B45-19EEC344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7BD32-7431-4879-8488-238994E9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D2A9AC-09B2-4472-AA56-DBE2CF0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49813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F8865E-1531-41DC-8A73-6F53C8D4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AI产品的四种评测方法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CF626A-12F7-4E24-805C-DB8469B67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0748E9-39E6-46CB-B7C4-FD0811D7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7EDE3D-4C2D-4D79-B3CB-C4B1D572C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精确匹配 / 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34195-0BE7-42EB-A49F-95191B0C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87F15-EE4E-4AD9-96AD-3B5ACAA9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96FD1-0914-4C7E-91E6-79929AA9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语义相似度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31318-D5FF-46D6-AE79-B6BB905BB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F65126-76DF-4512-8201-0644AAEB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3749D-0F26-4736-8484-A484CAB69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LLM-as-Judge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0F035C-8098-4745-9268-9B8B029E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CE80C-6D19-42EA-A0C6-366F5960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FA749-24C2-4B70-ACB1-53C67957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人工评审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3DC790-8AC5-4771-AE59-03F48DF41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客观字段用规则，开放答案用语义与裁判，关键决策由人工校准。</a:t>
            </a:r>
          </a:p>
        </p:txBody>
      </p:sp>
    </p:spTree>
    <p:extLst>
      <p:ext uri="{BB962C8B-B14F-4D97-AF65-F5344CB8AC3E}">
        <p14:creationId xmlns:p14="http://schemas.microsoft.com/office/powerpoint/2010/main" val="17601442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C2A60-4D2A-45E0-A535-F0EDC8B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413D34-9550-4954-AC8B-9CBFAE5F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33CE97-8BBA-4BEA-A329-96A5E793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6794-4B87-4E3C-A7BE-87AFBBD3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1369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4610B1-B532-4000-B4C7-CA3296C0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方法一：精确匹配与规则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D28ADB56-FA07-4E9B-A9C1-316B5248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适合明确、可枚举、不可妥协的判断。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052F0-7CEC-421D-9EEF-2E58783F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EDB75-6DE0-403A-9984-C644E59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关键词、格式、JSON Schema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60E44-E07C-410D-B170-097E502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D7E6D1-8F64-42DD-A9E4-3FA1FEAD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金额、日期、枚举值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09799-9C79-47AF-9B50-CD61D408B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EDDD64-BA32-46F8-818D-1F9AFCF7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禁答词、敏感信息、必含提示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27ECB5-CE7E-47CA-9814-F60F79E7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优点：稳定、便宜、可解释｜局限：覆盖不了开放表达</a:t>
            </a:r>
          </a:p>
        </p:txBody>
      </p:sp>
    </p:spTree>
    <p:extLst>
      <p:ext uri="{BB962C8B-B14F-4D97-AF65-F5344CB8AC3E}">
        <p14:creationId xmlns:p14="http://schemas.microsoft.com/office/powerpoint/2010/main" val="1477544685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9B4FFD-C4D3-4A4F-B13F-D558E286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7F4BB-C22E-4D11-A069-847E269E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FFFF6-A8CE-42B5-BCEE-B7136686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990C26-1BC0-4106-905F-641F0F17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2926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22193F-F89C-4549-ADD5-20E9DECC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方法二：语义相似度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3363BB76-3355-4F9F-A461-9DB54B4C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适合参考答案明确、表达方式多样的任务。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7EF2ED-3DCF-4099-A46B-8EA44A11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8EFFA-718D-4A05-AD3A-B237C642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FAQ问答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CE2F90-C6FB-4372-AA34-FB127FAB9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12C19-1A50-4156-AEB4-087A831E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摘要主旨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E4BECD-50C1-4ABB-B59D-56AE5506D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107195-C358-47F8-A8C5-E29DCA44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意图或主题匹配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54A73-1787-4D74-999F-0A6B4AE5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优点：规模化｜局限：可能放过关键事实错误</a:t>
            </a:r>
          </a:p>
        </p:txBody>
      </p:sp>
    </p:spTree>
    <p:extLst>
      <p:ext uri="{BB962C8B-B14F-4D97-AF65-F5344CB8AC3E}">
        <p14:creationId xmlns:p14="http://schemas.microsoft.com/office/powerpoint/2010/main" val="16306349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E4C0C-344A-485D-BD15-C13F9831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A3DD6C-656D-4454-8022-FCB150AA4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61E12-477D-4EA3-A0BF-58C7DF13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72258-54A6-41D0-AE53-58FC761B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448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94B703-4AC5-4003-B674-B242159A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方法三：LLM-as-Judge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C95FFD70-A2AD-4B8A-BFD1-3C9EF06A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让模型按照评分维度、评分点和红线给出判断。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00577B-DCB3-4905-B3F2-9BF359E1B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80E17-D2E5-4361-AE50-8CE30E65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开放式回答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C20174-98DB-4633-9109-79B66C29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8FB44C-8AB3-464B-A6F3-616AFD9D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多维质量评分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D4F42-77DD-4A74-9020-EB556A5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BA51A-E2A5-4AB8-B9D1-1450AA0C5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批量解释失败原因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A24F2-44B1-4102-9E82-2B95F1FE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优点：灵活｜局限：裁判也会偏、会漂移、会被提示影响</a:t>
            </a:r>
          </a:p>
        </p:txBody>
      </p:sp>
    </p:spTree>
    <p:extLst>
      <p:ext uri="{BB962C8B-B14F-4D97-AF65-F5344CB8AC3E}">
        <p14:creationId xmlns:p14="http://schemas.microsoft.com/office/powerpoint/2010/main" val="104798030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DDC89C-B167-4F06-81A2-C411DA8A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CBB4B-96EB-4E97-8B27-C3BF164E5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F44B3-B548-444B-B428-CFCF6C3F7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FF5FEE-F5E2-42F7-9BB0-2EF97E80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60396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3D7477-FC72-4B4C-BC02-1BA7E20EC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方法四：人工评审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E9D34CAC-1790-4847-A7D7-F6DF80FA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用于高风险终审、疑难样本和自动评分校准。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D42322-08B2-4F5F-936B-158649BC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8EFF8-BD96-4F71-91FA-10CA30E0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5F2E9"/>
                </a:solidFill>
              </a:defRPr>
            </a:pPr>
            <a:r>
              <a:rPr sz="1800" b="1">
                <a:solidFill>
                  <a:srgbClr val="F5F2E9"/>
                </a:solidFill>
              </a:rPr>
              <a:t>定义金标准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88D99-68F6-45CA-BA4C-0031CD17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45A7E6-65B1-435E-AB94-64C86048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复核边界案例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C41DE-B811-48D0-A1E0-CE5704321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9CA700-1E28-4B2D-929E-4776DB23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抽查自动评测偏差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2CA6A5-35BE-4E4F-B507-DECFF7A0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1500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D6C2"/>
                </a:solidFill>
              </a:defRPr>
            </a:pPr>
            <a:r>
              <a:rPr sz="1350" b="1">
                <a:solidFill>
                  <a:srgbClr val="36D6C2"/>
                </a:solidFill>
              </a:rPr>
              <a:t>不要把人工评审当成“无限人肉测试”。</a:t>
            </a:r>
          </a:p>
        </p:txBody>
      </p:sp>
    </p:spTree>
    <p:extLst>
      <p:ext uri="{BB962C8B-B14F-4D97-AF65-F5344CB8AC3E}">
        <p14:creationId xmlns:p14="http://schemas.microsoft.com/office/powerpoint/2010/main" val="69754852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64576-370A-4770-AD6C-64D958F3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15ED0-69B3-4927-ACAE-CECEF3D08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EF970-458D-41FC-8F5B-2A92BBCF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BE3E06-FF2A-409E-B158-3979DE7E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75963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C48DA1-10D5-480C-809F-6A9FCC38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AI输出质量的五个评测维度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1C2DE-2895-41F5-A1C2-AB8A164D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48C41-D861-4C50-86AD-7974E9E0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B5319C-4A15-47EB-9818-E9084344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正确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4CADA-8DCB-40A8-A741-F68E6847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226167-59D1-4091-85AC-4030E9ED7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951E8-90AF-48F7-AB8C-D8B142E1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相关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20F2A7-E4BB-474C-A4B1-87663525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3029D-6040-4FB0-BDE1-4A49C86D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684912-166B-4BA3-875A-94A3A4C70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完整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D633C5-B78E-42D2-B3EC-724F3693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080BD-43DC-4816-B8EF-4587AD2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E23F4A-F269-4828-A037-71A8D27A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安全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F3E47-E28D-460F-9339-E26D21D9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C2D548-E062-43FF-81A3-AE2B543C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686050"/>
            <a:ext cx="1981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508E61-419E-4AE6-BF9D-D973C01C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905125"/>
            <a:ext cx="1885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风格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268FC-8D6E-451E-A4B6-DEDA509A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不同业务可以增删维度，但必须写清定义、评分点和红线。</a:t>
            </a:r>
          </a:p>
        </p:txBody>
      </p:sp>
    </p:spTree>
    <p:extLst>
      <p:ext uri="{BB962C8B-B14F-4D97-AF65-F5344CB8AC3E}">
        <p14:creationId xmlns:p14="http://schemas.microsoft.com/office/powerpoint/2010/main" val="519244305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6DFCD8-CF9B-4E0B-819E-5E6B62BF2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29B5B-5672-4A70-A2F1-83C9BCD9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6AECA5-5B85-40C8-8989-E9F72BC43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53F815-BFA0-485F-9598-340A23534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591529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0C5FA37-1ABD-49CB-A6F5-233DCC70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评测维度与判分方法的匹配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E4D7F-2DDB-4BB3-B702-638D607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681EE-5F71-45E9-8A6A-EC792CA4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维度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29636-CCCB-43C6-B9DB-19052F71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729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优先方法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6D6889-CBB9-4D63-AF0A-CA87B441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A7269C-AB08-4D45-AD90-62A2ED63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正确性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37E13E-15FE-433D-AFDB-88B7F1D8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813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规则＋人工/LLM｜核对关键事实与数字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0FC738-3DC0-4F6C-9F96-F605B6E1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9079D3-C7D0-496C-8182-B983D34A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相关性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CE7571-99A3-40E7-8AD5-2AD9F2E1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99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语义＋LLM｜避免答非所问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BB5E6-B529-404D-B428-40C6F823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985AF-ADD6-4F17-ADDF-553C83B4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完整性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F31AD9-AAE7-48A0-89F5-832AA4AF0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评分点覆盖｜检查必要步骤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A1F52-C4F8-46CC-83F2-47327593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A1AFB-C61D-4377-A5D1-6020E34DF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安全性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0AEF0C-B09B-4476-937B-46567213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规则＋人工｜红线单独统计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4ED1ED-D9AD-4FFF-8BDB-D8B02823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82461F-BEFB-4033-9E43-D6A6EE3B2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风格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F69916-F5A1-4A71-87DF-8DA36E44A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959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LLM＋抽检｜统一语气与格式</a:t>
            </a:r>
          </a:p>
        </p:txBody>
      </p:sp>
    </p:spTree>
    <p:extLst>
      <p:ext uri="{BB962C8B-B14F-4D97-AF65-F5344CB8AC3E}">
        <p14:creationId xmlns:p14="http://schemas.microsoft.com/office/powerpoint/2010/main" val="1293406708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1A806-A60A-4EEE-9D53-B99B6660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D81C1-C410-4D0D-9E43-5E91803B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39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626B3-FA43-45B4-9D81-94EE0344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AE023-4314-495D-9AD4-7B4A5046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07096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A1013C4-B784-4905-B6D2-7C7B0B19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自动化评测的适用场景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C357-E6A4-45FE-97BA-DD0D2B05E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E6DB-1BC2-4F82-9FE4-5805625A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自动化负责规模，人工负责标准和校准。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31D69-0027-403F-A847-92D9F28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当题库从20条增长到2000条，人工逐题检查不再可持续。</a:t>
            </a:r>
          </a:p>
        </p:txBody>
      </p:sp>
    </p:spTree>
    <p:extLst>
      <p:ext uri="{BB962C8B-B14F-4D97-AF65-F5344CB8AC3E}">
        <p14:creationId xmlns:p14="http://schemas.microsoft.com/office/powerpoint/2010/main" val="178158014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971F1-0CB0-475C-8282-4DA985B45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CD22FD-7B3E-4761-AB28-A4F39EA4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B49F7C-A3F5-4555-A862-1236D0EA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8A4CDF-B84D-40F7-9D82-A36D41573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22662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6A3A2E8-84C1-4D5D-9A21-701A746DD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Eval的定义</a:t>
            </a:r>
          </a:p>
        </p:txBody>
      </p:sp>
      <p:sp>
        <p:nvSpPr>
          <p:cNvPr id="6" name="slide-lead">
            <a:extLst xmlns:a="http://schemas.openxmlformats.org/drawingml/2006/main">
              <a:ext uri="{FF2B5EF4-FFF2-40B4-BE49-F238E27FC236}">
                <a16:creationId xmlns:a16="http://schemas.microsoft.com/office/drawing/2014/main" id="{C7EE5978-23BF-457E-A22E-45A3908E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7B5BC"/>
                </a:solidFill>
              </a:defRPr>
            </a:pPr>
            <a:r>
              <a:rPr sz="1575" b="0">
                <a:solidFill>
                  <a:srgbClr val="A7B5BC"/>
                </a:solidFill>
              </a:rPr>
              <a:t>固定一套题，用统一规则判卷，并在每次版本变化后重复运行。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7F9582-DB54-48BA-99CE-AC750F50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7FC159-7281-49A7-90EC-89FC9CA4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3619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0" b="1">
                <a:solidFill>
                  <a:srgbClr val="36D6C2"/>
                </a:solidFill>
              </a:defRPr>
            </a:pPr>
            <a:r>
              <a:rPr sz="6750" b="1">
                <a:solidFill>
                  <a:srgbClr val="36D6C2"/>
                </a:solidFill>
              </a:rPr>
              <a:t>同题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3C25B-278C-4940-8D7B-20992CAF4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A7B5BC"/>
                </a:solidFill>
              </a:defRPr>
            </a:pPr>
            <a:r>
              <a:rPr sz="1800" b="1">
                <a:solidFill>
                  <a:srgbClr val="A7B5BC"/>
                </a:solidFill>
              </a:rPr>
              <a:t>同尺 · 同流程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8747D5-78AD-4686-8A80-96373DCB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3365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6D6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8C917-1671-4606-B4AF-A63E37A8C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028950"/>
            <a:ext cx="1524000" cy="1524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FF765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4C3815-16E3-45EF-9ECC-3AF0407C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1432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答案A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2456F2-6581-4358-9BC5-8D85E8C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答案B</a:t>
            </a:r>
          </a:p>
        </p:txBody>
      </p:sp>
    </p:spTree>
    <p:extLst>
      <p:ext uri="{BB962C8B-B14F-4D97-AF65-F5344CB8AC3E}">
        <p14:creationId xmlns:p14="http://schemas.microsoft.com/office/powerpoint/2010/main" val="43978482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6F075-F954-404F-A121-D24310A4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02033E-CAB7-41F5-9B06-4ECA91E5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9A333D-7FC9-4FD7-BB92-8FF9C72ED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ED83C-A993-4926-81F5-F303C1A3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38229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AAA9BA-848F-4344-9FB0-7F293855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评测集的设计方法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567B6-0423-489A-98F7-121478EC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64C7B-F197-4506-845E-D50093570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674B4-A48E-4360-AFCB-9C203256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70CC9-820E-4BBD-A0EC-F79CDED7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按业务场景分层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CE4F4-ADDD-423F-A191-03E2F691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DA0A1B-FD6B-4AC0-9D81-A39D0F6B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6992F-DB8E-4CF2-ADF4-7B7CFD96A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F46BC8-7A5C-4784-A943-ADDFF5B3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加入边界与无答案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F1C4D4-B255-4F6F-8B86-4C814774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DA61F-636A-4BF2-9063-603F112B6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D417AF-1358-4F99-8271-587D512D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D05C51-F0C9-4329-B113-EC74B5CA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保留历史 Bad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BB62F5-ED33-4B43-98DC-038AFBD9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EE3220-1CC3-41DC-AC84-0C15AED4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5D813-3C26-4CC3-A0DF-EB79F58C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标记频率与风险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AF3DFE-F7AE-4773-A196-59B70B44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题库代表什么，最终分数就代表什么。</a:t>
            </a:r>
          </a:p>
        </p:txBody>
      </p:sp>
    </p:spTree>
    <p:extLst>
      <p:ext uri="{BB962C8B-B14F-4D97-AF65-F5344CB8AC3E}">
        <p14:creationId xmlns:p14="http://schemas.microsoft.com/office/powerpoint/2010/main" val="66679415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CB0F8-620C-4E90-A096-3BFB76B4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1C10D-DD01-4B3E-B2A6-85E89233D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99B5C-4D5D-4D45-8A79-AF917DB1D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7C1A1-A7EF-43F7-B5C9-558C2EF5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53796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F9515C-29F3-4413-A0BC-7086DB24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评分点与红线的定义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FCFC7-2126-49E1-8A2A-0284F592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C012A-B7EA-4A0A-9639-D2945B77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0B185F-B97D-4D9E-A279-2B95EDFC4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C9597-EC29-4C28-BA43-946F5A63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写清理想答案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11AB8-CF3C-4AF5-94AA-6928F0DD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036966-F808-4923-848C-124B3821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99420-E4DC-4315-9A60-323A345B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1C0EC8-2218-4449-8C3D-5C396C201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拆出必含信息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747D07-459D-4D6B-8C09-D6614838F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195D04-4D75-425D-BF27-E27A461A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9AB6FA-DC2B-4BCE-941A-E8A3E6AEE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3FBC63-AC00-4F54-B086-693A2276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定义可接受变体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D4958C-77CA-4192-A2EC-64C199D3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3BCD9-2175-4166-ABF6-87B2D01F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CA7434-0002-4441-949A-8F1C3FBA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列出一票否决项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1015BD-46D8-47F8-BE84-DBAA45A26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先写判卷规则，再看模型答案，避免事后迁就。</a:t>
            </a:r>
          </a:p>
        </p:txBody>
      </p:sp>
    </p:spTree>
    <p:extLst>
      <p:ext uri="{BB962C8B-B14F-4D97-AF65-F5344CB8AC3E}">
        <p14:creationId xmlns:p14="http://schemas.microsoft.com/office/powerpoint/2010/main" val="121084132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65D8B7-4392-4B5F-BCFD-9D7D9BF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38FEC1-B9B1-42FB-8A18-56D715AF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5B8D0C-80E8-4269-9CB8-830A759A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606F7-4221-4BBB-9417-8E5E0160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69362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753D4D-FD32-4A35-8D05-972779792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评分方法的选择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9FE9-50C7-438A-AFE3-87451DFC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2CEEC9-F923-4EE2-9F6C-AB6D1BC1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4A600-BDF9-4BFD-8DD1-339A9354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3DBC9C-0FDA-4943-9912-86930525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规则判硬条件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03540-643C-4229-BC38-AB7F9439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49A7B9-6ADB-4EA3-A4EC-71F18CEA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358C5B-FE5B-4A4E-BA8F-7FAFB39A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020482-445A-42AB-BD87-122373EB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相似度看语义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33EA2E-2E8D-401A-89BB-94EF30283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6B66B-FAA5-4D96-883B-259DFE65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728B19-EFA9-49EB-95E1-EB0FCCBA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DA2096-4335-4D6D-B95F-A1C57E9D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LLM判开放质量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8A0031-E8B2-4B8A-B26F-BE13C979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EEC64E-AB72-483E-9647-9DEE44C0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20676B-136B-42F5-B150-472D0DA7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人工做终审校准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9D6DA2-4F49-4A85-AE27-7757728B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组合方法比单一总分更可信。</a:t>
            </a:r>
          </a:p>
        </p:txBody>
      </p:sp>
    </p:spTree>
    <p:extLst>
      <p:ext uri="{BB962C8B-B14F-4D97-AF65-F5344CB8AC3E}">
        <p14:creationId xmlns:p14="http://schemas.microsoft.com/office/powerpoint/2010/main" val="46677629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FC0C36-C2A5-4573-B23A-D5E030DC8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2CC75-2AC1-4B6E-82A3-0F37D3E8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F23A5-5CAD-42E7-803C-1AA67088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F1C353-65F3-4680-A121-68228629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684929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64BEC-ABE4-416B-9729-19367BCA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自动评测中心的核心模块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C6C30-D722-404A-A25B-7235261F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316C7C-A617-4BF1-8D8D-D879CD66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E35DFF-7074-472D-AF1D-C03B31EB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用例库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635908-E0B0-4B28-A74D-445287DCA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05A99F-522B-4C2C-9F07-C997F85CC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474EB-A5F9-4316-B5B1-238E2480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批量运行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FD21B-835F-4B09-8E12-E0232119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C4EC5-4F55-46ED-BC92-316F4B29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B05FFB-16F1-48FE-9322-A2FA6291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评分与归因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1D2D02-168D-496A-8FAF-55B6DB60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6536BB-4BDA-44FE-86DB-2399EE7D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D5DA5-038E-44D4-8F35-DC42D3B0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版本对比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F075E-9887-4D51-9E17-973A5F05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产品经理不一定写平台，但必须定义平台要回答的问题。</a:t>
            </a:r>
          </a:p>
        </p:txBody>
      </p:sp>
    </p:spTree>
    <p:extLst>
      <p:ext uri="{BB962C8B-B14F-4D97-AF65-F5344CB8AC3E}">
        <p14:creationId xmlns:p14="http://schemas.microsoft.com/office/powerpoint/2010/main" val="1607294231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78AF30-05B6-4AAC-9B0F-02C0C6B4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3A03C2-C4AA-4FC3-A8B4-0F8C94D6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3A7B5C-6B54-4B15-8A48-3475514B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28764-BD3E-422F-9EFB-0E7895B46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00495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A4EFFB-D3E1-4FAB-91F2-58828F5B8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批量评测的执行与结果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A7CB82-96D6-4460-B063-508938C9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7FEB3-3D36-4364-B360-2169CDF3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选择版本与评测集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240894-724C-4810-A2C0-03CD7CC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A64EF-B092-483A-869E-4D4EBD2A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批量发送请求并留存输出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AFE1CF-E14A-453D-B508-11D626024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F54F05-7457-4FAF-87D6-1536A133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按维度自动评分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27208-3531-4962-A08F-EADC89FE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908D22-A6FD-45A5-9D6A-A43F95BD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筛选低分与红线用例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16B05-4117-460A-A72A-0F96EB1E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616F4F-974A-48B4-AA69-78CD00CF0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生成版本对比报告</a:t>
            </a:r>
          </a:p>
        </p:txBody>
      </p:sp>
    </p:spTree>
    <p:extLst>
      <p:ext uri="{BB962C8B-B14F-4D97-AF65-F5344CB8AC3E}">
        <p14:creationId xmlns:p14="http://schemas.microsoft.com/office/powerpoint/2010/main" val="964437498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9FED71-A132-4EC5-9476-8CC4FCE30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BB0CC-DB29-4E90-B4C1-C24B2A05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E2C94-8988-4E44-B46F-90361601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E83BA8-2598-4AE5-B621-307DF850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16062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42228E-F937-4D5A-B095-C45EA329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自动测试 Agent 的工作流程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2286E-C9DF-4E59-AF6C-361942C1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B3BE-1258-49D6-B4C6-60130F52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792EC5-0732-40EF-95F1-30D2704E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F0BC3-5B0E-45E2-B422-F1EA02E1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Test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953762-2043-4326-BFE5-9C4E2721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F1973D-7C2B-4805-9D79-0C018442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08F701-462D-472A-8745-52ADCDFA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B5875A-8A6B-4A54-A31C-D3D9CA39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被测产品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A48D31-FE22-42F1-911D-BEE583B8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A318EC-FCFA-4BE1-93FB-49444CA4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B41C6-27E2-448D-B68D-D068CE98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F5547-D484-40D8-B36F-A355E05A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Judge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87820A-5684-4BC9-90A3-F5F57D6AE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EA989-FD8A-4F6B-84A1-A3D26C2C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F91648-E5D7-4514-AC13-B0DCB127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746859-A0E9-4F9F-A9AE-67A58E8B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结果库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93BDD5-B152-4563-B4BA-7D0307F59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39834-2557-45B0-8DD6-CEEED074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D823E-4E36-4DF6-85BD-543D937C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9860DE-016F-4FD3-9B72-56E5D6B1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关键不是“用了Agent”，而是过程可重复、结果可审计。</a:t>
            </a:r>
          </a:p>
        </p:txBody>
      </p:sp>
    </p:spTree>
    <p:extLst>
      <p:ext uri="{BB962C8B-B14F-4D97-AF65-F5344CB8AC3E}">
        <p14:creationId xmlns:p14="http://schemas.microsoft.com/office/powerpoint/2010/main" val="27578084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2D3C77-3512-40BE-A2EA-AAA645D3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EB7FB5-22C1-47C9-A6A0-6547B711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B87DA-FF4C-4423-A4DC-4B19E51BF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1CC599-A4E2-43FA-A9A8-A8155866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31628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D0D8644-82B1-415D-93DE-176594CF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AI扩写评测用例的方法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306B34-2571-4A80-BC99-14FF2F82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481BD-AF39-4A13-8200-BCDF6BC2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74E41B-7163-44A7-8A21-0DA8471C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031E9-61CF-4610-9685-8C21BB53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给定原始样本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2BAAA-A2CB-484C-A37B-0F1D7C46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EFFF18-CF3B-4DDF-9D4E-B8169593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AF024C-BB50-458D-9137-C6460C29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E73FA-2954-4AA8-9B1B-74D607178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指定变化维度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858D4-4633-4856-871E-44087517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F1349-C400-4290-9DEF-B33ED98C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0C49E-32A2-4A28-B7EA-7C5006EB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D08F6-ABBD-44D0-BFCB-9EDCBF1F5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生成表达变体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F2BB67-921C-4C42-8F55-65DC7F57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C57509-5CF3-4C55-856C-76BECFFE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12A7F1-FF01-4B27-AB24-838755E9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A57BED-F8F4-47B3-89D2-092A45081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人工抽检去重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949B6-3E33-4F26-83DF-091A4F8B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B89D8D-1FF8-48AD-AA1D-577C7674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586CB8-7FE9-4E2F-A009-D229BFB3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加入候选题库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8E551-31B0-4312-8015-2C99776F3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扩写用于覆盖，不用于凭空创造业务规则。</a:t>
            </a:r>
          </a:p>
        </p:txBody>
      </p:sp>
    </p:spTree>
    <p:extLst>
      <p:ext uri="{BB962C8B-B14F-4D97-AF65-F5344CB8AC3E}">
        <p14:creationId xmlns:p14="http://schemas.microsoft.com/office/powerpoint/2010/main" val="569644817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47A4E-EA9B-41CB-9C8C-C8D8B454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E465E-65E3-48F1-BBE1-8BD1D37F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50C29-0D3D-4E8D-9EEE-3782A5B10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6089C-720E-4BE1-9629-FCF52418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47195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2C99AC3-7227-47BA-B767-965B7C73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Judge Prompt 的设计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24305C-5AD2-47E2-BFE8-C8CD1D82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0C397-5E70-4A34-804B-CB6F6A88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009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F2E9"/>
                </a:solidFill>
              </a:defRPr>
            </a:pPr>
            <a:r>
              <a:rPr sz="2025" b="1">
                <a:solidFill>
                  <a:srgbClr val="F5F2E9"/>
                </a:solidFill>
              </a:rPr>
              <a:t>请按正确性、完整性、安全性分别评分，并引用答案证据。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0F6AF-5ECC-47E4-B776-208B4B70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63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BD4103-60C3-402F-A079-976BCA3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05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657"/>
                </a:solidFill>
              </a:defRPr>
            </a:pPr>
            <a:r>
              <a:rPr sz="1050" b="1">
                <a:solidFill>
                  <a:srgbClr val="FF7657"/>
                </a:solidFill>
              </a:rPr>
              <a:t>SCORING POINTS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68D16-DE9A-44C5-98C6-D05DF93A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红线：若虚构政策、越权承诺或泄露隐私，则安全性直接为0，并标记原因。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F1DD64-9585-4220-9C89-593BAED1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811694-56E1-4A85-8543-204AF398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维度定义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163912-06FD-40EA-888A-D3572247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E7A947-4EEF-4627-8796-13B2AAAD0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评分锚点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0D3B21-1DC8-4417-82F8-E9A00321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524500"/>
            <a:ext cx="18669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82D8C-9508-4633-942F-784BEE6D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6197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输出JSON</a:t>
            </a:r>
          </a:p>
        </p:txBody>
      </p:sp>
    </p:spTree>
    <p:extLst>
      <p:ext uri="{BB962C8B-B14F-4D97-AF65-F5344CB8AC3E}">
        <p14:creationId xmlns:p14="http://schemas.microsoft.com/office/powerpoint/2010/main" val="196951079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C82FCB-4592-4DE2-B93B-EB86F23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9D22A-20F5-4F30-BF76-E7DE8E53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49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F4E418-2EFE-4C3A-B8BC-F7597F13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B22BD9-746B-4524-AE4E-5F945DCD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62762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FE14F64-EE9D-4B5F-B8E6-26445DE5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LLM裁判的三个局限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AA6C1-710C-41DE-9FF7-74C70172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374B62-FCE3-4770-A9AB-308146922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2B7FF-3CFF-4518-80B9-DC54996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偏好漂移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99600F-923D-4FD5-A31B-347B8B8E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模型或Prompt变化会改变评分尺度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3C8A0-D921-48B8-B3A3-C607ED654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20DDF0-6F2C-4A69-94E2-2FBCFDC4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C5BF5-0D0D-43E0-A984-3BC3982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位置与措辞偏差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A94754-52F0-4856-9E18-09D9E6CF3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更长、更像参考答案的回答可能被高估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1849F5-DE30-4929-901B-7D831BE4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BF4F13-076B-46C6-9490-72EC9570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F748B-D6C5-4042-A51E-942E89E5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自评偏差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7A43F-937A-4ADA-B4BD-1A2CBD5DC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同源模型可能偏爱自己的表达方式</a:t>
            </a:r>
          </a:p>
        </p:txBody>
      </p:sp>
    </p:spTree>
    <p:extLst>
      <p:ext uri="{BB962C8B-B14F-4D97-AF65-F5344CB8AC3E}">
        <p14:creationId xmlns:p14="http://schemas.microsoft.com/office/powerpoint/2010/main" val="477097105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8E7F23-D283-4133-A0FE-030A4162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9D8E2-9EC2-4822-84E3-32185382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997B0-3B85-4E63-893B-D7CD175F5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8B771-2C78-4267-B167-B21EFE1E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78328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E9A88D-95C8-40C7-94BF-CBB85BD9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人工评审的校准作用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5DEB7-5238-4A4B-A68A-F26FCBA63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F9AB0-60EA-4E9A-B93B-10692A26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当裁判偏了，先修评分体系，再讨论被测模型。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1C8C48-EBB0-4E40-A8C6-9631E202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定期抽取自动高分、低分和争议样本，与人工金标准比较。</a:t>
            </a:r>
          </a:p>
        </p:txBody>
      </p:sp>
    </p:spTree>
    <p:extLst>
      <p:ext uri="{BB962C8B-B14F-4D97-AF65-F5344CB8AC3E}">
        <p14:creationId xmlns:p14="http://schemas.microsoft.com/office/powerpoint/2010/main" val="1078030418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727282-1EE9-486B-829F-4B41F437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EVAL SYSTEM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81387-C41C-4FC4-8674-D171786D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88C1F-876D-49A4-82B0-40306CFB5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8164C-9957-4A28-A902-11219CB2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793895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3CA52F-E758-4276-A9DB-D0ADF742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评测报告的结构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54A17-5FB3-4DBA-8704-6E87ACED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04495-B607-43E4-AEC9-EFFC94D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层级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8F923A-ED9C-4FBE-987E-81E1EF98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352675"/>
            <a:ext cx="7296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31016"/>
                </a:solidFill>
              </a:defRPr>
            </a:pPr>
            <a:r>
              <a:rPr sz="1500" b="1">
                <a:solidFill>
                  <a:srgbClr val="031016"/>
                </a:solidFill>
              </a:rPr>
              <a:t>必须回答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AC8C37-E581-4CDC-B179-66D91F61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A4DB09-CDDC-4CBF-9363-2B6883BB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813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总体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BC586D-4BED-4997-A178-4A9241B55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813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通过率、红线数、核心维度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2DB03B-4830-400C-B244-7BC34D120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8DAEF-AC34-4B05-B703-CC1B3A2A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99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场景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23E7A-3710-4F8D-A9A5-E0C3C41D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99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哪个场景退化或提升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B9176E-DBF8-4EF1-8260-1CE610EA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BC5CA-0DC7-480B-B035-C0858431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D152B-7F13-4AE0-90D0-5AE9827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386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低分样本为什么失败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62D2C-F630-42FB-A614-0D4CBD8B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F0F16-AAE6-4B54-84E5-84474A0E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672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版本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ADA64E-36EA-4603-B2F4-7BE32555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6727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相对基线变化多少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84C832-D2E8-4341-A18F-4795952F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8204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51F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25388-5B6A-4D87-9C82-9DF67D1D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959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F2E9"/>
                </a:solidFill>
              </a:defRPr>
            </a:pPr>
            <a:r>
              <a:rPr sz="1425" b="1">
                <a:solidFill>
                  <a:srgbClr val="F5F2E9"/>
                </a:solidFill>
              </a:rPr>
              <a:t>决策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21780E-0497-435A-AE99-FB7D830E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95925"/>
            <a:ext cx="7296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上线、灰度、退回或转人工</a:t>
            </a:r>
          </a:p>
        </p:txBody>
      </p:sp>
    </p:spTree>
    <p:extLst>
      <p:ext uri="{BB962C8B-B14F-4D97-AF65-F5344CB8AC3E}">
        <p14:creationId xmlns:p14="http://schemas.microsoft.com/office/powerpoint/2010/main" val="1963283537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A978CC-46AD-4657-BEAB-CD4C2CFC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47021-24E5-41E6-A3E0-4AC37BD0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DA698-C9AF-40B2-95CB-AB6813F6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878D08-B985-4AE2-BDCA-EF02C0B4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09461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7DF298-B364-43FF-823C-28FB3B5B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AI产品评测的成熟度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5F5C2-C708-4721-8B6F-552AFE34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11F543-2988-4A37-AA55-587871DB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C3CC6-9426-4307-9960-C812779C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L1 人工抽查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9FFE1-B1E7-41E4-98B6-3BE618B59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4DC2A7-5DF9-4A46-BE4D-EDBBA4E1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AD7B0F-4CBA-435D-A8DF-D01F4594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L2 固定题库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BB048-93C7-4549-B665-B006006E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7B20D8-BCC5-4EEB-8CB0-3A577EBE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1E9F8-F431-477B-BDC9-4BB3A2F7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L3 自动评测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719754-E06D-46E8-B681-32CA2CC2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E65F66-A569-494B-AFC3-E7D96F2F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602A5A-C429-4D24-8C86-EC53CA9E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L4 线上反馈驱动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05F3AB-3314-4410-BE64-2424B2FD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成熟度提升的标志：结果越来越可复现，反馈越来越快进入下一轮。</a:t>
            </a:r>
          </a:p>
        </p:txBody>
      </p:sp>
    </p:spTree>
    <p:extLst>
      <p:ext uri="{BB962C8B-B14F-4D97-AF65-F5344CB8AC3E}">
        <p14:creationId xmlns:p14="http://schemas.microsoft.com/office/powerpoint/2010/main" val="1932094603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0B714-9836-438D-85E6-24AE0951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46586C-E504-4D2A-BFC6-DC0C0C8E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991F7-727A-4E0A-BC7A-1C343BDB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6E395-3C35-498A-B9F3-83D6F268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25028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5E0FE0-6653-4A6E-90E1-D10D80ED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AI产品经理在评测中的职责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116FA-B523-4B76-8653-334A2400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646B7B-62D1-460B-81A2-204DC931D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63D2E-A06C-4408-886D-C1919B57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测什么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12C43A-7FB7-492B-9672-4A14B570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C1CA6-B258-44CA-96E3-D5BA97AB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CB767-8C51-4AD2-9D29-240D67CB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怎样算好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E3229B-E878-49C2-A912-3A2F9740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F47096-B9EC-46DF-A8D7-6D7AC834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EB6320-63AD-4B49-970E-04925A65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何时能上线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9E36CD-0F66-4891-AAD7-56098268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303DE1-431A-44D2-99D6-9827E08BB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B227C6-0835-42B2-871B-B1134795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失败如何进入优化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F63D7D-0A28-423A-9538-1FD8A6C0B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评测不是测试同学的收尾工作，而是产品定义的一部分。</a:t>
            </a:r>
          </a:p>
        </p:txBody>
      </p:sp>
    </p:spTree>
    <p:extLst>
      <p:ext uri="{BB962C8B-B14F-4D97-AF65-F5344CB8AC3E}">
        <p14:creationId xmlns:p14="http://schemas.microsoft.com/office/powerpoint/2010/main" val="2098116597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3641E-2A47-4DFA-ABCB-43A4D506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74F81-1953-48A0-B7F4-CF0BF2435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424D71-8125-450F-A40C-1E47744B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586867-71EE-4657-BB6D-3E0A11E2F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40594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349F9A-9008-4DDE-A553-C2F549C8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可用性与用户体验测试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B4B674-B7C8-4174-BB9B-740787D2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35356-E8F2-455E-87F1-A2D5F0E7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F1596-AE00-44DA-8E86-34903774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D6C2"/>
                </a:solidFill>
              </a:defRPr>
            </a:pPr>
            <a:r>
              <a:rPr sz="2025" b="1">
                <a:solidFill>
                  <a:srgbClr val="36D6C2"/>
                </a:solidFill>
              </a:rPr>
              <a:t>可用性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77525-4244-4E18-B5EF-62BF6F52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C75E"/>
                </a:solidFill>
              </a:defRPr>
            </a:pPr>
            <a:r>
              <a:rPr sz="2025" b="1">
                <a:solidFill>
                  <a:srgbClr val="F0C75E"/>
                </a:solidFill>
              </a:rPr>
              <a:t>用户体验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6E36E9-A1A4-48CC-8C19-62330198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任务能否完成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19CB4A-3A01-4210-8C14-B499A01C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提示与反馈是否清楚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06F0EB-379C-403E-B7BF-1314AB1DE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失败后能否恢复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85CC2-C7A9-4DE7-A380-515E349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等待感与节奏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BEAEB-B0A1-472F-B2F1-7E4F7487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结果可理解、可编辑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052D4-09CA-46C2-8E63-0EE3E0C9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信任与控制感</a:t>
            </a:r>
          </a:p>
        </p:txBody>
      </p:sp>
    </p:spTree>
    <p:extLst>
      <p:ext uri="{BB962C8B-B14F-4D97-AF65-F5344CB8AC3E}">
        <p14:creationId xmlns:p14="http://schemas.microsoft.com/office/powerpoint/2010/main" val="78866709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6DAA9-BF6A-47FE-AD7A-FF034BE0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122192-64B7-46D7-8B6E-1438EB73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46138-B215-41F3-BD9B-21978E1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58ACB7-0987-4626-88D4-9097E4ED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56161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2EA086B-463C-4472-9531-A8350B18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非功能、鲁棒性与安全伦理测试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E9EA8-96A2-4C6F-8139-869AF305A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AAA4E-5871-4B68-8F14-3B35C716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1F57B5-5E17-403C-B458-AD0426DD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非功能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5147FE-FA88-46A8-ADF2-F0860C3E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延迟、成本、并发、稳定性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03D0EA-87AF-49EF-A5B2-0CE1C63E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9DD3A8-F9D6-45C4-975F-34C99ED3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695B-F78D-4BDC-8AD3-1121C27A1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鲁棒性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BAC4A5-1F39-40B4-AB82-432E2C01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错别字、噪声、提示攻击、异常输入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9F9CA7-8F12-4DA1-9268-B5556A97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D104B8-F8E3-4AC0-B714-FFC98FA2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024F10-9481-4EF1-A93F-2E3D5695C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安全与伦理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CDD9E9-ECEE-4596-9F28-3FF237F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隐私、偏见、越权、合规与可追责</a:t>
            </a:r>
          </a:p>
        </p:txBody>
      </p:sp>
    </p:spTree>
    <p:extLst>
      <p:ext uri="{BB962C8B-B14F-4D97-AF65-F5344CB8AC3E}">
        <p14:creationId xmlns:p14="http://schemas.microsoft.com/office/powerpoint/2010/main" val="1073953138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752D9B-DF49-42DD-8E7E-EBA60CC1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0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5B63C-F530-4858-9A85-2FB10989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150" b="1">
                <a:solidFill>
                  <a:srgbClr val="36D6C2"/>
                </a:solidFill>
              </a:defRPr>
            </a:pPr>
            <a:r>
              <a:rPr sz="91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6A1255-59DF-4A92-92A0-79514ADB6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57500"/>
            <a:ext cx="952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978DF-430A-49FA-835A-BF615DE1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5F2E9"/>
                </a:solidFill>
              </a:defRPr>
            </a:pPr>
            <a:r>
              <a:rPr sz="3600" b="1">
                <a:solidFill>
                  <a:srgbClr val="F5F2E9"/>
                </a:solidFill>
              </a:rPr>
              <a:t>从评测结果到数据反馈闭环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D43665-C3C6-4FAB-A662-D37C30FE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33875"/>
            <a:ext cx="895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A7B5BC"/>
                </a:solidFill>
              </a:defRPr>
            </a:pPr>
            <a:r>
              <a:rPr sz="1800" b="0">
                <a:solidFill>
                  <a:srgbClr val="A7B5BC"/>
                </a:solidFill>
              </a:rPr>
              <a:t>让真实使用持续改进下一版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FF7ABD-C716-4903-A9BC-4EDDB20D4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0BC82F-3E70-4C4B-91E1-FF737B95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26BDCE-978E-4100-9EDB-0FD55035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E840C-C0AA-4D51-9C65-99C6D3971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71728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8101559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0C3DB-8A29-42D3-A450-9EA39C52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F91B78-6B5D-4232-8650-E4CCBCF8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835B26-14E2-490B-9AF7-18155B8A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19A7C-0A87-4B0E-87AA-12B975FF6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87294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1DD8872-8658-4BFF-938B-03FABB57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AI产品数据反馈的价值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D5F62-F6AB-47B7-9A73-9C2FA1726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76200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342AA-63C7-4D8B-ADB3-542A73D3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429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6D6C2"/>
                </a:solidFill>
              </a:defRPr>
            </a:pPr>
            <a:r>
              <a:rPr sz="2400" b="1">
                <a:solidFill>
                  <a:srgbClr val="36D6C2"/>
                </a:solidFill>
              </a:rPr>
              <a:t>采集—理解—修复—验证—再上线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31AC76-2608-4D84-80CF-17ABDD86D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38625"/>
            <a:ext cx="933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A7B5BC"/>
                </a:solidFill>
              </a:defRPr>
            </a:pPr>
            <a:r>
              <a:rPr sz="1650" b="0">
                <a:solidFill>
                  <a:srgbClr val="A7B5BC"/>
                </a:solidFill>
              </a:rPr>
              <a:t>真正的壁垒，不只是拥有数据，而是能把反馈稳定地转成更好的产品。</a:t>
            </a:r>
          </a:p>
        </p:txBody>
      </p:sp>
    </p:spTree>
    <p:extLst>
      <p:ext uri="{BB962C8B-B14F-4D97-AF65-F5344CB8AC3E}">
        <p14:creationId xmlns:p14="http://schemas.microsoft.com/office/powerpoint/2010/main" val="195198318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B2139E-24B5-44C7-A0AE-03639ED8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1FC1C8-29B5-4CEC-A7FE-75FA6966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835C2-2367-4554-827F-2BC18BE5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95C406-8315-4A75-9B1F-AE5C1A0B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02861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2038A20-8413-4F5C-83C6-CE73A7F3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AI产品数据的四类来源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DA3A00-0986-4CB5-824D-F12BD542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0D7C1-B87E-4449-A065-AE247A7E2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B7BBED-873D-4EC0-8187-EEA48FB0A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业务原始数据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DB4E79-10D0-4C08-8507-3BC376B1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753719-C05F-46DF-948B-1ABCAF2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8605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3D4817-2831-4D57-9B27-E8316320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用户输入与输出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96BDE-4D8B-4BFC-B963-10D397F1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47C11-A94B-4BB2-9393-FFBEE6A7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24ADD-7AAC-42A2-AE59-DA0F73B8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显性反馈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6B1505-575D-4556-BCF6-6F028DE2E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F3149B-B39D-4F7A-A178-2F7D0FC5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81500"/>
            <a:ext cx="5295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125F9D-414D-4FA5-B8C9-A837AE89B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00575"/>
            <a:ext cx="520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隐性行为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88F6AA-AA2F-4FF0-9130-C8DFF6B9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采集必须满足隐私、授权、最小必要和可追踪。</a:t>
            </a:r>
          </a:p>
        </p:txBody>
      </p:sp>
    </p:spTree>
    <p:extLst>
      <p:ext uri="{BB962C8B-B14F-4D97-AF65-F5344CB8AC3E}">
        <p14:creationId xmlns:p14="http://schemas.microsoft.com/office/powerpoint/2010/main" val="1451263610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F68959-AF83-4913-8F56-E7A8F272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71031-7F1A-499D-9147-FA2A4FDC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59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ADEB4C-6C48-4953-891F-859F65E6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E0C83-24D6-459C-B0D5-84514CE9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18427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01BA28-BFA2-45DB-B360-95564A76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数据反馈闭环的基本流程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606B32-985D-440C-B250-9B97F7A5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6A9F3-8FFC-418A-AF31-B75B0836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C29FE-CC33-4DD5-98A5-C781FBF2D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A9684-D71F-4743-9990-AA23774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采集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590E58-2D97-4CF0-ADB1-23F56FE5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42CDF-7F9D-42EC-B33E-A105FCE17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43C5D1-F479-496C-8191-6EE34F24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10D98D-6E6A-40FF-A9E4-C08504A90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清洗与标注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DACF4-5F77-40E7-884F-96A0D8628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80CEB-8721-4F9E-B55E-764B28FD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A12E3-B10A-484A-BD28-3EDCCF57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BD88D-ADDA-401C-8E53-2C4BCF09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问题归因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527D0C-75B0-4358-991C-9CB80A5F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C6619F-50A2-49C6-98F0-68740125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43D82-7123-4FEF-8188-25CAE836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CF9720-948E-4865-AE3A-C8298979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产品优化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46BED-FF33-43F6-9F79-08CC8BBC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E76557-E108-4986-A4B9-75185249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CC9D6C-305F-41FC-8A06-72A95705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回归评测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5B9A76-F071-4A77-9911-61C6D5A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没有回归验证的“数据优化”，只是未经证明的修改。</a:t>
            </a:r>
          </a:p>
        </p:txBody>
      </p:sp>
    </p:spTree>
    <p:extLst>
      <p:ext uri="{BB962C8B-B14F-4D97-AF65-F5344CB8AC3E}">
        <p14:creationId xmlns:p14="http://schemas.microsoft.com/office/powerpoint/2010/main" val="1666339202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1B1174-8D66-4D34-883E-BB3352FA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577592-0F1E-4519-AFEA-DA4D8A641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06C9E-5ABC-4B2D-9B54-BE9DE833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B254F-D9D8-44E0-9875-44038BD6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33994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A5A1BA-693E-48A6-8F44-2C138CD3E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显性反馈与隐性反馈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37E194-15D3-442E-93B8-052DED10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1D2CE6-960D-444A-82D0-100D7146B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47900"/>
            <a:ext cx="5143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C7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66262-5B26-4D4A-B978-E9706AA1C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6D6C2"/>
                </a:solidFill>
              </a:defRPr>
            </a:pPr>
            <a:r>
              <a:rPr sz="2025" b="1">
                <a:solidFill>
                  <a:srgbClr val="36D6C2"/>
                </a:solidFill>
              </a:rPr>
              <a:t>显性反馈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1E18E8-9EA5-4E1A-8B90-9AA1615A3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0C75E"/>
                </a:solidFill>
              </a:defRPr>
            </a:pPr>
            <a:r>
              <a:rPr sz="2025" b="1">
                <a:solidFill>
                  <a:srgbClr val="F0C75E"/>
                </a:solidFill>
              </a:rPr>
              <a:t>隐性反馈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60584-0013-421D-84DD-370BD37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点赞 / 点踩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5646AC-2200-447B-B3EA-DC24888F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原因选择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3879D-AA96-4B9C-BC33-465E2FC7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文字评价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3A7B16-2FD1-42E6-A2E2-E75257C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1432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2E9"/>
                </a:solidFill>
              </a:defRPr>
            </a:pPr>
            <a:r>
              <a:rPr sz="1650" b="1">
                <a:solidFill>
                  <a:srgbClr val="F5F2E9"/>
                </a:solidFill>
              </a:rPr>
              <a:t>—  复制、收藏、分享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D4650-2DA7-4A1C-ABF4-40B76FD3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重生成、改写、放弃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46854C-D921-4AF1-975B-B1D44E23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4005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5F2E9"/>
                </a:solidFill>
              </a:defRPr>
            </a:pPr>
            <a:r>
              <a:rPr sz="1650" b="0">
                <a:solidFill>
                  <a:srgbClr val="F5F2E9"/>
                </a:solidFill>
              </a:rPr>
              <a:t>—  转人工、任务完成</a:t>
            </a:r>
          </a:p>
        </p:txBody>
      </p:sp>
    </p:spTree>
    <p:extLst>
      <p:ext uri="{BB962C8B-B14F-4D97-AF65-F5344CB8AC3E}">
        <p14:creationId xmlns:p14="http://schemas.microsoft.com/office/powerpoint/2010/main" val="1979596927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F6D9DB-E138-4CB5-A822-A5B84A93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93DFF-2ED1-4FD1-BFB5-065F7A6DA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3A4FB8-B5AF-47DE-A6DC-6DAF0A57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4A64A-7ABB-4B47-8648-51E579FA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49560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52BCDD-2887-46F3-9D0A-B06E0C2F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作业类产品的行为反馈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CBE8B-E3A6-4A78-ACEE-63A3CC79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5B883D-AF47-4CE5-8F62-F023A32BD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A21B2-D4FA-4C83-B721-4D84FA04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EA0578-C3B5-47B2-999C-5D33D86D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直接采用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02C771-A46A-4344-8D4B-2A563DAF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58AFD-2CBF-4CCC-B4D8-168C7324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01A81-E1E6-4E8F-9B19-B447CD0A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AD766-D961-448D-A57A-5BBCE06C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部分采用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328A9-2896-43C8-BAD8-603AAA6D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EE48D9-19FD-4501-90C5-5FB74B7C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78CD32-A66F-4238-A742-3381ACD28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262F1-7043-4FD0-9509-004C9EF3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大幅修改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93A41D-1112-43B5-933F-BB5EA178B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AFD46C-21D5-4966-B000-9C5C2B7C7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170813-B898-4955-8254-E65CD728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弃用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03388A-08DD-4298-BCA9-46BE0D755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修改前后差异，比一个“满意/不满意”更接近真实质量。</a:t>
            </a:r>
          </a:p>
        </p:txBody>
      </p:sp>
    </p:spTree>
    <p:extLst>
      <p:ext uri="{BB962C8B-B14F-4D97-AF65-F5344CB8AC3E}">
        <p14:creationId xmlns:p14="http://schemas.microsoft.com/office/powerpoint/2010/main" val="30747367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83745-7214-475F-A59F-F3F2502E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43CD90-AB84-4F8F-A760-F426271A4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C7D7E2-E8D6-4C65-B827-4845ED5D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564EE7-0284-44C2-A552-1D75DCFEB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65127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E4DE759-2393-4551-BF0C-B68F203F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常见用户行为信号的解读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10A329-6F57-4738-A0C3-23A728B8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3738C4-4685-4512-BCB2-409A5E8A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收藏：结果具有复用价值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DA074-50B0-4150-A4BD-6D5E2A75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C1B6F-A242-4B0C-930F-E327B1CB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194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重生成：当前答案未满足需求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E854C-91CC-4A7C-8E23-7BA2CB1A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2C925-2BAE-41C7-86B5-083A0C5A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052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放大/细看：内容值得进一步判断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3B17EE-5868-4475-B075-CBA89A2F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E8C4D-458D-4CD7-AD95-4E54DB22B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复制/导出：可能进入真实工作流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3EE63-D9E0-49B2-8A0E-5F950A0A6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958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7657"/>
                </a:solidFill>
              </a:defRPr>
            </a:pPr>
            <a:r>
              <a:rPr sz="1725" b="1">
                <a:solidFill>
                  <a:srgbClr val="FF7657"/>
                </a:solidFill>
              </a:rPr>
              <a:t>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1931B5-CEDF-43EE-B87B-1690C29E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768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迅速退出：可能无价值，也可能已完成任务</a:t>
            </a:r>
          </a:p>
        </p:txBody>
      </p:sp>
    </p:spTree>
    <p:extLst>
      <p:ext uri="{BB962C8B-B14F-4D97-AF65-F5344CB8AC3E}">
        <p14:creationId xmlns:p14="http://schemas.microsoft.com/office/powerpoint/2010/main" val="89589701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2C3328-51A0-437F-B820-0D8111715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A91B8-18E6-405C-8D62-E8D18329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1C37F-6A39-42C7-BAA8-90264D64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10473-CDBC-4B15-B24C-647C4879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80694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2E115D-76CA-4448-975B-45986CE7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客服产品的反馈机制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5E888E-8332-44E9-8F36-11C291ED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FFBB1A-5478-4439-8D30-AE2E92B24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8AB66C-23EE-4C99-91F1-68FEFC30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B4504-2FD4-4DB0-A13A-064E315F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回答后轻量反馈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E8A53-F5BA-4735-9BCD-E7930AEF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BB2011-1B64-4175-83E1-2CA46C75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8FCC6E-93F9-4F82-B158-F6648D29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0BBD6-A6D4-4CF6-A6C5-F850F89F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失败原因快捷选择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BDA54D-BA32-4A12-A1D1-4CB32286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CA6012-B40E-40B1-B465-23F4297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A6230-2F7A-4031-BD11-34C303F7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2089EB-524F-4193-94FC-E67DB5797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低置信度主动转人工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3A691D-0A6A-4A58-BD15-39CF56FD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1E75EF-39E3-4834-A22B-E5E18F3E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CBE9E3-0C2E-466D-8A41-DB60936AB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E7585E-C906-45D9-8581-998DAB4C9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人工处理结果回流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2F60B5-47B4-47A3-817F-533DEC78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E260A-87E9-4BF1-8982-BD6A0D2B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2190E-7ED5-46B7-8070-6D6F930BE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关闭会话前确认解决状态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008D96-51AD-4885-9FDA-33D51F87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反馈机制要低摩擦，否则只会收集到极端意见。</a:t>
            </a:r>
          </a:p>
        </p:txBody>
      </p:sp>
    </p:spTree>
    <p:extLst>
      <p:ext uri="{BB962C8B-B14F-4D97-AF65-F5344CB8AC3E}">
        <p14:creationId xmlns:p14="http://schemas.microsoft.com/office/powerpoint/2010/main" val="112191812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6595BB-DB3A-4C26-912B-BF5A769C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9EE08D-824B-46E1-B3FD-C89F4779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D4649-CC38-4F36-8875-B5F75795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DB212-F917-43ED-8F55-8723BFA5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9962606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CB5502-8BAC-4EB3-85B0-594E20FD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低分会话的 Bad Case 入库流程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6B5745-2FC2-4EFE-AC13-20FD82CC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D05179-862D-410E-9CE2-004F65DF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9DF61-0E0B-412E-836D-600C94EAF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07E4ED-D2F8-4552-8AEA-CD6A5A42C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触发低分/红线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9A6FC-89A8-411B-A908-8DEF9C2A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C5AD90-FD6C-4845-AD62-8F2EBE6A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2536B7-1533-4B0B-B5B0-8100DEE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694C54-6C71-40B9-B9E6-057C4D6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去敏与去重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7C93E-7461-49EA-A5B7-7224049E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8A4B21-BCF2-422B-ABF2-FC4253DD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E8CADD-A7EA-4895-987A-7449C3DB4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827B6-A866-4E44-9BC0-4350F7417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人工复核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F48EE-041B-43E1-8AA5-F344539A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571C3F-646D-4E26-9BF7-0E47715E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5F789-B972-48DB-B79E-3E3A1C130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8F8D36-6FEC-415B-98D4-5DE8176E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归因与定级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B0829-EFA2-45C9-BE42-1008488E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D84D59-556A-4412-983E-58D73FD8E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506DD7-F6B2-4FA6-A6B3-A7EBE4B0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加入回归集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F3C3D2-A100-4217-A55A-9052931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不是每个点踩都是模型问题；先确认用户意图与业务规则。</a:t>
            </a:r>
          </a:p>
        </p:txBody>
      </p:sp>
    </p:spTree>
    <p:extLst>
      <p:ext uri="{BB962C8B-B14F-4D97-AF65-F5344CB8AC3E}">
        <p14:creationId xmlns:p14="http://schemas.microsoft.com/office/powerpoint/2010/main" val="807784942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528D2-9FDF-4EA1-B391-79ADCFF6E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1604D8-57FC-417D-BB11-5CE42163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DED0C-5689-413D-9675-5BEAF120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0011C1-D263-4616-BF7E-1995A01B9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118271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D2477E-95F9-4B18-AAEA-F1073904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 的六类问题归因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D2BF3E-D5DD-4937-B862-E10683995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87171-FC93-4DC5-9084-1ADC27B3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B73547-424B-4E3A-8067-96CAE41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49967E-E842-4CDA-B619-89B91C3C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17F0A-AA23-4E71-8430-8ACA41B1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5A3095-66A5-41B6-BA17-177E03A9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492C3-8CC9-4D7E-837D-CE2545F33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9EA5F-35F1-4CC6-B30F-44761B01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2AA74-0C6F-423E-8E2A-CF54CAFE0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知识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F28BE-CD03-48CF-89E0-8BAAB876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1A6497-DA95-454B-94FB-EF955B33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23639-D070-4C07-9266-A92F61B4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流程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776E0-F0FB-4E09-889A-FBC536945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9B913-55C5-495B-B9D3-7D028BF9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D211B-2389-40E2-8D1F-3BE551B0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工具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5E12BB-54EC-4265-B1BF-9185949F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9814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30311-386D-4EC1-A7BD-FA207F53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38150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FF5883-3076-4226-97AD-F34827F8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60057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产品边界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619C8F-F45E-49DC-BF39-B65D955B8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归因错了，越优化越乱。</a:t>
            </a:r>
          </a:p>
        </p:txBody>
      </p:sp>
    </p:spTree>
    <p:extLst>
      <p:ext uri="{BB962C8B-B14F-4D97-AF65-F5344CB8AC3E}">
        <p14:creationId xmlns:p14="http://schemas.microsoft.com/office/powerpoint/2010/main" val="498956254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1F21CB-1757-4EE5-93B8-07CAEAB4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CA707-33F9-461C-8760-6BD13C9C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F0946B-176A-4311-8EA3-56A2721A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832ED-DE59-4D6F-918F-6756053D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273937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B63340-71A5-472F-B495-A96D6510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Bad Case 标注规范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D99893-2B94-4C6E-A53E-AC2DAD623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22B9FB-89F5-48ED-9FA9-86412CC7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B51CFA-C57C-4E44-BB79-6B3CE1F77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定义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1C1713-3A27-4FC5-8EAF-EF7CC8DDC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标签到底描述什么，不描述什么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717AA4-9D91-4DE0-8580-ABAFF6C9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CCD868-3D7E-4C0C-AF85-4AB32B58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BD4130-10CC-4A8D-9F40-52BC2E803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正例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56F90F-6F67-4FEB-9B9F-A238D0A1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哪些样本应该被标记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5F2A51-76F7-4D3B-A994-1DE696B98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28600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6D6C2"/>
                </a:solidFill>
              </a:defRPr>
            </a:pPr>
            <a:r>
              <a:rPr sz="112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0EEDB8-D443-414D-8EA2-15BB0FA3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686050"/>
            <a:ext cx="3454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AA8819-AFCB-45E6-92E3-7FA382947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2905125"/>
            <a:ext cx="3359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反例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D233BB-D148-4467-A74C-481BB57C2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429000"/>
            <a:ext cx="330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相似但不应标记的边界样本</a:t>
            </a:r>
          </a:p>
        </p:txBody>
      </p:sp>
    </p:spTree>
    <p:extLst>
      <p:ext uri="{BB962C8B-B14F-4D97-AF65-F5344CB8AC3E}">
        <p14:creationId xmlns:p14="http://schemas.microsoft.com/office/powerpoint/2010/main" val="774777351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E7136D-3F4D-41ED-A9A9-A7F91F81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B6ADA-E345-4F7B-85EA-99E4ED83F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1A03B9-9A81-49CD-8448-3D1EE7B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991CFD-1198-4268-B2E3-B54D4378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429603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FE5475-7D77-41C9-8804-1B1F1698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从问题标注到产品实验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22928-F712-4F0E-A08C-09B85114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462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D15D6-5D35-4741-9AB8-685FD201D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0FD5A6-2C23-4C19-BB65-290ADDFF2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E9ED85-5782-442A-942E-730B0D22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人工标注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71A29-B19B-490F-81F1-2C5BE763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299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604E87-67DF-45BD-8B37-2DA6337C0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417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D7FA1F-B132-4954-8C68-E8C6882FE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32E744-A01C-404B-820D-60E2BE6A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847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问题聚类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5207F8-A265-4771-9C2B-201FC845D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136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134CF4-EC41-45AA-9C04-93953DFED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254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86402D-750A-4106-89D8-61AB39B5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589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AD2ACB-2263-49A8-A135-A87CBEAEE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84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方案设计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E90249-85EA-4B2D-A560-035B1B80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9730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9D686-1E6F-4ADE-BA23-1B34F818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091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6E8B3E-7E87-4F68-AD41-FCD9DD60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426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6A3F74-E219-43F6-AC15-0FF0B56B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521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Prompt / 流程 A/B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A3675-3647-4506-A702-6E297C4A1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280" y="2857500"/>
            <a:ext cx="202692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39870-FA3C-4CAC-A4CC-3E2AF3FA9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263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A8FC5-6367-4728-95D6-08FECD3F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3580" y="3362325"/>
            <a:ext cx="179832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Eval验证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9B4AD-99F9-42CC-A80E-6292DD3D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优化目标应对应具体失败类型，而不是笼统追求“更聪明”。</a:t>
            </a:r>
          </a:p>
        </p:txBody>
      </p:sp>
    </p:spTree>
    <p:extLst>
      <p:ext uri="{BB962C8B-B14F-4D97-AF65-F5344CB8AC3E}">
        <p14:creationId xmlns:p14="http://schemas.microsoft.com/office/powerpoint/2010/main" val="1815740094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67E1E2-3CFC-4E67-8F57-A7BFD7EE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CFF841-C829-4211-829E-59A7EC63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58F703-6BDA-4D62-ADFA-73BF25FA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38883-FE3F-4C19-B56E-89C0E4E9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585269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55E46A-E465-478F-886D-236D0A58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版本回归测试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3F6EF-A4F1-4DCC-B05A-E190B2DB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3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E16D7-B05D-43CC-8DD1-FC6834C0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FC8F00-A980-4399-83E0-AD30D8A9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F71E85-8835-4CC8-A384-17A3EF68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原失败样本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A469E-828D-4F80-B6BA-1A4C1530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C1EC1-EF25-46DF-9DD0-D9633697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3763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FB321-C67A-4AD1-8FC4-A658F427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28CF9-AD7B-4734-9912-FD5031C9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同类高风险样本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12E62-634A-42FD-8B2C-9C74394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0138" y="3286125"/>
            <a:ext cx="3048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9BABDD-D399-4E1C-8574-5E25923B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202C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598AB9-780C-4F36-81CC-F2097163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6D6C2"/>
                </a:solidFill>
              </a:defRPr>
            </a:pPr>
            <a:r>
              <a:rPr sz="105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0AC10-5CF9-462B-8691-806B7F87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2E9"/>
                </a:solidFill>
              </a:defRPr>
            </a:pPr>
            <a:r>
              <a:rPr sz="1575" b="1">
                <a:solidFill>
                  <a:srgbClr val="F5F2E9"/>
                </a:solidFill>
              </a:rPr>
              <a:t>代表性正常样本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B9A700-FDBB-420A-A196-CEDE5E1A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2857500"/>
            <a:ext cx="2576513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36D6C2"/>
          </a:solidFill>
          <a:ln xmlns:a="http://schemas.openxmlformats.org/drawingml/2006/main" w="9525">
            <a:solidFill>
              <a:srgbClr val="26404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E7EA1-4244-4CB3-9FBC-7969D01FC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3038" y="29908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31016"/>
                </a:solidFill>
              </a:defRPr>
            </a:pPr>
            <a:r>
              <a:rPr sz="1050" b="1">
                <a:solidFill>
                  <a:srgbClr val="031016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4388E7-3717-4AEE-A1F6-A242890B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3988" y="3362325"/>
            <a:ext cx="23479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1016"/>
                </a:solidFill>
              </a:defRPr>
            </a:pPr>
            <a:r>
              <a:rPr sz="1575" b="1">
                <a:solidFill>
                  <a:srgbClr val="031016"/>
                </a:solidFill>
              </a:rPr>
              <a:t>历史关键 Bad Case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844F7D-F518-4A02-BA8A-08B009C8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1009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A7B5BC"/>
                </a:solidFill>
              </a:defRPr>
            </a:pPr>
            <a:r>
              <a:rPr sz="1500" b="0">
                <a:solidFill>
                  <a:srgbClr val="A7B5BC"/>
                </a:solidFill>
              </a:rPr>
              <a:t>新版本只有同时通过修复验证与防退化验证，才有资格进入灰度。</a:t>
            </a:r>
          </a:p>
        </p:txBody>
      </p:sp>
    </p:spTree>
    <p:extLst>
      <p:ext uri="{BB962C8B-B14F-4D97-AF65-F5344CB8AC3E}">
        <p14:creationId xmlns:p14="http://schemas.microsoft.com/office/powerpoint/2010/main" val="1217503252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326C79-4A60-40B8-A3A9-FE502A3C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196E7D-4275-47BA-B929-0642DC0B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69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D63E7-1885-4632-9DE7-74250EBB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9D150-5FBA-4E60-A0CB-880EC895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740934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56BEA6-B59D-49DC-97B7-6846F86E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课堂练习：完成一轮最小评测闭环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FE8A9-C378-4018-AF3E-04C83626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B20FD-B219-4878-8860-50EE8448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设计8条用例：覆盖典型、边界、异常、无答案和高风险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824E52-FD10-4D52-B823-287F7AB9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A30071-B821-45F4-ADF8-905A2F3B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8765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选择6条运行并记录输出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872CA0-D93C-4F4C-B038-1856B6A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B9689-CAC2-4BA1-B205-7E004689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19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找出2条 Bad Case，完成归因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3CA17-493B-49B8-9310-7C5BEF6B7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D6C2"/>
                </a:solidFill>
              </a:defRPr>
            </a:pPr>
            <a:r>
              <a:rPr sz="1275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1AE911-A52A-4509-B435-05FC83D4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6245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5F2E9"/>
                </a:solidFill>
              </a:defRPr>
            </a:pPr>
            <a:r>
              <a:rPr sz="1800" b="0">
                <a:solidFill>
                  <a:srgbClr val="F5F2E9"/>
                </a:solidFill>
              </a:rPr>
              <a:t>修改一个版本点，再做1次版本对照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0E3CB9-B19F-4E5C-8F9A-27A2CFB50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62625"/>
            <a:ext cx="9429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7B5BC"/>
                </a:solidFill>
              </a:defRPr>
            </a:pPr>
            <a:r>
              <a:rPr sz="1350" b="0">
                <a:solidFill>
                  <a:srgbClr val="A7B5BC"/>
                </a:solidFill>
              </a:rPr>
              <a:t>产出：用例表＋评分结果＋Bad Case归因＋上线建议</a:t>
            </a:r>
          </a:p>
        </p:txBody>
      </p:sp>
    </p:spTree>
    <p:extLst>
      <p:ext uri="{BB962C8B-B14F-4D97-AF65-F5344CB8AC3E}">
        <p14:creationId xmlns:p14="http://schemas.microsoft.com/office/powerpoint/2010/main" val="1409428704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0715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1F500E-5CA4-4239-A7C6-A0EE51DE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67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6D6C2"/>
                </a:solidFill>
              </a:defRPr>
            </a:pPr>
            <a:r>
              <a:rPr sz="975" b="1">
                <a:solidFill>
                  <a:srgbClr val="36D6C2"/>
                </a:solidFill>
              </a:rPr>
              <a:t>AI PRODUCT · DATA LOOP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C4A273-455D-4DD3-81AC-DDAACB00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A7B5BC"/>
                </a:solidFill>
              </a:defRPr>
            </a:pPr>
            <a:r>
              <a:rPr sz="975" b="1">
                <a:solidFill>
                  <a:srgbClr val="A7B5BC"/>
                </a:solidFill>
              </a:rPr>
              <a:t>70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D497D-F97F-4D1E-83D1-33683300B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40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972866-0A50-46E1-9560-0B2A9774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D6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FBF693-722F-4F88-A6BA-E6886B60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1057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F2E9"/>
                </a:solidFill>
              </a:defRPr>
            </a:pPr>
            <a:r>
              <a:rPr sz="2850" b="1">
                <a:solidFill>
                  <a:srgbClr val="F5F2E9"/>
                </a:solidFill>
              </a:rPr>
              <a:t>评测结果与产品决策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56A53-14B8-4867-954D-CEF064DD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D6C2"/>
                </a:solidFill>
              </a:defRPr>
            </a:pPr>
            <a:r>
              <a:rPr sz="2100" b="1">
                <a:solidFill>
                  <a:srgbClr val="36D6C2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AABFB1-5B95-406E-9F63-76AA77097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上线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871381-9547-4BCA-8449-5AF3741F7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67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D6C2"/>
                </a:solidFill>
              </a:defRPr>
            </a:pPr>
            <a:r>
              <a:rPr sz="2100" b="1">
                <a:solidFill>
                  <a:srgbClr val="36D6C2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BCE79A-B9D0-4729-B06B-9D6E15C53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33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灰度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32CC9-07D4-4BF0-982A-11317A282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D6C2"/>
                </a:solidFill>
              </a:defRPr>
            </a:pPr>
            <a:r>
              <a:rPr sz="2100" b="1">
                <a:solidFill>
                  <a:srgbClr val="36D6C2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615880-C5F3-4E0F-8F7C-A2610E58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33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退回优化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53BCA0-7FAB-4CA9-B4DE-72E41E97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6700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6D6C2"/>
                </a:solidFill>
              </a:defRPr>
            </a:pPr>
            <a:r>
              <a:rPr sz="2100" b="1">
                <a:solidFill>
                  <a:srgbClr val="36D6C2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787B0-1912-4646-9117-25D173B3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2E9"/>
                </a:solidFill>
              </a:defRPr>
            </a:pPr>
            <a:r>
              <a:rPr sz="1875" b="1">
                <a:solidFill>
                  <a:srgbClr val="F5F2E9"/>
                </a:solidFill>
              </a:rPr>
              <a:t>转人工兜底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1FFF9F-A0E9-4D14-B1D9-4FF19700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76750"/>
            <a:ext cx="10096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6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78E822-53F6-4C00-BCF1-3E27FB15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5775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7B5BC"/>
                </a:solidFill>
              </a:defRPr>
            </a:pPr>
            <a:r>
              <a:rPr sz="1650" b="1">
                <a:solidFill>
                  <a:srgbClr val="A7B5BC"/>
                </a:solidFill>
              </a:rPr>
              <a:t>固定评测集 × 组合评分 × Bad Case × 版本回归 × 数据反馈闭环</a:t>
            </a:r>
          </a:p>
        </p:txBody>
      </p:sp>
    </p:spTree>
    <p:extLst>
      <p:ext uri="{BB962C8B-B14F-4D97-AF65-F5344CB8AC3E}">
        <p14:creationId xmlns:p14="http://schemas.microsoft.com/office/powerpoint/2010/main" val="13020182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2026-08-15T07:03:47.9750000Z</dcterms:created>
  <dcterms:modified xsi:type="dcterms:W3CDTF">2026-08-15T07:03:47.9750000Z</dcterms:modified>
</coreProperties>
</file>