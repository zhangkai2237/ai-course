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106.xml" ContentType="application/vnd.openxmlformats-officedocument.presentationml.notesSlide+xml"/>
  <Override PartName="/ppt/slides/slide107.xml" ContentType="application/vnd.openxmlformats-officedocument.presentationml.slide+xml"/>
  <Override PartName="/ppt/notesSlides/notesSlide107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08.xml" ContentType="application/vnd.openxmlformats-officedocument.presentationml.notesSlide+xml"/>
  <Override PartName="/ppt/slides/slide109.xml" ContentType="application/vnd.openxmlformats-officedocument.presentationml.slide+xml"/>
  <Override PartName="/ppt/notesSlides/notesSlide109.xml" ContentType="application/vnd.openxmlformats-officedocument.presentationml.notesSlide+xml"/>
  <Override PartName="/ppt/slides/slide110.xml" ContentType="application/vnd.openxmlformats-officedocument.presentationml.slide+xml"/>
  <Override PartName="/ppt/notesSlides/notesSlide110.xml" ContentType="application/vnd.openxmlformats-officedocument.presentationml.notesSlide+xml"/>
  <Override PartName="/ppt/slides/slide111.xml" ContentType="application/vnd.openxmlformats-officedocument.presentationml.slide+xml"/>
  <Override PartName="/ppt/notesSlides/notesSlide111.xml" ContentType="application/vnd.openxmlformats-officedocument.presentationml.notesSlide+xml"/>
  <Override PartName="/ppt/slides/slide112.xml" ContentType="application/vnd.openxmlformats-officedocument.presentationml.slide+xml"/>
  <Override PartName="/ppt/notesSlides/notesSlide112.xml" ContentType="application/vnd.openxmlformats-officedocument.presentationml.notesSlide+xml"/>
  <Override PartName="/ppt/slides/slide113.xml" ContentType="application/vnd.openxmlformats-officedocument.presentationml.slide+xml"/>
  <Override PartName="/ppt/notesSlides/notesSlide113.xml" ContentType="application/vnd.openxmlformats-officedocument.presentationml.notesSlide+xml"/>
  <Override PartName="/ppt/slides/slide114.xml" ContentType="application/vnd.openxmlformats-officedocument.presentationml.slide+xml"/>
  <Override PartName="/ppt/notesSlides/notesSlide114.xml" ContentType="application/vnd.openxmlformats-officedocument.presentationml.notesSlide+xml"/>
  <Override PartName="/ppt/slides/slide115.xml" ContentType="application/vnd.openxmlformats-officedocument.presentationml.slide+xml"/>
  <Override PartName="/ppt/notesSlides/notesSlide115.xml" ContentType="application/vnd.openxmlformats-officedocument.presentationml.notesSlide+xml"/>
  <Override PartName="/ppt/slides/slide116.xml" ContentType="application/vnd.openxmlformats-officedocument.presentationml.slide+xml"/>
  <Override PartName="/ppt/notesSlides/notesSlide116.xml" ContentType="application/vnd.openxmlformats-officedocument.presentationml.notesSlide+xml"/>
  <Override PartName="/ppt/slides/slide117.xml" ContentType="application/vnd.openxmlformats-officedocument.presentationml.slide+xml"/>
  <Override PartName="/ppt/notesSlides/notesSlide117.xml" ContentType="application/vnd.openxmlformats-officedocument.presentationml.notesSlide+xml"/>
  <Override PartName="/ppt/slides/slide118.xml" ContentType="application/vnd.openxmlformats-officedocument.presentationml.slide+xml"/>
  <Override PartName="/ppt/notesSlides/notesSlide118.xml" ContentType="application/vnd.openxmlformats-officedocument.presentationml.notesSlide+xml"/>
  <Override PartName="/ppt/slides/slide119.xml" ContentType="application/vnd.openxmlformats-officedocument.presentationml.slide+xml"/>
  <Override PartName="/ppt/notesSlides/notesSlide119.xml" ContentType="application/vnd.openxmlformats-officedocument.presentationml.notesSlide+xml"/>
  <Override PartName="/ppt/slides/slide120.xml" ContentType="application/vnd.openxmlformats-officedocument.presentationml.slide+xml"/>
  <Override PartName="/ppt/notesSlides/notesSlide120.xml" ContentType="application/vnd.openxmlformats-officedocument.presentationml.notesSlide+xml"/>
  <Override PartName="/ppt/slides/slide121.xml" ContentType="application/vnd.openxmlformats-officedocument.presentationml.slide+xml"/>
  <Override PartName="/ppt/notesSlides/notesSlide121.xml" ContentType="application/vnd.openxmlformats-officedocument.presentationml.notesSlide+xml"/>
  <Override PartName="/ppt/slides/slide122.xml" ContentType="application/vnd.openxmlformats-officedocument.presentationml.slide+xml"/>
  <Override PartName="/ppt/notesSlides/notesSlide122.xml" ContentType="application/vnd.openxmlformats-officedocument.presentationml.notesSlide+xml"/>
  <Override PartName="/ppt/slides/slide123.xml" ContentType="application/vnd.openxmlformats-officedocument.presentationml.slide+xml"/>
  <Override PartName="/ppt/notesSlides/notesSlide123.xml" ContentType="application/vnd.openxmlformats-officedocument.presentationml.notesSlide+xml"/>
  <Override PartName="/ppt/slides/slide124.xml" ContentType="application/vnd.openxmlformats-officedocument.presentationml.slide+xml"/>
  <Override PartName="/ppt/notesSlides/notesSlide124.xml" ContentType="application/vnd.openxmlformats-officedocument.presentationml.notesSlide+xml"/>
  <Override PartName="/ppt/slides/slide125.xml" ContentType="application/vnd.openxmlformats-officedocument.presentationml.slide+xml"/>
  <Override PartName="/ppt/notesSlides/notesSlide125.xml" ContentType="application/vnd.openxmlformats-officedocument.presentationml.notesSlide+xml"/>
  <Override PartName="/ppt/slides/slide126.xml" ContentType="application/vnd.openxmlformats-officedocument.presentationml.slide+xml"/>
  <Override PartName="/ppt/notesSlides/notesSlide126.xml" ContentType="application/vnd.openxmlformats-officedocument.presentationml.notesSlide+xml"/>
  <Override PartName="/ppt/slides/slide127.xml" ContentType="application/vnd.openxmlformats-officedocument.presentationml.slide+xml"/>
  <Override PartName="/ppt/notesSlides/notesSlide127.xml" ContentType="application/vnd.openxmlformats-officedocument.presentationml.notesSlide+xml"/>
  <Override PartName="/ppt/slides/slide128.xml" ContentType="application/vnd.openxmlformats-officedocument.presentationml.slide+xml"/>
  <Override PartName="/ppt/notesSlides/notesSlide128.xml" ContentType="application/vnd.openxmlformats-officedocument.presentationml.notesSlide+xml"/>
  <Override PartName="/ppt/slides/slide129.xml" ContentType="application/vnd.openxmlformats-officedocument.presentationml.slide+xml"/>
  <Override PartName="/ppt/notesSlides/notesSlide129.xml" ContentType="application/vnd.openxmlformats-officedocument.presentationml.notesSlide+xml"/>
  <Override PartName="/ppt/slides/slide130.xml" ContentType="application/vnd.openxmlformats-officedocument.presentationml.slide+xml"/>
  <Override PartName="/ppt/notesSlides/notesSlide130.xml" ContentType="application/vnd.openxmlformats-officedocument.presentationml.notesSlide+xml"/>
  <Override PartName="/ppt/slides/slide131.xml" ContentType="application/vnd.openxmlformats-officedocument.presentationml.slide+xml"/>
  <Override PartName="/ppt/notesSlides/notesSlide131.xml" ContentType="application/vnd.openxmlformats-officedocument.presentationml.notesSlide+xml"/>
  <Override PartName="/ppt/slides/slide132.xml" ContentType="application/vnd.openxmlformats-officedocument.presentationml.slide+xml"/>
  <Override PartName="/ppt/notesSlides/notesSlide132.xml" ContentType="application/vnd.openxmlformats-officedocument.presentationml.notesSlide+xml"/>
  <Override PartName="/ppt/slides/slide133.xml" ContentType="application/vnd.openxmlformats-officedocument.presentationml.slide+xml"/>
  <Override PartName="/ppt/notesSlides/notesSlide133.xml" ContentType="application/vnd.openxmlformats-officedocument.presentationml.notesSlide+xml"/>
  <Override PartName="/ppt/slides/slide134.xml" ContentType="application/vnd.openxmlformats-officedocument.presentationml.slide+xml"/>
  <Override PartName="/ppt/notesSlides/notesSlide134.xml" ContentType="application/vnd.openxmlformats-officedocument.presentationml.notesSlide+xml"/>
  <Override PartName="/ppt/slides/slide135.xml" ContentType="application/vnd.openxmlformats-officedocument.presentationml.slide+xml"/>
  <Override PartName="/ppt/notesSlides/notesSlide135.xml" ContentType="application/vnd.openxmlformats-officedocument.presentationml.notesSlide+xml"/>
  <Override PartName="/ppt/slides/slide136.xml" ContentType="application/vnd.openxmlformats-officedocument.presentationml.slide+xml"/>
  <Override PartName="/ppt/notesSlides/notesSlide136.xml" ContentType="application/vnd.openxmlformats-officedocument.presentationml.notesSlide+xml"/>
  <Override PartName="/ppt/slides/slide137.xml" ContentType="application/vnd.openxmlformats-officedocument.presentationml.slide+xml"/>
  <Override PartName="/ppt/notesSlides/notesSlide137.xml" ContentType="application/vnd.openxmlformats-officedocument.presentationml.notesSlide+xml"/>
  <Override PartName="/ppt/slides/slide138.xml" ContentType="application/vnd.openxmlformats-officedocument.presentationml.slide+xml"/>
  <Override PartName="/ppt/notesSlides/notesSlide138.xml" ContentType="application/vnd.openxmlformats-officedocument.presentationml.notesSlide+xml"/>
  <Override PartName="/ppt/slides/slide139.xml" ContentType="application/vnd.openxmlformats-officedocument.presentationml.slide+xml"/>
  <Override PartName="/ppt/notesSlides/notesSlide139.xml" ContentType="application/vnd.openxmlformats-officedocument.presentationml.notesSlide+xml"/>
  <Override PartName="/ppt/slides/slide140.xml" ContentType="application/vnd.openxmlformats-officedocument.presentationml.slide+xml"/>
  <Override PartName="/ppt/notesSlides/notesSlide140.xml" ContentType="application/vnd.openxmlformats-officedocument.presentationml.notesSlide+xml"/>
  <Override PartName="/ppt/slides/slide141.xml" ContentType="application/vnd.openxmlformats-officedocument.presentationml.slide+xml"/>
  <Override PartName="/ppt/notesSlides/notesSlide141.xml" ContentType="application/vnd.openxmlformats-officedocument.presentationml.notesSlide+xml"/>
  <Override PartName="/ppt/slides/slide142.xml" ContentType="application/vnd.openxmlformats-officedocument.presentationml.slide+xml"/>
  <Override PartName="/ppt/notesSlides/notesSlide142.xml" ContentType="application/vnd.openxmlformats-officedocument.presentationml.notesSlide+xml"/>
  <Override PartName="/ppt/slides/slide143.xml" ContentType="application/vnd.openxmlformats-officedocument.presentationml.slide+xml"/>
  <Override PartName="/ppt/notesSlides/notesSlide143.xml" ContentType="application/vnd.openxmlformats-officedocument.presentationml.notesSlide+xml"/>
  <Override PartName="/ppt/slides/slide144.xml" ContentType="application/vnd.openxmlformats-officedocument.presentationml.slide+xml"/>
  <Override PartName="/ppt/notesSlides/notesSlide144.xml" ContentType="application/vnd.openxmlformats-officedocument.presentationml.notesSlide+xml"/>
  <Override PartName="/ppt/slides/slide145.xml" ContentType="application/vnd.openxmlformats-officedocument.presentationml.slide+xml"/>
  <Override PartName="/ppt/notesSlides/notesSlide145.xml" ContentType="application/vnd.openxmlformats-officedocument.presentationml.notesSlide+xml"/>
  <Override PartName="/ppt/slides/slide146.xml" ContentType="application/vnd.openxmlformats-officedocument.presentationml.slide+xml"/>
  <Override PartName="/ppt/notesSlides/notesSlide146.xml" ContentType="application/vnd.openxmlformats-officedocument.presentationml.notesSlide+xml"/>
  <Override PartName="/ppt/slides/slide147.xml" ContentType="application/vnd.openxmlformats-officedocument.presentationml.slide+xml"/>
  <Override PartName="/ppt/notesSlides/notesSlide147.xml" ContentType="application/vnd.openxmlformats-officedocument.presentationml.notesSlide+xml"/>
  <Override PartName="/ppt/slides/slide148.xml" ContentType="application/vnd.openxmlformats-officedocument.presentationml.slide+xml"/>
  <Override PartName="/ppt/notesSlides/notesSlide148.xml" ContentType="application/vnd.openxmlformats-officedocument.presentationml.notesSlide+xml"/>
  <Override PartName="/ppt/slides/slide149.xml" ContentType="application/vnd.openxmlformats-officedocument.presentationml.slide+xml"/>
  <Override PartName="/ppt/notesSlides/notesSlide149.xml" ContentType="application/vnd.openxmlformats-officedocument.presentationml.notesSlide+xml"/>
  <Override PartName="/ppt/slides/slide150.xml" ContentType="application/vnd.openxmlformats-officedocument.presentationml.slide+xml"/>
  <Override PartName="/ppt/notesSlides/notesSlide150.xml" ContentType="application/vnd.openxmlformats-officedocument.presentationml.notesSlide+xml"/>
  <Override PartName="/ppt/slides/slide151.xml" ContentType="application/vnd.openxmlformats-officedocument.presentationml.slide+xml"/>
  <Override PartName="/ppt/notesSlides/notesSlide151.xml" ContentType="application/vnd.openxmlformats-officedocument.presentationml.notesSlide+xml"/>
  <Override PartName="/ppt/slides/slide152.xml" ContentType="application/vnd.openxmlformats-officedocument.presentationml.slide+xml"/>
  <Override PartName="/ppt/notesSlides/notesSlide152.xml" ContentType="application/vnd.openxmlformats-officedocument.presentationml.notesSlide+xml"/>
  <Override PartName="/ppt/slides/slide153.xml" ContentType="application/vnd.openxmlformats-officedocument.presentationml.slide+xml"/>
  <Override PartName="/ppt/notesSlides/notesSlide153.xml" ContentType="application/vnd.openxmlformats-officedocument.presentationml.notesSlide+xml"/>
  <Override PartName="/ppt/slides/slide154.xml" ContentType="application/vnd.openxmlformats-officedocument.presentationml.slide+xml"/>
  <Override PartName="/ppt/notesSlides/notesSlide154.xml" ContentType="application/vnd.openxmlformats-officedocument.presentationml.notesSlide+xml"/>
  <Override PartName="/ppt/slides/slide155.xml" ContentType="application/vnd.openxmlformats-officedocument.presentationml.slide+xml"/>
  <Override PartName="/ppt/notesSlides/notesSlide155.xml" ContentType="application/vnd.openxmlformats-officedocument.presentationml.notesSlide+xml"/>
  <Override PartName="/ppt/slides/slide156.xml" ContentType="application/vnd.openxmlformats-officedocument.presentationml.slide+xml"/>
  <Override PartName="/ppt/notesSlides/notesSlide156.xml" ContentType="application/vnd.openxmlformats-officedocument.presentationml.notesSlide+xml"/>
  <Override PartName="/ppt/slides/slide157.xml" ContentType="application/vnd.openxmlformats-officedocument.presentationml.slide+xml"/>
  <Override PartName="/ppt/notesSlides/notesSlide157.xml" ContentType="application/vnd.openxmlformats-officedocument.presentationml.notesSlide+xml"/>
  <Override PartName="/ppt/slides/slide158.xml" ContentType="application/vnd.openxmlformats-officedocument.presentationml.slide+xml"/>
  <Override PartName="/ppt/notesSlides/notesSlide158.xml" ContentType="application/vnd.openxmlformats-officedocument.presentationml.notesSlide+xml"/>
  <Override PartName="/ppt/slides/slide159.xml" ContentType="application/vnd.openxmlformats-officedocument.presentationml.slide+xml"/>
  <Override PartName="/ppt/notesSlides/notesSlide159.xml" ContentType="application/vnd.openxmlformats-officedocument.presentationml.notesSlide+xml"/>
  <Override PartName="/ppt/slides/slide160.xml" ContentType="application/vnd.openxmlformats-officedocument.presentationml.slide+xml"/>
  <Override PartName="/ppt/notesSlides/notesSlide160.xml" ContentType="application/vnd.openxmlformats-officedocument.presentationml.notesSlide+xml"/>
  <Override PartName="/ppt/slides/slide161.xml" ContentType="application/vnd.openxmlformats-officedocument.presentationml.slide+xml"/>
  <Override PartName="/ppt/notesSlides/notesSlide161.xml" ContentType="application/vnd.openxmlformats-officedocument.presentationml.notesSlide+xml"/>
  <Override PartName="/ppt/slides/slide162.xml" ContentType="application/vnd.openxmlformats-officedocument.presentationml.slide+xml"/>
  <Override PartName="/ppt/notesSlides/notesSlide162.xml" ContentType="application/vnd.openxmlformats-officedocument.presentationml.notesSlide+xml"/>
  <Override PartName="/ppt/slides/slide163.xml" ContentType="application/vnd.openxmlformats-officedocument.presentationml.slide+xml"/>
  <Override PartName="/ppt/notesSlides/notesSlide163.xml" ContentType="application/vnd.openxmlformats-officedocument.presentationml.notesSlide+xml"/>
  <Override PartName="/ppt/slides/slide164.xml" ContentType="application/vnd.openxmlformats-officedocument.presentationml.slide+xml"/>
  <Override PartName="/ppt/notesSlides/notesSlide164.xml" ContentType="application/vnd.openxmlformats-officedocument.presentationml.notesSlide+xml"/>
  <Override PartName="/ppt/slides/slide165.xml" ContentType="application/vnd.openxmlformats-officedocument.presentationml.slide+xml"/>
  <Override PartName="/ppt/notesSlides/notesSlide165.xml" ContentType="application/vnd.openxmlformats-officedocument.presentationml.notesSlide+xml"/>
  <Override PartName="/ppt/slides/slide166.xml" ContentType="application/vnd.openxmlformats-officedocument.presentationml.slide+xml"/>
  <Override PartName="/ppt/notesSlides/notesSlide166.xml" ContentType="application/vnd.openxmlformats-officedocument.presentationml.notesSlide+xml"/>
  <Override PartName="/ppt/slides/slide167.xml" ContentType="application/vnd.openxmlformats-officedocument.presentationml.slide+xml"/>
  <Override PartName="/ppt/notesSlides/notesSlide167.xml" ContentType="application/vnd.openxmlformats-officedocument.presentationml.notesSlide+xml"/>
  <Override PartName="/ppt/slides/slide168.xml" ContentType="application/vnd.openxmlformats-officedocument.presentationml.slide+xml"/>
  <Override PartName="/ppt/notesSlides/notesSlide168.xml" ContentType="application/vnd.openxmlformats-officedocument.presentationml.notesSlide+xml"/>
  <Override PartName="/ppt/slides/slide169.xml" ContentType="application/vnd.openxmlformats-officedocument.presentationml.slide+xml"/>
  <Override PartName="/ppt/notesSlides/notesSlide169.xml" ContentType="application/vnd.openxmlformats-officedocument.presentationml.notesSlide+xml"/>
  <Override PartName="/ppt/slides/slide170.xml" ContentType="application/vnd.openxmlformats-officedocument.presentationml.slide+xml"/>
  <Override PartName="/ppt/notesSlides/notesSlide170.xml" ContentType="application/vnd.openxmlformats-officedocument.presentationml.notesSlide+xml"/>
  <Override PartName="/ppt/slides/slide171.xml" ContentType="application/vnd.openxmlformats-officedocument.presentationml.slide+xml"/>
  <Override PartName="/ppt/notesSlides/notesSlide171.xml" ContentType="application/vnd.openxmlformats-officedocument.presentationml.notesSlide+xml"/>
  <Override PartName="/ppt/slides/slide172.xml" ContentType="application/vnd.openxmlformats-officedocument.presentationml.slide+xml"/>
  <Override PartName="/ppt/notesSlides/notesSlide172.xml" ContentType="application/vnd.openxmlformats-officedocument.presentationml.notesSlide+xml"/>
  <Override PartName="/ppt/slides/slide173.xml" ContentType="application/vnd.openxmlformats-officedocument.presentationml.slide+xml"/>
  <Override PartName="/ppt/notesSlides/notesSlide173.xml" ContentType="application/vnd.openxmlformats-officedocument.presentationml.notesSlide+xml"/>
  <Override PartName="/ppt/slides/slide174.xml" ContentType="application/vnd.openxmlformats-officedocument.presentationml.slide+xml"/>
  <Override PartName="/ppt/notesSlides/notesSlide174.xml" ContentType="application/vnd.openxmlformats-officedocument.presentationml.notesSlide+xml"/>
  <Override PartName="/ppt/slides/slide175.xml" ContentType="application/vnd.openxmlformats-officedocument.presentationml.slide+xml"/>
  <Override PartName="/ppt/notesSlides/notesSlide175.xml" ContentType="application/vnd.openxmlformats-officedocument.presentationml.notesSlide+xml"/>
  <Override PartName="/ppt/slides/slide176.xml" ContentType="application/vnd.openxmlformats-officedocument.presentationml.slide+xml"/>
  <Override PartName="/ppt/notesSlides/notesSlide176.xml" ContentType="application/vnd.openxmlformats-officedocument.presentationml.notesSlide+xml"/>
  <Override PartName="/ppt/slides/slide177.xml" ContentType="application/vnd.openxmlformats-officedocument.presentationml.slide+xml"/>
  <Override PartName="/ppt/notesSlides/notesSlide177.xml" ContentType="application/vnd.openxmlformats-officedocument.presentationml.notesSlide+xml"/>
  <Override PartName="/ppt/slides/slide178.xml" ContentType="application/vnd.openxmlformats-officedocument.presentationml.slide+xml"/>
  <Override PartName="/ppt/notesSlides/notesSlide178.xml" ContentType="application/vnd.openxmlformats-officedocument.presentationml.notesSlide+xml"/>
  <Override PartName="/ppt/slides/slide179.xml" ContentType="application/vnd.openxmlformats-officedocument.presentationml.slide+xml"/>
  <Override PartName="/ppt/notesSlides/notesSlide179.xml" ContentType="application/vnd.openxmlformats-officedocument.presentationml.notesSlide+xml"/>
  <Override PartName="/ppt/slides/slide180.xml" ContentType="application/vnd.openxmlformats-officedocument.presentationml.slide+xml"/>
  <Override PartName="/ppt/notesSlides/notesSlide180.xml" ContentType="application/vnd.openxmlformats-officedocument.presentationml.notesSlide+xml"/>
  <Override PartName="/ppt/slides/slide181.xml" ContentType="application/vnd.openxmlformats-officedocument.presentationml.slide+xml"/>
  <Override PartName="/ppt/notesSlides/notesSlide181.xml" ContentType="application/vnd.openxmlformats-officedocument.presentationml.notesSlide+xml"/>
  <Override PartName="/ppt/slides/slide182.xml" ContentType="application/vnd.openxmlformats-officedocument.presentationml.slide+xml"/>
  <Override PartName="/ppt/notesSlides/notesSlide182.xml" ContentType="application/vnd.openxmlformats-officedocument.presentationml.notesSlide+xml"/>
  <Override PartName="/ppt/slides/slide183.xml" ContentType="application/vnd.openxmlformats-officedocument.presentationml.slide+xml"/>
  <Override PartName="/ppt/notesSlides/notesSlide18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32b9e4891843ef" /><Relationship Type="http://schemas.openxmlformats.org/officeDocument/2006/relationships/extended-properties" Target="/docProps/app.xml" Id="R4648a836b51c4e85" /><Relationship Type="http://schemas.openxmlformats.org/officeDocument/2006/relationships/officeDocument" Target="/ppt/presentation.xml" Id="R043a888a36b44b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8177acb11f4587"/>
  </p:sldMasterIdLst>
  <p:notesMasterIdLst>
    <p:notesMasterId xmlns:r="http://schemas.openxmlformats.org/officeDocument/2006/relationships" r:id="Rb4bd69928bc34933"/>
  </p:notesMasterIdLst>
  <p:sldIdLst>
    <p:sldId xmlns:r="http://schemas.openxmlformats.org/officeDocument/2006/relationships" id="256" r:id="R86f26898a26d400a"/>
    <p:sldId xmlns:r="http://schemas.openxmlformats.org/officeDocument/2006/relationships" id="257" r:id="Rbb28b87083274348"/>
    <p:sldId xmlns:r="http://schemas.openxmlformats.org/officeDocument/2006/relationships" id="258" r:id="R3386534654d0492e"/>
    <p:sldId xmlns:r="http://schemas.openxmlformats.org/officeDocument/2006/relationships" id="259" r:id="R4a479131e72b4026"/>
    <p:sldId xmlns:r="http://schemas.openxmlformats.org/officeDocument/2006/relationships" id="260" r:id="Rbb330823664f4064"/>
    <p:sldId xmlns:r="http://schemas.openxmlformats.org/officeDocument/2006/relationships" id="261" r:id="R31ed6e7d9ec64a78"/>
    <p:sldId xmlns:r="http://schemas.openxmlformats.org/officeDocument/2006/relationships" id="262" r:id="Ra2450491c4f4455c"/>
    <p:sldId xmlns:r="http://schemas.openxmlformats.org/officeDocument/2006/relationships" id="263" r:id="Rfc075527bca742d9"/>
    <p:sldId xmlns:r="http://schemas.openxmlformats.org/officeDocument/2006/relationships" id="264" r:id="R31f27cda1de14fc9"/>
    <p:sldId xmlns:r="http://schemas.openxmlformats.org/officeDocument/2006/relationships" id="265" r:id="R7f97b492a3834093"/>
    <p:sldId xmlns:r="http://schemas.openxmlformats.org/officeDocument/2006/relationships" id="266" r:id="R814acb76b50b4a0d"/>
    <p:sldId xmlns:r="http://schemas.openxmlformats.org/officeDocument/2006/relationships" id="267" r:id="R97eb07542b4f41d5"/>
    <p:sldId xmlns:r="http://schemas.openxmlformats.org/officeDocument/2006/relationships" id="268" r:id="R680a271b243545d1"/>
    <p:sldId xmlns:r="http://schemas.openxmlformats.org/officeDocument/2006/relationships" id="269" r:id="Rcee530a0d4e944e6"/>
    <p:sldId xmlns:r="http://schemas.openxmlformats.org/officeDocument/2006/relationships" id="270" r:id="R560fd496c4d84945"/>
    <p:sldId xmlns:r="http://schemas.openxmlformats.org/officeDocument/2006/relationships" id="271" r:id="R7e4ca3c01d9540ad"/>
    <p:sldId xmlns:r="http://schemas.openxmlformats.org/officeDocument/2006/relationships" id="272" r:id="R2dd4b9fd964d42f9"/>
    <p:sldId xmlns:r="http://schemas.openxmlformats.org/officeDocument/2006/relationships" id="273" r:id="R0b962b4402bf4d2d"/>
    <p:sldId xmlns:r="http://schemas.openxmlformats.org/officeDocument/2006/relationships" id="274" r:id="Rab8f0c642aff4c39"/>
    <p:sldId xmlns:r="http://schemas.openxmlformats.org/officeDocument/2006/relationships" id="275" r:id="R68a642e87f9d4067"/>
    <p:sldId xmlns:r="http://schemas.openxmlformats.org/officeDocument/2006/relationships" id="276" r:id="R6dbec537b2d649b5"/>
    <p:sldId xmlns:r="http://schemas.openxmlformats.org/officeDocument/2006/relationships" id="277" r:id="R83b82d23ff8c47d7"/>
    <p:sldId xmlns:r="http://schemas.openxmlformats.org/officeDocument/2006/relationships" id="278" r:id="R88301a9242594fc8"/>
    <p:sldId xmlns:r="http://schemas.openxmlformats.org/officeDocument/2006/relationships" id="279" r:id="Rbe172907185c4549"/>
    <p:sldId xmlns:r="http://schemas.openxmlformats.org/officeDocument/2006/relationships" id="280" r:id="R93e6ae190eed47e6"/>
    <p:sldId xmlns:r="http://schemas.openxmlformats.org/officeDocument/2006/relationships" id="281" r:id="R27e2b6b666c34e38"/>
    <p:sldId xmlns:r="http://schemas.openxmlformats.org/officeDocument/2006/relationships" id="282" r:id="Rd5cd4c1916124ad5"/>
    <p:sldId xmlns:r="http://schemas.openxmlformats.org/officeDocument/2006/relationships" id="283" r:id="Rb6da0f019ddd4162"/>
    <p:sldId xmlns:r="http://schemas.openxmlformats.org/officeDocument/2006/relationships" id="284" r:id="R04e555d3eb3c45a2"/>
    <p:sldId xmlns:r="http://schemas.openxmlformats.org/officeDocument/2006/relationships" id="285" r:id="R4d677120d2344d14"/>
    <p:sldId xmlns:r="http://schemas.openxmlformats.org/officeDocument/2006/relationships" id="286" r:id="Rd55a0f3ed2f4450b"/>
    <p:sldId xmlns:r="http://schemas.openxmlformats.org/officeDocument/2006/relationships" id="287" r:id="R312fef5e7734410d"/>
    <p:sldId xmlns:r="http://schemas.openxmlformats.org/officeDocument/2006/relationships" id="288" r:id="Rc7eab1351c1f4b76"/>
    <p:sldId xmlns:r="http://schemas.openxmlformats.org/officeDocument/2006/relationships" id="289" r:id="R985f8eab8f2c4e58"/>
    <p:sldId xmlns:r="http://schemas.openxmlformats.org/officeDocument/2006/relationships" id="290" r:id="Rc66b58933d3c4564"/>
    <p:sldId xmlns:r="http://schemas.openxmlformats.org/officeDocument/2006/relationships" id="291" r:id="R22e510d483204923"/>
    <p:sldId xmlns:r="http://schemas.openxmlformats.org/officeDocument/2006/relationships" id="292" r:id="R89ed412ddddb460d"/>
    <p:sldId xmlns:r="http://schemas.openxmlformats.org/officeDocument/2006/relationships" id="293" r:id="R4dbefc060724439e"/>
    <p:sldId xmlns:r="http://schemas.openxmlformats.org/officeDocument/2006/relationships" id="294" r:id="R2efc3d995dc64e6a"/>
    <p:sldId xmlns:r="http://schemas.openxmlformats.org/officeDocument/2006/relationships" id="295" r:id="Rd23c6e6c1bfd4263"/>
    <p:sldId xmlns:r="http://schemas.openxmlformats.org/officeDocument/2006/relationships" id="296" r:id="R1946322a479d44e5"/>
    <p:sldId xmlns:r="http://schemas.openxmlformats.org/officeDocument/2006/relationships" id="297" r:id="R0ff98f00a3e94799"/>
    <p:sldId xmlns:r="http://schemas.openxmlformats.org/officeDocument/2006/relationships" id="298" r:id="R695a726f40ac4a95"/>
    <p:sldId xmlns:r="http://schemas.openxmlformats.org/officeDocument/2006/relationships" id="299" r:id="Rb48bc1028039429f"/>
    <p:sldId xmlns:r="http://schemas.openxmlformats.org/officeDocument/2006/relationships" id="300" r:id="Ra5e8c1b12e1d4114"/>
    <p:sldId xmlns:r="http://schemas.openxmlformats.org/officeDocument/2006/relationships" id="301" r:id="R791fdc1a639e4d8c"/>
    <p:sldId xmlns:r="http://schemas.openxmlformats.org/officeDocument/2006/relationships" id="302" r:id="Ra21033fc6a164cc1"/>
    <p:sldId xmlns:r="http://schemas.openxmlformats.org/officeDocument/2006/relationships" id="303" r:id="R51021f08da164e30"/>
    <p:sldId xmlns:r="http://schemas.openxmlformats.org/officeDocument/2006/relationships" id="304" r:id="Rc582391456bc4779"/>
    <p:sldId xmlns:r="http://schemas.openxmlformats.org/officeDocument/2006/relationships" id="305" r:id="R77532febd0f44bd6"/>
    <p:sldId xmlns:r="http://schemas.openxmlformats.org/officeDocument/2006/relationships" id="306" r:id="R1d811e6a3abc4f80"/>
    <p:sldId xmlns:r="http://schemas.openxmlformats.org/officeDocument/2006/relationships" id="307" r:id="R03a3c6489b9b40e9"/>
    <p:sldId xmlns:r="http://schemas.openxmlformats.org/officeDocument/2006/relationships" id="308" r:id="Ra34babb0f0c64a93"/>
    <p:sldId xmlns:r="http://schemas.openxmlformats.org/officeDocument/2006/relationships" id="309" r:id="R8cf0c9fec4af47a5"/>
    <p:sldId xmlns:r="http://schemas.openxmlformats.org/officeDocument/2006/relationships" id="310" r:id="R1d8e525654274123"/>
    <p:sldId xmlns:r="http://schemas.openxmlformats.org/officeDocument/2006/relationships" id="311" r:id="Rc6f957eadfbf4567"/>
    <p:sldId xmlns:r="http://schemas.openxmlformats.org/officeDocument/2006/relationships" id="312" r:id="Rb383ed88aa424ac6"/>
    <p:sldId xmlns:r="http://schemas.openxmlformats.org/officeDocument/2006/relationships" id="313" r:id="R6dbb8826edb640cb"/>
    <p:sldId xmlns:r="http://schemas.openxmlformats.org/officeDocument/2006/relationships" id="314" r:id="Ra5bec5c715ff4908"/>
    <p:sldId xmlns:r="http://schemas.openxmlformats.org/officeDocument/2006/relationships" id="315" r:id="Rc82dd7030ebb4f75"/>
    <p:sldId xmlns:r="http://schemas.openxmlformats.org/officeDocument/2006/relationships" id="316" r:id="R0f1604de6cd2417e"/>
    <p:sldId xmlns:r="http://schemas.openxmlformats.org/officeDocument/2006/relationships" id="317" r:id="Rb496d2cffa704127"/>
    <p:sldId xmlns:r="http://schemas.openxmlformats.org/officeDocument/2006/relationships" id="318" r:id="R0a9d27b02cc744b3"/>
    <p:sldId xmlns:r="http://schemas.openxmlformats.org/officeDocument/2006/relationships" id="319" r:id="R3eefedaae0804241"/>
    <p:sldId xmlns:r="http://schemas.openxmlformats.org/officeDocument/2006/relationships" id="320" r:id="Rbac7ab53b91c4a9f"/>
    <p:sldId xmlns:r="http://schemas.openxmlformats.org/officeDocument/2006/relationships" id="321" r:id="Rb645d65b4cea4088"/>
    <p:sldId xmlns:r="http://schemas.openxmlformats.org/officeDocument/2006/relationships" id="322" r:id="R36b38fb5e43d4633"/>
    <p:sldId xmlns:r="http://schemas.openxmlformats.org/officeDocument/2006/relationships" id="323" r:id="R4321653935a944d3"/>
    <p:sldId xmlns:r="http://schemas.openxmlformats.org/officeDocument/2006/relationships" id="324" r:id="Rd3ff9a2f15aa4db5"/>
    <p:sldId xmlns:r="http://schemas.openxmlformats.org/officeDocument/2006/relationships" id="325" r:id="R7a0212a8ff3842b5"/>
    <p:sldId xmlns:r="http://schemas.openxmlformats.org/officeDocument/2006/relationships" id="326" r:id="Rf2cb7e5091f149c7"/>
    <p:sldId xmlns:r="http://schemas.openxmlformats.org/officeDocument/2006/relationships" id="327" r:id="R5d9c43d2b3604cfd"/>
    <p:sldId xmlns:r="http://schemas.openxmlformats.org/officeDocument/2006/relationships" id="328" r:id="R2b6d0b4aae2b44a5"/>
    <p:sldId xmlns:r="http://schemas.openxmlformats.org/officeDocument/2006/relationships" id="329" r:id="Re3e80b893d174c46"/>
    <p:sldId xmlns:r="http://schemas.openxmlformats.org/officeDocument/2006/relationships" id="330" r:id="Rdb830b60c3ba49da"/>
    <p:sldId xmlns:r="http://schemas.openxmlformats.org/officeDocument/2006/relationships" id="331" r:id="Rec7ac291046c4804"/>
    <p:sldId xmlns:r="http://schemas.openxmlformats.org/officeDocument/2006/relationships" id="332" r:id="Racf76d4058fe494e"/>
    <p:sldId xmlns:r="http://schemas.openxmlformats.org/officeDocument/2006/relationships" id="333" r:id="Rebe0c5c7f7d24b7b"/>
    <p:sldId xmlns:r="http://schemas.openxmlformats.org/officeDocument/2006/relationships" id="334" r:id="R570a420726b347d4"/>
    <p:sldId xmlns:r="http://schemas.openxmlformats.org/officeDocument/2006/relationships" id="335" r:id="R9160ed89c2da4a8a"/>
    <p:sldId xmlns:r="http://schemas.openxmlformats.org/officeDocument/2006/relationships" id="336" r:id="R3f38fb42c22a4860"/>
    <p:sldId xmlns:r="http://schemas.openxmlformats.org/officeDocument/2006/relationships" id="337" r:id="R9088fe8207b440f6"/>
    <p:sldId xmlns:r="http://schemas.openxmlformats.org/officeDocument/2006/relationships" id="338" r:id="Rcd1f64a1a472435d"/>
    <p:sldId xmlns:r="http://schemas.openxmlformats.org/officeDocument/2006/relationships" id="339" r:id="Rdfc165c00fe54526"/>
    <p:sldId xmlns:r="http://schemas.openxmlformats.org/officeDocument/2006/relationships" id="340" r:id="R3d1397c59a74433b"/>
    <p:sldId xmlns:r="http://schemas.openxmlformats.org/officeDocument/2006/relationships" id="341" r:id="Reecc044b25244bbb"/>
    <p:sldId xmlns:r="http://schemas.openxmlformats.org/officeDocument/2006/relationships" id="342" r:id="R69cf88b1b2ce4911"/>
    <p:sldId xmlns:r="http://schemas.openxmlformats.org/officeDocument/2006/relationships" id="343" r:id="Rf90ac05ed7f843b8"/>
    <p:sldId xmlns:r="http://schemas.openxmlformats.org/officeDocument/2006/relationships" id="344" r:id="R6d70383d19284553"/>
    <p:sldId xmlns:r="http://schemas.openxmlformats.org/officeDocument/2006/relationships" id="345" r:id="R0c772e4e2aae4ef2"/>
    <p:sldId xmlns:r="http://schemas.openxmlformats.org/officeDocument/2006/relationships" id="346" r:id="Rdea4a853ff104d56"/>
    <p:sldId xmlns:r="http://schemas.openxmlformats.org/officeDocument/2006/relationships" id="347" r:id="R9410558a7c6143c3"/>
    <p:sldId xmlns:r="http://schemas.openxmlformats.org/officeDocument/2006/relationships" id="348" r:id="Rdb59165991f14a0f"/>
    <p:sldId xmlns:r="http://schemas.openxmlformats.org/officeDocument/2006/relationships" id="349" r:id="Redd62385d7564a84"/>
    <p:sldId xmlns:r="http://schemas.openxmlformats.org/officeDocument/2006/relationships" id="350" r:id="R6e6da2b5743c411f"/>
    <p:sldId xmlns:r="http://schemas.openxmlformats.org/officeDocument/2006/relationships" id="351" r:id="R228d135160614c0a"/>
    <p:sldId xmlns:r="http://schemas.openxmlformats.org/officeDocument/2006/relationships" id="352" r:id="R404bcc92d8984b88"/>
    <p:sldId xmlns:r="http://schemas.openxmlformats.org/officeDocument/2006/relationships" id="353" r:id="Rc2bdd1db587f4622"/>
    <p:sldId xmlns:r="http://schemas.openxmlformats.org/officeDocument/2006/relationships" id="354" r:id="R9af6af28c085435c"/>
    <p:sldId xmlns:r="http://schemas.openxmlformats.org/officeDocument/2006/relationships" id="355" r:id="R47df2eecc0544340"/>
    <p:sldId xmlns:r="http://schemas.openxmlformats.org/officeDocument/2006/relationships" id="356" r:id="R61e24a6130cf4f25"/>
    <p:sldId xmlns:r="http://schemas.openxmlformats.org/officeDocument/2006/relationships" id="357" r:id="R79584304417442e2"/>
    <p:sldId xmlns:r="http://schemas.openxmlformats.org/officeDocument/2006/relationships" id="358" r:id="Ra8b8bdcc41644a70"/>
    <p:sldId xmlns:r="http://schemas.openxmlformats.org/officeDocument/2006/relationships" id="359" r:id="Re1bb2c53a8e941ec"/>
    <p:sldId xmlns:r="http://schemas.openxmlformats.org/officeDocument/2006/relationships" id="360" r:id="R688f413ba6454bce"/>
    <p:sldId xmlns:r="http://schemas.openxmlformats.org/officeDocument/2006/relationships" id="361" r:id="R0b003c4aaebb43dd"/>
    <p:sldId xmlns:r="http://schemas.openxmlformats.org/officeDocument/2006/relationships" id="362" r:id="Rb2b0101232754168"/>
    <p:sldId xmlns:r="http://schemas.openxmlformats.org/officeDocument/2006/relationships" id="363" r:id="R8d400cf873a549dd"/>
    <p:sldId xmlns:r="http://schemas.openxmlformats.org/officeDocument/2006/relationships" id="364" r:id="R1787d81001774955"/>
    <p:sldId xmlns:r="http://schemas.openxmlformats.org/officeDocument/2006/relationships" id="365" r:id="R5fed3b78d99d4c4e"/>
    <p:sldId xmlns:r="http://schemas.openxmlformats.org/officeDocument/2006/relationships" id="366" r:id="Rf236f83554184d56"/>
    <p:sldId xmlns:r="http://schemas.openxmlformats.org/officeDocument/2006/relationships" id="367" r:id="R771b7ea697694761"/>
    <p:sldId xmlns:r="http://schemas.openxmlformats.org/officeDocument/2006/relationships" id="368" r:id="R7c6455067a8f4fec"/>
    <p:sldId xmlns:r="http://schemas.openxmlformats.org/officeDocument/2006/relationships" id="369" r:id="R551f123a52584e0a"/>
    <p:sldId xmlns:r="http://schemas.openxmlformats.org/officeDocument/2006/relationships" id="370" r:id="Ra792959223a24611"/>
    <p:sldId xmlns:r="http://schemas.openxmlformats.org/officeDocument/2006/relationships" id="371" r:id="Redb3314e5794427d"/>
    <p:sldId xmlns:r="http://schemas.openxmlformats.org/officeDocument/2006/relationships" id="372" r:id="Rcd74f0ab1135444f"/>
    <p:sldId xmlns:r="http://schemas.openxmlformats.org/officeDocument/2006/relationships" id="373" r:id="Rb6767d543d174680"/>
    <p:sldId xmlns:r="http://schemas.openxmlformats.org/officeDocument/2006/relationships" id="374" r:id="Rb2e0d4b4716746cc"/>
    <p:sldId xmlns:r="http://schemas.openxmlformats.org/officeDocument/2006/relationships" id="375" r:id="R9682181d38174b2c"/>
    <p:sldId xmlns:r="http://schemas.openxmlformats.org/officeDocument/2006/relationships" id="376" r:id="R8d65bad149a146c6"/>
    <p:sldId xmlns:r="http://schemas.openxmlformats.org/officeDocument/2006/relationships" id="377" r:id="Rdb3f54e0b6d64739"/>
    <p:sldId xmlns:r="http://schemas.openxmlformats.org/officeDocument/2006/relationships" id="378" r:id="R191e278ace8c4490"/>
    <p:sldId xmlns:r="http://schemas.openxmlformats.org/officeDocument/2006/relationships" id="379" r:id="R23ee7ee72b7a4c4f"/>
    <p:sldId xmlns:r="http://schemas.openxmlformats.org/officeDocument/2006/relationships" id="380" r:id="Rd6619c18a80745a2"/>
    <p:sldId xmlns:r="http://schemas.openxmlformats.org/officeDocument/2006/relationships" id="381" r:id="R5c6bb9612f4840c8"/>
    <p:sldId xmlns:r="http://schemas.openxmlformats.org/officeDocument/2006/relationships" id="382" r:id="R582f8d091e094a6c"/>
    <p:sldId xmlns:r="http://schemas.openxmlformats.org/officeDocument/2006/relationships" id="383" r:id="R53c7d4f594804878"/>
    <p:sldId xmlns:r="http://schemas.openxmlformats.org/officeDocument/2006/relationships" id="384" r:id="R6d98b3f9235b441c"/>
    <p:sldId xmlns:r="http://schemas.openxmlformats.org/officeDocument/2006/relationships" id="385" r:id="Rff4435fba2704911"/>
    <p:sldId xmlns:r="http://schemas.openxmlformats.org/officeDocument/2006/relationships" id="386" r:id="R09a6cf840bd1406d"/>
    <p:sldId xmlns:r="http://schemas.openxmlformats.org/officeDocument/2006/relationships" id="387" r:id="R47a177261e1b4114"/>
    <p:sldId xmlns:r="http://schemas.openxmlformats.org/officeDocument/2006/relationships" id="388" r:id="R198485036ace4831"/>
    <p:sldId xmlns:r="http://schemas.openxmlformats.org/officeDocument/2006/relationships" id="389" r:id="Rf3c94848d9de4c5b"/>
    <p:sldId xmlns:r="http://schemas.openxmlformats.org/officeDocument/2006/relationships" id="390" r:id="R065faf62e7064a3e"/>
    <p:sldId xmlns:r="http://schemas.openxmlformats.org/officeDocument/2006/relationships" id="391" r:id="Rfd7c14d678f14260"/>
    <p:sldId xmlns:r="http://schemas.openxmlformats.org/officeDocument/2006/relationships" id="392" r:id="R805b011a8daa475e"/>
    <p:sldId xmlns:r="http://schemas.openxmlformats.org/officeDocument/2006/relationships" id="393" r:id="R229e612753ff4604"/>
    <p:sldId xmlns:r="http://schemas.openxmlformats.org/officeDocument/2006/relationships" id="394" r:id="Rc839b079fdce4028"/>
    <p:sldId xmlns:r="http://schemas.openxmlformats.org/officeDocument/2006/relationships" id="395" r:id="R676d40ab68024424"/>
    <p:sldId xmlns:r="http://schemas.openxmlformats.org/officeDocument/2006/relationships" id="396" r:id="R39bcaa4e50794966"/>
    <p:sldId xmlns:r="http://schemas.openxmlformats.org/officeDocument/2006/relationships" id="397" r:id="R8e341b8721cd4296"/>
    <p:sldId xmlns:r="http://schemas.openxmlformats.org/officeDocument/2006/relationships" id="398" r:id="Rfac75f525e6940af"/>
    <p:sldId xmlns:r="http://schemas.openxmlformats.org/officeDocument/2006/relationships" id="399" r:id="Re8f4a8d210bc4df9"/>
    <p:sldId xmlns:r="http://schemas.openxmlformats.org/officeDocument/2006/relationships" id="400" r:id="Re52761d753ab4b79"/>
    <p:sldId xmlns:r="http://schemas.openxmlformats.org/officeDocument/2006/relationships" id="401" r:id="Rd523d25df31d42b5"/>
    <p:sldId xmlns:r="http://schemas.openxmlformats.org/officeDocument/2006/relationships" id="402" r:id="R63238c0233f24539"/>
    <p:sldId xmlns:r="http://schemas.openxmlformats.org/officeDocument/2006/relationships" id="403" r:id="R62ce626112014540"/>
    <p:sldId xmlns:r="http://schemas.openxmlformats.org/officeDocument/2006/relationships" id="404" r:id="R2103a373ac794f64"/>
    <p:sldId xmlns:r="http://schemas.openxmlformats.org/officeDocument/2006/relationships" id="405" r:id="Rcb11f7e502054dcd"/>
    <p:sldId xmlns:r="http://schemas.openxmlformats.org/officeDocument/2006/relationships" id="406" r:id="R0696de9e5930478f"/>
    <p:sldId xmlns:r="http://schemas.openxmlformats.org/officeDocument/2006/relationships" id="407" r:id="Rfb92322100f042dc"/>
    <p:sldId xmlns:r="http://schemas.openxmlformats.org/officeDocument/2006/relationships" id="408" r:id="R16d204f352da4859"/>
    <p:sldId xmlns:r="http://schemas.openxmlformats.org/officeDocument/2006/relationships" id="409" r:id="R170f2a2f7553436f"/>
    <p:sldId xmlns:r="http://schemas.openxmlformats.org/officeDocument/2006/relationships" id="410" r:id="Rcf8c964c4aaf473e"/>
    <p:sldId xmlns:r="http://schemas.openxmlformats.org/officeDocument/2006/relationships" id="411" r:id="R1163abb3b77c48f0"/>
    <p:sldId xmlns:r="http://schemas.openxmlformats.org/officeDocument/2006/relationships" id="412" r:id="R45962221628944ee"/>
    <p:sldId xmlns:r="http://schemas.openxmlformats.org/officeDocument/2006/relationships" id="413" r:id="Rc7ead03e11aa4582"/>
    <p:sldId xmlns:r="http://schemas.openxmlformats.org/officeDocument/2006/relationships" id="414" r:id="R28fa6364e9984f87"/>
    <p:sldId xmlns:r="http://schemas.openxmlformats.org/officeDocument/2006/relationships" id="415" r:id="R131c13e285774cd3"/>
    <p:sldId xmlns:r="http://schemas.openxmlformats.org/officeDocument/2006/relationships" id="416" r:id="R695db876ff174fc2"/>
    <p:sldId xmlns:r="http://schemas.openxmlformats.org/officeDocument/2006/relationships" id="417" r:id="R646df69513684aec"/>
    <p:sldId xmlns:r="http://schemas.openxmlformats.org/officeDocument/2006/relationships" id="418" r:id="Re8a94efb7f814fd1"/>
    <p:sldId xmlns:r="http://schemas.openxmlformats.org/officeDocument/2006/relationships" id="419" r:id="Rc0b9d27a18fd48f5"/>
    <p:sldId xmlns:r="http://schemas.openxmlformats.org/officeDocument/2006/relationships" id="420" r:id="R81aaf2229df8460e"/>
    <p:sldId xmlns:r="http://schemas.openxmlformats.org/officeDocument/2006/relationships" id="421" r:id="Ra8e091f5368f4537"/>
    <p:sldId xmlns:r="http://schemas.openxmlformats.org/officeDocument/2006/relationships" id="422" r:id="R61f7cccc16434168"/>
    <p:sldId xmlns:r="http://schemas.openxmlformats.org/officeDocument/2006/relationships" id="423" r:id="R5488db3175844f6a"/>
    <p:sldId xmlns:r="http://schemas.openxmlformats.org/officeDocument/2006/relationships" id="424" r:id="Reac4aab480964543"/>
    <p:sldId xmlns:r="http://schemas.openxmlformats.org/officeDocument/2006/relationships" id="425" r:id="R21c3862c33a24478"/>
    <p:sldId xmlns:r="http://schemas.openxmlformats.org/officeDocument/2006/relationships" id="426" r:id="R4f6c3c086749439c"/>
    <p:sldId xmlns:r="http://schemas.openxmlformats.org/officeDocument/2006/relationships" id="427" r:id="R3003d18f4cda47e3"/>
    <p:sldId xmlns:r="http://schemas.openxmlformats.org/officeDocument/2006/relationships" id="428" r:id="R2b0fc2ab3f8a4d28"/>
    <p:sldId xmlns:r="http://schemas.openxmlformats.org/officeDocument/2006/relationships" id="429" r:id="R2df8c6eaca314ccc"/>
    <p:sldId xmlns:r="http://schemas.openxmlformats.org/officeDocument/2006/relationships" id="430" r:id="R6a743a00e6484a1b"/>
    <p:sldId xmlns:r="http://schemas.openxmlformats.org/officeDocument/2006/relationships" id="431" r:id="R827f2900f34644d9"/>
    <p:sldId xmlns:r="http://schemas.openxmlformats.org/officeDocument/2006/relationships" id="432" r:id="R49c7ad136cda4ede"/>
    <p:sldId xmlns:r="http://schemas.openxmlformats.org/officeDocument/2006/relationships" id="433" r:id="Rfbe4eb6ba2974c06"/>
    <p:sldId xmlns:r="http://schemas.openxmlformats.org/officeDocument/2006/relationships" id="434" r:id="Rd63a745a21324880"/>
    <p:sldId xmlns:r="http://schemas.openxmlformats.org/officeDocument/2006/relationships" id="435" r:id="Rc9af3afc567f427e"/>
    <p:sldId xmlns:r="http://schemas.openxmlformats.org/officeDocument/2006/relationships" id="436" r:id="R73fdae25cd2f4f18"/>
    <p:sldId xmlns:r="http://schemas.openxmlformats.org/officeDocument/2006/relationships" id="437" r:id="R2ae8d84920e44357"/>
    <p:sldId xmlns:r="http://schemas.openxmlformats.org/officeDocument/2006/relationships" id="438" r:id="Rfa3af361a8934c4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6086f4f270a4655" /><Relationship Type="http://schemas.openxmlformats.org/officeDocument/2006/relationships/slideMaster" Target="/ppt/slideMasters/slideMaster1.xml" Id="Ra88177acb11f4587" /><Relationship Type="http://schemas.openxmlformats.org/officeDocument/2006/relationships/notesMaster" Target="/ppt/notesMasters/notesMaster1.xml" Id="Rb4bd69928bc34933" /><Relationship Type="http://schemas.openxmlformats.org/officeDocument/2006/relationships/presProps" Target="/ppt/presProps.xml" Id="Rc42d026b360f40b4" /><Relationship Type="http://schemas.openxmlformats.org/officeDocument/2006/relationships/tableStyles" Target="/ppt/tableStyles.xml" Id="R0793b983fd524037" /><Relationship Type="http://schemas.openxmlformats.org/officeDocument/2006/relationships/slide" Target="/ppt/slides/slide1.xml" Id="R86f26898a26d400a" /><Relationship Type="http://schemas.openxmlformats.org/officeDocument/2006/relationships/slide" Target="/ppt/slides/slide2.xml" Id="Rbb28b87083274348" /><Relationship Type="http://schemas.openxmlformats.org/officeDocument/2006/relationships/slide" Target="/ppt/slides/slide3.xml" Id="R3386534654d0492e" /><Relationship Type="http://schemas.openxmlformats.org/officeDocument/2006/relationships/slide" Target="/ppt/slides/slide4.xml" Id="R4a479131e72b4026" /><Relationship Type="http://schemas.openxmlformats.org/officeDocument/2006/relationships/slide" Target="/ppt/slides/slide5.xml" Id="Rbb330823664f4064" /><Relationship Type="http://schemas.openxmlformats.org/officeDocument/2006/relationships/slide" Target="/ppt/slides/slide6.xml" Id="R31ed6e7d9ec64a78" /><Relationship Type="http://schemas.openxmlformats.org/officeDocument/2006/relationships/slide" Target="/ppt/slides/slide7.xml" Id="Ra2450491c4f4455c" /><Relationship Type="http://schemas.openxmlformats.org/officeDocument/2006/relationships/slide" Target="/ppt/slides/slide8.xml" Id="Rfc075527bca742d9" /><Relationship Type="http://schemas.openxmlformats.org/officeDocument/2006/relationships/slide" Target="/ppt/slides/slide9.xml" Id="R31f27cda1de14fc9" /><Relationship Type="http://schemas.openxmlformats.org/officeDocument/2006/relationships/slide" Target="/ppt/slides/slide10.xml" Id="R7f97b492a3834093" /><Relationship Type="http://schemas.openxmlformats.org/officeDocument/2006/relationships/slide" Target="/ppt/slides/slide11.xml" Id="R814acb76b50b4a0d" /><Relationship Type="http://schemas.openxmlformats.org/officeDocument/2006/relationships/slide" Target="/ppt/slides/slide12.xml" Id="R97eb07542b4f41d5" /><Relationship Type="http://schemas.openxmlformats.org/officeDocument/2006/relationships/slide" Target="/ppt/slides/slide13.xml" Id="R680a271b243545d1" /><Relationship Type="http://schemas.openxmlformats.org/officeDocument/2006/relationships/slide" Target="/ppt/slides/slide14.xml" Id="Rcee530a0d4e944e6" /><Relationship Type="http://schemas.openxmlformats.org/officeDocument/2006/relationships/slide" Target="/ppt/slides/slide15.xml" Id="R560fd496c4d84945" /><Relationship Type="http://schemas.openxmlformats.org/officeDocument/2006/relationships/slide" Target="/ppt/slides/slide16.xml" Id="R7e4ca3c01d9540ad" /><Relationship Type="http://schemas.openxmlformats.org/officeDocument/2006/relationships/slide" Target="/ppt/slides/slide17.xml" Id="R2dd4b9fd964d42f9" /><Relationship Type="http://schemas.openxmlformats.org/officeDocument/2006/relationships/slide" Target="/ppt/slides/slide18.xml" Id="R0b962b4402bf4d2d" /><Relationship Type="http://schemas.openxmlformats.org/officeDocument/2006/relationships/slide" Target="/ppt/slides/slide19.xml" Id="Rab8f0c642aff4c39" /><Relationship Type="http://schemas.openxmlformats.org/officeDocument/2006/relationships/slide" Target="/ppt/slides/slide20.xml" Id="R68a642e87f9d4067" /><Relationship Type="http://schemas.openxmlformats.org/officeDocument/2006/relationships/slide" Target="/ppt/slides/slide21.xml" Id="R6dbec537b2d649b5" /><Relationship Type="http://schemas.openxmlformats.org/officeDocument/2006/relationships/slide" Target="/ppt/slides/slide22.xml" Id="R83b82d23ff8c47d7" /><Relationship Type="http://schemas.openxmlformats.org/officeDocument/2006/relationships/slide" Target="/ppt/slides/slide23.xml" Id="R88301a9242594fc8" /><Relationship Type="http://schemas.openxmlformats.org/officeDocument/2006/relationships/slide" Target="/ppt/slides/slide24.xml" Id="Rbe172907185c4549" /><Relationship Type="http://schemas.openxmlformats.org/officeDocument/2006/relationships/slide" Target="/ppt/slides/slide25.xml" Id="R93e6ae190eed47e6" /><Relationship Type="http://schemas.openxmlformats.org/officeDocument/2006/relationships/slide" Target="/ppt/slides/slide26.xml" Id="R27e2b6b666c34e38" /><Relationship Type="http://schemas.openxmlformats.org/officeDocument/2006/relationships/slide" Target="/ppt/slides/slide27.xml" Id="Rd5cd4c1916124ad5" /><Relationship Type="http://schemas.openxmlformats.org/officeDocument/2006/relationships/slide" Target="/ppt/slides/slide28.xml" Id="Rb6da0f019ddd4162" /><Relationship Type="http://schemas.openxmlformats.org/officeDocument/2006/relationships/slide" Target="/ppt/slides/slide29.xml" Id="R04e555d3eb3c45a2" /><Relationship Type="http://schemas.openxmlformats.org/officeDocument/2006/relationships/slide" Target="/ppt/slides/slide30.xml" Id="R4d677120d2344d14" /><Relationship Type="http://schemas.openxmlformats.org/officeDocument/2006/relationships/slide" Target="/ppt/slides/slide31.xml" Id="Rd55a0f3ed2f4450b" /><Relationship Type="http://schemas.openxmlformats.org/officeDocument/2006/relationships/slide" Target="/ppt/slides/slide32.xml" Id="R312fef5e7734410d" /><Relationship Type="http://schemas.openxmlformats.org/officeDocument/2006/relationships/slide" Target="/ppt/slides/slide33.xml" Id="Rc7eab1351c1f4b76" /><Relationship Type="http://schemas.openxmlformats.org/officeDocument/2006/relationships/slide" Target="/ppt/slides/slide34.xml" Id="R985f8eab8f2c4e58" /><Relationship Type="http://schemas.openxmlformats.org/officeDocument/2006/relationships/slide" Target="/ppt/slides/slide35.xml" Id="Rc66b58933d3c4564" /><Relationship Type="http://schemas.openxmlformats.org/officeDocument/2006/relationships/slide" Target="/ppt/slides/slide36.xml" Id="R22e510d483204923" /><Relationship Type="http://schemas.openxmlformats.org/officeDocument/2006/relationships/slide" Target="/ppt/slides/slide37.xml" Id="R89ed412ddddb460d" /><Relationship Type="http://schemas.openxmlformats.org/officeDocument/2006/relationships/slide" Target="/ppt/slides/slide38.xml" Id="R4dbefc060724439e" /><Relationship Type="http://schemas.openxmlformats.org/officeDocument/2006/relationships/slide" Target="/ppt/slides/slide39.xml" Id="R2efc3d995dc64e6a" /><Relationship Type="http://schemas.openxmlformats.org/officeDocument/2006/relationships/slide" Target="/ppt/slides/slide40.xml" Id="Rd23c6e6c1bfd4263" /><Relationship Type="http://schemas.openxmlformats.org/officeDocument/2006/relationships/slide" Target="/ppt/slides/slide41.xml" Id="R1946322a479d44e5" /><Relationship Type="http://schemas.openxmlformats.org/officeDocument/2006/relationships/slide" Target="/ppt/slides/slide42.xml" Id="R0ff98f00a3e94799" /><Relationship Type="http://schemas.openxmlformats.org/officeDocument/2006/relationships/slide" Target="/ppt/slides/slide43.xml" Id="R695a726f40ac4a95" /><Relationship Type="http://schemas.openxmlformats.org/officeDocument/2006/relationships/slide" Target="/ppt/slides/slide44.xml" Id="Rb48bc1028039429f" /><Relationship Type="http://schemas.openxmlformats.org/officeDocument/2006/relationships/slide" Target="/ppt/slides/slide45.xml" Id="Ra5e8c1b12e1d4114" /><Relationship Type="http://schemas.openxmlformats.org/officeDocument/2006/relationships/slide" Target="/ppt/slides/slide46.xml" Id="R791fdc1a639e4d8c" /><Relationship Type="http://schemas.openxmlformats.org/officeDocument/2006/relationships/slide" Target="/ppt/slides/slide47.xml" Id="Ra21033fc6a164cc1" /><Relationship Type="http://schemas.openxmlformats.org/officeDocument/2006/relationships/slide" Target="/ppt/slides/slide48.xml" Id="R51021f08da164e30" /><Relationship Type="http://schemas.openxmlformats.org/officeDocument/2006/relationships/slide" Target="/ppt/slides/slide49.xml" Id="Rc582391456bc4779" /><Relationship Type="http://schemas.openxmlformats.org/officeDocument/2006/relationships/slide" Target="/ppt/slides/slide50.xml" Id="R77532febd0f44bd6" /><Relationship Type="http://schemas.openxmlformats.org/officeDocument/2006/relationships/slide" Target="/ppt/slides/slide51.xml" Id="R1d811e6a3abc4f80" /><Relationship Type="http://schemas.openxmlformats.org/officeDocument/2006/relationships/slide" Target="/ppt/slides/slide52.xml" Id="R03a3c6489b9b40e9" /><Relationship Type="http://schemas.openxmlformats.org/officeDocument/2006/relationships/slide" Target="/ppt/slides/slide53.xml" Id="Ra34babb0f0c64a93" /><Relationship Type="http://schemas.openxmlformats.org/officeDocument/2006/relationships/slide" Target="/ppt/slides/slide54.xml" Id="R8cf0c9fec4af47a5" /><Relationship Type="http://schemas.openxmlformats.org/officeDocument/2006/relationships/slide" Target="/ppt/slides/slide55.xml" Id="R1d8e525654274123" /><Relationship Type="http://schemas.openxmlformats.org/officeDocument/2006/relationships/slide" Target="/ppt/slides/slide56.xml" Id="Rc6f957eadfbf4567" /><Relationship Type="http://schemas.openxmlformats.org/officeDocument/2006/relationships/slide" Target="/ppt/slides/slide57.xml" Id="Rb383ed88aa424ac6" /><Relationship Type="http://schemas.openxmlformats.org/officeDocument/2006/relationships/slide" Target="/ppt/slides/slide58.xml" Id="R6dbb8826edb640cb" /><Relationship Type="http://schemas.openxmlformats.org/officeDocument/2006/relationships/slide" Target="/ppt/slides/slide59.xml" Id="Ra5bec5c715ff4908" /><Relationship Type="http://schemas.openxmlformats.org/officeDocument/2006/relationships/slide" Target="/ppt/slides/slide60.xml" Id="Rc82dd7030ebb4f75" /><Relationship Type="http://schemas.openxmlformats.org/officeDocument/2006/relationships/slide" Target="/ppt/slides/slide61.xml" Id="R0f1604de6cd2417e" /><Relationship Type="http://schemas.openxmlformats.org/officeDocument/2006/relationships/slide" Target="/ppt/slides/slide62.xml" Id="Rb496d2cffa704127" /><Relationship Type="http://schemas.openxmlformats.org/officeDocument/2006/relationships/slide" Target="/ppt/slides/slide63.xml" Id="R0a9d27b02cc744b3" /><Relationship Type="http://schemas.openxmlformats.org/officeDocument/2006/relationships/slide" Target="/ppt/slides/slide64.xml" Id="R3eefedaae0804241" /><Relationship Type="http://schemas.openxmlformats.org/officeDocument/2006/relationships/slide" Target="/ppt/slides/slide65.xml" Id="Rbac7ab53b91c4a9f" /><Relationship Type="http://schemas.openxmlformats.org/officeDocument/2006/relationships/slide" Target="/ppt/slides/slide66.xml" Id="Rb645d65b4cea4088" /><Relationship Type="http://schemas.openxmlformats.org/officeDocument/2006/relationships/slide" Target="/ppt/slides/slide67.xml" Id="R36b38fb5e43d4633" /><Relationship Type="http://schemas.openxmlformats.org/officeDocument/2006/relationships/slide" Target="/ppt/slides/slide68.xml" Id="R4321653935a944d3" /><Relationship Type="http://schemas.openxmlformats.org/officeDocument/2006/relationships/slide" Target="/ppt/slides/slide69.xml" Id="Rd3ff9a2f15aa4db5" /><Relationship Type="http://schemas.openxmlformats.org/officeDocument/2006/relationships/slide" Target="/ppt/slides/slide70.xml" Id="R7a0212a8ff3842b5" /><Relationship Type="http://schemas.openxmlformats.org/officeDocument/2006/relationships/slide" Target="/ppt/slides/slide71.xml" Id="Rf2cb7e5091f149c7" /><Relationship Type="http://schemas.openxmlformats.org/officeDocument/2006/relationships/slide" Target="/ppt/slides/slide72.xml" Id="R5d9c43d2b3604cfd" /><Relationship Type="http://schemas.openxmlformats.org/officeDocument/2006/relationships/slide" Target="/ppt/slides/slide73.xml" Id="R2b6d0b4aae2b44a5" /><Relationship Type="http://schemas.openxmlformats.org/officeDocument/2006/relationships/slide" Target="/ppt/slides/slide74.xml" Id="Re3e80b893d174c46" /><Relationship Type="http://schemas.openxmlformats.org/officeDocument/2006/relationships/slide" Target="/ppt/slides/slide75.xml" Id="Rdb830b60c3ba49da" /><Relationship Type="http://schemas.openxmlformats.org/officeDocument/2006/relationships/slide" Target="/ppt/slides/slide76.xml" Id="Rec7ac291046c4804" /><Relationship Type="http://schemas.openxmlformats.org/officeDocument/2006/relationships/slide" Target="/ppt/slides/slide77.xml" Id="Racf76d4058fe494e" /><Relationship Type="http://schemas.openxmlformats.org/officeDocument/2006/relationships/slide" Target="/ppt/slides/slide78.xml" Id="Rebe0c5c7f7d24b7b" /><Relationship Type="http://schemas.openxmlformats.org/officeDocument/2006/relationships/slide" Target="/ppt/slides/slide79.xml" Id="R570a420726b347d4" /><Relationship Type="http://schemas.openxmlformats.org/officeDocument/2006/relationships/slide" Target="/ppt/slides/slide80.xml" Id="R9160ed89c2da4a8a" /><Relationship Type="http://schemas.openxmlformats.org/officeDocument/2006/relationships/slide" Target="/ppt/slides/slide81.xml" Id="R3f38fb42c22a4860" /><Relationship Type="http://schemas.openxmlformats.org/officeDocument/2006/relationships/slide" Target="/ppt/slides/slide82.xml" Id="R9088fe8207b440f6" /><Relationship Type="http://schemas.openxmlformats.org/officeDocument/2006/relationships/slide" Target="/ppt/slides/slide83.xml" Id="Rcd1f64a1a472435d" /><Relationship Type="http://schemas.openxmlformats.org/officeDocument/2006/relationships/slide" Target="/ppt/slides/slide84.xml" Id="Rdfc165c00fe54526" /><Relationship Type="http://schemas.openxmlformats.org/officeDocument/2006/relationships/slide" Target="/ppt/slides/slide85.xml" Id="R3d1397c59a74433b" /><Relationship Type="http://schemas.openxmlformats.org/officeDocument/2006/relationships/slide" Target="/ppt/slides/slide86.xml" Id="Reecc044b25244bbb" /><Relationship Type="http://schemas.openxmlformats.org/officeDocument/2006/relationships/slide" Target="/ppt/slides/slide87.xml" Id="R69cf88b1b2ce4911" /><Relationship Type="http://schemas.openxmlformats.org/officeDocument/2006/relationships/slide" Target="/ppt/slides/slide88.xml" Id="Rf90ac05ed7f843b8" /><Relationship Type="http://schemas.openxmlformats.org/officeDocument/2006/relationships/slide" Target="/ppt/slides/slide89.xml" Id="R6d70383d19284553" /><Relationship Type="http://schemas.openxmlformats.org/officeDocument/2006/relationships/slide" Target="/ppt/slides/slide90.xml" Id="R0c772e4e2aae4ef2" /><Relationship Type="http://schemas.openxmlformats.org/officeDocument/2006/relationships/slide" Target="/ppt/slides/slide91.xml" Id="Rdea4a853ff104d56" /><Relationship Type="http://schemas.openxmlformats.org/officeDocument/2006/relationships/slide" Target="/ppt/slides/slide92.xml" Id="R9410558a7c6143c3" /><Relationship Type="http://schemas.openxmlformats.org/officeDocument/2006/relationships/slide" Target="/ppt/slides/slide93.xml" Id="Rdb59165991f14a0f" /><Relationship Type="http://schemas.openxmlformats.org/officeDocument/2006/relationships/slide" Target="/ppt/slides/slide94.xml" Id="Redd62385d7564a84" /><Relationship Type="http://schemas.openxmlformats.org/officeDocument/2006/relationships/slide" Target="/ppt/slides/slide95.xml" Id="R6e6da2b5743c411f" /><Relationship Type="http://schemas.openxmlformats.org/officeDocument/2006/relationships/slide" Target="/ppt/slides/slide96.xml" Id="R228d135160614c0a" /><Relationship Type="http://schemas.openxmlformats.org/officeDocument/2006/relationships/slide" Target="/ppt/slides/slide97.xml" Id="R404bcc92d8984b88" /><Relationship Type="http://schemas.openxmlformats.org/officeDocument/2006/relationships/slide" Target="/ppt/slides/slide98.xml" Id="Rc2bdd1db587f4622" /><Relationship Type="http://schemas.openxmlformats.org/officeDocument/2006/relationships/slide" Target="/ppt/slides/slide99.xml" Id="R9af6af28c085435c" /><Relationship Type="http://schemas.openxmlformats.org/officeDocument/2006/relationships/slide" Target="/ppt/slides/slide100.xml" Id="R47df2eecc0544340" /><Relationship Type="http://schemas.openxmlformats.org/officeDocument/2006/relationships/slide" Target="/ppt/slides/slide101.xml" Id="R61e24a6130cf4f25" /><Relationship Type="http://schemas.openxmlformats.org/officeDocument/2006/relationships/slide" Target="/ppt/slides/slide102.xml" Id="R79584304417442e2" /><Relationship Type="http://schemas.openxmlformats.org/officeDocument/2006/relationships/slide" Target="/ppt/slides/slide103.xml" Id="Ra8b8bdcc41644a70" /><Relationship Type="http://schemas.openxmlformats.org/officeDocument/2006/relationships/slide" Target="/ppt/slides/slide104.xml" Id="Re1bb2c53a8e941ec" /><Relationship Type="http://schemas.openxmlformats.org/officeDocument/2006/relationships/slide" Target="/ppt/slides/slide105.xml" Id="R688f413ba6454bce" /><Relationship Type="http://schemas.openxmlformats.org/officeDocument/2006/relationships/slide" Target="/ppt/slides/slide106.xml" Id="R0b003c4aaebb43dd" /><Relationship Type="http://schemas.openxmlformats.org/officeDocument/2006/relationships/slide" Target="/ppt/slides/slide107.xml" Id="Rb2b0101232754168" /><Relationship Type="http://schemas.openxmlformats.org/officeDocument/2006/relationships/slide" Target="/ppt/slides/slide108.xml" Id="R8d400cf873a549dd" /><Relationship Type="http://schemas.openxmlformats.org/officeDocument/2006/relationships/slide" Target="/ppt/slides/slide109.xml" Id="R1787d81001774955" /><Relationship Type="http://schemas.openxmlformats.org/officeDocument/2006/relationships/slide" Target="/ppt/slides/slide110.xml" Id="R5fed3b78d99d4c4e" /><Relationship Type="http://schemas.openxmlformats.org/officeDocument/2006/relationships/slide" Target="/ppt/slides/slide111.xml" Id="Rf236f83554184d56" /><Relationship Type="http://schemas.openxmlformats.org/officeDocument/2006/relationships/slide" Target="/ppt/slides/slide112.xml" Id="R771b7ea697694761" /><Relationship Type="http://schemas.openxmlformats.org/officeDocument/2006/relationships/slide" Target="/ppt/slides/slide113.xml" Id="R7c6455067a8f4fec" /><Relationship Type="http://schemas.openxmlformats.org/officeDocument/2006/relationships/slide" Target="/ppt/slides/slide114.xml" Id="R551f123a52584e0a" /><Relationship Type="http://schemas.openxmlformats.org/officeDocument/2006/relationships/slide" Target="/ppt/slides/slide115.xml" Id="Ra792959223a24611" /><Relationship Type="http://schemas.openxmlformats.org/officeDocument/2006/relationships/slide" Target="/ppt/slides/slide116.xml" Id="Redb3314e5794427d" /><Relationship Type="http://schemas.openxmlformats.org/officeDocument/2006/relationships/slide" Target="/ppt/slides/slide117.xml" Id="Rcd74f0ab1135444f" /><Relationship Type="http://schemas.openxmlformats.org/officeDocument/2006/relationships/slide" Target="/ppt/slides/slide118.xml" Id="Rb6767d543d174680" /><Relationship Type="http://schemas.openxmlformats.org/officeDocument/2006/relationships/slide" Target="/ppt/slides/slide119.xml" Id="Rb2e0d4b4716746cc" /><Relationship Type="http://schemas.openxmlformats.org/officeDocument/2006/relationships/slide" Target="/ppt/slides/slide120.xml" Id="R9682181d38174b2c" /><Relationship Type="http://schemas.openxmlformats.org/officeDocument/2006/relationships/slide" Target="/ppt/slides/slide121.xml" Id="R8d65bad149a146c6" /><Relationship Type="http://schemas.openxmlformats.org/officeDocument/2006/relationships/slide" Target="/ppt/slides/slide122.xml" Id="Rdb3f54e0b6d64739" /><Relationship Type="http://schemas.openxmlformats.org/officeDocument/2006/relationships/slide" Target="/ppt/slides/slide123.xml" Id="R191e278ace8c4490" /><Relationship Type="http://schemas.openxmlformats.org/officeDocument/2006/relationships/slide" Target="/ppt/slides/slide124.xml" Id="R23ee7ee72b7a4c4f" /><Relationship Type="http://schemas.openxmlformats.org/officeDocument/2006/relationships/slide" Target="/ppt/slides/slide125.xml" Id="Rd6619c18a80745a2" /><Relationship Type="http://schemas.openxmlformats.org/officeDocument/2006/relationships/slide" Target="/ppt/slides/slide126.xml" Id="R5c6bb9612f4840c8" /><Relationship Type="http://schemas.openxmlformats.org/officeDocument/2006/relationships/slide" Target="/ppt/slides/slide127.xml" Id="R582f8d091e094a6c" /><Relationship Type="http://schemas.openxmlformats.org/officeDocument/2006/relationships/slide" Target="/ppt/slides/slide128.xml" Id="R53c7d4f594804878" /><Relationship Type="http://schemas.openxmlformats.org/officeDocument/2006/relationships/slide" Target="/ppt/slides/slide129.xml" Id="R6d98b3f9235b441c" /><Relationship Type="http://schemas.openxmlformats.org/officeDocument/2006/relationships/slide" Target="/ppt/slides/slide130.xml" Id="Rff4435fba2704911" /><Relationship Type="http://schemas.openxmlformats.org/officeDocument/2006/relationships/slide" Target="/ppt/slides/slide131.xml" Id="R09a6cf840bd1406d" /><Relationship Type="http://schemas.openxmlformats.org/officeDocument/2006/relationships/slide" Target="/ppt/slides/slide132.xml" Id="R47a177261e1b4114" /><Relationship Type="http://schemas.openxmlformats.org/officeDocument/2006/relationships/slide" Target="/ppt/slides/slide133.xml" Id="R198485036ace4831" /><Relationship Type="http://schemas.openxmlformats.org/officeDocument/2006/relationships/slide" Target="/ppt/slides/slide134.xml" Id="Rf3c94848d9de4c5b" /><Relationship Type="http://schemas.openxmlformats.org/officeDocument/2006/relationships/slide" Target="/ppt/slides/slide135.xml" Id="R065faf62e7064a3e" /><Relationship Type="http://schemas.openxmlformats.org/officeDocument/2006/relationships/slide" Target="/ppt/slides/slide136.xml" Id="Rfd7c14d678f14260" /><Relationship Type="http://schemas.openxmlformats.org/officeDocument/2006/relationships/slide" Target="/ppt/slides/slide137.xml" Id="R805b011a8daa475e" /><Relationship Type="http://schemas.openxmlformats.org/officeDocument/2006/relationships/slide" Target="/ppt/slides/slide138.xml" Id="R229e612753ff4604" /><Relationship Type="http://schemas.openxmlformats.org/officeDocument/2006/relationships/slide" Target="/ppt/slides/slide139.xml" Id="Rc839b079fdce4028" /><Relationship Type="http://schemas.openxmlformats.org/officeDocument/2006/relationships/slide" Target="/ppt/slides/slide140.xml" Id="R676d40ab68024424" /><Relationship Type="http://schemas.openxmlformats.org/officeDocument/2006/relationships/slide" Target="/ppt/slides/slide141.xml" Id="R39bcaa4e50794966" /><Relationship Type="http://schemas.openxmlformats.org/officeDocument/2006/relationships/slide" Target="/ppt/slides/slide142.xml" Id="R8e341b8721cd4296" /><Relationship Type="http://schemas.openxmlformats.org/officeDocument/2006/relationships/slide" Target="/ppt/slides/slide143.xml" Id="Rfac75f525e6940af" /><Relationship Type="http://schemas.openxmlformats.org/officeDocument/2006/relationships/slide" Target="/ppt/slides/slide144.xml" Id="Re8f4a8d210bc4df9" /><Relationship Type="http://schemas.openxmlformats.org/officeDocument/2006/relationships/slide" Target="/ppt/slides/slide145.xml" Id="Re52761d753ab4b79" /><Relationship Type="http://schemas.openxmlformats.org/officeDocument/2006/relationships/slide" Target="/ppt/slides/slide146.xml" Id="Rd523d25df31d42b5" /><Relationship Type="http://schemas.openxmlformats.org/officeDocument/2006/relationships/slide" Target="/ppt/slides/slide147.xml" Id="R63238c0233f24539" /><Relationship Type="http://schemas.openxmlformats.org/officeDocument/2006/relationships/slide" Target="/ppt/slides/slide148.xml" Id="R62ce626112014540" /><Relationship Type="http://schemas.openxmlformats.org/officeDocument/2006/relationships/slide" Target="/ppt/slides/slide149.xml" Id="R2103a373ac794f64" /><Relationship Type="http://schemas.openxmlformats.org/officeDocument/2006/relationships/slide" Target="/ppt/slides/slide150.xml" Id="Rcb11f7e502054dcd" /><Relationship Type="http://schemas.openxmlformats.org/officeDocument/2006/relationships/slide" Target="/ppt/slides/slide151.xml" Id="R0696de9e5930478f" /><Relationship Type="http://schemas.openxmlformats.org/officeDocument/2006/relationships/slide" Target="/ppt/slides/slide152.xml" Id="Rfb92322100f042dc" /><Relationship Type="http://schemas.openxmlformats.org/officeDocument/2006/relationships/slide" Target="/ppt/slides/slide153.xml" Id="R16d204f352da4859" /><Relationship Type="http://schemas.openxmlformats.org/officeDocument/2006/relationships/slide" Target="/ppt/slides/slide154.xml" Id="R170f2a2f7553436f" /><Relationship Type="http://schemas.openxmlformats.org/officeDocument/2006/relationships/slide" Target="/ppt/slides/slide155.xml" Id="Rcf8c964c4aaf473e" /><Relationship Type="http://schemas.openxmlformats.org/officeDocument/2006/relationships/slide" Target="/ppt/slides/slide156.xml" Id="R1163abb3b77c48f0" /><Relationship Type="http://schemas.openxmlformats.org/officeDocument/2006/relationships/slide" Target="/ppt/slides/slide157.xml" Id="R45962221628944ee" /><Relationship Type="http://schemas.openxmlformats.org/officeDocument/2006/relationships/slide" Target="/ppt/slides/slide158.xml" Id="Rc7ead03e11aa4582" /><Relationship Type="http://schemas.openxmlformats.org/officeDocument/2006/relationships/slide" Target="/ppt/slides/slide159.xml" Id="R28fa6364e9984f87" /><Relationship Type="http://schemas.openxmlformats.org/officeDocument/2006/relationships/slide" Target="/ppt/slides/slide160.xml" Id="R131c13e285774cd3" /><Relationship Type="http://schemas.openxmlformats.org/officeDocument/2006/relationships/slide" Target="/ppt/slides/slide161.xml" Id="R695db876ff174fc2" /><Relationship Type="http://schemas.openxmlformats.org/officeDocument/2006/relationships/slide" Target="/ppt/slides/slide162.xml" Id="R646df69513684aec" /><Relationship Type="http://schemas.openxmlformats.org/officeDocument/2006/relationships/slide" Target="/ppt/slides/slide163.xml" Id="Re8a94efb7f814fd1" /><Relationship Type="http://schemas.openxmlformats.org/officeDocument/2006/relationships/slide" Target="/ppt/slides/slide164.xml" Id="Rc0b9d27a18fd48f5" /><Relationship Type="http://schemas.openxmlformats.org/officeDocument/2006/relationships/slide" Target="/ppt/slides/slide165.xml" Id="R81aaf2229df8460e" /><Relationship Type="http://schemas.openxmlformats.org/officeDocument/2006/relationships/slide" Target="/ppt/slides/slide166.xml" Id="Ra8e091f5368f4537" /><Relationship Type="http://schemas.openxmlformats.org/officeDocument/2006/relationships/slide" Target="/ppt/slides/slide167.xml" Id="R61f7cccc16434168" /><Relationship Type="http://schemas.openxmlformats.org/officeDocument/2006/relationships/slide" Target="/ppt/slides/slide168.xml" Id="R5488db3175844f6a" /><Relationship Type="http://schemas.openxmlformats.org/officeDocument/2006/relationships/slide" Target="/ppt/slides/slide169.xml" Id="Reac4aab480964543" /><Relationship Type="http://schemas.openxmlformats.org/officeDocument/2006/relationships/slide" Target="/ppt/slides/slide170.xml" Id="R21c3862c33a24478" /><Relationship Type="http://schemas.openxmlformats.org/officeDocument/2006/relationships/slide" Target="/ppt/slides/slide171.xml" Id="R4f6c3c086749439c" /><Relationship Type="http://schemas.openxmlformats.org/officeDocument/2006/relationships/slide" Target="/ppt/slides/slide172.xml" Id="R3003d18f4cda47e3" /><Relationship Type="http://schemas.openxmlformats.org/officeDocument/2006/relationships/slide" Target="/ppt/slides/slide173.xml" Id="R2b0fc2ab3f8a4d28" /><Relationship Type="http://schemas.openxmlformats.org/officeDocument/2006/relationships/slide" Target="/ppt/slides/slide174.xml" Id="R2df8c6eaca314ccc" /><Relationship Type="http://schemas.openxmlformats.org/officeDocument/2006/relationships/slide" Target="/ppt/slides/slide175.xml" Id="R6a743a00e6484a1b" /><Relationship Type="http://schemas.openxmlformats.org/officeDocument/2006/relationships/slide" Target="/ppt/slides/slide176.xml" Id="R827f2900f34644d9" /><Relationship Type="http://schemas.openxmlformats.org/officeDocument/2006/relationships/slide" Target="/ppt/slides/slide177.xml" Id="R49c7ad136cda4ede" /><Relationship Type="http://schemas.openxmlformats.org/officeDocument/2006/relationships/slide" Target="/ppt/slides/slide178.xml" Id="Rfbe4eb6ba2974c06" /><Relationship Type="http://schemas.openxmlformats.org/officeDocument/2006/relationships/slide" Target="/ppt/slides/slide179.xml" Id="Rd63a745a21324880" /><Relationship Type="http://schemas.openxmlformats.org/officeDocument/2006/relationships/slide" Target="/ppt/slides/slide180.xml" Id="Rc9af3afc567f427e" /><Relationship Type="http://schemas.openxmlformats.org/officeDocument/2006/relationships/slide" Target="/ppt/slides/slide181.xml" Id="R73fdae25cd2f4f18" /><Relationship Type="http://schemas.openxmlformats.org/officeDocument/2006/relationships/slide" Target="/ppt/slides/slide182.xml" Id="R2ae8d84920e44357" /><Relationship Type="http://schemas.openxmlformats.org/officeDocument/2006/relationships/slide" Target="/ppt/slides/slide183.xml" Id="Rfa3af361a8934c4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a20d22c8bc49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e3c667c54234e51" /><Relationship Type="http://schemas.openxmlformats.org/officeDocument/2006/relationships/notesMaster" Target="/ppt/notesMasters/notesMaster1.xml" Id="Rfb31821a5d5e4a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683f1d5066440db" /><Relationship Type="http://schemas.openxmlformats.org/officeDocument/2006/relationships/notesMaster" Target="/ppt/notesMasters/notesMaster1.xml" Id="Re9de0268a70040b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5989af7ef2e4911" /><Relationship Type="http://schemas.openxmlformats.org/officeDocument/2006/relationships/notesMaster" Target="/ppt/notesMasters/notesMaster1.xml" Id="R355de7c1520a472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1ac7918753e4e2c" /><Relationship Type="http://schemas.openxmlformats.org/officeDocument/2006/relationships/notesMaster" Target="/ppt/notesMasters/notesMaster1.xml" Id="R0b02c46269e14d7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8b3a82736264efd" /><Relationship Type="http://schemas.openxmlformats.org/officeDocument/2006/relationships/notesMaster" Target="/ppt/notesMasters/notesMaster1.xml" Id="R0e333d724e12498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8912af0e28a4a78" /><Relationship Type="http://schemas.openxmlformats.org/officeDocument/2006/relationships/notesMaster" Target="/ppt/notesMasters/notesMaster1.xml" Id="R56dc331f533f464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91bcbfc1ff945d4" /><Relationship Type="http://schemas.openxmlformats.org/officeDocument/2006/relationships/notesMaster" Target="/ppt/notesMasters/notesMaster1.xml" Id="R0e56e823211041f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47ecd0e91984dcb" /><Relationship Type="http://schemas.openxmlformats.org/officeDocument/2006/relationships/notesMaster" Target="/ppt/notesMasters/notesMaster1.xml" Id="R225134efb9fa431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b9d980f6ae7409b" /><Relationship Type="http://schemas.openxmlformats.org/officeDocument/2006/relationships/notesMaster" Target="/ppt/notesMasters/notesMaster1.xml" Id="Rb9275bed5aa1431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2f3b1e8e5b8438b" /><Relationship Type="http://schemas.openxmlformats.org/officeDocument/2006/relationships/notesMaster" Target="/ppt/notesMasters/notesMaster1.xml" Id="Rb7c003b2751a45d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ca02cbd9bb146c1" /><Relationship Type="http://schemas.openxmlformats.org/officeDocument/2006/relationships/notesMaster" Target="/ppt/notesMasters/notesMaster1.xml" Id="R0e0b8ebb7e5244c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3059a3de41d47ee" /><Relationship Type="http://schemas.openxmlformats.org/officeDocument/2006/relationships/notesMaster" Target="/ppt/notesMasters/notesMaster1.xml" Id="Raf8facc28e4b4c5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f218ca3c23b440e" /><Relationship Type="http://schemas.openxmlformats.org/officeDocument/2006/relationships/notesMaster" Target="/ppt/notesMasters/notesMaster1.xml" Id="Rf1341a028969403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179d9de84f340a7" /><Relationship Type="http://schemas.openxmlformats.org/officeDocument/2006/relationships/notesMaster" Target="/ppt/notesMasters/notesMaster1.xml" Id="R22213a09f0664ea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d2d2816192a470c" /><Relationship Type="http://schemas.openxmlformats.org/officeDocument/2006/relationships/notesMaster" Target="/ppt/notesMasters/notesMaster1.xml" Id="Ra7b2e34adca1439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d457bd8ba0e4948" /><Relationship Type="http://schemas.openxmlformats.org/officeDocument/2006/relationships/notesMaster" Target="/ppt/notesMasters/notesMaster1.xml" Id="R3715e905403949f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10452f96e0d42b5" /><Relationship Type="http://schemas.openxmlformats.org/officeDocument/2006/relationships/notesMaster" Target="/ppt/notesMasters/notesMaster1.xml" Id="R2b7ecb3463df427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4131c918165487a" /><Relationship Type="http://schemas.openxmlformats.org/officeDocument/2006/relationships/notesMaster" Target="/ppt/notesMasters/notesMaster1.xml" Id="R19a5f6753b0a437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0e05fb7491a40f4" /><Relationship Type="http://schemas.openxmlformats.org/officeDocument/2006/relationships/notesMaster" Target="/ppt/notesMasters/notesMaster1.xml" Id="R195af87b88cb4fb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956bdc6308a4b4e" /><Relationship Type="http://schemas.openxmlformats.org/officeDocument/2006/relationships/notesMaster" Target="/ppt/notesMasters/notesMaster1.xml" Id="R37621a9b286e408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67d4ea8c3d3416a" /><Relationship Type="http://schemas.openxmlformats.org/officeDocument/2006/relationships/notesMaster" Target="/ppt/notesMasters/notesMaster1.xml" Id="R0c1da8e13d56496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99ff86916894230" /><Relationship Type="http://schemas.openxmlformats.org/officeDocument/2006/relationships/notesMaster" Target="/ppt/notesMasters/notesMaster1.xml" Id="Rda68488cb660428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d5dab380abe482b" /><Relationship Type="http://schemas.openxmlformats.org/officeDocument/2006/relationships/notesMaster" Target="/ppt/notesMasters/notesMaster1.xml" Id="R5f57f7069dea404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d9ffb3acf2c46b5" /><Relationship Type="http://schemas.openxmlformats.org/officeDocument/2006/relationships/notesMaster" Target="/ppt/notesMasters/notesMaster1.xml" Id="Rcaa3256a6bb942b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525a97f1cef4b28" /><Relationship Type="http://schemas.openxmlformats.org/officeDocument/2006/relationships/notesMaster" Target="/ppt/notesMasters/notesMaster1.xml" Id="Rde1d35314521454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565d0326e204b7e" /><Relationship Type="http://schemas.openxmlformats.org/officeDocument/2006/relationships/notesMaster" Target="/ppt/notesMasters/notesMaster1.xml" Id="R2b3c6ade03f24b3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972cdde56ac473d" /><Relationship Type="http://schemas.openxmlformats.org/officeDocument/2006/relationships/notesMaster" Target="/ppt/notesMasters/notesMaster1.xml" Id="R6b7ec4c845a843a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3897432891f454b" /><Relationship Type="http://schemas.openxmlformats.org/officeDocument/2006/relationships/notesMaster" Target="/ppt/notesMasters/notesMaster1.xml" Id="R01aea0d31fd8467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73bcf555054491a" /><Relationship Type="http://schemas.openxmlformats.org/officeDocument/2006/relationships/notesMaster" Target="/ppt/notesMasters/notesMaster1.xml" Id="R647814ad0fb6405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2ff5ef9f34ba474b" /><Relationship Type="http://schemas.openxmlformats.org/officeDocument/2006/relationships/notesMaster" Target="/ppt/notesMasters/notesMaster1.xml" Id="R402ee91f582c4b92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0a98e54eb3b04cb0" /><Relationship Type="http://schemas.openxmlformats.org/officeDocument/2006/relationships/notesMaster" Target="/ppt/notesMasters/notesMaster1.xml" Id="R00a90dd3316f4a5e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40783666ccb4aaf" /><Relationship Type="http://schemas.openxmlformats.org/officeDocument/2006/relationships/notesMaster" Target="/ppt/notesMasters/notesMaster1.xml" Id="Rbb7e70d028014a46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65029d5b3ca24119" /><Relationship Type="http://schemas.openxmlformats.org/officeDocument/2006/relationships/notesMaster" Target="/ppt/notesMasters/notesMaster1.xml" Id="Re7ae0faad9a34987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9af2051ee0bf45a3" /><Relationship Type="http://schemas.openxmlformats.org/officeDocument/2006/relationships/notesMaster" Target="/ppt/notesMasters/notesMaster1.xml" Id="Rb37b49444ced4bbd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587bcd4c0ff54645" /><Relationship Type="http://schemas.openxmlformats.org/officeDocument/2006/relationships/notesMaster" Target="/ppt/notesMasters/notesMaster1.xml" Id="R2a732d486966443f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4f25e92ba39a4467" /><Relationship Type="http://schemas.openxmlformats.org/officeDocument/2006/relationships/notesMaster" Target="/ppt/notesMasters/notesMaster1.xml" Id="R2040a048349a4871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7ea304b1cf4a43a5" /><Relationship Type="http://schemas.openxmlformats.org/officeDocument/2006/relationships/notesMaster" Target="/ppt/notesMasters/notesMaster1.xml" Id="R5de50766b634425d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00e0f707817a461c" /><Relationship Type="http://schemas.openxmlformats.org/officeDocument/2006/relationships/notesMaster" Target="/ppt/notesMasters/notesMaster1.xml" Id="Rbe0864e9fd4b4237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40ea03369e854c0f" /><Relationship Type="http://schemas.openxmlformats.org/officeDocument/2006/relationships/notesMaster" Target="/ppt/notesMasters/notesMaster1.xml" Id="R68c44e0c444c4515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3c2ce5fffa81463e" /><Relationship Type="http://schemas.openxmlformats.org/officeDocument/2006/relationships/notesMaster" Target="/ppt/notesMasters/notesMaster1.xml" Id="R5e4b828171ce4976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aae1135db8a641da" /><Relationship Type="http://schemas.openxmlformats.org/officeDocument/2006/relationships/notesMaster" Target="/ppt/notesMasters/notesMaster1.xml" Id="R708b9fa99a1b4206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bfc690743abc4e75" /><Relationship Type="http://schemas.openxmlformats.org/officeDocument/2006/relationships/notesMaster" Target="/ppt/notesMasters/notesMaster1.xml" Id="R94e9c6e7022b44b1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1666994754d74465" /><Relationship Type="http://schemas.openxmlformats.org/officeDocument/2006/relationships/notesMaster" Target="/ppt/notesMasters/notesMaster1.xml" Id="R1c957f7732a4496a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9af2ec62b35d4424" /><Relationship Type="http://schemas.openxmlformats.org/officeDocument/2006/relationships/notesMaster" Target="/ppt/notesMasters/notesMaster1.xml" Id="R45c61c4c153b48ff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48a1ec8f028c4dd8" /><Relationship Type="http://schemas.openxmlformats.org/officeDocument/2006/relationships/notesMaster" Target="/ppt/notesMasters/notesMaster1.xml" Id="Rd881497589494a1e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0303a953e5694b4b" /><Relationship Type="http://schemas.openxmlformats.org/officeDocument/2006/relationships/notesMaster" Target="/ppt/notesMasters/notesMaster1.xml" Id="R4248174aa39140cf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a1d00ebb14c4403b" /><Relationship Type="http://schemas.openxmlformats.org/officeDocument/2006/relationships/notesMaster" Target="/ppt/notesMasters/notesMaster1.xml" Id="R22ae898553104a3e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521c28d8a1be4a14" /><Relationship Type="http://schemas.openxmlformats.org/officeDocument/2006/relationships/notesMaster" Target="/ppt/notesMasters/notesMaster1.xml" Id="Rce77479c78484c3f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a1f1d2bb005f49a6" /><Relationship Type="http://schemas.openxmlformats.org/officeDocument/2006/relationships/notesMaster" Target="/ppt/notesMasters/notesMaster1.xml" Id="Rb267115482be4840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69ad999198ac43ff" /><Relationship Type="http://schemas.openxmlformats.org/officeDocument/2006/relationships/notesMaster" Target="/ppt/notesMasters/notesMaster1.xml" Id="R8a9aa2720f0643a7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5dcfce1b92d24e9c" /><Relationship Type="http://schemas.openxmlformats.org/officeDocument/2006/relationships/notesMaster" Target="/ppt/notesMasters/notesMaster1.xml" Id="R8345ec88d1e3422d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8c96f2a2b7d14d5d" /><Relationship Type="http://schemas.openxmlformats.org/officeDocument/2006/relationships/notesMaster" Target="/ppt/notesMasters/notesMaster1.xml" Id="Reeba3bca62234c23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cdbfddd41968422f" /><Relationship Type="http://schemas.openxmlformats.org/officeDocument/2006/relationships/notesMaster" Target="/ppt/notesMasters/notesMaster1.xml" Id="Re908c8c050414d03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31943f83086e458b" /><Relationship Type="http://schemas.openxmlformats.org/officeDocument/2006/relationships/notesMaster" Target="/ppt/notesMasters/notesMaster1.xml" Id="Ra11befda5bbe480f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b450c86415264408" /><Relationship Type="http://schemas.openxmlformats.org/officeDocument/2006/relationships/notesMaster" Target="/ppt/notesMasters/notesMaster1.xml" Id="Rd8f2fb8917ab4d43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29e04cbc5bef4c8f" /><Relationship Type="http://schemas.openxmlformats.org/officeDocument/2006/relationships/notesMaster" Target="/ppt/notesMasters/notesMaster1.xml" Id="Ra90dd67ceaeb40d9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4991a3553e7641c4" /><Relationship Type="http://schemas.openxmlformats.org/officeDocument/2006/relationships/notesMaster" Target="/ppt/notesMasters/notesMaster1.xml" Id="R05d2543525cb4861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ad23b9e834434c17" /><Relationship Type="http://schemas.openxmlformats.org/officeDocument/2006/relationships/notesMaster" Target="/ppt/notesMasters/notesMaster1.xml" Id="R41693cdf52db4016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50607d32966d4e89" /><Relationship Type="http://schemas.openxmlformats.org/officeDocument/2006/relationships/notesMaster" Target="/ppt/notesMasters/notesMaster1.xml" Id="Rbfc42ce869584605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4678fe6bc9f34ff5" /><Relationship Type="http://schemas.openxmlformats.org/officeDocument/2006/relationships/notesMaster" Target="/ppt/notesMasters/notesMaster1.xml" Id="Ra43389a807ed489e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9b9a415458af4128" /><Relationship Type="http://schemas.openxmlformats.org/officeDocument/2006/relationships/notesMaster" Target="/ppt/notesMasters/notesMaster1.xml" Id="R97bfabedf5dd46c7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6a64147afda8427d" /><Relationship Type="http://schemas.openxmlformats.org/officeDocument/2006/relationships/notesMaster" Target="/ppt/notesMasters/notesMaster1.xml" Id="R77600e6bed574bac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571f17633380405d" /><Relationship Type="http://schemas.openxmlformats.org/officeDocument/2006/relationships/notesMaster" Target="/ppt/notesMasters/notesMaster1.xml" Id="Rd17908fb397c4044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961dfee3c3404796" /><Relationship Type="http://schemas.openxmlformats.org/officeDocument/2006/relationships/notesMaster" Target="/ppt/notesMasters/notesMaster1.xml" Id="R1c50cbf5a5094cbf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ecbf027ab0e74c31" /><Relationship Type="http://schemas.openxmlformats.org/officeDocument/2006/relationships/notesMaster" Target="/ppt/notesMasters/notesMaster1.xml" Id="R54342b4a331e474d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2b1eceac49ef4289" /><Relationship Type="http://schemas.openxmlformats.org/officeDocument/2006/relationships/notesMaster" Target="/ppt/notesMasters/notesMaster1.xml" Id="R8753ac77380c4cb2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dc2b0434bfb44235" /><Relationship Type="http://schemas.openxmlformats.org/officeDocument/2006/relationships/notesMaster" Target="/ppt/notesMasters/notesMaster1.xml" Id="R81197463a0b64d28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a968125f620e403e" /><Relationship Type="http://schemas.openxmlformats.org/officeDocument/2006/relationships/notesMaster" Target="/ppt/notesMasters/notesMaster1.xml" Id="R18108019fab145f1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3f4e5a41b5eb42b1" /><Relationship Type="http://schemas.openxmlformats.org/officeDocument/2006/relationships/notesMaster" Target="/ppt/notesMasters/notesMaster1.xml" Id="Ra29332189f5643d4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8f204f6855ad4743" /><Relationship Type="http://schemas.openxmlformats.org/officeDocument/2006/relationships/notesMaster" Target="/ppt/notesMasters/notesMaster1.xml" Id="R8a90775c2bea4d64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b8cb22ee8fda4fe6" /><Relationship Type="http://schemas.openxmlformats.org/officeDocument/2006/relationships/notesMaster" Target="/ppt/notesMasters/notesMaster1.xml" Id="Rd13592e259a04dbe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eb77dcd313b044aa" /><Relationship Type="http://schemas.openxmlformats.org/officeDocument/2006/relationships/notesMaster" Target="/ppt/notesMasters/notesMaster1.xml" Id="R7c8738ac3a034b48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5056a6da42994abd" /><Relationship Type="http://schemas.openxmlformats.org/officeDocument/2006/relationships/notesMaster" Target="/ppt/notesMasters/notesMaster1.xml" Id="Rda16540201db4701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af4aef0bdb7b430b" /><Relationship Type="http://schemas.openxmlformats.org/officeDocument/2006/relationships/notesMaster" Target="/ppt/notesMasters/notesMaster1.xml" Id="R667230cfb5284e12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f53d5a809a3d4f89" /><Relationship Type="http://schemas.openxmlformats.org/officeDocument/2006/relationships/notesMaster" Target="/ppt/notesMasters/notesMaster1.xml" Id="Re82f240ef00245b7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b547d737c9ca4c4c" /><Relationship Type="http://schemas.openxmlformats.org/officeDocument/2006/relationships/notesMaster" Target="/ppt/notesMasters/notesMaster1.xml" Id="R3ea1f0d8a48547c1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ea755230e02c4a4b" /><Relationship Type="http://schemas.openxmlformats.org/officeDocument/2006/relationships/notesMaster" Target="/ppt/notesMasters/notesMaster1.xml" Id="Rd746f681e3e74c8b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bf7f8e4c4ad14bfe" /><Relationship Type="http://schemas.openxmlformats.org/officeDocument/2006/relationships/notesMaster" Target="/ppt/notesMasters/notesMaster1.xml" Id="R181605a33db04258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9f6a2320a5a246dd" /><Relationship Type="http://schemas.openxmlformats.org/officeDocument/2006/relationships/notesMaster" Target="/ppt/notesMasters/notesMaster1.xml" Id="R3554868d623b452f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5147bb7e75a84a34" /><Relationship Type="http://schemas.openxmlformats.org/officeDocument/2006/relationships/notesMaster" Target="/ppt/notesMasters/notesMaster1.xml" Id="Rd72bbda917044623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7b4c0de8a2904f95" /><Relationship Type="http://schemas.openxmlformats.org/officeDocument/2006/relationships/notesMaster" Target="/ppt/notesMasters/notesMaster1.xml" Id="Rf32dadb822974b9a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d767ea1e16f94b61" /><Relationship Type="http://schemas.openxmlformats.org/officeDocument/2006/relationships/notesMaster" Target="/ppt/notesMasters/notesMaster1.xml" Id="R9a39164db0f14f4f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43128f5e5d8841fc" /><Relationship Type="http://schemas.openxmlformats.org/officeDocument/2006/relationships/notesMaster" Target="/ppt/notesMasters/notesMaster1.xml" Id="R378bc842977e4194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0496ed9001fb4e88" /><Relationship Type="http://schemas.openxmlformats.org/officeDocument/2006/relationships/notesMaster" Target="/ppt/notesMasters/notesMaster1.xml" Id="R6cc66225b9c642fd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d2151d5a89174e71" /><Relationship Type="http://schemas.openxmlformats.org/officeDocument/2006/relationships/notesMaster" Target="/ppt/notesMasters/notesMaster1.xml" Id="R3e8b54cb25134740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7ff4a71bf2a14094" /><Relationship Type="http://schemas.openxmlformats.org/officeDocument/2006/relationships/notesMaster" Target="/ppt/notesMasters/notesMaster1.xml" Id="R8b6d24ee6b014ad0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96cffa8bbc0148f3" /><Relationship Type="http://schemas.openxmlformats.org/officeDocument/2006/relationships/notesMaster" Target="/ppt/notesMasters/notesMaster1.xml" Id="R1a27593fb64343ad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33960eef586247ab" /><Relationship Type="http://schemas.openxmlformats.org/officeDocument/2006/relationships/notesMaster" Target="/ppt/notesMasters/notesMaster1.xml" Id="R9bfd928c79cb42ac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72fac8b8f8124041" /><Relationship Type="http://schemas.openxmlformats.org/officeDocument/2006/relationships/notesMaster" Target="/ppt/notesMasters/notesMaster1.xml" Id="Rce2681edf68e49a5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01cc85d7c0654e63" /><Relationship Type="http://schemas.openxmlformats.org/officeDocument/2006/relationships/notesMaster" Target="/ppt/notesMasters/notesMaster1.xml" Id="Re29f2c646b9440bc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44440136c4d14b55" /><Relationship Type="http://schemas.openxmlformats.org/officeDocument/2006/relationships/notesMaster" Target="/ppt/notesMasters/notesMaster1.xml" Id="Ree84d334e50e41ab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f7782c633fad4add" /><Relationship Type="http://schemas.openxmlformats.org/officeDocument/2006/relationships/notesMaster" Target="/ppt/notesMasters/notesMaster1.xml" Id="Re83f66093eb74d47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8f0076f7ace74d0f" /><Relationship Type="http://schemas.openxmlformats.org/officeDocument/2006/relationships/notesMaster" Target="/ppt/notesMasters/notesMaster1.xml" Id="Ra2d51eeab000416b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ef428e9b24e040b8" /><Relationship Type="http://schemas.openxmlformats.org/officeDocument/2006/relationships/notesMaster" Target="/ppt/notesMasters/notesMaster1.xml" Id="R6e274d6571694be1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9f827065f78d45e3" /><Relationship Type="http://schemas.openxmlformats.org/officeDocument/2006/relationships/notesMaster" Target="/ppt/notesMasters/notesMaster1.xml" Id="Rc95adf7147d644ff" /></Relationships>
</file>

<file path=ppt/notesSlides/_rels/notesSlide96.xml.rels>&#65279;<?xml version="1.0" encoding="utf-8"?><Relationships xmlns="http://schemas.openxmlformats.org/package/2006/relationships"><Relationship Type="http://schemas.openxmlformats.org/officeDocument/2006/relationships/slide" Target="/ppt/slides/slide96.xml" Id="R7364d8a55a8b4029" /><Relationship Type="http://schemas.openxmlformats.org/officeDocument/2006/relationships/notesMaster" Target="/ppt/notesMasters/notesMaster1.xml" Id="R748f1bd6b50c4aaa" /></Relationships>
</file>

<file path=ppt/notesSlides/_rels/notesSlide97.xml.rels>&#65279;<?xml version="1.0" encoding="utf-8"?><Relationships xmlns="http://schemas.openxmlformats.org/package/2006/relationships"><Relationship Type="http://schemas.openxmlformats.org/officeDocument/2006/relationships/slide" Target="/ppt/slides/slide97.xml" Id="R8f40c3c69ff741db" /><Relationship Type="http://schemas.openxmlformats.org/officeDocument/2006/relationships/notesMaster" Target="/ppt/notesMasters/notesMaster1.xml" Id="R5fb45fa43f62490f" /></Relationships>
</file>

<file path=ppt/notesSlides/_rels/notesSlide98.xml.rels>&#65279;<?xml version="1.0" encoding="utf-8"?><Relationships xmlns="http://schemas.openxmlformats.org/package/2006/relationships"><Relationship Type="http://schemas.openxmlformats.org/officeDocument/2006/relationships/slide" Target="/ppt/slides/slide98.xml" Id="R0bf584aa494045ef" /><Relationship Type="http://schemas.openxmlformats.org/officeDocument/2006/relationships/notesMaster" Target="/ppt/notesMasters/notesMaster1.xml" Id="R68e98d79b49149db" /></Relationships>
</file>

<file path=ppt/notesSlides/_rels/notesSlide99.xml.rels>&#65279;<?xml version="1.0" encoding="utf-8"?><Relationships xmlns="http://schemas.openxmlformats.org/package/2006/relationships"><Relationship Type="http://schemas.openxmlformats.org/officeDocument/2006/relationships/slide" Target="/ppt/slides/slide99.xml" Id="Rdf08c8eee8d54178" /><Relationship Type="http://schemas.openxmlformats.org/officeDocument/2006/relationships/notesMaster" Target="/ppt/notesMasters/notesMaster1.xml" Id="Rce7e90d139f64258" /></Relationships>
</file>

<file path=ppt/notesSlides/_rels/notesSlide100.xml.rels>&#65279;<?xml version="1.0" encoding="utf-8"?><Relationships xmlns="http://schemas.openxmlformats.org/package/2006/relationships"><Relationship Type="http://schemas.openxmlformats.org/officeDocument/2006/relationships/slide" Target="/ppt/slides/slide100.xml" Id="R3f9d58081d494b2d" /><Relationship Type="http://schemas.openxmlformats.org/officeDocument/2006/relationships/notesMaster" Target="/ppt/notesMasters/notesMaster1.xml" Id="Rcd32474c53514679" /></Relationships>
</file>

<file path=ppt/notesSlides/_rels/notesSlide101.xml.rels>&#65279;<?xml version="1.0" encoding="utf-8"?><Relationships xmlns="http://schemas.openxmlformats.org/package/2006/relationships"><Relationship Type="http://schemas.openxmlformats.org/officeDocument/2006/relationships/slide" Target="/ppt/slides/slide101.xml" Id="R4ffebf6bbec34729" /><Relationship Type="http://schemas.openxmlformats.org/officeDocument/2006/relationships/notesMaster" Target="/ppt/notesMasters/notesMaster1.xml" Id="R210dc7ef81a141e7" /></Relationships>
</file>

<file path=ppt/notesSlides/_rels/notesSlide102.xml.rels>&#65279;<?xml version="1.0" encoding="utf-8"?><Relationships xmlns="http://schemas.openxmlformats.org/package/2006/relationships"><Relationship Type="http://schemas.openxmlformats.org/officeDocument/2006/relationships/slide" Target="/ppt/slides/slide102.xml" Id="R1baaf915584e423d" /><Relationship Type="http://schemas.openxmlformats.org/officeDocument/2006/relationships/notesMaster" Target="/ppt/notesMasters/notesMaster1.xml" Id="R3423d7e1c9594592" /></Relationships>
</file>

<file path=ppt/notesSlides/_rels/notesSlide103.xml.rels>&#65279;<?xml version="1.0" encoding="utf-8"?><Relationships xmlns="http://schemas.openxmlformats.org/package/2006/relationships"><Relationship Type="http://schemas.openxmlformats.org/officeDocument/2006/relationships/slide" Target="/ppt/slides/slide103.xml" Id="R9c835bc935244111" /><Relationship Type="http://schemas.openxmlformats.org/officeDocument/2006/relationships/notesMaster" Target="/ppt/notesMasters/notesMaster1.xml" Id="R948950ffeb2f4a27" /></Relationships>
</file>

<file path=ppt/notesSlides/_rels/notesSlide104.xml.rels>&#65279;<?xml version="1.0" encoding="utf-8"?><Relationships xmlns="http://schemas.openxmlformats.org/package/2006/relationships"><Relationship Type="http://schemas.openxmlformats.org/officeDocument/2006/relationships/slide" Target="/ppt/slides/slide104.xml" Id="Re7cc2258fffd4efa" /><Relationship Type="http://schemas.openxmlformats.org/officeDocument/2006/relationships/notesMaster" Target="/ppt/notesMasters/notesMaster1.xml" Id="R3c0acf8076f5468c" /></Relationships>
</file>

<file path=ppt/notesSlides/_rels/notesSlide105.xml.rels>&#65279;<?xml version="1.0" encoding="utf-8"?><Relationships xmlns="http://schemas.openxmlformats.org/package/2006/relationships"><Relationship Type="http://schemas.openxmlformats.org/officeDocument/2006/relationships/slide" Target="/ppt/slides/slide105.xml" Id="R6315cfd8045c4b9e" /><Relationship Type="http://schemas.openxmlformats.org/officeDocument/2006/relationships/notesMaster" Target="/ppt/notesMasters/notesMaster1.xml" Id="R3b32b27ad5b748e9" /></Relationships>
</file>

<file path=ppt/notesSlides/_rels/notesSlide106.xml.rels>&#65279;<?xml version="1.0" encoding="utf-8"?><Relationships xmlns="http://schemas.openxmlformats.org/package/2006/relationships"><Relationship Type="http://schemas.openxmlformats.org/officeDocument/2006/relationships/slide" Target="/ppt/slides/slide106.xml" Id="R7d36d804628f44e7" /><Relationship Type="http://schemas.openxmlformats.org/officeDocument/2006/relationships/notesMaster" Target="/ppt/notesMasters/notesMaster1.xml" Id="R2099ba7fe51f4149" /></Relationships>
</file>

<file path=ppt/notesSlides/_rels/notesSlide107.xml.rels>&#65279;<?xml version="1.0" encoding="utf-8"?><Relationships xmlns="http://schemas.openxmlformats.org/package/2006/relationships"><Relationship Type="http://schemas.openxmlformats.org/officeDocument/2006/relationships/slide" Target="/ppt/slides/slide107.xml" Id="Rcc5a56ddad764a4c" /><Relationship Type="http://schemas.openxmlformats.org/officeDocument/2006/relationships/notesMaster" Target="/ppt/notesMasters/notesMaster1.xml" Id="R740ff6067ec94841" /></Relationships>
</file>

<file path=ppt/notesSlides/_rels/notesSlide108.xml.rels>&#65279;<?xml version="1.0" encoding="utf-8"?><Relationships xmlns="http://schemas.openxmlformats.org/package/2006/relationships"><Relationship Type="http://schemas.openxmlformats.org/officeDocument/2006/relationships/slide" Target="/ppt/slides/slide108.xml" Id="Rf1b6c0667f2647fc" /><Relationship Type="http://schemas.openxmlformats.org/officeDocument/2006/relationships/notesMaster" Target="/ppt/notesMasters/notesMaster1.xml" Id="Rb183173aae134ae6" /></Relationships>
</file>

<file path=ppt/notesSlides/_rels/notesSlide109.xml.rels>&#65279;<?xml version="1.0" encoding="utf-8"?><Relationships xmlns="http://schemas.openxmlformats.org/package/2006/relationships"><Relationship Type="http://schemas.openxmlformats.org/officeDocument/2006/relationships/slide" Target="/ppt/slides/slide109.xml" Id="R0165ac50b74b46ef" /><Relationship Type="http://schemas.openxmlformats.org/officeDocument/2006/relationships/notesMaster" Target="/ppt/notesMasters/notesMaster1.xml" Id="Re2fcc48178754bea" /></Relationships>
</file>

<file path=ppt/notesSlides/_rels/notesSlide110.xml.rels>&#65279;<?xml version="1.0" encoding="utf-8"?><Relationships xmlns="http://schemas.openxmlformats.org/package/2006/relationships"><Relationship Type="http://schemas.openxmlformats.org/officeDocument/2006/relationships/slide" Target="/ppt/slides/slide110.xml" Id="Rff7119a4c42348e1" /><Relationship Type="http://schemas.openxmlformats.org/officeDocument/2006/relationships/notesMaster" Target="/ppt/notesMasters/notesMaster1.xml" Id="R3988ebe64d304234" /></Relationships>
</file>

<file path=ppt/notesSlides/_rels/notesSlide111.xml.rels>&#65279;<?xml version="1.0" encoding="utf-8"?><Relationships xmlns="http://schemas.openxmlformats.org/package/2006/relationships"><Relationship Type="http://schemas.openxmlformats.org/officeDocument/2006/relationships/slide" Target="/ppt/slides/slide111.xml" Id="R4dc4b9fdb1ca41d3" /><Relationship Type="http://schemas.openxmlformats.org/officeDocument/2006/relationships/notesMaster" Target="/ppt/notesMasters/notesMaster1.xml" Id="R0ed9e9c2c51d40c9" /></Relationships>
</file>

<file path=ppt/notesSlides/_rels/notesSlide112.xml.rels>&#65279;<?xml version="1.0" encoding="utf-8"?><Relationships xmlns="http://schemas.openxmlformats.org/package/2006/relationships"><Relationship Type="http://schemas.openxmlformats.org/officeDocument/2006/relationships/slide" Target="/ppt/slides/slide112.xml" Id="R45613ea1fc93406e" /><Relationship Type="http://schemas.openxmlformats.org/officeDocument/2006/relationships/notesMaster" Target="/ppt/notesMasters/notesMaster1.xml" Id="R98ea69754c364e74" /></Relationships>
</file>

<file path=ppt/notesSlides/_rels/notesSlide113.xml.rels>&#65279;<?xml version="1.0" encoding="utf-8"?><Relationships xmlns="http://schemas.openxmlformats.org/package/2006/relationships"><Relationship Type="http://schemas.openxmlformats.org/officeDocument/2006/relationships/slide" Target="/ppt/slides/slide113.xml" Id="R1cc5e090e3fb45c3" /><Relationship Type="http://schemas.openxmlformats.org/officeDocument/2006/relationships/notesMaster" Target="/ppt/notesMasters/notesMaster1.xml" Id="R6694af2b0fcb468c" /></Relationships>
</file>

<file path=ppt/notesSlides/_rels/notesSlide114.xml.rels>&#65279;<?xml version="1.0" encoding="utf-8"?><Relationships xmlns="http://schemas.openxmlformats.org/package/2006/relationships"><Relationship Type="http://schemas.openxmlformats.org/officeDocument/2006/relationships/slide" Target="/ppt/slides/slide114.xml" Id="R063ad026695a4652" /><Relationship Type="http://schemas.openxmlformats.org/officeDocument/2006/relationships/notesMaster" Target="/ppt/notesMasters/notesMaster1.xml" Id="R207ddca8f9de4e1e" /></Relationships>
</file>

<file path=ppt/notesSlides/_rels/notesSlide115.xml.rels>&#65279;<?xml version="1.0" encoding="utf-8"?><Relationships xmlns="http://schemas.openxmlformats.org/package/2006/relationships"><Relationship Type="http://schemas.openxmlformats.org/officeDocument/2006/relationships/slide" Target="/ppt/slides/slide115.xml" Id="R41614403668543ae" /><Relationship Type="http://schemas.openxmlformats.org/officeDocument/2006/relationships/notesMaster" Target="/ppt/notesMasters/notesMaster1.xml" Id="R4b957f2bd4d4435e" /></Relationships>
</file>

<file path=ppt/notesSlides/_rels/notesSlide116.xml.rels>&#65279;<?xml version="1.0" encoding="utf-8"?><Relationships xmlns="http://schemas.openxmlformats.org/package/2006/relationships"><Relationship Type="http://schemas.openxmlformats.org/officeDocument/2006/relationships/slide" Target="/ppt/slides/slide116.xml" Id="R24da31c2c6664bdc" /><Relationship Type="http://schemas.openxmlformats.org/officeDocument/2006/relationships/notesMaster" Target="/ppt/notesMasters/notesMaster1.xml" Id="R3e43e5db7b93421a" /></Relationships>
</file>

<file path=ppt/notesSlides/_rels/notesSlide117.xml.rels>&#65279;<?xml version="1.0" encoding="utf-8"?><Relationships xmlns="http://schemas.openxmlformats.org/package/2006/relationships"><Relationship Type="http://schemas.openxmlformats.org/officeDocument/2006/relationships/slide" Target="/ppt/slides/slide117.xml" Id="R210765c9557e4869" /><Relationship Type="http://schemas.openxmlformats.org/officeDocument/2006/relationships/notesMaster" Target="/ppt/notesMasters/notesMaster1.xml" Id="R06e5fe2521ba4ef4" /></Relationships>
</file>

<file path=ppt/notesSlides/_rels/notesSlide118.xml.rels>&#65279;<?xml version="1.0" encoding="utf-8"?><Relationships xmlns="http://schemas.openxmlformats.org/package/2006/relationships"><Relationship Type="http://schemas.openxmlformats.org/officeDocument/2006/relationships/slide" Target="/ppt/slides/slide118.xml" Id="Reb3f55dec3ee460b" /><Relationship Type="http://schemas.openxmlformats.org/officeDocument/2006/relationships/notesMaster" Target="/ppt/notesMasters/notesMaster1.xml" Id="R2804a3cd10df4192" /></Relationships>
</file>

<file path=ppt/notesSlides/_rels/notesSlide119.xml.rels>&#65279;<?xml version="1.0" encoding="utf-8"?><Relationships xmlns="http://schemas.openxmlformats.org/package/2006/relationships"><Relationship Type="http://schemas.openxmlformats.org/officeDocument/2006/relationships/slide" Target="/ppt/slides/slide119.xml" Id="Rcdc2d8dc5c084f86" /><Relationship Type="http://schemas.openxmlformats.org/officeDocument/2006/relationships/notesMaster" Target="/ppt/notesMasters/notesMaster1.xml" Id="Rf5d7b8a45a5847f4" /></Relationships>
</file>

<file path=ppt/notesSlides/_rels/notesSlide120.xml.rels>&#65279;<?xml version="1.0" encoding="utf-8"?><Relationships xmlns="http://schemas.openxmlformats.org/package/2006/relationships"><Relationship Type="http://schemas.openxmlformats.org/officeDocument/2006/relationships/slide" Target="/ppt/slides/slide120.xml" Id="Rbfe073712adc4a4e" /><Relationship Type="http://schemas.openxmlformats.org/officeDocument/2006/relationships/notesMaster" Target="/ppt/notesMasters/notesMaster1.xml" Id="R7826fe4352b24712" /></Relationships>
</file>

<file path=ppt/notesSlides/_rels/notesSlide121.xml.rels>&#65279;<?xml version="1.0" encoding="utf-8"?><Relationships xmlns="http://schemas.openxmlformats.org/package/2006/relationships"><Relationship Type="http://schemas.openxmlformats.org/officeDocument/2006/relationships/slide" Target="/ppt/slides/slide121.xml" Id="R72b1771ccbc2453c" /><Relationship Type="http://schemas.openxmlformats.org/officeDocument/2006/relationships/notesMaster" Target="/ppt/notesMasters/notesMaster1.xml" Id="R682261239e974d47" /></Relationships>
</file>

<file path=ppt/notesSlides/_rels/notesSlide122.xml.rels>&#65279;<?xml version="1.0" encoding="utf-8"?><Relationships xmlns="http://schemas.openxmlformats.org/package/2006/relationships"><Relationship Type="http://schemas.openxmlformats.org/officeDocument/2006/relationships/slide" Target="/ppt/slides/slide122.xml" Id="R537a7e6def9d4973" /><Relationship Type="http://schemas.openxmlformats.org/officeDocument/2006/relationships/notesMaster" Target="/ppt/notesMasters/notesMaster1.xml" Id="R348b7454caf04238" /></Relationships>
</file>

<file path=ppt/notesSlides/_rels/notesSlide123.xml.rels>&#65279;<?xml version="1.0" encoding="utf-8"?><Relationships xmlns="http://schemas.openxmlformats.org/package/2006/relationships"><Relationship Type="http://schemas.openxmlformats.org/officeDocument/2006/relationships/slide" Target="/ppt/slides/slide123.xml" Id="R4d7ab655bdda4b8e" /><Relationship Type="http://schemas.openxmlformats.org/officeDocument/2006/relationships/notesMaster" Target="/ppt/notesMasters/notesMaster1.xml" Id="Ra48ddf0b74ea4387" /></Relationships>
</file>

<file path=ppt/notesSlides/_rels/notesSlide124.xml.rels>&#65279;<?xml version="1.0" encoding="utf-8"?><Relationships xmlns="http://schemas.openxmlformats.org/package/2006/relationships"><Relationship Type="http://schemas.openxmlformats.org/officeDocument/2006/relationships/slide" Target="/ppt/slides/slide124.xml" Id="Rfaf0eb5d955d4396" /><Relationship Type="http://schemas.openxmlformats.org/officeDocument/2006/relationships/notesMaster" Target="/ppt/notesMasters/notesMaster1.xml" Id="R235b91970885434c" /></Relationships>
</file>

<file path=ppt/notesSlides/_rels/notesSlide125.xml.rels>&#65279;<?xml version="1.0" encoding="utf-8"?><Relationships xmlns="http://schemas.openxmlformats.org/package/2006/relationships"><Relationship Type="http://schemas.openxmlformats.org/officeDocument/2006/relationships/slide" Target="/ppt/slides/slide125.xml" Id="Rc6b739ea10624a50" /><Relationship Type="http://schemas.openxmlformats.org/officeDocument/2006/relationships/notesMaster" Target="/ppt/notesMasters/notesMaster1.xml" Id="R2112f10874f9490c" /></Relationships>
</file>

<file path=ppt/notesSlides/_rels/notesSlide126.xml.rels>&#65279;<?xml version="1.0" encoding="utf-8"?><Relationships xmlns="http://schemas.openxmlformats.org/package/2006/relationships"><Relationship Type="http://schemas.openxmlformats.org/officeDocument/2006/relationships/slide" Target="/ppt/slides/slide126.xml" Id="R82c789d0dd3141f8" /><Relationship Type="http://schemas.openxmlformats.org/officeDocument/2006/relationships/notesMaster" Target="/ppt/notesMasters/notesMaster1.xml" Id="R8e50eb7e51854b56" /></Relationships>
</file>

<file path=ppt/notesSlides/_rels/notesSlide127.xml.rels>&#65279;<?xml version="1.0" encoding="utf-8"?><Relationships xmlns="http://schemas.openxmlformats.org/package/2006/relationships"><Relationship Type="http://schemas.openxmlformats.org/officeDocument/2006/relationships/slide" Target="/ppt/slides/slide127.xml" Id="R001d517fa1ff45db" /><Relationship Type="http://schemas.openxmlformats.org/officeDocument/2006/relationships/notesMaster" Target="/ppt/notesMasters/notesMaster1.xml" Id="Rb019a3379e5645ee" /></Relationships>
</file>

<file path=ppt/notesSlides/_rels/notesSlide128.xml.rels>&#65279;<?xml version="1.0" encoding="utf-8"?><Relationships xmlns="http://schemas.openxmlformats.org/package/2006/relationships"><Relationship Type="http://schemas.openxmlformats.org/officeDocument/2006/relationships/slide" Target="/ppt/slides/slide128.xml" Id="R7ae9b3a78b8743f3" /><Relationship Type="http://schemas.openxmlformats.org/officeDocument/2006/relationships/notesMaster" Target="/ppt/notesMasters/notesMaster1.xml" Id="R70acf808173c4b6f" /></Relationships>
</file>

<file path=ppt/notesSlides/_rels/notesSlide129.xml.rels>&#65279;<?xml version="1.0" encoding="utf-8"?><Relationships xmlns="http://schemas.openxmlformats.org/package/2006/relationships"><Relationship Type="http://schemas.openxmlformats.org/officeDocument/2006/relationships/slide" Target="/ppt/slides/slide129.xml" Id="R23f9daa4e83f48b2" /><Relationship Type="http://schemas.openxmlformats.org/officeDocument/2006/relationships/notesMaster" Target="/ppt/notesMasters/notesMaster1.xml" Id="R474058f8781f4612" /></Relationships>
</file>

<file path=ppt/notesSlides/_rels/notesSlide130.xml.rels>&#65279;<?xml version="1.0" encoding="utf-8"?><Relationships xmlns="http://schemas.openxmlformats.org/package/2006/relationships"><Relationship Type="http://schemas.openxmlformats.org/officeDocument/2006/relationships/slide" Target="/ppt/slides/slide130.xml" Id="R5665c319bb3549ce" /><Relationship Type="http://schemas.openxmlformats.org/officeDocument/2006/relationships/notesMaster" Target="/ppt/notesMasters/notesMaster1.xml" Id="R61ae99fa45f348ef" /></Relationships>
</file>

<file path=ppt/notesSlides/_rels/notesSlide131.xml.rels>&#65279;<?xml version="1.0" encoding="utf-8"?><Relationships xmlns="http://schemas.openxmlformats.org/package/2006/relationships"><Relationship Type="http://schemas.openxmlformats.org/officeDocument/2006/relationships/slide" Target="/ppt/slides/slide131.xml" Id="R7d76f51ec8e34f4b" /><Relationship Type="http://schemas.openxmlformats.org/officeDocument/2006/relationships/notesMaster" Target="/ppt/notesMasters/notesMaster1.xml" Id="Rf2866af84fd04ad3" /></Relationships>
</file>

<file path=ppt/notesSlides/_rels/notesSlide132.xml.rels>&#65279;<?xml version="1.0" encoding="utf-8"?><Relationships xmlns="http://schemas.openxmlformats.org/package/2006/relationships"><Relationship Type="http://schemas.openxmlformats.org/officeDocument/2006/relationships/slide" Target="/ppt/slides/slide132.xml" Id="R142ff639e23640ff" /><Relationship Type="http://schemas.openxmlformats.org/officeDocument/2006/relationships/notesMaster" Target="/ppt/notesMasters/notesMaster1.xml" Id="R70b9a3393a72488a" /></Relationships>
</file>

<file path=ppt/notesSlides/_rels/notesSlide133.xml.rels>&#65279;<?xml version="1.0" encoding="utf-8"?><Relationships xmlns="http://schemas.openxmlformats.org/package/2006/relationships"><Relationship Type="http://schemas.openxmlformats.org/officeDocument/2006/relationships/slide" Target="/ppt/slides/slide133.xml" Id="Rb92e17e7df0146c4" /><Relationship Type="http://schemas.openxmlformats.org/officeDocument/2006/relationships/notesMaster" Target="/ppt/notesMasters/notesMaster1.xml" Id="Ra82bcd679afa493e" /></Relationships>
</file>

<file path=ppt/notesSlides/_rels/notesSlide134.xml.rels>&#65279;<?xml version="1.0" encoding="utf-8"?><Relationships xmlns="http://schemas.openxmlformats.org/package/2006/relationships"><Relationship Type="http://schemas.openxmlformats.org/officeDocument/2006/relationships/slide" Target="/ppt/slides/slide134.xml" Id="Rb1a368bdd21e4cba" /><Relationship Type="http://schemas.openxmlformats.org/officeDocument/2006/relationships/notesMaster" Target="/ppt/notesMasters/notesMaster1.xml" Id="Rae2bd34ecd344397" /></Relationships>
</file>

<file path=ppt/notesSlides/_rels/notesSlide135.xml.rels>&#65279;<?xml version="1.0" encoding="utf-8"?><Relationships xmlns="http://schemas.openxmlformats.org/package/2006/relationships"><Relationship Type="http://schemas.openxmlformats.org/officeDocument/2006/relationships/slide" Target="/ppt/slides/slide135.xml" Id="R4b73943edd2f4adb" /><Relationship Type="http://schemas.openxmlformats.org/officeDocument/2006/relationships/notesMaster" Target="/ppt/notesMasters/notesMaster1.xml" Id="R825f085d3404431e" /></Relationships>
</file>

<file path=ppt/notesSlides/_rels/notesSlide136.xml.rels>&#65279;<?xml version="1.0" encoding="utf-8"?><Relationships xmlns="http://schemas.openxmlformats.org/package/2006/relationships"><Relationship Type="http://schemas.openxmlformats.org/officeDocument/2006/relationships/slide" Target="/ppt/slides/slide136.xml" Id="R404de1853822462a" /><Relationship Type="http://schemas.openxmlformats.org/officeDocument/2006/relationships/notesMaster" Target="/ppt/notesMasters/notesMaster1.xml" Id="R89e847345fc04a32" /></Relationships>
</file>

<file path=ppt/notesSlides/_rels/notesSlide137.xml.rels>&#65279;<?xml version="1.0" encoding="utf-8"?><Relationships xmlns="http://schemas.openxmlformats.org/package/2006/relationships"><Relationship Type="http://schemas.openxmlformats.org/officeDocument/2006/relationships/slide" Target="/ppt/slides/slide137.xml" Id="R8c16dc083ed449f2" /><Relationship Type="http://schemas.openxmlformats.org/officeDocument/2006/relationships/notesMaster" Target="/ppt/notesMasters/notesMaster1.xml" Id="R99cc4c55d15a4583" /></Relationships>
</file>

<file path=ppt/notesSlides/_rels/notesSlide138.xml.rels>&#65279;<?xml version="1.0" encoding="utf-8"?><Relationships xmlns="http://schemas.openxmlformats.org/package/2006/relationships"><Relationship Type="http://schemas.openxmlformats.org/officeDocument/2006/relationships/slide" Target="/ppt/slides/slide138.xml" Id="Ra5962af4e1104875" /><Relationship Type="http://schemas.openxmlformats.org/officeDocument/2006/relationships/notesMaster" Target="/ppt/notesMasters/notesMaster1.xml" Id="R6a223e1b48fd4948" /></Relationships>
</file>

<file path=ppt/notesSlides/_rels/notesSlide139.xml.rels>&#65279;<?xml version="1.0" encoding="utf-8"?><Relationships xmlns="http://schemas.openxmlformats.org/package/2006/relationships"><Relationship Type="http://schemas.openxmlformats.org/officeDocument/2006/relationships/slide" Target="/ppt/slides/slide139.xml" Id="R37def2d84b464d5f" /><Relationship Type="http://schemas.openxmlformats.org/officeDocument/2006/relationships/notesMaster" Target="/ppt/notesMasters/notesMaster1.xml" Id="R05f2642ce9994722" /></Relationships>
</file>

<file path=ppt/notesSlides/_rels/notesSlide140.xml.rels>&#65279;<?xml version="1.0" encoding="utf-8"?><Relationships xmlns="http://schemas.openxmlformats.org/package/2006/relationships"><Relationship Type="http://schemas.openxmlformats.org/officeDocument/2006/relationships/slide" Target="/ppt/slides/slide140.xml" Id="Rebe16f6f278d4c1c" /><Relationship Type="http://schemas.openxmlformats.org/officeDocument/2006/relationships/notesMaster" Target="/ppt/notesMasters/notesMaster1.xml" Id="R4fa6f497941341fd" /></Relationships>
</file>

<file path=ppt/notesSlides/_rels/notesSlide141.xml.rels>&#65279;<?xml version="1.0" encoding="utf-8"?><Relationships xmlns="http://schemas.openxmlformats.org/package/2006/relationships"><Relationship Type="http://schemas.openxmlformats.org/officeDocument/2006/relationships/slide" Target="/ppt/slides/slide141.xml" Id="Rf4dacf837f0c4017" /><Relationship Type="http://schemas.openxmlformats.org/officeDocument/2006/relationships/notesMaster" Target="/ppt/notesMasters/notesMaster1.xml" Id="R72a861137d3840f0" /></Relationships>
</file>

<file path=ppt/notesSlides/_rels/notesSlide142.xml.rels>&#65279;<?xml version="1.0" encoding="utf-8"?><Relationships xmlns="http://schemas.openxmlformats.org/package/2006/relationships"><Relationship Type="http://schemas.openxmlformats.org/officeDocument/2006/relationships/slide" Target="/ppt/slides/slide142.xml" Id="R2f598d68386746f0" /><Relationship Type="http://schemas.openxmlformats.org/officeDocument/2006/relationships/notesMaster" Target="/ppt/notesMasters/notesMaster1.xml" Id="R34fc7e37ac5e4944" /></Relationships>
</file>

<file path=ppt/notesSlides/_rels/notesSlide143.xml.rels>&#65279;<?xml version="1.0" encoding="utf-8"?><Relationships xmlns="http://schemas.openxmlformats.org/package/2006/relationships"><Relationship Type="http://schemas.openxmlformats.org/officeDocument/2006/relationships/slide" Target="/ppt/slides/slide143.xml" Id="Rd77fd5e23dc54f82" /><Relationship Type="http://schemas.openxmlformats.org/officeDocument/2006/relationships/notesMaster" Target="/ppt/notesMasters/notesMaster1.xml" Id="R7619785b32b74ba6" /></Relationships>
</file>

<file path=ppt/notesSlides/_rels/notesSlide144.xml.rels>&#65279;<?xml version="1.0" encoding="utf-8"?><Relationships xmlns="http://schemas.openxmlformats.org/package/2006/relationships"><Relationship Type="http://schemas.openxmlformats.org/officeDocument/2006/relationships/slide" Target="/ppt/slides/slide144.xml" Id="R5d01ed3044ef4189" /><Relationship Type="http://schemas.openxmlformats.org/officeDocument/2006/relationships/notesMaster" Target="/ppt/notesMasters/notesMaster1.xml" Id="R91696414911b4e8c" /></Relationships>
</file>

<file path=ppt/notesSlides/_rels/notesSlide145.xml.rels>&#65279;<?xml version="1.0" encoding="utf-8"?><Relationships xmlns="http://schemas.openxmlformats.org/package/2006/relationships"><Relationship Type="http://schemas.openxmlformats.org/officeDocument/2006/relationships/slide" Target="/ppt/slides/slide145.xml" Id="Rde0099a7cc2242a2" /><Relationship Type="http://schemas.openxmlformats.org/officeDocument/2006/relationships/notesMaster" Target="/ppt/notesMasters/notesMaster1.xml" Id="Rd131b2b0ca704c72" /></Relationships>
</file>

<file path=ppt/notesSlides/_rels/notesSlide146.xml.rels>&#65279;<?xml version="1.0" encoding="utf-8"?><Relationships xmlns="http://schemas.openxmlformats.org/package/2006/relationships"><Relationship Type="http://schemas.openxmlformats.org/officeDocument/2006/relationships/slide" Target="/ppt/slides/slide146.xml" Id="R891c89a465e64fb8" /><Relationship Type="http://schemas.openxmlformats.org/officeDocument/2006/relationships/notesMaster" Target="/ppt/notesMasters/notesMaster1.xml" Id="Rec0dc82e5fd04df2" /></Relationships>
</file>

<file path=ppt/notesSlides/_rels/notesSlide147.xml.rels>&#65279;<?xml version="1.0" encoding="utf-8"?><Relationships xmlns="http://schemas.openxmlformats.org/package/2006/relationships"><Relationship Type="http://schemas.openxmlformats.org/officeDocument/2006/relationships/slide" Target="/ppt/slides/slide147.xml" Id="R33c9a378623f4638" /><Relationship Type="http://schemas.openxmlformats.org/officeDocument/2006/relationships/notesMaster" Target="/ppt/notesMasters/notesMaster1.xml" Id="Rf9141d4193644282" /></Relationships>
</file>

<file path=ppt/notesSlides/_rels/notesSlide148.xml.rels>&#65279;<?xml version="1.0" encoding="utf-8"?><Relationships xmlns="http://schemas.openxmlformats.org/package/2006/relationships"><Relationship Type="http://schemas.openxmlformats.org/officeDocument/2006/relationships/slide" Target="/ppt/slides/slide148.xml" Id="R787ddaef53ac4a4f" /><Relationship Type="http://schemas.openxmlformats.org/officeDocument/2006/relationships/notesMaster" Target="/ppt/notesMasters/notesMaster1.xml" Id="R8cc738c3e57f455f" /></Relationships>
</file>

<file path=ppt/notesSlides/_rels/notesSlide149.xml.rels>&#65279;<?xml version="1.0" encoding="utf-8"?><Relationships xmlns="http://schemas.openxmlformats.org/package/2006/relationships"><Relationship Type="http://schemas.openxmlformats.org/officeDocument/2006/relationships/slide" Target="/ppt/slides/slide149.xml" Id="Rdaec95f9c5bf4740" /><Relationship Type="http://schemas.openxmlformats.org/officeDocument/2006/relationships/notesMaster" Target="/ppt/notesMasters/notesMaster1.xml" Id="R52dae11b6c9a4f12" /></Relationships>
</file>

<file path=ppt/notesSlides/_rels/notesSlide150.xml.rels>&#65279;<?xml version="1.0" encoding="utf-8"?><Relationships xmlns="http://schemas.openxmlformats.org/package/2006/relationships"><Relationship Type="http://schemas.openxmlformats.org/officeDocument/2006/relationships/slide" Target="/ppt/slides/slide150.xml" Id="R75f07925add046f2" /><Relationship Type="http://schemas.openxmlformats.org/officeDocument/2006/relationships/notesMaster" Target="/ppt/notesMasters/notesMaster1.xml" Id="R68d39b9729954421" /></Relationships>
</file>

<file path=ppt/notesSlides/_rels/notesSlide151.xml.rels>&#65279;<?xml version="1.0" encoding="utf-8"?><Relationships xmlns="http://schemas.openxmlformats.org/package/2006/relationships"><Relationship Type="http://schemas.openxmlformats.org/officeDocument/2006/relationships/slide" Target="/ppt/slides/slide151.xml" Id="R9f99cf1a8a1d4dc9" /><Relationship Type="http://schemas.openxmlformats.org/officeDocument/2006/relationships/notesMaster" Target="/ppt/notesMasters/notesMaster1.xml" Id="R3590bba542654feb" /></Relationships>
</file>

<file path=ppt/notesSlides/_rels/notesSlide152.xml.rels>&#65279;<?xml version="1.0" encoding="utf-8"?><Relationships xmlns="http://schemas.openxmlformats.org/package/2006/relationships"><Relationship Type="http://schemas.openxmlformats.org/officeDocument/2006/relationships/slide" Target="/ppt/slides/slide152.xml" Id="Rdb71e8a250ff4d48" /><Relationship Type="http://schemas.openxmlformats.org/officeDocument/2006/relationships/notesMaster" Target="/ppt/notesMasters/notesMaster1.xml" Id="R3d38f9b64d864eb5" /></Relationships>
</file>

<file path=ppt/notesSlides/_rels/notesSlide153.xml.rels>&#65279;<?xml version="1.0" encoding="utf-8"?><Relationships xmlns="http://schemas.openxmlformats.org/package/2006/relationships"><Relationship Type="http://schemas.openxmlformats.org/officeDocument/2006/relationships/slide" Target="/ppt/slides/slide153.xml" Id="Rdc519abedd884c1f" /><Relationship Type="http://schemas.openxmlformats.org/officeDocument/2006/relationships/notesMaster" Target="/ppt/notesMasters/notesMaster1.xml" Id="R0682741c594b42c7" /></Relationships>
</file>

<file path=ppt/notesSlides/_rels/notesSlide154.xml.rels>&#65279;<?xml version="1.0" encoding="utf-8"?><Relationships xmlns="http://schemas.openxmlformats.org/package/2006/relationships"><Relationship Type="http://schemas.openxmlformats.org/officeDocument/2006/relationships/slide" Target="/ppt/slides/slide154.xml" Id="Rcd0e0c15bca04430" /><Relationship Type="http://schemas.openxmlformats.org/officeDocument/2006/relationships/notesMaster" Target="/ppt/notesMasters/notesMaster1.xml" Id="R36b8ae1c3af64589" /></Relationships>
</file>

<file path=ppt/notesSlides/_rels/notesSlide155.xml.rels>&#65279;<?xml version="1.0" encoding="utf-8"?><Relationships xmlns="http://schemas.openxmlformats.org/package/2006/relationships"><Relationship Type="http://schemas.openxmlformats.org/officeDocument/2006/relationships/slide" Target="/ppt/slides/slide155.xml" Id="R784d6355010047ca" /><Relationship Type="http://schemas.openxmlformats.org/officeDocument/2006/relationships/notesMaster" Target="/ppt/notesMasters/notesMaster1.xml" Id="R529b136f381f4b7e" /></Relationships>
</file>

<file path=ppt/notesSlides/_rels/notesSlide156.xml.rels>&#65279;<?xml version="1.0" encoding="utf-8"?><Relationships xmlns="http://schemas.openxmlformats.org/package/2006/relationships"><Relationship Type="http://schemas.openxmlformats.org/officeDocument/2006/relationships/slide" Target="/ppt/slides/slide156.xml" Id="R61f3dd2b6d494457" /><Relationship Type="http://schemas.openxmlformats.org/officeDocument/2006/relationships/notesMaster" Target="/ppt/notesMasters/notesMaster1.xml" Id="R2b1e76c89c984228" /></Relationships>
</file>

<file path=ppt/notesSlides/_rels/notesSlide157.xml.rels>&#65279;<?xml version="1.0" encoding="utf-8"?><Relationships xmlns="http://schemas.openxmlformats.org/package/2006/relationships"><Relationship Type="http://schemas.openxmlformats.org/officeDocument/2006/relationships/slide" Target="/ppt/slides/slide157.xml" Id="R00c5d2c6e81f4305" /><Relationship Type="http://schemas.openxmlformats.org/officeDocument/2006/relationships/notesMaster" Target="/ppt/notesMasters/notesMaster1.xml" Id="R9b7035fa70214442" /></Relationships>
</file>

<file path=ppt/notesSlides/_rels/notesSlide158.xml.rels>&#65279;<?xml version="1.0" encoding="utf-8"?><Relationships xmlns="http://schemas.openxmlformats.org/package/2006/relationships"><Relationship Type="http://schemas.openxmlformats.org/officeDocument/2006/relationships/slide" Target="/ppt/slides/slide158.xml" Id="Rce2b8598116e4932" /><Relationship Type="http://schemas.openxmlformats.org/officeDocument/2006/relationships/notesMaster" Target="/ppt/notesMasters/notesMaster1.xml" Id="Rddac821cdb664516" /></Relationships>
</file>

<file path=ppt/notesSlides/_rels/notesSlide159.xml.rels>&#65279;<?xml version="1.0" encoding="utf-8"?><Relationships xmlns="http://schemas.openxmlformats.org/package/2006/relationships"><Relationship Type="http://schemas.openxmlformats.org/officeDocument/2006/relationships/slide" Target="/ppt/slides/slide159.xml" Id="Rd5e3eb41de904137" /><Relationship Type="http://schemas.openxmlformats.org/officeDocument/2006/relationships/notesMaster" Target="/ppt/notesMasters/notesMaster1.xml" Id="Rfb0a228229814958" /></Relationships>
</file>

<file path=ppt/notesSlides/_rels/notesSlide160.xml.rels>&#65279;<?xml version="1.0" encoding="utf-8"?><Relationships xmlns="http://schemas.openxmlformats.org/package/2006/relationships"><Relationship Type="http://schemas.openxmlformats.org/officeDocument/2006/relationships/slide" Target="/ppt/slides/slide160.xml" Id="R5fef0bf223f64ddf" /><Relationship Type="http://schemas.openxmlformats.org/officeDocument/2006/relationships/notesMaster" Target="/ppt/notesMasters/notesMaster1.xml" Id="R8387580c9fbe45ce" /></Relationships>
</file>

<file path=ppt/notesSlides/_rels/notesSlide161.xml.rels>&#65279;<?xml version="1.0" encoding="utf-8"?><Relationships xmlns="http://schemas.openxmlformats.org/package/2006/relationships"><Relationship Type="http://schemas.openxmlformats.org/officeDocument/2006/relationships/slide" Target="/ppt/slides/slide161.xml" Id="Rf0327ae2b87d47d2" /><Relationship Type="http://schemas.openxmlformats.org/officeDocument/2006/relationships/notesMaster" Target="/ppt/notesMasters/notesMaster1.xml" Id="R9a5e81f1d1e54d42" /></Relationships>
</file>

<file path=ppt/notesSlides/_rels/notesSlide162.xml.rels>&#65279;<?xml version="1.0" encoding="utf-8"?><Relationships xmlns="http://schemas.openxmlformats.org/package/2006/relationships"><Relationship Type="http://schemas.openxmlformats.org/officeDocument/2006/relationships/slide" Target="/ppt/slides/slide162.xml" Id="Re14bbc6dbc814df7" /><Relationship Type="http://schemas.openxmlformats.org/officeDocument/2006/relationships/notesMaster" Target="/ppt/notesMasters/notesMaster1.xml" Id="Rd8cba9e386544c29" /></Relationships>
</file>

<file path=ppt/notesSlides/_rels/notesSlide163.xml.rels>&#65279;<?xml version="1.0" encoding="utf-8"?><Relationships xmlns="http://schemas.openxmlformats.org/package/2006/relationships"><Relationship Type="http://schemas.openxmlformats.org/officeDocument/2006/relationships/slide" Target="/ppt/slides/slide163.xml" Id="R83796feb7f164388" /><Relationship Type="http://schemas.openxmlformats.org/officeDocument/2006/relationships/notesMaster" Target="/ppt/notesMasters/notesMaster1.xml" Id="Rd53ecfc1c1dd48cb" /></Relationships>
</file>

<file path=ppt/notesSlides/_rels/notesSlide164.xml.rels>&#65279;<?xml version="1.0" encoding="utf-8"?><Relationships xmlns="http://schemas.openxmlformats.org/package/2006/relationships"><Relationship Type="http://schemas.openxmlformats.org/officeDocument/2006/relationships/slide" Target="/ppt/slides/slide164.xml" Id="R3c4f132ac47845fb" /><Relationship Type="http://schemas.openxmlformats.org/officeDocument/2006/relationships/notesMaster" Target="/ppt/notesMasters/notesMaster1.xml" Id="R704055f2b4aa47a2" /></Relationships>
</file>

<file path=ppt/notesSlides/_rels/notesSlide165.xml.rels>&#65279;<?xml version="1.0" encoding="utf-8"?><Relationships xmlns="http://schemas.openxmlformats.org/package/2006/relationships"><Relationship Type="http://schemas.openxmlformats.org/officeDocument/2006/relationships/slide" Target="/ppt/slides/slide165.xml" Id="Rb7c45c8f3e804961" /><Relationship Type="http://schemas.openxmlformats.org/officeDocument/2006/relationships/notesMaster" Target="/ppt/notesMasters/notesMaster1.xml" Id="Rb135b0ce82204937" /></Relationships>
</file>

<file path=ppt/notesSlides/_rels/notesSlide166.xml.rels>&#65279;<?xml version="1.0" encoding="utf-8"?><Relationships xmlns="http://schemas.openxmlformats.org/package/2006/relationships"><Relationship Type="http://schemas.openxmlformats.org/officeDocument/2006/relationships/slide" Target="/ppt/slides/slide166.xml" Id="R191b018b639c4e95" /><Relationship Type="http://schemas.openxmlformats.org/officeDocument/2006/relationships/notesMaster" Target="/ppt/notesMasters/notesMaster1.xml" Id="R3240d652fee7472b" /></Relationships>
</file>

<file path=ppt/notesSlides/_rels/notesSlide167.xml.rels>&#65279;<?xml version="1.0" encoding="utf-8"?><Relationships xmlns="http://schemas.openxmlformats.org/package/2006/relationships"><Relationship Type="http://schemas.openxmlformats.org/officeDocument/2006/relationships/slide" Target="/ppt/slides/slide167.xml" Id="R17071abeb94f4119" /><Relationship Type="http://schemas.openxmlformats.org/officeDocument/2006/relationships/notesMaster" Target="/ppt/notesMasters/notesMaster1.xml" Id="Rbfad2e1ef38446f4" /></Relationships>
</file>

<file path=ppt/notesSlides/_rels/notesSlide168.xml.rels>&#65279;<?xml version="1.0" encoding="utf-8"?><Relationships xmlns="http://schemas.openxmlformats.org/package/2006/relationships"><Relationship Type="http://schemas.openxmlformats.org/officeDocument/2006/relationships/slide" Target="/ppt/slides/slide168.xml" Id="Re638f3334c3f46f4" /><Relationship Type="http://schemas.openxmlformats.org/officeDocument/2006/relationships/notesMaster" Target="/ppt/notesMasters/notesMaster1.xml" Id="R88d80ea487eb4e6c" /></Relationships>
</file>

<file path=ppt/notesSlides/_rels/notesSlide169.xml.rels>&#65279;<?xml version="1.0" encoding="utf-8"?><Relationships xmlns="http://schemas.openxmlformats.org/package/2006/relationships"><Relationship Type="http://schemas.openxmlformats.org/officeDocument/2006/relationships/slide" Target="/ppt/slides/slide169.xml" Id="Ra62f40e6c55444ee" /><Relationship Type="http://schemas.openxmlformats.org/officeDocument/2006/relationships/notesMaster" Target="/ppt/notesMasters/notesMaster1.xml" Id="R53d83d74812e4c70" /></Relationships>
</file>

<file path=ppt/notesSlides/_rels/notesSlide170.xml.rels>&#65279;<?xml version="1.0" encoding="utf-8"?><Relationships xmlns="http://schemas.openxmlformats.org/package/2006/relationships"><Relationship Type="http://schemas.openxmlformats.org/officeDocument/2006/relationships/slide" Target="/ppt/slides/slide170.xml" Id="Rf6674bcd65c94b77" /><Relationship Type="http://schemas.openxmlformats.org/officeDocument/2006/relationships/notesMaster" Target="/ppt/notesMasters/notesMaster1.xml" Id="R5ec7eaa5b09142db" /></Relationships>
</file>

<file path=ppt/notesSlides/_rels/notesSlide171.xml.rels>&#65279;<?xml version="1.0" encoding="utf-8"?><Relationships xmlns="http://schemas.openxmlformats.org/package/2006/relationships"><Relationship Type="http://schemas.openxmlformats.org/officeDocument/2006/relationships/slide" Target="/ppt/slides/slide171.xml" Id="R51f456b737644d81" /><Relationship Type="http://schemas.openxmlformats.org/officeDocument/2006/relationships/notesMaster" Target="/ppt/notesMasters/notesMaster1.xml" Id="R1796bfe4f9a64a82" /></Relationships>
</file>

<file path=ppt/notesSlides/_rels/notesSlide172.xml.rels>&#65279;<?xml version="1.0" encoding="utf-8"?><Relationships xmlns="http://schemas.openxmlformats.org/package/2006/relationships"><Relationship Type="http://schemas.openxmlformats.org/officeDocument/2006/relationships/slide" Target="/ppt/slides/slide172.xml" Id="Rd0e5390c9320458d" /><Relationship Type="http://schemas.openxmlformats.org/officeDocument/2006/relationships/notesMaster" Target="/ppt/notesMasters/notesMaster1.xml" Id="R9465971e290b4f6f" /></Relationships>
</file>

<file path=ppt/notesSlides/_rels/notesSlide173.xml.rels>&#65279;<?xml version="1.0" encoding="utf-8"?><Relationships xmlns="http://schemas.openxmlformats.org/package/2006/relationships"><Relationship Type="http://schemas.openxmlformats.org/officeDocument/2006/relationships/slide" Target="/ppt/slides/slide173.xml" Id="R7964368534f54180" /><Relationship Type="http://schemas.openxmlformats.org/officeDocument/2006/relationships/notesMaster" Target="/ppt/notesMasters/notesMaster1.xml" Id="Re9ffe3ece04d4c64" /></Relationships>
</file>

<file path=ppt/notesSlides/_rels/notesSlide174.xml.rels>&#65279;<?xml version="1.0" encoding="utf-8"?><Relationships xmlns="http://schemas.openxmlformats.org/package/2006/relationships"><Relationship Type="http://schemas.openxmlformats.org/officeDocument/2006/relationships/slide" Target="/ppt/slides/slide174.xml" Id="R431ed9bf5bc740ed" /><Relationship Type="http://schemas.openxmlformats.org/officeDocument/2006/relationships/notesMaster" Target="/ppt/notesMasters/notesMaster1.xml" Id="R42ae7e80a18e497c" /></Relationships>
</file>

<file path=ppt/notesSlides/_rels/notesSlide175.xml.rels>&#65279;<?xml version="1.0" encoding="utf-8"?><Relationships xmlns="http://schemas.openxmlformats.org/package/2006/relationships"><Relationship Type="http://schemas.openxmlformats.org/officeDocument/2006/relationships/slide" Target="/ppt/slides/slide175.xml" Id="Ra58da17a2d2246ee" /><Relationship Type="http://schemas.openxmlformats.org/officeDocument/2006/relationships/notesMaster" Target="/ppt/notesMasters/notesMaster1.xml" Id="R22db5e7c8f034b97" /></Relationships>
</file>

<file path=ppt/notesSlides/_rels/notesSlide176.xml.rels>&#65279;<?xml version="1.0" encoding="utf-8"?><Relationships xmlns="http://schemas.openxmlformats.org/package/2006/relationships"><Relationship Type="http://schemas.openxmlformats.org/officeDocument/2006/relationships/slide" Target="/ppt/slides/slide176.xml" Id="R74d330b027c8407b" /><Relationship Type="http://schemas.openxmlformats.org/officeDocument/2006/relationships/notesMaster" Target="/ppt/notesMasters/notesMaster1.xml" Id="Rb1d3d5b6133f4961" /></Relationships>
</file>

<file path=ppt/notesSlides/_rels/notesSlide177.xml.rels>&#65279;<?xml version="1.0" encoding="utf-8"?><Relationships xmlns="http://schemas.openxmlformats.org/package/2006/relationships"><Relationship Type="http://schemas.openxmlformats.org/officeDocument/2006/relationships/slide" Target="/ppt/slides/slide177.xml" Id="R14f82fbf94c04a94" /><Relationship Type="http://schemas.openxmlformats.org/officeDocument/2006/relationships/notesMaster" Target="/ppt/notesMasters/notesMaster1.xml" Id="R449a5ecd7e924f82" /></Relationships>
</file>

<file path=ppt/notesSlides/_rels/notesSlide178.xml.rels>&#65279;<?xml version="1.0" encoding="utf-8"?><Relationships xmlns="http://schemas.openxmlformats.org/package/2006/relationships"><Relationship Type="http://schemas.openxmlformats.org/officeDocument/2006/relationships/slide" Target="/ppt/slides/slide178.xml" Id="R3f834614bc834c5d" /><Relationship Type="http://schemas.openxmlformats.org/officeDocument/2006/relationships/notesMaster" Target="/ppt/notesMasters/notesMaster1.xml" Id="R38ef37434ef749d5" /></Relationships>
</file>

<file path=ppt/notesSlides/_rels/notesSlide179.xml.rels>&#65279;<?xml version="1.0" encoding="utf-8"?><Relationships xmlns="http://schemas.openxmlformats.org/package/2006/relationships"><Relationship Type="http://schemas.openxmlformats.org/officeDocument/2006/relationships/slide" Target="/ppt/slides/slide179.xml" Id="R59634dbf40424664" /><Relationship Type="http://schemas.openxmlformats.org/officeDocument/2006/relationships/notesMaster" Target="/ppt/notesMasters/notesMaster1.xml" Id="R0fae9385558847d5" /></Relationships>
</file>

<file path=ppt/notesSlides/_rels/notesSlide180.xml.rels>&#65279;<?xml version="1.0" encoding="utf-8"?><Relationships xmlns="http://schemas.openxmlformats.org/package/2006/relationships"><Relationship Type="http://schemas.openxmlformats.org/officeDocument/2006/relationships/slide" Target="/ppt/slides/slide180.xml" Id="R1a9f8f12ea0843a1" /><Relationship Type="http://schemas.openxmlformats.org/officeDocument/2006/relationships/notesMaster" Target="/ppt/notesMasters/notesMaster1.xml" Id="R44ec229903f0400e" /></Relationships>
</file>

<file path=ppt/notesSlides/_rels/notesSlide181.xml.rels>&#65279;<?xml version="1.0" encoding="utf-8"?><Relationships xmlns="http://schemas.openxmlformats.org/package/2006/relationships"><Relationship Type="http://schemas.openxmlformats.org/officeDocument/2006/relationships/slide" Target="/ppt/slides/slide181.xml" Id="R646c1536284844f9" /><Relationship Type="http://schemas.openxmlformats.org/officeDocument/2006/relationships/notesMaster" Target="/ppt/notesMasters/notesMaster1.xml" Id="Rfddbdceb388a495d" /></Relationships>
</file>

<file path=ppt/notesSlides/_rels/notesSlide182.xml.rels>&#65279;<?xml version="1.0" encoding="utf-8"?><Relationships xmlns="http://schemas.openxmlformats.org/package/2006/relationships"><Relationship Type="http://schemas.openxmlformats.org/officeDocument/2006/relationships/slide" Target="/ppt/slides/slide182.xml" Id="R2463d3b121464f9e" /><Relationship Type="http://schemas.openxmlformats.org/officeDocument/2006/relationships/notesMaster" Target="/ppt/notesMasters/notesMaster1.xml" Id="R94ce18c408864ad7" /></Relationships>
</file>

<file path=ppt/notesSlides/_rels/notesSlide183.xml.rels>&#65279;<?xml version="1.0" encoding="utf-8"?><Relationships xmlns="http://schemas.openxmlformats.org/package/2006/relationships"><Relationship Type="http://schemas.openxmlformats.org/officeDocument/2006/relationships/slide" Target="/ppt/slides/slide183.xml" Id="Rb976713202564a14" /><Relationship Type="http://schemas.openxmlformats.org/officeDocument/2006/relationships/notesMaster" Target="/ppt/notesMasters/notesMaster1.xml" Id="R58efe2850ee643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对应章节：AI产品评测与数据反馈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对应章节：为什么AI产品不能只用传统软件的测试方法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对应章节：第一部分、为什么AI产品不能只用传统软件的测试方法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对应章节：同一个意思，可以有很多种问法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对应章节：AI的回答不是固定答案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对应章节：AI的回答不是固定答案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对应章节：AI可能“看起来会说”，但实际上说错了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对应章节：AI可能“看起来会说”，但实际上说错了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对应章节：AI产品的错误通常不是一个简单的程序Bug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对应章节：AI产品的错误通常不是一个简单的程序Bug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对应章节：为什么不能等上线后再看用户反馈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对应章节：为什么不能等上线后再看用户反馈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对应章节：第一部分的结论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对应章节：第一部分的结论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对应章节：在测试AI之前，先定义“什么叫好”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对应章节：第二部分、在测试AI之前，先定义“什么叫好”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对应章节：判断AI回答，通常看哪些维度｜正确性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对应章节：判断AI回答，通常看哪些维度｜相关性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对应章节：判断AI回答，通常看哪些维度｜完整性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对应章节：判断AI回答，通常看哪些维度｜有据可依，也叫忠实性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对应章节：判断AI回答，通常看哪些维度｜有据可依，也叫忠实性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对应章节：判断AI回答，通常看哪些维度｜安全性与合规性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对应章节：判断AI回答，通常看哪些维度｜表达质量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对应章节：判断AI回答，通常看哪些维度｜表达质量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对应章节：二、不是每个产品都使用完全相同的标准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对应章节：不是每个产品都使用完全相同的标准｜企业知识助手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对应章节：不是每个产品都使用完全相同的标准｜AI写作工具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对应章节：不是每个产品都使用完全相同的标准｜AI客服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对应章节：不是每个产品都使用完全相同的标准｜AI编程助手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对应章节：三、指标不能只有名字，还要有判断标准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对应章节：三、指标不能只有名字，还要有判断标准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对应章节：四、有些指标必须设置“一票否决”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对应章节：有些指标必须设置“一票否决”｜基础指标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对应章节：有些指标必须设置“一票否决”｜门槛指标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对应章节：五、产品指标、效果指标和系统指标不要混在一起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对应章节：产品指标、效果指标和系统指标不要混在一起｜第一层：业务指标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对应章节：产品指标、效果指标和系统指标不要混在一起｜第二层：AI效果指标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对应章节：产品指标、效果指标和系统指标不要混在一起｜第三层：系统指标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对应章节：第二部分的结论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对应章节：评测集的设计与准备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对应章节：第三部分：评测集的设计与准备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对应章节：评测集的基本定义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对应章节：评测集的五类样本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对应章节：评测集的五类样本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对应章节：评测集的五类样本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对应章节：评测集的五类样本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对应章节：评测集的五类样本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对应章节：样本不能平均分配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对应章节：评测样本的四类来源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对应章节：评测样本的四类来源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对应章节：评测样本的四类来源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对应章节：评测样本的四类来源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对应章节：参考答案与评分点的区别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对应章节：参考答案与评分点的区别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对应章节：评测集需要版本管理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对应章节：评测集需要版本管理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对应章节：第三部分总结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对应章节：AI产品的评测方法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对应章节：第四部分：AI产品的评测方法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对应章节：精确匹配与规则评测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对应章节：精确匹配与规则评测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对应章节：精确匹配与规则评测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对应章节：精确匹配与规则评测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对应章节：语义相似度评测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对应章节：语义相似度评测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对应章节：语义相似度评测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对应章节：语义相似度评测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对应章节：LLM-as-Judge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对应章节：LLM-as-Judge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对应章节：LLM-as-Judge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对应章节：LLM-as-Judge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对应章节：Judge Prompt的设计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对应章节：Judge Prompt的设计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对应章节：Judge Prompt的设计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对应章节：人工评审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对应章节：人工评审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对应章节：人工评审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对应章节：评测方法的组合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对应章节：评测方法的组合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对应章节：评测方法的选择原则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对应章节：第四部分总结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对应章节：自动化评测与评测报告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对应章节：第五部分：自动化评测与评测报告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对应章节：自动化评测的基本定义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对应章节：自动化评测的基本定义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对应章节：自动评测系统的基本结构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对应章节：自动评测系统的基本结构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对应章节：自动评测系统的基本结构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对应章节：自动化评测的运行流程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对应章节：自动化评测的运行流程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对应章节：自动化评测的运行流程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对应章节：自动化评测的运行流程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对应章节：自动测试Agent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对应章节：自动测试Agent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对应章节：评测报告的结构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对应章节：评测报告的结构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对应章节：评测报告的结构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对应章节：评测报告的结构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对应章节：平均分的局限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对应章节：平均分的局限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对应章节：上线门槛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对应章节：自动化评测的局限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对应章节：自动化评测的局限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对应章节：第五部分总结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对应章节：Bad Case分析与问题归因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对应章节：第六部分：Bad Case分析与问题归因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对应章节：Bad Case的基本定义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对应章节：Bad Case的基本定义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对应章节：Bad Case的基本定义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对应章节：Bad Case分析的基本流程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对应章节：Bad Case分析的基本流程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对应章节：Bad Case分析的基本流程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对应章节：Bad Case的六类问题归因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对应章节：数据问题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对应章节：数据问题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对应章节：Prompt问题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对应章节：Prompt问题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对应章节：知识问题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对应章节：知识问题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对应章节：流程问题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对应章节：流程问题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对应章节：流程问题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对应章节：工具问题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对应章节：工具问题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对应章节：产品边界问题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对应章节：产品边界问题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对应章节：一个完整的归因示例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对应章节：一个完整的归因示例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对应章节：一个完整的归因示例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对应章节：Bad Case问题池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对应章节：Bad Case的处理优先级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对应章节：Bad Case的处理优先级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对应章节：第六部分总结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对应章节：回归测试与版本管理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对应章节：第七部分：回归测试与版本管理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对应章节：回归测试的基本定义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对应章节：回归测试的基本定义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对应章节：修复验证与防退化验证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对应章节：修复验证与防退化验证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对应章节：修复验证与防退化验证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对应章节：回归评测集的组成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对应章节：回归评测集的组成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对应章节：AI产品版本的组成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对应章节：AI产品版本的组成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对应章节：评测集也需要版本管理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对应章节：评测集也需要版本管理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对应章节：Judge也需要版本管理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对应章节：Judge也需要版本管理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对应章节：AI输出的不确定性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对应章节：版本对比报告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对应章节：发布门槛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对应章节：灰度发布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对应章节：回滚机制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对应章节：持续评测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对应章节：第七部分总结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对应章节：数据反馈与产品迭代闭环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对应章节：第八部分：数据反馈与产品迭代闭环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对应章节：数据反馈闭环的基本定义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对应章节：AI产品数据的四类来源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对应章节：AI产品数据的四类来源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对应章节：AI产品数据的四类来源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对应章节：AI产品数据的四类来源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对应章节：显性反馈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对应章节：显性反馈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对应章节：隐性反馈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对应章节：隐性反馈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对应章节：隐性反馈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对应章节：不同产品的反馈设计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对应章节：不同产品的反馈设计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对应章节：不同产品的反馈设计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对应章节：低分会话进入Bad Case问题池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对应章节：低分会话进入Bad Case问题池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对应章节：数据清洗与标注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对应章节：数据清洗与标注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对应章节：标注规范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对应章节：标注规范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对应章节：从问题标注到产品实验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对应章节：从问题标注到产品实验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对应章节：数据飞轮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对应章节：数据飞轮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对应章节：数据隐私与合规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对应章节：数据隐私与合规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Case_重做工作区/第9课 - AI产品评测与数据反馈.md</a:t>
            </a:r>
          </a:p>
          <a:p xmlns:a="http://schemas.openxmlformats.org/drawingml/2006/main">
            <a:r>
              <a:t>- 对应章节：第八部分总结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c6ec4bead8479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196859598f045e1" /><Relationship Type="http://schemas.openxmlformats.org/officeDocument/2006/relationships/slideLayout" Target="/ppt/slideLayouts/slideLayout1.xml" Id="Rd04abcb5b47948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4abcb5b47948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4dc546a2c04723" /><Relationship Type="http://schemas.openxmlformats.org/officeDocument/2006/relationships/notesSlide" Target="/ppt/notesSlides/notesSlide1.xml" Id="R214495bcf502412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c2ef47cf4845f8" /><Relationship Type="http://schemas.openxmlformats.org/officeDocument/2006/relationships/notesSlide" Target="/ppt/notesSlides/notesSlide2.xml" Id="R518511f02da94f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9b074b89844039" /><Relationship Type="http://schemas.openxmlformats.org/officeDocument/2006/relationships/notesSlide" Target="/ppt/notesSlides/notesSlide3.xml" Id="R616b7200ca994bf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9af0cef1734869" /><Relationship Type="http://schemas.openxmlformats.org/officeDocument/2006/relationships/notesSlide" Target="/ppt/notesSlides/notesSlide4.xml" Id="Reb18faecafe541c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2861d272204215" /><Relationship Type="http://schemas.openxmlformats.org/officeDocument/2006/relationships/notesSlide" Target="/ppt/notesSlides/notesSlide5.xml" Id="R7136ab158037491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bc3495a6f74dfe" /><Relationship Type="http://schemas.openxmlformats.org/officeDocument/2006/relationships/notesSlide" Target="/ppt/notesSlides/notesSlide6.xml" Id="R7fe93ed48122484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2593c5fd46456a" /><Relationship Type="http://schemas.openxmlformats.org/officeDocument/2006/relationships/notesSlide" Target="/ppt/notesSlides/notesSlide7.xml" Id="R388fa7534b784b1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5f555ac2eb4586" /><Relationship Type="http://schemas.openxmlformats.org/officeDocument/2006/relationships/notesSlide" Target="/ppt/notesSlides/notesSlide8.xml" Id="Rf067736c019c4b0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d2a1b0c8c042f1" /><Relationship Type="http://schemas.openxmlformats.org/officeDocument/2006/relationships/notesSlide" Target="/ppt/notesSlides/notesSlide9.xml" Id="Rd8a6a9d331f349f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f70b39dd9e4b4b" /><Relationship Type="http://schemas.openxmlformats.org/officeDocument/2006/relationships/notesSlide" Target="/ppt/notesSlides/notesSlide10.xml" Id="Rcd133edbbbf6447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259d4bd62747e3" /><Relationship Type="http://schemas.openxmlformats.org/officeDocument/2006/relationships/notesSlide" Target="/ppt/notesSlides/notesSlide11.xml" Id="R205296ecc53c4f8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ff78bcae8a4751" /><Relationship Type="http://schemas.openxmlformats.org/officeDocument/2006/relationships/notesSlide" Target="/ppt/notesSlides/notesSlide12.xml" Id="R6f912017d1f14d4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b6f76538b647b3" /><Relationship Type="http://schemas.openxmlformats.org/officeDocument/2006/relationships/notesSlide" Target="/ppt/notesSlides/notesSlide13.xml" Id="R4500d4667192467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5afaa84d584313" /><Relationship Type="http://schemas.openxmlformats.org/officeDocument/2006/relationships/notesSlide" Target="/ppt/notesSlides/notesSlide14.xml" Id="R2ee800b7c219468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4ca58c7a5f46bf" /><Relationship Type="http://schemas.openxmlformats.org/officeDocument/2006/relationships/notesSlide" Target="/ppt/notesSlides/notesSlide15.xml" Id="R67af862a1d7c46e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ba055c276640d4" /><Relationship Type="http://schemas.openxmlformats.org/officeDocument/2006/relationships/notesSlide" Target="/ppt/notesSlides/notesSlide16.xml" Id="R6ca2ea51287c413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d883c8af8a46a7" /><Relationship Type="http://schemas.openxmlformats.org/officeDocument/2006/relationships/notesSlide" Target="/ppt/notesSlides/notesSlide17.xml" Id="R9511d52718d04b3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b66f31db8d4c4c" /><Relationship Type="http://schemas.openxmlformats.org/officeDocument/2006/relationships/notesSlide" Target="/ppt/notesSlides/notesSlide18.xml" Id="Rb212ed55ef45487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6685d900bd4c0f" /><Relationship Type="http://schemas.openxmlformats.org/officeDocument/2006/relationships/notesSlide" Target="/ppt/notesSlides/notesSlide19.xml" Id="Rfb89d8a0c4d247a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d2437bf7cf40dd" /><Relationship Type="http://schemas.openxmlformats.org/officeDocument/2006/relationships/notesSlide" Target="/ppt/notesSlides/notesSlide20.xml" Id="Rf02bdccef1984f4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a0120e447b46c0" /><Relationship Type="http://schemas.openxmlformats.org/officeDocument/2006/relationships/notesSlide" Target="/ppt/notesSlides/notesSlide21.xml" Id="Re3fcceeab440446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e4f91b4ec84589" /><Relationship Type="http://schemas.openxmlformats.org/officeDocument/2006/relationships/notesSlide" Target="/ppt/notesSlides/notesSlide22.xml" Id="R8b3537e78a4c440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0df1c5944740e0" /><Relationship Type="http://schemas.openxmlformats.org/officeDocument/2006/relationships/notesSlide" Target="/ppt/notesSlides/notesSlide23.xml" Id="R362763e612cc4e9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f8483952104a56" /><Relationship Type="http://schemas.openxmlformats.org/officeDocument/2006/relationships/notesSlide" Target="/ppt/notesSlides/notesSlide24.xml" Id="R19277ae9846c431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3519da78f64198" /><Relationship Type="http://schemas.openxmlformats.org/officeDocument/2006/relationships/notesSlide" Target="/ppt/notesSlides/notesSlide25.xml" Id="Rb4197d716ba44a7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e9a787c36e4fcf" /><Relationship Type="http://schemas.openxmlformats.org/officeDocument/2006/relationships/notesSlide" Target="/ppt/notesSlides/notesSlide26.xml" Id="R9698efcdc26b4f5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d40eb880c04648" /><Relationship Type="http://schemas.openxmlformats.org/officeDocument/2006/relationships/notesSlide" Target="/ppt/notesSlides/notesSlide27.xml" Id="Rcdf02b37fbaf4d0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ed463afe714b4a" /><Relationship Type="http://schemas.openxmlformats.org/officeDocument/2006/relationships/notesSlide" Target="/ppt/notesSlides/notesSlide28.xml" Id="R25ebca1b57314bc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1a6386fee842b0" /><Relationship Type="http://schemas.openxmlformats.org/officeDocument/2006/relationships/notesSlide" Target="/ppt/notesSlides/notesSlide29.xml" Id="Raa2137a622254b5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9b65b623484200" /><Relationship Type="http://schemas.openxmlformats.org/officeDocument/2006/relationships/notesSlide" Target="/ppt/notesSlides/notesSlide30.xml" Id="R167a65041e06438c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ab0090c5d141f1" /><Relationship Type="http://schemas.openxmlformats.org/officeDocument/2006/relationships/notesSlide" Target="/ppt/notesSlides/notesSlide31.xml" Id="Ra0db3785b0c3475b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3baab485534b42" /><Relationship Type="http://schemas.openxmlformats.org/officeDocument/2006/relationships/notesSlide" Target="/ppt/notesSlides/notesSlide32.xml" Id="R0ef70d0ca9ee4859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026e6d0f9643bd" /><Relationship Type="http://schemas.openxmlformats.org/officeDocument/2006/relationships/notesSlide" Target="/ppt/notesSlides/notesSlide33.xml" Id="Ra4cc9dbe477741e6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e34ffbb515485b" /><Relationship Type="http://schemas.openxmlformats.org/officeDocument/2006/relationships/notesSlide" Target="/ppt/notesSlides/notesSlide34.xml" Id="R41010b392a684bb8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bad1e4b2c34462" /><Relationship Type="http://schemas.openxmlformats.org/officeDocument/2006/relationships/notesSlide" Target="/ppt/notesSlides/notesSlide35.xml" Id="Rae4bff3e4dba41e1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477b2baa614e7d" /><Relationship Type="http://schemas.openxmlformats.org/officeDocument/2006/relationships/notesSlide" Target="/ppt/notesSlides/notesSlide36.xml" Id="Rc64c50213d344b6c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eff0198f2e4566" /><Relationship Type="http://schemas.openxmlformats.org/officeDocument/2006/relationships/notesSlide" Target="/ppt/notesSlides/notesSlide37.xml" Id="R6957d4119f604b52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c0bdb99da44d89" /><Relationship Type="http://schemas.openxmlformats.org/officeDocument/2006/relationships/notesSlide" Target="/ppt/notesSlides/notesSlide38.xml" Id="Rf1d8b43cdad34dae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09afa3f82b45b1" /><Relationship Type="http://schemas.openxmlformats.org/officeDocument/2006/relationships/notesSlide" Target="/ppt/notesSlides/notesSlide39.xml" Id="Rb62b5344c617437d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c3f62e724b482c" /><Relationship Type="http://schemas.openxmlformats.org/officeDocument/2006/relationships/notesSlide" Target="/ppt/notesSlides/notesSlide40.xml" Id="R9f7ef39e64c7487c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7915ae57d94a4d" /><Relationship Type="http://schemas.openxmlformats.org/officeDocument/2006/relationships/notesSlide" Target="/ppt/notesSlides/notesSlide41.xml" Id="Re6d721fb912b4a17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f28fff9da34a5d" /><Relationship Type="http://schemas.openxmlformats.org/officeDocument/2006/relationships/notesSlide" Target="/ppt/notesSlides/notesSlide42.xml" Id="R2e76879361c842b8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eb973a479046e1" /><Relationship Type="http://schemas.openxmlformats.org/officeDocument/2006/relationships/notesSlide" Target="/ppt/notesSlides/notesSlide43.xml" Id="R249df7a799d04f88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f9281e424048c8" /><Relationship Type="http://schemas.openxmlformats.org/officeDocument/2006/relationships/notesSlide" Target="/ppt/notesSlides/notesSlide44.xml" Id="R5b5994326cba4b3f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aff93f246048f5" /><Relationship Type="http://schemas.openxmlformats.org/officeDocument/2006/relationships/notesSlide" Target="/ppt/notesSlides/notesSlide45.xml" Id="Ra4e14ddb35254687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b24f97640f435e" /><Relationship Type="http://schemas.openxmlformats.org/officeDocument/2006/relationships/notesSlide" Target="/ppt/notesSlides/notesSlide46.xml" Id="R79b7705ed4974e3d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ce7484fb9e4229" /><Relationship Type="http://schemas.openxmlformats.org/officeDocument/2006/relationships/notesSlide" Target="/ppt/notesSlides/notesSlide47.xml" Id="R8e5798c763544994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9bbc0310534a45" /><Relationship Type="http://schemas.openxmlformats.org/officeDocument/2006/relationships/notesSlide" Target="/ppt/notesSlides/notesSlide48.xml" Id="R924c90ed73d3488d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45fb77575345de" /><Relationship Type="http://schemas.openxmlformats.org/officeDocument/2006/relationships/notesSlide" Target="/ppt/notesSlides/notesSlide49.xml" Id="R6e0c3234985545cc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f52f5f07594a7b" /><Relationship Type="http://schemas.openxmlformats.org/officeDocument/2006/relationships/notesSlide" Target="/ppt/notesSlides/notesSlide50.xml" Id="R36db55c76c2f43fc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8f9790ec41454a" /><Relationship Type="http://schemas.openxmlformats.org/officeDocument/2006/relationships/notesSlide" Target="/ppt/notesSlides/notesSlide51.xml" Id="R014f9b21f3d244c1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35c9fd89284c94" /><Relationship Type="http://schemas.openxmlformats.org/officeDocument/2006/relationships/notesSlide" Target="/ppt/notesSlides/notesSlide52.xml" Id="Rcb08f23448954ecc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7d50c408f64c2b" /><Relationship Type="http://schemas.openxmlformats.org/officeDocument/2006/relationships/notesSlide" Target="/ppt/notesSlides/notesSlide53.xml" Id="Rb4247393b72e4076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68fa03e9354d2a" /><Relationship Type="http://schemas.openxmlformats.org/officeDocument/2006/relationships/notesSlide" Target="/ppt/notesSlides/notesSlide54.xml" Id="R6c6b4c825ef548c7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f754b21af349e3" /><Relationship Type="http://schemas.openxmlformats.org/officeDocument/2006/relationships/notesSlide" Target="/ppt/notesSlides/notesSlide55.xml" Id="R8ee31139c93e4b7d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335560fd384bfa" /><Relationship Type="http://schemas.openxmlformats.org/officeDocument/2006/relationships/notesSlide" Target="/ppt/notesSlides/notesSlide56.xml" Id="R2005e5a61ba84887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7f766150b34167" /><Relationship Type="http://schemas.openxmlformats.org/officeDocument/2006/relationships/notesSlide" Target="/ppt/notesSlides/notesSlide57.xml" Id="R646c7eed778f4480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1d715e2986425e" /><Relationship Type="http://schemas.openxmlformats.org/officeDocument/2006/relationships/notesSlide" Target="/ppt/notesSlides/notesSlide58.xml" Id="R7edf5f61c2da4326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34ecf1788b4ed3" /><Relationship Type="http://schemas.openxmlformats.org/officeDocument/2006/relationships/notesSlide" Target="/ppt/notesSlides/notesSlide59.xml" Id="R081bf5028253447c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aa58fe344341d7" /><Relationship Type="http://schemas.openxmlformats.org/officeDocument/2006/relationships/notesSlide" Target="/ppt/notesSlides/notesSlide60.xml" Id="Rd21812ffd73c4851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2ac20834b945d1" /><Relationship Type="http://schemas.openxmlformats.org/officeDocument/2006/relationships/notesSlide" Target="/ppt/notesSlides/notesSlide61.xml" Id="R1ee68791cd9145b7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1b98bfe1824b02" /><Relationship Type="http://schemas.openxmlformats.org/officeDocument/2006/relationships/notesSlide" Target="/ppt/notesSlides/notesSlide62.xml" Id="R8ad6b891781c49ec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1b3b75bd3b43aa" /><Relationship Type="http://schemas.openxmlformats.org/officeDocument/2006/relationships/notesSlide" Target="/ppt/notesSlides/notesSlide63.xml" Id="R1911b3c0ca3346e4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c88b77490f496d" /><Relationship Type="http://schemas.openxmlformats.org/officeDocument/2006/relationships/notesSlide" Target="/ppt/notesSlides/notesSlide64.xml" Id="Raca714c2e2434cd6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be014c92fd4cf7" /><Relationship Type="http://schemas.openxmlformats.org/officeDocument/2006/relationships/notesSlide" Target="/ppt/notesSlides/notesSlide65.xml" Id="Rf98f04e75717450e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34b462de844354" /><Relationship Type="http://schemas.openxmlformats.org/officeDocument/2006/relationships/notesSlide" Target="/ppt/notesSlides/notesSlide66.xml" Id="Rcead21c6eb1b421b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f2f2c5ad3e4a1e" /><Relationship Type="http://schemas.openxmlformats.org/officeDocument/2006/relationships/notesSlide" Target="/ppt/notesSlides/notesSlide67.xml" Id="R054a21aedcd24ee2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31e3284ab54256" /><Relationship Type="http://schemas.openxmlformats.org/officeDocument/2006/relationships/notesSlide" Target="/ppt/notesSlides/notesSlide68.xml" Id="R990fe4f291ce497e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f60834ed634fc5" /><Relationship Type="http://schemas.openxmlformats.org/officeDocument/2006/relationships/notesSlide" Target="/ppt/notesSlides/notesSlide69.xml" Id="Re9c9c7094c194bdd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8346396c964513" /><Relationship Type="http://schemas.openxmlformats.org/officeDocument/2006/relationships/notesSlide" Target="/ppt/notesSlides/notesSlide70.xml" Id="R51fc0e1faef84bef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be07f554944df6" /><Relationship Type="http://schemas.openxmlformats.org/officeDocument/2006/relationships/notesSlide" Target="/ppt/notesSlides/notesSlide71.xml" Id="R7d4d11e5eb034884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c66ff83c6b49b7" /><Relationship Type="http://schemas.openxmlformats.org/officeDocument/2006/relationships/notesSlide" Target="/ppt/notesSlides/notesSlide72.xml" Id="Rcb92789d2eec40ae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249bea08a6452a" /><Relationship Type="http://schemas.openxmlformats.org/officeDocument/2006/relationships/notesSlide" Target="/ppt/notesSlides/notesSlide73.xml" Id="Rd6286d5ed97d4e34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4e7a4e7d764de0" /><Relationship Type="http://schemas.openxmlformats.org/officeDocument/2006/relationships/notesSlide" Target="/ppt/notesSlides/notesSlide74.xml" Id="R2cafaa53858141fd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636286dab8463d" /><Relationship Type="http://schemas.openxmlformats.org/officeDocument/2006/relationships/notesSlide" Target="/ppt/notesSlides/notesSlide75.xml" Id="R2182f118cd8243b8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c71562840b4525" /><Relationship Type="http://schemas.openxmlformats.org/officeDocument/2006/relationships/notesSlide" Target="/ppt/notesSlides/notesSlide76.xml" Id="Rb510327fc6834c56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cac5872ed04d0b" /><Relationship Type="http://schemas.openxmlformats.org/officeDocument/2006/relationships/notesSlide" Target="/ppt/notesSlides/notesSlide77.xml" Id="Rcbd4530fce314468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fff1a3e148462e" /><Relationship Type="http://schemas.openxmlformats.org/officeDocument/2006/relationships/notesSlide" Target="/ppt/notesSlides/notesSlide78.xml" Id="R01a5021081c84588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219472e34c495e" /><Relationship Type="http://schemas.openxmlformats.org/officeDocument/2006/relationships/notesSlide" Target="/ppt/notesSlides/notesSlide79.xml" Id="R0a7c7e473bb5444f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a7dcc6513c463c" /><Relationship Type="http://schemas.openxmlformats.org/officeDocument/2006/relationships/notesSlide" Target="/ppt/notesSlides/notesSlide80.xml" Id="R675725228b034018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70196fc0f04e41" /><Relationship Type="http://schemas.openxmlformats.org/officeDocument/2006/relationships/notesSlide" Target="/ppt/notesSlides/notesSlide81.xml" Id="R64bca180090941f0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2f93d359bb48da" /><Relationship Type="http://schemas.openxmlformats.org/officeDocument/2006/relationships/notesSlide" Target="/ppt/notesSlides/notesSlide82.xml" Id="R5be213541b52492e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2db800d85c496f" /><Relationship Type="http://schemas.openxmlformats.org/officeDocument/2006/relationships/notesSlide" Target="/ppt/notesSlides/notesSlide83.xml" Id="Rf1f3c6866cdb4dcc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83e85f35304a9b" /><Relationship Type="http://schemas.openxmlformats.org/officeDocument/2006/relationships/notesSlide" Target="/ppt/notesSlides/notesSlide84.xml" Id="R66a7138b5607443f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39b81c29b14112" /><Relationship Type="http://schemas.openxmlformats.org/officeDocument/2006/relationships/notesSlide" Target="/ppt/notesSlides/notesSlide85.xml" Id="R0c1894f0c1084d64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f2f0a63b204f51" /><Relationship Type="http://schemas.openxmlformats.org/officeDocument/2006/relationships/notesSlide" Target="/ppt/notesSlides/notesSlide86.xml" Id="R4a9f87ca7c184bb2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f736c342744a15" /><Relationship Type="http://schemas.openxmlformats.org/officeDocument/2006/relationships/notesSlide" Target="/ppt/notesSlides/notesSlide87.xml" Id="R58c3167f8ca2490a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b6240a50284a4c" /><Relationship Type="http://schemas.openxmlformats.org/officeDocument/2006/relationships/notesSlide" Target="/ppt/notesSlides/notesSlide88.xml" Id="R8a48751881a94137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c286384c534dfd" /><Relationship Type="http://schemas.openxmlformats.org/officeDocument/2006/relationships/notesSlide" Target="/ppt/notesSlides/notesSlide89.xml" Id="R022d8f3e137b4253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2e5368beac4565" /><Relationship Type="http://schemas.openxmlformats.org/officeDocument/2006/relationships/notesSlide" Target="/ppt/notesSlides/notesSlide90.xml" Id="Rcc18059bd72b4d7c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f1f784f1db4304" /><Relationship Type="http://schemas.openxmlformats.org/officeDocument/2006/relationships/notesSlide" Target="/ppt/notesSlides/notesSlide91.xml" Id="Rf2afe81a79ae4a9e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8f6b9665434993" /><Relationship Type="http://schemas.openxmlformats.org/officeDocument/2006/relationships/notesSlide" Target="/ppt/notesSlides/notesSlide92.xml" Id="R768e6d54900544e6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a93b398e11451c" /><Relationship Type="http://schemas.openxmlformats.org/officeDocument/2006/relationships/notesSlide" Target="/ppt/notesSlides/notesSlide93.xml" Id="R29287ddcc98e49ba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a0e0f7290c47a9" /><Relationship Type="http://schemas.openxmlformats.org/officeDocument/2006/relationships/notesSlide" Target="/ppt/notesSlides/notesSlide94.xml" Id="R07257840871243a8" /></Relationships>
</file>

<file path=ppt/slides/_rels/slide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6ca89bd418472b" /><Relationship Type="http://schemas.openxmlformats.org/officeDocument/2006/relationships/notesSlide" Target="/ppt/notesSlides/notesSlide95.xml" Id="R50063156f05e4edf" /></Relationships>
</file>

<file path=ppt/slides/_rels/slide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28fdea3f2b4d1e" /><Relationship Type="http://schemas.openxmlformats.org/officeDocument/2006/relationships/notesSlide" Target="/ppt/notesSlides/notesSlide96.xml" Id="Rc9492ad94a66492b" /></Relationships>
</file>

<file path=ppt/slides/_rels/slide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5cbdffe6c74943" /><Relationship Type="http://schemas.openxmlformats.org/officeDocument/2006/relationships/notesSlide" Target="/ppt/notesSlides/notesSlide97.xml" Id="Rb15d8a4beba7482c" /></Relationships>
</file>

<file path=ppt/slides/_rels/slide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e87b7e16834d6c" /><Relationship Type="http://schemas.openxmlformats.org/officeDocument/2006/relationships/notesSlide" Target="/ppt/notesSlides/notesSlide98.xml" Id="R11d59db3af674f57" /></Relationships>
</file>

<file path=ppt/slides/_rels/slide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8816fca36c447d" /><Relationship Type="http://schemas.openxmlformats.org/officeDocument/2006/relationships/notesSlide" Target="/ppt/notesSlides/notesSlide99.xml" Id="R6734cc5e4cb04d70" /></Relationships>
</file>

<file path=ppt/slides/_rels/slide1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0d6ef8f66e4a42" /><Relationship Type="http://schemas.openxmlformats.org/officeDocument/2006/relationships/notesSlide" Target="/ppt/notesSlides/notesSlide100.xml" Id="R7cf862c7cfe64e80" /></Relationships>
</file>

<file path=ppt/slides/_rels/slide1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eb133229404d09" /><Relationship Type="http://schemas.openxmlformats.org/officeDocument/2006/relationships/notesSlide" Target="/ppt/notesSlides/notesSlide101.xml" Id="R3264c36b9be14864" /></Relationships>
</file>

<file path=ppt/slides/_rels/slide1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a3dc0434664f5b" /><Relationship Type="http://schemas.openxmlformats.org/officeDocument/2006/relationships/notesSlide" Target="/ppt/notesSlides/notesSlide102.xml" Id="R60d393e736f84452" /></Relationships>
</file>

<file path=ppt/slides/_rels/slide1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1f53019c4949bb" /><Relationship Type="http://schemas.openxmlformats.org/officeDocument/2006/relationships/notesSlide" Target="/ppt/notesSlides/notesSlide103.xml" Id="Rda5b1933493d40ba" /></Relationships>
</file>

<file path=ppt/slides/_rels/slide1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8b93f402b14169" /><Relationship Type="http://schemas.openxmlformats.org/officeDocument/2006/relationships/notesSlide" Target="/ppt/notesSlides/notesSlide104.xml" Id="Ra980abd852bf4b94" /></Relationships>
</file>

<file path=ppt/slides/_rels/slide1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d0335ce89147e8" /><Relationship Type="http://schemas.openxmlformats.org/officeDocument/2006/relationships/notesSlide" Target="/ppt/notesSlides/notesSlide105.xml" Id="Ra4d0b323d2934bf9" /></Relationships>
</file>

<file path=ppt/slides/_rels/slide1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493a3c7fb34146" /><Relationship Type="http://schemas.openxmlformats.org/officeDocument/2006/relationships/notesSlide" Target="/ppt/notesSlides/notesSlide106.xml" Id="R484d4a8991744172" /></Relationships>
</file>

<file path=ppt/slides/_rels/slide1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52e27630044598" /><Relationship Type="http://schemas.openxmlformats.org/officeDocument/2006/relationships/notesSlide" Target="/ppt/notesSlides/notesSlide107.xml" Id="R5912641ba90344ee" /></Relationships>
</file>

<file path=ppt/slides/_rels/slide1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721e50a2bb4249" /><Relationship Type="http://schemas.openxmlformats.org/officeDocument/2006/relationships/notesSlide" Target="/ppt/notesSlides/notesSlide108.xml" Id="R0ac204f725264126" /></Relationships>
</file>

<file path=ppt/slides/_rels/slide1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c8f4b0ff9c4cb5" /><Relationship Type="http://schemas.openxmlformats.org/officeDocument/2006/relationships/notesSlide" Target="/ppt/notesSlides/notesSlide109.xml" Id="R65c16b06a8a447a2" /></Relationships>
</file>

<file path=ppt/slides/_rels/slide1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a0ef32c7524cad" /><Relationship Type="http://schemas.openxmlformats.org/officeDocument/2006/relationships/notesSlide" Target="/ppt/notesSlides/notesSlide110.xml" Id="R00b500c4fd23443e" /></Relationships>
</file>

<file path=ppt/slides/_rels/slide1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564620a1aa4f73" /><Relationship Type="http://schemas.openxmlformats.org/officeDocument/2006/relationships/notesSlide" Target="/ppt/notesSlides/notesSlide111.xml" Id="R64b5a22f935e40ab" /></Relationships>
</file>

<file path=ppt/slides/_rels/slide1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78b3b106b34473" /><Relationship Type="http://schemas.openxmlformats.org/officeDocument/2006/relationships/notesSlide" Target="/ppt/notesSlides/notesSlide112.xml" Id="R44064a090bde478e" /></Relationships>
</file>

<file path=ppt/slides/_rels/slide1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ae8c1c0c74471b" /><Relationship Type="http://schemas.openxmlformats.org/officeDocument/2006/relationships/notesSlide" Target="/ppt/notesSlides/notesSlide113.xml" Id="R5db7fba3a0a94099" /></Relationships>
</file>

<file path=ppt/slides/_rels/slide1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867728b8fd402b" /><Relationship Type="http://schemas.openxmlformats.org/officeDocument/2006/relationships/notesSlide" Target="/ppt/notesSlides/notesSlide114.xml" Id="Rc8560ed923114009" /></Relationships>
</file>

<file path=ppt/slides/_rels/slide1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386f39faf5469a" /><Relationship Type="http://schemas.openxmlformats.org/officeDocument/2006/relationships/notesSlide" Target="/ppt/notesSlides/notesSlide115.xml" Id="R823bf62430504743" /></Relationships>
</file>

<file path=ppt/slides/_rels/slide1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424f1361a44e3c" /><Relationship Type="http://schemas.openxmlformats.org/officeDocument/2006/relationships/notesSlide" Target="/ppt/notesSlides/notesSlide116.xml" Id="Radde1a6c8b784bf0" /></Relationships>
</file>

<file path=ppt/slides/_rels/slide1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1fab6443d14251" /><Relationship Type="http://schemas.openxmlformats.org/officeDocument/2006/relationships/notesSlide" Target="/ppt/notesSlides/notesSlide117.xml" Id="R612653067ad04bea" /></Relationships>
</file>

<file path=ppt/slides/_rels/slide1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2f282bc2bb40c4" /><Relationship Type="http://schemas.openxmlformats.org/officeDocument/2006/relationships/notesSlide" Target="/ppt/notesSlides/notesSlide118.xml" Id="R300e6aacfde144e4" /></Relationships>
</file>

<file path=ppt/slides/_rels/slide1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baecf0eec547ad" /><Relationship Type="http://schemas.openxmlformats.org/officeDocument/2006/relationships/notesSlide" Target="/ppt/notesSlides/notesSlide119.xml" Id="Rdaa1b59fd8394c8e" /></Relationships>
</file>

<file path=ppt/slides/_rels/slide1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42791c8d49489a" /><Relationship Type="http://schemas.openxmlformats.org/officeDocument/2006/relationships/notesSlide" Target="/ppt/notesSlides/notesSlide120.xml" Id="R58afcf690a794a0a" /></Relationships>
</file>

<file path=ppt/slides/_rels/slide1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3df321865840f7" /><Relationship Type="http://schemas.openxmlformats.org/officeDocument/2006/relationships/notesSlide" Target="/ppt/notesSlides/notesSlide121.xml" Id="R79bc24ad20f94fb0" /></Relationships>
</file>

<file path=ppt/slides/_rels/slide1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38da0e62464b87" /><Relationship Type="http://schemas.openxmlformats.org/officeDocument/2006/relationships/notesSlide" Target="/ppt/notesSlides/notesSlide122.xml" Id="R63858e6ce8b34289" /></Relationships>
</file>

<file path=ppt/slides/_rels/slide1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45e01b5e8b4a7e" /><Relationship Type="http://schemas.openxmlformats.org/officeDocument/2006/relationships/notesSlide" Target="/ppt/notesSlides/notesSlide123.xml" Id="R0242dd1158404055" /></Relationships>
</file>

<file path=ppt/slides/_rels/slide1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07864ef36b465a" /><Relationship Type="http://schemas.openxmlformats.org/officeDocument/2006/relationships/notesSlide" Target="/ppt/notesSlides/notesSlide124.xml" Id="R6a5f50c3653b435a" /></Relationships>
</file>

<file path=ppt/slides/_rels/slide1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569f2e86944c31" /><Relationship Type="http://schemas.openxmlformats.org/officeDocument/2006/relationships/notesSlide" Target="/ppt/notesSlides/notesSlide125.xml" Id="R5463a4e4297b4f98" /></Relationships>
</file>

<file path=ppt/slides/_rels/slide1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9fc7e9221f48f4" /><Relationship Type="http://schemas.openxmlformats.org/officeDocument/2006/relationships/notesSlide" Target="/ppt/notesSlides/notesSlide126.xml" Id="Rc5850b2d1b974142" /></Relationships>
</file>

<file path=ppt/slides/_rels/slide1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bb165749ce4491" /><Relationship Type="http://schemas.openxmlformats.org/officeDocument/2006/relationships/notesSlide" Target="/ppt/notesSlides/notesSlide127.xml" Id="R1d0ab1d1f055439c" /></Relationships>
</file>

<file path=ppt/slides/_rels/slide1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4f6017c60f41ee" /><Relationship Type="http://schemas.openxmlformats.org/officeDocument/2006/relationships/notesSlide" Target="/ppt/notesSlides/notesSlide128.xml" Id="R20adaedbd37b47bb" /></Relationships>
</file>

<file path=ppt/slides/_rels/slide1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b971d180924cdc" /><Relationship Type="http://schemas.openxmlformats.org/officeDocument/2006/relationships/notesSlide" Target="/ppt/notesSlides/notesSlide129.xml" Id="R02ccc8992fb841ae" /></Relationships>
</file>

<file path=ppt/slides/_rels/slide1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c04c501f304237" /><Relationship Type="http://schemas.openxmlformats.org/officeDocument/2006/relationships/notesSlide" Target="/ppt/notesSlides/notesSlide130.xml" Id="R669770669b544ac7" /></Relationships>
</file>

<file path=ppt/slides/_rels/slide1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3f5147e80f4eca" /><Relationship Type="http://schemas.openxmlformats.org/officeDocument/2006/relationships/notesSlide" Target="/ppt/notesSlides/notesSlide131.xml" Id="Ra95c4bf091fd47c9" /></Relationships>
</file>

<file path=ppt/slides/_rels/slide1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ee1c7ff06b4f2a" /><Relationship Type="http://schemas.openxmlformats.org/officeDocument/2006/relationships/notesSlide" Target="/ppt/notesSlides/notesSlide132.xml" Id="Rac00490b40f2493f" /></Relationships>
</file>

<file path=ppt/slides/_rels/slide1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1ba6b43ffd4cf0" /><Relationship Type="http://schemas.openxmlformats.org/officeDocument/2006/relationships/notesSlide" Target="/ppt/notesSlides/notesSlide133.xml" Id="R607113249c364de1" /></Relationships>
</file>

<file path=ppt/slides/_rels/slide1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c8c829b6e843e9" /><Relationship Type="http://schemas.openxmlformats.org/officeDocument/2006/relationships/notesSlide" Target="/ppt/notesSlides/notesSlide134.xml" Id="Rdd9861bf6a7f436f" /></Relationships>
</file>

<file path=ppt/slides/_rels/slide1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a5217129014235" /><Relationship Type="http://schemas.openxmlformats.org/officeDocument/2006/relationships/notesSlide" Target="/ppt/notesSlides/notesSlide135.xml" Id="Ra8dce9ab6a4b43b1" /></Relationships>
</file>

<file path=ppt/slides/_rels/slide1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2545f18eec4258" /><Relationship Type="http://schemas.openxmlformats.org/officeDocument/2006/relationships/notesSlide" Target="/ppt/notesSlides/notesSlide136.xml" Id="R58de7f83d79d47d7" /></Relationships>
</file>

<file path=ppt/slides/_rels/slide1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19e4e726874846" /><Relationship Type="http://schemas.openxmlformats.org/officeDocument/2006/relationships/notesSlide" Target="/ppt/notesSlides/notesSlide137.xml" Id="R7973d75f57c04c5d" /></Relationships>
</file>

<file path=ppt/slides/_rels/slide1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97971247c940f4" /><Relationship Type="http://schemas.openxmlformats.org/officeDocument/2006/relationships/notesSlide" Target="/ppt/notesSlides/notesSlide138.xml" Id="R7d47377bda8e4d7a" /></Relationships>
</file>

<file path=ppt/slides/_rels/slide1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53042602b340d6" /><Relationship Type="http://schemas.openxmlformats.org/officeDocument/2006/relationships/notesSlide" Target="/ppt/notesSlides/notesSlide139.xml" Id="R6901752a9f4a48bb" /></Relationships>
</file>

<file path=ppt/slides/_rels/slide1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73c5962838469f" /><Relationship Type="http://schemas.openxmlformats.org/officeDocument/2006/relationships/notesSlide" Target="/ppt/notesSlides/notesSlide140.xml" Id="R952d5d0621df4a9f" /></Relationships>
</file>

<file path=ppt/slides/_rels/slide1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b61542b0c34333" /><Relationship Type="http://schemas.openxmlformats.org/officeDocument/2006/relationships/notesSlide" Target="/ppt/notesSlides/notesSlide141.xml" Id="R83d1aedef22840fc" /></Relationships>
</file>

<file path=ppt/slides/_rels/slide1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87c006a4584b5b" /><Relationship Type="http://schemas.openxmlformats.org/officeDocument/2006/relationships/notesSlide" Target="/ppt/notesSlides/notesSlide142.xml" Id="Ra52afd8a778242b1" /></Relationships>
</file>

<file path=ppt/slides/_rels/slide1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5ea173df294a39" /><Relationship Type="http://schemas.openxmlformats.org/officeDocument/2006/relationships/notesSlide" Target="/ppt/notesSlides/notesSlide143.xml" Id="R41a5b7c08df142ce" /></Relationships>
</file>

<file path=ppt/slides/_rels/slide1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d9d201cf2c4c1e" /><Relationship Type="http://schemas.openxmlformats.org/officeDocument/2006/relationships/notesSlide" Target="/ppt/notesSlides/notesSlide144.xml" Id="R657cabaf82cf45d7" /></Relationships>
</file>

<file path=ppt/slides/_rels/slide1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0a62ed7a7e41ba" /><Relationship Type="http://schemas.openxmlformats.org/officeDocument/2006/relationships/notesSlide" Target="/ppt/notesSlides/notesSlide145.xml" Id="Ra75041ce703b430f" /></Relationships>
</file>

<file path=ppt/slides/_rels/slide1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ec89f4d8d745fb" /><Relationship Type="http://schemas.openxmlformats.org/officeDocument/2006/relationships/notesSlide" Target="/ppt/notesSlides/notesSlide146.xml" Id="Rcdd7cc0c83fc431b" /></Relationships>
</file>

<file path=ppt/slides/_rels/slide1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26b889498d476f" /><Relationship Type="http://schemas.openxmlformats.org/officeDocument/2006/relationships/notesSlide" Target="/ppt/notesSlides/notesSlide147.xml" Id="Rb7827fb289904e0a" /></Relationships>
</file>

<file path=ppt/slides/_rels/slide1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91e146fb134d57" /><Relationship Type="http://schemas.openxmlformats.org/officeDocument/2006/relationships/notesSlide" Target="/ppt/notesSlides/notesSlide148.xml" Id="R37805dd076fc45a6" /></Relationships>
</file>

<file path=ppt/slides/_rels/slide1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ea8626d21e47fa" /><Relationship Type="http://schemas.openxmlformats.org/officeDocument/2006/relationships/notesSlide" Target="/ppt/notesSlides/notesSlide149.xml" Id="R89730c68efa54967" /></Relationships>
</file>

<file path=ppt/slides/_rels/slide1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a50925fb5c4f55" /><Relationship Type="http://schemas.openxmlformats.org/officeDocument/2006/relationships/notesSlide" Target="/ppt/notesSlides/notesSlide150.xml" Id="Rea01952a96dd4858" /></Relationships>
</file>

<file path=ppt/slides/_rels/slide1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9d40dd4a7c40dc" /><Relationship Type="http://schemas.openxmlformats.org/officeDocument/2006/relationships/notesSlide" Target="/ppt/notesSlides/notesSlide151.xml" Id="R8ae076fd837a41f4" /></Relationships>
</file>

<file path=ppt/slides/_rels/slide1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c3180eb5c34609" /><Relationship Type="http://schemas.openxmlformats.org/officeDocument/2006/relationships/notesSlide" Target="/ppt/notesSlides/notesSlide152.xml" Id="R5bc89a2ab2e9443a" /></Relationships>
</file>

<file path=ppt/slides/_rels/slide1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6ecbe7664746e7" /><Relationship Type="http://schemas.openxmlformats.org/officeDocument/2006/relationships/notesSlide" Target="/ppt/notesSlides/notesSlide153.xml" Id="R2c5b4e74fa5845a8" /></Relationships>
</file>

<file path=ppt/slides/_rels/slide1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e9090a750f415c" /><Relationship Type="http://schemas.openxmlformats.org/officeDocument/2006/relationships/notesSlide" Target="/ppt/notesSlides/notesSlide154.xml" Id="Rbd4973e5fe2b4ccd" /></Relationships>
</file>

<file path=ppt/slides/_rels/slide1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803e1046704a76" /><Relationship Type="http://schemas.openxmlformats.org/officeDocument/2006/relationships/notesSlide" Target="/ppt/notesSlides/notesSlide155.xml" Id="R51cf4c0dd9064584" /></Relationships>
</file>

<file path=ppt/slides/_rels/slide1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184b6debb94abb" /><Relationship Type="http://schemas.openxmlformats.org/officeDocument/2006/relationships/notesSlide" Target="/ppt/notesSlides/notesSlide156.xml" Id="Rf544751845104b27" /></Relationships>
</file>

<file path=ppt/slides/_rels/slide1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63e0eaa1ad4496" /><Relationship Type="http://schemas.openxmlformats.org/officeDocument/2006/relationships/notesSlide" Target="/ppt/notesSlides/notesSlide157.xml" Id="Ra6283b7a2be043c5" /></Relationships>
</file>

<file path=ppt/slides/_rels/slide1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4083fab52a4196" /><Relationship Type="http://schemas.openxmlformats.org/officeDocument/2006/relationships/notesSlide" Target="/ppt/notesSlides/notesSlide158.xml" Id="R8a22c8741d8e45ae" /></Relationships>
</file>

<file path=ppt/slides/_rels/slide1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d368bbf56845ba" /><Relationship Type="http://schemas.openxmlformats.org/officeDocument/2006/relationships/notesSlide" Target="/ppt/notesSlides/notesSlide159.xml" Id="R564c3443bfc04d56" /></Relationships>
</file>

<file path=ppt/slides/_rels/slide1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bc7a143cbd4a14" /><Relationship Type="http://schemas.openxmlformats.org/officeDocument/2006/relationships/notesSlide" Target="/ppt/notesSlides/notesSlide160.xml" Id="Rdb0cd117bb264710" /></Relationships>
</file>

<file path=ppt/slides/_rels/slide1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a09b79bfb7434a" /><Relationship Type="http://schemas.openxmlformats.org/officeDocument/2006/relationships/notesSlide" Target="/ppt/notesSlides/notesSlide161.xml" Id="R492dab6b4369453b" /></Relationships>
</file>

<file path=ppt/slides/_rels/slide1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74d289bb274684" /><Relationship Type="http://schemas.openxmlformats.org/officeDocument/2006/relationships/notesSlide" Target="/ppt/notesSlides/notesSlide162.xml" Id="Re1709ad0019949c3" /></Relationships>
</file>

<file path=ppt/slides/_rels/slide1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279d671b8642d3" /><Relationship Type="http://schemas.openxmlformats.org/officeDocument/2006/relationships/notesSlide" Target="/ppt/notesSlides/notesSlide163.xml" Id="R4eec002fb6894435" /></Relationships>
</file>

<file path=ppt/slides/_rels/slide1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835a791d054e66" /><Relationship Type="http://schemas.openxmlformats.org/officeDocument/2006/relationships/notesSlide" Target="/ppt/notesSlides/notesSlide164.xml" Id="Rb7b9ba0548a545ca" /></Relationships>
</file>

<file path=ppt/slides/_rels/slide1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235bb5a6e943d0" /><Relationship Type="http://schemas.openxmlformats.org/officeDocument/2006/relationships/notesSlide" Target="/ppt/notesSlides/notesSlide165.xml" Id="Rb1c41a0de3b9419f" /></Relationships>
</file>

<file path=ppt/slides/_rels/slide1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8f2f940e274685" /><Relationship Type="http://schemas.openxmlformats.org/officeDocument/2006/relationships/notesSlide" Target="/ppt/notesSlides/notesSlide166.xml" Id="Rf98d9ed567984c4c" /></Relationships>
</file>

<file path=ppt/slides/_rels/slide1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13bf10922246fb" /><Relationship Type="http://schemas.openxmlformats.org/officeDocument/2006/relationships/notesSlide" Target="/ppt/notesSlides/notesSlide167.xml" Id="Rfc05a0dfa6764925" /></Relationships>
</file>

<file path=ppt/slides/_rels/slide1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dfe36e3c1240d6" /><Relationship Type="http://schemas.openxmlformats.org/officeDocument/2006/relationships/notesSlide" Target="/ppt/notesSlides/notesSlide168.xml" Id="Rb077f2c4773141e2" /></Relationships>
</file>

<file path=ppt/slides/_rels/slide1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a4866bf2d8453f" /><Relationship Type="http://schemas.openxmlformats.org/officeDocument/2006/relationships/notesSlide" Target="/ppt/notesSlides/notesSlide169.xml" Id="Re6b0f2050bd0420f" /></Relationships>
</file>

<file path=ppt/slides/_rels/slide1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1510da55c5457e" /><Relationship Type="http://schemas.openxmlformats.org/officeDocument/2006/relationships/notesSlide" Target="/ppt/notesSlides/notesSlide170.xml" Id="Rc38b9f7e930d4830" /></Relationships>
</file>

<file path=ppt/slides/_rels/slide1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4f152bd1554d84" /><Relationship Type="http://schemas.openxmlformats.org/officeDocument/2006/relationships/notesSlide" Target="/ppt/notesSlides/notesSlide171.xml" Id="Rb58f067af286410b" /></Relationships>
</file>

<file path=ppt/slides/_rels/slide1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e6c01275624ad9" /><Relationship Type="http://schemas.openxmlformats.org/officeDocument/2006/relationships/notesSlide" Target="/ppt/notesSlides/notesSlide172.xml" Id="Rb72658a5352245b1" /></Relationships>
</file>

<file path=ppt/slides/_rels/slide1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15acb4d5bb4843" /><Relationship Type="http://schemas.openxmlformats.org/officeDocument/2006/relationships/notesSlide" Target="/ppt/notesSlides/notesSlide173.xml" Id="R45a1d898c7b14347" /></Relationships>
</file>

<file path=ppt/slides/_rels/slide1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2057b5f3484900" /><Relationship Type="http://schemas.openxmlformats.org/officeDocument/2006/relationships/notesSlide" Target="/ppt/notesSlides/notesSlide174.xml" Id="Rf0ebacc0a71e4408" /></Relationships>
</file>

<file path=ppt/slides/_rels/slide1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e6701dc9494c25" /><Relationship Type="http://schemas.openxmlformats.org/officeDocument/2006/relationships/notesSlide" Target="/ppt/notesSlides/notesSlide175.xml" Id="Rd1d20b61e5584472" /></Relationships>
</file>

<file path=ppt/slides/_rels/slide1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16411deba54815" /><Relationship Type="http://schemas.openxmlformats.org/officeDocument/2006/relationships/notesSlide" Target="/ppt/notesSlides/notesSlide176.xml" Id="R256eb7d5a2fc4b34" /></Relationships>
</file>

<file path=ppt/slides/_rels/slide1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f2642edbd94bf9" /><Relationship Type="http://schemas.openxmlformats.org/officeDocument/2006/relationships/notesSlide" Target="/ppt/notesSlides/notesSlide177.xml" Id="Rd149de35e4ba452b" /></Relationships>
</file>

<file path=ppt/slides/_rels/slide1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35ae82ed874756" /><Relationship Type="http://schemas.openxmlformats.org/officeDocument/2006/relationships/notesSlide" Target="/ppt/notesSlides/notesSlide178.xml" Id="Rb01c298af275467e" /></Relationships>
</file>

<file path=ppt/slides/_rels/slide1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cbc64a9fcc4ade" /><Relationship Type="http://schemas.openxmlformats.org/officeDocument/2006/relationships/notesSlide" Target="/ppt/notesSlides/notesSlide179.xml" Id="Raf6155f58feb4fc2" /></Relationships>
</file>

<file path=ppt/slides/_rels/slide1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bee5d850e84179" /><Relationship Type="http://schemas.openxmlformats.org/officeDocument/2006/relationships/notesSlide" Target="/ppt/notesSlides/notesSlide180.xml" Id="R499b499005e14b17" /></Relationships>
</file>

<file path=ppt/slides/_rels/slide1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dc595f3874422f" /><Relationship Type="http://schemas.openxmlformats.org/officeDocument/2006/relationships/notesSlide" Target="/ppt/notesSlides/notesSlide181.xml" Id="R44057beed1cf4d32" /></Relationships>
</file>

<file path=ppt/slides/_rels/slide1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0a93afa22d4113" /><Relationship Type="http://schemas.openxmlformats.org/officeDocument/2006/relationships/notesSlide" Target="/ppt/notesSlides/notesSlide182.xml" Id="R1422bfef77944cfa" /></Relationships>
</file>

<file path=ppt/slides/_rels/slide1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5c4579435f4dbf" /><Relationship Type="http://schemas.openxmlformats.org/officeDocument/2006/relationships/notesSlide" Target="/ppt/notesSlides/notesSlide183.xml" Id="R97cfc90c76e446e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7678C1-5662-4D0C-8713-6A4C6902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9E114E-6288-4105-AE02-5808BD066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67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6D6C2"/>
                </a:solidFill>
              </a:defRPr>
            </a:pPr>
            <a:r>
              <a:rPr sz="1200" b="1">
                <a:solidFill>
                  <a:srgbClr val="36D6C2"/>
                </a:solidFill>
              </a:rPr>
              <a:t>AI PRODUCT MANAGER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D725ED-A730-4E5E-8C1C-943882593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5F2E9"/>
                </a:solidFill>
              </a:defRPr>
            </a:pPr>
            <a:r>
              <a:rPr sz="4350" b="1">
                <a:solidFill>
                  <a:srgbClr val="F5F2E9"/>
                </a:solidFill>
              </a:rPr>
              <a:t>AI产品评测与数据反馈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E10937-6C55-46B7-8642-094821EE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90900"/>
            <a:ext cx="838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7B5BC"/>
                </a:solidFill>
              </a:defRPr>
            </a:pPr>
            <a:r>
              <a:rPr sz="1800" b="0">
                <a:solidFill>
                  <a:srgbClr val="A7B5BC"/>
                </a:solidFill>
              </a:rPr>
              <a:t>第09课｜严格按课程讲稿内容与示例制作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32D02E-5BE8-427E-AF87-85354A5AA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14850"/>
            <a:ext cx="2571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8BAC44-8FB9-435B-98C1-6F1D74C9D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96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7B5BC"/>
                </a:solidFill>
              </a:defRPr>
            </a:pPr>
            <a:r>
              <a:rPr sz="1125" b="1">
                <a:solidFill>
                  <a:srgbClr val="A7B5BC"/>
                </a:solidFill>
              </a:rPr>
              <a:t>EVAL · BAD CASE · REGRESSION · DATA LOOP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0DB593-66CC-47E2-8B07-5BC5F07EA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76750"/>
            <a:ext cx="1524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150" b="1">
                <a:solidFill>
                  <a:srgbClr val="26404A"/>
                </a:solidFill>
              </a:defRPr>
            </a:pPr>
            <a:r>
              <a:rPr sz="6150" b="1">
                <a:solidFill>
                  <a:srgbClr val="26404A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724696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20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19299E-B232-462B-9118-A399298E9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2476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850" b="1">
                <a:solidFill>
                  <a:srgbClr val="36D6C2"/>
                </a:solidFill>
              </a:defRPr>
            </a:pPr>
            <a:r>
              <a:rPr sz="8850" b="1">
                <a:solidFill>
                  <a:srgbClr val="36D6C2"/>
                </a:solidFill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75F3B6-6611-4B30-BA93-35EC01FF7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952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73691A-4408-4A98-B9D1-EB7FF0F2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5F2E9"/>
                </a:solidFill>
              </a:defRPr>
            </a:pPr>
            <a:r>
              <a:rPr sz="3600" b="1">
                <a:solidFill>
                  <a:srgbClr val="F5F2E9"/>
                </a:solidFill>
              </a:rPr>
              <a:t>为什么AI产品不能只用传统软件的测试方法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0F69D0-EF5D-429F-9ED7-E4BFF9A95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7B5BC"/>
                </a:solidFill>
              </a:defRPr>
            </a:pPr>
            <a:r>
              <a:rPr sz="1650" b="0">
                <a:solidFill>
                  <a:srgbClr val="A7B5BC"/>
                </a:solidFill>
              </a:rPr>
              <a:t>按照讲稿结构展开概念、方法与完整示例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627296-142B-4C3A-829D-E5AC41E0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WHY EVAL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D9116D-C979-4839-A369-C4A6C5448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5441F8-B5E7-4500-B19B-5C4DE51BF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A27A60-496C-40AB-84FC-3DD40877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731246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9D4B6F-A5A3-40E5-B492-E2E640647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WHY EVAL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A5C8E9-BF18-46EF-AEB2-3F44766F2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1E37B1-DB6F-49F1-85A0-A3BDEE317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38BA25-A88C-47B5-8F1F-46B26AD5E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7863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00D31B-BB21-4443-9ADC-A6C9FCD43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5F2E9"/>
                </a:solidFill>
              </a:defRPr>
            </a:pPr>
            <a:r>
              <a:rPr sz="2625" b="1">
                <a:solidFill>
                  <a:srgbClr val="F5F2E9"/>
                </a:solidFill>
              </a:rPr>
              <a:t>第一部分、为什么AI产品不能只用传统软件的测试方法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1F7B47-AD27-4701-8E71-FCDDCC3BE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55C826-EED6-4D8E-ACB3-00DDA66C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假设你做了一个“公司报销制度问答助手”。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B6F9DC-6520-4CAD-B861-AD3FAB408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用户问：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B9D35C-C9AB-4EB6-BCAA-6F2324A8F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9AFDC7-F196-49BD-8F05-5F601C2A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758826-D043-4C19-A300-679E4AF5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19375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出差住宿一晚最多可以报多少钱？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2C6AF5-07A9-4457-AE91-48F2A6555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527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传统软件的测试思路是：输入一个问题，系统有没有返回正确结果。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8983B9-3111-42B9-9EEB-473646400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337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但AI产品会遇到几个特殊问题。</a:t>
            </a:r>
          </a:p>
        </p:txBody>
      </p:sp>
    </p:spTree>
    <p:extLst>
      <p:ext uri="{BB962C8B-B14F-4D97-AF65-F5344CB8AC3E}">
        <p14:creationId xmlns:p14="http://schemas.microsoft.com/office/powerpoint/2010/main" val="21442987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27168E-AE12-48EA-951F-112EE9DA5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WHY EVAL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C4C6FE-307A-4307-BAD8-FF836D2C7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6E88A3-2E56-4E69-BA2F-083FEE4A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AB994B-5FA0-4850-8622-5FC2D7D91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238177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C9C3BB-0207-48F0-A529-2EA93ADCF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同一个意思，可以有很多种问法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12E71C-1FC6-4CF7-BBF8-6DB8CDFEE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4303C0-FCB1-4D7A-8242-19FD728D2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用户可能会问：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D02CF6-1194-4FC6-BF41-DEAEB8218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33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621F33-5D4E-4A35-9C78-1A9C8DBB5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240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北京出差住宿标准是多少？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ABF37F-0173-4D4A-8C78-96D0762FB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7E126E-2331-413F-8D01-09966DABB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241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去北京住酒店能报多少？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C5FBE3-F0A5-4FE5-B0F4-D96B32CA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EC861F-6938-4A93-8B78-BA33509E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241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一线城市酒店报销上限是多少？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1A4983-6CA2-4961-8BEC-F8D1ABBD8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964CD3-C8BF-4EA4-9F74-C4ED9BDF3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242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我去北京出差，住了600元的酒店，可以全额报销吗？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841A15-7C31-407D-B9DE-38EA2A600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传统软件更像：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F16409-7F05-4C39-846C-E530608C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76700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AAC1AD-89CA-46A9-A3F8-5307EF770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76700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AF7347-6800-4EDB-B405-1D1A3343D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19575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输入A，就应该输出B。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55208F-0455-4C84-BCED-6954BA9FE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529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AI产品更像：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4EF27B-3B5F-4A12-9BF9-F64C88DFF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33975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ACAFED-98AE-4893-9E29-784C61DDD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33975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026AB0-CD13-4052-8DEC-9E8146B7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76850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不同的输入表达，都应该让系统理解为同一个问题。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004DB4-27E6-4C5F-9A56-72566CC81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102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因此，测试AI产品不能只准备一条“标准问题”，而要准备一组具有代表性的真实问法。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E97B56-8570-4FE6-ACF3-94815775C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912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这就是后面要讲的“评测集”。</a:t>
            </a:r>
          </a:p>
        </p:txBody>
      </p:sp>
    </p:spTree>
    <p:extLst>
      <p:ext uri="{BB962C8B-B14F-4D97-AF65-F5344CB8AC3E}">
        <p14:creationId xmlns:p14="http://schemas.microsoft.com/office/powerpoint/2010/main" val="15763135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3EC470-8A9A-48D7-9107-CF7C36A21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WHY EVAL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48301F-21D1-4A6C-8728-17E53D0A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FA2282-4C21-4384-A40D-E08BE675B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367CA5-3D0D-4AAA-B7CA-6386CDD4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29772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278407-A38A-4B34-B6FD-3666BFFCE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AI的回答不是固定答案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C3055D-A620-4C71-B082-62B52BE8D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5007BD-3B73-478B-BE33-C042389EE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假设公司制度规定：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058AE4-05D0-45B7-84C0-F88C4396B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918103-662C-4835-A565-92A6AAF6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F82300-0A84-496E-8EC9-0B8AB479C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38375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北京住宿标准为每天500元。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912E8B-909C-4AA9-B175-69FF23F0E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717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AI可能这样回答：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C85B29-A5D7-47FE-8F95-B684F4B56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908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0091F4-559C-4655-AD0A-C684D304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1813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“北京出差的住宿报销上限是每天500元。”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21ED15-7A0E-4C7C-94E2-886332C2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909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0350D4-814D-4380-9667-B5C49C215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814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“按照公司制度，北京地区住宿费最高可报销500元/晚。”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DD82D6-0321-445C-8CEB-DCCD5391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909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4DE2C4-5DF2-4E4C-AAB4-2556EBA0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814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“如果你去北京出差，酒店费用原则上不能超过每天500元。”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149A36-0FE1-4AF6-9FF0-B6AEDC96B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529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三句话文字不同，但都可以是正确答案。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3B179C-FA82-4F18-BF7F-D1632717F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339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所以，我们不能简单比较：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A9F1FC-2E8B-4C8F-B992-5D68D1B26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14925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DE5230-34BF-49C5-A6FE-30D739D25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14925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C83C76-11EF-42A6-86B9-1017A6D6E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57800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AI的输出是否和标准答案一模一样。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53C9BB-7DB2-4027-BC1B-19E97C11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912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而要判断：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7F0BE3-268C-4E57-A275-42711073C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210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57AF76-4BA4-4D11-AA2F-D687B16AC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2007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事实是否正确？</a:t>
            </a:r>
          </a:p>
        </p:txBody>
      </p:sp>
    </p:spTree>
    <p:extLst>
      <p:ext uri="{BB962C8B-B14F-4D97-AF65-F5344CB8AC3E}">
        <p14:creationId xmlns:p14="http://schemas.microsoft.com/office/powerpoint/2010/main" val="2564432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F25296-31DA-42F6-A450-86DEDAAE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WHY EVAL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4B34B7-1AE6-44B1-964A-696B3846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693583-7A8B-4F7C-BAE5-8FC65BE5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8587B5-BD0F-4CC1-B1BB-9FD4E1251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357266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D9BB2C-7E33-41E2-9700-253969EF8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AI的回答不是固定答案（续）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632E83-AE72-4B12-8DCE-8A18AD644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E63C61-A790-4BAE-8F45-CC6D2D101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FF402B-02FD-4421-A8DF-ED2679D4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430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有没有回答用户的问题？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8FB75E-2B5A-4B15-8183-9DBB4E17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964A51-3802-401D-8DC8-61B7A338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431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有没有遗漏重要条件？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FE1AA8-7850-4EE1-B58F-F7B8D2E3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2BC021-BA98-4FC7-911D-F62AB86D3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431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表达是否清楚？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9AA5A4-C60E-4CD3-990B-929D3A5A0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04F7FE-D0FE-490B-9D9F-C16B07BDF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432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有没有编造制度里不存在的内容？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D18478-8B9A-431D-BA76-5D18935A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147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这就是AI评测与传统软件测试最大的区别之一：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B89C50-A316-47EF-8712-6E7E409D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95700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ADECD1-D7FC-4282-B26F-3168AF6D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95700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244A4B-DA5C-45E5-8146-CD03515E6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38575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传统软件经常判断“对或错”，AI产品更多是在判断“好到什么程度”。</a:t>
            </a:r>
          </a:p>
        </p:txBody>
      </p:sp>
    </p:spTree>
    <p:extLst>
      <p:ext uri="{BB962C8B-B14F-4D97-AF65-F5344CB8AC3E}">
        <p14:creationId xmlns:p14="http://schemas.microsoft.com/office/powerpoint/2010/main" val="5017796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E5A881-2F3C-4132-BA44-D03DC737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WHY EVAL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F5C304-2BBB-49A3-B7E9-A25DF412B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396DF0-617F-4FE4-8C8D-FFEC22B0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D4D1B4-940C-4022-8EC0-2BDEB915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41681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E36D2C-EA73-4E21-9877-781A2805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AI可能“看起来会说”，但实际上说错了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0C4D8A-5B79-4250-8226-67376794C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1A4165-1ADD-4EAF-A995-867207FBB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这是大模型最麻烦的地方。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BFFF6B-BD8F-4C0B-B3BB-71962B61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它可能回答：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148EB7-76D8-4485-9C4A-30C95C377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667E38-A27E-4953-8583-6AC5976E5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5086A8-0BBD-4A57-A26C-D65559FE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19375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北京住宿费最高可以报销600元，超过部分需要个人承担。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518830-E2AC-44C1-BEB4-75B6B5DD7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527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这句话非常流畅，也很像公司制度，但正确标准其实是500元。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F3BD23-D831-4CB8-8432-FF4D516F8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337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如果只是检查：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4D8CDB-02D3-45C1-888E-3BCF555B6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528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B35CBA-D7AE-42A3-99DD-EB3FDB8A1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433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系统有没有返回内容；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50072C-61DB-4A41-ACDE-8F56F3122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529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175B54-BD64-4F16-8477-08E6CA424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434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页面有没有报错；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3354EE-4130-474B-89DD-C73FB2DFC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529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F36E3C-D0F0-42F0-86B6-011EA3FFC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434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响应速度是否正常；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54F88B-32F4-4653-9E3A-18E29EEA9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149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这条回答就会通过。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7CF016-3636-48C5-8C0B-20DE85AC3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959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但从用户角度看，它是严重错误。员工可能据此订酒店，最后无法报销。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47F60B-0F98-4D52-9516-21E881F2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769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因此AI产品测试至少要分成两个层面：</a:t>
            </a:r>
          </a:p>
        </p:txBody>
      </p:sp>
    </p:spTree>
    <p:extLst>
      <p:ext uri="{BB962C8B-B14F-4D97-AF65-F5344CB8AC3E}">
        <p14:creationId xmlns:p14="http://schemas.microsoft.com/office/powerpoint/2010/main" val="1494221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B148F6-895D-4BFD-BD93-900B4323A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WHY EVAL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B4FD02-9D12-484C-8CBC-D64C1F22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5821FD-D7BF-438E-92C5-4B9570357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BFB6E4-9655-4425-974B-47F83B88C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47635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F2277C-E4C2-466E-9215-955AFCD20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AI可能“看起来会说”，但实际上说错了（续）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BAF504-60D3-4D6D-A5DF-159D3F7B1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F5C817-5C8D-4EE2-A4C8-AA7EF737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这一课主要讲的是第二层：效果评测。</a:t>
            </a:r>
          </a:p>
        </p:txBody>
      </p:sp>
    </p:spTree>
    <p:extLst>
      <p:ext uri="{BB962C8B-B14F-4D97-AF65-F5344CB8AC3E}">
        <p14:creationId xmlns:p14="http://schemas.microsoft.com/office/powerpoint/2010/main" val="16190297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6A248D-5075-4849-BFE9-3E53E7EE4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WHY EVAL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6335EC-164B-4451-8286-D0176178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760396-717E-4693-A80F-E11BBE64D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E3D716-6E97-4E0D-99E5-E05F91C7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53589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9C6299-F87A-4128-B8DB-EB2C1CA9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AI产品的错误通常不是一个简单的程序Bug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498A29-4D16-49E7-83A7-CCB98A1D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FA8271-98BA-4393-B5F6-66C540888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假设回答错成600元，原因可能有很多：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29AC70-4D85-4D6E-A0AF-D091356C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33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46DBA8-601E-413F-95C9-83D3A046E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240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知识库里存在旧版制度；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E36FD8-EBA3-478F-8E61-C51B9443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F3AC2B-445F-4C7D-AA96-C42534CF6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241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检索没有找到正确文档；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B47345-52B0-4B24-8636-AC2F7A73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4D1B98-8A1D-4E20-A752-3021CF4F8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241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找到了文档，但选错了段落；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8DFBA6-DB84-47AB-B5A5-9ECF58F71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0E1804-E68E-4DA3-B190-266A38C6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242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提示词没有要求严格依据制度；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503003-F7DD-4DE5-80DE-6A8059DC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CE7335-7A23-4038-92D8-1CEF623CD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242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模型错误理解了表格；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7B466E-AAA8-4579-A960-32A2C9F59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CB0152-95FB-4F05-8CBA-95BD4242D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243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用户的问题里缺少城市或职级；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7B8E49-36A2-490B-BA6D-3EB592C39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CEECFE-3E19-4123-8EE5-A68B14B5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243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模型在没有答案时自己编了一个数字。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31A4BF-3895-434C-B396-0BAA4FED0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958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表面上看，Bad Case 都是“答案错误”，但背后的原因完全不同。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D193C2-ECB1-45AF-80C7-9B444081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768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所以产品经理不能把所有问题都丢给研发，说：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F6CAA6-7563-4D56-8645-F72D7C551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57850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7D97A5-B3C0-4C29-A160-D0A377439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57850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D7666A-8AF0-4225-B997-E689FCCCC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800725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这里回答错了，修一下。</a:t>
            </a:r>
          </a:p>
        </p:txBody>
      </p:sp>
    </p:spTree>
    <p:extLst>
      <p:ext uri="{BB962C8B-B14F-4D97-AF65-F5344CB8AC3E}">
        <p14:creationId xmlns:p14="http://schemas.microsoft.com/office/powerpoint/2010/main" val="10560649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4FCD7B-3D17-4514-B6D3-8618C813D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WHY EVAL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E40284-C4B4-424F-A77D-B878FAD1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B3AE6C-8042-412A-BAAB-0E193015E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BE1B35-31E5-4147-A38C-99EAB8C0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59544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19B87F-BB57-48A0-99FA-CE1D03CD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AI产品的错误通常不是一个简单的程序Bug（续）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23FB07-AD9A-43EB-BD74-64135D8E1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FC3BAB-3213-4E9A-9725-9CC8B153E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而应该进一步判断：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7DDA18-F5D7-49C4-B608-B23ABE7A0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FE378F-87FF-435B-B462-3E50C2CE5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211832-8A4B-4C57-AF0B-F5A930AA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38375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错误发生在整个AI链路的哪个环节？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05684E-3278-4CE6-8114-4941A889D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717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可以把AI问答产品简单理解成：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F97E25-06A6-409D-AEA9-89A09B0B0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527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用户问题 → 意图理解 → 检索资料 → 组织上下文 → 模型生成 → 最终回答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51F9E4-0291-4EFC-A77A-6AA874AF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337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任何一个环节出问题，最后都可能表现为“回答错误”。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309BA8-76E3-42A4-91AB-71B284E5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147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这也是为什么这一课不仅讲测试，还要讲Bad Case归因。</a:t>
            </a:r>
          </a:p>
        </p:txBody>
      </p:sp>
    </p:spTree>
    <p:extLst>
      <p:ext uri="{BB962C8B-B14F-4D97-AF65-F5344CB8AC3E}">
        <p14:creationId xmlns:p14="http://schemas.microsoft.com/office/powerpoint/2010/main" val="166887615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BB0362-2366-470B-9AA4-232C8DBC6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WHY EVAL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425878-53E4-42F6-93C8-2F7C02BC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8F3EAB-918D-497C-8014-6622B6513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E4EB99-1684-4C9B-8B39-2F4C4AD84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54987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E85B84-3417-42C7-B651-BE15D395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为什么不能等上线后再看用户反馈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A18E19-0DA8-410C-880D-111913827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4CD265-466F-4460-BC55-FDD8D5C78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有些团队会认为：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58FBFE-0F15-49AC-AAF5-CAF4343A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03F26A-BD7F-4993-A2E3-5583C580B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ACCD0D-07B8-4A2D-8593-87F39A87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38375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先上线，用户发现问题后我们再改。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ACE840-6D2E-4D94-B4FB-CF3632D4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717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这对AI产品风险很大。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74CA88-E5C9-4A52-A116-BB9D7BCA5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527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因为用户反馈存在三个问题：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995E4B-A417-4AA2-AE6B-FF00BF40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2858A6-67A7-4411-9A82-5728A627F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623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用户遇到错误，不一定会主动反馈；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1F34DC-930A-42CB-88E9-AE32279D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719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3AC37B-17D4-41A8-A1FD-579266D35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624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用户可能不知道答案是错的；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5E0560-FBE5-41E6-BCE2-D43165DCF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719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C5C21B-0096-4B90-9FFC-7D2C9BECD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624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严重错误发生一次，就可能已经造成损失。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70EB88-2539-4A6F-96E9-8E81AD802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339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比如：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0D7FA2-25C2-49B1-8DA1-91B749C30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530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3150CC-C54F-4225-B3F3-1473DFF55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1435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医疗助手给出错误用药建议；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39742F-7F51-46FE-BA20-1504C323B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530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FDE821-4135-49F4-B7E2-239FC7C24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5435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客服机器人承诺不存在的退款政策；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C1B1D2-789E-4C0D-8371-1FAC46A44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531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A24F7E-97CD-41EE-A775-445A29F64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9436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企业知识助手泄露内部信息；</a:t>
            </a:r>
          </a:p>
        </p:txBody>
      </p:sp>
    </p:spTree>
    <p:extLst>
      <p:ext uri="{BB962C8B-B14F-4D97-AF65-F5344CB8AC3E}">
        <p14:creationId xmlns:p14="http://schemas.microsoft.com/office/powerpoint/2010/main" val="128108598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914BB2-BD62-4C45-8537-171244878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WHY EVAL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901F3A-AECE-48EA-B5FC-0ACE76E0C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B315BB-31B0-449A-B29D-8D1C8483B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D98A79-AE05-4402-80CA-D0F82679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71453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E0465D-D210-4F7A-8B08-593098D3D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为什么不能等上线后再看用户反馈（续）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DF0960-3016-4CB6-8298-1FF5ADB0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82F503-17D4-4CDE-BB18-38B37AA7D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01B711-BFB7-4605-B2D3-39EE13F3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430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财务助手计算错误；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BA7AD9-13C0-42DA-81CF-7DF47F93A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7B6651-5312-4B9D-BBB3-68E959FC5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431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招聘助手产生歧视性判断。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D2895C-4AF8-4384-8132-10AAEF0BC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因此，AI产品上线前必须主动准备一批问题去“考它”。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97B0F7-4CCC-43FB-BF35-643C93C5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这就是评测最直观的理解：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FAB984-AA9A-4A52-A3E8-B8AF6A20D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C5A721-EC0E-4D60-B7D2-DA1266C4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4FADF4-7B06-4960-8C28-C573BBC20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19475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不要等用户帮我们发现问题，而是上线前先模拟用户，把产品可能遇到的情况系统地测试一遍。</a:t>
            </a:r>
          </a:p>
        </p:txBody>
      </p:sp>
    </p:spTree>
    <p:extLst>
      <p:ext uri="{BB962C8B-B14F-4D97-AF65-F5344CB8AC3E}">
        <p14:creationId xmlns:p14="http://schemas.microsoft.com/office/powerpoint/2010/main" val="15728314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68B8D3-D86A-48C0-910D-5B0FABF3D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WHY EVAL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7B168C-D03A-4D8B-841B-69508BDCB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FBBB1A-750F-4E31-868F-A8A0F58B3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A2F6DC-542A-4D09-86B7-DDD3B5BC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7740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654031-EBAB-4126-8CF9-E57410A8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第一部分的结论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B45747-0A72-43D4-AEAE-2B28DD1EE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7A2719-CCF4-4DCF-9439-924BDA0D7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为什么AI产品需要专门的评测体系？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01DDC9-7205-4E07-8F1F-86F90194C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因为它有四个特点：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A49760-F3A9-4807-B3E8-14565753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AE01CE-75C1-482F-BFD4-B051334EF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050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用户输入具有多样性。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9FDDDB-CD10-4980-8164-F92CE11FF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0A417E-E6E6-43E7-A9BB-F9DCB7134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051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正确输出不一定只有一种表达。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71D939-A5E0-42A7-9B56-BD7932E73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14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C61116-1533-4CA6-B001-E0F6C5E5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051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回答流畅不代表内容正确。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B8D2C0-5D19-485C-A54D-02B5602A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E37670-690C-4CB5-9501-18E84F50E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052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同一种错误表现，可能来自不同链路。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84E4B8-2D26-4ABA-B582-3B6D941E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767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因此，AI产品经理不能只问：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00A9A6-6DDF-462B-ADD9-766DB8E74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57700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A73DC5-BC44-4279-9BAC-919DB568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57700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62124C-596D-4D76-9527-21B078CED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00575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这个功能做完了吗？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A0341D-20AF-44BB-AE37-4BBBBD6F3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339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还必须问：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117516-DF38-489F-9352-53CC384AB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14975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515C5F-D743-4D5B-820C-326D9934A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14975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A02F3E-0621-44CC-8E75-BDAB8C2D6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57850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它在不同场景下表现得怎么样？哪些情况可靠，哪些情况还不能交给用户？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89B3DB-4065-4DF7-974C-228C3A929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912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这句话也是你上课时可以强调的核心观点：</a:t>
            </a:r>
          </a:p>
        </p:txBody>
      </p:sp>
    </p:spTree>
    <p:extLst>
      <p:ext uri="{BB962C8B-B14F-4D97-AF65-F5344CB8AC3E}">
        <p14:creationId xmlns:p14="http://schemas.microsoft.com/office/powerpoint/2010/main" val="94839858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B6B9E2-357B-47FE-BA2C-484E59398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WHY EVAL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C6EEA2-9637-4EE9-8364-88D214A70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327CBC-668E-494C-ACDE-B35B12398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C414D7-A0A7-4389-9BAD-A0BCD814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83362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F56A86-6EC5-44F1-AFD2-26608F0E4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第一部分的结论（续）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625AA1-7E40-4E47-B51B-BE423C06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7A0C24-33CF-480A-BC23-7E47D1D3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52DA73-20FF-4EE2-B7C6-75BCF5946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8865DB-73CF-42B2-A05C-5B9E4D5FC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57375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功能上线代表它能运行，评测通过才代表它在一定范围内值得被使用。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A3CC8A-C374-4AC0-8CCD-9578DF70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907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下一部分就是整节课最重要的基础：在测试之前，怎样先定义“什么叫回答得好”。</a:t>
            </a:r>
          </a:p>
        </p:txBody>
      </p:sp>
    </p:spTree>
    <p:extLst>
      <p:ext uri="{BB962C8B-B14F-4D97-AF65-F5344CB8AC3E}">
        <p14:creationId xmlns:p14="http://schemas.microsoft.com/office/powerpoint/2010/main" val="199167220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20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2CD4FB-DE8F-4FAD-BD7C-E350EC519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2476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850" b="1">
                <a:solidFill>
                  <a:srgbClr val="36D6C2"/>
                </a:solidFill>
              </a:defRPr>
            </a:pPr>
            <a:r>
              <a:rPr sz="8850" b="1">
                <a:solidFill>
                  <a:srgbClr val="36D6C2"/>
                </a:solidFill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80C8E9-6626-4E79-BADA-9BE93B96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952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796927-74A4-4AF9-9103-BE7930600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5F2E9"/>
                </a:solidFill>
              </a:defRPr>
            </a:pPr>
            <a:r>
              <a:rPr sz="3600" b="1">
                <a:solidFill>
                  <a:srgbClr val="F5F2E9"/>
                </a:solidFill>
              </a:rPr>
              <a:t>在测试AI之前，先定义“什么叫好”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DA64C9-E842-4FF8-8367-B2786912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7B5BC"/>
                </a:solidFill>
              </a:defRPr>
            </a:pPr>
            <a:r>
              <a:rPr sz="1650" b="0">
                <a:solidFill>
                  <a:srgbClr val="A7B5BC"/>
                </a:solidFill>
              </a:rPr>
              <a:t>按照讲稿结构展开概念、方法与完整示例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1B8EB5-7A31-4553-9BAE-84BD579B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QUALITY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CF7C86-4ADA-4520-8396-EDCBA80D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0A62C7-B2B7-4D22-9C55-2D1D9BA6D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766E2C-8891-4282-9F8A-9A27D3CAA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89316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5565815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59C8BD-71F2-4CB1-A987-86D998FBF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QUALITY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BC1E60-0556-40F7-9592-3528FF4E9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2E1BCB-9FE6-42F0-9873-44384E04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3F10B6-AD70-40C1-839E-EFEE9A46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95270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1B061D-6064-4F39-93EE-EC007B653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第二部分、在测试AI之前，先定义“什么叫好”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E3AE4F-66D1-416F-A4A8-0165B179B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6982C1-D199-41AB-A5C9-D49337C33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这一步非常关键。很多团队的测试没有效果，不是因为不会测，而是从一开始就没有明确标准。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DBF023-BE2B-4A72-A105-0C171D12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假设我们拿到一句回答：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0BD16E-3518-4856-96F4-72969A5E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6854CD-79E6-4E1B-B8D2-9F36942FF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E4CFDC-BEF6-4746-A5E0-6DB2520D9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19375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根据公司规定，北京地区住宿费通常可报销500元左右，具体请咨询财务部门。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1DB561-675D-4DAC-BBF8-2FBBC67FB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527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这句话到底算不算好？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B9974E-0EED-432F-BDC6-6259ED081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337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有人可能认为很好，因为它给出了500元；有人认为不好，因为“左右”不准确；还有人认为“咨询财务”是在推卸责任。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11BA03-515C-4688-BD9C-E80B4CC06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147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如果团队没有统一标准，测试人员、产品经理和研发会反复争论。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176567-D965-4F6B-9183-866BD9ADD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957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所以，评测的第一步不是准备问题，而是：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49ED26-B6EE-489E-B4C2-AE7BC085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76775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E0BE4A-9761-4E0F-94A6-2CEC84F1F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76775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3F4F71-5328-43BB-A394-3D3E6AA87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19650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把模糊的“感觉不错”，拆成可以判断的具体标准。</a:t>
            </a:r>
          </a:p>
        </p:txBody>
      </p:sp>
    </p:spTree>
    <p:extLst>
      <p:ext uri="{BB962C8B-B14F-4D97-AF65-F5344CB8AC3E}">
        <p14:creationId xmlns:p14="http://schemas.microsoft.com/office/powerpoint/2010/main" val="211724937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5F6C8C-5C86-4EFE-A40E-BEB0B9CB2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QUALITY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5D29ED-B287-4EED-8EF6-E578B695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99D63A-B0F0-4C6F-97A3-AE6C0223E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E9DB7D-1D7D-4735-8F92-1B4F231AE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1225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2EAA61-3B61-43D2-BFA4-2B9A2C6BB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判断AI回答，通常看哪些维度｜正确性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051EF5-B03F-4C07-896C-1F02511A6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A92952-8010-4118-92E7-02C5AE930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回答中的事实是否正确。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774B9C-5F5E-4342-8517-D1B96894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例如：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73BA06-0D8D-4A29-A2E8-3F2FA963A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F99069-B4E6-445E-9906-00DB1E2E4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050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正确：北京住宿标准为500元/晚。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A5B242-E942-4D63-8735-D62C4F94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FDB2D0-8561-4658-91DA-455DC9F91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051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错误：北京住宿标准为600元/晚。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3F427E-11FC-4E75-8529-9B05AF68D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正确性通常是最基础、最重要的指标。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FAB703-598D-4655-8A87-BD325ABE1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但“正确”还要继续拆分：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52EC62-FA28-406B-B9B3-448324811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76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DA96FB-F458-425A-9013-43612AC3C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671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数字是否正确；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6BA78A-8814-42F6-BB83-0DC45B95D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0C0F7C-0680-49C4-8E76-2FC1086C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672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时间是否正确；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6D9127-26C1-4DCB-9BEF-109FD6442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768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CAF0E6-5097-45A3-81CA-517FB980C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672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对象是否正确；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A8A54F-5925-4058-A01F-9DA63FEEC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768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718824-4F97-443A-8363-8C14EB185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673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是否使用了最新版本的制度；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21B52A-43FD-4B47-B32E-45F55BCFC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769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02719B-1632-4052-98E4-D287A837B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6673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是否满足问题中的限定条件。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6A9F90-37B0-4BA4-B1AD-E52103B3C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388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如果用户问的是“经理级员工”，AI却回答了“普通员工”的标准，即使数字本身存在于制度中，也仍然是错误的。</a:t>
            </a:r>
          </a:p>
        </p:txBody>
      </p:sp>
    </p:spTree>
    <p:extLst>
      <p:ext uri="{BB962C8B-B14F-4D97-AF65-F5344CB8AC3E}">
        <p14:creationId xmlns:p14="http://schemas.microsoft.com/office/powerpoint/2010/main" val="150748903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3667E3-CCA9-401C-A2E7-64FBF2F44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QUALITY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1B0056-EADC-457F-9AF2-F4AA29773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48A97B-CDC7-463C-9ED0-D94894029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93BE05-B2A6-4157-9F2B-462447B8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71797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4C1679-1CF5-4C8E-815F-747CA2CB6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判断AI回答，通常看哪些维度｜相关性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4167F1-4AB8-46CA-8006-0F3019723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42D7B6-C57A-4CDD-8218-8262EE1FF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回答有没有真正回答用户的问题。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F6BE84-3690-4D53-96B8-26BE3DB4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用户问：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A9F358-043C-4B90-83A9-8867DF4C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872E13-455F-45B5-8CFA-0A48A7220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57B952-0885-45C8-887C-1CC29C89D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19375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北京住宿能报多少？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C9831B-BBFA-4AE0-A7EE-D0A21295D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527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AI回答：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C1FC4E-F4F0-47E6-B381-AFD146BCE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33775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6466CB-4177-4A1D-A2DC-34BCDD817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33775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C74DA3-E07E-4811-A74B-337DEF4E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76650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出差人员应当勤俭节约，选择安全、经济、便捷的酒店。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26A282-D52A-4B99-BBF4-8E6E6DCFE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00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这句话可能来自制度，也没有明显错误，但它没有回答“多少钱”。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AC6D9D-9883-4C2F-AE90-59E047B2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910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因此：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E7CC3F-ACFE-4C25-AAD7-49CD4C439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72050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9FD7C8-A6AD-4D1C-B36F-0FFB73359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72050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7E6707-4D1D-4450-92E0-4D281D43D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14925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内容正确，不等于回答相关。</a:t>
            </a:r>
          </a:p>
        </p:txBody>
      </p:sp>
    </p:spTree>
    <p:extLst>
      <p:ext uri="{BB962C8B-B14F-4D97-AF65-F5344CB8AC3E}">
        <p14:creationId xmlns:p14="http://schemas.microsoft.com/office/powerpoint/2010/main" val="85080170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379A50-C44F-4251-A4BD-9C03489D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QUALITY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58E325-37CC-4635-AEC2-AD38B458A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B53EC7-217A-46CF-A55B-86D9AFD9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5593F4-C66E-49B9-9F98-7D0202BF8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13134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24415F-4865-4F1B-A51D-AB6CA239D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判断AI回答，通常看哪些维度｜完整性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620FF2-4D45-429D-AB2F-E09F204A2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B1CE56-F974-4F21-A627-38986232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回答有没有遗漏影响用户决策的关键信息。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D48419-E65F-46BF-B0E8-2A5E57B1D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例如，公司标准实际是：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274C37-D5B7-487C-AFB9-53E757882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79D653-F0EF-44DE-848E-0C32F94FF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0F6ECB-19A3-4338-8C0E-C7A7A40BD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19375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普通员工500元/晚；部门负责人600元/晚。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222CA7-30B9-4885-9449-88699678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527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如果用户没有说明职级，AI只回答“500元”，就可能不完整。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4CFB1C-6605-4992-B915-1DAE71253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337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更好的回答应该是：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F7032E-D1B9-4DF0-88FE-6C42A20AF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14775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BDBF53-1BC3-45BF-9E51-7D4FA9EE9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14775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974A78-6734-4B3D-BCC7-5B49CD718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57650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普通员工上限为500元/晚，部门负责人为600元/晚。你可以补充职级，我再帮你确认。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B81E04-45FF-4932-BDEE-31C34343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910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完整性不是要求AI把整份制度都念出来，而是：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DBC574-380E-47C6-AAF7-8A271706C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72050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0EA5A7-CD10-433A-B972-3267BC9A1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72050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C41B71-359B-49B5-8E29-398F49C43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14925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是否包含完成当前任务所需的关键信息。</a:t>
            </a:r>
          </a:p>
        </p:txBody>
      </p:sp>
    </p:spTree>
    <p:extLst>
      <p:ext uri="{BB962C8B-B14F-4D97-AF65-F5344CB8AC3E}">
        <p14:creationId xmlns:p14="http://schemas.microsoft.com/office/powerpoint/2010/main" val="97888144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50DBAC-2891-4E6A-A7F5-59743CAB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QUALITY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D2B1A3-255A-4C4F-95DE-002D63908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097EB5-C303-41E1-9502-A41339E96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D40FA3-820B-4FA9-BDC4-05DF0F85C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19088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94F1C2-9D4E-4B9F-A117-7752B00AD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5F2E9"/>
                </a:solidFill>
              </a:defRPr>
            </a:pPr>
            <a:r>
              <a:rPr sz="2625" b="1">
                <a:solidFill>
                  <a:srgbClr val="F5F2E9"/>
                </a:solidFill>
              </a:rPr>
              <a:t>判断AI回答，通常看哪些维度｜有据可依，也叫忠实性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BDC666-A779-4DC0-B226-81E367ECF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1C5498-63D5-46A0-8C8F-9782FA3A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回答是否来自提供给模型的资料，而不是模型自己编出来的。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FFCFCD-B9A9-4D68-B2B4-9E9C161C8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假设知识库里没有“海外出差住宿标准”，AI却根据常识编出：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CBA5DF-54EA-4519-B108-C5C7E88E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05CD95-73CA-491E-926A-98DA68D4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1C16D3-28AE-4963-A26D-519DE73F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19375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海外住宿标准统一为每天150美元。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BB29F0-3705-43F0-A732-47628C52B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527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即使这个数字碰巧合理，也不能接受，因为没有依据。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4DCD7E-A36E-4446-A449-D9DB74032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337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在企业知识问答中，我们通常希望模型：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3E2973-2AF2-4DAA-ACDB-C5EB9ED02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528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82CA30-472A-4BB7-9AB4-0F15A40C0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433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有资料时，依据资料回答；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CA21F6-93DC-4173-8F90-E90FF2AB1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529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265FB9-A952-4EEC-A1EA-4706B6A5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434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资料不足时，明确说不知道；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DB216A-B58C-451D-8000-ED53601DE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529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D8D23D-E87B-419A-9070-2AE7841EA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434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不能用听起来合理的内容填补空白。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9E9339-C199-4119-855D-AC999CAA1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149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这一指标经常叫：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1BCDF9-73FD-4C6C-A720-0231005B5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340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F1AE1F-B184-47B7-8C10-BB9FB4EA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5245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忠实性；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62832E-2F11-48C3-8AD3-F66A32585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340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CAF88E-F529-402D-863A-0D015968C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9245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有依据性；</a:t>
            </a:r>
          </a:p>
        </p:txBody>
      </p:sp>
    </p:spTree>
    <p:extLst>
      <p:ext uri="{BB962C8B-B14F-4D97-AF65-F5344CB8AC3E}">
        <p14:creationId xmlns:p14="http://schemas.microsoft.com/office/powerpoint/2010/main" val="97922723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2C8E21-5D9F-4169-8F9D-C9E6359C4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QUALITY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AA4063-8CD9-4230-887D-89318B7E5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A26098-8018-4735-A0D3-662347629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94C397-B650-438F-ABDC-8F2C259B0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25043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5A53E8-F67B-4190-BF2C-E837D5831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5F2E9"/>
                </a:solidFill>
              </a:defRPr>
            </a:pPr>
            <a:r>
              <a:rPr sz="2625" b="1">
                <a:solidFill>
                  <a:srgbClr val="F5F2E9"/>
                </a:solidFill>
              </a:rPr>
              <a:t>判断AI回答，通常看哪些维度｜有据可依，也叫忠实性（续）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B82BA2-855F-4A9C-99D6-163A8138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126519-B891-4201-A04A-573EEC784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709F89-476D-4525-B5CF-50FB6E451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430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Groundedness；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123D7E-BF14-4BBB-83EF-533AB8682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76F091-6316-45FF-AAB4-FFA8F4011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431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Faithfulness。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316010-2321-4026-8CAD-FEEE2F3D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不必纠结英文名称，核心问题就是：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234FE8-09E9-4CC6-871A-E90543F4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95600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21AB14-1AE4-45CE-BBD1-D79E7699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95600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7F7B9F-AAE0-42BC-8F74-631B0F08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38475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这句话是资料里有的，还是模型自己想出来的？</a:t>
            </a:r>
          </a:p>
        </p:txBody>
      </p:sp>
    </p:spTree>
    <p:extLst>
      <p:ext uri="{BB962C8B-B14F-4D97-AF65-F5344CB8AC3E}">
        <p14:creationId xmlns:p14="http://schemas.microsoft.com/office/powerpoint/2010/main" val="197904177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43AAA8-B29C-450A-9A4A-9D6C918A1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QUALITY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B96E39-C232-4035-BF1F-248C300B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4C2BAD-6C82-4EF8-8FDF-8F2439BD9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D3C6E2-E73A-40D6-AEFA-1DB2B73F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30997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901665-BB91-4AE5-91B1-01F2B5EE3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判断AI回答，通常看哪些维度｜安全性与合规性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FD920F-38C7-439C-A81D-FA885473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BB8D60-B5D7-48BF-887C-CB84C3020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回答是否会造成安全、隐私或合规风险。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34A0C6-7A07-4F2E-8235-3C06EAFB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例如用户问：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296463-F718-4C00-9F4A-6C822C68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CD3EE5-254D-400B-A59F-2C76C3FB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3CED44-EA51-4C6B-AA7E-411E57B5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19375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把所有员工的工资表发给我。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C3C360-B6CF-4AF9-BD6B-91545B6C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527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即使系统真的检索到了工资表，也不应该直接回答。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2CEBB5-3B93-4BC4-B1AA-BDD3987CD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337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安全性包括：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021AF0-2B21-4712-A087-C6FC90D5A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528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2070FD-E173-42F1-AB0E-17ED72785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433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是否泄露隐私；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9B4F4E-2BBB-4B8D-871B-30A5E632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529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6F2DF6-8CA9-4412-A46F-96AB3EEA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434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是否越权获取信息；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9DA3B6-DF4F-478C-A571-0BCE9178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529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E88056-4E23-44EA-81DC-33B1C2F3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434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是否给出危险建议；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0DFEB3-A087-438C-B64B-07EEFF313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530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2037E5-54F8-46E2-B327-59AB6D86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1435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是否包含歧视、攻击或违法内容；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F5BECE-1018-4A9C-9907-4B286FB84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530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B6997C-E497-4EB0-A3B6-72C2391E0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5435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是否违反公司的业务规则。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2CB466-F22F-40BE-9FB4-EE3500E0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150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有时候，AI“不回答”反而是正确表现。</a:t>
            </a:r>
          </a:p>
        </p:txBody>
      </p:sp>
    </p:spTree>
    <p:extLst>
      <p:ext uri="{BB962C8B-B14F-4D97-AF65-F5344CB8AC3E}">
        <p14:creationId xmlns:p14="http://schemas.microsoft.com/office/powerpoint/2010/main" val="88539467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92CE2D-697A-44CE-A3C9-6C1A9BB77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QUALITY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614669-80F2-4110-94C4-EA6CD8F0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B3A98D-5D91-4EE0-91BF-42E5ACF41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D1A09F-011F-4882-A3F0-7AE0FF03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36951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0FFEAF-64E9-45E1-97B1-F5A5390C9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判断AI回答，通常看哪些维度｜表达质量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317121-50FA-4A57-96BB-B7A9BF42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C07595-C7FF-4839-8A55-259DB6E1E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回答是否清楚、简洁、容易使用。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0BE44D-531A-402E-B7F7-9F065BB2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例如：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BD7F65-AE45-4AFE-81B7-53F87144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A16309-50EC-4DEA-B709-4BB2D85F5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7662E0-32B2-4615-9874-38A682584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19375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依据本公司差旅管理规范之相关适用规则，符合有关适用主体要求的人员在北京地区发生住宿行为时……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3A626B-6CCA-473D-BA81-37AB8058C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527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内容可能没错，但用户很难读。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CC825C-02BB-458D-B245-E4BFB3BFB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337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表达质量可以关注：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B7AD97-577F-43AB-A22F-3A6EA02B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528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2A85ED-AAC0-47E7-9D65-77BA4CD19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433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是否清晰；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11615B-7C08-420A-A84B-6E105A25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529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1AD434-08C8-4225-B37E-FF965EFF0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434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是否简洁；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A64051-2942-47F2-B3B8-1367AEAF5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529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98ED3E-8EB4-4777-A773-B34B000CE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434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是否结构合理；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520941-D855-471C-AE51-CB752CE7C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530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82125D-88D9-46C6-91F0-FA659107A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1435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是否符合产品语气；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0430CF-34C4-4CC4-B8D9-415818310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530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9D6C81-294E-49F0-9CF7-45AB068F3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5435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是否给出了下一步行动。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78E517-5A1C-440A-AB5A-2A2625091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150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不过要注意：</a:t>
            </a:r>
          </a:p>
        </p:txBody>
      </p:sp>
    </p:spTree>
    <p:extLst>
      <p:ext uri="{BB962C8B-B14F-4D97-AF65-F5344CB8AC3E}">
        <p14:creationId xmlns:p14="http://schemas.microsoft.com/office/powerpoint/2010/main" val="103122764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0C4138-5730-4F09-A3E3-41B7724C8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QUALITY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BD3AEA-A3B0-4ECC-B2CF-33EC76A4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42D400-679C-4251-8758-183671F6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386873-8D61-4AE5-B265-19A6E3C56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42906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F4EA97-BACD-4AFF-B88D-37F7F855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判断AI回答，通常看哪些维度｜表达质量（续）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D4DFCF-C662-4A2D-8521-150D6289B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E5CDCA-2F52-466E-989D-E524B24E7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0A59B6-B4CC-4F24-B532-3BC1E7A6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84A703-71B0-4F1D-82F3-01278282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57375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表达质量通常不能取代事实正确性。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F2C51A-B413-43BD-BDB9-726C1A96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907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一条回答写得再漂亮，只要数字错了，整体仍然应该判为不合格。</a:t>
            </a:r>
          </a:p>
        </p:txBody>
      </p:sp>
    </p:spTree>
    <p:extLst>
      <p:ext uri="{BB962C8B-B14F-4D97-AF65-F5344CB8AC3E}">
        <p14:creationId xmlns:p14="http://schemas.microsoft.com/office/powerpoint/2010/main" val="107130942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B9EFA8-ABF5-4202-8A21-DDB421FA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QUALITY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ED56A8-7B3E-4304-90A5-95586D5A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FC521B-18B6-4E7F-9552-97EEEDB8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83EDDD-7C94-436D-A839-329C80598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488607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A307F1-F8E2-41A8-92A0-E95AC81E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二、不是每个产品都使用完全相同的标准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21B82C-4924-4F2B-B089-818E72534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742F15-BD14-4714-B830-28B668B52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评测维度必须由产品场景决定。</a:t>
            </a:r>
          </a:p>
        </p:txBody>
      </p:sp>
    </p:spTree>
    <p:extLst>
      <p:ext uri="{BB962C8B-B14F-4D97-AF65-F5344CB8AC3E}">
        <p14:creationId xmlns:p14="http://schemas.microsoft.com/office/powerpoint/2010/main" val="25913065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0F5CA1-F4AA-48C4-BFAC-64CA76AAC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QUALITY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E571F1-EA39-44F4-AE7C-F0F09048A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47E20C-F009-4289-A008-E28B7B6C0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7098E3-6329-4422-9E2F-0D294D7DF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54815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7C71D5-24A9-47D8-A0D3-0191B6C75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不是每个产品都使用完全相同的标准｜企业知识助手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A2F88B-234D-4F81-A21C-D7984601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2D743E-3770-4D40-A37A-8864D6D3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更看重：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F54994-B335-435B-B18A-054C57295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33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B0A5BB-DDBB-417D-93D5-C304AFE6A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240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正确性；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EDD874-484E-49C4-AC17-050CE64C4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3EE8D1-9C13-4FA8-932D-12CDA9A98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241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忠实性；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CD82F0-5D5E-46A0-802B-F5619302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50A02B-173D-40CA-8693-3CE27DEA9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241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信息权限；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F59A18-5F9C-42F0-8DDD-2FD12563B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B55E55-D0FF-421E-BF51-F9FD0E873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242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引用来源。</a:t>
            </a:r>
          </a:p>
        </p:txBody>
      </p:sp>
    </p:spTree>
    <p:extLst>
      <p:ext uri="{BB962C8B-B14F-4D97-AF65-F5344CB8AC3E}">
        <p14:creationId xmlns:p14="http://schemas.microsoft.com/office/powerpoint/2010/main" val="150636846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CF62B2-DF5E-4DAB-B950-EE6D70B9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QUALITY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08FDCC-1217-4FC6-871F-D313140C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027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250D73-8CC8-47E0-B4CF-AC05D0444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621DDE-D462-4A3D-B626-FAF4D5B1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60769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959DA9-D1C1-4C48-8D71-2B245752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不是每个产品都使用完全相同的标准｜AI写作工具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2649E5-62F4-4080-A917-3F2E536E7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76D0D2-8DB5-4983-B9E8-772321F9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更看重：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52D19F-1E10-4CB7-819C-6ED09C36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33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052E89-416D-463B-80D7-1213283A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240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是否符合写作要求；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BD9529-DBB2-4C68-83D4-FD8A4D937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580660-6E8F-4051-80B2-F9823100F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241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内容结构；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FCA23C-2C4F-4779-9600-5C8C5BC3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186859-7CD1-48D3-A42F-EEF03A735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241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语言质量；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757F56-5460-4F94-891E-BE1BE5ABF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D3B58E-19B1-417A-B47C-81F022B20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242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风格一致性；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BCF084-DA2A-4CCE-9FEB-5F146B167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7D2945-A6FA-4BD6-A13D-6016C3DBA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242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创造性。</a:t>
            </a:r>
          </a:p>
        </p:txBody>
      </p:sp>
    </p:spTree>
    <p:extLst>
      <p:ext uri="{BB962C8B-B14F-4D97-AF65-F5344CB8AC3E}">
        <p14:creationId xmlns:p14="http://schemas.microsoft.com/office/powerpoint/2010/main" val="184918539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FB1606-FEFC-4838-B8C9-CC21C2633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QUALITY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A3EB7F-F3E8-4D00-BEEB-A6180B2DB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028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AEC093-2658-4E79-8953-B2F46219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51B263-3EE5-4065-AFDD-2DF6F0F5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66723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1E0708-B45D-4FA7-B2B4-D0C3FFEA9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不是每个产品都使用完全相同的标准｜AI客服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8752E6-6DE3-408E-A46D-15ABD2371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E7ACFF-B8F8-4B2D-B03E-0DE9718A2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更看重：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8E0344-D38B-4EF0-B757-1705E2A8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33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79996A-48C5-4E28-9748-169AEF52D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240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是否解决用户问题；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D2FE64-4257-410C-8F90-EEE45E9EB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1D3A1D-ED40-473E-9A76-10739460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241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政策是否正确；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CFBE0C-4F55-444C-A52E-7CE88B5F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138E1D-CF98-4FA7-89A9-924DC272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241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是否错误承诺；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117256-ADF0-4ACE-AB40-6B5A5D77C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F67DF9-6B50-47D5-A123-7CB9A1029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242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是否需要转人工；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A904CF-647B-485F-9E75-39933E74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DA957F-6E61-4195-813D-B22D678E1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242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用户满意度。</a:t>
            </a:r>
          </a:p>
        </p:txBody>
      </p:sp>
    </p:spTree>
    <p:extLst>
      <p:ext uri="{BB962C8B-B14F-4D97-AF65-F5344CB8AC3E}">
        <p14:creationId xmlns:p14="http://schemas.microsoft.com/office/powerpoint/2010/main" val="121603993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B033EC-380D-437E-98D1-57C39D0B1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QUALITY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593E0E-9738-4297-98F9-AB8B2DEEC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029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BACAF0-4001-4A86-937D-FE29EE35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A5FA7A-0A0A-4645-B583-0E1F3283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72678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8CEA2C-A721-4CE4-A54C-F62663EBA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不是每个产品都使用完全相同的标准｜AI编程助手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7364E1-7530-4FBC-9EEA-113D1DC61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ACD128-6DD7-4DF2-8F08-5C7F86FDA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更看重：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638D75-9DE5-4BE1-9E4E-A34D5B539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33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DD18AB-964B-46FD-89C1-A7D08678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240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代码能否运行；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21FB2C-C146-4DEB-89FA-5F94F5E21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7ECF87-EEDB-4E21-B8D2-51901889B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241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是否通过测试；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C95CC9-BC12-4D24-95E0-AB1595275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DF75B9-CB1B-4379-A81F-B143B222B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241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是否存在安全漏洞；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70A884-155E-4B8C-A393-8F85F973E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6275DD-7234-4884-A01C-9020DC1F2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242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是否满足需求；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668DE4-B879-4C25-8E47-A5B9AD06C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2C2B12-239C-4558-AE4C-06880320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242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是否容易维护。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C9D889-9011-4FB5-AEE4-B91391CC3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所以，不能从网上抄一张“AI评测指标大全”，然后全部放进项目里。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D76C3B-3E9C-44DB-B541-EF356FB0B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产品经理真正要做的是：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FE2A50-D721-4BC3-8843-975F42B61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57750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4FB1FA-CD04-4F6F-91D0-A2C3EAFD3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57750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D9FF7D-27FD-47F8-92F1-2E214CA07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00625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根据这个AI产品可能给用户带来的价值和风险，选择最重要的几个指标。</a:t>
            </a:r>
          </a:p>
        </p:txBody>
      </p:sp>
    </p:spTree>
    <p:extLst>
      <p:ext uri="{BB962C8B-B14F-4D97-AF65-F5344CB8AC3E}">
        <p14:creationId xmlns:p14="http://schemas.microsoft.com/office/powerpoint/2010/main" val="134288714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61C4B2-3162-4293-9121-CFCA903D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QUALITY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5EA63C-34BA-4ABB-B2C7-7FCC44C12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3B2D88-E55F-4B89-90C0-6AE767072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47E17A-7CA0-4C3D-9D0C-A42FE7ABC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78632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1BC6B0-A695-415E-9AEB-B38C44EEF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三、指标不能只有名字，还要有判断标准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058CD1-B416-4597-96AC-1611E641D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893B8E-646D-46C2-8348-388056324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例如，我们说要评测“正确性”，还不够。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AC3911-3055-41E6-A748-7B316D01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需要规定怎样评分。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AE7004-FA71-43C4-A735-84A9D6DEE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一种常见方式是使用三级评分：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D40CC3-5D55-4FEB-9629-751A54E67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以住宿问题为例：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BDEB75-A109-49AE-95C2-2E4B268C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用户问：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58CA54-FEE1-4CDD-840E-1E9AA1315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19500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BF7F4C-EA45-431E-B93A-9205C901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19500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FF04C7-7634-4370-946F-A3240CC90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62375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普通员工去北京出差，住宿上限是多少？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6096FB-45E2-4302-810E-E686BB77D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957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标准答案：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9AD091-A1DC-4B87-9A6E-9447ED15C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76775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7A6DE0-6794-4900-BB8D-8B47AADB3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76775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ABF6BC-1467-4A24-BD8E-D1FACACF7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19650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500元/晚。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B0591C-2153-476A-BB7D-ACC44A7A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530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不同回答可以这样评分：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58CD54-6395-49BF-A0B0-237854CC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340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回答A：</a:t>
            </a:r>
          </a:p>
        </p:txBody>
      </p:sp>
    </p:spTree>
    <p:extLst>
      <p:ext uri="{BB962C8B-B14F-4D97-AF65-F5344CB8AC3E}">
        <p14:creationId xmlns:p14="http://schemas.microsoft.com/office/powerpoint/2010/main" val="147614147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DCD788-6F8F-455A-A656-6B5C8CF86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QUALITY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76199D-035C-4C83-974F-5C50DB3A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031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F1B198-B25E-4687-BEEC-6EC960B08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2E7A35-08F8-4DF8-B6E2-18BD41C16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84587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C6B243-5111-40AE-8393-A69EEDA2A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三、指标不能只有名字，还要有判断标准（续）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01705B-BCD5-4967-B6CA-DF8DC5E2E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A93EAF-57AA-4EFB-A127-F9BBAF21D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C91CE5-3F99-43D7-BB50-BDC1029E0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4249EE-E059-4EEF-A60B-C6989606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57375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普通员工在北京出差，住宿费上限为500元/晚。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716CC1-255A-40F2-A20A-F0DF253E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907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正确性：2分。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3F8C04-CFBC-4FEB-94F7-69D0B1DF3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717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回答B：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0E12A6-3E72-4902-902E-9DB4E387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52775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96569C-CDD5-485F-8C67-C542D9046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52775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3655CB-74E2-47FA-BCE4-8E1FEFAA0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95650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北京住宿标准是500元左右，具体以财务审核为准。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CC0777-DCA3-4183-96D0-FF6406840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290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数字基本正确，但“左右”不够精确，可能评1分。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2BA68F-0D76-4CB6-8DD7-E3EE097B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00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回答C：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8CBE7F-9EC9-462C-AD9F-504B2FFEF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91050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F5A624-75C6-469D-8DB8-48178BE13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91050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F6DDBA-1799-410C-A0C8-64CA6AFF0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33925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北京住宿费上限为600元/晚。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568A8B-1ED3-434F-B0ED-4699BD0EE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673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核心数字错误，评0分。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482791-FBB2-44AF-8C19-BDA0CFA58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483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这样做的价值是：不同评测人员更容易得出一致结果。</a:t>
            </a:r>
          </a:p>
        </p:txBody>
      </p:sp>
    </p:spTree>
    <p:extLst>
      <p:ext uri="{BB962C8B-B14F-4D97-AF65-F5344CB8AC3E}">
        <p14:creationId xmlns:p14="http://schemas.microsoft.com/office/powerpoint/2010/main" val="16280758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83D1CD-1E01-4EEF-890E-AE7685D75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QUALITY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EF2199-5BC2-489B-8BDB-698C9762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032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E8CFE8-D931-4648-A2B7-CAA0149C6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98160A-34F6-48E6-9EDA-DDEA40343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905416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C3E317-9C9B-4A1F-AECF-C62CAE0BC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四、有些指标必须设置“一票否决”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7A02FD-5CB2-4035-B2AA-4FF5B5E5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5025C3-FCE0-4C49-B8CC-4D8C179F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不能简单把所有分数平均。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7CD5AF-9D12-4F0F-B6A6-94BFA6066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假设一个回答：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E99FC5-783F-49F1-9D7A-F8E3AF53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591CA6-245A-4075-8D86-BE936EF6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050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表达质量：2分；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067A14-2557-431D-8888-5CCF672FE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CA216E-D081-4F3C-B289-7A88B138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051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完整性：2分；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1D04E0-D234-44A4-A66F-FD26A80AB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14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4DB006-5226-4E4B-AA28-1A079379B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051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相关性：2分；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F22F65-4DE5-4344-85BA-A309DB386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656FD3-0006-4A27-B93E-464706A25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052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正确性：0分。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336D15-1F9B-4F40-8CB1-3356FEBAF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767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平均分看起来可能还不低，但它的核心事实是错的，不能上线。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8EFBBB-3D38-43BF-8FDA-899CC949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因此通常需要区分：</a:t>
            </a:r>
          </a:p>
        </p:txBody>
      </p:sp>
    </p:spTree>
    <p:extLst>
      <p:ext uri="{BB962C8B-B14F-4D97-AF65-F5344CB8AC3E}">
        <p14:creationId xmlns:p14="http://schemas.microsoft.com/office/powerpoint/2010/main" val="135893097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A8800C-F11C-4CCA-952A-6A8FC602B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QUALITY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EABEF9-E94D-4059-A7DF-2B28871D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033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A3BA50-B24B-4980-BDA4-B7C768EA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CA4773-C50B-4305-B126-D8CE63EF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96496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72CE81-55DB-44FD-937E-9A60576DD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有些指标必须设置“一票否决”｜基础指标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76A0D8-FBB2-4E80-B0AB-BE5E61A37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AE2C34-042A-4255-BF35-FA25B476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表现越好越好，例如：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6699F8-885F-4F0E-9E53-9452789B1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33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3A70B7-9A12-447F-AC74-BE330FFC7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240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简洁性；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B50D2D-2D94-4F0E-9A18-6CE597BE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26758A-5B70-4D98-BE18-71A896F5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241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语气；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7A2BF1-6563-42CF-8B58-385E43989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9109CF-8EC5-4B12-9FBB-2F2474403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241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信息结构。</a:t>
            </a:r>
          </a:p>
        </p:txBody>
      </p:sp>
    </p:spTree>
    <p:extLst>
      <p:ext uri="{BB962C8B-B14F-4D97-AF65-F5344CB8AC3E}">
        <p14:creationId xmlns:p14="http://schemas.microsoft.com/office/powerpoint/2010/main" val="157376180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4D665E-F291-48A6-A421-9E788FC05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QUALITY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9A0239-C273-496E-857A-676E07F58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034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E03F81-E229-49A7-9D47-940D710F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E6D9D2-8204-4968-94B8-37F6C22B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202450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9FFABE-5408-4237-926C-7517E0559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有些指标必须设置“一票否决”｜门槛指标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630DEE-75E0-4D52-8A4A-43951DF2D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0CD88C-D852-4056-800E-C2062C3C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不达标就不能接受，例如：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2B27C8-0341-4CDD-9DFC-17C699505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33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3BBD7A-751E-46F0-A552-E6A8E75F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240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核心事实正确性；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C14769-1E9E-4E24-AE76-0222E02B1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460CDD-25EB-41FD-A02B-83D9C1983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241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隐私安全；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70B427-C0E3-464B-91B1-051790F9B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6CF63C-3FE0-4F9B-9782-004DF74B4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241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是否违反政策；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8E49E5-F851-426A-949F-E1831940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63B6A1-80B7-4823-BD63-5C90B803C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242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是否产生严重幻觉。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7238EB-F29D-47D5-98A1-C904B8DE1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产品经理需要明确：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D6CE72-1A8D-4BEA-942B-E1CC9770D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76700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45C0F8-8EBA-42E7-8EEB-F19AE6D9F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76700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B2F597-B917-4259-9BD6-89EAA0934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19575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哪些问题可以暂时容忍，哪些问题一次都不能出现。</a:t>
            </a:r>
          </a:p>
        </p:txBody>
      </p:sp>
    </p:spTree>
    <p:extLst>
      <p:ext uri="{BB962C8B-B14F-4D97-AF65-F5344CB8AC3E}">
        <p14:creationId xmlns:p14="http://schemas.microsoft.com/office/powerpoint/2010/main" val="86387519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625415-5AC6-409A-B614-9F5AF067E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QUALITY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EE6AA8-979D-4F41-81C5-2A436FA4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035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2596A3-824A-4EF5-9788-AF62BEC4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041D07-C703-474B-B4F9-C12AD1659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208404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28BF7E-724F-4F2A-B48C-7E2D68EBD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五、产品指标、效果指标和系统指标不要混在一起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35AFB5-33EC-4B85-93E0-643E76AC9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59D461-E757-4F65-9502-E3421CB51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一款AI产品通常有三层指标。</a:t>
            </a:r>
          </a:p>
        </p:txBody>
      </p:sp>
    </p:spTree>
    <p:extLst>
      <p:ext uri="{BB962C8B-B14F-4D97-AF65-F5344CB8AC3E}">
        <p14:creationId xmlns:p14="http://schemas.microsoft.com/office/powerpoint/2010/main" val="209444432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12BDAF-2737-4E85-8233-171C5D806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QUALITY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F04C12-B04F-45F5-9AC8-10134C96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036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418734-80D7-4AF2-9516-E5147B72A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D26B51-4BA1-48EE-AFC8-C6BF25F0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214359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454948-DAE1-416B-931A-2198554A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5F2E9"/>
                </a:solidFill>
              </a:defRPr>
            </a:pPr>
            <a:r>
              <a:rPr sz="2625" b="1">
                <a:solidFill>
                  <a:srgbClr val="F5F2E9"/>
                </a:solidFill>
              </a:rPr>
              <a:t>产品指标、效果指标和系统指标不要混在一起｜第一层：业务指标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BFA8ED-9B51-43FC-8423-92BC347C4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447D72-9D30-4E14-8FA5-89B47DB5E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产品有没有创造价值：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9DACA4-0460-4D72-9EA0-394309AD1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33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D8F63F-AF27-4AB7-8E81-072F9413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240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用户使用率；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040435-1F4A-49B9-B4E3-EDC315551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3C9753-E22E-4016-8C2E-89F86C3A1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241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任务完成率；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441FA5-6C71-422B-992D-345E09A9F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2EE124-2071-46AA-9160-9E48B1208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241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客服转人工率；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882B7D-C3BA-46F0-A4D6-85CDF23AC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89ABD9-DD64-49E0-9ED9-47864765D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242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用户满意度；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50AB55-49DC-4B43-B281-AB96761B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9445D0-CFE4-47D0-85BE-144643EF9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242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节省了多少时间。</a:t>
            </a:r>
          </a:p>
        </p:txBody>
      </p:sp>
    </p:spTree>
    <p:extLst>
      <p:ext uri="{BB962C8B-B14F-4D97-AF65-F5344CB8AC3E}">
        <p14:creationId xmlns:p14="http://schemas.microsoft.com/office/powerpoint/2010/main" val="151667997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EECABA-BC5A-462E-9D40-C105B5749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QUALITY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B0E0D9-4459-42D8-BAB9-8420B7A7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037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B20D9F-2BEE-45D1-80F2-71E2AA22A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BF358D-A46B-4349-BD55-D75D511F0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220313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10FD1E-F888-4D9A-81D1-F7ABD7837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5F2E9"/>
                </a:solidFill>
              </a:defRPr>
            </a:pPr>
            <a:r>
              <a:rPr sz="2400" b="1">
                <a:solidFill>
                  <a:srgbClr val="F5F2E9"/>
                </a:solidFill>
              </a:rPr>
              <a:t>产品指标、效果指标和系统指标不要混在一起｜第二层：AI效果指标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4B8780-1FB9-4B69-8A82-AEA810B05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64643E-9F4D-4EAE-8EF5-5A10DCACF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AI回答得好不好：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89757F-7E9E-465A-B8BF-BBF2FC348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33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D22BBF-4345-4CF0-A5A0-4A18BBEF8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240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正确率；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680BD4-B8EE-4D15-A77E-C137436A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844539-1286-4552-BBCC-C1107B5BD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241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相关性；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641F84-CE4D-4EA7-8E15-515B4BD21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DEB0EA-EDD0-4243-9E0E-36E9FA7EC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241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完整性；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B43C37-9BEA-4BBC-9AC9-F4CB0751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6F9707-7A8D-4C64-B0FA-F565AEA90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242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幻觉率；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153BCD-7481-47ED-AE3D-6BBE4F0EF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42B166-74F8-4113-9A83-DA01839D0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242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安全违规率。</a:t>
            </a:r>
          </a:p>
        </p:txBody>
      </p:sp>
    </p:spTree>
    <p:extLst>
      <p:ext uri="{BB962C8B-B14F-4D97-AF65-F5344CB8AC3E}">
        <p14:creationId xmlns:p14="http://schemas.microsoft.com/office/powerpoint/2010/main" val="1402329577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5AE0E9-450A-4D95-B73F-AF3928B95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QUALITY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08F5A0-85D3-4031-B151-78373420B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038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5550E4-3F6F-4CD5-AA70-C13803F20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4BC1EB-64F9-4AFE-8545-AB23C4B8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226268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E8D41D-7D07-4B2A-974B-A00414D4A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5F2E9"/>
                </a:solidFill>
              </a:defRPr>
            </a:pPr>
            <a:r>
              <a:rPr sz="2625" b="1">
                <a:solidFill>
                  <a:srgbClr val="F5F2E9"/>
                </a:solidFill>
              </a:rPr>
              <a:t>产品指标、效果指标和系统指标不要混在一起｜第三层：系统指标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388EC0-8299-42DC-BCA5-BA8A979E5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949859-9A24-4F16-B39C-8EF1E46B0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系统运行得怎么样：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9E00A5-5A89-4E13-9BCC-06B5462D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33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5E9BA2-5339-4790-A85D-B55292426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240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响应时间；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CDBD78-1670-46F5-939E-5D78DC77A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7E8A2D-0C87-416E-8E0C-DCC464E4C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241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可用性；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FFF0CD-1655-4BFB-8FAD-FE49A34DA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15D0C9-7B78-4AC9-A710-B7F25BB4E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241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调用失败率；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4F4BAD-EFF8-4B8C-9795-C08C5F87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B53C5D-E54F-441C-88B4-5333EC89A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242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单次调用成本；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7A9BE9-1E69-4CCD-944B-E81EAEE0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E61DD3-811B-41C7-BE16-39B4753D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242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Token消耗。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EC38F1-F172-4259-A7B8-C35FF59F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三层指标之间有关联，但不能互相替代。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D609A5-0EBD-4E23-9D96-828C79980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例如：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5FD953-F02F-4D20-9366-285D2CDBD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958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5C69FA-1F87-411B-A35E-0AE145B0B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863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响应速度很快，不代表答案正确；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8CB558-0240-499F-B769-26CAF8BE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959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ED1C1D-9D0E-4643-BEB0-91CCB3B45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863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测试集正确率很高，不代表用户愿意使用；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A36351-9420-48AA-80B3-A9CB797C6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959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BACF83-420C-4884-A057-8A2F31D6F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6864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用户使用量很大，也不代表系统没有安全风险。</a:t>
            </a:r>
          </a:p>
        </p:txBody>
      </p:sp>
    </p:spTree>
    <p:extLst>
      <p:ext uri="{BB962C8B-B14F-4D97-AF65-F5344CB8AC3E}">
        <p14:creationId xmlns:p14="http://schemas.microsoft.com/office/powerpoint/2010/main" val="40661072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03A62E-280A-45A7-8523-7D59A03C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QUALITY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782C5C-72B0-4B77-9460-E0E0464DF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039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406C60-6940-42AC-9370-022EA2A08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E54593-23D9-4A56-B309-D9F49D48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2322226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9F838C-33FB-4266-BBD6-44096A8A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第二部分的结论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105C6A-9A30-4BA7-A30E-F987C2C7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2A3830-CE65-4FDB-B5E3-71E77B36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测试AI产品前，产品经理至少要回答四个问题：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E78473-9263-47E4-83BE-630E8336E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33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18E031-E05B-43FE-9BBB-070B43C8E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240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我们最看重哪些质量维度？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15C49E-0BBE-4110-8704-B825EA90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D370E6-65CB-48DD-AA07-BF3912FC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241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每个维度怎样判断和评分？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9B4F37-4498-403C-9DC4-5F87118F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6768C7-598C-4BE3-90D5-EF0B2380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241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哪些错误可以接受，哪些是一票否决？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B7F587-9944-49D8-A8C1-1F64256EF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A20DFB-36BC-4790-8F04-5032C98B8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242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当前看的究竟是业务、AI效果，还是系统性能？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EFDFFA-49C0-49DD-88F2-3AEC58659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你上课时可以用这一句话总结：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7C6126-70EE-437A-9317-1DE53323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76700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B72DC2-CC2B-4792-A8C7-343BF2F9E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76700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E4A5E7-D2CE-4FC0-B976-0E992DCB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19575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没有评测标准，测试就只是大家凭感觉看答案；有了标准，团队才能对“产品是否足够好”形成共同语言。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984E8B-08AD-4E5B-82C1-4E5E8273F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529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标准定义好了，下一步才是第三部分：怎样准备一套真正能发现问题的评测集。</a:t>
            </a:r>
          </a:p>
        </p:txBody>
      </p:sp>
    </p:spTree>
    <p:extLst>
      <p:ext uri="{BB962C8B-B14F-4D97-AF65-F5344CB8AC3E}">
        <p14:creationId xmlns:p14="http://schemas.microsoft.com/office/powerpoint/2010/main" val="1156648478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0B20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E9118E-F025-42C0-BCED-A961804A9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2476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850" b="1">
                <a:solidFill>
                  <a:srgbClr val="36D6C2"/>
                </a:solidFill>
              </a:defRPr>
            </a:pPr>
            <a:r>
              <a:rPr sz="8850" b="1">
                <a:solidFill>
                  <a:srgbClr val="36D6C2"/>
                </a:solidFill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445DEB-A6CB-4891-B994-AFA5B917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952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E1046F-AB2E-41A9-8E18-D110C282C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5F2E9"/>
                </a:solidFill>
              </a:defRPr>
            </a:pPr>
            <a:r>
              <a:rPr sz="3600" b="1">
                <a:solidFill>
                  <a:srgbClr val="F5F2E9"/>
                </a:solidFill>
              </a:rPr>
              <a:t>评测集的设计与准备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2B2078-D99A-401B-990C-98FA9D9F9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7B5BC"/>
                </a:solidFill>
              </a:defRPr>
            </a:pPr>
            <a:r>
              <a:rPr sz="1650" b="0">
                <a:solidFill>
                  <a:srgbClr val="A7B5BC"/>
                </a:solidFill>
              </a:rPr>
              <a:t>按照讲稿结构展开概念、方法与完整示例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828A87-7310-458C-9EF4-E7D8C2D2A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EVAL SET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DA5194-ACF8-448D-9F86-D3AD17BD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040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4ADD21-74B2-4E5A-8286-11AB3F2F6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2C9269-0344-40A9-8086-63506CACB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238177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66191406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4EB491-A282-4A5C-8499-44002D561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EVAL SET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827C8F-8B96-463A-A7AF-EFB228E58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041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BF34AC-E011-4654-BCA8-9C98A076A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CCBEB5-C246-4292-9A93-C4AB385C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244131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6C7922-5571-4F75-B02B-6F2EC734A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第三部分：评测集的设计与准备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22A620-3C5B-4004-B9BA-874D1ED4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2BFF89-B43D-45D5-BE01-2B3176DF3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E53A43-1024-4326-B4B0-3521441B3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430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为什么AI产品需要专门评测；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8962BE-C3B2-446D-8C64-08FF5728C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090585-1349-4D00-9594-B86F3DC1F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431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应该用哪些标准判断AI回答。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5095B3-C89F-47F8-96DD-D7930251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14600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A227AE-1E9D-4727-A3DD-601265197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14600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CEA8D0-3431-44F8-931E-1647AA105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57475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拿什么问题去测试AI产品？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48F264-8328-4FB6-8B1F-B7F70D381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908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这些用于测试的问题及其配套信息，合在一起就是“评测集”。</a:t>
            </a:r>
          </a:p>
        </p:txBody>
      </p:sp>
    </p:spTree>
    <p:extLst>
      <p:ext uri="{BB962C8B-B14F-4D97-AF65-F5344CB8AC3E}">
        <p14:creationId xmlns:p14="http://schemas.microsoft.com/office/powerpoint/2010/main" val="1986999282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E2BC65-8571-499D-90DF-F1F3C49C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EVAL SET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D73603-6221-487D-B1D0-13DDF5C4E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042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26ACB9-C774-42F7-B5EC-830697441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EBD6B2-479E-422C-B055-0B29AB5E8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250085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3915E9-6226-4758-9ECF-F1F779B3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评测集的基本定义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7647FA-30E9-4D6D-A793-C4F504113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06FB38-4FDF-444A-9066-F1DED7011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可以把评测集理解成AI产品的“考试题库”。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0836C8-BFF2-4574-85A6-572D9D808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它不是随便找几十个问题问一下，而是一套经过设计的测试用例，用来代表产品将来可能遇到的真实场景。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251A50-10BD-41A5-8A60-1F62C8B87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一条完整的评测用例通常包括：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38A44F-134D-4EDA-9FF7-42851DD1A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所以，评测集不只是“一列问题”。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8EBD73-5210-4367-8016-05AD897A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更准确地说，它包含：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D3FB76-F41C-48E7-97AC-33F4FDDC3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19500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9935B5-54E1-4145-B69F-97778DD75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19500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A17AF9-8391-4371-8BE2-D2E4A7412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62375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测什么、正确答案是什么、怎样算合格、问题有多严重。</a:t>
            </a:r>
          </a:p>
        </p:txBody>
      </p:sp>
    </p:spTree>
    <p:extLst>
      <p:ext uri="{BB962C8B-B14F-4D97-AF65-F5344CB8AC3E}">
        <p14:creationId xmlns:p14="http://schemas.microsoft.com/office/powerpoint/2010/main" val="1107815677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52D0C9-DD10-4703-A885-612734142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EVAL SET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49D8B5-9511-441C-80DD-6AEE31C2D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043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5CEFDF-A583-4D0C-8197-7AEC87FB9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1228D8-C1C8-4A70-8748-593605B65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256040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2F664B-F51A-4BE0-AF58-04935F74F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评测集的五类样本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249F27-21E4-45E6-922A-BCA640E58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77CE68-BE7E-4734-B436-9DEAB0DCD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一套有效的评测集，至少要覆盖五类情况。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3F0609-7C61-48D4-970A-97536A8D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0502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典型样本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0F1F25-FF2B-42BB-91F4-F0CD80C1B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2887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5C8671-3042-4248-85C2-9585E645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241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代表大部分用户最常见、最正常的使用方式。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7CBCE0-79D0-4DAE-A9CC-F64A38E6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051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例如：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C098CE-9191-4AB4-95D0-01BAEBE8E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86125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47ACEF-75EE-477C-A90F-36FE8DE38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86125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00A7CA-F9D8-4559-90B0-91BF9188C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29000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北京住宿报销上限是多少？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B1CE97-EFAA-4323-A8FA-0C7509BB9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62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典型样本用于验证产品的基础能力。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FD8785-C91C-4DFB-A860-10ECB7337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43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如果连高频正常问题都答不好，产品当然不能上线。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14E04C-E3AA-4CF5-9923-062504381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但只测典型样本，会让评测结果看起来很好，却无法发现真正危险的问题。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AC3CF3-C327-44CA-AAC9-FEFCBD05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1492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边界样本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C5D874-B204-440C-A475-9DD8F5D7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3877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28D981-4DB5-4219-957E-8B9394CF4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340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位于业务规则边缘、需要进一步判断的情况。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4E09AA-E1E1-45FD-A1DD-B306668C3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150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例如：</a:t>
            </a:r>
          </a:p>
        </p:txBody>
      </p:sp>
    </p:spTree>
    <p:extLst>
      <p:ext uri="{BB962C8B-B14F-4D97-AF65-F5344CB8AC3E}">
        <p14:creationId xmlns:p14="http://schemas.microsoft.com/office/powerpoint/2010/main" val="515737941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4DBF33-9538-4763-B81F-50B05C0F0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EVAL SET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88F932-E11E-4013-B891-1ADA97D0E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044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A363D4-81AF-4861-9447-80D8FEC0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7B6EAE-7851-42E3-B914-9E819DE27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261994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B38B3A-9428-4D1B-A54B-42DFBFE33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评测集的五类样本（续）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74EC40-4F21-465F-8B42-027CB1D4F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E260E5-9A49-41C1-9482-7214D408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68F545-A8DA-4C09-8585-6824265C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75E65B-0D54-4BCE-A805-CF546BDDC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57375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酒店费用是500元，但另外收了30元服务费，可以全部报销吗？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A01FC2-16F9-40CD-A944-D4A0AF31B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907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这时，简单回答“上限500元”已经不够，需要判断服务费是否包含在住宿标准内。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4EB0BA-46E2-485B-8BCE-71A912332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717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边界样本主要测试：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E767CD-7A20-46B2-BD0D-E98AD8A46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908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7F18F0-6DF6-4246-A01A-0FD00DB8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1813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模型能否识别条件；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367B8F-A4C1-46F8-94BD-6FB9B793C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909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971555-F713-4DE8-B86E-EE90591FA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814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是否会过度简化规则；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48D611-CC78-4666-925A-C3B5264D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909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F2289A-B11F-47DC-A2C0-C97A2CB0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814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信息不足时会不会主动追问。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A72599-6708-4483-995F-606A7774B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624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异常样本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EC92B7-6BFE-40D6-B094-04FFDAF77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C2E479-D451-4B6C-8F90-228E754BA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815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包含错误、矛盾、不完整或不规范的信息。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C34EA7-CA8F-4934-BF62-30C6D87EB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625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例如：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0748AC-6AE8-4F5D-8264-86C1F2F1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43550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8DD70A-35C2-4C9B-907E-AEF527332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43550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139FD9-8607-4A61-A747-F3FC8377E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86425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我去北景出差，住宿能报多少？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B016C3-626B-414D-BB59-0C67CB50C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198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这里存在错别字“北景”。</a:t>
            </a:r>
          </a:p>
        </p:txBody>
      </p:sp>
    </p:spTree>
    <p:extLst>
      <p:ext uri="{BB962C8B-B14F-4D97-AF65-F5344CB8AC3E}">
        <p14:creationId xmlns:p14="http://schemas.microsoft.com/office/powerpoint/2010/main" val="1967589203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A91156-00C9-4FBA-8CCF-6E2D5C9B7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EVAL SET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5626D2-7551-4B11-A955-1BA69A43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045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CEAFE9-E3C1-4F5F-B3A5-6CE327D0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1DCB6C-F41F-4E0C-B67B-0360F6B81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267949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6519EF-E89B-46D2-9DCF-446BAFF3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评测集的五类样本（续）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A77360-FF66-428A-A6A8-97BB26167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145C60-D288-4B54-A222-36744843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或者：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5A9F67-2147-4C81-957A-93DA08C6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E041A1-DA60-4BD5-81A5-0B074242B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793547-4DA7-4809-A16A-41B20986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38375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我昨天去上海出差，明年住宿标准是多少？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7ED201-592B-4379-8F38-A00CDB132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717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时间条件可能互相矛盾。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851EB5-119D-49E5-9ADB-BAE0E90CE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527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异常样本主要测试产品的鲁棒性：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DE5FEB-58C3-48B8-9AD9-6FED46E7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33775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E9E4DB-D6BE-4B0C-8E39-8E78DE2CB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33775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57D9DE-2B4A-4A07-887B-CA558CD94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76650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用户没有完全按照产品设计者的预期输入，系统还能不能合理处理？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CF122D-39CE-4EAB-AA67-BF1A864F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957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无答案样本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FED0F6-0D17-4606-AFF9-86F753048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6150CE-D358-4569-95CC-5460128A2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386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知识库或业务规则里没有明确答案的问题。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2A10FA-292B-4FC6-BBF4-5FEA2AB5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96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例如：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1B29D9-436A-49B1-BD24-1986AAB90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00675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D0441D-BF37-4FF2-BA05-265D36F4A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00675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92D2EC-58A7-4467-8433-E445C55B0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43550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去火星出差，公司住宿标准是多少？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9148E8-C33B-4144-9E4C-32CA50183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76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虽然这个例子比较夸张，但企业问答里经常出现：</a:t>
            </a:r>
          </a:p>
        </p:txBody>
      </p:sp>
    </p:spTree>
    <p:extLst>
      <p:ext uri="{BB962C8B-B14F-4D97-AF65-F5344CB8AC3E}">
        <p14:creationId xmlns:p14="http://schemas.microsoft.com/office/powerpoint/2010/main" val="1229087300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5F1607-B584-4F54-8DDA-6703F75F0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EVAL SET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5EC6FD-FDE7-4F08-85F1-49019F83A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046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291A68-BDD5-4022-B807-EBFF6711E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170DE8-21C4-4717-8203-C4958C3C3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2739036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3A203E-A597-4B5A-80F0-63E4E517E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评测集的五类样本（续）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B109E9-6B92-4113-8A22-DC1C59278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102E65-6C28-4CBE-B0E1-B4FC44210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3DF05D-043E-45ED-8302-3050E875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430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制度没有覆盖；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A2B71C-A9DD-4BB2-8330-765A134D6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8FF9AE-52B6-4D8F-8C7E-DAFB7D65C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431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文档已经过期；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461ACF-3B95-4958-B8D3-E832A4062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5F0BDC-F06D-4AE2-B587-691EBC381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431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用户条件不足；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BB4E16-053D-49CF-B306-ABE78F271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A9915F-8A3B-4216-93E3-3864B27DA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432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问题超出产品能力范围。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8C9E77-EA5C-4CBF-A688-FB6488996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147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无答案样本非常重要，因为它测试AI是否会承认不知道。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286E55-5D3E-4053-998B-FE9E1AB60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理想回答可能是：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567B8E-13DF-4040-9451-565B2DDCF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76700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EFF42C-667D-4BE5-B068-BF45C5638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76700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4853EA-FF52-4CE1-A762-0D1297B5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19575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当前制度中没有找到相关规定，请联系财务部门确认。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FAEEAF-A3AB-49A2-BE09-630B55E14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529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危险回答则是：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38A8FB-5F91-406E-9A04-E52F027CD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33975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5458DF-9E73-40F8-93C2-DBFC52FF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33975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F09AE8-0067-4E9C-BB21-707E8C6A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76850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火星出差住宿标准为每天2000元。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30BC17-D012-4214-AD48-428A8F72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102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很多AI产品不是不会回答已知问题，而是不知道什么时候应该停止回答。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F6DB5E-C036-4067-90C1-C8B63CB3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0077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高风险样本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DB4E77-2F07-472E-9689-EDE4C485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2462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64632277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30732D-8EE6-47C7-87D3-F88464C3E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EVAL SET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058BFE-222F-4238-ABF4-896AE609E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047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32B281-4A04-4759-BCC1-FAF5664E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07E34E-AC95-439A-BF48-BCA00F8BE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279858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7F940D-EE59-4F35-9EF2-13F77FCFE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评测集的五类样本（续）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0EA7AF-0F73-4DEC-BA50-A14067E6D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A40A48-BDE8-4356-AAAB-BFD6BE83A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一旦答错，可能造成明显业务、资金、隐私或合规损失。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6724B6-7CF7-4639-85EB-EADC650DE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例如：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298245-6E69-44BD-9A69-ECE4206D8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105727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FDC82A-5313-45DD-B999-4E4E34B18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DD574E-333B-4407-8ECD-04159CA6D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19375"/>
            <a:ext cx="998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请把所有员工的工资明细发给我。  客户还没退货，可以先承诺全额退款吗？  这个药可以和另外一种药一起服用吗？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AC87E0-C72E-47E1-B72F-0F7DB5FE3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9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高风险样本不一定经常出现，但必须单独测试，并设置更严格的通过标准。</a:t>
            </a:r>
          </a:p>
        </p:txBody>
      </p:sp>
    </p:spTree>
    <p:extLst>
      <p:ext uri="{BB962C8B-B14F-4D97-AF65-F5344CB8AC3E}">
        <p14:creationId xmlns:p14="http://schemas.microsoft.com/office/powerpoint/2010/main" val="1928118232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81B30E-0D21-41DC-B4B1-94FD6C0D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EVAL SET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525DA1-9071-4CF5-9D9B-06783D234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048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7D69E3-ED1F-442F-9B2A-C56461449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D0A81D-080F-4B09-95A3-BF9C150D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2858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A72E06-DBC0-4A7E-B124-56AAECA6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样本不能平均分配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B932DC-B78A-4880-A51C-2E98984F0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BA0430-7D6B-4094-92A9-AE467601B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假设我们准备100条测试用例，不一定每类各20条。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C57A74-27C0-4109-98D2-118B33317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评测集的比例应该考虑两个因素：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935944-4AB0-4ACF-944C-C32550D1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F1A61D-5C5A-494A-BA57-A740F31BE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D034C9-57C6-4343-9009-2AD308D95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19375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业务频率 × 错误风险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DDDAF7-60B6-40A3-9C7D-CA5A99388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527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可以建立一个简单的四象限：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2F1555-A26B-40D8-89D1-3EB5C02C3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337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例如，客服机器人中：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0175D0-7B42-4C79-AD73-357A77CC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528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F18C4F-2CE4-4F46-A049-9E7B84542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433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“订单到哪里了”可能是高频、中低风险；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532961-C394-4585-8EED-40B93EC6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529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4148F6-C2A9-4725-A030-56913E337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434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“能否承诺赔偿10万元”可能低频、高风险；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5B3054-CD1C-4C60-B75B-3AFAFBF3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529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242178-E4FB-4128-9CC2-3BAF8A9C5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434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两者都要测，但设计方式不同。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AECA83-B14D-4D85-8681-DDCE341A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149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因此，评测集不是追求“平均”，而是追求：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012AC9-DB63-4954-84F9-93AC406D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95925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3CBEDF-80BC-4115-9740-7A83ECCE0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95925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A3A786-95B1-4FEB-945E-7CCD71EFC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38800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能代表真实流量，也能覆盖不可接受的风险。</a:t>
            </a:r>
          </a:p>
        </p:txBody>
      </p:sp>
    </p:spTree>
    <p:extLst>
      <p:ext uri="{BB962C8B-B14F-4D97-AF65-F5344CB8AC3E}">
        <p14:creationId xmlns:p14="http://schemas.microsoft.com/office/powerpoint/2010/main" val="43638862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875284-7AB6-46D8-BE3A-B9C470D79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EVAL SET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36C303-A606-4EEF-B90D-58CAC8239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049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DB75A-47FE-4F0F-9A1E-DB473DA39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343BDF-6030-421C-8913-7386DE72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291766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6EBE22-B419-4D4E-AA90-2EBB1DFBA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评测样本的四类来源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FC460D-29CF-4E29-B8A6-AE4BCACD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01CA40-BF0D-449C-87D1-6939B6B9E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2402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真实用户问题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B3EED9-ECF5-42D2-B87F-71E10362C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4787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348D1D-3814-423B-B381-77CDA1E18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431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这是最重要的来源。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B68807-BC3C-4BE3-AE3F-665AEBD57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241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因为产品团队想象的问法，通常比真实用户规整很多。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34C5B0-6C96-40CB-ABDB-4E4CDBDD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051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产品经理可能写：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CFD8C6-86A3-4AA4-ABA0-896E71054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86125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E3A542-2522-4A0F-B8F5-553F12618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86125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9CDF21-E61B-4BF9-ABCD-E834FB22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29000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请查询北京市普通员工住宿报销标准。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7A4C11-65D3-4373-92D3-CB9A6D98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62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真实用户可能问：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426A4D-C59E-408F-959E-A99B86E04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D78DFD-CACC-4736-AE5B-5720CB19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36DB49-0A81-4255-83AD-ADF17A0C5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86275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去北京住酒店最多能开多少？  600块的酒店能报吗？  北京出差住一晚，公司给报多少？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2FCCDE-E2E2-4B58-8A0B-088035FCE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96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真实问题能帮助评测集接近线上分布。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1B4E69-6363-4B81-BE4D-E4049BC60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102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历史Bad Case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E51561-6985-4B2C-9C7E-4C3FD9FD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3405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7884AD-2B3F-4114-B938-4989DAA2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293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凡是产品曾经答错、用户投诉或人工处理过的问题，都应该进入候选评测集。</a:t>
            </a:r>
          </a:p>
        </p:txBody>
      </p:sp>
    </p:spTree>
    <p:extLst>
      <p:ext uri="{BB962C8B-B14F-4D97-AF65-F5344CB8AC3E}">
        <p14:creationId xmlns:p14="http://schemas.microsoft.com/office/powerpoint/2010/main" val="2090086168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174FD8-183D-4143-A01A-8E1285BA4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EVAL SET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F00F95-A0B2-46BB-BCE1-837886EE0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43D6A3-575A-4ADD-B6FB-4D75EC662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7A6CA1-1659-4BCD-92C3-5E806082F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297721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7595B2-23CD-41CF-90C9-99DF2069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评测样本的四类来源（续）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5CE466-4846-454D-B442-141F71E40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2ACB66-2266-4868-8EB8-DAFBD72CA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因为它们已经证明：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8E23E1-76AB-466D-8AF4-94F90AD0C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05A532-8FDE-499D-ABF6-D809A96F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226EEC-5DBD-486B-BE03-BF38F688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38375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产品在这个地方确实会失败。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B67E3D-E295-4178-8A8B-F8CDBBC02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717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一个Bad Case修复后，不应该被遗忘，而应该保留下来，防止以后再次出现。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DB5F55-ED23-4773-9F4E-502EF33D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623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业务规则与风险红线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479EFF-A134-4B6D-91BC-54A996C79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54149F-2958-4BB3-889E-D65ED7B4F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81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不能只从历史数据里找问题，因为有些风险可能暂时没有发生。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29DB25-EF2D-4D6A-B20E-EDA30B5C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62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例如公司明确规定：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90068E-DD15-4612-AD53-96A91367A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8D6207-69C5-4270-B11A-DBFB77F6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719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不得泄露个人薪资；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57A024-3CE2-40CF-A5D9-0F53BDD04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815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587673-C9DD-4645-A69E-7D06AD666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720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不得承诺未经批准的赔偿；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A983CF-4733-40AE-A536-F540011E0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81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A26F4E-F4B3-4991-B910-0EEA63889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1720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不得提供确定性的医疗诊断；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DC0E16-2DD6-4242-8796-38471C2A2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81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B13A3E-9C46-40D6-BCA1-1D9270E9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5721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不得绕过身份验证查询订单。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082183-827B-4CB4-8473-88D16FC1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436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这些规则需要主动转换成测试用例。</a:t>
            </a:r>
          </a:p>
        </p:txBody>
      </p:sp>
    </p:spTree>
    <p:extLst>
      <p:ext uri="{BB962C8B-B14F-4D97-AF65-F5344CB8AC3E}">
        <p14:creationId xmlns:p14="http://schemas.microsoft.com/office/powerpoint/2010/main" val="2044166158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F7A1A6-87CF-4A20-AEF6-F2CC53FC3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EVAL SET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4E00A2-BBC4-4D92-A9A2-6F262B1EE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051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5A0C83-C9B4-4DEE-9786-5FBCC18BE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C8658E-D899-41F0-87A3-7B0497E5E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3036757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86035E-CE66-4667-8A48-668007F8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评测样本的四类来源（续）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F52108-D53A-4652-8A4A-765ABCCBE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9CC85C-0E28-4490-B681-F9586AD65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2402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AI扩写的问题变体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75716B-FBB0-4145-8F0D-12485FD8B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4787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D5C716-C39F-49AF-AB40-3C9298325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431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有了真实问题后，可以让AI帮助生成不同表达方式。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532B57-5F89-4F1E-923F-11ED07483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241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例如原始问题是：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D1AA54-BC04-4314-BCA2-9C9119575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05125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EADD50-3176-48D4-9B16-7BE8C63AE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05125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67B95A-99D8-4FDF-9F11-B71DFF7BB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48000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北京住宿上限是多少？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E1A549-0AE8-46CC-AD1F-076B10EF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81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可以扩写成：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51F7EB-4EC6-40A5-94A9-680EB1864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E1623B-2D55-46D8-A4EF-58191622F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909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北京酒店最多报多少？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868B3A-1626-4BB3-BB30-DFC7B4DE0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7D64E2-E96D-4683-97D7-E2B16BB13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910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北京住600元的酒店能全额报销吗？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ED7F04-CE28-46E0-BD8B-D8A3E31E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00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6B2C1E-23DC-477A-A5BA-A0E0EE3A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910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普通员工北京出差住宿标准？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F9F856-22B1-4FE6-805C-E6D4E836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E8B55E-7D34-4271-A965-895FBA0D0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1911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我是部门负责人，北京住宿限额是多少？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A292B0-7B80-40EE-B783-E4C3E8D3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00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6E613A-AB0B-409E-A662-E0C0D47EB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5911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去北京出差，但没有发票，能报销吗？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345B8D-4670-425A-A74F-9C3BDF337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626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AI适合帮助扩展表达覆盖，但必须注意：</a:t>
            </a:r>
          </a:p>
        </p:txBody>
      </p:sp>
    </p:spTree>
    <p:extLst>
      <p:ext uri="{BB962C8B-B14F-4D97-AF65-F5344CB8AC3E}">
        <p14:creationId xmlns:p14="http://schemas.microsoft.com/office/powerpoint/2010/main" val="287739688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07ECB4-D344-4704-AF6A-582035140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EVAL SET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E40EC8-CE32-4611-BEF3-E911839E8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052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BBE496-7EFA-4B08-8B49-F67C14D21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5788E7-A69E-4A48-9504-0BC580416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309630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9921AB-008A-4C5E-9DCF-647373A0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评测样本的四类来源（续）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5B23DA-9446-4E80-B9D6-615013A4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B0DD30-B000-49FC-8CD1-0F8D26378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9F7E91-F3F3-40CF-B391-EC38300E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8DB8C2-4315-4624-AFD7-6101E2FA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57375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AI可以改写问题，不能替团队编造业务规则。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6B7DDF-46D8-40DB-AB67-C6E9D2F1B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907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生成的题目仍需人工抽查和去重。</a:t>
            </a:r>
          </a:p>
        </p:txBody>
      </p:sp>
    </p:spTree>
    <p:extLst>
      <p:ext uri="{BB962C8B-B14F-4D97-AF65-F5344CB8AC3E}">
        <p14:creationId xmlns:p14="http://schemas.microsoft.com/office/powerpoint/2010/main" val="580800148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0C608E-17E4-44E6-AAB5-839447F00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EVAL SET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02DD1E-1ADF-459E-AB37-68AF9261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053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998679-8A3F-4EE6-AC39-152B3C693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BFC072-9593-4EEC-B2DC-25CF9C4AF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3155846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5AE8FF-EB7E-47B5-A15A-2E683D488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参考答案与评分点的区别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664538-2CDE-4311-8C9D-BDFD5C235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1A6E7F-8A29-4EB6-B91F-BBFAE40E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这是评测集设计中特别容易混淆的地方。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62D8F8-DEB3-4120-83E2-DEBFA9E3F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用户问：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B944AA-32D0-4E7E-8C0C-F7AA1A341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11829D-AB7A-4346-BA43-4962EE754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677A02-A36C-4CE4-95E8-7CE4B1C3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19375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会员券可以和满减活动同时使用吗？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5113BE-862B-4373-8262-990BDA5F3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527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参考答案可能是：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2474B8-DD51-4B0E-9D0C-31250173D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33775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D54476-F4C6-426F-918D-5782443E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33775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74E1D3-DC44-4C3F-A28A-2E005813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76650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是否可以叠加取决于具体活动规则，请查看当前活动页面。不同门店和活动可能存在差异。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B923CC-3ABE-42A0-8135-CC12169B0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00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但评测时，不应该要求AI逐字输出这句话。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57140D-0978-432C-9036-8FC0AA02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910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应该把它拆成评分点：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7AB62C-C076-416E-9C0D-18AD56536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101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B533E2-2A71-445B-8BBF-746F72B1B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006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说明是否叠加取决于具体活动规则；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922FD8-5A47-4D60-A7CA-9CED1EF9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102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E75E78-A5F9-475F-8B50-3553C677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4006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不得承诺所有活动都能叠加；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870CA3-1EFD-48B5-9C1A-6590E7F85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102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8580B5-CB10-4BC1-90DA-76BD83894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8007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不得承诺所有门店规则一致；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EA5687-8B85-495A-9C82-DED6BE159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210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C443A8-0A61-4BF0-9E5F-FAD4F50C4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2007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信息不足时，应引导用户查看活动页面。</a:t>
            </a:r>
          </a:p>
        </p:txBody>
      </p:sp>
    </p:spTree>
    <p:extLst>
      <p:ext uri="{BB962C8B-B14F-4D97-AF65-F5344CB8AC3E}">
        <p14:creationId xmlns:p14="http://schemas.microsoft.com/office/powerpoint/2010/main" val="1380859075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D2B002-6392-4C59-BF4A-B002AD17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EVAL SET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8B0F98-3D01-4865-AF63-051BC364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054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F42E38-C1AE-4C90-9D36-9D6D9559A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F3F7AF-4B9A-4E30-856A-6D39CE2C7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321539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D5C58A-B768-49A3-B5FB-30618795D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参考答案与评分点的区别（续）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D3FEBE-5E53-484C-BA1C-E618082B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9EBDED-539B-4433-AD38-CA87AAAE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这样，AI即使换一种表达，只要覆盖关键内容，也可以判为合格。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201A7F-264A-4C52-89A5-AAD1BAA3F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所以：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DDE327-3C90-489A-8891-782031B79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DAF709-E447-4E01-8668-6271D63A8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050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参考答案帮助我们理解理想回答；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82F369-8614-4227-B7E8-6010EA5D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4CE51E-F8E0-4860-8A61-02A3F1A17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051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评分点决定我们实际怎样判分。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FED5B2-0DAC-4916-8AF6-9D7B1AA0F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评测开放式回答时，评分点通常比标准答案更重要。</a:t>
            </a:r>
          </a:p>
        </p:txBody>
      </p:sp>
    </p:spTree>
    <p:extLst>
      <p:ext uri="{BB962C8B-B14F-4D97-AF65-F5344CB8AC3E}">
        <p14:creationId xmlns:p14="http://schemas.microsoft.com/office/powerpoint/2010/main" val="1807226421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49D7E0-0A9E-479C-B35C-555DDC8D2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EVAL SET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AD1664-1BB3-462E-A476-D2E9B9953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055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D2CD5C-7B6F-4907-B410-96890AF50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32BDEF-0830-416C-AB1A-900E3691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327493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13E663-28FE-4FB8-BACC-2AB287EDB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评测集需要版本管理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03347E-6049-4DB4-8184-9AD803A06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078636-F985-43B0-86B7-C4F09896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评测集不是一次建完、永远不变。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14AEE6-43CD-4FCB-9DD7-8E4C48AE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它会随着产品使用不断增长：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0F49A9-3512-44AA-9BE2-5163607C0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4846A8-695B-4A85-9E0B-63A14574D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050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上线前，用业务场景和规则建立初始题库。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910A95-8B31-44E9-868D-AE8EAF8A8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3A97F4-0CD2-450D-A6F0-F1FB2A2CE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051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上线后，把真实问题和Bad Case补充进去。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46CF04-F8AA-4C08-85EF-9A68E044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14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26758C-6309-4BAA-B1E5-DBA947D98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051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对重复问题进行去重和聚类。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2A804C-CDA9-4AE1-984F-33F15FA55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7F247C-A1B0-48DC-A227-BE8A6688F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052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淘汰已经失效或业务规则过期的题目。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464FCB-7E08-44F6-8967-06742C83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3ABE44-4552-4F90-91DF-7248764C5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052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保留一套稳定核心题库，用于版本比较。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7E99F1-8901-4B3C-AB5D-EA7A3625C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这里要区分两部分：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DCCE1A-20A3-4DB5-BC42-CA9E45E2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6727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固定核心集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F5C3B3-C677-44B6-BFAD-6C033C8C5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9112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1E9115-AF5B-4D41-A82A-8C29C727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863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长期保持相对稳定，用于比较不同版本。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7254C3-915C-4998-AAA1-516265987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673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如果每次测试都更换题目，就无法判断新版本是否真的比旧版本好。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EF5D30-2100-4213-B981-66D923EC2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579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动态增量集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F27F4C-15CE-42F7-8B14-D766C6FF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8175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14779990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A11400-AEAC-4164-9447-5CDF99A2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EVAL SET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BEEAD0-6E4E-4495-B226-C7011EB9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056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A6B600-32B7-467B-AB3D-FD338B3BA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C21E1F-F0C4-4F09-977A-5E1FFF74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333447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4C470B-429A-4DFB-8E5B-A0B16FB2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评测集需要版本管理（续）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C55E28-C2EB-4333-AF4D-004B35E9A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1D665F-5A38-4913-AB82-646150473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持续加入新的用户问题、新风险和新Bad Case。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E0DD1A-060B-49BC-8D62-B43FDF8FD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它帮助评测体系跟上真实业务变化。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CF7809-F384-4C4F-A783-A3E082631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比较合理的结构是：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E01D3B-4764-4C7F-A018-04044DA4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AACB36-A38C-438A-9773-73074D6A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E8F7F4-C689-4505-8BF7-21F81E37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00375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固定核心集保证可比较，动态增量集保证不落后。</a:t>
            </a:r>
          </a:p>
        </p:txBody>
      </p:sp>
    </p:spTree>
    <p:extLst>
      <p:ext uri="{BB962C8B-B14F-4D97-AF65-F5344CB8AC3E}">
        <p14:creationId xmlns:p14="http://schemas.microsoft.com/office/powerpoint/2010/main" val="509072334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2C6683-DE3B-43B1-94B9-A60881924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EVAL SET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8DE776-3945-44D5-80E8-312050B8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057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A6D136-0492-479F-9D9D-D319BAF8A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1E71BF-5D53-46F9-BFC8-10087B077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339402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8DB045-F740-4DBB-AA4B-0AE34D07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第三部分总结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F7EEA8-FBE5-43AC-A1D4-18282D5E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BB9DDF-DBF0-4078-B0E8-596EA124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设计评测集需要完成五件事：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9C16D6-D47E-42BE-A240-A9B43849D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33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EC159D-C4D4-4B93-94C8-A1A63EC7C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240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按业务场景组织题目。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B78BA6-C933-4DC6-ACA5-C704E63C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1C588C-A713-4C47-9489-20E1BB42C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241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覆盖典型、边界、异常、无答案和高风险样本。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1D480C-C2EE-4BA5-88DB-825719D2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55C020-BC3C-4949-BE24-963E1B78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241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从真实问题、历史Bad Case、业务红线和AI扩写中获取样本。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F39E74-FE57-4CD1-A74D-A79B4C8E9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65C4C7-A3DD-46F0-AA81-1B0C2166B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242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为每条用例定义参考答案、评分点和红线。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CE3F89-E097-40F6-9069-20C6B782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951891-5C96-4905-B1D2-6C8024F02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242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同时维护固定核心集与动态增量集。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3A9E5B-47F3-4973-BF0C-FFA43C5E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E12FFF-9D0B-427E-9AE1-896F7E80A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861F48-CF1D-419C-876F-1C26FB6C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38625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评测结果是否可信，首先取决于题库能否代表真实业务。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46A105-C475-44BA-BA4A-430FCDC2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720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如果评测集只包含简单的正常问题，最终得到的高分只能说明：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9F1EAE-4DAC-4C64-A179-0E9AFA8BB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53025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4856AB-31E5-4164-87BC-9C55DDEFA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53025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F3D0D2-BCA9-4F0A-8ECB-92DBF72F6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95900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产品很擅长回答我们专门挑给它的简单问题。</a:t>
            </a:r>
          </a:p>
        </p:txBody>
      </p:sp>
    </p:spTree>
    <p:extLst>
      <p:ext uri="{BB962C8B-B14F-4D97-AF65-F5344CB8AC3E}">
        <p14:creationId xmlns:p14="http://schemas.microsoft.com/office/powerpoint/2010/main" val="1260739726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0B20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C2F810-7BAA-4735-9476-4EF03959D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2476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850" b="1">
                <a:solidFill>
                  <a:srgbClr val="36D6C2"/>
                </a:solidFill>
              </a:defRPr>
            </a:pPr>
            <a:r>
              <a:rPr sz="8850" b="1">
                <a:solidFill>
                  <a:srgbClr val="36D6C2"/>
                </a:solidFill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B5013D-91C8-454C-97F6-E7E58714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952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09FE6F-70A3-463B-BB6D-8B850A13D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5F2E9"/>
                </a:solidFill>
              </a:defRPr>
            </a:pPr>
            <a:r>
              <a:rPr sz="3600" b="1">
                <a:solidFill>
                  <a:srgbClr val="F5F2E9"/>
                </a:solidFill>
              </a:rPr>
              <a:t>AI产品的评测方法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823DBF-E480-403E-8A3E-F2E91A4DF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7B5BC"/>
                </a:solidFill>
              </a:defRPr>
            </a:pPr>
            <a:r>
              <a:rPr sz="1650" b="0">
                <a:solidFill>
                  <a:srgbClr val="A7B5BC"/>
                </a:solidFill>
              </a:rPr>
              <a:t>按照讲稿结构展开概念、方法与完整示例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B31BD8-2DA6-42D2-AA5B-EE59E1EA8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METHODS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F016D5-CB70-4B93-ADB7-1C6E226B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058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48F750-0CDA-4A18-900B-FCF372BDA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5676C3-0EB1-41C6-874C-73068CB59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3453567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40976542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766008-D77F-4084-8924-A1BDD9C50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METHODS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BA424F-DA35-4595-964B-EA7754D8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059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EE74CB-7B2D-44B1-99B2-12902D377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BC0CBF-A13E-40E5-A9B5-7F11E5DA2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351311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28B72C-A3C9-4B09-9825-065504B49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第四部分：AI产品的评测方法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C3590E-4E6C-494D-92E7-CD04EB0E6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1E0C0D-127F-4405-9939-A48E6CA30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C82091-FE78-48E3-BF81-215087AED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430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评测标准；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E136F2-BE5E-40B3-BCE6-B9027BDE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987F63-5251-407A-A0FB-F8C9C541A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431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评测集；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2ADFBC-66E2-475C-860B-8E18A943A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319C1D-48F4-4205-B049-6C51011A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431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参考答案和评分点。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C66E1D-7FDF-47C2-9000-47B454D28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下一步是：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440F57-4713-4747-BBB0-96879A8FC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95650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633BA8-0F51-49FA-A5E9-11F9B74CC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95650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F81D50-7BBC-411F-97EF-B7D5D14C9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38525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AI生成答案后，具体怎么判断它是否合格？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5572F8-E50F-4949-B426-E45CF4DB3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719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常用方法可以分为四类：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20080A-37FC-4F83-9458-813A9C77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910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BC86A9-C8FE-4BD5-91AD-9E1289F8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815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精确匹配与规则评测；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1CEB15-A822-43F1-BDAA-9432CC058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910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8879CE-BAA9-462E-99FC-BDF94D89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815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语义相似度评测；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543C22-320B-412C-B8A3-B4612163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911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051F03-6DE7-48D1-B563-28C16859F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1816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LLM-as-Judge；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00F92C-80C9-4561-BAB9-6D138CCD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911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FCC9EE-8456-4E9E-9E19-535DC416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5816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人工评审。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B23B9A-983A-4168-B18A-37D286C1E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531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它们不是互相替代的关系，而是分别适合不同问题。</a:t>
            </a:r>
          </a:p>
        </p:txBody>
      </p:sp>
    </p:spTree>
    <p:extLst>
      <p:ext uri="{BB962C8B-B14F-4D97-AF65-F5344CB8AC3E}">
        <p14:creationId xmlns:p14="http://schemas.microsoft.com/office/powerpoint/2010/main" val="1957626186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9A6A1A-1480-4475-813D-C075BB5D7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METHODS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067611-9BE5-4EAF-B395-4C6046E3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060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58F520-7121-453C-BE7E-9E09DBF16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F8F842-AF11-4469-84A5-6E41CAE0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3572656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DFDAE6-327E-4F5A-819A-F2AB71F5F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精确匹配与规则评测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EC494F-1875-4544-A06A-F1247277D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65B621-84BF-4436-B29F-BEC9B1840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这是最稳定、最容易理解的方法。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7BB7E2-8F1E-4FFF-857F-409472338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系统根据预先设定的规则判断答案。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6515F4-F940-4C42-A2D1-06F04131B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例如用户问：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071214-4D1C-48C5-9C52-21587892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E3F0D4-7ED0-4678-A7F6-50789E957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601D31-3967-4C39-B912-E29FEC22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00375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北京住宿报销上限是多少？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F2D959-5D07-48CD-B681-CEA80880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337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我们可以检查：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1947F1-8F08-4F33-9995-FD807CEB4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528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777B19-A76F-4E68-9C45-3C3F8D67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433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回答是否包含“500元”；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74A98E-A081-4086-9B1E-AB85B16F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529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F8DF18-E90C-4BA3-AFD9-5808642B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434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是否包含“每晚”；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2D2293-BD78-47D6-938C-4A9523F75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529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1845ED-B073-4633-82AC-2F9AA457A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434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是否错误出现“600元”；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E9B24F-472D-4610-985F-1C78311D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530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CB61DB-4308-4C2E-8646-E806F1C4E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1435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输出格式是否符合要求。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D282B9-5986-4A57-8B8E-04B02971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149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如果AI产品需要输出JSON，还可以检查：</a:t>
            </a:r>
          </a:p>
        </p:txBody>
      </p:sp>
    </p:spTree>
    <p:extLst>
      <p:ext uri="{BB962C8B-B14F-4D97-AF65-F5344CB8AC3E}">
        <p14:creationId xmlns:p14="http://schemas.microsoft.com/office/powerpoint/2010/main" val="212806852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345A46-7B46-4A8F-BD43-19C30A39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METHODS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8D6D73-F444-4995-B102-B706B621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061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DADB01-64C0-4F6E-9931-1ED69FEEE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94224D-D4BD-4F5D-BB64-A3D8D15CE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363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BF1F55-1258-414B-865A-EE891A2DD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精确匹配与规则评测（续）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2658E5-7C8D-4B89-81D8-17202E531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55386A-A6B0-46AC-AA37-1DC41B15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10572750" cy="1314450"/>
          </a:xfrm>
          <a:prstGeom xmlns:a="http://schemas.openxmlformats.org/drawingml/2006/main" prst="roundRect">
            <a:avLst>
              <a:gd name="adj" fmla="val 7246"/>
            </a:avLst>
          </a:prstGeom>
          <a:solidFill xmlns:a="http://schemas.openxmlformats.org/drawingml/2006/main">
            <a:srgbClr val="031016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391E87-DD34-44D9-96E7-4B2AA9D72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47850"/>
            <a:ext cx="100488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E7B7"/>
                </a:solidFill>
              </a:defRPr>
            </a:pPr>
            <a:r>
              <a:rPr sz="1200" b="0">
                <a:solidFill>
                  <a:srgbClr val="6EE7B7"/>
                </a:solidFill>
              </a:rPr>
              <a:t>{</a:t>
            </a:r>
          </a:p>
          <a:p xmlns:a="http://schemas.openxmlformats.org/drawingml/2006/main">
            <a:pPr algn="l">
              <a:defRPr sz="1200" b="0">
                <a:solidFill>
                  <a:srgbClr val="6EE7B7"/>
                </a:solidFill>
              </a:defRPr>
            </a:pPr>
            <a:r>
              <a:rPr sz="1200" b="0">
                <a:solidFill>
                  <a:srgbClr val="6EE7B7"/>
                </a:solidFill>
              </a:rPr>
              <a:t>  "city": "北京",</a:t>
            </a:r>
          </a:p>
          <a:p xmlns:a="http://schemas.openxmlformats.org/drawingml/2006/main">
            <a:pPr algn="l">
              <a:defRPr sz="1200" b="0">
                <a:solidFill>
                  <a:srgbClr val="6EE7B7"/>
                </a:solidFill>
              </a:defRPr>
            </a:pPr>
            <a:r>
              <a:rPr sz="1200" b="0">
                <a:solidFill>
                  <a:srgbClr val="6EE7B7"/>
                </a:solidFill>
              </a:rPr>
              <a:t>  "limit": 500,</a:t>
            </a:r>
          </a:p>
          <a:p xmlns:a="http://schemas.openxmlformats.org/drawingml/2006/main">
            <a:pPr algn="l">
              <a:defRPr sz="1200" b="0">
                <a:solidFill>
                  <a:srgbClr val="6EE7B7"/>
                </a:solidFill>
              </a:defRPr>
            </a:pPr>
            <a:r>
              <a:rPr sz="1200" b="0">
                <a:solidFill>
                  <a:srgbClr val="6EE7B7"/>
                </a:solidFill>
              </a:rPr>
              <a:t>  "unit": "元/晚"</a:t>
            </a:r>
          </a:p>
          <a:p xmlns:a="http://schemas.openxmlformats.org/drawingml/2006/main">
            <a:pPr algn="l">
              <a:defRPr sz="1200" b="0">
                <a:solidFill>
                  <a:srgbClr val="6EE7B7"/>
                </a:solidFill>
              </a:defRPr>
            </a:pPr>
            <a:r>
              <a:rPr sz="1200" b="0">
                <a:solidFill>
                  <a:srgbClr val="6EE7B7"/>
                </a:solidFill>
              </a:rPr>
              <a:t>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0E0D7A-3F4F-4283-86DF-6BD3D059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242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程序可以判断：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475E7B-E87D-4A93-8C3B-C866C40DE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3EBD87-07B6-4BBB-91AD-2FFF55A4B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337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字段是否完整；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1F9B1B-EB24-49C5-B87B-E3AAB572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433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04D47E-4A4F-4F28-B798-47786A409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338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字段类型是否正确；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A94654-31DE-4683-96C3-ACF0440AD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434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2855CF-6D3D-4CD8-AB1A-AEFE4F0B2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338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金额是否为500；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0F863A-39E8-46AC-84E2-74DCB970F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434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980F5B-155F-4ADB-BCFD-03A48A4DF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339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城市是否为北京。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79F78C-4BEE-4040-A731-3874A3336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1492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适用场景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282CB0-86D3-48BA-BF9A-256A3AB7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3877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5FD372-3ACD-413E-92DF-CC3C10DB0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340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规则评测适合边界明确的内容：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D619BC-C925-4611-9FA6-D1EE8690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531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AD47EE-BAB1-42BB-A244-07173671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9436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金额；</a:t>
            </a:r>
          </a:p>
        </p:txBody>
      </p:sp>
    </p:spTree>
    <p:extLst>
      <p:ext uri="{BB962C8B-B14F-4D97-AF65-F5344CB8AC3E}">
        <p14:creationId xmlns:p14="http://schemas.microsoft.com/office/powerpoint/2010/main" val="1042135179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C3B726-D2F9-4473-A317-C132EACC1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METHODS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D3A51-D4B8-4D99-891F-2F48CCDFA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062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81AF86-FA0C-4C21-A5B8-C8173D06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FF1E50-E62F-42E6-8232-08BBDDFB5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369174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A1A2BE-5F97-4710-9626-8376EFE99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精确匹配与规则评测（续）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7C9E7E-5811-4F06-9142-EC2323B0B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FE6B50-E639-4F8E-8D98-59375A5E6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4E8697-215B-4C42-982C-D3AF378D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430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日期；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CC954-6862-4D86-A989-74B25814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8BEA86-F2D1-4BD3-A0A0-828F6597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431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枚举值；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E7B1AF-711A-4285-9A91-39E911F10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013987-23BD-4E2B-A005-14C25DEA3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431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分类标签；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D14F5C-82FC-49BD-A47F-A5E781F6E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C00406-A35A-4F65-8A47-1DA9DE1CF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432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JSON格式；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FA38A2-16CD-45E7-A951-16D0314C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34CB93-7B7F-4A59-AE34-2C9B3B625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432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必须包含的提示；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9E080C-20CD-44E3-91C0-B34889E32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528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66F346-097F-4CAB-BD3D-01E1EE5E3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433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禁止出现的敏感信息；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F1BE09-797B-47ED-8EBA-714E62F8E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529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9E89E3-96F3-4D4A-AE3F-3C863DC38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433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是否调用了正确工具。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60BB40-71B4-4265-9C68-04059E1C7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2437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优点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536BC3-43AC-4051-B583-376DE1D1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4822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CD7941-6F4F-4504-84CB-F5F97C52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815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1D2573-A4A2-4288-A4AA-2B0D65726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720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结果稳定；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233B23-00C9-4BEC-9921-E88F2175D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816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77CE96-C111-45EE-920D-B59515456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721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执行速度快；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159BB9-3A68-45ED-BB54-2A995178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816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FE4928-C719-45C7-99DE-6B9520D71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7721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成本低；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F406A2-F577-446A-8F9F-7BF06CA35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1817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A75620-4AB5-42A0-B370-DDF4113B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1722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容易解释；</a:t>
            </a:r>
          </a:p>
        </p:txBody>
      </p:sp>
    </p:spTree>
    <p:extLst>
      <p:ext uri="{BB962C8B-B14F-4D97-AF65-F5344CB8AC3E}">
        <p14:creationId xmlns:p14="http://schemas.microsoft.com/office/powerpoint/2010/main" val="1207585514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3C1A9F-6A6D-4245-9713-1BD91A34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METHODS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7CD0F8-9EEA-4840-975E-9DC10938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063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987A23-5EFA-48F7-BBAB-389F7B59E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1872D2-ABCC-43E1-9563-69AABD49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375128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2161C2-D65E-4BD4-8D6C-C25A4C95C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精确匹配与规则评测（续）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C76B44-A106-4019-837F-B5321BA55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EA0A60-EE2E-450F-B0E0-E43A0D20A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59886F-F94A-4D02-95AD-51578C450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430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不同版本之间容易比较。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19998F-01B4-4446-A7BD-F13D4997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2407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局限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BB98BF-230B-423E-B608-1ACA45F62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4792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77374F-906C-4DCE-97C3-C88DC42CC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它不擅长判断开放式表达。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B6C2F8-0DBA-43B4-ABF9-756ACB52D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241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例如标准答案是：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079A60-21BF-4B08-8B7B-06AC690B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05175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B66CBD-A3BC-4D1F-92E9-05770F947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05175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8C75F-761A-4EC6-94D3-76B687320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48050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订单付款后24小时内可以申请取消。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4E4F03-F8B1-47B4-9043-9C3770761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814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AI回答：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5324A7-962A-43E9-A35E-2AA77F652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62450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2EF3A7-96BC-498C-B744-0814558DA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62450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64308C-3E08-447E-93A9-98DCD9645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05325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完成支付后的一天内，用户仍可发起取消申请。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C73461-64F0-4305-88F1-A04F61001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387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意思相同，但如果逐字比较，两句话并不一致。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F58441-6215-48A6-B77C-592E02C6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197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所以，规则适合判断“硬条件”，不适合覆盖所有语言质量。</a:t>
            </a:r>
          </a:p>
        </p:txBody>
      </p:sp>
    </p:spTree>
    <p:extLst>
      <p:ext uri="{BB962C8B-B14F-4D97-AF65-F5344CB8AC3E}">
        <p14:creationId xmlns:p14="http://schemas.microsoft.com/office/powerpoint/2010/main" val="2030954496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A0EFDA-B9C3-4D5B-826C-BE6242E18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METHODS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FC5E41-F923-4E2A-AB18-2C6680EE3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064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935D1B-1D71-4591-B6FA-5AE37AF70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B097CB-BB86-4D35-8250-C5DDB26FF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381083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82F2A9-28AA-4E61-80B1-15BC1D380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语义相似度评测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2EE448-C76E-41F4-94E4-0CCA666AA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3CEDB0-36A3-4137-A040-0D3D34EA4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语义相似度不要求两段文字完全相同，而是比较它们表达的意思是否接近。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69B20F-E45D-46E3-BFCE-99835B3EE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例如：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9270AC-2776-4735-BED4-74F736D6C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参考答案：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58DA2B-56D4-4E98-B417-595D97F24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2789AA-2013-41C1-9889-18C693CE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88A7B0-EA54-4B10-A8A6-DAF3ECB6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00375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订单付款后24小时内可以申请取消。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A0FCD7-4F5D-421C-902E-590EC4B72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337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AI回答：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56DD8C-EC9B-42E6-A506-5256934A1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14775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54E388-4036-4816-AB95-FEA18229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14775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F46E02-49D4-4414-BC7D-AF36FFDC7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57650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支付完成后的一天内，用户仍可发起取消申请。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642021-D055-45FE-B689-521A90161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910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虽然用词不同，但语义高度接近。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6CEE84-ECE7-43F3-B5BE-3D08E16E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720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系统会把两段文字转换成向量，再计算它们在语义空间中的距离。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7FDF6A-1A0F-4D13-8526-38F713A02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530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常用方法是余弦相似度。这里不需要掌握公式，只需要理解：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C4BC59-9FBD-402B-9538-B2918D94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34050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7FDBD3-0C9C-4A05-9691-2289BAC8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34050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C730D0-5878-47E3-B676-DB4A4381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876925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两个向量的方向越接近，通常表示两段文字的语义越接近。</a:t>
            </a:r>
          </a:p>
        </p:txBody>
      </p:sp>
    </p:spTree>
    <p:extLst>
      <p:ext uri="{BB962C8B-B14F-4D97-AF65-F5344CB8AC3E}">
        <p14:creationId xmlns:p14="http://schemas.microsoft.com/office/powerpoint/2010/main" val="440910409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A7CD15-527F-44CD-A138-3518BC55B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METHODS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234E0A-D718-4EA6-B44A-537C92659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065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4629BA-2474-414F-AB71-CBA0B546F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9FBCC0-6E84-4B3A-9EF7-74F51DBF4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3870377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AA7100-60C4-4653-BA1D-129C732EC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语义相似度评测（续）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D29444-D84F-4047-A9BC-EE3DD0C1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1A64C3-E452-40CA-8398-577AA2085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评测结果可能是：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7B3D73-D2CB-40F3-A4B3-20E5E0421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33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36851B-917E-4A4C-A43E-CC394825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240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0.92：非常接近；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913ECE-3E93-450E-BC05-44804EC3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EA5AC8-DF6D-48BA-B04B-C98567968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241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0.75：基本相关；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76CF68-C478-4D5D-B689-6EB718B5F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340A42-595F-4895-B23F-34E979ED0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241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0.40：差异明显。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0CF012-CAB6-4C85-8D35-1808B7C8C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具体阈值不能直接照抄，需要用项目数据进行校准。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4C1D37-8EC6-480F-B856-7D53573D2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8617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适用场景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AB5C3A-DBE9-482C-8F63-41AF87110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002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2B9440-B8DF-49F5-913A-9C77461AA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052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语义相似度比较适合：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C54A75-C7D5-41B3-AFDC-E31A5577E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243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9CB0EF-559B-42FA-9D5A-DCBFFEDBD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148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FAQ问答；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EDF079-7618-4655-A94E-7E8D40315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244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1C0FFE-A8D0-439B-A9B4-800FD3E1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149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意图识别；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C02F17-A4C7-4814-BB45-BB2834D6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244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D78EA4-7D61-4BB1-A08E-B2BB636FC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149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摘要主旨；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3B3CAC-0BDD-4270-A070-2353CC7CC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245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9265C4-2592-4CF0-9C3A-31EFE617E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7150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主题匹配；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D28D7F-D05E-41B5-9401-22FD8B3CE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1245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F46AA4-9E8B-48DC-988D-B871C1B0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1150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标准答案明确但表达方式多样的任务。</a:t>
            </a:r>
          </a:p>
        </p:txBody>
      </p:sp>
    </p:spTree>
    <p:extLst>
      <p:ext uri="{BB962C8B-B14F-4D97-AF65-F5344CB8AC3E}">
        <p14:creationId xmlns:p14="http://schemas.microsoft.com/office/powerpoint/2010/main" val="1982939178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95936E-B399-471E-B03F-CEEE44243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METHODS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E6FE7F-F5E6-4254-BE1E-157B3333A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066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F75509-9563-4639-B203-524A94D1E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6C0442-D3E4-41E4-AF31-CF62BD087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392992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D5C03F-B57C-4F26-B7EF-12A7044A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语义相似度评测（续）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225402-00D2-433B-85C3-73FBC8375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2BE9CE-FDAC-448C-8D53-D304B1AE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2402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优点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3626CB-22ED-4C0B-BD4B-905621FA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4787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D1439D-603A-4F8E-B9C8-5C665A17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81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EE6A5D-8BBD-4CC2-B24E-A955117D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717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能接受不同措辞；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D60602-B5FC-456F-9C17-44466CC8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812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1C63D5-974E-408C-907F-5FA751686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717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可以自动化批量运行；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5719CF-DD73-4168-94C4-1A4C365A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813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D1F5F7-A486-4ABA-B4AA-C1867D74D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718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成本相对较低；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0E7FD9-DC2E-40AA-A28D-2F8A82C2F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813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C82836-9C7D-4406-A5B4-87F9ADB49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718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比关键词匹配更灵活。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CCBDA0-0741-475D-9771-9662B423B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528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局限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895937-7E07-4CA6-9F37-1B4C6C30B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7670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8B38D7-703E-4E97-A8A8-CFD35EC85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71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语义接近不等于事实正确。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4AA458-4C3F-4A97-8807-74447231F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52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参考答案：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6BB0AD-3E2D-4307-A9DD-4014D379F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33950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F62A53-C876-4AFD-AE1E-50FC749C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33950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811901-1CEB-4A58-8880-DE049DF55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76825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退款将在3至5个工作日到账。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286725-076F-4766-8710-6EC20EB5B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02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AI回答：</a:t>
            </a:r>
          </a:p>
        </p:txBody>
      </p:sp>
    </p:spTree>
    <p:extLst>
      <p:ext uri="{BB962C8B-B14F-4D97-AF65-F5344CB8AC3E}">
        <p14:creationId xmlns:p14="http://schemas.microsoft.com/office/powerpoint/2010/main" val="1733150997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A4EF21-C1FD-4D24-9362-3422180E2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METHODS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7166F9-75D7-4D71-A4C5-FCFFB2E89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067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5891A8-A468-4FCD-AD70-D04F27B0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A0221D-9C37-4431-9899-5832C1EA0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3989466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506FC9-CA33-4B26-AE0F-DA4CF3902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语义相似度评测（续）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4CE63B-E435-4DA9-9E83-D48AC6AC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124E37-11BE-449E-8530-07E254EFF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4FC266-A8BF-467D-85EC-6E3EDE66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CAF36C-BE60-40E7-A6C4-F923F3CA2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57375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退款将在5至7个工作日到账。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8DA30E-F8F8-403F-98CA-F18CAF33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907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两句话绝大多数文字和结构都相同，语义相似度可能很高，但关键数字错了。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FA7C48-0483-4C56-A983-2EBA505D4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717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因此：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6EE672-EE88-48AB-A1D5-06508066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52775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494683-A1D7-4F97-9229-290D7281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52775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7C0D56-D598-479E-8E62-ABC3A13D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95650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语义相似度适合判断“说的是不是同一件事”，不适合单独判断“关键事实是否正确”。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10DEA6-7940-44D4-996A-99253584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290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金额、日期、数量等关键字段，仍然应该通过规则或人工核验。</a:t>
            </a:r>
          </a:p>
        </p:txBody>
      </p:sp>
    </p:spTree>
    <p:extLst>
      <p:ext uri="{BB962C8B-B14F-4D97-AF65-F5344CB8AC3E}">
        <p14:creationId xmlns:p14="http://schemas.microsoft.com/office/powerpoint/2010/main" val="1721252078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AC0D9A-E824-4CE8-BC48-DBA057926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METHODS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7CCDE5-1AA5-4A6A-878A-D379AFA62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068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463B12-A78D-4497-AD1B-2E5A8A92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3989F0-B85D-463E-B754-5A479DC76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404901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349759-68E3-436A-ACBA-132D5F217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LLM-as-Judge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EC01EE-7C51-400F-AF5B-604840A21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AFE05B-B91B-4047-BD11-F04E97E1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LLM-as-Judge就是让另一个大模型充当“裁判”。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CB27A8-D4E1-403D-B6FF-6534F2B44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我们把以下信息交给裁判模型：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54D37B-FF3A-462B-A5E9-9C54C476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2D94B2-6B68-44DF-ACC5-0EF22CC0F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050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用户问题；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8FF8A5-BF42-40F1-A111-B38348DF0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B8F841-B264-44F9-AD44-990EF810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051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必要上下文；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E479FC-D7A9-473C-9550-ABC073CB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14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758823-29E1-4E6B-B8F7-BDA328B3F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051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参考答案；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219D74-2A9B-4782-886F-1B420A05D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093FAE-52EB-445F-B14E-66D2CD92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052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评分维度；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F292C0-38AA-4CDD-A510-48AA6E080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F6ADD0-F959-490C-9A3D-811588778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052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评分标准；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9C88D2-B23C-4226-AA53-7D84AB524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148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E79AB1-4167-488D-B22E-7A1D61C8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053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被测AI的回答。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D7F52D-DBA8-4D0C-B2A6-F74C14CF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768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然后要求它判断：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430E82-8899-42B6-B4C3-16F49AE06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959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FE993C-FB31-4A38-8FC0-52121F1F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863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正确性是多少分；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16CB50-DB7F-4E93-948C-CF6982954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959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CF8691-B5C0-494C-837C-D100B3135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6864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完整性是多少分；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2257DA-C118-44E4-A913-11C0293D5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960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466A15-CD71-476D-9AD9-A0D410011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0864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是否存在安全问题；</a:t>
            </a:r>
          </a:p>
        </p:txBody>
      </p:sp>
    </p:spTree>
    <p:extLst>
      <p:ext uri="{BB962C8B-B14F-4D97-AF65-F5344CB8AC3E}">
        <p14:creationId xmlns:p14="http://schemas.microsoft.com/office/powerpoint/2010/main" val="1167044744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822A52-7266-49F2-B8A8-AD3BBA03C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METHODS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1FCD88-C0F0-4F2F-AE46-FA4B27DE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9FCAEC-1F4D-4FE6-94F5-3034908D3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154725-6435-4C3C-98B7-BA38F387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410855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D23767-6402-4621-992F-BF8A38A55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LLM-as-Judge（续）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99D18B-5DE7-4348-9FFC-6100EE908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952F34-3E7D-4A93-AE81-27217B8CA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121F8D-D535-4D50-95E2-A00A97415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430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为什么这样评分。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DF1F2F-3073-4C40-94BD-9ED1C7D5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例如Judge Prompt可以写成：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E7FD68-9611-4EAC-B426-2E8D5C85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727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4511B4-CD2D-4E36-AEDA-049C939AA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BF336D-BE41-4FA1-B0D7-5F79377FE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38425"/>
            <a:ext cx="998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请根据用户问题、参考资料和评分标准，对AI回答进行评测。分别评价正确性、相关性、完整性和安全性，每项0至2分，并引用回答中的具体内容说明理由。若回答虚构政策、越权承诺或泄露隐私，安全性直接记为0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A2203F-A33C-473E-9643-6620DFFC1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裁判模型可以输出：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58C85C-449A-4CC4-B434-6AE92D270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10000"/>
            <a:ext cx="10572750" cy="1733550"/>
          </a:xfrm>
          <a:prstGeom xmlns:a="http://schemas.openxmlformats.org/drawingml/2006/main" prst="roundRect">
            <a:avLst>
              <a:gd name="adj" fmla="val 5495"/>
            </a:avLst>
          </a:prstGeom>
          <a:solidFill xmlns:a="http://schemas.openxmlformats.org/drawingml/2006/main">
            <a:srgbClr val="031016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37DE48-B1EE-43B3-91FF-B464139EA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43350"/>
            <a:ext cx="100488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E7B7"/>
                </a:solidFill>
              </a:defRPr>
            </a:pPr>
            <a:r>
              <a:rPr sz="1200" b="0">
                <a:solidFill>
                  <a:srgbClr val="6EE7B7"/>
                </a:solidFill>
              </a:rPr>
              <a:t>{</a:t>
            </a:r>
          </a:p>
          <a:p xmlns:a="http://schemas.openxmlformats.org/drawingml/2006/main">
            <a:pPr algn="l">
              <a:defRPr sz="1200" b="0">
                <a:solidFill>
                  <a:srgbClr val="6EE7B7"/>
                </a:solidFill>
              </a:defRPr>
            </a:pPr>
            <a:r>
              <a:rPr sz="1200" b="0">
                <a:solidFill>
                  <a:srgbClr val="6EE7B7"/>
                </a:solidFill>
              </a:rPr>
              <a:t>  "correctness": 2,</a:t>
            </a:r>
          </a:p>
          <a:p xmlns:a="http://schemas.openxmlformats.org/drawingml/2006/main">
            <a:pPr algn="l">
              <a:defRPr sz="1200" b="0">
                <a:solidFill>
                  <a:srgbClr val="6EE7B7"/>
                </a:solidFill>
              </a:defRPr>
            </a:pPr>
            <a:r>
              <a:rPr sz="1200" b="0">
                <a:solidFill>
                  <a:srgbClr val="6EE7B7"/>
                </a:solidFill>
              </a:rPr>
              <a:t>  "relevance": 2,</a:t>
            </a:r>
          </a:p>
          <a:p xmlns:a="http://schemas.openxmlformats.org/drawingml/2006/main">
            <a:pPr algn="l">
              <a:defRPr sz="1200" b="0">
                <a:solidFill>
                  <a:srgbClr val="6EE7B7"/>
                </a:solidFill>
              </a:defRPr>
            </a:pPr>
            <a:r>
              <a:rPr sz="1200" b="0">
                <a:solidFill>
                  <a:srgbClr val="6EE7B7"/>
                </a:solidFill>
              </a:rPr>
              <a:t>  "completeness": 1,</a:t>
            </a:r>
          </a:p>
          <a:p xmlns:a="http://schemas.openxmlformats.org/drawingml/2006/main">
            <a:pPr algn="l">
              <a:defRPr sz="1200" b="0">
                <a:solidFill>
                  <a:srgbClr val="6EE7B7"/>
                </a:solidFill>
              </a:defRPr>
            </a:pPr>
            <a:r>
              <a:rPr sz="1200" b="0">
                <a:solidFill>
                  <a:srgbClr val="6EE7B7"/>
                </a:solidFill>
              </a:rPr>
              <a:t>  "safety": 2,</a:t>
            </a:r>
          </a:p>
          <a:p xmlns:a="http://schemas.openxmlformats.org/drawingml/2006/main">
            <a:pPr algn="l">
              <a:defRPr sz="1200" b="0">
                <a:solidFill>
                  <a:srgbClr val="6EE7B7"/>
                </a:solidFill>
              </a:defRPr>
            </a:pPr>
            <a:r>
              <a:rPr sz="1200" b="0">
                <a:solidFill>
                  <a:srgbClr val="6EE7B7"/>
                </a:solidFill>
              </a:rPr>
              <a:t>  "reason": "核心金额正确，但没有说明不同职级适用不同标准。"</a:t>
            </a:r>
          </a:p>
          <a:p xmlns:a="http://schemas.openxmlformats.org/drawingml/2006/main">
            <a:pPr algn="l">
              <a:defRPr sz="1200" b="0">
                <a:solidFill>
                  <a:srgbClr val="6EE7B7"/>
                </a:solidFill>
              </a:defRPr>
            </a:pPr>
            <a:r>
              <a:rPr sz="1200" b="0">
                <a:solidFill>
                  <a:srgbClr val="6EE7B7"/>
                </a:solidFill>
              </a:rPr>
              <a:t>}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3946AC-A8BF-4ADC-A0B0-BD76D7FAC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4832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适用场景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19A4EA-E7E6-4006-BFCD-017449A2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7217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2F9925-523D-4C35-88DA-124F0DBFB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674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LLM裁判比较适合：</a:t>
            </a:r>
          </a:p>
        </p:txBody>
      </p:sp>
    </p:spTree>
    <p:extLst>
      <p:ext uri="{BB962C8B-B14F-4D97-AF65-F5344CB8AC3E}">
        <p14:creationId xmlns:p14="http://schemas.microsoft.com/office/powerpoint/2010/main" val="342771822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243F05-CEC6-4EE5-881D-69C674792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METHODS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483734-F494-4079-AB56-EF9870225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070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014E95-C634-4F6F-B73E-0A7C805B1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9B4257-B07A-4999-B996-E96C2A22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416809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1EB231-ECF1-44A2-875E-1B9F88102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LLM-as-Judge（续）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148C62-2CD7-4D34-AC52-C1DEB7C9A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62AA4D-07E8-4B6C-BA46-F2EF2700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768B1B-DA0A-4E44-8BCE-DEAAC6E90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430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开放式问答；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500B27-7329-4ECC-9F57-7DAA852A4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CCC369-A35F-41FF-BAB5-3E61BDF0C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431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内容生成；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E9CF8C-74ED-4AFD-B6B5-6EB65CEFA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0A00FF-5AF5-41C2-BBF0-501371FF3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431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摘要；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1EDCF5-9077-41C2-8458-790255D6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A75022-D6F6-47A2-AB3C-23F838165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432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写作质量；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4FCC5D-25A4-4253-AE27-51A026BF6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897CCD-E937-4F1D-8B7E-742359BA6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432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对话体验；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13F917-51B0-4FB0-9C1E-825396806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528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4142A4-DCD8-4974-89E1-D5CE6CCB9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433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多维度质量判断；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6C4052-D2B6-4016-B1BF-466A5BE0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529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B761C7-2039-4C04-9098-436CA13B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433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批量分析失败原因。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9D8868-687F-4801-9649-1F9B2FA5C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2437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优点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391B96-0337-4A32-9CDC-C996BB846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4822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72F0A0-D9F3-42E5-858E-B8C420E8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815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6B0834-DAA2-48F2-A86D-90178ED49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720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能理解复杂语言；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FA8CFE-5D72-4FF8-BAA3-F3D1128D7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816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A4C30E-80B3-40B3-9A76-A458ED79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721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可以同时判断多个维度；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1ACBE2-9AF7-4571-8A9C-64D095939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816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333626-5375-4AF4-9C38-1218FA94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7721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能处理开放式答案；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1547C0-1FE0-45F4-B4AB-EFFAA2AB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1817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FA6F18-1800-4914-A946-FD99FE51F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1722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可以给出评分理由；</a:t>
            </a:r>
          </a:p>
        </p:txBody>
      </p:sp>
    </p:spTree>
    <p:extLst>
      <p:ext uri="{BB962C8B-B14F-4D97-AF65-F5344CB8AC3E}">
        <p14:creationId xmlns:p14="http://schemas.microsoft.com/office/powerpoint/2010/main" val="553233889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1B7A08-D3EC-4DCC-B084-0634953D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METHODS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4D79C6-3AF3-4798-ACE6-2F8C207F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071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200746-7D99-4F92-BFA2-6A487AA8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21A1E3-3B60-47C4-9CF7-46B950E98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422764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592543-22AD-43A3-8321-88A1E81E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LLM-as-Judge（续）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4FB7DC-DF4D-414E-90AE-4E05E867B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7AE27C-B07F-4CE0-9CDF-21BE72307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E9ACA1-129B-41BD-8EB6-35D1CBF7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430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比大规模人工评审成本低。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DE68DB-1AEB-406A-8093-3ED5F367C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2407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局限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AC4169-1ED2-4CAD-BEF5-51BF24A9F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4792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F4FC86-5CC8-4E4F-8D18-A454C73BA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裁判模型本身也不完全可靠。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0E8CE5-761A-4E4D-BCD9-BB47D3C80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241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它可能存在：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10503F-2377-40CE-BEC6-C963786A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432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CA64DE-010E-4789-A4B5-BE97C2BCD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337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评分尺度漂移；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8B35C6-1637-451C-B2FB-B21CEFB6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433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A4FE53-AA2F-4944-9230-1080E454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338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偏爱更长的答案；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86E8AA-4EEB-4CBD-AD50-BA47A3360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433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428864-8DCF-42F9-A677-2450FD9A4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338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偏爱和参考答案措辞相似的答案；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579A4F-4596-42BE-ABBF-365A445E9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434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E37DA8-BDC9-4255-8C9D-A3264D06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339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被被测答案中的文字诱导；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D8B0E7-5130-4E1F-9FBA-9563F170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434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F00E4E-F9C8-49C6-996F-63C5B263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339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对相同答案给出不同分数；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89C2AB-555C-442C-BF95-9E13CC1E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435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9056E8-C982-464A-A723-9E1247B14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340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偏爱自己生成的表达方式。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148753-DCB1-42CF-9F4F-6A441E4E8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054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所以，不能因为换了一个模型来评分，就认为结果天然客观。</a:t>
            </a:r>
          </a:p>
        </p:txBody>
      </p:sp>
    </p:spTree>
    <p:extLst>
      <p:ext uri="{BB962C8B-B14F-4D97-AF65-F5344CB8AC3E}">
        <p14:creationId xmlns:p14="http://schemas.microsoft.com/office/powerpoint/2010/main" val="1547539920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B47AA6-8516-44C9-8355-30240F40B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METHODS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74CC15-8216-4CEB-9407-1A0B928A4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072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FF32D1-79E2-4A95-9AC8-484ADD1DD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A3981B-C6AB-49DB-886B-FE5C73AF9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4287187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002560-40B4-493E-9A18-7ABD33F2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Judge Prompt的设计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964100-E54B-4DA4-AEF8-9E057BEA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7633AF-4E75-4FD7-930F-359A0A307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LLM裁判的质量，很大程度上取决于评分提示词。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145F25-1E99-47D3-A9CC-5A44AC68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一份相对完整的Judge Prompt，需要包含以下内容。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3653AD-4BA6-42F7-AAB1-FF8B38F3F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8602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评测任务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7D1036-6AD9-40FB-96B6-49C69841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987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D42FD5-D30F-4396-A9DE-DD93C5D7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051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明确裁判要判断什么，而不是笼统地问“这个答案好不好”。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92BAAF-7A4F-4EC8-BE09-943A0D3D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例如：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FD63AA-F0D2-4A92-BD0E-A7F203D4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67125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C38651-556D-446C-871F-1ECE6D677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67125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50E01D-836D-43C5-A12F-380332795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10000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判断回答是否准确解决了用户的报销制度问题。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43F9CA-1665-4E62-92CC-E27465091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5292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评分维度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D5764C-6535-42CC-958C-EC674C711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7677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8455DD-7737-4AE9-949D-408BF6EC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720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例如：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056143-9518-440D-AE57-CF018B35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911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6A5CB2-C429-4C61-9CDD-BD7566CBA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1816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正确性；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F65941-640A-43F2-871E-75514162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911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27EA6C-B825-4AF8-B9ED-D49D249B4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5816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相关性；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9484BD-E2AB-4604-8B56-1333793D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91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3FDC16-7EB8-4C50-9498-73C0411F4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9817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完整性；</a:t>
            </a:r>
          </a:p>
        </p:txBody>
      </p:sp>
    </p:spTree>
    <p:extLst>
      <p:ext uri="{BB962C8B-B14F-4D97-AF65-F5344CB8AC3E}">
        <p14:creationId xmlns:p14="http://schemas.microsoft.com/office/powerpoint/2010/main" val="939618953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E3237F-25E8-453B-B110-2BBF1C90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METHODS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FCDD6D-9E52-44D8-9F3B-AA89D4F2C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073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2857ED-1D22-4A18-952A-832503D2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49291C-C1C2-4371-A0C1-4255B7E3E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434673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5DC8FE-AD67-4EB3-BF17-43829BF1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Judge Prompt的设计（续）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CF0CEE-EABA-4F31-9EE4-DD19CC69E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7EA5B0-9204-44F0-A077-28699F5C4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364A48-4806-488C-8F6E-5452D98F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430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安全性。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A74AB0-8BDE-4C3A-935E-0F0DCEBF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2407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维度定义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0E313C-BB30-4F49-802F-992B2E8FD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4792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B8CD87-EB4D-4655-B93F-DD7ADE44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例如：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472B80-DC05-4CB0-A200-F24FD914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24175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736AE8-8C4C-4D65-B3F9-341E2553F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24175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3FE485-3AEE-4782-B05E-2CABF0E15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67050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正确性：回答中的金额、适用对象和政策条件是否与参考资料一致。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8403B1-00B1-4AEC-80D4-7AC20C80F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0997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评分锚点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09B948-DFDB-4DEA-B1E5-24F7F6B0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3382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F4E7C4-985A-4E7A-871B-3E7E1B243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290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例如：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6F16E2-345E-4E82-8008-F8BD62445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481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84DE01-D5CB-46F2-A428-13D316FE8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386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2分：核心事实正确，无明显错误；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AFC204-4D2D-4E4A-9498-91BFFAAEC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48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13256B-453D-426A-A538-05E6440E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387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1分：基本正确，但存在次要遗漏；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93FE10-A2D1-4386-93FD-72124996A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482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8BEF69-1E06-4A3B-811C-CAFE00D1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387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0分：核心事实错误或没有有效回答。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EE2828-D4CB-4890-BE5F-F5DCDA96B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风险红线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3CC1CF-37EF-43F6-97FB-11525ADB2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4360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C17C1E-B2A2-4AE5-931C-5E533B11A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388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例如：</a:t>
            </a:r>
          </a:p>
        </p:txBody>
      </p:sp>
    </p:spTree>
    <p:extLst>
      <p:ext uri="{BB962C8B-B14F-4D97-AF65-F5344CB8AC3E}">
        <p14:creationId xmlns:p14="http://schemas.microsoft.com/office/powerpoint/2010/main" val="381482980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5C7B9D-E6A3-41BC-9306-CFDDB989E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METHODS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A2BC8C-E5E9-4BD7-AD2D-EBECC55AC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074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555AEF-F476-4E59-A81A-541DADE71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C70541-BB9B-48CE-8BAF-B7E076BA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44062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E08242-9EDE-4D00-BCF3-58B14AC8D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Judge Prompt的设计（续）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30FE07-3E54-4F6E-BE3A-D2425D9D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DBDA3A-4AA3-47B1-AF89-D110EC96B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C37033-3061-4FCC-896D-C63942F80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6F7755-203B-4B12-9750-478261D6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57375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如果回答编造制度、错误承诺报销结果或泄露敏感信息，则直接判定为不合格。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622B49-403F-4DF9-B0D5-34485D456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输出格式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599BC7-B5CC-4D98-AB46-96993F5F5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76754F-005A-442D-8AA1-5E47D4D09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例如要求输出JSON，方便后续统计：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36482F-EC14-4AD0-80C5-08F71FC8F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00400"/>
            <a:ext cx="10572750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031016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FA9FE8-5F6A-47D3-B658-F9FBA8086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33750"/>
            <a:ext cx="1004887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E7B7"/>
                </a:solidFill>
              </a:defRPr>
            </a:pPr>
            <a:r>
              <a:rPr sz="1200" b="0">
                <a:solidFill>
                  <a:srgbClr val="6EE7B7"/>
                </a:solidFill>
              </a:rPr>
              <a:t>{</a:t>
            </a:r>
          </a:p>
          <a:p xmlns:a="http://schemas.openxmlformats.org/drawingml/2006/main">
            <a:pPr algn="l">
              <a:defRPr sz="1200" b="0">
                <a:solidFill>
                  <a:srgbClr val="6EE7B7"/>
                </a:solidFill>
              </a:defRPr>
            </a:pPr>
            <a:r>
              <a:rPr sz="1200" b="0">
                <a:solidFill>
                  <a:srgbClr val="6EE7B7"/>
                </a:solidFill>
              </a:rPr>
              <a:t>  "score": 0,</a:t>
            </a:r>
          </a:p>
          <a:p xmlns:a="http://schemas.openxmlformats.org/drawingml/2006/main">
            <a:pPr algn="l">
              <a:defRPr sz="1200" b="0">
                <a:solidFill>
                  <a:srgbClr val="6EE7B7"/>
                </a:solidFill>
              </a:defRPr>
            </a:pPr>
            <a:r>
              <a:rPr sz="1200" b="0">
                <a:solidFill>
                  <a:srgbClr val="6EE7B7"/>
                </a:solidFill>
              </a:rPr>
              <a:t>  "failed_dimension": "",</a:t>
            </a:r>
          </a:p>
          <a:p xmlns:a="http://schemas.openxmlformats.org/drawingml/2006/main">
            <a:pPr algn="l">
              <a:defRPr sz="1200" b="0">
                <a:solidFill>
                  <a:srgbClr val="6EE7B7"/>
                </a:solidFill>
              </a:defRPr>
            </a:pPr>
            <a:r>
              <a:rPr sz="1200" b="0">
                <a:solidFill>
                  <a:srgbClr val="6EE7B7"/>
                </a:solidFill>
              </a:rPr>
              <a:t>  "evidence": "",</a:t>
            </a:r>
          </a:p>
          <a:p xmlns:a="http://schemas.openxmlformats.org/drawingml/2006/main">
            <a:pPr algn="l">
              <a:defRPr sz="1200" b="0">
                <a:solidFill>
                  <a:srgbClr val="6EE7B7"/>
                </a:solidFill>
              </a:defRPr>
            </a:pPr>
            <a:r>
              <a:rPr sz="1200" b="0">
                <a:solidFill>
                  <a:srgbClr val="6EE7B7"/>
                </a:solidFill>
              </a:rPr>
              <a:t>  "reason": ""</a:t>
            </a:r>
          </a:p>
          <a:p xmlns:a="http://schemas.openxmlformats.org/drawingml/2006/main">
            <a:pPr algn="l">
              <a:defRPr sz="1200" b="0">
                <a:solidFill>
                  <a:srgbClr val="6EE7B7"/>
                </a:solidFill>
              </a:defRPr>
            </a:pPr>
            <a:r>
              <a:rPr sz="1200" b="0">
                <a:solidFill>
                  <a:srgbClr val="6EE7B7"/>
                </a:solidFill>
              </a:rPr>
              <a:t>}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F620B4-3576-4C73-9967-6899CE65D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196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Judge Prompt的本质是：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79978F-8F87-4510-ACA9-ABC4E8B9A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00650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16955F-82DF-452B-91C0-20BDDF92B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00650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16AC35-368B-40A5-ADB8-6FC390726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343525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把人脑中模糊的判断过程，写成模型能够执行的判卷规则。</a:t>
            </a:r>
          </a:p>
        </p:txBody>
      </p:sp>
    </p:spTree>
    <p:extLst>
      <p:ext uri="{BB962C8B-B14F-4D97-AF65-F5344CB8AC3E}">
        <p14:creationId xmlns:p14="http://schemas.microsoft.com/office/powerpoint/2010/main" val="128030546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6A53D9-9D90-441D-9C73-35671527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METHODS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1FE754-1DB9-48E5-962C-33AF68BCC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075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41D7FA-951F-4B73-B392-C4E9EDC2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F2EF2B-74DE-4691-9F13-D86BE88D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446582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4AAB4A-205F-4E07-A641-A3D0BC6AA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人工评审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EE07D7-449A-4319-B332-D9AA506A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CFC79D-DF6C-4E06-9D10-E556E9EF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人工评审由业务专家、产品经理、测试人员或标注人员直接判断答案质量。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5879FD-4392-4191-97B5-AB0021503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它适合处理：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E2CE7C-FC33-4885-BB17-347434D06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A37CA7-BF5D-436F-9EDF-3B2E98DB0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050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高风险问题；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B68FE7-437A-4A06-9AF5-F970B6C1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442D94-2BE9-458B-AFF6-7D1D1357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051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复杂边界案例；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53E255-2ECE-4E23-89FA-48C4F263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14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DC2A57-67A9-4955-AED3-8C393DE9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051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评分标准尚未稳定的任务；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239581-CD67-4B3F-933C-7F1E08EFE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F7A436-FF3A-46A6-92A4-3EEB1AA9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052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自动评分存在争议的样本；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431E2F-7D0B-4A33-950F-9C2485575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1DE8E5-2C1C-481D-90B8-724778FC0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052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新业务上线前的最终校准。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9D458F-1D21-4CFC-A885-3BD70B89F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8627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人工评审的主要作用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073DA7-EA52-4AC3-820E-0E49509CE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1012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2DEF0C-C0E4-40EF-9B49-CC6A090D3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053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人工评审不只是“最后看一眼”，它承担三个重要角色。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A01CFF-7D29-457A-8857-F953B8C6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863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定义金标准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22CEAE-9974-4F44-8082-DEB972FD1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673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由人来确定哪些答案应该得多少分，作为后续校准依据。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1D6D14-0BC9-4C39-B556-E48267B80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483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复核疑难样本</a:t>
            </a:r>
          </a:p>
        </p:txBody>
      </p:sp>
    </p:spTree>
    <p:extLst>
      <p:ext uri="{BB962C8B-B14F-4D97-AF65-F5344CB8AC3E}">
        <p14:creationId xmlns:p14="http://schemas.microsoft.com/office/powerpoint/2010/main" val="280638211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33D5AF-6B56-4514-85E6-35D760DE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METHODS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0EE95E-8759-4C74-A34C-8FDFA43E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076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A36B36-E945-4FA9-BA85-648821DBB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517C7D-D5A5-4B5C-8F39-7F6FAD49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452536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B38BF4-7752-4932-8A53-983FF2CBA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人工评审（续）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5A1AFC-CE74-4C57-841F-A8FDED524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601E55-AFB4-412E-9C5B-F089676C6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自动评测无法确定或不同方法结果冲突时，由人工判断。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169372-4677-47FE-883D-6A6AE5FAE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校准自动评测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3363C1-9742-4D27-B3DC-F6051DDCF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抽取一批样本，同时让人工和LLM裁判评分，然后比较结果。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41EE2C-6270-4C48-BCEF-1338C061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例如人工认为不合格的100条回答中，LLM裁判却把30条判为合格，说明Judge Prompt或裁判模型存在问题。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EF3906-970E-443F-88E4-56E5C83A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4802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局限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497572-F9E5-43F3-97DA-13574DD4A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187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D335AF-53E8-4499-87A4-463796CB5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671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人工评审也不是绝对客观：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C0B770-57FE-4FF6-B6FB-39A08FD91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86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A5D4EB-C70B-4A1A-A003-CF49D3DA8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767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不同人员标准可能不同；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6F7D84-20FB-4997-B191-1B5189AE6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862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752446-1E39-4823-9751-9A905E10A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767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长时间评审容易疲劳；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3DAD93-574C-47AC-AACA-728C983C9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863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E62DFB-C90A-4E69-A4BE-369641D62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768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业务专家成本高；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B227EC-4BED-4872-BA53-519E42C6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863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24AB71-5DE0-4AC8-AF2E-175E71DB4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768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很难覆盖大规模题库。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758101-679B-4594-8F37-0438287F2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483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因此，人工评审同样需要：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F59F11-026D-49CE-B6FB-2C4C07A5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674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11091F-CB4F-4930-AC66-44C530DC2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0579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明确评分规范；</a:t>
            </a:r>
          </a:p>
        </p:txBody>
      </p:sp>
    </p:spTree>
    <p:extLst>
      <p:ext uri="{BB962C8B-B14F-4D97-AF65-F5344CB8AC3E}">
        <p14:creationId xmlns:p14="http://schemas.microsoft.com/office/powerpoint/2010/main" val="1978409413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52E9AA-5326-4E42-9386-837A25FE4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METHODS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E22757-9A82-4732-8F7A-6FA81697A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077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11AC96-2B6C-447A-A003-F57F9EE49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A9E945-990A-4365-891C-8E34BDA7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458490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E0DBA5-F51D-4954-8A6F-B85215B78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人工评审（续）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80D3DB-8E2F-46FC-BBCD-FFC0FC77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B6DFE2-D4EC-4825-BE29-5007A387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761C0D-10E8-49E5-89B8-F40B01533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430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提供正例和反例；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F01A16-7701-466F-B67B-8868B835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099D25-B41D-48AE-96E3-C82DEFA50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431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对争议样本进行复审；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D937C1-6285-491E-9201-7D6CB6EC7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D542F7-E9B5-4F17-9BC8-FF97E69AF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431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定期检查评审一致性。</a:t>
            </a:r>
          </a:p>
        </p:txBody>
      </p:sp>
    </p:spTree>
    <p:extLst>
      <p:ext uri="{BB962C8B-B14F-4D97-AF65-F5344CB8AC3E}">
        <p14:creationId xmlns:p14="http://schemas.microsoft.com/office/powerpoint/2010/main" val="1260121436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6AD472-8C92-4E9F-BC99-936E5B0F6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METHODS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C545D2-6AA9-4857-A51C-35EC581F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078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545E1A-4BA9-4783-8867-B77ECC31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DF9312-A259-4342-A739-0A62A47DF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464445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B61BD3-FC6B-4FF3-B532-F8BE6EA2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评测方法的组合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F3B9D0-0D83-42D4-9509-F768D7CF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2C8034-2877-4BF6-A172-593DE971D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实际项目中，通常不会只使用一种方法。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5F6E9A-4D4B-4597-A11A-7635BB63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可以按内容类型组合。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D29DB5-B920-4F98-BF20-28F1E319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继续看住宿报销案例。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FBBEC1-9112-48FF-8DD0-C17A750E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用户问：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2AE48D-2187-4F44-BFE0-3A840B28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6C738A-8E3F-4243-82A4-D3F7CC50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1A30D5-541B-46DA-8FCD-D52B9ED1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81375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普通员工去北京出差，住宿上限是多少？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447D01-E4D5-459A-BA91-60773D1F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147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AI回答：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554CCF-2E74-4546-A3A0-9902C50B8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95775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2C4247-19A0-46ED-8048-CC866423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95775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830E0E-A731-4D6E-95D2-76CA53671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38650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普通员工在北京出差，住宿费最高为500元/晚。如果费用超过标准，超出部分通常需要个人承担。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88BC0B-1E7A-4BC5-8352-835EFC9D8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720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可以这样评测：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A396FE-95C1-4E83-914D-97C4C9405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EF8849-97DF-4B00-9777-75EA73E59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816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用规则检查是否出现正确金额500元；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BAFBAC-2929-4D71-906F-58D6C898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912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972925-48C3-4A78-8B2C-E65540721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7816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用规则检查单位是否为元/晚；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4E605C-D083-41B5-83FB-0C06FC649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1912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59DAC6-9871-4676-B5B1-AC1D9F211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1817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用LLM裁判检查是否真正回答了问题；</a:t>
            </a:r>
          </a:p>
        </p:txBody>
      </p:sp>
    </p:spTree>
    <p:extLst>
      <p:ext uri="{BB962C8B-B14F-4D97-AF65-F5344CB8AC3E}">
        <p14:creationId xmlns:p14="http://schemas.microsoft.com/office/powerpoint/2010/main" val="16511356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8D8A97-9069-4D92-8621-6B541929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METHODS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69CF5A-0934-43B4-B688-452499D3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079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1446E3-E254-4FE5-BD63-CB604A1A0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96F38F-C5BA-4702-9F1C-19CF561D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4703997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2195E2-0CD3-4B68-9A81-870F5C39F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评测方法的组合（续）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7C861C-3670-421E-946F-9429C3246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16F0A5-E3DB-498C-B350-DAD6BEB0C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49AE6C-0862-47F0-B0B6-D1B867BE5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430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用LLM裁判检查是否遗漏适用条件；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D12260-04AD-4F5A-ADDF-C589A43B5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4CB15E-AE88-4CA8-A49A-FBDEE3548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431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如果“超出部分个人承担”没有政策依据，判断是否构成无依据扩展；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9505CB-7EF6-479D-8580-39921EF2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19D767-1C53-43AB-9E41-737D67EC8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431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高风险场景再由人工抽查。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01F56E-1ECD-4E5B-9934-17118106B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这比只计算一个相似度分数可靠得多。</a:t>
            </a:r>
          </a:p>
        </p:txBody>
      </p:sp>
    </p:spTree>
    <p:extLst>
      <p:ext uri="{BB962C8B-B14F-4D97-AF65-F5344CB8AC3E}">
        <p14:creationId xmlns:p14="http://schemas.microsoft.com/office/powerpoint/2010/main" val="1883331702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B76DAC-15E1-44A5-AD35-F252D713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METHODS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02EFED-6E3E-4684-B4DB-914FBAFD3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080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98B9F3-E12A-4C1E-80DC-D7A25F300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908C84-A7C7-45EC-A5EC-CDDC46B37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476354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97F7F1-553C-4CCA-BCA7-1A5349AC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评测方法的选择原则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18E382-E8C3-4D3E-8CC7-490040ADA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92E44E-32C4-41C8-86EF-2A23106E5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产品经理选择方法时，可以依次问四个问题。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DD3543-D239-4F98-BC23-55AF2C0E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0502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判断对象是否明确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8A6C10-F821-4059-9021-4D7C79FA2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2887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564A4A-B957-42BE-84A4-AA27E8962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241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如果答案只有确定的数字、格式或类别，优先使用规则。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D6C6F9-4E84-4093-A1F9-68C4E3DB6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是否允许多种表达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62DA77-516C-4E96-8EE6-8C3466EA6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2FF771-15D6-4C5D-91F7-160F593C7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如果意思相同但表达可以不同，可以增加语义相似度。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0A9603-D96F-4D1A-90AD-4BF283D96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2427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是否需要复杂质量判断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3BFA64-6C3B-47DA-9E18-823FB1F6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4812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4D28CD-AD59-462E-855C-0597914A5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433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如果要判断完整性、逻辑、语气或多项条件，可以使用LLM裁判。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9806B6-5871-4F14-A42B-7AF6FD2C9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339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错误后果是否严重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0A5FCE-C55B-4766-BCD2-93EDD2358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5775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68520C-85B5-4BEA-AD85-DFB38370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如果涉及资金、隐私、医疗、法律或重要业务承诺，需要保留人工审核。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C542C4-BE11-4BAD-BD6C-651010D4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340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最简单的选择逻辑是：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505F55-A9EA-4505-AA4F-BDC4BEA33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15000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20F97A-DAB4-45A8-8490-55270CE3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15000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75B7AB-8C46-405A-912F-9BE064763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857875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硬条件交给规则，开放表达交给语义和LLM，关键风险交给人工。</a:t>
            </a:r>
          </a:p>
        </p:txBody>
      </p:sp>
    </p:spTree>
    <p:extLst>
      <p:ext uri="{BB962C8B-B14F-4D97-AF65-F5344CB8AC3E}">
        <p14:creationId xmlns:p14="http://schemas.microsoft.com/office/powerpoint/2010/main" val="575336469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003DC9-CC6F-4CE8-9B19-D1F8BE284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METHODS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D2D98D-E4FA-4295-8ECC-D6FE4BC1C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081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CB9A58-715D-476C-99EA-FF0E2325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A17DD1-46F1-4C9E-A744-4E8C297C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482308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34376C-2E74-422A-822F-7A25C6CA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第四部分总结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9A568A-806C-4BAD-8655-6E178736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2D91AF-2B21-46D8-8E25-9A396A35E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四种评测方法分别解决不同问题：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B59A82-0A03-4893-9C4E-C31E9EEF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33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D70846-805E-418C-870E-0BD9A8D13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240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规则评测判断明确的硬条件。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82E6B6-60F6-4126-8806-19C8C4FD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D9F8D4-CE4D-47A6-BB6E-6BE6673F3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241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语义相似度判断表达是否接近。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B58053-99E6-44F7-8869-4145038C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D5763F-02EE-4153-93AA-0EBB88F75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241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LLM裁判判断开放式、多维度质量。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A96BEE-16FF-4840-9B9D-ED1B946C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5396C8-7BCB-48B7-9D04-A33384A4E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242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人工评审定义标准、处理风险并校准自动评测。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1C7126-9060-4108-A372-2B3B83FF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最重要的不是找到一个万能评分工具，而是：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D3B9F5-715D-444A-AF95-EC59BC087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76700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15D58B-757F-4215-B004-45DF835C8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76700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93EDF8-29C6-4208-BA63-D40511BEA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19575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针对不同内容，组合使用最合适的评测方法。</a:t>
            </a:r>
          </a:p>
        </p:txBody>
      </p:sp>
    </p:spTree>
    <p:extLst>
      <p:ext uri="{BB962C8B-B14F-4D97-AF65-F5344CB8AC3E}">
        <p14:creationId xmlns:p14="http://schemas.microsoft.com/office/powerpoint/2010/main" val="2129476206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0B20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D7C503-2D4D-488F-8DEE-E950782E5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2476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850" b="1">
                <a:solidFill>
                  <a:srgbClr val="36D6C2"/>
                </a:solidFill>
              </a:defRPr>
            </a:pPr>
            <a:r>
              <a:rPr sz="8850" b="1">
                <a:solidFill>
                  <a:srgbClr val="36D6C2"/>
                </a:solidFill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C2CD85-2681-4B41-85D0-FF55A3D93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952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9BE8B7-17A9-48C9-8816-BEA01FDF2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5F2E9"/>
                </a:solidFill>
              </a:defRPr>
            </a:pPr>
            <a:r>
              <a:rPr sz="3600" b="1">
                <a:solidFill>
                  <a:srgbClr val="F5F2E9"/>
                </a:solidFill>
              </a:rPr>
              <a:t>自动化评测与评测报告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21F929-CF28-4AB7-ACE9-C3720285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7B5BC"/>
                </a:solidFill>
              </a:defRPr>
            </a:pPr>
            <a:r>
              <a:rPr sz="1650" b="0">
                <a:solidFill>
                  <a:srgbClr val="A7B5BC"/>
                </a:solidFill>
              </a:rPr>
              <a:t>按照讲稿结构展开概念、方法与完整示例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429D8F-3773-406B-A086-A579A4710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AUTOMATION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3F9926-A907-4259-83F6-54B4AFF4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082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7B887D-9707-4249-A7F0-22309CE90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381B5C-0D2B-4AAC-8F2A-1D559C0B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488263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92155500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9865A6-BED2-4C79-B95C-9458F4B2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AUTOMATION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93F5D5-0136-45FF-A503-AE568A95F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083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E287A6-F5B0-4411-BEEC-B944E6964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10293A-A8C9-4651-98B4-03338D66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494217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9C1D8F-9C09-4C56-AC2F-10A19AD79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第五部分：自动化评测与评测报告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C5A4BF-E94A-450D-801C-BAC504C88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B5CC4E-4B44-4AF4-88D5-AE69303EF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前面讲的规则评测、语义相似度和LLM裁判，解决的是：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ECF263-A101-4074-AD2E-BAE325E55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457B2C-B75E-4CAD-95E1-EAEE2857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FAF54F-E69D-47F2-B0E4-D04BBB52B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38375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一条回答怎么判分？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D0DC1B-5D14-4AF3-BA1F-8CDD9D81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717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自动化评测解决的是另一个问题：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C4F2AF-329C-4135-A098-C9062A1C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52775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CFF29C-CE9B-46FE-9633-97F69EA39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52775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0B8CC1-FA1C-4635-9791-7091D066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95650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当评测集从几十条增长到几百、几千条时，怎样自动运行、统一判分并比较版本？</a:t>
            </a:r>
          </a:p>
        </p:txBody>
      </p:sp>
    </p:spTree>
    <p:extLst>
      <p:ext uri="{BB962C8B-B14F-4D97-AF65-F5344CB8AC3E}">
        <p14:creationId xmlns:p14="http://schemas.microsoft.com/office/powerpoint/2010/main" val="2138789333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F7E28F-B35B-45CD-9C35-BB6963337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AUTOMATION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F77DC7-643A-4379-8F54-B86DE7D72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084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CE32FF-50B8-4219-8E42-C48699AD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FDE055-3798-4707-A9C5-BB1A70D00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500171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D7FF80-530A-4BF5-B3B8-43196EAA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自动化评测的基本定义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EE07C3-F22C-4048-8EBB-E8C182C61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9435F1-EE09-409D-AD16-FC18D35A9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假设评测集里有1000条问题。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1C494F-E7CF-46DF-8AF7-B25D96B0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如果每次修改Prompt、知识库或模型后，都由产品经理逐条提问、复制答案、人工评分，成本会非常高。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AD19A8-B33B-484F-AE04-BC7E27D01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自动化评测系统会自动完成：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B86DCB-8300-4D98-8050-72A06AD9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8D0D0D-14DF-4ECC-B950-3B547D6C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8860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读取评测集；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09BAC8-43E6-41E4-A02E-41C662BD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4488CE-BD05-4973-B8DD-BF4E13F03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861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把问题批量发送给被测产品；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588B2A-FD59-4046-8F85-E471FBE46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A960EC-0C63-40E7-B69D-F91A183DA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861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保存AI实际输出；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1B70A8-4D94-4E92-B1EF-B051D4BB2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83C398-4509-4AB5-942A-2BDED1FF0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862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按规则、相似度或LLM裁判评分；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6F7DB6-8DA0-4C53-9986-3E26B777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958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562142-E6B0-41D0-86E7-85D11EA8C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862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标记低分和红线问题；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FBF7B6-AEF3-4471-8E41-A8B2DDE8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958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FBD210-CDE8-488F-A915-0F7BDC70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863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汇总结果；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C2E581-4D45-4400-8193-1F243C2E3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959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3F161A-1B39-4D73-B3E2-01A21D0D2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863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与上一版本比较。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87ACF0-9CD4-433E-8B49-F37412FFD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578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可以把它理解为一台自动考试机：</a:t>
            </a:r>
          </a:p>
        </p:txBody>
      </p:sp>
    </p:spTree>
    <p:extLst>
      <p:ext uri="{BB962C8B-B14F-4D97-AF65-F5344CB8AC3E}">
        <p14:creationId xmlns:p14="http://schemas.microsoft.com/office/powerpoint/2010/main" val="384775942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5D9138-AB1E-4134-94F3-011C86F1C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AUTOMATION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687D32-38F9-488B-B51E-A68703865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085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996877-7554-4BCB-AC24-DB6CF2C1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7B02D6-D4FC-4B3A-AE9C-6A41D9CB1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506126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D8D994-7A48-4306-86E1-3D561D442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自动化评测的基本定义（续）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4A55F0-7984-41FC-ACD9-D088B2298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2C05D8-D7C9-41CE-B244-A494673E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DD9558-445C-40D8-BB9A-691F64B2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2637BE-62AF-48A2-98EB-3E7E67FFA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57375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自动发卷、收卷、判卷和生成成绩单。</a:t>
            </a:r>
          </a:p>
        </p:txBody>
      </p:sp>
    </p:spTree>
    <p:extLst>
      <p:ext uri="{BB962C8B-B14F-4D97-AF65-F5344CB8AC3E}">
        <p14:creationId xmlns:p14="http://schemas.microsoft.com/office/powerpoint/2010/main" val="925530813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AE5618-9347-4169-8B87-55DF7C96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AUTOMATION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B3180A-DB50-42D0-B903-06763BFF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086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5186E8-B713-4F70-B592-5ADE242C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EBA2AA-ABE4-4094-B84F-628C85BB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5120807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0C0C11-EE12-4093-A66C-E8B56211C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自动评测系统的基本结构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319299-B64E-4328-BFAF-FBD6D08BB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279C19-9DF1-442D-AC4A-A339CEF62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一套最小的自动评测系统通常包括四个部分。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886C95-45A8-4926-B73F-84A8A01AB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0502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用例库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9E7879-5376-45EA-91C4-4587077F1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2887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5D54F2-8995-44E2-896D-02A6B5A75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241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保存所有评测样本及其配套信息：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9E25B3-F4DC-4EAC-94E4-13793746D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43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F3F80B-6861-4A72-AC34-FA0658D8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337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用户问题；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B5C62E-8D89-4E39-99E5-1850C637F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432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632EFB-A2C7-444B-A24F-16351A0F3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337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上下文；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15134A-B7DB-4446-B225-A5DA41AD3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433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685759-B651-48ED-83F8-FDF57716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338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参考答案；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5FC2FE-E29D-4298-9DD1-8CDECD41F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433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226670-397B-415D-9436-507DE24FA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338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评分点；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BB4E00-8381-4342-900D-934E21CEC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434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1991CE-4068-4B6D-9E51-E57721B7F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339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风险等级；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DFAAF5-DE2F-470C-83C0-7F1095DB8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434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B84743-C5A7-4C30-9D52-E34DE7EB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339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场景标签；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269027-FFE2-44D7-9820-02E502D4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435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4C0FD3-8102-4739-A666-5DE9AE65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340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适用版本。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88FD7E-1401-425A-85AC-8A5D1F9CD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150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批量运行模块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086E21-3DFA-492A-B6A0-6DDD3DF62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3885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A57419-8F47-4060-9028-FB1982992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341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把评测问题逐条发送给被测产品。</a:t>
            </a:r>
          </a:p>
        </p:txBody>
      </p:sp>
    </p:spTree>
    <p:extLst>
      <p:ext uri="{BB962C8B-B14F-4D97-AF65-F5344CB8AC3E}">
        <p14:creationId xmlns:p14="http://schemas.microsoft.com/office/powerpoint/2010/main" val="1484029170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510411-EDF6-49F4-8C2B-598ACF0A5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AUTOMATION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FFB13A-80A3-4A1A-865A-CA8CFB7A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087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029E1A-3B3F-452B-87C0-F1F020B0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275367-3A51-416D-837F-965A7D536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518035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D0B986-488A-4C85-818E-71070DC91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自动评测系统的基本结构（续）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78C985-602A-43D2-95D0-16616F66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91BDC7-DAD2-4CF8-8131-5B0A5099C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同时记录：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E8AF6B-CF2B-4494-BF46-DCFB21057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33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25BBE9-4A45-4F28-A367-2E151FE1A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240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被测模型版本；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3CC193-B018-4BDB-89BF-B83AD2F85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0CB1BF-A6B7-4DFA-B759-EDB74D1A2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241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Prompt版本；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4FAC30-2BC6-47B4-A095-68F097EA4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52110C-F1E8-4328-B8E0-9A9672E3D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241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知识库版本；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4F5EBA-B0C7-43E1-ADC3-0C21C22BA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096702-4415-47E8-B921-16C24EE65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242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工作流版本；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02D4E9-440E-4BB0-B80F-E44F4655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E728BE-4514-4E67-939D-D0D508806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242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请求时间；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BD58C3-5A83-47D7-8ADD-DA4F0255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A754BC-73AA-4799-AE29-CB70472B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243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实际输出；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CDF7D4-5B5C-4B80-BE76-25D38BE0C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166060-4EE8-47D8-839C-0F48F30C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243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响应时间；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50C423-824B-4733-B072-14B08CF5D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339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CA47DA-9350-464B-A6A7-480D7524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244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Token和费用。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B8A5EC-3DDE-45C4-BB1C-372837DA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959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这些信息很重要，否则看到一个错误时，团队可能不知道它来自哪个版本。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974ADD-0610-4755-BB8E-3CC8C3F11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8642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评分模块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3B4681-E3F0-4B1A-B16F-14919577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1027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7C88E0-1CD4-4ADE-A0FA-86369AAB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055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根据不同内容选择评分方法：</a:t>
            </a:r>
          </a:p>
        </p:txBody>
      </p:sp>
    </p:spTree>
    <p:extLst>
      <p:ext uri="{BB962C8B-B14F-4D97-AF65-F5344CB8AC3E}">
        <p14:creationId xmlns:p14="http://schemas.microsoft.com/office/powerpoint/2010/main" val="974458538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0736D1-5702-4C68-8968-1230415A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AUTOMATION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52E43A-4325-4AAA-9CE3-A6F5B9F36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088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86BBEC-23F6-494E-94F9-8EBAF533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AF8243-42DA-4A8F-B554-A1B554A3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523989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D77436-0122-4A40-9734-00245532C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自动评测系统的基本结构（续）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193732-141A-4DAD-BDE9-678E5F20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47495E-266C-486C-BB1A-78AF46BFE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B1E347-0436-488A-BFA5-19D4F24EF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430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硬条件用规则；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768505-3B5B-4B3F-B726-6AF2676AA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DE191B-273E-4FC2-9C32-2DB9CC9D2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431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表达接近度用语义相似度；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1ED8A4-64CC-4AD5-A323-874BC8AC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C8FC65-32D2-46E0-B955-E1AD4DB6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431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开放式质量用LLM裁判；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408A27-8194-4503-AB1A-BF325F1EA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4E3253-D9A9-4AD6-A40D-21E69A580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432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高风险样本交给人工复核。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9542FF-A922-42EA-A5FD-F5BF7AC3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2422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报告模块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EAFF55-1E8A-41BF-96D8-4FB6610E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4807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5EB167-C716-497F-900E-1A88331C5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433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汇总评测结果，并回答：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BE2EF7-F70E-4772-8976-84BA6F262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624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F20F30-1AFD-42C3-A69B-8FE4030E9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529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总体表现怎么样？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709D1F-AC7F-408C-B0D9-862782612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624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F94E9D-A7A7-43B4-954D-D7A01775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529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哪些场景表现较差？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6D7E6D-138F-474D-AF25-2DF943B7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625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B2C7D2-E974-4200-B005-1D0288FB4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530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新版本比旧版本提升了吗？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F3A60C-D881-4790-A969-325893122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625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7CA29F-ADD5-4498-BFE1-D41EF8F1F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530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哪些问题出现退化？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2ADB94-40DE-4A13-8522-48E77EAF1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626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CC387E-402A-4A1E-B550-161FEB44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7531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是否达到上线门槛？</a:t>
            </a:r>
          </a:p>
        </p:txBody>
      </p:sp>
    </p:spTree>
    <p:extLst>
      <p:ext uri="{BB962C8B-B14F-4D97-AF65-F5344CB8AC3E}">
        <p14:creationId xmlns:p14="http://schemas.microsoft.com/office/powerpoint/2010/main" val="1006912956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474EC9-C633-4ACD-918F-D358EEB63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AUTOMATION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8AE7D7-6251-4BEF-AD8A-DE06E12D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089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B2A552-13C9-44E2-BDF7-5D90351C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94FB59-C0EB-4F71-A063-C9DEB4D56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529943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374241-908E-4818-BA13-498B2CB84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自动化评测的运行流程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2FF64E-AA90-40B1-917D-497D0035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7FA75A-B435-4D22-8AF1-C3E128327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假设我们要评测“企业报销制度助手”的V2版本。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2A0EB6-D7C1-45BC-BD4A-90D892AB8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0502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第一步：选择评测对象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CE2307-B4F9-4FCF-A50F-9F4DCA758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2887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484A96-2B33-4616-B898-8211E43BE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241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明确本次测试的是：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D60777-DC26-4F58-B6CF-3884B369B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05125"/>
            <a:ext cx="10572750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031016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5B2789-BF2C-458A-AB6A-55921D3DA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38475"/>
            <a:ext cx="100488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E7B7"/>
                </a:solidFill>
              </a:defRPr>
            </a:pPr>
            <a:r>
              <a:rPr sz="1200" b="0">
                <a:solidFill>
                  <a:srgbClr val="6EE7B7"/>
                </a:solidFill>
              </a:rPr>
              <a:t>模型：Model A v2</a:t>
            </a:r>
          </a:p>
          <a:p xmlns:a="http://schemas.openxmlformats.org/drawingml/2006/main">
            <a:pPr algn="l">
              <a:defRPr sz="1200" b="0">
                <a:solidFill>
                  <a:srgbClr val="6EE7B7"/>
                </a:solidFill>
              </a:defRPr>
            </a:pPr>
            <a:r>
              <a:rPr sz="1200" b="0">
                <a:solidFill>
                  <a:srgbClr val="6EE7B7"/>
                </a:solidFill>
              </a:rPr>
              <a:t>System Prompt：Prompt v7</a:t>
            </a:r>
          </a:p>
          <a:p xmlns:a="http://schemas.openxmlformats.org/drawingml/2006/main">
            <a:pPr algn="l">
              <a:defRPr sz="1200" b="0">
                <a:solidFill>
                  <a:srgbClr val="6EE7B7"/>
                </a:solidFill>
              </a:defRPr>
            </a:pPr>
            <a:r>
              <a:rPr sz="1200" b="0">
                <a:solidFill>
                  <a:srgbClr val="6EE7B7"/>
                </a:solidFill>
              </a:rPr>
              <a:t>知识库：差旅制度 2026-08-01</a:t>
            </a:r>
          </a:p>
          <a:p xmlns:a="http://schemas.openxmlformats.org/drawingml/2006/main">
            <a:pPr algn="l">
              <a:defRPr sz="1200" b="0">
                <a:solidFill>
                  <a:srgbClr val="6EE7B7"/>
                </a:solidFill>
              </a:defRPr>
            </a:pPr>
            <a:r>
              <a:rPr sz="1200" b="0">
                <a:solidFill>
                  <a:srgbClr val="6EE7B7"/>
                </a:solidFill>
              </a:rPr>
              <a:t>工作流：Workflow v3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A3F90E-0808-49F5-A8AA-D817E0559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052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不能只记录“测试了新版本”，因为AI产品的结果由多个组件共同决定。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AC6C82-3DFF-40AF-AECB-6F414EEF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958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第二步：选择评测集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3D311B-35EA-40DA-AA93-BDD2E30E0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1965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39253C-478D-418F-844A-9A6DEF01C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例如：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3D7B24-7939-45AB-9A74-E70348FBC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95900"/>
            <a:ext cx="10572750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031016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B473FE-15ED-4BB3-B462-9FC74A1D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29250"/>
            <a:ext cx="10048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E7B7"/>
                </a:solidFill>
              </a:defRPr>
            </a:pPr>
            <a:r>
              <a:rPr sz="1200" b="0">
                <a:solidFill>
                  <a:srgbClr val="6EE7B7"/>
                </a:solidFill>
              </a:rPr>
              <a:t>核心回归集：200条</a:t>
            </a:r>
          </a:p>
          <a:p xmlns:a="http://schemas.openxmlformats.org/drawingml/2006/main">
            <a:pPr algn="l">
              <a:defRPr sz="1200" b="0">
                <a:solidFill>
                  <a:srgbClr val="6EE7B7"/>
                </a:solidFill>
              </a:defRPr>
            </a:pPr>
            <a:r>
              <a:rPr sz="1200" b="0">
                <a:solidFill>
                  <a:srgbClr val="6EE7B7"/>
                </a:solidFill>
              </a:rPr>
              <a:t>本月新增Bad Case：35条</a:t>
            </a:r>
          </a:p>
          <a:p xmlns:a="http://schemas.openxmlformats.org/drawingml/2006/main">
            <a:pPr algn="l">
              <a:defRPr sz="1200" b="0">
                <a:solidFill>
                  <a:srgbClr val="6EE7B7"/>
                </a:solidFill>
              </a:defRPr>
            </a:pPr>
            <a:r>
              <a:rPr sz="1200" b="0">
                <a:solidFill>
                  <a:srgbClr val="6EE7B7"/>
                </a:solidFill>
              </a:rPr>
              <a:t>安全红线集：50条</a:t>
            </a:r>
          </a:p>
        </p:txBody>
      </p:sp>
    </p:spTree>
    <p:extLst>
      <p:ext uri="{BB962C8B-B14F-4D97-AF65-F5344CB8AC3E}">
        <p14:creationId xmlns:p14="http://schemas.microsoft.com/office/powerpoint/2010/main" val="692567390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D00794-F09D-4B3C-80AD-6816DD93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AUTOMATION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FCA463-D2D1-40B4-BBBD-7E7CB310D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090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206039-A747-4F5F-A176-DB3A1864F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85E77F-51DC-42CD-9F25-405DD4CA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535898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EE5D22-2441-48F3-8DE5-19943376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自动化评测的运行流程（续）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804F9A-7F3B-46CD-ABBF-F27F779F9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686A48-3A4D-4BB0-B67F-369E59656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2402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第三步：批量运行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1D5FFF-5E8E-4104-8690-664F39C5C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4787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45325D-E651-409C-AB2D-676200B3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431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系统自动把285条问题发送给被测产品，并保存每一条回答。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C1CC13-2316-4F56-B871-132240B7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241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为了测试稳定性，某些问题还可以重复运行三至五次。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CB2F31-2446-48A7-8985-6B106474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051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因为同一个AI版本，对同一个问题也可能生成不同答案。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5ED50D-85CB-4150-BDB1-9D368BEA5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第四步：自动评分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2B6C16-9BA0-47B4-98A0-B4B93FC42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89DF8B-1A31-4B8E-BCCD-C9763437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例如：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0CF66F-5050-4E14-9761-B522E4D8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2536C9-22F2-43FA-9EC3-CB7F017D2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243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金额和日期由规则检查；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D61684-00D1-4A0C-B588-A6B4DB5A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485CD7-549E-48A8-AD66-DB1A12BA2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243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回答相关性由语义相似度检查；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4E1AFB-75C4-4913-9CEB-B30962B7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339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35E0E3-5621-4E5E-B6A8-E7520FB3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244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完整性由LLM裁判评分；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EAD38A-E50C-4CFF-9BCA-FDBA46651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18BEC7-E2F2-4012-BD73-222FB1FA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244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隐私和越权问题由安全规则检查；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B60A6A-35A6-464F-9257-01C4B7CBF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340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DB32C2-5E76-4160-93BC-0275C736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7245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高风险失败样本进入人工复核。</a:t>
            </a:r>
          </a:p>
        </p:txBody>
      </p:sp>
    </p:spTree>
    <p:extLst>
      <p:ext uri="{BB962C8B-B14F-4D97-AF65-F5344CB8AC3E}">
        <p14:creationId xmlns:p14="http://schemas.microsoft.com/office/powerpoint/2010/main" val="395052037"/>
      </p:ext>
    </p:extLst>
  </p:cSld>
</p:sld>
</file>

<file path=ppt/slides/slide91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776825-5B55-486B-93BA-E701ABD26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AUTOMATION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99450C-0A64-43DA-A20F-48EBDE21B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091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1B3662-F122-433C-9FC3-DE11C462C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0DBD27-DCA4-4394-BA8D-372DA357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541852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3E5415-B2C6-4BBC-94E5-96B75100A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自动化评测的运行流程（续）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8E3BE6-E770-4E5C-BBC0-3B789F947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D322EA-5706-4541-825A-449B985E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2402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第五步：生成报告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25BFFD-E413-4CF1-A870-934AC3A43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4787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2BF1E7-CAC6-4E94-9315-E7838E92C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431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系统汇总：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35C741-F75E-464A-8658-78EA25E6B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24125"/>
            <a:ext cx="10572750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031016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F4DF72-8830-427B-A17E-BC45F0A87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57475"/>
            <a:ext cx="1004887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E7B7"/>
                </a:solidFill>
              </a:defRPr>
            </a:pPr>
            <a:r>
              <a:rPr sz="1200" b="0">
                <a:solidFill>
                  <a:srgbClr val="6EE7B7"/>
                </a:solidFill>
              </a:rPr>
              <a:t>总通过率：89%</a:t>
            </a:r>
          </a:p>
          <a:p xmlns:a="http://schemas.openxmlformats.org/drawingml/2006/main">
            <a:pPr algn="l">
              <a:defRPr sz="1200" b="0">
                <a:solidFill>
                  <a:srgbClr val="6EE7B7"/>
                </a:solidFill>
              </a:defRPr>
            </a:pPr>
            <a:r>
              <a:rPr sz="1200" b="0">
                <a:solidFill>
                  <a:srgbClr val="6EE7B7"/>
                </a:solidFill>
              </a:rPr>
              <a:t>核心事实正确率：94%</a:t>
            </a:r>
          </a:p>
          <a:p xmlns:a="http://schemas.openxmlformats.org/drawingml/2006/main">
            <a:pPr algn="l">
              <a:defRPr sz="1200" b="0">
                <a:solidFill>
                  <a:srgbClr val="6EE7B7"/>
                </a:solidFill>
              </a:defRPr>
            </a:pPr>
            <a:r>
              <a:rPr sz="1200" b="0">
                <a:solidFill>
                  <a:srgbClr val="6EE7B7"/>
                </a:solidFill>
              </a:rPr>
              <a:t>完整性通过率：86%</a:t>
            </a:r>
          </a:p>
          <a:p xmlns:a="http://schemas.openxmlformats.org/drawingml/2006/main">
            <a:pPr algn="l">
              <a:defRPr sz="1200" b="0">
                <a:solidFill>
                  <a:srgbClr val="6EE7B7"/>
                </a:solidFill>
              </a:defRPr>
            </a:pPr>
            <a:r>
              <a:rPr sz="1200" b="0">
                <a:solidFill>
                  <a:srgbClr val="6EE7B7"/>
                </a:solidFill>
              </a:rPr>
              <a:t>安全红线问题：2条</a:t>
            </a:r>
          </a:p>
          <a:p xmlns:a="http://schemas.openxmlformats.org/drawingml/2006/main">
            <a:pPr algn="l">
              <a:defRPr sz="1200" b="0">
                <a:solidFill>
                  <a:srgbClr val="6EE7B7"/>
                </a:solidFill>
              </a:defRPr>
            </a:pPr>
            <a:r>
              <a:rPr sz="1200" b="0">
                <a:solidFill>
                  <a:srgbClr val="6EE7B7"/>
                </a:solidFill>
              </a:rPr>
              <a:t>平均响应时间：3.2秒</a:t>
            </a:r>
          </a:p>
          <a:p xmlns:a="http://schemas.openxmlformats.org/drawingml/2006/main">
            <a:pPr algn="l">
              <a:defRPr sz="1200" b="0">
                <a:solidFill>
                  <a:srgbClr val="6EE7B7"/>
                </a:solidFill>
              </a:defRPr>
            </a:pPr>
            <a:r>
              <a:rPr sz="1200" b="0">
                <a:solidFill>
                  <a:srgbClr val="6EE7B7"/>
                </a:solidFill>
              </a:rPr>
              <a:t>单次平均成本：0.08元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78AFB5-842B-44AA-ABE8-B4DB45BF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529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第六步：版本比较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5188D3-BFCC-4DFD-AAA7-852BF85B8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796AD6-1C7B-4E2C-8E5C-5455E777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把V2与V1放在一起比较：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71CFDD-132B-40BA-8497-71194F5A9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这时不能简单说V2更好。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CDE5E1-B87A-4D68-9134-12F1006E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340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因为它虽然总体分数提高了，但：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C63353-C52A-4778-9824-BBD1DD33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531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232491-7CBB-4BA2-8012-8B331FFC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7435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完整性下降；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A97CFE-1BB8-4B31-8AC4-46C4D1FC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1531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9A79D9-E088-46F3-B028-027886A4A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1436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安全问题增加；</a:t>
            </a:r>
          </a:p>
        </p:txBody>
      </p:sp>
    </p:spTree>
    <p:extLst>
      <p:ext uri="{BB962C8B-B14F-4D97-AF65-F5344CB8AC3E}">
        <p14:creationId xmlns:p14="http://schemas.microsoft.com/office/powerpoint/2010/main" val="47328120"/>
      </p:ext>
    </p:extLst>
  </p:cSld>
</p:sld>
</file>

<file path=ppt/slides/slide92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976037-B2EF-4552-BD24-C3C0ADC18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AUTOMATION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F1A38D-6BAA-4415-A58A-92CC393B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092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0793BD-C99E-4EB8-9846-034B8E85A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965C84-D675-4B77-9915-85EBC828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547807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D6305C-ED2B-4BBE-A2B0-9232866CC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自动化评测的运行流程（续）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8E9B4A-E9B5-4142-87CC-6097B51B6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16365C-5D5F-4EA9-927F-9663FBC52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3A21D8-9448-420D-9439-791523A52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430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响应速度变慢。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A7CCDD-F5A9-4D3A-A95F-E9CFF71B0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产品经理要判断这些变化是否可以接受。</a:t>
            </a:r>
          </a:p>
        </p:txBody>
      </p:sp>
    </p:spTree>
    <p:extLst>
      <p:ext uri="{BB962C8B-B14F-4D97-AF65-F5344CB8AC3E}">
        <p14:creationId xmlns:p14="http://schemas.microsoft.com/office/powerpoint/2010/main" val="221908784"/>
      </p:ext>
    </p:extLst>
  </p:cSld>
</p:sld>
</file>

<file path=ppt/slides/slide9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37D068-6340-4481-A4D0-51B237ED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AUTOMATION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FF7E23-7B89-4D21-A126-C0947E83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093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DD1CB2-EE73-4601-9618-EC3CBCC6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5E5F08-5C75-44B0-A0ED-E0DBD35C0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5537616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BE27D1-8AB1-48B0-A158-ECAFEC02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自动测试Agent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BDC11E-0F46-4D4A-A874-6496AE4C2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3A453E-55E5-4C58-9167-0E8D7C4B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知乎课程中提到的自动测试Agent，可以理解成把多个评测环节串起来的执行者。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1FFB4B-461F-4ABC-A0F6-B6911AE0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它可能完成：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CF55C6-183A-494E-B795-36A9F30D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537B37-347D-4AAB-9918-A03683AE0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050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从用例库读取Test Case；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CDF142-246F-4DBB-A22E-965D0B29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F16AE0-AABF-4E1D-8AC8-4F3EBDB3E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051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调用被测产品；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F95E98-9CA2-47B5-95B8-0C84CBC52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14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8C61AF-032E-4900-9471-3B3FD54A5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051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收集回答；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B2D150-209E-440C-A736-4F6FB626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72BDC5-E8D1-46E0-ABFD-A7401DB60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052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调用规则、相似度和Judge；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D7C710-AFA5-4AB8-BF80-AAB477711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6DC703-0427-4119-B743-5ECBB898A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052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保存结果；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7CCA36-6201-429C-BEAE-C1D5E35D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148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131ECF-1797-4528-9335-576B2DABE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053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生成评测报告；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48688A-4049-43A0-85AB-0E503FAE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149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02D605-AF1D-40ED-A983-5B16C14D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053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标记需要人工处理的问题。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8CD865-F2E1-4CA1-84A4-40701370A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768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流程可以表示为：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BCFC30-EEDF-4226-990F-CB8F96B8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578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评测用例 → 被测产品 → 评分器/Judge → 结果库 → 评测报告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5834C4-281F-490B-8EC3-AE2ECD7E1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388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这里最重要的不是“用了Agent”这个名称，而是：</a:t>
            </a:r>
          </a:p>
        </p:txBody>
      </p:sp>
    </p:spTree>
    <p:extLst>
      <p:ext uri="{BB962C8B-B14F-4D97-AF65-F5344CB8AC3E}">
        <p14:creationId xmlns:p14="http://schemas.microsoft.com/office/powerpoint/2010/main" val="122497553"/>
      </p:ext>
    </p:extLst>
  </p:cSld>
</p:sld>
</file>

<file path=ppt/slides/slide94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A28551-4527-407E-A03D-DBE6A7882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AUTOMATION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BC71F2-7B51-4980-B676-EAF63400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094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3C45CD-CF0C-4868-99A2-6E90F15A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F6CC6E-4FEF-4CF8-A22D-89ADD85E1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559716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44541B-8E6F-4D11-8320-E8DF5F68C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自动测试Agent（续）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384986-FED2-4FB0-9344-19EC0C2CB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D055F2-8410-4464-A12A-02E758DF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69205D-EB05-4434-9B99-8D2AEB43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430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流程能否重复执行；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3BA33F-84EF-41E4-8F60-8CCEAB06E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58DCDB-7ABC-46BF-A67E-A0651C6F0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431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输入输出能否追踪；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B91982-822A-44A5-90CC-C5C19518A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642066-4E36-491C-88F0-0B62BA1CA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431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评分标准是否统一；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30873B-9087-4173-B716-DD92221FC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E1B4B4-FAC7-4C7F-B41F-50F48BD83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432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结果能否复核。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F074B9-9EB4-47BA-95B6-8F9DAFD8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147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如果Agent自动运行了很多任务，但团队不知道它用了哪套题、哪个版本和什么评分标准，结果仍然不可信。</a:t>
            </a:r>
          </a:p>
        </p:txBody>
      </p:sp>
    </p:spTree>
    <p:extLst>
      <p:ext uri="{BB962C8B-B14F-4D97-AF65-F5344CB8AC3E}">
        <p14:creationId xmlns:p14="http://schemas.microsoft.com/office/powerpoint/2010/main" val="2025144548"/>
      </p:ext>
    </p:extLst>
  </p:cSld>
</p:sld>
</file>

<file path=ppt/slides/slide95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027CC4-E135-4F08-952B-C28E2C1B3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AUTOMATION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ED7942-246B-4846-A4AC-31664C687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095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D4DE26-661B-4617-9C60-E6FA14CC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7DB69-94D3-497F-8785-44B011339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565670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66124C-0504-4D4D-94F1-33FE32626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评测报告的结构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DDF230-12D1-423C-ACD2-4BCC188E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6202F7-48C5-4ABA-9D64-EEC93E33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一份有效的评测报告不能只有一个平均分。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BDBD2A-585C-490B-98AF-C06FDD571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它至少应该包含五个层次。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A782C1-3A68-40CB-87C8-78A646C58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8602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总体结果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96F6FC-A145-4518-9353-0C10E3067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987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F124EB-D0A0-4BCF-ABEF-EEC469D26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051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例如：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881FC2-A79D-421A-BB8F-66815CCE0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24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2FC7C7-0B85-42CE-9E78-E59B6C9CD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147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总通过率；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FCD48C-6EF7-4600-9991-AB9793B56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242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E5360-EA40-42D8-95DF-FB10E902E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147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各质量维度得分；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D2F85E-BEE4-46F6-9F93-180CA85BD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243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3EC5CD-1C6E-4F74-8843-49DE7FD21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148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红线问题数量；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9A2259-8B46-410A-AFA0-56C3B0D1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243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6F4D57-733B-4018-96E8-71E46D891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148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响应时间；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3A722B-9DC5-4E24-9EC3-BC85B6076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244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4B7743-292A-499F-8FAA-53D0052E6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149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运行成本。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2B83D0-54B3-4D9C-9AB7-C6C2D23F6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863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用于快速了解版本整体表现。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EBE9E1-DD02-4CD2-AC89-0459B9B23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场景结果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E91A1D-D775-4E6C-B8F5-5F2F9E2E6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0075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D3EEC8-3DD8-494C-B010-8657AEA3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960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例如：</a:t>
            </a:r>
          </a:p>
        </p:txBody>
      </p:sp>
    </p:spTree>
    <p:extLst>
      <p:ext uri="{BB962C8B-B14F-4D97-AF65-F5344CB8AC3E}">
        <p14:creationId xmlns:p14="http://schemas.microsoft.com/office/powerpoint/2010/main" val="196104680"/>
      </p:ext>
    </p:extLst>
  </p:cSld>
</p:sld>
</file>

<file path=ppt/slides/slide96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C0614E-1EE7-43B9-A99B-D0FF2207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AUTOMATION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A8D680-1BF5-4621-A43F-362B362AD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096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82516D-A706-426C-A285-B4D7C830B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4848D5-4D1D-42F8-86F6-865B3B380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571624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C1DE4C-441F-466A-A8AC-EBCFEAD65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评测报告的结构（续）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ADF0DE-2C66-47BB-A9BA-5F68F809F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FD13CE-512C-4540-9D9B-E4A61D1D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这样才能发现：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66816B-4C48-4889-BDEA-D914F1A0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4FEB06-954C-43B3-90DC-E767555A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9AE15F-41EC-4C61-9C61-E904D0FD1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38375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总分不错，但海外差旅场景明显不可用。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9F9F4E-9E19-494F-B299-37407B5FD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失败问题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EE8967-871C-43A4-8852-435048AF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F0E38E-42F9-41FE-A371-8125EDC7C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0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不能只告诉团队“有39条失败”，还要进一步分类：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C2778E-1EB7-41C1-959A-F210BF45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7A067D-CFED-44DB-8E35-09F91726B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099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核心事实错误；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42E855-0AD9-4208-BEF6-B50744A05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95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7A9C7F-51B1-4C3E-B913-405EAEB00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100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检索不到资料；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334B27-ABC8-494B-954D-1756C6B80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F965CA-9641-46C5-86E4-2F010E843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100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答非所问；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685BB9-C537-4483-A020-057EC4B4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19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29C655-D996-4DDA-94FB-71B545235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101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信息遗漏；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01A863-6DBA-40D7-9C1B-BCF24102A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19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9D0C14-BE16-4591-BF67-62362D78A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101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无依据扩展；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D1CFEE-38C5-471B-A267-A423BB15E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4107B8-81CF-4EB4-9021-0BF6D1A37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6102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隐私或越权问题；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43F5DD-FCF0-4B68-8CAB-3A0EAE30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198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E8D9D1-FFEA-46E4-BC5C-0679E7A4E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0102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输出格式错误。</a:t>
            </a:r>
          </a:p>
        </p:txBody>
      </p:sp>
    </p:spTree>
    <p:extLst>
      <p:ext uri="{BB962C8B-B14F-4D97-AF65-F5344CB8AC3E}">
        <p14:creationId xmlns:p14="http://schemas.microsoft.com/office/powerpoint/2010/main" val="111625707"/>
      </p:ext>
    </p:extLst>
  </p:cSld>
</p:sld>
</file>

<file path=ppt/slides/slide97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B554C2-12F3-4BD0-9398-74F3C8721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AUTOMATION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2ECB7D-2B59-48C0-8D60-6A7BD334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097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9C4D5F-B45A-44F3-B4B0-54AF005C3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7135D2-3480-45F0-98AB-A99D68480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577579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6B63D9-ADAC-42DE-A888-EF05B16D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评测报告的结构（续）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31D05D-3F2F-47E6-BE49-45391745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14452A-E77B-4548-8B2E-823C35363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2402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版本变化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729EDC-D1CE-4249-8F89-83CC6874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4787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AF198E-35A3-485D-B2AB-AB437BDCA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431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不仅要看新版本得分，还要看：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920202-2B4A-4D85-88BD-89BEBF7DB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6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9823F4-A7CD-47F5-9D42-84EF23F87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527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哪些问题被修复；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39CF85-D1A7-4F6F-8AA5-1E8FCAF48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622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1FDDE0-10CD-4B80-BB85-4FC231BB0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527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哪些能力获得提升；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AAF5AC-8F6A-4B43-AF98-EFE0D4059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623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309BB5-F8B4-40F0-82CF-74BDBDE0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528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哪些原本正确的问题变错；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FC824E-0C88-48DB-A7BC-08F28D7C3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623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59846C-0A5E-4ACA-A4E8-13DE4AE16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528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变化是否集中在某些场景。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313EFD-66D5-45E7-B493-324293D63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338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产品决策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08E4EA-4853-4D8F-9D49-3F87CF4D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2EDFAB-3FDD-4348-B794-2EF643F0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52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报告最终必须支持决策：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70BB91-4502-4049-9812-1205F1D91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720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343444-0B4C-4E29-A7A2-0ED28F839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625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可以全量上线；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76132B-18CE-4C08-9B03-45C62D9B4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721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A18D5B-C7EC-4175-A4BB-29A67C38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625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只能灰度上线；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FBA036-D2FA-4FE8-BC0C-729BADBC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721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0C968D-1F95-4FCD-ADE7-D87A79C2C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7626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需要退回优化；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1A480A-70A8-4274-A12E-0D6F56D2E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1722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048C4A-E6A9-4520-B0F8-C248EBAF8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1626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某些场景暂时关闭；</a:t>
            </a:r>
          </a:p>
        </p:txBody>
      </p:sp>
    </p:spTree>
    <p:extLst>
      <p:ext uri="{BB962C8B-B14F-4D97-AF65-F5344CB8AC3E}">
        <p14:creationId xmlns:p14="http://schemas.microsoft.com/office/powerpoint/2010/main" val="1709773265"/>
      </p:ext>
    </p:extLst>
  </p:cSld>
</p:sld>
</file>

<file path=ppt/slides/slide98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2B2ECF-5CC0-4FE6-8590-FF7C9A2C2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AUTOMATION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80A19F-C430-4660-A987-B7DCCF6AD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098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DE3518-BCFC-4B6D-BE56-48FE1E66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5C8B9B-777A-457A-A29B-866D10C31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583533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C9C973-0267-4149-9214-6374E53A9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评测报告的结构（续）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9EC442-19D4-4647-9932-228557051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3E211C-65E1-434C-AF1C-5336299DC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C935BF-8FFF-4EAC-AFE7-5B179008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430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高风险问题必须转人工。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BBF802-DD4B-45EA-8EEA-7FE7068BC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如果报告只有大量数字，却无法支持产品决策，它就还不是一份完整的评测报告。</a:t>
            </a:r>
          </a:p>
        </p:txBody>
      </p:sp>
    </p:spTree>
    <p:extLst>
      <p:ext uri="{BB962C8B-B14F-4D97-AF65-F5344CB8AC3E}">
        <p14:creationId xmlns:p14="http://schemas.microsoft.com/office/powerpoint/2010/main" val="1026738364"/>
      </p:ext>
    </p:extLst>
  </p:cSld>
</p:sld>
</file>

<file path=ppt/slides/slide99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867311-0665-4579-86D1-388116AAE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AUTOMATION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FA6D79-00B9-4329-83A8-4F9CAB19B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099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7B8F70-1E3A-4D06-907C-F95F6FF64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067E95-4D37-4A4F-BC19-9246EA787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589488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BB4857-6614-4AFE-AAEC-112A8B81D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平均分的局限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4AB146-C6E8-421E-AEE2-99B233D8A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049549-03E6-4B60-A537-F98D42928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假设评测集有100条问题：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3F4666-1803-42AD-97B5-969E29B15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33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B1825D-4B2A-4A90-B454-BD682FDED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240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99条普通问题全部正确；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6E4899-8ABA-4D9D-B5D7-74399729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A4E834-9A4A-41DF-BA74-AE970B77F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241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1条工资隐私问题直接泄露了员工薪资。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130EA2-904E-4AD8-B138-E8529DBE8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总体通过率仍然是99%。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F98D99-A4AA-4A34-BFBE-F0E051A7C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如果只看平均分，产品看起来非常优秀。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7B50BF-F167-4674-A2DE-B72C1272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但这条安全错误可能已经足以阻止上线。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077BFF-1A19-4ED8-B175-F8EC398F8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386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所以报告必须把以下指标单独展示：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138322-B79B-4AC5-8C3D-16FE7835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24B4B9-490B-48C6-A17E-2EE53EE97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481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高风险样本通过率；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30FEBB-7CEB-4042-AFE4-DD0EE977F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9C812A-50FC-4C71-9457-2AA90A06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482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红线问题数量；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617D8B-A024-4FCF-B51E-7D14B3AF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578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E4B935-4DD6-4A7A-AD24-6F1BEF56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482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严重错误数量；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E8432A-7D6E-4D2A-89F4-81CDA2FAC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578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F801AC-2A84-41D7-A116-46BEC9AD0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6483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各场景最低表现；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F4CB3C-F837-4493-9375-99C2BE31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579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45BBB6-52E2-4EBD-8E2B-EF72F68F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0483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相对基线的退化数量。</a:t>
            </a:r>
          </a:p>
        </p:txBody>
      </p:sp>
    </p:spTree>
    <p:extLst>
      <p:ext uri="{BB962C8B-B14F-4D97-AF65-F5344CB8AC3E}">
        <p14:creationId xmlns:p14="http://schemas.microsoft.com/office/powerpoint/2010/main" val="312492436"/>
      </p:ext>
    </p:extLst>
  </p:cSld>
</p:sld>
</file>

<file path=ppt/slides/slide100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F51930-8C25-4CEC-8D21-4EAC992B8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AUTOMATION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7DFDD5-3796-40F2-9D08-49EA92DDB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100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63B35B-B467-4B59-AFDB-B00CD3E4C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B6BA5A-8016-43CD-A129-6C7827815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5954426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0F26E3-F0BE-49D9-B5F3-80D070C9E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平均分的局限（续）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C7D30B-F1B2-4D64-A582-226BCCC6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B899B4-2CA3-43F6-948D-76BFEDF3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平均分适合描述整体趋势，但不能掩盖关键风险。</a:t>
            </a:r>
          </a:p>
        </p:txBody>
      </p:sp>
    </p:spTree>
    <p:extLst>
      <p:ext uri="{BB962C8B-B14F-4D97-AF65-F5344CB8AC3E}">
        <p14:creationId xmlns:p14="http://schemas.microsoft.com/office/powerpoint/2010/main" val="681965070"/>
      </p:ext>
    </p:extLst>
  </p:cSld>
</p:sld>
</file>

<file path=ppt/slides/slide101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35AF8E-9B14-41C8-86F1-42A014B3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AUTOMATION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BBC8EC-D782-423B-BAC0-90B2A696D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7E800E-FB26-47CE-9BB4-C4129683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362EAD-9FD5-455C-B15D-A3AE1D54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01397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6FE660-5E1A-4243-9118-16C87468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上线门槛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492FE4-0EC2-43E6-BEBE-44EEE7B33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B5084A-B8CF-41EE-85FC-BF190127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评测完成后，需要提前定义上线条件。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B564DD-402F-4040-A45A-7BA0C956F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例如：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4A9C2D-2C74-4C28-8772-F2E41300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10572750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031016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BE1FEA-3457-4644-BC7B-88943A15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09850"/>
            <a:ext cx="1004887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E7B7"/>
                </a:solidFill>
              </a:defRPr>
            </a:pPr>
            <a:r>
              <a:rPr sz="1200" b="0">
                <a:solidFill>
                  <a:srgbClr val="6EE7B7"/>
                </a:solidFill>
              </a:rPr>
              <a:t>核心事实正确率 ≥ 95%</a:t>
            </a:r>
          </a:p>
          <a:p xmlns:a="http://schemas.openxmlformats.org/drawingml/2006/main">
            <a:pPr algn="l">
              <a:defRPr sz="1200" b="0">
                <a:solidFill>
                  <a:srgbClr val="6EE7B7"/>
                </a:solidFill>
              </a:defRPr>
            </a:pPr>
            <a:r>
              <a:rPr sz="1200" b="0">
                <a:solidFill>
                  <a:srgbClr val="6EE7B7"/>
                </a:solidFill>
              </a:rPr>
              <a:t>总体通过率 ≥ 90%</a:t>
            </a:r>
          </a:p>
          <a:p xmlns:a="http://schemas.openxmlformats.org/drawingml/2006/main">
            <a:pPr algn="l">
              <a:defRPr sz="1200" b="0">
                <a:solidFill>
                  <a:srgbClr val="6EE7B7"/>
                </a:solidFill>
              </a:defRPr>
            </a:pPr>
            <a:r>
              <a:rPr sz="1200" b="0">
                <a:solidFill>
                  <a:srgbClr val="6EE7B7"/>
                </a:solidFill>
              </a:rPr>
              <a:t>高风险样本通过率 ≥ 98%</a:t>
            </a:r>
          </a:p>
          <a:p xmlns:a="http://schemas.openxmlformats.org/drawingml/2006/main">
            <a:pPr algn="l">
              <a:defRPr sz="1200" b="0">
                <a:solidFill>
                  <a:srgbClr val="6EE7B7"/>
                </a:solidFill>
              </a:defRPr>
            </a:pPr>
            <a:r>
              <a:rPr sz="1200" b="0">
                <a:solidFill>
                  <a:srgbClr val="6EE7B7"/>
                </a:solidFill>
              </a:rPr>
              <a:t>安全红线问题 = 0</a:t>
            </a:r>
          </a:p>
          <a:p xmlns:a="http://schemas.openxmlformats.org/drawingml/2006/main">
            <a:pPr algn="l">
              <a:defRPr sz="1200" b="0">
                <a:solidFill>
                  <a:srgbClr val="6EE7B7"/>
                </a:solidFill>
              </a:defRPr>
            </a:pPr>
            <a:r>
              <a:rPr sz="1200" b="0">
                <a:solidFill>
                  <a:srgbClr val="6EE7B7"/>
                </a:solidFill>
              </a:rPr>
              <a:t>P95响应时间 ≤ 5秒</a:t>
            </a:r>
          </a:p>
          <a:p xmlns:a="http://schemas.openxmlformats.org/drawingml/2006/main">
            <a:pPr algn="l">
              <a:defRPr sz="1200" b="0">
                <a:solidFill>
                  <a:srgbClr val="6EE7B7"/>
                </a:solidFill>
              </a:defRPr>
            </a:pPr>
            <a:r>
              <a:rPr sz="1200" b="0">
                <a:solidFill>
                  <a:srgbClr val="6EE7B7"/>
                </a:solidFill>
              </a:rPr>
              <a:t>单次调用成本 ≤ 0.10元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307756-B17F-4B61-96AB-D66BEFED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这里的具体数字要根据业务决定，不能直接照搬。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8B27F4-B9F9-4A91-920E-372BBD1A1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高风险产品的门槛会更严格；创意写作产品可以允许更多输出差异。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B74021-E01A-402C-AB0D-060A57A0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577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关键是：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BAE7AF-61B5-4796-AFEB-492041541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38750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5ADDBA-38C3-4EB9-90AE-B6AA0AAF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38750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DA484C-B88B-45D8-A6FF-3E15E994D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381625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上线门槛应该在看结果之前定义，而不是结果出来后再调整标准让它通过。</a:t>
            </a:r>
          </a:p>
        </p:txBody>
      </p:sp>
    </p:spTree>
    <p:extLst>
      <p:ext uri="{BB962C8B-B14F-4D97-AF65-F5344CB8AC3E}">
        <p14:creationId xmlns:p14="http://schemas.microsoft.com/office/powerpoint/2010/main" val="1728171193"/>
      </p:ext>
    </p:extLst>
  </p:cSld>
</p:sld>
</file>

<file path=ppt/slides/slide102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AA2B79-CDFE-44E5-A676-4A46BC1E2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AUTOMATION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299D60-747B-44B7-BB6E-C9921F1CE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FBF319-6DC0-4936-8FCF-125E024B5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F33C0B-B6E4-472C-80C1-9619B927D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07351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847ECC-2EE4-4048-AF5A-64E6278B8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自动化评测的局限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0E0A7C-775F-40A0-95F7-9A9D71EFE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A8DA95-EE4D-4C54-B7C9-CD80F393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自动化不代表评测已经完全客观。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756D01-1059-46AC-87D9-0D52228FB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它仍然可能受到以下问题影响：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D159EC-91F5-4A57-BAFD-71F551004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686899-E611-4DED-BD18-ED9E5EB30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050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评测集不能代表真实用户；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77326D-79B7-480E-B235-5936BF8A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EA0EA9-7F72-42F3-ABA3-D64A72B3B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051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参考答案已经过期；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649E03-8122-4041-857E-3D07F49B8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14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CE706C-F170-45E4-9E51-1BBB3DFB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051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规则设计错误；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E726DF-EB70-4657-89EE-2B877A547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928362-085F-4726-AEE0-1C2ECBD3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052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相似度阈值不合理；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442921-FA8F-47C5-991B-D7540AC1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3726E5-E2DA-4AF9-ACF3-5F9D2F8C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052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LLM裁判评分发生漂移；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9411E6-6F35-41A7-B64C-127124A3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148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2B6F56-D3B5-47BD-9C86-BC41FF32F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053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业务红线没有被覆盖；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E36F02-8D94-46EB-8D95-E0B2AB39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149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FF4824-9419-4E00-9FC9-1CEE51EAE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053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同一个问题运行次数不足。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B38A09-07E1-4940-A592-7AF75B48D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768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因此，自动化评测还需要定期人工校准：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8714E8-BC1F-4EBB-B925-631AFFAC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959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A78827-AE9C-4FBC-8807-308595BE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6864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抽查自动高分样本；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E002FB-29F4-4D4D-B275-9D237409D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960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0BE711-4058-4E64-B129-850B94EC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0864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抽查自动低分样本；</a:t>
            </a:r>
          </a:p>
        </p:txBody>
      </p:sp>
    </p:spTree>
    <p:extLst>
      <p:ext uri="{BB962C8B-B14F-4D97-AF65-F5344CB8AC3E}">
        <p14:creationId xmlns:p14="http://schemas.microsoft.com/office/powerpoint/2010/main" val="792704448"/>
      </p:ext>
    </p:extLst>
  </p:cSld>
</p:sld>
</file>

<file path=ppt/slides/slide10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911928-3D67-4792-9269-BFE8D7B1A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AUTOMATION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BB343E-431B-4CD7-9DB5-FC3FCEEB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8DC40B-8356-4533-9099-F76D17969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C79491-27C0-43FA-9F11-3A35B7E50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13305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3CF2B8-4D55-4D3D-92BF-CCF684BFC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自动化评测的局限（续）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D25777-C1C5-4F02-8E5E-BBF6ACB8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F4692D-268F-420A-826C-C4667354D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1F06DE-9094-4DDC-B700-DDB2C9BF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430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重点复核红线问题；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705BB9-260C-4778-AA64-EC5DD8D11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5308C4-EDDD-4F4A-A8C3-677F38BE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431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对比人工评分与Judge评分；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A3A389-658F-4FB3-B3EF-57346669C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8672B5-698F-4356-B405-6116B7F7F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431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更新过期用例和业务规则。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60CC05-411B-42AD-9787-C98FE59F1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自动化负责扩大覆盖规模，人工负责维护评测标准。</a:t>
            </a:r>
          </a:p>
        </p:txBody>
      </p:sp>
    </p:spTree>
    <p:extLst>
      <p:ext uri="{BB962C8B-B14F-4D97-AF65-F5344CB8AC3E}">
        <p14:creationId xmlns:p14="http://schemas.microsoft.com/office/powerpoint/2010/main" val="325312182"/>
      </p:ext>
    </p:extLst>
  </p:cSld>
</p:sld>
</file>

<file path=ppt/slides/slide104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C71CFA-0CBE-4BDC-9D4D-10B777E2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AUTOMATION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78EE1A-033D-4E6D-86BB-30A4D1609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21D412-9421-4AE9-B60F-174E06246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B36ABB-9A27-485B-92F5-21EE30CC6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19260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2AD086-7E96-46A4-ACE2-AE1F1D24D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第五部分总结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A97A2D-3181-4C18-A6BD-33AD60037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797AB6-511D-4B70-ABAB-CE0CF6DDD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自动化评测把评测工作连接成完整流程：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AC6A42-EC34-489C-8B10-29B9CA49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33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DC5C95-781A-43AC-8B47-60DD988B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240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管理评测用例。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E6C67F-2006-4BF1-AC7F-BE5CAA4BC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0622C6-C38F-48A8-806A-C0D99DC04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241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批量运行被测产品。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0ADB3D-772B-4FD4-B39F-1CAB3798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010D72-6F17-4591-911D-7150611A5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241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组合多种评分方法。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14C5B0-5F21-4CC4-9B47-D97B964E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6F01E5-12F8-4EDD-988F-98E686E6C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242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识别低分和红线问题。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512814-B4E4-408B-8232-8A806A6F4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5CC3D0-BBCC-45CD-89CD-C472F10D9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242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比较不同版本。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45C689-90B0-4722-91F4-ADF96603B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68806F-E41B-4DA7-8437-60CF7F4EF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243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生成支持产品决策的报告。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73775B-3917-4AAE-A458-D77530BF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958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最重要的是：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5120E4-0256-4CD0-8424-E583FFA9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76800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2CAE4A-BCD2-44BB-86F6-735B21F02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76800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A9A995-1DC7-469F-ACB6-A8B0159D2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9675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自动化的价值不是生成更多分数，而是让同一套评测能够低成本、可重复地运行。</a:t>
            </a:r>
          </a:p>
        </p:txBody>
      </p:sp>
    </p:spTree>
    <p:extLst>
      <p:ext uri="{BB962C8B-B14F-4D97-AF65-F5344CB8AC3E}">
        <p14:creationId xmlns:p14="http://schemas.microsoft.com/office/powerpoint/2010/main" val="1740378806"/>
      </p:ext>
    </p:extLst>
  </p:cSld>
</p:sld>
</file>

<file path=ppt/slides/slide105.xml><?xml version="1.0" encoding="utf-8"?>
<p:sld xmlns:p="http://schemas.openxmlformats.org/presentationml/2006/main">
  <p:cSld>
    <p:bg>
      <p:bgPr>
        <a:solidFill xmlns:a="http://schemas.openxmlformats.org/drawingml/2006/main">
          <a:srgbClr val="0B20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F13AE4-D93A-4D71-90B3-A23662C41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2476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850" b="1">
                <a:solidFill>
                  <a:srgbClr val="36D6C2"/>
                </a:solidFill>
              </a:defRPr>
            </a:pPr>
            <a:r>
              <a:rPr sz="8850" b="1">
                <a:solidFill>
                  <a:srgbClr val="36D6C2"/>
                </a:solidFill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0EDBAF-8472-4CA9-8EC6-3A64F5090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952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E522F0-AAF2-4F7F-8F92-C4CF8A708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5F2E9"/>
                </a:solidFill>
              </a:defRPr>
            </a:pPr>
            <a:r>
              <a:rPr sz="3600" b="1">
                <a:solidFill>
                  <a:srgbClr val="F5F2E9"/>
                </a:solidFill>
              </a:rPr>
              <a:t>Bad Case分析与问题归因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C14F4F-BE5F-4EBB-BC94-7E0DC62DC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7B5BC"/>
                </a:solidFill>
              </a:defRPr>
            </a:pPr>
            <a:r>
              <a:rPr sz="1650" b="0">
                <a:solidFill>
                  <a:srgbClr val="A7B5BC"/>
                </a:solidFill>
              </a:rPr>
              <a:t>按照讲稿结构展开概念、方法与完整示例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A258FE-5AB9-434B-B079-AA6D696D9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BAD CASE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30F8C1-E38B-40F4-9265-DFA71EB99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3D8B6E-3B87-4D48-B512-CFB35800F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1CD9A9-AA68-4BAD-B6FC-D5736040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25214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69446601"/>
      </p:ext>
    </p:extLst>
  </p:cSld>
</p:sld>
</file>

<file path=ppt/slides/slide106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4DE873-C7B0-49BA-B449-CB12387C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BAD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B00C02-0928-4453-A9D8-6A8953B0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8C0299-6E62-463D-986A-C0BCC254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3F643E-C693-4B15-BEEE-5D19049F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31169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AF8C7F-3B45-464B-B950-738E2F7D8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第六部分：Bad Case分析与问题归因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BCD6AC-4A19-4960-B997-A4E482373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064794-0C1B-4FD2-B70B-017EBA100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自动化评测发现低分回答后，下一步不能只是记录：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C56D3A-CD78-43F3-BC9E-7A2FF9097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A4EFE0-0FFD-4490-8DC1-0AA927E78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7591B0-4D0D-450B-9D72-E60270BD8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38375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这一题答错了。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E150A9-15E5-4099-9CD3-B23DA7852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717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团队还需要判断：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5422B9-CD3D-485F-A86F-E0F0D176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52775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E000E4-120F-4103-BD75-B6062BFC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52775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C509EB-6F3E-48B2-8CC0-0BE9078C1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95650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为什么答错？应该修改哪一层？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0F5341-B944-4A75-8D49-F0560278E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290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错误归因是AI产品经理非常重要的能力。因为相同的错误表现，背后可能是完全不同的问题。</a:t>
            </a:r>
          </a:p>
        </p:txBody>
      </p:sp>
    </p:spTree>
    <p:extLst>
      <p:ext uri="{BB962C8B-B14F-4D97-AF65-F5344CB8AC3E}">
        <p14:creationId xmlns:p14="http://schemas.microsoft.com/office/powerpoint/2010/main" val="687291838"/>
      </p:ext>
    </p:extLst>
  </p:cSld>
</p:sld>
</file>

<file path=ppt/slides/slide107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952D76-9E47-4E54-BFD8-1188DD116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BAD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213DBF-D356-4173-A0E4-2504929A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15E23D-C312-4B38-A65D-869EBD1F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6E3F10-46B1-4535-863C-47968C4D3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371236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43B457-53A5-42E6-9389-5B3D3F1D9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Bad Case的基本定义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183333-158A-457D-8822-2382FE60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2252A3-37B7-4DB9-87CB-4272731BF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Bad Case可以理解为：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99C004-0FA3-4862-90BE-E4529D441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D603AA-C597-41CC-8B1A-729D312B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56A32F-80D0-4FBE-8A4A-D5360208E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38375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AI产品没有达到预期效果的具体案例。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00B4FE-345B-4D0D-A256-39ABDD95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717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它不一定只是“答案事实错误”，还可能包括：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35DD61-E234-4738-835C-C3136786F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908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EF33D1-4DC2-407F-B240-16E8D381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1813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答非所问；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6178D0-8EEA-4DCE-868D-1E6108FF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909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784178-07E2-47F8-AF4C-9680024CA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814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遗漏关键信息；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0DE8BC-1DE0-47E3-B941-D0785FF6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909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D28E85-2D14-4DE7-BF63-EC0EF5C9A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814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编造答案；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1DFC0E-156F-4F50-8507-DED420993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910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200FA9-7FF0-49E5-A02C-D04F2AC7D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815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错误拒答；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1473F5-FC60-4AB9-9E27-2367717B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910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CDB89C-B592-4990-AA24-77BA0B737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815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没有调用正确工具；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7D03C8-8C78-4228-A02C-4DDF61187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911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056237-18F5-4365-B377-B3A7879AC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1816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泄露隐私；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D5F506-D8D9-482C-8443-20616A968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911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54AA83-206A-4897-B2A3-3790192B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5816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响应时间过长；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D215A2-92DD-4D55-AA20-869EB8E3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91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4D7844-8091-411A-86A9-F12907507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9817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输出格式错误；</a:t>
            </a:r>
          </a:p>
        </p:txBody>
      </p:sp>
    </p:spTree>
    <p:extLst>
      <p:ext uri="{BB962C8B-B14F-4D97-AF65-F5344CB8AC3E}">
        <p14:creationId xmlns:p14="http://schemas.microsoft.com/office/powerpoint/2010/main" val="336308569"/>
      </p:ext>
    </p:extLst>
  </p:cSld>
</p:sld>
</file>

<file path=ppt/slides/slide108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C31B96-D809-4E3C-B771-A374A1102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BAD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8C70A1-6CE9-4FD1-9D82-393FFE82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85BA38-C826-4664-B136-70366B8EF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BA27CB-1D67-4FC8-AAC6-64584B7C2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43078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79D2F2-AD38-4E13-B3A6-0FF2EE40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Bad Case的基本定义（续）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B9C183-9B50-4690-95BB-95D967F67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018B52-A3F8-49B8-B87C-B30A928F0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BB02D8-7873-45E2-AC68-4F40E5439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430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用户任务没有完成。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224F93-8DAC-4983-A65E-ED384FE8D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例如用户问：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0FA7BB-D19C-4609-990B-8A52F7F80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E55442-7A10-4C9D-90E7-D02B90749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05F375-BF1F-48B0-B980-CB074EE9B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38425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我的订单什么时候到？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6B4363-F96A-4CF1-9841-3EE29312C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718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下面都可能是Bad Case：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904465-7F06-4C53-888B-A8C275C1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909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3D86C4-9886-4814-B087-313F25ED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814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回答了通用物流时效，没有查询实际订单；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C8BCE4-0E54-43B4-89DB-ABD4A5998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909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431542-38EA-40E0-B273-C580F4AD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814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查到了订单，但说错日期；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F9D2D4-584C-4ECF-B80F-D3F516695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910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C34D66-789A-4442-93B3-E5647D4E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815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没有验证用户身份就展示订单信息；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CA235D-0395-47EC-8BC7-A53135ADC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910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2A6E82-D951-4411-96F6-08432DE5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815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工具调用失败后，模型编造了到货时间；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0EC543-3C41-4C83-9FB3-7F44CF1A2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911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8A1601-C5F5-436E-95C4-7D8DF11A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1816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只回复“请耐心等待”，没有解决问题。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CF4D14-16A9-4AA8-AED5-59ABCBD2D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530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所以Bad Case必须结合：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7AD51D-B294-4B23-AD19-F0FCFA954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721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4F31CC-FAA4-4981-8195-A0B60FC4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9626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用户目标；</a:t>
            </a:r>
          </a:p>
        </p:txBody>
      </p:sp>
    </p:spTree>
    <p:extLst>
      <p:ext uri="{BB962C8B-B14F-4D97-AF65-F5344CB8AC3E}">
        <p14:creationId xmlns:p14="http://schemas.microsoft.com/office/powerpoint/2010/main" val="1084982520"/>
      </p:ext>
    </p:extLst>
  </p:cSld>
</p:sld>
</file>

<file path=ppt/slides/slide109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963153-AB87-466B-B614-C75BE7F55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BAD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EDA5E6-59DD-45FC-9E29-5F1DA8DF4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A84030-B222-458C-B8C7-291C00591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DD4B6D-98F4-4A2E-B5EF-CCEABDDE7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4903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82CE05-E112-4F21-A073-A4C94CF1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Bad Case的基本定义（续）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C84A21-D082-46D9-9B3D-F3FD8E30C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9D88F6-E53C-411B-8E90-D71BE8A12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202541-88B3-4D8B-BC75-6D89A8AC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430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业务规则；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6B0B38-B812-49B6-8088-075017AEF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3780A8-972B-49C6-8018-11BD83B6A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431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产品能力；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C57607-1AD0-48B9-93FE-B93E11B75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1806AA-0328-4D98-ABE5-18478272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431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实际结果；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A43A51-43BD-463C-A6D2-98EAE6AA6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共同判断。</a:t>
            </a:r>
          </a:p>
        </p:txBody>
      </p:sp>
    </p:spTree>
    <p:extLst>
      <p:ext uri="{BB962C8B-B14F-4D97-AF65-F5344CB8AC3E}">
        <p14:creationId xmlns:p14="http://schemas.microsoft.com/office/powerpoint/2010/main" val="1504429081"/>
      </p:ext>
    </p:extLst>
  </p:cSld>
</p:sld>
</file>

<file path=ppt/slides/slide110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C6B753-20C1-472E-8DFA-7E2A5F898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BAD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BC2D01-110B-4833-B02D-6056444D4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EB7B8F-8087-4153-8513-6AB98E14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E070AF-8008-415B-8536-F98D8F44F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54986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D43E45-3CB2-45A0-AAF5-8A998CCB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Bad Case分析的基本流程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17DA36-2780-4878-A360-1EAE356A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76C846-3FB5-4C9A-AC7E-90CAAE848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处理一个Bad Case，可以分为五步。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6B5AEB-ACA1-483F-B3BD-F3035FF13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0502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复现问题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28906A-C600-486E-AE7A-FC0ED341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2887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72651B-6204-4655-BCD0-4129E2BE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241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确认问题是否能够再次出现。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530C27-A037-4870-8793-98E8B4F6A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051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需要记录：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951165-F7C4-41FA-B301-790C12B1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24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6D0647-8318-463B-A691-24EFB906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147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用户输入；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9747F5-D594-487F-B6D3-CD085BFF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242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2328A9-6DE8-4F8F-9C6B-D283F2125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147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完整上下文；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D0D8FE-EA22-48B4-A716-1A9D7F916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243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A97B78-DAC1-476D-91A6-2DE651799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148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用户身份；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7390E1-562F-459D-9336-616726E7F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243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F0AC58-B9E3-4EA5-980E-7A57E77C5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148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模型和Prompt版本；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2D4242-05D3-4A9E-8EA5-A9883AD33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244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8ED4F7-F91A-4BEC-9A92-49AD44ADF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149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知识库版本；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E7E127-7CF2-43B1-821B-164F93B9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244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DD00ED-6677-4A57-9847-7C958E6A6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149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工具调用记录；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A72736-04A5-44C9-8D74-FE5E0DA3E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245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4878E6-F0C2-4B28-A251-760EE95A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7150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实际输出；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78B21F-2BDD-4FFA-900F-F28592A99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1245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BD23A7-312C-4D08-9D12-2499CA57A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1150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发生时间。</a:t>
            </a:r>
          </a:p>
        </p:txBody>
      </p:sp>
    </p:spTree>
    <p:extLst>
      <p:ext uri="{BB962C8B-B14F-4D97-AF65-F5344CB8AC3E}">
        <p14:creationId xmlns:p14="http://schemas.microsoft.com/office/powerpoint/2010/main" val="864642132"/>
      </p:ext>
    </p:extLst>
  </p:cSld>
</p:sld>
</file>

<file path=ppt/slides/slide111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7304F3-6610-458C-9422-95294A4D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BAD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A091CA-F750-4C46-AB87-D0F0CC52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B30AF1-0429-4ECD-A0D7-A7ACF7B91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FBFC0C-1DEC-4F15-B6E8-76AC2764E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0941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B78DB0-7503-4646-A0A7-C770B85D9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Bad Case分析的基本流程（续）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2C2D75-3E13-4A2A-A5C5-C10718CA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8EBA02-6E72-4EEE-BDF8-19161A851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如果无法还原运行环境，问题就很难定位。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D219BC-CCE4-48E9-BD2F-C136DD76B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0502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判断预期结果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7BFB28-B825-4792-ACCF-2711BC51F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2887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B13735-7934-47F8-AE45-2BF14AF5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241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明确产品本来应该怎样处理。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DC60FF-8A2B-4A3E-AD72-739E85481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051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例如：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368E6F-2FD7-4C48-A5F5-AE1464910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24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F235E0-928F-4680-A6AF-FB613B8D5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147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应该直接回答；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0D782B-D233-41B2-B7D1-50840747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242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0CEC85-DF35-4839-A6A9-BFFE66142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147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应该追问信息；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DE381E-BBD0-4A67-BD3F-73608AFE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243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55837A-D6F8-4AE4-B40B-ED4E9AA5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148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应该查询工具；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9E849B-889F-4B5C-83C1-4D745382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243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FEF1D5-2A63-4AE2-AC26-1355562C3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148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应该拒绝回答；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FA39A3-69BE-4D42-B963-B956E8B0E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244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81C703-5FDC-4009-A810-CDE47FFFE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149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应该转人工；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A49A75-3839-467F-8598-6A5572856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244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127A1E-6DCD-45B4-B8A7-7820C2099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149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应该提示系统异常。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869385-B09A-4178-B846-01AD8814A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959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确认失败环节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E23250-4D61-486E-93F4-A14E164D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1980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240610-AB26-4509-940A-6E737D5B9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150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检查问题出现在AI链路的哪一步：</a:t>
            </a:r>
          </a:p>
        </p:txBody>
      </p:sp>
    </p:spTree>
    <p:extLst>
      <p:ext uri="{BB962C8B-B14F-4D97-AF65-F5344CB8AC3E}">
        <p14:creationId xmlns:p14="http://schemas.microsoft.com/office/powerpoint/2010/main" val="1053419177"/>
      </p:ext>
    </p:extLst>
  </p:cSld>
</p:sld>
</file>

<file path=ppt/slides/slide112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220EE2-C37A-4995-A5A1-3AC86E1A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BAD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B74FCA-649F-4B93-8D5B-D3A930742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793757-171E-4260-9E70-2CA1F3783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81CBFD-1B81-4788-8840-FE0AF6CCE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8957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A86006-AA2E-49B7-811B-80F24B3F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Bad Case分析的基本流程（续）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5C1E7D-1CB4-4CA1-B2BF-CACC21494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60411C-929B-452E-B0C2-0EC73842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用户输入 → 意图理解 → 知识检索 → 工作流决策 → 工具执行 → 模型生成 → 输出校验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66DFBE-4F6A-4FD6-85E7-8AE77E36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0502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进行问题归因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5A7CA3-DCAF-4F49-BA65-2135C1F1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2887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3060B3-A05E-44F1-80AE-07D70E242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241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把Bad Case归入主要问题类型。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B97E46-0E27-435D-B21D-9AF960AA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制定修复与验证方案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56D8DE-6AAE-4B67-A1FC-492EA887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C13F75-C1EA-4193-87FF-F6719B68B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明确：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FB2E56-9E99-4686-BA24-CC0006BAD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528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0045A3-46F9-4C57-8625-F9D60DA9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433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修改什么；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DDA9CA-AD13-42EE-B4FA-FF12B782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529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7448E9-533A-46F6-A7F8-040610A8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433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谁负责；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46BF73-E740-4CFB-BC2E-BA84CCFC5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529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678D33-8C7A-4FE6-91D6-A99D432E8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434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如何验证修复成功；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310FBA-3CFF-49A5-A98E-A578F24CC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7E1930-B8BE-4322-98D1-CC95BA83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434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是否加入回归评测集。</a:t>
            </a:r>
          </a:p>
        </p:txBody>
      </p:sp>
    </p:spTree>
    <p:extLst>
      <p:ext uri="{BB962C8B-B14F-4D97-AF65-F5344CB8AC3E}">
        <p14:creationId xmlns:p14="http://schemas.microsoft.com/office/powerpoint/2010/main" val="1167398801"/>
      </p:ext>
    </p:extLst>
  </p:cSld>
</p:sld>
</file>

<file path=ppt/slides/slide11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3F837C-E082-45FA-836F-3493140C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BAD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33F889-FB85-4B27-9294-0FB052DD9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F96796-874A-4C81-A828-101EF05F4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F75BAA-39E1-4AE3-9223-DF580A79C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72850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F7C7C3-AF5D-4C96-B089-2BCBE277A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Bad Case的六类问题归因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55F77A-0D40-4324-A67F-97D6E07A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567031-42DE-4A29-8959-279CCB6E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我们可以先用六个大类进行归因：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C28AD7-2547-4E59-8BB5-73A08FE5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33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EF0521-08E6-4E6F-9D7C-6EA811706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240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数据问题；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74119B-4B28-4B8B-B1AC-F985B6C65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1784C0-ED9A-4D6F-A083-F88CE848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241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Prompt问题；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CFD1C6-67BE-40D9-81C8-5933D9A24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76DCCD-9ED3-4D7A-AE84-0D5B56355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241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知识问题；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B0207A-382C-4E40-8560-8480F695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3C207C-60B9-4D16-A1DE-D106582B9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242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流程问题；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8C639E-BEAA-4595-AB3A-F98B39214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3B73DC-94F6-4062-BAC0-539F69226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242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工具问题；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111CEF-1963-4ECF-896F-9531FA62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80E9A6-C12B-47F8-8853-23516D0A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243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产品边界问题。</a:t>
            </a:r>
          </a:p>
        </p:txBody>
      </p:sp>
    </p:spTree>
    <p:extLst>
      <p:ext uri="{BB962C8B-B14F-4D97-AF65-F5344CB8AC3E}">
        <p14:creationId xmlns:p14="http://schemas.microsoft.com/office/powerpoint/2010/main" val="852742034"/>
      </p:ext>
    </p:extLst>
  </p:cSld>
</p:sld>
</file>

<file path=ppt/slides/slide114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DB8662-4DE2-4EC3-95DD-95859E17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BAD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D56168-20F1-4437-AAA7-A0295C5DA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B83ADF-042F-4D3A-9827-AA39FB01F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5EF6BD-F024-4E21-96F2-734093803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788046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E9F614-58A3-483E-A08F-F588B2AF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数据问题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128A41-F619-47E0-9BA7-7DCF8D1F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6DFCCA-3ACD-446C-BAB5-A5E3026C3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这里的“数据”主要指用于训练、微调、示例学习或评测的数据。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24EE2A-6867-4D9E-A0C7-EA15CF685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常见问题包括：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41C569-E954-42F7-82FE-FCADEF0D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F53292-FDE0-4DEF-AB8C-D4DF1E83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050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样本数量不足；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E23E13-7108-4112-8265-2CA3F6279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2A443E-56E5-441E-8D71-0139710B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051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样本分布不均；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26B6D9-0C16-4500-BDA1-745B1017B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14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F29FB9-048C-434B-8DC7-4CEDE67F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051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数据标签错误；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981CE3-407E-4A0A-B43B-8313EF7A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A4C425-1A1B-44E2-8CAF-C548427E5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052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数据内容过期；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EF6AE2-1D64-43F5-8A89-D1B73BA72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E9EA58-9BC4-434E-B42D-04DAA343D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052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训练数据缺少某类表达；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AC642F-93BD-48B4-9493-62105638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148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1D065C-15B1-400B-AF65-C6D807D5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053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评测集不能代表真实用户；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4F4412-8F0F-4450-B831-8B8BADEA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149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74D314-3C74-4FD5-890D-5AA37EB5C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053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数据中存在隐私或噪声。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31713E-C973-4922-B046-0DE2BED2F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768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例如用户说：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38020F-B1ED-4D6C-90CC-4BA10DD5A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57850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C4072E-A3F7-4D0B-9B47-F460D69D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57850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C4F510-176D-4CEF-8352-F138C170D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800725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我想把刚买的东西退掉。</a:t>
            </a:r>
          </a:p>
        </p:txBody>
      </p:sp>
    </p:spTree>
    <p:extLst>
      <p:ext uri="{BB962C8B-B14F-4D97-AF65-F5344CB8AC3E}">
        <p14:creationId xmlns:p14="http://schemas.microsoft.com/office/powerpoint/2010/main" val="498074069"/>
      </p:ext>
    </p:extLst>
  </p:cSld>
</p:sld>
</file>

<file path=ppt/slides/slide115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F762B0-0CD7-4B29-A612-A3E48205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BAD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02789E-45B2-476A-A31D-53815A3F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BC2A31-1528-4DCC-85C7-97BB75538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D4CEC0-C609-4A56-BCA4-7681CBF1E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84759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BF3089-6611-47B7-8B52-61B68A749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数据问题（续）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6EAD3F-7518-4C32-AC86-B28E5760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19F8EA-4A26-429A-B362-4B2D99697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系统没有识别为“退款意图”，因为训练数据里只有：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7039C2-0B41-4676-9C71-C9E28385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106416-8B40-4334-BE47-0476197F8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80DA7A-0BAF-4301-A455-093B7983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38375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我要退款。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F44837-A128-46F9-BF50-67C2DEB0F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717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这更像是意图训练数据覆盖不足，而不是Prompt写得不好。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EE8B85-2F77-4D05-9EAD-EFC2274D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623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可能的修复方法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5270DE-A8ED-4B9B-8FBD-5CB6EF755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B2CC3D-FC0F-4B10-A905-1B286B43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496A5E-8B03-4163-8FD3-7C167914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099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增加真实用户表达；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8BA052-8B2D-4128-A1B6-D5DC16BDE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95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CEF8B8-6592-448E-891D-EA3999634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100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修正错误标签；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D64D1A-6AA2-47D1-B956-B6EDFD43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708129-3248-4B51-B28B-B0D7DABF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100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补充边界样本；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BA8A67-C237-4E91-B79A-871A1460C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19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5F1A86-1E96-44DE-AEC9-5A586962C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101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调整不同类型样本比例；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110A00-F90F-466C-9CF4-FE7749854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19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10C87C-70D9-4670-80CD-957F8C842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101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清洗重复或噪声数据。</a:t>
            </a:r>
          </a:p>
        </p:txBody>
      </p:sp>
    </p:spTree>
    <p:extLst>
      <p:ext uri="{BB962C8B-B14F-4D97-AF65-F5344CB8AC3E}">
        <p14:creationId xmlns:p14="http://schemas.microsoft.com/office/powerpoint/2010/main" val="1914520762"/>
      </p:ext>
    </p:extLst>
  </p:cSld>
</p:sld>
</file>

<file path=ppt/slides/slide116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340492-9984-432C-8B8D-79DDB8693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BAD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D7AC6A-0A21-49E4-B28B-D6D297C82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08B7D2-5E08-4987-9FC3-DAF460883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453CE0-091A-4D2C-8CBC-350258913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90713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B743E5-145C-40BE-8601-391B7836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Prompt问题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EDF277-4DD7-4223-B8AF-0BCD3582D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BACEE0-74C6-43D7-9218-287C66F1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Prompt问题是指模型已经获得了必要信息，但指令没有把行为约束清楚。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24B612-744B-4BFA-8F68-E97E57346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常见表现包括：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71BF3F-64F8-4092-8F56-B00CE53AD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F448B8-6D7A-406E-975A-7FF54DD7A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050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回答过长；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3E4FC8-C952-4CA2-A5DB-9B338545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83CD7A-366A-4D96-B1FC-0A812A6A9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051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没有遵守指定格式；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5A4EB6-058C-480E-AB1D-3E986ACC8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14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5E3DEB-B373-4BD7-95F4-40171B39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051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信息不足时仍然猜测；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430BE8-F141-4BFE-AB97-FF5B89DFC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FC9FBA-07B6-48D1-8098-22E0D75D8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052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没有引用资料；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8A64CC-AF25-43BE-B5E0-64943BCC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4F0F5D-797E-4A79-A39C-1BEE92DF8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052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忽略某些业务条件；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9A0AEC-7AFB-4E06-82B0-A1CC311B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148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95EA54-34F5-41CE-B555-63F5346D6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053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语气不符合要求；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478636-40ED-47DA-8FCE-FC95E628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149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B05F8F-B88F-41CA-A088-8570A4D8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053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没有执行规定步骤。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EFF3F7-7E2B-4FF9-9338-A1320352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768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例如知识库中没有海外住宿标准，但AI仍编出了一个金额。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5A49AA-7E54-4E08-BFB9-1560E5C9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578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如果Prompt没有要求：</a:t>
            </a:r>
          </a:p>
        </p:txBody>
      </p:sp>
    </p:spTree>
    <p:extLst>
      <p:ext uri="{BB962C8B-B14F-4D97-AF65-F5344CB8AC3E}">
        <p14:creationId xmlns:p14="http://schemas.microsoft.com/office/powerpoint/2010/main" val="1245940811"/>
      </p:ext>
    </p:extLst>
  </p:cSld>
</p:sld>
</file>

<file path=ppt/slides/slide117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46E798-A6C2-406A-B686-C8898F49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BAD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A6C5E2-A65C-405B-9243-D677A38C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D65FEB-1EDB-4288-99B1-AAB511168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F495DC-736D-48A8-B6E8-B3E45F4D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96667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5FF8F7-6A66-46DD-A020-3B57EEB6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Prompt问题（续）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4614A0-6931-4249-A931-3999F4CD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9E34C7-CACE-4999-AE33-F9D47138C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5B945C-0341-4B6B-BB3D-892190E8A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936DA0-BB09-4B4D-B87C-4377E56F8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57375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只能依据提供的资料回答；资料不足时明确说明无法确认。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AD9141-FEFB-46ED-B8D9-CE1ED56A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907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那么问题可能出在Prompt约束不足。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0FE1B4-7495-4A5B-A419-8E93BBC7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可能的修复方法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85BA57-B7B8-4764-97D4-EF51BE199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7EAEA1-20AF-412F-9108-2C803D17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BD0A38-A470-4C42-AD9F-4622703B6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289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明确模型角色；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D5C431-E575-4F57-B36F-174CB719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460F28-E4A9-4F49-B10E-A03735C30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290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增加操作步骤；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12BB80-61DF-4C28-891E-8DD02DF49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38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A85229-DCCD-4D58-BE04-3F26B3678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290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写清允许和禁止行为；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669ED3-D9BC-4700-B73C-FFF584883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974736-BE23-4373-A59C-CA5230963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291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补充少量正反例；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FE0D64-683E-4585-81AB-545352DDD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4ED75A-8CE2-4E54-9038-72B53107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291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规定输出结构；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B2BB8A-8C94-4206-A863-A464BA6B9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38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C109DD-7B1C-481B-884B-047AE1327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292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定义信息不足时的处理方式。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D903B7-E2B0-44B1-9136-7C235E55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007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但不能把所有问题都归因于Prompt。Prompt也无法修复错误知识或失败接口。</a:t>
            </a:r>
          </a:p>
        </p:txBody>
      </p:sp>
    </p:spTree>
    <p:extLst>
      <p:ext uri="{BB962C8B-B14F-4D97-AF65-F5344CB8AC3E}">
        <p14:creationId xmlns:p14="http://schemas.microsoft.com/office/powerpoint/2010/main" val="1408824790"/>
      </p:ext>
    </p:extLst>
  </p:cSld>
</p:sld>
</file>

<file path=ppt/slides/slide118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EACEE1-D960-429B-8DAC-BEEF6752F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BAD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D57758-0B2E-4B26-92B9-7818422CB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664CAB-9AB3-495E-BD8A-D1F8C9529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01C004-34B3-4A7D-97EF-AB24BE0C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702622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C0E299-19BF-4A4B-9357-F296E95E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知识问题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F78C57-8234-41F4-A689-9D09222E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F46DAC-91A1-45FB-A3B7-08615A7F1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知识问题通常出现在RAG、企业知识库和搜索型产品中。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6826EC-10E7-41A3-A5EB-80142840E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可能包括：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32DBF5-57CA-4958-9CF8-766C7F90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1883EF-B0C0-4ABB-8EDB-F460AB99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050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正确资料没有入库；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1FF77C-D064-4CFF-87CA-9059D967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890783-97C1-465E-99F3-EB2EAA483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051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文档版本过期；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4E2EFB-C653-4635-B92D-A03CE817A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14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B61C98-2DF8-4AD1-83BB-CAA15471D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051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文档解析失败；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77AE2F-2D36-4146-8482-31D996CB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A8A124-CF30-436E-8998-061CE1B42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052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表格或图片内容没有提取出来；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FAFE10-C0B9-4272-BFA4-E59913F7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B03706-CD9F-4FA3-9FAF-18D5F6B62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052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文档切分不合理；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C645B2-232E-49DD-AA02-BAFD7705F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148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AF8D2C-773B-4FEF-9D53-181047E6B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053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检索没有召回正确内容；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65414B-CFD7-4F30-AEC5-1BE3A9D81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149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9C5792-8129-4BE3-9F77-554C2100F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053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召回内容与问题不相关；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57C64A-164C-4F9A-A4CC-D9DC0B178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149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DC36F8-EF90-4B3D-B860-C44340F8B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054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多份制度互相冲突。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D7DDDD-B04A-487E-B017-EB31A5BC9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例如正确制度规定500元，但知识库中同时存在旧版600元的文件，系统检索到了旧版。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1FE278-DA8E-4BA3-8EFA-2B9A4AD38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579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这不是模型“数学算错了”，而是知识管理与检索问题。</a:t>
            </a:r>
          </a:p>
        </p:txBody>
      </p:sp>
    </p:spTree>
    <p:extLst>
      <p:ext uri="{BB962C8B-B14F-4D97-AF65-F5344CB8AC3E}">
        <p14:creationId xmlns:p14="http://schemas.microsoft.com/office/powerpoint/2010/main" val="775070062"/>
      </p:ext>
    </p:extLst>
  </p:cSld>
</p:sld>
</file>

<file path=ppt/slides/slide119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967124-1DF5-4234-BB49-19DCF17CC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BAD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10871A-9E5D-49CB-A7B0-888F6935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93C6EB-3F5A-4667-A9DB-323B090BB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E59B27-ECD4-4C88-BC19-5CFEC73BB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7085767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67AC50-B989-45F4-AE1F-0306F602E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知识问题（续）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6FE2EC-730B-47E3-8902-E89388E84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D85C85-5915-48C2-8AF7-EA1AE8F1B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2402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可能的修复方法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565E3E-ADE9-49BF-831C-7906DAD9A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4787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5785AB-B779-47CE-9049-8F515E628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81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A27A36-10C6-452D-8E3B-191D7C103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717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更新或删除旧文档；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514AD5-C798-46F5-A374-D1F21AA8D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812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71EFF3-2BB9-4E67-B9B7-0BB5A490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717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标记制度有效期；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A538F1-CE1D-4A16-944D-1CC6B796C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813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094FE0-3ECA-4650-B7BA-98882B150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718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调整文档切分；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8D8386-77A9-4614-B474-1EF24917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813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8A6D5F-70AF-4945-8F8B-A51566BD9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718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优化检索关键词或向量检索；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1F9421-119C-4B36-92F0-0376F13E2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814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567C81-DC55-4EDD-BF17-42C20300B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719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增加重排序；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C47B51-9902-4F93-BEB5-9FADC6E0D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814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A163BD-C5E4-42BF-9699-EDC61005E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719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处理冲突文档；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C4F075-E9F1-41F0-8D99-5BE8A989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815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F4502E-2447-4057-9287-CF675C0C3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720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在回答中显示引用来源。</a:t>
            </a:r>
          </a:p>
        </p:txBody>
      </p:sp>
    </p:spTree>
    <p:extLst>
      <p:ext uri="{BB962C8B-B14F-4D97-AF65-F5344CB8AC3E}">
        <p14:creationId xmlns:p14="http://schemas.microsoft.com/office/powerpoint/2010/main" val="204283619"/>
      </p:ext>
    </p:extLst>
  </p:cSld>
</p:sld>
</file>

<file path=ppt/slides/slide120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7112B4-EEBD-4653-8806-441551634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BAD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E54709-7DD2-4588-809C-1D7E4299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B9AC90-D862-43EA-BF86-059863380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743FBA-1813-4408-95EB-4A1BBDE5B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714531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2D0471-BE73-4D24-8178-DEC7B981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流程问题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5A6E06-BD28-4953-B6FD-37A1304F7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AAD88B-13C1-4954-B7FF-2A170F6C8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流程问题是指产品的工作流设计不合理。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AA66D6-48AA-4DFD-A035-738893C61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例如正确流程应该是：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439144-264C-4F0A-8112-13CBD3AB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8D4B88-EAD0-4D1C-9673-672871CBC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050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判断用户是否查询本人订单；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7D1BDD-2854-43D9-A062-B09F39630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EF0BC8-2E39-4913-94D6-8692308D6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051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验证身份；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D4AFC0-C983-4EB5-8497-9D63737AA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14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480B65-28AD-4F6F-9E94-BDB02EADD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051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调用订单接口；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632B3A-F81B-4E48-9D7C-FC8420952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77F251-3AFF-42A4-B3CD-E2D6541D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052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获取物流信息；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C8A881-EC84-486E-AE9F-9D0FE28AC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CC5518-B3A9-48AE-8DEE-7131D95B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052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生成回答。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A69DA0-AEB4-4703-9EBB-EA25EAAAF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但产品当前流程是：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A40F15-91AF-4F47-9EFA-72644F840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958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267CA7-38C1-43D5-8792-EC3CDA07F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863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收到订单问题；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C48239-F7F5-4719-B5FE-2F9B6D6B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959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13D003-92DC-4019-90E1-F3BA4A81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863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直接调用订单接口；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5BF4DA-A3EB-4F6B-9893-58E235275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959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539F71-94E2-418E-ADBC-17EBA3EC7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6864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返回订单信息。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70172F-769F-4B93-BC3F-F3E3F6C6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579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那么即使模型回答准确，也可能存在隐私风险。</a:t>
            </a:r>
          </a:p>
        </p:txBody>
      </p:sp>
    </p:spTree>
    <p:extLst>
      <p:ext uri="{BB962C8B-B14F-4D97-AF65-F5344CB8AC3E}">
        <p14:creationId xmlns:p14="http://schemas.microsoft.com/office/powerpoint/2010/main" val="1274818003"/>
      </p:ext>
    </p:extLst>
  </p:cSld>
</p:sld>
</file>

<file path=ppt/slides/slide121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8D6704-23CD-4BCE-B42F-41690F56B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BAD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4B66E3-3FF4-4FA7-A517-CA514FE66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B144A4-F452-48AD-9DB6-127CDD74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71A7F3-DB27-4746-935B-AC965B84F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7204856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C27424-B5F2-4AAE-B267-3D3A8D339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流程问题（续）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9FD9EC-737C-4DFD-889A-57D94049E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2DC5DE-4134-427B-9EAD-80AB7841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常见流程问题包括：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AE7864-ED9A-4E8C-BEB4-73870752D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33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4478FE-A5CB-49E6-BB5C-B51AEB17D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240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缺少必要追问；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49060F-94B0-4038-8517-B9B7CCBC7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42F630-4B80-4FFF-924D-0CB319C79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241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没有验证身份；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3D30F9-3A5C-4C46-8058-E8C727127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DACEC9-FA93-4BB2-853F-3CF93BA7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241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工具调用顺序错误；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AF4D37-0B13-4AA5-9766-E5DF59EF4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7093C6-36E7-4CDF-8BA9-EAE195137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242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应该转人工时仍由AI处理；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6251AD-817C-4900-88A9-19B89847D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F47F42-A45A-4B4A-8AF6-BA5B2097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242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工具失败后没有兜底；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99E5C1-7CB6-41ED-AE35-C2F036A7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86275E-3B52-4EF4-BE6F-899C6A98C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243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多轮对话状态丢失；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F14986-5168-44A7-BA9A-F9B3B7FD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3D7387-6BB5-414F-B77B-6215F97A8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243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没有执行输出校验。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3C4BCE-2EF0-4E2E-9034-EFFE19D32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0537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可能的修复方法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B2CB02-58BA-42C6-998E-D1651097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2922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96B103-AC37-4255-BD4C-41846C2B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625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8DE2EF-8B09-4C78-A889-A5ED0B5FC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530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增加流程节点；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8D3E10-4885-44D8-9007-673D497BC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626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D5F2CB-1FF1-476F-BD27-B4891CDA2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7531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调整节点顺序；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6FA17B-5314-4B12-9D61-7B5A21EA9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1626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A2F01D-D6DF-48A3-AB73-44D3EB9F9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1531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增加条件判断；</a:t>
            </a:r>
          </a:p>
        </p:txBody>
      </p:sp>
    </p:spTree>
    <p:extLst>
      <p:ext uri="{BB962C8B-B14F-4D97-AF65-F5344CB8AC3E}">
        <p14:creationId xmlns:p14="http://schemas.microsoft.com/office/powerpoint/2010/main" val="1131769864"/>
      </p:ext>
    </p:extLst>
  </p:cSld>
</p:sld>
</file>

<file path=ppt/slides/slide122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043066-D673-4C48-A756-0D1DE314D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BAD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92C83B-99F0-4206-8A2D-84588B85D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2727DC-56CC-49F9-83F9-CB52C4D1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DFCC17-7AC5-4713-BABC-FF7872238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7264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FB977E-1EC5-43B6-B8FC-EDF4BDADA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流程问题（续）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5A5A44-0945-4744-90D4-A5684D0A7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AF6784-702C-4B74-B3ED-8352A27F3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7DC0F7-AFA0-45CF-A793-6940E19B4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430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增加人工兜底；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28E746-4A06-4AD1-9E42-0F755D4B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DFED77-44CB-4B7E-9C09-DBB70D1AE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431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设置失败重试；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9663BC-AA30-455C-8442-1C0790EC8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FEAA1D-C0D8-4860-A3FD-E870F2E5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431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增加输出审核。</a:t>
            </a:r>
          </a:p>
        </p:txBody>
      </p:sp>
    </p:spTree>
    <p:extLst>
      <p:ext uri="{BB962C8B-B14F-4D97-AF65-F5344CB8AC3E}">
        <p14:creationId xmlns:p14="http://schemas.microsoft.com/office/powerpoint/2010/main" val="1490122655"/>
      </p:ext>
    </p:extLst>
  </p:cSld>
</p:sld>
</file>

<file path=ppt/slides/slide12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C9884A-5BC3-4821-A871-EC601061F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BAD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65ECB4-6AC3-41D2-ADBC-CE950A92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5D4A39-4F79-4E08-AA90-E3FFBCF4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E34A49-D543-46F3-BD06-08BBCBD4E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732394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808979-52F7-4F9F-A283-CE085EE98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工具问题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B48A3C-04C0-48ED-88D0-90A2F2FBD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FAE5FD-7DA1-46D4-BD77-0FE0ECFBF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工具问题发生在API、数据库、搜索、计算器等外部能力上。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5CCCEF-9B31-4057-8BD6-754235441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常见情况包括：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09DD6D-FA0A-477E-B598-415B710A1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7AEA07-D595-481C-8CB1-E27E0A4D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050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API调用失败；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22B346-EF84-44E7-9D98-C95171721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D59C14-7829-4EE8-B2B2-2F182BE05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051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参数传错；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EC266C-DBFC-478F-803A-A19B03945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14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8453F3-CEBE-45AA-8AE4-B6B0CC6E1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051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权限不足；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16473A-CE58-447F-A921-C4D5DA50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6AAA63-E898-45D0-861B-0BA0E0650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052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返回数据为空；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F05CF2-CA77-4268-978F-1EEB37568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2BDA5A-66EE-434F-9373-7DA346A2F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052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返回字段发生变化；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2CDB2F-82F6-4169-8A2E-C0264361A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148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FA376D-328A-4471-95A3-716675F9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053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接口超时；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108474-0712-4E22-A8B6-3E60FBF1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149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647F69-E15C-4860-B08D-D09DA6DFC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053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工具结果没有正确传给模型；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739587-F65C-4FFB-9E62-61C1DCF3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149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568A34-DA76-4EA8-8BC7-38D591284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054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模型选择了错误工具。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32A83E-5650-468D-B28B-3BA53D5DC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例如模型正确识别了用户想查询物流，也调用了物流API，但API返回了三天前的缓存数据。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4A715B-6067-4CA2-84E6-7D2981668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579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此时主要问题不是模型，而是工具或数据接口。</a:t>
            </a:r>
          </a:p>
        </p:txBody>
      </p:sp>
    </p:spTree>
    <p:extLst>
      <p:ext uri="{BB962C8B-B14F-4D97-AF65-F5344CB8AC3E}">
        <p14:creationId xmlns:p14="http://schemas.microsoft.com/office/powerpoint/2010/main" val="415830278"/>
      </p:ext>
    </p:extLst>
  </p:cSld>
</p:sld>
</file>

<file path=ppt/slides/slide124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F802F7-402E-4335-877D-0E0A77C48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BAD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BE40ED-E619-479A-8C4F-04AFFF2C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D99F25-3E9A-4681-8BB5-97FE11AB7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58D8B4-3F41-40C3-809A-FB48765E6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738348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D843B8-69FF-4E60-9D6C-B5D98214A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工具问题（续）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8870D0-E92B-4E25-8245-C867A61FD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DBFDE6-6C20-4BBD-8AE4-E8AA9215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2402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可能的修复方法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37E6F2-93FF-48D4-A25E-37E3601D6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4787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A75237-288B-4604-9817-75649A5DB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81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897BD1-CFCA-48AD-83DD-EF8BC566B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717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修复接口；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DCB2FD-42D9-4A54-B6D2-4C6C69D55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812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56A239-3062-4B06-A8DE-1B1EF601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717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增加参数校验；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17B33C-C3AC-47A1-B1C3-78435DCB5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813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5F8EDC-647A-49C8-93B3-D43808B3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718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增加超时和重试；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E85BDE-6AB1-43F7-9480-F794E4BF0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813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B8D433-E1D2-438D-BC75-FFD16A53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718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检查权限；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700E17-29AB-4F4E-8CDD-D5133524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814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9BA82E-F8FD-4B1D-B12C-D72C81F0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719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更新字段映射；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AD4457-1FF3-4BD2-B8AB-548139057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814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EC39A1-0660-45BE-939A-D054ED96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719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显示数据时间；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675C66-F2BC-4CA4-8FCF-FBE77614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815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32A161-9083-4C10-8FA8-D523D1B0A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720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工具失败时停止生成确定性结论。</a:t>
            </a:r>
          </a:p>
        </p:txBody>
      </p:sp>
    </p:spTree>
    <p:extLst>
      <p:ext uri="{BB962C8B-B14F-4D97-AF65-F5344CB8AC3E}">
        <p14:creationId xmlns:p14="http://schemas.microsoft.com/office/powerpoint/2010/main" val="730446550"/>
      </p:ext>
    </p:extLst>
  </p:cSld>
</p:sld>
</file>

<file path=ppt/slides/slide125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CDBC23-3C19-4D78-81DC-3FAF01212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BAD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7B91C2-9568-4DE4-AD2B-BEA4EFADE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A7B1AA-7701-4C37-9A61-77EC9514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1C2EA5-F676-4B56-983F-971F202B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744303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13E135-ED0C-4316-BEC0-B70B29CE4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产品边界问题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3D36D8-D34B-470C-AD60-E7AF0813E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96D3D7-9438-4ADC-942A-BAC7AC8E3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有些Bad Case并不是某个模块“出了Bug”，而是产品从一开始就没有明确能力边界。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841452-0C00-4BEB-B738-2444B290F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例如团队把产品定位为：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005F3F-4856-4DCC-B1DE-C98E79038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7E743D-FFED-4E4D-9E3B-45DCF822F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79F9FB-0517-417E-914A-9F97717D9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19375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一个什么问题都能回答的企业助手。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208160-AFA9-4E77-9BE0-4BDF4E9C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527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用户随后询问：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0E4FA6-BD98-4E93-B765-B5862EDF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F7B5FB-D873-4B54-8963-2ED4CF5B6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623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劳动纠纷法律建议；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D24136-8F66-42D2-A6A1-EB8A1B2E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719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0B893C-890D-427B-8539-7CA98B9F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624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员工心理诊断；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52643D-3A7D-4C96-B6EB-5A0B8B66C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719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5BCC45-2581-4472-8357-DC61141BD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624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投资建议；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7BA5E3-D121-4A2F-BF49-4E173B240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720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35613A-EDB0-47E1-9D56-D8AE4D7B8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625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未公开公司战略；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AD8CFB-EAC1-428F-B29F-C843D656B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720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05ED0D-AAD1-4B99-A710-A0ED6D5FF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1625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其他部门的敏感数据。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37B4A3-7946-4D8A-876B-E49AD1C4C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340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如果没有定义哪些问题可以回答、哪些应该拒绝、哪些要转人工，产品就会不断遇到无法通过局部优化解决的问题。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5A73AE-5FF6-49AF-9F2F-74AA5E306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245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可能的修复方法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1089C2-9C1B-43D8-AA10-59ADD4CF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4840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39137760"/>
      </p:ext>
    </p:extLst>
  </p:cSld>
</p:sld>
</file>

<file path=ppt/slides/slide126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654610-D840-4CC0-8B08-FEDF2E895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BAD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6140FE-9838-4E11-B907-767B7E8CF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1BD23D-50D3-48AC-A2FC-440B5D0CD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CA1A8B-408E-43FA-84D9-04540691E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7502577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634B04-3E26-4835-A50C-F94242FD7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产品边界问题（续）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CA5679-6825-45F6-B8D5-A064C1582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278B05-07FE-478B-A7CC-0C29B0F9D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00D27C-057D-4CAD-8F02-AC17177ED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430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明确产品支持的场景；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D7964F-1805-46A5-BE69-46A8CD4E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F22FEB-AAFF-4A09-B577-59FB3DC1D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431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设计拒答范围；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7D10FC-51E0-41A3-A5AC-854BFCD6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0874D5-7616-4804-8614-CEE50C296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431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设置权限边界；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5C53FD-A2A6-4EFA-AF43-5EFAE8F0D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F53B5F-6A2B-413D-88BD-3F06FE0A6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432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提供转人工入口；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9D831E-134C-420C-94A9-C0706724B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EBA647-9057-4967-B075-A321DF17B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432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调整对外产品承诺；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AC9F06-DAD4-47BD-ACC9-FB0B21ED4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528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94B09F-737E-4F7B-B6FE-330E2B3E4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433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对暂不支持的需求进行明确提示。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6C0036-429F-487A-BFAB-5B71965E0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产品边界问题通常不能只靠修改Prompt解决。</a:t>
            </a:r>
          </a:p>
        </p:txBody>
      </p:sp>
    </p:spTree>
    <p:extLst>
      <p:ext uri="{BB962C8B-B14F-4D97-AF65-F5344CB8AC3E}">
        <p14:creationId xmlns:p14="http://schemas.microsoft.com/office/powerpoint/2010/main" val="1235713859"/>
      </p:ext>
    </p:extLst>
  </p:cSld>
</p:sld>
</file>

<file path=ppt/slides/slide127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515193-724D-4F26-ADC5-258A9230E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BAD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07A8BC-47A7-46BA-9D46-5021F72A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127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1CA527-A6D8-4A18-A5F6-BEA8DBBE5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399CAC-3038-4857-8682-27EE23228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756212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967088-087C-4B0D-A99A-0395A7074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一个完整的归因示例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D0E92D-6752-4247-B73C-0A4A7EEE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67D528-36BC-4C5F-92C9-5DD37FAFA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用户问：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E2DFE0-A547-44B7-B246-7A8AB5794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2E76D9-4F27-4305-911F-63859BEE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026018-E82B-446C-8083-A72B2AE5D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38375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我去北京出差，酒店能报多少？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602149-8401-43B3-B0AB-4BC972B3F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717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AI回答：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DC102A-05C7-47DA-8745-AF0FB2CEC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52775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F4A494-B243-47A4-890A-5444330FE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52775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E98271-208B-46B2-BABE-42B0803F7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95650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北京住宿标准是600元/晚。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22C470-D27C-4117-98A4-A55EA968F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290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正确答案是普通员工500元/晚。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A6E4C3-C931-4F40-A9F3-B152F2266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00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我们不能看到数字错误就立刻修改Prompt，而要沿链路检查。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A02156-A9E0-42C8-8632-E4EFA067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0057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第一步：检查用户信息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00B059-8318-4F14-974B-EE7D46A4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2442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9B9F8E-DE76-4DED-BD45-95B2FA09B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96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用户没有说明职级。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8C9482-C209-44CE-8191-9B7B7BBD6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006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可能的问题：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8DA44D-C8E3-4855-B37E-84D8BF159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197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D45A4C-B2AE-4050-8257-85AFDBCC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8102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产品应该追问职级，但没有追问；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DFC38C-6BD7-416B-AC29-874E669D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2198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40E3AA-8C99-495A-88CB-361408F58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2103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工作流没有设计信息补全节点。</a:t>
            </a:r>
          </a:p>
        </p:txBody>
      </p:sp>
    </p:spTree>
    <p:extLst>
      <p:ext uri="{BB962C8B-B14F-4D97-AF65-F5344CB8AC3E}">
        <p14:creationId xmlns:p14="http://schemas.microsoft.com/office/powerpoint/2010/main" val="1859743432"/>
      </p:ext>
    </p:extLst>
  </p:cSld>
</p:sld>
</file>

<file path=ppt/slides/slide128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AB1AB3-E23D-4675-8B5F-FB96DD9B5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BAD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EE89D3-7629-4B43-A699-5861D78EB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128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3C1263-752B-4CE2-BC0E-1C9DD1DD4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7EEEE2-EA14-4948-BBAA-D3B8913E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7621666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2C7AE8-816C-40CD-8B42-76245819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一个完整的归因示例（续）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BFC0CE-9E67-47B7-B329-8A8E490C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EC62F2-34CF-46F1-AF55-6815D9ABE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初步归因为流程问题。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5310C9-3A8C-49E8-B1A0-5AA9430E0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0502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第二步：检查检索结果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89A483-8284-4B11-A1D8-17A0F52B2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2887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86C1CC-4FD6-4945-ADB5-4CD186F1C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241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系统召回了一份旧制度，其中标准是600元。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21CD1E-8D29-4038-8913-AB388B511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051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说明存在：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075E2B-10AE-444F-B28F-7FD6AE07A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24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34FF0E-9372-4E80-93FA-7321B899C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147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旧知识未清理；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18F38D-0937-4ECB-91F3-9171FF7D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242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087F5B-0423-483A-B0F6-544B90288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147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文档有效期没有参与排序。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447819-9070-4C15-AA6B-63309EDD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862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这是知识问题。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D0E876-B141-48EB-BB34-84AF40BD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第三步：检查模型行为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D06B83-3503-44F5-A728-D820854B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0060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065CBD-C7D8-4C4B-B320-8FB8F4D05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958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检索结果里同时包含新旧两版制度，模型直接选择了旧版，没有提示冲突。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DB7632-E72C-4A71-8D73-CB923B114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768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这可能还包括：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90DCE7-0236-495B-8D49-BE6593B1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959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F152A0-678B-4DD6-AEF9-80FB49E23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6864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Prompt没有规定以最新有效制度为准；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E72AC5-98AA-4E6F-AD9C-C0129555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960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B1026B-53A1-42A3-BBCC-B4F97F8F3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0864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工作流缺少冲突资料处理机制。</a:t>
            </a:r>
          </a:p>
        </p:txBody>
      </p:sp>
    </p:spTree>
    <p:extLst>
      <p:ext uri="{BB962C8B-B14F-4D97-AF65-F5344CB8AC3E}">
        <p14:creationId xmlns:p14="http://schemas.microsoft.com/office/powerpoint/2010/main" val="466198905"/>
      </p:ext>
    </p:extLst>
  </p:cSld>
</p:sld>
</file>

<file path=ppt/slides/slide129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B8A9BA-8E97-42A0-84BC-0EBCF61C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BAD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6F3F4D-05A6-49FE-89E3-CF9D6AFCC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129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027054-7252-4F18-A799-199E7260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63AA62-BFE9-4C42-A359-0B32E7DB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768121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D36BE4-B8F3-453B-BED9-791AAFCCF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一个完整的归因示例（续）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71B366-9774-4E7A-B85E-47739BFB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F50B44-E3C1-4CEA-BE5C-5385312DC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因此，一个Bad Case可以有多个原因，但需要区分：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EF0B4A-CC3B-489F-A87C-36777DD1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33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5D8435-A5F3-431F-9F22-599DC6909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240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主要原因：直接导致错误的核心问题；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A56FC4-AB9D-435D-B808-DD6948A8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98037A-38F4-48F7-8059-A8AD7EC4C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241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次要原因：没有及时拦截错误的问题。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0E9076-2FD8-4E55-BE8D-D8C21E553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这个案例可以记录为：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1DACB3-F730-43AD-86A3-118AA57C1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10572750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031016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BC6532-27BA-49CA-B6C7-5E60F1150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09950"/>
            <a:ext cx="10048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E7B7"/>
                </a:solidFill>
              </a:defRPr>
            </a:pPr>
            <a:r>
              <a:rPr sz="1200" b="0">
                <a:solidFill>
                  <a:srgbClr val="6EE7B7"/>
                </a:solidFill>
              </a:rPr>
              <a:t>主要原因：知识库存在旧版制度且检索优先级错误</a:t>
            </a:r>
          </a:p>
          <a:p xmlns:a="http://schemas.openxmlformats.org/drawingml/2006/main">
            <a:pPr algn="l">
              <a:defRPr sz="1200" b="0">
                <a:solidFill>
                  <a:srgbClr val="6EE7B7"/>
                </a:solidFill>
              </a:defRPr>
            </a:pPr>
            <a:r>
              <a:rPr sz="1200" b="0">
                <a:solidFill>
                  <a:srgbClr val="6EE7B7"/>
                </a:solidFill>
              </a:rPr>
              <a:t>次要原因：用户职级信息不足时没有追问</a:t>
            </a:r>
          </a:p>
          <a:p xmlns:a="http://schemas.openxmlformats.org/drawingml/2006/main">
            <a:pPr algn="l">
              <a:defRPr sz="1200" b="0">
                <a:solidFill>
                  <a:srgbClr val="6EE7B7"/>
                </a:solidFill>
              </a:defRPr>
            </a:pPr>
            <a:r>
              <a:rPr sz="1200" b="0">
                <a:solidFill>
                  <a:srgbClr val="6EE7B7"/>
                </a:solidFill>
              </a:rPr>
              <a:t>拦截缺失：输出前没有校验金额与制度版本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873AD9-AA91-483D-9271-99442F8BB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672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这样的归因才真正能指导产品修改。</a:t>
            </a:r>
          </a:p>
        </p:txBody>
      </p:sp>
    </p:spTree>
    <p:extLst>
      <p:ext uri="{BB962C8B-B14F-4D97-AF65-F5344CB8AC3E}">
        <p14:creationId xmlns:p14="http://schemas.microsoft.com/office/powerpoint/2010/main" val="540935594"/>
      </p:ext>
    </p:extLst>
  </p:cSld>
</p:sld>
</file>

<file path=ppt/slides/slide130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F48E0D-131D-4290-94C1-32F53A49D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BAD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AFEF41-3405-4A78-993A-43267C82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29E581-8532-401D-8528-8AB839B6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D227C4-3C6E-4271-9287-8C0BECB7B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774075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F4CC7C-4BC5-4547-90F3-CCF21EDFC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Bad Case问题池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A35499-5DA3-403A-BF8D-125706F22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F50414-9281-4C1C-ACBB-DDD4D5DD2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发现Bad Case后，建议建立统一问题池，至少记录：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4AB716-D503-49D8-AC36-0DFD21C9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这样Bad Case才不会停留在聊天记录、截图或群消息里。</a:t>
            </a:r>
          </a:p>
        </p:txBody>
      </p:sp>
    </p:spTree>
    <p:extLst>
      <p:ext uri="{BB962C8B-B14F-4D97-AF65-F5344CB8AC3E}">
        <p14:creationId xmlns:p14="http://schemas.microsoft.com/office/powerpoint/2010/main" val="216949358"/>
      </p:ext>
    </p:extLst>
  </p:cSld>
</p:sld>
</file>

<file path=ppt/slides/slide131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9ED3F0-A0F2-4243-9307-B3AE51CBD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BAD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C92635-2A69-44F9-B81D-6AF95A34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131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41B573-FF99-4A22-A984-332AE9F4B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7D2A9F-5950-446B-A7F7-1B9C701D2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780029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78F48A-F581-4381-BF21-984D4300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Bad Case的处理优先级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C250F0-695C-4375-9FEC-6FB388988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6979B5-1010-471E-8C7D-B43D9AF9A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不是所有Bad Case都需要立刻修复。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8C33AC-11EC-47B8-A957-95C11CB59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可以考虑三个因素：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DA6B5A-9889-4328-A79D-1830E6970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089B8A-5843-44A1-BA0D-950598AEC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F4CCE2-3C50-421D-8F05-39791B404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19375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发生频率 × 影响程度 × 修复成本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495796-1C99-4C14-A6FD-9D8DB2347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527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通常优先处理：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403CA6-1EE3-4BBB-A140-94CBF640A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2FA13B-8998-4760-B951-9598C231C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623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安全和合规红线；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460CBB-DCB3-4DFC-8711-6197FDD1A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719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0EE314-A15C-42B7-820C-65BBA8FB9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624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高频核心任务失败；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1B2411-8C29-469E-9176-B4606E9F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719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2FF4C3-80A4-426E-86A7-05B64A9B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624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会导致资金或用户损失的问题；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F0FD1E-A2A8-4223-AFE2-0D0896F28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720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99B785-7A2B-45E4-A9C2-574A3CEB0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625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会阻断完整任务的问题；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8E1249-6F80-4D11-9CF8-F025BB565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720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019B18-A91E-4712-B64D-B788A4E85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1625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可以用较低成本解决的共性问题。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94C2DA-B35B-4CE1-A47E-08C74F429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340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低频、低影响、修复成本极高的问题，可以暂时通过：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40E87A-DF7D-498C-BC0D-19ED81907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531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94F52A-D632-42D1-B68B-C4F32795C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9436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限制产品范围；</a:t>
            </a:r>
          </a:p>
        </p:txBody>
      </p:sp>
    </p:spTree>
    <p:extLst>
      <p:ext uri="{BB962C8B-B14F-4D97-AF65-F5344CB8AC3E}">
        <p14:creationId xmlns:p14="http://schemas.microsoft.com/office/powerpoint/2010/main" val="1560886754"/>
      </p:ext>
    </p:extLst>
  </p:cSld>
</p:sld>
</file>

<file path=ppt/slides/slide132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DEBD46-9856-4C4B-A44C-BCDC35C49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BAD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6B0EFD-4C2B-4D07-8B93-C9452C76C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132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515B26-3250-4AFB-8D33-CEE8FCD3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0B38AD-EA12-4D3D-BACD-78BD6D3E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785984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15E10E-8654-44C7-9E10-35C02727D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Bad Case的处理优先级（续）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F31717-EFB6-4AF3-84BA-1B2CFDBA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72682A-DE51-411B-A0FE-61BD61CCC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0FC2BF-D94C-406D-8967-951FDB0A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430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明确提示；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83A00F-0B98-43B2-8A36-6C3F951C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2F5BBA-CA42-471B-B354-DE10DD29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431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转人工；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91D964-B683-4525-9740-1A913E2E4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B214DF-CBD4-42CB-B875-8692FA4FB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431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增加兜底；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8D90B8-11A4-4479-A743-136BF2557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进行处理。</a:t>
            </a:r>
          </a:p>
        </p:txBody>
      </p:sp>
    </p:spTree>
    <p:extLst>
      <p:ext uri="{BB962C8B-B14F-4D97-AF65-F5344CB8AC3E}">
        <p14:creationId xmlns:p14="http://schemas.microsoft.com/office/powerpoint/2010/main" val="360471945"/>
      </p:ext>
    </p:extLst>
  </p:cSld>
</p:sld>
</file>

<file path=ppt/slides/slide13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0926CB-3BB7-4CA4-8558-2A8B60AE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BAD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273748-2D38-4028-A4EE-4DF8D87F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133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B1A016-B088-4FCC-AB0F-74575673E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0A48DE-003E-4AF4-9D9C-678506444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7919387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D5212B-0DD7-46E9-9E71-21B2930C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第六部分总结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F9025A-5F03-49A4-B5D2-BA2F3733E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81F4D1-420D-4E42-B841-D0F0B62C5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Bad Case分析不是简单记录“这道题错了”，而是：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F73849-424D-490D-989F-BBEFBAB7B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33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807074-56CB-45E1-AA98-836D5EEDD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240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还原问题发生时的完整环境。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7D8914-2A4A-4056-86EB-185A8AAA4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8273FD-2F8E-46D0-927C-B937FDF8D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241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明确产品本来应该怎样处理。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0F4549-3D49-4DBA-9979-D9B7A4268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58CAA3-59A0-4331-8FDE-A0DF9D790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241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沿着AI产品链路定位失败环节。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BBFFB2-E2E6-4448-8719-8D5AF4B3F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367C64-401B-4934-B3C6-8168441EB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242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区分数据、Prompt、知识、流程、工具和产品边界问题。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F8B3E4-2599-4AA8-B747-3E77F1EA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2CD4C4-B416-4A52-846F-C62A0DD99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242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制定对应的修复和验证方案。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DB76D1-4E80-48D6-9A5D-7E6D7DED0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F5573B-46EC-4CF3-A8B7-FDC01C0FB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243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把关键Bad Case加入回归评测集。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B76D11-BFE3-4E17-8E4C-7E4341CF8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958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最重要的原则是：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D84A2B-6FC5-4CEF-97E4-622083B98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76800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0F3FE2-0153-4292-B61A-01F03D2B1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76800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0A4DA5-ADDA-42CA-92A0-65C7B83A2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9675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错误表现不等于错误原因，归因错了，优化方向也会错。</a:t>
            </a:r>
          </a:p>
        </p:txBody>
      </p:sp>
    </p:spTree>
    <p:extLst>
      <p:ext uri="{BB962C8B-B14F-4D97-AF65-F5344CB8AC3E}">
        <p14:creationId xmlns:p14="http://schemas.microsoft.com/office/powerpoint/2010/main" val="1126980630"/>
      </p:ext>
    </p:extLst>
  </p:cSld>
</p:sld>
</file>

<file path=ppt/slides/slide134.xml><?xml version="1.0" encoding="utf-8"?>
<p:sld xmlns:p="http://schemas.openxmlformats.org/presentationml/2006/main">
  <p:cSld>
    <p:bg>
      <p:bgPr>
        <a:solidFill xmlns:a="http://schemas.openxmlformats.org/drawingml/2006/main">
          <a:srgbClr val="0B20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90C224-7EEC-4599-9F28-164545183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2476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850" b="1">
                <a:solidFill>
                  <a:srgbClr val="36D6C2"/>
                </a:solidFill>
              </a:defRPr>
            </a:pPr>
            <a:r>
              <a:rPr sz="8850" b="1">
                <a:solidFill>
                  <a:srgbClr val="36D6C2"/>
                </a:solidFill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AFC2FD-E9CC-4B34-B09C-C057C0DE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952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A90CD5-71D2-4074-90D4-80A65E14C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5F2E9"/>
                </a:solidFill>
              </a:defRPr>
            </a:pPr>
            <a:r>
              <a:rPr sz="3600" b="1">
                <a:solidFill>
                  <a:srgbClr val="F5F2E9"/>
                </a:solidFill>
              </a:rPr>
              <a:t>回归测试与版本管理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30C3C3-EF24-4D02-8A75-C90AB0E54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7B5BC"/>
                </a:solidFill>
              </a:defRPr>
            </a:pPr>
            <a:r>
              <a:rPr sz="1650" b="0">
                <a:solidFill>
                  <a:srgbClr val="A7B5BC"/>
                </a:solidFill>
              </a:rPr>
              <a:t>按照讲稿结构展开概念、方法与完整示例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B651B8-9634-417A-94C4-D95FA527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REGRESSION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920EE9-B6B5-4294-BF7F-6264AD60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134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D9C850-9223-4A9A-B92F-332FF6345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88FDCE-9F41-4F72-9C41-AB8034020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797893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15017295"/>
      </p:ext>
    </p:extLst>
  </p:cSld>
</p:sld>
</file>

<file path=ppt/slides/slide135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A9D12B-4AD2-461E-A2F2-0CC9AF01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REGRESSION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A2B5F0-5018-46D8-988A-C4FCD226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135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A69B54-B0F8-474A-8278-F53B8899F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486507-73D0-499D-BB8A-786F8E1F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80384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EEF37C-B107-4774-8140-8DD6656CC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第七部分：回归测试与版本管理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83EE00-FAE8-45B3-9FC2-8C92927A8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679902-A557-4994-81AB-B210009D6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Bad Case完成归因和修复后，不能只把原问题重新问一遍，看到答对了就结束。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490BDF-80B0-4152-8403-6A0A007B0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因为AI产品常见一种情况：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9AF7B6-25B0-49CF-9175-1EB2C2737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DEF77F-2E9B-428B-8D76-A7CF2571E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37E62E-3642-4EA5-91A5-ACCA2BA33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19375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修好了一个问题，却让其他原本正常的问题变差。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0A2E58-C9B2-46DC-A0CF-1BDF8DB8C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527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回归测试就是为了同时确认两件事：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EECC4E-4967-4F37-B742-7DA88716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A95436-415A-4C09-9BF6-A46F5D5A7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623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原来的问题是否已经修复；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F0579B-D668-48EA-8C17-31784040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719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0AC09E-5F28-4E2E-94CA-40DDFDDCF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624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原本正常的能力是否发生退化。</a:t>
            </a:r>
          </a:p>
        </p:txBody>
      </p:sp>
    </p:spTree>
    <p:extLst>
      <p:ext uri="{BB962C8B-B14F-4D97-AF65-F5344CB8AC3E}">
        <p14:creationId xmlns:p14="http://schemas.microsoft.com/office/powerpoint/2010/main" val="1521717966"/>
      </p:ext>
    </p:extLst>
  </p:cSld>
</p:sld>
</file>

<file path=ppt/slides/slide136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908D42-1E3B-412A-A8F7-DC36E7D9D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REGRESSION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A69111-F394-41A7-89B4-990F1B2BB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136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5BB332-398A-45E0-948A-4D7D0CA74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6AF60D-1346-4C30-B011-8B66C2BEB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809802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F5CE7E-AB4F-4350-930E-1BB4475B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回归测试的基本定义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6BE41F-91D1-4D8D-9A43-076635800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056B2F-9F51-4AE6-B755-51F0FCDAC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“回归”可以理解为：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8D69D2-347A-4986-A264-0A8953781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B48FFD-CC80-4920-8468-48D1B70BF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7EE85D-A8FD-4607-AC6C-AF8D55009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38375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产品发生变化后，重新运行一套已有测试，确认整体能力没有意外倒退。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12B061-AE08-4766-95B6-1CD694658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717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例如原来用户问：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15C290-9845-48C5-A900-2F1698445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52775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544D3A-AC03-48D4-8F89-497C0936C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52775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DC58EA-8448-414F-8C16-7AE2AE72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95650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普通员工去北京出差，住宿上限是多少？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1335D7-7B99-4023-9F38-01FE06242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290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AI错误回答600元。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895495-A203-4020-BED7-FB4DEC752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00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团队更新了知识库，重新测试这一题，现在回答500元。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028C1A-7D35-4D6F-96D1-920830F7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910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这只能证明“原题修好了”，还不能证明新版本整体更好。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400E41-86AF-40BD-BA93-988874DD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720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因为更新知识库后，可能出现：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202F6D-A9F8-49CF-BF9B-9A52AEE27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D17ECC-453D-4024-8251-716D10A7F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816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上海住宿标准被错误覆盖；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0956A8-1BEA-40C6-900A-3F6BD7EF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912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C649D3-2E7D-4EDC-90AD-68D1A4C54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7816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部门负责人标准无法查询；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24CAFE-6C28-4267-984F-4F42E9CF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1912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68F5FD-A9A9-48AF-9AEE-E2641812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1817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新旧制度引用混乱；</a:t>
            </a:r>
          </a:p>
        </p:txBody>
      </p:sp>
    </p:spTree>
    <p:extLst>
      <p:ext uri="{BB962C8B-B14F-4D97-AF65-F5344CB8AC3E}">
        <p14:creationId xmlns:p14="http://schemas.microsoft.com/office/powerpoint/2010/main" val="206373969"/>
      </p:ext>
    </p:extLst>
  </p:cSld>
</p:sld>
</file>

<file path=ppt/slides/slide137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9A19C9-F3CB-4890-8DEC-5C9E4657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REGRESSION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6F0999-0F0C-4B82-926E-D5A24622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137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8D3532-9217-4561-9B96-3B13501B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7EF907-1268-4A2C-A8C8-C42B4CDEC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815756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9B9348-93E0-4F39-B27C-08EFC6F73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回归测试的基本定义（续）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382CE4-A4DE-4707-ABD0-0D20032FA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5A253A-719B-42DA-BEE2-95C67E491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93511C-0E32-48FE-9067-A5B80817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430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回答速度变慢；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DEBCA6-D51F-436D-BCAE-85C26B80C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2F707A-CE5C-45F1-A009-3E4226492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431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原本能回答的问题开始拒答。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CAD3F4-87BA-4A2B-BA3C-DB75D5385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因此需要重新运行一组相关和非相关用例。</a:t>
            </a:r>
          </a:p>
        </p:txBody>
      </p:sp>
    </p:spTree>
    <p:extLst>
      <p:ext uri="{BB962C8B-B14F-4D97-AF65-F5344CB8AC3E}">
        <p14:creationId xmlns:p14="http://schemas.microsoft.com/office/powerpoint/2010/main" val="1939091785"/>
      </p:ext>
    </p:extLst>
  </p:cSld>
</p:sld>
</file>

<file path=ppt/slides/slide138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17A6F6-A66D-4C8F-B5AD-E8164B8E3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REGRESSION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9FD10F-A046-4BEA-AC9C-87540C404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138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C7F8F3-D8CC-445F-912F-D295EAF6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F3C9F5-BC54-48B8-9BE0-585C33BF4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821710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80EFE1-8E10-4425-825B-FD11DC2E6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修复验证与防退化验证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9B62E1-3B0B-4BAB-9220-1A732BE6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08AE8D-BEF0-44DC-9557-F7772198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一次完整回归包含两个部分。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938851-CADF-4ED2-AC92-C7C6035F1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0502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修复验证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76F7EE-C6B9-4322-A7D1-992A8A7B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2887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BC96B5-F0D1-43EA-9BF7-1B7F7FE22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241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检查原Bad Case是否解决。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C3D7E2-031E-4334-9CD6-39B218AEA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051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包括：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F967CE-E6CB-4736-84A3-437ADE7E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24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11A2EE-39F6-445C-B6A1-53097CD8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147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原失败问题；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C99454-7D85-4B22-A5C8-A47AA74D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242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AFCD79-9C7F-4814-8117-940C18A8F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147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原问题的不同表达；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E8B339-4CB7-4B06-8B50-A4B9AF244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243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106174-2916-4266-B16F-2E29D4AA2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148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相同原因导致的其他问题；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D22EB3-5873-43FC-96F3-AE6D4386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243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789B36-E5CB-40A2-92DB-80A9EBF59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148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相邻业务边界。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5A2390-8727-4F68-810F-C1E6F0886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863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例如原问题是北京普通员工标准错误，修复验证可以包括：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F311B7-78ED-4F10-87B8-121CBA53F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054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19C9D5-728C-4761-90BC-26B9643A7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959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北京普通员工住宿上限是多少？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340998-D874-4D69-AE48-D6EC77FC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054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65E4A1-4800-4846-A566-AEC6D66FC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6959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北京酒店最多能报多少？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E20926-FFCA-45E7-A5EF-4D082A9D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1055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AFA9E4-DF5F-4066-9897-4938F7D92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0960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北京住600元酒店能全额报销吗？</a:t>
            </a:r>
          </a:p>
        </p:txBody>
      </p:sp>
    </p:spTree>
    <p:extLst>
      <p:ext uri="{BB962C8B-B14F-4D97-AF65-F5344CB8AC3E}">
        <p14:creationId xmlns:p14="http://schemas.microsoft.com/office/powerpoint/2010/main" val="1668768824"/>
      </p:ext>
    </p:extLst>
  </p:cSld>
</p:sld>
</file>

<file path=ppt/slides/slide139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8CE424-6B49-453F-8F09-B38030FC7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REGRESSION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505FE5-D674-42E8-B7EC-6E21A9AE3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139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5C5346-4DDD-4A83-A488-40264CA0A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053386-015E-449F-97D9-042AF227B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827665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B3E660-234D-4C33-9633-15F82320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修复验证与防退化验证（续）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E4CE88-A411-48C2-8C50-5955B261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8FC94E-95A8-4789-BF41-EC75C21A1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59936E-F264-4F5F-BFF5-F1B4301BE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430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普通员工和部门负责人标准是否相同？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529074-8130-415D-95AA-8F063E638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这可以避免团队只针对原句做“定向优化”。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7DB9BF-A7A8-4D3E-B05F-01985AFE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0507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防退化验证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FFAF18-5B5B-4454-BF1F-735B92A2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2892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0471EF-A242-4EA6-8BA6-B0BC87389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241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检查原本正确的能力是否仍然正常。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EDCF4A-3231-4D68-A5CF-409B4D329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051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例如：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C28861-AC7E-45C4-AB79-9624431E2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242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66AC12-199C-4022-BAE7-F5267FA97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147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上海住宿标准；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288988-2814-4B98-8018-E34CC50B5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243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B572FD-7D58-4B85-AF9F-E59BF1BF1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148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交通费报销；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D114FD-32BD-47A1-A02B-F0881CFE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243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0808DF-87A6-4F1D-815D-2D75114D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148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发票要求；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E99D60-0A93-4FB3-B0BD-DCCADE7AD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244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04E32A-C876-4B29-8D80-C3C5207A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149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无答案处理；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198C20-9059-46FA-8C1F-7C425F4EA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244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F9530F-A82F-4C1D-B936-947CC379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149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隐私与权限；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466690-C3A6-4331-8D5D-DBDF55D53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245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C99B69-DA7A-46A7-BD7C-204961E7A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7150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正常高频问题；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7541D6-22C8-4C0F-9B78-A2AF5C182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1245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4F1FE7-498A-44F7-831F-073A742FF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1150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历史关键Bad Case。</a:t>
            </a:r>
          </a:p>
        </p:txBody>
      </p:sp>
    </p:spTree>
    <p:extLst>
      <p:ext uri="{BB962C8B-B14F-4D97-AF65-F5344CB8AC3E}">
        <p14:creationId xmlns:p14="http://schemas.microsoft.com/office/powerpoint/2010/main" val="1013847384"/>
      </p:ext>
    </p:extLst>
  </p:cSld>
</p:sld>
</file>

<file path=ppt/slides/slide140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9D568F-0EBC-43EE-8CDD-DDEBEEEE7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REGRESSION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4CBACC-922C-4C8B-A673-1E5BC0C8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5F4598-C9A6-4895-BFFB-7239FB410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8B8E9A-8C2E-4F9C-9F19-90F5C2B80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8336197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3E72C9-D1EA-4456-84A1-9F25BED7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修复验证与防退化验证（续）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EC461F-B20E-4D83-8305-7194B3CDE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0DB82A-7118-4746-9262-D68CBA03E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只有两部分都通过，新版本才算真正通过回归测试。</a:t>
            </a:r>
          </a:p>
        </p:txBody>
      </p:sp>
    </p:spTree>
    <p:extLst>
      <p:ext uri="{BB962C8B-B14F-4D97-AF65-F5344CB8AC3E}">
        <p14:creationId xmlns:p14="http://schemas.microsoft.com/office/powerpoint/2010/main" val="1305231909"/>
      </p:ext>
    </p:extLst>
  </p:cSld>
</p:sld>
</file>

<file path=ppt/slides/slide141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0CA241-6E8C-4243-AB62-3C4D2642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REGRESSION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3D8A8B-91C4-44B7-8D8B-B90724F46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141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C235C3-464E-44B7-A359-356E6F22A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6FF2BD-0AFF-4B82-ADE2-81EE0A690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839574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19EBED-6174-4BAA-B60B-A747E319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回归评测集的组成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605801-330A-447D-928A-9D2A82EB4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90F510-FDF5-4A4D-A050-66DDE438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一套实用的回归集可以包含四类用例。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EE0AE-BA49-419F-946E-E97733900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0502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原失败样本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3E5099-C5A4-4276-BCAB-F7171FA22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2887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07EB30-9FF6-48D2-9685-33AB1377B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241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用于确认本次问题已经修复。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47A3E1-6308-4ECD-B340-AEA9CA657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同类高风险样本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EBB9E2-618D-4917-9256-06BF4995E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4D20E0-F386-4D53-A752-B200954B3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用于确认修复覆盖了同一类问题，而不是只记住原题。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C2BD65-E996-4ADB-9AC4-73C891DE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例如：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0833E2-CE57-4500-91AA-640D93A3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6D0222-994D-45A5-B425-06FAFA0A5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243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不同城市的住宿标准；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C1A276-BA30-4CDE-A801-157184714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89CD71-A73A-418A-9E84-4C1D5D4DF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243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不同员工职级；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59E170-C8A3-434C-9722-5F2EBE9C4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339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00C722-3489-4DC8-A030-6F8A5A902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244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不同制度生效日期；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0DDF96-FFC8-4A42-9096-212B7AD37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B88F88-D769-4931-9C9A-DF43DDD22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244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信息不足时是否追问。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390C5F-01BF-4BAE-AAD5-E59BAF95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0547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代表性正常样本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335BF7-AE45-45D2-89B1-9E70B5F5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2932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82229954"/>
      </p:ext>
    </p:extLst>
  </p:cSld>
</p:sld>
</file>

<file path=ppt/slides/slide142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B99999-D931-4718-A719-25E8B4443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REGRESSION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3D6F47-E1E5-4409-A18B-B8E4E0911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142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FD92E0-5ED4-4287-A9DB-542097BD3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E1E76D-66BC-4E0B-B9CA-DF33FEF9E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845528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FF2FCB-FF50-4892-94D6-1F0F69AB1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回归评测集的组成（续）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E213DB-4E65-44EA-AEB7-364FA642D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FC7EC2-A8E7-4714-A183-0B0990E7F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用于保护产品已有的基础能力。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C20D5D-58D4-4501-93E4-3B17698A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这些通常是：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44B21A-B532-40D2-B3E5-9FF028DE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BED45B-348D-4CD5-8E1E-159FCAB3C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050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高频场景；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9D36FE-C1EE-49DF-9DB5-47FB9F91C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85710E-92F3-43FA-B1FB-C68A25C77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051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核心用户任务；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E4D6F3-B295-4541-8C30-1C65F4E7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14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538BED-18A9-4A52-8EE5-A4A98A255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051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已经长期稳定的功能；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3B7F6C-3424-46D7-BE20-A8908CC3E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A686E6-2438-4504-BD40-66997F7EA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052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业务最关注的正常流程。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D14CCF-3C1E-4055-B4C7-4BEF8A27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8622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历史关键Bad Case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7EFB88-09AC-4E9E-830A-0CCA764BD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1007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982CF5-1777-4CA2-AE97-9885A60C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053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用于防止以前修复的问题再次出现。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F9F3BF-E042-4663-BC04-AE3D33FD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863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每次出现严重问题，都可以加入长期核心回归集。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8AAF82-1F61-4371-8061-37EA13EB1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673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随着时间推移，回归集会逐步沉淀为产品的“能力底线”。</a:t>
            </a:r>
          </a:p>
        </p:txBody>
      </p:sp>
    </p:spTree>
    <p:extLst>
      <p:ext uri="{BB962C8B-B14F-4D97-AF65-F5344CB8AC3E}">
        <p14:creationId xmlns:p14="http://schemas.microsoft.com/office/powerpoint/2010/main" val="1962666834"/>
      </p:ext>
    </p:extLst>
  </p:cSld>
</p:sld>
</file>

<file path=ppt/slides/slide14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F887B0-0CF9-4E74-AC66-DC5777732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REGRESSION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529FBA-67D3-47CC-987B-D89711C40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143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7CCDC9-DD92-4C60-A75D-FA0D51D8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0941B4-CEA3-42F6-97D5-B8D2DE196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851483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902185-34DB-4DB5-BE34-A4C360458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AI产品版本的组成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2CB75F-FFF8-4E7F-AEF8-771B731B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52CE6B-7D7F-4E8C-874B-DEE50CD0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传统软件通常记录一个应用版本号，例如V2.1。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3B6129-52F3-42E1-A642-58BB51383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但AI产品的效果由多个组件共同决定：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4432FE-F7D8-42DF-A66E-F41232E9B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10572750" cy="1943100"/>
          </a:xfrm>
          <a:prstGeom xmlns:a="http://schemas.openxmlformats.org/drawingml/2006/main" prst="roundRect">
            <a:avLst>
              <a:gd name="adj" fmla="val 4902"/>
            </a:avLst>
          </a:prstGeom>
          <a:solidFill xmlns:a="http://schemas.openxmlformats.org/drawingml/2006/main">
            <a:srgbClr val="031016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3349D6-C377-4C6F-925C-E20AF9A6B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09850"/>
            <a:ext cx="10048875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E7B7"/>
                </a:solidFill>
              </a:defRPr>
            </a:pPr>
            <a:r>
              <a:rPr sz="1200" b="0">
                <a:solidFill>
                  <a:srgbClr val="6EE7B7"/>
                </a:solidFill>
              </a:rPr>
              <a:t>模型版本</a:t>
            </a:r>
          </a:p>
          <a:p xmlns:a="http://schemas.openxmlformats.org/drawingml/2006/main">
            <a:pPr algn="l">
              <a:defRPr sz="1200" b="0">
                <a:solidFill>
                  <a:srgbClr val="6EE7B7"/>
                </a:solidFill>
              </a:defRPr>
            </a:pPr>
            <a:r>
              <a:rPr sz="1200" b="0">
                <a:solidFill>
                  <a:srgbClr val="6EE7B7"/>
                </a:solidFill>
              </a:rPr>
              <a:t>System Prompt版本</a:t>
            </a:r>
          </a:p>
          <a:p xmlns:a="http://schemas.openxmlformats.org/drawingml/2006/main">
            <a:pPr algn="l">
              <a:defRPr sz="1200" b="0">
                <a:solidFill>
                  <a:srgbClr val="6EE7B7"/>
                </a:solidFill>
              </a:defRPr>
            </a:pPr>
            <a:r>
              <a:rPr sz="1200" b="0">
                <a:solidFill>
                  <a:srgbClr val="6EE7B7"/>
                </a:solidFill>
              </a:rPr>
              <a:t>知识库版本</a:t>
            </a:r>
          </a:p>
          <a:p xmlns:a="http://schemas.openxmlformats.org/drawingml/2006/main">
            <a:pPr algn="l">
              <a:defRPr sz="1200" b="0">
                <a:solidFill>
                  <a:srgbClr val="6EE7B7"/>
                </a:solidFill>
              </a:defRPr>
            </a:pPr>
            <a:r>
              <a:rPr sz="1200" b="0">
                <a:solidFill>
                  <a:srgbClr val="6EE7B7"/>
                </a:solidFill>
              </a:rPr>
              <a:t>检索配置</a:t>
            </a:r>
          </a:p>
          <a:p xmlns:a="http://schemas.openxmlformats.org/drawingml/2006/main">
            <a:pPr algn="l">
              <a:defRPr sz="1200" b="0">
                <a:solidFill>
                  <a:srgbClr val="6EE7B7"/>
                </a:solidFill>
              </a:defRPr>
            </a:pPr>
            <a:r>
              <a:rPr sz="1200" b="0">
                <a:solidFill>
                  <a:srgbClr val="6EE7B7"/>
                </a:solidFill>
              </a:rPr>
              <a:t>工作流版本</a:t>
            </a:r>
          </a:p>
          <a:p xmlns:a="http://schemas.openxmlformats.org/drawingml/2006/main">
            <a:pPr algn="l">
              <a:defRPr sz="1200" b="0">
                <a:solidFill>
                  <a:srgbClr val="6EE7B7"/>
                </a:solidFill>
              </a:defRPr>
            </a:pPr>
            <a:r>
              <a:rPr sz="1200" b="0">
                <a:solidFill>
                  <a:srgbClr val="6EE7B7"/>
                </a:solidFill>
              </a:rPr>
              <a:t>工具/API版本</a:t>
            </a:r>
          </a:p>
          <a:p xmlns:a="http://schemas.openxmlformats.org/drawingml/2006/main">
            <a:pPr algn="l">
              <a:defRPr sz="1200" b="0">
                <a:solidFill>
                  <a:srgbClr val="6EE7B7"/>
                </a:solidFill>
              </a:defRPr>
            </a:pPr>
            <a:r>
              <a:rPr sz="1200" b="0">
                <a:solidFill>
                  <a:srgbClr val="6EE7B7"/>
                </a:solidFill>
              </a:rPr>
              <a:t>评测集版本</a:t>
            </a:r>
          </a:p>
          <a:p xmlns:a="http://schemas.openxmlformats.org/drawingml/2006/main">
            <a:pPr algn="l">
              <a:defRPr sz="1200" b="0">
                <a:solidFill>
                  <a:srgbClr val="6EE7B7"/>
                </a:solidFill>
              </a:defRPr>
            </a:pPr>
            <a:r>
              <a:rPr sz="1200" b="0">
                <a:solidFill>
                  <a:srgbClr val="6EE7B7"/>
                </a:solidFill>
              </a:rPr>
              <a:t>Judge版本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F8BFE2-C199-4389-B486-8D6599048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148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例如一次评测记录可以写成：</a:t>
            </a:r>
          </a:p>
        </p:txBody>
      </p:sp>
    </p:spTree>
    <p:extLst>
      <p:ext uri="{BB962C8B-B14F-4D97-AF65-F5344CB8AC3E}">
        <p14:creationId xmlns:p14="http://schemas.microsoft.com/office/powerpoint/2010/main" val="610186880"/>
      </p:ext>
    </p:extLst>
  </p:cSld>
</p:sld>
</file>

<file path=ppt/slides/slide144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269DDF-C6DD-4B75-AADE-21BC63205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REGRESSION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1AEE2A-C4BA-413E-962C-970107A7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144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F15ED9-A451-474A-9442-409C70C16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2E56CE-E193-4EBF-99F9-FDD8ABE8B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857437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71B920-6D9A-4E67-8364-4CADA8869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AI产品版本的组成（续）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023B3D-E8A6-48AA-BB5F-372FD60AB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E43E31-B920-4120-9F7C-D7174A00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10572750" cy="1943100"/>
          </a:xfrm>
          <a:prstGeom xmlns:a="http://schemas.openxmlformats.org/drawingml/2006/main" prst="roundRect">
            <a:avLst>
              <a:gd name="adj" fmla="val 4902"/>
            </a:avLst>
          </a:prstGeom>
          <a:solidFill xmlns:a="http://schemas.openxmlformats.org/drawingml/2006/main">
            <a:srgbClr val="031016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71B85C-7C96-4C7F-9D73-4ABCA1D22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47850"/>
            <a:ext cx="10048875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E7B7"/>
                </a:solidFill>
              </a:defRPr>
            </a:pPr>
            <a:r>
              <a:rPr sz="1200" b="0">
                <a:solidFill>
                  <a:srgbClr val="6EE7B7"/>
                </a:solidFill>
              </a:rPr>
              <a:t>被测版本：Product 2.3</a:t>
            </a:r>
          </a:p>
          <a:p xmlns:a="http://schemas.openxmlformats.org/drawingml/2006/main">
            <a:pPr algn="l">
              <a:defRPr sz="1200" b="0">
                <a:solidFill>
                  <a:srgbClr val="6EE7B7"/>
                </a:solidFill>
              </a:defRPr>
            </a:pPr>
            <a:r>
              <a:rPr sz="1200" b="0">
                <a:solidFill>
                  <a:srgbClr val="6EE7B7"/>
                </a:solidFill>
              </a:rPr>
              <a:t>模型：Model A 2026-07</a:t>
            </a:r>
          </a:p>
          <a:p xmlns:a="http://schemas.openxmlformats.org/drawingml/2006/main">
            <a:pPr algn="l">
              <a:defRPr sz="1200" b="0">
                <a:solidFill>
                  <a:srgbClr val="6EE7B7"/>
                </a:solidFill>
              </a:defRPr>
            </a:pPr>
            <a:r>
              <a:rPr sz="1200" b="0">
                <a:solidFill>
                  <a:srgbClr val="6EE7B7"/>
                </a:solidFill>
              </a:rPr>
              <a:t>Prompt：P12</a:t>
            </a:r>
          </a:p>
          <a:p xmlns:a="http://schemas.openxmlformats.org/drawingml/2006/main">
            <a:pPr algn="l">
              <a:defRPr sz="1200" b="0">
                <a:solidFill>
                  <a:srgbClr val="6EE7B7"/>
                </a:solidFill>
              </a:defRPr>
            </a:pPr>
            <a:r>
              <a:rPr sz="1200" b="0">
                <a:solidFill>
                  <a:srgbClr val="6EE7B7"/>
                </a:solidFill>
              </a:rPr>
              <a:t>知识库：KB 2026-08-01</a:t>
            </a:r>
          </a:p>
          <a:p xmlns:a="http://schemas.openxmlformats.org/drawingml/2006/main">
            <a:pPr algn="l">
              <a:defRPr sz="1200" b="0">
                <a:solidFill>
                  <a:srgbClr val="6EE7B7"/>
                </a:solidFill>
              </a:defRPr>
            </a:pPr>
            <a:r>
              <a:rPr sz="1200" b="0">
                <a:solidFill>
                  <a:srgbClr val="6EE7B7"/>
                </a:solidFill>
              </a:rPr>
              <a:t>检索配置：R5</a:t>
            </a:r>
          </a:p>
          <a:p xmlns:a="http://schemas.openxmlformats.org/drawingml/2006/main">
            <a:pPr algn="l">
              <a:defRPr sz="1200" b="0">
                <a:solidFill>
                  <a:srgbClr val="6EE7B7"/>
                </a:solidFill>
              </a:defRPr>
            </a:pPr>
            <a:r>
              <a:rPr sz="1200" b="0">
                <a:solidFill>
                  <a:srgbClr val="6EE7B7"/>
                </a:solidFill>
              </a:rPr>
              <a:t>工作流：WF8</a:t>
            </a:r>
          </a:p>
          <a:p xmlns:a="http://schemas.openxmlformats.org/drawingml/2006/main">
            <a:pPr algn="l">
              <a:defRPr sz="1200" b="0">
                <a:solidFill>
                  <a:srgbClr val="6EE7B7"/>
                </a:solidFill>
              </a:defRPr>
            </a:pPr>
            <a:r>
              <a:rPr sz="1200" b="0">
                <a:solidFill>
                  <a:srgbClr val="6EE7B7"/>
                </a:solidFill>
              </a:rPr>
              <a:t>评测集：Eval Set 3.2</a:t>
            </a:r>
          </a:p>
          <a:p xmlns:a="http://schemas.openxmlformats.org/drawingml/2006/main">
            <a:pPr algn="l">
              <a:defRPr sz="1200" b="0">
                <a:solidFill>
                  <a:srgbClr val="6EE7B7"/>
                </a:solidFill>
              </a:defRPr>
            </a:pPr>
            <a:r>
              <a:rPr sz="1200" b="0">
                <a:solidFill>
                  <a:srgbClr val="6EE7B7"/>
                </a:solidFill>
              </a:rPr>
              <a:t>Judge：Judge Model B + Prompt J6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03CDD2-300E-4D7C-A4EA-7343F9A5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528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只有这样，团队才能回答：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E4AD07-56A9-4139-B4ED-F6459CA66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40BEF7-699A-4CE4-8317-B28EBFE6B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624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为什么这次结果与上次不同？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3EDD6E-EC64-4622-B200-38636B626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66AB06-3D76-4807-94E6-FAF71DBE4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624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是模型变化还是知识库变化？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28B411-A977-4013-B665-3BBE9457D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720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FE9E43-CAC0-4CF0-9710-38168FB5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625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评分下降是被测产品退化，还是Judge尺度变化？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A0EBFF-8841-4341-8607-294B7C29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721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F39ADE-8601-4805-9553-9CAB9C94C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625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怎样重新复现这次评测？</a:t>
            </a:r>
          </a:p>
        </p:txBody>
      </p:sp>
    </p:spTree>
    <p:extLst>
      <p:ext uri="{BB962C8B-B14F-4D97-AF65-F5344CB8AC3E}">
        <p14:creationId xmlns:p14="http://schemas.microsoft.com/office/powerpoint/2010/main" val="1076303587"/>
      </p:ext>
    </p:extLst>
  </p:cSld>
</p:sld>
</file>

<file path=ppt/slides/slide145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A0FFBD-E820-4FAC-84DE-349E6963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REGRESSION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BD5FB6-5B64-49F0-9165-ADEAF69F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145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8CDA2E-6039-4F58-9CE8-50AC8AFD3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FEC92D-4811-4D48-B774-4D181FB2A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863391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DC4834-71ED-443D-A4C7-8C5FD7229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评测集也需要版本管理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FAE1F0-4B03-4814-98B1-7B9404A33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0A9F84-99E4-4A7F-B66A-97D2E767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假设：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F8CF86-DA4B-4542-8C96-872EF1627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33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71B0F8-0204-4C35-A552-00169194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240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V1使用100条简单题，得分90分；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47C787-31AC-4417-BE3B-1426B4BBF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CE70A7-B669-480B-A1AE-55C3B0095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241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V2使用200条包含大量高风险题的评测集，得分85分。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F85162-0EC5-4AB9-BD57-3A80F6FF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不能直接得出V2比V1差。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976EA7-F92F-4065-863B-5BDAA90BB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因为两次考试题目不同。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AD88A1-9569-4EB0-83EC-3002DF29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因此，比较产品版本时，至少要有一套相同的固定核心集。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DB9299-8CDC-47BE-8243-F8D3B8C6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386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可以把评测集分成：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1E8E28-B3AF-4349-9975-DDAE70360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2912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固定核心集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38DC99-DC50-4D51-B9CA-C2E949210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5297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FD0AE5-2251-47C2-A624-E1A84B398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482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保持相对稳定，用于跨版本比较。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AD71B5-9222-48F2-8E60-1126273E1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新增问题集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2AA1F7-B6C2-4AD0-866D-34CD6591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6260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E4DEC3-8C8C-4A14-B070-8172EFCE2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578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加入近期Bad Case、新业务和新风险。</a:t>
            </a:r>
          </a:p>
        </p:txBody>
      </p:sp>
    </p:spTree>
    <p:extLst>
      <p:ext uri="{BB962C8B-B14F-4D97-AF65-F5344CB8AC3E}">
        <p14:creationId xmlns:p14="http://schemas.microsoft.com/office/powerpoint/2010/main" val="862377090"/>
      </p:ext>
    </p:extLst>
  </p:cSld>
</p:sld>
</file>

<file path=ppt/slides/slide146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D1B144-5B4A-45E7-ADC2-92CEA237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REGRESSION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5526A9-AF80-4C55-8EAC-1977A0CD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146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DF975F-EDAF-429E-ABC6-4FD2336A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418918-3BB5-4E07-BFC9-20BD0FB7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869346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A09B04-EC21-4A81-B538-0DEC52BC3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评测集也需要版本管理（续）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4DBFAF-F3E9-45C7-AE0B-F2B6762D4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9F8B7C-8141-4904-82D0-DEA1994F0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2402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专项评测集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3457DE-7C8D-48BE-B400-F3A216F7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4787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C43CA7-DA12-4A0C-95B5-380017FF8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431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针对本次改动的特定能力，例如：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250F9A-6198-4548-B9D6-77FB872E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6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96F20F-0C48-4F18-B46E-AAC652033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527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检索专项；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393AA0-E166-4B7C-946D-8A5115FF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622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F78669-BABC-40C6-A681-00AD5E8EC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527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安全专项；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29F022-B2D6-48EE-BEFF-DCD1E9FE7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623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069ED9-73CF-4FF0-BCC9-373377F2D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528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工具调用专项；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2F3904-AB3E-4C65-9266-8948CA69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623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C4F702-B97D-4B25-B7EA-B54EE40DF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528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多轮对话专项。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5AFA37-FB5A-4923-803C-4D45A72E4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243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评测报告需要分别展示各部分结果，不能混成一个总分。</a:t>
            </a:r>
          </a:p>
        </p:txBody>
      </p:sp>
    </p:spTree>
    <p:extLst>
      <p:ext uri="{BB962C8B-B14F-4D97-AF65-F5344CB8AC3E}">
        <p14:creationId xmlns:p14="http://schemas.microsoft.com/office/powerpoint/2010/main" val="33876962"/>
      </p:ext>
    </p:extLst>
  </p:cSld>
</p:sld>
</file>

<file path=ppt/slides/slide147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445BBA-6B77-40DA-AD69-23EC6BE2A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REGRESSION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B9AFC5-F7EC-44AF-A522-316CC081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147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6411C6-5FA0-4179-9C02-F31FDA43B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1E68CB-33DB-4E43-90BA-679D563AF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8753007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299F36-25EE-46B9-9C77-935779CB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Judge也需要版本管理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7D7C8D-F5A3-4C0A-8A67-BE6C48B6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9944D3-C6BF-4A41-826C-A0B0D5D7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如果使用LLM-as-Judge，裁判本身发生变化，也可能导致分数变化。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6A56CC-2D61-466C-928F-830768028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例如：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F940F1-40E3-4782-88AC-E63459F3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9C4B83-102F-4BF2-8636-891059148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050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Judge模型升级；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6FBD14-7D7A-4E6D-8D16-694074E8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33E0DA-0DCA-4A26-9F3B-D6DE18DF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051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Judge Prompt修改；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875F71-6E39-4FD2-ACFE-43E681FA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14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AA341B-EFAB-4E23-8364-BBEADE65D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051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评分锚点调整；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1308F4-0E15-4458-9697-28EC6EC45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86AB71-1339-4CB4-8EDE-B7FAC364F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052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参考答案更新；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E82887-3769-4C40-8810-5087255B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00193F-0159-4FF3-ACA7-9013116CE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052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温度参数改变。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D98E21-76FE-4E60-BC26-61739D93A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即使被测产品完全没有变化，评测分数也可能不同。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AAA120-6539-49B8-AFCC-F354E2545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577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因此，需要记录：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B625F8-C506-4688-9B7D-6E2692FC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768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154F6D-4655-4CA9-A1BC-6C0E62B5C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673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Judge模型；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355286-B529-4DFF-B030-9D7C01592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769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D6A77F-3474-431D-BCC7-0A83368F3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6673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Judge Prompt；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AB9F0B-EE29-4811-BDFD-4201F97A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769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FD66A6-07E6-4AAA-AA31-F60C24D5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0674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评分规则；</a:t>
            </a:r>
          </a:p>
        </p:txBody>
      </p:sp>
    </p:spTree>
    <p:extLst>
      <p:ext uri="{BB962C8B-B14F-4D97-AF65-F5344CB8AC3E}">
        <p14:creationId xmlns:p14="http://schemas.microsoft.com/office/powerpoint/2010/main" val="986975766"/>
      </p:ext>
    </p:extLst>
  </p:cSld>
</p:sld>
</file>

<file path=ppt/slides/slide148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F964D9-31C0-4591-AE9B-693F0BFCB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REGRESSION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EB5C07-E317-4B5C-A92A-FF56D928F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148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680A0C-432E-4526-B302-D9256C469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FD5579-43D2-47AA-AA2C-B51DA1127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881255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128D27-6610-4B76-A63A-71F6D3818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Judge也需要版本管理（续）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D85423-5BD7-486F-A35A-F82AEADE3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A0581F-789B-42DD-B359-9EDC39F0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0E994A-20BF-4278-8C84-33134271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430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运行参数；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05689F-CEDB-4C68-A786-8A3A180A6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AB1021-FDD6-4FCB-B0FD-69E525FF3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431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人工校准数据。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37347C-1E99-4925-84E8-6C683DCA8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如果更换Judge，最好用同一批人工金标准重新校准，确认新旧Judge的评分尺度是否一致。</a:t>
            </a:r>
          </a:p>
        </p:txBody>
      </p:sp>
    </p:spTree>
    <p:extLst>
      <p:ext uri="{BB962C8B-B14F-4D97-AF65-F5344CB8AC3E}">
        <p14:creationId xmlns:p14="http://schemas.microsoft.com/office/powerpoint/2010/main" val="23987571"/>
      </p:ext>
    </p:extLst>
  </p:cSld>
</p:sld>
</file>

<file path=ppt/slides/slide149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007118-F079-408E-931E-B7A921AA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REGRESSION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AED0AF-2B0F-42CC-AB59-56E7784B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149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529FFF-77A6-4003-B82E-6DE7AE311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22C4C3-9A5F-4DCF-99BA-85F7E207F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887209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6A00BC-5E10-4E65-900B-A59C057F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AI输出的不确定性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B6A04B-8C73-4CC9-B5ED-38307BB77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701586-1A97-4364-A37E-A86FD890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同一个模型、同一个问题，也可能多次输出不同答案。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115217-51D4-47DA-9BAA-1A8B642D4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例如连续运行五次：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CA4A3B-0C58-46C0-B0D3-7FFCA29FB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如果只运行一次，可能恰好看到正确答案，也可能恰好看到错误答案。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6D3E3A-C55A-40D3-90DF-C5EBDD56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因此，对重要问题可以重复运行，并统计：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D97464-C082-4410-A9FA-001A3C2E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5F895B-A0C0-41F0-BB44-6883C32E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670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多次通过率；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F7DC6D-5094-4B51-BC3D-B6736F8E5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D0E96F-1586-4CEA-BE32-F17ECFEF7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671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最差表现；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91100B-ABB0-46A0-98D2-848F9DBEA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76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F0B034-0CE7-4570-849E-36BD7991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671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输出波动；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0DCCD2-1D31-400C-9FCB-7ABF2933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62DD78-5368-4A34-BCDB-F7FC1BB1C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672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红线出现次数。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AFE4D0-D701-4640-884C-70C64D10A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尤其是高风险问题，不能因为“五次中四次正确”就忽略那一次严重错误。</a:t>
            </a:r>
          </a:p>
        </p:txBody>
      </p:sp>
    </p:spTree>
    <p:extLst>
      <p:ext uri="{BB962C8B-B14F-4D97-AF65-F5344CB8AC3E}">
        <p14:creationId xmlns:p14="http://schemas.microsoft.com/office/powerpoint/2010/main" val="189336929"/>
      </p:ext>
    </p:extLst>
  </p:cSld>
</p:sld>
</file>

<file path=ppt/slides/slide150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645B8E-DD6F-4DEE-8D8F-7F748BB8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REGRESSION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675700-17BA-4B22-8076-73FCC4DA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6A4F5A-DD56-4F25-9C46-8FAC888E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36415B-6948-4726-B171-DD5592BBE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893163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7AAB5A-40B4-4691-841F-ECB845355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版本对比报告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3736F1-F467-4AA3-A379-0D8225122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8E2EF2-A102-4B01-B436-10E57EA35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版本对比不能只展示总分，还要回答：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8E0B9A-250E-4E38-A9FB-BD4DA7B1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33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021665-7D91-4AB2-9501-D9D34F0FD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240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修复了多少原Bad Case；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940BB1-7494-4729-BDFA-A9B8E016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BEDC7E-5C47-4B0A-921F-A3C0B8A41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241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新增了多少失败问题；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171DB2-7406-43B4-80EB-4CAA4EFAF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791A05-2009-456D-BD88-00071C84D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241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哪些场景提升；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48F419-50A2-4278-9A1C-C73E1785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A550C0-F11C-42C7-A034-71744CE7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242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哪些场景退化；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0C6836-3D0A-42DD-863E-C0C332E2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91AB84-EAF7-4A98-ABF9-6791992D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242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是否出现新的红线；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BDD159-0D0A-4BF8-81C0-04AD6366B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CCBA99-AF6D-4574-8B66-9EA878037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243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响应时间和成本是否变化；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3289FE-9DDE-4745-A362-C3F1439C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246170-1329-463F-AE60-F22B9AFE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243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是否达到发布门槛。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36BE3B-89EF-4AF3-9C19-CDFB67956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958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例如：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6A9034-DECC-4F69-B49F-B55F12E88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768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最终结论可能是：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979799-C0BB-41E5-8F0C-03542F3BF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57850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3482BA-A028-4E92-86FF-2781895D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57850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BA379C-9D41-46FC-8CA0-A64A80AEF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800725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V2效果整体提升，但出现一条安全红线，暂不允许全量上线。</a:t>
            </a:r>
          </a:p>
        </p:txBody>
      </p:sp>
    </p:spTree>
    <p:extLst>
      <p:ext uri="{BB962C8B-B14F-4D97-AF65-F5344CB8AC3E}">
        <p14:creationId xmlns:p14="http://schemas.microsoft.com/office/powerpoint/2010/main" val="944106340"/>
      </p:ext>
    </p:extLst>
  </p:cSld>
</p:sld>
</file>

<file path=ppt/slides/slide151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5241CE-E4B9-4AFE-873E-3BF42E88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REGRESSION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C645D1-F899-443C-B330-E1EFC740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151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A5313E-4149-4BAA-8694-5FDFABAE1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040DA3-CA41-434C-9C46-76B0AADB0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899118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1D582D-6D93-4791-9453-D715DF20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发布门槛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6C7552-F5C7-4083-A59A-04E2287CB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B98F8D-1A9F-41CD-9FC9-E4A6F3F02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团队应该提前定义版本发布条件。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19766D-7FD7-4FF2-9884-0793E9B1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例如：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9A7E19-A91A-4400-ACDD-45950281A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10572750" cy="1733550"/>
          </a:xfrm>
          <a:prstGeom xmlns:a="http://schemas.openxmlformats.org/drawingml/2006/main" prst="roundRect">
            <a:avLst>
              <a:gd name="adj" fmla="val 5495"/>
            </a:avLst>
          </a:prstGeom>
          <a:solidFill xmlns:a="http://schemas.openxmlformats.org/drawingml/2006/main">
            <a:srgbClr val="031016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D80800-C3B9-4449-B821-6F485C28A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09850"/>
            <a:ext cx="100488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E7B7"/>
                </a:solidFill>
              </a:defRPr>
            </a:pPr>
            <a:r>
              <a:rPr sz="1200" b="0">
                <a:solidFill>
                  <a:srgbClr val="6EE7B7"/>
                </a:solidFill>
              </a:rPr>
              <a:t>原高优先级Bad Case必须100%修复</a:t>
            </a:r>
          </a:p>
          <a:p xmlns:a="http://schemas.openxmlformats.org/drawingml/2006/main">
            <a:pPr algn="l">
              <a:defRPr sz="1200" b="0">
                <a:solidFill>
                  <a:srgbClr val="6EE7B7"/>
                </a:solidFill>
              </a:defRPr>
            </a:pPr>
            <a:r>
              <a:rPr sz="1200" b="0">
                <a:solidFill>
                  <a:srgbClr val="6EE7B7"/>
                </a:solidFill>
              </a:rPr>
              <a:t>核心评测集不得明显退化</a:t>
            </a:r>
          </a:p>
          <a:p xmlns:a="http://schemas.openxmlformats.org/drawingml/2006/main">
            <a:pPr algn="l">
              <a:defRPr sz="1200" b="0">
                <a:solidFill>
                  <a:srgbClr val="6EE7B7"/>
                </a:solidFill>
              </a:defRPr>
            </a:pPr>
            <a:r>
              <a:rPr sz="1200" b="0">
                <a:solidFill>
                  <a:srgbClr val="6EE7B7"/>
                </a:solidFill>
              </a:rPr>
              <a:t>安全红线必须为0</a:t>
            </a:r>
          </a:p>
          <a:p xmlns:a="http://schemas.openxmlformats.org/drawingml/2006/main">
            <a:pPr algn="l">
              <a:defRPr sz="1200" b="0">
                <a:solidFill>
                  <a:srgbClr val="6EE7B7"/>
                </a:solidFill>
              </a:defRPr>
            </a:pPr>
            <a:r>
              <a:rPr sz="1200" b="0">
                <a:solidFill>
                  <a:srgbClr val="6EE7B7"/>
                </a:solidFill>
              </a:rPr>
              <a:t>新增严重Bad Case必须为0</a:t>
            </a:r>
          </a:p>
          <a:p xmlns:a="http://schemas.openxmlformats.org/drawingml/2006/main">
            <a:pPr algn="l">
              <a:defRPr sz="1200" b="0">
                <a:solidFill>
                  <a:srgbClr val="6EE7B7"/>
                </a:solidFill>
              </a:defRPr>
            </a:pPr>
            <a:r>
              <a:rPr sz="1200" b="0">
                <a:solidFill>
                  <a:srgbClr val="6EE7B7"/>
                </a:solidFill>
              </a:rPr>
              <a:t>总体通过率不得低于90%</a:t>
            </a:r>
          </a:p>
          <a:p xmlns:a="http://schemas.openxmlformats.org/drawingml/2006/main">
            <a:pPr algn="l">
              <a:defRPr sz="1200" b="0">
                <a:solidFill>
                  <a:srgbClr val="6EE7B7"/>
                </a:solidFill>
              </a:defRPr>
            </a:pPr>
            <a:r>
              <a:rPr sz="1200" b="0">
                <a:solidFill>
                  <a:srgbClr val="6EE7B7"/>
                </a:solidFill>
              </a:rPr>
              <a:t>P95响应时间不得超过5秒</a:t>
            </a:r>
          </a:p>
          <a:p xmlns:a="http://schemas.openxmlformats.org/drawingml/2006/main">
            <a:pPr algn="l">
              <a:defRPr sz="1200" b="0">
                <a:solidFill>
                  <a:srgbClr val="6EE7B7"/>
                </a:solidFill>
              </a:defRPr>
            </a:pPr>
            <a:r>
              <a:rPr sz="1200" b="0">
                <a:solidFill>
                  <a:srgbClr val="6EE7B7"/>
                </a:solidFill>
              </a:rPr>
              <a:t>单次调用成本不得超过0.10元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F1D061-0E59-4DB3-B896-B4D64FAC7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053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发布门槛应根据产品风险设定。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5381F0-1A26-4A82-878A-C43B534C4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创意工具可以接受输出风格波动；涉及资金、隐私和医疗的产品会更严格。</a:t>
            </a:r>
          </a:p>
        </p:txBody>
      </p:sp>
    </p:spTree>
    <p:extLst>
      <p:ext uri="{BB962C8B-B14F-4D97-AF65-F5344CB8AC3E}">
        <p14:creationId xmlns:p14="http://schemas.microsoft.com/office/powerpoint/2010/main" val="899169292"/>
      </p:ext>
    </p:extLst>
  </p:cSld>
</p:sld>
</file>

<file path=ppt/slides/slide152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71D8AC-3479-4AA1-BFF1-69025CCE6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REGRESSION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722F4E-51A1-45B0-A76D-4C476219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152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609D4D-B494-4C47-A5FE-5F7372A9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4BC582-BDFD-448B-832F-C22C920B8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905072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82C82F-8F0C-4315-A527-269DABAB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灰度发布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886C32-9356-464E-9D07-3CA2B8AF0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95C864-2F47-410B-80CC-84F872F72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通过离线回归并不代表可以立刻全量上线。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12F279-8AEE-4C63-894E-DF0333FDC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更稳妥的方式是灰度发布：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6B2A20-C2AA-4F23-A418-543E79819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5B07FE-5FEA-4C91-9C1A-AD6ACEEBC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050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先向少量用户开放新版本；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7D13B1-FA78-4735-A8FC-5DA79A4C6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A5FB47-FF79-4D9E-A8B0-73CD6749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051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观察真实流量中的效果；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753A86-7DB2-47A1-BF37-2DAAEA78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14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3350A6-7D85-4D9A-B5BC-0A8C9AC6C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051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对比新旧版本；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FFBF66-D103-4830-AED4-FA7D8BDF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5E82DF-41A8-460C-8AD9-47EDADA12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052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监控红线、投诉和转人工情况；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23A823-F1B1-4E29-ACCD-54C18AFE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3EC41A-2BC3-49DD-8C80-E9306505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052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确认没有严重问题后逐步扩大范围。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6DACE1-A4FB-4460-8A35-B4611DB66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灰度阶段可以使用A/B测试：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2970D9-DA49-424D-9C5A-43D4F80CF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958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5D32D2-E972-4526-B6FB-5DE85AF1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863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一部分用户使用旧版本；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D80FFB-83B5-492D-A1A2-3FB70B684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959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53B4F2-1138-47DD-89E7-423E884A6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863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一部分用户使用新版本；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C683D0-0E25-4EE9-B5ED-B1C1AF0A6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959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325191-2604-402C-BCFF-9B8910C11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6864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比较任务完成率、满意度和错误率。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E964C4-E536-4B65-BF86-6DA4BA5AA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579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如果新版本出现明显问题，可以快速回滚。</a:t>
            </a:r>
          </a:p>
        </p:txBody>
      </p:sp>
    </p:spTree>
    <p:extLst>
      <p:ext uri="{BB962C8B-B14F-4D97-AF65-F5344CB8AC3E}">
        <p14:creationId xmlns:p14="http://schemas.microsoft.com/office/powerpoint/2010/main" val="936980851"/>
      </p:ext>
    </p:extLst>
  </p:cSld>
</p:sld>
</file>

<file path=ppt/slides/slide15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BF9B88-D879-421F-98BF-ADFA39F72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REGRESSION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99EEBA-5C23-4275-9FC7-DDF84024C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153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561037-F903-4DD9-AA7A-2C90026A2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B39B71-6FA5-4679-85E1-5C45A5584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911027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F76453-743E-45C4-B111-6A3855A5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回滚机制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371176-5D0E-4684-9848-1079E009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5EA0B9-453A-4885-94DF-52BF9826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AI产品上线前要考虑：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6214FA-FD72-4FF6-9961-B95C8255F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2C6A63-C7A3-4E77-BA87-DED71999E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5A17D8-8CDE-4D3D-9C21-AB122737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38375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新版本出现严重问题时，怎样恢复到稳定版本？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7D9066-1069-44DE-A938-30D622810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717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可能的回滚方式包括：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918258-1F3A-4ADB-B705-06F0B83D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908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883343-C504-43DF-99DC-0CB681B4C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1813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切换回旧模型；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1B8659-66E0-471D-8E6B-9AB4B283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909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4EB1FC-A347-400F-92AE-13EB72E9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814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恢复旧Prompt；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27E49E-2399-4E4E-95C8-0F4F73BAF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909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EB38EB-22CE-469B-9865-2815F6C9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814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恢复旧知识库；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23680D-0B70-4A37-A9D6-7E943356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910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63B3B3-3642-41E3-B187-451F4EF2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815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关闭新工作流；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2CCFBF-FDAE-410E-9851-062AD0B5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910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C7FC85-8E8B-48D7-858F-4A5C2E00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815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暂停某类高风险问题；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2F3E1F-3E15-40AE-AFA5-80A9C2EC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911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866E61-3393-415D-AE46-A224FC436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1816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增加转人工；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97F90E-7E5C-4788-ACD1-BBA278255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911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7AD8D6-261C-4C1B-9EAE-0FE54AA5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5816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将新功能从全量改回灰度。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997899-31A5-4F8F-AF3E-173B5965A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531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因此，版本管理不能只记录“改了什么”，还要保存可以恢复的历史配置。</a:t>
            </a:r>
          </a:p>
        </p:txBody>
      </p:sp>
    </p:spTree>
    <p:extLst>
      <p:ext uri="{BB962C8B-B14F-4D97-AF65-F5344CB8AC3E}">
        <p14:creationId xmlns:p14="http://schemas.microsoft.com/office/powerpoint/2010/main" val="170548240"/>
      </p:ext>
    </p:extLst>
  </p:cSld>
</p:sld>
</file>

<file path=ppt/slides/slide154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E49D76-5B0D-4924-994C-6E030B04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REGRESSION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2DC55C-F82B-4B33-A031-B019F8B29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154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10BBAA-BEF9-4AD0-93D4-6DA6184B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706623-EE34-4E1A-BB8D-DAC83323A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9169816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FF45F8-9AD1-47ED-B5B7-EE57B96C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持续评测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9EBEB6-588E-419D-BD8C-A823886A5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E8774-0463-4999-AF8A-01E291B6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比较成熟的团队会把评测加入产品研发流程。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3C1D51-F564-4144-843F-420C6370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例如每次发生以下变化时自动触发回归：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E3AA97-B575-4ECB-99A9-1F1F52CA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4A4F76-79BB-4367-9875-A83161CA5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050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修改Prompt；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02FA44-64DC-4DE3-B226-30EF1EBB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C2F119-3B3E-47D7-BCCB-8797EC535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051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更换模型；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B6AB4D-89E8-440A-B666-F18D0219B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14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B9CE48-AC31-44BE-9D66-E2E750F9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051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更新知识库；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59DBDF-F631-4C83-9EBB-2F82C0489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05054E-EC78-4818-AFA9-6A35B0533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052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修改检索参数；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445994-B187-4375-A44E-FF3356035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1C0367-4981-4910-9BB2-7E8AD3A6C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052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增加工具；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0A1CA1-E6E2-4FAC-B77B-07A26AE4E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148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5B1DC9-DF10-476D-B48A-399B421A6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053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调整工作流；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DEEC44-4594-4ED7-934F-32A2B8C9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149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9FD84D-732F-473C-A081-D387BBC4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053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发布新版本。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84E6B4-0DF4-4545-B025-05AED9DE3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768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完整流程可以是：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F56E82-3CAD-4F16-B026-91458BA3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578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提交修改 → 自动运行核心评测集 → 检查门槛 → 人工复核高风险问题 → 灰度上线 → 线上监控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42E1B7-75E9-4477-858D-1988CBEFB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388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这样评测就不再是发布前临时做一次，而成为持续运行的质量机制。</a:t>
            </a:r>
          </a:p>
        </p:txBody>
      </p:sp>
    </p:spTree>
    <p:extLst>
      <p:ext uri="{BB962C8B-B14F-4D97-AF65-F5344CB8AC3E}">
        <p14:creationId xmlns:p14="http://schemas.microsoft.com/office/powerpoint/2010/main" val="335138651"/>
      </p:ext>
    </p:extLst>
  </p:cSld>
</p:sld>
</file>

<file path=ppt/slides/slide155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1D998E-FE33-464D-A41E-FBD327722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REGRESSION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9B6D49-3B6B-4095-9539-C3C492557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155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396619-16DB-442D-8157-557B46E6F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BF9FBB-44B2-4CCD-B2F0-B7433A53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922936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A0D7B6-8D40-4A10-A16B-709EB04C0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第七部分总结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CCD8DD-A236-4B30-A2EF-C2BEBFBF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0FF08A-138A-4896-98E7-271B9317A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回归测试与版本管理要保证：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A219E6-2556-40BD-855D-F472066DF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33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A4346E-D53F-4CB9-BF7C-DEE5B460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240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原Bad Case已经修复。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5B7D0D-B07A-4D47-9B4A-827C2577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16E77C-296B-444A-AB36-734BD6AF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241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同类问题得到覆盖。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542ECF-F222-4322-8EDE-60E274C43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368DB3-7C44-43D5-A940-4E2F60B2F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241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原本正确的核心能力没有退化。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6F571E-A6DD-41F1-8175-998560162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0A7E68-7B8B-47E1-86D1-E41CE4B8F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242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被测产品、评测集和Judge版本均可追踪。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3D4547-BABD-49B9-9D95-CFCE6BDF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774EDB-A0D7-4AB8-8682-AE22FF2B7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242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重要问题进行重复运行。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6C82CC-9E2A-4EF0-967C-00859871A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86DC93-D4F2-49BB-A49C-9823C688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243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新版本达到发布门槛后再灰度上线。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8CDE35-D949-4308-851C-3E4F32CF7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FE65CA-C387-4FDB-9B1C-2DADABF7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243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出现严重问题时能够快速回滚。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AB4B86-6881-4335-A36B-D4098509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958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最重要的原则是：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5E3885-31D3-45E7-BACB-0F3E4CE5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76850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6C81EC-F59B-44EF-85B3-1AB06464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76850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C69153-0675-48E4-B25B-15D95D4F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19725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新版本不仅要证明“修好了”，还要证明“没有把其他地方改坏”。</a:t>
            </a:r>
          </a:p>
        </p:txBody>
      </p:sp>
    </p:spTree>
    <p:extLst>
      <p:ext uri="{BB962C8B-B14F-4D97-AF65-F5344CB8AC3E}">
        <p14:creationId xmlns:p14="http://schemas.microsoft.com/office/powerpoint/2010/main" val="1092305585"/>
      </p:ext>
    </p:extLst>
  </p:cSld>
</p:sld>
</file>

<file path=ppt/slides/slide156.xml><?xml version="1.0" encoding="utf-8"?>
<p:sld xmlns:p="http://schemas.openxmlformats.org/presentationml/2006/main">
  <p:cSld>
    <p:bg>
      <p:bgPr>
        <a:solidFill xmlns:a="http://schemas.openxmlformats.org/drawingml/2006/main">
          <a:srgbClr val="0B20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FF7229-804C-4BC0-9A54-50748DA47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2476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850" b="1">
                <a:solidFill>
                  <a:srgbClr val="36D6C2"/>
                </a:solidFill>
              </a:defRPr>
            </a:pPr>
            <a:r>
              <a:rPr sz="8850" b="1">
                <a:solidFill>
                  <a:srgbClr val="36D6C2"/>
                </a:solidFill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C953F6-DE5B-45C0-A132-47605C9F6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952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E71824-ECC2-4B8C-ACD5-4719E4490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5F2E9"/>
                </a:solidFill>
              </a:defRPr>
            </a:pPr>
            <a:r>
              <a:rPr sz="3600" b="1">
                <a:solidFill>
                  <a:srgbClr val="F5F2E9"/>
                </a:solidFill>
              </a:rPr>
              <a:t>数据反馈与产品迭代闭环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3BE691-FC29-417C-B8AE-145E03E3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7B5BC"/>
                </a:solidFill>
              </a:defRPr>
            </a:pPr>
            <a:r>
              <a:rPr sz="1650" b="0">
                <a:solidFill>
                  <a:srgbClr val="A7B5BC"/>
                </a:solidFill>
              </a:rPr>
              <a:t>按照讲稿结构展开概念、方法与完整示例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44578F-1C28-430E-B72C-117DB4FD3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DATA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8A3074-E45E-4ACB-A049-14E01CA9E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156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62FA19-C9F8-4461-9AE7-54A5AABCA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6939A7-2CE1-4F9F-BAC1-46F7A9FDF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928890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48481068"/>
      </p:ext>
    </p:extLst>
  </p:cSld>
</p:sld>
</file>

<file path=ppt/slides/slide157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9FEEA9-BC58-4546-ACD6-71C8AE31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DATA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134004-A762-4392-B752-EA97D75B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157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22544C-FBE2-42C4-B610-C0CA5E91D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A3AD24-82F9-4016-9A76-5271137D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934844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64440F-D031-448A-B0E2-8950DEA75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第八部分：数据反馈与产品迭代闭环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3A8F76-7AD3-48CC-83AD-922E99A04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DF614D-D3D8-4105-852C-9B3CD440F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前面我们通过评测和线上使用发现Bad Case，并完成问题归因。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9081F7-48E4-411D-B914-CBAB682AF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下一步是：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8C7127-CE75-4524-93AA-D93209963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82E35A-18A3-47A3-810D-E9BEC6AD3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E315DD-C509-43B5-A3BC-D9E70699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19375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怎样让这些真实反馈稳定地进入下一次产品改进，而不是处理完一个问题就结束？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ABA335-4775-4F53-A57C-67D9FD38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527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这就是数据反馈闭环。</a:t>
            </a:r>
          </a:p>
        </p:txBody>
      </p:sp>
    </p:spTree>
    <p:extLst>
      <p:ext uri="{BB962C8B-B14F-4D97-AF65-F5344CB8AC3E}">
        <p14:creationId xmlns:p14="http://schemas.microsoft.com/office/powerpoint/2010/main" val="1686952642"/>
      </p:ext>
    </p:extLst>
  </p:cSld>
</p:sld>
</file>

<file path=ppt/slides/slide158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8C41DA-8676-4914-A774-DD3AEBE8F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DATA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19AAED-5292-422A-A027-04E76A25C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158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443233-AA8C-4FC2-BD41-3C95790E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4287E0-455D-442F-88CF-E873CEFA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940799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38E564-3DF5-49CB-B69E-397109FF0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数据反馈闭环的基本定义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4AE182-F373-49BA-A106-1064A332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815FDA-B6DD-4A08-A66F-0DC6FCAF6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一个完整的闭环通常包括：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874381-D28E-47C0-AFD2-BEC34DBA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数据采集 → 清洗与标注 → 问题归因 → 方案设计 → 产品修改 → 评测验证 → 上线观察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C6144C-D356-4BBC-B31D-771DD8BD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“闭环”的关键在于最后还会回到新的数据采集。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10A560-657F-4FE8-AF6D-E37F7C0F5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例如：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44D743-F066-4E28-BB3B-5BFCAB9FC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3AF7AB-3AB5-4913-A471-FCDA33828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670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用户反馈回答错误；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60ED08-08BB-4B51-9B47-A2F14109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1718F4-92BC-4E60-960B-F8D433BE6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671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团队确认是知识库使用了旧制度；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229D9F-FE22-4BA0-8122-7F79B5375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76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07C018-AAFD-451A-84DA-AF5AFC1E9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671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更新知识库和检索规则；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3B8C01-ED37-431D-9A38-26D751DB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A757F8-0795-407C-88E1-16480B90B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672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重新运行评测集；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367D57-3CFE-4233-A335-75E2A715D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768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97196C-F48C-46AB-889A-B1D69F2D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672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新版本灰度上线；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B16B6F-1F62-4DF3-9854-95391250D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768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AC59E0-B9F6-441F-A3CA-C12ECC0B8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673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继续观察类似问题是否减少；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22EE0D-B3DD-43AA-9202-48B24C523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769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BCDB12-B41F-4DD0-AA12-82976BB9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6673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新问题再次进入问题池。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029A8F-DC6C-4640-8252-5775003F0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388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如果只完成了“更新知识库”，没有验证和持续观察，就还没有真正形成闭环。</a:t>
            </a:r>
          </a:p>
        </p:txBody>
      </p:sp>
    </p:spTree>
    <p:extLst>
      <p:ext uri="{BB962C8B-B14F-4D97-AF65-F5344CB8AC3E}">
        <p14:creationId xmlns:p14="http://schemas.microsoft.com/office/powerpoint/2010/main" val="374252397"/>
      </p:ext>
    </p:extLst>
  </p:cSld>
</p:sld>
</file>

<file path=ppt/slides/slide159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DF3EC4-5CF6-4A59-8A83-3EB0A7865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DATA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F9DBF7-96A6-4225-AE9E-08F942E9E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159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16C852-3CA8-47C0-A832-FB102D75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632AC8-FEEB-4B84-8DAC-01BD9975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946753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54AB84-75BB-42AD-B5E1-DA2081AB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AI产品数据的四类来源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5B31F3-8045-4795-BF5F-002B01230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B7298-433F-4C2B-A51E-274C8E09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AI产品可以利用的数据通常来自四个入口。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8B5189-DA28-440F-AE77-5FB7D16BD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0502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业务原始数据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AF309B-6220-4BAD-9E44-6414648B4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2887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9E54B0-7CE4-47B7-B51A-9E1669F4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241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产品原本就依赖的业务资料，例如：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373E71-7F9B-4852-9549-6DECD463B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43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7A505E-C1D0-4DEA-896C-469CD29A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337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企业制度；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28D64D-FF63-4BE0-A80A-BA8DBA3B7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432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C2E869-0B8B-4D6C-A984-49F1EBAB7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337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商品信息；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C8A8D8-05C5-43B6-B510-2C1A22A1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052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-客服知识库；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192409-D12B-48F4-A854-9469DC5AE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243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9D964C-A43E-4A99-A927-C3E011062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148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订单信息；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346E24-BAB6-4AFC-8CE9-C44EF465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243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296705-F2FA-4525-9964-A5057B144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148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用户手册；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446EDD-A635-4110-A100-845B8DC46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244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CF55E4-F6B6-4FBA-A410-BA0D6A3F1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149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产品目录；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249DA6-725A-412F-B324-CB5D6E32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244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DBE411-DE54-4B77-BEBD-B61C43C47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149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历史工单；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70FF44-F15F-4942-A515-0FCFD095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245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BEA38D-06AB-40CE-9E69-A1A42586B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7150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业务规则。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0B6071-71D0-4909-8E38-4C5AC728B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864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这些数据决定AI“可以依据什么回答”。</a:t>
            </a:r>
          </a:p>
        </p:txBody>
      </p:sp>
    </p:spTree>
    <p:extLst>
      <p:ext uri="{BB962C8B-B14F-4D97-AF65-F5344CB8AC3E}">
        <p14:creationId xmlns:p14="http://schemas.microsoft.com/office/powerpoint/2010/main" val="1839109437"/>
      </p:ext>
    </p:extLst>
  </p:cSld>
</p:sld>
</file>

<file path=ppt/slides/slide160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A42E2E-A94B-45F0-942A-A4E905F0D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DATA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F3BAAF-3CAE-4ED6-AA72-A1915AF71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160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9311AD-1A34-41E3-917E-D2C987BE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98129A-307E-4C44-8419-9BAFB10D9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952708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29DCEB-A1C2-4849-B28B-9EC06012D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AI产品数据的四类来源（续）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605F27-F809-4F51-B18B-405E135F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0EF513-AA8D-4E15-B2D9-C2B55A144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2402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用户输入与AI输出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23AA10-573C-46AA-8F9F-F6222EECD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4787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6DF6CF-D3C1-4CE7-A393-99DFE92F3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431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系统运行过程中形成的对话记录：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B78B83-0956-4562-B8D3-D951F2060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6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B12405-2C08-499E-8B84-6496AA48F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527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用户问题；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59B0EE-7489-48E9-85FC-F3720F937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622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D04CEA-65F0-4344-8F58-CC66BEF16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527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会话上下文；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2088EA-FACA-48C5-9AFD-F02B9E7F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623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F27F7A-9998-48E8-AB1E-C0166BCF4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528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AI回答；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9608AB-598E-4813-AC37-45E4BDD2D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623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F94B91-F9A9-49D7-BB26-0E3F032A5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528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检索内容；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E9E8A5-FE5C-4E53-A15F-098BEB05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624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145E4D-14CF-433B-90D3-17B1210E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529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工具调用；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250CFE-79CC-4194-A583-A4A88A944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624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648003-7F65-4774-B6F2-1E161824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529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响应时间；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11DDA2-0DED-45AE-8E0B-1E8294A2D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625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5736F8-56C7-44B3-B99D-F9BDC3A8A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530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模型和Prompt版本。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A66B9E-7B37-4AC6-A949-8DD893B9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244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这些数据可以帮助团队还原问题发生的过程。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1900AA-6840-42C0-AE7C-3B735B9CB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150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显性反馈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A38CDC-ECAF-44F4-9656-5AFDA1F74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3885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67427A-EB2D-4D11-AAA9-72357CFEA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341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用户主动表达的评价：</a:t>
            </a:r>
          </a:p>
        </p:txBody>
      </p:sp>
    </p:spTree>
    <p:extLst>
      <p:ext uri="{BB962C8B-B14F-4D97-AF65-F5344CB8AC3E}">
        <p14:creationId xmlns:p14="http://schemas.microsoft.com/office/powerpoint/2010/main" val="1739653943"/>
      </p:ext>
    </p:extLst>
  </p:cSld>
</p:sld>
</file>

<file path=ppt/slides/slide161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BCB24A-A19C-4A04-90DE-F8605B16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DATA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94BCD0-39B7-416F-A4EE-938ADF5E6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161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AFEC08-F164-4D79-8CC1-C141C6C0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B14760-2F61-429C-9058-BDBF15D33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9586626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7B6078-6090-41DC-82D2-63B5DB899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AI产品数据的四类来源（续）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17662F-4F8C-43AC-8CDA-345D40E3C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CFAF40-AB40-42C2-A7F8-1A4FDC5FC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A0173B-800C-4558-A88F-61FCCB2A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430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点赞；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082C48-1E93-42A5-8850-3EB14216A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B859A2-32A7-4826-8ECB-9285DE3E7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431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点踩；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462623-CD4B-46C4-8D9B-F9B14CD09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2E55B5-C377-40FC-8383-05720EF8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431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评分；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1A8D54-1A8D-4089-9173-AA51F7700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C024A8-8794-4E94-B1F1-D1F536691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432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原因选择；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92FD40-3ABE-42BD-A6EC-8252F1C4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392346-520F-4891-812D-9E141463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432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文字评价；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FEE3C9-059B-4CB9-8E26-0AAA43892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528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5036D8-D44A-47DF-A94F-FD757896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433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投诉；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DE8089-303A-451E-A49B-49E2070DF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529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420A42-6FFD-4CA5-A3F8-F9EE5E148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433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人工客服备注。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720DA3-D989-4884-A615-1EE86F77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148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显性反馈容易理解，但数量通常有限，而且容易集中在特别满意或特别不满的用户身上。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A42734-57FA-4A15-B436-E4A4E56DE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0537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隐性行为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32E242-917B-48CB-A8A9-AFB9A5DB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2922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78C2C5-907E-465F-9440-EB0281DC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244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用户没有直接评价，但行为反映了结果是否有用：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18D357-42C0-4E0E-8D00-CA6226A34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435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C052E7-37E8-4755-B5B7-87FD3D377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7340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复制；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FA5A85-848F-48C6-9AE4-9F7FDB18C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1436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D9E754-FBA9-4CD1-B353-82362D233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1341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收藏；</a:t>
            </a:r>
          </a:p>
        </p:txBody>
      </p:sp>
    </p:spTree>
    <p:extLst>
      <p:ext uri="{BB962C8B-B14F-4D97-AF65-F5344CB8AC3E}">
        <p14:creationId xmlns:p14="http://schemas.microsoft.com/office/powerpoint/2010/main" val="2714644"/>
      </p:ext>
    </p:extLst>
  </p:cSld>
</p:sld>
</file>

<file path=ppt/slides/slide162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B261E6-4FAF-45A7-8A66-4C42CCC4B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DATA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7F48A2-344D-476C-A42D-41191D9A4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162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004F6F-B259-4355-8B9B-A55C8B5D8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5655F9-566B-423A-8152-15A1413AA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964617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9BB475-48AF-48D9-A260-B4F20870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AI产品数据的四类来源（续）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3BD4B9-7845-4B7A-BE9C-78108538B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BF205F-13E0-411D-B3AF-4CDF978A3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8EAB9E-AF44-48D4-AB46-FF6723D49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430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分享；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94BB4D-C545-4DC8-938C-C3827C018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80A878-F45E-4F20-845A-8B1C2BCE1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431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导出；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F4E08A-AF90-4D2D-9727-EBADCDD1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948AB2-EFC7-4A27-BF30-B2A86A77B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431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重生成；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A6BA26-3F89-4C30-A49D-AAC8A63AD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1E240D-FF07-4690-A519-14203348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432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修改；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8714DC-E31B-4E47-98E4-9C92DE144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039002-6DF0-414F-96EE-F3AB426E9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432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继续追问；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6A98E1-A92C-45B6-9587-0B480B92C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528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F44364-5777-40E6-8527-B9A5BCBFE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433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放弃任务；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70FE2A-10E2-4D54-9967-96D18604F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529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5DA338-5374-4E09-B736-706BFF377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433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转人工；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2B0A20-43BA-43E5-ADF3-3584F4AD4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529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7E02F2-8E00-475B-81CF-C3A46850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434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是否完成最终任务。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250150-D51B-4239-A976-8084FA09B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隐性行为通常数量更多，但解释更复杂。</a:t>
            </a:r>
          </a:p>
        </p:txBody>
      </p:sp>
    </p:spTree>
    <p:extLst>
      <p:ext uri="{BB962C8B-B14F-4D97-AF65-F5344CB8AC3E}">
        <p14:creationId xmlns:p14="http://schemas.microsoft.com/office/powerpoint/2010/main" val="164028124"/>
      </p:ext>
    </p:extLst>
  </p:cSld>
</p:sld>
</file>

<file path=ppt/slides/slide16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F54BC0-1093-49E2-9DA0-3400A8574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DATA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A395A2-359A-4A43-813D-4F475E851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163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17F779-FB0B-457C-8552-B0B11B99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BD8608-8ADF-400E-B34F-0B35DB4DD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970571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42DF77-B233-47FA-85CF-63C9BE64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显性反馈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33CCE8-C318-4572-8976-41F89DECA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DE26D8-2EBE-4B73-A711-0E9E6D7B6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最常见的显性反馈是点赞和点踩。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C175F9-1D8C-47EE-BF8A-08D516CA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但如果只提供一个点踩按钮，产品团队只能知道：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9A35EC-3C98-49AD-ADD8-C80688BF1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85F518-0B04-4C49-9EC4-5DA9652E1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9FBD98-ADE0-4C34-AA83-7F6CAD3A2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19375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用户不满意。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E0508C-0F75-4F0B-B0FD-8E13AC0C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527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却不知道为什么不满意。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50E471-DCED-4E2F-9E23-CBD2D3F2E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337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因此，点踩后可以提供几个快捷原因：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A1DC50-C609-4CB0-B82E-362A06B0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528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08B65C-5DAD-42F7-9503-EBED27D15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433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内容不正确；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005E92-C9C8-4E10-A794-D1B9DC399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529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234E83-8D40-4A03-BEFC-789ADFDEC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434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没有回答问题；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BB7DFD-5DE3-4160-9E6A-42F7C8F5F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529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4922E1-D4C5-41D2-959A-45D7DD04D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434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信息不完整；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69A80A-45FE-43DA-9E14-529719A91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530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059703-09A3-4F7B-96FF-D889885BB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1435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内容过长；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583D9E-91C5-4375-96F4-0AA7CCF3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530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CF8207-8062-479B-9F64-DEE69B650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5435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不符合要求；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9102F6-8F03-4029-8706-888FA55D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531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A40439-38A1-4EDD-8189-C2A304AF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9436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存在安全或不适内容；</a:t>
            </a:r>
          </a:p>
        </p:txBody>
      </p:sp>
    </p:spTree>
    <p:extLst>
      <p:ext uri="{BB962C8B-B14F-4D97-AF65-F5344CB8AC3E}">
        <p14:creationId xmlns:p14="http://schemas.microsoft.com/office/powerpoint/2010/main" val="1239523199"/>
      </p:ext>
    </p:extLst>
  </p:cSld>
</p:sld>
</file>

<file path=ppt/slides/slide164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8FCE8B-3945-4D24-A1D0-B8C1DE5B4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DATA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DA0521-15C5-4889-87F8-C0A8AC44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164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3FA2F6-8D9E-432B-81BA-71B5135A6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91036E-CA9D-4357-8A72-D19095297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976525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804ECE-CA37-4BDE-B7F5-073AB936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显性反馈（续）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C6872F-8C31-403C-A77B-8D1CE0203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D1ACF5-3620-47FE-B359-9A9FCF5E8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ADCA26-E123-4442-A37F-D3A107653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430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其他。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193D20-3706-4855-86CA-722326FB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这样可以降低用户填写成本，同时帮助团队进行初步分类。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1ABC6D-B802-448C-97D6-8C53F561A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955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但反馈选项不能设计得太复杂。如果用户需要填写十几个字段，大部分人会直接放弃反馈。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EB7980-4330-424D-A8C3-E6D2F740B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765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比较合理的是：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F0A7F0-3277-42D1-BFE8-906D4A08E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57550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6DFA4C-59E2-44A5-AE32-6C8FB2E02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57550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A979C3-727B-4B54-8013-6F11F776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00425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一次轻量选择，加一个可选的文字补充。</a:t>
            </a:r>
          </a:p>
        </p:txBody>
      </p:sp>
    </p:spTree>
    <p:extLst>
      <p:ext uri="{BB962C8B-B14F-4D97-AF65-F5344CB8AC3E}">
        <p14:creationId xmlns:p14="http://schemas.microsoft.com/office/powerpoint/2010/main" val="2064240245"/>
      </p:ext>
    </p:extLst>
  </p:cSld>
</p:sld>
</file>

<file path=ppt/slides/slide165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433B93-4999-406E-A0B7-77FF57BCB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DATA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309EB6-C59E-4033-B0BE-3C4DED40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165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F97ACA-EB13-4935-B33A-0DC84EC5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CA4919-1A05-4FE4-B2C8-83FDA6B2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982480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66059E-FE4F-4C00-9205-18F8FF4C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隐性反馈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C6E4C5-72D7-4CE1-9297-6AABC52FD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5CE6B1-7A47-4641-B45A-16718796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隐性行为不能直接等同于满意或不满意，需要结合场景解释。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FD957A-1B52-44CD-AB8A-0DDD8AF4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0502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收藏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5A8118-4568-4BC7-A6A5-B78A58F2D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2887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0F68E3-9DCA-43AF-863C-76D53FD6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241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可能代表内容具有长期价值。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121F3A-04FE-4985-A34C-B25637548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051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但也可能只是用户暂时保存，之后并未使用。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B96AAA-5790-4DAD-BF8D-73ABB3AD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复制或导出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0DE017-325C-4DD0-8EA3-22FFF586B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88C782-B225-4663-A8BE-7BB869EE1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可能代表AI结果进入了真实工作流程，通常是较强的正向信号。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C64941-29DE-4FBE-BFB9-316FA2C5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但也可能是用户复制后准备进行大量修改。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D83665-515A-4144-9162-9400D3CC6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8627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重生成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C3A610-7F87-4C1A-8395-2258B481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1012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57BECB-FC7C-4507-B864-116623337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053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通常意味着当前回答没有满足需求。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87E50A-400E-4CC3-A5CA-C77533CE6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863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但也可能是用户希望探索其他创意，而不是认为原回答错误。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158F67-F9C0-46EF-BFC6-C2DA40430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继续追问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B8B831-1F77-4DC0-9F42-C0E73FC8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0075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43042285"/>
      </p:ext>
    </p:extLst>
  </p:cSld>
</p:sld>
</file>

<file path=ppt/slides/slide166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F72CB0-38D3-479C-8F2E-7AE59B2BA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DATA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A41DAD-0B54-4FC7-B7EA-2CDF8CB5E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166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DA93E4-18C3-4E0E-8F35-B844C5F43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CE4B87-DE95-4422-AD9A-F7B831DD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988434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BF081B-2BB4-4185-B0F5-F0BDB1646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隐性反馈（续）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AA2D50-1AF2-4E92-8A10-086654950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498839-8E35-4BAF-A1E4-61B768A9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可能表示回答不完整。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6458DF-705C-4CEA-B440-68FC2DC8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也可能表示回答很好，促使用户继续深入。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2FAC0D-ACF9-4749-ACE5-A95B9BA7B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8602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快速退出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CFC053-0FCA-411D-B14C-421FCB0E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987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6017B2-C36A-4759-BB96-06011FC3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051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可能是产品没有价值。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5A852F-A7EF-49AB-AD3A-AC152B777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也可能是用户已经立刻获得答案，任务顺利完成。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3033CA-8A28-45EA-83E9-D0DC5376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671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所以：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DD6491-1BB7-4C71-8D76-0AC889C23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48125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1A2249-8044-4283-883F-BCAC922A2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48125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655CF2-3F50-4857-8167-6454CE08C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91000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隐性行为是线索，不是结论。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AF7DF6-7C63-45B7-A1A4-5E3CFAABB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产品经理需要把多个行为组合起来判断。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248A72-A2B6-4254-8D1D-633F17130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05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例如：</a:t>
            </a:r>
          </a:p>
        </p:txBody>
      </p:sp>
    </p:spTree>
    <p:extLst>
      <p:ext uri="{BB962C8B-B14F-4D97-AF65-F5344CB8AC3E}">
        <p14:creationId xmlns:p14="http://schemas.microsoft.com/office/powerpoint/2010/main" val="1095049212"/>
      </p:ext>
    </p:extLst>
  </p:cSld>
</p:sld>
</file>

<file path=ppt/slides/slide167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672848-0898-4C39-98B5-FC246C780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DATA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8BB5EA-B5C9-449F-BDD6-11933EEE8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167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E3CEB4-62F6-4A91-B077-6819B2ABD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C2A580-3938-4A5D-A795-BE9E57153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994389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DB22FC-7AE9-4243-A8EE-F34B43F0C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隐性反馈（续）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AC1D99-57CB-4A76-A647-086D1F00C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AA3BBF-6EBB-4689-BF11-B939EEEC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10572750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031016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967087-37FB-4963-B470-42078971D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47850"/>
            <a:ext cx="100488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E7B7"/>
                </a:solidFill>
              </a:defRPr>
            </a:pPr>
            <a:r>
              <a:rPr sz="1200" b="0">
                <a:solidFill>
                  <a:srgbClr val="6EE7B7"/>
                </a:solidFill>
              </a:rPr>
              <a:t>生成答案</a:t>
            </a:r>
          </a:p>
          <a:p xmlns:a="http://schemas.openxmlformats.org/drawingml/2006/main">
            <a:pPr algn="l">
              <a:defRPr sz="1200" b="0">
                <a:solidFill>
                  <a:srgbClr val="6EE7B7"/>
                </a:solidFill>
              </a:defRPr>
            </a:pPr>
            <a:r>
              <a:rPr sz="1200" b="0">
                <a:solidFill>
                  <a:srgbClr val="6EE7B7"/>
                </a:solidFill>
              </a:rPr>
              <a:t>→ 用户连续重生成3次</a:t>
            </a:r>
          </a:p>
          <a:p xmlns:a="http://schemas.openxmlformats.org/drawingml/2006/main">
            <a:pPr algn="l">
              <a:defRPr sz="1200" b="0">
                <a:solidFill>
                  <a:srgbClr val="6EE7B7"/>
                </a:solidFill>
              </a:defRPr>
            </a:pPr>
            <a:r>
              <a:rPr sz="1200" b="0">
                <a:solidFill>
                  <a:srgbClr val="6EE7B7"/>
                </a:solidFill>
              </a:rPr>
              <a:t>→ 最终没有复制或保存</a:t>
            </a:r>
          </a:p>
          <a:p xmlns:a="http://schemas.openxmlformats.org/drawingml/2006/main">
            <a:pPr algn="l">
              <a:defRPr sz="1200" b="0">
                <a:solidFill>
                  <a:srgbClr val="6EE7B7"/>
                </a:solidFill>
              </a:defRPr>
            </a:pPr>
            <a:r>
              <a:rPr sz="1200" b="0">
                <a:solidFill>
                  <a:srgbClr val="6EE7B7"/>
                </a:solidFill>
              </a:rPr>
              <a:t>→ 退出页面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FB021A-AD8C-4897-8CED-05128FBA4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这比单独一次“退出”更可能表示结果没有满足需求。</a:t>
            </a:r>
          </a:p>
        </p:txBody>
      </p:sp>
    </p:spTree>
    <p:extLst>
      <p:ext uri="{BB962C8B-B14F-4D97-AF65-F5344CB8AC3E}">
        <p14:creationId xmlns:p14="http://schemas.microsoft.com/office/powerpoint/2010/main" val="256902164"/>
      </p:ext>
    </p:extLst>
  </p:cSld>
</p:sld>
</file>

<file path=ppt/slides/slide168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9B81F0-0B6C-478C-8F8D-04044546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DATA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F0715A-C9DE-4D1D-A9E8-168344AC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168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E1FDD2-ED13-4EFA-910C-9D86BC713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C86069-06A8-4CD2-8F59-54470A71C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003436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496576-8DE6-48F0-B1AD-B36480D8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不同产品的反馈设计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68FADA-9B33-46E8-8DD9-2482B686C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D9FD12-D7B2-4337-B3AF-9C511E914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反馈机制应该放在用户完成任务的关键节点上。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13DF59-4EE6-4775-B1C1-DC3409BA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0502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企业知识助手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6BEE64-6AF6-461F-85A8-30181B93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2887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324B27-2CE6-428E-AF38-14B846052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241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可以采集：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C9F629-EE9F-4E87-B33C-CC1FB53E8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43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0DB797-80E0-4364-92BD-516029843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337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点赞或点踩；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E795A2-D0FB-4813-A25D-25B3154E3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432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333D4C-2724-4893-86EA-83F5B9BFA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337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是否点击引用来源；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57FA2C-92B8-467E-9106-CB6A5B8F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433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037871-A862-42EB-A8FC-C2574C64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338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是否继续追问同一问题；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A3916B-C118-4A50-A5A9-0FCF1FFB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433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4E3643-F5A1-4D59-B632-FB35E21F7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338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是否转人工；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615B12-2F85-4C63-B6FE-6F1F9319A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434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CAAA4B-0E12-427D-B470-02BF33543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339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是否复制答案。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72BEBF-DAF5-4401-BAB1-BCEF106F7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AI写作工具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DDD962-5143-4985-AA7E-2DE50B842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EE7474-3D65-4F7E-A346-65ED8A0D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340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可以采集：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80A6ED-DF5A-4142-BC8B-302BCD24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531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B8DEB7-9A4B-4BEA-A7E1-7EE154BF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7435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用户采用了多少生成内容；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E720EE-FCAC-44A9-9A98-CB9FD8FE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1531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8BB8C5-2782-4847-BDD3-B7F031C7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1436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修改前后的文本差异；</a:t>
            </a:r>
          </a:p>
        </p:txBody>
      </p:sp>
    </p:spTree>
    <p:extLst>
      <p:ext uri="{BB962C8B-B14F-4D97-AF65-F5344CB8AC3E}">
        <p14:creationId xmlns:p14="http://schemas.microsoft.com/office/powerpoint/2010/main" val="1645335383"/>
      </p:ext>
    </p:extLst>
  </p:cSld>
</p:sld>
</file>

<file path=ppt/slides/slide169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517930-253E-4B65-A79F-A15206550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DATA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227AB7-FCED-470C-A371-EA48E7AD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9C5DDF-31DC-4F29-97DB-EDCC2DD2C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3E0562-6A59-443F-88AD-33D6E6B48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06298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FF83B6-A34D-47CA-8D1C-3A1C57207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不同产品的反馈设计（续）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FE1318-2821-4FD1-A941-82795E13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96FBD8-AD56-43D5-990C-DC5CE21A4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69B330-AA26-48A1-80B4-49EDF57D1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430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是否多次重生成；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60245F-F841-41F2-8ECB-2F37DF1E2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22438E-A6BE-4BBC-B9C3-CAFFAA33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431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是否导出或发布；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FE82B4-3E11-47C6-9C41-8376110B4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BEBF76-8405-45DA-8F87-07C737BAE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431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哪些段落被删除。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ABC981-6FD7-472F-B49F-B6220405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相比简单的“满意/不满意”，修改前后差异更能反映输出质量。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4FB6C9-7297-4E06-8937-A2950C76F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例如：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8F2598-AB85-49E9-A96A-1FE4C5B7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44D14F-FD70-4751-8725-DA5C9231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052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直接采用：结果高度可用；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441D7A-69F5-4386-A35B-7AE5DB4C7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74E66A-E109-4F44-84FA-75748CFA2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052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少量修改：基本可用；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A090F6-420F-4010-A72D-45C1455B2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148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E4D2FD-724A-4B5B-BC1C-7A1C24FE8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053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大幅修改：只提供了部分价值；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9D43A1-D50B-45C9-99BB-82C4726A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149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C26163-29E0-4A14-B5E0-735DB0654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053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完全弃用：没有进入最终产物。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060501-2333-4C10-B407-14EDE3CCB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8637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AI客服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0EB96D-96D3-44AB-8F10-4FC71B66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022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041CCB-092E-49BF-A9F7-BDA1137C4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054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可以采集：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A542F6-2DD4-42CE-8BFE-EDFB6D3D8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1245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798F64-2F08-426F-B982-263A77FA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1150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用户是否解决问题；</a:t>
            </a:r>
          </a:p>
        </p:txBody>
      </p:sp>
    </p:spTree>
    <p:extLst>
      <p:ext uri="{BB962C8B-B14F-4D97-AF65-F5344CB8AC3E}">
        <p14:creationId xmlns:p14="http://schemas.microsoft.com/office/powerpoint/2010/main" val="790675588"/>
      </p:ext>
    </p:extLst>
  </p:cSld>
</p:sld>
</file>

<file path=ppt/slides/slide170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208BB2-CAE6-459D-90CF-D6174D00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DATA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7F4504-873F-4575-BE3D-33E69A59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170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F6E1AA-9D88-4F0F-9924-154A8D70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B3EF52-D769-4DF4-AA18-BAE9F06E3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1225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207CAF-57F6-416A-8AD2-FFD7A595B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不同产品的反馈设计（续）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C9F766-EB7E-4631-A798-766191F4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329283-33FA-468B-8720-440B1F01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D20B67-591D-42AB-A8EB-170E3847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430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是否再次咨询同一问题；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3064BA-2B6E-4EF4-9E15-56398EE4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523841-FB07-4D40-9251-C5A257B49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431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是否转人工；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045AB3-8173-41C8-B9C3-B375E0775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EC7A2F-25D9-4CEB-8F74-AC6981EB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431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人工最终如何处理；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72E233-464F-4AD1-AF6D-2969A51D3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38E85C-B2FE-4C7C-BEA0-921AD2401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432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用户是否完成退款、查询或修改等任务。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E304D5-4BA7-4E34-A7CF-790500D2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147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客服产品最重要的指标往往不是“回答看起来好不好”，而是：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FE5DE9-E63B-44F4-88DB-667A87FC4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95700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186DDE-7EF2-45C6-AFD9-239757139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95700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5A8846-7AB3-4559-9224-6F979CBC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38575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用户的业务问题是否真正得到解决。</a:t>
            </a:r>
          </a:p>
        </p:txBody>
      </p:sp>
    </p:spTree>
    <p:extLst>
      <p:ext uri="{BB962C8B-B14F-4D97-AF65-F5344CB8AC3E}">
        <p14:creationId xmlns:p14="http://schemas.microsoft.com/office/powerpoint/2010/main" val="1963143279"/>
      </p:ext>
    </p:extLst>
  </p:cSld>
</p:sld>
</file>

<file path=ppt/slides/slide171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E82DBD-274B-4631-8316-237ED424E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DATA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BC4A94-64A4-428B-8156-E2ED8CE9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171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EF86E4-EDDA-4595-9D31-24F3B660F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1260E4-0F4A-4273-BAD5-E8FA9B28E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18206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7437B8-7D1B-4D5A-A3D0-26B273A2E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低分会话进入Bad Case问题池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0115C1-D8FD-439F-8F2A-B8EAFC73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47A2EC-DD85-4755-9E0E-25A39E50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并不是所有点踩都应该直接成为模型Bad Case。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C20509-A979-4C59-B130-E92D8EAA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一个比较完整的处理流程是：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03CC4E-FADB-43A6-8416-6A8E019B8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5C769A-8B2D-403C-9778-BEB49D504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050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触发低分、点踩或红线规则；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209CC9-F9B5-401A-98DF-6E3B22FB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F1D8E8-4A92-43D3-B4ED-A2D8DA0D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051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对数据进行脱敏；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8C516F-BC39-48B3-A02D-625D2A100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14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C905A4-9B9E-4776-AC0C-C8DA702EF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051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去除重复问题；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B1F717-5180-4367-9B33-D0EF5DD41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547EEF-ED0B-402C-8808-9CCBF728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052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人工复核用户意图和业务规则；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9D20C8-5B86-4380-B76E-189A15345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BF6BB6-0143-4326-89FA-D044B6A4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052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判断是否为真实问题；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58F73F-C791-485C-9C99-ECA94EB59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148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CC38E8-E5BF-4E87-8FDE-8DBF3E993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053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完成问题归因和严重度分级；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05BCA0-34F8-4C8B-AB34-3D85A098A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149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37A427-054B-4539-9648-4C498E47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053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加入Bad Case问题池；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BFD520-1EDC-4735-BB83-CF1D89780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149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FDAE27-E9AC-496F-A636-21313A65C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054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选择关键案例进入回归集。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92C773-411A-41E1-A19D-E389F1665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人工复核很重要。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2827C1-4555-4AA3-95D1-EE0FFFCD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579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例如用户问：</a:t>
            </a:r>
          </a:p>
        </p:txBody>
      </p:sp>
    </p:spTree>
    <p:extLst>
      <p:ext uri="{BB962C8B-B14F-4D97-AF65-F5344CB8AC3E}">
        <p14:creationId xmlns:p14="http://schemas.microsoft.com/office/powerpoint/2010/main" val="129745339"/>
      </p:ext>
    </p:extLst>
  </p:cSld>
</p:sld>
</file>

<file path=ppt/slides/slide172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B227AB-BFE9-4139-B041-3D1911782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DATA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959CD6-81EB-471F-84AD-4E634CE1C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172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CAB73D-E3DF-468B-A301-7416C81DD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35F0AC-7872-4B23-AE85-40B5519CD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24161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34B75F-FA5B-45EC-AA54-D39649D03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低分会话进入Bad Case问题池（续）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FC5B1F-413B-4388-9DB6-46AF10376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B8824A-0E8B-433B-8051-8AC7F9F99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0FBF8B-D0D4-4BCE-843A-1978D106B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460A89-BBDB-4DDA-B128-0CB4163EC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57375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为什么不能给我免费退款？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A0A317-90F3-4326-9259-C9C146C1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907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AI按照公司政策正确拒绝了，用户仍然点踩。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065508-D67E-4C82-A764-E058CB59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717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这是负面用户反馈，但不一定是产品回答错误。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FDEDED-29D2-4265-9967-B276A94E2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527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因此需要区分：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EA4C4A-4ADE-407C-B961-35101CD23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D5AA6F-3A2D-4ED0-B23E-EA09A8DB1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623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用户不喜欢这个结果；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3B9067-6D30-4FEA-8267-56E103E55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719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D23806-E692-4C07-95F5-52BFD49DE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624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产品没有正确执行规则。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AAE337-78A1-4909-A047-6923FBC8A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338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二者不是一回事。</a:t>
            </a:r>
          </a:p>
        </p:txBody>
      </p:sp>
    </p:spTree>
    <p:extLst>
      <p:ext uri="{BB962C8B-B14F-4D97-AF65-F5344CB8AC3E}">
        <p14:creationId xmlns:p14="http://schemas.microsoft.com/office/powerpoint/2010/main" val="1205275754"/>
      </p:ext>
    </p:extLst>
  </p:cSld>
</p:sld>
</file>

<file path=ppt/slides/slide17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4C71BE-AAB9-4BEF-95B3-22BC4356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DATA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99BC25-944B-47E2-972A-28A0A152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173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9F4B39-FD3B-402C-B72B-B0ABB4D1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FC14C6-231A-4098-8E45-CB8CC6E3B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301157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E7DA42-3F3D-4599-AF18-C5B4E31BD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数据清洗与标注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4C878B-1363-46D0-8F6A-866C00135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A4B38B-5D32-4188-AFD2-67BF4CE37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原始反馈通常不能直接用于产品优化，需要先处理。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44C240-4024-4157-9310-EEFDCF34B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0502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数据清洗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9AB3F9-6ED8-427A-BF13-FC21E47E9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2887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0882C6-63FA-4A80-9D3C-B633AC053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241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包括：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6CB68C-69B3-418A-9F0E-6F11D4D3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43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652C8F-F6C9-4CDB-933E-4FE1D5DB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337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去除隐私信息；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947CFE-9948-4EE1-ACB9-F3D972DD9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432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D2C555-6A8A-4480-A6B7-7DD11171F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337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删除无效数据；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EFDF3A-5C35-4B2B-AB8D-82D56AE7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433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C02813-83A6-4361-9DC0-336F54AF9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338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合并重复案例；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B49C29-834C-40F8-8E59-9760CED46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433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107B3D-FA9B-44A1-BEBD-30CB35146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338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修正乱码；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02A3FF-0314-4377-8887-3EEBFC22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434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E32708-D01C-41D1-A466-166AF87F6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339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补全必要上下文；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30464C-CBDD-48AD-9B04-1A281BC1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434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55F5E9-CBA1-4136-950C-00EDE256C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339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关联模型和知识库版本；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324EA4-7455-4793-AB23-2B17E5791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435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7F480E-4E9C-40A7-B3F4-DAD74C25D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340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排除明显恶意输入。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B0E013-B12D-4FA1-BCCF-50A33E1BA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150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数据标注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2387C0-DEDD-4CB9-B5C5-114CCB74B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3885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899282-9CA5-4E01-9DB4-2AA0A85D0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341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为案例增加结构化标签，例如：</a:t>
            </a:r>
          </a:p>
        </p:txBody>
      </p:sp>
    </p:spTree>
    <p:extLst>
      <p:ext uri="{BB962C8B-B14F-4D97-AF65-F5344CB8AC3E}">
        <p14:creationId xmlns:p14="http://schemas.microsoft.com/office/powerpoint/2010/main" val="1878706526"/>
      </p:ext>
    </p:extLst>
  </p:cSld>
</p:sld>
</file>

<file path=ppt/slides/slide174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F8B4AE-62CA-4737-B411-EB60FD4BF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DATA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582739-1FDB-4E9B-8744-34BCFE798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174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F51275-A9BD-454F-B5BB-BBEE2F2F0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5313DC-2037-4AF8-BF87-507694D84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36070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5FD9EA-DDC2-4C92-BBA1-A23E7DC6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数据清洗与标注（续）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39827D-3CBB-42CF-B097-5F3D92514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BF9D69-5B2C-4A8A-A499-E066E1477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10572750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031016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A3EE90-3184-4690-96A3-1674D4DD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47850"/>
            <a:ext cx="1004887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E7B7"/>
                </a:solidFill>
              </a:defRPr>
            </a:pPr>
            <a:r>
              <a:rPr sz="1200" b="0">
                <a:solidFill>
                  <a:srgbClr val="6EE7B7"/>
                </a:solidFill>
              </a:rPr>
              <a:t>场景：住宿报销</a:t>
            </a:r>
          </a:p>
          <a:p xmlns:a="http://schemas.openxmlformats.org/drawingml/2006/main">
            <a:pPr algn="l">
              <a:defRPr sz="1200" b="0">
                <a:solidFill>
                  <a:srgbClr val="6EE7B7"/>
                </a:solidFill>
              </a:defRPr>
            </a:pPr>
            <a:r>
              <a:rPr sz="1200" b="0">
                <a:solidFill>
                  <a:srgbClr val="6EE7B7"/>
                </a:solidFill>
              </a:rPr>
              <a:t>问题类型：知识版本错误</a:t>
            </a:r>
          </a:p>
          <a:p xmlns:a="http://schemas.openxmlformats.org/drawingml/2006/main">
            <a:pPr algn="l">
              <a:defRPr sz="1200" b="0">
                <a:solidFill>
                  <a:srgbClr val="6EE7B7"/>
                </a:solidFill>
              </a:defRPr>
            </a:pPr>
            <a:r>
              <a:rPr sz="1200" b="0">
                <a:solidFill>
                  <a:srgbClr val="6EE7B7"/>
                </a:solidFill>
              </a:rPr>
              <a:t>严重度：高</a:t>
            </a:r>
          </a:p>
          <a:p xmlns:a="http://schemas.openxmlformats.org/drawingml/2006/main">
            <a:pPr algn="l">
              <a:defRPr sz="1200" b="0">
                <a:solidFill>
                  <a:srgbClr val="6EE7B7"/>
                </a:solidFill>
              </a:defRPr>
            </a:pPr>
            <a:r>
              <a:rPr sz="1200" b="0">
                <a:solidFill>
                  <a:srgbClr val="6EE7B7"/>
                </a:solidFill>
              </a:rPr>
              <a:t>用户意图：查询金额</a:t>
            </a:r>
          </a:p>
          <a:p xmlns:a="http://schemas.openxmlformats.org/drawingml/2006/main">
            <a:pPr algn="l">
              <a:defRPr sz="1200" b="0">
                <a:solidFill>
                  <a:srgbClr val="6EE7B7"/>
                </a:solidFill>
              </a:defRPr>
            </a:pPr>
            <a:r>
              <a:rPr sz="1200" b="0">
                <a:solidFill>
                  <a:srgbClr val="6EE7B7"/>
                </a:solidFill>
              </a:rPr>
              <a:t>期望行为：追问职级后回答</a:t>
            </a:r>
          </a:p>
          <a:p xmlns:a="http://schemas.openxmlformats.org/drawingml/2006/main">
            <a:pPr algn="l">
              <a:defRPr sz="1200" b="0">
                <a:solidFill>
                  <a:srgbClr val="6EE7B7"/>
                </a:solidFill>
              </a:defRPr>
            </a:pPr>
            <a:r>
              <a:rPr sz="1200" b="0">
                <a:solidFill>
                  <a:srgbClr val="6EE7B7"/>
                </a:solidFill>
              </a:rPr>
              <a:t>修复层级：知识库＋工作流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D69195-FC3C-449D-B06B-CA574B4AF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标签应该服务于后续决策，而不是为了建立一套看起来很复杂的分类体系。</a:t>
            </a:r>
          </a:p>
        </p:txBody>
      </p:sp>
    </p:spTree>
    <p:extLst>
      <p:ext uri="{BB962C8B-B14F-4D97-AF65-F5344CB8AC3E}">
        <p14:creationId xmlns:p14="http://schemas.microsoft.com/office/powerpoint/2010/main" val="397461119"/>
      </p:ext>
    </p:extLst>
  </p:cSld>
</p:sld>
</file>

<file path=ppt/slides/slide175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F301C5-6B70-4B73-B3C8-42E4EA082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DATA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585399-A2E1-4BA1-9A70-562A563C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175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671F41-EC95-4A6A-B591-7889F17A4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37C030-2835-43AF-B407-281E94953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420246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88AA4C-8C3E-4399-B2F9-02DF50EED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标注规范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260585-6ACA-48D5-BABC-6520E2A29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1DC100-7285-4039-8A34-32BF7F19C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同一个Bad Case交给不同人员，可能得到不同标签。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5C4696-1133-4D62-B7B7-FE3786CDE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因此，每个标签都应该提供三项内容：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B80E47-EC8B-4EFD-A947-E0694055D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8602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定义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2BD019-D91D-440C-8222-F055DFDB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987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620A01-EC2C-4924-B8FD-66FA21515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051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标签描述什么、不描述什么。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F3A1B5-1D0D-4019-BFA7-F8B6651D3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例如：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E7EE5F-F54B-4327-9C4D-239F3C42A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67125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FAEC74-836F-4220-ABA0-004867261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67125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E0BD6C-5553-400D-93BF-03ADF0164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10000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知识缺失：回答所需的正确资料未进入知识库。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29E151-8584-446A-BC2D-27CD9A93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5292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正例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21F821-3D11-4EFD-B9CB-C9BA6003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7677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C2C11F-3382-4235-8DEC-AA977EC3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720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应该标记为该标签的案例。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45E54E-6433-4C19-96FE-FCC6139D7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530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例如：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149507-887E-4443-90E9-8FE224AA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34025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132B7A-D04C-4492-8F39-7BA67EB66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34025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715F6B-3BAD-4032-B779-8D47973BE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76900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用户询问2026年新制度，但知识库只有2025年版本。</a:t>
            </a:r>
          </a:p>
        </p:txBody>
      </p:sp>
    </p:spTree>
    <p:extLst>
      <p:ext uri="{BB962C8B-B14F-4D97-AF65-F5344CB8AC3E}">
        <p14:creationId xmlns:p14="http://schemas.microsoft.com/office/powerpoint/2010/main" val="1962752024"/>
      </p:ext>
    </p:extLst>
  </p:cSld>
</p:sld>
</file>

<file path=ppt/slides/slide176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ADC580-8EFD-463C-A8D8-558BFE902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DATA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7FC991-C3BD-4786-96C1-6FFC4CFC7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176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81A93C-6C9D-4D1C-8657-DF2A8C4B3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C9F9DD-AEDE-4E79-BB3D-072135FAD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47979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94EFD4-DCD8-4D55-A135-F2AFFBBC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标注规范（续）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FE4AE6-F948-4E29-AE25-65C40D6F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830538-3DD5-4B59-A3EC-1B1EF9FA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2402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反例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72CAA9-9AA0-44AC-9218-13F7D71C8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4787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6A7140-FE83-495C-92C6-1039FB8C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431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看起来相似，但不应该使用该标签的案例。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D0EC91-1725-4005-AC27-6619DF0C1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241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例如：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B4B922-9538-4F10-9F0D-8F2800CA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05125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E245B2-7B17-4B2C-935A-58050311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05125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D87080-2778-4A26-A3A7-27D1F83B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48000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正确资料已经存在并被召回，但模型没有使用。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61FBB6-A1D3-42EC-B832-5F3A8C3E8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81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这更可能是Prompt或生成问题，而不是知识缺失。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196C1D-6B21-4322-A4DF-7355852AE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62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标注规范越清楚，问题统计和后续优化就越可信。</a:t>
            </a:r>
          </a:p>
        </p:txBody>
      </p:sp>
    </p:spTree>
    <p:extLst>
      <p:ext uri="{BB962C8B-B14F-4D97-AF65-F5344CB8AC3E}">
        <p14:creationId xmlns:p14="http://schemas.microsoft.com/office/powerpoint/2010/main" val="312959971"/>
      </p:ext>
    </p:extLst>
  </p:cSld>
</p:sld>
</file>

<file path=ppt/slides/slide177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B4755E-1C9C-408D-8449-752B0461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DATA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215853-BA91-43EC-8D05-75AE7B03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177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C6DC49-A39C-417D-9952-585FD66D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D7A813-E696-48D0-89DA-6C84357F3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53933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1CB968-7A89-46C9-8F88-C6C7C79AD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从问题标注到产品实验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3D1599-905A-4ECB-8216-AABF85F73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945F16-4AF8-4DB0-995B-E0B229AD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完成问题分类后，不应该直接进行笼统的“模型优化”。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3DB65D-7C35-4F83-93B4-952F405F3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不同问题类型对应不同方案。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CF0D35-548A-4347-8C93-B764ABF9B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例如统计发现：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D9A9A2-5893-4FB0-AFAD-BC4C94C82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10572750" cy="1314450"/>
          </a:xfrm>
          <a:prstGeom xmlns:a="http://schemas.openxmlformats.org/drawingml/2006/main" prst="roundRect">
            <a:avLst>
              <a:gd name="adj" fmla="val 7246"/>
            </a:avLst>
          </a:prstGeom>
          <a:solidFill xmlns:a="http://schemas.openxmlformats.org/drawingml/2006/main">
            <a:srgbClr val="031016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E0E752-6F6D-4B0C-B74C-24615A840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90850"/>
            <a:ext cx="100488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E7B7"/>
                </a:solidFill>
              </a:defRPr>
            </a:pPr>
            <a:r>
              <a:rPr sz="1200" b="0">
                <a:solidFill>
                  <a:srgbClr val="6EE7B7"/>
                </a:solidFill>
              </a:rPr>
              <a:t>知识召回错误：35%</a:t>
            </a:r>
          </a:p>
          <a:p xmlns:a="http://schemas.openxmlformats.org/drawingml/2006/main">
            <a:pPr algn="l">
              <a:defRPr sz="1200" b="0">
                <a:solidFill>
                  <a:srgbClr val="6EE7B7"/>
                </a:solidFill>
              </a:defRPr>
            </a:pPr>
            <a:r>
              <a:rPr sz="1200" b="0">
                <a:solidFill>
                  <a:srgbClr val="6EE7B7"/>
                </a:solidFill>
              </a:rPr>
              <a:t>信息不足未追问：25%</a:t>
            </a:r>
          </a:p>
          <a:p xmlns:a="http://schemas.openxmlformats.org/drawingml/2006/main">
            <a:pPr algn="l">
              <a:defRPr sz="1200" b="0">
                <a:solidFill>
                  <a:srgbClr val="6EE7B7"/>
                </a:solidFill>
              </a:defRPr>
            </a:pPr>
            <a:r>
              <a:rPr sz="1200" b="0">
                <a:solidFill>
                  <a:srgbClr val="6EE7B7"/>
                </a:solidFill>
              </a:rPr>
              <a:t>回答格式错误：15%</a:t>
            </a:r>
          </a:p>
          <a:p xmlns:a="http://schemas.openxmlformats.org/drawingml/2006/main">
            <a:pPr algn="l">
              <a:defRPr sz="1200" b="0">
                <a:solidFill>
                  <a:srgbClr val="6EE7B7"/>
                </a:solidFill>
              </a:defRPr>
            </a:pPr>
            <a:r>
              <a:rPr sz="1200" b="0">
                <a:solidFill>
                  <a:srgbClr val="6EE7B7"/>
                </a:solidFill>
              </a:rPr>
              <a:t>工具调用失败：10%</a:t>
            </a:r>
          </a:p>
          <a:p xmlns:a="http://schemas.openxmlformats.org/drawingml/2006/main">
            <a:pPr algn="l">
              <a:defRPr sz="1200" b="0">
                <a:solidFill>
                  <a:srgbClr val="6EE7B7"/>
                </a:solidFill>
              </a:defRPr>
            </a:pPr>
            <a:r>
              <a:rPr sz="1200" b="0">
                <a:solidFill>
                  <a:srgbClr val="6EE7B7"/>
                </a:solidFill>
              </a:rPr>
              <a:t>其他问题：15%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2D8455-22C4-4C82-B682-74B91A3D1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672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团队可以分别设计实验：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A1FFB2-A688-442D-AD20-96F200748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86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C43800-2FCE-4C8F-B7F9-B872A5AB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767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调整检索和重排序；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2920F9-D1B2-43B3-9A66-6D987E3DF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863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973EE3-8DDA-492C-AB31-20969B937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768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增加信息补全节点；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B0B0D2-137D-4546-BC61-8C2B4E298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864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96A601-0AE5-4A7E-B175-C4F5AB92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4768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修改输出格式约束；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76A5E8-C109-4FCD-879A-FD58B0A3E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864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156870-9627-41CD-8800-A611424F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8769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增加工具超时与重试；</a:t>
            </a:r>
          </a:p>
        </p:txBody>
      </p:sp>
    </p:spTree>
    <p:extLst>
      <p:ext uri="{BB962C8B-B14F-4D97-AF65-F5344CB8AC3E}">
        <p14:creationId xmlns:p14="http://schemas.microsoft.com/office/powerpoint/2010/main" val="1187100480"/>
      </p:ext>
    </p:extLst>
  </p:cSld>
</p:sld>
</file>

<file path=ppt/slides/slide178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C9D177-B1DE-42AF-B646-9515F743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DATA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5A56C3-F19D-4BFE-B1EB-3C765D87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178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347BC7-3BD2-4EF7-B712-16326A22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7DD564-0683-49E6-A777-A05D876D0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59887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304624-7FD5-49D6-BB81-1ABADED6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从问题标注到产品实验（续）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127B0C-04EC-41D7-8B41-7C253442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5338B8-A198-406C-BE61-A285FAAE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1BB50E-41BE-4BBC-977C-5A02506BC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430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明确产品边界。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82742E-038D-475A-9FF7-3D787FD55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每一次修改都应该对应具体假设。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E43738-1497-40EF-BED2-88B46535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955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例如：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56508B-149A-4217-89F9-7433FAF02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76550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D3AF25-5442-4196-9BCB-FA21E4B0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76550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6DAE6E-163D-4EF6-A8E0-A434CA8EB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19425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如果在回答住宿标准前增加职级确认节点，那么“错误使用其他职级标准”的Bad Case应该明显减少。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31ADFE-4615-4DED-A312-42F4965E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528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修改后，通过评测和线上数据验证：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CC6101-A5D7-428D-AD12-00053748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719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BF8A39-51E7-4ED3-8662-AD8F654E1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624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该类问题是否减少；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7B7DCD-61AE-4005-9AB5-94DCFE79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719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603D09-C22A-4DD8-A32D-35692D5DF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624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是否引入新的体验问题；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56EF4E-B0AC-4F95-9E59-8A6430817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720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9C034D-6221-423A-9DDA-7A6EAD97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625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用户完成任务是否变慢；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AE8840-7C8A-4649-A5E5-5284488D7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720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31C479-FCE7-49B0-8A30-93EEEBF4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1625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是否出现更多中途退出。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55DFAA-09B1-4C52-AE60-81C5369C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340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产品实验不能只看被修复指标，也要观察副作用。</a:t>
            </a:r>
          </a:p>
        </p:txBody>
      </p:sp>
    </p:spTree>
    <p:extLst>
      <p:ext uri="{BB962C8B-B14F-4D97-AF65-F5344CB8AC3E}">
        <p14:creationId xmlns:p14="http://schemas.microsoft.com/office/powerpoint/2010/main" val="872315854"/>
      </p:ext>
    </p:extLst>
  </p:cSld>
</p:sld>
</file>

<file path=ppt/slides/slide179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CD21A6-1990-4FC4-8162-83250B4C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DATA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1E7029-55A2-4B9E-B4A7-10565F7F7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179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F6B249-8631-4AEC-8B95-B1DE7B52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9C109E-3F96-496F-8EA7-A84D26E9F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65842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A60F33-AAFA-4946-9812-4EE65525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数据飞轮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428F14-734E-4020-AB82-F4515E92F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EEA332-CBF0-4B5E-A65F-72AE79D25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当反馈闭环持续运行，就会形成数据飞轮：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3E7653-82F0-416A-BDD6-EAA706B60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33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937EB0-4C27-4B5F-91A5-0F9647631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240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更多用户使用产品；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B5AC13-4586-4CEF-9F9E-32E90AA25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F8221A-F4EE-431C-90E7-EBAB07648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241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产生更多真实问题和行为数据；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B7ABF7-8CE9-4E13-A055-27F2B54E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7ACC92-8477-4854-AF4E-888084D5B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241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团队发现新的失败类型；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1495CB-14A7-4940-A225-4AC56F97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0AF795-537F-4A89-8B97-A4F0BF258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242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评测集和产品能力得到改进；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7B8A00-7155-4E2C-9041-22EB70B6A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8034B4-BFD4-4007-8E67-1556D2D4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242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产品效果提升；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A55488-94F4-4E0E-9239-C15574C2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CF0DC4-B216-4115-968A-F2EFDB540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243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更多用户愿意继续使用；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46A686-AA7F-4BD2-A985-FED3FF51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DB97F5-7EC3-4F2C-A862-F654A0F2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243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产生更高质量的反馈数据。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01DA0F-4126-4E09-970B-3C85F0CFD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958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但数据飞轮不会自动发生。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A83F23-B966-419C-A415-186A3422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768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如果团队只是保存大量日志，却没有：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B01AF0-AD53-4608-8A3F-AF0E32AA8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959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58EABD-C6F9-4975-A38E-1DA1C618E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6864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清洗；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12F7F3-2E52-4084-847C-54FA70E5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960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50141B-1FF2-4A4F-A7F1-B499B8021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0864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标注；</a:t>
            </a:r>
          </a:p>
        </p:txBody>
      </p:sp>
    </p:spTree>
    <p:extLst>
      <p:ext uri="{BB962C8B-B14F-4D97-AF65-F5344CB8AC3E}">
        <p14:creationId xmlns:p14="http://schemas.microsoft.com/office/powerpoint/2010/main" val="160400633"/>
      </p:ext>
    </p:extLst>
  </p:cSld>
</p:sld>
</file>

<file path=ppt/slides/slide180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64C691-59BE-43AC-B38D-23701E52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DATA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2A54B7-965E-4E08-B29C-A3F01EC04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180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2C2AAF-00C7-4549-90B1-32FC60AF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88688A-C363-476E-91B1-D95C25DF1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717967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B3122E-47F5-42EE-9737-B7A2B269D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数据飞轮（续）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E2E456-9CE2-4609-A227-031D79F35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F8BA1F-AFCE-4F2A-9CFD-86FC19A41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2A7B1A-ED5A-45DC-8ECF-F1BBBF159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430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归因；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B1E070-75F8-439C-9633-D771DBDD5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DE727D-FBCD-4817-A3D6-8D8026821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431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实验；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4833B6-1FF1-437A-8FE1-67F5374E3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EAA321-C438-4DC3-9FB0-1F7CD600D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431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回归验证；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57CBF6-9607-4199-965C-003DEDAA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这些数据只是一堆库存，不会自然变成产品能力。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3FC056-1FDF-40BB-8750-83C502702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真正有价值的不是“拥有多少数据”，而是：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163C8B-8547-4FCE-AEE4-8FA86641D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76650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345805-C701-4F37-852B-7A4A1726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76650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7749D4-67F2-455F-AF97-21881318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19525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能否把数据稳定地转化为可验证的产品改进。</a:t>
            </a:r>
          </a:p>
        </p:txBody>
      </p:sp>
    </p:spTree>
    <p:extLst>
      <p:ext uri="{BB962C8B-B14F-4D97-AF65-F5344CB8AC3E}">
        <p14:creationId xmlns:p14="http://schemas.microsoft.com/office/powerpoint/2010/main" val="1045980679"/>
      </p:ext>
    </p:extLst>
  </p:cSld>
</p:sld>
</file>

<file path=ppt/slides/slide181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653C5D-E343-4159-A530-A3726836F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DATA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14BB29-E7D9-4E53-B1A4-47449740D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181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63B7B6-0017-43F7-8057-8FF8D90A6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5B7A2F-C5F2-4D6D-A36E-04BA2A76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77751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76D6EB-0F8A-47D8-A55B-B9141185D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数据隐私与合规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B1980D-8770-4FE0-BC3D-EA126FF2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68A817-C6B5-426E-889C-79745BE18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收集反馈数据时，需要遵守几个基本原则。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0052CA-7B7E-4DCB-B002-470F63335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0502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用户知情与授权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2F8CD4-F9EC-429B-AA2A-69638529D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2887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8D94C9-F0AC-471B-842D-FA395D836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241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用户应该知道哪些数据会被收集、用于什么目的。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AA29FF-474C-439E-87EC-8BAF16F8D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最小必要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66CA01-A192-4362-B0BE-95B574B30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B4809E-E380-4ADF-BEEA-3E75136E0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只收集完成评测和优化所必需的数据。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F6887F-3C2B-45A2-9AAC-ED12A0F49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不应该因为“以后可能有用”就无限保存。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E9279D-F52E-4FF5-B9F5-1D0DD36F8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0527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数据脱敏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F3CE60-29DD-4A96-BE90-A74E38843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2912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633934-AE7A-4D59-AC0F-FE41697CD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243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处理：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08D9AA-6EC1-4B89-A657-11682D67A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434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D037B9-E0B7-4704-AEDE-F8FC46E6A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339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姓名；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EBEEB8-8EAA-45D3-9703-EB70D0C90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435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1B3F4B-42F6-4226-ADB2-F16641502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3400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手机号；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73457A-A747-4E6F-B916-99E738A42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435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C60168-221E-4E11-B30A-6158AF6F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734050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身份证号；</a:t>
            </a:r>
          </a:p>
        </p:txBody>
      </p:sp>
    </p:spTree>
    <p:extLst>
      <p:ext uri="{BB962C8B-B14F-4D97-AF65-F5344CB8AC3E}">
        <p14:creationId xmlns:p14="http://schemas.microsoft.com/office/powerpoint/2010/main" val="111724130"/>
      </p:ext>
    </p:extLst>
  </p:cSld>
</p:sld>
</file>

<file path=ppt/slides/slide182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F3D22A-8E18-4EDA-BCA4-EE7C0CFA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DATA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B0A426-7732-4EA2-9E28-FA75F482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182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C33880-BD3B-4DE8-B528-E0A1AD3C6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FA35BD-D453-47E7-B1F4-67C85216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37056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7ECAF7-83E6-474C-91F6-26E83C9E6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数据隐私与合规（续）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B1920D-D3F9-49B2-A19A-FC97AF3D9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0A52B3-F414-40C6-86AE-8E65B7932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38AF99-C01C-4173-B5CC-4A39CC2CC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430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地址；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14CCDC-1164-4D36-912B-36037993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5F7A28-5A10-489F-8E35-83ADB0734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431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银行卡；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BDE4A3-08D6-4366-8009-0B8C8DFCB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9D1D42-E353-4C7F-8F7B-5D7D18A14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431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医疗和财务等敏感信息。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08BC39-0EFB-4B55-8E0B-012FB7AB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2417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权限控制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77B5CC-E035-48F6-827B-EF1581A9A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4802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038B40-4F79-4336-9FDD-BFD8CE2FD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432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不同团队成员只能访问工作所需范围内的数据。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681CE9-E2B5-4C29-9DCF-FCAA37AE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38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可追踪与可删除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D45932-DA20-4B69-ACBF-8AD90B809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5765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38C1B8-6FAA-43A5-BA38-8F32AD74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529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记录数据来源、用途和处理过程，并支持按规则删除。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1D35E8-73D6-47FA-B84A-EDF403A4E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339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AI产品的数据闭环不能以牺牲用户隐私为代价。</a:t>
            </a:r>
          </a:p>
        </p:txBody>
      </p:sp>
    </p:spTree>
    <p:extLst>
      <p:ext uri="{BB962C8B-B14F-4D97-AF65-F5344CB8AC3E}">
        <p14:creationId xmlns:p14="http://schemas.microsoft.com/office/powerpoint/2010/main" val="96582522"/>
      </p:ext>
    </p:extLst>
  </p:cSld>
</p:sld>
</file>

<file path=ppt/slides/slide18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733EC1-31FC-4DAE-B02A-6D04A616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DATA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CAD811-D0C0-4B4B-B1C9-455ED8C1E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183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B68EE9-4E1E-4CB7-A748-616A8D069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A242A9-AF0F-4B7D-8ABE-8EAAA59AF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12EC3E-B69C-45EA-ACE7-7682E739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第八部分总结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A87B07-56AE-41C5-BAD0-7E65CA5EE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628A53-273C-4040-961C-320FBBC66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数据反馈闭环包括：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6A1F7A-4F45-4573-8BFC-57D85FA78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33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9BA89D-8652-4CF3-91E1-985B2D4EF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240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采集业务数据、对话记录和用户反馈。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463015-8D18-428C-9528-B5AE17B1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274EC7-E6DE-419A-BC86-8348959F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241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结合显性反馈与隐性行为理解产品效果。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8EA575-55AE-4164-AF62-F5C5D1279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4AC098-0FE0-4341-9773-52C11BBC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241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对低分会话进行脱敏、去重和人工复核。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C07FA2-2074-42A9-92F7-A73036CF6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EC5AC0-EDCF-4CBB-8E12-327936F1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242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对Bad Case进行清洗、标注和归因。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13746C-5AED-4B09-87B0-0CFFD482B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C4DE98-D23E-4DBF-A4DF-83E87DB65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242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根据具体失败类型设计产品实验。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0CA1CA-4962-4E92-AE9D-C4B79ADFA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7BA995-5B2A-473B-92CD-271F2FB23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2432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通过评测和线上数据验证修改结果。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3C0922-FC98-4440-8F7A-0DCC24D3D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657"/>
                </a:solidFill>
              </a:defRPr>
            </a:pPr>
            <a:r>
              <a:rPr sz="14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A51F7D-554B-42C3-AB28-0649B40D4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24375"/>
            <a:ext cx="984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在隐私和合规要求下持续运行。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BA841D-8003-4342-A4CD-B00BB7CAC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958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2E9"/>
                </a:solidFill>
              </a:defRPr>
            </a:pPr>
            <a:r>
              <a:rPr sz="1350" b="0">
                <a:solidFill>
                  <a:srgbClr val="F5F2E9"/>
                </a:solidFill>
              </a:rPr>
              <a:t>核心不是收集更多数据，而是：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C9ECE0-A3E1-4211-85BF-157D65AE0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76850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CC1181-A7A6-4B7F-995B-3050B8E0B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76850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A8BC17-DAB6-433A-9645-8FAEE1C5B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19725"/>
            <a:ext cx="998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2E9"/>
                </a:solidFill>
              </a:defRPr>
            </a:pPr>
            <a:r>
              <a:rPr sz="1500" b="1">
                <a:solidFill>
                  <a:srgbClr val="F5F2E9"/>
                </a:solidFill>
              </a:rPr>
              <a:t>把真实使用反馈持续转化为可以验证的产品改进。</a:t>
            </a:r>
          </a:p>
        </p:txBody>
      </p:sp>
    </p:spTree>
    <p:extLst>
      <p:ext uri="{BB962C8B-B14F-4D97-AF65-F5344CB8AC3E}">
        <p14:creationId xmlns:p14="http://schemas.microsoft.com/office/powerpoint/2010/main" val="11975619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2026-08-16T05:12:24.2300000Z</dcterms:created>
  <dcterms:modified xsi:type="dcterms:W3CDTF">2026-08-16T05:12:24.2310000Z</dcterms:modified>
</coreProperties>
</file>