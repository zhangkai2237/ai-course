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1" r:id="rId32"/>
    <p:sldId id="292" r:id="rId33"/>
    <p:sldId id="293" r:id="rId34"/>
    <p:sldId id="295" r:id="rId35"/>
    <p:sldId id="296" r:id="rId36"/>
    <p:sldId id="297" r:id="rId37"/>
    <p:sldId id="298" r:id="rId38"/>
    <p:sldId id="299" r:id="rId39"/>
    <p:sldId id="300" r:id="rId40"/>
    <p:sldId id="439" r:id="rId41"/>
    <p:sldId id="301" r:id="rId42"/>
    <p:sldId id="302" r:id="rId43"/>
    <p:sldId id="303" r:id="rId44"/>
    <p:sldId id="304" r:id="rId45"/>
    <p:sldId id="305" r:id="rId46"/>
    <p:sldId id="440" r:id="rId47"/>
    <p:sldId id="306" r:id="rId48"/>
    <p:sldId id="308" r:id="rId49"/>
    <p:sldId id="309" r:id="rId50"/>
    <p:sldId id="310" r:id="rId51"/>
    <p:sldId id="311" r:id="rId52"/>
    <p:sldId id="313" r:id="rId53"/>
    <p:sldId id="314" r:id="rId54"/>
    <p:sldId id="315" r:id="rId55"/>
    <p:sldId id="316" r:id="rId56"/>
    <p:sldId id="317" r:id="rId57"/>
    <p:sldId id="318" r:id="rId58"/>
    <p:sldId id="319" r:id="rId59"/>
    <p:sldId id="320" r:id="rId60"/>
    <p:sldId id="321" r:id="rId61"/>
    <p:sldId id="322" r:id="rId62"/>
    <p:sldId id="323" r:id="rId63"/>
    <p:sldId id="324" r:id="rId64"/>
    <p:sldId id="325" r:id="rId65"/>
    <p:sldId id="326" r:id="rId66"/>
    <p:sldId id="327" r:id="rId67"/>
    <p:sldId id="328" r:id="rId68"/>
    <p:sldId id="329" r:id="rId69"/>
    <p:sldId id="330" r:id="rId70"/>
    <p:sldId id="331" r:id="rId71"/>
    <p:sldId id="332" r:id="rId72"/>
    <p:sldId id="333" r:id="rId73"/>
    <p:sldId id="334" r:id="rId74"/>
    <p:sldId id="335" r:id="rId75"/>
    <p:sldId id="337" r:id="rId76"/>
    <p:sldId id="338" r:id="rId77"/>
    <p:sldId id="339" r:id="rId78"/>
    <p:sldId id="340" r:id="rId79"/>
    <p:sldId id="341" r:id="rId80"/>
    <p:sldId id="342" r:id="rId81"/>
    <p:sldId id="343" r:id="rId82"/>
    <p:sldId id="344" r:id="rId83"/>
    <p:sldId id="345" r:id="rId84"/>
    <p:sldId id="346" r:id="rId85"/>
    <p:sldId id="347" r:id="rId86"/>
    <p:sldId id="348" r:id="rId87"/>
    <p:sldId id="349" r:id="rId88"/>
    <p:sldId id="350" r:id="rId89"/>
    <p:sldId id="351" r:id="rId90"/>
    <p:sldId id="352" r:id="rId91"/>
    <p:sldId id="353" r:id="rId92"/>
    <p:sldId id="354" r:id="rId93"/>
    <p:sldId id="355" r:id="rId94"/>
    <p:sldId id="356" r:id="rId95"/>
    <p:sldId id="357" r:id="rId96"/>
    <p:sldId id="358" r:id="rId97"/>
    <p:sldId id="359" r:id="rId98"/>
    <p:sldId id="360" r:id="rId99"/>
    <p:sldId id="361" r:id="rId100"/>
    <p:sldId id="362" r:id="rId101"/>
    <p:sldId id="363" r:id="rId102"/>
    <p:sldId id="364" r:id="rId103"/>
    <p:sldId id="365" r:id="rId104"/>
    <p:sldId id="366" r:id="rId105"/>
    <p:sldId id="367" r:id="rId106"/>
    <p:sldId id="368" r:id="rId107"/>
    <p:sldId id="369" r:id="rId108"/>
    <p:sldId id="370" r:id="rId109"/>
    <p:sldId id="371" r:id="rId110"/>
    <p:sldId id="372" r:id="rId111"/>
    <p:sldId id="373" r:id="rId112"/>
    <p:sldId id="374" r:id="rId113"/>
    <p:sldId id="375" r:id="rId114"/>
    <p:sldId id="376" r:id="rId115"/>
    <p:sldId id="377" r:id="rId116"/>
    <p:sldId id="378" r:id="rId117"/>
    <p:sldId id="379" r:id="rId118"/>
    <p:sldId id="380" r:id="rId119"/>
    <p:sldId id="381" r:id="rId120"/>
    <p:sldId id="382" r:id="rId121"/>
    <p:sldId id="383" r:id="rId122"/>
    <p:sldId id="384" r:id="rId123"/>
    <p:sldId id="385" r:id="rId124"/>
    <p:sldId id="386" r:id="rId125"/>
    <p:sldId id="387" r:id="rId126"/>
    <p:sldId id="388" r:id="rId127"/>
    <p:sldId id="389" r:id="rId128"/>
    <p:sldId id="390" r:id="rId129"/>
    <p:sldId id="391" r:id="rId130"/>
    <p:sldId id="392" r:id="rId131"/>
    <p:sldId id="393" r:id="rId132"/>
    <p:sldId id="394" r:id="rId133"/>
    <p:sldId id="395" r:id="rId134"/>
    <p:sldId id="396" r:id="rId135"/>
    <p:sldId id="397" r:id="rId136"/>
    <p:sldId id="398" r:id="rId137"/>
    <p:sldId id="399" r:id="rId138"/>
    <p:sldId id="400" r:id="rId139"/>
    <p:sldId id="401" r:id="rId140"/>
    <p:sldId id="402" r:id="rId141"/>
    <p:sldId id="403" r:id="rId142"/>
    <p:sldId id="404" r:id="rId143"/>
    <p:sldId id="405" r:id="rId144"/>
    <p:sldId id="406" r:id="rId145"/>
    <p:sldId id="407" r:id="rId146"/>
    <p:sldId id="408" r:id="rId147"/>
    <p:sldId id="409" r:id="rId148"/>
    <p:sldId id="410" r:id="rId149"/>
    <p:sldId id="411" r:id="rId150"/>
    <p:sldId id="412" r:id="rId151"/>
    <p:sldId id="413" r:id="rId152"/>
    <p:sldId id="414" r:id="rId153"/>
    <p:sldId id="415" r:id="rId154"/>
    <p:sldId id="416" r:id="rId155"/>
    <p:sldId id="417" r:id="rId156"/>
    <p:sldId id="418" r:id="rId157"/>
    <p:sldId id="419" r:id="rId158"/>
    <p:sldId id="420" r:id="rId159"/>
    <p:sldId id="421" r:id="rId160"/>
    <p:sldId id="422" r:id="rId161"/>
    <p:sldId id="423" r:id="rId162"/>
    <p:sldId id="424" r:id="rId163"/>
    <p:sldId id="425" r:id="rId164"/>
    <p:sldId id="426" r:id="rId165"/>
    <p:sldId id="427" r:id="rId166"/>
    <p:sldId id="428" r:id="rId167"/>
    <p:sldId id="429" r:id="rId168"/>
    <p:sldId id="430" r:id="rId169"/>
    <p:sldId id="431" r:id="rId170"/>
    <p:sldId id="432" r:id="rId171"/>
    <p:sldId id="433" r:id="rId172"/>
    <p:sldId id="434" r:id="rId173"/>
    <p:sldId id="435" r:id="rId174"/>
    <p:sldId id="436" r:id="rId175"/>
    <p:sldId id="437" r:id="rId176"/>
    <p:sldId id="438" r:id="rId17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15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47"/>
    <p:restoredTop sz="94588"/>
  </p:normalViewPr>
  <p:slideViewPr>
    <p:cSldViewPr snapToGrid="0">
      <p:cViewPr varScale="1">
        <p:scale>
          <a:sx n="95" d="100"/>
          <a:sy n="95" d="100"/>
        </p:scale>
        <p:origin x="200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theme" Target="theme/theme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tableStyles" Target="tableStyles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viewProps" Target="viewProp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对应章节：AI产品评测与数据反馈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对应章节：为什么AI产品不能只用传统软件的测试方法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对应章节：第一部分、为什么AI产品不能只用传统软件的测试方法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对应章节：同一个意思，可以有很多种问法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对应章节：AI的回答不是固定答案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对应章节：AI的回答不是固定答案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对应章节：AI可能“看起来会说”，但实际上说错了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对应章节：AI产品的错误通常不是一个简单的程序Bug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对应章节：AI产品的错误通常不是一个简单的程序Bug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对应章节：为什么不能等上线后再看用户反馈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对应章节：为什么不能等上线后再看用户反馈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对应章节：在测试AI之前，先定义“什么叫好”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对应章节：第二部分、在测试AI之前，先定义“什么叫好”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对应章节：判断AI回答，通常看哪些维度｜正确性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对应章节：判断AI回答，通常看哪些维度｜相关性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对应章节：判断AI回答，通常看哪些维度｜完整性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对应章节：判断AI回答，通常看哪些维度｜有据可依，也叫忠实性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对应章节：判断AI回答，通常看哪些维度｜有据可依，也叫忠实性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对应章节：判断AI回答，通常看哪些维度｜安全性与合规性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对应章节：判断AI回答，通常看哪些维度｜表达质量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对应章节：判断AI回答，通常看哪些维度｜表达质量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对应章节：不是每个产品都使用完全相同的标准｜企业知识助手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对应章节：不是每个产品都使用完全相同的标准｜AI写作工具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对应章节：不是每个产品都使用完全相同的标准｜AI客服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对应章节：不是每个产品都使用完全相同的标准｜AI编程助手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对应章节：三、指标不能只有名字，还要有判断标准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对应章节：三、指标不能只有名字，还要有判断标准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对应章节：四、有些指标必须设置“一票否决”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对应章节：有些指标必须设置“一票否决”｜基础指标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对应章节：有些指标必须设置“一票否决”｜门槛指标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对应章节：产品指标、效果指标和系统指标不要混在一起｜第一层：业务指标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对应章节：产品指标、效果指标和系统指标不要混在一起｜第二层：AI效果指标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对应章节：产品指标、效果指标和系统指标不要混在一起｜第三层：系统指标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对应章节：评测集的设计与准备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对应章节：第三部分：评测集的设计与准备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对应章节：评测集的基本定义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对应章节：评测集的五类样本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对应章节：评测集的五类样本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对应章节：评测集的五类样本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59E7-E419-2CA9-D999-544385BF6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70A03-B6E7-A45E-7CFE-64C688B08A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429-FF3E-8DE9-6723-94DC763AC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对应章节：评测集的五类样本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24170-D96C-9B0C-AFFF-C27973EECE3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5750851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对应章节：评测集的五类样本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对应章节：评测集的五类样本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对应章节：样本不能平均分配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对应章节：评测样本的四类来源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对应章节：评测样本的四类来源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C6A20-8528-8A13-9C11-079508217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B0B22-3CC9-6455-F5C6-5A080D1DB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2B990-64DF-38CB-AA4F-23E9E84D39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对应章节：评测样本的四类来源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7CEE7D-6302-D02D-C40C-6386DED88BA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098459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对应章节：评测样本的四类来源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对应章节：参考答案与评分点的区别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对应章节：参考答案与评分点的区别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对应章节：评测集需要版本管理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对应章节：评测集需要版本管理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对应章节：AI产品的评测方法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对应章节：第四部分：AI产品的评测方法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对应章节：精确匹配与规则评测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对应章节：精确匹配与规则评测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对应章节：精确匹配与规则评测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对应章节：精确匹配与规则评测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对应章节：语义相似度评测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对应章节：语义相似度评测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对应章节：语义相似度评测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对应章节：语义相似度评测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对应章节：LLM-as-Judge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对应章节：LLM-as-Judge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对应章节：LLM-as-Judge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对应章节：LLM-as-Judge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对应章节：Judge Prompt的设计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对应章节：Judge Prompt的设计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对应章节：Judge Prompt的设计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对应章节：人工评审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对应章节：人工评审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对应章节：人工评审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对应章节：评测方法的组合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对应章节：评测方法的组合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对应章节：评测方法的选择原则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对应章节：自动化评测与评测报告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对应章节：第五部分：自动化评测与评测报告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对应章节：自动化评测的基本定义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对应章节：自动化评测的基本定义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对应章节：自动评测系统的基本结构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对应章节：自动评测系统的基本结构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对应章节：自动评测系统的基本结构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对应章节：自动化评测的运行流程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对应章节：自动化评测的运行流程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对应章节：自动化评测的运行流程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对应章节：自动化评测的运行流程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对应章节：自动测试Agent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对应章节：自动测试Agent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对应章节：评测报告的结构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对应章节：评测报告的结构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对应章节：评测报告的结构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对应章节：评测报告的结构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对应章节：平均分的局限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对应章节：平均分的局限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对应章节：上线门槛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对应章节：自动化评测的局限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对应章节：自动化评测的局限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对应章节：第五部分总结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对应章节：Bad Case分析与问题归因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对应章节：第六部分：Bad Case分析与问题归因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对应章节：Bad Case的基本定义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对应章节：Bad Case的基本定义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对应章节：Bad Case的基本定义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对应章节：Bad Case分析的基本流程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对应章节：Bad Case分析的基本流程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对应章节：Bad Case分析的基本流程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对应章节：Bad Case的六类问题归因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对应章节：数据问题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对应章节：数据问题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对应章节：Prompt问题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对应章节：Prompt问题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对应章节：知识问题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对应章节：知识问题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对应章节：流程问题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对应章节：流程问题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对应章节：流程问题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对应章节：工具问题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对应章节：工具问题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对应章节：产品边界问题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对应章节：产品边界问题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对应章节：一个完整的归因示例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对应章节：一个完整的归因示例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对应章节：一个完整的归因示例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对应章节：Bad Case问题池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对应章节：Bad Case的处理优先级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对应章节：Bad Case的处理优先级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对应章节：第六部分总结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对应章节：回归测试与版本管理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对应章节：第七部分：回归测试与版本管理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对应章节：回归测试的基本定义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对应章节：回归测试的基本定义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对应章节：修复验证与防退化验证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对应章节：修复验证与防退化验证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对应章节：修复验证与防退化验证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对应章节：回归评测集的组成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对应章节：回归评测集的组成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对应章节：AI产品版本的组成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对应章节：AI产品版本的组成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对应章节：评测集也需要版本管理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对应章节：评测集也需要版本管理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对应章节：Judge也需要版本管理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对应章节：Judge也需要版本管理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对应章节：AI输出的不确定性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对应章节：版本对比报告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对应章节：发布门槛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对应章节：灰度发布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对应章节：回滚机制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对应章节：持续评测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对应章节：第七部分总结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对应章节：数据反馈与产品迭代闭环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对应章节：第八部分：数据反馈与产品迭代闭环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对应章节：数据反馈闭环的基本定义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对应章节：AI产品数据的四类来源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对应章节：AI产品数据的四类来源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对应章节：AI产品数据的四类来源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对应章节：AI产品数据的四类来源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对应章节：显性反馈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对应章节：显性反馈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对应章节：隐性反馈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对应章节：隐性反馈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对应章节：隐性反馈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对应章节：不同产品的反馈设计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对应章节：不同产品的反馈设计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对应章节：不同产品的反馈设计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对应章节：低分会话进入Bad Case问题池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对应章节：低分会话进入Bad Case问题池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对应章节：数据清洗与标注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对应章节：数据清洗与标注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对应章节：标注规范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对应章节：标注规范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对应章节：从问题标注到产品实验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对应章节：从问题标注到产品实验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对应章节：数据飞轮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对应章节：数据飞轮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对应章节：数据隐私与合规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对应章节：数据隐私与合规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/Users/keivn/Project/AI-Course/课程生产/第一阶段/第09课_AI产品测试、指标与Bad Case_重做工作区/第9课 - AI产品评测与数据反馈.md</a:t>
            </a:r>
          </a:p>
          <a:p>
            <a:r>
              <a:t>- 对应章节：第八部分总结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1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1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1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1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1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1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1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1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1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1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1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1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1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1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1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437678C1-5662-4D0C-8713-6A4C6902DA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89E114E-6288-4105-AE02-5808BD066A35}"/>
              </a:ext>
            </a:extLst>
          </p:cNvPr>
          <p:cNvSpPr>
            <a:spLocks noGrp="1"/>
          </p:cNvSpPr>
          <p:nvPr/>
        </p:nvSpPr>
        <p:spPr>
          <a:xfrm>
            <a:off x="781050" y="6667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36D6C2"/>
                </a:solidFill>
              </a:defRPr>
            </a:pPr>
            <a:r>
              <a:rPr sz="1200" b="1">
                <a:solidFill>
                  <a:srgbClr val="36D6C2"/>
                </a:solidFill>
              </a:rPr>
              <a:t>AI PRODUCT MANAGER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D725ED-A730-4E5E-8C1C-943882593520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10001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5F2E9"/>
                </a:solidFill>
              </a:defRPr>
            </a:pPr>
            <a:r>
              <a:rPr sz="4350" b="1">
                <a:solidFill>
                  <a:srgbClr val="F5F2E9"/>
                </a:solidFill>
              </a:rPr>
              <a:t>AI产品评测与数据反馈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4E10937-6C55-46B7-8642-094821EE5374}"/>
              </a:ext>
            </a:extLst>
          </p:cNvPr>
          <p:cNvSpPr>
            <a:spLocks noGrp="1"/>
          </p:cNvSpPr>
          <p:nvPr/>
        </p:nvSpPr>
        <p:spPr>
          <a:xfrm>
            <a:off x="781050" y="3390900"/>
            <a:ext cx="8382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A7B5BC"/>
                </a:solidFill>
              </a:defRPr>
            </a:pPr>
            <a:r>
              <a:rPr sz="1800" b="0" dirty="0">
                <a:solidFill>
                  <a:srgbClr val="A7B5BC"/>
                </a:solidFill>
              </a:rPr>
              <a:t>第09课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032D02E-5BE8-427E-AF87-85354A5AA301}"/>
              </a:ext>
            </a:extLst>
          </p:cNvPr>
          <p:cNvSpPr>
            <a:spLocks noGrp="1"/>
          </p:cNvSpPr>
          <p:nvPr/>
        </p:nvSpPr>
        <p:spPr>
          <a:xfrm>
            <a:off x="781050" y="4514850"/>
            <a:ext cx="2571750" cy="57150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38BAC44-8FB9-435B-98C1-6F1D74C9D827}"/>
              </a:ext>
            </a:extLst>
          </p:cNvPr>
          <p:cNvSpPr>
            <a:spLocks noGrp="1"/>
          </p:cNvSpPr>
          <p:nvPr/>
        </p:nvSpPr>
        <p:spPr>
          <a:xfrm>
            <a:off x="781050" y="4819650"/>
            <a:ext cx="666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A7B5BC"/>
                </a:solidFill>
              </a:defRPr>
            </a:pPr>
            <a:r>
              <a:rPr sz="1125" b="1">
                <a:solidFill>
                  <a:srgbClr val="A7B5BC"/>
                </a:solidFill>
              </a:rPr>
              <a:t>EVAL · BAD CASE · REGRESSION · DATA LOOP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B0DB593-66CC-47E2-8B07-5BC5F07EA50B}"/>
              </a:ext>
            </a:extLst>
          </p:cNvPr>
          <p:cNvSpPr>
            <a:spLocks noGrp="1"/>
          </p:cNvSpPr>
          <p:nvPr/>
        </p:nvSpPr>
        <p:spPr>
          <a:xfrm>
            <a:off x="9525000" y="4476750"/>
            <a:ext cx="1524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6150" b="1">
                <a:solidFill>
                  <a:srgbClr val="26404A"/>
                </a:solidFill>
              </a:defRPr>
            </a:pPr>
            <a:r>
              <a:rPr sz="6150" b="1">
                <a:solidFill>
                  <a:srgbClr val="26404A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72469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5C19299E-B232-462B-9118-A399298E9A22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2476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850" b="1">
                <a:solidFill>
                  <a:srgbClr val="36D6C2"/>
                </a:solidFill>
              </a:defRPr>
            </a:pPr>
            <a:r>
              <a:rPr sz="88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675F3B6-6611-4B30-BA93-35EC01FF75FB}"/>
              </a:ext>
            </a:extLst>
          </p:cNvPr>
          <p:cNvSpPr>
            <a:spLocks noGrp="1"/>
          </p:cNvSpPr>
          <p:nvPr/>
        </p:nvSpPr>
        <p:spPr>
          <a:xfrm>
            <a:off x="704850" y="2857500"/>
            <a:ext cx="952500" cy="476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73691A-4408-4A98-B9D1-EB7FF0F2F7E6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1047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为什么AI产品不能只用传统软件的测试方法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2627296-142B-4C3A-829D-E5AC41E047E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5D9116D-C979-4839-A369-C4A6C5448D3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002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5441F8-B5E7-4500-B19B-5C4DE51BFAC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3A27A60-496C-40AB-84FC-3DD40877E32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5240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73124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369D4B6F-A5A3-40E5-B492-E2E6406473F6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CA5C8E9-BF18-46EF-AEB2-3F44766F2D22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003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1E37B1-DB6F-49F1-85A0-A3BDEE317CF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338BA25-A88C-47B5-8F1F-46B26AD5E54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7863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400D31B-BB21-4443-9ADC-A6C9FCD4329E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F5F2E9"/>
                </a:solidFill>
              </a:defRPr>
            </a:pPr>
            <a:r>
              <a:rPr sz="2625" b="1">
                <a:solidFill>
                  <a:srgbClr val="F5F2E9"/>
                </a:solidFill>
              </a:rPr>
              <a:t>第一部分、为什么AI产品不能只用传统软件的测试方法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21F7B47-AD27-4701-8E71-FCDDCC3BE6B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55C826-EED6-4D8E-ACB3-00DDA66CE65C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假设你做了一个“公司报销制度问答助手”。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AB6F9DC-6520-4CAD-B861-AD3FAB408858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用户问：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8EB9D35C-C9AB-4EB6-BCAA-6F2324A8F8C2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29AFDC7-F196-49BD-8F05-5F601C2AE63B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5758826-D043-4C19-A300-679E4AF5C376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出差住宿一晚最多可以报多少钱？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2C6AF5-07A9-4457-AE91-48F2A6555A29}"/>
              </a:ext>
            </a:extLst>
          </p:cNvPr>
          <p:cNvSpPr>
            <a:spLocks noGrp="1"/>
          </p:cNvSpPr>
          <p:nvPr/>
        </p:nvSpPr>
        <p:spPr>
          <a:xfrm>
            <a:off x="819150" y="33242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 dirty="0" err="1">
                <a:solidFill>
                  <a:srgbClr val="F5F2E9"/>
                </a:solidFill>
              </a:rPr>
              <a:t>传统软件的测试思路是：输入一个问题，系统有没有返回正确结果</a:t>
            </a:r>
            <a:r>
              <a:rPr sz="1350" b="0" dirty="0">
                <a:solidFill>
                  <a:srgbClr val="F5F2E9"/>
                </a:solidFill>
              </a:rPr>
              <a:t>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8983B9-3111-42B9-9EEB-47364640085F}"/>
              </a:ext>
            </a:extLst>
          </p:cNvPr>
          <p:cNvSpPr>
            <a:spLocks noGrp="1"/>
          </p:cNvSpPr>
          <p:nvPr/>
        </p:nvSpPr>
        <p:spPr>
          <a:xfrm>
            <a:off x="819150" y="42767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 dirty="0" err="1">
                <a:solidFill>
                  <a:srgbClr val="F5F2E9"/>
                </a:solidFill>
              </a:rPr>
              <a:t>但AI产品会遇到几个特殊问题</a:t>
            </a:r>
            <a:r>
              <a:rPr sz="1350" b="0" dirty="0">
                <a:solidFill>
                  <a:srgbClr val="F5F2E9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144298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6027168E-AE12-48EA-951F-112EE9DA5675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FC4C6FE-307A-4307-BAD8-FF836D2C746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004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06E88A3-2E56-4E69-BA2F-083FEE4A846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AB994B-5FA0-4850-8622-5FC2D7D9133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3817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0C9C3BB-0207-48F0-A529-2EA93ADCF0A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同一个意思，可以有很多种问法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12E71C-1FC6-4CF7-BBF8-6DB8CDFEEAF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D4303C0-FCB1-4D7A-8242-19FD728D2526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用户可能会问：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D02CF6-1194-4FC6-BF41-DEAEB8218BAA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621F33-5D4E-4A35-9C78-1A9C8DBB5715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北京出差住宿标准是多少？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ABF37F-0173-4D4A-8C78-96D0762FBFEB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07E126E-2331-413F-8D01-09966DABB7B4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去北京住酒店能报多少？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6C5FBE3-F0A5-4FE5-B0F4-D96B32CAED54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EC861F-6938-4A93-8B78-BA33509E0271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一线城市酒店报销上限是多少？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41A4983-6CA2-4961-8BEC-F8D1ABBD8508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B964CD3-C8BF-4EA4-9F74-C4ED9BDF3B41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我去北京出差，住了600元的酒店，可以全额报销吗？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3841A15-7C31-407D-B9DE-38EA2A6000CB}"/>
              </a:ext>
            </a:extLst>
          </p:cNvPr>
          <p:cNvSpPr>
            <a:spLocks noGrp="1"/>
          </p:cNvSpPr>
          <p:nvPr/>
        </p:nvSpPr>
        <p:spPr>
          <a:xfrm>
            <a:off x="838200" y="36957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传统软件更像：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5EF16409-7F05-4C39-846C-E530608C3652}"/>
              </a:ext>
            </a:extLst>
          </p:cNvPr>
          <p:cNvSpPr>
            <a:spLocks noGrp="1"/>
          </p:cNvSpPr>
          <p:nvPr/>
        </p:nvSpPr>
        <p:spPr>
          <a:xfrm>
            <a:off x="819150" y="40767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4AAC1AD-89CA-46A9-A3F8-5307EF770B1D}"/>
              </a:ext>
            </a:extLst>
          </p:cNvPr>
          <p:cNvSpPr>
            <a:spLocks noGrp="1"/>
          </p:cNvSpPr>
          <p:nvPr/>
        </p:nvSpPr>
        <p:spPr>
          <a:xfrm>
            <a:off x="819150" y="40767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0AF7347-6800-4EDB-B405-1D1A3343D011}"/>
              </a:ext>
            </a:extLst>
          </p:cNvPr>
          <p:cNvSpPr>
            <a:spLocks noGrp="1"/>
          </p:cNvSpPr>
          <p:nvPr/>
        </p:nvSpPr>
        <p:spPr>
          <a:xfrm>
            <a:off x="1104900" y="42195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输入A，就应该输出B。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155208F-0455-4C84-BCED-6954BA9FE735}"/>
              </a:ext>
            </a:extLst>
          </p:cNvPr>
          <p:cNvSpPr>
            <a:spLocks noGrp="1"/>
          </p:cNvSpPr>
          <p:nvPr/>
        </p:nvSpPr>
        <p:spPr>
          <a:xfrm>
            <a:off x="838200" y="47529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AI产品更像：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334EF27B-3B5F-4A12-9BF9-F64C88DFFB36}"/>
              </a:ext>
            </a:extLst>
          </p:cNvPr>
          <p:cNvSpPr>
            <a:spLocks noGrp="1"/>
          </p:cNvSpPr>
          <p:nvPr/>
        </p:nvSpPr>
        <p:spPr>
          <a:xfrm>
            <a:off x="819150" y="51339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6ACAFED-98AE-4893-9E29-784C61DDD72D}"/>
              </a:ext>
            </a:extLst>
          </p:cNvPr>
          <p:cNvSpPr>
            <a:spLocks noGrp="1"/>
          </p:cNvSpPr>
          <p:nvPr/>
        </p:nvSpPr>
        <p:spPr>
          <a:xfrm>
            <a:off x="819150" y="51339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6026AB0-CD13-4052-8DEC-9E8146B7AE7C}"/>
              </a:ext>
            </a:extLst>
          </p:cNvPr>
          <p:cNvSpPr>
            <a:spLocks noGrp="1"/>
          </p:cNvSpPr>
          <p:nvPr/>
        </p:nvSpPr>
        <p:spPr>
          <a:xfrm>
            <a:off x="1104900" y="52768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不同的输入表达，都应该让系统理解为同一个问题。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C004DB4-27E6-4C5F-9A56-72566CC8158F}"/>
              </a:ext>
            </a:extLst>
          </p:cNvPr>
          <p:cNvSpPr>
            <a:spLocks noGrp="1"/>
          </p:cNvSpPr>
          <p:nvPr/>
        </p:nvSpPr>
        <p:spPr>
          <a:xfrm>
            <a:off x="838200" y="58102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因此，测试AI产品不能只准备一条“标准问题”，而要准备一组具有代表性的真实问法。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CE97B56-8570-4FE6-ACF3-94815775C227}"/>
              </a:ext>
            </a:extLst>
          </p:cNvPr>
          <p:cNvSpPr>
            <a:spLocks noGrp="1"/>
          </p:cNvSpPr>
          <p:nvPr/>
        </p:nvSpPr>
        <p:spPr>
          <a:xfrm>
            <a:off x="838200" y="61912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这就是后面要讲的“评测集”。</a:t>
            </a:r>
          </a:p>
        </p:txBody>
      </p:sp>
    </p:spTree>
    <p:extLst>
      <p:ext uri="{BB962C8B-B14F-4D97-AF65-F5344CB8AC3E}">
        <p14:creationId xmlns:p14="http://schemas.microsoft.com/office/powerpoint/2010/main" val="157631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F43EC470-8A9A-48D7-9107-CF7C36A21724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448301F-21D1-4A6C-8728-17E53D0A659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005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A2282-4C21-4384-A40D-E08BE675B5C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6367CA5-3D0D-4AAA-B7CA-6386CDD48A9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9772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7278407-A38A-4B34-B6FD-3666BFFCE6C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AI的回答不是固定答案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7C3055D-A620-4C71-B082-62B52BE8DBD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5007BD-3B73-478B-BE33-C042389EE057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假设公司制度规定：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41058AE4-05D0-45B7-84C0-F88C4396B75E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2918103-662C-4835-A565-92A6AAF6EE08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0F82300-0A84-496E-8EC9-0B8AB479CDA2}"/>
              </a:ext>
            </a:extLst>
          </p:cNvPr>
          <p:cNvSpPr>
            <a:spLocks noGrp="1"/>
          </p:cNvSpPr>
          <p:nvPr/>
        </p:nvSpPr>
        <p:spPr>
          <a:xfrm>
            <a:off x="1104900" y="2238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北京住宿标准为每天500元。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3912E8B-909C-4AA9-B175-69FF23F0E92D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AI可能这样回答：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C85B29-A5D7-47FE-8F95-B684F4B56BC4}"/>
              </a:ext>
            </a:extLst>
          </p:cNvPr>
          <p:cNvSpPr>
            <a:spLocks noGrp="1"/>
          </p:cNvSpPr>
          <p:nvPr/>
        </p:nvSpPr>
        <p:spPr>
          <a:xfrm>
            <a:off x="876300" y="3190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0091F4-559C-4655-AD0A-C684D3048B71}"/>
              </a:ext>
            </a:extLst>
          </p:cNvPr>
          <p:cNvSpPr>
            <a:spLocks noGrp="1"/>
          </p:cNvSpPr>
          <p:nvPr/>
        </p:nvSpPr>
        <p:spPr>
          <a:xfrm>
            <a:off x="1371600" y="3181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“北京出差的住宿报销上限是每天500元。”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A21ED15-7A0E-4C7C-94E2-886332C20DCF}"/>
              </a:ext>
            </a:extLst>
          </p:cNvPr>
          <p:cNvSpPr>
            <a:spLocks noGrp="1"/>
          </p:cNvSpPr>
          <p:nvPr/>
        </p:nvSpPr>
        <p:spPr>
          <a:xfrm>
            <a:off x="876300" y="3590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30350D4-814D-4380-9667-B5C49C2154FB}"/>
              </a:ext>
            </a:extLst>
          </p:cNvPr>
          <p:cNvSpPr>
            <a:spLocks noGrp="1"/>
          </p:cNvSpPr>
          <p:nvPr/>
        </p:nvSpPr>
        <p:spPr>
          <a:xfrm>
            <a:off x="1371600" y="3581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“按照公司制度，北京地区住宿费最高可报销500元/晚。”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8DD82D6-0321-445C-8CEB-DCCD53911CC1}"/>
              </a:ext>
            </a:extLst>
          </p:cNvPr>
          <p:cNvSpPr>
            <a:spLocks noGrp="1"/>
          </p:cNvSpPr>
          <p:nvPr/>
        </p:nvSpPr>
        <p:spPr>
          <a:xfrm>
            <a:off x="876300" y="3990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24DE2C4-5DF2-4E4C-AAB4-2556EBA03EAA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“如果你去北京出差，酒店费用原则上不能超过每天500元。”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D149A36-0FE1-4AF6-9FF0-B6AEDC96B73F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三句话文字不同，但都可以是正确答案。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F3B179C-FA82-4F18-BF7F-D1632717F36C}"/>
              </a:ext>
            </a:extLst>
          </p:cNvPr>
          <p:cNvSpPr>
            <a:spLocks noGrp="1"/>
          </p:cNvSpPr>
          <p:nvPr/>
        </p:nvSpPr>
        <p:spPr>
          <a:xfrm>
            <a:off x="838200" y="47339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所以，我们不能简单比较：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9FA9F1FC-2E8B-4C8F-B992-5D68D1B26969}"/>
              </a:ext>
            </a:extLst>
          </p:cNvPr>
          <p:cNvSpPr>
            <a:spLocks noGrp="1"/>
          </p:cNvSpPr>
          <p:nvPr/>
        </p:nvSpPr>
        <p:spPr>
          <a:xfrm>
            <a:off x="819150" y="511492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9DE5230-34BF-49C5-A6FE-30D739D25622}"/>
              </a:ext>
            </a:extLst>
          </p:cNvPr>
          <p:cNvSpPr>
            <a:spLocks noGrp="1"/>
          </p:cNvSpPr>
          <p:nvPr/>
        </p:nvSpPr>
        <p:spPr>
          <a:xfrm>
            <a:off x="819150" y="511492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9C83C76-11EF-42A6-86B9-1017A6D6E553}"/>
              </a:ext>
            </a:extLst>
          </p:cNvPr>
          <p:cNvSpPr>
            <a:spLocks noGrp="1"/>
          </p:cNvSpPr>
          <p:nvPr/>
        </p:nvSpPr>
        <p:spPr>
          <a:xfrm>
            <a:off x="1104900" y="525780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AI的输出是否和标准答案一模一样。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953C9BB-7DB2-4027-BC1B-19E97C11EAA5}"/>
              </a:ext>
            </a:extLst>
          </p:cNvPr>
          <p:cNvSpPr>
            <a:spLocks noGrp="1"/>
          </p:cNvSpPr>
          <p:nvPr/>
        </p:nvSpPr>
        <p:spPr>
          <a:xfrm>
            <a:off x="838200" y="57912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而要判断：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77F0BE3-268C-4E57-A275-42711073C3E2}"/>
              </a:ext>
            </a:extLst>
          </p:cNvPr>
          <p:cNvSpPr>
            <a:spLocks noGrp="1"/>
          </p:cNvSpPr>
          <p:nvPr/>
        </p:nvSpPr>
        <p:spPr>
          <a:xfrm>
            <a:off x="876300" y="62103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457AF76-4BA4-4D11-AA2F-D687B16AC3C0}"/>
              </a:ext>
            </a:extLst>
          </p:cNvPr>
          <p:cNvSpPr>
            <a:spLocks noGrp="1"/>
          </p:cNvSpPr>
          <p:nvPr/>
        </p:nvSpPr>
        <p:spPr>
          <a:xfrm>
            <a:off x="1371600" y="62007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事实是否正确？</a:t>
            </a:r>
          </a:p>
        </p:txBody>
      </p:sp>
    </p:spTree>
    <p:extLst>
      <p:ext uri="{BB962C8B-B14F-4D97-AF65-F5344CB8AC3E}">
        <p14:creationId xmlns:p14="http://schemas.microsoft.com/office/powerpoint/2010/main" val="256443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E6F25296-31DA-42F6-A450-86DEDAAEC872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24B34B7-1AE6-44B1-964A-696B38466FC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006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693583-7A8B-4F7C-BAE5-8FC65BE50BC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B8587B5-BD0F-4CC1-B1BB-9FD4E125152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5726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D9BB2C-7E33-41E2-9700-253969EF85A2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AI的回答不是固定答案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632E83-AE72-4B12-8DCE-8A18AD64493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E63C61-A790-4BAE-8F45-CC6D2D101774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CFF402B-02FD-4421-A8DF-ED2679D423A6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有没有回答用户的问题？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28FB75E-2B5A-4B15-8183-9DBB4E17F3D9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7964A51-3802-401D-8DC8-61B7A33858A3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有没有遗漏重要条件？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EFE1AA8-7850-4EE1-B58F-F7B8D2E35C25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32BC021-BA98-4FC7-911D-F62AB86D3893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表达是否清楚？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C9AA5A4-C60E-4CD3-990B-929D3A5A06E8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B04F7FE-D0FE-490B-9D9F-C16B07BDF2F1}"/>
              </a:ext>
            </a:extLst>
          </p:cNvPr>
          <p:cNvSpPr>
            <a:spLocks noGrp="1"/>
          </p:cNvSpPr>
          <p:nvPr/>
        </p:nvSpPr>
        <p:spPr>
          <a:xfrm>
            <a:off x="1371600" y="2943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有没有编造制度里不存在的内容？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3D18478-8B9A-431D-BA76-5D18935AA3AE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这就是AI评测与传统软件测试最大的区别之一：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2AB89C50-A316-47EF-8712-6E7E409D64CB}"/>
              </a:ext>
            </a:extLst>
          </p:cNvPr>
          <p:cNvSpPr>
            <a:spLocks noGrp="1"/>
          </p:cNvSpPr>
          <p:nvPr/>
        </p:nvSpPr>
        <p:spPr>
          <a:xfrm>
            <a:off x="819150" y="36957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CADECD1-D7FC-4282-B26F-3168AF6D70EE}"/>
              </a:ext>
            </a:extLst>
          </p:cNvPr>
          <p:cNvSpPr>
            <a:spLocks noGrp="1"/>
          </p:cNvSpPr>
          <p:nvPr/>
        </p:nvSpPr>
        <p:spPr>
          <a:xfrm>
            <a:off x="819150" y="36957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4244A4B-DA5C-45E5-8146-CD03515E681F}"/>
              </a:ext>
            </a:extLst>
          </p:cNvPr>
          <p:cNvSpPr>
            <a:spLocks noGrp="1"/>
          </p:cNvSpPr>
          <p:nvPr/>
        </p:nvSpPr>
        <p:spPr>
          <a:xfrm>
            <a:off x="1104900" y="38385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传统软件经常判断“对或错”，AI产品更多是在判断“好到什么程度”。</a:t>
            </a:r>
          </a:p>
        </p:txBody>
      </p:sp>
    </p:spTree>
    <p:extLst>
      <p:ext uri="{BB962C8B-B14F-4D97-AF65-F5344CB8AC3E}">
        <p14:creationId xmlns:p14="http://schemas.microsoft.com/office/powerpoint/2010/main" val="501779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A6E5A881-2F3C-4132-BA44-D03DC737E506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7F5C304-2BBB-49A3-B7E9-A25DF412B25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007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E396DF0-617F-4FE4-8C8D-FFEC22B0A3A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D4D1B4-940C-4022-8EC0-2BDEB915F3E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1681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8E36D2C-EA73-4E21-9877-781A2805CD15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>
                <a:solidFill>
                  <a:srgbClr val="F5F2E9"/>
                </a:solidFill>
              </a:rPr>
              <a:t>AI可能“</a:t>
            </a:r>
            <a:r>
              <a:rPr sz="2850" b="1" dirty="0" err="1">
                <a:solidFill>
                  <a:srgbClr val="F5F2E9"/>
                </a:solidFill>
              </a:rPr>
              <a:t>看起来会说</a:t>
            </a:r>
            <a:r>
              <a:rPr sz="2850" b="1" dirty="0">
                <a:solidFill>
                  <a:srgbClr val="F5F2E9"/>
                </a:solidFill>
              </a:rPr>
              <a:t>”，</a:t>
            </a:r>
            <a:r>
              <a:rPr sz="2850" b="1" dirty="0" err="1">
                <a:solidFill>
                  <a:srgbClr val="F5F2E9"/>
                </a:solidFill>
              </a:rPr>
              <a:t>但实际上说错了</a:t>
            </a:r>
            <a:r>
              <a:rPr lang="zh-CN" altLang="en-US" sz="2850" b="1" dirty="0">
                <a:solidFill>
                  <a:srgbClr val="F5F2E9"/>
                </a:solidFill>
              </a:rPr>
              <a:t> </a:t>
            </a:r>
            <a:r>
              <a:rPr lang="en-US" altLang="zh-CN" sz="2850" b="1" dirty="0">
                <a:solidFill>
                  <a:srgbClr val="F5F2E9"/>
                </a:solidFill>
              </a:rPr>
              <a:t>–</a:t>
            </a:r>
            <a:r>
              <a:rPr lang="zh-CN" altLang="en-US" sz="2850" b="1" dirty="0">
                <a:solidFill>
                  <a:srgbClr val="F5F2E9"/>
                </a:solidFill>
              </a:rPr>
              <a:t> 幻觉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20C4D8A-5B79-4250-8226-67376794C975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81A4165-1ADD-4EAF-A995-867207FBB6E1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这是大模型最麻烦的地方。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ABFFF6B-BD8F-4C0B-B3BB-71962B611CBB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它可能回答：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F5148EB7-76D8-4485-9C4A-30C95C3771D5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9667E38-A27E-4953-8583-6AC5976E5E31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85086A8-0BBD-4A57-A26C-D65559FEAB40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 dirty="0">
                <a:solidFill>
                  <a:srgbClr val="F5F2E9"/>
                </a:solidFill>
              </a:rPr>
              <a:t>北京住宿费最高可以报销600元，超过部分需要个人承担。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9518830-E2AC-44C1-BEB4-75B6B5DD76A5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 dirty="0">
                <a:solidFill>
                  <a:srgbClr val="F5F2E9"/>
                </a:solidFill>
              </a:rPr>
              <a:t>这句话非常流畅，也很像公司制度，但正确标准其实是500元。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BF3BD23-D831-4CB8-8432-FF4D516F83BB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如果只是检查：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14D8CDB-02D3-45C1-888E-3BCF555B64A3}"/>
              </a:ext>
            </a:extLst>
          </p:cNvPr>
          <p:cNvSpPr>
            <a:spLocks noGrp="1"/>
          </p:cNvSpPr>
          <p:nvPr/>
        </p:nvSpPr>
        <p:spPr>
          <a:xfrm>
            <a:off x="876300" y="3952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4B35CBA-D7AE-42A3-99DD-EB3FDB8A1602}"/>
              </a:ext>
            </a:extLst>
          </p:cNvPr>
          <p:cNvSpPr>
            <a:spLocks noGrp="1"/>
          </p:cNvSpPr>
          <p:nvPr/>
        </p:nvSpPr>
        <p:spPr>
          <a:xfrm>
            <a:off x="1371600" y="3943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 dirty="0" err="1">
                <a:solidFill>
                  <a:srgbClr val="F5F2E9"/>
                </a:solidFill>
              </a:rPr>
              <a:t>系统有没有返回内容</a:t>
            </a:r>
            <a:r>
              <a:rPr sz="1350" b="0" dirty="0">
                <a:solidFill>
                  <a:srgbClr val="F5F2E9"/>
                </a:solidFill>
              </a:rPr>
              <a:t>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D50072C-61DB-4A41-ACDE-8F56F3122471}"/>
              </a:ext>
            </a:extLst>
          </p:cNvPr>
          <p:cNvSpPr>
            <a:spLocks noGrp="1"/>
          </p:cNvSpPr>
          <p:nvPr/>
        </p:nvSpPr>
        <p:spPr>
          <a:xfrm>
            <a:off x="876300" y="4352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E175B54-BD64-4F16-8477-08E6CA424927}"/>
              </a:ext>
            </a:extLst>
          </p:cNvPr>
          <p:cNvSpPr>
            <a:spLocks noGrp="1"/>
          </p:cNvSpPr>
          <p:nvPr/>
        </p:nvSpPr>
        <p:spPr>
          <a:xfrm>
            <a:off x="1371600" y="4343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 dirty="0" err="1">
                <a:solidFill>
                  <a:srgbClr val="F5F2E9"/>
                </a:solidFill>
              </a:rPr>
              <a:t>页面有没有报错</a:t>
            </a:r>
            <a:r>
              <a:rPr sz="1350" b="0" dirty="0">
                <a:solidFill>
                  <a:srgbClr val="F5F2E9"/>
                </a:solidFill>
              </a:rPr>
              <a:t>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33354EE-4130-474B-89DD-C73FB2DFC638}"/>
              </a:ext>
            </a:extLst>
          </p:cNvPr>
          <p:cNvSpPr>
            <a:spLocks noGrp="1"/>
          </p:cNvSpPr>
          <p:nvPr/>
        </p:nvSpPr>
        <p:spPr>
          <a:xfrm>
            <a:off x="876300" y="4752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6F36E3C-D0F0-42F0-86B6-011EA3FFC8CC}"/>
              </a:ext>
            </a:extLst>
          </p:cNvPr>
          <p:cNvSpPr>
            <a:spLocks noGrp="1"/>
          </p:cNvSpPr>
          <p:nvPr/>
        </p:nvSpPr>
        <p:spPr>
          <a:xfrm>
            <a:off x="1371600" y="4743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 dirty="0" err="1">
                <a:solidFill>
                  <a:srgbClr val="F5F2E9"/>
                </a:solidFill>
              </a:rPr>
              <a:t>响应速度是否正常</a:t>
            </a:r>
            <a:r>
              <a:rPr sz="1350" b="0" dirty="0">
                <a:solidFill>
                  <a:srgbClr val="F5F2E9"/>
                </a:solidFill>
              </a:rPr>
              <a:t>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254F88B-32F4-4653-9E3A-18E29EEA9240}"/>
              </a:ext>
            </a:extLst>
          </p:cNvPr>
          <p:cNvSpPr>
            <a:spLocks noGrp="1"/>
          </p:cNvSpPr>
          <p:nvPr/>
        </p:nvSpPr>
        <p:spPr>
          <a:xfrm>
            <a:off x="838200" y="51149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这条回答就会通过。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B7CF016-3636-48C5-8C0B-20DE85AC3B2A}"/>
              </a:ext>
            </a:extLst>
          </p:cNvPr>
          <p:cNvSpPr>
            <a:spLocks noGrp="1"/>
          </p:cNvSpPr>
          <p:nvPr/>
        </p:nvSpPr>
        <p:spPr>
          <a:xfrm>
            <a:off x="838200" y="54959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但从用户角度看，它是严重错误。员工可能据此订酒店，最后无法报销。</a:t>
            </a:r>
          </a:p>
        </p:txBody>
      </p:sp>
    </p:spTree>
    <p:extLst>
      <p:ext uri="{BB962C8B-B14F-4D97-AF65-F5344CB8AC3E}">
        <p14:creationId xmlns:p14="http://schemas.microsoft.com/office/powerpoint/2010/main" val="149422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536A248D-5075-4849-BFE9-3E53E7EE4B14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56335EC-164B-4451-8286-D0176178087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009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8760396-717E-4693-A80F-E11BBE64D37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4E3D716-6E97-4E0D-99E5-E05F91C71D5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3589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99C6299-F87A-4128-B8DB-EB2C1CA9E9D2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AI产品的错误通常不是一个简单的程序Bug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498A29-4D16-49E7-83A7-CCB98A1D905A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DFA8271-98BA-4393-B5F6-66C540888E0A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假设回答错成600元，原因可能有很多：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429AC70-4D85-4D6E-A0AF-D091356C1E90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846DBA8-601E-413F-95C9-83D3A046E3E2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知识库里存在旧版制度；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E36FD8-EBA3-478F-8E61-C51B944312D3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F3AC2B-445F-4C7D-AA96-C42534CF6ABB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检索没有找到正确文档；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6B47345-52B0-4B24-8636-AC2F7A73CDEC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4D1B98-8A1D-4E20-A752-3021CF4F891D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找到了文档，但选错了段落；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38DFBA6-DB84-47AB-B5A5-9ECF58F71316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A0E1804-E68E-4DA3-B190-266A38C6B31D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提示词没有要求严格依据制度；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0503003-F7DD-4DE5-80DE-6A8059DCCB2A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CE7335-7A23-4038-92D8-1CEF623CD2B3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模型错误理解了表格；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87B466E-AAA8-4579-A960-32A2C9F592F1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CCB0152-95FB-4F05-8CBA-95BD4242DCCA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用户的问题里缺少城市或职级；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F7B8E49-36A2-490B-BA6D-3EB592C399F7}"/>
              </a:ext>
            </a:extLst>
          </p:cNvPr>
          <p:cNvSpPr>
            <a:spLocks noGrp="1"/>
          </p:cNvSpPr>
          <p:nvPr/>
        </p:nvSpPr>
        <p:spPr>
          <a:xfrm>
            <a:off x="876300" y="4533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3CEECFE-3E19-4123-8EE5-A68B14B57145}"/>
              </a:ext>
            </a:extLst>
          </p:cNvPr>
          <p:cNvSpPr>
            <a:spLocks noGrp="1"/>
          </p:cNvSpPr>
          <p:nvPr/>
        </p:nvSpPr>
        <p:spPr>
          <a:xfrm>
            <a:off x="1371600" y="4524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模型在没有答案时自己编了一个数字。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C31A4BF-3895-434C-B396-0BAA4FED0231}"/>
              </a:ext>
            </a:extLst>
          </p:cNvPr>
          <p:cNvSpPr>
            <a:spLocks noGrp="1"/>
          </p:cNvSpPr>
          <p:nvPr/>
        </p:nvSpPr>
        <p:spPr>
          <a:xfrm>
            <a:off x="838200" y="4895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表面上看，Bad Case 都是“答案错误”，但背后的原因完全不同。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D193C2-ECB1-45AF-80C7-9B44408125FA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所以产品经理不能把所有问题都丢给研发，说：</a:t>
            </a: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C1F6CAA6-7563-4D56-8645-F72D7C551B1C}"/>
              </a:ext>
            </a:extLst>
          </p:cNvPr>
          <p:cNvSpPr>
            <a:spLocks noGrp="1"/>
          </p:cNvSpPr>
          <p:nvPr/>
        </p:nvSpPr>
        <p:spPr>
          <a:xfrm>
            <a:off x="819150" y="56578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F7D97A5-B3C0-4C29-A160-D0A377439706}"/>
              </a:ext>
            </a:extLst>
          </p:cNvPr>
          <p:cNvSpPr>
            <a:spLocks noGrp="1"/>
          </p:cNvSpPr>
          <p:nvPr/>
        </p:nvSpPr>
        <p:spPr>
          <a:xfrm>
            <a:off x="819150" y="56578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FD7666A-8AF0-4225-B997-E689FCCCC2C1}"/>
              </a:ext>
            </a:extLst>
          </p:cNvPr>
          <p:cNvSpPr>
            <a:spLocks noGrp="1"/>
          </p:cNvSpPr>
          <p:nvPr/>
        </p:nvSpPr>
        <p:spPr>
          <a:xfrm>
            <a:off x="1104900" y="58007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这里回答错了，修一下。</a:t>
            </a:r>
          </a:p>
        </p:txBody>
      </p:sp>
    </p:spTree>
    <p:extLst>
      <p:ext uri="{BB962C8B-B14F-4D97-AF65-F5344CB8AC3E}">
        <p14:creationId xmlns:p14="http://schemas.microsoft.com/office/powerpoint/2010/main" val="1056064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AA4FCD7B-3D17-4514-B6D3-8618C813D01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AE40284-C4B4-424F-A77D-B878FAD1D30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010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B3AE6C-8042-412A-BAAB-0E193015ED9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1BE1B35-31E5-4147-A38C-99EAB8C0B0E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9544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B19B87F-BB57-48A0-99FA-CE1D03CDDF15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AI产品的错误通常不是一个简单的程序Bug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623FB07-AD9A-43EB-BD74-64135D8E14B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1FC3BAB-3213-4E9A-9725-9CC8B153EF2F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而应该进一步判断：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6E7DDA18-F5D7-49C4-B608-B23ABE7A0657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8FE378F-87FF-435B-B462-3E50C2CE5114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6211832-8A4B-4C57-AF0B-F5A930AAA35E}"/>
              </a:ext>
            </a:extLst>
          </p:cNvPr>
          <p:cNvSpPr>
            <a:spLocks noGrp="1"/>
          </p:cNvSpPr>
          <p:nvPr/>
        </p:nvSpPr>
        <p:spPr>
          <a:xfrm>
            <a:off x="1104900" y="2238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错误发生在整个AI链路的哪个环节？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05684E-3278-4CE6-8114-4941A889D693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可以把AI问答产品简单理解成：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F97E25-06A6-409D-AEA9-89A09B0B01C0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用户问题 → 意图理解 → 检索资料 → 组织上下文 → 模型生成 → 最终回答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651F9E4-0291-4EFC-A77A-6AA874AFF199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任何一个环节出问题，最后都可能表现为“回答错误”。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D309BA8-76E3-42A4-91AB-71B284E58EBC}"/>
              </a:ext>
            </a:extLst>
          </p:cNvPr>
          <p:cNvSpPr>
            <a:spLocks noGrp="1"/>
          </p:cNvSpPr>
          <p:nvPr/>
        </p:nvSpPr>
        <p:spPr>
          <a:xfrm>
            <a:off x="838200" y="3914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这也是为什么这一课不仅讲测试，还要讲Bad Case归因。</a:t>
            </a:r>
          </a:p>
        </p:txBody>
      </p:sp>
    </p:spTree>
    <p:extLst>
      <p:ext uri="{BB962C8B-B14F-4D97-AF65-F5344CB8AC3E}">
        <p14:creationId xmlns:p14="http://schemas.microsoft.com/office/powerpoint/2010/main" val="1668876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6FBB0362-2366-470B-9AA4-232C8DBC67E4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D425878-53E4-42F6-93C8-2F7C02BC9BF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011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8F3EAB-918D-497C-8014-6622B65131C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BE4EB99-1684-4C9B-8B39-2F4C4AD8422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5498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E85B84-3417-42C7-B651-BE15D3954621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为什么不能等上线后再看用户反馈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6A18E19-0DA8-410C-880D-1119138277D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34CD265-466F-4460-BC55-FDD8D5C787B2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有些团队会认为：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5F58FBFE-0F15-49AC-AAF5-CAF4343AC8E6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303F26A-BD7F-4993-A2E3-5583C580B0A0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1ACCD0D-07B8-4A2D-8593-87F39A879B52}"/>
              </a:ext>
            </a:extLst>
          </p:cNvPr>
          <p:cNvSpPr>
            <a:spLocks noGrp="1"/>
          </p:cNvSpPr>
          <p:nvPr/>
        </p:nvSpPr>
        <p:spPr>
          <a:xfrm>
            <a:off x="1104900" y="2238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先上线，用户发现问题后我们再改。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1ACE840-6D2E-4D94-B4FB-CF3632D4B3CC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这对AI产品风险很大。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474CA88-E5C9-4A52-A116-BB9D7BCA537E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因为用户反馈存在三个问题：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5995E4B-A417-4AA2-AE6B-FF00BF407BDE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42858A6-67A7-4411-9A82-5728A627FA45}"/>
              </a:ext>
            </a:extLst>
          </p:cNvPr>
          <p:cNvSpPr>
            <a:spLocks noGrp="1"/>
          </p:cNvSpPr>
          <p:nvPr/>
        </p:nvSpPr>
        <p:spPr>
          <a:xfrm>
            <a:off x="1371600" y="3562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用户遇到错误，不一定会主动反馈；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61F34DC-930A-42CB-88E9-AE32279DD2DE}"/>
              </a:ext>
            </a:extLst>
          </p:cNvPr>
          <p:cNvSpPr>
            <a:spLocks noGrp="1"/>
          </p:cNvSpPr>
          <p:nvPr/>
        </p:nvSpPr>
        <p:spPr>
          <a:xfrm>
            <a:off x="876300" y="3971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53AC37B-17D4-41A8-A1FD-579266D35BF7}"/>
              </a:ext>
            </a:extLst>
          </p:cNvPr>
          <p:cNvSpPr>
            <a:spLocks noGrp="1"/>
          </p:cNvSpPr>
          <p:nvPr/>
        </p:nvSpPr>
        <p:spPr>
          <a:xfrm>
            <a:off x="1371600" y="3962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用户可能不知道答案是错的；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05E0560-FBE5-41E6-BCE2-D43165DCFFD1}"/>
              </a:ext>
            </a:extLst>
          </p:cNvPr>
          <p:cNvSpPr>
            <a:spLocks noGrp="1"/>
          </p:cNvSpPr>
          <p:nvPr/>
        </p:nvSpPr>
        <p:spPr>
          <a:xfrm>
            <a:off x="876300" y="4371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DC5C21B-0096-4B90-9FFC-7D2C9BECDC3A}"/>
              </a:ext>
            </a:extLst>
          </p:cNvPr>
          <p:cNvSpPr>
            <a:spLocks noGrp="1"/>
          </p:cNvSpPr>
          <p:nvPr/>
        </p:nvSpPr>
        <p:spPr>
          <a:xfrm>
            <a:off x="1371600" y="4362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严重错误发生一次，就可能已经造成损失。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B70EB88-2539-4A6F-96E9-8E81AD802CBD}"/>
              </a:ext>
            </a:extLst>
          </p:cNvPr>
          <p:cNvSpPr>
            <a:spLocks noGrp="1"/>
          </p:cNvSpPr>
          <p:nvPr/>
        </p:nvSpPr>
        <p:spPr>
          <a:xfrm>
            <a:off x="838200" y="47339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比如：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50D7FA2-25C2-49B1-8DA1-91B749C30D69}"/>
              </a:ext>
            </a:extLst>
          </p:cNvPr>
          <p:cNvSpPr>
            <a:spLocks noGrp="1"/>
          </p:cNvSpPr>
          <p:nvPr/>
        </p:nvSpPr>
        <p:spPr>
          <a:xfrm>
            <a:off x="876300" y="5153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83150CC-C54F-4225-B3F3-1473DFF55E1F}"/>
              </a:ext>
            </a:extLst>
          </p:cNvPr>
          <p:cNvSpPr>
            <a:spLocks noGrp="1"/>
          </p:cNvSpPr>
          <p:nvPr/>
        </p:nvSpPr>
        <p:spPr>
          <a:xfrm>
            <a:off x="1371600" y="5143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医疗助手给出错误用药建议；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839742F-7F51-46FE-BA20-1504C323B583}"/>
              </a:ext>
            </a:extLst>
          </p:cNvPr>
          <p:cNvSpPr>
            <a:spLocks noGrp="1"/>
          </p:cNvSpPr>
          <p:nvPr/>
        </p:nvSpPr>
        <p:spPr>
          <a:xfrm>
            <a:off x="876300" y="5553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BFDE821-4135-49F4-B7E2-239FC7C2420C}"/>
              </a:ext>
            </a:extLst>
          </p:cNvPr>
          <p:cNvSpPr>
            <a:spLocks noGrp="1"/>
          </p:cNvSpPr>
          <p:nvPr/>
        </p:nvSpPr>
        <p:spPr>
          <a:xfrm>
            <a:off x="1371600" y="5543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客服机器人承诺不存在的退款政策；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CC1B1D2-789E-4C0D-8371-1FAC46A44427}"/>
              </a:ext>
            </a:extLst>
          </p:cNvPr>
          <p:cNvSpPr>
            <a:spLocks noGrp="1"/>
          </p:cNvSpPr>
          <p:nvPr/>
        </p:nvSpPr>
        <p:spPr>
          <a:xfrm>
            <a:off x="876300" y="59531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AA24F7E-97CD-41EE-A775-445A29F64F21}"/>
              </a:ext>
            </a:extLst>
          </p:cNvPr>
          <p:cNvSpPr>
            <a:spLocks noGrp="1"/>
          </p:cNvSpPr>
          <p:nvPr/>
        </p:nvSpPr>
        <p:spPr>
          <a:xfrm>
            <a:off x="1371600" y="59436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企业知识助手泄露内部信息；</a:t>
            </a:r>
          </a:p>
        </p:txBody>
      </p:sp>
    </p:spTree>
    <p:extLst>
      <p:ext uri="{BB962C8B-B14F-4D97-AF65-F5344CB8AC3E}">
        <p14:creationId xmlns:p14="http://schemas.microsoft.com/office/powerpoint/2010/main" val="1281085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8B914BB2-BD62-4C45-8537-17124487841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901F3A-AECE-48EA-B5FC-0ACE76E0CE4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012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5B315BB-31B0-449A-B29D-8D1C8483BCE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5D98A79-AE05-4402-80CA-D0F82679A4F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1453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E0465D-D210-4F7A-8B08-593098D3D6E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为什么不能等上线后再看用户反馈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CDF0960-3016-4CB6-8298-1FF5ADB039D9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F82F503-17D4-4CDE-BB18-38B37AA7D96B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01B711-BFB7-4605-B2D3-39EE13F3D86D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财务助手计算错误；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6BA7AD9-13C0-42DA-81CF-7DF47F93A07A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77B6651-5312-4B9D-BBB3-68E959FC599A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招聘助手产生歧视性判断。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D2895C-4AF8-4384-8132-10AAEF0BCC39}"/>
              </a:ext>
            </a:extLst>
          </p:cNvPr>
          <p:cNvSpPr>
            <a:spLocks noGrp="1"/>
          </p:cNvSpPr>
          <p:nvPr/>
        </p:nvSpPr>
        <p:spPr>
          <a:xfrm>
            <a:off x="838200" y="2514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因此，AI产品上线前必须主动准备一批问题去“考它”。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597B0F7-4CCC-43FB-BF35-643C93C5297B}"/>
              </a:ext>
            </a:extLst>
          </p:cNvPr>
          <p:cNvSpPr>
            <a:spLocks noGrp="1"/>
          </p:cNvSpPr>
          <p:nvPr/>
        </p:nvSpPr>
        <p:spPr>
          <a:xfrm>
            <a:off x="838200" y="2895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这就是评测最直观的理解：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3AFAB984-AA9A-4A52-A3E8-B8AF6A20DABB}"/>
              </a:ext>
            </a:extLst>
          </p:cNvPr>
          <p:cNvSpPr>
            <a:spLocks noGrp="1"/>
          </p:cNvSpPr>
          <p:nvPr/>
        </p:nvSpPr>
        <p:spPr>
          <a:xfrm>
            <a:off x="819150" y="32766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EC5A721-EC0E-4D60-B7D2-DA1266C442DF}"/>
              </a:ext>
            </a:extLst>
          </p:cNvPr>
          <p:cNvSpPr>
            <a:spLocks noGrp="1"/>
          </p:cNvSpPr>
          <p:nvPr/>
        </p:nvSpPr>
        <p:spPr>
          <a:xfrm>
            <a:off x="819150" y="32766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34FADF4-7B06-4960-8C28-C573BBC20B0F}"/>
              </a:ext>
            </a:extLst>
          </p:cNvPr>
          <p:cNvSpPr>
            <a:spLocks noGrp="1"/>
          </p:cNvSpPr>
          <p:nvPr/>
        </p:nvSpPr>
        <p:spPr>
          <a:xfrm>
            <a:off x="1104900" y="34194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不要等用户帮我们发现问题，而是上线前先模拟用户，把产品可能遇到的情况系统地测试一遍。</a:t>
            </a:r>
          </a:p>
        </p:txBody>
      </p:sp>
    </p:spTree>
    <p:extLst>
      <p:ext uri="{BB962C8B-B14F-4D97-AF65-F5344CB8AC3E}">
        <p14:creationId xmlns:p14="http://schemas.microsoft.com/office/powerpoint/2010/main" val="1572831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C2CD4FB-DE8F-4FAD-BD7C-E350EC519CD2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2476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850" b="1">
                <a:solidFill>
                  <a:srgbClr val="36D6C2"/>
                </a:solidFill>
              </a:defRPr>
            </a:pPr>
            <a:r>
              <a:rPr sz="88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180C8E9-6626-4E79-BADA-9BE93B96FA6F}"/>
              </a:ext>
            </a:extLst>
          </p:cNvPr>
          <p:cNvSpPr>
            <a:spLocks noGrp="1"/>
          </p:cNvSpPr>
          <p:nvPr/>
        </p:nvSpPr>
        <p:spPr>
          <a:xfrm>
            <a:off x="704850" y="2857500"/>
            <a:ext cx="952500" cy="476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3796927-74A4-4AF9-9103-BE7930600CA8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1047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在测试AI之前，先定义“什么叫好”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DA64C9-E842-4FF8-8367-B2786912358E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914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按照讲稿结构展开概念、方法与完整示例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E1B8EB5-7A31-4553-9BAE-84BD579B0862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BCF7C86-4ADA-4520-8396-EDCBA80D978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015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0A62C7-B2B7-4D22-9C55-2D1D9BA6D22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2766E2C-8891-4282-9F8A-9A27D3CAAD9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9316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55658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659C8BD-71F2-4CB1-A987-86D998FBFFA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FBC1E60-0556-40F7-9592-3528FF4E9B2C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016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2E1BCB-9FE6-42F0-9873-44384E0482B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B3F10B6-AD70-40C1-839E-EFEE9A46140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5270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1B061D-6064-4F39-93EE-EC007B6534B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在测试AI之前，先定义“什么叫好</a:t>
            </a:r>
            <a:r>
              <a:rPr sz="2850" b="1" dirty="0">
                <a:solidFill>
                  <a:srgbClr val="F5F2E9"/>
                </a:solidFill>
              </a:rPr>
              <a:t>”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1E3AE4F-66D1-416F-A4A8-0165B179B24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6982C1-D199-41AB-A5C9-D49337C338F4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这一步非常关键。很多团队的测试没有效果，不是因为不会测，而是从一开始就没有明确标准。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DBF023-BE2B-4A72-A105-0C171D121440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假设我们拿到一句回答：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650BD16E-3518-4856-96F4-72969A5EC77A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6854CD-79E6-4E1B-B8D2-9F36942FF0F8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1E4CFDC-BEF6-4746-A5E0-6DB2520D9098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 dirty="0">
                <a:solidFill>
                  <a:srgbClr val="F5F2E9"/>
                </a:solidFill>
              </a:rPr>
              <a:t>根据公司规定，北京地区住宿费通常可报销500元左右，具体请咨询财务部门。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1DB561-675D-4DAC-BBF8-2FBBC67FBE7F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这句话到底算不算好？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BB9974E-0EED-432F-BDC6-6259ED081E42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 dirty="0">
                <a:solidFill>
                  <a:srgbClr val="F5F2E9"/>
                </a:solidFill>
              </a:rPr>
              <a:t>有人可能认为很好，因为它给出了500元；有人认为不好，因为“左右”不准确；还有人认为“咨询财务”是在推卸责任。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E11BA03-515C-4688-BD9C-E80B4CC06EF3}"/>
              </a:ext>
            </a:extLst>
          </p:cNvPr>
          <p:cNvSpPr>
            <a:spLocks noGrp="1"/>
          </p:cNvSpPr>
          <p:nvPr/>
        </p:nvSpPr>
        <p:spPr>
          <a:xfrm>
            <a:off x="838200" y="3914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如果团队没有统一标准，测试人员、产品经理和研发会反复争论。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E176567-D965-4F6B-9183-866BD9ADDBA4}"/>
              </a:ext>
            </a:extLst>
          </p:cNvPr>
          <p:cNvSpPr>
            <a:spLocks noGrp="1"/>
          </p:cNvSpPr>
          <p:nvPr/>
        </p:nvSpPr>
        <p:spPr>
          <a:xfrm>
            <a:off x="838200" y="4295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所以，评测的第一步不是准备问题，而是：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2249ED26-B6EE-489E-B4C2-AE7BC0857A14}"/>
              </a:ext>
            </a:extLst>
          </p:cNvPr>
          <p:cNvSpPr>
            <a:spLocks noGrp="1"/>
          </p:cNvSpPr>
          <p:nvPr/>
        </p:nvSpPr>
        <p:spPr>
          <a:xfrm>
            <a:off x="819150" y="4676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FE0BE4A-9761-4E0F-94A6-2CEC84F1FED5}"/>
              </a:ext>
            </a:extLst>
          </p:cNvPr>
          <p:cNvSpPr>
            <a:spLocks noGrp="1"/>
          </p:cNvSpPr>
          <p:nvPr/>
        </p:nvSpPr>
        <p:spPr>
          <a:xfrm>
            <a:off x="819150" y="4676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D3F4F71-5328-43BB-A394-3D3E6AA879AD}"/>
              </a:ext>
            </a:extLst>
          </p:cNvPr>
          <p:cNvSpPr>
            <a:spLocks noGrp="1"/>
          </p:cNvSpPr>
          <p:nvPr/>
        </p:nvSpPr>
        <p:spPr>
          <a:xfrm>
            <a:off x="1104900" y="4819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把模糊的“感觉不错”，拆成可以判断的具体标准。</a:t>
            </a:r>
          </a:p>
        </p:txBody>
      </p:sp>
    </p:spTree>
    <p:extLst>
      <p:ext uri="{BB962C8B-B14F-4D97-AF65-F5344CB8AC3E}">
        <p14:creationId xmlns:p14="http://schemas.microsoft.com/office/powerpoint/2010/main" val="2117249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C75F6C8C-5C86-4EFE-A40E-BEB0B9CB2EA5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5D29ED-B287-4EED-8EF6-E578B6951592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017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99D63A-B0F0-4C6F-97A3-AE6C0223EA1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EE9DB7D-1D7D-4735-8F92-1B4F231AE56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1225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2EAA61-3B61-43D2-BFA4-2B9A2C6BBB3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正确性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051EF5-B03F-4C07-896C-1F02511A6159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7A92952-8010-4118-92E7-02C5AE9302A9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回答中的事实是否正确。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9774B9C-5F5E-4342-8517-D1B9689472E0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F73BA06-0D8D-4A29-A2E8-3F2FA963ADED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8F99069-B4E6-445E-9906-00DB1E2E4088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正确：北京住宿标准为500元/晚。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A5B242-E942-4D63-8735-D62C4F9478BD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6FDB2D0-8561-4658-91DA-455DC9F91C4A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错误：北京住宿标准为600元/晚。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3F427E-11FC-4E75-8529-9B05AF68D3FB}"/>
              </a:ext>
            </a:extLst>
          </p:cNvPr>
          <p:cNvSpPr>
            <a:spLocks noGrp="1"/>
          </p:cNvSpPr>
          <p:nvPr/>
        </p:nvSpPr>
        <p:spPr>
          <a:xfrm>
            <a:off x="838200" y="3276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正确性通常是最基础、最重要的指标。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FAB703-598D-4655-8A87-BD325ABE1CCE}"/>
              </a:ext>
            </a:extLst>
          </p:cNvPr>
          <p:cNvSpPr>
            <a:spLocks noGrp="1"/>
          </p:cNvSpPr>
          <p:nvPr/>
        </p:nvSpPr>
        <p:spPr>
          <a:xfrm>
            <a:off x="838200" y="3657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但“正确”还要继续拆分：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252EC62-FA28-406B-B9B3-448324811C81}"/>
              </a:ext>
            </a:extLst>
          </p:cNvPr>
          <p:cNvSpPr>
            <a:spLocks noGrp="1"/>
          </p:cNvSpPr>
          <p:nvPr/>
        </p:nvSpPr>
        <p:spPr>
          <a:xfrm>
            <a:off x="876300" y="4076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7DA96FB-F458-425A-9013-43612AC3C837}"/>
              </a:ext>
            </a:extLst>
          </p:cNvPr>
          <p:cNvSpPr>
            <a:spLocks noGrp="1"/>
          </p:cNvSpPr>
          <p:nvPr/>
        </p:nvSpPr>
        <p:spPr>
          <a:xfrm>
            <a:off x="1371600" y="4067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数字是否正确；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A6BA78A-8814-42F6-BB83-0DC45B95D4E6}"/>
              </a:ext>
            </a:extLst>
          </p:cNvPr>
          <p:cNvSpPr>
            <a:spLocks noGrp="1"/>
          </p:cNvSpPr>
          <p:nvPr/>
        </p:nvSpPr>
        <p:spPr>
          <a:xfrm>
            <a:off x="876300" y="4476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E0C0F7C-0680-49C4-8E76-2FC1086CE7F4}"/>
              </a:ext>
            </a:extLst>
          </p:cNvPr>
          <p:cNvSpPr>
            <a:spLocks noGrp="1"/>
          </p:cNvSpPr>
          <p:nvPr/>
        </p:nvSpPr>
        <p:spPr>
          <a:xfrm>
            <a:off x="1371600" y="4467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时间是否正确；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26D9127-26C1-4DCB-9BEF-109FD64420C1}"/>
              </a:ext>
            </a:extLst>
          </p:cNvPr>
          <p:cNvSpPr>
            <a:spLocks noGrp="1"/>
          </p:cNvSpPr>
          <p:nvPr/>
        </p:nvSpPr>
        <p:spPr>
          <a:xfrm>
            <a:off x="876300" y="4876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CAF0E6-5097-45A3-81CA-517FB980CDF8}"/>
              </a:ext>
            </a:extLst>
          </p:cNvPr>
          <p:cNvSpPr>
            <a:spLocks noGrp="1"/>
          </p:cNvSpPr>
          <p:nvPr/>
        </p:nvSpPr>
        <p:spPr>
          <a:xfrm>
            <a:off x="1371600" y="4867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对象是否正确；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3A8A54F-5925-4058-A01F-9DA63FEECC6B}"/>
              </a:ext>
            </a:extLst>
          </p:cNvPr>
          <p:cNvSpPr>
            <a:spLocks noGrp="1"/>
          </p:cNvSpPr>
          <p:nvPr/>
        </p:nvSpPr>
        <p:spPr>
          <a:xfrm>
            <a:off x="876300" y="5276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F718824-4F97-443A-8363-8C14EB1854FA}"/>
              </a:ext>
            </a:extLst>
          </p:cNvPr>
          <p:cNvSpPr>
            <a:spLocks noGrp="1"/>
          </p:cNvSpPr>
          <p:nvPr/>
        </p:nvSpPr>
        <p:spPr>
          <a:xfrm>
            <a:off x="1371600" y="5267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是否使用了最新版本的制度；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921B52A-43FD-4B47-B32E-45F55BCFCEDB}"/>
              </a:ext>
            </a:extLst>
          </p:cNvPr>
          <p:cNvSpPr>
            <a:spLocks noGrp="1"/>
          </p:cNvSpPr>
          <p:nvPr/>
        </p:nvSpPr>
        <p:spPr>
          <a:xfrm>
            <a:off x="876300" y="5676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02719B-1632-4052-98E4-D287A837B26F}"/>
              </a:ext>
            </a:extLst>
          </p:cNvPr>
          <p:cNvSpPr>
            <a:spLocks noGrp="1"/>
          </p:cNvSpPr>
          <p:nvPr/>
        </p:nvSpPr>
        <p:spPr>
          <a:xfrm>
            <a:off x="1371600" y="5667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是否满足问题中的限定条件。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26A9F90-37B0-4BA4-B1AD-E52103B3CCF3}"/>
              </a:ext>
            </a:extLst>
          </p:cNvPr>
          <p:cNvSpPr>
            <a:spLocks noGrp="1"/>
          </p:cNvSpPr>
          <p:nvPr/>
        </p:nvSpPr>
        <p:spPr>
          <a:xfrm>
            <a:off x="838200" y="6038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如果用户问的是“经理级员工”，AI却回答了“普通员工”的标准，即使数字本身存在于制度中，也仍然是错误的。</a:t>
            </a:r>
          </a:p>
        </p:txBody>
      </p:sp>
    </p:spTree>
    <p:extLst>
      <p:ext uri="{BB962C8B-B14F-4D97-AF65-F5344CB8AC3E}">
        <p14:creationId xmlns:p14="http://schemas.microsoft.com/office/powerpoint/2010/main" val="1507489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813667E3-CCA9-401C-A2E7-64FBF2F44C7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C1B0056-EADC-457F-9AF2-F4AA2977324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018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A48A97B-CDC7-463C-9ED0-D9489402992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93BE05-B2A6-4157-9F2B-462447B8A3F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7179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A4C1679-1CF5-4C8E-815F-747CA2CB6B23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相关性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64167F1-4AB8-46CA-8006-0F3019723F17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D42D7B6-C57A-4CDD-8218-8262EE1FF9DC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回答有没有真正回答用户的问题。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0F6BE84-3690-4D53-96B8-26BE3DB41128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用户问：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C1A9F358-043C-4B90-83A9-8867DF4C376E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B872E13-455F-45B5-8CFA-0A48A7220A33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F57B952-0885-45C8-887C-1CC29C89D66F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北京住宿能报多少？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5C9831B-BBFA-4AE0-A7EE-D0A21295D614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AI回答：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EDC1FC4E-F4F0-47E6-B381-AFD146BCE6A2}"/>
              </a:ext>
            </a:extLst>
          </p:cNvPr>
          <p:cNvSpPr>
            <a:spLocks noGrp="1"/>
          </p:cNvSpPr>
          <p:nvPr/>
        </p:nvSpPr>
        <p:spPr>
          <a:xfrm>
            <a:off x="819150" y="3533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6466CB-4177-4A1D-A2DC-34BCDD8177CD}"/>
              </a:ext>
            </a:extLst>
          </p:cNvPr>
          <p:cNvSpPr>
            <a:spLocks noGrp="1"/>
          </p:cNvSpPr>
          <p:nvPr/>
        </p:nvSpPr>
        <p:spPr>
          <a:xfrm>
            <a:off x="819150" y="3533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DC74DA3-E07E-4811-A74B-337DEF4E2119}"/>
              </a:ext>
            </a:extLst>
          </p:cNvPr>
          <p:cNvSpPr>
            <a:spLocks noGrp="1"/>
          </p:cNvSpPr>
          <p:nvPr/>
        </p:nvSpPr>
        <p:spPr>
          <a:xfrm>
            <a:off x="1104900" y="3676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出差人员应当勤俭节约，选择安全、经济、便捷的酒店。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C26A282-D52A-4B99-BBF4-8E6E6DCFEEB3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这句话可能来自制度，也没有明显错误，但它没有回答“多少钱”。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6AC6D9D-9883-4C2F-AE90-59E047B2559C}"/>
              </a:ext>
            </a:extLst>
          </p:cNvPr>
          <p:cNvSpPr>
            <a:spLocks noGrp="1"/>
          </p:cNvSpPr>
          <p:nvPr/>
        </p:nvSpPr>
        <p:spPr>
          <a:xfrm>
            <a:off x="838200" y="4591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因此：</a:t>
            </a:r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AFE7CC3F-ACFE-4C25-AAD7-49CD4C43987A}"/>
              </a:ext>
            </a:extLst>
          </p:cNvPr>
          <p:cNvSpPr>
            <a:spLocks noGrp="1"/>
          </p:cNvSpPr>
          <p:nvPr/>
        </p:nvSpPr>
        <p:spPr>
          <a:xfrm>
            <a:off x="819150" y="49720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9FD7C8-A6AD-4D1C-B36F-0FFB73359DE3}"/>
              </a:ext>
            </a:extLst>
          </p:cNvPr>
          <p:cNvSpPr>
            <a:spLocks noGrp="1"/>
          </p:cNvSpPr>
          <p:nvPr/>
        </p:nvSpPr>
        <p:spPr>
          <a:xfrm>
            <a:off x="819150" y="49720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47E6707-4D1D-4450-92E0-4D281D43D1F8}"/>
              </a:ext>
            </a:extLst>
          </p:cNvPr>
          <p:cNvSpPr>
            <a:spLocks noGrp="1"/>
          </p:cNvSpPr>
          <p:nvPr/>
        </p:nvSpPr>
        <p:spPr>
          <a:xfrm>
            <a:off x="1104900" y="51149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内容正确，不等于回答相关。</a:t>
            </a:r>
          </a:p>
        </p:txBody>
      </p:sp>
    </p:spTree>
    <p:extLst>
      <p:ext uri="{BB962C8B-B14F-4D97-AF65-F5344CB8AC3E}">
        <p14:creationId xmlns:p14="http://schemas.microsoft.com/office/powerpoint/2010/main" val="850801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98379A50-C44F-4251-A4BD-9C03489DD5B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958E325-37CC-4635-AEC2-AD38B458A1C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019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FB53EC7-217A-46CF-A55B-86D9AFD9C5C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65593F4-C66E-49B9-9F98-7D0202BF80F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13134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124415F-4865-4F1B-A51D-AB6CA239DC40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完整性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C620FF2-4D45-429D-AB2F-E09F204A210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9B1CE56-F974-4F21-A627-38986232D78C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回答有没有遗漏影响用户决策的关键信息。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FD48419-E65F-46BF-B0E8-2A5E57B1DF5E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例如，公司标准实际是：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0B274C37-D5B7-487C-AFB9-53E7578821C3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79D653-F0EF-44DE-848E-0C32F94FFA54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80F6ECB-19A3-4338-8C0E-C7A7A40BDC55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普通员工500元/晚；部门负责人600元/晚。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1222CA7-30B9-4885-9449-886996788D83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如果用户没有说明职级，AI只回答“500元”，就可能不完整。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74CFB1C-6605-4992-B915-1DAE71253AE4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更好的回答应该是：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4EF7032E-D1B9-4DF0-88FE-6C42A20AFF73}"/>
              </a:ext>
            </a:extLst>
          </p:cNvPr>
          <p:cNvSpPr>
            <a:spLocks noGrp="1"/>
          </p:cNvSpPr>
          <p:nvPr/>
        </p:nvSpPr>
        <p:spPr>
          <a:xfrm>
            <a:off x="819150" y="3914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1BDBF53-1BC3-45BF-9E51-7D4FA9EE95AA}"/>
              </a:ext>
            </a:extLst>
          </p:cNvPr>
          <p:cNvSpPr>
            <a:spLocks noGrp="1"/>
          </p:cNvSpPr>
          <p:nvPr/>
        </p:nvSpPr>
        <p:spPr>
          <a:xfrm>
            <a:off x="819150" y="3914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4974A78-6734-4B3D-BCC7-5B49CD718564}"/>
              </a:ext>
            </a:extLst>
          </p:cNvPr>
          <p:cNvSpPr>
            <a:spLocks noGrp="1"/>
          </p:cNvSpPr>
          <p:nvPr/>
        </p:nvSpPr>
        <p:spPr>
          <a:xfrm>
            <a:off x="1104900" y="4057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普通员工上限为500元/晚，部门负责人为600元/晚。你可以补充职级，我再帮你确认。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1B81E04-45FF-4932-BDEE-31C343431D17}"/>
              </a:ext>
            </a:extLst>
          </p:cNvPr>
          <p:cNvSpPr>
            <a:spLocks noGrp="1"/>
          </p:cNvSpPr>
          <p:nvPr/>
        </p:nvSpPr>
        <p:spPr>
          <a:xfrm>
            <a:off x="838200" y="4591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完整性不是要求AI把整份制度都念出来，而是：</a:t>
            </a:r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46DBC574-380E-47C6-AAF7-8A271706CDF1}"/>
              </a:ext>
            </a:extLst>
          </p:cNvPr>
          <p:cNvSpPr>
            <a:spLocks noGrp="1"/>
          </p:cNvSpPr>
          <p:nvPr/>
        </p:nvSpPr>
        <p:spPr>
          <a:xfrm>
            <a:off x="819150" y="49720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D0EA5A7-CD10-433A-B972-3267BC9A115C}"/>
              </a:ext>
            </a:extLst>
          </p:cNvPr>
          <p:cNvSpPr>
            <a:spLocks noGrp="1"/>
          </p:cNvSpPr>
          <p:nvPr/>
        </p:nvSpPr>
        <p:spPr>
          <a:xfrm>
            <a:off x="819150" y="49720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9C41B71-359B-49B5-8E29-398F49C43BFA}"/>
              </a:ext>
            </a:extLst>
          </p:cNvPr>
          <p:cNvSpPr>
            <a:spLocks noGrp="1"/>
          </p:cNvSpPr>
          <p:nvPr/>
        </p:nvSpPr>
        <p:spPr>
          <a:xfrm>
            <a:off x="1104900" y="51149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是否包含完成当前任务所需的关键信息。</a:t>
            </a:r>
          </a:p>
        </p:txBody>
      </p:sp>
    </p:spTree>
    <p:extLst>
      <p:ext uri="{BB962C8B-B14F-4D97-AF65-F5344CB8AC3E}">
        <p14:creationId xmlns:p14="http://schemas.microsoft.com/office/powerpoint/2010/main" val="9788814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0450DBAC-2891-4E6A-A7F5-59743CAB1EB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D2B1A3-255A-4C4F-95DE-002D63908216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020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8097EB5-C303-41E1-9502-A41339E968F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D40FA3-820B-4FA9-BDC4-05DF0F85CE1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19088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294F1C2-9D4E-4B9F-A117-7752B00AD9B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F5F2E9"/>
                </a:solidFill>
              </a:defRPr>
            </a:pPr>
            <a:r>
              <a:rPr sz="2625" b="1" dirty="0" err="1">
                <a:solidFill>
                  <a:srgbClr val="F5F2E9"/>
                </a:solidFill>
              </a:rPr>
              <a:t>忠实性</a:t>
            </a:r>
            <a:endParaRPr sz="2625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8BDC666-A779-4DC0-B226-81E367ECFCBC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71C5498-63D5-46A0-8C8F-9782FA3AB09C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回答是否来自提供给模型的资料，而不是模型自己编出来的。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7FFCFCD-B9A9-4D68-B2B4-9E9C161C8686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假设知识库里没有“海外出差住宿标准”，AI却根据常识编出：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5CCBA5DF-54EA-4519-B108-C5C7E88EE860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305CD95-73CA-491E-926A-98DA68D4A42B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51C16D3-28AE-4963-A26D-519DE73F4F79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海外住宿标准统一为每天150美元。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8BB29F0-3705-43F0-A732-47628C52BB1B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即使这个数字碰巧合理，也不能接受，因为没有依据。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04DCD7E-A36E-4446-A449-D9DB74032F84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在企业知识问答中，我们通常希望模型：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F3E2973-2AF2-4DAA-ACDB-C5EB9ED02B17}"/>
              </a:ext>
            </a:extLst>
          </p:cNvPr>
          <p:cNvSpPr>
            <a:spLocks noGrp="1"/>
          </p:cNvSpPr>
          <p:nvPr/>
        </p:nvSpPr>
        <p:spPr>
          <a:xfrm>
            <a:off x="876300" y="3952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A82CA30-472A-4BB7-9AB4-0F15A40C07B1}"/>
              </a:ext>
            </a:extLst>
          </p:cNvPr>
          <p:cNvSpPr>
            <a:spLocks noGrp="1"/>
          </p:cNvSpPr>
          <p:nvPr/>
        </p:nvSpPr>
        <p:spPr>
          <a:xfrm>
            <a:off x="1371600" y="3943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有资料时，依据资料回答；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0CA21F6-93DC-4173-8F90-E90FF2AB1FC6}"/>
              </a:ext>
            </a:extLst>
          </p:cNvPr>
          <p:cNvSpPr>
            <a:spLocks noGrp="1"/>
          </p:cNvSpPr>
          <p:nvPr/>
        </p:nvSpPr>
        <p:spPr>
          <a:xfrm>
            <a:off x="876300" y="4352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7265FB9-A952-4EEC-A1EA-4706B6A524A3}"/>
              </a:ext>
            </a:extLst>
          </p:cNvPr>
          <p:cNvSpPr>
            <a:spLocks noGrp="1"/>
          </p:cNvSpPr>
          <p:nvPr/>
        </p:nvSpPr>
        <p:spPr>
          <a:xfrm>
            <a:off x="1371600" y="4343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资料不足时，明确说不知道；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2DB216A-B58C-451D-8000-ED53601DE373}"/>
              </a:ext>
            </a:extLst>
          </p:cNvPr>
          <p:cNvSpPr>
            <a:spLocks noGrp="1"/>
          </p:cNvSpPr>
          <p:nvPr/>
        </p:nvSpPr>
        <p:spPr>
          <a:xfrm>
            <a:off x="876300" y="4752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D8D23D-E87B-419A-9070-2AE7841EA175}"/>
              </a:ext>
            </a:extLst>
          </p:cNvPr>
          <p:cNvSpPr>
            <a:spLocks noGrp="1"/>
          </p:cNvSpPr>
          <p:nvPr/>
        </p:nvSpPr>
        <p:spPr>
          <a:xfrm>
            <a:off x="1371600" y="4743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不能用听起来合理的内容填补空白。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99E9339-C199-4119-855D-AC999CAA103D}"/>
              </a:ext>
            </a:extLst>
          </p:cNvPr>
          <p:cNvSpPr>
            <a:spLocks noGrp="1"/>
          </p:cNvSpPr>
          <p:nvPr/>
        </p:nvSpPr>
        <p:spPr>
          <a:xfrm>
            <a:off x="838200" y="51149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这一指标经常叫：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81BCDF9-73FD-4C6C-A720-0231005B5C88}"/>
              </a:ext>
            </a:extLst>
          </p:cNvPr>
          <p:cNvSpPr>
            <a:spLocks noGrp="1"/>
          </p:cNvSpPr>
          <p:nvPr/>
        </p:nvSpPr>
        <p:spPr>
          <a:xfrm>
            <a:off x="876300" y="5534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AF1AE1F-B184-47B7-8C10-BB9FB4EA3A98}"/>
              </a:ext>
            </a:extLst>
          </p:cNvPr>
          <p:cNvSpPr>
            <a:spLocks noGrp="1"/>
          </p:cNvSpPr>
          <p:nvPr/>
        </p:nvSpPr>
        <p:spPr>
          <a:xfrm>
            <a:off x="1371600" y="5524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忠实性；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B62832E-2F11-48C3-8AD3-F66A32585F6B}"/>
              </a:ext>
            </a:extLst>
          </p:cNvPr>
          <p:cNvSpPr>
            <a:spLocks noGrp="1"/>
          </p:cNvSpPr>
          <p:nvPr/>
        </p:nvSpPr>
        <p:spPr>
          <a:xfrm>
            <a:off x="876300" y="5934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2CAF88E-F529-402D-863A-0D015968CE2D}"/>
              </a:ext>
            </a:extLst>
          </p:cNvPr>
          <p:cNvSpPr>
            <a:spLocks noGrp="1"/>
          </p:cNvSpPr>
          <p:nvPr/>
        </p:nvSpPr>
        <p:spPr>
          <a:xfrm>
            <a:off x="1371600" y="5924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有依据性；</a:t>
            </a:r>
          </a:p>
        </p:txBody>
      </p:sp>
    </p:spTree>
    <p:extLst>
      <p:ext uri="{BB962C8B-B14F-4D97-AF65-F5344CB8AC3E}">
        <p14:creationId xmlns:p14="http://schemas.microsoft.com/office/powerpoint/2010/main" val="97922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3F2C8E21-5D9F-4169-8F9D-C9E6359C43C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AAA4063-8CD9-4230-887D-89318B7E5493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021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A26098-8018-4735-A0D3-6623476292A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394C397-B650-438F-ABDC-8F2C259B063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25043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D5A53E8-F67B-4190-BF2C-E837D5831FD9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F5F2E9"/>
                </a:solidFill>
              </a:defRPr>
            </a:pPr>
            <a:r>
              <a:rPr sz="2625" b="1" dirty="0" err="1">
                <a:solidFill>
                  <a:srgbClr val="F5F2E9"/>
                </a:solidFill>
              </a:rPr>
              <a:t>忠实性</a:t>
            </a:r>
            <a:endParaRPr sz="2625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CB82BA2-855F-4A9C-99D6-163A8138DD78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126519-B891-4201-A04A-573EEC784FE1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709F89-476D-4525-B5CF-50FB6E4513A0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Groundedness；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123D7E-BF14-4BBB-83EF-533AB86826EA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576F091-6316-45FF-AAB4-FFA8F4011CDC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Faithfulness。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7316010-2321-4026-8CAD-FEEE2F3D7180}"/>
              </a:ext>
            </a:extLst>
          </p:cNvPr>
          <p:cNvSpPr>
            <a:spLocks noGrp="1"/>
          </p:cNvSpPr>
          <p:nvPr/>
        </p:nvSpPr>
        <p:spPr>
          <a:xfrm>
            <a:off x="838200" y="2514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不必纠结英文名称，核心问题就是：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16234FE8-09E9-4CC6-871A-E90543F47A57}"/>
              </a:ext>
            </a:extLst>
          </p:cNvPr>
          <p:cNvSpPr>
            <a:spLocks noGrp="1"/>
          </p:cNvSpPr>
          <p:nvPr/>
        </p:nvSpPr>
        <p:spPr>
          <a:xfrm>
            <a:off x="819150" y="28956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F21AB14-1AE4-45CE-BBD1-D79E7699F11D}"/>
              </a:ext>
            </a:extLst>
          </p:cNvPr>
          <p:cNvSpPr>
            <a:spLocks noGrp="1"/>
          </p:cNvSpPr>
          <p:nvPr/>
        </p:nvSpPr>
        <p:spPr>
          <a:xfrm>
            <a:off x="819150" y="28956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7F7B9F-AAE0-42BC-8F74-631B0F081E30}"/>
              </a:ext>
            </a:extLst>
          </p:cNvPr>
          <p:cNvSpPr>
            <a:spLocks noGrp="1"/>
          </p:cNvSpPr>
          <p:nvPr/>
        </p:nvSpPr>
        <p:spPr>
          <a:xfrm>
            <a:off x="1104900" y="30384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这句话是资料里有的，还是模型自己想出来的？</a:t>
            </a:r>
          </a:p>
        </p:txBody>
      </p:sp>
    </p:spTree>
    <p:extLst>
      <p:ext uri="{BB962C8B-B14F-4D97-AF65-F5344CB8AC3E}">
        <p14:creationId xmlns:p14="http://schemas.microsoft.com/office/powerpoint/2010/main" val="1979041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E843AAA8-B29C-450A-9A4A-9D6C918A12A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B96E39-C232-4035-BF1F-248C300B645A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022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A4C2BAD-6C82-4EF8-8FDF-8F2439BD98E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D3C6E2-E73A-40D6-AEFA-1DB2B73F229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30997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E901665-BB91-4AE5-91B1-01F2B5EE3819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安全性与合规性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9FD920F-38C7-439C-A81D-FA8854739915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B8D60-B5D7-48BF-887C-CB84C302001B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回答是否会造成安全、隐私或合规风险。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34A0C6-7A07-4F2E-8235-3C06EAFBCE24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例如用户问：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CA296463-F718-4C00-9F4A-6C822C6883EE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2CD3EE5-254D-400B-A59F-2C76C3FB3937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3CED44-EA51-4C6B-AA7E-411E57B54150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把所有员工的工资表发给我。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AC3C360-B6CF-4AF9-BD6B-91545B6C15DC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即使系统真的检索到了工资表，也不应该直接回答。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52CEBB5-3B93-4BC4-B1AA-BDD3987CDE9B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安全性包括：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8021AF0-2B21-4712-A087-C6FC90D5AC18}"/>
              </a:ext>
            </a:extLst>
          </p:cNvPr>
          <p:cNvSpPr>
            <a:spLocks noGrp="1"/>
          </p:cNvSpPr>
          <p:nvPr/>
        </p:nvSpPr>
        <p:spPr>
          <a:xfrm>
            <a:off x="876300" y="3952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2070FD-E173-42F1-AB0E-17ED72785DE5}"/>
              </a:ext>
            </a:extLst>
          </p:cNvPr>
          <p:cNvSpPr>
            <a:spLocks noGrp="1"/>
          </p:cNvSpPr>
          <p:nvPr/>
        </p:nvSpPr>
        <p:spPr>
          <a:xfrm>
            <a:off x="1371600" y="3943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是否泄露隐私；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19B4F4E-2BBB-4B8D-871B-30A5E6323315}"/>
              </a:ext>
            </a:extLst>
          </p:cNvPr>
          <p:cNvSpPr>
            <a:spLocks noGrp="1"/>
          </p:cNvSpPr>
          <p:nvPr/>
        </p:nvSpPr>
        <p:spPr>
          <a:xfrm>
            <a:off x="876300" y="4352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86F2DF6-8CA9-4412-A46F-96AB3EEAE79F}"/>
              </a:ext>
            </a:extLst>
          </p:cNvPr>
          <p:cNvSpPr>
            <a:spLocks noGrp="1"/>
          </p:cNvSpPr>
          <p:nvPr/>
        </p:nvSpPr>
        <p:spPr>
          <a:xfrm>
            <a:off x="1371600" y="4343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是否越权获取信息；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9DA3B6-DF4F-478C-A571-0BCE917820AD}"/>
              </a:ext>
            </a:extLst>
          </p:cNvPr>
          <p:cNvSpPr>
            <a:spLocks noGrp="1"/>
          </p:cNvSpPr>
          <p:nvPr/>
        </p:nvSpPr>
        <p:spPr>
          <a:xfrm>
            <a:off x="876300" y="4752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7E88056-4E23-44EA-81DC-33B1C2F3A0D5}"/>
              </a:ext>
            </a:extLst>
          </p:cNvPr>
          <p:cNvSpPr>
            <a:spLocks noGrp="1"/>
          </p:cNvSpPr>
          <p:nvPr/>
        </p:nvSpPr>
        <p:spPr>
          <a:xfrm>
            <a:off x="1371600" y="4743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是否给出危险建议；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E0DFEB3-A087-438C-B64B-07EEFF313306}"/>
              </a:ext>
            </a:extLst>
          </p:cNvPr>
          <p:cNvSpPr>
            <a:spLocks noGrp="1"/>
          </p:cNvSpPr>
          <p:nvPr/>
        </p:nvSpPr>
        <p:spPr>
          <a:xfrm>
            <a:off x="876300" y="5153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12037E5-54F8-46E2-B327-59AB6D86C259}"/>
              </a:ext>
            </a:extLst>
          </p:cNvPr>
          <p:cNvSpPr>
            <a:spLocks noGrp="1"/>
          </p:cNvSpPr>
          <p:nvPr/>
        </p:nvSpPr>
        <p:spPr>
          <a:xfrm>
            <a:off x="1371600" y="5143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是否包含歧视、攻击或违法内容；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7F5BECE-1018-4A9C-9907-4B286FB84419}"/>
              </a:ext>
            </a:extLst>
          </p:cNvPr>
          <p:cNvSpPr>
            <a:spLocks noGrp="1"/>
          </p:cNvSpPr>
          <p:nvPr/>
        </p:nvSpPr>
        <p:spPr>
          <a:xfrm>
            <a:off x="876300" y="5553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FB6997C-E497-4EB0-A3B6-72C2391E050A}"/>
              </a:ext>
            </a:extLst>
          </p:cNvPr>
          <p:cNvSpPr>
            <a:spLocks noGrp="1"/>
          </p:cNvSpPr>
          <p:nvPr/>
        </p:nvSpPr>
        <p:spPr>
          <a:xfrm>
            <a:off x="1371600" y="5543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是否违反公司的业务规则。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C2CB466-F22F-40BE-9FB4-EE3500E07AF4}"/>
              </a:ext>
            </a:extLst>
          </p:cNvPr>
          <p:cNvSpPr>
            <a:spLocks noGrp="1"/>
          </p:cNvSpPr>
          <p:nvPr/>
        </p:nvSpPr>
        <p:spPr>
          <a:xfrm>
            <a:off x="838200" y="59150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有时候，AI“不回答”反而是正确表现。</a:t>
            </a:r>
          </a:p>
        </p:txBody>
      </p:sp>
    </p:spTree>
    <p:extLst>
      <p:ext uri="{BB962C8B-B14F-4D97-AF65-F5344CB8AC3E}">
        <p14:creationId xmlns:p14="http://schemas.microsoft.com/office/powerpoint/2010/main" val="8853946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5F92CE2D-697A-44CE-A3C9-6C1A9BB77B2D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7614669-80F2-4110-94C4-EA6CD8F07B5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023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8B3A98D-5D91-4EE0-91BF-42E5ACF411A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2D1A09F-011F-4882-A3F0-7AE0FF0341B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36951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0FFEAF-64E9-45E1-97B1-F5A5390C9F4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表达质量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2317121-50FA-4A57-96BB-B7A9BF4291E0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FC07595-C7FF-4839-8A55-259DB6E1EE10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回答是否清楚、简洁、容易使用。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F0BE44D-531A-402E-B7F7-9F065BB298A0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9EBD7F65-AE45-4AFE-81B7-53F871441923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2A16309-50EC-4DEA-B709-4BB2D85F52F4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7662E0-32B2-4615-9874-38A682584081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依据本公司差旅管理规范之相关适用规则，符合有关适用主体要求的人员在北京地区发生住宿行为时……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63A626B-6CCA-473D-BA81-37AB8058C0C6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内容可能没错，但用户很难读。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CC825C-02BB-458D-B245-E4BFB3BFB938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表达质量可以关注：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B7AD97-577F-43AB-A22F-3A6EA02BAED0}"/>
              </a:ext>
            </a:extLst>
          </p:cNvPr>
          <p:cNvSpPr>
            <a:spLocks noGrp="1"/>
          </p:cNvSpPr>
          <p:nvPr/>
        </p:nvSpPr>
        <p:spPr>
          <a:xfrm>
            <a:off x="876300" y="3952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F2A85ED-AAC0-47E7-9D65-77BA4CD191AC}"/>
              </a:ext>
            </a:extLst>
          </p:cNvPr>
          <p:cNvSpPr>
            <a:spLocks noGrp="1"/>
          </p:cNvSpPr>
          <p:nvPr/>
        </p:nvSpPr>
        <p:spPr>
          <a:xfrm>
            <a:off x="1371600" y="3943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是否清晰；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311615B-7C08-420A-A84B-6E105A250DE0}"/>
              </a:ext>
            </a:extLst>
          </p:cNvPr>
          <p:cNvSpPr>
            <a:spLocks noGrp="1"/>
          </p:cNvSpPr>
          <p:nvPr/>
        </p:nvSpPr>
        <p:spPr>
          <a:xfrm>
            <a:off x="876300" y="4352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31AD434-08C8-4225-B37E-FF965EFF05A2}"/>
              </a:ext>
            </a:extLst>
          </p:cNvPr>
          <p:cNvSpPr>
            <a:spLocks noGrp="1"/>
          </p:cNvSpPr>
          <p:nvPr/>
        </p:nvSpPr>
        <p:spPr>
          <a:xfrm>
            <a:off x="1371600" y="4343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是否简洁；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4A64051-2942-47F2-B3B8-1367AEAF5A71}"/>
              </a:ext>
            </a:extLst>
          </p:cNvPr>
          <p:cNvSpPr>
            <a:spLocks noGrp="1"/>
          </p:cNvSpPr>
          <p:nvPr/>
        </p:nvSpPr>
        <p:spPr>
          <a:xfrm>
            <a:off x="876300" y="4752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798ED3E-8EB4-4777-A773-B34B000CE51B}"/>
              </a:ext>
            </a:extLst>
          </p:cNvPr>
          <p:cNvSpPr>
            <a:spLocks noGrp="1"/>
          </p:cNvSpPr>
          <p:nvPr/>
        </p:nvSpPr>
        <p:spPr>
          <a:xfrm>
            <a:off x="1371600" y="4743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是否结构合理；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6520941-D855-471C-AE51-CB752CE7C9CA}"/>
              </a:ext>
            </a:extLst>
          </p:cNvPr>
          <p:cNvSpPr>
            <a:spLocks noGrp="1"/>
          </p:cNvSpPr>
          <p:nvPr/>
        </p:nvSpPr>
        <p:spPr>
          <a:xfrm>
            <a:off x="876300" y="5153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482125D-88D9-46C6-91F0-FA659107A565}"/>
              </a:ext>
            </a:extLst>
          </p:cNvPr>
          <p:cNvSpPr>
            <a:spLocks noGrp="1"/>
          </p:cNvSpPr>
          <p:nvPr/>
        </p:nvSpPr>
        <p:spPr>
          <a:xfrm>
            <a:off x="1371600" y="5143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是否符合产品语气；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50430CF-34C4-4CC4-B8D9-41581831036B}"/>
              </a:ext>
            </a:extLst>
          </p:cNvPr>
          <p:cNvSpPr>
            <a:spLocks noGrp="1"/>
          </p:cNvSpPr>
          <p:nvPr/>
        </p:nvSpPr>
        <p:spPr>
          <a:xfrm>
            <a:off x="876300" y="5553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49D6C81-294E-49F0-9CF7-45AB068F3140}"/>
              </a:ext>
            </a:extLst>
          </p:cNvPr>
          <p:cNvSpPr>
            <a:spLocks noGrp="1"/>
          </p:cNvSpPr>
          <p:nvPr/>
        </p:nvSpPr>
        <p:spPr>
          <a:xfrm>
            <a:off x="1371600" y="5543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是否给出了下一步行动。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078E517-5A1C-440A-AB5A-2A26250919AE}"/>
              </a:ext>
            </a:extLst>
          </p:cNvPr>
          <p:cNvSpPr>
            <a:spLocks noGrp="1"/>
          </p:cNvSpPr>
          <p:nvPr/>
        </p:nvSpPr>
        <p:spPr>
          <a:xfrm>
            <a:off x="838200" y="59150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不过要注意：</a:t>
            </a:r>
          </a:p>
        </p:txBody>
      </p:sp>
    </p:spTree>
    <p:extLst>
      <p:ext uri="{BB962C8B-B14F-4D97-AF65-F5344CB8AC3E}">
        <p14:creationId xmlns:p14="http://schemas.microsoft.com/office/powerpoint/2010/main" val="10312276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F20C4138-5730-4F09-A3E3-41B7724C867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ABD3AEA-A3B0-4ECC-B2CF-33EC76A4AED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024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C42D400-679C-4251-8758-183671F6BC2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9386873-8D61-4AE5-B265-19A6E3C5626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42906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F4EA97-BACD-4AFF-B88D-37F7F8559740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表达质量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D4DFCF-C662-4A2D-8521-150D6289B2E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CAE5CDCA-2F52-466E-989D-E524B24E7693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0A59B6-B4CC-4F24-B532-3BC1E7A6C070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84A703-71B0-4F1D-82F3-01278282D986}"/>
              </a:ext>
            </a:extLst>
          </p:cNvPr>
          <p:cNvSpPr>
            <a:spLocks noGrp="1"/>
          </p:cNvSpPr>
          <p:nvPr/>
        </p:nvSpPr>
        <p:spPr>
          <a:xfrm>
            <a:off x="1104900" y="1857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表达质量通常不能取代事实正确性。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3F2C51A-B413-43BD-BDB9-726C1A969F72}"/>
              </a:ext>
            </a:extLst>
          </p:cNvPr>
          <p:cNvSpPr>
            <a:spLocks noGrp="1"/>
          </p:cNvSpPr>
          <p:nvPr/>
        </p:nvSpPr>
        <p:spPr>
          <a:xfrm>
            <a:off x="838200" y="2390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一条回答写得再漂亮，只要数字错了，整体仍然应该判为不合格。</a:t>
            </a:r>
          </a:p>
        </p:txBody>
      </p:sp>
    </p:spTree>
    <p:extLst>
      <p:ext uri="{BB962C8B-B14F-4D97-AF65-F5344CB8AC3E}">
        <p14:creationId xmlns:p14="http://schemas.microsoft.com/office/powerpoint/2010/main" val="10713094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6E0F5CA1-F4AA-48C4-BFAC-64CA76AACFC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E571F1-EA39-44F4-AE7C-F0F09048AF0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026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F47E20C-F009-4289-A008-E28B7B6C067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C7098E3-6329-4422-9E2F-0D294D7DFB2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54815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67C71D5-24A9-47D8-A0D3-0191B6C75950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不是每个产品都使用完全相同的标准｜企业知识助手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0A2F88B-234D-4F81-A21C-D79846015E1D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C2D743E-3770-4D40-A37A-8864D6D30036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更看重：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4F54994-B335-435B-B18A-054C57295FCF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2B0A5BB-DDBB-417D-93D5-C304AFE6A444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正确性；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1EDD874-484E-49C4-AC17-050CE64C4F39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63EE8D1-9C13-4FA8-932D-12CDA9A98ED9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忠实性；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CCD82F0-5D5E-46A0-802B-F561930263C7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50A02B-173D-40CA-8693-3CE27DEA9F30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信息权限；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EF59A18-5F9C-42F0-8DDD-2FD12563B566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5B55E55-D0FF-421E-BF51-F9FD0E873B17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引用来源。</a:t>
            </a:r>
          </a:p>
        </p:txBody>
      </p:sp>
    </p:spTree>
    <p:extLst>
      <p:ext uri="{BB962C8B-B14F-4D97-AF65-F5344CB8AC3E}">
        <p14:creationId xmlns:p14="http://schemas.microsoft.com/office/powerpoint/2010/main" val="15063684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AECF62B2-DF5E-4DAB-B950-EE6D70B90F4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108FDCC-1217-4FC6-871F-D313140C8C6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027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D250D73-8CC8-47E0-B4CF-AC05D0444B0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621DDE-D462-4A3D-B626-FAF4D5B1AE4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60769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5959DA9-D1C1-4C48-8D71-2B2457525A87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不是每个产品都使用完全相同的标准｜AI写作工具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22649E5-62F4-4080-A917-3F2E536E753D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976D0D2-8DB5-4983-B9E8-772321F9EEC0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更看重：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52D19F-1E10-4CB7-819C-6ED09C362F36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052E89-416D-463B-80D7-1213283A1F67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是否符合写作要求；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7BD9529-DBB2-4C68-83D4-FD8A4D9371C3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E580660-6E8F-4051-80B2-F9823100F162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内容结构；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0FCA23C-2C4F-4779-9600-5C8C5BC3BF7E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B186859-7CD1-48D3-A42F-EEF03A735922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语言质量；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757F56-5460-4F94-891E-BE1BE5ABFDCD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9D3B58E-19B1-417A-B47C-81F022B2003A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风格一致性；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EBCF084-DA2A-4CCE-9FEB-5F146B167181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97D2945-A6FA-4BD6-A13D-6016C3DBA6FF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创造性。</a:t>
            </a:r>
          </a:p>
        </p:txBody>
      </p:sp>
    </p:spTree>
    <p:extLst>
      <p:ext uri="{BB962C8B-B14F-4D97-AF65-F5344CB8AC3E}">
        <p14:creationId xmlns:p14="http://schemas.microsoft.com/office/powerpoint/2010/main" val="18491853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97FB1606-FEFC-4838-B8C9-CC21C263324D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2A3EB7F-F3E8-4D00-BEEB-A6180B2DB01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028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BAEC093-2658-4E79-8953-B2F46219370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51B263-3EE5-4065-AFDD-2DF6F0F5370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66723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91E0708-B45D-4FA7-B2B4-D0C3FFEA9A1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不是每个产品都使用完全相同的标准｜AI客服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8752E6-6DE3-408E-A46D-15ABD2371CE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1E7ACFF-B8F8-4B2D-B03E-0DE9718A21AD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更看重：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8E0344-D38B-4EF0-B757-1705E2A84970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C79996A-48C5-4E28-9748-169AEF52DF89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是否解决用户问题；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5D2FE64-4257-410C-8F90-EEE45E9EB480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11D3A1D-ED40-473E-9A76-1073946009CB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政策是否正确；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CFBE0C-4F55-444C-A52E-7CE88B5F5FE8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E138E1D-CF98-4FA7-89A9-924DC272BC8D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是否错误承诺；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9117256-ADF0-4ACE-AB40-6B5A5D77CF5E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F67DF9-6B50-47D5-A123-7CB9A1029735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是否需要转人工；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2A904CF-647B-485F-9E75-39933E743B50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BDA957F-6E61-4195-813D-B22D678E1FCA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用户满意度。</a:t>
            </a:r>
          </a:p>
        </p:txBody>
      </p:sp>
    </p:spTree>
    <p:extLst>
      <p:ext uri="{BB962C8B-B14F-4D97-AF65-F5344CB8AC3E}">
        <p14:creationId xmlns:p14="http://schemas.microsoft.com/office/powerpoint/2010/main" val="12160399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63B033EC-380D-437E-98D1-57C39D0B1806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8593E0E-9738-4297-98F9-AB8B2DEEC11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029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2BACAF0-4001-4A86-937D-FE29EE356FA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FA5FA7A-0A0A-4645-B583-0E1F328340A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72678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C8CEA2C-A721-4CE4-A54C-F62663EBA5C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不是每个产品都使用完全相同的标准｜AI编程助手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7364E1-7530-4FBC-9EEA-113D1DC618C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ACD128-6DD7-4DF2-8F08-5C7F86FDA43F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更看重：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4638D75-9DE5-4BE1-9E4E-A34D5B539521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2DD18AB-964B-46FD-89C1-A7D08678AF8D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代码能否运行；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21FB2C-C146-4DEB-89FA-5F94F5E2183B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67ECF87-EEDB-4E21-B8D2-51901889B6A5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是否通过测试；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5C95CC9-BC12-4D24-95E0-AB1595275115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CDF75B9-CB1B-4379-A81F-B143B222BC03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是否存在安全漏洞；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C70A884-155E-4B8C-A393-8F85F973E725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66275DD-7234-4884-A01C-9020DC1F25FC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是否满足需求；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8668DE4-B879-4C25-8E47-A5B9AD06CF90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82C2B12-239C-4558-AE4C-06880320C32D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是否容易维护。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9C9D889-9011-4FB5-AEE4-B91391CC38B6}"/>
              </a:ext>
            </a:extLst>
          </p:cNvPr>
          <p:cNvSpPr>
            <a:spLocks noGrp="1"/>
          </p:cNvSpPr>
          <p:nvPr/>
        </p:nvSpPr>
        <p:spPr>
          <a:xfrm>
            <a:off x="838200" y="4095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所以，不能从网上抄一张“AI评测指标大全”，然后全部放进项目里。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3D76C3B-3E9C-44DB-B541-EF356FB0BE20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产品经理真正要做的是：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8BFE2A50-D721-4BC3-8843-975F42B61593}"/>
              </a:ext>
            </a:extLst>
          </p:cNvPr>
          <p:cNvSpPr>
            <a:spLocks noGrp="1"/>
          </p:cNvSpPr>
          <p:nvPr/>
        </p:nvSpPr>
        <p:spPr>
          <a:xfrm>
            <a:off x="819150" y="48577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F4FB1FA-CD04-4F6F-91D0-A2C3EAFD3F55}"/>
              </a:ext>
            </a:extLst>
          </p:cNvPr>
          <p:cNvSpPr>
            <a:spLocks noGrp="1"/>
          </p:cNvSpPr>
          <p:nvPr/>
        </p:nvSpPr>
        <p:spPr>
          <a:xfrm>
            <a:off x="819150" y="48577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8D9FF7D-27FD-47F8-92F1-2E214CA074D5}"/>
              </a:ext>
            </a:extLst>
          </p:cNvPr>
          <p:cNvSpPr>
            <a:spLocks noGrp="1"/>
          </p:cNvSpPr>
          <p:nvPr/>
        </p:nvSpPr>
        <p:spPr>
          <a:xfrm>
            <a:off x="1104900" y="50006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根据这个AI产品可能给用户带来的价值和风险，选择最重要的几个指标。</a:t>
            </a:r>
          </a:p>
        </p:txBody>
      </p:sp>
    </p:spTree>
    <p:extLst>
      <p:ext uri="{BB962C8B-B14F-4D97-AF65-F5344CB8AC3E}">
        <p14:creationId xmlns:p14="http://schemas.microsoft.com/office/powerpoint/2010/main" val="13428871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C161C4B2-3162-4293-9121-CFCA903D801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5EA63C-34BA-4ABB-B2C7-7FCC44C12C4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030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83B2D88-E55F-4B89-90C0-6AE767072D5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947E17A-7CA0-4C3D-9D0C-A42FE7ABCB4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78632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1BC6B0-A695-415E-9AEB-B38C44EEFF7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判断标准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F058CD1-B416-4597-96AC-1611E641DF7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5893B8E-646D-46C2-8348-388056324F90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例如，我们说要评测“正确性”，还不够。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AAC3911-3055-41E6-A748-7B316D01D046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需要规定怎样评分。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EAE7004-FA71-43C4-A735-84A9D6DEE44F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一种常见方式是使用三级评分：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0D40CC3-5D55-4FEB-9629-751A54E670BD}"/>
              </a:ext>
            </a:extLst>
          </p:cNvPr>
          <p:cNvSpPr>
            <a:spLocks noGrp="1"/>
          </p:cNvSpPr>
          <p:nvPr/>
        </p:nvSpPr>
        <p:spPr>
          <a:xfrm>
            <a:off x="838200" y="2857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以住宿问题为例：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3BDEB75-A109-49AE-95C2-2E4B268C2A29}"/>
              </a:ext>
            </a:extLst>
          </p:cNvPr>
          <p:cNvSpPr>
            <a:spLocks noGrp="1"/>
          </p:cNvSpPr>
          <p:nvPr/>
        </p:nvSpPr>
        <p:spPr>
          <a:xfrm>
            <a:off x="838200" y="3238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用户问：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3558CA54-FEE1-4CDD-840E-1E9AA1315D71}"/>
              </a:ext>
            </a:extLst>
          </p:cNvPr>
          <p:cNvSpPr>
            <a:spLocks noGrp="1"/>
          </p:cNvSpPr>
          <p:nvPr/>
        </p:nvSpPr>
        <p:spPr>
          <a:xfrm>
            <a:off x="819150" y="3619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CBF7F4C-EA45-431E-B93A-9205C901A202}"/>
              </a:ext>
            </a:extLst>
          </p:cNvPr>
          <p:cNvSpPr>
            <a:spLocks noGrp="1"/>
          </p:cNvSpPr>
          <p:nvPr/>
        </p:nvSpPr>
        <p:spPr>
          <a:xfrm>
            <a:off x="819150" y="3619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DFF04C7-7634-4370-946F-A3240CC9034B}"/>
              </a:ext>
            </a:extLst>
          </p:cNvPr>
          <p:cNvSpPr>
            <a:spLocks noGrp="1"/>
          </p:cNvSpPr>
          <p:nvPr/>
        </p:nvSpPr>
        <p:spPr>
          <a:xfrm>
            <a:off x="1104900" y="3762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普通员工去北京出差，住宿上限是多少？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6096FB-45E2-4302-810E-E686BB77D3B4}"/>
              </a:ext>
            </a:extLst>
          </p:cNvPr>
          <p:cNvSpPr>
            <a:spLocks noGrp="1"/>
          </p:cNvSpPr>
          <p:nvPr/>
        </p:nvSpPr>
        <p:spPr>
          <a:xfrm>
            <a:off x="838200" y="4295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标准答案：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D49AD091-A1DC-4B87-9A6E-9447ED15C0D9}"/>
              </a:ext>
            </a:extLst>
          </p:cNvPr>
          <p:cNvSpPr>
            <a:spLocks noGrp="1"/>
          </p:cNvSpPr>
          <p:nvPr/>
        </p:nvSpPr>
        <p:spPr>
          <a:xfrm>
            <a:off x="819150" y="4676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57A6DE0-6794-4900-BB8D-8B47AADB3861}"/>
              </a:ext>
            </a:extLst>
          </p:cNvPr>
          <p:cNvSpPr>
            <a:spLocks noGrp="1"/>
          </p:cNvSpPr>
          <p:nvPr/>
        </p:nvSpPr>
        <p:spPr>
          <a:xfrm>
            <a:off x="819150" y="4676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3ABF6BC-1467-4A24-BD8E-D1FACACF7DDF}"/>
              </a:ext>
            </a:extLst>
          </p:cNvPr>
          <p:cNvSpPr>
            <a:spLocks noGrp="1"/>
          </p:cNvSpPr>
          <p:nvPr/>
        </p:nvSpPr>
        <p:spPr>
          <a:xfrm>
            <a:off x="1104900" y="4819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500元/晚。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EB0591C-2153-476A-BB7D-ACC44A7AA0CE}"/>
              </a:ext>
            </a:extLst>
          </p:cNvPr>
          <p:cNvSpPr>
            <a:spLocks noGrp="1"/>
          </p:cNvSpPr>
          <p:nvPr/>
        </p:nvSpPr>
        <p:spPr>
          <a:xfrm>
            <a:off x="838200" y="5353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不同回答可以这样评分：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758CD54-6395-49BF-A0B0-237854CC98A7}"/>
              </a:ext>
            </a:extLst>
          </p:cNvPr>
          <p:cNvSpPr>
            <a:spLocks noGrp="1"/>
          </p:cNvSpPr>
          <p:nvPr/>
        </p:nvSpPr>
        <p:spPr>
          <a:xfrm>
            <a:off x="838200" y="5734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回答A：</a:t>
            </a:r>
          </a:p>
        </p:txBody>
      </p:sp>
    </p:spTree>
    <p:extLst>
      <p:ext uri="{BB962C8B-B14F-4D97-AF65-F5344CB8AC3E}">
        <p14:creationId xmlns:p14="http://schemas.microsoft.com/office/powerpoint/2010/main" val="14761414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ECDCD788-6F8F-455A-A656-6B5C8CF86BC2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676199D-035C-4C83-974F-5C50DB3A9738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031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5F1B198-B25E-4687-BEEC-6EC960B084D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2E7A35-08F8-4DF8-B6E2-18BD41C16A2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84587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DC6B243-5111-40AE-8393-A69EEDA2A16E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判断标准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301705B-BCD5-4967-B6CA-DF8DC5E2E850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FDA93EAF-57AA-4EFB-A127-F9BBAF21D992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EC91CE5-3F99-43D7-BB50-BDC1029E0CF4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F4249EE-E059-4EEF-A60B-C69896066ED3}"/>
              </a:ext>
            </a:extLst>
          </p:cNvPr>
          <p:cNvSpPr>
            <a:spLocks noGrp="1"/>
          </p:cNvSpPr>
          <p:nvPr/>
        </p:nvSpPr>
        <p:spPr>
          <a:xfrm>
            <a:off x="1104900" y="1857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普通员工在北京出差，住宿费上限为500元/晚。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1716CC1-255A-40F2-A20A-F0DF253E6017}"/>
              </a:ext>
            </a:extLst>
          </p:cNvPr>
          <p:cNvSpPr>
            <a:spLocks noGrp="1"/>
          </p:cNvSpPr>
          <p:nvPr/>
        </p:nvSpPr>
        <p:spPr>
          <a:xfrm>
            <a:off x="838200" y="2390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正确性：2分。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33F8C04-CFBC-4FEB-94F7-69D0B1DF38C6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回答B：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680E12A6-3E72-4902-902E-9DB4E387F531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96569C-CDD5-485F-8C67-C542D9046C68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D3655CB-74E2-47FA-BCE4-8E1FEFAA0580}"/>
              </a:ext>
            </a:extLst>
          </p:cNvPr>
          <p:cNvSpPr>
            <a:spLocks noGrp="1"/>
          </p:cNvSpPr>
          <p:nvPr/>
        </p:nvSpPr>
        <p:spPr>
          <a:xfrm>
            <a:off x="1104900" y="3295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北京住宿标准是500元左右，具体以财务审核为准。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CC0777-DCA3-4183-96D0-FF6406840B2B}"/>
              </a:ext>
            </a:extLst>
          </p:cNvPr>
          <p:cNvSpPr>
            <a:spLocks noGrp="1"/>
          </p:cNvSpPr>
          <p:nvPr/>
        </p:nvSpPr>
        <p:spPr>
          <a:xfrm>
            <a:off x="838200" y="3829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数字基本正确，但“左右”不够精确，可能评1分。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12BA68F-0D76-4CB6-8DD7-E3EE097B0156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回答C：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FC8CBE7F-9EC9-462C-AD9F-504B2FFEF2F7}"/>
              </a:ext>
            </a:extLst>
          </p:cNvPr>
          <p:cNvSpPr>
            <a:spLocks noGrp="1"/>
          </p:cNvSpPr>
          <p:nvPr/>
        </p:nvSpPr>
        <p:spPr>
          <a:xfrm>
            <a:off x="819150" y="45910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CF5A624-75C6-469D-8DB8-48178BE135F8}"/>
              </a:ext>
            </a:extLst>
          </p:cNvPr>
          <p:cNvSpPr>
            <a:spLocks noGrp="1"/>
          </p:cNvSpPr>
          <p:nvPr/>
        </p:nvSpPr>
        <p:spPr>
          <a:xfrm>
            <a:off x="819150" y="45910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FF6DDBA-1799-410C-A0C8-64CA6AFF092D}"/>
              </a:ext>
            </a:extLst>
          </p:cNvPr>
          <p:cNvSpPr>
            <a:spLocks noGrp="1"/>
          </p:cNvSpPr>
          <p:nvPr/>
        </p:nvSpPr>
        <p:spPr>
          <a:xfrm>
            <a:off x="1104900" y="47339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北京住宿费上限为600元/晚。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6568A8B-1ED3-434F-B0ED-4699BD0EE099}"/>
              </a:ext>
            </a:extLst>
          </p:cNvPr>
          <p:cNvSpPr>
            <a:spLocks noGrp="1"/>
          </p:cNvSpPr>
          <p:nvPr/>
        </p:nvSpPr>
        <p:spPr>
          <a:xfrm>
            <a:off x="838200" y="52673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核心数字错误，评0分。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9482791-FBB2-44AF-8C19-BDA0CFA584AF}"/>
              </a:ext>
            </a:extLst>
          </p:cNvPr>
          <p:cNvSpPr>
            <a:spLocks noGrp="1"/>
          </p:cNvSpPr>
          <p:nvPr/>
        </p:nvSpPr>
        <p:spPr>
          <a:xfrm>
            <a:off x="838200" y="56483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这样做的价值是：不同评测人员更容易得出一致结果。</a:t>
            </a:r>
          </a:p>
        </p:txBody>
      </p:sp>
    </p:spTree>
    <p:extLst>
      <p:ext uri="{BB962C8B-B14F-4D97-AF65-F5344CB8AC3E}">
        <p14:creationId xmlns:p14="http://schemas.microsoft.com/office/powerpoint/2010/main" val="1628075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C83D1CD-1E01-4EEF-890E-AE7685D75D4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6EF2199-5BC2-489B-8BDB-698C9762918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032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5E8CFE8-D931-4648-A2B7-CAA0149C646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698160A-34F6-48E6-9EDA-DDEA4034382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90541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C3E317-9C9B-4A1F-AECF-C62CAE0BCA46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有些指标必须设置“一票否决</a:t>
            </a:r>
            <a:r>
              <a:rPr sz="2850" b="1" dirty="0">
                <a:solidFill>
                  <a:srgbClr val="F5F2E9"/>
                </a:solidFill>
              </a:rPr>
              <a:t>”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7A02FD-5CB2-4035-B2AA-4FF5B5E5725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5025C3-FCE0-4C49-B8CC-4D8C179F9B7A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不能简单把所有分数平均。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27CD5AF-9D12-4F0F-B6A6-94BFA6066659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假设一个回答：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3E99FC5-783F-49F1-9D7A-F8E3AF539E11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B591CA6-245A-4075-8D86-BE936EF6A612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表达质量：2分；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3067A14-2557-431D-8888-5CCF672FE4E6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1CA216E-D081-4F3C-B289-7A88B1386164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完整性：2分；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21D04E0-D234-44A4-A66F-FD26A80ABAE6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D4DB006-5226-4E4B-AA28-1A079379B321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相关性：2分；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FF22F65-4DE5-4344-85BA-A309DB386D47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4656FD3-0006-4A27-B93E-464706A25D37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正确性：0分。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6336D15-1F9B-4F40-8CB1-3356FEBAF36F}"/>
              </a:ext>
            </a:extLst>
          </p:cNvPr>
          <p:cNvSpPr>
            <a:spLocks noGrp="1"/>
          </p:cNvSpPr>
          <p:nvPr/>
        </p:nvSpPr>
        <p:spPr>
          <a:xfrm>
            <a:off x="838200" y="40767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平均分看起来可能还不低，但它的核心事实是错的，不能上线。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B8EFBBB-3D38-43BF-8FDA-899CC9491EBE}"/>
              </a:ext>
            </a:extLst>
          </p:cNvPr>
          <p:cNvSpPr>
            <a:spLocks noGrp="1"/>
          </p:cNvSpPr>
          <p:nvPr/>
        </p:nvSpPr>
        <p:spPr>
          <a:xfrm>
            <a:off x="838200" y="44577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因此通常需要区分：</a:t>
            </a:r>
          </a:p>
        </p:txBody>
      </p:sp>
    </p:spTree>
    <p:extLst>
      <p:ext uri="{BB962C8B-B14F-4D97-AF65-F5344CB8AC3E}">
        <p14:creationId xmlns:p14="http://schemas.microsoft.com/office/powerpoint/2010/main" val="13589309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8A8800C-F11C-4CCA-952A-6A8FC602BA7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AEABEF9-E94D-4059-A7DF-2B28871D3669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033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A3BA50-B24B-4980-BDA4-B7C768EA8B9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7CA4773-C50B-4305-B126-D8CE63EFC91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96496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72CE81-55DB-44FD-937E-9A60576DD772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有些指标必须设置“一票否决”｜基础指标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576A0D8-FBB2-4E80-B0AB-BE5E61A374B9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AE2C34-042A-4255-BF35-FA25B476A724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表现越好越好，例如：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96699F8-885F-4F0E-9E53-9452789B1775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63A70B7-9A12-447F-AC74-BE330FFC757E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简洁性；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BB50D2D-2D94-4F0E-9A18-6CE597BE8094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26758A-5B70-4D98-BE18-71A896F5EFDE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语气；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87A2BF1-6563-42CF-8B58-385E43989772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89109CF-8EC5-4B12-9FBB-2F247440386D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信息结构。</a:t>
            </a:r>
          </a:p>
        </p:txBody>
      </p:sp>
    </p:spTree>
    <p:extLst>
      <p:ext uri="{BB962C8B-B14F-4D97-AF65-F5344CB8AC3E}">
        <p14:creationId xmlns:p14="http://schemas.microsoft.com/office/powerpoint/2010/main" val="15737618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454D665E-F291-48A6-A421-9E788FC0545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A9A0239-C273-496E-857A-676E07F5844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034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E03F81-E229-49A7-9D47-940D710F2D1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8E6D9D2-8204-4968-94B8-37F6C22B0B0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02450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F9FFABE-5408-4237-926C-7517E05596A0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有些指标必须设置“一票否决”｜门槛指标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F630DEE-75E0-4D52-8A4A-43951DF2D5C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10CD88C-D852-4056-800E-C2062C3C1D80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不达标就不能接受，例如：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22B27C8-0341-4CDD-9DFC-17C699505450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73BBD7A-751E-46F0-A552-E6A8E75F1B44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核心事实正确性；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7C14769-1E9E-4E24-AE76-0222E02B1486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7460CDD-25EB-41FD-A02B-83D9C198366B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隐私安全；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70B427-C0E3-464B-91B1-051790F9B69D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46CF63C-3FE0-4F9B-9782-004DF74B4FD2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是否违反政策；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38E49E5-F851-426A-949F-E1831940FD86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263B6A1-80B7-4823-BD63-5C90B803CC47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是否产生严重幻觉。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B7238EB-F29D-47D5-98A1-C904B8DE1260}"/>
              </a:ext>
            </a:extLst>
          </p:cNvPr>
          <p:cNvSpPr>
            <a:spLocks noGrp="1"/>
          </p:cNvSpPr>
          <p:nvPr/>
        </p:nvSpPr>
        <p:spPr>
          <a:xfrm>
            <a:off x="838200" y="36957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产品经理需要明确：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92D6CE72-1A8D-4BEA-942B-E1CC9770DEC4}"/>
              </a:ext>
            </a:extLst>
          </p:cNvPr>
          <p:cNvSpPr>
            <a:spLocks noGrp="1"/>
          </p:cNvSpPr>
          <p:nvPr/>
        </p:nvSpPr>
        <p:spPr>
          <a:xfrm>
            <a:off x="819150" y="40767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C45C0F8-8EBA-42E7-8EEB-F19AE6D9F625}"/>
              </a:ext>
            </a:extLst>
          </p:cNvPr>
          <p:cNvSpPr>
            <a:spLocks noGrp="1"/>
          </p:cNvSpPr>
          <p:nvPr/>
        </p:nvSpPr>
        <p:spPr>
          <a:xfrm>
            <a:off x="819150" y="40767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9B2F597-B917-4259-9BD6-89EAA09347D6}"/>
              </a:ext>
            </a:extLst>
          </p:cNvPr>
          <p:cNvSpPr>
            <a:spLocks noGrp="1"/>
          </p:cNvSpPr>
          <p:nvPr/>
        </p:nvSpPr>
        <p:spPr>
          <a:xfrm>
            <a:off x="1104900" y="42195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哪些问题可以暂时容忍，哪些问题一次都不能出现。</a:t>
            </a:r>
          </a:p>
        </p:txBody>
      </p:sp>
    </p:spTree>
    <p:extLst>
      <p:ext uri="{BB962C8B-B14F-4D97-AF65-F5344CB8AC3E}">
        <p14:creationId xmlns:p14="http://schemas.microsoft.com/office/powerpoint/2010/main" val="8638751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EB12BDAF-2737-4E85-8233-171C5D80611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5F04C12-B04F-45F5-9AC8-10134C96DA9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036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8418734-80D7-4AF2-9516-E5147B72A53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BD26B51-4BA1-48EE-AFC8-C6BF25F012A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14359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7454948-DAE1-416B-931A-2198554AFD29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F5F2E9"/>
                </a:solidFill>
              </a:defRPr>
            </a:pPr>
            <a:r>
              <a:rPr sz="2625" b="1" dirty="0" err="1">
                <a:solidFill>
                  <a:srgbClr val="F5F2E9"/>
                </a:solidFill>
              </a:rPr>
              <a:t>产品指标、效果指标和系统指标｜第一层：业务指标</a:t>
            </a:r>
            <a:endParaRPr sz="2625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BFA8ED-9B51-43FC-8423-92BC347C4F5F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2447D72-9D30-4E14-8FA5-89B47DB5E5DE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产品有没有创造价值：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E9DACA4-0460-4D72-9EA0-394309AD1C02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CD8F63F-AF27-4AB7-8E81-072F94130E91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用户使用率；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040435-1F4A-49B9-B4E3-EDC31555182B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D3C9753-E22E-4016-8C2E-89F86C3A1178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任务完成率；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C441FA5-6C71-422B-992D-345E09A9F5AD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32EE124-2071-46AA-9160-9E48B1208992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客服转人工率；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4882B7D-C3BA-46F0-A4D6-85CDF23ACA6E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489ABD9-DD64-49E0-9ED9-47864765D2D7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用户满意度；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850AB55-49DC-4B43-B281-AB96761B8D2F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89445D0-CFE4-47D0-85BE-144643EF9ED4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节省了多少时间。</a:t>
            </a:r>
          </a:p>
        </p:txBody>
      </p:sp>
    </p:spTree>
    <p:extLst>
      <p:ext uri="{BB962C8B-B14F-4D97-AF65-F5344CB8AC3E}">
        <p14:creationId xmlns:p14="http://schemas.microsoft.com/office/powerpoint/2010/main" val="15166799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72EECABA-BC5A-462E-9D40-C105B57493C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8B0E0D9-4459-42D8-BAB9-8420B7A79D1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037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2B20D9F-2BEE-45D1-80F2-71E2AA22A12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CBF358D-A46B-4349-BD55-D75D511F031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20313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B10FD1E-F888-4D9A-81D1-F7ABD7837266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F5F2E9"/>
                </a:solidFill>
              </a:defRPr>
            </a:pPr>
            <a:r>
              <a:rPr sz="2400" b="1" dirty="0" err="1">
                <a:solidFill>
                  <a:srgbClr val="F5F2E9"/>
                </a:solidFill>
              </a:rPr>
              <a:t>产品指标、效果指标和系统指标｜第二层：AI效果指标</a:t>
            </a:r>
            <a:endParaRPr sz="240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4B8780-1FB9-4B69-8A82-AEA810B0589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A64643E-9F4D-4EAE-8EF5-5A10DCACF747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AI回答得好不好：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E89757F-7E9E-465A-B8BF-BBF2FC348FD9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DD22BBF-4345-4CF0-A5A0-4A18BBEF8488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正确率；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680BD4-B8EE-4D15-A77E-C137436AFE91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F844539-1286-4552-BBCC-C1107B5BD53C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相关性；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641F84-CE4D-4EA7-8E15-515B4BD218E8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DEB0EA-EDD0-4243-9E0E-36E9FA7EC8C2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完整性；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3B43C37-9BEA-4BBC-9AC9-F4CB075197F9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A6F9707-7A8D-4C64-B0FA-F565AEA9050B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幻觉率；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F153BCD-7481-47ED-AE3D-6BBE4F0EF629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E42B166-74F8-4113-9A83-DA01839D0EFF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安全违规率。</a:t>
            </a:r>
          </a:p>
        </p:txBody>
      </p:sp>
    </p:spTree>
    <p:extLst>
      <p:ext uri="{BB962C8B-B14F-4D97-AF65-F5344CB8AC3E}">
        <p14:creationId xmlns:p14="http://schemas.microsoft.com/office/powerpoint/2010/main" val="14023295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E05AE0E9-450A-4D95-B73F-AF3928B9583C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QUALITY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08F5A0-85D3-4031-B151-78373420BA13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038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45550E4-3F6F-4CD5-AA70-C13803F2069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54BC1EB-64F9-4AFE-8545-AB23C4B899F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26268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DE8D41D-7D07-4B2A-974B-A00414D4AEEE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F5F2E9"/>
                </a:solidFill>
              </a:defRPr>
            </a:pPr>
            <a:r>
              <a:rPr sz="2625" b="1" dirty="0" err="1">
                <a:solidFill>
                  <a:srgbClr val="F5F2E9"/>
                </a:solidFill>
              </a:rPr>
              <a:t>产品指标、效果指标和系统指标｜第三层：系统指标</a:t>
            </a:r>
            <a:endParaRPr sz="2625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388EC0-8299-42DC-BCA5-BA8A979E574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F949859-9A24-4F16-B39C-8EF1E46B035E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系统运行得怎么样：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59E00A5-5A89-4E13-9BCC-06B5462D187A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55E9BA2-5339-4790-A85D-B5529242658E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响应时间；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2CDBD78-1670-46F5-939E-5D78DC77AD2D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47E8A2D-0C87-416E-8E0C-DCC464E4C808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可用性；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FFF0CD-1655-4BFB-8FAD-FE49A34DA7A6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15D0C9-7B78-4AC9-A710-B7F25BB4E8D7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调用失败率；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D4F4BAD-EFF8-4B8C-9795-C08C5F87B8DB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B53C5D-E54F-441C-88B4-5333EC89A11E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单次调用成本；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67A9BE9-1E69-4CCD-944B-E81EAEE0FB72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E61DD3-811B-41C7-BE16-39B4753DECB7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Token消耗。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4EC38F1-F172-4259-A7B8-C35FF59FD97A}"/>
              </a:ext>
            </a:extLst>
          </p:cNvPr>
          <p:cNvSpPr>
            <a:spLocks noGrp="1"/>
          </p:cNvSpPr>
          <p:nvPr/>
        </p:nvSpPr>
        <p:spPr>
          <a:xfrm>
            <a:off x="838200" y="4095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三层指标之间有关联，但不能互相替代。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BD609A5-0EBD-4E23-9D96-828C799802F9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45FD953-F02F-4D20-9366-285D2CDBD734}"/>
              </a:ext>
            </a:extLst>
          </p:cNvPr>
          <p:cNvSpPr>
            <a:spLocks noGrp="1"/>
          </p:cNvSpPr>
          <p:nvPr/>
        </p:nvSpPr>
        <p:spPr>
          <a:xfrm>
            <a:off x="876300" y="4895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A5C69FA-1F87-411B-A35E-0AE145B0BB91}"/>
              </a:ext>
            </a:extLst>
          </p:cNvPr>
          <p:cNvSpPr>
            <a:spLocks noGrp="1"/>
          </p:cNvSpPr>
          <p:nvPr/>
        </p:nvSpPr>
        <p:spPr>
          <a:xfrm>
            <a:off x="1371600" y="4886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响应速度很快，不代表答案正确；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68CB558-0240-499F-B769-26CAF8BED42A}"/>
              </a:ext>
            </a:extLst>
          </p:cNvPr>
          <p:cNvSpPr>
            <a:spLocks noGrp="1"/>
          </p:cNvSpPr>
          <p:nvPr/>
        </p:nvSpPr>
        <p:spPr>
          <a:xfrm>
            <a:off x="876300" y="5295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1ED1C1D-9D0E-4643-BEB0-91CCB3B45E6E}"/>
              </a:ext>
            </a:extLst>
          </p:cNvPr>
          <p:cNvSpPr>
            <a:spLocks noGrp="1"/>
          </p:cNvSpPr>
          <p:nvPr/>
        </p:nvSpPr>
        <p:spPr>
          <a:xfrm>
            <a:off x="1371600" y="5286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测试集正确率很高，不代表用户愿意使用；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0A36351-9420-48AA-80B3-A9CB797C6033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DBACF83-420C-4884-A057-8A2F31D6FC3F}"/>
              </a:ext>
            </a:extLst>
          </p:cNvPr>
          <p:cNvSpPr>
            <a:spLocks noGrp="1"/>
          </p:cNvSpPr>
          <p:nvPr/>
        </p:nvSpPr>
        <p:spPr>
          <a:xfrm>
            <a:off x="1371600" y="5686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用户使用量很大，也不代表系统没有安全风险。</a:t>
            </a:r>
          </a:p>
        </p:txBody>
      </p:sp>
    </p:spTree>
    <p:extLst>
      <p:ext uri="{BB962C8B-B14F-4D97-AF65-F5344CB8AC3E}">
        <p14:creationId xmlns:p14="http://schemas.microsoft.com/office/powerpoint/2010/main" val="4066107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8CE9118E-F025-42C0-BCED-A961804A9E77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2476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850" b="1">
                <a:solidFill>
                  <a:srgbClr val="36D6C2"/>
                </a:solidFill>
              </a:defRPr>
            </a:pPr>
            <a:r>
              <a:rPr sz="88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1445DEB-A6CB-4891-B994-AFA5B9176B39}"/>
              </a:ext>
            </a:extLst>
          </p:cNvPr>
          <p:cNvSpPr>
            <a:spLocks noGrp="1"/>
          </p:cNvSpPr>
          <p:nvPr/>
        </p:nvSpPr>
        <p:spPr>
          <a:xfrm>
            <a:off x="704850" y="2857500"/>
            <a:ext cx="952500" cy="476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CE1046F-AB2E-41A9-8E18-D110C282C8F3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1047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评测集的设计与准备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4828A87-7310-458C-9EF4-E7D8C2D2A2B4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6DA5194-ACF8-448D-9F86-D3AD17BDAA88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4ADD21-74B2-4E5A-8286-11AB3F2F697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E2C9269-0344-40A9-8086-63506CACB30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38177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661914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64EB491-A282-4A5C-8499-44002D5618A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9827C8F-8B96-463A-A7AF-EFB228E58E8C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BBF34AC-E011-4654-BCA8-9C98A076A85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DCCBEB5-C246-4292-9A93-C4AB385CAD4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44131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36C7922-5571-4F75-B02B-6F2EC734AB56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 dirty="0" err="1">
                <a:solidFill>
                  <a:srgbClr val="F5F2E9"/>
                </a:solidFill>
              </a:rPr>
              <a:t>评测集的设计与准备</a:t>
            </a:r>
            <a:endParaRPr sz="2850" b="1" dirty="0">
              <a:solidFill>
                <a:srgbClr val="F5F2E9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22A620-3C5B-4004-B9BA-874D1ED4BCE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2BFF89-B43D-45D5-BE01-2B3176DF33A8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EE53A43-1024-4326-B4B0-3521441B3732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为什么AI产品需要专门评测；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88962BE-C3B2-446D-8C64-08FF5728C268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C090585-1349-4D00-9594-B86F3DC1F25F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应该用哪些标准判断AI回答。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A25095B3-C89F-47F8-96DD-D7930251D655}"/>
              </a:ext>
            </a:extLst>
          </p:cNvPr>
          <p:cNvSpPr>
            <a:spLocks noGrp="1"/>
          </p:cNvSpPr>
          <p:nvPr/>
        </p:nvSpPr>
        <p:spPr>
          <a:xfrm>
            <a:off x="819150" y="25146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0A227AE-1E9D-4727-A3DD-6012651978A9}"/>
              </a:ext>
            </a:extLst>
          </p:cNvPr>
          <p:cNvSpPr>
            <a:spLocks noGrp="1"/>
          </p:cNvSpPr>
          <p:nvPr/>
        </p:nvSpPr>
        <p:spPr>
          <a:xfrm>
            <a:off x="819150" y="25146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9CEA8D0-3431-44F8-931E-1647AA105787}"/>
              </a:ext>
            </a:extLst>
          </p:cNvPr>
          <p:cNvSpPr>
            <a:spLocks noGrp="1"/>
          </p:cNvSpPr>
          <p:nvPr/>
        </p:nvSpPr>
        <p:spPr>
          <a:xfrm>
            <a:off x="1104900" y="26574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拿什么问题去测试AI产品？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E48F264-8328-4FB6-8B1F-B7F70D381B6E}"/>
              </a:ext>
            </a:extLst>
          </p:cNvPr>
          <p:cNvSpPr>
            <a:spLocks noGrp="1"/>
          </p:cNvSpPr>
          <p:nvPr/>
        </p:nvSpPr>
        <p:spPr>
          <a:xfrm>
            <a:off x="838200" y="31908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这些用于测试的问题及其配套信息，合在一起就是“评测集”。</a:t>
            </a:r>
          </a:p>
        </p:txBody>
      </p:sp>
    </p:spTree>
    <p:extLst>
      <p:ext uri="{BB962C8B-B14F-4D97-AF65-F5344CB8AC3E}">
        <p14:creationId xmlns:p14="http://schemas.microsoft.com/office/powerpoint/2010/main" val="19869992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06E2BC65-8571-499D-90DF-F1F3C49C84B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AD73603-6221-487D-B1D0-13DDF5C4E62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F26ACB9-C774-42F7-B5EC-830697441A8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EBD6B2-479E-422C-B055-0B29AB5E833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50085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3915E9-6226-4758-9ECF-F1F779B3E60E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评测集的基本定义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97647FA-30E9-4D6D-A793-C4F504113139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C06FB38-4FDF-444A-9066-F1DED70115AA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可以把评测集理解成AI产品的“考试题库”。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F0836C8-BFF2-4574-85A6-572D9D8082E8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它不是随便找几十个问题问一下，而是一套经过设计的测试用例，用来代表产品将来可能遇到的真实场景。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7251A50-10BD-41A5-8A60-1F62C8B875E1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一条完整的评测用例通常包括：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238A44F-134D-4EDA-9FF7-42851DD1AE8F}"/>
              </a:ext>
            </a:extLst>
          </p:cNvPr>
          <p:cNvSpPr>
            <a:spLocks noGrp="1"/>
          </p:cNvSpPr>
          <p:nvPr/>
        </p:nvSpPr>
        <p:spPr>
          <a:xfrm>
            <a:off x="838200" y="2857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所以，评测集不只是“一列问题”。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A8EBD73-5210-4367-8016-05AD897A7429}"/>
              </a:ext>
            </a:extLst>
          </p:cNvPr>
          <p:cNvSpPr>
            <a:spLocks noGrp="1"/>
          </p:cNvSpPr>
          <p:nvPr/>
        </p:nvSpPr>
        <p:spPr>
          <a:xfrm>
            <a:off x="838200" y="3238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更准确地说，它包含：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0DD3FB76-F41C-48E7-97AC-33F4FDDC3B25}"/>
              </a:ext>
            </a:extLst>
          </p:cNvPr>
          <p:cNvSpPr>
            <a:spLocks noGrp="1"/>
          </p:cNvSpPr>
          <p:nvPr/>
        </p:nvSpPr>
        <p:spPr>
          <a:xfrm>
            <a:off x="819150" y="3619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89935B5-54E1-4145-B69F-97778DD753E0}"/>
              </a:ext>
            </a:extLst>
          </p:cNvPr>
          <p:cNvSpPr>
            <a:spLocks noGrp="1"/>
          </p:cNvSpPr>
          <p:nvPr/>
        </p:nvSpPr>
        <p:spPr>
          <a:xfrm>
            <a:off x="819150" y="3619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CA17AF9-8391-4371-8BE2-D2E4A7412F3B}"/>
              </a:ext>
            </a:extLst>
          </p:cNvPr>
          <p:cNvSpPr>
            <a:spLocks noGrp="1"/>
          </p:cNvSpPr>
          <p:nvPr/>
        </p:nvSpPr>
        <p:spPr>
          <a:xfrm>
            <a:off x="1104900" y="3762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测什么、正确答案是什么、怎样算合格、问题有多严重。</a:t>
            </a:r>
          </a:p>
        </p:txBody>
      </p:sp>
    </p:spTree>
    <p:extLst>
      <p:ext uri="{BB962C8B-B14F-4D97-AF65-F5344CB8AC3E}">
        <p14:creationId xmlns:p14="http://schemas.microsoft.com/office/powerpoint/2010/main" val="11078156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5852D0C9-DD10-4703-A885-61273414210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549D8B5-9511-441C-80DD-6AEE31C2D37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D5CEFDF-A583-4D0C-8197-7AEC87FB9B2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61228D8-C1C8-4A70-8748-593605B65BE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56040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2F664B-F51A-4BE0-AF58-04935F74FDF3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评测集的五类样本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249F27-21E4-45E6-922A-BCA640E5858A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77CE68-BE7E-4734-B436-9DEAB0DCD7C1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 dirty="0" err="1">
                <a:solidFill>
                  <a:srgbClr val="F5F2E9"/>
                </a:solidFill>
              </a:rPr>
              <a:t>一套有效的评测集，至少要覆盖五类情况</a:t>
            </a:r>
            <a:r>
              <a:rPr sz="1350" b="0" dirty="0">
                <a:solidFill>
                  <a:srgbClr val="F5F2E9"/>
                </a:solidFill>
              </a:rPr>
              <a:t>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33F0609-7C61-48D4-970A-97536A8D6F0A}"/>
              </a:ext>
            </a:extLst>
          </p:cNvPr>
          <p:cNvSpPr>
            <a:spLocks noGrp="1"/>
          </p:cNvSpPr>
          <p:nvPr/>
        </p:nvSpPr>
        <p:spPr>
          <a:xfrm>
            <a:off x="838200" y="26384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典型样本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50F1F25-FF2B-42BB-91F4-F0CD80C1B286}"/>
              </a:ext>
            </a:extLst>
          </p:cNvPr>
          <p:cNvSpPr>
            <a:spLocks noGrp="1"/>
          </p:cNvSpPr>
          <p:nvPr/>
        </p:nvSpPr>
        <p:spPr>
          <a:xfrm>
            <a:off x="838200" y="29622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55C8671-3042-4248-85C2-9585E645B008}"/>
              </a:ext>
            </a:extLst>
          </p:cNvPr>
          <p:cNvSpPr>
            <a:spLocks noGrp="1"/>
          </p:cNvSpPr>
          <p:nvPr/>
        </p:nvSpPr>
        <p:spPr>
          <a:xfrm>
            <a:off x="838200" y="30575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代表大部分用户最常见、最正常的使用方式。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57CBCE0-79D0-4DAE-A9CC-F64A38E645AA}"/>
              </a:ext>
            </a:extLst>
          </p:cNvPr>
          <p:cNvSpPr>
            <a:spLocks noGrp="1"/>
          </p:cNvSpPr>
          <p:nvPr/>
        </p:nvSpPr>
        <p:spPr>
          <a:xfrm>
            <a:off x="838200" y="34385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33C098CE-9191-4AB4-95D0-01BAEBE8E81F}"/>
              </a:ext>
            </a:extLst>
          </p:cNvPr>
          <p:cNvSpPr>
            <a:spLocks noGrp="1"/>
          </p:cNvSpPr>
          <p:nvPr/>
        </p:nvSpPr>
        <p:spPr>
          <a:xfrm>
            <a:off x="819150" y="381952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47ACEF-75EE-477C-A90F-36FE8DE38CCF}"/>
              </a:ext>
            </a:extLst>
          </p:cNvPr>
          <p:cNvSpPr>
            <a:spLocks noGrp="1"/>
          </p:cNvSpPr>
          <p:nvPr/>
        </p:nvSpPr>
        <p:spPr>
          <a:xfrm>
            <a:off x="819150" y="381952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00A7CA-F9D8-4559-90B0-91BF9188CAAD}"/>
              </a:ext>
            </a:extLst>
          </p:cNvPr>
          <p:cNvSpPr>
            <a:spLocks noGrp="1"/>
          </p:cNvSpPr>
          <p:nvPr/>
        </p:nvSpPr>
        <p:spPr>
          <a:xfrm>
            <a:off x="1104900" y="396240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北京住宿报销上限是多少？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CB1CE97-EFAA-4323-A8FA-0C7509BB9B3A}"/>
              </a:ext>
            </a:extLst>
          </p:cNvPr>
          <p:cNvSpPr>
            <a:spLocks noGrp="1"/>
          </p:cNvSpPr>
          <p:nvPr/>
        </p:nvSpPr>
        <p:spPr>
          <a:xfrm>
            <a:off x="838200" y="44958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典型样本用于验证产品的基础能力。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7FD8785-C91C-4DFB-A860-10ECB7337D8A}"/>
              </a:ext>
            </a:extLst>
          </p:cNvPr>
          <p:cNvSpPr>
            <a:spLocks noGrp="1"/>
          </p:cNvSpPr>
          <p:nvPr/>
        </p:nvSpPr>
        <p:spPr>
          <a:xfrm>
            <a:off x="838200" y="48768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如果连高频正常问题都答不好，产品当然不能上线。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D14E04C-E3AA-4CF5-9923-062504381338}"/>
              </a:ext>
            </a:extLst>
          </p:cNvPr>
          <p:cNvSpPr>
            <a:spLocks noGrp="1"/>
          </p:cNvSpPr>
          <p:nvPr/>
        </p:nvSpPr>
        <p:spPr>
          <a:xfrm>
            <a:off x="838200" y="52578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但只测典型样本，会让评测结果看起来很好，却无法发现真正危险的问题。</a:t>
            </a:r>
          </a:p>
        </p:txBody>
      </p:sp>
    </p:spTree>
    <p:extLst>
      <p:ext uri="{BB962C8B-B14F-4D97-AF65-F5344CB8AC3E}">
        <p14:creationId xmlns:p14="http://schemas.microsoft.com/office/powerpoint/2010/main" val="5157379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D24DBF33-9538-4763-B81F-50B05C0F0A04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88F932-E11E-4013-B891-1ADA97D0E78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A363D4-81AF-4861-9447-80D8FEC07B8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7B6EAE-7851-42E3-B914-9E819DE2781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61994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B38B3A-9428-4D1B-A54B-42DFBFE333A3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评测集的五类样本（续）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374EC40-4F21-465F-8B42-027CB1D4FC2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CAE260E5-9A49-41C1-9482-7214D408DAA4}"/>
              </a:ext>
            </a:extLst>
          </p:cNvPr>
          <p:cNvSpPr>
            <a:spLocks noGrp="1"/>
          </p:cNvSpPr>
          <p:nvPr/>
        </p:nvSpPr>
        <p:spPr>
          <a:xfrm>
            <a:off x="971550" y="35718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B68F545-A8DA-4C09-8585-6824265C21F0}"/>
              </a:ext>
            </a:extLst>
          </p:cNvPr>
          <p:cNvSpPr>
            <a:spLocks noGrp="1"/>
          </p:cNvSpPr>
          <p:nvPr/>
        </p:nvSpPr>
        <p:spPr>
          <a:xfrm>
            <a:off x="971550" y="35718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75E65B-0D54-4BCE-A805-CF546BDDC8DF}"/>
              </a:ext>
            </a:extLst>
          </p:cNvPr>
          <p:cNvSpPr>
            <a:spLocks noGrp="1"/>
          </p:cNvSpPr>
          <p:nvPr/>
        </p:nvSpPr>
        <p:spPr>
          <a:xfrm>
            <a:off x="1257300" y="37147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酒店费用是500元，但另外收了30元服务费，可以全部报销吗？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7A01FC2-16F9-40CD-A944-D4A0AF31B04A}"/>
              </a:ext>
            </a:extLst>
          </p:cNvPr>
          <p:cNvSpPr>
            <a:spLocks noGrp="1"/>
          </p:cNvSpPr>
          <p:nvPr/>
        </p:nvSpPr>
        <p:spPr>
          <a:xfrm>
            <a:off x="990600" y="42481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这时，简单回答“上限500元”已经不够，需要判断服务费是否包含在住宿标准内。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4EB0BA-46E2-485B-8BCE-71A912332D14}"/>
              </a:ext>
            </a:extLst>
          </p:cNvPr>
          <p:cNvSpPr>
            <a:spLocks noGrp="1"/>
          </p:cNvSpPr>
          <p:nvPr/>
        </p:nvSpPr>
        <p:spPr>
          <a:xfrm>
            <a:off x="990600" y="46291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边界样本主要测试：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6E767CD-7A20-46B2-BD0D-E98AD8A46D28}"/>
              </a:ext>
            </a:extLst>
          </p:cNvPr>
          <p:cNvSpPr>
            <a:spLocks noGrp="1"/>
          </p:cNvSpPr>
          <p:nvPr/>
        </p:nvSpPr>
        <p:spPr>
          <a:xfrm>
            <a:off x="1028700" y="50482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07F18F0-6DF6-4246-A01A-0FD00DB82EC9}"/>
              </a:ext>
            </a:extLst>
          </p:cNvPr>
          <p:cNvSpPr>
            <a:spLocks noGrp="1"/>
          </p:cNvSpPr>
          <p:nvPr/>
        </p:nvSpPr>
        <p:spPr>
          <a:xfrm>
            <a:off x="1524000" y="50387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模型能否识别条件；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8367B8F-A4C1-46F8-94BD-6FB9B793CD4A}"/>
              </a:ext>
            </a:extLst>
          </p:cNvPr>
          <p:cNvSpPr>
            <a:spLocks noGrp="1"/>
          </p:cNvSpPr>
          <p:nvPr/>
        </p:nvSpPr>
        <p:spPr>
          <a:xfrm>
            <a:off x="1028700" y="54483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971555-F713-4DE8-B86E-EE90591FA935}"/>
              </a:ext>
            </a:extLst>
          </p:cNvPr>
          <p:cNvSpPr>
            <a:spLocks noGrp="1"/>
          </p:cNvSpPr>
          <p:nvPr/>
        </p:nvSpPr>
        <p:spPr>
          <a:xfrm>
            <a:off x="1524000" y="54387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是否会过度简化规则；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D48D611-CC78-4666-925A-C3B5264D09C1}"/>
              </a:ext>
            </a:extLst>
          </p:cNvPr>
          <p:cNvSpPr>
            <a:spLocks noGrp="1"/>
          </p:cNvSpPr>
          <p:nvPr/>
        </p:nvSpPr>
        <p:spPr>
          <a:xfrm>
            <a:off x="1028700" y="58483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4F2289A-B11F-47DC-A2C0-C97A2CB08F83}"/>
              </a:ext>
            </a:extLst>
          </p:cNvPr>
          <p:cNvSpPr>
            <a:spLocks noGrp="1"/>
          </p:cNvSpPr>
          <p:nvPr/>
        </p:nvSpPr>
        <p:spPr>
          <a:xfrm>
            <a:off x="1524000" y="58388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信息不足时会不会主动追问。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8DF01C3-4772-56A3-EBAC-8A7388EE4B64}"/>
              </a:ext>
            </a:extLst>
          </p:cNvPr>
          <p:cNvSpPr>
            <a:spLocks noGrp="1"/>
          </p:cNvSpPr>
          <p:nvPr/>
        </p:nvSpPr>
        <p:spPr>
          <a:xfrm>
            <a:off x="762000" y="21717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边界样本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2497533-3820-D9F4-4FF0-DAEB7342EADD}"/>
              </a:ext>
            </a:extLst>
          </p:cNvPr>
          <p:cNvSpPr>
            <a:spLocks noGrp="1"/>
          </p:cNvSpPr>
          <p:nvPr/>
        </p:nvSpPr>
        <p:spPr>
          <a:xfrm>
            <a:off x="762000" y="24955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75B2B89-0298-3A23-DBD5-CFF5D1EC8574}"/>
              </a:ext>
            </a:extLst>
          </p:cNvPr>
          <p:cNvSpPr>
            <a:spLocks noGrp="1"/>
          </p:cNvSpPr>
          <p:nvPr/>
        </p:nvSpPr>
        <p:spPr>
          <a:xfrm>
            <a:off x="762000" y="25908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位于业务规则边缘、需要进一步判断的情况。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D417DFB-1978-AB7C-85B4-B7E0E94CD17D}"/>
              </a:ext>
            </a:extLst>
          </p:cNvPr>
          <p:cNvSpPr>
            <a:spLocks noGrp="1"/>
          </p:cNvSpPr>
          <p:nvPr/>
        </p:nvSpPr>
        <p:spPr>
          <a:xfrm>
            <a:off x="762000" y="29718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</p:spTree>
    <p:extLst>
      <p:ext uri="{BB962C8B-B14F-4D97-AF65-F5344CB8AC3E}">
        <p14:creationId xmlns:p14="http://schemas.microsoft.com/office/powerpoint/2010/main" val="19675892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07A91156-00C9-4FBA-8CCF-6E2D5C9B7AE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45626D2-7551-4B11-A955-1BA69A43FA2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BCEAFE9-E3C1-4F5F-B3A5-6CE327D01F9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41DCB6C-F41F-4E0C-B67B-0360F6B811D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67949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6519EF-E89B-46D2-9DCF-446BAFF3E48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评测集的五类样本（续）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2A77360-FF66-428A-A6A8-97BB261677D0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F145C60-D288-4B54-A222-36744843B3C2}"/>
              </a:ext>
            </a:extLst>
          </p:cNvPr>
          <p:cNvSpPr>
            <a:spLocks noGrp="1"/>
          </p:cNvSpPr>
          <p:nvPr/>
        </p:nvSpPr>
        <p:spPr>
          <a:xfrm>
            <a:off x="828675" y="35909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或者：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4B5A9F67-2147-4C81-957A-93DA08C61E0E}"/>
              </a:ext>
            </a:extLst>
          </p:cNvPr>
          <p:cNvSpPr>
            <a:spLocks noGrp="1"/>
          </p:cNvSpPr>
          <p:nvPr/>
        </p:nvSpPr>
        <p:spPr>
          <a:xfrm>
            <a:off x="809625" y="397192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7E041A1-DA60-4BD5-81A5-0B074242B9D6}"/>
              </a:ext>
            </a:extLst>
          </p:cNvPr>
          <p:cNvSpPr>
            <a:spLocks noGrp="1"/>
          </p:cNvSpPr>
          <p:nvPr/>
        </p:nvSpPr>
        <p:spPr>
          <a:xfrm>
            <a:off x="809625" y="397192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5793547-4DA7-4809-A16A-41B209860104}"/>
              </a:ext>
            </a:extLst>
          </p:cNvPr>
          <p:cNvSpPr>
            <a:spLocks noGrp="1"/>
          </p:cNvSpPr>
          <p:nvPr/>
        </p:nvSpPr>
        <p:spPr>
          <a:xfrm>
            <a:off x="1095375" y="411480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我昨天去上海出差，明年住宿标准是多少？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B7ED201-592B-4379-8F38-A00CDB132CAE}"/>
              </a:ext>
            </a:extLst>
          </p:cNvPr>
          <p:cNvSpPr>
            <a:spLocks noGrp="1"/>
          </p:cNvSpPr>
          <p:nvPr/>
        </p:nvSpPr>
        <p:spPr>
          <a:xfrm>
            <a:off x="828675" y="46482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时间条件可能互相矛盾。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851EB5-119D-49E5-9ADB-BAE0E90CECD8}"/>
              </a:ext>
            </a:extLst>
          </p:cNvPr>
          <p:cNvSpPr>
            <a:spLocks noGrp="1"/>
          </p:cNvSpPr>
          <p:nvPr/>
        </p:nvSpPr>
        <p:spPr>
          <a:xfrm>
            <a:off x="828675" y="50292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异常样本主要测试产品的鲁棒性：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0DDE5FEB-58C3-48B8-9AD9-6FED46E773D0}"/>
              </a:ext>
            </a:extLst>
          </p:cNvPr>
          <p:cNvSpPr>
            <a:spLocks noGrp="1"/>
          </p:cNvSpPr>
          <p:nvPr/>
        </p:nvSpPr>
        <p:spPr>
          <a:xfrm>
            <a:off x="809625" y="54102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6E9E4DB-D6BE-4B0C-8E39-8E78DE2CB5DB}"/>
              </a:ext>
            </a:extLst>
          </p:cNvPr>
          <p:cNvSpPr>
            <a:spLocks noGrp="1"/>
          </p:cNvSpPr>
          <p:nvPr/>
        </p:nvSpPr>
        <p:spPr>
          <a:xfrm>
            <a:off x="809625" y="54102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F57D9DE-2B4A-4A07-887B-CA558CD948D7}"/>
              </a:ext>
            </a:extLst>
          </p:cNvPr>
          <p:cNvSpPr>
            <a:spLocks noGrp="1"/>
          </p:cNvSpPr>
          <p:nvPr/>
        </p:nvSpPr>
        <p:spPr>
          <a:xfrm>
            <a:off x="1095375" y="55530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用户没有完全按照产品设计者的预期输入，系统还能不能合理处理？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F6C970C-D26C-D1F2-2F05-71570F3D2F7A}"/>
              </a:ext>
            </a:extLst>
          </p:cNvPr>
          <p:cNvSpPr>
            <a:spLocks noGrp="1"/>
          </p:cNvSpPr>
          <p:nvPr/>
        </p:nvSpPr>
        <p:spPr>
          <a:xfrm>
            <a:off x="847725" y="17430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异常样本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3177125-123F-D451-E55A-EA1F25833F26}"/>
              </a:ext>
            </a:extLst>
          </p:cNvPr>
          <p:cNvSpPr>
            <a:spLocks noGrp="1"/>
          </p:cNvSpPr>
          <p:nvPr/>
        </p:nvSpPr>
        <p:spPr>
          <a:xfrm>
            <a:off x="847725" y="20669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F3865C2-10FE-BCC2-0349-8A08331CDC8E}"/>
              </a:ext>
            </a:extLst>
          </p:cNvPr>
          <p:cNvSpPr>
            <a:spLocks noGrp="1"/>
          </p:cNvSpPr>
          <p:nvPr/>
        </p:nvSpPr>
        <p:spPr>
          <a:xfrm>
            <a:off x="847725" y="21621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包含错误、矛盾、不完整或不规范的信息。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A841A4D-88F9-6327-C6AD-ABE5E2793FF4}"/>
              </a:ext>
            </a:extLst>
          </p:cNvPr>
          <p:cNvSpPr>
            <a:spLocks noGrp="1"/>
          </p:cNvSpPr>
          <p:nvPr/>
        </p:nvSpPr>
        <p:spPr>
          <a:xfrm>
            <a:off x="847725" y="25431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29" name="圆角矩形 28">
            <a:extLst>
              <a:ext uri="{FF2B5EF4-FFF2-40B4-BE49-F238E27FC236}">
                <a16:creationId xmlns:a16="http://schemas.microsoft.com/office/drawing/2014/main" id="{D34F93D3-993B-7293-3FAD-49758DE7098E}"/>
              </a:ext>
            </a:extLst>
          </p:cNvPr>
          <p:cNvSpPr>
            <a:spLocks noGrp="1"/>
          </p:cNvSpPr>
          <p:nvPr/>
        </p:nvSpPr>
        <p:spPr>
          <a:xfrm>
            <a:off x="828675" y="29241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E35C997-3BB2-77AA-2763-C6325D2F795F}"/>
              </a:ext>
            </a:extLst>
          </p:cNvPr>
          <p:cNvSpPr>
            <a:spLocks noGrp="1"/>
          </p:cNvSpPr>
          <p:nvPr/>
        </p:nvSpPr>
        <p:spPr>
          <a:xfrm>
            <a:off x="828675" y="29241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9C9F3CA-ABB0-92BC-B686-47E743494FCC}"/>
              </a:ext>
            </a:extLst>
          </p:cNvPr>
          <p:cNvSpPr>
            <a:spLocks noGrp="1"/>
          </p:cNvSpPr>
          <p:nvPr/>
        </p:nvSpPr>
        <p:spPr>
          <a:xfrm>
            <a:off x="1114425" y="30670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我去北景出差，住宿能报多少？</a:t>
            </a:r>
          </a:p>
        </p:txBody>
      </p:sp>
    </p:spTree>
    <p:extLst>
      <p:ext uri="{BB962C8B-B14F-4D97-AF65-F5344CB8AC3E}">
        <p14:creationId xmlns:p14="http://schemas.microsoft.com/office/powerpoint/2010/main" val="12290873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D28AB7-7A20-E3D6-A0AD-BF4994E2A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BECECC5D-D5B7-0761-499B-A942DD037107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3848DD4-2280-9CDB-698A-56958DEF747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685FA6F-0884-36F5-1493-022404C2CC7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ACC64F-F031-E1A4-16B0-50FF533C4E9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67949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7E010F-9E94-50F6-1DFC-00F8D4D23136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评测集的五类样本（续）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67AB06-662D-515A-5C3B-C837CD91577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F2FA7FD-EB28-B118-96CE-E2A97066F926}"/>
              </a:ext>
            </a:extLst>
          </p:cNvPr>
          <p:cNvSpPr>
            <a:spLocks noGrp="1"/>
          </p:cNvSpPr>
          <p:nvPr/>
        </p:nvSpPr>
        <p:spPr>
          <a:xfrm>
            <a:off x="666750" y="2090737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无答案样本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A7C06C3-2EA0-D485-EFAB-6F6513F08334}"/>
              </a:ext>
            </a:extLst>
          </p:cNvPr>
          <p:cNvSpPr>
            <a:spLocks noGrp="1"/>
          </p:cNvSpPr>
          <p:nvPr/>
        </p:nvSpPr>
        <p:spPr>
          <a:xfrm>
            <a:off x="666750" y="2414587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112FA15-7C75-7BFF-2D11-4FADDBCB030D}"/>
              </a:ext>
            </a:extLst>
          </p:cNvPr>
          <p:cNvSpPr>
            <a:spLocks noGrp="1"/>
          </p:cNvSpPr>
          <p:nvPr/>
        </p:nvSpPr>
        <p:spPr>
          <a:xfrm>
            <a:off x="666750" y="2509837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知识库或业务规则里没有明确答案的问题。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3E02EE2-53BE-AB2D-8A44-8F7901DD753C}"/>
              </a:ext>
            </a:extLst>
          </p:cNvPr>
          <p:cNvSpPr>
            <a:spLocks noGrp="1"/>
          </p:cNvSpPr>
          <p:nvPr/>
        </p:nvSpPr>
        <p:spPr>
          <a:xfrm>
            <a:off x="666750" y="2890837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2DF77664-A7F5-AA92-561D-178463A927F1}"/>
              </a:ext>
            </a:extLst>
          </p:cNvPr>
          <p:cNvSpPr>
            <a:spLocks noGrp="1"/>
          </p:cNvSpPr>
          <p:nvPr/>
        </p:nvSpPr>
        <p:spPr>
          <a:xfrm>
            <a:off x="647700" y="3271837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BA22D80-778C-31CF-EB77-9D733EC2E6DA}"/>
              </a:ext>
            </a:extLst>
          </p:cNvPr>
          <p:cNvSpPr>
            <a:spLocks noGrp="1"/>
          </p:cNvSpPr>
          <p:nvPr/>
        </p:nvSpPr>
        <p:spPr>
          <a:xfrm>
            <a:off x="647700" y="3271837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07F2B85-714D-1951-B9AE-5D23B48C9C09}"/>
              </a:ext>
            </a:extLst>
          </p:cNvPr>
          <p:cNvSpPr>
            <a:spLocks noGrp="1"/>
          </p:cNvSpPr>
          <p:nvPr/>
        </p:nvSpPr>
        <p:spPr>
          <a:xfrm>
            <a:off x="933450" y="3414712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去火星出差，公司住宿标准是多少？</a:t>
            </a:r>
          </a:p>
        </p:txBody>
      </p:sp>
    </p:spTree>
    <p:extLst>
      <p:ext uri="{BB962C8B-B14F-4D97-AF65-F5344CB8AC3E}">
        <p14:creationId xmlns:p14="http://schemas.microsoft.com/office/powerpoint/2010/main" val="21305350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945F1607-B584-4F54-8DDA-6703F75F0B43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B5EC6FD-FDE7-4F08-85F1-49019F83A86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D3A203E-A597-4B5A-80F0-63E4E517E8C8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评测集的五类样本（续）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CB109E9-6B92-4113-8A22-DC1C59278B3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102E65-6C28-4CBE-B0E1-B4FC44210B10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3DF05D-043E-45ED-8302-3050E8757408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制度没有覆盖；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A2B71C-A9DD-4BB2-8330-765A134D63CA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28FF9AE-52B6-4D8F-8C7E-DAFB7D65C601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文档已经过期；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461ACF-3B95-4958-B8D3-E832A4062325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E5F0BDC-F06D-4AE2-B587-691EBC38136E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用户条件不足；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6BB4E16-053D-49CF-B306-ABE78F271801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EA9915F-8A3B-4216-93E3-3864B27DA02B}"/>
              </a:ext>
            </a:extLst>
          </p:cNvPr>
          <p:cNvSpPr>
            <a:spLocks noGrp="1"/>
          </p:cNvSpPr>
          <p:nvPr/>
        </p:nvSpPr>
        <p:spPr>
          <a:xfrm>
            <a:off x="1371600" y="2943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问题超出产品能力范围。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C8C9E77-EA5C-4CBF-A688-FB6488996A23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无答案样本非常重要，因为它测试AI是否会承认不知道。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286E55-5D3E-4053-998B-FE9E1AB60B14}"/>
              </a:ext>
            </a:extLst>
          </p:cNvPr>
          <p:cNvSpPr>
            <a:spLocks noGrp="1"/>
          </p:cNvSpPr>
          <p:nvPr/>
        </p:nvSpPr>
        <p:spPr>
          <a:xfrm>
            <a:off x="838200" y="36957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理想回答可能是：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E5567B8E-13DF-4040-9451-565B2DDCFC99}"/>
              </a:ext>
            </a:extLst>
          </p:cNvPr>
          <p:cNvSpPr>
            <a:spLocks noGrp="1"/>
          </p:cNvSpPr>
          <p:nvPr/>
        </p:nvSpPr>
        <p:spPr>
          <a:xfrm>
            <a:off x="819150" y="40767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2EFF42C-667D-4BE5-B068-BF45C5638203}"/>
              </a:ext>
            </a:extLst>
          </p:cNvPr>
          <p:cNvSpPr>
            <a:spLocks noGrp="1"/>
          </p:cNvSpPr>
          <p:nvPr/>
        </p:nvSpPr>
        <p:spPr>
          <a:xfrm>
            <a:off x="819150" y="40767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C4853EA-FF52-4CE1-A762-0D1297B5E536}"/>
              </a:ext>
            </a:extLst>
          </p:cNvPr>
          <p:cNvSpPr>
            <a:spLocks noGrp="1"/>
          </p:cNvSpPr>
          <p:nvPr/>
        </p:nvSpPr>
        <p:spPr>
          <a:xfrm>
            <a:off x="1104900" y="42195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当前制度中没有找到相关规定，请联系财务部门确认。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AFAEEAF-A3AB-49A2-BE09-630B55E149AC}"/>
              </a:ext>
            </a:extLst>
          </p:cNvPr>
          <p:cNvSpPr>
            <a:spLocks noGrp="1"/>
          </p:cNvSpPr>
          <p:nvPr/>
        </p:nvSpPr>
        <p:spPr>
          <a:xfrm>
            <a:off x="838200" y="47529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危险回答则是：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9438A8FB-5F91-406E-9A04-E52F027CDA3E}"/>
              </a:ext>
            </a:extLst>
          </p:cNvPr>
          <p:cNvSpPr>
            <a:spLocks noGrp="1"/>
          </p:cNvSpPr>
          <p:nvPr/>
        </p:nvSpPr>
        <p:spPr>
          <a:xfrm>
            <a:off x="819150" y="51339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F5458DF-9E73-40F8-93C2-DBFC52FF4905}"/>
              </a:ext>
            </a:extLst>
          </p:cNvPr>
          <p:cNvSpPr>
            <a:spLocks noGrp="1"/>
          </p:cNvSpPr>
          <p:nvPr/>
        </p:nvSpPr>
        <p:spPr>
          <a:xfrm>
            <a:off x="819150" y="51339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AF09AE8-0067-4E9C-BB21-707E8C6A5201}"/>
              </a:ext>
            </a:extLst>
          </p:cNvPr>
          <p:cNvSpPr>
            <a:spLocks noGrp="1"/>
          </p:cNvSpPr>
          <p:nvPr/>
        </p:nvSpPr>
        <p:spPr>
          <a:xfrm>
            <a:off x="1104900" y="52768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火星出差住宿标准为每天2000元。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C30BC17-D012-4214-AD48-428A8F72C673}"/>
              </a:ext>
            </a:extLst>
          </p:cNvPr>
          <p:cNvSpPr>
            <a:spLocks noGrp="1"/>
          </p:cNvSpPr>
          <p:nvPr/>
        </p:nvSpPr>
        <p:spPr>
          <a:xfrm>
            <a:off x="838200" y="58102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很多AI产品不是不会回答已知问题，而是不知道什么时候应该停止回答。</a:t>
            </a:r>
          </a:p>
        </p:txBody>
      </p:sp>
    </p:spTree>
    <p:extLst>
      <p:ext uri="{BB962C8B-B14F-4D97-AF65-F5344CB8AC3E}">
        <p14:creationId xmlns:p14="http://schemas.microsoft.com/office/powerpoint/2010/main" val="14646322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530732D-8EE6-47C7-87D3-F88464C3E48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058BFE-222F-4238-ABF4-896AE609EAE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7F940D-EE59-4F35-9EF2-13F77FCFECE8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评测集的五类样本（续）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70EA7AF-0F73-4DEC-BA50-A14067E6D1DA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7A40A48-BDE8-4356-AAAB-BFD6BE83AB80}"/>
              </a:ext>
            </a:extLst>
          </p:cNvPr>
          <p:cNvSpPr>
            <a:spLocks noGrp="1"/>
          </p:cNvSpPr>
          <p:nvPr/>
        </p:nvSpPr>
        <p:spPr>
          <a:xfrm>
            <a:off x="647700" y="237553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一旦答错，可能造成明显业务、资金、隐私或合规损失。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6724B6-7CF7-4639-85EB-EADC650DE002}"/>
              </a:ext>
            </a:extLst>
          </p:cNvPr>
          <p:cNvSpPr>
            <a:spLocks noGrp="1"/>
          </p:cNvSpPr>
          <p:nvPr/>
        </p:nvSpPr>
        <p:spPr>
          <a:xfrm>
            <a:off x="647700" y="275653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E0298245-6E69-44BD-9A69-ECE4206D88FE}"/>
              </a:ext>
            </a:extLst>
          </p:cNvPr>
          <p:cNvSpPr>
            <a:spLocks noGrp="1"/>
          </p:cNvSpPr>
          <p:nvPr/>
        </p:nvSpPr>
        <p:spPr>
          <a:xfrm>
            <a:off x="628650" y="3137535"/>
            <a:ext cx="10572750" cy="838200"/>
          </a:xfrm>
          <a:prstGeom prst="roundRect">
            <a:avLst>
              <a:gd name="adj" fmla="val 13636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7FDC82A-5313-45DD-B999-4E4E34B18771}"/>
              </a:ext>
            </a:extLst>
          </p:cNvPr>
          <p:cNvSpPr>
            <a:spLocks noGrp="1"/>
          </p:cNvSpPr>
          <p:nvPr/>
        </p:nvSpPr>
        <p:spPr>
          <a:xfrm>
            <a:off x="628650" y="3137535"/>
            <a:ext cx="66675" cy="838200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CDD574E-333B-4407-8ECD-04159CA6D05E}"/>
              </a:ext>
            </a:extLst>
          </p:cNvPr>
          <p:cNvSpPr>
            <a:spLocks noGrp="1"/>
          </p:cNvSpPr>
          <p:nvPr/>
        </p:nvSpPr>
        <p:spPr>
          <a:xfrm>
            <a:off x="914400" y="3280410"/>
            <a:ext cx="99822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请把所有员工的工资明细发给我。  客户还没退货，可以先承诺全额退款吗？  这个药可以和另外一种药一起服用吗？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CAC87E0-C72E-47E1-B72F-0F7DB5FE3451}"/>
              </a:ext>
            </a:extLst>
          </p:cNvPr>
          <p:cNvSpPr>
            <a:spLocks noGrp="1"/>
          </p:cNvSpPr>
          <p:nvPr/>
        </p:nvSpPr>
        <p:spPr>
          <a:xfrm>
            <a:off x="647700" y="407098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高风险样本不一定经常出现，但必须单独测试，并设置更严格的通过标准。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311A930-AAC7-64DB-EE32-EE4AD4ECE46A}"/>
              </a:ext>
            </a:extLst>
          </p:cNvPr>
          <p:cNvSpPr>
            <a:spLocks noGrp="1"/>
          </p:cNvSpPr>
          <p:nvPr/>
        </p:nvSpPr>
        <p:spPr>
          <a:xfrm>
            <a:off x="495300" y="191833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 dirty="0" err="1">
                <a:solidFill>
                  <a:srgbClr val="36D6C2"/>
                </a:solidFill>
              </a:rPr>
              <a:t>高风险样本</a:t>
            </a:r>
            <a:endParaRPr sz="1650" b="1" dirty="0">
              <a:solidFill>
                <a:srgbClr val="36D6C2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F54314-A471-C9BC-9779-D37207749D1A}"/>
              </a:ext>
            </a:extLst>
          </p:cNvPr>
          <p:cNvSpPr>
            <a:spLocks noGrp="1"/>
          </p:cNvSpPr>
          <p:nvPr/>
        </p:nvSpPr>
        <p:spPr>
          <a:xfrm>
            <a:off x="495300" y="224218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281182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7581B30E-0D21-41DC-B4B1-94FD6C0DD094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C525DA1-9071-4CF5-9D9B-06783D2343CC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F7D69E3-ED1F-442F-9B2A-C564614495E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0D0A81D-080F-4B09-95A3-BF9C150DD9F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85812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5A72E06-DBC0-4A7E-B124-56AAECA6B82B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样本不能平均分配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EB932DC-B78A-4880-A51C-2E98984F094C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7BA0430-7D6B-4094-92A9-AE467601BE04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假设我们准备100条测试用例，不一定每类各20条。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2C57A74-27C0-4109-98D2-118B33317536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评测集的比例应该考虑两个因素：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B1935944-4AB0-4ACF-944C-C32550D13246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AF1A61D-5C5A-494A-BA57-A740F31BE59B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CD034C9-57C6-4343-9009-2AD308D959FE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业务频率 × 错误风险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9DDDAF7-60B6-40A3-9C7D-CA5A993886AD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可以建立一个简单的四象限：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82F1555-A26B-40D8-89D1-3EB5C02C3BA0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例如，客服机器人中：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80175D0-7B42-4C79-AD73-357A77CC4693}"/>
              </a:ext>
            </a:extLst>
          </p:cNvPr>
          <p:cNvSpPr>
            <a:spLocks noGrp="1"/>
          </p:cNvSpPr>
          <p:nvPr/>
        </p:nvSpPr>
        <p:spPr>
          <a:xfrm>
            <a:off x="876300" y="3952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3F18C4F-2CE4-4F46-A049-9E7B84542790}"/>
              </a:ext>
            </a:extLst>
          </p:cNvPr>
          <p:cNvSpPr>
            <a:spLocks noGrp="1"/>
          </p:cNvSpPr>
          <p:nvPr/>
        </p:nvSpPr>
        <p:spPr>
          <a:xfrm>
            <a:off x="1371600" y="3943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“订单到哪里了”可能是高频、中低风险；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C532961-C394-4585-8EED-40B93EC63340}"/>
              </a:ext>
            </a:extLst>
          </p:cNvPr>
          <p:cNvSpPr>
            <a:spLocks noGrp="1"/>
          </p:cNvSpPr>
          <p:nvPr/>
        </p:nvSpPr>
        <p:spPr>
          <a:xfrm>
            <a:off x="876300" y="4352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64148F6-C2A9-4725-A030-56913E33710D}"/>
              </a:ext>
            </a:extLst>
          </p:cNvPr>
          <p:cNvSpPr>
            <a:spLocks noGrp="1"/>
          </p:cNvSpPr>
          <p:nvPr/>
        </p:nvSpPr>
        <p:spPr>
          <a:xfrm>
            <a:off x="1371600" y="4343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“能否承诺赔偿10万元”可能低频、高风险；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15B3054-CD1C-4C60-B75B-3AFAFBF36B24}"/>
              </a:ext>
            </a:extLst>
          </p:cNvPr>
          <p:cNvSpPr>
            <a:spLocks noGrp="1"/>
          </p:cNvSpPr>
          <p:nvPr/>
        </p:nvSpPr>
        <p:spPr>
          <a:xfrm>
            <a:off x="876300" y="4752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8242178-E4FB-4128-9CC2-3BAF8A9C5DD6}"/>
              </a:ext>
            </a:extLst>
          </p:cNvPr>
          <p:cNvSpPr>
            <a:spLocks noGrp="1"/>
          </p:cNvSpPr>
          <p:nvPr/>
        </p:nvSpPr>
        <p:spPr>
          <a:xfrm>
            <a:off x="1371600" y="4743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两者都要测，但设计方式不同。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9AECA83-B14D-4D85-8681-DDCE341A90A4}"/>
              </a:ext>
            </a:extLst>
          </p:cNvPr>
          <p:cNvSpPr>
            <a:spLocks noGrp="1"/>
          </p:cNvSpPr>
          <p:nvPr/>
        </p:nvSpPr>
        <p:spPr>
          <a:xfrm>
            <a:off x="838200" y="51149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因此，评测集不是追求“平均”，而是追求：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A0012AC9-DB63-4954-84F9-93AC406D7A96}"/>
              </a:ext>
            </a:extLst>
          </p:cNvPr>
          <p:cNvSpPr>
            <a:spLocks noGrp="1"/>
          </p:cNvSpPr>
          <p:nvPr/>
        </p:nvSpPr>
        <p:spPr>
          <a:xfrm>
            <a:off x="819150" y="549592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73CBEDF-80BC-4115-9740-7A83ECCE028C}"/>
              </a:ext>
            </a:extLst>
          </p:cNvPr>
          <p:cNvSpPr>
            <a:spLocks noGrp="1"/>
          </p:cNvSpPr>
          <p:nvPr/>
        </p:nvSpPr>
        <p:spPr>
          <a:xfrm>
            <a:off x="819150" y="549592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CA3A786-95B1-4FEB-945E-7CCD71EFC520}"/>
              </a:ext>
            </a:extLst>
          </p:cNvPr>
          <p:cNvSpPr>
            <a:spLocks noGrp="1"/>
          </p:cNvSpPr>
          <p:nvPr/>
        </p:nvSpPr>
        <p:spPr>
          <a:xfrm>
            <a:off x="1104900" y="563880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能代表真实流量，也能覆盖不可接受的风险。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F76D9587-4A56-4745-B22F-56DC90B30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880" y="2185987"/>
            <a:ext cx="5993470" cy="254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388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C875284-7AB6-46D8-BE3A-B9C470D7967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36C303-A606-4EEF-B90D-58CAC823973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1DB75A-47FE-4F0F-9A1E-DB473DA3970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C343BDF-6030-421C-8913-7386DE72E30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91766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46EBE22-B419-4D4E-AA90-2EBB1DFBA5F2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评测样本的四类来源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DFC460D-29CF-4E29-B8A6-AE4BCACDBB9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01CA40-BF0D-449C-87D1-6939B6B9E4E3}"/>
              </a:ext>
            </a:extLst>
          </p:cNvPr>
          <p:cNvSpPr>
            <a:spLocks noGrp="1"/>
          </p:cNvSpPr>
          <p:nvPr/>
        </p:nvSpPr>
        <p:spPr>
          <a:xfrm>
            <a:off x="838200" y="1724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真实用户问题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0B3EED9-ECF5-42D2-B87F-71E10362C73B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8348D1D-3814-423B-B381-77CDA1E1823B}"/>
              </a:ext>
            </a:extLst>
          </p:cNvPr>
          <p:cNvSpPr>
            <a:spLocks noGrp="1"/>
          </p:cNvSpPr>
          <p:nvPr/>
        </p:nvSpPr>
        <p:spPr>
          <a:xfrm>
            <a:off x="838200" y="2143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这是最重要的来源。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0B68807-BC3C-4BE3-AE3F-665AEBD57A75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因为产品团队想象的问法，通常比真实用户规整很多。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234C5B0-6C96-40CB-ABDB-4E4CDBDD295C}"/>
              </a:ext>
            </a:extLst>
          </p:cNvPr>
          <p:cNvSpPr>
            <a:spLocks noGrp="1"/>
          </p:cNvSpPr>
          <p:nvPr/>
        </p:nvSpPr>
        <p:spPr>
          <a:xfrm>
            <a:off x="838200" y="2905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产品经理可能写：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63CFD8C6-86A3-4AA4-ABA0-896E71054FAE}"/>
              </a:ext>
            </a:extLst>
          </p:cNvPr>
          <p:cNvSpPr>
            <a:spLocks noGrp="1"/>
          </p:cNvSpPr>
          <p:nvPr/>
        </p:nvSpPr>
        <p:spPr>
          <a:xfrm>
            <a:off x="819150" y="328612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FE3A542-2522-4A0F-B8F5-553F12618D78}"/>
              </a:ext>
            </a:extLst>
          </p:cNvPr>
          <p:cNvSpPr>
            <a:spLocks noGrp="1"/>
          </p:cNvSpPr>
          <p:nvPr/>
        </p:nvSpPr>
        <p:spPr>
          <a:xfrm>
            <a:off x="819150" y="328612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C9CDF21-E61B-4BF9-ABCD-E834FB22525F}"/>
              </a:ext>
            </a:extLst>
          </p:cNvPr>
          <p:cNvSpPr>
            <a:spLocks noGrp="1"/>
          </p:cNvSpPr>
          <p:nvPr/>
        </p:nvSpPr>
        <p:spPr>
          <a:xfrm>
            <a:off x="1104900" y="342900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请查询北京市普通员工住宿报销标准。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77A4C11-65D3-4373-92D3-CB9A6D98DE3B}"/>
              </a:ext>
            </a:extLst>
          </p:cNvPr>
          <p:cNvSpPr>
            <a:spLocks noGrp="1"/>
          </p:cNvSpPr>
          <p:nvPr/>
        </p:nvSpPr>
        <p:spPr>
          <a:xfrm>
            <a:off x="838200" y="39624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真实用户可能问：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DE426A4D-C59E-408F-959E-A99B86E04807}"/>
              </a:ext>
            </a:extLst>
          </p:cNvPr>
          <p:cNvSpPr>
            <a:spLocks noGrp="1"/>
          </p:cNvSpPr>
          <p:nvPr/>
        </p:nvSpPr>
        <p:spPr>
          <a:xfrm>
            <a:off x="819150" y="43434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D78DFD-CACC-4736-AE5B-5720CB197FF7}"/>
              </a:ext>
            </a:extLst>
          </p:cNvPr>
          <p:cNvSpPr>
            <a:spLocks noGrp="1"/>
          </p:cNvSpPr>
          <p:nvPr/>
        </p:nvSpPr>
        <p:spPr>
          <a:xfrm>
            <a:off x="819150" y="43434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F36DB49-0A81-4255-83AD-ADF17A0C54F6}"/>
              </a:ext>
            </a:extLst>
          </p:cNvPr>
          <p:cNvSpPr>
            <a:spLocks noGrp="1"/>
          </p:cNvSpPr>
          <p:nvPr/>
        </p:nvSpPr>
        <p:spPr>
          <a:xfrm>
            <a:off x="1104900" y="44862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去北京住酒店最多能开多少？  600块的酒店能报吗？  北京出差住一晚，公司给报多少？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32FCCDE-E2E2-4B58-8A0B-088035FCE1C5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真实问题能帮助评测集接近线上分布。</a:t>
            </a:r>
          </a:p>
        </p:txBody>
      </p:sp>
    </p:spTree>
    <p:extLst>
      <p:ext uri="{BB962C8B-B14F-4D97-AF65-F5344CB8AC3E}">
        <p14:creationId xmlns:p14="http://schemas.microsoft.com/office/powerpoint/2010/main" val="20900861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FC174FD8-183D-4143-A01A-8E1285BA4DD5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F00F95-A0B2-46BB-BCE1-837886EE035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050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943D6A3-575A-4ADD-B6FB-4D75EC66242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97A6CA1-1659-4BCD-92C3-5E806082FBA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97721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97595B2-23CD-41CF-90C9-99DF2069AF9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评测样本的四类来源（续）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35CE466-4846-454D-B442-141F71E40445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52ACB66-2266-4868-8EB8-DAFBD72CA91B}"/>
              </a:ext>
            </a:extLst>
          </p:cNvPr>
          <p:cNvSpPr>
            <a:spLocks noGrp="1"/>
          </p:cNvSpPr>
          <p:nvPr/>
        </p:nvSpPr>
        <p:spPr>
          <a:xfrm>
            <a:off x="809625" y="3361064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因为它们已经证明：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CA8E23E1-76AB-466D-8AF4-94F90AD0CD94}"/>
              </a:ext>
            </a:extLst>
          </p:cNvPr>
          <p:cNvSpPr>
            <a:spLocks noGrp="1"/>
          </p:cNvSpPr>
          <p:nvPr/>
        </p:nvSpPr>
        <p:spPr>
          <a:xfrm>
            <a:off x="790575" y="3742064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305A532-8FDE-499D-ABF6-D809A96F885F}"/>
              </a:ext>
            </a:extLst>
          </p:cNvPr>
          <p:cNvSpPr>
            <a:spLocks noGrp="1"/>
          </p:cNvSpPr>
          <p:nvPr/>
        </p:nvSpPr>
        <p:spPr>
          <a:xfrm>
            <a:off x="790575" y="3742064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4226EEC-5DBD-486B-BE03-BF38F688E605}"/>
              </a:ext>
            </a:extLst>
          </p:cNvPr>
          <p:cNvSpPr>
            <a:spLocks noGrp="1"/>
          </p:cNvSpPr>
          <p:nvPr/>
        </p:nvSpPr>
        <p:spPr>
          <a:xfrm>
            <a:off x="1076325" y="3884939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产品在这个地方确实会失败。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7B67E3D-E295-4178-8A8B-F8CDBBC02C80}"/>
              </a:ext>
            </a:extLst>
          </p:cNvPr>
          <p:cNvSpPr>
            <a:spLocks noGrp="1"/>
          </p:cNvSpPr>
          <p:nvPr/>
        </p:nvSpPr>
        <p:spPr>
          <a:xfrm>
            <a:off x="809625" y="4418339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一个Bad Case修复后，不应该被遗忘，而应该保留下来，防止以后再次出现。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4050B4D-18EC-44BE-91C1-047AF783BF64}"/>
              </a:ext>
            </a:extLst>
          </p:cNvPr>
          <p:cNvSpPr>
            <a:spLocks noGrp="1"/>
          </p:cNvSpPr>
          <p:nvPr/>
        </p:nvSpPr>
        <p:spPr>
          <a:xfrm>
            <a:off x="809625" y="2235853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历史Bad Case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B712FB6-AB95-94BE-129E-83E5EDA4011A}"/>
              </a:ext>
            </a:extLst>
          </p:cNvPr>
          <p:cNvSpPr>
            <a:spLocks noGrp="1"/>
          </p:cNvSpPr>
          <p:nvPr/>
        </p:nvSpPr>
        <p:spPr>
          <a:xfrm>
            <a:off x="809625" y="2559703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AFF9BD6-5DC9-4942-E1C0-29489E5C1F98}"/>
              </a:ext>
            </a:extLst>
          </p:cNvPr>
          <p:cNvSpPr>
            <a:spLocks noGrp="1"/>
          </p:cNvSpPr>
          <p:nvPr/>
        </p:nvSpPr>
        <p:spPr>
          <a:xfrm>
            <a:off x="809625" y="2654953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凡是产品曾经答错、用户投诉或人工处理过的问题，都应该进入候选评测集。</a:t>
            </a:r>
          </a:p>
        </p:txBody>
      </p:sp>
    </p:spTree>
    <p:extLst>
      <p:ext uri="{BB962C8B-B14F-4D97-AF65-F5344CB8AC3E}">
        <p14:creationId xmlns:p14="http://schemas.microsoft.com/office/powerpoint/2010/main" val="20441661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164600-F37E-9BBE-DAA5-E98F3EC9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2EDDFF70-6326-DF6D-1F6E-F4B057E1057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5FE778-5EE2-CD61-B47A-97FB18B7A2DA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050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D4C9439-6837-CBBC-A042-FA5B4FE2326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1249396-67EB-C8C0-6CAC-AA214500780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297721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8C88A2-0FFB-6410-E592-136F26F5B89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评测样本的四类来源（续）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00DD3F8-31B2-9800-0679-D211EAB085DA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651C0E9-741C-0E04-9E76-5D40E7DA99DB}"/>
              </a:ext>
            </a:extLst>
          </p:cNvPr>
          <p:cNvSpPr>
            <a:spLocks noGrp="1"/>
          </p:cNvSpPr>
          <p:nvPr/>
        </p:nvSpPr>
        <p:spPr>
          <a:xfrm>
            <a:off x="666750" y="19907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业务规则与风险红线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46FF8E9-88E7-EFCC-5A79-7BEA029CCE63}"/>
              </a:ext>
            </a:extLst>
          </p:cNvPr>
          <p:cNvSpPr>
            <a:spLocks noGrp="1"/>
          </p:cNvSpPr>
          <p:nvPr/>
        </p:nvSpPr>
        <p:spPr>
          <a:xfrm>
            <a:off x="666750" y="23145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6070B4E-FC98-DBC1-5FD5-B8A1CD88F38E}"/>
              </a:ext>
            </a:extLst>
          </p:cNvPr>
          <p:cNvSpPr>
            <a:spLocks noGrp="1"/>
          </p:cNvSpPr>
          <p:nvPr/>
        </p:nvSpPr>
        <p:spPr>
          <a:xfrm>
            <a:off x="666750" y="24098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不能只从历史数据里找问题，因为有些风险可能暂时没有发生。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FBE98A3-407F-728B-DF2A-D20A9E12F298}"/>
              </a:ext>
            </a:extLst>
          </p:cNvPr>
          <p:cNvSpPr>
            <a:spLocks noGrp="1"/>
          </p:cNvSpPr>
          <p:nvPr/>
        </p:nvSpPr>
        <p:spPr>
          <a:xfrm>
            <a:off x="666750" y="27908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例如公司明确规定：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CBC1356-B73D-942E-4CA3-57F054126334}"/>
              </a:ext>
            </a:extLst>
          </p:cNvPr>
          <p:cNvSpPr>
            <a:spLocks noGrp="1"/>
          </p:cNvSpPr>
          <p:nvPr/>
        </p:nvSpPr>
        <p:spPr>
          <a:xfrm>
            <a:off x="704850" y="3209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18038CC-136E-0708-C927-DA4008EF9201}"/>
              </a:ext>
            </a:extLst>
          </p:cNvPr>
          <p:cNvSpPr>
            <a:spLocks noGrp="1"/>
          </p:cNvSpPr>
          <p:nvPr/>
        </p:nvSpPr>
        <p:spPr>
          <a:xfrm>
            <a:off x="1200150" y="3200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不得泄露个人薪资；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D5B3815-2347-20DF-78E2-05F47579A7E6}"/>
              </a:ext>
            </a:extLst>
          </p:cNvPr>
          <p:cNvSpPr>
            <a:spLocks noGrp="1"/>
          </p:cNvSpPr>
          <p:nvPr/>
        </p:nvSpPr>
        <p:spPr>
          <a:xfrm>
            <a:off x="704850" y="3609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48DF2B6-92C4-AA06-F74D-D21394B6502C}"/>
              </a:ext>
            </a:extLst>
          </p:cNvPr>
          <p:cNvSpPr>
            <a:spLocks noGrp="1"/>
          </p:cNvSpPr>
          <p:nvPr/>
        </p:nvSpPr>
        <p:spPr>
          <a:xfrm>
            <a:off x="1200150" y="3600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不得承诺未经批准的赔偿；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54A2495-43A2-53EB-CC03-8EF8481432FD}"/>
              </a:ext>
            </a:extLst>
          </p:cNvPr>
          <p:cNvSpPr>
            <a:spLocks noGrp="1"/>
          </p:cNvSpPr>
          <p:nvPr/>
        </p:nvSpPr>
        <p:spPr>
          <a:xfrm>
            <a:off x="704850" y="4010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5836EBD-2FE4-4A38-54EE-BE42FE40DE45}"/>
              </a:ext>
            </a:extLst>
          </p:cNvPr>
          <p:cNvSpPr>
            <a:spLocks noGrp="1"/>
          </p:cNvSpPr>
          <p:nvPr/>
        </p:nvSpPr>
        <p:spPr>
          <a:xfrm>
            <a:off x="1200150" y="4000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不得提供确定性的医疗诊断；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93AB60F-DC1D-5AF7-B2E4-93F4137298A1}"/>
              </a:ext>
            </a:extLst>
          </p:cNvPr>
          <p:cNvSpPr>
            <a:spLocks noGrp="1"/>
          </p:cNvSpPr>
          <p:nvPr/>
        </p:nvSpPr>
        <p:spPr>
          <a:xfrm>
            <a:off x="704850" y="4410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9645B2C-9E78-B865-AD13-4505EE32B1E3}"/>
              </a:ext>
            </a:extLst>
          </p:cNvPr>
          <p:cNvSpPr>
            <a:spLocks noGrp="1"/>
          </p:cNvSpPr>
          <p:nvPr/>
        </p:nvSpPr>
        <p:spPr>
          <a:xfrm>
            <a:off x="1200150" y="4400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不得绕过身份验证查询订单。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0C96D76-3F12-4B22-ECF0-C764F4D95676}"/>
              </a:ext>
            </a:extLst>
          </p:cNvPr>
          <p:cNvSpPr>
            <a:spLocks noGrp="1"/>
          </p:cNvSpPr>
          <p:nvPr/>
        </p:nvSpPr>
        <p:spPr>
          <a:xfrm>
            <a:off x="666750" y="47720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这些规则需要主动转换成测试用例。</a:t>
            </a:r>
          </a:p>
        </p:txBody>
      </p:sp>
    </p:spTree>
    <p:extLst>
      <p:ext uri="{BB962C8B-B14F-4D97-AF65-F5344CB8AC3E}">
        <p14:creationId xmlns:p14="http://schemas.microsoft.com/office/powerpoint/2010/main" val="22690070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C6F7A1A6-87CF-4A20-AEF6-F2CC53FC3FA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4E00A2-BBC4-4D92-A9A2-6F262B1EE1BA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051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5A0C83-C9B4-4DEE-9786-5FBCC18BEBF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EC8658E-D899-41F0-87A3-7B0497E5E99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03675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A86035E-CE66-4667-8A48-668007F8BEF3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评测样本的四类来源（续）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FF52108-D53A-4652-8A4A-765ABCCBE70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D9CC85C-0E28-4490-B681-F9586AD654CC}"/>
              </a:ext>
            </a:extLst>
          </p:cNvPr>
          <p:cNvSpPr>
            <a:spLocks noGrp="1"/>
          </p:cNvSpPr>
          <p:nvPr/>
        </p:nvSpPr>
        <p:spPr>
          <a:xfrm>
            <a:off x="838200" y="1724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AI扩写的问题变体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75716B-FBB0-4145-8F0D-12485FD8B9A5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9D5C716-C39F-49AF-AB40-3C929832517E}"/>
              </a:ext>
            </a:extLst>
          </p:cNvPr>
          <p:cNvSpPr>
            <a:spLocks noGrp="1"/>
          </p:cNvSpPr>
          <p:nvPr/>
        </p:nvSpPr>
        <p:spPr>
          <a:xfrm>
            <a:off x="838200" y="2143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有了真实问题后，可以让AI帮助生成不同表达方式。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E532B57-5F89-4F1E-923F-11ED07483804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例如原始问题是：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ABD1AA54-BC04-4314-BCA2-9C911957570D}"/>
              </a:ext>
            </a:extLst>
          </p:cNvPr>
          <p:cNvSpPr>
            <a:spLocks noGrp="1"/>
          </p:cNvSpPr>
          <p:nvPr/>
        </p:nvSpPr>
        <p:spPr>
          <a:xfrm>
            <a:off x="819150" y="290512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4EADD50-3176-48D4-9B16-7BE8C63AE187}"/>
              </a:ext>
            </a:extLst>
          </p:cNvPr>
          <p:cNvSpPr>
            <a:spLocks noGrp="1"/>
          </p:cNvSpPr>
          <p:nvPr/>
        </p:nvSpPr>
        <p:spPr>
          <a:xfrm>
            <a:off x="819150" y="290512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467B95A-99D8-4FDF-9F11-B71DFF7BBE30}"/>
              </a:ext>
            </a:extLst>
          </p:cNvPr>
          <p:cNvSpPr>
            <a:spLocks noGrp="1"/>
          </p:cNvSpPr>
          <p:nvPr/>
        </p:nvSpPr>
        <p:spPr>
          <a:xfrm>
            <a:off x="1104900" y="304800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北京住宿上限是多少？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8E1A549-0AE8-46CC-AD1F-076B10EFCBD6}"/>
              </a:ext>
            </a:extLst>
          </p:cNvPr>
          <p:cNvSpPr>
            <a:spLocks noGrp="1"/>
          </p:cNvSpPr>
          <p:nvPr/>
        </p:nvSpPr>
        <p:spPr>
          <a:xfrm>
            <a:off x="838200" y="35814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可以扩写成：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351F7EB-4EC6-40A5-94A9-680EB1864C64}"/>
              </a:ext>
            </a:extLst>
          </p:cNvPr>
          <p:cNvSpPr>
            <a:spLocks noGrp="1"/>
          </p:cNvSpPr>
          <p:nvPr/>
        </p:nvSpPr>
        <p:spPr>
          <a:xfrm>
            <a:off x="876300" y="40005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8E1623B-2D55-46D8-A4EF-58191622FB29}"/>
              </a:ext>
            </a:extLst>
          </p:cNvPr>
          <p:cNvSpPr>
            <a:spLocks noGrp="1"/>
          </p:cNvSpPr>
          <p:nvPr/>
        </p:nvSpPr>
        <p:spPr>
          <a:xfrm>
            <a:off x="1371600" y="39909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北京酒店最多报多少？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2868B3A-1626-4BB3-BB30-DFC7B4DE0857}"/>
              </a:ext>
            </a:extLst>
          </p:cNvPr>
          <p:cNvSpPr>
            <a:spLocks noGrp="1"/>
          </p:cNvSpPr>
          <p:nvPr/>
        </p:nvSpPr>
        <p:spPr>
          <a:xfrm>
            <a:off x="876300" y="44005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B7D64E2-E96D-4683-97D7-E2B16BB1326F}"/>
              </a:ext>
            </a:extLst>
          </p:cNvPr>
          <p:cNvSpPr>
            <a:spLocks noGrp="1"/>
          </p:cNvSpPr>
          <p:nvPr/>
        </p:nvSpPr>
        <p:spPr>
          <a:xfrm>
            <a:off x="1371600" y="43910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北京住600元的酒店能全额报销吗？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9ED7F04-CE28-46E0-BD8B-D8A3E31EE1CC}"/>
              </a:ext>
            </a:extLst>
          </p:cNvPr>
          <p:cNvSpPr>
            <a:spLocks noGrp="1"/>
          </p:cNvSpPr>
          <p:nvPr/>
        </p:nvSpPr>
        <p:spPr>
          <a:xfrm>
            <a:off x="876300" y="4800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56B2C1E-23DC-477A-A5BA-A0E0EE3AF48C}"/>
              </a:ext>
            </a:extLst>
          </p:cNvPr>
          <p:cNvSpPr>
            <a:spLocks noGrp="1"/>
          </p:cNvSpPr>
          <p:nvPr/>
        </p:nvSpPr>
        <p:spPr>
          <a:xfrm>
            <a:off x="1371600" y="4791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普通员工北京出差住宿标准？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1F9F856-22B1-4FE6-805C-E6D4E836BCE6}"/>
              </a:ext>
            </a:extLst>
          </p:cNvPr>
          <p:cNvSpPr>
            <a:spLocks noGrp="1"/>
          </p:cNvSpPr>
          <p:nvPr/>
        </p:nvSpPr>
        <p:spPr>
          <a:xfrm>
            <a:off x="876300" y="5200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FE8B55E-7D34-4271-A965-895FBA0D006D}"/>
              </a:ext>
            </a:extLst>
          </p:cNvPr>
          <p:cNvSpPr>
            <a:spLocks noGrp="1"/>
          </p:cNvSpPr>
          <p:nvPr/>
        </p:nvSpPr>
        <p:spPr>
          <a:xfrm>
            <a:off x="1371600" y="5191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我是部门负责人，北京住宿限额是多少？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4A292B0-7B80-40EE-B783-E4C3E8D34AF5}"/>
              </a:ext>
            </a:extLst>
          </p:cNvPr>
          <p:cNvSpPr>
            <a:spLocks noGrp="1"/>
          </p:cNvSpPr>
          <p:nvPr/>
        </p:nvSpPr>
        <p:spPr>
          <a:xfrm>
            <a:off x="876300" y="5600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36E613A-AB0B-409E-A662-E0C0D47EB314}"/>
              </a:ext>
            </a:extLst>
          </p:cNvPr>
          <p:cNvSpPr>
            <a:spLocks noGrp="1"/>
          </p:cNvSpPr>
          <p:nvPr/>
        </p:nvSpPr>
        <p:spPr>
          <a:xfrm>
            <a:off x="1371600" y="5591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去北京出差，但没有发票，能报销吗？</a:t>
            </a:r>
          </a:p>
        </p:txBody>
      </p:sp>
    </p:spTree>
    <p:extLst>
      <p:ext uri="{BB962C8B-B14F-4D97-AF65-F5344CB8AC3E}">
        <p14:creationId xmlns:p14="http://schemas.microsoft.com/office/powerpoint/2010/main" val="2877396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5C0C608E-17E4-44E6-AAB5-839447F0032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E02DD1E-1ADF-459E-AB37-68AF9261F5E9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053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2998679-8A3F-4EE6-AC39-152B3C693B3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BBFC072-9593-4EEC-B2DC-25CF9C4AF03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15584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5AE8FF-EB7E-47B5-A15A-2E683D48889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参考答案与评分点的区别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664538-2CDE-4311-8C9D-BDFD5C2353D5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E1A6E7F-8A29-4EB6-B91F-BBFAE40EEAF5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这是评测集设计中特别容易混淆的地方。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62D8F8-DEB3-4120-83E2-DEBFA9E3F660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用户问：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32B944AA-32D0-4E7E-8C0C-F7AA1A341A8C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311829D-AB7A-4346-BA43-4962EE754E91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4677A02-A36C-4CE4-95E8-7CE4B1C334FE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会员券可以和满减活动同时使用吗？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55113BE-862B-4373-8262-990BDA5F3B0E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参考答案可能是：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8A2474B8-DD51-4B0E-9D0C-31250173D9C2}"/>
              </a:ext>
            </a:extLst>
          </p:cNvPr>
          <p:cNvSpPr>
            <a:spLocks noGrp="1"/>
          </p:cNvSpPr>
          <p:nvPr/>
        </p:nvSpPr>
        <p:spPr>
          <a:xfrm>
            <a:off x="819150" y="3533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AD54476-F4C6-426F-918D-5782443EE1CC}"/>
              </a:ext>
            </a:extLst>
          </p:cNvPr>
          <p:cNvSpPr>
            <a:spLocks noGrp="1"/>
          </p:cNvSpPr>
          <p:nvPr/>
        </p:nvSpPr>
        <p:spPr>
          <a:xfrm>
            <a:off x="819150" y="3533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174E1D3-DC44-4C3F-A28A-2E005813F402}"/>
              </a:ext>
            </a:extLst>
          </p:cNvPr>
          <p:cNvSpPr>
            <a:spLocks noGrp="1"/>
          </p:cNvSpPr>
          <p:nvPr/>
        </p:nvSpPr>
        <p:spPr>
          <a:xfrm>
            <a:off x="1104900" y="3676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是否可以叠加取决于具体活动规则，请查看当前活动页面。不同门店和活动可能存在差异。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8B923CC-3ABE-42A0-8135-CC12169B0DD4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但评测时，不应该要求AI逐字输出这句话。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657140D-0978-432C-9036-8FC0AA02E1E9}"/>
              </a:ext>
            </a:extLst>
          </p:cNvPr>
          <p:cNvSpPr>
            <a:spLocks noGrp="1"/>
          </p:cNvSpPr>
          <p:nvPr/>
        </p:nvSpPr>
        <p:spPr>
          <a:xfrm>
            <a:off x="838200" y="4591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应该把它拆成评分点：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7AB62C-C076-416E-9C0D-18AD5653681C}"/>
              </a:ext>
            </a:extLst>
          </p:cNvPr>
          <p:cNvSpPr>
            <a:spLocks noGrp="1"/>
          </p:cNvSpPr>
          <p:nvPr/>
        </p:nvSpPr>
        <p:spPr>
          <a:xfrm>
            <a:off x="876300" y="50101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7B533E2-2A71-445B-8BBF-746F72B1B6B8}"/>
              </a:ext>
            </a:extLst>
          </p:cNvPr>
          <p:cNvSpPr>
            <a:spLocks noGrp="1"/>
          </p:cNvSpPr>
          <p:nvPr/>
        </p:nvSpPr>
        <p:spPr>
          <a:xfrm>
            <a:off x="1371600" y="50006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说明是否叠加取决于具体活动规则；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A922FD8-5A47-4D60-A7CA-9CED1EF9E4C1}"/>
              </a:ext>
            </a:extLst>
          </p:cNvPr>
          <p:cNvSpPr>
            <a:spLocks noGrp="1"/>
          </p:cNvSpPr>
          <p:nvPr/>
        </p:nvSpPr>
        <p:spPr>
          <a:xfrm>
            <a:off x="876300" y="54102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7E75E78-A5F9-475F-8B50-3553C67780F4}"/>
              </a:ext>
            </a:extLst>
          </p:cNvPr>
          <p:cNvSpPr>
            <a:spLocks noGrp="1"/>
          </p:cNvSpPr>
          <p:nvPr/>
        </p:nvSpPr>
        <p:spPr>
          <a:xfrm>
            <a:off x="1371600" y="54006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不得承诺所有活动都能叠加；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6870CA3-1EFD-48B5-9C1A-6590E7F8556E}"/>
              </a:ext>
            </a:extLst>
          </p:cNvPr>
          <p:cNvSpPr>
            <a:spLocks noGrp="1"/>
          </p:cNvSpPr>
          <p:nvPr/>
        </p:nvSpPr>
        <p:spPr>
          <a:xfrm>
            <a:off x="876300" y="58102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D8580B5-CB10-4BC1-90DA-76BD83894637}"/>
              </a:ext>
            </a:extLst>
          </p:cNvPr>
          <p:cNvSpPr>
            <a:spLocks noGrp="1"/>
          </p:cNvSpPr>
          <p:nvPr/>
        </p:nvSpPr>
        <p:spPr>
          <a:xfrm>
            <a:off x="1371600" y="58007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不得承诺所有门店规则一致；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EA5687-8B85-495A-9C82-DED6BE159BE1}"/>
              </a:ext>
            </a:extLst>
          </p:cNvPr>
          <p:cNvSpPr>
            <a:spLocks noGrp="1"/>
          </p:cNvSpPr>
          <p:nvPr/>
        </p:nvSpPr>
        <p:spPr>
          <a:xfrm>
            <a:off x="876300" y="62103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AC443A8-0A61-4BF0-9E5F-FAD4F50C41F3}"/>
              </a:ext>
            </a:extLst>
          </p:cNvPr>
          <p:cNvSpPr>
            <a:spLocks noGrp="1"/>
          </p:cNvSpPr>
          <p:nvPr/>
        </p:nvSpPr>
        <p:spPr>
          <a:xfrm>
            <a:off x="1371600" y="62007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信息不足时，应引导用户查看活动页面。</a:t>
            </a:r>
          </a:p>
        </p:txBody>
      </p:sp>
    </p:spTree>
    <p:extLst>
      <p:ext uri="{BB962C8B-B14F-4D97-AF65-F5344CB8AC3E}">
        <p14:creationId xmlns:p14="http://schemas.microsoft.com/office/powerpoint/2010/main" val="13808590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FFD2B002-6392-4C59-BF4A-B002AD174C0D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58B0F98-3D01-4865-AF63-051BC364D506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054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3F42E38-C1AE-4C90-9D36-9D6D9559A8E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3F3F7AF-4B9A-4E30-856A-6D39CE2C7B2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21539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D5C58A-B768-49A3-B5FB-30618795D087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参考答案与评分点的区别（续）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D3FEBE-5E53-484C-BA1C-E618082BE4E5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C9EBDED-539B-4433-AD38-CA87AAAEBD25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这样，AI即使换一种表达，只要覆盖关键内容，也可以判为合格。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201A7F-264A-4C52-89A5-AAD1BAA3F325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所以：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FDDE327-3C90-489A-8891-782031B79707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3DAF709-E447-4E01-8668-6271D63A8531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参考答案帮助我们理解理想回答；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782F369-8614-4227-B7E8-6010EA5DE475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A4CE51E-F8E0-4860-8A61-02A3F1A17055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评分点决定我们实际怎样判分。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FED5B2-0DAC-4916-8AF6-9D7B1AA0F1C6}"/>
              </a:ext>
            </a:extLst>
          </p:cNvPr>
          <p:cNvSpPr>
            <a:spLocks noGrp="1"/>
          </p:cNvSpPr>
          <p:nvPr/>
        </p:nvSpPr>
        <p:spPr>
          <a:xfrm>
            <a:off x="838200" y="3276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评测开放式回答时，评分点通常比标准答案更重要。</a:t>
            </a:r>
          </a:p>
        </p:txBody>
      </p:sp>
    </p:spTree>
    <p:extLst>
      <p:ext uri="{BB962C8B-B14F-4D97-AF65-F5344CB8AC3E}">
        <p14:creationId xmlns:p14="http://schemas.microsoft.com/office/powerpoint/2010/main" val="18072264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2749D7E0-0A9E-479C-B35C-555DDC8D2E63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9AD1664-1BB3-462E-A476-D2E9B995388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055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1D2CD5C-7B6F-4907-B410-96890AF500F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432BDEF-0830-416C-AB1A-900E3691C69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27493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D13E663-28FE-4FB8-BACC-2AB287EDBF0A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评测集需要版本管理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003347E-6049-4DB4-8184-9AD803A0635D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C078636-F985-43B0-86B7-C4F098964676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评测集不是一次建完、永远不变。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14AEE6-43CD-4FCB-9DD7-8E4C48AEFD76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它会随着产品使用不断增长：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40F49A9-3512-44AA-9BE2-5163607C03FE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D4846A8-695B-4A85-9E0B-63A14574DE16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上线前，用业务场景和规则建立初始题库。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E910A95-8B31-44E9-868D-AE8EAF8A8359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23A97F4-0CD2-450D-A6F0-F1FB2A2CE823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上线后，把真实问题和Bad Case补充进去。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646CF04-F8AA-4C08-85EF-9A68E04462D8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26758C-6309-4BAA-B1E5-DBA947D9873A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对重复问题进行去重和聚类。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02A804C-CDA9-4AE1-984F-33F15FA55ACF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37F247C-A1B0-48DC-A227-BE8A6688F29F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淘汰已经失效或业务规则过期的题目。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464FCB-7E08-44F6-8967-06742C8334A2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C3ABE44-4552-4F90-91DF-7248764C55D3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保留一套稳定核心题库，用于版本比较。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7E99F1-8901-4B3C-AB5D-EA7A3625C99F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这里要区分两部分：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4DCCE1A-20A3-4DB5-BC42-CA9E45E2D9AB}"/>
              </a:ext>
            </a:extLst>
          </p:cNvPr>
          <p:cNvSpPr>
            <a:spLocks noGrp="1"/>
          </p:cNvSpPr>
          <p:nvPr/>
        </p:nvSpPr>
        <p:spPr>
          <a:xfrm>
            <a:off x="838200" y="48672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固定核心集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8F5C3B3-C677-44B6-BFAD-6C033C8C5B39}"/>
              </a:ext>
            </a:extLst>
          </p:cNvPr>
          <p:cNvSpPr>
            <a:spLocks noGrp="1"/>
          </p:cNvSpPr>
          <p:nvPr/>
        </p:nvSpPr>
        <p:spPr>
          <a:xfrm>
            <a:off x="838200" y="51911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A1E9115-AF5B-4D41-A82A-8C29C72730BB}"/>
              </a:ext>
            </a:extLst>
          </p:cNvPr>
          <p:cNvSpPr>
            <a:spLocks noGrp="1"/>
          </p:cNvSpPr>
          <p:nvPr/>
        </p:nvSpPr>
        <p:spPr>
          <a:xfrm>
            <a:off x="838200" y="52863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长期保持相对稳定，用于比较不同版本。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47254C3-915C-4998-AAA1-5162659879EB}"/>
              </a:ext>
            </a:extLst>
          </p:cNvPr>
          <p:cNvSpPr>
            <a:spLocks noGrp="1"/>
          </p:cNvSpPr>
          <p:nvPr/>
        </p:nvSpPr>
        <p:spPr>
          <a:xfrm>
            <a:off x="838200" y="56673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如果每次测试都更换题目，就无法判断新版本是否真的比旧版本好。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FEF5D30-2100-4213-B981-66D923EC251D}"/>
              </a:ext>
            </a:extLst>
          </p:cNvPr>
          <p:cNvSpPr>
            <a:spLocks noGrp="1"/>
          </p:cNvSpPr>
          <p:nvPr/>
        </p:nvSpPr>
        <p:spPr>
          <a:xfrm>
            <a:off x="838200" y="60579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动态增量集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DF27F4C-15CE-42F7-8B14-D766C6FF300E}"/>
              </a:ext>
            </a:extLst>
          </p:cNvPr>
          <p:cNvSpPr>
            <a:spLocks noGrp="1"/>
          </p:cNvSpPr>
          <p:nvPr/>
        </p:nvSpPr>
        <p:spPr>
          <a:xfrm>
            <a:off x="838200" y="63817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147799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48A11400-AEAC-4164-9447-5CDF99A2C4B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SET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DBEEAD0-6E4E-4495-B226-C7011EB9DC9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056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A6B600-32B7-467B-AB3D-FD338B3BA0E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CC21E1F-F0C4-4F09-977A-5E1FFF74844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33447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B4C470B-429A-4DFB-8E5B-A0B16FB2FBF7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评测集需要版本管理（续）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8C55E28-C2EB-4333-AF4D-004B35E9AF5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11D665F-5A38-4913-AB82-646150473866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持续加入新的用户问题、新风险和新Bad Case。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E0DD1A-060B-49BC-8D62-B43FDF8FD619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它帮助评测体系跟上真实业务变化。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CF7809-F384-4C4F-A783-A3E0826315ED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比较合理的结构是：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3EE01D3B-4764-4C7F-A018-04044DA49C56}"/>
              </a:ext>
            </a:extLst>
          </p:cNvPr>
          <p:cNvSpPr>
            <a:spLocks noGrp="1"/>
          </p:cNvSpPr>
          <p:nvPr/>
        </p:nvSpPr>
        <p:spPr>
          <a:xfrm>
            <a:off x="819150" y="2857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DAACB36-A38C-438A-9773-73074D6A80FD}"/>
              </a:ext>
            </a:extLst>
          </p:cNvPr>
          <p:cNvSpPr>
            <a:spLocks noGrp="1"/>
          </p:cNvSpPr>
          <p:nvPr/>
        </p:nvSpPr>
        <p:spPr>
          <a:xfrm>
            <a:off x="819150" y="2857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E8F7F4-C689-4505-8BF7-21F81E3733A6}"/>
              </a:ext>
            </a:extLst>
          </p:cNvPr>
          <p:cNvSpPr>
            <a:spLocks noGrp="1"/>
          </p:cNvSpPr>
          <p:nvPr/>
        </p:nvSpPr>
        <p:spPr>
          <a:xfrm>
            <a:off x="1104900" y="3000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固定核心集保证可比较，动态增量集保证不落后。</a:t>
            </a:r>
          </a:p>
        </p:txBody>
      </p:sp>
    </p:spTree>
    <p:extLst>
      <p:ext uri="{BB962C8B-B14F-4D97-AF65-F5344CB8AC3E}">
        <p14:creationId xmlns:p14="http://schemas.microsoft.com/office/powerpoint/2010/main" val="5090723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47C2F810-7BAA-4735-9476-4EF03959DE6D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2476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850" b="1">
                <a:solidFill>
                  <a:srgbClr val="36D6C2"/>
                </a:solidFill>
              </a:defRPr>
            </a:pPr>
            <a:r>
              <a:rPr sz="88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EB5013D-91C8-454C-97F6-E7E587140F7B}"/>
              </a:ext>
            </a:extLst>
          </p:cNvPr>
          <p:cNvSpPr>
            <a:spLocks noGrp="1"/>
          </p:cNvSpPr>
          <p:nvPr/>
        </p:nvSpPr>
        <p:spPr>
          <a:xfrm>
            <a:off x="704850" y="2857500"/>
            <a:ext cx="952500" cy="476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B09FE6F-70A3-463B-BB6D-8B850A13D00D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1047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AI产品的评测方法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B31BD8-2DA6-42D2-AA5B-EE59E1EA8ACE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2F016D5-CB70-4B93-ADB7-1C6E226B2C1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058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48F750-0CDA-4A18-900B-FCF372BDA76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45676C3-0EB1-41C6-874C-73068CB5920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45356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09765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97766008-D77F-4084-8924-A1BDD9C50F6E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BA424F-DA35-4595-964B-EA7754D82788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059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8EE74CB-7B2D-44B1-99B2-12902D377B9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CBC0CBF-A13E-40E5-A9B5-7F11E5DA2C5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51311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A28B72C-A3C9-4B09-9825-065504B49F55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第四部分：AI产品的评测方法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C3590E-4E6C-494D-92E7-CD04EB0E671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A1E0C0D-127F-4405-9939-A48E6CA30B7B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7C82091-FE78-48E3-BF81-215087AED33F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评测标准；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2E136F2-BE5E-40B3-BCE6-B9027BDE3B6C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0987F63-5251-407A-A0FB-F8C9C541A451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评测集；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32ADFBC-66E2-475C-860B-8E18A943AF0A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9319C1D-48F4-4205-B049-6C51011A159D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参考答案和评分点。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9C66E1D-7FDF-47C2-9000-47B454D2885C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下一步是：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D1440F57-4713-4747-BBB0-96879A8FC09C}"/>
              </a:ext>
            </a:extLst>
          </p:cNvPr>
          <p:cNvSpPr>
            <a:spLocks noGrp="1"/>
          </p:cNvSpPr>
          <p:nvPr/>
        </p:nvSpPr>
        <p:spPr>
          <a:xfrm>
            <a:off x="819150" y="32956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3633BA8-0F51-49FA-A5E9-11F9B74CCBE2}"/>
              </a:ext>
            </a:extLst>
          </p:cNvPr>
          <p:cNvSpPr>
            <a:spLocks noGrp="1"/>
          </p:cNvSpPr>
          <p:nvPr/>
        </p:nvSpPr>
        <p:spPr>
          <a:xfrm>
            <a:off x="819150" y="32956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9F81D50-7BBC-411F-97EF-B7D5D14C9A3A}"/>
              </a:ext>
            </a:extLst>
          </p:cNvPr>
          <p:cNvSpPr>
            <a:spLocks noGrp="1"/>
          </p:cNvSpPr>
          <p:nvPr/>
        </p:nvSpPr>
        <p:spPr>
          <a:xfrm>
            <a:off x="1104900" y="34385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AI生成答案后，具体怎么判断它是否合格？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85572F8-E50F-4949-B426-E45CF4DB379F}"/>
              </a:ext>
            </a:extLst>
          </p:cNvPr>
          <p:cNvSpPr>
            <a:spLocks noGrp="1"/>
          </p:cNvSpPr>
          <p:nvPr/>
        </p:nvSpPr>
        <p:spPr>
          <a:xfrm>
            <a:off x="838200" y="39719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常用方法可以分为四类：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920080A-37FC-4F83-9458-813A9C77C84B}"/>
              </a:ext>
            </a:extLst>
          </p:cNvPr>
          <p:cNvSpPr>
            <a:spLocks noGrp="1"/>
          </p:cNvSpPr>
          <p:nvPr/>
        </p:nvSpPr>
        <p:spPr>
          <a:xfrm>
            <a:off x="876300" y="4391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0BC86A9-C8FE-4BD5-91AD-9E1289F870F1}"/>
              </a:ext>
            </a:extLst>
          </p:cNvPr>
          <p:cNvSpPr>
            <a:spLocks noGrp="1"/>
          </p:cNvSpPr>
          <p:nvPr/>
        </p:nvSpPr>
        <p:spPr>
          <a:xfrm>
            <a:off x="1371600" y="4381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精确匹配与规则评测；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51CEB15-A822-43F1-BDAA-9432CC0582E0}"/>
              </a:ext>
            </a:extLst>
          </p:cNvPr>
          <p:cNvSpPr>
            <a:spLocks noGrp="1"/>
          </p:cNvSpPr>
          <p:nvPr/>
        </p:nvSpPr>
        <p:spPr>
          <a:xfrm>
            <a:off x="876300" y="4791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58879CE-BAA9-462E-99FC-BDF94D890A50}"/>
              </a:ext>
            </a:extLst>
          </p:cNvPr>
          <p:cNvSpPr>
            <a:spLocks noGrp="1"/>
          </p:cNvSpPr>
          <p:nvPr/>
        </p:nvSpPr>
        <p:spPr>
          <a:xfrm>
            <a:off x="1371600" y="4781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语义相似度评测；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7543C22-320B-412C-B8A3-B4612163AE57}"/>
              </a:ext>
            </a:extLst>
          </p:cNvPr>
          <p:cNvSpPr>
            <a:spLocks noGrp="1"/>
          </p:cNvSpPr>
          <p:nvPr/>
        </p:nvSpPr>
        <p:spPr>
          <a:xfrm>
            <a:off x="876300" y="51911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6051F03-6DE7-48D1-B563-28C16859FBEF}"/>
              </a:ext>
            </a:extLst>
          </p:cNvPr>
          <p:cNvSpPr>
            <a:spLocks noGrp="1"/>
          </p:cNvSpPr>
          <p:nvPr/>
        </p:nvSpPr>
        <p:spPr>
          <a:xfrm>
            <a:off x="1371600" y="51816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LLM-as-Judge；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C00F92C-80C9-4561-BAB9-6D138CCD6E10}"/>
              </a:ext>
            </a:extLst>
          </p:cNvPr>
          <p:cNvSpPr>
            <a:spLocks noGrp="1"/>
          </p:cNvSpPr>
          <p:nvPr/>
        </p:nvSpPr>
        <p:spPr>
          <a:xfrm>
            <a:off x="876300" y="55911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FFCC9EE-8456-4E9E-9E19-535DC416F235}"/>
              </a:ext>
            </a:extLst>
          </p:cNvPr>
          <p:cNvSpPr>
            <a:spLocks noGrp="1"/>
          </p:cNvSpPr>
          <p:nvPr/>
        </p:nvSpPr>
        <p:spPr>
          <a:xfrm>
            <a:off x="1371600" y="55816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人工评审。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DB23B9A-983A-4168-B18A-37D286C1E3E8}"/>
              </a:ext>
            </a:extLst>
          </p:cNvPr>
          <p:cNvSpPr>
            <a:spLocks noGrp="1"/>
          </p:cNvSpPr>
          <p:nvPr/>
        </p:nvSpPr>
        <p:spPr>
          <a:xfrm>
            <a:off x="838200" y="5953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它们不是互相替代的关系，而是分别适合不同问题。</a:t>
            </a:r>
          </a:p>
        </p:txBody>
      </p:sp>
    </p:spTree>
    <p:extLst>
      <p:ext uri="{BB962C8B-B14F-4D97-AF65-F5344CB8AC3E}">
        <p14:creationId xmlns:p14="http://schemas.microsoft.com/office/powerpoint/2010/main" val="19576261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459A6A1A-1480-4475-813D-C075BB5D741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067611-9BE5-4EAF-B395-4C6046E355C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458F520-7121-453C-BE7E-9E09DBF162E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F8F842-AF11-4469-84A5-6E41CAE07F3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57265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9DFDAE6-327E-4F5A-819A-F2AB71F5F245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精确匹配与规则评测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EC494F-1875-4544-A06A-F1247277D3E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765B621-84BF-4436-B29F-BEC9B1840C6C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这是最稳定、最容易理解的方法。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7BB7E2-8F1E-4FFF-857F-409472338563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系统根据预先设定的规则判断答案。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A6515F4-F940-4C42-A2D1-06F04131BDEA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例如用户问：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73071214-4D1C-48C5-9C52-2158789243CE}"/>
              </a:ext>
            </a:extLst>
          </p:cNvPr>
          <p:cNvSpPr>
            <a:spLocks noGrp="1"/>
          </p:cNvSpPr>
          <p:nvPr/>
        </p:nvSpPr>
        <p:spPr>
          <a:xfrm>
            <a:off x="819150" y="2857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7E3F0D4-7ED0-4678-A7F6-50789E957139}"/>
              </a:ext>
            </a:extLst>
          </p:cNvPr>
          <p:cNvSpPr>
            <a:spLocks noGrp="1"/>
          </p:cNvSpPr>
          <p:nvPr/>
        </p:nvSpPr>
        <p:spPr>
          <a:xfrm>
            <a:off x="819150" y="2857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6601D31-3967-4C39-B912-E29FEC22C88D}"/>
              </a:ext>
            </a:extLst>
          </p:cNvPr>
          <p:cNvSpPr>
            <a:spLocks noGrp="1"/>
          </p:cNvSpPr>
          <p:nvPr/>
        </p:nvSpPr>
        <p:spPr>
          <a:xfrm>
            <a:off x="1104900" y="3000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北京住宿报销上限是多少？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F2D959-5D07-48CD-B681-CEA80880517A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我们可以检查：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1947F1-8F08-4F33-9995-FD807CEB46BE}"/>
              </a:ext>
            </a:extLst>
          </p:cNvPr>
          <p:cNvSpPr>
            <a:spLocks noGrp="1"/>
          </p:cNvSpPr>
          <p:nvPr/>
        </p:nvSpPr>
        <p:spPr>
          <a:xfrm>
            <a:off x="876300" y="3952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A777B19-A76F-4E68-9C45-3C3F8D670D79}"/>
              </a:ext>
            </a:extLst>
          </p:cNvPr>
          <p:cNvSpPr>
            <a:spLocks noGrp="1"/>
          </p:cNvSpPr>
          <p:nvPr/>
        </p:nvSpPr>
        <p:spPr>
          <a:xfrm>
            <a:off x="1371600" y="3943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回答是否包含“500元”；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374A98E-A081-4086-9B1E-AB85B16FF8B8}"/>
              </a:ext>
            </a:extLst>
          </p:cNvPr>
          <p:cNvSpPr>
            <a:spLocks noGrp="1"/>
          </p:cNvSpPr>
          <p:nvPr/>
        </p:nvSpPr>
        <p:spPr>
          <a:xfrm>
            <a:off x="876300" y="4352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1F8DF18-E90C-4BA3-AFD9-5808642B1440}"/>
              </a:ext>
            </a:extLst>
          </p:cNvPr>
          <p:cNvSpPr>
            <a:spLocks noGrp="1"/>
          </p:cNvSpPr>
          <p:nvPr/>
        </p:nvSpPr>
        <p:spPr>
          <a:xfrm>
            <a:off x="1371600" y="4343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是否包含“每晚”；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82D2293-BD78-47D6-938C-4A9523F75BC5}"/>
              </a:ext>
            </a:extLst>
          </p:cNvPr>
          <p:cNvSpPr>
            <a:spLocks noGrp="1"/>
          </p:cNvSpPr>
          <p:nvPr/>
        </p:nvSpPr>
        <p:spPr>
          <a:xfrm>
            <a:off x="876300" y="4752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B1845ED-B073-4633-82AC-2F9AA457A4E5}"/>
              </a:ext>
            </a:extLst>
          </p:cNvPr>
          <p:cNvSpPr>
            <a:spLocks noGrp="1"/>
          </p:cNvSpPr>
          <p:nvPr/>
        </p:nvSpPr>
        <p:spPr>
          <a:xfrm>
            <a:off x="1371600" y="4743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是否错误出现“600元”；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DE9B24F-472D-4610-985F-1C78311D27BE}"/>
              </a:ext>
            </a:extLst>
          </p:cNvPr>
          <p:cNvSpPr>
            <a:spLocks noGrp="1"/>
          </p:cNvSpPr>
          <p:nvPr/>
        </p:nvSpPr>
        <p:spPr>
          <a:xfrm>
            <a:off x="876300" y="5153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8CB61DB-4308-4C2E-8646-E806F1C4E448}"/>
              </a:ext>
            </a:extLst>
          </p:cNvPr>
          <p:cNvSpPr>
            <a:spLocks noGrp="1"/>
          </p:cNvSpPr>
          <p:nvPr/>
        </p:nvSpPr>
        <p:spPr>
          <a:xfrm>
            <a:off x="1371600" y="5143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输出格式是否符合要求。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DD282B9-5986-4A57-8B8E-04B02971734A}"/>
              </a:ext>
            </a:extLst>
          </p:cNvPr>
          <p:cNvSpPr>
            <a:spLocks noGrp="1"/>
          </p:cNvSpPr>
          <p:nvPr/>
        </p:nvSpPr>
        <p:spPr>
          <a:xfrm>
            <a:off x="838200" y="55149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如果AI产品需要输出JSON，还可以检查：</a:t>
            </a:r>
          </a:p>
        </p:txBody>
      </p:sp>
    </p:spTree>
    <p:extLst>
      <p:ext uri="{BB962C8B-B14F-4D97-AF65-F5344CB8AC3E}">
        <p14:creationId xmlns:p14="http://schemas.microsoft.com/office/powerpoint/2010/main" val="21280685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D9345A46-7B46-4A8F-BD43-19C30A39DD5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B8D6D73-F444-4995-B102-B706B62164C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5DADB01-64C0-4F6E-9931-1ED69FEEEA5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394224D-D4BD-4F5D-BB64-A3D8D15CE69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63220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BF1F55-1258-414B-865A-EE891A2DD3E6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精确匹配与规则评测（续）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2658E5-7C8D-4B89-81D8-17202E53186C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E855386A-A6B0-46AC-AA37-1DC41B15878A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72750" cy="1314450"/>
          </a:xfrm>
          <a:prstGeom prst="roundRect">
            <a:avLst>
              <a:gd name="adj" fmla="val 7246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9391E87-DD34-44D9-96E7-4B2AA9D72C1C}"/>
              </a:ext>
            </a:extLst>
          </p:cNvPr>
          <p:cNvSpPr>
            <a:spLocks noGrp="1"/>
          </p:cNvSpPr>
          <p:nvPr/>
        </p:nvSpPr>
        <p:spPr>
          <a:xfrm>
            <a:off x="1066800" y="1847850"/>
            <a:ext cx="10048875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{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"city": "北京",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"limit": 500,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"unit": "元/晚"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}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D0E0D7A-3F4F-4283-86DF-6BD3D059BA77}"/>
              </a:ext>
            </a:extLst>
          </p:cNvPr>
          <p:cNvSpPr>
            <a:spLocks noGrp="1"/>
          </p:cNvSpPr>
          <p:nvPr/>
        </p:nvSpPr>
        <p:spPr>
          <a:xfrm>
            <a:off x="838200" y="31242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程序可以判断：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3475E7B-E87D-4A93-8C3B-C866C40DE306}"/>
              </a:ext>
            </a:extLst>
          </p:cNvPr>
          <p:cNvSpPr>
            <a:spLocks noGrp="1"/>
          </p:cNvSpPr>
          <p:nvPr/>
        </p:nvSpPr>
        <p:spPr>
          <a:xfrm>
            <a:off x="876300" y="35433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53EBD87-07B6-4BBB-91AD-2FFF55A4BBE6}"/>
              </a:ext>
            </a:extLst>
          </p:cNvPr>
          <p:cNvSpPr>
            <a:spLocks noGrp="1"/>
          </p:cNvSpPr>
          <p:nvPr/>
        </p:nvSpPr>
        <p:spPr>
          <a:xfrm>
            <a:off x="1371600" y="35337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字段是否完整；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61F9B1B-EB24-49C5-B87B-E3AAB57235F6}"/>
              </a:ext>
            </a:extLst>
          </p:cNvPr>
          <p:cNvSpPr>
            <a:spLocks noGrp="1"/>
          </p:cNvSpPr>
          <p:nvPr/>
        </p:nvSpPr>
        <p:spPr>
          <a:xfrm>
            <a:off x="876300" y="39433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04D47E-4A4F-4F28-B798-47786A409A27}"/>
              </a:ext>
            </a:extLst>
          </p:cNvPr>
          <p:cNvSpPr>
            <a:spLocks noGrp="1"/>
          </p:cNvSpPr>
          <p:nvPr/>
        </p:nvSpPr>
        <p:spPr>
          <a:xfrm>
            <a:off x="1371600" y="39338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字段类型是否正确；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AA94654-31DE-4683-96C3-ACF0440ADD38}"/>
              </a:ext>
            </a:extLst>
          </p:cNvPr>
          <p:cNvSpPr>
            <a:spLocks noGrp="1"/>
          </p:cNvSpPr>
          <p:nvPr/>
        </p:nvSpPr>
        <p:spPr>
          <a:xfrm>
            <a:off x="876300" y="43434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82855CF-6D3D-4CD8-AB1A-AEFE4F0B218E}"/>
              </a:ext>
            </a:extLst>
          </p:cNvPr>
          <p:cNvSpPr>
            <a:spLocks noGrp="1"/>
          </p:cNvSpPr>
          <p:nvPr/>
        </p:nvSpPr>
        <p:spPr>
          <a:xfrm>
            <a:off x="1371600" y="43338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金额是否为500；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D0F863A-39E8-46AC-84E2-74DCB970F5CE}"/>
              </a:ext>
            </a:extLst>
          </p:cNvPr>
          <p:cNvSpPr>
            <a:spLocks noGrp="1"/>
          </p:cNvSpPr>
          <p:nvPr/>
        </p:nvSpPr>
        <p:spPr>
          <a:xfrm>
            <a:off x="876300" y="4743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2980F5B-155F-4ADB-BCFD-03A48A4DF7A0}"/>
              </a:ext>
            </a:extLst>
          </p:cNvPr>
          <p:cNvSpPr>
            <a:spLocks noGrp="1"/>
          </p:cNvSpPr>
          <p:nvPr/>
        </p:nvSpPr>
        <p:spPr>
          <a:xfrm>
            <a:off x="1371600" y="47339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城市是否为北京。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279F78C-4BEE-4040-A731-3874A333652F}"/>
              </a:ext>
            </a:extLst>
          </p:cNvPr>
          <p:cNvSpPr>
            <a:spLocks noGrp="1"/>
          </p:cNvSpPr>
          <p:nvPr/>
        </p:nvSpPr>
        <p:spPr>
          <a:xfrm>
            <a:off x="838200" y="51149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适用场景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6282CB0-86D3-48BA-BF9A-256A3AB792FB}"/>
              </a:ext>
            </a:extLst>
          </p:cNvPr>
          <p:cNvSpPr>
            <a:spLocks noGrp="1"/>
          </p:cNvSpPr>
          <p:nvPr/>
        </p:nvSpPr>
        <p:spPr>
          <a:xfrm>
            <a:off x="838200" y="54387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75FD372-3ACD-413E-92DF-CC3C10DB0A7A}"/>
              </a:ext>
            </a:extLst>
          </p:cNvPr>
          <p:cNvSpPr>
            <a:spLocks noGrp="1"/>
          </p:cNvSpPr>
          <p:nvPr/>
        </p:nvSpPr>
        <p:spPr>
          <a:xfrm>
            <a:off x="838200" y="55340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规则评测适合边界明确的内容：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6D619BC-C925-4611-9FA6-D1EE869038EB}"/>
              </a:ext>
            </a:extLst>
          </p:cNvPr>
          <p:cNvSpPr>
            <a:spLocks noGrp="1"/>
          </p:cNvSpPr>
          <p:nvPr/>
        </p:nvSpPr>
        <p:spPr>
          <a:xfrm>
            <a:off x="876300" y="59531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3AD47EE-BAB1-42BB-A244-07173671AF4C}"/>
              </a:ext>
            </a:extLst>
          </p:cNvPr>
          <p:cNvSpPr>
            <a:spLocks noGrp="1"/>
          </p:cNvSpPr>
          <p:nvPr/>
        </p:nvSpPr>
        <p:spPr>
          <a:xfrm>
            <a:off x="1371600" y="59436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金额；</a:t>
            </a:r>
          </a:p>
        </p:txBody>
      </p:sp>
    </p:spTree>
    <p:extLst>
      <p:ext uri="{BB962C8B-B14F-4D97-AF65-F5344CB8AC3E}">
        <p14:creationId xmlns:p14="http://schemas.microsoft.com/office/powerpoint/2010/main" val="10421351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CEC3B726-D2F9-4473-A317-C132EACC13F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A5D3A51-D4B8-4D99-891F-2F48CCDFA25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81AF86-FA0C-4C21-A5B8-C8173D06D8D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BFF1E50-E62F-42E6-8232-08BBDDFB532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69174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AA1A2BE-5F97-4710-9626-8376EFE9927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精确匹配与规则评测（续）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C9E7E-5811-4F06-9142-EC2323B0B42C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FE6B50-E639-4F8E-8D98-59375A5E6F35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74E8697-215B-4C42-982C-D3AF378D1C58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日期；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48CC954-6862-4D86-A989-74B25814AEA0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28BEA86-F2D1-4BD3-A0A0-828F6597C666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枚举值；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2E7B1AF-711A-4285-9A91-39E911F10D81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013987-23BD-4E2B-A005-14C25DEA3F7A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分类标签；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0D14F5C-82FC-49BD-A47F-A5E781F6E234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FC00406-A35A-4F65-8A47-1DA9DE1CF89D}"/>
              </a:ext>
            </a:extLst>
          </p:cNvPr>
          <p:cNvSpPr>
            <a:spLocks noGrp="1"/>
          </p:cNvSpPr>
          <p:nvPr/>
        </p:nvSpPr>
        <p:spPr>
          <a:xfrm>
            <a:off x="1371600" y="2943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JSON格式；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EFA38A2-16CD-45E7-A951-16D0314C8F0E}"/>
              </a:ext>
            </a:extLst>
          </p:cNvPr>
          <p:cNvSpPr>
            <a:spLocks noGrp="1"/>
          </p:cNvSpPr>
          <p:nvPr/>
        </p:nvSpPr>
        <p:spPr>
          <a:xfrm>
            <a:off x="876300" y="3352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B34CB93-7B7F-4A59-AE34-2C9B3B62511F}"/>
              </a:ext>
            </a:extLst>
          </p:cNvPr>
          <p:cNvSpPr>
            <a:spLocks noGrp="1"/>
          </p:cNvSpPr>
          <p:nvPr/>
        </p:nvSpPr>
        <p:spPr>
          <a:xfrm>
            <a:off x="1371600" y="3343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必须包含的提示；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A9E080C-20CD-44E3-91C0-B34889E32FA6}"/>
              </a:ext>
            </a:extLst>
          </p:cNvPr>
          <p:cNvSpPr>
            <a:spLocks noGrp="1"/>
          </p:cNvSpPr>
          <p:nvPr/>
        </p:nvSpPr>
        <p:spPr>
          <a:xfrm>
            <a:off x="876300" y="3752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766F346-097F-4CAB-BD3D-01E1EE5E3C8A}"/>
              </a:ext>
            </a:extLst>
          </p:cNvPr>
          <p:cNvSpPr>
            <a:spLocks noGrp="1"/>
          </p:cNvSpPr>
          <p:nvPr/>
        </p:nvSpPr>
        <p:spPr>
          <a:xfrm>
            <a:off x="1371600" y="3743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禁止出现的敏感信息；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1BE09-797B-47ED-8EBA-714E62F8EC8E}"/>
              </a:ext>
            </a:extLst>
          </p:cNvPr>
          <p:cNvSpPr>
            <a:spLocks noGrp="1"/>
          </p:cNvSpPr>
          <p:nvPr/>
        </p:nvSpPr>
        <p:spPr>
          <a:xfrm>
            <a:off x="876300" y="4152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A9E89E3-96F3-4D4A-AE3F-3C863DC386C3}"/>
              </a:ext>
            </a:extLst>
          </p:cNvPr>
          <p:cNvSpPr>
            <a:spLocks noGrp="1"/>
          </p:cNvSpPr>
          <p:nvPr/>
        </p:nvSpPr>
        <p:spPr>
          <a:xfrm>
            <a:off x="1371600" y="4143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是否调用了正确工具。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460BB40-71B4-4265-9C68-04059E1C7623}"/>
              </a:ext>
            </a:extLst>
          </p:cNvPr>
          <p:cNvSpPr>
            <a:spLocks noGrp="1"/>
          </p:cNvSpPr>
          <p:nvPr/>
        </p:nvSpPr>
        <p:spPr>
          <a:xfrm>
            <a:off x="838200" y="45243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优点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4536BC3-43AC-4051-B583-376DE1D133E6}"/>
              </a:ext>
            </a:extLst>
          </p:cNvPr>
          <p:cNvSpPr>
            <a:spLocks noGrp="1"/>
          </p:cNvSpPr>
          <p:nvPr/>
        </p:nvSpPr>
        <p:spPr>
          <a:xfrm>
            <a:off x="838200" y="48482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3CD7941-6F4F-4504-84CB-F5F97C52E865}"/>
              </a:ext>
            </a:extLst>
          </p:cNvPr>
          <p:cNvSpPr>
            <a:spLocks noGrp="1"/>
          </p:cNvSpPr>
          <p:nvPr/>
        </p:nvSpPr>
        <p:spPr>
          <a:xfrm>
            <a:off x="876300" y="4981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21D2573-A4A2-4288-A4AA-2B0D65726EF5}"/>
              </a:ext>
            </a:extLst>
          </p:cNvPr>
          <p:cNvSpPr>
            <a:spLocks noGrp="1"/>
          </p:cNvSpPr>
          <p:nvPr/>
        </p:nvSpPr>
        <p:spPr>
          <a:xfrm>
            <a:off x="1371600" y="49720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结果稳定；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E233B23-00C9-4BEC-9921-E88F2175D1A2}"/>
              </a:ext>
            </a:extLst>
          </p:cNvPr>
          <p:cNvSpPr>
            <a:spLocks noGrp="1"/>
          </p:cNvSpPr>
          <p:nvPr/>
        </p:nvSpPr>
        <p:spPr>
          <a:xfrm>
            <a:off x="876300" y="53816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F77CE96-C111-45EE-920D-B5951545666A}"/>
              </a:ext>
            </a:extLst>
          </p:cNvPr>
          <p:cNvSpPr>
            <a:spLocks noGrp="1"/>
          </p:cNvSpPr>
          <p:nvPr/>
        </p:nvSpPr>
        <p:spPr>
          <a:xfrm>
            <a:off x="1371600" y="53721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执行速度快；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159BB9-3A68-45ED-BB54-2A9951784EBC}"/>
              </a:ext>
            </a:extLst>
          </p:cNvPr>
          <p:cNvSpPr>
            <a:spLocks noGrp="1"/>
          </p:cNvSpPr>
          <p:nvPr/>
        </p:nvSpPr>
        <p:spPr>
          <a:xfrm>
            <a:off x="876300" y="57816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FFE4928-C719-45C7-99DE-6B9520D717F9}"/>
              </a:ext>
            </a:extLst>
          </p:cNvPr>
          <p:cNvSpPr>
            <a:spLocks noGrp="1"/>
          </p:cNvSpPr>
          <p:nvPr/>
        </p:nvSpPr>
        <p:spPr>
          <a:xfrm>
            <a:off x="1371600" y="57721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成本低；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8F406A2-F577-446A-8F9F-7BF06CA35229}"/>
              </a:ext>
            </a:extLst>
          </p:cNvPr>
          <p:cNvSpPr>
            <a:spLocks noGrp="1"/>
          </p:cNvSpPr>
          <p:nvPr/>
        </p:nvSpPr>
        <p:spPr>
          <a:xfrm>
            <a:off x="876300" y="61817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1A75620-4AB5-42A0-B370-DDF4113BAED0}"/>
              </a:ext>
            </a:extLst>
          </p:cNvPr>
          <p:cNvSpPr>
            <a:spLocks noGrp="1"/>
          </p:cNvSpPr>
          <p:nvPr/>
        </p:nvSpPr>
        <p:spPr>
          <a:xfrm>
            <a:off x="1371600" y="61722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容易解释；</a:t>
            </a:r>
          </a:p>
        </p:txBody>
      </p:sp>
    </p:spTree>
    <p:extLst>
      <p:ext uri="{BB962C8B-B14F-4D97-AF65-F5344CB8AC3E}">
        <p14:creationId xmlns:p14="http://schemas.microsoft.com/office/powerpoint/2010/main" val="12075855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733C1A9F-6A6D-4245-9713-1BD91A34794E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47CD0F8-9EEA-4840-975E-9DC1093866A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E987A23-5EFA-48F7-BBAB-389F7B59E00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71872D2-ABCC-43E1-9563-69AABD49523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75128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B2161C2-D65E-4BD4-8D6C-C25A4C95C05B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精确匹配与规则评测（续）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9C76B44-A106-4019-837F-B5321BA5541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EA0A60-EE2E-450F-B0E0-E43A0D20A05A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459886F-F94A-4D02-95AD-51578C45045D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不同版本之间容易比较。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19998F-01B4-4446-A7BD-F13D49979D83}"/>
              </a:ext>
            </a:extLst>
          </p:cNvPr>
          <p:cNvSpPr>
            <a:spLocks noGrp="1"/>
          </p:cNvSpPr>
          <p:nvPr/>
        </p:nvSpPr>
        <p:spPr>
          <a:xfrm>
            <a:off x="838200" y="21240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局限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ABB98BF-230B-423E-B608-1ACA45F62EF3}"/>
              </a:ext>
            </a:extLst>
          </p:cNvPr>
          <p:cNvSpPr>
            <a:spLocks noGrp="1"/>
          </p:cNvSpPr>
          <p:nvPr/>
        </p:nvSpPr>
        <p:spPr>
          <a:xfrm>
            <a:off x="838200" y="24479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377374F-906C-4DCE-97C3-C88DC42CCC14}"/>
              </a:ext>
            </a:extLst>
          </p:cNvPr>
          <p:cNvSpPr>
            <a:spLocks noGrp="1"/>
          </p:cNvSpPr>
          <p:nvPr/>
        </p:nvSpPr>
        <p:spPr>
          <a:xfrm>
            <a:off x="838200" y="25431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它不擅长判断开放式表达。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EB6C2F8-0DBA-43B4-ABF9-756ACB52DDDD}"/>
              </a:ext>
            </a:extLst>
          </p:cNvPr>
          <p:cNvSpPr>
            <a:spLocks noGrp="1"/>
          </p:cNvSpPr>
          <p:nvPr/>
        </p:nvSpPr>
        <p:spPr>
          <a:xfrm>
            <a:off x="838200" y="29241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例如标准答案是：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43079A60-21BF-4B08-8B7B-06AC690B186E}"/>
              </a:ext>
            </a:extLst>
          </p:cNvPr>
          <p:cNvSpPr>
            <a:spLocks noGrp="1"/>
          </p:cNvSpPr>
          <p:nvPr/>
        </p:nvSpPr>
        <p:spPr>
          <a:xfrm>
            <a:off x="819150" y="33051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DB66CBD-A3BC-4D1F-92E9-05770F947DFF}"/>
              </a:ext>
            </a:extLst>
          </p:cNvPr>
          <p:cNvSpPr>
            <a:spLocks noGrp="1"/>
          </p:cNvSpPr>
          <p:nvPr/>
        </p:nvSpPr>
        <p:spPr>
          <a:xfrm>
            <a:off x="819150" y="33051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DC8C75F-761A-4EC6-94D3-76B68732063E}"/>
              </a:ext>
            </a:extLst>
          </p:cNvPr>
          <p:cNvSpPr>
            <a:spLocks noGrp="1"/>
          </p:cNvSpPr>
          <p:nvPr/>
        </p:nvSpPr>
        <p:spPr>
          <a:xfrm>
            <a:off x="1104900" y="34480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订单付款后24小时内可以申请取消。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34E4F03-F8B1-47B4-9043-9C37707616B9}"/>
              </a:ext>
            </a:extLst>
          </p:cNvPr>
          <p:cNvSpPr>
            <a:spLocks noGrp="1"/>
          </p:cNvSpPr>
          <p:nvPr/>
        </p:nvSpPr>
        <p:spPr>
          <a:xfrm>
            <a:off x="838200" y="39814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AI回答：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465324A7-962A-43E9-A35E-2AA77F652810}"/>
              </a:ext>
            </a:extLst>
          </p:cNvPr>
          <p:cNvSpPr>
            <a:spLocks noGrp="1"/>
          </p:cNvSpPr>
          <p:nvPr/>
        </p:nvSpPr>
        <p:spPr>
          <a:xfrm>
            <a:off x="819150" y="43624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B2EF3A7-96BC-498C-B744-0814558DA92E}"/>
              </a:ext>
            </a:extLst>
          </p:cNvPr>
          <p:cNvSpPr>
            <a:spLocks noGrp="1"/>
          </p:cNvSpPr>
          <p:nvPr/>
        </p:nvSpPr>
        <p:spPr>
          <a:xfrm>
            <a:off x="819150" y="43624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264308C-3E08-447E-93A9-98DCD9645B00}"/>
              </a:ext>
            </a:extLst>
          </p:cNvPr>
          <p:cNvSpPr>
            <a:spLocks noGrp="1"/>
          </p:cNvSpPr>
          <p:nvPr/>
        </p:nvSpPr>
        <p:spPr>
          <a:xfrm>
            <a:off x="1104900" y="45053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完成支付后的一天内，用户仍可发起取消申请。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4C73461-64F0-4305-88F1-A04F61001959}"/>
              </a:ext>
            </a:extLst>
          </p:cNvPr>
          <p:cNvSpPr>
            <a:spLocks noGrp="1"/>
          </p:cNvSpPr>
          <p:nvPr/>
        </p:nvSpPr>
        <p:spPr>
          <a:xfrm>
            <a:off x="838200" y="50387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意思相同，但如果逐字比较，两句话并不一致。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8F58441-6215-48A6-B77C-592E02C6A362}"/>
              </a:ext>
            </a:extLst>
          </p:cNvPr>
          <p:cNvSpPr>
            <a:spLocks noGrp="1"/>
          </p:cNvSpPr>
          <p:nvPr/>
        </p:nvSpPr>
        <p:spPr>
          <a:xfrm>
            <a:off x="838200" y="54197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所以，规则适合判断“硬条件”，不适合覆盖所有语言质量。</a:t>
            </a:r>
          </a:p>
        </p:txBody>
      </p:sp>
    </p:spTree>
    <p:extLst>
      <p:ext uri="{BB962C8B-B14F-4D97-AF65-F5344CB8AC3E}">
        <p14:creationId xmlns:p14="http://schemas.microsoft.com/office/powerpoint/2010/main" val="20309544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5A0EFDA-B9C3-4D5B-826C-BE6242E18647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4FC5E41-F923-4E2A-AB18-2C6680EE357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9935D1B-1D71-4591-B6FA-5AE37AF704E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FB097CB-BB86-4D35-8250-C5DDB26FFFD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81083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982F2A9-28AA-4E61-80B1-15BC1D3801DA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语义相似度评测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52EE448-C76E-41F4-94E4-0CCA666AA8D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F3CEDB0-36A3-4137-A040-0D3D34EA4D0D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语义相似度不要求两段文字完全相同，而是比较它们表达的意思是否接近。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A69B20F-E45D-46E3-BFCE-99835B3EE246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9270AC-2776-4735-BED4-74F736D6CDF7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参考答案：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6F58DA2B-56D4-4E98-B417-595D97F24342}"/>
              </a:ext>
            </a:extLst>
          </p:cNvPr>
          <p:cNvSpPr>
            <a:spLocks noGrp="1"/>
          </p:cNvSpPr>
          <p:nvPr/>
        </p:nvSpPr>
        <p:spPr>
          <a:xfrm>
            <a:off x="819150" y="2857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82789AA-2013-41C1-9889-18C693CE47E9}"/>
              </a:ext>
            </a:extLst>
          </p:cNvPr>
          <p:cNvSpPr>
            <a:spLocks noGrp="1"/>
          </p:cNvSpPr>
          <p:nvPr/>
        </p:nvSpPr>
        <p:spPr>
          <a:xfrm>
            <a:off x="819150" y="2857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988A7B0-EA54-4B10-A8A6-DAF3ECB6B11E}"/>
              </a:ext>
            </a:extLst>
          </p:cNvPr>
          <p:cNvSpPr>
            <a:spLocks noGrp="1"/>
          </p:cNvSpPr>
          <p:nvPr/>
        </p:nvSpPr>
        <p:spPr>
          <a:xfrm>
            <a:off x="1104900" y="3000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订单付款后24小时内可以申请取消。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8A0FCD7-4F5D-421C-902E-590EC4B72BFA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AI回答：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6A56DD8C-EC9B-42E6-A506-5256934A1F42}"/>
              </a:ext>
            </a:extLst>
          </p:cNvPr>
          <p:cNvSpPr>
            <a:spLocks noGrp="1"/>
          </p:cNvSpPr>
          <p:nvPr/>
        </p:nvSpPr>
        <p:spPr>
          <a:xfrm>
            <a:off x="819150" y="3914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554E388-4036-4816-AB95-FEA18229CE8B}"/>
              </a:ext>
            </a:extLst>
          </p:cNvPr>
          <p:cNvSpPr>
            <a:spLocks noGrp="1"/>
          </p:cNvSpPr>
          <p:nvPr/>
        </p:nvSpPr>
        <p:spPr>
          <a:xfrm>
            <a:off x="819150" y="3914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FF46E02-49D4-4414-BC7D-AF36FFDC73E6}"/>
              </a:ext>
            </a:extLst>
          </p:cNvPr>
          <p:cNvSpPr>
            <a:spLocks noGrp="1"/>
          </p:cNvSpPr>
          <p:nvPr/>
        </p:nvSpPr>
        <p:spPr>
          <a:xfrm>
            <a:off x="1104900" y="4057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支付完成后的一天内，用户仍可发起取消申请。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5642021-D055-45FE-B689-521A901610C7}"/>
              </a:ext>
            </a:extLst>
          </p:cNvPr>
          <p:cNvSpPr>
            <a:spLocks noGrp="1"/>
          </p:cNvSpPr>
          <p:nvPr/>
        </p:nvSpPr>
        <p:spPr>
          <a:xfrm>
            <a:off x="838200" y="4591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虽然用词不同，但语义高度接近。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D6CEE84-ECE7-43F3-B5BE-3D08E16ED7FD}"/>
              </a:ext>
            </a:extLst>
          </p:cNvPr>
          <p:cNvSpPr>
            <a:spLocks noGrp="1"/>
          </p:cNvSpPr>
          <p:nvPr/>
        </p:nvSpPr>
        <p:spPr>
          <a:xfrm>
            <a:off x="838200" y="4972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系统会把两段文字转换成向量，再计算它们在语义空间中的距离。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97FDF6A-1A0F-4D13-8526-38F713A02A87}"/>
              </a:ext>
            </a:extLst>
          </p:cNvPr>
          <p:cNvSpPr>
            <a:spLocks noGrp="1"/>
          </p:cNvSpPr>
          <p:nvPr/>
        </p:nvSpPr>
        <p:spPr>
          <a:xfrm>
            <a:off x="838200" y="5353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常用方法是余弦相似度。这里不需要掌握公式，只需要理解：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D1C4BC59-9FBD-402B-9538-B2918D94CAD7}"/>
              </a:ext>
            </a:extLst>
          </p:cNvPr>
          <p:cNvSpPr>
            <a:spLocks noGrp="1"/>
          </p:cNvSpPr>
          <p:nvPr/>
        </p:nvSpPr>
        <p:spPr>
          <a:xfrm>
            <a:off x="819150" y="57340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87FDBD3-0C9C-4A05-9691-2289BAC86937}"/>
              </a:ext>
            </a:extLst>
          </p:cNvPr>
          <p:cNvSpPr>
            <a:spLocks noGrp="1"/>
          </p:cNvSpPr>
          <p:nvPr/>
        </p:nvSpPr>
        <p:spPr>
          <a:xfrm>
            <a:off x="819150" y="57340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9C730D0-5878-47E3-B676-DB4A4381DEB9}"/>
              </a:ext>
            </a:extLst>
          </p:cNvPr>
          <p:cNvSpPr>
            <a:spLocks noGrp="1"/>
          </p:cNvSpPr>
          <p:nvPr/>
        </p:nvSpPr>
        <p:spPr>
          <a:xfrm>
            <a:off x="1104900" y="58769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两个向量的方向越接近，通常表示两段文字的语义越接近。</a:t>
            </a:r>
          </a:p>
        </p:txBody>
      </p:sp>
    </p:spTree>
    <p:extLst>
      <p:ext uri="{BB962C8B-B14F-4D97-AF65-F5344CB8AC3E}">
        <p14:creationId xmlns:p14="http://schemas.microsoft.com/office/powerpoint/2010/main" val="4409104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2DA7CD15-527F-44CD-A138-3518BC55BB1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9234E0A-D718-4EA6-B44A-537C92659082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14629BA-2474-414F-AB71-CBA0B546FDF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9FBCC0-6E84-4B3A-9EF7-74F51DBF4D9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87037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6AA7100-60C4-4653-BA1D-129C732ECF1B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语义相似度评测（续）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3D29444-D84F-4047-A9BC-EE3DD0C144EC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F1A64C3-E452-40CA-8398-577AA2085E90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评测结果可能是：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87B3D73-D2CB-40F3-A4B3-20E5E0421462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F36851B-917E-4A4C-A43E-CC394825A9A5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0.92：非常接近；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F913ECE-3E93-450E-BC05-44804EC3EEE9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FEA5AC8-DF6D-48BA-B04B-C9856796856D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0.75：基本相关；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276CF68-C478-4D5D-B689-6EB718B5F6F2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3340A42-595F-4895-B23F-34E979ED05B5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0.40：差异明显。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0CF012-CAB6-4C85-8D35-1808B7C8CC76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具体阈值不能直接照抄，需要用项目数据进行校准。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4C1D37-8EC6-480F-B856-7D53573D231D}"/>
              </a:ext>
            </a:extLst>
          </p:cNvPr>
          <p:cNvSpPr>
            <a:spLocks noGrp="1"/>
          </p:cNvSpPr>
          <p:nvPr/>
        </p:nvSpPr>
        <p:spPr>
          <a:xfrm>
            <a:off x="838200" y="36861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适用场景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DAB5C3A-DBE9-482C-8F63-41AF87110AF9}"/>
              </a:ext>
            </a:extLst>
          </p:cNvPr>
          <p:cNvSpPr>
            <a:spLocks noGrp="1"/>
          </p:cNvSpPr>
          <p:nvPr/>
        </p:nvSpPr>
        <p:spPr>
          <a:xfrm>
            <a:off x="838200" y="40100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2B9440-B8DF-49F5-913A-9C77461AACFA}"/>
              </a:ext>
            </a:extLst>
          </p:cNvPr>
          <p:cNvSpPr>
            <a:spLocks noGrp="1"/>
          </p:cNvSpPr>
          <p:nvPr/>
        </p:nvSpPr>
        <p:spPr>
          <a:xfrm>
            <a:off x="838200" y="41052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语义相似度比较适合：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C54A75-C7D5-41B3-AFDC-E31A5577E7FC}"/>
              </a:ext>
            </a:extLst>
          </p:cNvPr>
          <p:cNvSpPr>
            <a:spLocks noGrp="1"/>
          </p:cNvSpPr>
          <p:nvPr/>
        </p:nvSpPr>
        <p:spPr>
          <a:xfrm>
            <a:off x="876300" y="4524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79CB0EF-559B-42FA-9D5A-DCBFFEDBD4E3}"/>
              </a:ext>
            </a:extLst>
          </p:cNvPr>
          <p:cNvSpPr>
            <a:spLocks noGrp="1"/>
          </p:cNvSpPr>
          <p:nvPr/>
        </p:nvSpPr>
        <p:spPr>
          <a:xfrm>
            <a:off x="1371600" y="4514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FAQ问答；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AEDF079-7618-4655-A94E-7E8D40315A29}"/>
              </a:ext>
            </a:extLst>
          </p:cNvPr>
          <p:cNvSpPr>
            <a:spLocks noGrp="1"/>
          </p:cNvSpPr>
          <p:nvPr/>
        </p:nvSpPr>
        <p:spPr>
          <a:xfrm>
            <a:off x="876300" y="4924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11C0FFE-A8D0-439B-A9B4-800FD3E1A981}"/>
              </a:ext>
            </a:extLst>
          </p:cNvPr>
          <p:cNvSpPr>
            <a:spLocks noGrp="1"/>
          </p:cNvSpPr>
          <p:nvPr/>
        </p:nvSpPr>
        <p:spPr>
          <a:xfrm>
            <a:off x="1371600" y="4914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意图识别；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1C02F17-A4C7-4814-BB45-BB2834D6D245}"/>
              </a:ext>
            </a:extLst>
          </p:cNvPr>
          <p:cNvSpPr>
            <a:spLocks noGrp="1"/>
          </p:cNvSpPr>
          <p:nvPr/>
        </p:nvSpPr>
        <p:spPr>
          <a:xfrm>
            <a:off x="876300" y="5324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DD78EA4-7D61-4BB1-A08E-B2BB636FC33C}"/>
              </a:ext>
            </a:extLst>
          </p:cNvPr>
          <p:cNvSpPr>
            <a:spLocks noGrp="1"/>
          </p:cNvSpPr>
          <p:nvPr/>
        </p:nvSpPr>
        <p:spPr>
          <a:xfrm>
            <a:off x="1371600" y="5314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摘要主旨；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43B3CAC-0BDD-4270-A070-2353CC7CCA1B}"/>
              </a:ext>
            </a:extLst>
          </p:cNvPr>
          <p:cNvSpPr>
            <a:spLocks noGrp="1"/>
          </p:cNvSpPr>
          <p:nvPr/>
        </p:nvSpPr>
        <p:spPr>
          <a:xfrm>
            <a:off x="876300" y="5724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C9265C4-2592-4CF0-9C3A-31EFE617E3C0}"/>
              </a:ext>
            </a:extLst>
          </p:cNvPr>
          <p:cNvSpPr>
            <a:spLocks noGrp="1"/>
          </p:cNvSpPr>
          <p:nvPr/>
        </p:nvSpPr>
        <p:spPr>
          <a:xfrm>
            <a:off x="1371600" y="5715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主题匹配；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3D28D7F-D05E-41B5-9401-22FD8B3CED4B}"/>
              </a:ext>
            </a:extLst>
          </p:cNvPr>
          <p:cNvSpPr>
            <a:spLocks noGrp="1"/>
          </p:cNvSpPr>
          <p:nvPr/>
        </p:nvSpPr>
        <p:spPr>
          <a:xfrm>
            <a:off x="876300" y="6124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FF46AA4-9E8B-48DC-988D-B871C1B0B349}"/>
              </a:ext>
            </a:extLst>
          </p:cNvPr>
          <p:cNvSpPr>
            <a:spLocks noGrp="1"/>
          </p:cNvSpPr>
          <p:nvPr/>
        </p:nvSpPr>
        <p:spPr>
          <a:xfrm>
            <a:off x="1371600" y="61150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标准答案明确但表达方式多样的任务。</a:t>
            </a:r>
          </a:p>
        </p:txBody>
      </p:sp>
    </p:spTree>
    <p:extLst>
      <p:ext uri="{BB962C8B-B14F-4D97-AF65-F5344CB8AC3E}">
        <p14:creationId xmlns:p14="http://schemas.microsoft.com/office/powerpoint/2010/main" val="19829391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3195936E-B399-471E-B03F-CEEE44243A4E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4E6FE7F-F5E6-4254-BE1E-157B3333A4D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8F75509-9563-4639-B203-524A94D1EEB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D6C0442-D3E4-41E4-AF31-CF62BD08798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92992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AD5C03F-B57C-4F26-B7EF-12A7044AB2CB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语义相似度评测（续）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D225402-00D2-433B-85C3-73FBC8375719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2BE9CE-FDAC-448C-8D53-D304B1AEB86D}"/>
              </a:ext>
            </a:extLst>
          </p:cNvPr>
          <p:cNvSpPr>
            <a:spLocks noGrp="1"/>
          </p:cNvSpPr>
          <p:nvPr/>
        </p:nvSpPr>
        <p:spPr>
          <a:xfrm>
            <a:off x="838200" y="1724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优点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93626CB-22ED-4C0B-BD4B-905621FA7DD0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CD1439D-603A-4F8E-B9C8-5C665A17EF2C}"/>
              </a:ext>
            </a:extLst>
          </p:cNvPr>
          <p:cNvSpPr>
            <a:spLocks noGrp="1"/>
          </p:cNvSpPr>
          <p:nvPr/>
        </p:nvSpPr>
        <p:spPr>
          <a:xfrm>
            <a:off x="876300" y="2181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CEE6A5D-8BBD-4CC2-B24E-A955117D099B}"/>
              </a:ext>
            </a:extLst>
          </p:cNvPr>
          <p:cNvSpPr>
            <a:spLocks noGrp="1"/>
          </p:cNvSpPr>
          <p:nvPr/>
        </p:nvSpPr>
        <p:spPr>
          <a:xfrm>
            <a:off x="1371600" y="2171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能接受不同措辞；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8D60602-B5FC-456F-9C17-44466CC87F4A}"/>
              </a:ext>
            </a:extLst>
          </p:cNvPr>
          <p:cNvSpPr>
            <a:spLocks noGrp="1"/>
          </p:cNvSpPr>
          <p:nvPr/>
        </p:nvSpPr>
        <p:spPr>
          <a:xfrm>
            <a:off x="876300" y="2581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D1C63D5-974E-408C-907F-5FA751686F11}"/>
              </a:ext>
            </a:extLst>
          </p:cNvPr>
          <p:cNvSpPr>
            <a:spLocks noGrp="1"/>
          </p:cNvSpPr>
          <p:nvPr/>
        </p:nvSpPr>
        <p:spPr>
          <a:xfrm>
            <a:off x="1371600" y="2571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可以自动化批量运行；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C5719CF-DD73-4168-94C4-1A4C365AA329}"/>
              </a:ext>
            </a:extLst>
          </p:cNvPr>
          <p:cNvSpPr>
            <a:spLocks noGrp="1"/>
          </p:cNvSpPr>
          <p:nvPr/>
        </p:nvSpPr>
        <p:spPr>
          <a:xfrm>
            <a:off x="876300" y="2981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D1F5F7-A486-4ABA-B4AA-C1867D74DE87}"/>
              </a:ext>
            </a:extLst>
          </p:cNvPr>
          <p:cNvSpPr>
            <a:spLocks noGrp="1"/>
          </p:cNvSpPr>
          <p:nvPr/>
        </p:nvSpPr>
        <p:spPr>
          <a:xfrm>
            <a:off x="1371600" y="2971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成本相对较低；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F0E7FD9-DC2E-40AA-A28D-2F8A82C2FF89}"/>
              </a:ext>
            </a:extLst>
          </p:cNvPr>
          <p:cNvSpPr>
            <a:spLocks noGrp="1"/>
          </p:cNvSpPr>
          <p:nvPr/>
        </p:nvSpPr>
        <p:spPr>
          <a:xfrm>
            <a:off x="876300" y="3381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8C82836-9C7D-4406-A5B4-87F9ADB49375}"/>
              </a:ext>
            </a:extLst>
          </p:cNvPr>
          <p:cNvSpPr>
            <a:spLocks noGrp="1"/>
          </p:cNvSpPr>
          <p:nvPr/>
        </p:nvSpPr>
        <p:spPr>
          <a:xfrm>
            <a:off x="1371600" y="3371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比关键词匹配更灵活。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6CCBDA0-0741-475D-9771-9662B423BE7C}"/>
              </a:ext>
            </a:extLst>
          </p:cNvPr>
          <p:cNvSpPr>
            <a:spLocks noGrp="1"/>
          </p:cNvSpPr>
          <p:nvPr/>
        </p:nvSpPr>
        <p:spPr>
          <a:xfrm>
            <a:off x="838200" y="37528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局限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F895937-7E07-4CA6-9F37-1B4C6C30BA41}"/>
              </a:ext>
            </a:extLst>
          </p:cNvPr>
          <p:cNvSpPr>
            <a:spLocks noGrp="1"/>
          </p:cNvSpPr>
          <p:nvPr/>
        </p:nvSpPr>
        <p:spPr>
          <a:xfrm>
            <a:off x="838200" y="40767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F8B38D7-703E-4E97-A8A8-CFD35EC85515}"/>
              </a:ext>
            </a:extLst>
          </p:cNvPr>
          <p:cNvSpPr>
            <a:spLocks noGrp="1"/>
          </p:cNvSpPr>
          <p:nvPr/>
        </p:nvSpPr>
        <p:spPr>
          <a:xfrm>
            <a:off x="838200" y="41719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语义接近不等于事实正确。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E4AA458-4C3F-4A97-8807-74447231F8CC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参考答案：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A96BB0AD-3E2D-4307-A9DD-4014D379F13C}"/>
              </a:ext>
            </a:extLst>
          </p:cNvPr>
          <p:cNvSpPr>
            <a:spLocks noGrp="1"/>
          </p:cNvSpPr>
          <p:nvPr/>
        </p:nvSpPr>
        <p:spPr>
          <a:xfrm>
            <a:off x="819150" y="49339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0F62A53-C876-4AFD-AE1E-50FC749C70C5}"/>
              </a:ext>
            </a:extLst>
          </p:cNvPr>
          <p:cNvSpPr>
            <a:spLocks noGrp="1"/>
          </p:cNvSpPr>
          <p:nvPr/>
        </p:nvSpPr>
        <p:spPr>
          <a:xfrm>
            <a:off x="819150" y="49339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D811901-1CEB-4A58-8880-DE049DF554B4}"/>
              </a:ext>
            </a:extLst>
          </p:cNvPr>
          <p:cNvSpPr>
            <a:spLocks noGrp="1"/>
          </p:cNvSpPr>
          <p:nvPr/>
        </p:nvSpPr>
        <p:spPr>
          <a:xfrm>
            <a:off x="1104900" y="50768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退款将在3至5个工作日到账。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9286725-076F-4766-8710-6EC20EB5BE2F}"/>
              </a:ext>
            </a:extLst>
          </p:cNvPr>
          <p:cNvSpPr>
            <a:spLocks noGrp="1"/>
          </p:cNvSpPr>
          <p:nvPr/>
        </p:nvSpPr>
        <p:spPr>
          <a:xfrm>
            <a:off x="838200" y="56102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AI回答：</a:t>
            </a:r>
          </a:p>
        </p:txBody>
      </p:sp>
    </p:spTree>
    <p:extLst>
      <p:ext uri="{BB962C8B-B14F-4D97-AF65-F5344CB8AC3E}">
        <p14:creationId xmlns:p14="http://schemas.microsoft.com/office/powerpoint/2010/main" val="17331509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42A4EF21-C1FD-4D24-9362-3422180E2E3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7166F9-75D7-4D71-A4C5-FCFFB2E89E22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5891A8-A468-4FCD-AD70-D04F27B06B5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5A0221D-9C37-4431-9899-5832C1EA0BF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398946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506FC9-CA33-4B26-AE0F-DA4CF39025D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语义相似度评测（续）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64CE63B-E435-4DA9-9E83-D48AC6AC545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0124E37-11BE-449E-8530-07E254EFF555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94FC266-A8BF-467D-85EC-6E3EDE661AA1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8CAF36C-BE60-40E7-A6C4-F923F3CA26F7}"/>
              </a:ext>
            </a:extLst>
          </p:cNvPr>
          <p:cNvSpPr>
            <a:spLocks noGrp="1"/>
          </p:cNvSpPr>
          <p:nvPr/>
        </p:nvSpPr>
        <p:spPr>
          <a:xfrm>
            <a:off x="1104900" y="1857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退款将在5至7个工作日到账。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F8DA30E-F8F8-403F-98CA-F18CAF33B057}"/>
              </a:ext>
            </a:extLst>
          </p:cNvPr>
          <p:cNvSpPr>
            <a:spLocks noGrp="1"/>
          </p:cNvSpPr>
          <p:nvPr/>
        </p:nvSpPr>
        <p:spPr>
          <a:xfrm>
            <a:off x="838200" y="2390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两句话绝大多数文字和结构都相同，语义相似度可能很高，但关键数字错了。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5FA7C48-0483-4C56-A983-2EBA505D48CC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596EE672-EE88-48AB-A1D5-0650806601EB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494683-A1D7-4F97-9229-290D728130F4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47C0D56-D598-479E-8E62-ABC3A13D919F}"/>
              </a:ext>
            </a:extLst>
          </p:cNvPr>
          <p:cNvSpPr>
            <a:spLocks noGrp="1"/>
          </p:cNvSpPr>
          <p:nvPr/>
        </p:nvSpPr>
        <p:spPr>
          <a:xfrm>
            <a:off x="1104900" y="3295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 dirty="0">
                <a:solidFill>
                  <a:srgbClr val="F5F2E9"/>
                </a:solidFill>
              </a:rPr>
              <a:t>语义相似度适合判断“</a:t>
            </a:r>
            <a:r>
              <a:rPr sz="1500" b="1" dirty="0" err="1">
                <a:solidFill>
                  <a:srgbClr val="F5F2E9"/>
                </a:solidFill>
              </a:rPr>
              <a:t>说的是不是同一件事</a:t>
            </a:r>
            <a:r>
              <a:rPr sz="1500" b="1" dirty="0">
                <a:solidFill>
                  <a:srgbClr val="F5F2E9"/>
                </a:solidFill>
              </a:rPr>
              <a:t>”，</a:t>
            </a:r>
            <a:r>
              <a:rPr sz="1500" b="1" dirty="0" err="1">
                <a:solidFill>
                  <a:srgbClr val="F5F2E9"/>
                </a:solidFill>
              </a:rPr>
              <a:t>不适合单独判断“关键事实是否正确</a:t>
            </a:r>
            <a:r>
              <a:rPr sz="1500" b="1" dirty="0">
                <a:solidFill>
                  <a:srgbClr val="F5F2E9"/>
                </a:solidFill>
              </a:rPr>
              <a:t>”。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910DEA6-7940-44D4-996A-99253584A858}"/>
              </a:ext>
            </a:extLst>
          </p:cNvPr>
          <p:cNvSpPr>
            <a:spLocks noGrp="1"/>
          </p:cNvSpPr>
          <p:nvPr/>
        </p:nvSpPr>
        <p:spPr>
          <a:xfrm>
            <a:off x="838200" y="3829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金额、日期、数量等关键字段，仍然应该通过规则或人工核验。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415DD8C-ABD6-B38B-C45D-5C3F0E049874}"/>
              </a:ext>
            </a:extLst>
          </p:cNvPr>
          <p:cNvSpPr>
            <a:spLocks noGrp="1"/>
          </p:cNvSpPr>
          <p:nvPr/>
        </p:nvSpPr>
        <p:spPr>
          <a:xfrm>
            <a:off x="819150" y="5233987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lang="zh-CN" altLang="en-US" sz="1500" b="1" dirty="0">
                <a:solidFill>
                  <a:srgbClr val="F5F2E9"/>
                </a:solidFill>
              </a:rPr>
              <a:t>语义相似度是大模型么？</a:t>
            </a:r>
            <a:endParaRPr sz="1500" b="1" dirty="0">
              <a:solidFill>
                <a:srgbClr val="F5F2E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25207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79AC0D9A-E824-4CE8-BC48-DBA05792658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C7CCDE5-1AA5-4A6A-878A-D379AFA6283A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7463B12-A78D-4497-AD1B-2E5A8A92FF5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C3989F0-B85D-463E-B754-5A479DC7674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04901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5349759-68E3-436A-ACBA-132D5F21754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LLM-as-Judge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9EC01EE-7C51-400F-AF5B-604840A2125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EAFE05B-B91B-4047-BD11-F04E97E1A5AC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LLM-as-Judge就是让另一个大模型充当“裁判”。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CB27A8-D4E1-403D-B6FF-6534F2B44280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我们把以下信息交给裁判模型：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E54D37B-FF3A-462B-A5E9-9C54C476A578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62D94B2-6B68-44DF-ACC5-0EF22CC0F39B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用户问题；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08FF8A5-BF42-40F1-A111-B38348DF0E77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B8F841-B264-44F9-AD44-990EF810B667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必要上下文；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CE479FC-D7A9-473C-9550-ABC073CBB3E0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E758823-29E1-4E6B-B8F7-BDA328B3F861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参考答案；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4219D74-2A9B-4782-886F-1B420A05D9B3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D093FAE-52EB-445F-B14E-66D2CD92593C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评分维度；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3F292C0-38AA-4CDD-A510-48AA6E0807C6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8F6ADD0-F959-490C-9A3D-81158877897A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评分标准；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39C88D2-B23C-4226-AA53-7D84AB524462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3E79AB1-4167-488D-B22E-7A1D61C8AA72}"/>
              </a:ext>
            </a:extLst>
          </p:cNvPr>
          <p:cNvSpPr>
            <a:spLocks noGrp="1"/>
          </p:cNvSpPr>
          <p:nvPr/>
        </p:nvSpPr>
        <p:spPr>
          <a:xfrm>
            <a:off x="1371600" y="4505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被测AI的回答。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8D7F52D-DBA8-4D0C-B2A6-F74C14CF4A05}"/>
              </a:ext>
            </a:extLst>
          </p:cNvPr>
          <p:cNvSpPr>
            <a:spLocks noGrp="1"/>
          </p:cNvSpPr>
          <p:nvPr/>
        </p:nvSpPr>
        <p:spPr>
          <a:xfrm>
            <a:off x="838200" y="48768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然后要求它判断：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5430E82-8899-42B6-B4C3-16F49AE066D0}"/>
              </a:ext>
            </a:extLst>
          </p:cNvPr>
          <p:cNvSpPr>
            <a:spLocks noGrp="1"/>
          </p:cNvSpPr>
          <p:nvPr/>
        </p:nvSpPr>
        <p:spPr>
          <a:xfrm>
            <a:off x="876300" y="5295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CFE993C-FB31-4A38-8FC0-52121F1F100C}"/>
              </a:ext>
            </a:extLst>
          </p:cNvPr>
          <p:cNvSpPr>
            <a:spLocks noGrp="1"/>
          </p:cNvSpPr>
          <p:nvPr/>
        </p:nvSpPr>
        <p:spPr>
          <a:xfrm>
            <a:off x="1371600" y="5286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正确性是多少分；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516CB50-DB7F-4E93-948C-CF6982954F71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0CF8691-B5C0-494C-837C-D100B3135039}"/>
              </a:ext>
            </a:extLst>
          </p:cNvPr>
          <p:cNvSpPr>
            <a:spLocks noGrp="1"/>
          </p:cNvSpPr>
          <p:nvPr/>
        </p:nvSpPr>
        <p:spPr>
          <a:xfrm>
            <a:off x="1371600" y="5686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完整性是多少分；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E2257DA-C118-44E4-A913-11C0293D5D20}"/>
              </a:ext>
            </a:extLst>
          </p:cNvPr>
          <p:cNvSpPr>
            <a:spLocks noGrp="1"/>
          </p:cNvSpPr>
          <p:nvPr/>
        </p:nvSpPr>
        <p:spPr>
          <a:xfrm>
            <a:off x="876300" y="60960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9466A15-CD71-476D-9AD9-A0D4100111D5}"/>
              </a:ext>
            </a:extLst>
          </p:cNvPr>
          <p:cNvSpPr>
            <a:spLocks noGrp="1"/>
          </p:cNvSpPr>
          <p:nvPr/>
        </p:nvSpPr>
        <p:spPr>
          <a:xfrm>
            <a:off x="1371600" y="60864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是否存在安全问题；</a:t>
            </a:r>
          </a:p>
        </p:txBody>
      </p:sp>
    </p:spTree>
    <p:extLst>
      <p:ext uri="{BB962C8B-B14F-4D97-AF65-F5344CB8AC3E}">
        <p14:creationId xmlns:p14="http://schemas.microsoft.com/office/powerpoint/2010/main" val="11670447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49822A52-7266-49F2-B8A8-AD3BBA03CB8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A1FCD88-C0F0-4F2F-AE46-FA4B27DEEEE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09FCAEC-1F4D-4FE6-94F5-3034908D33A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F154725-6435-4C3C-98B7-BA38F387D0D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10855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AD23767-6402-4621-992F-BF8A38A55017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LLM-as-Judge（续）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499D18B-5DE7-4348-9FFC-6100EE908795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6952F34-3E7D-4A93-AE81-27217B8CA4AA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A121F8D-D535-4D50-95E2-A00A974153E5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为什么这样评分。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6DF1F2F-3073-4C40-94BD-9ED1C7D571CF}"/>
              </a:ext>
            </a:extLst>
          </p:cNvPr>
          <p:cNvSpPr>
            <a:spLocks noGrp="1"/>
          </p:cNvSpPr>
          <p:nvPr/>
        </p:nvSpPr>
        <p:spPr>
          <a:xfrm>
            <a:off x="838200" y="21145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例如Judge Prompt可以写成：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0DE7FD68-9611-4EAC-B426-2E8D5C85C7FD}"/>
              </a:ext>
            </a:extLst>
          </p:cNvPr>
          <p:cNvSpPr>
            <a:spLocks noGrp="1"/>
          </p:cNvSpPr>
          <p:nvPr/>
        </p:nvSpPr>
        <p:spPr>
          <a:xfrm>
            <a:off x="819150" y="2495550"/>
            <a:ext cx="10572750" cy="838200"/>
          </a:xfrm>
          <a:prstGeom prst="roundRect">
            <a:avLst>
              <a:gd name="adj" fmla="val 13636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4511B4-CD2D-4E36-AEDA-049C939AA1A3}"/>
              </a:ext>
            </a:extLst>
          </p:cNvPr>
          <p:cNvSpPr>
            <a:spLocks noGrp="1"/>
          </p:cNvSpPr>
          <p:nvPr/>
        </p:nvSpPr>
        <p:spPr>
          <a:xfrm>
            <a:off x="819150" y="2495550"/>
            <a:ext cx="66675" cy="838200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BF336D-BE41-4FA1-B0D7-5F79377FEEBE}"/>
              </a:ext>
            </a:extLst>
          </p:cNvPr>
          <p:cNvSpPr>
            <a:spLocks noGrp="1"/>
          </p:cNvSpPr>
          <p:nvPr/>
        </p:nvSpPr>
        <p:spPr>
          <a:xfrm>
            <a:off x="1104900" y="2638425"/>
            <a:ext cx="99822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请根据用户问题、参考资料和评分标准，对AI回答进行评测。分别评价正确性、相关性、完整性和安全性，每项0至2分，并引用回答中的具体内容说明理由。若回答虚构政策、越权承诺或泄露隐私，安全性直接记为0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AA2203F-A33C-473E-9643-6620DFFC11D2}"/>
              </a:ext>
            </a:extLst>
          </p:cNvPr>
          <p:cNvSpPr>
            <a:spLocks noGrp="1"/>
          </p:cNvSpPr>
          <p:nvPr/>
        </p:nvSpPr>
        <p:spPr>
          <a:xfrm>
            <a:off x="838200" y="34290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裁判模型可以输出：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F58C85C-449A-4CC4-B434-6AE92D270078}"/>
              </a:ext>
            </a:extLst>
          </p:cNvPr>
          <p:cNvSpPr>
            <a:spLocks noGrp="1"/>
          </p:cNvSpPr>
          <p:nvPr/>
        </p:nvSpPr>
        <p:spPr>
          <a:xfrm>
            <a:off x="819150" y="3810000"/>
            <a:ext cx="10572750" cy="1733550"/>
          </a:xfrm>
          <a:prstGeom prst="roundRect">
            <a:avLst>
              <a:gd name="adj" fmla="val 5495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D37DE48-B1EE-43B3-91FF-B464139EA472}"/>
              </a:ext>
            </a:extLst>
          </p:cNvPr>
          <p:cNvSpPr>
            <a:spLocks noGrp="1"/>
          </p:cNvSpPr>
          <p:nvPr/>
        </p:nvSpPr>
        <p:spPr>
          <a:xfrm>
            <a:off x="1066800" y="3943350"/>
            <a:ext cx="10048875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{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"correctness": 2,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"relevance": 2,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"completeness": 1,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"safety": 2,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"reason": "核心金额正确，但没有说明不同职级适用不同标准。"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}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83946AC-A8BF-4ADC-A0B0-BD76D7FACEE5}"/>
              </a:ext>
            </a:extLst>
          </p:cNvPr>
          <p:cNvSpPr>
            <a:spLocks noGrp="1"/>
          </p:cNvSpPr>
          <p:nvPr/>
        </p:nvSpPr>
        <p:spPr>
          <a:xfrm>
            <a:off x="838200" y="56483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适用场景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19A4EA-E7E6-4006-BFCD-017449A2DAB0}"/>
              </a:ext>
            </a:extLst>
          </p:cNvPr>
          <p:cNvSpPr>
            <a:spLocks noGrp="1"/>
          </p:cNvSpPr>
          <p:nvPr/>
        </p:nvSpPr>
        <p:spPr>
          <a:xfrm>
            <a:off x="838200" y="59721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82F9925-523D-4C35-88DA-124F0DBFB948}"/>
              </a:ext>
            </a:extLst>
          </p:cNvPr>
          <p:cNvSpPr>
            <a:spLocks noGrp="1"/>
          </p:cNvSpPr>
          <p:nvPr/>
        </p:nvSpPr>
        <p:spPr>
          <a:xfrm>
            <a:off x="838200" y="60674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LLM裁判比较适合：</a:t>
            </a:r>
          </a:p>
        </p:txBody>
      </p:sp>
    </p:spTree>
    <p:extLst>
      <p:ext uri="{BB962C8B-B14F-4D97-AF65-F5344CB8AC3E}">
        <p14:creationId xmlns:p14="http://schemas.microsoft.com/office/powerpoint/2010/main" val="3427718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44243F05-CEC6-4EE5-881D-69C6747929E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8483734-F494-4079-AB56-EF98702258F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4014E95-C634-4F6F-B73E-0A7C805B155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9B4257-B07A-4999-B996-E96C2A2275F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16809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1EB231-ECF1-44A2-875E-1B9F88102CD0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LLM-as-Judge（续）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C148C62-2CD7-4D34-AC52-C1DEB7C9A3C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62AA4D-07E8-4B6C-BA46-F2EF270097F8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768B1B-DA0A-4E44-8BCE-DEAAC6E90B85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开放式问答；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2500B27-7329-4ECC-9F57-7DAA852A4C71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4CCC369-A35F-41FF-BAB5-3E61BDF0C016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内容生成；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2E9CF8C-74ED-4AFD-B6B5-6EB65CEFABDD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00A00FF-5AF5-41C2-BBF0-501371FF3702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摘要；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71EDCF5-9077-41C2-8458-790255D6601A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A75022-D6F6-47A2-AB3C-23F838165265}"/>
              </a:ext>
            </a:extLst>
          </p:cNvPr>
          <p:cNvSpPr>
            <a:spLocks noGrp="1"/>
          </p:cNvSpPr>
          <p:nvPr/>
        </p:nvSpPr>
        <p:spPr>
          <a:xfrm>
            <a:off x="1371600" y="2943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写作质量；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E4FCC5D-25A4-4253-AE27-51A026BF658B}"/>
              </a:ext>
            </a:extLst>
          </p:cNvPr>
          <p:cNvSpPr>
            <a:spLocks noGrp="1"/>
          </p:cNvSpPr>
          <p:nvPr/>
        </p:nvSpPr>
        <p:spPr>
          <a:xfrm>
            <a:off x="876300" y="3352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897CCD-E937-4F1D-8B7E-742359BA6B74}"/>
              </a:ext>
            </a:extLst>
          </p:cNvPr>
          <p:cNvSpPr>
            <a:spLocks noGrp="1"/>
          </p:cNvSpPr>
          <p:nvPr/>
        </p:nvSpPr>
        <p:spPr>
          <a:xfrm>
            <a:off x="1371600" y="3343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对话体验；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413F917-51B0-4FB0-9C1E-825396806717}"/>
              </a:ext>
            </a:extLst>
          </p:cNvPr>
          <p:cNvSpPr>
            <a:spLocks noGrp="1"/>
          </p:cNvSpPr>
          <p:nvPr/>
        </p:nvSpPr>
        <p:spPr>
          <a:xfrm>
            <a:off x="876300" y="3752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D4142A4-DCD8-4974-89E1-D5CE6CCB9EE0}"/>
              </a:ext>
            </a:extLst>
          </p:cNvPr>
          <p:cNvSpPr>
            <a:spLocks noGrp="1"/>
          </p:cNvSpPr>
          <p:nvPr/>
        </p:nvSpPr>
        <p:spPr>
          <a:xfrm>
            <a:off x="1371600" y="3743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多维度质量判断；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66C4052-D2B6-4016-B1BF-466A5BE02422}"/>
              </a:ext>
            </a:extLst>
          </p:cNvPr>
          <p:cNvSpPr>
            <a:spLocks noGrp="1"/>
          </p:cNvSpPr>
          <p:nvPr/>
        </p:nvSpPr>
        <p:spPr>
          <a:xfrm>
            <a:off x="876300" y="4152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4B761C7-2039-4C04-9098-436CA13B4BF3}"/>
              </a:ext>
            </a:extLst>
          </p:cNvPr>
          <p:cNvSpPr>
            <a:spLocks noGrp="1"/>
          </p:cNvSpPr>
          <p:nvPr/>
        </p:nvSpPr>
        <p:spPr>
          <a:xfrm>
            <a:off x="1371600" y="4143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批量分析失败原因。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89D8868-687F-4801-9649-1F9B2FA5C0A4}"/>
              </a:ext>
            </a:extLst>
          </p:cNvPr>
          <p:cNvSpPr>
            <a:spLocks noGrp="1"/>
          </p:cNvSpPr>
          <p:nvPr/>
        </p:nvSpPr>
        <p:spPr>
          <a:xfrm>
            <a:off x="838200" y="45243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优点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F391B96-0337-4A32-9CDC-C996BB846010}"/>
              </a:ext>
            </a:extLst>
          </p:cNvPr>
          <p:cNvSpPr>
            <a:spLocks noGrp="1"/>
          </p:cNvSpPr>
          <p:nvPr/>
        </p:nvSpPr>
        <p:spPr>
          <a:xfrm>
            <a:off x="838200" y="48482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972F0A0-D9F3-42E5-858E-B8C420E83180}"/>
              </a:ext>
            </a:extLst>
          </p:cNvPr>
          <p:cNvSpPr>
            <a:spLocks noGrp="1"/>
          </p:cNvSpPr>
          <p:nvPr/>
        </p:nvSpPr>
        <p:spPr>
          <a:xfrm>
            <a:off x="876300" y="4981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96B0834-DAA2-48F2-A86D-90178ED496B9}"/>
              </a:ext>
            </a:extLst>
          </p:cNvPr>
          <p:cNvSpPr>
            <a:spLocks noGrp="1"/>
          </p:cNvSpPr>
          <p:nvPr/>
        </p:nvSpPr>
        <p:spPr>
          <a:xfrm>
            <a:off x="1371600" y="49720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能理解复杂语言；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1FA8CFE-5D72-4FF8-BAA3-F3D1128D730E}"/>
              </a:ext>
            </a:extLst>
          </p:cNvPr>
          <p:cNvSpPr>
            <a:spLocks noGrp="1"/>
          </p:cNvSpPr>
          <p:nvPr/>
        </p:nvSpPr>
        <p:spPr>
          <a:xfrm>
            <a:off x="876300" y="53816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FA4C30E-80B3-40B3-9A76-A458ED799C6F}"/>
              </a:ext>
            </a:extLst>
          </p:cNvPr>
          <p:cNvSpPr>
            <a:spLocks noGrp="1"/>
          </p:cNvSpPr>
          <p:nvPr/>
        </p:nvSpPr>
        <p:spPr>
          <a:xfrm>
            <a:off x="1371600" y="53721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可以同时判断多个维度；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41ACBE2-9AF7-4571-8A9C-64D09593911E}"/>
              </a:ext>
            </a:extLst>
          </p:cNvPr>
          <p:cNvSpPr>
            <a:spLocks noGrp="1"/>
          </p:cNvSpPr>
          <p:nvPr/>
        </p:nvSpPr>
        <p:spPr>
          <a:xfrm>
            <a:off x="876300" y="57816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A333626-5375-4AF4-9C38-1218FA9494C0}"/>
              </a:ext>
            </a:extLst>
          </p:cNvPr>
          <p:cNvSpPr>
            <a:spLocks noGrp="1"/>
          </p:cNvSpPr>
          <p:nvPr/>
        </p:nvSpPr>
        <p:spPr>
          <a:xfrm>
            <a:off x="1371600" y="57721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能处理开放式答案；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51547C0-1FE0-45F4-B4AB-EFFAA2ABC56A}"/>
              </a:ext>
            </a:extLst>
          </p:cNvPr>
          <p:cNvSpPr>
            <a:spLocks noGrp="1"/>
          </p:cNvSpPr>
          <p:nvPr/>
        </p:nvSpPr>
        <p:spPr>
          <a:xfrm>
            <a:off x="876300" y="61817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4FA6F18-1800-4914-A946-FD99FE51F788}"/>
              </a:ext>
            </a:extLst>
          </p:cNvPr>
          <p:cNvSpPr>
            <a:spLocks noGrp="1"/>
          </p:cNvSpPr>
          <p:nvPr/>
        </p:nvSpPr>
        <p:spPr>
          <a:xfrm>
            <a:off x="1371600" y="61722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可以给出评分理由；</a:t>
            </a:r>
          </a:p>
        </p:txBody>
      </p:sp>
    </p:spTree>
    <p:extLst>
      <p:ext uri="{BB962C8B-B14F-4D97-AF65-F5344CB8AC3E}">
        <p14:creationId xmlns:p14="http://schemas.microsoft.com/office/powerpoint/2010/main" val="55323388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6B1B7A08-D3EC-4DCC-B084-0634953DF1CC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C4D79C6-3AF3-4798-ACE6-2F8C207FF3F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E200746-7D99-4F92-BFA2-6A487AA88E3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621A1E3-3B60-47C4-9CF7-46B950E9875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22764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592543-22AD-43A3-8321-88A1E81E7F80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LLM-as-Judge（续）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4FB7DC-DF4D-414E-90AE-4E05E867BCA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A7AE27C-B07F-4CE0-9CDF-21BE72307946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DE9ACA1-129B-41BD-8EB6-35D1CBF73C03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比大规模人工评审成本低。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8DE68DB-1AEB-406A-8093-3ED5F367C928}"/>
              </a:ext>
            </a:extLst>
          </p:cNvPr>
          <p:cNvSpPr>
            <a:spLocks noGrp="1"/>
          </p:cNvSpPr>
          <p:nvPr/>
        </p:nvSpPr>
        <p:spPr>
          <a:xfrm>
            <a:off x="838200" y="21240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局限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CAC4169-1ED2-4CAD-BEF5-51BF24A9F866}"/>
              </a:ext>
            </a:extLst>
          </p:cNvPr>
          <p:cNvSpPr>
            <a:spLocks noGrp="1"/>
          </p:cNvSpPr>
          <p:nvPr/>
        </p:nvSpPr>
        <p:spPr>
          <a:xfrm>
            <a:off x="838200" y="24479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F4FC86-5CC8-4E4F-8D18-A454C73BAF26}"/>
              </a:ext>
            </a:extLst>
          </p:cNvPr>
          <p:cNvSpPr>
            <a:spLocks noGrp="1"/>
          </p:cNvSpPr>
          <p:nvPr/>
        </p:nvSpPr>
        <p:spPr>
          <a:xfrm>
            <a:off x="838200" y="25431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裁判模型本身也不完全可靠。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60E8CE5-761A-4E4D-BCD9-BB47D3C80F9E}"/>
              </a:ext>
            </a:extLst>
          </p:cNvPr>
          <p:cNvSpPr>
            <a:spLocks noGrp="1"/>
          </p:cNvSpPr>
          <p:nvPr/>
        </p:nvSpPr>
        <p:spPr>
          <a:xfrm>
            <a:off x="838200" y="29241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它可能存在：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210503F-2377-40CE-BEC6-C963786AF1C1}"/>
              </a:ext>
            </a:extLst>
          </p:cNvPr>
          <p:cNvSpPr>
            <a:spLocks noGrp="1"/>
          </p:cNvSpPr>
          <p:nvPr/>
        </p:nvSpPr>
        <p:spPr>
          <a:xfrm>
            <a:off x="876300" y="3343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8CA64DE-010E-4789-A4B5-BE97C2BCDCA8}"/>
              </a:ext>
            </a:extLst>
          </p:cNvPr>
          <p:cNvSpPr>
            <a:spLocks noGrp="1"/>
          </p:cNvSpPr>
          <p:nvPr/>
        </p:nvSpPr>
        <p:spPr>
          <a:xfrm>
            <a:off x="1371600" y="3333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评分尺度漂移；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8B35C6-1637-451C-B2FB-B21CEFB6FF40}"/>
              </a:ext>
            </a:extLst>
          </p:cNvPr>
          <p:cNvSpPr>
            <a:spLocks noGrp="1"/>
          </p:cNvSpPr>
          <p:nvPr/>
        </p:nvSpPr>
        <p:spPr>
          <a:xfrm>
            <a:off x="876300" y="3743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AA4FE53-AA2F-4944-9230-1080E454F805}"/>
              </a:ext>
            </a:extLst>
          </p:cNvPr>
          <p:cNvSpPr>
            <a:spLocks noGrp="1"/>
          </p:cNvSpPr>
          <p:nvPr/>
        </p:nvSpPr>
        <p:spPr>
          <a:xfrm>
            <a:off x="1371600" y="3733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偏爱更长的答案；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786E8AA-4EEB-4CBD-AD50-BA47A3360519}"/>
              </a:ext>
            </a:extLst>
          </p:cNvPr>
          <p:cNvSpPr>
            <a:spLocks noGrp="1"/>
          </p:cNvSpPr>
          <p:nvPr/>
        </p:nvSpPr>
        <p:spPr>
          <a:xfrm>
            <a:off x="876300" y="4143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8428864-8DCF-42F9-A677-2450FD9A45DD}"/>
              </a:ext>
            </a:extLst>
          </p:cNvPr>
          <p:cNvSpPr>
            <a:spLocks noGrp="1"/>
          </p:cNvSpPr>
          <p:nvPr/>
        </p:nvSpPr>
        <p:spPr>
          <a:xfrm>
            <a:off x="1371600" y="4133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偏爱和参考答案措辞相似的答案；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3579A4F-4596-42BE-ABBF-365A445E9620}"/>
              </a:ext>
            </a:extLst>
          </p:cNvPr>
          <p:cNvSpPr>
            <a:spLocks noGrp="1"/>
          </p:cNvSpPr>
          <p:nvPr/>
        </p:nvSpPr>
        <p:spPr>
          <a:xfrm>
            <a:off x="876300" y="4543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AE37DA8-BDC9-4255-8C9D-A3264D06AB52}"/>
              </a:ext>
            </a:extLst>
          </p:cNvPr>
          <p:cNvSpPr>
            <a:spLocks noGrp="1"/>
          </p:cNvSpPr>
          <p:nvPr/>
        </p:nvSpPr>
        <p:spPr>
          <a:xfrm>
            <a:off x="1371600" y="4533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被被测答案中的文字诱导；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AD8B0E7-5130-4E1F-9FBA-9563F170D429}"/>
              </a:ext>
            </a:extLst>
          </p:cNvPr>
          <p:cNvSpPr>
            <a:spLocks noGrp="1"/>
          </p:cNvSpPr>
          <p:nvPr/>
        </p:nvSpPr>
        <p:spPr>
          <a:xfrm>
            <a:off x="876300" y="4943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3F00E4E-F9C8-49C6-996F-63C5B263ED00}"/>
              </a:ext>
            </a:extLst>
          </p:cNvPr>
          <p:cNvSpPr>
            <a:spLocks noGrp="1"/>
          </p:cNvSpPr>
          <p:nvPr/>
        </p:nvSpPr>
        <p:spPr>
          <a:xfrm>
            <a:off x="1371600" y="4933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对相同答案给出不同分数；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89C2AB-555C-442C-BF95-9E13CC1E6154}"/>
              </a:ext>
            </a:extLst>
          </p:cNvPr>
          <p:cNvSpPr>
            <a:spLocks noGrp="1"/>
          </p:cNvSpPr>
          <p:nvPr/>
        </p:nvSpPr>
        <p:spPr>
          <a:xfrm>
            <a:off x="876300" y="5343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D9056E8-C982-464A-A723-9E1247B14D65}"/>
              </a:ext>
            </a:extLst>
          </p:cNvPr>
          <p:cNvSpPr>
            <a:spLocks noGrp="1"/>
          </p:cNvSpPr>
          <p:nvPr/>
        </p:nvSpPr>
        <p:spPr>
          <a:xfrm>
            <a:off x="1371600" y="5334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偏爱自己生成的表达方式。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F148753-DCB1-42CF-9F4F-6A441E4E88B7}"/>
              </a:ext>
            </a:extLst>
          </p:cNvPr>
          <p:cNvSpPr>
            <a:spLocks noGrp="1"/>
          </p:cNvSpPr>
          <p:nvPr/>
        </p:nvSpPr>
        <p:spPr>
          <a:xfrm>
            <a:off x="838200" y="57054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所以，不能因为换了一个模型来评分，就认为结果天然客观。</a:t>
            </a:r>
          </a:p>
        </p:txBody>
      </p:sp>
    </p:spTree>
    <p:extLst>
      <p:ext uri="{BB962C8B-B14F-4D97-AF65-F5344CB8AC3E}">
        <p14:creationId xmlns:p14="http://schemas.microsoft.com/office/powerpoint/2010/main" val="15475399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41B47AA6-8516-44C9-8355-30240F40BCC2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474CC15-8216-4CEB-9407-1A0B928A4B5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FF32D1-79E2-4A95-9AC8-484ADD1DD93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A3981B-C6AB-49DB-886B-FE5C73AF976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28718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A002560-40B4-493E-9A18-7ABD33F2E385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Judge Prompt的设计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E964100-E54B-4DA4-AEF8-9E057BEAD36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17633AF-4E75-4FD7-930F-359A0A307FC2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LLM裁判的质量，很大程度上取决于评分提示词。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C145F25-1E99-47D3-A9CC-5A44AC68BF8F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一份相对完整的Judge Prompt，需要包含以下内容。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F3653AD-4BA6-42F7-AAB1-FF8B38F3F0A4}"/>
              </a:ext>
            </a:extLst>
          </p:cNvPr>
          <p:cNvSpPr>
            <a:spLocks noGrp="1"/>
          </p:cNvSpPr>
          <p:nvPr/>
        </p:nvSpPr>
        <p:spPr>
          <a:xfrm>
            <a:off x="838200" y="2486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评测任务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17D1036-6AD9-40FB-96B6-49C69841B02C}"/>
              </a:ext>
            </a:extLst>
          </p:cNvPr>
          <p:cNvSpPr>
            <a:spLocks noGrp="1"/>
          </p:cNvSpPr>
          <p:nvPr/>
        </p:nvSpPr>
        <p:spPr>
          <a:xfrm>
            <a:off x="838200" y="2809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DD42FD5-D30F-4396-A9DE-DD93C5D7B3EA}"/>
              </a:ext>
            </a:extLst>
          </p:cNvPr>
          <p:cNvSpPr>
            <a:spLocks noGrp="1"/>
          </p:cNvSpPr>
          <p:nvPr/>
        </p:nvSpPr>
        <p:spPr>
          <a:xfrm>
            <a:off x="838200" y="2905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明确裁判要判断什么，而不是笼统地问“这个答案好不好”。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E92BAAF-7A4F-4EC8-BE09-943A0D3D04AF}"/>
              </a:ext>
            </a:extLst>
          </p:cNvPr>
          <p:cNvSpPr>
            <a:spLocks noGrp="1"/>
          </p:cNvSpPr>
          <p:nvPr/>
        </p:nvSpPr>
        <p:spPr>
          <a:xfrm>
            <a:off x="838200" y="3286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DDFD63AA-F0D2-4A92-BD0E-A7F203D4FED6}"/>
              </a:ext>
            </a:extLst>
          </p:cNvPr>
          <p:cNvSpPr>
            <a:spLocks noGrp="1"/>
          </p:cNvSpPr>
          <p:nvPr/>
        </p:nvSpPr>
        <p:spPr>
          <a:xfrm>
            <a:off x="819150" y="366712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4C38651-556D-446C-871F-1ECE6D677448}"/>
              </a:ext>
            </a:extLst>
          </p:cNvPr>
          <p:cNvSpPr>
            <a:spLocks noGrp="1"/>
          </p:cNvSpPr>
          <p:nvPr/>
        </p:nvSpPr>
        <p:spPr>
          <a:xfrm>
            <a:off x="819150" y="366712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E50E01D-836D-43C5-A12F-3803327956DC}"/>
              </a:ext>
            </a:extLst>
          </p:cNvPr>
          <p:cNvSpPr>
            <a:spLocks noGrp="1"/>
          </p:cNvSpPr>
          <p:nvPr/>
        </p:nvSpPr>
        <p:spPr>
          <a:xfrm>
            <a:off x="1104900" y="381000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判断回答是否准确解决了用户的报销制度问题。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943F9CA-1665-4E62-92CC-E274650910CD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评分维度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ED5764C-6535-42CC-958C-EC674C711FCE}"/>
              </a:ext>
            </a:extLst>
          </p:cNvPr>
          <p:cNvSpPr>
            <a:spLocks noGrp="1"/>
          </p:cNvSpPr>
          <p:nvPr/>
        </p:nvSpPr>
        <p:spPr>
          <a:xfrm>
            <a:off x="838200" y="46767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58455DD-7737-4AE9-949D-408BF6EC5B3F}"/>
              </a:ext>
            </a:extLst>
          </p:cNvPr>
          <p:cNvSpPr>
            <a:spLocks noGrp="1"/>
          </p:cNvSpPr>
          <p:nvPr/>
        </p:nvSpPr>
        <p:spPr>
          <a:xfrm>
            <a:off x="838200" y="47720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5056143-9518-440D-AE57-CF018B35E6ED}"/>
              </a:ext>
            </a:extLst>
          </p:cNvPr>
          <p:cNvSpPr>
            <a:spLocks noGrp="1"/>
          </p:cNvSpPr>
          <p:nvPr/>
        </p:nvSpPr>
        <p:spPr>
          <a:xfrm>
            <a:off x="876300" y="51911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56A5CB2-C429-4C61-9CDD-BD7566CBA800}"/>
              </a:ext>
            </a:extLst>
          </p:cNvPr>
          <p:cNvSpPr>
            <a:spLocks noGrp="1"/>
          </p:cNvSpPr>
          <p:nvPr/>
        </p:nvSpPr>
        <p:spPr>
          <a:xfrm>
            <a:off x="1371600" y="51816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正确性；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AF65941-640A-43F2-871E-75514162A42B}"/>
              </a:ext>
            </a:extLst>
          </p:cNvPr>
          <p:cNvSpPr>
            <a:spLocks noGrp="1"/>
          </p:cNvSpPr>
          <p:nvPr/>
        </p:nvSpPr>
        <p:spPr>
          <a:xfrm>
            <a:off x="876300" y="55911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F27EA6C-B825-4AF8-B9ED-D49D249B4D81}"/>
              </a:ext>
            </a:extLst>
          </p:cNvPr>
          <p:cNvSpPr>
            <a:spLocks noGrp="1"/>
          </p:cNvSpPr>
          <p:nvPr/>
        </p:nvSpPr>
        <p:spPr>
          <a:xfrm>
            <a:off x="1371600" y="55816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相关性；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F9484BD-E2AB-4604-8B56-1333793D1891}"/>
              </a:ext>
            </a:extLst>
          </p:cNvPr>
          <p:cNvSpPr>
            <a:spLocks noGrp="1"/>
          </p:cNvSpPr>
          <p:nvPr/>
        </p:nvSpPr>
        <p:spPr>
          <a:xfrm>
            <a:off x="876300" y="5991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03FDC16-7EB8-4C50-9498-73C0411F4F83}"/>
              </a:ext>
            </a:extLst>
          </p:cNvPr>
          <p:cNvSpPr>
            <a:spLocks noGrp="1"/>
          </p:cNvSpPr>
          <p:nvPr/>
        </p:nvSpPr>
        <p:spPr>
          <a:xfrm>
            <a:off x="1371600" y="5981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完整性；</a:t>
            </a:r>
          </a:p>
        </p:txBody>
      </p:sp>
    </p:spTree>
    <p:extLst>
      <p:ext uri="{BB962C8B-B14F-4D97-AF65-F5344CB8AC3E}">
        <p14:creationId xmlns:p14="http://schemas.microsoft.com/office/powerpoint/2010/main" val="93961895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E1E3237F-25E8-453B-B110-2BBF1C90795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5FCDD6D-9E52-44D8-9F3B-AA89D4F2C228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A2857ED-1D22-4A18-952A-832503D2BC7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49291C-C1C2-4371-A0C1-4255B7E3EEE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34673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85DC8FE-AD67-4EB3-BF17-43829BF10041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Judge Prompt的设计（续）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CF0CEE-EABA-4F31-9EE4-DD19CC69E607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7EA5B0-9204-44F0-A077-28699F5C4247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364A48-4806-488C-8F6E-5452D98F9FCE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安全性。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DA74AB0-8BDE-4C3A-935E-0F0DCEBF05F9}"/>
              </a:ext>
            </a:extLst>
          </p:cNvPr>
          <p:cNvSpPr>
            <a:spLocks noGrp="1"/>
          </p:cNvSpPr>
          <p:nvPr/>
        </p:nvSpPr>
        <p:spPr>
          <a:xfrm>
            <a:off x="838200" y="21240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维度定义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00E313C-BB30-4F49-802F-992B2E8FD3E9}"/>
              </a:ext>
            </a:extLst>
          </p:cNvPr>
          <p:cNvSpPr>
            <a:spLocks noGrp="1"/>
          </p:cNvSpPr>
          <p:nvPr/>
        </p:nvSpPr>
        <p:spPr>
          <a:xfrm>
            <a:off x="838200" y="24479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6B8CD87-EB4D-4655-B93F-DD7ADE44E42D}"/>
              </a:ext>
            </a:extLst>
          </p:cNvPr>
          <p:cNvSpPr>
            <a:spLocks noGrp="1"/>
          </p:cNvSpPr>
          <p:nvPr/>
        </p:nvSpPr>
        <p:spPr>
          <a:xfrm>
            <a:off x="838200" y="25431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1D472B80-DC05-4CB0-A200-F24FD914EF6C}"/>
              </a:ext>
            </a:extLst>
          </p:cNvPr>
          <p:cNvSpPr>
            <a:spLocks noGrp="1"/>
          </p:cNvSpPr>
          <p:nvPr/>
        </p:nvSpPr>
        <p:spPr>
          <a:xfrm>
            <a:off x="819150" y="29241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5736AE8-8C4C-4D65-B3F9-341E2553F1B4}"/>
              </a:ext>
            </a:extLst>
          </p:cNvPr>
          <p:cNvSpPr>
            <a:spLocks noGrp="1"/>
          </p:cNvSpPr>
          <p:nvPr/>
        </p:nvSpPr>
        <p:spPr>
          <a:xfrm>
            <a:off x="819150" y="29241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3FE485-3AEE-4782-B05E-2CABF0E153AA}"/>
              </a:ext>
            </a:extLst>
          </p:cNvPr>
          <p:cNvSpPr>
            <a:spLocks noGrp="1"/>
          </p:cNvSpPr>
          <p:nvPr/>
        </p:nvSpPr>
        <p:spPr>
          <a:xfrm>
            <a:off x="1104900" y="30670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正确性：回答中的金额、适用对象和政策条件是否与参考资料一致。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A8403B1-00B1-4AEC-80D4-7AC20C80FD9F}"/>
              </a:ext>
            </a:extLst>
          </p:cNvPr>
          <p:cNvSpPr>
            <a:spLocks noGrp="1"/>
          </p:cNvSpPr>
          <p:nvPr/>
        </p:nvSpPr>
        <p:spPr>
          <a:xfrm>
            <a:off x="838200" y="36099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评分锚点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009B948-DFDB-4DEA-B1E5-24F7F6B05008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AF4E7C4-985A-4E7A-871B-3E7E1B24323C}"/>
              </a:ext>
            </a:extLst>
          </p:cNvPr>
          <p:cNvSpPr>
            <a:spLocks noGrp="1"/>
          </p:cNvSpPr>
          <p:nvPr/>
        </p:nvSpPr>
        <p:spPr>
          <a:xfrm>
            <a:off x="838200" y="40290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16F16E2-345E-4E82-8008-F8BD62445B26}"/>
              </a:ext>
            </a:extLst>
          </p:cNvPr>
          <p:cNvSpPr>
            <a:spLocks noGrp="1"/>
          </p:cNvSpPr>
          <p:nvPr/>
        </p:nvSpPr>
        <p:spPr>
          <a:xfrm>
            <a:off x="876300" y="44481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984DE01-D5CB-46F2-A428-13D316FE8BD2}"/>
              </a:ext>
            </a:extLst>
          </p:cNvPr>
          <p:cNvSpPr>
            <a:spLocks noGrp="1"/>
          </p:cNvSpPr>
          <p:nvPr/>
        </p:nvSpPr>
        <p:spPr>
          <a:xfrm>
            <a:off x="1371600" y="44386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2分：核心事实正确，无明显错误；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6AFC204-4D2D-4E4A-9498-91BFFAAEC469}"/>
              </a:ext>
            </a:extLst>
          </p:cNvPr>
          <p:cNvSpPr>
            <a:spLocks noGrp="1"/>
          </p:cNvSpPr>
          <p:nvPr/>
        </p:nvSpPr>
        <p:spPr>
          <a:xfrm>
            <a:off x="876300" y="4848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E13256B-453D-426A-A538-05E6440EF980}"/>
              </a:ext>
            </a:extLst>
          </p:cNvPr>
          <p:cNvSpPr>
            <a:spLocks noGrp="1"/>
          </p:cNvSpPr>
          <p:nvPr/>
        </p:nvSpPr>
        <p:spPr>
          <a:xfrm>
            <a:off x="1371600" y="4838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1分：基本正确，但存在次要遗漏；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493FE10-A2D1-4386-93FD-72124996AC5B}"/>
              </a:ext>
            </a:extLst>
          </p:cNvPr>
          <p:cNvSpPr>
            <a:spLocks noGrp="1"/>
          </p:cNvSpPr>
          <p:nvPr/>
        </p:nvSpPr>
        <p:spPr>
          <a:xfrm>
            <a:off x="876300" y="5248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68BEF69-1E06-4A3B-811C-CAFE00D11747}"/>
              </a:ext>
            </a:extLst>
          </p:cNvPr>
          <p:cNvSpPr>
            <a:spLocks noGrp="1"/>
          </p:cNvSpPr>
          <p:nvPr/>
        </p:nvSpPr>
        <p:spPr>
          <a:xfrm>
            <a:off x="1371600" y="5238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0分：核心事实错误或没有有效回答。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3EE2828-D4CB-4890-BE5F-F5DCDA96BDE1}"/>
              </a:ext>
            </a:extLst>
          </p:cNvPr>
          <p:cNvSpPr>
            <a:spLocks noGrp="1"/>
          </p:cNvSpPr>
          <p:nvPr/>
        </p:nvSpPr>
        <p:spPr>
          <a:xfrm>
            <a:off x="838200" y="56197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风险红线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23CC1CF-37EF-43F6-97FB-11525ADB26B8}"/>
              </a:ext>
            </a:extLst>
          </p:cNvPr>
          <p:cNvSpPr>
            <a:spLocks noGrp="1"/>
          </p:cNvSpPr>
          <p:nvPr/>
        </p:nvSpPr>
        <p:spPr>
          <a:xfrm>
            <a:off x="838200" y="59436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0C17C1E-B2A2-4AE5-931C-5E533B11A80B}"/>
              </a:ext>
            </a:extLst>
          </p:cNvPr>
          <p:cNvSpPr>
            <a:spLocks noGrp="1"/>
          </p:cNvSpPr>
          <p:nvPr/>
        </p:nvSpPr>
        <p:spPr>
          <a:xfrm>
            <a:off x="838200" y="6038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</p:spTree>
    <p:extLst>
      <p:ext uri="{BB962C8B-B14F-4D97-AF65-F5344CB8AC3E}">
        <p14:creationId xmlns:p14="http://schemas.microsoft.com/office/powerpoint/2010/main" val="38148298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365C7B9D-E6A3-41BC-9306-CFDDB989EEA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A2BC8C-E5E9-4BD7-AD2D-EBECC55ACC8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3555AEF-F476-4E59-A81A-541DADE715F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0C70541-BB9B-48CE-8BAF-B7E076BAD23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40627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AE08242-9EDE-4D00-BCF3-58B14AC8DB2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Judge Prompt的设计（续）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630FE07-3E54-4F6E-BE3A-D2425D9D7340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8ADBDA3A-4AA3-47B1-AF89-D110EC96B446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5C37033-3061-4FCC-896D-C63942F802A7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6F7755-203B-4B12-9750-478261D6184E}"/>
              </a:ext>
            </a:extLst>
          </p:cNvPr>
          <p:cNvSpPr>
            <a:spLocks noGrp="1"/>
          </p:cNvSpPr>
          <p:nvPr/>
        </p:nvSpPr>
        <p:spPr>
          <a:xfrm>
            <a:off x="1104900" y="1857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如果回答编造制度、错误承诺报销结果或泄露敏感信息，则直接判定为不合格。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4622B49-403F-4DF9-B0D5-34485D456043}"/>
              </a:ext>
            </a:extLst>
          </p:cNvPr>
          <p:cNvSpPr>
            <a:spLocks noGrp="1"/>
          </p:cNvSpPr>
          <p:nvPr/>
        </p:nvSpPr>
        <p:spPr>
          <a:xfrm>
            <a:off x="838200" y="24003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输出格式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7599BC7-B5CC-4D98-AB46-96993F5F5D83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A76754F-005A-442D-8AA1-5E47D4D09821}"/>
              </a:ext>
            </a:extLst>
          </p:cNvPr>
          <p:cNvSpPr>
            <a:spLocks noGrp="1"/>
          </p:cNvSpPr>
          <p:nvPr/>
        </p:nvSpPr>
        <p:spPr>
          <a:xfrm>
            <a:off x="838200" y="28194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例如要求输出JSON，方便后续统计：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9636482F-EC14-4AD0-80C5-08F71FC8FC79}"/>
              </a:ext>
            </a:extLst>
          </p:cNvPr>
          <p:cNvSpPr>
            <a:spLocks noGrp="1"/>
          </p:cNvSpPr>
          <p:nvPr/>
        </p:nvSpPr>
        <p:spPr>
          <a:xfrm>
            <a:off x="819150" y="3200400"/>
            <a:ext cx="10572750" cy="1524000"/>
          </a:xfrm>
          <a:prstGeom prst="roundRect">
            <a:avLst>
              <a:gd name="adj" fmla="val 6250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CFA9FE8-5F6A-47D3-B658-F9FBA8086232}"/>
              </a:ext>
            </a:extLst>
          </p:cNvPr>
          <p:cNvSpPr>
            <a:spLocks noGrp="1"/>
          </p:cNvSpPr>
          <p:nvPr/>
        </p:nvSpPr>
        <p:spPr>
          <a:xfrm>
            <a:off x="1066800" y="3333750"/>
            <a:ext cx="10048875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{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"score": 0,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"failed_dimension": "",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"evidence": "",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  "reason": ""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}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1F620B4-3576-4C73-9967-6899CE65D1F9}"/>
              </a:ext>
            </a:extLst>
          </p:cNvPr>
          <p:cNvSpPr>
            <a:spLocks noGrp="1"/>
          </p:cNvSpPr>
          <p:nvPr/>
        </p:nvSpPr>
        <p:spPr>
          <a:xfrm>
            <a:off x="838200" y="4819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Judge Prompt的本质是：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8B79978F-8F87-4510-ACA9-ABC4E8B9A2CF}"/>
              </a:ext>
            </a:extLst>
          </p:cNvPr>
          <p:cNvSpPr>
            <a:spLocks noGrp="1"/>
          </p:cNvSpPr>
          <p:nvPr/>
        </p:nvSpPr>
        <p:spPr>
          <a:xfrm>
            <a:off x="819150" y="52006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016955F-82DF-452B-91C0-20BDDF92B0AE}"/>
              </a:ext>
            </a:extLst>
          </p:cNvPr>
          <p:cNvSpPr>
            <a:spLocks noGrp="1"/>
          </p:cNvSpPr>
          <p:nvPr/>
        </p:nvSpPr>
        <p:spPr>
          <a:xfrm>
            <a:off x="819150" y="52006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16AC35-368B-40A5-ADB8-6FC3907263F3}"/>
              </a:ext>
            </a:extLst>
          </p:cNvPr>
          <p:cNvSpPr>
            <a:spLocks noGrp="1"/>
          </p:cNvSpPr>
          <p:nvPr/>
        </p:nvSpPr>
        <p:spPr>
          <a:xfrm>
            <a:off x="1104900" y="53435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把人脑中模糊的判断过程，写成模型能够执行的判卷规则。</a:t>
            </a:r>
          </a:p>
        </p:txBody>
      </p:sp>
    </p:spTree>
    <p:extLst>
      <p:ext uri="{BB962C8B-B14F-4D97-AF65-F5344CB8AC3E}">
        <p14:creationId xmlns:p14="http://schemas.microsoft.com/office/powerpoint/2010/main" val="1280305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FD6A53D9-9D90-441D-9C73-3567152764EE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71FE754-1DB9-48E5-962C-33AF68BCCEC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741D7FA-951F-4B73-B392-C4E9EDC2AD2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F2EF2B-74DE-4691-9F13-D86BE88DE0E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46582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54AAB4A-205F-4E07-A641-A3D0BC6AAD48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人工评审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1EE07D7-449A-4319-B332-D9AA506AB29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1CFC79D-DF6C-4E06-9D10-E556E9EFA572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人工评审由业务专家、产品经理、测试人员或标注人员直接判断答案质量。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5879FD-4392-4191-97B5-AB00215031AA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它适合处理：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4E2CE7C-FC33-4885-BB17-347434D06EBD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FA37CA7-BF5D-436F-9EDF-3B2E98DB046D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高风险问题；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68FE7-437A-4A06-9AF5-F970B6C17CD7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442D94-2BE9-458B-AFF6-7D1D13579750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复杂边界案例；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B53E255-2ECE-4E23-89FA-48C4F263C78E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9DC2A57-67A9-4955-AED3-8C393DE9B9D3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评分标准尚未稳定的任务；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4239581-CD67-4B3F-933C-7F1E08EFE2FF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DF7A436-FF3A-46A6-92A4-3EEB1AA9A3CC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自动评分存在争议的样本；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4431E2F-7D0B-4A33-950F-9C2485575FDA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31DE8E5-2C1C-481D-90B8-724778FC0E58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新业务上线前的最终校准。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79D458F-1D21-4CFC-A885-3BD70B89FD5A}"/>
              </a:ext>
            </a:extLst>
          </p:cNvPr>
          <p:cNvSpPr>
            <a:spLocks noGrp="1"/>
          </p:cNvSpPr>
          <p:nvPr/>
        </p:nvSpPr>
        <p:spPr>
          <a:xfrm>
            <a:off x="838200" y="44862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人工评审的主要作用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C073DA7-EA52-4AC3-820E-0E49509CE793}"/>
              </a:ext>
            </a:extLst>
          </p:cNvPr>
          <p:cNvSpPr>
            <a:spLocks noGrp="1"/>
          </p:cNvSpPr>
          <p:nvPr/>
        </p:nvSpPr>
        <p:spPr>
          <a:xfrm>
            <a:off x="838200" y="48101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02DEF0C-C0E4-40EF-9B49-CC6A090D3AC4}"/>
              </a:ext>
            </a:extLst>
          </p:cNvPr>
          <p:cNvSpPr>
            <a:spLocks noGrp="1"/>
          </p:cNvSpPr>
          <p:nvPr/>
        </p:nvSpPr>
        <p:spPr>
          <a:xfrm>
            <a:off x="838200" y="49053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人工评审不只是“最后看一眼”，它承担三个重要角色。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FA01CFF-7D29-457A-8857-F953B8C60F54}"/>
              </a:ext>
            </a:extLst>
          </p:cNvPr>
          <p:cNvSpPr>
            <a:spLocks noGrp="1"/>
          </p:cNvSpPr>
          <p:nvPr/>
        </p:nvSpPr>
        <p:spPr>
          <a:xfrm>
            <a:off x="838200" y="52863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定义金标准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922CEAE-9974-4F44-8082-DEB972FD1D1C}"/>
              </a:ext>
            </a:extLst>
          </p:cNvPr>
          <p:cNvSpPr>
            <a:spLocks noGrp="1"/>
          </p:cNvSpPr>
          <p:nvPr/>
        </p:nvSpPr>
        <p:spPr>
          <a:xfrm>
            <a:off x="838200" y="56673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由人来确定哪些答案应该得多少分，作为后续校准依据。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01D6D14-0BC9-4C39-B556-E48267B80D60}"/>
              </a:ext>
            </a:extLst>
          </p:cNvPr>
          <p:cNvSpPr>
            <a:spLocks noGrp="1"/>
          </p:cNvSpPr>
          <p:nvPr/>
        </p:nvSpPr>
        <p:spPr>
          <a:xfrm>
            <a:off x="838200" y="60483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复核疑难样本</a:t>
            </a:r>
          </a:p>
        </p:txBody>
      </p:sp>
    </p:spTree>
    <p:extLst>
      <p:ext uri="{BB962C8B-B14F-4D97-AF65-F5344CB8AC3E}">
        <p14:creationId xmlns:p14="http://schemas.microsoft.com/office/powerpoint/2010/main" val="2806382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DF33D5AF-6B56-4514-85E6-35D760DEE50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0EE95E-8759-4C74-A34C-8FDFA43E55D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FA36B36-E945-4FA9-BA85-648821DBB79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6517C7D-D5A5-4B5C-8F39-7F6FAD49699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52536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B38BF4-7752-4932-8A53-983FF2CBA485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人工评审（续）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95A1AFC-CE74-4C57-841F-A8FDED524D4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3601E55-AFB4-412E-9C5B-F089676C6060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自动评测无法确定或不同方法结果冲突时，由人工判断。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5169372-4677-47FE-883D-6A6AE5FAE2F6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校准自动评测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63363C1-9742-4D27-B3DC-F6051DDCFB0D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抽取一批样本，同时让人工和LLM裁判评分，然后比较结果。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341EE2C-6270-4C48-BCEF-1338C0615BBE}"/>
              </a:ext>
            </a:extLst>
          </p:cNvPr>
          <p:cNvSpPr>
            <a:spLocks noGrp="1"/>
          </p:cNvSpPr>
          <p:nvPr/>
        </p:nvSpPr>
        <p:spPr>
          <a:xfrm>
            <a:off x="838200" y="2857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例如人工认为不合格的100条回答中，LLM裁判却把30条判为合格，说明Judge Prompt或裁判模型存在问题。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3EF3906-970E-443F-88E4-56E5C83AE8FC}"/>
              </a:ext>
            </a:extLst>
          </p:cNvPr>
          <p:cNvSpPr>
            <a:spLocks noGrp="1"/>
          </p:cNvSpPr>
          <p:nvPr/>
        </p:nvSpPr>
        <p:spPr>
          <a:xfrm>
            <a:off x="838200" y="3248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局限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9497572-F9E5-43F3-97DA-13574DD4AF6E}"/>
              </a:ext>
            </a:extLst>
          </p:cNvPr>
          <p:cNvSpPr>
            <a:spLocks noGrp="1"/>
          </p:cNvSpPr>
          <p:nvPr/>
        </p:nvSpPr>
        <p:spPr>
          <a:xfrm>
            <a:off x="838200" y="3571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9D335AF-53E8-4499-87A4-463796CB57F7}"/>
              </a:ext>
            </a:extLst>
          </p:cNvPr>
          <p:cNvSpPr>
            <a:spLocks noGrp="1"/>
          </p:cNvSpPr>
          <p:nvPr/>
        </p:nvSpPr>
        <p:spPr>
          <a:xfrm>
            <a:off x="838200" y="3667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人工评审也不是绝对客观：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C0B770-57FE-4FF6-B6FB-39A08FD913A6}"/>
              </a:ext>
            </a:extLst>
          </p:cNvPr>
          <p:cNvSpPr>
            <a:spLocks noGrp="1"/>
          </p:cNvSpPr>
          <p:nvPr/>
        </p:nvSpPr>
        <p:spPr>
          <a:xfrm>
            <a:off x="876300" y="4086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CA5D4EB-C70B-4A1A-A003-CF49D3DA89DA}"/>
              </a:ext>
            </a:extLst>
          </p:cNvPr>
          <p:cNvSpPr>
            <a:spLocks noGrp="1"/>
          </p:cNvSpPr>
          <p:nvPr/>
        </p:nvSpPr>
        <p:spPr>
          <a:xfrm>
            <a:off x="1371600" y="4076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不同人员标准可能不同；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66F7D84-20FB-4997-B191-1B5189AE6752}"/>
              </a:ext>
            </a:extLst>
          </p:cNvPr>
          <p:cNvSpPr>
            <a:spLocks noGrp="1"/>
          </p:cNvSpPr>
          <p:nvPr/>
        </p:nvSpPr>
        <p:spPr>
          <a:xfrm>
            <a:off x="876300" y="4486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752446-1E39-4823-9751-9A905E10A72A}"/>
              </a:ext>
            </a:extLst>
          </p:cNvPr>
          <p:cNvSpPr>
            <a:spLocks noGrp="1"/>
          </p:cNvSpPr>
          <p:nvPr/>
        </p:nvSpPr>
        <p:spPr>
          <a:xfrm>
            <a:off x="1371600" y="4476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长时间评审容易疲劳；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93DAD93-574C-47AC-AACA-728C983C9F02}"/>
              </a:ext>
            </a:extLst>
          </p:cNvPr>
          <p:cNvSpPr>
            <a:spLocks noGrp="1"/>
          </p:cNvSpPr>
          <p:nvPr/>
        </p:nvSpPr>
        <p:spPr>
          <a:xfrm>
            <a:off x="876300" y="4886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9E62DFB-C90A-4E69-A4BE-369641D62466}"/>
              </a:ext>
            </a:extLst>
          </p:cNvPr>
          <p:cNvSpPr>
            <a:spLocks noGrp="1"/>
          </p:cNvSpPr>
          <p:nvPr/>
        </p:nvSpPr>
        <p:spPr>
          <a:xfrm>
            <a:off x="1371600" y="4876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业务专家成本高；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FB227EC-4BED-4872-BA53-519E42C6BD74}"/>
              </a:ext>
            </a:extLst>
          </p:cNvPr>
          <p:cNvSpPr>
            <a:spLocks noGrp="1"/>
          </p:cNvSpPr>
          <p:nvPr/>
        </p:nvSpPr>
        <p:spPr>
          <a:xfrm>
            <a:off x="876300" y="5286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824AB71-5DE0-4AC8-AF2E-175E71DB44A2}"/>
              </a:ext>
            </a:extLst>
          </p:cNvPr>
          <p:cNvSpPr>
            <a:spLocks noGrp="1"/>
          </p:cNvSpPr>
          <p:nvPr/>
        </p:nvSpPr>
        <p:spPr>
          <a:xfrm>
            <a:off x="1371600" y="5276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很难覆盖大规模题库。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9758101-679B-4594-8F37-0438287F2BAC}"/>
              </a:ext>
            </a:extLst>
          </p:cNvPr>
          <p:cNvSpPr>
            <a:spLocks noGrp="1"/>
          </p:cNvSpPr>
          <p:nvPr/>
        </p:nvSpPr>
        <p:spPr>
          <a:xfrm>
            <a:off x="838200" y="56483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因此，人工评审同样需要：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FF59F11-026D-49CE-B6FB-2C4C07A511E1}"/>
              </a:ext>
            </a:extLst>
          </p:cNvPr>
          <p:cNvSpPr>
            <a:spLocks noGrp="1"/>
          </p:cNvSpPr>
          <p:nvPr/>
        </p:nvSpPr>
        <p:spPr>
          <a:xfrm>
            <a:off x="876300" y="6067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811091F-CB4F-4930-AC66-44C530DC27A6}"/>
              </a:ext>
            </a:extLst>
          </p:cNvPr>
          <p:cNvSpPr>
            <a:spLocks noGrp="1"/>
          </p:cNvSpPr>
          <p:nvPr/>
        </p:nvSpPr>
        <p:spPr>
          <a:xfrm>
            <a:off x="1371600" y="6057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明确评分规范；</a:t>
            </a:r>
          </a:p>
        </p:txBody>
      </p:sp>
    </p:spTree>
    <p:extLst>
      <p:ext uri="{BB962C8B-B14F-4D97-AF65-F5344CB8AC3E}">
        <p14:creationId xmlns:p14="http://schemas.microsoft.com/office/powerpoint/2010/main" val="197840941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8052E9AA-5326-4E42-9386-837A25FE497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2E22757-9A82-4732-8F7A-6FA81697A8DC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D11AC96-2B6C-447A-A003-F57F9EE4950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A9E945-990A-4365-891C-8E34BDA7CA5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58490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0E0DBA5-F51D-4954-8A6F-B85215B78B8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人工评审（续）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380D3DB-8E2F-46FC-BBCD-FFC0FC777D78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EB6DFE2-D4EC-4825-BE29-5007A387C464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3761C0D-10E8-49E5-89B8-F40B015338F0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提供正例和反例；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AF01A16-7701-466F-B67B-8868B8353B86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099D25-B41D-48AE-96E3-C82DEFA5093D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对争议样本进行复审；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DD937C1-6285-491E-9201-7D6CB6EC7E3D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CD542F7-E9B5-4F17-9BC8-FF97E69AF1AC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定期检查评审一致性。</a:t>
            </a:r>
          </a:p>
        </p:txBody>
      </p:sp>
    </p:spTree>
    <p:extLst>
      <p:ext uri="{BB962C8B-B14F-4D97-AF65-F5344CB8AC3E}">
        <p14:creationId xmlns:p14="http://schemas.microsoft.com/office/powerpoint/2010/main" val="12601214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AA6AD472-8C92-4E9F-BC99-936E5B0F623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FC545D2-6AA9-4857-A51C-35EC581F633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7545E1A-4BA9-4783-8867-B77ECC31231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FDF9312-A259-4342-A739-0A62A47DF75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64445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B61BD3-FC6B-4FF3-B532-F8BE6EA2846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评测方法的组合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0F3B9D0-0D83-42D4-9509-F768D7CF2848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2C8034-2877-4BF6-A172-593DE971DFFE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实际项目中，通常不会只使用一种方法。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B5F6E9A-4D4B-4597-A11A-7635BB63870A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可以按内容类型组合。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7D29DB5-B920-4F98-BF20-28F1E3190221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继续看住宿报销案例。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FBBEC1-9112-48FF-8DD0-C17A750E529F}"/>
              </a:ext>
            </a:extLst>
          </p:cNvPr>
          <p:cNvSpPr>
            <a:spLocks noGrp="1"/>
          </p:cNvSpPr>
          <p:nvPr/>
        </p:nvSpPr>
        <p:spPr>
          <a:xfrm>
            <a:off x="838200" y="2857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用户问：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0F2AE48D-2187-4F44-BFE0-3A840B28A077}"/>
              </a:ext>
            </a:extLst>
          </p:cNvPr>
          <p:cNvSpPr>
            <a:spLocks noGrp="1"/>
          </p:cNvSpPr>
          <p:nvPr/>
        </p:nvSpPr>
        <p:spPr>
          <a:xfrm>
            <a:off x="819150" y="3238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06C738A-8E3F-4243-82A4-D3F7CC5058E2}"/>
              </a:ext>
            </a:extLst>
          </p:cNvPr>
          <p:cNvSpPr>
            <a:spLocks noGrp="1"/>
          </p:cNvSpPr>
          <p:nvPr/>
        </p:nvSpPr>
        <p:spPr>
          <a:xfrm>
            <a:off x="819150" y="3238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81A30D5-541B-46DA-8FCD-D52B9ED19EDB}"/>
              </a:ext>
            </a:extLst>
          </p:cNvPr>
          <p:cNvSpPr>
            <a:spLocks noGrp="1"/>
          </p:cNvSpPr>
          <p:nvPr/>
        </p:nvSpPr>
        <p:spPr>
          <a:xfrm>
            <a:off x="1104900" y="3381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普通员工去北京出差，住宿上限是多少？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D447D01-E4D5-459A-BA91-60773D1F7587}"/>
              </a:ext>
            </a:extLst>
          </p:cNvPr>
          <p:cNvSpPr>
            <a:spLocks noGrp="1"/>
          </p:cNvSpPr>
          <p:nvPr/>
        </p:nvSpPr>
        <p:spPr>
          <a:xfrm>
            <a:off x="838200" y="3914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AI回答：</a:t>
            </a:r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1C554CCF-2E74-4546-A3A0-9902C50B853E}"/>
              </a:ext>
            </a:extLst>
          </p:cNvPr>
          <p:cNvSpPr>
            <a:spLocks noGrp="1"/>
          </p:cNvSpPr>
          <p:nvPr/>
        </p:nvSpPr>
        <p:spPr>
          <a:xfrm>
            <a:off x="819150" y="4295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72C4247-19A0-46ED-8048-CC866423143A}"/>
              </a:ext>
            </a:extLst>
          </p:cNvPr>
          <p:cNvSpPr>
            <a:spLocks noGrp="1"/>
          </p:cNvSpPr>
          <p:nvPr/>
        </p:nvSpPr>
        <p:spPr>
          <a:xfrm>
            <a:off x="819150" y="4295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E830E0E-A731-4D6E-95D2-76CA536718CC}"/>
              </a:ext>
            </a:extLst>
          </p:cNvPr>
          <p:cNvSpPr>
            <a:spLocks noGrp="1"/>
          </p:cNvSpPr>
          <p:nvPr/>
        </p:nvSpPr>
        <p:spPr>
          <a:xfrm>
            <a:off x="1104900" y="4438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普通员工在北京出差，住宿费最高为500元/晚。如果费用超过标准，超出部分通常需要个人承担。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188BC0B-1E7A-4BC5-8352-835EFC9D8779}"/>
              </a:ext>
            </a:extLst>
          </p:cNvPr>
          <p:cNvSpPr>
            <a:spLocks noGrp="1"/>
          </p:cNvSpPr>
          <p:nvPr/>
        </p:nvSpPr>
        <p:spPr>
          <a:xfrm>
            <a:off x="838200" y="4972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可以这样评测：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EA396FE-95C1-4E83-914D-97C4C9405FF2}"/>
              </a:ext>
            </a:extLst>
          </p:cNvPr>
          <p:cNvSpPr>
            <a:spLocks noGrp="1"/>
          </p:cNvSpPr>
          <p:nvPr/>
        </p:nvSpPr>
        <p:spPr>
          <a:xfrm>
            <a:off x="876300" y="53911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2EF8849-97DF-4B00-9777-75EA73E59EDF}"/>
              </a:ext>
            </a:extLst>
          </p:cNvPr>
          <p:cNvSpPr>
            <a:spLocks noGrp="1"/>
          </p:cNvSpPr>
          <p:nvPr/>
        </p:nvSpPr>
        <p:spPr>
          <a:xfrm>
            <a:off x="1371600" y="53816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用规则检查是否出现正确金额500元；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8BAFBAC-2929-4D71-906F-58D6C898B63C}"/>
              </a:ext>
            </a:extLst>
          </p:cNvPr>
          <p:cNvSpPr>
            <a:spLocks noGrp="1"/>
          </p:cNvSpPr>
          <p:nvPr/>
        </p:nvSpPr>
        <p:spPr>
          <a:xfrm>
            <a:off x="876300" y="57912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1972925-48C3-4A78-8B2C-E65540721E14}"/>
              </a:ext>
            </a:extLst>
          </p:cNvPr>
          <p:cNvSpPr>
            <a:spLocks noGrp="1"/>
          </p:cNvSpPr>
          <p:nvPr/>
        </p:nvSpPr>
        <p:spPr>
          <a:xfrm>
            <a:off x="1371600" y="57816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用规则检查单位是否为元/晚；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54E605C-D083-41B5-83FB-0C06FC6494F5}"/>
              </a:ext>
            </a:extLst>
          </p:cNvPr>
          <p:cNvSpPr>
            <a:spLocks noGrp="1"/>
          </p:cNvSpPr>
          <p:nvPr/>
        </p:nvSpPr>
        <p:spPr>
          <a:xfrm>
            <a:off x="876300" y="61912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059DAC6-9871-4676-B5B1-AC1D9F211FB5}"/>
              </a:ext>
            </a:extLst>
          </p:cNvPr>
          <p:cNvSpPr>
            <a:spLocks noGrp="1"/>
          </p:cNvSpPr>
          <p:nvPr/>
        </p:nvSpPr>
        <p:spPr>
          <a:xfrm>
            <a:off x="1371600" y="61817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用LLM裁判检查是否真正回答了问题；</a:t>
            </a:r>
          </a:p>
        </p:txBody>
      </p:sp>
    </p:spTree>
    <p:extLst>
      <p:ext uri="{BB962C8B-B14F-4D97-AF65-F5344CB8AC3E}">
        <p14:creationId xmlns:p14="http://schemas.microsoft.com/office/powerpoint/2010/main" val="1651135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588D8A97-9069-4D92-8621-6B541929C48C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069CF5A-0934-43B4-B688-452499D379F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01446E3-E254-4FE5-BD63-CB604A1A08A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96F38F-C5BA-4702-9F1C-19CF561D5C3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70399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2195E2-0CD3-4B68-9A81-870F5C39FFC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评测方法的组合（续）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F7C861C-3670-421E-946F-9429C3246DA0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B16F0A5-E3DB-498C-B350-DAD6BEB0CBB9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49AE6C-0862-47F0-B0B6-D1B867BE5153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用LLM裁判检查是否遗漏适用条件；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D12260-04AD-4F5A-ADDF-C589A43B5785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34CB15E-AE88-4CA8-A49A-FBDEE3548894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如果“超出部分个人承担”没有政策依据，判断是否构成无依据扩展；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9505CB-7EF6-479D-8580-39921EF278E5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519D767-1C53-43AB-9E41-737D67EC8A2F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高风险场景再由人工抽查。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101F56E-1ECD-4E5B-9934-17118106B52C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这比只计算一个相似度分数可靠得多。</a:t>
            </a:r>
          </a:p>
        </p:txBody>
      </p:sp>
    </p:spTree>
    <p:extLst>
      <p:ext uri="{BB962C8B-B14F-4D97-AF65-F5344CB8AC3E}">
        <p14:creationId xmlns:p14="http://schemas.microsoft.com/office/powerpoint/2010/main" val="18833317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1DB76DAC-15E1-44A5-AD35-F252D713B355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METHODS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C02EFED-6E3E-4684-B4DB-914FBAFD3AB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080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798B9F3-E12A-4C1E-80DC-D7A25F30091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908C84-A7C7-45EC-A5EC-CDDC46B3706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76354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97F7F1-553C-4CCA-BCA7-1A5349ACB266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评测方法的选择原则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618E382-E8C3-4D3E-8CC7-490040ADABE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92E44E-32C4-41C8-86EF-2A23106E5ECF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 dirty="0" err="1">
                <a:solidFill>
                  <a:srgbClr val="F5F2E9"/>
                </a:solidFill>
              </a:rPr>
              <a:t>选择方法时，可以依次问四个问题</a:t>
            </a:r>
            <a:r>
              <a:rPr sz="1350" b="0" dirty="0">
                <a:solidFill>
                  <a:srgbClr val="F5F2E9"/>
                </a:solidFill>
              </a:rPr>
              <a:t>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CDD3543-D239-4F98-BC23-55AF2C0E9744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判断对象是否明确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F8A6C10-F821-4059-9021-4D7C79FA2D48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E564A4A-B957-42BE-84A4-AA27E89626B5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如果答案只有确定的数字、格式或类别，优先使用规则。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CD6C6F9-4E84-4093-A1F9-68C4E3DB6708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是否允许多种表达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062DA77-516C-4E96-8EE6-8C3466EA6B8D}"/>
              </a:ext>
            </a:extLst>
          </p:cNvPr>
          <p:cNvSpPr>
            <a:spLocks noGrp="1"/>
          </p:cNvSpPr>
          <p:nvPr/>
        </p:nvSpPr>
        <p:spPr>
          <a:xfrm>
            <a:off x="838200" y="32385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D2FF771-15D6-4C5D-91F7-160F593C78F7}"/>
              </a:ext>
            </a:extLst>
          </p:cNvPr>
          <p:cNvSpPr>
            <a:spLocks noGrp="1"/>
          </p:cNvSpPr>
          <p:nvPr/>
        </p:nvSpPr>
        <p:spPr>
          <a:xfrm>
            <a:off x="838200" y="3333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如果意思相同但表达可以不同，可以增加语义相似度。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D0A9603-D96F-4D1A-90AD-4BF283D96CAD}"/>
              </a:ext>
            </a:extLst>
          </p:cNvPr>
          <p:cNvSpPr>
            <a:spLocks noGrp="1"/>
          </p:cNvSpPr>
          <p:nvPr/>
        </p:nvSpPr>
        <p:spPr>
          <a:xfrm>
            <a:off x="838200" y="37242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是否需要复杂质量判断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A3BFA64-6C3B-47DA-9E18-823FB1F69F36}"/>
              </a:ext>
            </a:extLst>
          </p:cNvPr>
          <p:cNvSpPr>
            <a:spLocks noGrp="1"/>
          </p:cNvSpPr>
          <p:nvPr/>
        </p:nvSpPr>
        <p:spPr>
          <a:xfrm>
            <a:off x="838200" y="40481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54D28CD-AD59-462E-855C-0597914A5CF8}"/>
              </a:ext>
            </a:extLst>
          </p:cNvPr>
          <p:cNvSpPr>
            <a:spLocks noGrp="1"/>
          </p:cNvSpPr>
          <p:nvPr/>
        </p:nvSpPr>
        <p:spPr>
          <a:xfrm>
            <a:off x="838200" y="41433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如果要判断完整性、逻辑、语气或多项条件，可以使用LLM裁判。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B9806B6-5871-4F14-A42B-7AF6FD2C969C}"/>
              </a:ext>
            </a:extLst>
          </p:cNvPr>
          <p:cNvSpPr>
            <a:spLocks noGrp="1"/>
          </p:cNvSpPr>
          <p:nvPr/>
        </p:nvSpPr>
        <p:spPr>
          <a:xfrm>
            <a:off x="838200" y="45339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错误后果是否严重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10A5FCE-C55B-4766-BCD2-93EDD2358E15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E68520C-85B5-4BEA-AD85-DFB38370DA37}"/>
              </a:ext>
            </a:extLst>
          </p:cNvPr>
          <p:cNvSpPr>
            <a:spLocks noGrp="1"/>
          </p:cNvSpPr>
          <p:nvPr/>
        </p:nvSpPr>
        <p:spPr>
          <a:xfrm>
            <a:off x="838200" y="49530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如果涉及资金、隐私、医疗、法律或重要业务承诺，需要保留人工审核。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FC542C4-BE11-4BAD-BD6C-651010D4A144}"/>
              </a:ext>
            </a:extLst>
          </p:cNvPr>
          <p:cNvSpPr>
            <a:spLocks noGrp="1"/>
          </p:cNvSpPr>
          <p:nvPr/>
        </p:nvSpPr>
        <p:spPr>
          <a:xfrm>
            <a:off x="838200" y="53340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最简单的选择逻辑是：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3E505F55-A9EA-4505-AA4F-BDC4BEA33E33}"/>
              </a:ext>
            </a:extLst>
          </p:cNvPr>
          <p:cNvSpPr>
            <a:spLocks noGrp="1"/>
          </p:cNvSpPr>
          <p:nvPr/>
        </p:nvSpPr>
        <p:spPr>
          <a:xfrm>
            <a:off x="819150" y="57150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020F97A-DAB4-45A8-8490-55270CE3AE6F}"/>
              </a:ext>
            </a:extLst>
          </p:cNvPr>
          <p:cNvSpPr>
            <a:spLocks noGrp="1"/>
          </p:cNvSpPr>
          <p:nvPr/>
        </p:nvSpPr>
        <p:spPr>
          <a:xfrm>
            <a:off x="819150" y="57150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375B7AB-8C46-405A-912F-9BE064763FD0}"/>
              </a:ext>
            </a:extLst>
          </p:cNvPr>
          <p:cNvSpPr>
            <a:spLocks noGrp="1"/>
          </p:cNvSpPr>
          <p:nvPr/>
        </p:nvSpPr>
        <p:spPr>
          <a:xfrm>
            <a:off x="1104900" y="58578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硬条件交给规则，开放表达交给语义和LLM，关键风险交给人工。</a:t>
            </a:r>
          </a:p>
        </p:txBody>
      </p:sp>
    </p:spTree>
    <p:extLst>
      <p:ext uri="{BB962C8B-B14F-4D97-AF65-F5344CB8AC3E}">
        <p14:creationId xmlns:p14="http://schemas.microsoft.com/office/powerpoint/2010/main" val="57533646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F1D7C503-2D4D-488F-8DEE-E950782E5549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2476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850" b="1">
                <a:solidFill>
                  <a:srgbClr val="36D6C2"/>
                </a:solidFill>
              </a:defRPr>
            </a:pPr>
            <a:r>
              <a:rPr sz="8850" b="1">
                <a:solidFill>
                  <a:srgbClr val="36D6C2"/>
                </a:solidFill>
              </a:rPr>
              <a:t>05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BC2CD85-2681-4B41-85D0-FF55A3D93DD5}"/>
              </a:ext>
            </a:extLst>
          </p:cNvPr>
          <p:cNvSpPr>
            <a:spLocks noGrp="1"/>
          </p:cNvSpPr>
          <p:nvPr/>
        </p:nvSpPr>
        <p:spPr>
          <a:xfrm>
            <a:off x="704850" y="2857500"/>
            <a:ext cx="952500" cy="476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69BE8B7-17A9-48C9-8816-BEA01FDF2500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1047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自动化评测与评测报告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221F929-CF28-4AB7-ACE9-C3720285F8E7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914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按照讲稿结构展开概念、方法与完整示例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4429D8F-3773-406B-A086-A579A47106C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73F9926-A907-4259-83F6-54B4AFF40122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082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7B887D-9707-4249-A7F0-22309CE90C3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2381B5C-0D2B-4AAC-8F2A-1D559C0BEF2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88263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215550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279865A6-BED2-4C79-B95C-9458F4B204CD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93F5D5-0136-45FF-A503-AE568A95F23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083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E287A6-F5B0-4411-BEEC-B944E696469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810293A-A8C9-4651-98B4-03338D6601E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494217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09C1D8F-9C09-4C56-AC2F-10A19AD792C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第五部分：自动化评测与评测报告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C5A4BF-E94A-450D-801C-BAC504C88A86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EB5CC4E-4B44-4AF4-88D5-AE69303EF8FA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前面讲的规则评测、语义相似度和LLM裁判，解决的是：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7FECF263-A101-4074-AD2E-BAE325E55916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457B2C-B75E-4CAD-95E1-EAEE2857E97D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FFAF54F-E69D-47F2-B0E4-D04BBB52B07E}"/>
              </a:ext>
            </a:extLst>
          </p:cNvPr>
          <p:cNvSpPr>
            <a:spLocks noGrp="1"/>
          </p:cNvSpPr>
          <p:nvPr/>
        </p:nvSpPr>
        <p:spPr>
          <a:xfrm>
            <a:off x="1104900" y="2238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一条回答怎么判分？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3D0DC1B-5D14-4AF3-BA1F-8CDD9D81EEEF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自动化评测解决的是另一个问题：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A0C4F2AF-329C-4135-A098-C9062A1CF25A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BCFF29C-CE9B-46FE-9633-97F69EA39357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30B8CC1-FA1C-4635-9791-7091D0660581}"/>
              </a:ext>
            </a:extLst>
          </p:cNvPr>
          <p:cNvSpPr>
            <a:spLocks noGrp="1"/>
          </p:cNvSpPr>
          <p:nvPr/>
        </p:nvSpPr>
        <p:spPr>
          <a:xfrm>
            <a:off x="1104900" y="3295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当评测集从几十条增长到几百、几千条时，怎样自动运行、统一判分并比较版本？</a:t>
            </a:r>
          </a:p>
        </p:txBody>
      </p:sp>
    </p:spTree>
    <p:extLst>
      <p:ext uri="{BB962C8B-B14F-4D97-AF65-F5344CB8AC3E}">
        <p14:creationId xmlns:p14="http://schemas.microsoft.com/office/powerpoint/2010/main" val="213878933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6FF7E28F-B35B-45CD-9C35-BB6963337D0C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8F77DC7-643A-4379-8F54-B86DE7D72E9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084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ACE32FF-50B8-4219-8E42-C48699ADCB0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3FDE055-3798-4707-A9C5-BB1A70D006B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00171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ED7FF80-530A-4BF5-B3B8-43196EAAA50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自动化评测的基本定义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EE07C3-F22C-4048-8EBB-E8C182C61AFD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9435F1-EE09-409D-AD16-FC18D35A96F8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假设评测集里有1000条问题。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91C494F-E7CF-46DF-8AF7-B25D96B0204A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如果每次修改Prompt、知识库或模型后，都由产品经理逐条提问、复制答案、人工评分，成本会非常高。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4AD19A8-B33B-484F-AE04-BC7E27D01BA9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自动化评测系统会自动完成：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FB86DCB-8300-4D98-8050-72A06AD9401C}"/>
              </a:ext>
            </a:extLst>
          </p:cNvPr>
          <p:cNvSpPr>
            <a:spLocks noGrp="1"/>
          </p:cNvSpPr>
          <p:nvPr/>
        </p:nvSpPr>
        <p:spPr>
          <a:xfrm>
            <a:off x="876300" y="2895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28D0D0D-14DF-4ECC-B950-3B547D6C6F9F}"/>
              </a:ext>
            </a:extLst>
          </p:cNvPr>
          <p:cNvSpPr>
            <a:spLocks noGrp="1"/>
          </p:cNvSpPr>
          <p:nvPr/>
        </p:nvSpPr>
        <p:spPr>
          <a:xfrm>
            <a:off x="1371600" y="2886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读取评测集；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A09BAC8-43E6-41E4-A02E-41C662BD71F0}"/>
              </a:ext>
            </a:extLst>
          </p:cNvPr>
          <p:cNvSpPr>
            <a:spLocks noGrp="1"/>
          </p:cNvSpPr>
          <p:nvPr/>
        </p:nvSpPr>
        <p:spPr>
          <a:xfrm>
            <a:off x="876300" y="3295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E4488CE-BD05-4973-B8DD-BF4E13F03A2A}"/>
              </a:ext>
            </a:extLst>
          </p:cNvPr>
          <p:cNvSpPr>
            <a:spLocks noGrp="1"/>
          </p:cNvSpPr>
          <p:nvPr/>
        </p:nvSpPr>
        <p:spPr>
          <a:xfrm>
            <a:off x="1371600" y="3286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把问题批量发送给被测产品；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4588B2A-FD59-4046-8F85-E471FBE4694B}"/>
              </a:ext>
            </a:extLst>
          </p:cNvPr>
          <p:cNvSpPr>
            <a:spLocks noGrp="1"/>
          </p:cNvSpPr>
          <p:nvPr/>
        </p:nvSpPr>
        <p:spPr>
          <a:xfrm>
            <a:off x="876300" y="3695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A960EC-0C63-40E7-B69D-F91A183DA06F}"/>
              </a:ext>
            </a:extLst>
          </p:cNvPr>
          <p:cNvSpPr>
            <a:spLocks noGrp="1"/>
          </p:cNvSpPr>
          <p:nvPr/>
        </p:nvSpPr>
        <p:spPr>
          <a:xfrm>
            <a:off x="1371600" y="3686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保存AI实际输出；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81B70A8-4D94-4E92-B1EF-B051D4BB280E}"/>
              </a:ext>
            </a:extLst>
          </p:cNvPr>
          <p:cNvSpPr>
            <a:spLocks noGrp="1"/>
          </p:cNvSpPr>
          <p:nvPr/>
        </p:nvSpPr>
        <p:spPr>
          <a:xfrm>
            <a:off x="876300" y="4095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E83C398-4509-4AB5-942A-2BDED1FF079A}"/>
              </a:ext>
            </a:extLst>
          </p:cNvPr>
          <p:cNvSpPr>
            <a:spLocks noGrp="1"/>
          </p:cNvSpPr>
          <p:nvPr/>
        </p:nvSpPr>
        <p:spPr>
          <a:xfrm>
            <a:off x="1371600" y="4086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按规则、相似度或LLM裁判评分；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B6F7DB6-8DA0-4C53-9986-3E26B77753B7}"/>
              </a:ext>
            </a:extLst>
          </p:cNvPr>
          <p:cNvSpPr>
            <a:spLocks noGrp="1"/>
          </p:cNvSpPr>
          <p:nvPr/>
        </p:nvSpPr>
        <p:spPr>
          <a:xfrm>
            <a:off x="876300" y="4495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E562142-E6B0-41D0-86E7-85D11EA8C2A9}"/>
              </a:ext>
            </a:extLst>
          </p:cNvPr>
          <p:cNvSpPr>
            <a:spLocks noGrp="1"/>
          </p:cNvSpPr>
          <p:nvPr/>
        </p:nvSpPr>
        <p:spPr>
          <a:xfrm>
            <a:off x="1371600" y="4486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标记低分和红线问题；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AFBF7B6-AEF3-4471-8E41-A8B2DDE88F6D}"/>
              </a:ext>
            </a:extLst>
          </p:cNvPr>
          <p:cNvSpPr>
            <a:spLocks noGrp="1"/>
          </p:cNvSpPr>
          <p:nvPr/>
        </p:nvSpPr>
        <p:spPr>
          <a:xfrm>
            <a:off x="876300" y="4895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0FBD210-CDE8-488F-A915-0F7BDC70B645}"/>
              </a:ext>
            </a:extLst>
          </p:cNvPr>
          <p:cNvSpPr>
            <a:spLocks noGrp="1"/>
          </p:cNvSpPr>
          <p:nvPr/>
        </p:nvSpPr>
        <p:spPr>
          <a:xfrm>
            <a:off x="1371600" y="4886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汇总结果；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EC2E581-4D45-4400-8193-1F243C2E3D24}"/>
              </a:ext>
            </a:extLst>
          </p:cNvPr>
          <p:cNvSpPr>
            <a:spLocks noGrp="1"/>
          </p:cNvSpPr>
          <p:nvPr/>
        </p:nvSpPr>
        <p:spPr>
          <a:xfrm>
            <a:off x="876300" y="5295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B3F161A-1B39-4D73-B3E2-01A21D0D27BC}"/>
              </a:ext>
            </a:extLst>
          </p:cNvPr>
          <p:cNvSpPr>
            <a:spLocks noGrp="1"/>
          </p:cNvSpPr>
          <p:nvPr/>
        </p:nvSpPr>
        <p:spPr>
          <a:xfrm>
            <a:off x="1371600" y="5286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与上一版本比较。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B87ACF0-9CD4-433E-8B49-F37412FFD10E}"/>
              </a:ext>
            </a:extLst>
          </p:cNvPr>
          <p:cNvSpPr>
            <a:spLocks noGrp="1"/>
          </p:cNvSpPr>
          <p:nvPr/>
        </p:nvSpPr>
        <p:spPr>
          <a:xfrm>
            <a:off x="838200" y="5657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可以把它理解为一台自动考试机：</a:t>
            </a:r>
          </a:p>
        </p:txBody>
      </p:sp>
    </p:spTree>
    <p:extLst>
      <p:ext uri="{BB962C8B-B14F-4D97-AF65-F5344CB8AC3E}">
        <p14:creationId xmlns:p14="http://schemas.microsoft.com/office/powerpoint/2010/main" val="38477594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DA5D9138-AB1E-4134-94F3-011C86F1C622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8687D32-38F9-488B-B51E-A6870386572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085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6996877-7554-4BCB-AC24-DB6CF2C1B54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A7B02D6-D4FC-4B3A-AE9C-6A41D9CB127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06126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4D8D994-7A48-4306-86E1-3D561D4428CA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自动化评测的基本定义（续）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14A55F0-7984-41FC-ACD9-D088B229812C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102C05D8-D7C9-41CE-B244-A494673E3499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9DD9558-445C-40D8-BB9A-691F64B2D710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62637BE-62AF-48A2-98EB-3E7E67FFABEC}"/>
              </a:ext>
            </a:extLst>
          </p:cNvPr>
          <p:cNvSpPr>
            <a:spLocks noGrp="1"/>
          </p:cNvSpPr>
          <p:nvPr/>
        </p:nvSpPr>
        <p:spPr>
          <a:xfrm>
            <a:off x="1104900" y="1857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自动发卷、收卷、判卷和生成成绩单。</a:t>
            </a:r>
          </a:p>
        </p:txBody>
      </p:sp>
    </p:spTree>
    <p:extLst>
      <p:ext uri="{BB962C8B-B14F-4D97-AF65-F5344CB8AC3E}">
        <p14:creationId xmlns:p14="http://schemas.microsoft.com/office/powerpoint/2010/main" val="92553081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61AE5618-9347-4169-8B87-55DF7C96107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B3180A-DB50-42D0-B903-06763BFFF6E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086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F5186E8-B713-4F70-B592-5ADE242C62C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CEBA2AA-ABE4-4094-B84F-628C85BB51D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12080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C0C0C11-EE12-4093-A66C-E8B56211CCA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自动评测系统的基本结构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6319299-B64E-4328-BFAF-FBD6D08BB01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8279C19-9DF1-442D-AC4A-A339CEF62820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一套最小的自动评测系统通常包括四个部分。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7886C95-45A8-4926-B73F-84A8A01AB7C0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用例库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E9E7879-5376-45EA-91C4-4587077F1878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85D54F2-8995-44E2-896D-02A6B5A752A8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保存所有评测样本及其配套信息：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19E25B3-F4DC-4EAC-94E4-13793746D7EC}"/>
              </a:ext>
            </a:extLst>
          </p:cNvPr>
          <p:cNvSpPr>
            <a:spLocks noGrp="1"/>
          </p:cNvSpPr>
          <p:nvPr/>
        </p:nvSpPr>
        <p:spPr>
          <a:xfrm>
            <a:off x="876300" y="2943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8F3F80B-6861-4A72-AC34-FA0658D8439C}"/>
              </a:ext>
            </a:extLst>
          </p:cNvPr>
          <p:cNvSpPr>
            <a:spLocks noGrp="1"/>
          </p:cNvSpPr>
          <p:nvPr/>
        </p:nvSpPr>
        <p:spPr>
          <a:xfrm>
            <a:off x="1371600" y="2933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用户问题；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8B5C62E-8D89-4E39-99E5-1850C637FE88}"/>
              </a:ext>
            </a:extLst>
          </p:cNvPr>
          <p:cNvSpPr>
            <a:spLocks noGrp="1"/>
          </p:cNvSpPr>
          <p:nvPr/>
        </p:nvSpPr>
        <p:spPr>
          <a:xfrm>
            <a:off x="876300" y="3343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632EFB-A2C7-444B-A24F-16351A0F399E}"/>
              </a:ext>
            </a:extLst>
          </p:cNvPr>
          <p:cNvSpPr>
            <a:spLocks noGrp="1"/>
          </p:cNvSpPr>
          <p:nvPr/>
        </p:nvSpPr>
        <p:spPr>
          <a:xfrm>
            <a:off x="1371600" y="3333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上下文；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615134A-B7DB-4446-B225-A5DA41AD3E71}"/>
              </a:ext>
            </a:extLst>
          </p:cNvPr>
          <p:cNvSpPr>
            <a:spLocks noGrp="1"/>
          </p:cNvSpPr>
          <p:nvPr/>
        </p:nvSpPr>
        <p:spPr>
          <a:xfrm>
            <a:off x="876300" y="3743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6685759-B651-48ED-83F8-FDF57716AE22}"/>
              </a:ext>
            </a:extLst>
          </p:cNvPr>
          <p:cNvSpPr>
            <a:spLocks noGrp="1"/>
          </p:cNvSpPr>
          <p:nvPr/>
        </p:nvSpPr>
        <p:spPr>
          <a:xfrm>
            <a:off x="1371600" y="3733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参考答案；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D5FC2FE-E29D-4298-9DD1-8CDECD41F2C8}"/>
              </a:ext>
            </a:extLst>
          </p:cNvPr>
          <p:cNvSpPr>
            <a:spLocks noGrp="1"/>
          </p:cNvSpPr>
          <p:nvPr/>
        </p:nvSpPr>
        <p:spPr>
          <a:xfrm>
            <a:off x="876300" y="4143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0226670-397B-415D-9436-507DE24FAAC4}"/>
              </a:ext>
            </a:extLst>
          </p:cNvPr>
          <p:cNvSpPr>
            <a:spLocks noGrp="1"/>
          </p:cNvSpPr>
          <p:nvPr/>
        </p:nvSpPr>
        <p:spPr>
          <a:xfrm>
            <a:off x="1371600" y="4133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评分点；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1BB4E00-8381-4342-900D-934E21CECA04}"/>
              </a:ext>
            </a:extLst>
          </p:cNvPr>
          <p:cNvSpPr>
            <a:spLocks noGrp="1"/>
          </p:cNvSpPr>
          <p:nvPr/>
        </p:nvSpPr>
        <p:spPr>
          <a:xfrm>
            <a:off x="876300" y="4543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51991CE-4068-4B6D-9E51-E57721B7F0BC}"/>
              </a:ext>
            </a:extLst>
          </p:cNvPr>
          <p:cNvSpPr>
            <a:spLocks noGrp="1"/>
          </p:cNvSpPr>
          <p:nvPr/>
        </p:nvSpPr>
        <p:spPr>
          <a:xfrm>
            <a:off x="1371600" y="4533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风险等级；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ADFAAF5-DE2F-470C-83C0-7F1095DB88D1}"/>
              </a:ext>
            </a:extLst>
          </p:cNvPr>
          <p:cNvSpPr>
            <a:spLocks noGrp="1"/>
          </p:cNvSpPr>
          <p:nvPr/>
        </p:nvSpPr>
        <p:spPr>
          <a:xfrm>
            <a:off x="876300" y="4943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AB84743-C5A7-4C30-9D52-E34DE7EB3E4C}"/>
              </a:ext>
            </a:extLst>
          </p:cNvPr>
          <p:cNvSpPr>
            <a:spLocks noGrp="1"/>
          </p:cNvSpPr>
          <p:nvPr/>
        </p:nvSpPr>
        <p:spPr>
          <a:xfrm>
            <a:off x="1371600" y="4933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场景标签；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4269027-FFE2-44D7-9820-02E502D406A2}"/>
              </a:ext>
            </a:extLst>
          </p:cNvPr>
          <p:cNvSpPr>
            <a:spLocks noGrp="1"/>
          </p:cNvSpPr>
          <p:nvPr/>
        </p:nvSpPr>
        <p:spPr>
          <a:xfrm>
            <a:off x="876300" y="5343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54C0FD3-8102-4739-A666-5DE9AE659CF8}"/>
              </a:ext>
            </a:extLst>
          </p:cNvPr>
          <p:cNvSpPr>
            <a:spLocks noGrp="1"/>
          </p:cNvSpPr>
          <p:nvPr/>
        </p:nvSpPr>
        <p:spPr>
          <a:xfrm>
            <a:off x="1371600" y="5334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适用版本。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088FD7E-1401-425A-85AC-8A5D1F9CD6BE}"/>
              </a:ext>
            </a:extLst>
          </p:cNvPr>
          <p:cNvSpPr>
            <a:spLocks noGrp="1"/>
          </p:cNvSpPr>
          <p:nvPr/>
        </p:nvSpPr>
        <p:spPr>
          <a:xfrm>
            <a:off x="838200" y="57150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批量运行模块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A086E21-3DFA-492A-B6A0-6DDD3DF62CCE}"/>
              </a:ext>
            </a:extLst>
          </p:cNvPr>
          <p:cNvSpPr>
            <a:spLocks noGrp="1"/>
          </p:cNvSpPr>
          <p:nvPr/>
        </p:nvSpPr>
        <p:spPr>
          <a:xfrm>
            <a:off x="838200" y="60388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9A57419-8F47-4060-9028-FB1982992CBF}"/>
              </a:ext>
            </a:extLst>
          </p:cNvPr>
          <p:cNvSpPr>
            <a:spLocks noGrp="1"/>
          </p:cNvSpPr>
          <p:nvPr/>
        </p:nvSpPr>
        <p:spPr>
          <a:xfrm>
            <a:off x="838200" y="61341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把评测问题逐条发送给被测产品。</a:t>
            </a:r>
          </a:p>
        </p:txBody>
      </p:sp>
    </p:spTree>
    <p:extLst>
      <p:ext uri="{BB962C8B-B14F-4D97-AF65-F5344CB8AC3E}">
        <p14:creationId xmlns:p14="http://schemas.microsoft.com/office/powerpoint/2010/main" val="148402917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47510411-EDF6-49F4-8C2B-598ACF0A5A2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EFFB13A-80A3-4A1A-865A-CA8CFB7A869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087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029E1A-3B3F-452B-87C0-F1F020B06C5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275367-3A51-416D-837F-965A7D5367E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18035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D0B986-488A-4C85-818E-71070DC918A7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自动评测系统的基本结构（续）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D78C985-602A-43D2-95D0-16616F66EC75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491BDC7-DAD2-4CF8-8131-5B0A5099C53B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同时记录：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2E8AF6B-CF2B-4494-BF46-DCFB210577BF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A25BBE9-4A45-4F28-A367-2E151FE1A6FC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被测模型版本；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F3CC193-B018-4BDB-89BF-B83AD2F856FD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E0CB1BF-A6B7-4DFA-B759-EDB74D1A2A98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Prompt版本；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4FAC30-2BC6-47B4-A095-68F097EA44CC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52110C-F1E8-4328-B8E0-9A9672E3D138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知识库版本；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34F5EBA-B0C7-43E1-ADC3-0C21C22BAB63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E096702-4415-47E8-B921-16C24EE65C51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工作流版本；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A02D4E9-440E-4BB0-B80F-E44F4655B10B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1E728BE-4514-4E67-939D-D0D508806D3A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请求时间；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6BD58C3-5A83-47D7-8ADD-DA4F02552E35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2A754BC-73AA-4799-AE29-CB70472B8F45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实际输出；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5CDF7D4-5B5C-4B80-BE76-25D38BE0C2A1}"/>
              </a:ext>
            </a:extLst>
          </p:cNvPr>
          <p:cNvSpPr>
            <a:spLocks noGrp="1"/>
          </p:cNvSpPr>
          <p:nvPr/>
        </p:nvSpPr>
        <p:spPr>
          <a:xfrm>
            <a:off x="876300" y="4533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5166060-4EE8-47D8-839C-0F48F30C51F9}"/>
              </a:ext>
            </a:extLst>
          </p:cNvPr>
          <p:cNvSpPr>
            <a:spLocks noGrp="1"/>
          </p:cNvSpPr>
          <p:nvPr/>
        </p:nvSpPr>
        <p:spPr>
          <a:xfrm>
            <a:off x="1371600" y="4524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响应时间；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E50C423-824B-4733-B072-14B08CF5D339}"/>
              </a:ext>
            </a:extLst>
          </p:cNvPr>
          <p:cNvSpPr>
            <a:spLocks noGrp="1"/>
          </p:cNvSpPr>
          <p:nvPr/>
        </p:nvSpPr>
        <p:spPr>
          <a:xfrm>
            <a:off x="876300" y="4933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0CA47DA-9350-464B-A6A7-480D75245EC8}"/>
              </a:ext>
            </a:extLst>
          </p:cNvPr>
          <p:cNvSpPr>
            <a:spLocks noGrp="1"/>
          </p:cNvSpPr>
          <p:nvPr/>
        </p:nvSpPr>
        <p:spPr>
          <a:xfrm>
            <a:off x="1371600" y="4924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Token和费用。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CB8A5EC-3DDE-45C4-BB1C-372837DA3CA6}"/>
              </a:ext>
            </a:extLst>
          </p:cNvPr>
          <p:cNvSpPr>
            <a:spLocks noGrp="1"/>
          </p:cNvSpPr>
          <p:nvPr/>
        </p:nvSpPr>
        <p:spPr>
          <a:xfrm>
            <a:off x="838200" y="5295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这些信息很重要，否则看到一个错误时，团队可能不知道它来自哪个版本。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9974ADD-0610-4755-BB8E-3CC8C3F11C0E}"/>
              </a:ext>
            </a:extLst>
          </p:cNvPr>
          <p:cNvSpPr>
            <a:spLocks noGrp="1"/>
          </p:cNvSpPr>
          <p:nvPr/>
        </p:nvSpPr>
        <p:spPr>
          <a:xfrm>
            <a:off x="838200" y="56864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评分模块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C3B4681-E3F0-4B1A-B16F-149195771E63}"/>
              </a:ext>
            </a:extLst>
          </p:cNvPr>
          <p:cNvSpPr>
            <a:spLocks noGrp="1"/>
          </p:cNvSpPr>
          <p:nvPr/>
        </p:nvSpPr>
        <p:spPr>
          <a:xfrm>
            <a:off x="838200" y="60102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97C88E0-1CD4-4ADE-A0FA-86369AABC859}"/>
              </a:ext>
            </a:extLst>
          </p:cNvPr>
          <p:cNvSpPr>
            <a:spLocks noGrp="1"/>
          </p:cNvSpPr>
          <p:nvPr/>
        </p:nvSpPr>
        <p:spPr>
          <a:xfrm>
            <a:off x="838200" y="61055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根据不同内容选择评分方法：</a:t>
            </a:r>
          </a:p>
        </p:txBody>
      </p:sp>
    </p:spTree>
    <p:extLst>
      <p:ext uri="{BB962C8B-B14F-4D97-AF65-F5344CB8AC3E}">
        <p14:creationId xmlns:p14="http://schemas.microsoft.com/office/powerpoint/2010/main" val="97445853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AB0736D1-5702-4C68-8968-1230415A83D2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F52E43A-4325-4AAA-9CE3-A6F5B9F3622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088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86BBEC-23F6-494E-94F9-8EBAF533125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BAF8243-42DA-4A8F-B554-A1B554A3C20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23989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BD77436-0122-4A40-9734-00245532C70A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自动评测系统的基本结构（续）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6193732-141A-4DAD-BDE9-678E5F20134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47495E-266C-486C-BB1A-78AF46BFEC5A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2B1E347-0436-488A-BFA5-19D4F24EF9DD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硬条件用规则；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C768505-3B5B-4B3F-B726-6AF2676AA14B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0DE191B-273E-4FC2-9C32-2DB9CC9D29D9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表达接近度用语义相似度；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61ED8A4-64CC-4AD5-A323-874BC8AC1C59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8C8FC65-32D2-46E0-B955-E1AD4DB60C3E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开放式质量用LLM裁判；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1408A27-8194-4503-AB1A-BF325F1EA584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24E3253-D9A9-4AD6-A40D-21E69A5804CB}"/>
              </a:ext>
            </a:extLst>
          </p:cNvPr>
          <p:cNvSpPr>
            <a:spLocks noGrp="1"/>
          </p:cNvSpPr>
          <p:nvPr/>
        </p:nvSpPr>
        <p:spPr>
          <a:xfrm>
            <a:off x="1371600" y="2943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高风险样本交给人工复核。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F9542FF-A922-42EA-A5FD-F5BF7AC3A955}"/>
              </a:ext>
            </a:extLst>
          </p:cNvPr>
          <p:cNvSpPr>
            <a:spLocks noGrp="1"/>
          </p:cNvSpPr>
          <p:nvPr/>
        </p:nvSpPr>
        <p:spPr>
          <a:xfrm>
            <a:off x="838200" y="33242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报告模块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EAFF55-1E8A-41BF-96D8-4FB6610E0AC9}"/>
              </a:ext>
            </a:extLst>
          </p:cNvPr>
          <p:cNvSpPr>
            <a:spLocks noGrp="1"/>
          </p:cNvSpPr>
          <p:nvPr/>
        </p:nvSpPr>
        <p:spPr>
          <a:xfrm>
            <a:off x="838200" y="36480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B5EB167-C716-497F-900E-1A88331C5B02}"/>
              </a:ext>
            </a:extLst>
          </p:cNvPr>
          <p:cNvSpPr>
            <a:spLocks noGrp="1"/>
          </p:cNvSpPr>
          <p:nvPr/>
        </p:nvSpPr>
        <p:spPr>
          <a:xfrm>
            <a:off x="838200" y="37433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汇总评测结果，并回答：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1BE2EF7-F70E-4772-8976-84BA6F2628FC}"/>
              </a:ext>
            </a:extLst>
          </p:cNvPr>
          <p:cNvSpPr>
            <a:spLocks noGrp="1"/>
          </p:cNvSpPr>
          <p:nvPr/>
        </p:nvSpPr>
        <p:spPr>
          <a:xfrm>
            <a:off x="876300" y="4162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CF20F30-1AFD-42C3-A69B-8FE4030E94A4}"/>
              </a:ext>
            </a:extLst>
          </p:cNvPr>
          <p:cNvSpPr>
            <a:spLocks noGrp="1"/>
          </p:cNvSpPr>
          <p:nvPr/>
        </p:nvSpPr>
        <p:spPr>
          <a:xfrm>
            <a:off x="1371600" y="4152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总体表现怎么样？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3709D1F-AC7F-408C-B0D9-862782612915}"/>
              </a:ext>
            </a:extLst>
          </p:cNvPr>
          <p:cNvSpPr>
            <a:spLocks noGrp="1"/>
          </p:cNvSpPr>
          <p:nvPr/>
        </p:nvSpPr>
        <p:spPr>
          <a:xfrm>
            <a:off x="876300" y="4562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2F94E9D-A7A7-43B4-954D-D7A0177565A1}"/>
              </a:ext>
            </a:extLst>
          </p:cNvPr>
          <p:cNvSpPr>
            <a:spLocks noGrp="1"/>
          </p:cNvSpPr>
          <p:nvPr/>
        </p:nvSpPr>
        <p:spPr>
          <a:xfrm>
            <a:off x="1371600" y="4552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哪些场景表现较差？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B6D7E6D-138F-474D-AF25-2DF943B718D7}"/>
              </a:ext>
            </a:extLst>
          </p:cNvPr>
          <p:cNvSpPr>
            <a:spLocks noGrp="1"/>
          </p:cNvSpPr>
          <p:nvPr/>
        </p:nvSpPr>
        <p:spPr>
          <a:xfrm>
            <a:off x="876300" y="4962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0B2C7D2-E974-4200-B005-1D0288FB4F4E}"/>
              </a:ext>
            </a:extLst>
          </p:cNvPr>
          <p:cNvSpPr>
            <a:spLocks noGrp="1"/>
          </p:cNvSpPr>
          <p:nvPr/>
        </p:nvSpPr>
        <p:spPr>
          <a:xfrm>
            <a:off x="1371600" y="4953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新版本比旧版本提升了吗？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5F3A60C-D881-4790-A969-3258931227F6}"/>
              </a:ext>
            </a:extLst>
          </p:cNvPr>
          <p:cNvSpPr>
            <a:spLocks noGrp="1"/>
          </p:cNvSpPr>
          <p:nvPr/>
        </p:nvSpPr>
        <p:spPr>
          <a:xfrm>
            <a:off x="876300" y="5362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D7CA29F-ADD5-4498-BFE1-D41EF8F1F044}"/>
              </a:ext>
            </a:extLst>
          </p:cNvPr>
          <p:cNvSpPr>
            <a:spLocks noGrp="1"/>
          </p:cNvSpPr>
          <p:nvPr/>
        </p:nvSpPr>
        <p:spPr>
          <a:xfrm>
            <a:off x="1371600" y="53530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哪些问题出现退化？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02ADB94-40DE-4A13-8522-48E77EAF1312}"/>
              </a:ext>
            </a:extLst>
          </p:cNvPr>
          <p:cNvSpPr>
            <a:spLocks noGrp="1"/>
          </p:cNvSpPr>
          <p:nvPr/>
        </p:nvSpPr>
        <p:spPr>
          <a:xfrm>
            <a:off x="876300" y="57626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4CC387E-402A-4A1E-B550-161FEB44CAC9}"/>
              </a:ext>
            </a:extLst>
          </p:cNvPr>
          <p:cNvSpPr>
            <a:spLocks noGrp="1"/>
          </p:cNvSpPr>
          <p:nvPr/>
        </p:nvSpPr>
        <p:spPr>
          <a:xfrm>
            <a:off x="1371600" y="57531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是否达到上线门槛？</a:t>
            </a:r>
          </a:p>
        </p:txBody>
      </p:sp>
    </p:spTree>
    <p:extLst>
      <p:ext uri="{BB962C8B-B14F-4D97-AF65-F5344CB8AC3E}">
        <p14:creationId xmlns:p14="http://schemas.microsoft.com/office/powerpoint/2010/main" val="100691295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13474EC9-C633-4ACD-918F-D358EEB6354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8AE7D7-6251-4BEF-AD8A-DE06E12D11B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089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EB2A552-13C9-44E2-BDF7-5D90351CF50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094FB59-C0EB-4F71-A063-C9DEB4D561A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29943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6374241-908E-4818-BA13-498B2CB8413E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自动化评测的运行流程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F2FF64E-AA90-40B1-917D-497D0035E97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7FA75A-B435-4D22-8AF1-C3E12832764D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假设我们要评测“企业报销制度助手”的V2版本。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72A0EB6-D7C1-45BC-BD4A-90D892AB85CC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第一步：选择评测对象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FCE2307-B4F9-4FCF-A50F-9F4DCA758E17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484A96-2B33-4616-B898-8211E43BE8B5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明确本次测试的是：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E7D60777-DC26-4F58-B6CF-3884B369B1D6}"/>
              </a:ext>
            </a:extLst>
          </p:cNvPr>
          <p:cNvSpPr>
            <a:spLocks noGrp="1"/>
          </p:cNvSpPr>
          <p:nvPr/>
        </p:nvSpPr>
        <p:spPr>
          <a:xfrm>
            <a:off x="819150" y="2905125"/>
            <a:ext cx="10572750" cy="1104900"/>
          </a:xfrm>
          <a:prstGeom prst="roundRect">
            <a:avLst>
              <a:gd name="adj" fmla="val 8621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F5B2789-BF2C-458A-AB6A-55921D3DA346}"/>
              </a:ext>
            </a:extLst>
          </p:cNvPr>
          <p:cNvSpPr>
            <a:spLocks noGrp="1"/>
          </p:cNvSpPr>
          <p:nvPr/>
        </p:nvSpPr>
        <p:spPr>
          <a:xfrm>
            <a:off x="1066800" y="3038475"/>
            <a:ext cx="10048875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模型：Model A v2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System Prompt：Prompt v7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知识库：差旅制度 2026-08-01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工作流：Workflow v3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A3F90E-0808-49F5-A8AA-D817E05597EC}"/>
              </a:ext>
            </a:extLst>
          </p:cNvPr>
          <p:cNvSpPr>
            <a:spLocks noGrp="1"/>
          </p:cNvSpPr>
          <p:nvPr/>
        </p:nvSpPr>
        <p:spPr>
          <a:xfrm>
            <a:off x="838200" y="41052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不能只记录“测试了新版本”，因为AI产品的结果由多个组件共同决定。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5AC6C82-3DFF-40AF-AECB-6F414EEF8C30}"/>
              </a:ext>
            </a:extLst>
          </p:cNvPr>
          <p:cNvSpPr>
            <a:spLocks noGrp="1"/>
          </p:cNvSpPr>
          <p:nvPr/>
        </p:nvSpPr>
        <p:spPr>
          <a:xfrm>
            <a:off x="838200" y="44958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第二步：选择评测集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F3D311B-35EA-40DA-AA93-BDD2E30E0168}"/>
              </a:ext>
            </a:extLst>
          </p:cNvPr>
          <p:cNvSpPr>
            <a:spLocks noGrp="1"/>
          </p:cNvSpPr>
          <p:nvPr/>
        </p:nvSpPr>
        <p:spPr>
          <a:xfrm>
            <a:off x="838200" y="48196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A39253C-478D-418F-844A-9A6DEF01C7B4}"/>
              </a:ext>
            </a:extLst>
          </p:cNvPr>
          <p:cNvSpPr>
            <a:spLocks noGrp="1"/>
          </p:cNvSpPr>
          <p:nvPr/>
        </p:nvSpPr>
        <p:spPr>
          <a:xfrm>
            <a:off x="838200" y="4914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853D7B24-7939-45AB-9A74-E70348FBC2B9}"/>
              </a:ext>
            </a:extLst>
          </p:cNvPr>
          <p:cNvSpPr>
            <a:spLocks noGrp="1"/>
          </p:cNvSpPr>
          <p:nvPr/>
        </p:nvSpPr>
        <p:spPr>
          <a:xfrm>
            <a:off x="819150" y="5295900"/>
            <a:ext cx="10572750" cy="895350"/>
          </a:xfrm>
          <a:prstGeom prst="roundRect">
            <a:avLst>
              <a:gd name="adj" fmla="val 10638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BB473FE-15ED-4BB3-B462-9FC74A1DAB6B}"/>
              </a:ext>
            </a:extLst>
          </p:cNvPr>
          <p:cNvSpPr>
            <a:spLocks noGrp="1"/>
          </p:cNvSpPr>
          <p:nvPr/>
        </p:nvSpPr>
        <p:spPr>
          <a:xfrm>
            <a:off x="1066800" y="5429250"/>
            <a:ext cx="1004887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核心回归集：200条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本月新增Bad Case：35条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安全红线集：50条</a:t>
            </a:r>
          </a:p>
        </p:txBody>
      </p:sp>
    </p:spTree>
    <p:extLst>
      <p:ext uri="{BB962C8B-B14F-4D97-AF65-F5344CB8AC3E}">
        <p14:creationId xmlns:p14="http://schemas.microsoft.com/office/powerpoint/2010/main" val="69256739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17D00794-F09D-4B3C-80AD-6816DD93B004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4FCA463-D2D1-40B4-BBBD-7E7CB310DF42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9206039-A747-4F5F-A176-DB3A1864F9B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085E77F-51DC-42CD-9F25-405DD4CA02E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35898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4EE5D22-2441-48F3-8DE5-1994337606A6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自动化评测的运行流程（续）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804F9A-7F3B-46CD-ABBF-F27F779F9F00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686A48-3A4D-4BB0-B67F-369E596567C5}"/>
              </a:ext>
            </a:extLst>
          </p:cNvPr>
          <p:cNvSpPr>
            <a:spLocks noGrp="1"/>
          </p:cNvSpPr>
          <p:nvPr/>
        </p:nvSpPr>
        <p:spPr>
          <a:xfrm>
            <a:off x="838200" y="1724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第三步：批量运行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21D5FFF-5E8E-4104-8690-664F39C5C43B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245325D-E651-409C-AB2D-676200B35E91}"/>
              </a:ext>
            </a:extLst>
          </p:cNvPr>
          <p:cNvSpPr>
            <a:spLocks noGrp="1"/>
          </p:cNvSpPr>
          <p:nvPr/>
        </p:nvSpPr>
        <p:spPr>
          <a:xfrm>
            <a:off x="838200" y="2143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系统自动把285条问题发送给被测产品，并保存每一条回答。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9C1CC13-2316-4F56-B871-132240B7065E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为了测试稳定性，某些问题还可以重复运行三至五次。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DCB2F31-2446-48A7-8985-6B106474E466}"/>
              </a:ext>
            </a:extLst>
          </p:cNvPr>
          <p:cNvSpPr>
            <a:spLocks noGrp="1"/>
          </p:cNvSpPr>
          <p:nvPr/>
        </p:nvSpPr>
        <p:spPr>
          <a:xfrm>
            <a:off x="838200" y="2905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因为同一个AI版本，对同一个问题也可能生成不同答案。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45ED50D-85CB-4150-BDB1-9D368BEA569E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第四步：自动评分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02B6C16-9BA0-47B4-98A0-B4B93FC428C0}"/>
              </a:ext>
            </a:extLst>
          </p:cNvPr>
          <p:cNvSpPr>
            <a:spLocks noGrp="1"/>
          </p:cNvSpPr>
          <p:nvPr/>
        </p:nvSpPr>
        <p:spPr>
          <a:xfrm>
            <a:off x="838200" y="36195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F89DF8B-1A31-4B8E-BCCD-C97634378F06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40CF66F-5050-4E14-9761-B522E4D872F5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62536C9-22F2-43FA-9EC3-CB7F017D2FB1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金额和日期由规则检查；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ED61684-00D1-4A0C-B588-A6B4DB5AF25B}"/>
              </a:ext>
            </a:extLst>
          </p:cNvPr>
          <p:cNvSpPr>
            <a:spLocks noGrp="1"/>
          </p:cNvSpPr>
          <p:nvPr/>
        </p:nvSpPr>
        <p:spPr>
          <a:xfrm>
            <a:off x="876300" y="4533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C485CD7-549E-48A8-AD66-DB1A12BA2A46}"/>
              </a:ext>
            </a:extLst>
          </p:cNvPr>
          <p:cNvSpPr>
            <a:spLocks noGrp="1"/>
          </p:cNvSpPr>
          <p:nvPr/>
        </p:nvSpPr>
        <p:spPr>
          <a:xfrm>
            <a:off x="1371600" y="4524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回答相关性由语义相似度检查；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24E1AFB-75C4-4913-9CEB-B30962B77BD4}"/>
              </a:ext>
            </a:extLst>
          </p:cNvPr>
          <p:cNvSpPr>
            <a:spLocks noGrp="1"/>
          </p:cNvSpPr>
          <p:nvPr/>
        </p:nvSpPr>
        <p:spPr>
          <a:xfrm>
            <a:off x="876300" y="4933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335E0E3-5621-4E5E-B6A8-E7520FB3AA85}"/>
              </a:ext>
            </a:extLst>
          </p:cNvPr>
          <p:cNvSpPr>
            <a:spLocks noGrp="1"/>
          </p:cNvSpPr>
          <p:nvPr/>
        </p:nvSpPr>
        <p:spPr>
          <a:xfrm>
            <a:off x="1371600" y="4924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完整性由LLM裁判评分；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2EAD38A-E50C-4CFF-9BCA-FDBA466515EE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118BEC7-E2F2-4012-BD73-222FB1FA6FA2}"/>
              </a:ext>
            </a:extLst>
          </p:cNvPr>
          <p:cNvSpPr>
            <a:spLocks noGrp="1"/>
          </p:cNvSpPr>
          <p:nvPr/>
        </p:nvSpPr>
        <p:spPr>
          <a:xfrm>
            <a:off x="1371600" y="53244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隐私和越权问题由安全规则检查；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FB60A6A-35A6-464F-9257-01C4B7CBF6C7}"/>
              </a:ext>
            </a:extLst>
          </p:cNvPr>
          <p:cNvSpPr>
            <a:spLocks noGrp="1"/>
          </p:cNvSpPr>
          <p:nvPr/>
        </p:nvSpPr>
        <p:spPr>
          <a:xfrm>
            <a:off x="876300" y="57340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7DB32C2-5E76-4160-93BC-0275C736B43B}"/>
              </a:ext>
            </a:extLst>
          </p:cNvPr>
          <p:cNvSpPr>
            <a:spLocks noGrp="1"/>
          </p:cNvSpPr>
          <p:nvPr/>
        </p:nvSpPr>
        <p:spPr>
          <a:xfrm>
            <a:off x="1371600" y="57245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高风险失败样本进入人工复核。</a:t>
            </a:r>
          </a:p>
        </p:txBody>
      </p:sp>
    </p:spTree>
    <p:extLst>
      <p:ext uri="{BB962C8B-B14F-4D97-AF65-F5344CB8AC3E}">
        <p14:creationId xmlns:p14="http://schemas.microsoft.com/office/powerpoint/2010/main" val="39505203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B7776825-5B55-486B-93BA-E701ABD26F9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99450C-0A64-43DA-A20F-48EBDE21BDB7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51B3662-F122-433C-9FC3-DE11C462C4B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0DBD27-DCA4-4394-BA8D-372DA35753D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41852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D3E5415-B2C6-4BBC-94E5-96B75100A27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自动化评测的运行流程（续）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08E3BE6-E770-4E5C-BBC0-3B789F9471BA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7D322EA-5706-4541-825A-449B985EC40E}"/>
              </a:ext>
            </a:extLst>
          </p:cNvPr>
          <p:cNvSpPr>
            <a:spLocks noGrp="1"/>
          </p:cNvSpPr>
          <p:nvPr/>
        </p:nvSpPr>
        <p:spPr>
          <a:xfrm>
            <a:off x="838200" y="1724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第五步：生成报告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E25BFFD-E413-4CF1-A870-934AC3A434EA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B2BF1E7-CAC6-4E94-9315-E7838E92C730}"/>
              </a:ext>
            </a:extLst>
          </p:cNvPr>
          <p:cNvSpPr>
            <a:spLocks noGrp="1"/>
          </p:cNvSpPr>
          <p:nvPr/>
        </p:nvSpPr>
        <p:spPr>
          <a:xfrm>
            <a:off x="838200" y="2143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系统汇总：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5035C741-F75E-464A-8658-78EA25E6B00A}"/>
              </a:ext>
            </a:extLst>
          </p:cNvPr>
          <p:cNvSpPr>
            <a:spLocks noGrp="1"/>
          </p:cNvSpPr>
          <p:nvPr/>
        </p:nvSpPr>
        <p:spPr>
          <a:xfrm>
            <a:off x="819150" y="2524125"/>
            <a:ext cx="10572750" cy="1524000"/>
          </a:xfrm>
          <a:prstGeom prst="roundRect">
            <a:avLst>
              <a:gd name="adj" fmla="val 6250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9F4DF72-8830-427B-A17E-BC45F0A871D1}"/>
              </a:ext>
            </a:extLst>
          </p:cNvPr>
          <p:cNvSpPr>
            <a:spLocks noGrp="1"/>
          </p:cNvSpPr>
          <p:nvPr/>
        </p:nvSpPr>
        <p:spPr>
          <a:xfrm>
            <a:off x="1066800" y="2657475"/>
            <a:ext cx="10048875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总通过率：89%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核心事实正确率：94%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完整性通过率：86%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安全红线问题：2条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平均响应时间：3.2秒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单次平均成本：0.08元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C78AFB5-842B-44AA-ABE8-B4DB45BF92FD}"/>
              </a:ext>
            </a:extLst>
          </p:cNvPr>
          <p:cNvSpPr>
            <a:spLocks noGrp="1"/>
          </p:cNvSpPr>
          <p:nvPr/>
        </p:nvSpPr>
        <p:spPr>
          <a:xfrm>
            <a:off x="838200" y="41529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第六步：版本比较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55188D3-BFCC-4DFD-AAA7-852BF85B818B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6796AD6-1C7B-4E2C-8E5C-5455E777B86D}"/>
              </a:ext>
            </a:extLst>
          </p:cNvPr>
          <p:cNvSpPr>
            <a:spLocks noGrp="1"/>
          </p:cNvSpPr>
          <p:nvPr/>
        </p:nvSpPr>
        <p:spPr>
          <a:xfrm>
            <a:off x="838200" y="45720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把V2与V1放在一起比较：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771CFDD-132B-40BA-8497-71194F5A97AB}"/>
              </a:ext>
            </a:extLst>
          </p:cNvPr>
          <p:cNvSpPr>
            <a:spLocks noGrp="1"/>
          </p:cNvSpPr>
          <p:nvPr/>
        </p:nvSpPr>
        <p:spPr>
          <a:xfrm>
            <a:off x="838200" y="49530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这时不能简单说V2更好。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3CDE5E1-B87A-4D68-9134-12F1006E9CC6}"/>
              </a:ext>
            </a:extLst>
          </p:cNvPr>
          <p:cNvSpPr>
            <a:spLocks noGrp="1"/>
          </p:cNvSpPr>
          <p:nvPr/>
        </p:nvSpPr>
        <p:spPr>
          <a:xfrm>
            <a:off x="838200" y="53340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因为它虽然总体分数提高了，但：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0C63353-C52A-4778-9824-BBD1DD331FEA}"/>
              </a:ext>
            </a:extLst>
          </p:cNvPr>
          <p:cNvSpPr>
            <a:spLocks noGrp="1"/>
          </p:cNvSpPr>
          <p:nvPr/>
        </p:nvSpPr>
        <p:spPr>
          <a:xfrm>
            <a:off x="876300" y="57531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9232491-7CBB-4BA2-8012-8B331FFC5D79}"/>
              </a:ext>
            </a:extLst>
          </p:cNvPr>
          <p:cNvSpPr>
            <a:spLocks noGrp="1"/>
          </p:cNvSpPr>
          <p:nvPr/>
        </p:nvSpPr>
        <p:spPr>
          <a:xfrm>
            <a:off x="1371600" y="57435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完整性下降；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5A97CFE-1BB8-4B31-8AC4-46C4D1FC8777}"/>
              </a:ext>
            </a:extLst>
          </p:cNvPr>
          <p:cNvSpPr>
            <a:spLocks noGrp="1"/>
          </p:cNvSpPr>
          <p:nvPr/>
        </p:nvSpPr>
        <p:spPr>
          <a:xfrm>
            <a:off x="876300" y="61531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59A79D9-E088-46F3-B028-027886A4A751}"/>
              </a:ext>
            </a:extLst>
          </p:cNvPr>
          <p:cNvSpPr>
            <a:spLocks noGrp="1"/>
          </p:cNvSpPr>
          <p:nvPr/>
        </p:nvSpPr>
        <p:spPr>
          <a:xfrm>
            <a:off x="1371600" y="61436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安全问题增加；</a:t>
            </a:r>
          </a:p>
        </p:txBody>
      </p:sp>
    </p:spTree>
    <p:extLst>
      <p:ext uri="{BB962C8B-B14F-4D97-AF65-F5344CB8AC3E}">
        <p14:creationId xmlns:p14="http://schemas.microsoft.com/office/powerpoint/2010/main" val="4732812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0B976037-B2EF-4552-BD24-C3C0ADC1841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3F1A38D-6BAA-4415-A58A-92CC393B726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60793BD-C99E-4EB8-9846-034B8E85A90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965C84-D675-4B77-9915-85EBC8281FD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47807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DD6305C-ED2B-4BBE-A2B0-9232866CC23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自动化评测的运行流程（续）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D8E9B4A-E9B5-4142-87CC-6097B51B631C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16365C-5D5F-4EA9-927F-9663FBC5256C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3A21D8-9448-420D-9439-791523A5283D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响应速度变慢。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DA7CCDD-F5A9-4D3A-A95F-E9CFF71B0BF6}"/>
              </a:ext>
            </a:extLst>
          </p:cNvPr>
          <p:cNvSpPr>
            <a:spLocks noGrp="1"/>
          </p:cNvSpPr>
          <p:nvPr/>
        </p:nvSpPr>
        <p:spPr>
          <a:xfrm>
            <a:off x="838200" y="21145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产品经理要判断这些变化是否可以接受。</a:t>
            </a:r>
          </a:p>
        </p:txBody>
      </p:sp>
    </p:spTree>
    <p:extLst>
      <p:ext uri="{BB962C8B-B14F-4D97-AF65-F5344CB8AC3E}">
        <p14:creationId xmlns:p14="http://schemas.microsoft.com/office/powerpoint/2010/main" val="2219087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D737D068-6340-4481-A4D0-51B237EDAC3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9FF7E23-7B89-4D21-A126-C0947E838693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2DD1CB2-EE73-4601-9618-EC3CBCC6E3B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5E5F08-5C75-44B0-A0ED-E0DBD35C0BB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53761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FBE27D1-8AB1-48B0-A158-ECAFEC025FFA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自动测试Agent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1BDC11E-0F46-4D4A-A874-6496AE4C27D8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43A453E-55E5-4C58-9167-0E8D7C4B602D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知乎课程中提到的自动测试Agent，可以理解成把多个评测环节串起来的执行者。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51FFB4B-461F-4ABC-A0F6-B6911AE0533A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它可能完成：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1CF55C6-183A-494E-B795-36A9F30D22AB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F537B37-347D-4AAB-9918-A03683AE0319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从用例库读取Test Case；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2CDF142-246F-4DBB-A22E-965D0B2951C4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2F16AE0-AABF-4E1D-8AC8-4F3EBDB3EE22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调用被测产品；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F95E98-9CA2-47B5-95B8-0C84CBC5200F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88C61AF-032E-4900-9471-3B3FD54A5843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收集回答；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2B2D150-209E-440C-A736-4F6FB6265DAB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F72BDC5-E8D1-46E0-ABFD-A7401DB60B83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调用规则、相似度和Judge；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0D7C710-AFA5-4AB8-BF80-AAB4777113D0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A6DC703-0427-4119-B743-5ECBB898AE84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保存结果；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27CCA36-6201-429C-BEAE-C1D5E35DE87F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B131ECF-1797-4528-9335-576B2DABE037}"/>
              </a:ext>
            </a:extLst>
          </p:cNvPr>
          <p:cNvSpPr>
            <a:spLocks noGrp="1"/>
          </p:cNvSpPr>
          <p:nvPr/>
        </p:nvSpPr>
        <p:spPr>
          <a:xfrm>
            <a:off x="1371600" y="4505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生成评测报告；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148688A-4049-43A0-85AB-0E503FAE1583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702D605-AF1D-40ED-A983-5B16C14DDBA6}"/>
              </a:ext>
            </a:extLst>
          </p:cNvPr>
          <p:cNvSpPr>
            <a:spLocks noGrp="1"/>
          </p:cNvSpPr>
          <p:nvPr/>
        </p:nvSpPr>
        <p:spPr>
          <a:xfrm>
            <a:off x="1371600" y="4905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标记需要人工处理的问题。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18CD865-F2E1-4CA1-84A4-40701370A4AA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流程可以表示为：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5BCFC30-EEDF-4226-990F-CB8F96B89B19}"/>
              </a:ext>
            </a:extLst>
          </p:cNvPr>
          <p:cNvSpPr>
            <a:spLocks noGrp="1"/>
          </p:cNvSpPr>
          <p:nvPr/>
        </p:nvSpPr>
        <p:spPr>
          <a:xfrm>
            <a:off x="838200" y="5657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评测用例 → 被测产品 → 评分器/Judge → 结果库 → 评测报告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15834C4-281F-490B-8EC3-AE2ECD7E1986}"/>
              </a:ext>
            </a:extLst>
          </p:cNvPr>
          <p:cNvSpPr>
            <a:spLocks noGrp="1"/>
          </p:cNvSpPr>
          <p:nvPr/>
        </p:nvSpPr>
        <p:spPr>
          <a:xfrm>
            <a:off x="838200" y="6038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这里最重要的不是“用了Agent”这个名称，而是：</a:t>
            </a:r>
          </a:p>
        </p:txBody>
      </p:sp>
    </p:spTree>
    <p:extLst>
      <p:ext uri="{BB962C8B-B14F-4D97-AF65-F5344CB8AC3E}">
        <p14:creationId xmlns:p14="http://schemas.microsoft.com/office/powerpoint/2010/main" val="12249755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FA28551-4527-407E-A03D-DBE6A788293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BC71F2-7B51-4980-B676-EAF634005287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23C45CD-CF0C-4868-99A2-6E90F15A487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0F6CC6E-4FEF-4CF8-A22D-89ADD85E1E1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59716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A44541B-8E6F-4D11-8320-E8DF5F68CECB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自动测试Agent（续）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384986-FED2-4FB0-9344-19EC0C2CB019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5D055F2-8410-4464-A12A-02E758DFC2E7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069205D-EB05-4434-9B99-8D2AEB43FAA3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流程能否重复执行；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43BA33F-84EF-41E4-8F60-8CCEAB06EA49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158DCDB-7ABC-46BF-A67E-A0651C6F0969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输入输出能否追踪；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7B91982-822A-44A5-90CC-C5C19518A79F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5642066-4E36-491C-88F0-0B62BA1CA553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评分标准是否统一；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D30873B-9087-4173-B716-DD92221FCF5E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E1B4B4-FAC7-4C7F-B41F-50F48BD83B78}"/>
              </a:ext>
            </a:extLst>
          </p:cNvPr>
          <p:cNvSpPr>
            <a:spLocks noGrp="1"/>
          </p:cNvSpPr>
          <p:nvPr/>
        </p:nvSpPr>
        <p:spPr>
          <a:xfrm>
            <a:off x="1371600" y="2943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结果能否复核。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5F074B9-9EB4-47BA-95B6-8F9DAFD820E4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如果Agent自动运行了很多任务，但团队不知道它用了哪套题、哪个版本和什么评分标准，结果仍然不可信。</a:t>
            </a:r>
          </a:p>
        </p:txBody>
      </p:sp>
    </p:spTree>
    <p:extLst>
      <p:ext uri="{BB962C8B-B14F-4D97-AF65-F5344CB8AC3E}">
        <p14:creationId xmlns:p14="http://schemas.microsoft.com/office/powerpoint/2010/main" val="20251445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16027CC4-E135-4F08-952B-C28E2C1B35D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ED7942-246B-4846-A4AC-31664C687EB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D4DE26-661B-4617-9C60-E6FA14CC881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4F7DB69-94D3-497F-8785-44B0113399C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65670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D66124C-0504-4D4D-94F1-33FE32626990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评测报告的结构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DDF230-12D1-423C-ACD2-4BCC188E7DB6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C6202F7-48C5-4ABA-9D64-EEC93E337807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一份有效的评测报告不能只有一个平均分。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2BDBD2A-585C-490B-98AF-C06FDD5716A9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它至少应该包含五个层次。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DA782C1-3A68-40CB-87C8-78A646C58CFC}"/>
              </a:ext>
            </a:extLst>
          </p:cNvPr>
          <p:cNvSpPr>
            <a:spLocks noGrp="1"/>
          </p:cNvSpPr>
          <p:nvPr/>
        </p:nvSpPr>
        <p:spPr>
          <a:xfrm>
            <a:off x="838200" y="2486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总体结果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96F6FC-A145-4518-9353-0C10E3067E60}"/>
              </a:ext>
            </a:extLst>
          </p:cNvPr>
          <p:cNvSpPr>
            <a:spLocks noGrp="1"/>
          </p:cNvSpPr>
          <p:nvPr/>
        </p:nvSpPr>
        <p:spPr>
          <a:xfrm>
            <a:off x="838200" y="2809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AF124EB-D0A0-4BCF-ABEF-EEC469D26A7E}"/>
              </a:ext>
            </a:extLst>
          </p:cNvPr>
          <p:cNvSpPr>
            <a:spLocks noGrp="1"/>
          </p:cNvSpPr>
          <p:nvPr/>
        </p:nvSpPr>
        <p:spPr>
          <a:xfrm>
            <a:off x="838200" y="2905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E881FC2-A79D-421A-BB8F-66815CCE07A7}"/>
              </a:ext>
            </a:extLst>
          </p:cNvPr>
          <p:cNvSpPr>
            <a:spLocks noGrp="1"/>
          </p:cNvSpPr>
          <p:nvPr/>
        </p:nvSpPr>
        <p:spPr>
          <a:xfrm>
            <a:off x="876300" y="3324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42FC7C7-0B85-42CE-9E78-E59B6C9CDBBE}"/>
              </a:ext>
            </a:extLst>
          </p:cNvPr>
          <p:cNvSpPr>
            <a:spLocks noGrp="1"/>
          </p:cNvSpPr>
          <p:nvPr/>
        </p:nvSpPr>
        <p:spPr>
          <a:xfrm>
            <a:off x="1371600" y="3314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总通过率；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5FCD48C-6EF7-4600-9991-AB9793B56579}"/>
              </a:ext>
            </a:extLst>
          </p:cNvPr>
          <p:cNvSpPr>
            <a:spLocks noGrp="1"/>
          </p:cNvSpPr>
          <p:nvPr/>
        </p:nvSpPr>
        <p:spPr>
          <a:xfrm>
            <a:off x="876300" y="3724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E5E5360-EA40-42D8-95DF-FB10E902E6F7}"/>
              </a:ext>
            </a:extLst>
          </p:cNvPr>
          <p:cNvSpPr>
            <a:spLocks noGrp="1"/>
          </p:cNvSpPr>
          <p:nvPr/>
        </p:nvSpPr>
        <p:spPr>
          <a:xfrm>
            <a:off x="1371600" y="3714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各质量维度得分；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FD2F85E-BEE4-46F6-9F93-180CA85BD600}"/>
              </a:ext>
            </a:extLst>
          </p:cNvPr>
          <p:cNvSpPr>
            <a:spLocks noGrp="1"/>
          </p:cNvSpPr>
          <p:nvPr/>
        </p:nvSpPr>
        <p:spPr>
          <a:xfrm>
            <a:off x="876300" y="4124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83EC5CD-1C6E-4F74-8843-49DE7FD219D7}"/>
              </a:ext>
            </a:extLst>
          </p:cNvPr>
          <p:cNvSpPr>
            <a:spLocks noGrp="1"/>
          </p:cNvSpPr>
          <p:nvPr/>
        </p:nvSpPr>
        <p:spPr>
          <a:xfrm>
            <a:off x="1371600" y="4114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红线问题数量；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69A2259-8B46-410A-AFA0-56C3B0D163F4}"/>
              </a:ext>
            </a:extLst>
          </p:cNvPr>
          <p:cNvSpPr>
            <a:spLocks noGrp="1"/>
          </p:cNvSpPr>
          <p:nvPr/>
        </p:nvSpPr>
        <p:spPr>
          <a:xfrm>
            <a:off x="876300" y="4524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C6F4D57-733B-4018-96E8-71E46D891674}"/>
              </a:ext>
            </a:extLst>
          </p:cNvPr>
          <p:cNvSpPr>
            <a:spLocks noGrp="1"/>
          </p:cNvSpPr>
          <p:nvPr/>
        </p:nvSpPr>
        <p:spPr>
          <a:xfrm>
            <a:off x="1371600" y="4514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响应时间；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E3A722B-9DC5-4E24-9EC3-BC85B6076F4B}"/>
              </a:ext>
            </a:extLst>
          </p:cNvPr>
          <p:cNvSpPr>
            <a:spLocks noGrp="1"/>
          </p:cNvSpPr>
          <p:nvPr/>
        </p:nvSpPr>
        <p:spPr>
          <a:xfrm>
            <a:off x="876300" y="4924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D4B7743-292A-499F-8FAA-53D0052E64AF}"/>
              </a:ext>
            </a:extLst>
          </p:cNvPr>
          <p:cNvSpPr>
            <a:spLocks noGrp="1"/>
          </p:cNvSpPr>
          <p:nvPr/>
        </p:nvSpPr>
        <p:spPr>
          <a:xfrm>
            <a:off x="1371600" y="4914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运行成本。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42B83D0-54B3-4D9C-9AB7-C6C2D23F6760}"/>
              </a:ext>
            </a:extLst>
          </p:cNvPr>
          <p:cNvSpPr>
            <a:spLocks noGrp="1"/>
          </p:cNvSpPr>
          <p:nvPr/>
        </p:nvSpPr>
        <p:spPr>
          <a:xfrm>
            <a:off x="838200" y="52863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用于快速了解版本整体表现。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BEBE9E1-DD02-4CD2-AC89-0459B9B23A2C}"/>
              </a:ext>
            </a:extLst>
          </p:cNvPr>
          <p:cNvSpPr>
            <a:spLocks noGrp="1"/>
          </p:cNvSpPr>
          <p:nvPr/>
        </p:nvSpPr>
        <p:spPr>
          <a:xfrm>
            <a:off x="838200" y="56769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场景结果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7E91A1D-D775-4E6C-B8F5-5F2F9E2E6D9C}"/>
              </a:ext>
            </a:extLst>
          </p:cNvPr>
          <p:cNvSpPr>
            <a:spLocks noGrp="1"/>
          </p:cNvSpPr>
          <p:nvPr/>
        </p:nvSpPr>
        <p:spPr>
          <a:xfrm>
            <a:off x="838200" y="60007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AD3EEC8-3DD8-494C-B010-8657AEA35D29}"/>
              </a:ext>
            </a:extLst>
          </p:cNvPr>
          <p:cNvSpPr>
            <a:spLocks noGrp="1"/>
          </p:cNvSpPr>
          <p:nvPr/>
        </p:nvSpPr>
        <p:spPr>
          <a:xfrm>
            <a:off x="838200" y="60960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</p:spTree>
    <p:extLst>
      <p:ext uri="{BB962C8B-B14F-4D97-AF65-F5344CB8AC3E}">
        <p14:creationId xmlns:p14="http://schemas.microsoft.com/office/powerpoint/2010/main" val="19610468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C4C0614E-1EE7-43B9-A99B-D0FF2207D4B4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A8D680-1BF5-4621-A43F-362B362AD2C8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82516D-A706-426C-A285-B4D7C830B0B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4848D5-4D1D-42F8-86F6-865B3B380B0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71624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C1DE4C-441F-466A-A8AC-EBCFEAD655A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评测报告的结构（续）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2ADF0DE-2C66-47BB-A9BA-5F68F809F646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4FD13CE-512C-4540-9D9B-E4A61D1D5CA3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这样才能发现：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666816B-4C48-4889-BDEA-D914F1A0C47E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B4FEB06-954C-43B3-90DC-E767555A5DE1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A9AE15F-41EC-4C61-9C61-E904D0FD1CF9}"/>
              </a:ext>
            </a:extLst>
          </p:cNvPr>
          <p:cNvSpPr>
            <a:spLocks noGrp="1"/>
          </p:cNvSpPr>
          <p:nvPr/>
        </p:nvSpPr>
        <p:spPr>
          <a:xfrm>
            <a:off x="1104900" y="2238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总分不错，但海外差旅场景明显不可用。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39F9F4E-9E19-494F-B299-37407B5FDF86}"/>
              </a:ext>
            </a:extLst>
          </p:cNvPr>
          <p:cNvSpPr>
            <a:spLocks noGrp="1"/>
          </p:cNvSpPr>
          <p:nvPr/>
        </p:nvSpPr>
        <p:spPr>
          <a:xfrm>
            <a:off x="838200" y="27813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失败问题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FEE8967-871C-43A4-8852-435048AF353B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F0E38E-42F9-41FE-A371-8125EDC7CC31}"/>
              </a:ext>
            </a:extLst>
          </p:cNvPr>
          <p:cNvSpPr>
            <a:spLocks noGrp="1"/>
          </p:cNvSpPr>
          <p:nvPr/>
        </p:nvSpPr>
        <p:spPr>
          <a:xfrm>
            <a:off x="838200" y="32004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不能只告诉团队“有39条失败”，还要进一步分类：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0C2778E-1EB7-41C1-959A-F210BF453E56}"/>
              </a:ext>
            </a:extLst>
          </p:cNvPr>
          <p:cNvSpPr>
            <a:spLocks noGrp="1"/>
          </p:cNvSpPr>
          <p:nvPr/>
        </p:nvSpPr>
        <p:spPr>
          <a:xfrm>
            <a:off x="876300" y="36195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37A067D-CFED-44DB-8E35-09F91726BEB6}"/>
              </a:ext>
            </a:extLst>
          </p:cNvPr>
          <p:cNvSpPr>
            <a:spLocks noGrp="1"/>
          </p:cNvSpPr>
          <p:nvPr/>
        </p:nvSpPr>
        <p:spPr>
          <a:xfrm>
            <a:off x="1371600" y="36099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核心事实错误；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342E855-0AD9-4208-BEF6-B50744A0580D}"/>
              </a:ext>
            </a:extLst>
          </p:cNvPr>
          <p:cNvSpPr>
            <a:spLocks noGrp="1"/>
          </p:cNvSpPr>
          <p:nvPr/>
        </p:nvSpPr>
        <p:spPr>
          <a:xfrm>
            <a:off x="876300" y="40195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37A9C7F-51B1-4C3E-B913-405EAEB00236}"/>
              </a:ext>
            </a:extLst>
          </p:cNvPr>
          <p:cNvSpPr>
            <a:spLocks noGrp="1"/>
          </p:cNvSpPr>
          <p:nvPr/>
        </p:nvSpPr>
        <p:spPr>
          <a:xfrm>
            <a:off x="1371600" y="40100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检索不到资料；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334B27-ABC8-494B-954D-1756C6B80244}"/>
              </a:ext>
            </a:extLst>
          </p:cNvPr>
          <p:cNvSpPr>
            <a:spLocks noGrp="1"/>
          </p:cNvSpPr>
          <p:nvPr/>
        </p:nvSpPr>
        <p:spPr>
          <a:xfrm>
            <a:off x="876300" y="4419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3F965CA-9641-46C5-86E4-2F010E843C72}"/>
              </a:ext>
            </a:extLst>
          </p:cNvPr>
          <p:cNvSpPr>
            <a:spLocks noGrp="1"/>
          </p:cNvSpPr>
          <p:nvPr/>
        </p:nvSpPr>
        <p:spPr>
          <a:xfrm>
            <a:off x="1371600" y="4410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答非所问；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C685BB9-C537-4483-A020-057EC4B411A9}"/>
              </a:ext>
            </a:extLst>
          </p:cNvPr>
          <p:cNvSpPr>
            <a:spLocks noGrp="1"/>
          </p:cNvSpPr>
          <p:nvPr/>
        </p:nvSpPr>
        <p:spPr>
          <a:xfrm>
            <a:off x="876300" y="4819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929C655-D996-4DDA-94FB-71B545235BFE}"/>
              </a:ext>
            </a:extLst>
          </p:cNvPr>
          <p:cNvSpPr>
            <a:spLocks noGrp="1"/>
          </p:cNvSpPr>
          <p:nvPr/>
        </p:nvSpPr>
        <p:spPr>
          <a:xfrm>
            <a:off x="1371600" y="4810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信息遗漏；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C01A863-6DBA-40D7-9C1B-BCF24102A21E}"/>
              </a:ext>
            </a:extLst>
          </p:cNvPr>
          <p:cNvSpPr>
            <a:spLocks noGrp="1"/>
          </p:cNvSpPr>
          <p:nvPr/>
        </p:nvSpPr>
        <p:spPr>
          <a:xfrm>
            <a:off x="876300" y="5219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F9D0C14-BE16-4591-BF67-62362D78A98A}"/>
              </a:ext>
            </a:extLst>
          </p:cNvPr>
          <p:cNvSpPr>
            <a:spLocks noGrp="1"/>
          </p:cNvSpPr>
          <p:nvPr/>
        </p:nvSpPr>
        <p:spPr>
          <a:xfrm>
            <a:off x="1371600" y="5210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无依据扩展；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4D1CFEE-38C5-471B-A267-A423BB15E4AB}"/>
              </a:ext>
            </a:extLst>
          </p:cNvPr>
          <p:cNvSpPr>
            <a:spLocks noGrp="1"/>
          </p:cNvSpPr>
          <p:nvPr/>
        </p:nvSpPr>
        <p:spPr>
          <a:xfrm>
            <a:off x="876300" y="5619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F4107B8-81CF-4EB4-9021-0BF6D1A37580}"/>
              </a:ext>
            </a:extLst>
          </p:cNvPr>
          <p:cNvSpPr>
            <a:spLocks noGrp="1"/>
          </p:cNvSpPr>
          <p:nvPr/>
        </p:nvSpPr>
        <p:spPr>
          <a:xfrm>
            <a:off x="1371600" y="5610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隐私或越权问题；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A43F5DD-FCF0-4B68-8CAB-3A0EAE303016}"/>
              </a:ext>
            </a:extLst>
          </p:cNvPr>
          <p:cNvSpPr>
            <a:spLocks noGrp="1"/>
          </p:cNvSpPr>
          <p:nvPr/>
        </p:nvSpPr>
        <p:spPr>
          <a:xfrm>
            <a:off x="876300" y="6019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7E8D9D1-FFEA-46E4-BC5C-0679E7A4E0AC}"/>
              </a:ext>
            </a:extLst>
          </p:cNvPr>
          <p:cNvSpPr>
            <a:spLocks noGrp="1"/>
          </p:cNvSpPr>
          <p:nvPr/>
        </p:nvSpPr>
        <p:spPr>
          <a:xfrm>
            <a:off x="1371600" y="6010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输出格式错误。</a:t>
            </a:r>
          </a:p>
        </p:txBody>
      </p:sp>
    </p:spTree>
    <p:extLst>
      <p:ext uri="{BB962C8B-B14F-4D97-AF65-F5344CB8AC3E}">
        <p14:creationId xmlns:p14="http://schemas.microsoft.com/office/powerpoint/2010/main" val="11162570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44B554C2-12F3-4BD0-9398-74F3C8721BAD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42ECB7D-2B59-48C0-8D60-6A7BD334796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39C4D5F-B45A-44F3-B4B0-54AF005C3E2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57135D2-3480-45F0-98AB-A99D6848022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77579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6B63D9-ADAC-42DE-A888-EF05B16DFE2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评测报告的结构（续）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831D05D-3F2F-47E6-BE49-453917455FE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14452A-E77B-4548-8B2E-823C35363393}"/>
              </a:ext>
            </a:extLst>
          </p:cNvPr>
          <p:cNvSpPr>
            <a:spLocks noGrp="1"/>
          </p:cNvSpPr>
          <p:nvPr/>
        </p:nvSpPr>
        <p:spPr>
          <a:xfrm>
            <a:off x="838200" y="1724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版本变化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729EDC-D1CE-4249-8F89-83CC68745AC1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AF198E-35A3-485D-B2AB-AB437BDCAB1F}"/>
              </a:ext>
            </a:extLst>
          </p:cNvPr>
          <p:cNvSpPr>
            <a:spLocks noGrp="1"/>
          </p:cNvSpPr>
          <p:nvPr/>
        </p:nvSpPr>
        <p:spPr>
          <a:xfrm>
            <a:off x="838200" y="2143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不仅要看新版本得分，还要看：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5920202-2B4A-4D85-88BD-89BEBF7DB14A}"/>
              </a:ext>
            </a:extLst>
          </p:cNvPr>
          <p:cNvSpPr>
            <a:spLocks noGrp="1"/>
          </p:cNvSpPr>
          <p:nvPr/>
        </p:nvSpPr>
        <p:spPr>
          <a:xfrm>
            <a:off x="876300" y="2562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9823F4-A7CD-47F5-9D42-84EF23F87B73}"/>
              </a:ext>
            </a:extLst>
          </p:cNvPr>
          <p:cNvSpPr>
            <a:spLocks noGrp="1"/>
          </p:cNvSpPr>
          <p:nvPr/>
        </p:nvSpPr>
        <p:spPr>
          <a:xfrm>
            <a:off x="1371600" y="2552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哪些问题被修复；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39CF85-D1A7-4F6F-8AA5-1E8FCAF48310}"/>
              </a:ext>
            </a:extLst>
          </p:cNvPr>
          <p:cNvSpPr>
            <a:spLocks noGrp="1"/>
          </p:cNvSpPr>
          <p:nvPr/>
        </p:nvSpPr>
        <p:spPr>
          <a:xfrm>
            <a:off x="876300" y="2962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1FDDE0-10CD-4B80-BB85-4FC231BB0092}"/>
              </a:ext>
            </a:extLst>
          </p:cNvPr>
          <p:cNvSpPr>
            <a:spLocks noGrp="1"/>
          </p:cNvSpPr>
          <p:nvPr/>
        </p:nvSpPr>
        <p:spPr>
          <a:xfrm>
            <a:off x="1371600" y="2952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哪些能力获得提升；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EAAF5AC-8F6A-4B43-AF98-EFE0D4059404}"/>
              </a:ext>
            </a:extLst>
          </p:cNvPr>
          <p:cNvSpPr>
            <a:spLocks noGrp="1"/>
          </p:cNvSpPr>
          <p:nvPr/>
        </p:nvSpPr>
        <p:spPr>
          <a:xfrm>
            <a:off x="876300" y="3362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8309BB5-F8B4-40F0-82CF-74BDBDE0C405}"/>
              </a:ext>
            </a:extLst>
          </p:cNvPr>
          <p:cNvSpPr>
            <a:spLocks noGrp="1"/>
          </p:cNvSpPr>
          <p:nvPr/>
        </p:nvSpPr>
        <p:spPr>
          <a:xfrm>
            <a:off x="1371600" y="3352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哪些原本正确的问题变错；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4FC824E-0C88-48DB-A7BC-08F28D7C31B3}"/>
              </a:ext>
            </a:extLst>
          </p:cNvPr>
          <p:cNvSpPr>
            <a:spLocks noGrp="1"/>
          </p:cNvSpPr>
          <p:nvPr/>
        </p:nvSpPr>
        <p:spPr>
          <a:xfrm>
            <a:off x="876300" y="3762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D59846C-0A5E-4ACA-A4E8-13DE4AE16F24}"/>
              </a:ext>
            </a:extLst>
          </p:cNvPr>
          <p:cNvSpPr>
            <a:spLocks noGrp="1"/>
          </p:cNvSpPr>
          <p:nvPr/>
        </p:nvSpPr>
        <p:spPr>
          <a:xfrm>
            <a:off x="1371600" y="3752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变化是否集中在某些场景。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1313EFD-66D5-45E7-B493-324293D6319C}"/>
              </a:ext>
            </a:extLst>
          </p:cNvPr>
          <p:cNvSpPr>
            <a:spLocks noGrp="1"/>
          </p:cNvSpPr>
          <p:nvPr/>
        </p:nvSpPr>
        <p:spPr>
          <a:xfrm>
            <a:off x="838200" y="41338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产品决策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B08E4EA-4853-4D8F-9D49-3F87CF4D31F8}"/>
              </a:ext>
            </a:extLst>
          </p:cNvPr>
          <p:cNvSpPr>
            <a:spLocks noGrp="1"/>
          </p:cNvSpPr>
          <p:nvPr/>
        </p:nvSpPr>
        <p:spPr>
          <a:xfrm>
            <a:off x="838200" y="44577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E2EDFAB-3FDD-4348-B794-2EF643F02292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报告最终必须支持决策：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F70BB91-4502-4049-9812-1205F1D914AE}"/>
              </a:ext>
            </a:extLst>
          </p:cNvPr>
          <p:cNvSpPr>
            <a:spLocks noGrp="1"/>
          </p:cNvSpPr>
          <p:nvPr/>
        </p:nvSpPr>
        <p:spPr>
          <a:xfrm>
            <a:off x="876300" y="49720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6343444-0B4C-4E29-A7A2-0ED28F839F20}"/>
              </a:ext>
            </a:extLst>
          </p:cNvPr>
          <p:cNvSpPr>
            <a:spLocks noGrp="1"/>
          </p:cNvSpPr>
          <p:nvPr/>
        </p:nvSpPr>
        <p:spPr>
          <a:xfrm>
            <a:off x="1371600" y="49625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可以全量上线；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E76132B-18CE-4C08-9B03-45C62D9B41BF}"/>
              </a:ext>
            </a:extLst>
          </p:cNvPr>
          <p:cNvSpPr>
            <a:spLocks noGrp="1"/>
          </p:cNvSpPr>
          <p:nvPr/>
        </p:nvSpPr>
        <p:spPr>
          <a:xfrm>
            <a:off x="876300" y="53721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DA18D5B-C7EC-4175-A4BB-29A67C38E792}"/>
              </a:ext>
            </a:extLst>
          </p:cNvPr>
          <p:cNvSpPr>
            <a:spLocks noGrp="1"/>
          </p:cNvSpPr>
          <p:nvPr/>
        </p:nvSpPr>
        <p:spPr>
          <a:xfrm>
            <a:off x="1371600" y="53625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只能灰度上线；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DFBA036-D2FA-4FE8-BC0C-729BADBC4498}"/>
              </a:ext>
            </a:extLst>
          </p:cNvPr>
          <p:cNvSpPr>
            <a:spLocks noGrp="1"/>
          </p:cNvSpPr>
          <p:nvPr/>
        </p:nvSpPr>
        <p:spPr>
          <a:xfrm>
            <a:off x="876300" y="57721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30C968D-1F95-4FCD-ADE7-D87A79C2C788}"/>
              </a:ext>
            </a:extLst>
          </p:cNvPr>
          <p:cNvSpPr>
            <a:spLocks noGrp="1"/>
          </p:cNvSpPr>
          <p:nvPr/>
        </p:nvSpPr>
        <p:spPr>
          <a:xfrm>
            <a:off x="1371600" y="57626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需要退回优化；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81A480A-70A8-4274-A12E-0D6F56D2E631}"/>
              </a:ext>
            </a:extLst>
          </p:cNvPr>
          <p:cNvSpPr>
            <a:spLocks noGrp="1"/>
          </p:cNvSpPr>
          <p:nvPr/>
        </p:nvSpPr>
        <p:spPr>
          <a:xfrm>
            <a:off x="876300" y="61722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7048C4A-E6A9-4520-B0F8-C248EBAF8055}"/>
              </a:ext>
            </a:extLst>
          </p:cNvPr>
          <p:cNvSpPr>
            <a:spLocks noGrp="1"/>
          </p:cNvSpPr>
          <p:nvPr/>
        </p:nvSpPr>
        <p:spPr>
          <a:xfrm>
            <a:off x="1371600" y="61626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某些场景暂时关闭；</a:t>
            </a:r>
          </a:p>
        </p:txBody>
      </p:sp>
    </p:spTree>
    <p:extLst>
      <p:ext uri="{BB962C8B-B14F-4D97-AF65-F5344CB8AC3E}">
        <p14:creationId xmlns:p14="http://schemas.microsoft.com/office/powerpoint/2010/main" val="170977326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A12B2ECF-5CC0-4FE6-8590-FF7C9A2C2EE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580A19F-C430-4660-A987-B7DCCF6AD0D7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CDE3518-BCFC-4B6D-BE56-48FE1E66A62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5C8B9B-777A-457A-A29B-866D10C31AE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83533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9C9C973-0267-4149-9214-6374E53A9B86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评测报告的结构（续）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19EC442-19D4-4647-9932-22855705119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03E211C-65E1-434C-AF1C-5336299DC2A0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BC935BF-8FFF-4EAC-AFE7-5B179008C051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高风险问题必须转人工。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8BBF802-DD4B-45EA-8EEA-7FE7068BCD99}"/>
              </a:ext>
            </a:extLst>
          </p:cNvPr>
          <p:cNvSpPr>
            <a:spLocks noGrp="1"/>
          </p:cNvSpPr>
          <p:nvPr/>
        </p:nvSpPr>
        <p:spPr>
          <a:xfrm>
            <a:off x="838200" y="21145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如果报告只有大量数字，却无法支持产品决策，它就还不是一份完整的评测报告。</a:t>
            </a:r>
          </a:p>
        </p:txBody>
      </p:sp>
    </p:spTree>
    <p:extLst>
      <p:ext uri="{BB962C8B-B14F-4D97-AF65-F5344CB8AC3E}">
        <p14:creationId xmlns:p14="http://schemas.microsoft.com/office/powerpoint/2010/main" val="102673836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61867311-0665-4579-86D1-388116AAEEE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6FA6D79-00B9-4329-83A8-4F9CAB19BFE7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A7B8F70-1E3A-4D06-907C-F95F6FF641A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067E95-4D37-4A4F-BC19-9246EA787DE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89488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BB4857-6614-4AFE-AAEC-112A8B81DB77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平均分的局限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74AB146-C6E8-421E-AEE2-99B233D8A31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3049549-03E6-4B60-A537-F98D42928C4E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假设评测集有100条问题：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73F4666-1803-42AD-97B5-969E29B151E8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B1825D-4B2A-4A90-B454-BD682FDEDED0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99条普通问题全部正确；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F6E4899-8ABA-4D9D-B5D7-74399729DABF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0A4E834-9A4A-41DF-BA74-AE970B77F054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1条工资隐私问题直接泄露了员工薪资。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B130EA2-904E-4AD8-B138-E8529DBE83BA}"/>
              </a:ext>
            </a:extLst>
          </p:cNvPr>
          <p:cNvSpPr>
            <a:spLocks noGrp="1"/>
          </p:cNvSpPr>
          <p:nvPr/>
        </p:nvSpPr>
        <p:spPr>
          <a:xfrm>
            <a:off x="838200" y="2895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总体通过率仍然是99%。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3F98D99-A4AA-4A34-BFBE-F0E051A7CC79}"/>
              </a:ext>
            </a:extLst>
          </p:cNvPr>
          <p:cNvSpPr>
            <a:spLocks noGrp="1"/>
          </p:cNvSpPr>
          <p:nvPr/>
        </p:nvSpPr>
        <p:spPr>
          <a:xfrm>
            <a:off x="838200" y="3276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如果只看平均分，产品看起来非常优秀。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D7B50BF-F167-4674-A2DE-B72C1272119E}"/>
              </a:ext>
            </a:extLst>
          </p:cNvPr>
          <p:cNvSpPr>
            <a:spLocks noGrp="1"/>
          </p:cNvSpPr>
          <p:nvPr/>
        </p:nvSpPr>
        <p:spPr>
          <a:xfrm>
            <a:off x="838200" y="3657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但这条安全错误可能已经足以阻止上线。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F077BFF-1A19-4ED8-B175-F8EC398F8C7E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所以报告必须把以下指标单独展示：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138322-B79B-4AC5-8C3D-16FE78357225}"/>
              </a:ext>
            </a:extLst>
          </p:cNvPr>
          <p:cNvSpPr>
            <a:spLocks noGrp="1"/>
          </p:cNvSpPr>
          <p:nvPr/>
        </p:nvSpPr>
        <p:spPr>
          <a:xfrm>
            <a:off x="876300" y="4457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924B4B9-490B-48C6-A17E-2EE53EE97FF5}"/>
              </a:ext>
            </a:extLst>
          </p:cNvPr>
          <p:cNvSpPr>
            <a:spLocks noGrp="1"/>
          </p:cNvSpPr>
          <p:nvPr/>
        </p:nvSpPr>
        <p:spPr>
          <a:xfrm>
            <a:off x="1371600" y="4448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高风险样本通过率；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130FEBB-7CEB-4042-AFE4-DD0EE977F670}"/>
              </a:ext>
            </a:extLst>
          </p:cNvPr>
          <p:cNvSpPr>
            <a:spLocks noGrp="1"/>
          </p:cNvSpPr>
          <p:nvPr/>
        </p:nvSpPr>
        <p:spPr>
          <a:xfrm>
            <a:off x="876300" y="4857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29C812A-50FC-4C71-9457-2AA90A0684F3}"/>
              </a:ext>
            </a:extLst>
          </p:cNvPr>
          <p:cNvSpPr>
            <a:spLocks noGrp="1"/>
          </p:cNvSpPr>
          <p:nvPr/>
        </p:nvSpPr>
        <p:spPr>
          <a:xfrm>
            <a:off x="1371600" y="4848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红线问题数量；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A617D8B-A024-4FCF-B51E-7D14B3AF237E}"/>
              </a:ext>
            </a:extLst>
          </p:cNvPr>
          <p:cNvSpPr>
            <a:spLocks noGrp="1"/>
          </p:cNvSpPr>
          <p:nvPr/>
        </p:nvSpPr>
        <p:spPr>
          <a:xfrm>
            <a:off x="876300" y="5257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6E4B935-4DD6-4A7A-AD24-6F1BEF56B4AD}"/>
              </a:ext>
            </a:extLst>
          </p:cNvPr>
          <p:cNvSpPr>
            <a:spLocks noGrp="1"/>
          </p:cNvSpPr>
          <p:nvPr/>
        </p:nvSpPr>
        <p:spPr>
          <a:xfrm>
            <a:off x="1371600" y="5248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严重错误数量；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EE8432A-7D6E-4D2A-89F4-81CDA2FACE5E}"/>
              </a:ext>
            </a:extLst>
          </p:cNvPr>
          <p:cNvSpPr>
            <a:spLocks noGrp="1"/>
          </p:cNvSpPr>
          <p:nvPr/>
        </p:nvSpPr>
        <p:spPr>
          <a:xfrm>
            <a:off x="876300" y="5657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3F801AC-2A84-41D7-A116-46BEC9AD02BE}"/>
              </a:ext>
            </a:extLst>
          </p:cNvPr>
          <p:cNvSpPr>
            <a:spLocks noGrp="1"/>
          </p:cNvSpPr>
          <p:nvPr/>
        </p:nvSpPr>
        <p:spPr>
          <a:xfrm>
            <a:off x="1371600" y="5648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各场景最低表现；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BF4CB3C-F837-4493-9375-99C2BE315FB8}"/>
              </a:ext>
            </a:extLst>
          </p:cNvPr>
          <p:cNvSpPr>
            <a:spLocks noGrp="1"/>
          </p:cNvSpPr>
          <p:nvPr/>
        </p:nvSpPr>
        <p:spPr>
          <a:xfrm>
            <a:off x="876300" y="6057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C45BBB6-52E2-4EBD-8E2B-EF72F68F9F1A}"/>
              </a:ext>
            </a:extLst>
          </p:cNvPr>
          <p:cNvSpPr>
            <a:spLocks noGrp="1"/>
          </p:cNvSpPr>
          <p:nvPr/>
        </p:nvSpPr>
        <p:spPr>
          <a:xfrm>
            <a:off x="1371600" y="6048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相对基线的退化数量。</a:t>
            </a:r>
          </a:p>
        </p:txBody>
      </p:sp>
    </p:spTree>
    <p:extLst>
      <p:ext uri="{BB962C8B-B14F-4D97-AF65-F5344CB8AC3E}">
        <p14:creationId xmlns:p14="http://schemas.microsoft.com/office/powerpoint/2010/main" val="31249243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B1F51930-8C25-4CEC-8D21-4EAC992B85A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87DFDD5-3796-40F2-9D08-49EA92DDB03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C63B35B-B467-4B59-AFDB-B00CD3E4CD6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8B6BA5A-8016-43CD-A129-6C78278158D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595442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0F26E3-F0BE-49D9-B5F3-80D070C9E85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平均分的局限（续）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2C7D30B-F1B2-4D64-A582-226BCCC6B2A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B899B4-2CA3-43F6-948D-76BFEDF3F294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平均分适合描述整体趋势，但不能掩盖关键风险。</a:t>
            </a:r>
          </a:p>
        </p:txBody>
      </p:sp>
    </p:spTree>
    <p:extLst>
      <p:ext uri="{BB962C8B-B14F-4D97-AF65-F5344CB8AC3E}">
        <p14:creationId xmlns:p14="http://schemas.microsoft.com/office/powerpoint/2010/main" val="68196507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B835AF8E-9B14-41C8-86F1-42A014B39CF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BBC8EC-D782-423B-BAC0-90B2A696D373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E7E800E-FB26-47CE-9BB4-C4129683045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A362EAD-9FD5-455C-B15D-A3AE1D54205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01397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66FE660-5E1A-4243-9118-16C874685D2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上线门槛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B492FE4-0EC2-43E6-BEBE-44EEE7B3333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B5084A-B8CF-41EE-85FC-BF1901275D72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评测完成后，需要提前定义上线条件。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1B564DD-402F-4040-A45A-7BA0C956FB9F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754A9C2D-2C74-4C28-8772-F2E41300FEA8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1524000"/>
          </a:xfrm>
          <a:prstGeom prst="roundRect">
            <a:avLst>
              <a:gd name="adj" fmla="val 6250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7BE1FEA-3457-4644-BC7B-88943A15D539}"/>
              </a:ext>
            </a:extLst>
          </p:cNvPr>
          <p:cNvSpPr>
            <a:spLocks noGrp="1"/>
          </p:cNvSpPr>
          <p:nvPr/>
        </p:nvSpPr>
        <p:spPr>
          <a:xfrm>
            <a:off x="1066800" y="2609850"/>
            <a:ext cx="10048875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核心事实正确率 ≥ 95%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总体通过率 ≥ 90%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高风险样本通过率 ≥ 98%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安全红线问题 = 0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P95响应时间 ≤ 5秒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单次调用成本 ≤ 0.10元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5307756-B17F-4B61-96AB-D66BEFEDB0BC}"/>
              </a:ext>
            </a:extLst>
          </p:cNvPr>
          <p:cNvSpPr>
            <a:spLocks noGrp="1"/>
          </p:cNvSpPr>
          <p:nvPr/>
        </p:nvSpPr>
        <p:spPr>
          <a:xfrm>
            <a:off x="838200" y="4095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这里的具体数字要根据业务决定，不能直接照搬。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F8B27F4-B9F9-4A91-920E-372BBD1A1AE7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高风险产品的门槛会更严格；创意写作产品可以允许更多输出差异。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6B74021-E01A-402C-AB0D-060A57A009B2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关键是：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51BAE7AF-61B5-4796-AFEB-4920415416C0}"/>
              </a:ext>
            </a:extLst>
          </p:cNvPr>
          <p:cNvSpPr>
            <a:spLocks noGrp="1"/>
          </p:cNvSpPr>
          <p:nvPr/>
        </p:nvSpPr>
        <p:spPr>
          <a:xfrm>
            <a:off x="819150" y="52387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E5ADDBA-38C3-4EB9-90AE-B6AA0AAFA701}"/>
              </a:ext>
            </a:extLst>
          </p:cNvPr>
          <p:cNvSpPr>
            <a:spLocks noGrp="1"/>
          </p:cNvSpPr>
          <p:nvPr/>
        </p:nvSpPr>
        <p:spPr>
          <a:xfrm>
            <a:off x="819150" y="52387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CDA484C-B88B-45D8-A6FF-3E15E994DC44}"/>
              </a:ext>
            </a:extLst>
          </p:cNvPr>
          <p:cNvSpPr>
            <a:spLocks noGrp="1"/>
          </p:cNvSpPr>
          <p:nvPr/>
        </p:nvSpPr>
        <p:spPr>
          <a:xfrm>
            <a:off x="1104900" y="53816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上线门槛应该在看结果之前定义，而不是结果出来后再调整标准让它通过。</a:t>
            </a:r>
          </a:p>
        </p:txBody>
      </p:sp>
    </p:spTree>
    <p:extLst>
      <p:ext uri="{BB962C8B-B14F-4D97-AF65-F5344CB8AC3E}">
        <p14:creationId xmlns:p14="http://schemas.microsoft.com/office/powerpoint/2010/main" val="172817119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CEAA2B79-CDFE-44E5-A676-4A46BC1E2716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5299D60-747B-44B7-BB6E-C9921F1CEE83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FBF319-6DC0-4936-8FCF-125E024B5FE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F33C0B-B6E4-472C-80C1-9619B927D55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07351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A847ECC-2EE4-4048-AF5A-64E6278B8295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自动化评测的局限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C0E0A7C-775F-40A0-95F7-9A9D71EFE4F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1A8DA95-EE4D-4C54-B7C9-CD80F3932F34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自动化不代表评测已经完全客观。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5756D01-1059-46AC-87D9-0D52228FBEBD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它仍然可能受到以下问题影响：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9D159EC-91F5-4A57-BAFD-71F551004A1B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4686899-E611-4DED-BD18-ED9E5EB30B52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评测集不能代表真实用户；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77326D-79B7-480E-B235-5936BF8ACB5C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BEA0EA9-7F72-42F3-ABA3-D64A72B3B082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参考答案已经过期；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A649E03-8122-4041-857E-3D07F49B8A65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ACE706C-F170-45E4-9E51-1BBB3DFB9C5F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规则设计错误；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FE726DF-EB70-4657-89EE-2B877A5478AE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928362-085F-4726-AEE0-1C2ECBD36A17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相似度阈值不合理；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442921-FA8F-47C5-991B-D7540AC10B12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E3726E5-E2DA-4AF9-ACF3-5F9D2F8C11E2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LLM裁判评分发生漂移；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49411E6-6F35-41A7-B64C-127124A3150F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B2B6F56-D3B5-47BD-9C86-BC41FF32F596}"/>
              </a:ext>
            </a:extLst>
          </p:cNvPr>
          <p:cNvSpPr>
            <a:spLocks noGrp="1"/>
          </p:cNvSpPr>
          <p:nvPr/>
        </p:nvSpPr>
        <p:spPr>
          <a:xfrm>
            <a:off x="1371600" y="4505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业务红线没有被覆盖；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6E36F02-8D94-46EB-8D95-E0B2AB398CE9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3FF4824-9419-4E00-9FC9-1CEE51EAE3F1}"/>
              </a:ext>
            </a:extLst>
          </p:cNvPr>
          <p:cNvSpPr>
            <a:spLocks noGrp="1"/>
          </p:cNvSpPr>
          <p:nvPr/>
        </p:nvSpPr>
        <p:spPr>
          <a:xfrm>
            <a:off x="1371600" y="4905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同一个问题运行次数不足。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BB38A09-07E1-4940-A592-7AF75B48D8B1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因此，自动化评测还需要定期人工校准：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78714E8-BC1F-4EBB-B925-631AFFAC0DC0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9A78827-AE9C-4FBC-8807-308595BED5AC}"/>
              </a:ext>
            </a:extLst>
          </p:cNvPr>
          <p:cNvSpPr>
            <a:spLocks noGrp="1"/>
          </p:cNvSpPr>
          <p:nvPr/>
        </p:nvSpPr>
        <p:spPr>
          <a:xfrm>
            <a:off x="1371600" y="5686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抽查自动高分样本；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0E002FB-29F4-4D4D-B275-9D237409D274}"/>
              </a:ext>
            </a:extLst>
          </p:cNvPr>
          <p:cNvSpPr>
            <a:spLocks noGrp="1"/>
          </p:cNvSpPr>
          <p:nvPr/>
        </p:nvSpPr>
        <p:spPr>
          <a:xfrm>
            <a:off x="876300" y="60960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50BE711-4058-4E64-B129-850B94ECA8B9}"/>
              </a:ext>
            </a:extLst>
          </p:cNvPr>
          <p:cNvSpPr>
            <a:spLocks noGrp="1"/>
          </p:cNvSpPr>
          <p:nvPr/>
        </p:nvSpPr>
        <p:spPr>
          <a:xfrm>
            <a:off x="1371600" y="60864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抽查自动低分样本；</a:t>
            </a:r>
          </a:p>
        </p:txBody>
      </p:sp>
    </p:spTree>
    <p:extLst>
      <p:ext uri="{BB962C8B-B14F-4D97-AF65-F5344CB8AC3E}">
        <p14:creationId xmlns:p14="http://schemas.microsoft.com/office/powerpoint/2010/main" val="79270444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4911928-3D67-4792-9269-BFE8D7B1A72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3BB343E-431B-4CD7-9DB5-FC3FCEEB127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08DC40B-8356-4533-9099-F76D179699D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2C79491-27C0-43FA-9F11-3A35B7E5088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13305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3CF2B8-4D55-4D3D-92BF-CCF684BFC69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自动化评测的局限（续）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D25777-C1C5-4F02-8E5E-BBF6ACB8C940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F4692D-268F-420A-826C-C4667354DEBA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E1F06DE-9094-4DDC-B700-DDB2C9BF170B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重点复核红线问题；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705BB9-260C-4778-AA64-EC5DD8D11FC4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55308C4-EDDD-4F4A-A8C3-677F38BE1672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对比人工评分与Judge评分；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BA3A389-658F-4FB3-B3EF-57346669C710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8672B5-698F-4356-B405-6116B7F7F8AE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更新过期用例和业务规则。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A60CC05-411B-42AD-9787-C98FE59F1264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自动化负责扩大覆盖规模，人工负责维护评测标准。</a:t>
            </a:r>
          </a:p>
        </p:txBody>
      </p:sp>
    </p:spTree>
    <p:extLst>
      <p:ext uri="{BB962C8B-B14F-4D97-AF65-F5344CB8AC3E}">
        <p14:creationId xmlns:p14="http://schemas.microsoft.com/office/powerpoint/2010/main" val="32531218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BEC71CFA-0CBE-4BDC-9D4D-10B777E2A2D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AUTOMATION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978EE1A-033D-4E6D-86BB-30A4D160940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F21D412-9421-4AE9-B60F-174E0624672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1B36ABB-9A27-485B-92F5-21EE30CC65C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19260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02AD086-7E96-46A4-ACE2-AE1F1D24D0C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第五部分总结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3A97A2D-3181-4C18-A6BD-33AD60037FC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6797AB6-511D-4B70-ABAB-CE0CF6DDDDE6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自动化评测把评测工作连接成完整流程：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CAC6A42-EC34-489C-8B10-29B9CA4909F7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9DC5C95-781A-43AC-8B47-60DD988B8209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管理评测用例。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2E6C67F-2006-4BF1-AC7F-BE5CAA4BCB3F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A0622C6-C38F-48A8-806A-C0D99DC044E5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批量运行被测产品。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60ADB3D-772B-4FD4-B39F-1CAB37984B9E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D010D72-6F17-4591-911D-7150611A5334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组合多种评分方法。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E14C5B0-5F21-4CC4-9B47-D97B964E0BA7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56F01E5-12F8-4EDD-988F-98E686E6C526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识别低分和红线问题。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8512814-B4E4-408B-8232-8A806A6F4E03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F5CC3D0-BBCC-45CD-89CD-C472F10D96D1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比较不同版本。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045C689-90B0-4722-91F4-ADF96603BFD1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C68806F-E41B-4DA7-8437-60CF7F4EF929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生成支持产品决策的报告。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E73775B-3917-4AAE-A458-D77530BF42BA}"/>
              </a:ext>
            </a:extLst>
          </p:cNvPr>
          <p:cNvSpPr>
            <a:spLocks noGrp="1"/>
          </p:cNvSpPr>
          <p:nvPr/>
        </p:nvSpPr>
        <p:spPr>
          <a:xfrm>
            <a:off x="838200" y="44958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最重要的是：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7F5120E4-0256-4CD0-8424-E583FFA9104E}"/>
              </a:ext>
            </a:extLst>
          </p:cNvPr>
          <p:cNvSpPr>
            <a:spLocks noGrp="1"/>
          </p:cNvSpPr>
          <p:nvPr/>
        </p:nvSpPr>
        <p:spPr>
          <a:xfrm>
            <a:off x="819150" y="48768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F2CAE4A-BCD2-44BB-86F6-735B21F027E6}"/>
              </a:ext>
            </a:extLst>
          </p:cNvPr>
          <p:cNvSpPr>
            <a:spLocks noGrp="1"/>
          </p:cNvSpPr>
          <p:nvPr/>
        </p:nvSpPr>
        <p:spPr>
          <a:xfrm>
            <a:off x="819150" y="48768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DA9A995-1DC7-469F-ACB6-A8B0159D29C0}"/>
              </a:ext>
            </a:extLst>
          </p:cNvPr>
          <p:cNvSpPr>
            <a:spLocks noGrp="1"/>
          </p:cNvSpPr>
          <p:nvPr/>
        </p:nvSpPr>
        <p:spPr>
          <a:xfrm>
            <a:off x="1104900" y="50196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自动化的价值不是生成更多分数，而是让同一套评测能够低成本、可重复地运行。</a:t>
            </a:r>
          </a:p>
        </p:txBody>
      </p:sp>
    </p:spTree>
    <p:extLst>
      <p:ext uri="{BB962C8B-B14F-4D97-AF65-F5344CB8AC3E}">
        <p14:creationId xmlns:p14="http://schemas.microsoft.com/office/powerpoint/2010/main" val="174037880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7BF13AE4-D93A-4D71-90B3-A23662C4106C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2476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850" b="1">
                <a:solidFill>
                  <a:srgbClr val="36D6C2"/>
                </a:solidFill>
              </a:defRPr>
            </a:pPr>
            <a:r>
              <a:rPr sz="8850" b="1">
                <a:solidFill>
                  <a:srgbClr val="36D6C2"/>
                </a:solidFill>
              </a:rPr>
              <a:t>06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0EDBAF-8472-4CA9-8EC6-3A64F509094C}"/>
              </a:ext>
            </a:extLst>
          </p:cNvPr>
          <p:cNvSpPr>
            <a:spLocks noGrp="1"/>
          </p:cNvSpPr>
          <p:nvPr/>
        </p:nvSpPr>
        <p:spPr>
          <a:xfrm>
            <a:off x="704850" y="2857500"/>
            <a:ext cx="952500" cy="476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8E522F0-AAF2-4F7F-8F92-C4CF8A70806B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1047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Bad Case分析与问题归因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C14F4F-BE5F-4EBB-BC94-7E0DC62DC6EF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914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按照讲稿结构展开概念、方法与完整示例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2A258FE-5AB9-434B-B079-AA6D696D996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830F8C1-E38B-40F4-9265-DFA71EB99DE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105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B3D8B6E-3B87-4D48-B512-CFB35800F0C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01CD9A9-AA68-4BAD-B6FC-D57360408F7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25214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6944660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C4DE873-C7B0-49BA-B449-CB12387CD5B7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2B00C02-0928-4453-A9D8-6A8953B01F3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78C0299-6E62-463D-986A-C0BCC254BF5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03F643E-C693-4B15-BEEE-5D19049FF72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31169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FAF8C7F-3B45-464B-B950-738E2F7D83D1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第六部分：Bad Case分析与问题归因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BCD6AC-4A19-4960-B997-A4E482373E3F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4064794-0C1B-4FD2-B70B-017EBA10074A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自动化评测发现低分回答后，下一步不能只是记录：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30C56D3A-CD78-43F3-BC9E-7A2FF90973DE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A4EFE0-0FFD-4490-8DC1-0AA927E78935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E7591B0-4D0D-450B-9D72-E60270BD8CAC}"/>
              </a:ext>
            </a:extLst>
          </p:cNvPr>
          <p:cNvSpPr>
            <a:spLocks noGrp="1"/>
          </p:cNvSpPr>
          <p:nvPr/>
        </p:nvSpPr>
        <p:spPr>
          <a:xfrm>
            <a:off x="1104900" y="2238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这一题答错了。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E150A9-15E5-4099-9CD3-B23DA7852711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团队还需要判断：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BC5422B9-CD3D-485F-A86F-E0F0D176736D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7E000E4-120F-4103-BD75-B6062BFC67FE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C509EB-6F3E-48B2-8CC0-0BE9078C1C62}"/>
              </a:ext>
            </a:extLst>
          </p:cNvPr>
          <p:cNvSpPr>
            <a:spLocks noGrp="1"/>
          </p:cNvSpPr>
          <p:nvPr/>
        </p:nvSpPr>
        <p:spPr>
          <a:xfrm>
            <a:off x="1104900" y="3295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为什么答错？应该修改哪一层？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10F5341-B944-4A75-8D49-F0560278EE11}"/>
              </a:ext>
            </a:extLst>
          </p:cNvPr>
          <p:cNvSpPr>
            <a:spLocks noGrp="1"/>
          </p:cNvSpPr>
          <p:nvPr/>
        </p:nvSpPr>
        <p:spPr>
          <a:xfrm>
            <a:off x="838200" y="3829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错误归因是AI产品经理非常重要的能力。因为相同的错误表现，背后可能是完全不同的问题。</a:t>
            </a:r>
          </a:p>
        </p:txBody>
      </p:sp>
    </p:spTree>
    <p:extLst>
      <p:ext uri="{BB962C8B-B14F-4D97-AF65-F5344CB8AC3E}">
        <p14:creationId xmlns:p14="http://schemas.microsoft.com/office/powerpoint/2010/main" val="68729183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1C952D76-9E47-4E54-BFD8-1188DD116816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213DBF-D356-4173-A0E4-2504929A3E76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15E23D-C312-4B38-A65D-869EBD1FDC0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E6E3F10-46B1-4535-863C-47968C4D31D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37123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E43B457-53A5-42E6-9389-5B3D3F1D94CE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Case的基本定义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183333-158A-457D-8822-2382FE605440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D2252A3-37B7-4DB9-87CB-4272731BF14E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Bad Case可以理解为：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B699C004-0FA3-4862-90BE-E4529D44193E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D603AA-C597-41CC-8B1A-729D312BCCE6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56A32F-80D0-4FBE-8A4A-D5360208E2FF}"/>
              </a:ext>
            </a:extLst>
          </p:cNvPr>
          <p:cNvSpPr>
            <a:spLocks noGrp="1"/>
          </p:cNvSpPr>
          <p:nvPr/>
        </p:nvSpPr>
        <p:spPr>
          <a:xfrm>
            <a:off x="1104900" y="2238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AI产品没有达到预期效果的具体案例。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00B4FE-345B-4D0D-A256-39ABDD95AA2A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它不一定只是“答案事实错误”，还可能包括：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35DD61-E234-4738-835C-C3136786F86A}"/>
              </a:ext>
            </a:extLst>
          </p:cNvPr>
          <p:cNvSpPr>
            <a:spLocks noGrp="1"/>
          </p:cNvSpPr>
          <p:nvPr/>
        </p:nvSpPr>
        <p:spPr>
          <a:xfrm>
            <a:off x="876300" y="3190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EF33D1-4DC2-407F-B240-16E8D3817EFA}"/>
              </a:ext>
            </a:extLst>
          </p:cNvPr>
          <p:cNvSpPr>
            <a:spLocks noGrp="1"/>
          </p:cNvSpPr>
          <p:nvPr/>
        </p:nvSpPr>
        <p:spPr>
          <a:xfrm>
            <a:off x="1371600" y="3181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答非所问；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06178D0-8EEA-4DCE-868D-1E6108FF3AF0}"/>
              </a:ext>
            </a:extLst>
          </p:cNvPr>
          <p:cNvSpPr>
            <a:spLocks noGrp="1"/>
          </p:cNvSpPr>
          <p:nvPr/>
        </p:nvSpPr>
        <p:spPr>
          <a:xfrm>
            <a:off x="876300" y="3590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A784178-07E2-47F8-AF4C-9680024CA208}"/>
              </a:ext>
            </a:extLst>
          </p:cNvPr>
          <p:cNvSpPr>
            <a:spLocks noGrp="1"/>
          </p:cNvSpPr>
          <p:nvPr/>
        </p:nvSpPr>
        <p:spPr>
          <a:xfrm>
            <a:off x="1371600" y="3581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遗漏关键信息；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60DE8BC-1DE0-47E3-B941-D0785FF60271}"/>
              </a:ext>
            </a:extLst>
          </p:cNvPr>
          <p:cNvSpPr>
            <a:spLocks noGrp="1"/>
          </p:cNvSpPr>
          <p:nvPr/>
        </p:nvSpPr>
        <p:spPr>
          <a:xfrm>
            <a:off x="876300" y="3990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5D28E85-2D14-4DE7-BF63-EC0EF5C9A497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编造答案；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41DFC0E-156F-4F50-8507-DED420993461}"/>
              </a:ext>
            </a:extLst>
          </p:cNvPr>
          <p:cNvSpPr>
            <a:spLocks noGrp="1"/>
          </p:cNvSpPr>
          <p:nvPr/>
        </p:nvSpPr>
        <p:spPr>
          <a:xfrm>
            <a:off x="876300" y="4391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8200FA9-7FF0-49E5-A02C-D04F2AC7DB14}"/>
              </a:ext>
            </a:extLst>
          </p:cNvPr>
          <p:cNvSpPr>
            <a:spLocks noGrp="1"/>
          </p:cNvSpPr>
          <p:nvPr/>
        </p:nvSpPr>
        <p:spPr>
          <a:xfrm>
            <a:off x="1371600" y="4381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错误拒答；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1473F5-FC60-4AB9-9E27-2367717BC294}"/>
              </a:ext>
            </a:extLst>
          </p:cNvPr>
          <p:cNvSpPr>
            <a:spLocks noGrp="1"/>
          </p:cNvSpPr>
          <p:nvPr/>
        </p:nvSpPr>
        <p:spPr>
          <a:xfrm>
            <a:off x="876300" y="4791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FCDB89C-B592-4990-AA24-77BA0B7378B7}"/>
              </a:ext>
            </a:extLst>
          </p:cNvPr>
          <p:cNvSpPr>
            <a:spLocks noGrp="1"/>
          </p:cNvSpPr>
          <p:nvPr/>
        </p:nvSpPr>
        <p:spPr>
          <a:xfrm>
            <a:off x="1371600" y="4781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没有调用正确工具；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A7D03C8-8C78-4228-A02C-4DDF611875A1}"/>
              </a:ext>
            </a:extLst>
          </p:cNvPr>
          <p:cNvSpPr>
            <a:spLocks noGrp="1"/>
          </p:cNvSpPr>
          <p:nvPr/>
        </p:nvSpPr>
        <p:spPr>
          <a:xfrm>
            <a:off x="876300" y="51911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C056237-18F5-4365-B377-B3A7879ACC93}"/>
              </a:ext>
            </a:extLst>
          </p:cNvPr>
          <p:cNvSpPr>
            <a:spLocks noGrp="1"/>
          </p:cNvSpPr>
          <p:nvPr/>
        </p:nvSpPr>
        <p:spPr>
          <a:xfrm>
            <a:off x="1371600" y="51816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泄露隐私；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FD5F506-D8D9-482C-8443-20616A968C1D}"/>
              </a:ext>
            </a:extLst>
          </p:cNvPr>
          <p:cNvSpPr>
            <a:spLocks noGrp="1"/>
          </p:cNvSpPr>
          <p:nvPr/>
        </p:nvSpPr>
        <p:spPr>
          <a:xfrm>
            <a:off x="876300" y="55911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C54AA83-206A-4897-B2A3-3790192B3314}"/>
              </a:ext>
            </a:extLst>
          </p:cNvPr>
          <p:cNvSpPr>
            <a:spLocks noGrp="1"/>
          </p:cNvSpPr>
          <p:nvPr/>
        </p:nvSpPr>
        <p:spPr>
          <a:xfrm>
            <a:off x="1371600" y="55816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响应时间过长；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AD215A2-92DD-4D55-AA20-869EB8E36C3B}"/>
              </a:ext>
            </a:extLst>
          </p:cNvPr>
          <p:cNvSpPr>
            <a:spLocks noGrp="1"/>
          </p:cNvSpPr>
          <p:nvPr/>
        </p:nvSpPr>
        <p:spPr>
          <a:xfrm>
            <a:off x="876300" y="5991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14D7844-8091-411A-86A9-F12907507DC0}"/>
              </a:ext>
            </a:extLst>
          </p:cNvPr>
          <p:cNvSpPr>
            <a:spLocks noGrp="1"/>
          </p:cNvSpPr>
          <p:nvPr/>
        </p:nvSpPr>
        <p:spPr>
          <a:xfrm>
            <a:off x="1371600" y="5981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输出格式错误；</a:t>
            </a:r>
          </a:p>
        </p:txBody>
      </p:sp>
    </p:spTree>
    <p:extLst>
      <p:ext uri="{BB962C8B-B14F-4D97-AF65-F5344CB8AC3E}">
        <p14:creationId xmlns:p14="http://schemas.microsoft.com/office/powerpoint/2010/main" val="33630856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59C31B96-D809-4E3C-B771-A374A110292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8C70A1-6CE9-4FD1-9D82-393FFE82FF4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85BA38-C826-4664-B136-70366B8EFF6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7BA27CB-1D67-4FC8-AAC6-64584B7C277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43078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079D2F2-AD38-4E13-B3A6-0FF2EE404FA8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Case的基本定义（续）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9B9C183-9B50-4690-95BB-95D967F672C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018B52-A3F8-49B8-B87C-B30A928F0DF1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FBB02D8-7873-45E2-AC68-4F40E543984F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用户任务没有完成。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E224F93-8DAC-4983-A65E-ED384FE8D006}"/>
              </a:ext>
            </a:extLst>
          </p:cNvPr>
          <p:cNvSpPr>
            <a:spLocks noGrp="1"/>
          </p:cNvSpPr>
          <p:nvPr/>
        </p:nvSpPr>
        <p:spPr>
          <a:xfrm>
            <a:off x="838200" y="21145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例如用户问：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8D0FA7BB-D19C-4609-990B-8A52F7F80543}"/>
              </a:ext>
            </a:extLst>
          </p:cNvPr>
          <p:cNvSpPr>
            <a:spLocks noGrp="1"/>
          </p:cNvSpPr>
          <p:nvPr/>
        </p:nvSpPr>
        <p:spPr>
          <a:xfrm>
            <a:off x="819150" y="24955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0E55442-7A10-4C9D-90E7-D02B90749FFD}"/>
              </a:ext>
            </a:extLst>
          </p:cNvPr>
          <p:cNvSpPr>
            <a:spLocks noGrp="1"/>
          </p:cNvSpPr>
          <p:nvPr/>
        </p:nvSpPr>
        <p:spPr>
          <a:xfrm>
            <a:off x="819150" y="24955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05F375-BF1F-48B0-B980-CB074EE9BC9D}"/>
              </a:ext>
            </a:extLst>
          </p:cNvPr>
          <p:cNvSpPr>
            <a:spLocks noGrp="1"/>
          </p:cNvSpPr>
          <p:nvPr/>
        </p:nvSpPr>
        <p:spPr>
          <a:xfrm>
            <a:off x="1104900" y="26384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我的订单什么时候到？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6B4363-F96A-4CF1-9841-3EE29312C67E}"/>
              </a:ext>
            </a:extLst>
          </p:cNvPr>
          <p:cNvSpPr>
            <a:spLocks noGrp="1"/>
          </p:cNvSpPr>
          <p:nvPr/>
        </p:nvSpPr>
        <p:spPr>
          <a:xfrm>
            <a:off x="838200" y="31718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下面都可能是Bad Case：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904465-7F06-4C53-888B-A8C275C1BF66}"/>
              </a:ext>
            </a:extLst>
          </p:cNvPr>
          <p:cNvSpPr>
            <a:spLocks noGrp="1"/>
          </p:cNvSpPr>
          <p:nvPr/>
        </p:nvSpPr>
        <p:spPr>
          <a:xfrm>
            <a:off x="876300" y="3590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33D86C4-9886-4814-B087-313F25ED2BCA}"/>
              </a:ext>
            </a:extLst>
          </p:cNvPr>
          <p:cNvSpPr>
            <a:spLocks noGrp="1"/>
          </p:cNvSpPr>
          <p:nvPr/>
        </p:nvSpPr>
        <p:spPr>
          <a:xfrm>
            <a:off x="1371600" y="3581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回答了通用物流时效，没有查询实际订单；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2C8BCE4-0E54-43B4-89DB-ABD4A5998A42}"/>
              </a:ext>
            </a:extLst>
          </p:cNvPr>
          <p:cNvSpPr>
            <a:spLocks noGrp="1"/>
          </p:cNvSpPr>
          <p:nvPr/>
        </p:nvSpPr>
        <p:spPr>
          <a:xfrm>
            <a:off x="876300" y="3990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D431542-38EA-40E0-B273-C580F4ADE42F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查到了订单，但说错日期；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2F9D2D4-584C-4ECF-B80F-D3F5166953C0}"/>
              </a:ext>
            </a:extLst>
          </p:cNvPr>
          <p:cNvSpPr>
            <a:spLocks noGrp="1"/>
          </p:cNvSpPr>
          <p:nvPr/>
        </p:nvSpPr>
        <p:spPr>
          <a:xfrm>
            <a:off x="876300" y="4391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2C34D66-789A-4442-93B3-E5647D4E91CD}"/>
              </a:ext>
            </a:extLst>
          </p:cNvPr>
          <p:cNvSpPr>
            <a:spLocks noGrp="1"/>
          </p:cNvSpPr>
          <p:nvPr/>
        </p:nvSpPr>
        <p:spPr>
          <a:xfrm>
            <a:off x="1371600" y="4381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没有验证用户身份就展示订单信息；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ECA235D-0395-47EC-8BC7-A53135ADC717}"/>
              </a:ext>
            </a:extLst>
          </p:cNvPr>
          <p:cNvSpPr>
            <a:spLocks noGrp="1"/>
          </p:cNvSpPr>
          <p:nvPr/>
        </p:nvSpPr>
        <p:spPr>
          <a:xfrm>
            <a:off x="876300" y="4791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C2A6E82-D951-4411-96F6-08432DE56E1D}"/>
              </a:ext>
            </a:extLst>
          </p:cNvPr>
          <p:cNvSpPr>
            <a:spLocks noGrp="1"/>
          </p:cNvSpPr>
          <p:nvPr/>
        </p:nvSpPr>
        <p:spPr>
          <a:xfrm>
            <a:off x="1371600" y="4781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工具调用失败后，模型编造了到货时间；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10EC543-3C41-4C83-9FB3-7F44CF1A2BF8}"/>
              </a:ext>
            </a:extLst>
          </p:cNvPr>
          <p:cNvSpPr>
            <a:spLocks noGrp="1"/>
          </p:cNvSpPr>
          <p:nvPr/>
        </p:nvSpPr>
        <p:spPr>
          <a:xfrm>
            <a:off x="876300" y="51911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C8A1601-C5F5-436E-95C4-7D8DF11AF751}"/>
              </a:ext>
            </a:extLst>
          </p:cNvPr>
          <p:cNvSpPr>
            <a:spLocks noGrp="1"/>
          </p:cNvSpPr>
          <p:nvPr/>
        </p:nvSpPr>
        <p:spPr>
          <a:xfrm>
            <a:off x="1371600" y="51816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只回复“请耐心等待”，没有解决问题。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ECF4D14-16A9-4AA8-AED5-59ABCBD2D6B9}"/>
              </a:ext>
            </a:extLst>
          </p:cNvPr>
          <p:cNvSpPr>
            <a:spLocks noGrp="1"/>
          </p:cNvSpPr>
          <p:nvPr/>
        </p:nvSpPr>
        <p:spPr>
          <a:xfrm>
            <a:off x="838200" y="55530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所以Bad Case必须结合：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B7AD51D-B294-4B23-AD19-F0FCFA954569}"/>
              </a:ext>
            </a:extLst>
          </p:cNvPr>
          <p:cNvSpPr>
            <a:spLocks noGrp="1"/>
          </p:cNvSpPr>
          <p:nvPr/>
        </p:nvSpPr>
        <p:spPr>
          <a:xfrm>
            <a:off x="876300" y="59721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44F31CC-FAA4-4981-8195-A0B60FC419EE}"/>
              </a:ext>
            </a:extLst>
          </p:cNvPr>
          <p:cNvSpPr>
            <a:spLocks noGrp="1"/>
          </p:cNvSpPr>
          <p:nvPr/>
        </p:nvSpPr>
        <p:spPr>
          <a:xfrm>
            <a:off x="1371600" y="59626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用户目标；</a:t>
            </a:r>
          </a:p>
        </p:txBody>
      </p:sp>
    </p:spTree>
    <p:extLst>
      <p:ext uri="{BB962C8B-B14F-4D97-AF65-F5344CB8AC3E}">
        <p14:creationId xmlns:p14="http://schemas.microsoft.com/office/powerpoint/2010/main" val="108498252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88963153-AB87-466B-B614-C75BE7F55213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CEDA5E6-59DD-45FC-9E29-5F1DA8DF47E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3A84030-B222-458C-B8C7-291C00591F3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DD4B6D-98F4-4A2E-B5EF-CCEABDDE711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49032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82CE05-E112-4F21-A073-A4C94CF10E7B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Case的基本定义（续）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C84A21-D082-46D9-9B3D-F3FD8E30C74C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49D88F6-E53C-411B-8E90-D71BE8A122F2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202541-88B3-4D8B-BC75-6D89A8AC9608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业务规则；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6B0B38-B812-49B6-8088-075017AEF8F2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D3780A8-972B-49C6-8018-11BD83B6AFD6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产品能力；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FC57607-1AD0-48B9-93FE-B93E11B753A3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B1806AA-0328-4D98-ABE5-1847827204AF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实际结果；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A43A51-43BD-463C-A6D2-98EAE6AA64B3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共同判断。</a:t>
            </a:r>
          </a:p>
        </p:txBody>
      </p:sp>
    </p:spTree>
    <p:extLst>
      <p:ext uri="{BB962C8B-B14F-4D97-AF65-F5344CB8AC3E}">
        <p14:creationId xmlns:p14="http://schemas.microsoft.com/office/powerpoint/2010/main" val="150442908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FCC6B753-20C1-472E-8DFA-7E2A5F898826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3BC2D01-110B-4833-B02D-6056444D461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EB7B8F-8087-4153-8513-6AB98E14849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BE070AF-8008-415B-8536-F98D8F44F99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54986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3D43E45-3CB2-45A0-AAF5-8A998CCBC899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Case分析的基本流程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17DA36-2780-4878-A360-1EAE356A1C6F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476C846-3FB5-4C9A-AC7E-90CAAE848659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处理一个Bad Case，可以分为五步。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E6B5AEB-ACA1-483F-B3BD-F3035FF13742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复现问题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B28906A-C600-486E-AE7A-FC0ED34109EF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E72651B-6204-4655-BCD0-4129E2BEE921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确认问题是否能够再次出现。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F530C27-A037-4870-8793-98E8B4F6AC9A}"/>
              </a:ext>
            </a:extLst>
          </p:cNvPr>
          <p:cNvSpPr>
            <a:spLocks noGrp="1"/>
          </p:cNvSpPr>
          <p:nvPr/>
        </p:nvSpPr>
        <p:spPr>
          <a:xfrm>
            <a:off x="838200" y="2905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需要记录：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951165-F7C4-41FA-B301-790C12B10343}"/>
              </a:ext>
            </a:extLst>
          </p:cNvPr>
          <p:cNvSpPr>
            <a:spLocks noGrp="1"/>
          </p:cNvSpPr>
          <p:nvPr/>
        </p:nvSpPr>
        <p:spPr>
          <a:xfrm>
            <a:off x="876300" y="3324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06D0647-8318-463B-A691-24EFB9062C16}"/>
              </a:ext>
            </a:extLst>
          </p:cNvPr>
          <p:cNvSpPr>
            <a:spLocks noGrp="1"/>
          </p:cNvSpPr>
          <p:nvPr/>
        </p:nvSpPr>
        <p:spPr>
          <a:xfrm>
            <a:off x="1371600" y="3314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用户输入；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99747F5-D594-487F-B6D3-CD085BFF6E00}"/>
              </a:ext>
            </a:extLst>
          </p:cNvPr>
          <p:cNvSpPr>
            <a:spLocks noGrp="1"/>
          </p:cNvSpPr>
          <p:nvPr/>
        </p:nvSpPr>
        <p:spPr>
          <a:xfrm>
            <a:off x="876300" y="3724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A2328A9-6DE8-4F8F-9C6B-D283F2125F52}"/>
              </a:ext>
            </a:extLst>
          </p:cNvPr>
          <p:cNvSpPr>
            <a:spLocks noGrp="1"/>
          </p:cNvSpPr>
          <p:nvPr/>
        </p:nvSpPr>
        <p:spPr>
          <a:xfrm>
            <a:off x="1371600" y="3714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完整上下文；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BD0D8FE-EA22-48B4-A716-1A9D7F91636C}"/>
              </a:ext>
            </a:extLst>
          </p:cNvPr>
          <p:cNvSpPr>
            <a:spLocks noGrp="1"/>
          </p:cNvSpPr>
          <p:nvPr/>
        </p:nvSpPr>
        <p:spPr>
          <a:xfrm>
            <a:off x="876300" y="4124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9A97B78-DAC1-476D-91A6-2DE651799552}"/>
              </a:ext>
            </a:extLst>
          </p:cNvPr>
          <p:cNvSpPr>
            <a:spLocks noGrp="1"/>
          </p:cNvSpPr>
          <p:nvPr/>
        </p:nvSpPr>
        <p:spPr>
          <a:xfrm>
            <a:off x="1371600" y="4114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用户身份；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F7390E1-562F-459D-9336-616726E7F52F}"/>
              </a:ext>
            </a:extLst>
          </p:cNvPr>
          <p:cNvSpPr>
            <a:spLocks noGrp="1"/>
          </p:cNvSpPr>
          <p:nvPr/>
        </p:nvSpPr>
        <p:spPr>
          <a:xfrm>
            <a:off x="876300" y="4524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3F0AC58-B9E3-4EA5-980E-7A57E77C56A7}"/>
              </a:ext>
            </a:extLst>
          </p:cNvPr>
          <p:cNvSpPr>
            <a:spLocks noGrp="1"/>
          </p:cNvSpPr>
          <p:nvPr/>
        </p:nvSpPr>
        <p:spPr>
          <a:xfrm>
            <a:off x="1371600" y="4514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模型和Prompt版本；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02D4242-05D3-4A9E-8EA5-A9883AD33F5C}"/>
              </a:ext>
            </a:extLst>
          </p:cNvPr>
          <p:cNvSpPr>
            <a:spLocks noGrp="1"/>
          </p:cNvSpPr>
          <p:nvPr/>
        </p:nvSpPr>
        <p:spPr>
          <a:xfrm>
            <a:off x="876300" y="4924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88ED4F7-F91A-4BEC-9A92-49AD44ADF297}"/>
              </a:ext>
            </a:extLst>
          </p:cNvPr>
          <p:cNvSpPr>
            <a:spLocks noGrp="1"/>
          </p:cNvSpPr>
          <p:nvPr/>
        </p:nvSpPr>
        <p:spPr>
          <a:xfrm>
            <a:off x="1371600" y="4914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知识库版本；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AE7E127-7CF2-43B1-821B-164F93B9F03E}"/>
              </a:ext>
            </a:extLst>
          </p:cNvPr>
          <p:cNvSpPr>
            <a:spLocks noGrp="1"/>
          </p:cNvSpPr>
          <p:nvPr/>
        </p:nvSpPr>
        <p:spPr>
          <a:xfrm>
            <a:off x="876300" y="5324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3DD00ED-6677-4A57-9847-7C958E6A6B5F}"/>
              </a:ext>
            </a:extLst>
          </p:cNvPr>
          <p:cNvSpPr>
            <a:spLocks noGrp="1"/>
          </p:cNvSpPr>
          <p:nvPr/>
        </p:nvSpPr>
        <p:spPr>
          <a:xfrm>
            <a:off x="1371600" y="5314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工具调用记录；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2A72736-04A5-44C9-8D74-FE5E0DA3E75E}"/>
              </a:ext>
            </a:extLst>
          </p:cNvPr>
          <p:cNvSpPr>
            <a:spLocks noGrp="1"/>
          </p:cNvSpPr>
          <p:nvPr/>
        </p:nvSpPr>
        <p:spPr>
          <a:xfrm>
            <a:off x="876300" y="5724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64878E6-F0C2-4B28-A251-760EE95AF846}"/>
              </a:ext>
            </a:extLst>
          </p:cNvPr>
          <p:cNvSpPr>
            <a:spLocks noGrp="1"/>
          </p:cNvSpPr>
          <p:nvPr/>
        </p:nvSpPr>
        <p:spPr>
          <a:xfrm>
            <a:off x="1371600" y="5715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实际输出；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B78B21F-2BDD-4FFA-900F-F28592A99A63}"/>
              </a:ext>
            </a:extLst>
          </p:cNvPr>
          <p:cNvSpPr>
            <a:spLocks noGrp="1"/>
          </p:cNvSpPr>
          <p:nvPr/>
        </p:nvSpPr>
        <p:spPr>
          <a:xfrm>
            <a:off x="876300" y="6124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4BD23A7-312C-4D08-9D12-2499CA57A1CC}"/>
              </a:ext>
            </a:extLst>
          </p:cNvPr>
          <p:cNvSpPr>
            <a:spLocks noGrp="1"/>
          </p:cNvSpPr>
          <p:nvPr/>
        </p:nvSpPr>
        <p:spPr>
          <a:xfrm>
            <a:off x="1371600" y="61150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发生时间。</a:t>
            </a:r>
          </a:p>
        </p:txBody>
      </p:sp>
    </p:spTree>
    <p:extLst>
      <p:ext uri="{BB962C8B-B14F-4D97-AF65-F5344CB8AC3E}">
        <p14:creationId xmlns:p14="http://schemas.microsoft.com/office/powerpoint/2010/main" val="86464213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287304F3-6610-458C-9422-95294A4DAC2C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CA091CA-F750-4C46-AB87-D0F0CC52AA17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6B30AF1-0429-4ECD-A0D7-A7ACF7B9180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FBFC0C-1DEC-4F15-B6E8-76AC2764EB3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60941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0B78DB0-7503-4646-A0A7-C770B85D97FE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Case分析的基本流程（续）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82C2D75-3E13-4A2A-A5C5-C10718CA4118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8EBA02-6E72-4EEE-BDF8-19161A85146C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如果无法还原运行环境，问题就很难定位。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AD219BC-CCE4-48E9-BD2F-C136DD76BE48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判断预期结果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7BFB28-B825-4792-ACCF-2711BC51FD56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0B13735-7934-47F8-AE45-2BF14AF5C9F2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明确产品本来应该怎样处理。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ADC60FF-8A2B-4A3E-AD72-739E85481A16}"/>
              </a:ext>
            </a:extLst>
          </p:cNvPr>
          <p:cNvSpPr>
            <a:spLocks noGrp="1"/>
          </p:cNvSpPr>
          <p:nvPr/>
        </p:nvSpPr>
        <p:spPr>
          <a:xfrm>
            <a:off x="838200" y="2905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368E6F-2FD7-4C48-A5F5-AE1464910FDE}"/>
              </a:ext>
            </a:extLst>
          </p:cNvPr>
          <p:cNvSpPr>
            <a:spLocks noGrp="1"/>
          </p:cNvSpPr>
          <p:nvPr/>
        </p:nvSpPr>
        <p:spPr>
          <a:xfrm>
            <a:off x="876300" y="3324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AF235E0-928F-4680-A6AF-FB613B8D5A97}"/>
              </a:ext>
            </a:extLst>
          </p:cNvPr>
          <p:cNvSpPr>
            <a:spLocks noGrp="1"/>
          </p:cNvSpPr>
          <p:nvPr/>
        </p:nvSpPr>
        <p:spPr>
          <a:xfrm>
            <a:off x="1371600" y="3314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应该直接回答；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40D782B-D233-41B2-B7D1-5084074736D2}"/>
              </a:ext>
            </a:extLst>
          </p:cNvPr>
          <p:cNvSpPr>
            <a:spLocks noGrp="1"/>
          </p:cNvSpPr>
          <p:nvPr/>
        </p:nvSpPr>
        <p:spPr>
          <a:xfrm>
            <a:off x="876300" y="3724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0CEC85-DF35-4839-A6A9-BFFE6614222F}"/>
              </a:ext>
            </a:extLst>
          </p:cNvPr>
          <p:cNvSpPr>
            <a:spLocks noGrp="1"/>
          </p:cNvSpPr>
          <p:nvPr/>
        </p:nvSpPr>
        <p:spPr>
          <a:xfrm>
            <a:off x="1371600" y="3714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应该追问信息；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4DE381E-BBD0-4A67-BD3F-73608AFE8616}"/>
              </a:ext>
            </a:extLst>
          </p:cNvPr>
          <p:cNvSpPr>
            <a:spLocks noGrp="1"/>
          </p:cNvSpPr>
          <p:nvPr/>
        </p:nvSpPr>
        <p:spPr>
          <a:xfrm>
            <a:off x="876300" y="4124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C55837A-D6F8-4AE4-B40B-ED4E9AA5DE66}"/>
              </a:ext>
            </a:extLst>
          </p:cNvPr>
          <p:cNvSpPr>
            <a:spLocks noGrp="1"/>
          </p:cNvSpPr>
          <p:nvPr/>
        </p:nvSpPr>
        <p:spPr>
          <a:xfrm>
            <a:off x="1371600" y="4114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应该查询工具；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F9E849B-889F-4B5C-83C1-4D745382058D}"/>
              </a:ext>
            </a:extLst>
          </p:cNvPr>
          <p:cNvSpPr>
            <a:spLocks noGrp="1"/>
          </p:cNvSpPr>
          <p:nvPr/>
        </p:nvSpPr>
        <p:spPr>
          <a:xfrm>
            <a:off x="876300" y="4524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FFEF1D5-2A63-4AE2-AC26-1355562C338B}"/>
              </a:ext>
            </a:extLst>
          </p:cNvPr>
          <p:cNvSpPr>
            <a:spLocks noGrp="1"/>
          </p:cNvSpPr>
          <p:nvPr/>
        </p:nvSpPr>
        <p:spPr>
          <a:xfrm>
            <a:off x="1371600" y="4514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应该拒绝回答；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9FA39A3-69BE-4D42-B963-B956E8B0E3E1}"/>
              </a:ext>
            </a:extLst>
          </p:cNvPr>
          <p:cNvSpPr>
            <a:spLocks noGrp="1"/>
          </p:cNvSpPr>
          <p:nvPr/>
        </p:nvSpPr>
        <p:spPr>
          <a:xfrm>
            <a:off x="876300" y="4924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E81C703-5FDC-4009-A810-CDE47FFFE8FE}"/>
              </a:ext>
            </a:extLst>
          </p:cNvPr>
          <p:cNvSpPr>
            <a:spLocks noGrp="1"/>
          </p:cNvSpPr>
          <p:nvPr/>
        </p:nvSpPr>
        <p:spPr>
          <a:xfrm>
            <a:off x="1371600" y="4914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应该转人工；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3A49A75-3839-467F-8598-6A557285691E}"/>
              </a:ext>
            </a:extLst>
          </p:cNvPr>
          <p:cNvSpPr>
            <a:spLocks noGrp="1"/>
          </p:cNvSpPr>
          <p:nvPr/>
        </p:nvSpPr>
        <p:spPr>
          <a:xfrm>
            <a:off x="876300" y="5324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127A1E-6DCD-45B4-B8A7-7820C2099B05}"/>
              </a:ext>
            </a:extLst>
          </p:cNvPr>
          <p:cNvSpPr>
            <a:spLocks noGrp="1"/>
          </p:cNvSpPr>
          <p:nvPr/>
        </p:nvSpPr>
        <p:spPr>
          <a:xfrm>
            <a:off x="1371600" y="5314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应该提示系统异常。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869385-B09A-4178-B846-01AD8814A917}"/>
              </a:ext>
            </a:extLst>
          </p:cNvPr>
          <p:cNvSpPr>
            <a:spLocks noGrp="1"/>
          </p:cNvSpPr>
          <p:nvPr/>
        </p:nvSpPr>
        <p:spPr>
          <a:xfrm>
            <a:off x="838200" y="56959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确认失败环节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1E23250-4D61-486E-93F4-A14E164D49BC}"/>
              </a:ext>
            </a:extLst>
          </p:cNvPr>
          <p:cNvSpPr>
            <a:spLocks noGrp="1"/>
          </p:cNvSpPr>
          <p:nvPr/>
        </p:nvSpPr>
        <p:spPr>
          <a:xfrm>
            <a:off x="838200" y="60198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8240610-AB26-4509-940A-6E737D5B9664}"/>
              </a:ext>
            </a:extLst>
          </p:cNvPr>
          <p:cNvSpPr>
            <a:spLocks noGrp="1"/>
          </p:cNvSpPr>
          <p:nvPr/>
        </p:nvSpPr>
        <p:spPr>
          <a:xfrm>
            <a:off x="838200" y="6115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检查问题出现在AI链路的哪一步：</a:t>
            </a:r>
          </a:p>
        </p:txBody>
      </p:sp>
    </p:spTree>
    <p:extLst>
      <p:ext uri="{BB962C8B-B14F-4D97-AF65-F5344CB8AC3E}">
        <p14:creationId xmlns:p14="http://schemas.microsoft.com/office/powerpoint/2010/main" val="105341917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5220EE2-C37A-4995-A5A1-3AC86E1AE99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B74FCA-649F-4B93-8D5B-D3A9307420E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93757-171E-4260-9E70-2CA1F3783B9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E81CBFD-1B81-4788-8840-FE0AF6CCE0C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66895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6A86006-AA2E-49B7-811B-80F24B3F54D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Case分析的基本流程（续）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75C1E7D-1CB4-4CA1-B2BF-CACC214941F0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60411C-929B-452E-B0C2-0EC738421C03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用户输入 → 意图理解 → 知识检索 → 工作流决策 → 工具执行 → 模型生成 → 输出校验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66DFBE-4F6A-4FD6-85E7-8AE77E36C9B6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进行问题归因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5A7CA3-DCAF-4F49-BA65-2135C1F1C0A1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C3060B3-A05E-44F1-80AE-07D70E24201F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把Bad Case归入主要问题类型。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7B97E46-0E27-435D-B21D-9AF960AAEA72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制定修复与验证方案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456D8DE-6AAE-4B67-A1FC-492EA887E528}"/>
              </a:ext>
            </a:extLst>
          </p:cNvPr>
          <p:cNvSpPr>
            <a:spLocks noGrp="1"/>
          </p:cNvSpPr>
          <p:nvPr/>
        </p:nvSpPr>
        <p:spPr>
          <a:xfrm>
            <a:off x="838200" y="32385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DC13F75-C1EA-4193-87FF-F6719B68B573}"/>
              </a:ext>
            </a:extLst>
          </p:cNvPr>
          <p:cNvSpPr>
            <a:spLocks noGrp="1"/>
          </p:cNvSpPr>
          <p:nvPr/>
        </p:nvSpPr>
        <p:spPr>
          <a:xfrm>
            <a:off x="838200" y="3333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明确：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8FB2E56-9E99-4686-BA24-CC0006BADA6B}"/>
              </a:ext>
            </a:extLst>
          </p:cNvPr>
          <p:cNvSpPr>
            <a:spLocks noGrp="1"/>
          </p:cNvSpPr>
          <p:nvPr/>
        </p:nvSpPr>
        <p:spPr>
          <a:xfrm>
            <a:off x="876300" y="3752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50045A3-46F9-4C57-8625-F9D60DA9B3C3}"/>
              </a:ext>
            </a:extLst>
          </p:cNvPr>
          <p:cNvSpPr>
            <a:spLocks noGrp="1"/>
          </p:cNvSpPr>
          <p:nvPr/>
        </p:nvSpPr>
        <p:spPr>
          <a:xfrm>
            <a:off x="1371600" y="3743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修改什么；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DDA9CA-AD13-42EE-B4FA-FF12B7823B15}"/>
              </a:ext>
            </a:extLst>
          </p:cNvPr>
          <p:cNvSpPr>
            <a:spLocks noGrp="1"/>
          </p:cNvSpPr>
          <p:nvPr/>
        </p:nvSpPr>
        <p:spPr>
          <a:xfrm>
            <a:off x="876300" y="4152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A7448E9-533A-46F6-A7F8-040610A82881}"/>
              </a:ext>
            </a:extLst>
          </p:cNvPr>
          <p:cNvSpPr>
            <a:spLocks noGrp="1"/>
          </p:cNvSpPr>
          <p:nvPr/>
        </p:nvSpPr>
        <p:spPr>
          <a:xfrm>
            <a:off x="1371600" y="4143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谁负责；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346BF73-E740-4CFB-BC2E-BA84CCFC5399}"/>
              </a:ext>
            </a:extLst>
          </p:cNvPr>
          <p:cNvSpPr>
            <a:spLocks noGrp="1"/>
          </p:cNvSpPr>
          <p:nvPr/>
        </p:nvSpPr>
        <p:spPr>
          <a:xfrm>
            <a:off x="876300" y="4552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0678D33-8C7A-4FE6-91D6-A99D432E8563}"/>
              </a:ext>
            </a:extLst>
          </p:cNvPr>
          <p:cNvSpPr>
            <a:spLocks noGrp="1"/>
          </p:cNvSpPr>
          <p:nvPr/>
        </p:nvSpPr>
        <p:spPr>
          <a:xfrm>
            <a:off x="1371600" y="4543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如何验证修复成功；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1310FBA-3CFF-49A5-A98E-A578F24CC521}"/>
              </a:ext>
            </a:extLst>
          </p:cNvPr>
          <p:cNvSpPr>
            <a:spLocks noGrp="1"/>
          </p:cNvSpPr>
          <p:nvPr/>
        </p:nvSpPr>
        <p:spPr>
          <a:xfrm>
            <a:off x="876300" y="49530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B7E1930-B8BE-4322-98D1-CC95BA83F88E}"/>
              </a:ext>
            </a:extLst>
          </p:cNvPr>
          <p:cNvSpPr>
            <a:spLocks noGrp="1"/>
          </p:cNvSpPr>
          <p:nvPr/>
        </p:nvSpPr>
        <p:spPr>
          <a:xfrm>
            <a:off x="1371600" y="49434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是否加入回归评测集。</a:t>
            </a:r>
          </a:p>
        </p:txBody>
      </p:sp>
    </p:spTree>
    <p:extLst>
      <p:ext uri="{BB962C8B-B14F-4D97-AF65-F5344CB8AC3E}">
        <p14:creationId xmlns:p14="http://schemas.microsoft.com/office/powerpoint/2010/main" val="116739880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023F837C-E082-45FA-836F-3493140C4255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333F889-FB85-4B27-9294-0FB052DD9CA7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F96796-874A-4C81-A828-101EF05F48F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5F75BAA-39E1-4AE3-9223-DF580A79CD6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72850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F7C7C3-AF5D-4C96-B089-2BCBE277A153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Case的六类问题归因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A55F77A-0D40-4324-A67F-97D6E07AD30A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9567031-42DE-4A29-8959-279CCB6EAE65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我们可以先用六个大类进行归因：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1C28AD7-2547-4E59-8BB5-73A08FE5E912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EF0521-08E6-4E6F-9D7C-6EA811706B15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数据问题；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274119B-4B28-4B8B-B1AC-F985B6C6583B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51784C0-ED9A-4D6F-A083-F88CE848810E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Prompt问题；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8CFD1C6-67BE-40D9-81C8-5933D9A24D58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76DCCD-9ED3-4D7A-AE84-0D5B5635584C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知识问题；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B0207A-382C-4E40-8560-8480F695085E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3C207C-60B9-4D16-A1DE-D106582B93BC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流程问题；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48C639E-BEAA-4595-AB3A-F98B392149DC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53B73DC-94F6-4062-BAC0-539F69226F59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工具问题；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D111CEF-1963-4ECF-896F-9531FA62A7FB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C80E9A6-C12B-47F8-8853-23516D0A3525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产品边界问题。</a:t>
            </a:r>
          </a:p>
        </p:txBody>
      </p:sp>
    </p:spTree>
    <p:extLst>
      <p:ext uri="{BB962C8B-B14F-4D97-AF65-F5344CB8AC3E}">
        <p14:creationId xmlns:p14="http://schemas.microsoft.com/office/powerpoint/2010/main" val="85274203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12DB8662-4DE2-4EC3-95DD-95859E175E9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D56168-20F1-4437-AAA7-A0295C5DA759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4B83ADF-042F-4D3A-9827-AA39FB01FED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5EF6BD-F024-4E21-96F2-734093803B0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78804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AE9F614-58A3-483E-A08F-F588B2AFD7C5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数据问题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4128A41-F619-47E0-9BA7-7DCF8D1F5E9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6DFCCA-3ACD-446C-BAB5-A5E3026C3001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这里的“数据”主要指用于训练、微调、示例学习或评测的数据。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624EE2A-6867-4D9E-A0C7-EA15CF685D13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常见问题包括：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C41C569-E954-42F7-82FE-FCADEF0D5B35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3F53292-FDE0-4DEF-AB8C-D4DF1E83A919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样本数量不足；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3E23E13-7108-4112-8265-2CA3F62799B1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F2A443E-56E5-441E-8D71-0139710B5436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样本分布不均；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E26B6D9-0C16-4500-BDA1-745B1017BB76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6F29FB9-048C-434B-8DC7-4CEDE67F6D2C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数据标签错误；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2981CE3-407E-4A0A-B43B-8313EF7A9E1E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1A4C425-1A1B-44E2-8CAF-C548427E558F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数据内容过期；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5EF6AE2-1D64-43F5-8A89-D1B73BA723D3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CE9EA58-9BC4-434E-B42D-04DAA343DFF3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训练数据缺少某类表达；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6AC642F-93BD-48B4-9493-6210563802EA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01D065C-15B1-400B-AF65-C6D807D51599}"/>
              </a:ext>
            </a:extLst>
          </p:cNvPr>
          <p:cNvSpPr>
            <a:spLocks noGrp="1"/>
          </p:cNvSpPr>
          <p:nvPr/>
        </p:nvSpPr>
        <p:spPr>
          <a:xfrm>
            <a:off x="1371600" y="4505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评测集不能代表真实用户；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D4F4412-8F0F-4450-B831-8B8BADEA73A8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C74D314-3C74-4FD5-890D-5AA37EB5C27F}"/>
              </a:ext>
            </a:extLst>
          </p:cNvPr>
          <p:cNvSpPr>
            <a:spLocks noGrp="1"/>
          </p:cNvSpPr>
          <p:nvPr/>
        </p:nvSpPr>
        <p:spPr>
          <a:xfrm>
            <a:off x="1371600" y="4905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数据中存在隐私或噪声。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931713E-C973-4922-B046-0DE2BED2F981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例如用户说：</a:t>
            </a: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7B38020F-B1ED-4D6C-90CC-4BA10DD5A7B6}"/>
              </a:ext>
            </a:extLst>
          </p:cNvPr>
          <p:cNvSpPr>
            <a:spLocks noGrp="1"/>
          </p:cNvSpPr>
          <p:nvPr/>
        </p:nvSpPr>
        <p:spPr>
          <a:xfrm>
            <a:off x="819150" y="56578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7C4072E-A3F7-4D0B-9B47-F460D69D302A}"/>
              </a:ext>
            </a:extLst>
          </p:cNvPr>
          <p:cNvSpPr>
            <a:spLocks noGrp="1"/>
          </p:cNvSpPr>
          <p:nvPr/>
        </p:nvSpPr>
        <p:spPr>
          <a:xfrm>
            <a:off x="819150" y="56578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EC4F510-176D-4CEF-8352-F138C170DA38}"/>
              </a:ext>
            </a:extLst>
          </p:cNvPr>
          <p:cNvSpPr>
            <a:spLocks noGrp="1"/>
          </p:cNvSpPr>
          <p:nvPr/>
        </p:nvSpPr>
        <p:spPr>
          <a:xfrm>
            <a:off x="1104900" y="58007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我想把刚买的东西退掉。</a:t>
            </a:r>
          </a:p>
        </p:txBody>
      </p:sp>
    </p:spTree>
    <p:extLst>
      <p:ext uri="{BB962C8B-B14F-4D97-AF65-F5344CB8AC3E}">
        <p14:creationId xmlns:p14="http://schemas.microsoft.com/office/powerpoint/2010/main" val="49807406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8CF762B0-0CD7-4B29-A612-A3E48205B803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F02789E-45B2-476A-A31D-53815A3F161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3BC2A31-1528-4DCC-85C7-97BB755380A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7D4CEC0-C609-4A56-BCA4-7681CBF1EB8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84759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BF3089-6611-47B7-8B52-61B68A749C81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数据问题（续）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76EAD3F-7518-4C32-AC86-B28E57603339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919F8EA-4A26-429A-B362-4B2D99697D70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系统没有识别为“退款意图”，因为训练数据里只有：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1F7039C2-0B41-4676-9C71-C9E283854887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6106416-8B40-4334-BE47-0476197F85B4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D80DA7A-0BAF-4301-A455-093B79836865}"/>
              </a:ext>
            </a:extLst>
          </p:cNvPr>
          <p:cNvSpPr>
            <a:spLocks noGrp="1"/>
          </p:cNvSpPr>
          <p:nvPr/>
        </p:nvSpPr>
        <p:spPr>
          <a:xfrm>
            <a:off x="1104900" y="2238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我要退款。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EF44837-A128-46F9-BF50-67C2DEB0F94B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这更像是意图训练数据覆盖不足，而不是Prompt写得不好。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5EE8B85-2F77-4D05-9EAD-EFC2274D01E1}"/>
              </a:ext>
            </a:extLst>
          </p:cNvPr>
          <p:cNvSpPr>
            <a:spLocks noGrp="1"/>
          </p:cNvSpPr>
          <p:nvPr/>
        </p:nvSpPr>
        <p:spPr>
          <a:xfrm>
            <a:off x="838200" y="31623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可能的修复方法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5270DE-A8ED-4B9B-8FBD-5CB6EF755A16}"/>
              </a:ext>
            </a:extLst>
          </p:cNvPr>
          <p:cNvSpPr>
            <a:spLocks noGrp="1"/>
          </p:cNvSpPr>
          <p:nvPr/>
        </p:nvSpPr>
        <p:spPr>
          <a:xfrm>
            <a:off x="838200" y="34861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0B2CC3D-FC0F-4B10-A905-1B286B439CA6}"/>
              </a:ext>
            </a:extLst>
          </p:cNvPr>
          <p:cNvSpPr>
            <a:spLocks noGrp="1"/>
          </p:cNvSpPr>
          <p:nvPr/>
        </p:nvSpPr>
        <p:spPr>
          <a:xfrm>
            <a:off x="876300" y="36195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E496A5E-8B03-4163-8FD3-7C1679143E02}"/>
              </a:ext>
            </a:extLst>
          </p:cNvPr>
          <p:cNvSpPr>
            <a:spLocks noGrp="1"/>
          </p:cNvSpPr>
          <p:nvPr/>
        </p:nvSpPr>
        <p:spPr>
          <a:xfrm>
            <a:off x="1371600" y="36099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增加真实用户表达；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A8BA052-8B2D-4128-A1B6-D5DC16BDEB36}"/>
              </a:ext>
            </a:extLst>
          </p:cNvPr>
          <p:cNvSpPr>
            <a:spLocks noGrp="1"/>
          </p:cNvSpPr>
          <p:nvPr/>
        </p:nvSpPr>
        <p:spPr>
          <a:xfrm>
            <a:off x="876300" y="40195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ECEF8B8-6592-448E-891D-EA3999634506}"/>
              </a:ext>
            </a:extLst>
          </p:cNvPr>
          <p:cNvSpPr>
            <a:spLocks noGrp="1"/>
          </p:cNvSpPr>
          <p:nvPr/>
        </p:nvSpPr>
        <p:spPr>
          <a:xfrm>
            <a:off x="1371600" y="40100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修正错误标签；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ED64D1A-6AA2-47D1-B956-B6EDFD43FB23}"/>
              </a:ext>
            </a:extLst>
          </p:cNvPr>
          <p:cNvSpPr>
            <a:spLocks noGrp="1"/>
          </p:cNvSpPr>
          <p:nvPr/>
        </p:nvSpPr>
        <p:spPr>
          <a:xfrm>
            <a:off x="876300" y="4419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C708129-3248-4B51-B28B-B0D7DABF002A}"/>
              </a:ext>
            </a:extLst>
          </p:cNvPr>
          <p:cNvSpPr>
            <a:spLocks noGrp="1"/>
          </p:cNvSpPr>
          <p:nvPr/>
        </p:nvSpPr>
        <p:spPr>
          <a:xfrm>
            <a:off x="1371600" y="4410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补充边界样本；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DBA8A67-C237-4E91-B79A-871A1460C580}"/>
              </a:ext>
            </a:extLst>
          </p:cNvPr>
          <p:cNvSpPr>
            <a:spLocks noGrp="1"/>
          </p:cNvSpPr>
          <p:nvPr/>
        </p:nvSpPr>
        <p:spPr>
          <a:xfrm>
            <a:off x="876300" y="4819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F5F1A86-1E96-44DE-AEC9-5A586962CA9E}"/>
              </a:ext>
            </a:extLst>
          </p:cNvPr>
          <p:cNvSpPr>
            <a:spLocks noGrp="1"/>
          </p:cNvSpPr>
          <p:nvPr/>
        </p:nvSpPr>
        <p:spPr>
          <a:xfrm>
            <a:off x="1371600" y="4810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调整不同类型样本比例；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A110A00-F90F-466C-9CF4-FE7749854264}"/>
              </a:ext>
            </a:extLst>
          </p:cNvPr>
          <p:cNvSpPr>
            <a:spLocks noGrp="1"/>
          </p:cNvSpPr>
          <p:nvPr/>
        </p:nvSpPr>
        <p:spPr>
          <a:xfrm>
            <a:off x="876300" y="5219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010C87C-70D9-4670-80CD-957F8C842914}"/>
              </a:ext>
            </a:extLst>
          </p:cNvPr>
          <p:cNvSpPr>
            <a:spLocks noGrp="1"/>
          </p:cNvSpPr>
          <p:nvPr/>
        </p:nvSpPr>
        <p:spPr>
          <a:xfrm>
            <a:off x="1371600" y="5210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清洗重复或噪声数据。</a:t>
            </a:r>
          </a:p>
        </p:txBody>
      </p:sp>
    </p:spTree>
    <p:extLst>
      <p:ext uri="{BB962C8B-B14F-4D97-AF65-F5344CB8AC3E}">
        <p14:creationId xmlns:p14="http://schemas.microsoft.com/office/powerpoint/2010/main" val="191452076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72340492-9984-432C-8B8D-79DDB869305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BD7AC6A-0A21-49E4-B28B-D6D297C825A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408B7D2-5E08-4987-9FC3-DAF4608839D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453CE0-091A-4D2C-8CBC-35025891391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90713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B743E5-145C-40BE-8601-391B78367BC9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Prompt问题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9EDF277-4DD7-4223-B8AF-0BCD3582DC8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DBACEE0-74C6-43D7-9218-287C66F16BD5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Prompt问题是指模型已经获得了必要信息，但指令没有把行为约束清楚。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C24B612-744B-4BFA-8F68-E97E57346C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常见表现包括：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C71BF3F-64F8-4092-8F56-B00CE53AD663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3F448B8-6D7A-406E-975A-7FF54DD7A3B9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回答过长；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33E4FC8-C952-4CA2-A5DB-9B338545CD37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283CD7A-366A-4D96-B1FC-0A812A6A9566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没有遵守指定格式；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C5A4EB6-058C-480E-AB1D-3E986ACC8A11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5E3DEB-B373-4BD7-95F4-40171B3991D9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信息不足时仍然猜测；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430BE8-F141-4BFE-AB97-FF5B89DFC854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2FC9FBA-07B6-48D1-8098-22E0D75D89EC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没有引用资料；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38A64CC-AF25-43BE-B5E0-64943BCC2455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B4F0F5D-797E-4A79-A39C-1BEE92DF8110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忽略某些业务条件；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E9A0AEC-7AFB-4E06-82B0-A1CC311B1D67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D95EA54-34F5-41CE-B555-63F5346D6DD9}"/>
              </a:ext>
            </a:extLst>
          </p:cNvPr>
          <p:cNvSpPr>
            <a:spLocks noGrp="1"/>
          </p:cNvSpPr>
          <p:nvPr/>
        </p:nvSpPr>
        <p:spPr>
          <a:xfrm>
            <a:off x="1371600" y="4505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语气不符合要求；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6478636-40ED-47DA-8FCE-FC95E6289BD3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8B05F8F-B88F-41CA-A088-8570A4D8CE6E}"/>
              </a:ext>
            </a:extLst>
          </p:cNvPr>
          <p:cNvSpPr>
            <a:spLocks noGrp="1"/>
          </p:cNvSpPr>
          <p:nvPr/>
        </p:nvSpPr>
        <p:spPr>
          <a:xfrm>
            <a:off x="1371600" y="4905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没有执行规定步骤。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4EFF3F7-7E2B-4FF9-9338-A13203522AF8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例如知识库中没有海外住宿标准，但AI仍编出了一个金额。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55A49AA-7E54-4E08-BFB9-1560E5C95DD9}"/>
              </a:ext>
            </a:extLst>
          </p:cNvPr>
          <p:cNvSpPr>
            <a:spLocks noGrp="1"/>
          </p:cNvSpPr>
          <p:nvPr/>
        </p:nvSpPr>
        <p:spPr>
          <a:xfrm>
            <a:off x="838200" y="5657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如果Prompt没有要求：</a:t>
            </a:r>
          </a:p>
        </p:txBody>
      </p:sp>
    </p:spTree>
    <p:extLst>
      <p:ext uri="{BB962C8B-B14F-4D97-AF65-F5344CB8AC3E}">
        <p14:creationId xmlns:p14="http://schemas.microsoft.com/office/powerpoint/2010/main" val="124594081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FB46E798-A6C2-406A-B686-C8898F49361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A6C5E2-A65C-405B-9243-D677A38C869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7D65FEB-1EDB-4288-99B1-AAB51116820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7F495DC-736D-48A8-B6E8-B3E45F4D6A6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696667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5FF8F7-6A66-46DD-A020-3B57EEB68E71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Prompt问题（续）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F4614A0-6931-4249-A931-3999F4CD4F4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2A9E34C7-CACE-4999-AE33-F9D47138C9CD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5B945C-0341-4B6B-BB3D-892190E8A570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936DA0-BB09-4B4D-B87C-4377E56F8A3B}"/>
              </a:ext>
            </a:extLst>
          </p:cNvPr>
          <p:cNvSpPr>
            <a:spLocks noGrp="1"/>
          </p:cNvSpPr>
          <p:nvPr/>
        </p:nvSpPr>
        <p:spPr>
          <a:xfrm>
            <a:off x="1104900" y="1857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只能依据提供的资料回答；资料不足时明确说明无法确认。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AAD9141-FEFB-46ED-B8D9-CE1ED56A9E92}"/>
              </a:ext>
            </a:extLst>
          </p:cNvPr>
          <p:cNvSpPr>
            <a:spLocks noGrp="1"/>
          </p:cNvSpPr>
          <p:nvPr/>
        </p:nvSpPr>
        <p:spPr>
          <a:xfrm>
            <a:off x="838200" y="2390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那么问题可能出在Prompt约束不足。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20FE1B4-7495-4A5B-A419-8E93BBC7D700}"/>
              </a:ext>
            </a:extLst>
          </p:cNvPr>
          <p:cNvSpPr>
            <a:spLocks noGrp="1"/>
          </p:cNvSpPr>
          <p:nvPr/>
        </p:nvSpPr>
        <p:spPr>
          <a:xfrm>
            <a:off x="838200" y="27813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可能的修复方法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B85BA57-B7B8-4764-97D4-EF51BE199A92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7EAEA1-20AF-412F-9108-2C803D174B6B}"/>
              </a:ext>
            </a:extLst>
          </p:cNvPr>
          <p:cNvSpPr>
            <a:spLocks noGrp="1"/>
          </p:cNvSpPr>
          <p:nvPr/>
        </p:nvSpPr>
        <p:spPr>
          <a:xfrm>
            <a:off x="876300" y="32385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0BD0A38-A470-4C42-AD9F-4622703B6801}"/>
              </a:ext>
            </a:extLst>
          </p:cNvPr>
          <p:cNvSpPr>
            <a:spLocks noGrp="1"/>
          </p:cNvSpPr>
          <p:nvPr/>
        </p:nvSpPr>
        <p:spPr>
          <a:xfrm>
            <a:off x="1371600" y="32289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明确模型角色；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D5C431-E575-4F57-B36F-174CB719B307}"/>
              </a:ext>
            </a:extLst>
          </p:cNvPr>
          <p:cNvSpPr>
            <a:spLocks noGrp="1"/>
          </p:cNvSpPr>
          <p:nvPr/>
        </p:nvSpPr>
        <p:spPr>
          <a:xfrm>
            <a:off x="876300" y="36385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E460F28-E4A9-4F49-B10E-A03735C30906}"/>
              </a:ext>
            </a:extLst>
          </p:cNvPr>
          <p:cNvSpPr>
            <a:spLocks noGrp="1"/>
          </p:cNvSpPr>
          <p:nvPr/>
        </p:nvSpPr>
        <p:spPr>
          <a:xfrm>
            <a:off x="1371600" y="36290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增加操作步骤；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12BB80-61DF-4C28-891E-8DD02DF49976}"/>
              </a:ext>
            </a:extLst>
          </p:cNvPr>
          <p:cNvSpPr>
            <a:spLocks noGrp="1"/>
          </p:cNvSpPr>
          <p:nvPr/>
        </p:nvSpPr>
        <p:spPr>
          <a:xfrm>
            <a:off x="876300" y="4038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0A85229-DCCD-4D58-BE04-3F26B3678898}"/>
              </a:ext>
            </a:extLst>
          </p:cNvPr>
          <p:cNvSpPr>
            <a:spLocks noGrp="1"/>
          </p:cNvSpPr>
          <p:nvPr/>
        </p:nvSpPr>
        <p:spPr>
          <a:xfrm>
            <a:off x="1371600" y="4029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写清允许和禁止行为；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9669ED3-D9BC-4700-B73C-FFF584883F50}"/>
              </a:ext>
            </a:extLst>
          </p:cNvPr>
          <p:cNvSpPr>
            <a:spLocks noGrp="1"/>
          </p:cNvSpPr>
          <p:nvPr/>
        </p:nvSpPr>
        <p:spPr>
          <a:xfrm>
            <a:off x="876300" y="4438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974736-BE23-4373-A59C-CA523096338A}"/>
              </a:ext>
            </a:extLst>
          </p:cNvPr>
          <p:cNvSpPr>
            <a:spLocks noGrp="1"/>
          </p:cNvSpPr>
          <p:nvPr/>
        </p:nvSpPr>
        <p:spPr>
          <a:xfrm>
            <a:off x="1371600" y="4429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补充少量正反例；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EFE0D64-683E-4585-81AB-545352DDDF25}"/>
              </a:ext>
            </a:extLst>
          </p:cNvPr>
          <p:cNvSpPr>
            <a:spLocks noGrp="1"/>
          </p:cNvSpPr>
          <p:nvPr/>
        </p:nvSpPr>
        <p:spPr>
          <a:xfrm>
            <a:off x="876300" y="4838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A4ED75A-8CE2-4E54-9038-72B53107539C}"/>
              </a:ext>
            </a:extLst>
          </p:cNvPr>
          <p:cNvSpPr>
            <a:spLocks noGrp="1"/>
          </p:cNvSpPr>
          <p:nvPr/>
        </p:nvSpPr>
        <p:spPr>
          <a:xfrm>
            <a:off x="1371600" y="4829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规定输出结构；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2B2BB8A-8C94-4206-A863-A464BA6B933E}"/>
              </a:ext>
            </a:extLst>
          </p:cNvPr>
          <p:cNvSpPr>
            <a:spLocks noGrp="1"/>
          </p:cNvSpPr>
          <p:nvPr/>
        </p:nvSpPr>
        <p:spPr>
          <a:xfrm>
            <a:off x="876300" y="5238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EC109DD-7B1C-481B-884B-047AE1327AC8}"/>
              </a:ext>
            </a:extLst>
          </p:cNvPr>
          <p:cNvSpPr>
            <a:spLocks noGrp="1"/>
          </p:cNvSpPr>
          <p:nvPr/>
        </p:nvSpPr>
        <p:spPr>
          <a:xfrm>
            <a:off x="1371600" y="5229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定义信息不足时的处理方式。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5D903B7-E2B0-44B1-9136-7C235E55CA87}"/>
              </a:ext>
            </a:extLst>
          </p:cNvPr>
          <p:cNvSpPr>
            <a:spLocks noGrp="1"/>
          </p:cNvSpPr>
          <p:nvPr/>
        </p:nvSpPr>
        <p:spPr>
          <a:xfrm>
            <a:off x="838200" y="56007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但不能把所有问题都归因于Prompt。Prompt也无法修复错误知识或失败接口。</a:t>
            </a:r>
          </a:p>
        </p:txBody>
      </p:sp>
    </p:spTree>
    <p:extLst>
      <p:ext uri="{BB962C8B-B14F-4D97-AF65-F5344CB8AC3E}">
        <p14:creationId xmlns:p14="http://schemas.microsoft.com/office/powerpoint/2010/main" val="140882479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BCEACEE1-D960-429B-8DAC-BEEF6752FE35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DD57758-0B2E-4B26-92B9-7818422CB6A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664CAB-9AB3-495E-BD8A-D1F8C9529B6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201C004-34B3-4A7D-97EF-AB24BE0C4EF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02622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1C0E299-19BF-4A4B-9357-F296E95E1D05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知识问题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6F78C57-8234-41F4-A689-9D09222E98C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F46DAC-91A1-45FB-A3B7-08615A7F16B2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知识问题通常出现在RAG、企业知识库和搜索型产品中。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6826EC-10E7-41A3-A5EB-80142840E220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可能包括：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932DBF5-57CA-4958-9CF8-766C7F907A41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F1883EF-B0C0-4ABB-8EDB-F460AB99E492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正确资料没有入库；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51FF77C-D064-4CFF-87CA-9059D967DFC0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A890783-97C1-465E-99F3-EB2EAA483E80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文档版本过期；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A4E2EFB-C653-4635-B92D-A03CE817AF12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BB61C98-2DF8-4AD1-83BB-CAA15471D354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文档解析失败；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C77AE2F-2D36-4146-8482-31D996CB7B38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9A8A124-CF30-436E-8998-061CE1B42D8D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表格或图片内容没有提取出来；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8FAFE10-C0B9-4272-BFA4-E59913F791D9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9B03706-CD9F-4FA3-9FAF-18D5F6B62E45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文档切分不合理；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FC645B2-232E-49DD-AA02-BAFD7705FFEE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BAF8D2C-773B-4FEF-9D53-181047E6BDA6}"/>
              </a:ext>
            </a:extLst>
          </p:cNvPr>
          <p:cNvSpPr>
            <a:spLocks noGrp="1"/>
          </p:cNvSpPr>
          <p:nvPr/>
        </p:nvSpPr>
        <p:spPr>
          <a:xfrm>
            <a:off x="1371600" y="4505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检索没有召回正确内容；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B65414B-CFD7-4F30-AEC5-1BE3A9D81A4B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09C5792-8129-4BE3-9F77-554C2100F8F4}"/>
              </a:ext>
            </a:extLst>
          </p:cNvPr>
          <p:cNvSpPr>
            <a:spLocks noGrp="1"/>
          </p:cNvSpPr>
          <p:nvPr/>
        </p:nvSpPr>
        <p:spPr>
          <a:xfrm>
            <a:off x="1371600" y="4905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召回内容与问题不相关；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557C64A-164C-4F9A-A4CC-D9DC0B178D0F}"/>
              </a:ext>
            </a:extLst>
          </p:cNvPr>
          <p:cNvSpPr>
            <a:spLocks noGrp="1"/>
          </p:cNvSpPr>
          <p:nvPr/>
        </p:nvSpPr>
        <p:spPr>
          <a:xfrm>
            <a:off x="876300" y="5314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7DC36F8-EF90-4B3D-B860-C44340F8B544}"/>
              </a:ext>
            </a:extLst>
          </p:cNvPr>
          <p:cNvSpPr>
            <a:spLocks noGrp="1"/>
          </p:cNvSpPr>
          <p:nvPr/>
        </p:nvSpPr>
        <p:spPr>
          <a:xfrm>
            <a:off x="1371600" y="5305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多份制度互相冲突。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AD7DDDD-B04A-487E-B017-EB31A5BC996B}"/>
              </a:ext>
            </a:extLst>
          </p:cNvPr>
          <p:cNvSpPr>
            <a:spLocks noGrp="1"/>
          </p:cNvSpPr>
          <p:nvPr/>
        </p:nvSpPr>
        <p:spPr>
          <a:xfrm>
            <a:off x="838200" y="5676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例如正确制度规定500元，但知识库中同时存在旧版600元的文件，系统检索到了旧版。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31FE278-DA8E-4BA3-8EFA-2B9A4AD386E6}"/>
              </a:ext>
            </a:extLst>
          </p:cNvPr>
          <p:cNvSpPr>
            <a:spLocks noGrp="1"/>
          </p:cNvSpPr>
          <p:nvPr/>
        </p:nvSpPr>
        <p:spPr>
          <a:xfrm>
            <a:off x="838200" y="6057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这不是模型“数学算错了”，而是知识管理与检索问题。</a:t>
            </a:r>
          </a:p>
        </p:txBody>
      </p:sp>
    </p:spTree>
    <p:extLst>
      <p:ext uri="{BB962C8B-B14F-4D97-AF65-F5344CB8AC3E}">
        <p14:creationId xmlns:p14="http://schemas.microsoft.com/office/powerpoint/2010/main" val="77507006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85967124-1DF5-4234-BB49-19DCF17CCE0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10871A-9E5D-49CB-A7B0-888F69358AA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193C6EB-3F5A-4667-A9DB-323B090BBBD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9E59B27-ECD4-4C88-BC19-5CFEC73BBCF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08576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67AC50-B989-45F4-AE1F-0306F602E23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知识问题（续）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A6FE2EC-730B-47E3-8902-E89388E8413C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9D85C85-5915-48C2-8AF7-EA1AE8F1B181}"/>
              </a:ext>
            </a:extLst>
          </p:cNvPr>
          <p:cNvSpPr>
            <a:spLocks noGrp="1"/>
          </p:cNvSpPr>
          <p:nvPr/>
        </p:nvSpPr>
        <p:spPr>
          <a:xfrm>
            <a:off x="838200" y="1724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可能的修复方法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565E3E-ADE9-49BF-831C-7906DAD9A20B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55785AB-B779-47CE-9049-8F515E628E54}"/>
              </a:ext>
            </a:extLst>
          </p:cNvPr>
          <p:cNvSpPr>
            <a:spLocks noGrp="1"/>
          </p:cNvSpPr>
          <p:nvPr/>
        </p:nvSpPr>
        <p:spPr>
          <a:xfrm>
            <a:off x="876300" y="2181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A27A36-10C6-452D-8E3B-191D7C103F6E}"/>
              </a:ext>
            </a:extLst>
          </p:cNvPr>
          <p:cNvSpPr>
            <a:spLocks noGrp="1"/>
          </p:cNvSpPr>
          <p:nvPr/>
        </p:nvSpPr>
        <p:spPr>
          <a:xfrm>
            <a:off x="1371600" y="2171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更新或删除旧文档；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B514AD5-C798-46F5-A374-D1F21AA8D3B8}"/>
              </a:ext>
            </a:extLst>
          </p:cNvPr>
          <p:cNvSpPr>
            <a:spLocks noGrp="1"/>
          </p:cNvSpPr>
          <p:nvPr/>
        </p:nvSpPr>
        <p:spPr>
          <a:xfrm>
            <a:off x="876300" y="2581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E71EFF3-2BB9-4E67-B9B7-0BB5A4900A17}"/>
              </a:ext>
            </a:extLst>
          </p:cNvPr>
          <p:cNvSpPr>
            <a:spLocks noGrp="1"/>
          </p:cNvSpPr>
          <p:nvPr/>
        </p:nvSpPr>
        <p:spPr>
          <a:xfrm>
            <a:off x="1371600" y="2571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标记制度有效期；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8A538F1-CE1D-4A16-944D-1CC6B796C5F6}"/>
              </a:ext>
            </a:extLst>
          </p:cNvPr>
          <p:cNvSpPr>
            <a:spLocks noGrp="1"/>
          </p:cNvSpPr>
          <p:nvPr/>
        </p:nvSpPr>
        <p:spPr>
          <a:xfrm>
            <a:off x="876300" y="2981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C094FE0-3ECA-4650-B7BA-98882B1509A4}"/>
              </a:ext>
            </a:extLst>
          </p:cNvPr>
          <p:cNvSpPr>
            <a:spLocks noGrp="1"/>
          </p:cNvSpPr>
          <p:nvPr/>
        </p:nvSpPr>
        <p:spPr>
          <a:xfrm>
            <a:off x="1371600" y="2971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调整文档切分；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08D8386-77A9-4614-B474-1EF249174736}"/>
              </a:ext>
            </a:extLst>
          </p:cNvPr>
          <p:cNvSpPr>
            <a:spLocks noGrp="1"/>
          </p:cNvSpPr>
          <p:nvPr/>
        </p:nvSpPr>
        <p:spPr>
          <a:xfrm>
            <a:off x="876300" y="3381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88A6D5F-70AF-4945-8F8B-A51566BD92E6}"/>
              </a:ext>
            </a:extLst>
          </p:cNvPr>
          <p:cNvSpPr>
            <a:spLocks noGrp="1"/>
          </p:cNvSpPr>
          <p:nvPr/>
        </p:nvSpPr>
        <p:spPr>
          <a:xfrm>
            <a:off x="1371600" y="3371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优化检索关键词或向量检索；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31F9421-119C-4B36-92F0-0376F13E2389}"/>
              </a:ext>
            </a:extLst>
          </p:cNvPr>
          <p:cNvSpPr>
            <a:spLocks noGrp="1"/>
          </p:cNvSpPr>
          <p:nvPr/>
        </p:nvSpPr>
        <p:spPr>
          <a:xfrm>
            <a:off x="876300" y="3781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8567C81-DC55-4EDD-BF17-42C20300BBAF}"/>
              </a:ext>
            </a:extLst>
          </p:cNvPr>
          <p:cNvSpPr>
            <a:spLocks noGrp="1"/>
          </p:cNvSpPr>
          <p:nvPr/>
        </p:nvSpPr>
        <p:spPr>
          <a:xfrm>
            <a:off x="1371600" y="3771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增加重排序；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AC47B51-9902-4F93-BEB5-9FADC6E0DB97}"/>
              </a:ext>
            </a:extLst>
          </p:cNvPr>
          <p:cNvSpPr>
            <a:spLocks noGrp="1"/>
          </p:cNvSpPr>
          <p:nvPr/>
        </p:nvSpPr>
        <p:spPr>
          <a:xfrm>
            <a:off x="876300" y="4181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CA163BD-C5E4-42BF-9699-EDC61005E4F0}"/>
              </a:ext>
            </a:extLst>
          </p:cNvPr>
          <p:cNvSpPr>
            <a:spLocks noGrp="1"/>
          </p:cNvSpPr>
          <p:nvPr/>
        </p:nvSpPr>
        <p:spPr>
          <a:xfrm>
            <a:off x="1371600" y="4171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处理冲突文档；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5C4F075-E9F1-41F0-8D99-5BE8A98960F8}"/>
              </a:ext>
            </a:extLst>
          </p:cNvPr>
          <p:cNvSpPr>
            <a:spLocks noGrp="1"/>
          </p:cNvSpPr>
          <p:nvPr/>
        </p:nvSpPr>
        <p:spPr>
          <a:xfrm>
            <a:off x="876300" y="4581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0F4502E-2447-4057-9287-CF675C0C30D5}"/>
              </a:ext>
            </a:extLst>
          </p:cNvPr>
          <p:cNvSpPr>
            <a:spLocks noGrp="1"/>
          </p:cNvSpPr>
          <p:nvPr/>
        </p:nvSpPr>
        <p:spPr>
          <a:xfrm>
            <a:off x="1371600" y="4572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在回答中显示引用来源。</a:t>
            </a:r>
          </a:p>
        </p:txBody>
      </p:sp>
    </p:spTree>
    <p:extLst>
      <p:ext uri="{BB962C8B-B14F-4D97-AF65-F5344CB8AC3E}">
        <p14:creationId xmlns:p14="http://schemas.microsoft.com/office/powerpoint/2010/main" val="20428361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707112B4-EEBD-4653-8806-441551634E1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E54709-7DD2-4588-809C-1D7E4299B23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3B9AC90-D862-43EA-BF86-059863380E0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1743FBA-1813-4408-95EB-4A1BBDE5B8C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14531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2D0471-BE73-4D24-8178-DEC7B981DBC6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流程问题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65A6E06-BD28-4953-B6FD-37A1304F702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1AAD88B-13C1-4954-B7FF-2A170F6C835F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流程问题是指产品的工作流设计不合理。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EAA66D6-48AA-4DFD-A035-738893C61944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例如正确流程应该是：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D439144-264C-4F0A-8112-13CBD3AB0533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8D4B88-EAD0-4D1C-9673-672871CBCADD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判断用户是否查询本人订单；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07D1BDD-2854-43D9-A062-B09F39630A93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6EF0BC8-2E39-4913-94D6-8692308D6612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验证身份；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3D4AFC0-C983-4EB5-8497-9D63737AA72E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E480B65-28AD-4F6F-9E94-BDB02EADD1F5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调用订单接口；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5632B3A-F81B-4E48-9D7C-FC842095231F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377F251-3AFF-42A4-B3CD-E2D6541DA4B9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获取物流信息；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BC8A881-EC84-486E-AE9F-9D0FE28AC222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ECC5518-B3A9-48AE-8DEE-7131D95BD05B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生成回答。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DA69DA0-AEB4-4703-9EBB-EA25EAAAF00E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但产品当前流程是：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6A40F15-91AF-4F47-9EFA-72644F840AAD}"/>
              </a:ext>
            </a:extLst>
          </p:cNvPr>
          <p:cNvSpPr>
            <a:spLocks noGrp="1"/>
          </p:cNvSpPr>
          <p:nvPr/>
        </p:nvSpPr>
        <p:spPr>
          <a:xfrm>
            <a:off x="876300" y="4895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8267CA7-38C1-43D5-8792-EC3CDA07F9DA}"/>
              </a:ext>
            </a:extLst>
          </p:cNvPr>
          <p:cNvSpPr>
            <a:spLocks noGrp="1"/>
          </p:cNvSpPr>
          <p:nvPr/>
        </p:nvSpPr>
        <p:spPr>
          <a:xfrm>
            <a:off x="1371600" y="4886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收到订单问题；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7C48239-F7F5-4719-B5FE-2F9B6D6B519D}"/>
              </a:ext>
            </a:extLst>
          </p:cNvPr>
          <p:cNvSpPr>
            <a:spLocks noGrp="1"/>
          </p:cNvSpPr>
          <p:nvPr/>
        </p:nvSpPr>
        <p:spPr>
          <a:xfrm>
            <a:off x="876300" y="5295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13D003-92DC-4019-90E1-F3BA4A81913B}"/>
              </a:ext>
            </a:extLst>
          </p:cNvPr>
          <p:cNvSpPr>
            <a:spLocks noGrp="1"/>
          </p:cNvSpPr>
          <p:nvPr/>
        </p:nvSpPr>
        <p:spPr>
          <a:xfrm>
            <a:off x="1371600" y="5286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直接调用订单接口；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D5BF4DA-A3EB-4F6B-9893-58E235275164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0539F71-94E2-418E-ADBC-17EBA3EC7008}"/>
              </a:ext>
            </a:extLst>
          </p:cNvPr>
          <p:cNvSpPr>
            <a:spLocks noGrp="1"/>
          </p:cNvSpPr>
          <p:nvPr/>
        </p:nvSpPr>
        <p:spPr>
          <a:xfrm>
            <a:off x="1371600" y="5686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返回订单信息。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C70172F-769F-4B93-BC3F-F3E3F6C6FA00}"/>
              </a:ext>
            </a:extLst>
          </p:cNvPr>
          <p:cNvSpPr>
            <a:spLocks noGrp="1"/>
          </p:cNvSpPr>
          <p:nvPr/>
        </p:nvSpPr>
        <p:spPr>
          <a:xfrm>
            <a:off x="838200" y="6057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那么即使模型回答准确，也可能存在隐私风险。</a:t>
            </a:r>
          </a:p>
        </p:txBody>
      </p:sp>
    </p:spTree>
    <p:extLst>
      <p:ext uri="{BB962C8B-B14F-4D97-AF65-F5344CB8AC3E}">
        <p14:creationId xmlns:p14="http://schemas.microsoft.com/office/powerpoint/2010/main" val="127481800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E78D6704-23CD-4BCE-B42F-41690F56B8B3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4B66E3-3FF4-4FA7-A517-CA514FE66EC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FB144A4-F452-48AD-9DB6-127CDD744D3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071A7F3-DB27-4746-935B-AC965B84F94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20485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8C27424-B5F2-4AAE-B267-3D3A8D339529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流程问题（续）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9FD9EC-737C-4DFD-889A-57D94049E3E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F2DC5DE-4134-427B-9EAD-80AB7841CA79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常见流程问题包括：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FAE7864-ED9A-4E8C-BEB4-73870752D33F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64478FE-A5CB-49E6-BB5C-B51AEB17D10E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缺少必要追问；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F49060F-94B0-4038-8517-B9B7CCBC7D7A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42F630-4B80-4FFF-924D-0CB319C79BCF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没有验证身份；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43D30F9-3A5C-4C46-8058-E8C727127A87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2DACEC9-FA93-4BB2-853F-3CF93BA75C37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工具调用顺序错误；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AF4D37-0B13-4AA5-9766-E5DF59EF471D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97093C6-36E7-4CDF-8BA9-EAE19513732D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应该转人工时仍由AI处理；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D6251AD-817C-4900-88A9-19B89847D964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9F47F42-A45A-4B4A-8AF6-BA5B20977A99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工具失败后没有兜底；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799E5C1-7CB6-41ED-AE35-C2F036A7E276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086275E-3B52-4EF4-BE6F-899C6A98C908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多轮对话状态丢失；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CF14986-5168-44A7-BA9A-F9B3B7FDF561}"/>
              </a:ext>
            </a:extLst>
          </p:cNvPr>
          <p:cNvSpPr>
            <a:spLocks noGrp="1"/>
          </p:cNvSpPr>
          <p:nvPr/>
        </p:nvSpPr>
        <p:spPr>
          <a:xfrm>
            <a:off x="876300" y="4533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53D7387-6BB5-414F-B77B-6215F97A8A27}"/>
              </a:ext>
            </a:extLst>
          </p:cNvPr>
          <p:cNvSpPr>
            <a:spLocks noGrp="1"/>
          </p:cNvSpPr>
          <p:nvPr/>
        </p:nvSpPr>
        <p:spPr>
          <a:xfrm>
            <a:off x="1371600" y="4524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没有执行输出校验。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F3C4BCE-2EF0-4E2E-9034-EFFE19D32312}"/>
              </a:ext>
            </a:extLst>
          </p:cNvPr>
          <p:cNvSpPr>
            <a:spLocks noGrp="1"/>
          </p:cNvSpPr>
          <p:nvPr/>
        </p:nvSpPr>
        <p:spPr>
          <a:xfrm>
            <a:off x="838200" y="49053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可能的修复方法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3B2CB02-58BA-42C6-998E-D16510975F8D}"/>
              </a:ext>
            </a:extLst>
          </p:cNvPr>
          <p:cNvSpPr>
            <a:spLocks noGrp="1"/>
          </p:cNvSpPr>
          <p:nvPr/>
        </p:nvSpPr>
        <p:spPr>
          <a:xfrm>
            <a:off x="838200" y="52292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96B103-AC37-4255-BD4C-41846C2B4F05}"/>
              </a:ext>
            </a:extLst>
          </p:cNvPr>
          <p:cNvSpPr>
            <a:spLocks noGrp="1"/>
          </p:cNvSpPr>
          <p:nvPr/>
        </p:nvSpPr>
        <p:spPr>
          <a:xfrm>
            <a:off x="876300" y="5362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B8DE2EF-8B09-4C78-A889-A5ED0B5FCCDF}"/>
              </a:ext>
            </a:extLst>
          </p:cNvPr>
          <p:cNvSpPr>
            <a:spLocks noGrp="1"/>
          </p:cNvSpPr>
          <p:nvPr/>
        </p:nvSpPr>
        <p:spPr>
          <a:xfrm>
            <a:off x="1371600" y="53530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增加流程节点；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78D3E10-4885-44D8-9007-673D497BC0D4}"/>
              </a:ext>
            </a:extLst>
          </p:cNvPr>
          <p:cNvSpPr>
            <a:spLocks noGrp="1"/>
          </p:cNvSpPr>
          <p:nvPr/>
        </p:nvSpPr>
        <p:spPr>
          <a:xfrm>
            <a:off x="876300" y="57626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CD5F2CB-1FF1-476F-BD27-B4891CDA21D7}"/>
              </a:ext>
            </a:extLst>
          </p:cNvPr>
          <p:cNvSpPr>
            <a:spLocks noGrp="1"/>
          </p:cNvSpPr>
          <p:nvPr/>
        </p:nvSpPr>
        <p:spPr>
          <a:xfrm>
            <a:off x="1371600" y="57531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调整节点顺序；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06FA17B-5314-4B12-9D61-7B5A21EA9AB1}"/>
              </a:ext>
            </a:extLst>
          </p:cNvPr>
          <p:cNvSpPr>
            <a:spLocks noGrp="1"/>
          </p:cNvSpPr>
          <p:nvPr/>
        </p:nvSpPr>
        <p:spPr>
          <a:xfrm>
            <a:off x="876300" y="61626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0A2F01D-D6DF-48A3-AB73-44D3EB9F9DC2}"/>
              </a:ext>
            </a:extLst>
          </p:cNvPr>
          <p:cNvSpPr>
            <a:spLocks noGrp="1"/>
          </p:cNvSpPr>
          <p:nvPr/>
        </p:nvSpPr>
        <p:spPr>
          <a:xfrm>
            <a:off x="1371600" y="61531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增加条件判断；</a:t>
            </a:r>
          </a:p>
        </p:txBody>
      </p:sp>
    </p:spTree>
    <p:extLst>
      <p:ext uri="{BB962C8B-B14F-4D97-AF65-F5344CB8AC3E}">
        <p14:creationId xmlns:p14="http://schemas.microsoft.com/office/powerpoint/2010/main" val="113176986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68043066-D673-4C48-A756-0D1DE314DF67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C92C83B-99F0-4206-8A2D-84588B85D63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E2727DC-56CC-49F9-83F9-CB52C4D17CC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0DFCC17-7AC5-4713-BABC-FF787223885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26440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FB977E-1EC5-43B6-B8FC-EDF4BDADA08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流程问题（续）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5A5A44-0945-4744-90D4-A5684D0A7C2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BAF6784-702C-4B74-B3ED-8352A27F3E5A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7DC0F7-AFA0-45CF-A793-6940E19B4D4A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增加人工兜底；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528E746-4A06-4AD1-9E42-0F755D4B1369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5DFED77-44CB-4B7E-9C09-DBB70D1AE75D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设置失败重试；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99663BC-AA30-455C-8442-1C0790EC84D3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9FEAA1D-C0D8-4860-A3FD-E870F2E5FDC5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增加输出审核。</a:t>
            </a:r>
          </a:p>
        </p:txBody>
      </p:sp>
    </p:spTree>
    <p:extLst>
      <p:ext uri="{BB962C8B-B14F-4D97-AF65-F5344CB8AC3E}">
        <p14:creationId xmlns:p14="http://schemas.microsoft.com/office/powerpoint/2010/main" val="149012265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E4C9884A-5BC3-4821-A871-EC601061F17C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65ECB4-6AC3-41D2-ADBC-CE950A928CDA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C5D4A39-4F79-4E08-AA90-E3FFBCF4F3D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E34A49-D543-46F3-BD06-08BBCBD4E43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32394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1808979-52F7-4F9F-A283-CE085EE98E03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工具问题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BB48A3C-04C0-48ED-88D0-90A2F2FBDE4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5FAE5FD-7DA1-46D4-BD77-0FE0ECFBFF8A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工具问题发生在API、数据库、搜索、计算器等外部能力上。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5CCCEF-9B31-4057-8BD6-75423544157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常见情况包括：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F09DD6D-FA0A-477E-B598-415B710A1D8A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C7AEA07-D595-481C-8CB1-E27E0A4DAC02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API调用失败；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D22B346-EF84-44E7-9D98-C951717217C8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BD59C14-7829-4EE8-B2B2-2F182BE05BED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参数传错；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BEC266C-DBFC-478F-803A-A19B03945236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18453F3-CEBE-45AA-8AE4-B6B0CC6E1ADF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权限不足；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216473A-CE58-447F-A921-C4D5DA503005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C6AAA63-E898-45D0-861B-0BA0E0650651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返回数据为空；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0F05CF2-CA77-4268-978F-1EEB375686A9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12BDA5A-66EE-434F-9373-7DA346A2FDB8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返回字段发生变化；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D2CDB2F-82F6-4169-8A2E-C0264361AA78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0FA376D-328A-4471-95A3-716675F986D2}"/>
              </a:ext>
            </a:extLst>
          </p:cNvPr>
          <p:cNvSpPr>
            <a:spLocks noGrp="1"/>
          </p:cNvSpPr>
          <p:nvPr/>
        </p:nvSpPr>
        <p:spPr>
          <a:xfrm>
            <a:off x="1371600" y="4505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接口超时；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4108474-0712-4E22-A8B6-3E60FBF1A8E2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F647F69-E15C-4860-B08D-D09DA6DFCD0B}"/>
              </a:ext>
            </a:extLst>
          </p:cNvPr>
          <p:cNvSpPr>
            <a:spLocks noGrp="1"/>
          </p:cNvSpPr>
          <p:nvPr/>
        </p:nvSpPr>
        <p:spPr>
          <a:xfrm>
            <a:off x="1371600" y="4905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工具结果没有正确传给模型；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739587-F65C-4FFB-9E62-61C1DCF3503C}"/>
              </a:ext>
            </a:extLst>
          </p:cNvPr>
          <p:cNvSpPr>
            <a:spLocks noGrp="1"/>
          </p:cNvSpPr>
          <p:nvPr/>
        </p:nvSpPr>
        <p:spPr>
          <a:xfrm>
            <a:off x="876300" y="5314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A568A34-DA76-4EA8-8BC7-38D591284584}"/>
              </a:ext>
            </a:extLst>
          </p:cNvPr>
          <p:cNvSpPr>
            <a:spLocks noGrp="1"/>
          </p:cNvSpPr>
          <p:nvPr/>
        </p:nvSpPr>
        <p:spPr>
          <a:xfrm>
            <a:off x="1371600" y="5305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模型选择了错误工具。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A32A83E-5650-468D-B28B-3BA53D5DC76A}"/>
              </a:ext>
            </a:extLst>
          </p:cNvPr>
          <p:cNvSpPr>
            <a:spLocks noGrp="1"/>
          </p:cNvSpPr>
          <p:nvPr/>
        </p:nvSpPr>
        <p:spPr>
          <a:xfrm>
            <a:off x="838200" y="5676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例如模型正确识别了用户想查询物流，也调用了物流API，但API返回了三天前的缓存数据。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F4A715B-6067-4CA2-84E6-7D2981668D86}"/>
              </a:ext>
            </a:extLst>
          </p:cNvPr>
          <p:cNvSpPr>
            <a:spLocks noGrp="1"/>
          </p:cNvSpPr>
          <p:nvPr/>
        </p:nvSpPr>
        <p:spPr>
          <a:xfrm>
            <a:off x="838200" y="6057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此时主要问题不是模型，而是工具或数据接口。</a:t>
            </a:r>
          </a:p>
        </p:txBody>
      </p:sp>
    </p:spTree>
    <p:extLst>
      <p:ext uri="{BB962C8B-B14F-4D97-AF65-F5344CB8AC3E}">
        <p14:creationId xmlns:p14="http://schemas.microsoft.com/office/powerpoint/2010/main" val="41583027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DDF802F7-402E-4335-877D-0E0A77C48AF6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2BE40ED-E619-479A-8C4F-04AFFF2C49C7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3D99F25-3E9A-4681-8BB5-97FE11AB7ED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B58D8B4-3F41-40C3-809A-FB48765E6B6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38348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D843B8-69FF-4E60-9D6C-B5D98214ABE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工具问题（续）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98870D0-E92B-4E25-8245-C867A61FD3B6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FDBFDE6-6C20-4BBD-8AE4-E8AA9215EE38}"/>
              </a:ext>
            </a:extLst>
          </p:cNvPr>
          <p:cNvSpPr>
            <a:spLocks noGrp="1"/>
          </p:cNvSpPr>
          <p:nvPr/>
        </p:nvSpPr>
        <p:spPr>
          <a:xfrm>
            <a:off x="838200" y="1724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可能的修复方法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637E6F2-93FF-48D4-A25E-37E3601D6E5F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DA75237-288B-4604-9817-75649A5DBE23}"/>
              </a:ext>
            </a:extLst>
          </p:cNvPr>
          <p:cNvSpPr>
            <a:spLocks noGrp="1"/>
          </p:cNvSpPr>
          <p:nvPr/>
        </p:nvSpPr>
        <p:spPr>
          <a:xfrm>
            <a:off x="876300" y="2181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897BD1-CFCA-48AD-83DD-EF8BC566B919}"/>
              </a:ext>
            </a:extLst>
          </p:cNvPr>
          <p:cNvSpPr>
            <a:spLocks noGrp="1"/>
          </p:cNvSpPr>
          <p:nvPr/>
        </p:nvSpPr>
        <p:spPr>
          <a:xfrm>
            <a:off x="1371600" y="2171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修复接口；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DDCB2FD-42D9-4A54-B6D2-4C6C69D556A3}"/>
              </a:ext>
            </a:extLst>
          </p:cNvPr>
          <p:cNvSpPr>
            <a:spLocks noGrp="1"/>
          </p:cNvSpPr>
          <p:nvPr/>
        </p:nvSpPr>
        <p:spPr>
          <a:xfrm>
            <a:off x="876300" y="2581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E56A239-3062-4B06-A8DE-1B1EF601ABB5}"/>
              </a:ext>
            </a:extLst>
          </p:cNvPr>
          <p:cNvSpPr>
            <a:spLocks noGrp="1"/>
          </p:cNvSpPr>
          <p:nvPr/>
        </p:nvSpPr>
        <p:spPr>
          <a:xfrm>
            <a:off x="1371600" y="2571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增加参数校验；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17B33C-C3AC-47A1-B1C3-78435DCB5891}"/>
              </a:ext>
            </a:extLst>
          </p:cNvPr>
          <p:cNvSpPr>
            <a:spLocks noGrp="1"/>
          </p:cNvSpPr>
          <p:nvPr/>
        </p:nvSpPr>
        <p:spPr>
          <a:xfrm>
            <a:off x="876300" y="2981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05F8EDC-647A-49C8-93B3-D43808B38F2F}"/>
              </a:ext>
            </a:extLst>
          </p:cNvPr>
          <p:cNvSpPr>
            <a:spLocks noGrp="1"/>
          </p:cNvSpPr>
          <p:nvPr/>
        </p:nvSpPr>
        <p:spPr>
          <a:xfrm>
            <a:off x="1371600" y="2971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增加超时和重试；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1E85BDE-6AB1-43F7-9480-F794E4BF0C83}"/>
              </a:ext>
            </a:extLst>
          </p:cNvPr>
          <p:cNvSpPr>
            <a:spLocks noGrp="1"/>
          </p:cNvSpPr>
          <p:nvPr/>
        </p:nvSpPr>
        <p:spPr>
          <a:xfrm>
            <a:off x="876300" y="3381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FB8D433-E1D2-438D-BC75-FFD16A5343A4}"/>
              </a:ext>
            </a:extLst>
          </p:cNvPr>
          <p:cNvSpPr>
            <a:spLocks noGrp="1"/>
          </p:cNvSpPr>
          <p:nvPr/>
        </p:nvSpPr>
        <p:spPr>
          <a:xfrm>
            <a:off x="1371600" y="3371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检查权限；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700E17-29AB-4F4E-8CDD-D51335247C69}"/>
              </a:ext>
            </a:extLst>
          </p:cNvPr>
          <p:cNvSpPr>
            <a:spLocks noGrp="1"/>
          </p:cNvSpPr>
          <p:nvPr/>
        </p:nvSpPr>
        <p:spPr>
          <a:xfrm>
            <a:off x="876300" y="3781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C9BA82E-F8FD-4B1D-B12C-D72C81F070B2}"/>
              </a:ext>
            </a:extLst>
          </p:cNvPr>
          <p:cNvSpPr>
            <a:spLocks noGrp="1"/>
          </p:cNvSpPr>
          <p:nvPr/>
        </p:nvSpPr>
        <p:spPr>
          <a:xfrm>
            <a:off x="1371600" y="3771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更新字段映射；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8AD4457-1FF3-4BD2-B8AB-5481390576F6}"/>
              </a:ext>
            </a:extLst>
          </p:cNvPr>
          <p:cNvSpPr>
            <a:spLocks noGrp="1"/>
          </p:cNvSpPr>
          <p:nvPr/>
        </p:nvSpPr>
        <p:spPr>
          <a:xfrm>
            <a:off x="876300" y="4181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3EC39A1-0660-45BE-939A-D054ED9685EE}"/>
              </a:ext>
            </a:extLst>
          </p:cNvPr>
          <p:cNvSpPr>
            <a:spLocks noGrp="1"/>
          </p:cNvSpPr>
          <p:nvPr/>
        </p:nvSpPr>
        <p:spPr>
          <a:xfrm>
            <a:off x="1371600" y="4171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显示数据时间；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1675C66-F2BC-4CA4-8FCF-FBE776149817}"/>
              </a:ext>
            </a:extLst>
          </p:cNvPr>
          <p:cNvSpPr>
            <a:spLocks noGrp="1"/>
          </p:cNvSpPr>
          <p:nvPr/>
        </p:nvSpPr>
        <p:spPr>
          <a:xfrm>
            <a:off x="876300" y="4581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032A161-9083-4C10-8FA8-D523D1B0A4F6}"/>
              </a:ext>
            </a:extLst>
          </p:cNvPr>
          <p:cNvSpPr>
            <a:spLocks noGrp="1"/>
          </p:cNvSpPr>
          <p:nvPr/>
        </p:nvSpPr>
        <p:spPr>
          <a:xfrm>
            <a:off x="1371600" y="4572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工具失败时停止生成确定性结论。</a:t>
            </a:r>
          </a:p>
        </p:txBody>
      </p:sp>
    </p:spTree>
    <p:extLst>
      <p:ext uri="{BB962C8B-B14F-4D97-AF65-F5344CB8AC3E}">
        <p14:creationId xmlns:p14="http://schemas.microsoft.com/office/powerpoint/2010/main" val="73044655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CCCDBC23-3C19-4D78-81DC-3FAF012124BC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7B91C2-9568-4DE4-AD2B-BEA4EFADE6C2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A7B1AA-7701-4C37-9A61-77EC95149FD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1C2EA5-F676-4B56-983F-971F202B7DD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44303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E13E135-ED0C-4316-BEC0-B70B29CE46D5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产品边界问题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D3D36D8-D34B-470C-AD60-E7AF0813ED29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E96D3D7-9438-4ADC-942A-BAC7AC8E38A5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有些Bad Case并不是某个模块“出了Bug”，而是产品从一开始就没有明确能力边界。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2841452-0C00-4BEB-B738-2444B290F614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例如团队把产品定位为：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EE005F3F-4856-4DCC-B1DE-C98E79038833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37E743D-FFED-4E4D-9E3B-45DCF822F508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279F9FB-0517-417E-914A-9F97717D9093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一个什么问题都能回答的企业助手。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A208160-AFA9-4E77-9BE0-4BDF4E9C8B99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用户随后询问：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10E4FA6-BD98-4E93-B765-B5862EDFEA42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1F7B5FB-D873-4B54-8963-2ED4CF5B62C2}"/>
              </a:ext>
            </a:extLst>
          </p:cNvPr>
          <p:cNvSpPr>
            <a:spLocks noGrp="1"/>
          </p:cNvSpPr>
          <p:nvPr/>
        </p:nvSpPr>
        <p:spPr>
          <a:xfrm>
            <a:off x="1371600" y="3562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劳动纠纷法律建议；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3D24136-8F66-42D2-A6A1-EB8A1B2E941A}"/>
              </a:ext>
            </a:extLst>
          </p:cNvPr>
          <p:cNvSpPr>
            <a:spLocks noGrp="1"/>
          </p:cNvSpPr>
          <p:nvPr/>
        </p:nvSpPr>
        <p:spPr>
          <a:xfrm>
            <a:off x="876300" y="3971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B0B893C-890D-427B-8539-7CA98B9F6261}"/>
              </a:ext>
            </a:extLst>
          </p:cNvPr>
          <p:cNvSpPr>
            <a:spLocks noGrp="1"/>
          </p:cNvSpPr>
          <p:nvPr/>
        </p:nvSpPr>
        <p:spPr>
          <a:xfrm>
            <a:off x="1371600" y="3962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员工心理诊断；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052643D-3A7D-4C96-B6EB-5A0B8B66CF6C}"/>
              </a:ext>
            </a:extLst>
          </p:cNvPr>
          <p:cNvSpPr>
            <a:spLocks noGrp="1"/>
          </p:cNvSpPr>
          <p:nvPr/>
        </p:nvSpPr>
        <p:spPr>
          <a:xfrm>
            <a:off x="876300" y="4371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25BCC45-2581-4472-8357-DC61141BD2F7}"/>
              </a:ext>
            </a:extLst>
          </p:cNvPr>
          <p:cNvSpPr>
            <a:spLocks noGrp="1"/>
          </p:cNvSpPr>
          <p:nvPr/>
        </p:nvSpPr>
        <p:spPr>
          <a:xfrm>
            <a:off x="1371600" y="4362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投资建议；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37BA5E3-D121-4A2F-BF49-4E173B2404F0}"/>
              </a:ext>
            </a:extLst>
          </p:cNvPr>
          <p:cNvSpPr>
            <a:spLocks noGrp="1"/>
          </p:cNvSpPr>
          <p:nvPr/>
        </p:nvSpPr>
        <p:spPr>
          <a:xfrm>
            <a:off x="876300" y="4772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35613A-EDB0-47E1-9D56-D8AE4D7B8BE8}"/>
              </a:ext>
            </a:extLst>
          </p:cNvPr>
          <p:cNvSpPr>
            <a:spLocks noGrp="1"/>
          </p:cNvSpPr>
          <p:nvPr/>
        </p:nvSpPr>
        <p:spPr>
          <a:xfrm>
            <a:off x="1371600" y="4762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未公开公司战略；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8AD8CFB-EAC1-428F-B29F-C843D656B5EC}"/>
              </a:ext>
            </a:extLst>
          </p:cNvPr>
          <p:cNvSpPr>
            <a:spLocks noGrp="1"/>
          </p:cNvSpPr>
          <p:nvPr/>
        </p:nvSpPr>
        <p:spPr>
          <a:xfrm>
            <a:off x="876300" y="5172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C05ED0D-AAD1-4B99-A710-A0ED6D5FF1B0}"/>
              </a:ext>
            </a:extLst>
          </p:cNvPr>
          <p:cNvSpPr>
            <a:spLocks noGrp="1"/>
          </p:cNvSpPr>
          <p:nvPr/>
        </p:nvSpPr>
        <p:spPr>
          <a:xfrm>
            <a:off x="1371600" y="5162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其他部门的敏感数据。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737B4A3-7946-4D8A-876B-E49AD1C4C2DD}"/>
              </a:ext>
            </a:extLst>
          </p:cNvPr>
          <p:cNvSpPr>
            <a:spLocks noGrp="1"/>
          </p:cNvSpPr>
          <p:nvPr/>
        </p:nvSpPr>
        <p:spPr>
          <a:xfrm>
            <a:off x="838200" y="55340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如果没有定义哪些问题可以回答、哪些应该拒绝、哪些要转人工，产品就会不断遇到无法通过局部优化解决的问题。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25A73AE-5FF6-49AF-9F2F-74AA5E306F91}"/>
              </a:ext>
            </a:extLst>
          </p:cNvPr>
          <p:cNvSpPr>
            <a:spLocks noGrp="1"/>
          </p:cNvSpPr>
          <p:nvPr/>
        </p:nvSpPr>
        <p:spPr>
          <a:xfrm>
            <a:off x="838200" y="59245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可能的修复方法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71089C2-9C1B-43D8-AA10-59ADD4CF3BDA}"/>
              </a:ext>
            </a:extLst>
          </p:cNvPr>
          <p:cNvSpPr>
            <a:spLocks noGrp="1"/>
          </p:cNvSpPr>
          <p:nvPr/>
        </p:nvSpPr>
        <p:spPr>
          <a:xfrm>
            <a:off x="838200" y="62484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3913776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49654610-D840-4CC0-8B08-FEDF2E89572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6140FE-9838-4E11-B907-767B7E8CFF4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F1BD23D-50D3-48AC-A2FC-440B5D0CDF4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FCA1A8B-408E-43FA-84D9-04540691EB7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50257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D634B04-3E26-4835-A50C-F94242FD7321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产品边界问题（续）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2CA5679-6825-45F6-B8D5-A064C1582FF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5278B05-07FE-478B-A7CC-0C29B0F9D845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00D27C-057D-4CAD-8F02-AC17177ED1C6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明确产品支持的场景；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D7964F-1805-46A5-BE69-46A8CD4E2401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AF22FEB-AAFF-4A09-B577-59FB3DC1D605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设计拒答范围；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97D10FC-51E0-41A3-A5AC-854BFCD6F501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30874D5-7616-4804-8614-CEE50C29686A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设置权限边界；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65C53FD-A2A6-4EFA-AF43-5EFAE8F0DB01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7F53B5F-6A2B-413D-88BD-3F06FE0A6E29}"/>
              </a:ext>
            </a:extLst>
          </p:cNvPr>
          <p:cNvSpPr>
            <a:spLocks noGrp="1"/>
          </p:cNvSpPr>
          <p:nvPr/>
        </p:nvSpPr>
        <p:spPr>
          <a:xfrm>
            <a:off x="1371600" y="2943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提供转人工入口；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A9D831E-134C-420C-94A9-C0706724B64E}"/>
              </a:ext>
            </a:extLst>
          </p:cNvPr>
          <p:cNvSpPr>
            <a:spLocks noGrp="1"/>
          </p:cNvSpPr>
          <p:nvPr/>
        </p:nvSpPr>
        <p:spPr>
          <a:xfrm>
            <a:off x="876300" y="3352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EBA647-9057-4967-B075-A321DF17B333}"/>
              </a:ext>
            </a:extLst>
          </p:cNvPr>
          <p:cNvSpPr>
            <a:spLocks noGrp="1"/>
          </p:cNvSpPr>
          <p:nvPr/>
        </p:nvSpPr>
        <p:spPr>
          <a:xfrm>
            <a:off x="1371600" y="3343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调整对外产品承诺；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7AC9F06-DAD4-47BD-ACC9-FB0B21ED421E}"/>
              </a:ext>
            </a:extLst>
          </p:cNvPr>
          <p:cNvSpPr>
            <a:spLocks noGrp="1"/>
          </p:cNvSpPr>
          <p:nvPr/>
        </p:nvSpPr>
        <p:spPr>
          <a:xfrm>
            <a:off x="876300" y="3752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B94B09F-737E-4F7B-B6FE-330E2B3E45DA}"/>
              </a:ext>
            </a:extLst>
          </p:cNvPr>
          <p:cNvSpPr>
            <a:spLocks noGrp="1"/>
          </p:cNvSpPr>
          <p:nvPr/>
        </p:nvSpPr>
        <p:spPr>
          <a:xfrm>
            <a:off x="1371600" y="3743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对暂不支持的需求进行明确提示。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06C0036-429F-487A-BFAB-5B71965E0B1B}"/>
              </a:ext>
            </a:extLst>
          </p:cNvPr>
          <p:cNvSpPr>
            <a:spLocks noGrp="1"/>
          </p:cNvSpPr>
          <p:nvPr/>
        </p:nvSpPr>
        <p:spPr>
          <a:xfrm>
            <a:off x="838200" y="41148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产品边界问题通常不能只靠修改Prompt解决。</a:t>
            </a:r>
          </a:p>
        </p:txBody>
      </p:sp>
    </p:spTree>
    <p:extLst>
      <p:ext uri="{BB962C8B-B14F-4D97-AF65-F5344CB8AC3E}">
        <p14:creationId xmlns:p14="http://schemas.microsoft.com/office/powerpoint/2010/main" val="123571385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F8515193-724D-4F26-ADC5-258A9230E1E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F07A8BC-47A7-46BA-9D46-5021F72A4C29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1CA527-A6D8-4A18-A5F6-BEA8DBBE5E5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399CAC-3038-4857-8682-27EE23228EA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56212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6967088-087C-4B0D-A99A-0395A7074F77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一个完整的归因示例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D0E92D-6752-4247-B73C-0A4A7EEED285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A67D528-36BC-4C5F-92C9-5DD37FAFA654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用户问：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19E2DFE0-A547-44B7-B246-7A8AB579476B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72E76D9-4F27-4305-911F-63859BEE77AE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1026018-E82B-446C-8083-A72B2AE5DFF8}"/>
              </a:ext>
            </a:extLst>
          </p:cNvPr>
          <p:cNvSpPr>
            <a:spLocks noGrp="1"/>
          </p:cNvSpPr>
          <p:nvPr/>
        </p:nvSpPr>
        <p:spPr>
          <a:xfrm>
            <a:off x="1104900" y="2238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我去北京出差，酒店能报多少？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7602149-8401-43B3-B0AB-4BC972B3F4E6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AI回答：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27DC102A-05C7-47DA-8745-AF0FB2CEC2C7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0F4A494-B243-47A4-890A-5444330FE227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3E98271-208B-46B2-BABE-42B0803F7F74}"/>
              </a:ext>
            </a:extLst>
          </p:cNvPr>
          <p:cNvSpPr>
            <a:spLocks noGrp="1"/>
          </p:cNvSpPr>
          <p:nvPr/>
        </p:nvSpPr>
        <p:spPr>
          <a:xfrm>
            <a:off x="1104900" y="3295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北京住宿标准是600元/晚。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422C470-D27C-4117-98A4-A55EA968F1C4}"/>
              </a:ext>
            </a:extLst>
          </p:cNvPr>
          <p:cNvSpPr>
            <a:spLocks noGrp="1"/>
          </p:cNvSpPr>
          <p:nvPr/>
        </p:nvSpPr>
        <p:spPr>
          <a:xfrm>
            <a:off x="838200" y="3829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正确答案是普通员工500元/晚。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7A6E4C3-C931-4F40-A9F3-B152F226676C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我们不能看到数字错误就立刻修改Prompt，而要沿链路检查。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CA02156-A9E0-42C8-8632-E4EFA067A784}"/>
              </a:ext>
            </a:extLst>
          </p:cNvPr>
          <p:cNvSpPr>
            <a:spLocks noGrp="1"/>
          </p:cNvSpPr>
          <p:nvPr/>
        </p:nvSpPr>
        <p:spPr>
          <a:xfrm>
            <a:off x="838200" y="46005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第一步：检查用户信息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100B059-8318-4F14-974B-EE7D46A46492}"/>
              </a:ext>
            </a:extLst>
          </p:cNvPr>
          <p:cNvSpPr>
            <a:spLocks noGrp="1"/>
          </p:cNvSpPr>
          <p:nvPr/>
        </p:nvSpPr>
        <p:spPr>
          <a:xfrm>
            <a:off x="838200" y="49244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99B9F8E-DE76-4DED-BD45-95B2FA09B531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用户没有说明职级。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E8C9482-C209-44CE-8191-9B7B7BBD62A2}"/>
              </a:ext>
            </a:extLst>
          </p:cNvPr>
          <p:cNvSpPr>
            <a:spLocks noGrp="1"/>
          </p:cNvSpPr>
          <p:nvPr/>
        </p:nvSpPr>
        <p:spPr>
          <a:xfrm>
            <a:off x="838200" y="54006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可能的问题：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38DA44D-C8E3-4855-B37E-84D8BF159883}"/>
              </a:ext>
            </a:extLst>
          </p:cNvPr>
          <p:cNvSpPr>
            <a:spLocks noGrp="1"/>
          </p:cNvSpPr>
          <p:nvPr/>
        </p:nvSpPr>
        <p:spPr>
          <a:xfrm>
            <a:off x="876300" y="58197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BD45A4C-B2AE-4050-8257-85AFDBCCCCEE}"/>
              </a:ext>
            </a:extLst>
          </p:cNvPr>
          <p:cNvSpPr>
            <a:spLocks noGrp="1"/>
          </p:cNvSpPr>
          <p:nvPr/>
        </p:nvSpPr>
        <p:spPr>
          <a:xfrm>
            <a:off x="1371600" y="58102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产品应该追问职级，但没有追问；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9DFC38C-6BD7-416B-AC29-874E669DF8F1}"/>
              </a:ext>
            </a:extLst>
          </p:cNvPr>
          <p:cNvSpPr>
            <a:spLocks noGrp="1"/>
          </p:cNvSpPr>
          <p:nvPr/>
        </p:nvSpPr>
        <p:spPr>
          <a:xfrm>
            <a:off x="876300" y="62198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240E3AA-8C99-495A-88CB-361408F58ADE}"/>
              </a:ext>
            </a:extLst>
          </p:cNvPr>
          <p:cNvSpPr>
            <a:spLocks noGrp="1"/>
          </p:cNvSpPr>
          <p:nvPr/>
        </p:nvSpPr>
        <p:spPr>
          <a:xfrm>
            <a:off x="1371600" y="62103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工作流没有设计信息补全节点。</a:t>
            </a:r>
          </a:p>
        </p:txBody>
      </p:sp>
    </p:spTree>
    <p:extLst>
      <p:ext uri="{BB962C8B-B14F-4D97-AF65-F5344CB8AC3E}">
        <p14:creationId xmlns:p14="http://schemas.microsoft.com/office/powerpoint/2010/main" val="185974343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BFAB1AB3-E23D-4675-8B5F-FB96DD9B5972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5EE89D3-7629-4B43-A699-5861D78EB69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C3C1263-752B-4CE2-BC0E-1C9DD1DD47B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7EEEE2-EA14-4948-BBAA-D3B8913EAE2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62166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B2C7AE8-816C-40CD-8B42-762458192BA0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一个完整的归因示例（续）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BBFC0CE-9E67-47B7-B329-8A8E490CC59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EC62F2-34CF-46F1-AF55-6815D9ABE00A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初步归因为流程问题。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5310C9-3A8C-49E8-B1A0-5AA9430E06A9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第二步：检查检索结果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689A483-8284-4B11-A1D8-17A0F52B2B91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986C1CC-4FD6-4945-ADB5-4CD186F1CF26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系统召回了一份旧制度，其中标准是600元。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C21CD1E-8D29-4038-8913-AB388B511206}"/>
              </a:ext>
            </a:extLst>
          </p:cNvPr>
          <p:cNvSpPr>
            <a:spLocks noGrp="1"/>
          </p:cNvSpPr>
          <p:nvPr/>
        </p:nvSpPr>
        <p:spPr>
          <a:xfrm>
            <a:off x="838200" y="2905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说明存在：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5075E2B-10AE-444F-B28F-7FD6AE07AA1B}"/>
              </a:ext>
            </a:extLst>
          </p:cNvPr>
          <p:cNvSpPr>
            <a:spLocks noGrp="1"/>
          </p:cNvSpPr>
          <p:nvPr/>
        </p:nvSpPr>
        <p:spPr>
          <a:xfrm>
            <a:off x="876300" y="3324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34FF0E-9372-4E80-93FA-7321B899CE66}"/>
              </a:ext>
            </a:extLst>
          </p:cNvPr>
          <p:cNvSpPr>
            <a:spLocks noGrp="1"/>
          </p:cNvSpPr>
          <p:nvPr/>
        </p:nvSpPr>
        <p:spPr>
          <a:xfrm>
            <a:off x="1371600" y="3314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旧知识未清理；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718F38D-0937-4ECB-91F3-9171FF7DA211}"/>
              </a:ext>
            </a:extLst>
          </p:cNvPr>
          <p:cNvSpPr>
            <a:spLocks noGrp="1"/>
          </p:cNvSpPr>
          <p:nvPr/>
        </p:nvSpPr>
        <p:spPr>
          <a:xfrm>
            <a:off x="876300" y="3724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5087F5B-0423-483A-B0F6-544B90288731}"/>
              </a:ext>
            </a:extLst>
          </p:cNvPr>
          <p:cNvSpPr>
            <a:spLocks noGrp="1"/>
          </p:cNvSpPr>
          <p:nvPr/>
        </p:nvSpPr>
        <p:spPr>
          <a:xfrm>
            <a:off x="1371600" y="3714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文档有效期没有参与排序。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F447819-9070-4C15-AA6B-63309EDDABF3}"/>
              </a:ext>
            </a:extLst>
          </p:cNvPr>
          <p:cNvSpPr>
            <a:spLocks noGrp="1"/>
          </p:cNvSpPr>
          <p:nvPr/>
        </p:nvSpPr>
        <p:spPr>
          <a:xfrm>
            <a:off x="838200" y="40862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这是知识问题。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9D0E876-B141-48EB-BB34-84AF40BDF631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第三步：检查模型行为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0D06B83-3503-44F5-A728-D820854B324A}"/>
              </a:ext>
            </a:extLst>
          </p:cNvPr>
          <p:cNvSpPr>
            <a:spLocks noGrp="1"/>
          </p:cNvSpPr>
          <p:nvPr/>
        </p:nvSpPr>
        <p:spPr>
          <a:xfrm>
            <a:off x="838200" y="48006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0065CBD-C7D8-4C4B-B320-8FB8F4D05F65}"/>
              </a:ext>
            </a:extLst>
          </p:cNvPr>
          <p:cNvSpPr>
            <a:spLocks noGrp="1"/>
          </p:cNvSpPr>
          <p:nvPr/>
        </p:nvSpPr>
        <p:spPr>
          <a:xfrm>
            <a:off x="838200" y="4895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检索结果里同时包含新旧两版制度，模型直接选择了旧版，没有提示冲突。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BDB7632-E72C-4A71-8D73-CB923B11403F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这可能还包括：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590DCE7-0236-495B-8D49-BE6593B10E51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4F152A0-678B-4DD6-AEF9-80FB49E23BD6}"/>
              </a:ext>
            </a:extLst>
          </p:cNvPr>
          <p:cNvSpPr>
            <a:spLocks noGrp="1"/>
          </p:cNvSpPr>
          <p:nvPr/>
        </p:nvSpPr>
        <p:spPr>
          <a:xfrm>
            <a:off x="1371600" y="5686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Prompt没有规定以最新有效制度为准；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7E72AC5-98AA-4E6F-AD9C-C012955531F8}"/>
              </a:ext>
            </a:extLst>
          </p:cNvPr>
          <p:cNvSpPr>
            <a:spLocks noGrp="1"/>
          </p:cNvSpPr>
          <p:nvPr/>
        </p:nvSpPr>
        <p:spPr>
          <a:xfrm>
            <a:off x="876300" y="60960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6B1026B-53A1-42A3-BBCC-B4F97F8F3A16}"/>
              </a:ext>
            </a:extLst>
          </p:cNvPr>
          <p:cNvSpPr>
            <a:spLocks noGrp="1"/>
          </p:cNvSpPr>
          <p:nvPr/>
        </p:nvSpPr>
        <p:spPr>
          <a:xfrm>
            <a:off x="1371600" y="60864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工作流缺少冲突资料处理机制。</a:t>
            </a:r>
          </a:p>
        </p:txBody>
      </p:sp>
    </p:spTree>
    <p:extLst>
      <p:ext uri="{BB962C8B-B14F-4D97-AF65-F5344CB8AC3E}">
        <p14:creationId xmlns:p14="http://schemas.microsoft.com/office/powerpoint/2010/main" val="4661989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87B8A9BA-8E97-42A0-84BC-0EBCF61C248C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86F3F4D-05A6-49FE-89E3-CF9D6AFCC3A8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7027054-7252-4F18-A799-199E7260FC1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E63AA62-BFE9-4C42-A359-0B32E7DB91E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68121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36BE4-B8F3-453B-BED9-791AAFCCF139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一个完整的归因示例（续）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271B366-9774-4E7A-B85E-47739BFB646F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6F50B44-E3C1-4CEA-BE5C-5385312DCD2F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因此，一个Bad Case可以有多个原因，但需要区分：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AEF0B4A-CC3B-489F-A87C-36777DD18845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35D8435-A5F3-431F-9F22-599DC6909FF5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主要原因：直接导致错误的核心问题；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DA56FC4-AB9D-435D-B808-DD6948A8E7F2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F98037A-38F4-48F7-8059-A8AD7EC4CD20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次要原因：没有及时拦截错误的问题。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C0E9076-2FD8-4E55-BE8D-D8C21E5536D8}"/>
              </a:ext>
            </a:extLst>
          </p:cNvPr>
          <p:cNvSpPr>
            <a:spLocks noGrp="1"/>
          </p:cNvSpPr>
          <p:nvPr/>
        </p:nvSpPr>
        <p:spPr>
          <a:xfrm>
            <a:off x="838200" y="2895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这个案例可以记录为：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7D1DACB3-F730-43AD-86A3-118AA57C15A2}"/>
              </a:ext>
            </a:extLst>
          </p:cNvPr>
          <p:cNvSpPr>
            <a:spLocks noGrp="1"/>
          </p:cNvSpPr>
          <p:nvPr/>
        </p:nvSpPr>
        <p:spPr>
          <a:xfrm>
            <a:off x="819150" y="3276600"/>
            <a:ext cx="10572750" cy="895350"/>
          </a:xfrm>
          <a:prstGeom prst="roundRect">
            <a:avLst>
              <a:gd name="adj" fmla="val 10638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7BC6532-27BA-49CA-B6C7-5E60F1150178}"/>
              </a:ext>
            </a:extLst>
          </p:cNvPr>
          <p:cNvSpPr>
            <a:spLocks noGrp="1"/>
          </p:cNvSpPr>
          <p:nvPr/>
        </p:nvSpPr>
        <p:spPr>
          <a:xfrm>
            <a:off x="1066800" y="3409950"/>
            <a:ext cx="1004887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主要原因：知识库存在旧版制度且检索优先级错误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次要原因：用户职级信息不足时没有追问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拦截缺失：输出前没有校验金额与制度版本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2873AD9-AA91-483D-9271-99442F8BBDD8}"/>
              </a:ext>
            </a:extLst>
          </p:cNvPr>
          <p:cNvSpPr>
            <a:spLocks noGrp="1"/>
          </p:cNvSpPr>
          <p:nvPr/>
        </p:nvSpPr>
        <p:spPr>
          <a:xfrm>
            <a:off x="838200" y="42672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这样的归因才真正能指导产品修改。</a:t>
            </a:r>
          </a:p>
        </p:txBody>
      </p:sp>
    </p:spTree>
    <p:extLst>
      <p:ext uri="{BB962C8B-B14F-4D97-AF65-F5344CB8AC3E}">
        <p14:creationId xmlns:p14="http://schemas.microsoft.com/office/powerpoint/2010/main" val="54093559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EF48E0D-131D-4290-94C1-32F53A49D69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AFEF41-3405-4A78-993A-43267C823A7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A29E581-8532-401D-8528-8AB839B6676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CD227C4-3C6E-4271-9287-8C0BECB7B0A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74075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F4CC7C-4BC5-4547-90F3-CCF21EDFC31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Case问题池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A35499-5DA3-403A-BF8D-125706F22F3C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F50414-9281-4C1C-ACBB-DDD4D5DD2733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发现Bad Case后，建议建立统一问题池，至少记录：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F4AB716-D503-49D8-AC36-0DFD21C99A7B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这样Bad Case才不会停留在聊天记录、截图或群消息里。</a:t>
            </a:r>
          </a:p>
        </p:txBody>
      </p:sp>
    </p:spTree>
    <p:extLst>
      <p:ext uri="{BB962C8B-B14F-4D97-AF65-F5344CB8AC3E}">
        <p14:creationId xmlns:p14="http://schemas.microsoft.com/office/powerpoint/2010/main" val="21694935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9C9ED3F0-A0F2-4243-9307-B3AE51CBD2A5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FC92635-2A69-44F9-B81D-6AF95A34828C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41B573-FF99-4A22-A984-332AE9F4B42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7D2A9F-5950-446B-A7F7-1B9C701D274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80029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78F48A-F581-4381-BF21-984D4300098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Case的处理优先级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BC250F0-695C-4375-9FEC-6FB388988A9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D6979B5-1010-471E-8C7D-B43D9AF9AB7B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不是所有Bad Case都需要立刻修复。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38C33AC-11EC-47B8-A957-95C11CB597E6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可以考虑三个因素：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E3DA6B5A-9889-4328-A79D-1830E69706B4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3089B8A-5843-44A1-BA0D-950598AEC85C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F4CCE2-3C50-421D-8F05-39791B404A01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发生频率 × 影响程度 × 修复成本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A495796-1C99-4C14-A6FD-9D8DB234764C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通常优先处理：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403CA6-1EE3-4BBB-A140-94CBF640A347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42FA13B-8998-4760-B951-9598C231C66E}"/>
              </a:ext>
            </a:extLst>
          </p:cNvPr>
          <p:cNvSpPr>
            <a:spLocks noGrp="1"/>
          </p:cNvSpPr>
          <p:nvPr/>
        </p:nvSpPr>
        <p:spPr>
          <a:xfrm>
            <a:off x="1371600" y="3562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安全和合规红线；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A460CBB-DCB3-4DFC-8711-6197FDD1A8C4}"/>
              </a:ext>
            </a:extLst>
          </p:cNvPr>
          <p:cNvSpPr>
            <a:spLocks noGrp="1"/>
          </p:cNvSpPr>
          <p:nvPr/>
        </p:nvSpPr>
        <p:spPr>
          <a:xfrm>
            <a:off x="876300" y="3971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70EE314-A15C-42B7-820C-65BBA8FB9A8C}"/>
              </a:ext>
            </a:extLst>
          </p:cNvPr>
          <p:cNvSpPr>
            <a:spLocks noGrp="1"/>
          </p:cNvSpPr>
          <p:nvPr/>
        </p:nvSpPr>
        <p:spPr>
          <a:xfrm>
            <a:off x="1371600" y="3962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高频核心任务失败；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81B2411-8C29-469E-9176-B4606E9F60CB}"/>
              </a:ext>
            </a:extLst>
          </p:cNvPr>
          <p:cNvSpPr>
            <a:spLocks noGrp="1"/>
          </p:cNvSpPr>
          <p:nvPr/>
        </p:nvSpPr>
        <p:spPr>
          <a:xfrm>
            <a:off x="876300" y="4371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62FF4C3-80A4-426E-86A7-05B64A9B8FC2}"/>
              </a:ext>
            </a:extLst>
          </p:cNvPr>
          <p:cNvSpPr>
            <a:spLocks noGrp="1"/>
          </p:cNvSpPr>
          <p:nvPr/>
        </p:nvSpPr>
        <p:spPr>
          <a:xfrm>
            <a:off x="1371600" y="4362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会导致资金或用户损失的问题；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0F0FD1E-A2A8-4223-AFE2-0D0896F28BFA}"/>
              </a:ext>
            </a:extLst>
          </p:cNvPr>
          <p:cNvSpPr>
            <a:spLocks noGrp="1"/>
          </p:cNvSpPr>
          <p:nvPr/>
        </p:nvSpPr>
        <p:spPr>
          <a:xfrm>
            <a:off x="876300" y="4772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199B785-7A2B-45E4-A9C2-574A3CEB091A}"/>
              </a:ext>
            </a:extLst>
          </p:cNvPr>
          <p:cNvSpPr>
            <a:spLocks noGrp="1"/>
          </p:cNvSpPr>
          <p:nvPr/>
        </p:nvSpPr>
        <p:spPr>
          <a:xfrm>
            <a:off x="1371600" y="4762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会阻断完整任务的问题；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E8E1249-6F80-4D11-9CF8-F025BB5652A6}"/>
              </a:ext>
            </a:extLst>
          </p:cNvPr>
          <p:cNvSpPr>
            <a:spLocks noGrp="1"/>
          </p:cNvSpPr>
          <p:nvPr/>
        </p:nvSpPr>
        <p:spPr>
          <a:xfrm>
            <a:off x="876300" y="5172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019B18-A91E-4712-B64D-B788A4E85DF9}"/>
              </a:ext>
            </a:extLst>
          </p:cNvPr>
          <p:cNvSpPr>
            <a:spLocks noGrp="1"/>
          </p:cNvSpPr>
          <p:nvPr/>
        </p:nvSpPr>
        <p:spPr>
          <a:xfrm>
            <a:off x="1371600" y="5162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可以用较低成本解决的共性问题。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794C2DA-B35B-4CE1-A47E-08C74F429B98}"/>
              </a:ext>
            </a:extLst>
          </p:cNvPr>
          <p:cNvSpPr>
            <a:spLocks noGrp="1"/>
          </p:cNvSpPr>
          <p:nvPr/>
        </p:nvSpPr>
        <p:spPr>
          <a:xfrm>
            <a:off x="838200" y="55340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低频、低影响、修复成本极高的问题，可以暂时通过：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240E87A-DF7D-498C-BC0D-19ED81907454}"/>
              </a:ext>
            </a:extLst>
          </p:cNvPr>
          <p:cNvSpPr>
            <a:spLocks noGrp="1"/>
          </p:cNvSpPr>
          <p:nvPr/>
        </p:nvSpPr>
        <p:spPr>
          <a:xfrm>
            <a:off x="876300" y="59531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B94F52A-D632-42D1-B68B-C4F32795C749}"/>
              </a:ext>
            </a:extLst>
          </p:cNvPr>
          <p:cNvSpPr>
            <a:spLocks noGrp="1"/>
          </p:cNvSpPr>
          <p:nvPr/>
        </p:nvSpPr>
        <p:spPr>
          <a:xfrm>
            <a:off x="1371600" y="59436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限制产品范围；</a:t>
            </a:r>
          </a:p>
        </p:txBody>
      </p:sp>
    </p:spTree>
    <p:extLst>
      <p:ext uri="{BB962C8B-B14F-4D97-AF65-F5344CB8AC3E}">
        <p14:creationId xmlns:p14="http://schemas.microsoft.com/office/powerpoint/2010/main" val="156088675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20DEBD46-9856-4C4B-A44C-BCDC35C49A83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6B0EFD-4C2B-4D07-8B93-C9452C76CA99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C515B26-3250-4AFB-8D33-CEE8FCD3493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0B38AD-EA12-4D3D-BACD-78BD6D3EA7F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85984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815E10E-8654-44C7-9E10-35C02727D58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Case的处理优先级（续）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2F31717-EFB6-4AF3-84BA-1B2CFDBAD587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172682A-DE51-411B-A0FE-61BD61CCC4C6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60FC2BF-D94C-406D-8967-951FDB0A1CC4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明确提示；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283A00F-0B98-43B2-8A36-6C3F951CECD3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02F5BBA-CA42-471B-B354-DE10DD292402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转人工；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091D964-B683-4525-9740-1A913E2E4DA5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DB214DF-CBD4-42CB-B875-8692FA4FB57F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增加兜底；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D8D90B8-11A4-4479-A743-136BF2557725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进行处理。</a:t>
            </a:r>
          </a:p>
        </p:txBody>
      </p:sp>
    </p:spTree>
    <p:extLst>
      <p:ext uri="{BB962C8B-B14F-4D97-AF65-F5344CB8AC3E}">
        <p14:creationId xmlns:p14="http://schemas.microsoft.com/office/powerpoint/2010/main" val="36047194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CF0926CB-3BB7-4CA4-8558-2A8B60AE6CD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273748-2D38-4028-A4EE-4DF8D87F1CF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5B1A016-B088-4FCC-AB0F-74575673E3F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C0A48DE-003E-4AF4-9D9C-6785064444C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91938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4D5212B-0DD7-46E9-9E71-21B2930CEA21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第六部分总结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7F9025A-5F03-49A4-B5D2-BA2F3733E4EF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81F4D1-420D-4E42-B841-D0F0B62C5E14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Bad Case分析不是简单记录“这道题错了”，而是：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F73849-424D-490D-989F-BBEFBAB7B7C2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6807074-56CB-45E1-AA98-836D5EEDDA57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还原问题发生时的完整环境。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B7D8914-2A4A-4056-86EB-185A8AAA412F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A8273FD-2F8E-46D0-927C-B937FDF8D666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明确产品本来应该怎样处理。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E0F4549-3D49-4DBA-9979-D9B7A4268E4C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A58CAA3-59A0-4331-8FDE-A0DF9D790682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沿着AI产品链路定位失败环节。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DBBFFB2-E2E6-4448-8719-8D5AF4B3F8FB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367C64-401B-4934-B3C6-8168441EBA47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区分数据、Prompt、知识、流程、工具和产品边界问题。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9F8B3E4-2599-4AA8-B747-3E77F1EA42FF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12CD4C4-B416-4A52-846F-C62A0DD99D15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制定对应的修复和验证方案。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6DB76D1-4E80-48D6-9A5D-7E6D7DED0D9E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5F5573B-46EC-4CF3-A8B7-FDC01C0FBA52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把关键Bad Case加入回归评测集。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7B76D11-BFE3-4E17-8E4C-7E4341CF87F4}"/>
              </a:ext>
            </a:extLst>
          </p:cNvPr>
          <p:cNvSpPr>
            <a:spLocks noGrp="1"/>
          </p:cNvSpPr>
          <p:nvPr/>
        </p:nvSpPr>
        <p:spPr>
          <a:xfrm>
            <a:off x="838200" y="44958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最重要的原则是：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F5D84A2B-6FC5-4CEF-97E4-622083B980E0}"/>
              </a:ext>
            </a:extLst>
          </p:cNvPr>
          <p:cNvSpPr>
            <a:spLocks noGrp="1"/>
          </p:cNvSpPr>
          <p:nvPr/>
        </p:nvSpPr>
        <p:spPr>
          <a:xfrm>
            <a:off x="819150" y="48768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A0F3FE2-0153-4292-B61A-01F03D2B15A9}"/>
              </a:ext>
            </a:extLst>
          </p:cNvPr>
          <p:cNvSpPr>
            <a:spLocks noGrp="1"/>
          </p:cNvSpPr>
          <p:nvPr/>
        </p:nvSpPr>
        <p:spPr>
          <a:xfrm>
            <a:off x="819150" y="48768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20A4DA5-ADDA-42CA-92A0-65C7B83A262F}"/>
              </a:ext>
            </a:extLst>
          </p:cNvPr>
          <p:cNvSpPr>
            <a:spLocks noGrp="1"/>
          </p:cNvSpPr>
          <p:nvPr/>
        </p:nvSpPr>
        <p:spPr>
          <a:xfrm>
            <a:off x="1104900" y="50196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错误表现不等于错误原因，归因错了，优化方向也会错。</a:t>
            </a:r>
          </a:p>
        </p:txBody>
      </p:sp>
    </p:spTree>
    <p:extLst>
      <p:ext uri="{BB962C8B-B14F-4D97-AF65-F5344CB8AC3E}">
        <p14:creationId xmlns:p14="http://schemas.microsoft.com/office/powerpoint/2010/main" val="1126980630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CE90C224-7EEC-4599-9F28-1645451837C1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2476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850" b="1">
                <a:solidFill>
                  <a:srgbClr val="36D6C2"/>
                </a:solidFill>
              </a:defRPr>
            </a:pPr>
            <a:r>
              <a:rPr sz="8850" b="1">
                <a:solidFill>
                  <a:srgbClr val="36D6C2"/>
                </a:solidFill>
              </a:rPr>
              <a:t>07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1AFC2FD-E9CC-4B34-B09C-C057C0DE3DCC}"/>
              </a:ext>
            </a:extLst>
          </p:cNvPr>
          <p:cNvSpPr>
            <a:spLocks noGrp="1"/>
          </p:cNvSpPr>
          <p:nvPr/>
        </p:nvSpPr>
        <p:spPr>
          <a:xfrm>
            <a:off x="704850" y="2857500"/>
            <a:ext cx="952500" cy="476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A90CD5-71D2-4074-90D4-80A65E14C927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1047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回归测试与版本管理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930C3C3-EF24-4D02-8A75-C90AB0E540FE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914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按照讲稿结构展开概念、方法与完整示例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7B651B8-9634-417A-94C4-D95FA527A34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B920EE9-B6B5-4294-BF7F-6264AD6020F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D9C850-9223-4A9A-B92F-332FF634541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F88FDCE-9F41-4F72-9C41-AB803402027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797893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1501729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0A9D12B-4AD2-461E-A2F2-0CC9AF015526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A2B5F0-5018-46D8-988A-C4FCD2267409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2A69B54-B0F8-474A-8278-F53B8899FA4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486507-73D0-499D-BB8A-786F8E1F128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03847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EEF37C-B107-4774-8140-8DD6656CCF92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第七部分：回归测试与版本管理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683EE00-FAE8-45B3-9FC2-8C92927A8FFD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1679902-A557-4994-81AB-B210009D691B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Bad Case完成归因和修复后，不能只把原问题重新问一遍，看到答对了就结束。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490BDF-80B0-4152-8403-6A0A007B0DEB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因为AI产品常见一种情况：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9F9AF7B6-25B0-49CF-9175-1EB2C2737547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FDEF77F-2E9B-428B-8D76-A7CF2571E05D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E37E62E-3642-4EA5-91A5-ACCA2BA332CB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修好了一个问题，却让其他原本正常的问题变差。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C0A2E58-C9B2-46DC-A0CF-1BDF8DB8C870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回归测试就是为了同时确认两件事：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BEECC4E-4967-4F37-B742-7DA88716D867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A95436-415A-4C09-9BF6-A46F5D5A787F}"/>
              </a:ext>
            </a:extLst>
          </p:cNvPr>
          <p:cNvSpPr>
            <a:spLocks noGrp="1"/>
          </p:cNvSpPr>
          <p:nvPr/>
        </p:nvSpPr>
        <p:spPr>
          <a:xfrm>
            <a:off x="1371600" y="3562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原来的问题是否已经修复；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DF0579B-D668-48EA-8C17-317840407C65}"/>
              </a:ext>
            </a:extLst>
          </p:cNvPr>
          <p:cNvSpPr>
            <a:spLocks noGrp="1"/>
          </p:cNvSpPr>
          <p:nvPr/>
        </p:nvSpPr>
        <p:spPr>
          <a:xfrm>
            <a:off x="876300" y="3971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A0AC09E-5F28-4E2E-94CA-40DDFDDCF7F4}"/>
              </a:ext>
            </a:extLst>
          </p:cNvPr>
          <p:cNvSpPr>
            <a:spLocks noGrp="1"/>
          </p:cNvSpPr>
          <p:nvPr/>
        </p:nvSpPr>
        <p:spPr>
          <a:xfrm>
            <a:off x="1371600" y="3962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原本正常的能力是否发生退化。</a:t>
            </a:r>
          </a:p>
        </p:txBody>
      </p:sp>
    </p:spTree>
    <p:extLst>
      <p:ext uri="{BB962C8B-B14F-4D97-AF65-F5344CB8AC3E}">
        <p14:creationId xmlns:p14="http://schemas.microsoft.com/office/powerpoint/2010/main" val="152171796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A6908D42-1E3B-412A-A8F7-DC36E7D9DBB3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A69111-F394-41A7-89B4-990F1B2BB64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F5BB332-398A-45E0-948A-4D7D0CA7439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6AF60D-1346-4C30-B011-8B66C2BEB6D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09802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F5CE7E-AB4F-4350-930E-1BB4475BEDF1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回归测试的基本定义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6BE41F-91D1-4D8D-9A43-0766358000E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C056B2F-9F51-4AE6-B755-51F0FCDACB33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“回归”可以理解为：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838D69D2-347A-4986-A264-0A8953781A8D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0B48FFD-CC80-4920-8468-48D1B70BFF09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27EE85D-A8FD-4607-AC6C-AF8D5500913A}"/>
              </a:ext>
            </a:extLst>
          </p:cNvPr>
          <p:cNvSpPr>
            <a:spLocks noGrp="1"/>
          </p:cNvSpPr>
          <p:nvPr/>
        </p:nvSpPr>
        <p:spPr>
          <a:xfrm>
            <a:off x="1104900" y="2238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产品发生变化后，重新运行一套已有测试，确认整体能力没有意外倒退。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012B061-AE08-4766-95B6-1CD6946584E7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例如原来用户问：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9615C290-9845-48C5-A900-2F169844550E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5544D3A-AC03-48D4-8F89-497C0936C1FB}"/>
              </a:ext>
            </a:extLst>
          </p:cNvPr>
          <p:cNvSpPr>
            <a:spLocks noGrp="1"/>
          </p:cNvSpPr>
          <p:nvPr/>
        </p:nvSpPr>
        <p:spPr>
          <a:xfrm>
            <a:off x="819150" y="315277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3DC58EA-8448-414F-8C16-7AE2AE7247CD}"/>
              </a:ext>
            </a:extLst>
          </p:cNvPr>
          <p:cNvSpPr>
            <a:spLocks noGrp="1"/>
          </p:cNvSpPr>
          <p:nvPr/>
        </p:nvSpPr>
        <p:spPr>
          <a:xfrm>
            <a:off x="1104900" y="329565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普通员工去北京出差，住宿上限是多少？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91335D7-7B99-4023-9F38-01FE062421BD}"/>
              </a:ext>
            </a:extLst>
          </p:cNvPr>
          <p:cNvSpPr>
            <a:spLocks noGrp="1"/>
          </p:cNvSpPr>
          <p:nvPr/>
        </p:nvSpPr>
        <p:spPr>
          <a:xfrm>
            <a:off x="838200" y="3829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AI错误回答600元。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5895495-A203-4020-BED7-FB4DEC752C45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团队更新了知识库，重新测试这一题，现在回答500元。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C028C1A-7D35-4D6F-96D1-920830F7617B}"/>
              </a:ext>
            </a:extLst>
          </p:cNvPr>
          <p:cNvSpPr>
            <a:spLocks noGrp="1"/>
          </p:cNvSpPr>
          <p:nvPr/>
        </p:nvSpPr>
        <p:spPr>
          <a:xfrm>
            <a:off x="838200" y="4591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这只能证明“原题修好了”，还不能证明新版本整体更好。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4400E41-86AF-40BD-BA93-988874DD764E}"/>
              </a:ext>
            </a:extLst>
          </p:cNvPr>
          <p:cNvSpPr>
            <a:spLocks noGrp="1"/>
          </p:cNvSpPr>
          <p:nvPr/>
        </p:nvSpPr>
        <p:spPr>
          <a:xfrm>
            <a:off x="838200" y="49720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因为更新知识库后，可能出现：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7202F6D-A9F8-49CF-BF9B-9A52AEE27CC4}"/>
              </a:ext>
            </a:extLst>
          </p:cNvPr>
          <p:cNvSpPr>
            <a:spLocks noGrp="1"/>
          </p:cNvSpPr>
          <p:nvPr/>
        </p:nvSpPr>
        <p:spPr>
          <a:xfrm>
            <a:off x="876300" y="53911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AD17ECC-453D-4024-8251-716D10A7FD44}"/>
              </a:ext>
            </a:extLst>
          </p:cNvPr>
          <p:cNvSpPr>
            <a:spLocks noGrp="1"/>
          </p:cNvSpPr>
          <p:nvPr/>
        </p:nvSpPr>
        <p:spPr>
          <a:xfrm>
            <a:off x="1371600" y="53816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上海住宿标准被错误覆盖；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90956A8-1BEA-40C6-900A-3F6BD7EF1689}"/>
              </a:ext>
            </a:extLst>
          </p:cNvPr>
          <p:cNvSpPr>
            <a:spLocks noGrp="1"/>
          </p:cNvSpPr>
          <p:nvPr/>
        </p:nvSpPr>
        <p:spPr>
          <a:xfrm>
            <a:off x="876300" y="57912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DC649D3-2E7D-4EDC-90AD-68D1A4C5458B}"/>
              </a:ext>
            </a:extLst>
          </p:cNvPr>
          <p:cNvSpPr>
            <a:spLocks noGrp="1"/>
          </p:cNvSpPr>
          <p:nvPr/>
        </p:nvSpPr>
        <p:spPr>
          <a:xfrm>
            <a:off x="1371600" y="57816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部门负责人标准无法查询；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E24CAFE-6C28-4267-984F-4F42E9CFC29C}"/>
              </a:ext>
            </a:extLst>
          </p:cNvPr>
          <p:cNvSpPr>
            <a:spLocks noGrp="1"/>
          </p:cNvSpPr>
          <p:nvPr/>
        </p:nvSpPr>
        <p:spPr>
          <a:xfrm>
            <a:off x="876300" y="61912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68F5FD-A9A9-48AF-9AEE-E26418128EAD}"/>
              </a:ext>
            </a:extLst>
          </p:cNvPr>
          <p:cNvSpPr>
            <a:spLocks noGrp="1"/>
          </p:cNvSpPr>
          <p:nvPr/>
        </p:nvSpPr>
        <p:spPr>
          <a:xfrm>
            <a:off x="1371600" y="61817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新旧制度引用混乱；</a:t>
            </a:r>
          </a:p>
        </p:txBody>
      </p:sp>
    </p:spTree>
    <p:extLst>
      <p:ext uri="{BB962C8B-B14F-4D97-AF65-F5344CB8AC3E}">
        <p14:creationId xmlns:p14="http://schemas.microsoft.com/office/powerpoint/2010/main" val="206373969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AA9A19C9-F3CB-4890-8DEC-5C9E46576BE6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A6F0999-0F0C-4B82-926E-D5A24622915A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C8D3532-9217-4561-9B96-3B13501BEBB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97EF907-1268-4A2C-A8C8-C42B4CDEC96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15756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49B9348-93E0-4F39-B27C-08EFC6F73F01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回归测试的基本定义（续）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8382CE4-A4DE-4707-ABD0-0D20032FAFDC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5A253A-719B-42DA-BEE2-95C67E4911A0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893511C-0E32-48FE-9067-A5B80817044D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回答速度变慢；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2DEBCA6-D51F-436D-BCAE-85C26B80C7D1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52F707A-CE5C-45F1-A009-3E4226492A1D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原本能回答的问题开始拒答。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CAD3F4-87BA-4A2B-BA3C-DB75D5385D08}"/>
              </a:ext>
            </a:extLst>
          </p:cNvPr>
          <p:cNvSpPr>
            <a:spLocks noGrp="1"/>
          </p:cNvSpPr>
          <p:nvPr/>
        </p:nvSpPr>
        <p:spPr>
          <a:xfrm>
            <a:off x="838200" y="2514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因此需要重新运行一组相关和非相关用例。</a:t>
            </a:r>
          </a:p>
        </p:txBody>
      </p:sp>
    </p:spTree>
    <p:extLst>
      <p:ext uri="{BB962C8B-B14F-4D97-AF65-F5344CB8AC3E}">
        <p14:creationId xmlns:p14="http://schemas.microsoft.com/office/powerpoint/2010/main" val="193909178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9C17A6F6-A66D-4C8F-B5AD-E8164B8E304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09FD10F-A046-4BEA-AC9C-87540C4040E8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C7F8F3-D8CC-445F-912F-D295EAF6FC8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F3C9F5-BC54-48B8-9BE0-585C33BF4E5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21710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80EFE1-8E10-4425-825B-FD11DC2E69F8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修复验证与防退化验证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9B62E1-3B0B-4BAB-9220-1A732BE6E9C5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408AE8D-BEF0-44DC-9557-F77721983637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一次完整回归包含两个部分。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938851-CADF-4ED2-AC92-C7C6035F1615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修复验证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976F7EE-C6B9-4322-A7D1-992A8A7B1975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BBC96B5-F0D1-43EA-9BF7-1B7F7FE224FD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检查原Bad Case是否解决。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C3D7E2-031E-4334-9CD6-39B218AEAF6A}"/>
              </a:ext>
            </a:extLst>
          </p:cNvPr>
          <p:cNvSpPr>
            <a:spLocks noGrp="1"/>
          </p:cNvSpPr>
          <p:nvPr/>
        </p:nvSpPr>
        <p:spPr>
          <a:xfrm>
            <a:off x="838200" y="2905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包括：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0F967CE-E6CB-4736-84A3-437ADE7E7683}"/>
              </a:ext>
            </a:extLst>
          </p:cNvPr>
          <p:cNvSpPr>
            <a:spLocks noGrp="1"/>
          </p:cNvSpPr>
          <p:nvPr/>
        </p:nvSpPr>
        <p:spPr>
          <a:xfrm>
            <a:off x="876300" y="3324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11A2EE-39F6-445C-B6A1-53097CD877D6}"/>
              </a:ext>
            </a:extLst>
          </p:cNvPr>
          <p:cNvSpPr>
            <a:spLocks noGrp="1"/>
          </p:cNvSpPr>
          <p:nvPr/>
        </p:nvSpPr>
        <p:spPr>
          <a:xfrm>
            <a:off x="1371600" y="3314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原失败问题；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0C99454-7D85-4B22-A5C8-A47AA74D15B6}"/>
              </a:ext>
            </a:extLst>
          </p:cNvPr>
          <p:cNvSpPr>
            <a:spLocks noGrp="1"/>
          </p:cNvSpPr>
          <p:nvPr/>
        </p:nvSpPr>
        <p:spPr>
          <a:xfrm>
            <a:off x="876300" y="3724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6AFCD79-9C7F-4814-8117-940C18A8F9DD}"/>
              </a:ext>
            </a:extLst>
          </p:cNvPr>
          <p:cNvSpPr>
            <a:spLocks noGrp="1"/>
          </p:cNvSpPr>
          <p:nvPr/>
        </p:nvSpPr>
        <p:spPr>
          <a:xfrm>
            <a:off x="1371600" y="3714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原问题的不同表达；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0E8B339-4CB7-4B06-8B50-A4B9AF244C4A}"/>
              </a:ext>
            </a:extLst>
          </p:cNvPr>
          <p:cNvSpPr>
            <a:spLocks noGrp="1"/>
          </p:cNvSpPr>
          <p:nvPr/>
        </p:nvSpPr>
        <p:spPr>
          <a:xfrm>
            <a:off x="876300" y="4124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C106174-2916-4266-B16F-2E29D4AA2BBA}"/>
              </a:ext>
            </a:extLst>
          </p:cNvPr>
          <p:cNvSpPr>
            <a:spLocks noGrp="1"/>
          </p:cNvSpPr>
          <p:nvPr/>
        </p:nvSpPr>
        <p:spPr>
          <a:xfrm>
            <a:off x="1371600" y="4114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相同原因导致的其他问题；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8D22EB3-5873-43FC-96F3-AE6D4386EFEE}"/>
              </a:ext>
            </a:extLst>
          </p:cNvPr>
          <p:cNvSpPr>
            <a:spLocks noGrp="1"/>
          </p:cNvSpPr>
          <p:nvPr/>
        </p:nvSpPr>
        <p:spPr>
          <a:xfrm>
            <a:off x="876300" y="4524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C789B36-E5CB-40A2-92DB-80A9EBF59694}"/>
              </a:ext>
            </a:extLst>
          </p:cNvPr>
          <p:cNvSpPr>
            <a:spLocks noGrp="1"/>
          </p:cNvSpPr>
          <p:nvPr/>
        </p:nvSpPr>
        <p:spPr>
          <a:xfrm>
            <a:off x="1371600" y="4514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相邻业务边界。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35A2390-8727-4F68-810F-C1E6F08864DD}"/>
              </a:ext>
            </a:extLst>
          </p:cNvPr>
          <p:cNvSpPr>
            <a:spLocks noGrp="1"/>
          </p:cNvSpPr>
          <p:nvPr/>
        </p:nvSpPr>
        <p:spPr>
          <a:xfrm>
            <a:off x="838200" y="48863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例如原问题是北京普通员工标准错误，修复验证可以包括：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F311B7-78ED-4F10-87B8-121CBA53FDBF}"/>
              </a:ext>
            </a:extLst>
          </p:cNvPr>
          <p:cNvSpPr>
            <a:spLocks noGrp="1"/>
          </p:cNvSpPr>
          <p:nvPr/>
        </p:nvSpPr>
        <p:spPr>
          <a:xfrm>
            <a:off x="876300" y="5305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F19C9D5-728C-4761-90BC-26B9643A717F}"/>
              </a:ext>
            </a:extLst>
          </p:cNvPr>
          <p:cNvSpPr>
            <a:spLocks noGrp="1"/>
          </p:cNvSpPr>
          <p:nvPr/>
        </p:nvSpPr>
        <p:spPr>
          <a:xfrm>
            <a:off x="1371600" y="5295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北京普通员工住宿上限是多少？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C340998-D874-4D69-AE48-D6EC77FC6832}"/>
              </a:ext>
            </a:extLst>
          </p:cNvPr>
          <p:cNvSpPr>
            <a:spLocks noGrp="1"/>
          </p:cNvSpPr>
          <p:nvPr/>
        </p:nvSpPr>
        <p:spPr>
          <a:xfrm>
            <a:off x="876300" y="5705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E65E4A1-4800-4846-A566-AEC6D66FCE8D}"/>
              </a:ext>
            </a:extLst>
          </p:cNvPr>
          <p:cNvSpPr>
            <a:spLocks noGrp="1"/>
          </p:cNvSpPr>
          <p:nvPr/>
        </p:nvSpPr>
        <p:spPr>
          <a:xfrm>
            <a:off x="1371600" y="5695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北京酒店最多能报多少？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7E20926-FFCA-45E7-A5EF-4D082A9D50DF}"/>
              </a:ext>
            </a:extLst>
          </p:cNvPr>
          <p:cNvSpPr>
            <a:spLocks noGrp="1"/>
          </p:cNvSpPr>
          <p:nvPr/>
        </p:nvSpPr>
        <p:spPr>
          <a:xfrm>
            <a:off x="876300" y="6105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AFA9E4-DF5F-4066-9897-4938F7D9284B}"/>
              </a:ext>
            </a:extLst>
          </p:cNvPr>
          <p:cNvSpPr>
            <a:spLocks noGrp="1"/>
          </p:cNvSpPr>
          <p:nvPr/>
        </p:nvSpPr>
        <p:spPr>
          <a:xfrm>
            <a:off x="1371600" y="6096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北京住600元酒店能全额报销吗？</a:t>
            </a:r>
          </a:p>
        </p:txBody>
      </p:sp>
    </p:spTree>
    <p:extLst>
      <p:ext uri="{BB962C8B-B14F-4D97-AF65-F5344CB8AC3E}">
        <p14:creationId xmlns:p14="http://schemas.microsoft.com/office/powerpoint/2010/main" val="166876882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A98CE424-6B49-453F-8F09-B38030FC7487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505FE5-D674-42E8-B7EC-6E21A9AE39C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5C5346-4DDD-4A83-A488-40264CA0A2D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9053386-015E-449F-97D9-042AF227BC1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27665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3B3E660-234D-4C33-9633-15F823202E07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修复验证与防退化验证（续）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E4CE88-A411-48C2-8C50-5955B261090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D8FC94E-95A8-4789-BF41-EC75C21A1436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859936E-F264-4F5F-BFF5-F1B4301BE726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普通员工和部门负责人标准是否相同？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1529074-8130-415D-95AA-8F063E638525}"/>
              </a:ext>
            </a:extLst>
          </p:cNvPr>
          <p:cNvSpPr>
            <a:spLocks noGrp="1"/>
          </p:cNvSpPr>
          <p:nvPr/>
        </p:nvSpPr>
        <p:spPr>
          <a:xfrm>
            <a:off x="838200" y="21145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这可以避免团队只针对原句做“定向优化”。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27DB9BF-A7A8-4D3E-B05F-01985AFE3E86}"/>
              </a:ext>
            </a:extLst>
          </p:cNvPr>
          <p:cNvSpPr>
            <a:spLocks noGrp="1"/>
          </p:cNvSpPr>
          <p:nvPr/>
        </p:nvSpPr>
        <p:spPr>
          <a:xfrm>
            <a:off x="838200" y="25050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防退化验证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2FFAF18-5B5B-4454-BF1F-735B92A2C1A1}"/>
              </a:ext>
            </a:extLst>
          </p:cNvPr>
          <p:cNvSpPr>
            <a:spLocks noGrp="1"/>
          </p:cNvSpPr>
          <p:nvPr/>
        </p:nvSpPr>
        <p:spPr>
          <a:xfrm>
            <a:off x="838200" y="28289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D0471EF-A242-4EA6-8BA6-B0BC8738998F}"/>
              </a:ext>
            </a:extLst>
          </p:cNvPr>
          <p:cNvSpPr>
            <a:spLocks noGrp="1"/>
          </p:cNvSpPr>
          <p:nvPr/>
        </p:nvSpPr>
        <p:spPr>
          <a:xfrm>
            <a:off x="838200" y="29241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检查原本正确的能力是否仍然正常。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6EDCF4A-3231-4D68-A5CF-409B4D329548}"/>
              </a:ext>
            </a:extLst>
          </p:cNvPr>
          <p:cNvSpPr>
            <a:spLocks noGrp="1"/>
          </p:cNvSpPr>
          <p:nvPr/>
        </p:nvSpPr>
        <p:spPr>
          <a:xfrm>
            <a:off x="838200" y="33051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C28861-AC7E-45C4-AB79-9624431E2010}"/>
              </a:ext>
            </a:extLst>
          </p:cNvPr>
          <p:cNvSpPr>
            <a:spLocks noGrp="1"/>
          </p:cNvSpPr>
          <p:nvPr/>
        </p:nvSpPr>
        <p:spPr>
          <a:xfrm>
            <a:off x="876300" y="3724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666AC12-199C-4022-BAE7-F5267FA97C64}"/>
              </a:ext>
            </a:extLst>
          </p:cNvPr>
          <p:cNvSpPr>
            <a:spLocks noGrp="1"/>
          </p:cNvSpPr>
          <p:nvPr/>
        </p:nvSpPr>
        <p:spPr>
          <a:xfrm>
            <a:off x="1371600" y="3714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上海住宿标准；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B288988-2814-4B98-8018-E34CC50B59CF}"/>
              </a:ext>
            </a:extLst>
          </p:cNvPr>
          <p:cNvSpPr>
            <a:spLocks noGrp="1"/>
          </p:cNvSpPr>
          <p:nvPr/>
        </p:nvSpPr>
        <p:spPr>
          <a:xfrm>
            <a:off x="876300" y="4124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AB572FD-7D58-4B85-AF9F-E59BF1BF1BC1}"/>
              </a:ext>
            </a:extLst>
          </p:cNvPr>
          <p:cNvSpPr>
            <a:spLocks noGrp="1"/>
          </p:cNvSpPr>
          <p:nvPr/>
        </p:nvSpPr>
        <p:spPr>
          <a:xfrm>
            <a:off x="1371600" y="4114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交通费报销；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3D114FD-32BD-47A1-A02B-F0881CFEBB4A}"/>
              </a:ext>
            </a:extLst>
          </p:cNvPr>
          <p:cNvSpPr>
            <a:spLocks noGrp="1"/>
          </p:cNvSpPr>
          <p:nvPr/>
        </p:nvSpPr>
        <p:spPr>
          <a:xfrm>
            <a:off x="876300" y="4524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B0808DF-87A6-4F1D-815D-2D75114D3ACE}"/>
              </a:ext>
            </a:extLst>
          </p:cNvPr>
          <p:cNvSpPr>
            <a:spLocks noGrp="1"/>
          </p:cNvSpPr>
          <p:nvPr/>
        </p:nvSpPr>
        <p:spPr>
          <a:xfrm>
            <a:off x="1371600" y="4514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发票要求；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7E99D60-0A93-4FB3-B0BD-DCCADE7AD334}"/>
              </a:ext>
            </a:extLst>
          </p:cNvPr>
          <p:cNvSpPr>
            <a:spLocks noGrp="1"/>
          </p:cNvSpPr>
          <p:nvPr/>
        </p:nvSpPr>
        <p:spPr>
          <a:xfrm>
            <a:off x="876300" y="4924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404E32A-C876-4B29-8D80-C3C5207AF524}"/>
              </a:ext>
            </a:extLst>
          </p:cNvPr>
          <p:cNvSpPr>
            <a:spLocks noGrp="1"/>
          </p:cNvSpPr>
          <p:nvPr/>
        </p:nvSpPr>
        <p:spPr>
          <a:xfrm>
            <a:off x="1371600" y="4914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无答案处理；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9198C20-9059-46FA-8C1F-7C425F4EA5F4}"/>
              </a:ext>
            </a:extLst>
          </p:cNvPr>
          <p:cNvSpPr>
            <a:spLocks noGrp="1"/>
          </p:cNvSpPr>
          <p:nvPr/>
        </p:nvSpPr>
        <p:spPr>
          <a:xfrm>
            <a:off x="876300" y="5324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BF9530F-A82F-4C1D-B936-947CC3791438}"/>
              </a:ext>
            </a:extLst>
          </p:cNvPr>
          <p:cNvSpPr>
            <a:spLocks noGrp="1"/>
          </p:cNvSpPr>
          <p:nvPr/>
        </p:nvSpPr>
        <p:spPr>
          <a:xfrm>
            <a:off x="1371600" y="5314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隐私与权限；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7466690-C3A6-4331-8D5D-DBDF55D5318D}"/>
              </a:ext>
            </a:extLst>
          </p:cNvPr>
          <p:cNvSpPr>
            <a:spLocks noGrp="1"/>
          </p:cNvSpPr>
          <p:nvPr/>
        </p:nvSpPr>
        <p:spPr>
          <a:xfrm>
            <a:off x="876300" y="5724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C99B69-DA7A-46A7-BD7C-204961E7A85A}"/>
              </a:ext>
            </a:extLst>
          </p:cNvPr>
          <p:cNvSpPr>
            <a:spLocks noGrp="1"/>
          </p:cNvSpPr>
          <p:nvPr/>
        </p:nvSpPr>
        <p:spPr>
          <a:xfrm>
            <a:off x="1371600" y="5715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正常高频问题；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37541D6-22C8-4C0F-9B78-A2AF5C182557}"/>
              </a:ext>
            </a:extLst>
          </p:cNvPr>
          <p:cNvSpPr>
            <a:spLocks noGrp="1"/>
          </p:cNvSpPr>
          <p:nvPr/>
        </p:nvSpPr>
        <p:spPr>
          <a:xfrm>
            <a:off x="876300" y="6124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04F1FE7-498A-44F7-831F-073A742FF4E0}"/>
              </a:ext>
            </a:extLst>
          </p:cNvPr>
          <p:cNvSpPr>
            <a:spLocks noGrp="1"/>
          </p:cNvSpPr>
          <p:nvPr/>
        </p:nvSpPr>
        <p:spPr>
          <a:xfrm>
            <a:off x="1371600" y="61150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历史关键Bad Case。</a:t>
            </a:r>
          </a:p>
        </p:txBody>
      </p:sp>
    </p:spTree>
    <p:extLst>
      <p:ext uri="{BB962C8B-B14F-4D97-AF65-F5344CB8AC3E}">
        <p14:creationId xmlns:p14="http://schemas.microsoft.com/office/powerpoint/2010/main" val="10138473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339D568F-0EBC-43EE-8CDD-DDEBEEEE7B9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F4CBACC-922C-4C8B-A673-1E5BC0C88CF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65F4598-C9A6-4895-BFFB-7239FB410E1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08B8E9A-8C2E-4F9C-9F19-90F5C2B80BC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33619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53E72C9-D1EA-4456-84A1-9F25BED759D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修复验证与防退化验证（续）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9EC461F-B20E-4D83-8305-7194B3CDEA87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0DB82A-7118-4746-9262-D68CBA03EE82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只有两部分都通过，新版本才算真正通过回归测试。</a:t>
            </a:r>
          </a:p>
        </p:txBody>
      </p:sp>
    </p:spTree>
    <p:extLst>
      <p:ext uri="{BB962C8B-B14F-4D97-AF65-F5344CB8AC3E}">
        <p14:creationId xmlns:p14="http://schemas.microsoft.com/office/powerpoint/2010/main" val="130523190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DB0CA241-6E8C-4243-AB62-3C4D2642259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53D8A8B-91C4-44B7-8D8B-B90724F460E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AC235C3-464E-44B7-A359-356E6F22A2C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16FF2BD-0AFF-4B82-ADE2-81EE0A690DA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39574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D19EBED-6174-4BAA-B60B-A747E3197545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回归评测集的组成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5605801-330A-447D-928A-9D2A82EB4C9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90F510-FDF5-4A4D-A050-66DDE4389314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一套实用的回归集可以包含四类用例。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1EE0AE-BA49-419F-946E-E977339003E1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原失败样本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73E5099-C5A4-4276-BCAB-F7171FA223D9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807EB30-9FF6-48D2-9685-33AB1377B727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用于确认本次问题已经修复。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747A3E1-6308-4ECD-B340-AEA9CA657530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同类高风险样本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BEBB9E2-618D-4917-9256-06BF4995E696}"/>
              </a:ext>
            </a:extLst>
          </p:cNvPr>
          <p:cNvSpPr>
            <a:spLocks noGrp="1"/>
          </p:cNvSpPr>
          <p:nvPr/>
        </p:nvSpPr>
        <p:spPr>
          <a:xfrm>
            <a:off x="838200" y="32385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64D20E0-F386-4D53-A752-B200954B3003}"/>
              </a:ext>
            </a:extLst>
          </p:cNvPr>
          <p:cNvSpPr>
            <a:spLocks noGrp="1"/>
          </p:cNvSpPr>
          <p:nvPr/>
        </p:nvSpPr>
        <p:spPr>
          <a:xfrm>
            <a:off x="838200" y="3333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用于确认修复覆盖了同一类问题，而不是只记住原题。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2C2BD65-E996-4ADB-9AC4-73C891DE643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50833E2-CE57-4500-91AA-640D93A391C7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F6D0222-994D-45A5-B425-06FAFA0A58BF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不同城市的住宿标准；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3C1A276-BA30-4CDE-A801-157184714042}"/>
              </a:ext>
            </a:extLst>
          </p:cNvPr>
          <p:cNvSpPr>
            <a:spLocks noGrp="1"/>
          </p:cNvSpPr>
          <p:nvPr/>
        </p:nvSpPr>
        <p:spPr>
          <a:xfrm>
            <a:off x="876300" y="4533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889CD71-A73A-418A-9E84-4C1D5D4DF755}"/>
              </a:ext>
            </a:extLst>
          </p:cNvPr>
          <p:cNvSpPr>
            <a:spLocks noGrp="1"/>
          </p:cNvSpPr>
          <p:nvPr/>
        </p:nvSpPr>
        <p:spPr>
          <a:xfrm>
            <a:off x="1371600" y="4524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不同员工职级；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B59E170-C8A3-434C-9722-5F2EBE9C46B2}"/>
              </a:ext>
            </a:extLst>
          </p:cNvPr>
          <p:cNvSpPr>
            <a:spLocks noGrp="1"/>
          </p:cNvSpPr>
          <p:nvPr/>
        </p:nvSpPr>
        <p:spPr>
          <a:xfrm>
            <a:off x="876300" y="4933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000C722-3489-4DC8-A030-6F8A5A90261B}"/>
              </a:ext>
            </a:extLst>
          </p:cNvPr>
          <p:cNvSpPr>
            <a:spLocks noGrp="1"/>
          </p:cNvSpPr>
          <p:nvPr/>
        </p:nvSpPr>
        <p:spPr>
          <a:xfrm>
            <a:off x="1371600" y="4924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不同制度生效日期；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90DDF96-FFC8-4A42-9096-212B7AD374CB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5B88F88-D769-4931-9C9A-DF43DDD22862}"/>
              </a:ext>
            </a:extLst>
          </p:cNvPr>
          <p:cNvSpPr>
            <a:spLocks noGrp="1"/>
          </p:cNvSpPr>
          <p:nvPr/>
        </p:nvSpPr>
        <p:spPr>
          <a:xfrm>
            <a:off x="1371600" y="53244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信息不足时是否追问。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5390C5F-01BF-4BAE-AAD5-E59BAF9525E3}"/>
              </a:ext>
            </a:extLst>
          </p:cNvPr>
          <p:cNvSpPr>
            <a:spLocks noGrp="1"/>
          </p:cNvSpPr>
          <p:nvPr/>
        </p:nvSpPr>
        <p:spPr>
          <a:xfrm>
            <a:off x="838200" y="57054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代表性正常样本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F335BF7-AE45-45D2-89B1-9E70B5F5B49A}"/>
              </a:ext>
            </a:extLst>
          </p:cNvPr>
          <p:cNvSpPr>
            <a:spLocks noGrp="1"/>
          </p:cNvSpPr>
          <p:nvPr/>
        </p:nvSpPr>
        <p:spPr>
          <a:xfrm>
            <a:off x="838200" y="60293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82229954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FAB99999-D931-4718-A719-25E8B44431C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A3D6F47-E1E5-4409-A18B-B8E4E091136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7FD92E0-5ED4-4287-A9DB-542097BD3E1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E1E76D-66BC-4E0B-B9CA-DF33FEF9E93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45528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FF2FCB-FF50-4892-94D6-1F0F69AB12C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回归评测集的组成（续）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E213DB-4E65-44EA-AEB7-364FA642D65D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4FC7EC2-A8E7-4714-A183-0B0990E7F3ED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用于保护产品已有的基础能力。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C20D5D-58D4-4501-93E4-3B17698A4C7A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这些通常是：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D44B21A-B532-40D2-B3E5-9FF028DE625B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FBED45B-348D-4CD5-8E1E-159FCAB3C4A7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高频场景；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39D36FE-C1EE-49DF-9DB5-47FB9F91C947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85710E-92F3-43FA-B1FB-C68A25C7717A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核心用户任务；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5E4D6F3-B295-4541-8C30-1C65F4E7D200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B538BED-18A9-4A52-8EE5-A4A98A2553D6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已经长期稳定的功能；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E3B7F6C-3424-46D7-BE20-A8908CC3EAF3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1A686E6-2438-4504-BD40-66997F7EAB50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业务最关注的正常流程。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ED14CCF-3C1E-4055-B4C7-4BEF8A271ECB}"/>
              </a:ext>
            </a:extLst>
          </p:cNvPr>
          <p:cNvSpPr>
            <a:spLocks noGrp="1"/>
          </p:cNvSpPr>
          <p:nvPr/>
        </p:nvSpPr>
        <p:spPr>
          <a:xfrm>
            <a:off x="838200" y="40862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历史关键Bad Case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57EFB88-09AC-4E9E-830A-0CCA764BD318}"/>
              </a:ext>
            </a:extLst>
          </p:cNvPr>
          <p:cNvSpPr>
            <a:spLocks noGrp="1"/>
          </p:cNvSpPr>
          <p:nvPr/>
        </p:nvSpPr>
        <p:spPr>
          <a:xfrm>
            <a:off x="838200" y="44100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8982CF5-1777-4CA2-AE97-9885A60CD3C5}"/>
              </a:ext>
            </a:extLst>
          </p:cNvPr>
          <p:cNvSpPr>
            <a:spLocks noGrp="1"/>
          </p:cNvSpPr>
          <p:nvPr/>
        </p:nvSpPr>
        <p:spPr>
          <a:xfrm>
            <a:off x="838200" y="45053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用于防止以前修复的问题再次出现。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0F9F3BF-E042-4663-BC04-AE3D33FDD144}"/>
              </a:ext>
            </a:extLst>
          </p:cNvPr>
          <p:cNvSpPr>
            <a:spLocks noGrp="1"/>
          </p:cNvSpPr>
          <p:nvPr/>
        </p:nvSpPr>
        <p:spPr>
          <a:xfrm>
            <a:off x="838200" y="48863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每次出现严重问题，都可以加入长期核心回归集。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28AAF82-1F61-4371-8061-37EA13EB17E5}"/>
              </a:ext>
            </a:extLst>
          </p:cNvPr>
          <p:cNvSpPr>
            <a:spLocks noGrp="1"/>
          </p:cNvSpPr>
          <p:nvPr/>
        </p:nvSpPr>
        <p:spPr>
          <a:xfrm>
            <a:off x="838200" y="52673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随着时间推移，回归集会逐步沉淀为产品的“能力底线”。</a:t>
            </a:r>
          </a:p>
        </p:txBody>
      </p:sp>
    </p:spTree>
    <p:extLst>
      <p:ext uri="{BB962C8B-B14F-4D97-AF65-F5344CB8AC3E}">
        <p14:creationId xmlns:p14="http://schemas.microsoft.com/office/powerpoint/2010/main" val="1962666834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1AF887B0-0CF9-4E74-AC66-DC57777326AC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F529FBA-67D3-47CC-987B-D89711C4023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37CCDC9-DD92-4C60-A75D-FA0D51D8515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50941B4-CEA3-42F6-97D5-B8D2DE196AD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51483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902185-34DB-4DB5-BE34-A4C36045866E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AI产品版本的组成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E2CB75F-FFF8-4E7F-AEF8-771B731B192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B52CE6B-7D7F-4E8C-874B-DEE50CD07CED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传统软件通常记录一个应用版本号，例如V2.1。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3B6129-52F3-42E1-A642-58BB513839C1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但AI产品的效果由多个组件共同决定：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0A4432FE-F7D8-42DF-A66E-F41232E9BAA9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1943100"/>
          </a:xfrm>
          <a:prstGeom prst="roundRect">
            <a:avLst>
              <a:gd name="adj" fmla="val 4902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3349D6-C377-4C6F-925C-E20AF9A6B3E9}"/>
              </a:ext>
            </a:extLst>
          </p:cNvPr>
          <p:cNvSpPr>
            <a:spLocks noGrp="1"/>
          </p:cNvSpPr>
          <p:nvPr/>
        </p:nvSpPr>
        <p:spPr>
          <a:xfrm>
            <a:off x="1066800" y="2609850"/>
            <a:ext cx="100488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模型版本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System Prompt版本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知识库版本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检索配置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工作流版本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工具/API版本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评测集版本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Judge版本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8F8BFE2-C199-4389-B486-8D65990484D1}"/>
              </a:ext>
            </a:extLst>
          </p:cNvPr>
          <p:cNvSpPr>
            <a:spLocks noGrp="1"/>
          </p:cNvSpPr>
          <p:nvPr/>
        </p:nvSpPr>
        <p:spPr>
          <a:xfrm>
            <a:off x="838200" y="4514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例如一次评测记录可以写成：</a:t>
            </a:r>
          </a:p>
        </p:txBody>
      </p:sp>
    </p:spTree>
    <p:extLst>
      <p:ext uri="{BB962C8B-B14F-4D97-AF65-F5344CB8AC3E}">
        <p14:creationId xmlns:p14="http://schemas.microsoft.com/office/powerpoint/2010/main" val="61018688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6E269DDF-C6DD-4B75-AADE-21BC632050F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41AEE2A-C4BA-413E-962C-970107A79B5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CF15ED9-A451-474A-9442-409C70C1601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72E56CE-E193-4EBF-99F9-FDD8ABE8B81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57437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71B920-6D9A-4E67-8364-4CADA88696C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AI产品版本的组成（续）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1023B3D-E8A6-48AA-BB5F-372FD60ABBD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C4E43E31-B920-4120-9F7C-D7174A005368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72750" cy="1943100"/>
          </a:xfrm>
          <a:prstGeom prst="roundRect">
            <a:avLst>
              <a:gd name="adj" fmla="val 4902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B71B85C-7C96-4C7F-9D73-4ABCA1D22836}"/>
              </a:ext>
            </a:extLst>
          </p:cNvPr>
          <p:cNvSpPr>
            <a:spLocks noGrp="1"/>
          </p:cNvSpPr>
          <p:nvPr/>
        </p:nvSpPr>
        <p:spPr>
          <a:xfrm>
            <a:off x="1066800" y="1847850"/>
            <a:ext cx="100488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被测版本：Product 2.3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模型：Model A 2026-07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Prompt：P12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知识库：KB 2026-08-01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检索配置：R5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工作流：WF8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评测集：Eval Set 3.2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Judge：Judge Model B + Prompt J6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03CDD2-300E-4D7C-A4EA-7343F9A53ADB}"/>
              </a:ext>
            </a:extLst>
          </p:cNvPr>
          <p:cNvSpPr>
            <a:spLocks noGrp="1"/>
          </p:cNvSpPr>
          <p:nvPr/>
        </p:nvSpPr>
        <p:spPr>
          <a:xfrm>
            <a:off x="838200" y="3752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只有这样，团队才能回答：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AE4AD07-56A9-4139-B4ED-F6459CA6657D}"/>
              </a:ext>
            </a:extLst>
          </p:cNvPr>
          <p:cNvSpPr>
            <a:spLocks noGrp="1"/>
          </p:cNvSpPr>
          <p:nvPr/>
        </p:nvSpPr>
        <p:spPr>
          <a:xfrm>
            <a:off x="876300" y="4171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740BEF7-699A-4CE4-8317-B28EBFE6B24B}"/>
              </a:ext>
            </a:extLst>
          </p:cNvPr>
          <p:cNvSpPr>
            <a:spLocks noGrp="1"/>
          </p:cNvSpPr>
          <p:nvPr/>
        </p:nvSpPr>
        <p:spPr>
          <a:xfrm>
            <a:off x="1371600" y="4162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为什么这次结果与上次不同？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83EDD6E-EC64-4622-B200-38636B6262E9}"/>
              </a:ext>
            </a:extLst>
          </p:cNvPr>
          <p:cNvSpPr>
            <a:spLocks noGrp="1"/>
          </p:cNvSpPr>
          <p:nvPr/>
        </p:nvSpPr>
        <p:spPr>
          <a:xfrm>
            <a:off x="876300" y="45720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366AB06-3D76-4807-94E6-FAF71DBE417D}"/>
              </a:ext>
            </a:extLst>
          </p:cNvPr>
          <p:cNvSpPr>
            <a:spLocks noGrp="1"/>
          </p:cNvSpPr>
          <p:nvPr/>
        </p:nvSpPr>
        <p:spPr>
          <a:xfrm>
            <a:off x="1371600" y="45624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是模型变化还是知识库变化？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28B411-A977-4013-B665-3BBE9457D7D0}"/>
              </a:ext>
            </a:extLst>
          </p:cNvPr>
          <p:cNvSpPr>
            <a:spLocks noGrp="1"/>
          </p:cNvSpPr>
          <p:nvPr/>
        </p:nvSpPr>
        <p:spPr>
          <a:xfrm>
            <a:off x="876300" y="49720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FFE9E43-CAC0-4CF0-9710-38168FB5069A}"/>
              </a:ext>
            </a:extLst>
          </p:cNvPr>
          <p:cNvSpPr>
            <a:spLocks noGrp="1"/>
          </p:cNvSpPr>
          <p:nvPr/>
        </p:nvSpPr>
        <p:spPr>
          <a:xfrm>
            <a:off x="1371600" y="49625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评分下降是被测产品退化，还是Judge尺度变化？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4A0EBFF-8841-4341-8607-294B7C29889A}"/>
              </a:ext>
            </a:extLst>
          </p:cNvPr>
          <p:cNvSpPr>
            <a:spLocks noGrp="1"/>
          </p:cNvSpPr>
          <p:nvPr/>
        </p:nvSpPr>
        <p:spPr>
          <a:xfrm>
            <a:off x="876300" y="53721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BF39ADE-8601-4805-9553-9CAB9C94CF3A}"/>
              </a:ext>
            </a:extLst>
          </p:cNvPr>
          <p:cNvSpPr>
            <a:spLocks noGrp="1"/>
          </p:cNvSpPr>
          <p:nvPr/>
        </p:nvSpPr>
        <p:spPr>
          <a:xfrm>
            <a:off x="1371600" y="53625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怎样重新复现这次评测？</a:t>
            </a:r>
          </a:p>
        </p:txBody>
      </p:sp>
    </p:spTree>
    <p:extLst>
      <p:ext uri="{BB962C8B-B14F-4D97-AF65-F5344CB8AC3E}">
        <p14:creationId xmlns:p14="http://schemas.microsoft.com/office/powerpoint/2010/main" val="107630358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8AA0FFBD-E820-4FAC-84DE-349E6963AA9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BD5FB6-5B64-49F0-9165-ADEAF69FCB35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18CDA2E-6039-4F58-9CE8-50AC8AFD351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8FEC92D-4811-4D48-B774-4D181FB2A6A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63391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DDC4834-71ED-443D-A4C7-8C5FD72295C3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评测集也需要版本管理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AFAE1F0-4B03-4814-98B1-7B9404A339A9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20A9F84-99E4-4A7F-B66A-97D2E767F844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假设：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F8CF86-DA4B-4542-8C96-872EF1627255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C71B0F8-0204-4C35-A552-001691949D5E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V1使用100条简单题，得分90分；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447C787-31AC-4417-BE3B-1426B4BBF6B3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7CE70A7-B669-480B-A1AE-55C3B00959DE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V2使用200条包含大量高风险题的评测集，得分85分。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6F85162-0EC5-4AB9-BD57-3A80F6FF645C}"/>
              </a:ext>
            </a:extLst>
          </p:cNvPr>
          <p:cNvSpPr>
            <a:spLocks noGrp="1"/>
          </p:cNvSpPr>
          <p:nvPr/>
        </p:nvSpPr>
        <p:spPr>
          <a:xfrm>
            <a:off x="838200" y="2895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不能直接得出V2比V1差。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9976EA7-F92F-4065-863B-5BDAA90BB4EF}"/>
              </a:ext>
            </a:extLst>
          </p:cNvPr>
          <p:cNvSpPr>
            <a:spLocks noGrp="1"/>
          </p:cNvSpPr>
          <p:nvPr/>
        </p:nvSpPr>
        <p:spPr>
          <a:xfrm>
            <a:off x="838200" y="3276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因为两次考试题目不同。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4AD88A1-9569-4EB0-83EC-3002DF29AE2E}"/>
              </a:ext>
            </a:extLst>
          </p:cNvPr>
          <p:cNvSpPr>
            <a:spLocks noGrp="1"/>
          </p:cNvSpPr>
          <p:nvPr/>
        </p:nvSpPr>
        <p:spPr>
          <a:xfrm>
            <a:off x="838200" y="3657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因此，比较产品版本时，至少要有一套相同的固定核心集。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0DB9299-8CDC-47BE-8243-F8D3B8C62CED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可以把评测集分成：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31E8E28-B3AF-4349-9975-DDAE703600BC}"/>
              </a:ext>
            </a:extLst>
          </p:cNvPr>
          <p:cNvSpPr>
            <a:spLocks noGrp="1"/>
          </p:cNvSpPr>
          <p:nvPr/>
        </p:nvSpPr>
        <p:spPr>
          <a:xfrm>
            <a:off x="838200" y="44291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固定核心集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138DC99-DC50-4D51-B9CA-C2E949210287}"/>
              </a:ext>
            </a:extLst>
          </p:cNvPr>
          <p:cNvSpPr>
            <a:spLocks noGrp="1"/>
          </p:cNvSpPr>
          <p:nvPr/>
        </p:nvSpPr>
        <p:spPr>
          <a:xfrm>
            <a:off x="838200" y="47529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6FD0AE5-2251-47C2-A624-E1A84B398470}"/>
              </a:ext>
            </a:extLst>
          </p:cNvPr>
          <p:cNvSpPr>
            <a:spLocks noGrp="1"/>
          </p:cNvSpPr>
          <p:nvPr/>
        </p:nvSpPr>
        <p:spPr>
          <a:xfrm>
            <a:off x="838200" y="48482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保持相对稳定，用于跨版本比较。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6AD71B5-9222-48F2-8E60-1126273E1AD7}"/>
              </a:ext>
            </a:extLst>
          </p:cNvPr>
          <p:cNvSpPr>
            <a:spLocks noGrp="1"/>
          </p:cNvSpPr>
          <p:nvPr/>
        </p:nvSpPr>
        <p:spPr>
          <a:xfrm>
            <a:off x="838200" y="52387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新增问题集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92AA1F7-B6C2-4AD0-866D-34CD6591F466}"/>
              </a:ext>
            </a:extLst>
          </p:cNvPr>
          <p:cNvSpPr>
            <a:spLocks noGrp="1"/>
          </p:cNvSpPr>
          <p:nvPr/>
        </p:nvSpPr>
        <p:spPr>
          <a:xfrm>
            <a:off x="838200" y="55626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CE4DEC3-8C8C-4A14-B070-8172EFCE2EE3}"/>
              </a:ext>
            </a:extLst>
          </p:cNvPr>
          <p:cNvSpPr>
            <a:spLocks noGrp="1"/>
          </p:cNvSpPr>
          <p:nvPr/>
        </p:nvSpPr>
        <p:spPr>
          <a:xfrm>
            <a:off x="838200" y="5657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加入近期Bad Case、新业务和新风险。</a:t>
            </a:r>
          </a:p>
        </p:txBody>
      </p:sp>
    </p:spTree>
    <p:extLst>
      <p:ext uri="{BB962C8B-B14F-4D97-AF65-F5344CB8AC3E}">
        <p14:creationId xmlns:p14="http://schemas.microsoft.com/office/powerpoint/2010/main" val="86237709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FAD1B144-5B4A-45E7-ADC2-92CEA237A64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A5526A9-AF80-4C55-8EAC-1977A0CDADB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0DF975F-EDAF-429E-ABC6-4FD2336A23E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418918-3BB5-4E07-BFC9-20BD0FB7FE4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69346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7A09B04-EC21-4A81-B538-0DEC52BC3A7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评测集也需要版本管理（续）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4DBFAF-F3E9-45C7-AE0B-F2B6762D439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B9F8B7C-8141-4904-82D0-DEA1994F03E3}"/>
              </a:ext>
            </a:extLst>
          </p:cNvPr>
          <p:cNvSpPr>
            <a:spLocks noGrp="1"/>
          </p:cNvSpPr>
          <p:nvPr/>
        </p:nvSpPr>
        <p:spPr>
          <a:xfrm>
            <a:off x="838200" y="1724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专项评测集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23457DE-7C8D-48BE-B400-F3A216F74015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BC43CA7-DA12-4A0C-95B5-380017FF85C0}"/>
              </a:ext>
            </a:extLst>
          </p:cNvPr>
          <p:cNvSpPr>
            <a:spLocks noGrp="1"/>
          </p:cNvSpPr>
          <p:nvPr/>
        </p:nvSpPr>
        <p:spPr>
          <a:xfrm>
            <a:off x="838200" y="2143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针对本次改动的特定能力，例如：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250F9A-6198-4548-B9D6-77FB872E3859}"/>
              </a:ext>
            </a:extLst>
          </p:cNvPr>
          <p:cNvSpPr>
            <a:spLocks noGrp="1"/>
          </p:cNvSpPr>
          <p:nvPr/>
        </p:nvSpPr>
        <p:spPr>
          <a:xfrm>
            <a:off x="876300" y="2562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A96F20F-0C48-4F18-B46E-AAC652033E87}"/>
              </a:ext>
            </a:extLst>
          </p:cNvPr>
          <p:cNvSpPr>
            <a:spLocks noGrp="1"/>
          </p:cNvSpPr>
          <p:nvPr/>
        </p:nvSpPr>
        <p:spPr>
          <a:xfrm>
            <a:off x="1371600" y="2552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检索专项；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B393AA0-E166-4B7C-946D-8A5115FFC5CE}"/>
              </a:ext>
            </a:extLst>
          </p:cNvPr>
          <p:cNvSpPr>
            <a:spLocks noGrp="1"/>
          </p:cNvSpPr>
          <p:nvPr/>
        </p:nvSpPr>
        <p:spPr>
          <a:xfrm>
            <a:off x="876300" y="2962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3F78669-BABC-40C6-A681-00AD5E8EC32A}"/>
              </a:ext>
            </a:extLst>
          </p:cNvPr>
          <p:cNvSpPr>
            <a:spLocks noGrp="1"/>
          </p:cNvSpPr>
          <p:nvPr/>
        </p:nvSpPr>
        <p:spPr>
          <a:xfrm>
            <a:off x="1371600" y="2952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安全专项；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129F022-B2D6-48EE-BEFF-DCD1E9FE79C8}"/>
              </a:ext>
            </a:extLst>
          </p:cNvPr>
          <p:cNvSpPr>
            <a:spLocks noGrp="1"/>
          </p:cNvSpPr>
          <p:nvPr/>
        </p:nvSpPr>
        <p:spPr>
          <a:xfrm>
            <a:off x="876300" y="3362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1069ED9-73CF-4FF0-BCC9-373377F2DCD0}"/>
              </a:ext>
            </a:extLst>
          </p:cNvPr>
          <p:cNvSpPr>
            <a:spLocks noGrp="1"/>
          </p:cNvSpPr>
          <p:nvPr/>
        </p:nvSpPr>
        <p:spPr>
          <a:xfrm>
            <a:off x="1371600" y="3352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工具调用专项；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F2F3904-AB3E-4C65-9266-8948CA6973FC}"/>
              </a:ext>
            </a:extLst>
          </p:cNvPr>
          <p:cNvSpPr>
            <a:spLocks noGrp="1"/>
          </p:cNvSpPr>
          <p:nvPr/>
        </p:nvSpPr>
        <p:spPr>
          <a:xfrm>
            <a:off x="876300" y="3762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3C4F702-B97D-4B25-B7EA-B54EE40DF660}"/>
              </a:ext>
            </a:extLst>
          </p:cNvPr>
          <p:cNvSpPr>
            <a:spLocks noGrp="1"/>
          </p:cNvSpPr>
          <p:nvPr/>
        </p:nvSpPr>
        <p:spPr>
          <a:xfrm>
            <a:off x="1371600" y="3752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多轮对话专项。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85AFA37-FB5A-4923-803C-4D45A72E41E7}"/>
              </a:ext>
            </a:extLst>
          </p:cNvPr>
          <p:cNvSpPr>
            <a:spLocks noGrp="1"/>
          </p:cNvSpPr>
          <p:nvPr/>
        </p:nvSpPr>
        <p:spPr>
          <a:xfrm>
            <a:off x="838200" y="41243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评测报告需要分别展示各部分结果，不能混成一个总分。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387696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FB445BBA-6B77-40DA-AD69-23EC6BE2AF1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B9AFC5-F7EC-44AF-A522-316CC0812F97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B6411C6-5FA0-4179-9C02-F31FDA43BDF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61E68CB-33DB-4E43-90BA-679D563AF20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75300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E299F36-25EE-46B9-9C77-935779CB662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Judge也需要版本管理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A7D7C8D-F5A3-4C0A-8A67-BE6C48B6FDE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D9944D3-C6BF-4A41-826C-A0B0D5D7E45B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如果使用LLM-as-Judge，裁判本身发生变化，也可能导致分数变化。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C6A56CC-2D61-466C-928F-8307680285C0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EF940F1-40E3-4782-88AC-E63459F3BB22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9C4B83-102F-4BF2-8636-89105914808A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Judge模型升级；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E6FBD14-7D7A-4E6D-8D16-694074E8E271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33E0DA-0DCA-4A26-9F3B-D6DE18DFB728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Judge Prompt修改；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7875F71-6E39-4FD2-ACFE-43E681FAC286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8AA341B-EFAB-4E23-8364-BBEADE65DB32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评分锚点调整；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F1308F4-0E15-4458-9697-28EC6EC45617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F86AB71-1339-4CB4-8EDE-B7FAC364FEA1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参考答案更新；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E82887-3769-4C40-8810-5087255B62A3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300193F-0159-4FF3-ACA7-9013116CECEB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温度参数改变。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FD98E21-76FE-4E60-BC26-61739D93AD45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即使被测产品完全没有变化，评测分数也可能不同。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BAAA120-6539-49B8-AFCC-F354E25458DB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因此，需要记录：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FB625F8-C506-4688-9B7D-6E2692FCCF16}"/>
              </a:ext>
            </a:extLst>
          </p:cNvPr>
          <p:cNvSpPr>
            <a:spLocks noGrp="1"/>
          </p:cNvSpPr>
          <p:nvPr/>
        </p:nvSpPr>
        <p:spPr>
          <a:xfrm>
            <a:off x="876300" y="5276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8154F6D-4655-4CA9-A1BC-6C0E62B5C6E7}"/>
              </a:ext>
            </a:extLst>
          </p:cNvPr>
          <p:cNvSpPr>
            <a:spLocks noGrp="1"/>
          </p:cNvSpPr>
          <p:nvPr/>
        </p:nvSpPr>
        <p:spPr>
          <a:xfrm>
            <a:off x="1371600" y="5267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Judge模型；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E355286-B529-4DFF-B030-9D7C0159260F}"/>
              </a:ext>
            </a:extLst>
          </p:cNvPr>
          <p:cNvSpPr>
            <a:spLocks noGrp="1"/>
          </p:cNvSpPr>
          <p:nvPr/>
        </p:nvSpPr>
        <p:spPr>
          <a:xfrm>
            <a:off x="876300" y="5676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ED6A77F-3474-431D-BCC7-0A83368F3C34}"/>
              </a:ext>
            </a:extLst>
          </p:cNvPr>
          <p:cNvSpPr>
            <a:spLocks noGrp="1"/>
          </p:cNvSpPr>
          <p:nvPr/>
        </p:nvSpPr>
        <p:spPr>
          <a:xfrm>
            <a:off x="1371600" y="5667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Judge Prompt；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1AB9F0B-EE29-4811-BDFD-4201F97A7B5F}"/>
              </a:ext>
            </a:extLst>
          </p:cNvPr>
          <p:cNvSpPr>
            <a:spLocks noGrp="1"/>
          </p:cNvSpPr>
          <p:nvPr/>
        </p:nvSpPr>
        <p:spPr>
          <a:xfrm>
            <a:off x="876300" y="6076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3FD66A6-07E6-4AAA-AA31-F60C24D55150}"/>
              </a:ext>
            </a:extLst>
          </p:cNvPr>
          <p:cNvSpPr>
            <a:spLocks noGrp="1"/>
          </p:cNvSpPr>
          <p:nvPr/>
        </p:nvSpPr>
        <p:spPr>
          <a:xfrm>
            <a:off x="1371600" y="6067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评分规则；</a:t>
            </a:r>
          </a:p>
        </p:txBody>
      </p:sp>
    </p:spTree>
    <p:extLst>
      <p:ext uri="{BB962C8B-B14F-4D97-AF65-F5344CB8AC3E}">
        <p14:creationId xmlns:p14="http://schemas.microsoft.com/office/powerpoint/2010/main" val="98697576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9F964D9-31C0-4591-AE9B-693F0BFCBAA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7EB5C07-E317-4B5C-A92A-FF56D928F5A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6680A0C-432E-4526-B302-D9256C469E7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6FD5579-43D2-47AA-AA2C-B51DA112783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81255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128D27-6610-4B76-A63A-71F6D381869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Judge也需要版本管理（续）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D85423-5BD7-486F-A35A-F82AEADE38E8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2A0581F-789B-42DD-B359-9EDC39F00BC4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0E994A-20BF-4278-8C84-331342715EA0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运行参数；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05689F-CEDB-4C68-A786-8A3A180A6D2D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3AB1021-FDD6-4FCB-B0FD-69E525FF3101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人工校准数据。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537347C-1E99-4925-84E8-6C683DCA8724}"/>
              </a:ext>
            </a:extLst>
          </p:cNvPr>
          <p:cNvSpPr>
            <a:spLocks noGrp="1"/>
          </p:cNvSpPr>
          <p:nvPr/>
        </p:nvSpPr>
        <p:spPr>
          <a:xfrm>
            <a:off x="838200" y="25146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如果更换Judge，最好用同一批人工金标准重新校准，确认新旧Judge的评分尺度是否一致。</a:t>
            </a:r>
          </a:p>
        </p:txBody>
      </p:sp>
    </p:spTree>
    <p:extLst>
      <p:ext uri="{BB962C8B-B14F-4D97-AF65-F5344CB8AC3E}">
        <p14:creationId xmlns:p14="http://schemas.microsoft.com/office/powerpoint/2010/main" val="2398757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6C007118-F079-408E-931E-B7A921AA544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AED0AF-2B0F-42CC-AB59-56E7784BACE2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0529FFF-77A6-4003-B82E-6DE7AE31161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222C4C3-9A5F-4DCF-99BA-85F7E207FC0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87209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6A00BC-5E10-4E65-900B-A59C057F1FF2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AI输出的不确定性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1B6A04B-8C73-4CC9-B5ED-38307BB7701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701586-1A97-4364-A37E-A86FD890589F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同一个模型、同一个问题，也可能多次输出不同答案。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115217-51D4-47DA-9BAA-1A8B642D4FF5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例如连续运行五次：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2CA4A3B-0C58-46C0-B0D3-7FFCA29FBEDB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如果只运行一次，可能恰好看到正确答案，也可能恰好看到错误答案。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06D3E3A-C55A-40D3-90DF-C5EBDD56B216}"/>
              </a:ext>
            </a:extLst>
          </p:cNvPr>
          <p:cNvSpPr>
            <a:spLocks noGrp="1"/>
          </p:cNvSpPr>
          <p:nvPr/>
        </p:nvSpPr>
        <p:spPr>
          <a:xfrm>
            <a:off x="838200" y="2857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因此，对重要问题可以重复运行，并统计：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3D97464-C082-4410-A9FA-001A3C2E821D}"/>
              </a:ext>
            </a:extLst>
          </p:cNvPr>
          <p:cNvSpPr>
            <a:spLocks noGrp="1"/>
          </p:cNvSpPr>
          <p:nvPr/>
        </p:nvSpPr>
        <p:spPr>
          <a:xfrm>
            <a:off x="876300" y="3276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5F895B-A0C0-41F0-BB44-6883C32E2056}"/>
              </a:ext>
            </a:extLst>
          </p:cNvPr>
          <p:cNvSpPr>
            <a:spLocks noGrp="1"/>
          </p:cNvSpPr>
          <p:nvPr/>
        </p:nvSpPr>
        <p:spPr>
          <a:xfrm>
            <a:off x="1371600" y="3267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多次通过率；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4F7DC6D-5094-4B51-BC3D-B6736F8E5178}"/>
              </a:ext>
            </a:extLst>
          </p:cNvPr>
          <p:cNvSpPr>
            <a:spLocks noGrp="1"/>
          </p:cNvSpPr>
          <p:nvPr/>
        </p:nvSpPr>
        <p:spPr>
          <a:xfrm>
            <a:off x="876300" y="3676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AD0E96F-1586-4CEA-BE32-F17ECFEF70CC}"/>
              </a:ext>
            </a:extLst>
          </p:cNvPr>
          <p:cNvSpPr>
            <a:spLocks noGrp="1"/>
          </p:cNvSpPr>
          <p:nvPr/>
        </p:nvSpPr>
        <p:spPr>
          <a:xfrm>
            <a:off x="1371600" y="3667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最差表现；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B91100B-ABB0-46A0-98D2-848F9DBEAE26}"/>
              </a:ext>
            </a:extLst>
          </p:cNvPr>
          <p:cNvSpPr>
            <a:spLocks noGrp="1"/>
          </p:cNvSpPr>
          <p:nvPr/>
        </p:nvSpPr>
        <p:spPr>
          <a:xfrm>
            <a:off x="876300" y="4076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EF0B034-0CE7-4570-849E-36BD799103FD}"/>
              </a:ext>
            </a:extLst>
          </p:cNvPr>
          <p:cNvSpPr>
            <a:spLocks noGrp="1"/>
          </p:cNvSpPr>
          <p:nvPr/>
        </p:nvSpPr>
        <p:spPr>
          <a:xfrm>
            <a:off x="1371600" y="4067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输出波动；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70DCCD2-1D31-400C-9FCB-7ABF2933CC22}"/>
              </a:ext>
            </a:extLst>
          </p:cNvPr>
          <p:cNvSpPr>
            <a:spLocks noGrp="1"/>
          </p:cNvSpPr>
          <p:nvPr/>
        </p:nvSpPr>
        <p:spPr>
          <a:xfrm>
            <a:off x="876300" y="4476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462DD78-5368-4A34-BCDB-F7FC1BB1C4DE}"/>
              </a:ext>
            </a:extLst>
          </p:cNvPr>
          <p:cNvSpPr>
            <a:spLocks noGrp="1"/>
          </p:cNvSpPr>
          <p:nvPr/>
        </p:nvSpPr>
        <p:spPr>
          <a:xfrm>
            <a:off x="1371600" y="4467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红线出现次数。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7AFE4D0-D701-4640-884C-70C64D10A119}"/>
              </a:ext>
            </a:extLst>
          </p:cNvPr>
          <p:cNvSpPr>
            <a:spLocks noGrp="1"/>
          </p:cNvSpPr>
          <p:nvPr/>
        </p:nvSpPr>
        <p:spPr>
          <a:xfrm>
            <a:off x="838200" y="48387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尤其是高风险问题，不能因为“五次中四次正确”就忽略那一次严重错误。</a:t>
            </a:r>
          </a:p>
        </p:txBody>
      </p:sp>
    </p:spTree>
    <p:extLst>
      <p:ext uri="{BB962C8B-B14F-4D97-AF65-F5344CB8AC3E}">
        <p14:creationId xmlns:p14="http://schemas.microsoft.com/office/powerpoint/2010/main" val="18933692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BF645B8E-DD6F-4DEE-8D8F-7F748BB86B98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4675700-17BA-4B22-8076-73FCC4DA6123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26A4F5A-DD56-4F25-9C46-8FAC888E525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36415B-6948-4726-B171-DD5592BBEB4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93163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7AAB5A-40B4-4691-841F-ECB845355AE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版本对比报告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63736F1-F467-4AA3-A379-0D8225122BCD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8E2EF2-A102-4B01-B436-10E57EA3524F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版本对比不能只展示总分，还要回答：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8E0B9A-250E-4E38-A9FB-BD4DA7B1D1C8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1021665-7D91-4AB2-9501-D9D34F0FDA3B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修复了多少原Bad Case；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F940BB1-7494-4729-BDFA-A9B8E0162B56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9BEDC7E-5C47-4B0A-921F-A3C0B8A41DD8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新增了多少失败问题；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4171DB2-7406-43B4-80EB-4CAA4EFAFABB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B791A05-2009-456D-BD88-00071C84D78E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哪些场景提升；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C48F419-50A2-4278-9A1C-C73E1785C163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8A550C0-F11C-42C7-A034-71744CE777B4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哪些场景退化；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90C6836-3D0A-42DD-863E-C0C332E22256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291AB84-EAF7-4A98-ABF9-6791992DD119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是否出现新的红线；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5BDD159-0D0A-4BF8-81C0-04AD6366BD52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1CCBA99-AF6D-4574-8B66-9EA87803765E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响应时间和成本是否变化；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13289FE-9DDE-4745-A362-C3F1439C83CB}"/>
              </a:ext>
            </a:extLst>
          </p:cNvPr>
          <p:cNvSpPr>
            <a:spLocks noGrp="1"/>
          </p:cNvSpPr>
          <p:nvPr/>
        </p:nvSpPr>
        <p:spPr>
          <a:xfrm>
            <a:off x="876300" y="4533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7246170-1329-463F-AE60-F22B9AFED071}"/>
              </a:ext>
            </a:extLst>
          </p:cNvPr>
          <p:cNvSpPr>
            <a:spLocks noGrp="1"/>
          </p:cNvSpPr>
          <p:nvPr/>
        </p:nvSpPr>
        <p:spPr>
          <a:xfrm>
            <a:off x="1371600" y="4524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是否达到发布门槛。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836BE3B-89EF-4AF3-9C19-CDFB6795657D}"/>
              </a:ext>
            </a:extLst>
          </p:cNvPr>
          <p:cNvSpPr>
            <a:spLocks noGrp="1"/>
          </p:cNvSpPr>
          <p:nvPr/>
        </p:nvSpPr>
        <p:spPr>
          <a:xfrm>
            <a:off x="838200" y="4895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6A9034-DECC-4F69-B49F-B55F12E8802D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最终结论可能是：</a:t>
            </a: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CE979799-C0BB-41E5-8F0C-03542F3BF594}"/>
              </a:ext>
            </a:extLst>
          </p:cNvPr>
          <p:cNvSpPr>
            <a:spLocks noGrp="1"/>
          </p:cNvSpPr>
          <p:nvPr/>
        </p:nvSpPr>
        <p:spPr>
          <a:xfrm>
            <a:off x="819150" y="56578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33482BA-A028-4E92-86FF-2781895DC4BF}"/>
              </a:ext>
            </a:extLst>
          </p:cNvPr>
          <p:cNvSpPr>
            <a:spLocks noGrp="1"/>
          </p:cNvSpPr>
          <p:nvPr/>
        </p:nvSpPr>
        <p:spPr>
          <a:xfrm>
            <a:off x="819150" y="56578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1BA379C-9D41-46FC-8CA0-A64A80AEF6EC}"/>
              </a:ext>
            </a:extLst>
          </p:cNvPr>
          <p:cNvSpPr>
            <a:spLocks noGrp="1"/>
          </p:cNvSpPr>
          <p:nvPr/>
        </p:nvSpPr>
        <p:spPr>
          <a:xfrm>
            <a:off x="1104900" y="58007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V2效果整体提升，但出现一条安全红线，暂不允许全量上线。</a:t>
            </a:r>
          </a:p>
        </p:txBody>
      </p:sp>
    </p:spTree>
    <p:extLst>
      <p:ext uri="{BB962C8B-B14F-4D97-AF65-F5344CB8AC3E}">
        <p14:creationId xmlns:p14="http://schemas.microsoft.com/office/powerpoint/2010/main" val="94410634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95241CE-E4B9-4AFE-873E-3BF42E8815DC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1C645D1-F899-443C-B330-E1EFC740B999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0A5313E-4149-4BAA-8694-5FDFABAE1E9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E040DA3-CA41-434C-9C46-76B0AADB013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899118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D1D582D-6D93-4791-9453-D715DF200C99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发布门槛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86C7552-F5C7-4083-A59A-04E2287CBC0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FB98F8D-1A9F-41CD-9FC9-E4A6F3F02287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团队应该提前定义版本发布条件。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D19766D-7FD7-4FF2-9884-0793E9B11C46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489A7E19-A91A-4400-ACDD-45950281AF64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1733550"/>
          </a:xfrm>
          <a:prstGeom prst="roundRect">
            <a:avLst>
              <a:gd name="adj" fmla="val 5495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1D80800-C3B9-4449-B821-6F485C28AFC3}"/>
              </a:ext>
            </a:extLst>
          </p:cNvPr>
          <p:cNvSpPr>
            <a:spLocks noGrp="1"/>
          </p:cNvSpPr>
          <p:nvPr/>
        </p:nvSpPr>
        <p:spPr>
          <a:xfrm>
            <a:off x="1066800" y="2609850"/>
            <a:ext cx="10048875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原高优先级Bad Case必须100%修复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核心评测集不得明显退化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安全红线必须为0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新增严重Bad Case必须为0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总体通过率不得低于90%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P95响应时间不得超过5秒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单次调用成本不得超过0.10元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8F1D061-0E59-4DB3-B896-B4D64FAC7DE2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发布门槛应根据产品风险设定。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5381F0-1A26-4A82-878A-C43B534C4A77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创意工具可以接受输出风格波动；涉及资金、隐私和医疗的产品会更严格。</a:t>
            </a:r>
          </a:p>
        </p:txBody>
      </p:sp>
    </p:spTree>
    <p:extLst>
      <p:ext uri="{BB962C8B-B14F-4D97-AF65-F5344CB8AC3E}">
        <p14:creationId xmlns:p14="http://schemas.microsoft.com/office/powerpoint/2010/main" val="89916929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A771D8AC-3479-4AA1-BFF1-69025CCE6B15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722F4E-51A1-45B0-A76D-4C4762198116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0609D4D-B494-4C47-A5FE-5F7372A95E1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84BC582-BDFD-448B-832F-C22C920B82E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05072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82C82F-8F0C-4315-A527-269DABABB05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灰度发布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E886C32-9356-464E-9D07-3CA2B8AF0B5F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95C864-2F47-410B-80CC-84F872F722E3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通过离线回归并不代表可以立刻全量上线。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212F279-8AEE-4C63-894E-DF0333FDCDCD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更稳妥的方式是灰度发布：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86B2A20-C2AA-4F23-A418-543E79819342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D5B07FE-5FEA-4C91-9C1A-AD6ACEEBC67F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先向少量用户开放新版本；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97D13B1-FA78-4735-A8FC-5DA79A4C62EA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0A5FB47-FF79-4D9E-A8B0-73CD6749B9BA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观察真实流量中的效果；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753A86-7DB2-47A1-BF37-2DAAEA78E7EE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3350A6-7D85-4D9A-B5BC-0A8C9AC6C0C5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对比新旧版本；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3FFBF66-D103-4830-AED4-FA7D8BDF936E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55E82DF-41A8-460C-8AD9-47EDADA12BDD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监控红线、投诉和转人工情况；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F23A823-F1B1-4E29-ACCD-54C18AFE49C7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43EC41A-2BC3-49DD-8C80-E93065055AC9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确认没有严重问题后逐步扩大范围。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56DACE1-A4FB-4460-8A35-B4611DB66F38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灰度阶段可以使用A/B测试：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22970D9-DA49-424D-9C5A-43D4F80CFD39}"/>
              </a:ext>
            </a:extLst>
          </p:cNvPr>
          <p:cNvSpPr>
            <a:spLocks noGrp="1"/>
          </p:cNvSpPr>
          <p:nvPr/>
        </p:nvSpPr>
        <p:spPr>
          <a:xfrm>
            <a:off x="876300" y="4895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75D32D2-E972-4526-B6FB-5DE85AF1D0FA}"/>
              </a:ext>
            </a:extLst>
          </p:cNvPr>
          <p:cNvSpPr>
            <a:spLocks noGrp="1"/>
          </p:cNvSpPr>
          <p:nvPr/>
        </p:nvSpPr>
        <p:spPr>
          <a:xfrm>
            <a:off x="1371600" y="4886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一部分用户使用旧版本；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1D80FFB-83B5-492D-A1A2-3FB70B684A04}"/>
              </a:ext>
            </a:extLst>
          </p:cNvPr>
          <p:cNvSpPr>
            <a:spLocks noGrp="1"/>
          </p:cNvSpPr>
          <p:nvPr/>
        </p:nvSpPr>
        <p:spPr>
          <a:xfrm>
            <a:off x="876300" y="5295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A53B4F2-1138-47DD-89E7-423E884A6A83}"/>
              </a:ext>
            </a:extLst>
          </p:cNvPr>
          <p:cNvSpPr>
            <a:spLocks noGrp="1"/>
          </p:cNvSpPr>
          <p:nvPr/>
        </p:nvSpPr>
        <p:spPr>
          <a:xfrm>
            <a:off x="1371600" y="5286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一部分用户使用新版本；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2C683D0-0E25-4EE9-B5ED-B1C1AF0A6F3A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E325191-2604-402C-BCFF-9B8910C11996}"/>
              </a:ext>
            </a:extLst>
          </p:cNvPr>
          <p:cNvSpPr>
            <a:spLocks noGrp="1"/>
          </p:cNvSpPr>
          <p:nvPr/>
        </p:nvSpPr>
        <p:spPr>
          <a:xfrm>
            <a:off x="1371600" y="5686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比较任务完成率、满意度和错误率。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9E964C4-E536-4B65-BF86-6DA4BA5AA7BC}"/>
              </a:ext>
            </a:extLst>
          </p:cNvPr>
          <p:cNvSpPr>
            <a:spLocks noGrp="1"/>
          </p:cNvSpPr>
          <p:nvPr/>
        </p:nvSpPr>
        <p:spPr>
          <a:xfrm>
            <a:off x="838200" y="6057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如果新版本出现明显问题，可以快速回滚。</a:t>
            </a:r>
          </a:p>
        </p:txBody>
      </p:sp>
    </p:spTree>
    <p:extLst>
      <p:ext uri="{BB962C8B-B14F-4D97-AF65-F5344CB8AC3E}">
        <p14:creationId xmlns:p14="http://schemas.microsoft.com/office/powerpoint/2010/main" val="93698085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35BF9B88-D879-421F-98BF-ADFA39F725A3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99EEBA-5C23-4275-9FC7-DDF84024CF58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7561037-F903-4DD9-AA7A-2C90026A248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B39B71-6FA5-4679-85E1-5C45A5584FD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11027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2F76453-743E-45C4-B111-6A3855A5F84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回滚机制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371176-5D0E-4684-9848-1079E00965E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65EA0B9-453A-4885-94DF-52BF9826CE42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AI产品上线前要考虑：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C96214FA-FD72-4FF6-9961-B95C8255FAA7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12C6A63-C7A3-4E77-BA87-DED71999EFAF}"/>
              </a:ext>
            </a:extLst>
          </p:cNvPr>
          <p:cNvSpPr>
            <a:spLocks noGrp="1"/>
          </p:cNvSpPr>
          <p:nvPr/>
        </p:nvSpPr>
        <p:spPr>
          <a:xfrm>
            <a:off x="819150" y="2095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15A17D8-8CDE-4D3D-9C21-AB1227371A1C}"/>
              </a:ext>
            </a:extLst>
          </p:cNvPr>
          <p:cNvSpPr>
            <a:spLocks noGrp="1"/>
          </p:cNvSpPr>
          <p:nvPr/>
        </p:nvSpPr>
        <p:spPr>
          <a:xfrm>
            <a:off x="1104900" y="2238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新版本出现严重问题时，怎样恢复到稳定版本？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A7D9066-1069-44DE-A938-30D622810F99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可能的回滚方式包括：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918258-1F3A-4ADB-B705-06F0B83D3B02}"/>
              </a:ext>
            </a:extLst>
          </p:cNvPr>
          <p:cNvSpPr>
            <a:spLocks noGrp="1"/>
          </p:cNvSpPr>
          <p:nvPr/>
        </p:nvSpPr>
        <p:spPr>
          <a:xfrm>
            <a:off x="876300" y="3190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F883343-C504-43DF-99DC-0CB681B4CC86}"/>
              </a:ext>
            </a:extLst>
          </p:cNvPr>
          <p:cNvSpPr>
            <a:spLocks noGrp="1"/>
          </p:cNvSpPr>
          <p:nvPr/>
        </p:nvSpPr>
        <p:spPr>
          <a:xfrm>
            <a:off x="1371600" y="3181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切换回旧模型；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21B8659-66E0-471D-8E6B-9AB4B2835DDE}"/>
              </a:ext>
            </a:extLst>
          </p:cNvPr>
          <p:cNvSpPr>
            <a:spLocks noGrp="1"/>
          </p:cNvSpPr>
          <p:nvPr/>
        </p:nvSpPr>
        <p:spPr>
          <a:xfrm>
            <a:off x="876300" y="3590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54EB1FC-A347-400F-92AE-13EB72E935B1}"/>
              </a:ext>
            </a:extLst>
          </p:cNvPr>
          <p:cNvSpPr>
            <a:spLocks noGrp="1"/>
          </p:cNvSpPr>
          <p:nvPr/>
        </p:nvSpPr>
        <p:spPr>
          <a:xfrm>
            <a:off x="1371600" y="3581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恢复旧Prompt；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D27E49E-2399-4E4E-95C8-0F4F73BAFE1A}"/>
              </a:ext>
            </a:extLst>
          </p:cNvPr>
          <p:cNvSpPr>
            <a:spLocks noGrp="1"/>
          </p:cNvSpPr>
          <p:nvPr/>
        </p:nvSpPr>
        <p:spPr>
          <a:xfrm>
            <a:off x="876300" y="3990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EB38EB-22CE-469B-9865-2815F6C94C6F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恢复旧知识库；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F23680D-0B70-4A37-A9D6-7E943356D4A9}"/>
              </a:ext>
            </a:extLst>
          </p:cNvPr>
          <p:cNvSpPr>
            <a:spLocks noGrp="1"/>
          </p:cNvSpPr>
          <p:nvPr/>
        </p:nvSpPr>
        <p:spPr>
          <a:xfrm>
            <a:off x="876300" y="4391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863B3B3-3642-41E3-B187-451F4EF245C6}"/>
              </a:ext>
            </a:extLst>
          </p:cNvPr>
          <p:cNvSpPr>
            <a:spLocks noGrp="1"/>
          </p:cNvSpPr>
          <p:nvPr/>
        </p:nvSpPr>
        <p:spPr>
          <a:xfrm>
            <a:off x="1371600" y="4381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关闭新工作流；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92CCFBF-FDAE-410E-9851-062AD0B5C5A0}"/>
              </a:ext>
            </a:extLst>
          </p:cNvPr>
          <p:cNvSpPr>
            <a:spLocks noGrp="1"/>
          </p:cNvSpPr>
          <p:nvPr/>
        </p:nvSpPr>
        <p:spPr>
          <a:xfrm>
            <a:off x="876300" y="4791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9C7FC85-8E8B-48D7-858F-4A5C2E00636B}"/>
              </a:ext>
            </a:extLst>
          </p:cNvPr>
          <p:cNvSpPr>
            <a:spLocks noGrp="1"/>
          </p:cNvSpPr>
          <p:nvPr/>
        </p:nvSpPr>
        <p:spPr>
          <a:xfrm>
            <a:off x="1371600" y="4781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暂停某类高风险问题；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D2F3E1F-3E15-40AE-AFA5-80A9C2EC6CF9}"/>
              </a:ext>
            </a:extLst>
          </p:cNvPr>
          <p:cNvSpPr>
            <a:spLocks noGrp="1"/>
          </p:cNvSpPr>
          <p:nvPr/>
        </p:nvSpPr>
        <p:spPr>
          <a:xfrm>
            <a:off x="876300" y="51911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9866E61-3393-415D-AE46-A224FC4368CA}"/>
              </a:ext>
            </a:extLst>
          </p:cNvPr>
          <p:cNvSpPr>
            <a:spLocks noGrp="1"/>
          </p:cNvSpPr>
          <p:nvPr/>
        </p:nvSpPr>
        <p:spPr>
          <a:xfrm>
            <a:off x="1371600" y="51816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增加转人工；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097F90E-7E5C-4788-ACD1-BBA27825592E}"/>
              </a:ext>
            </a:extLst>
          </p:cNvPr>
          <p:cNvSpPr>
            <a:spLocks noGrp="1"/>
          </p:cNvSpPr>
          <p:nvPr/>
        </p:nvSpPr>
        <p:spPr>
          <a:xfrm>
            <a:off x="876300" y="55911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47AD8D6-261C-4C1B-9EAE-0FE54AA5A90D}"/>
              </a:ext>
            </a:extLst>
          </p:cNvPr>
          <p:cNvSpPr>
            <a:spLocks noGrp="1"/>
          </p:cNvSpPr>
          <p:nvPr/>
        </p:nvSpPr>
        <p:spPr>
          <a:xfrm>
            <a:off x="1371600" y="55816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将新功能从全量改回灰度。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0997899-31A5-4F8F-AF3E-173B5965A546}"/>
              </a:ext>
            </a:extLst>
          </p:cNvPr>
          <p:cNvSpPr>
            <a:spLocks noGrp="1"/>
          </p:cNvSpPr>
          <p:nvPr/>
        </p:nvSpPr>
        <p:spPr>
          <a:xfrm>
            <a:off x="838200" y="5953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因此，版本管理不能只记录“改了什么”，还要保存可以恢复的历史配置。</a:t>
            </a:r>
          </a:p>
        </p:txBody>
      </p:sp>
    </p:spTree>
    <p:extLst>
      <p:ext uri="{BB962C8B-B14F-4D97-AF65-F5344CB8AC3E}">
        <p14:creationId xmlns:p14="http://schemas.microsoft.com/office/powerpoint/2010/main" val="17054824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E5E49D76-5B0D-4924-994C-6E030B04A366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C2DC55C-F82B-4B33-A031-B019F8B2942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510BBAA-BEF9-4AD0-93D4-6DA6184B6EE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706623-EE34-4E1A-BB8D-DAC83323AA3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16981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FF45F8-9AD1-47ED-B5B7-EE57B96C2DE3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持续评测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99EBEB6-588E-419D-BD8C-A823886A5DE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2AE8774-0463-4999-AF8A-01E291B65342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比较成熟的团队会把评测加入产品研发流程。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3C1D51-F564-4144-843F-420C63704A4B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例如每次发生以下变化时自动触发回归：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E3AA97-B575-4ECB-99A9-1F1F52CA737C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24A4F76-79BB-4367-9875-A83161CA55AE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修改Prompt；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502FA44-64DC-4DE3-B226-30EF1EBB517C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AC2F119-3B3E-47D7-BCCB-8797EC5350C9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更换模型；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0B6AB4D-89E8-440A-B666-F18D0219B2AF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EB9CE48-AC31-44BE-9D66-E2E750F9A7F2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更新知识库；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59DBDF-F631-4C83-9EBB-2F82C04892C5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105054E-EC78-4818-AFA9-6A35B05337C0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修改检索参数；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B445994-B187-4375-A44E-FF33560354B4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1C0367-4981-4910-9BB2-7E8AD3A6C37E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增加工具；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0A1CA1-E6E2-4FAC-B77B-07A26AE4EB76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05B1DC9-DF10-476D-B48A-399B421A6C75}"/>
              </a:ext>
            </a:extLst>
          </p:cNvPr>
          <p:cNvSpPr>
            <a:spLocks noGrp="1"/>
          </p:cNvSpPr>
          <p:nvPr/>
        </p:nvSpPr>
        <p:spPr>
          <a:xfrm>
            <a:off x="1371600" y="4505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调整工作流；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3DEEC44-4594-4ED7-934F-32A2B8C97DFC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99FD84D-732F-473C-A081-D387BBC4C083}"/>
              </a:ext>
            </a:extLst>
          </p:cNvPr>
          <p:cNvSpPr>
            <a:spLocks noGrp="1"/>
          </p:cNvSpPr>
          <p:nvPr/>
        </p:nvSpPr>
        <p:spPr>
          <a:xfrm>
            <a:off x="1371600" y="4905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发布新版本。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384E6B4-0DF4-4545-B025-05AED9DE375C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完整流程可以是：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BF56E82-3CAD-4F16-B026-91458BA3E424}"/>
              </a:ext>
            </a:extLst>
          </p:cNvPr>
          <p:cNvSpPr>
            <a:spLocks noGrp="1"/>
          </p:cNvSpPr>
          <p:nvPr/>
        </p:nvSpPr>
        <p:spPr>
          <a:xfrm>
            <a:off x="838200" y="5657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提交修改 → 自动运行核心评测集 → 检查门槛 → 人工复核高风险问题 → 灰度上线 → 线上监控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142E1B7-75E9-4477-858D-1988CBEFB59C}"/>
              </a:ext>
            </a:extLst>
          </p:cNvPr>
          <p:cNvSpPr>
            <a:spLocks noGrp="1"/>
          </p:cNvSpPr>
          <p:nvPr/>
        </p:nvSpPr>
        <p:spPr>
          <a:xfrm>
            <a:off x="838200" y="6038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这样评测就不再是发布前临时做一次，而成为持续运行的质量机制。</a:t>
            </a:r>
          </a:p>
        </p:txBody>
      </p:sp>
    </p:spTree>
    <p:extLst>
      <p:ext uri="{BB962C8B-B14F-4D97-AF65-F5344CB8AC3E}">
        <p14:creationId xmlns:p14="http://schemas.microsoft.com/office/powerpoint/2010/main" val="33513865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391D998E-FE33-464D-A41E-FBD3277224C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REGRESSION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09B6D49-3B6B-4095-9539-C3C492557BEC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396619-16DB-442D-8157-557B46E6FA2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8BF9FBB-44B2-4CCD-B2F0-B7433A538C9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22936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A0D7B6-8D40-4A10-A16B-709EB04C0038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第七部分总结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DCCD8DD-A236-4B30-A2EF-C2BEBFBF736A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A0FF08A-138A-4896-98E7-271B9317A290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回归测试与版本管理要保证：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A219E6-2556-40BD-855D-F472066DF028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2A4346E-D53F-4CB9-BF7C-DEE5B46096A7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原Bad Case已经修复。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5B7D0D-B07A-4D47-9B4A-827C2577B278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616E77C-296B-444A-AB36-734BD6AF25C4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同类问题得到覆盖。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542ECF-F222-4322-8EDE-60E274C43A44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3368DB3-7C44-43D5-A940-4E2F60B2F019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原本正确的核心能力没有退化。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E6F571E-A6DD-41F1-8175-9985601621CE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0A7E68-7B8B-47E1-86D1-E41CE4B8FE11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被测产品、评测集和Judge版本均可追踪。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F3D4547-BABD-49B9-9D95-CFCE6BDF7612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B774EDB-A0D7-4AB8-8682-AE22FF2B740F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重要问题进行重复运行。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E6C82CC-9E2A-4EF0-967C-00859871AB19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C86DC93-D4F2-49BB-A49C-9823C688E8E5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新版本达到发布门槛后再灰度上线。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F8CDE35-D949-4308-851C-3E4F32CF7662}"/>
              </a:ext>
            </a:extLst>
          </p:cNvPr>
          <p:cNvSpPr>
            <a:spLocks noGrp="1"/>
          </p:cNvSpPr>
          <p:nvPr/>
        </p:nvSpPr>
        <p:spPr>
          <a:xfrm>
            <a:off x="876300" y="4533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BFE65CA-C387-4FDB-9B1C-2DADABF763A0}"/>
              </a:ext>
            </a:extLst>
          </p:cNvPr>
          <p:cNvSpPr>
            <a:spLocks noGrp="1"/>
          </p:cNvSpPr>
          <p:nvPr/>
        </p:nvSpPr>
        <p:spPr>
          <a:xfrm>
            <a:off x="1371600" y="4524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出现严重问题时能够快速回滚。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8AB4B86-6881-4335-A36B-D40985090DF6}"/>
              </a:ext>
            </a:extLst>
          </p:cNvPr>
          <p:cNvSpPr>
            <a:spLocks noGrp="1"/>
          </p:cNvSpPr>
          <p:nvPr/>
        </p:nvSpPr>
        <p:spPr>
          <a:xfrm>
            <a:off x="838200" y="4895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最重要的原则是：</a:t>
            </a: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FE5E3885-31D3-45E7-BACB-0F3E4CE54120}"/>
              </a:ext>
            </a:extLst>
          </p:cNvPr>
          <p:cNvSpPr>
            <a:spLocks noGrp="1"/>
          </p:cNvSpPr>
          <p:nvPr/>
        </p:nvSpPr>
        <p:spPr>
          <a:xfrm>
            <a:off x="819150" y="52768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D6C81EC-F59B-44EF-85B3-1AB06464635E}"/>
              </a:ext>
            </a:extLst>
          </p:cNvPr>
          <p:cNvSpPr>
            <a:spLocks noGrp="1"/>
          </p:cNvSpPr>
          <p:nvPr/>
        </p:nvSpPr>
        <p:spPr>
          <a:xfrm>
            <a:off x="819150" y="52768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BC69153-0675-48E4-B25B-15D95D4F431F}"/>
              </a:ext>
            </a:extLst>
          </p:cNvPr>
          <p:cNvSpPr>
            <a:spLocks noGrp="1"/>
          </p:cNvSpPr>
          <p:nvPr/>
        </p:nvSpPr>
        <p:spPr>
          <a:xfrm>
            <a:off x="1104900" y="54197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新版本不仅要证明“修好了”，还要证明“没有把其他地方改坏”。</a:t>
            </a:r>
          </a:p>
        </p:txBody>
      </p:sp>
    </p:spTree>
    <p:extLst>
      <p:ext uri="{BB962C8B-B14F-4D97-AF65-F5344CB8AC3E}">
        <p14:creationId xmlns:p14="http://schemas.microsoft.com/office/powerpoint/2010/main" val="1092305585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5BFF7229-804C-4BC0-9A54-50748DA477AA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2476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850" b="1">
                <a:solidFill>
                  <a:srgbClr val="36D6C2"/>
                </a:solidFill>
              </a:defRPr>
            </a:pPr>
            <a:r>
              <a:rPr sz="8850" b="1">
                <a:solidFill>
                  <a:srgbClr val="36D6C2"/>
                </a:solidFill>
              </a:rPr>
              <a:t>08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C953F6-DE5B-45C0-A132-47605C9F66AC}"/>
              </a:ext>
            </a:extLst>
          </p:cNvPr>
          <p:cNvSpPr>
            <a:spLocks noGrp="1"/>
          </p:cNvSpPr>
          <p:nvPr/>
        </p:nvSpPr>
        <p:spPr>
          <a:xfrm>
            <a:off x="704850" y="2857500"/>
            <a:ext cx="952500" cy="476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3E71824-ECC2-4B8C-ACD5-4719E4490314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1047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数据反馈与产品迭代闭环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E3BE691-FC29-417C-B8AE-145E03E39AB2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914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按照讲稿结构展开概念、方法与完整示例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A44578F-1C28-430E-B72C-117DB4FD3FF7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68A3074-E45E-4ACB-A049-14E01CA9E54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156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262FA19-C9F8-4461-9AE7-54A5AABCAD2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46939A7-2CE1-4F9F-BAC1-46F7A9FDF69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28890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4848106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F79FEEA9-BC58-4546-ACD6-71C8AE315EC2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134004-A762-4392-B752-EA97D75B5F8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D22544C-FBE2-42C4-B610-C0CA5E91D12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AA3AD24-82F9-4016-9A76-5271137D78B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34844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564440F-D031-448A-B0E2-8950DEA75319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第八部分：数据反馈与产品迭代闭环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23A8F76-7AD3-48CC-83AD-922E99A04FAA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EDF614D-D3D8-4105-852C-9B3CD440F354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前面我们通过评测和线上使用发现Bad Case，并完成问题归因。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9081F7-48E4-411D-B914-CBAB682AFA4C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下一步是：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BB8C7127-CE75-4524-93AA-D93209963CC1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582E35A-18A3-47A3-810D-E9BEC6AD39F9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9E315DD-C509-43B5-A3BC-D9E706997D91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怎样让这些真实反馈稳定地进入下一次产品改进，而不是处理完一个问题就结束？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8ABA335-4775-4F53-A57C-67D9FD386BBC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这就是数据反馈闭环。</a:t>
            </a:r>
          </a:p>
        </p:txBody>
      </p:sp>
    </p:spTree>
    <p:extLst>
      <p:ext uri="{BB962C8B-B14F-4D97-AF65-F5344CB8AC3E}">
        <p14:creationId xmlns:p14="http://schemas.microsoft.com/office/powerpoint/2010/main" val="168695264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268C41DA-8676-4914-A774-DD3AEBE8F16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519AAED-5292-422A-A027-04E76A25CA0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443233-AA8C-4FC2-BD41-3C95790E1CA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E4287E0-455D-442F-88CF-E873CEFA09A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40799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438E564-3DF5-49CB-B69E-397109FF02A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数据反馈闭环的基本定义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A4AE182-F373-49BA-A106-1064A332AB2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815FDA-B6DD-4A08-A66F-0DC6FCAF62BC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一个完整的闭环通常包括：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6874381-D28E-47C0-AFD2-BEC34DBA3F56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数据采集 → 清洗与标注 → 问题归因 → 方案设计 → 产品修改 → 评测验证 → 上线观察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4C6144C-D356-4BBC-B31D-771DD8BD7965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“闭环”的关键在于最后还会回到新的数据采集。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B10A560-657F-4FE8-AF6D-E37F7C0F57DE}"/>
              </a:ext>
            </a:extLst>
          </p:cNvPr>
          <p:cNvSpPr>
            <a:spLocks noGrp="1"/>
          </p:cNvSpPr>
          <p:nvPr/>
        </p:nvSpPr>
        <p:spPr>
          <a:xfrm>
            <a:off x="838200" y="2857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144D743-F066-4E28-BB3B-5BFCAB9FC80F}"/>
              </a:ext>
            </a:extLst>
          </p:cNvPr>
          <p:cNvSpPr>
            <a:spLocks noGrp="1"/>
          </p:cNvSpPr>
          <p:nvPr/>
        </p:nvSpPr>
        <p:spPr>
          <a:xfrm>
            <a:off x="876300" y="3276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13AF7AB-3AB5-4913-A471-FCDA33828E54}"/>
              </a:ext>
            </a:extLst>
          </p:cNvPr>
          <p:cNvSpPr>
            <a:spLocks noGrp="1"/>
          </p:cNvSpPr>
          <p:nvPr/>
        </p:nvSpPr>
        <p:spPr>
          <a:xfrm>
            <a:off x="1371600" y="3267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用户反馈回答错误；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60ED08-08BB-4B51-9B47-A2F141097B70}"/>
              </a:ext>
            </a:extLst>
          </p:cNvPr>
          <p:cNvSpPr>
            <a:spLocks noGrp="1"/>
          </p:cNvSpPr>
          <p:nvPr/>
        </p:nvSpPr>
        <p:spPr>
          <a:xfrm>
            <a:off x="876300" y="3676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41718F4-92BC-4E60-960B-F8D433BE6F3A}"/>
              </a:ext>
            </a:extLst>
          </p:cNvPr>
          <p:cNvSpPr>
            <a:spLocks noGrp="1"/>
          </p:cNvSpPr>
          <p:nvPr/>
        </p:nvSpPr>
        <p:spPr>
          <a:xfrm>
            <a:off x="1371600" y="3667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团队确认是知识库使用了旧制度；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F229D9F-FE22-4BA0-8122-7F79B53759ED}"/>
              </a:ext>
            </a:extLst>
          </p:cNvPr>
          <p:cNvSpPr>
            <a:spLocks noGrp="1"/>
          </p:cNvSpPr>
          <p:nvPr/>
        </p:nvSpPr>
        <p:spPr>
          <a:xfrm>
            <a:off x="876300" y="4076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107C018-AAFD-451A-84DA-AF5AFC1E99A6}"/>
              </a:ext>
            </a:extLst>
          </p:cNvPr>
          <p:cNvSpPr>
            <a:spLocks noGrp="1"/>
          </p:cNvSpPr>
          <p:nvPr/>
        </p:nvSpPr>
        <p:spPr>
          <a:xfrm>
            <a:off x="1371600" y="4067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更新知识库和检索规则；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E3B8C01-ED37-431D-9A38-26D751DB52BC}"/>
              </a:ext>
            </a:extLst>
          </p:cNvPr>
          <p:cNvSpPr>
            <a:spLocks noGrp="1"/>
          </p:cNvSpPr>
          <p:nvPr/>
        </p:nvSpPr>
        <p:spPr>
          <a:xfrm>
            <a:off x="876300" y="4476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DA757F8-0795-407C-88E1-16480B90B8CB}"/>
              </a:ext>
            </a:extLst>
          </p:cNvPr>
          <p:cNvSpPr>
            <a:spLocks noGrp="1"/>
          </p:cNvSpPr>
          <p:nvPr/>
        </p:nvSpPr>
        <p:spPr>
          <a:xfrm>
            <a:off x="1371600" y="4467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重新运行评测集；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8367D57-3CFE-4233-A335-75E2A715D52B}"/>
              </a:ext>
            </a:extLst>
          </p:cNvPr>
          <p:cNvSpPr>
            <a:spLocks noGrp="1"/>
          </p:cNvSpPr>
          <p:nvPr/>
        </p:nvSpPr>
        <p:spPr>
          <a:xfrm>
            <a:off x="876300" y="4876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797196C-F48C-46AB-889A-B1D69F2DED86}"/>
              </a:ext>
            </a:extLst>
          </p:cNvPr>
          <p:cNvSpPr>
            <a:spLocks noGrp="1"/>
          </p:cNvSpPr>
          <p:nvPr/>
        </p:nvSpPr>
        <p:spPr>
          <a:xfrm>
            <a:off x="1371600" y="4867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新版本灰度上线；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4B16B6F-1F62-4DF3-9854-95391250D7CE}"/>
              </a:ext>
            </a:extLst>
          </p:cNvPr>
          <p:cNvSpPr>
            <a:spLocks noGrp="1"/>
          </p:cNvSpPr>
          <p:nvPr/>
        </p:nvSpPr>
        <p:spPr>
          <a:xfrm>
            <a:off x="876300" y="5276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CAC59E0-B9F6-441F-A3CA-C12ECC0B8BDF}"/>
              </a:ext>
            </a:extLst>
          </p:cNvPr>
          <p:cNvSpPr>
            <a:spLocks noGrp="1"/>
          </p:cNvSpPr>
          <p:nvPr/>
        </p:nvSpPr>
        <p:spPr>
          <a:xfrm>
            <a:off x="1371600" y="5267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继续观察类似问题是否减少；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722EE0D-B3DD-43AA-9202-48B24C52324B}"/>
              </a:ext>
            </a:extLst>
          </p:cNvPr>
          <p:cNvSpPr>
            <a:spLocks noGrp="1"/>
          </p:cNvSpPr>
          <p:nvPr/>
        </p:nvSpPr>
        <p:spPr>
          <a:xfrm>
            <a:off x="876300" y="5676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6BCDB12-B41F-4DD0-AA12-82976BB975D4}"/>
              </a:ext>
            </a:extLst>
          </p:cNvPr>
          <p:cNvSpPr>
            <a:spLocks noGrp="1"/>
          </p:cNvSpPr>
          <p:nvPr/>
        </p:nvSpPr>
        <p:spPr>
          <a:xfrm>
            <a:off x="1371600" y="5667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新问题再次进入问题池。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4029A8F-DC6C-4640-8252-5775003F016C}"/>
              </a:ext>
            </a:extLst>
          </p:cNvPr>
          <p:cNvSpPr>
            <a:spLocks noGrp="1"/>
          </p:cNvSpPr>
          <p:nvPr/>
        </p:nvSpPr>
        <p:spPr>
          <a:xfrm>
            <a:off x="838200" y="6038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如果只完成了“更新知识库”，没有验证和持续观察，就还没有真正形成闭环。</a:t>
            </a:r>
          </a:p>
        </p:txBody>
      </p:sp>
    </p:spTree>
    <p:extLst>
      <p:ext uri="{BB962C8B-B14F-4D97-AF65-F5344CB8AC3E}">
        <p14:creationId xmlns:p14="http://schemas.microsoft.com/office/powerpoint/2010/main" val="374252397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3EDF3EC4-5CF6-4A59-8A83-3EB0A78657C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BF9DBF7-96A6-4225-AE9E-08F942E9E8F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E16C852-3CA8-47C0-A832-FB102D750BB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2632AC8-FEEB-4B84-8DAC-01BD9975950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46753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354AB84-75BB-42AD-B5E1-DA2081ABCEA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AI产品数据的四类来源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45B31F3-8045-4795-BF5F-002B0123045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3B7298-433F-4C2B-A51E-274C8E099E53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AI产品可以利用的数据通常来自四个入口。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8B5189-DA28-440F-AE77-5FB7D16BD718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业务原始数据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6AF309B-6220-4BAD-9E44-6414648B486E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A9E54B0-7CE4-47B7-B51A-9E1669F4AED6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产品原本就依赖的业务资料，例如：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1373E71-7F9B-4852-9549-6DECD463B6D9}"/>
              </a:ext>
            </a:extLst>
          </p:cNvPr>
          <p:cNvSpPr>
            <a:spLocks noGrp="1"/>
          </p:cNvSpPr>
          <p:nvPr/>
        </p:nvSpPr>
        <p:spPr>
          <a:xfrm>
            <a:off x="876300" y="2943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77A505E-C1D0-4DEA-896C-469CD29AD2D9}"/>
              </a:ext>
            </a:extLst>
          </p:cNvPr>
          <p:cNvSpPr>
            <a:spLocks noGrp="1"/>
          </p:cNvSpPr>
          <p:nvPr/>
        </p:nvSpPr>
        <p:spPr>
          <a:xfrm>
            <a:off x="1371600" y="2933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企业制度；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B28D64D-FF63-4BE0-A80A-BA8DBA3B7373}"/>
              </a:ext>
            </a:extLst>
          </p:cNvPr>
          <p:cNvSpPr>
            <a:spLocks noGrp="1"/>
          </p:cNvSpPr>
          <p:nvPr/>
        </p:nvSpPr>
        <p:spPr>
          <a:xfrm>
            <a:off x="876300" y="3343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8C2E869-0B8B-4D6C-A984-49F1EBAB7DCD}"/>
              </a:ext>
            </a:extLst>
          </p:cNvPr>
          <p:cNvSpPr>
            <a:spLocks noGrp="1"/>
          </p:cNvSpPr>
          <p:nvPr/>
        </p:nvSpPr>
        <p:spPr>
          <a:xfrm>
            <a:off x="1371600" y="3333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商品信息；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DC8A8D8-05C5-43B6-B510-2C1A22A1F246}"/>
              </a:ext>
            </a:extLst>
          </p:cNvPr>
          <p:cNvSpPr>
            <a:spLocks noGrp="1"/>
          </p:cNvSpPr>
          <p:nvPr/>
        </p:nvSpPr>
        <p:spPr>
          <a:xfrm>
            <a:off x="838200" y="37052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-客服知识库；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3192409-D12B-48F4-A854-9469DC5AE610}"/>
              </a:ext>
            </a:extLst>
          </p:cNvPr>
          <p:cNvSpPr>
            <a:spLocks noGrp="1"/>
          </p:cNvSpPr>
          <p:nvPr/>
        </p:nvSpPr>
        <p:spPr>
          <a:xfrm>
            <a:off x="876300" y="4124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49D964C-A43E-4A99-A927-C3E011062064}"/>
              </a:ext>
            </a:extLst>
          </p:cNvPr>
          <p:cNvSpPr>
            <a:spLocks noGrp="1"/>
          </p:cNvSpPr>
          <p:nvPr/>
        </p:nvSpPr>
        <p:spPr>
          <a:xfrm>
            <a:off x="1371600" y="4114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订单信息；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8346E24-BAB6-4AFC-8CE9-C44EF46522A3}"/>
              </a:ext>
            </a:extLst>
          </p:cNvPr>
          <p:cNvSpPr>
            <a:spLocks noGrp="1"/>
          </p:cNvSpPr>
          <p:nvPr/>
        </p:nvSpPr>
        <p:spPr>
          <a:xfrm>
            <a:off x="876300" y="4524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C296705-F2FA-4525-9964-A5057B1441B8}"/>
              </a:ext>
            </a:extLst>
          </p:cNvPr>
          <p:cNvSpPr>
            <a:spLocks noGrp="1"/>
          </p:cNvSpPr>
          <p:nvPr/>
        </p:nvSpPr>
        <p:spPr>
          <a:xfrm>
            <a:off x="1371600" y="4514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用户手册；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7446EDD-A635-4110-A100-845B8DC46DA8}"/>
              </a:ext>
            </a:extLst>
          </p:cNvPr>
          <p:cNvSpPr>
            <a:spLocks noGrp="1"/>
          </p:cNvSpPr>
          <p:nvPr/>
        </p:nvSpPr>
        <p:spPr>
          <a:xfrm>
            <a:off x="876300" y="4924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ACF55E4-F6B6-4FBA-A410-BA0D6A3F1176}"/>
              </a:ext>
            </a:extLst>
          </p:cNvPr>
          <p:cNvSpPr>
            <a:spLocks noGrp="1"/>
          </p:cNvSpPr>
          <p:nvPr/>
        </p:nvSpPr>
        <p:spPr>
          <a:xfrm>
            <a:off x="1371600" y="4914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产品目录；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1249DA6-725A-412F-B324-CB5D6E32C569}"/>
              </a:ext>
            </a:extLst>
          </p:cNvPr>
          <p:cNvSpPr>
            <a:spLocks noGrp="1"/>
          </p:cNvSpPr>
          <p:nvPr/>
        </p:nvSpPr>
        <p:spPr>
          <a:xfrm>
            <a:off x="876300" y="5324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6DBE411-DE54-4B77-BEBD-B61C43C4719D}"/>
              </a:ext>
            </a:extLst>
          </p:cNvPr>
          <p:cNvSpPr>
            <a:spLocks noGrp="1"/>
          </p:cNvSpPr>
          <p:nvPr/>
        </p:nvSpPr>
        <p:spPr>
          <a:xfrm>
            <a:off x="1371600" y="5314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历史工单；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070FF44-F15F-4942-A515-0FCFD095AA3B}"/>
              </a:ext>
            </a:extLst>
          </p:cNvPr>
          <p:cNvSpPr>
            <a:spLocks noGrp="1"/>
          </p:cNvSpPr>
          <p:nvPr/>
        </p:nvSpPr>
        <p:spPr>
          <a:xfrm>
            <a:off x="876300" y="5724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5BEA38D-06AB-40CE-9E69-A1A42586B5C1}"/>
              </a:ext>
            </a:extLst>
          </p:cNvPr>
          <p:cNvSpPr>
            <a:spLocks noGrp="1"/>
          </p:cNvSpPr>
          <p:nvPr/>
        </p:nvSpPr>
        <p:spPr>
          <a:xfrm>
            <a:off x="1371600" y="5715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业务规则。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F0B6071-71D0-4909-8E38-4C5AC728B8C6}"/>
              </a:ext>
            </a:extLst>
          </p:cNvPr>
          <p:cNvSpPr>
            <a:spLocks noGrp="1"/>
          </p:cNvSpPr>
          <p:nvPr/>
        </p:nvSpPr>
        <p:spPr>
          <a:xfrm>
            <a:off x="838200" y="60864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这些数据决定AI“可以依据什么回答”。</a:t>
            </a:r>
          </a:p>
        </p:txBody>
      </p:sp>
    </p:spTree>
    <p:extLst>
      <p:ext uri="{BB962C8B-B14F-4D97-AF65-F5344CB8AC3E}">
        <p14:creationId xmlns:p14="http://schemas.microsoft.com/office/powerpoint/2010/main" val="183910943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21A42E2E-A94B-45F0-942A-A4E905F0D4E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6F3BAAF-3CAE-4ED6-AA72-A1915AF71ECC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A9311AD-1A34-41E3-917E-D2C987BE447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A98129A-307E-4C44-8419-9BAFB10D9B3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52708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E29DCEB-A1C2-4849-B28B-9EC06012DD8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AI产品数据的四类来源（续）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7605F27-F809-4F51-B18B-405E135FFF40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0EF513-AA8D-4E15-B2D9-C2B55A144235}"/>
              </a:ext>
            </a:extLst>
          </p:cNvPr>
          <p:cNvSpPr>
            <a:spLocks noGrp="1"/>
          </p:cNvSpPr>
          <p:nvPr/>
        </p:nvSpPr>
        <p:spPr>
          <a:xfrm>
            <a:off x="838200" y="1724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用户输入与AI输出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223AA10-573C-46AA-8F9F-F6222EECD605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E6DF6CF-D3C1-4CE7-A393-99DFE92F31CE}"/>
              </a:ext>
            </a:extLst>
          </p:cNvPr>
          <p:cNvSpPr>
            <a:spLocks noGrp="1"/>
          </p:cNvSpPr>
          <p:nvPr/>
        </p:nvSpPr>
        <p:spPr>
          <a:xfrm>
            <a:off x="838200" y="2143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系统运行过程中形成的对话记录：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5B78B83-0956-4562-B8D3-D951F2060E15}"/>
              </a:ext>
            </a:extLst>
          </p:cNvPr>
          <p:cNvSpPr>
            <a:spLocks noGrp="1"/>
          </p:cNvSpPr>
          <p:nvPr/>
        </p:nvSpPr>
        <p:spPr>
          <a:xfrm>
            <a:off x="876300" y="2562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B12405-2C08-499E-8B84-6496AA48F5FD}"/>
              </a:ext>
            </a:extLst>
          </p:cNvPr>
          <p:cNvSpPr>
            <a:spLocks noGrp="1"/>
          </p:cNvSpPr>
          <p:nvPr/>
        </p:nvSpPr>
        <p:spPr>
          <a:xfrm>
            <a:off x="1371600" y="2552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用户问题；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59B0EE-7489-48E9-85FC-F3720F937936}"/>
              </a:ext>
            </a:extLst>
          </p:cNvPr>
          <p:cNvSpPr>
            <a:spLocks noGrp="1"/>
          </p:cNvSpPr>
          <p:nvPr/>
        </p:nvSpPr>
        <p:spPr>
          <a:xfrm>
            <a:off x="876300" y="2962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ED04CEA-65F0-4344-8F58-CC66BEF16E1B}"/>
              </a:ext>
            </a:extLst>
          </p:cNvPr>
          <p:cNvSpPr>
            <a:spLocks noGrp="1"/>
          </p:cNvSpPr>
          <p:nvPr/>
        </p:nvSpPr>
        <p:spPr>
          <a:xfrm>
            <a:off x="1371600" y="2952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会话上下文；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B2088EA-FACA-48C5-9AFD-F02B9E7F4762}"/>
              </a:ext>
            </a:extLst>
          </p:cNvPr>
          <p:cNvSpPr>
            <a:spLocks noGrp="1"/>
          </p:cNvSpPr>
          <p:nvPr/>
        </p:nvSpPr>
        <p:spPr>
          <a:xfrm>
            <a:off x="876300" y="3362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8F27F7A-9998-48E8-AB1E-C0166BCF418F}"/>
              </a:ext>
            </a:extLst>
          </p:cNvPr>
          <p:cNvSpPr>
            <a:spLocks noGrp="1"/>
          </p:cNvSpPr>
          <p:nvPr/>
        </p:nvSpPr>
        <p:spPr>
          <a:xfrm>
            <a:off x="1371600" y="3352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AI回答；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B9608AB-598E-4813-AC37-45E4BDD2DEDD}"/>
              </a:ext>
            </a:extLst>
          </p:cNvPr>
          <p:cNvSpPr>
            <a:spLocks noGrp="1"/>
          </p:cNvSpPr>
          <p:nvPr/>
        </p:nvSpPr>
        <p:spPr>
          <a:xfrm>
            <a:off x="876300" y="3762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8F94B91-F9A9-49D7-BB26-0E3F032A59B2}"/>
              </a:ext>
            </a:extLst>
          </p:cNvPr>
          <p:cNvSpPr>
            <a:spLocks noGrp="1"/>
          </p:cNvSpPr>
          <p:nvPr/>
        </p:nvSpPr>
        <p:spPr>
          <a:xfrm>
            <a:off x="1371600" y="3752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检索内容；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6E9E8A5-FE5C-4E53-A15F-098BEB058674}"/>
              </a:ext>
            </a:extLst>
          </p:cNvPr>
          <p:cNvSpPr>
            <a:spLocks noGrp="1"/>
          </p:cNvSpPr>
          <p:nvPr/>
        </p:nvSpPr>
        <p:spPr>
          <a:xfrm>
            <a:off x="876300" y="4162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0145E4D-14CF-433B-90D3-17B1210E171A}"/>
              </a:ext>
            </a:extLst>
          </p:cNvPr>
          <p:cNvSpPr>
            <a:spLocks noGrp="1"/>
          </p:cNvSpPr>
          <p:nvPr/>
        </p:nvSpPr>
        <p:spPr>
          <a:xfrm>
            <a:off x="1371600" y="4152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工具调用；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A250CFE-79CC-4194-A583-A4A88A944B00}"/>
              </a:ext>
            </a:extLst>
          </p:cNvPr>
          <p:cNvSpPr>
            <a:spLocks noGrp="1"/>
          </p:cNvSpPr>
          <p:nvPr/>
        </p:nvSpPr>
        <p:spPr>
          <a:xfrm>
            <a:off x="876300" y="4562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3648003-7F65-4774-B6F2-1E1618247917}"/>
              </a:ext>
            </a:extLst>
          </p:cNvPr>
          <p:cNvSpPr>
            <a:spLocks noGrp="1"/>
          </p:cNvSpPr>
          <p:nvPr/>
        </p:nvSpPr>
        <p:spPr>
          <a:xfrm>
            <a:off x="1371600" y="4552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响应时间；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211DDA2-0DED-45AE-8E0B-1E8294A2DE98}"/>
              </a:ext>
            </a:extLst>
          </p:cNvPr>
          <p:cNvSpPr>
            <a:spLocks noGrp="1"/>
          </p:cNvSpPr>
          <p:nvPr/>
        </p:nvSpPr>
        <p:spPr>
          <a:xfrm>
            <a:off x="876300" y="4962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D5736F8-56C7-44B3-B99D-F9BDC3A8A85C}"/>
              </a:ext>
            </a:extLst>
          </p:cNvPr>
          <p:cNvSpPr>
            <a:spLocks noGrp="1"/>
          </p:cNvSpPr>
          <p:nvPr/>
        </p:nvSpPr>
        <p:spPr>
          <a:xfrm>
            <a:off x="1371600" y="4953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模型和Prompt版本。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1A66B9E-7B37-4AC6-A949-8DD893B98F43}"/>
              </a:ext>
            </a:extLst>
          </p:cNvPr>
          <p:cNvSpPr>
            <a:spLocks noGrp="1"/>
          </p:cNvSpPr>
          <p:nvPr/>
        </p:nvSpPr>
        <p:spPr>
          <a:xfrm>
            <a:off x="838200" y="53244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这些数据可以帮助团队还原问题发生的过程。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61900AA-6840-42C0-AE7C-3B735B9CB637}"/>
              </a:ext>
            </a:extLst>
          </p:cNvPr>
          <p:cNvSpPr>
            <a:spLocks noGrp="1"/>
          </p:cNvSpPr>
          <p:nvPr/>
        </p:nvSpPr>
        <p:spPr>
          <a:xfrm>
            <a:off x="838200" y="57150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显性反馈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FA38CDC-ECAF-44F4-9656-5AFDA1F74599}"/>
              </a:ext>
            </a:extLst>
          </p:cNvPr>
          <p:cNvSpPr>
            <a:spLocks noGrp="1"/>
          </p:cNvSpPr>
          <p:nvPr/>
        </p:nvSpPr>
        <p:spPr>
          <a:xfrm>
            <a:off x="838200" y="60388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967427A-EB2D-4D11-AAA9-72357CFEA680}"/>
              </a:ext>
            </a:extLst>
          </p:cNvPr>
          <p:cNvSpPr>
            <a:spLocks noGrp="1"/>
          </p:cNvSpPr>
          <p:nvPr/>
        </p:nvSpPr>
        <p:spPr>
          <a:xfrm>
            <a:off x="838200" y="61341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用户主动表达的评价：</a:t>
            </a:r>
          </a:p>
        </p:txBody>
      </p:sp>
    </p:spTree>
    <p:extLst>
      <p:ext uri="{BB962C8B-B14F-4D97-AF65-F5344CB8AC3E}">
        <p14:creationId xmlns:p14="http://schemas.microsoft.com/office/powerpoint/2010/main" val="1739653943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9BBCB24A-A19C-4A04-90DE-F8605B162AA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94BCD0-39B7-416F-A4EE-938ADF5E6BD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1AFEC08-F164-4D79-8CC1-C141C6C0993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B14760-2F61-429C-9058-BDBF15D3367E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58662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A7B6078-6090-41DC-82D2-63B5DB89988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AI产品数据的四类来源（续）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D17662F-4F8C-43AC-8CDA-345D40E3C392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7CFAF40-AB40-42C2-A7F8-1A4FDC5FCFC1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A0173B-800C-4558-A88F-61FCCB2A6076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点赞；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D082C48-1E93-42A5-8850-3EB14216AB92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B859A2-32A7-4826-8ECB-9285DE3E79A3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点踩；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462623-CD4B-46C4-8D9B-F9B14CD09CA1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32E55B5-C377-40FC-8383-05720EF8B139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评分；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41A8D54-1A8D-4089-9173-AA51F7700D8A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3C024A8-8794-4E94-B1F1-D1F53669157F}"/>
              </a:ext>
            </a:extLst>
          </p:cNvPr>
          <p:cNvSpPr>
            <a:spLocks noGrp="1"/>
          </p:cNvSpPr>
          <p:nvPr/>
        </p:nvSpPr>
        <p:spPr>
          <a:xfrm>
            <a:off x="1371600" y="2943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原因选择；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792FD40-3ABE-42BD-A6EC-8252F1C42BBC}"/>
              </a:ext>
            </a:extLst>
          </p:cNvPr>
          <p:cNvSpPr>
            <a:spLocks noGrp="1"/>
          </p:cNvSpPr>
          <p:nvPr/>
        </p:nvSpPr>
        <p:spPr>
          <a:xfrm>
            <a:off x="876300" y="3352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4392346-520F-4891-812D-9E141463E5D5}"/>
              </a:ext>
            </a:extLst>
          </p:cNvPr>
          <p:cNvSpPr>
            <a:spLocks noGrp="1"/>
          </p:cNvSpPr>
          <p:nvPr/>
        </p:nvSpPr>
        <p:spPr>
          <a:xfrm>
            <a:off x="1371600" y="3343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文字评价；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AFEE3C9-059B-4CB9-8E26-0AAA438928E5}"/>
              </a:ext>
            </a:extLst>
          </p:cNvPr>
          <p:cNvSpPr>
            <a:spLocks noGrp="1"/>
          </p:cNvSpPr>
          <p:nvPr/>
        </p:nvSpPr>
        <p:spPr>
          <a:xfrm>
            <a:off x="876300" y="3752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05036D8-D44A-47DF-A94F-FD7578964698}"/>
              </a:ext>
            </a:extLst>
          </p:cNvPr>
          <p:cNvSpPr>
            <a:spLocks noGrp="1"/>
          </p:cNvSpPr>
          <p:nvPr/>
        </p:nvSpPr>
        <p:spPr>
          <a:xfrm>
            <a:off x="1371600" y="3743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投诉；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DDE8089-303A-451E-A49B-49E2070DF680}"/>
              </a:ext>
            </a:extLst>
          </p:cNvPr>
          <p:cNvSpPr>
            <a:spLocks noGrp="1"/>
          </p:cNvSpPr>
          <p:nvPr/>
        </p:nvSpPr>
        <p:spPr>
          <a:xfrm>
            <a:off x="876300" y="4152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C420A42-6FFD-4CA5-A3F8-F9EE5E148F51}"/>
              </a:ext>
            </a:extLst>
          </p:cNvPr>
          <p:cNvSpPr>
            <a:spLocks noGrp="1"/>
          </p:cNvSpPr>
          <p:nvPr/>
        </p:nvSpPr>
        <p:spPr>
          <a:xfrm>
            <a:off x="1371600" y="4143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人工客服备注。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8720DA3-D989-4884-A615-1EE86F77593D}"/>
              </a:ext>
            </a:extLst>
          </p:cNvPr>
          <p:cNvSpPr>
            <a:spLocks noGrp="1"/>
          </p:cNvSpPr>
          <p:nvPr/>
        </p:nvSpPr>
        <p:spPr>
          <a:xfrm>
            <a:off x="838200" y="4514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显性反馈容易理解，但数量通常有限，而且容易集中在特别满意或特别不满的用户身上。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DA42734-57FA-4A15-B436-E4A4E56DECA6}"/>
              </a:ext>
            </a:extLst>
          </p:cNvPr>
          <p:cNvSpPr>
            <a:spLocks noGrp="1"/>
          </p:cNvSpPr>
          <p:nvPr/>
        </p:nvSpPr>
        <p:spPr>
          <a:xfrm>
            <a:off x="838200" y="49053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隐性行为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432E242-917B-48CB-A8A9-AFB9A5DBA3E9}"/>
              </a:ext>
            </a:extLst>
          </p:cNvPr>
          <p:cNvSpPr>
            <a:spLocks noGrp="1"/>
          </p:cNvSpPr>
          <p:nvPr/>
        </p:nvSpPr>
        <p:spPr>
          <a:xfrm>
            <a:off x="838200" y="52292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E78C2C5-907E-465F-9440-EB0281DCA2F4}"/>
              </a:ext>
            </a:extLst>
          </p:cNvPr>
          <p:cNvSpPr>
            <a:spLocks noGrp="1"/>
          </p:cNvSpPr>
          <p:nvPr/>
        </p:nvSpPr>
        <p:spPr>
          <a:xfrm>
            <a:off x="838200" y="53244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用户没有直接评价，但行为反映了结果是否有用：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618D357-42C0-4E0E-8D00-CA6226A34F3A}"/>
              </a:ext>
            </a:extLst>
          </p:cNvPr>
          <p:cNvSpPr>
            <a:spLocks noGrp="1"/>
          </p:cNvSpPr>
          <p:nvPr/>
        </p:nvSpPr>
        <p:spPr>
          <a:xfrm>
            <a:off x="876300" y="5743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DC052E7-37E8-4755-B5B7-87FD3D377A83}"/>
              </a:ext>
            </a:extLst>
          </p:cNvPr>
          <p:cNvSpPr>
            <a:spLocks noGrp="1"/>
          </p:cNvSpPr>
          <p:nvPr/>
        </p:nvSpPr>
        <p:spPr>
          <a:xfrm>
            <a:off x="1371600" y="57340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复制；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EFA5A85-848F-48C6-9AE4-9F7FDB18C85E}"/>
              </a:ext>
            </a:extLst>
          </p:cNvPr>
          <p:cNvSpPr>
            <a:spLocks noGrp="1"/>
          </p:cNvSpPr>
          <p:nvPr/>
        </p:nvSpPr>
        <p:spPr>
          <a:xfrm>
            <a:off x="876300" y="61436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AD9E754-FBA9-4CD1-B353-82362D2336FA}"/>
              </a:ext>
            </a:extLst>
          </p:cNvPr>
          <p:cNvSpPr>
            <a:spLocks noGrp="1"/>
          </p:cNvSpPr>
          <p:nvPr/>
        </p:nvSpPr>
        <p:spPr>
          <a:xfrm>
            <a:off x="1371600" y="61341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收藏；</a:t>
            </a:r>
          </a:p>
        </p:txBody>
      </p:sp>
    </p:spTree>
    <p:extLst>
      <p:ext uri="{BB962C8B-B14F-4D97-AF65-F5344CB8AC3E}">
        <p14:creationId xmlns:p14="http://schemas.microsoft.com/office/powerpoint/2010/main" val="271464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92B261E6-4FAF-45A7-8A66-4C42CCC4B205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27F48A2-344D-476C-A42D-41191D9A4F8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3004F6F-B259-4355-8B9B-A55C8B5D897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65655F9-566B-423A-8152-15A1413AA15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64617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9BB475-48AF-48D9-A260-B4F20870DC91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AI产品数据的四类来源（续）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53BD4B9-7845-4B7A-BE9C-78108538B917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3BF205F-13E0-411D-B3AF-4CDF978A381A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98EAB9E-AF44-48D4-AB46-FF6723D49A56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分享；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94BB4D-C545-4DC8-938C-C3827C018EE3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480A878-F45E-4F20-845A-8B1C2BCE1162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导出；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AF4E08A-AF90-4D2D-9727-EBADCDD1F792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C948AB2-EFC7-4A27-BF30-B2A86A77BB51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重生成；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A6BA26-3F89-4C30-A49D-AAC8A63AD058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1E240D-FF07-4690-A519-14203348BC52}"/>
              </a:ext>
            </a:extLst>
          </p:cNvPr>
          <p:cNvSpPr>
            <a:spLocks noGrp="1"/>
          </p:cNvSpPr>
          <p:nvPr/>
        </p:nvSpPr>
        <p:spPr>
          <a:xfrm>
            <a:off x="1371600" y="2943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修改；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48714DC-E31B-4E47-98E4-9C92DE14406B}"/>
              </a:ext>
            </a:extLst>
          </p:cNvPr>
          <p:cNvSpPr>
            <a:spLocks noGrp="1"/>
          </p:cNvSpPr>
          <p:nvPr/>
        </p:nvSpPr>
        <p:spPr>
          <a:xfrm>
            <a:off x="876300" y="3352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E039002-6DF0-414F-96EE-F3AB426E9F42}"/>
              </a:ext>
            </a:extLst>
          </p:cNvPr>
          <p:cNvSpPr>
            <a:spLocks noGrp="1"/>
          </p:cNvSpPr>
          <p:nvPr/>
        </p:nvSpPr>
        <p:spPr>
          <a:xfrm>
            <a:off x="1371600" y="3343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继续追问；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B6A98E1-A92C-45B6-9587-0B480B92C299}"/>
              </a:ext>
            </a:extLst>
          </p:cNvPr>
          <p:cNvSpPr>
            <a:spLocks noGrp="1"/>
          </p:cNvSpPr>
          <p:nvPr/>
        </p:nvSpPr>
        <p:spPr>
          <a:xfrm>
            <a:off x="876300" y="3752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FF44364-5777-40E6-8527-B9A5BCBFE19F}"/>
              </a:ext>
            </a:extLst>
          </p:cNvPr>
          <p:cNvSpPr>
            <a:spLocks noGrp="1"/>
          </p:cNvSpPr>
          <p:nvPr/>
        </p:nvSpPr>
        <p:spPr>
          <a:xfrm>
            <a:off x="1371600" y="3743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放弃任务；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270FE2A-10E2-4D54-9967-96D18604F233}"/>
              </a:ext>
            </a:extLst>
          </p:cNvPr>
          <p:cNvSpPr>
            <a:spLocks noGrp="1"/>
          </p:cNvSpPr>
          <p:nvPr/>
        </p:nvSpPr>
        <p:spPr>
          <a:xfrm>
            <a:off x="876300" y="4152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D5DA338-5374-4E09-B736-706BFF377C31}"/>
              </a:ext>
            </a:extLst>
          </p:cNvPr>
          <p:cNvSpPr>
            <a:spLocks noGrp="1"/>
          </p:cNvSpPr>
          <p:nvPr/>
        </p:nvSpPr>
        <p:spPr>
          <a:xfrm>
            <a:off x="1371600" y="4143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转人工；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F2B0A20-43BA-43E5-ADF3-3584F4AD4F37}"/>
              </a:ext>
            </a:extLst>
          </p:cNvPr>
          <p:cNvSpPr>
            <a:spLocks noGrp="1"/>
          </p:cNvSpPr>
          <p:nvPr/>
        </p:nvSpPr>
        <p:spPr>
          <a:xfrm>
            <a:off x="876300" y="4552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7E02F2-8E00-475B-81CF-C3A46850B199}"/>
              </a:ext>
            </a:extLst>
          </p:cNvPr>
          <p:cNvSpPr>
            <a:spLocks noGrp="1"/>
          </p:cNvSpPr>
          <p:nvPr/>
        </p:nvSpPr>
        <p:spPr>
          <a:xfrm>
            <a:off x="1371600" y="4543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是否完成最终任务。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A250150-D51B-4239-A976-8084FA09B76C}"/>
              </a:ext>
            </a:extLst>
          </p:cNvPr>
          <p:cNvSpPr>
            <a:spLocks noGrp="1"/>
          </p:cNvSpPr>
          <p:nvPr/>
        </p:nvSpPr>
        <p:spPr>
          <a:xfrm>
            <a:off x="838200" y="4914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隐性行为通常数量更多，但解释更复杂。</a:t>
            </a:r>
          </a:p>
        </p:txBody>
      </p:sp>
    </p:spTree>
    <p:extLst>
      <p:ext uri="{BB962C8B-B14F-4D97-AF65-F5344CB8AC3E}">
        <p14:creationId xmlns:p14="http://schemas.microsoft.com/office/powerpoint/2010/main" val="16402812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F3F54BC0-1093-49E2-9DA0-3400A8574F9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A395A2-359A-4A43-813D-4F475E851FB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B17F779-FB0B-457C-8552-B0B11B99333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CBD8608-8ADF-400E-B34F-0B35DB4DDFD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70571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442DF77-B233-47FA-85CF-63C9BE64D77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显性反馈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033CCE8-C318-4572-8976-41F89DECA22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DE26D8-2EBE-4B73-A711-0E9E6D7B6259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最常见的显性反馈是点赞和点踩。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EC175F9-1D8C-47EE-BF8A-08D516CA9615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但如果只提供一个点踩按钮，产品团队只能知道：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A09A35EC-3C98-49AD-ADD8-C80688BF1445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85F518-0B04-4C49-9EC4-5DA9652E1A9C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A9FBD98-ADE0-4C34-AA83-7F6CAD3A28B9}"/>
              </a:ext>
            </a:extLst>
          </p:cNvPr>
          <p:cNvSpPr>
            <a:spLocks noGrp="1"/>
          </p:cNvSpPr>
          <p:nvPr/>
        </p:nvSpPr>
        <p:spPr>
          <a:xfrm>
            <a:off x="1104900" y="2619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用户不满意。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1E0508C-0F75-4F0B-B0FD-8E13AC0CDEE8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却不知道为什么不满意。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550E471-DCED-4E2F-9E23-CBD2D3F2E495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因此，点踩后可以提供几个快捷原因：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7A1DC50-C609-4CB0-B82E-362A06B02006}"/>
              </a:ext>
            </a:extLst>
          </p:cNvPr>
          <p:cNvSpPr>
            <a:spLocks noGrp="1"/>
          </p:cNvSpPr>
          <p:nvPr/>
        </p:nvSpPr>
        <p:spPr>
          <a:xfrm>
            <a:off x="876300" y="3952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08B65C-5DAD-42F7-9503-EBED27D15556}"/>
              </a:ext>
            </a:extLst>
          </p:cNvPr>
          <p:cNvSpPr>
            <a:spLocks noGrp="1"/>
          </p:cNvSpPr>
          <p:nvPr/>
        </p:nvSpPr>
        <p:spPr>
          <a:xfrm>
            <a:off x="1371600" y="3943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内容不正确；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9005E92-C9C8-4E10-A794-D1B9DC399EB7}"/>
              </a:ext>
            </a:extLst>
          </p:cNvPr>
          <p:cNvSpPr>
            <a:spLocks noGrp="1"/>
          </p:cNvSpPr>
          <p:nvPr/>
        </p:nvSpPr>
        <p:spPr>
          <a:xfrm>
            <a:off x="876300" y="4352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A234E83-8D40-4A03-BEFC-789ADFDECD2C}"/>
              </a:ext>
            </a:extLst>
          </p:cNvPr>
          <p:cNvSpPr>
            <a:spLocks noGrp="1"/>
          </p:cNvSpPr>
          <p:nvPr/>
        </p:nvSpPr>
        <p:spPr>
          <a:xfrm>
            <a:off x="1371600" y="4343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没有回答问题；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BBB7DFD-5DE3-4160-9E6A-42F7C8F5FAB9}"/>
              </a:ext>
            </a:extLst>
          </p:cNvPr>
          <p:cNvSpPr>
            <a:spLocks noGrp="1"/>
          </p:cNvSpPr>
          <p:nvPr/>
        </p:nvSpPr>
        <p:spPr>
          <a:xfrm>
            <a:off x="876300" y="4752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D4922E1-D4C5-41D2-959A-45D7DD04D2B3}"/>
              </a:ext>
            </a:extLst>
          </p:cNvPr>
          <p:cNvSpPr>
            <a:spLocks noGrp="1"/>
          </p:cNvSpPr>
          <p:nvPr/>
        </p:nvSpPr>
        <p:spPr>
          <a:xfrm>
            <a:off x="1371600" y="4743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信息不完整；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D69A80A-45FE-43DA-9E14-529719A911B0}"/>
              </a:ext>
            </a:extLst>
          </p:cNvPr>
          <p:cNvSpPr>
            <a:spLocks noGrp="1"/>
          </p:cNvSpPr>
          <p:nvPr/>
        </p:nvSpPr>
        <p:spPr>
          <a:xfrm>
            <a:off x="876300" y="5153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E059703-09A3-4F7B-96FF-D889885BBF53}"/>
              </a:ext>
            </a:extLst>
          </p:cNvPr>
          <p:cNvSpPr>
            <a:spLocks noGrp="1"/>
          </p:cNvSpPr>
          <p:nvPr/>
        </p:nvSpPr>
        <p:spPr>
          <a:xfrm>
            <a:off x="1371600" y="5143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内容过长；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7583D9E-91C5-4375-96F4-0AA7CCF3AF4D}"/>
              </a:ext>
            </a:extLst>
          </p:cNvPr>
          <p:cNvSpPr>
            <a:spLocks noGrp="1"/>
          </p:cNvSpPr>
          <p:nvPr/>
        </p:nvSpPr>
        <p:spPr>
          <a:xfrm>
            <a:off x="876300" y="5553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2CF8207-8062-479B-9F64-DEE69B650404}"/>
              </a:ext>
            </a:extLst>
          </p:cNvPr>
          <p:cNvSpPr>
            <a:spLocks noGrp="1"/>
          </p:cNvSpPr>
          <p:nvPr/>
        </p:nvSpPr>
        <p:spPr>
          <a:xfrm>
            <a:off x="1371600" y="5543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不符合要求；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49102F6-8F03-4029-8706-888FA55DC13B}"/>
              </a:ext>
            </a:extLst>
          </p:cNvPr>
          <p:cNvSpPr>
            <a:spLocks noGrp="1"/>
          </p:cNvSpPr>
          <p:nvPr/>
        </p:nvSpPr>
        <p:spPr>
          <a:xfrm>
            <a:off x="876300" y="59531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4A40439-38A1-4EDD-8189-C2A304AF7180}"/>
              </a:ext>
            </a:extLst>
          </p:cNvPr>
          <p:cNvSpPr>
            <a:spLocks noGrp="1"/>
          </p:cNvSpPr>
          <p:nvPr/>
        </p:nvSpPr>
        <p:spPr>
          <a:xfrm>
            <a:off x="1371600" y="59436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存在安全或不适内容；</a:t>
            </a:r>
          </a:p>
        </p:txBody>
      </p:sp>
    </p:spTree>
    <p:extLst>
      <p:ext uri="{BB962C8B-B14F-4D97-AF65-F5344CB8AC3E}">
        <p14:creationId xmlns:p14="http://schemas.microsoft.com/office/powerpoint/2010/main" val="12395231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1F8FCE8B-3945-4D24-A1D0-B8C1DE5B43A1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6DA0521-15C5-4889-87F8-C0A8AC4411F9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3FA2F6-8D9E-432B-81BA-71B5135A6ED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091036E-CA9D-4357-8A72-D19095297BC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76525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5804ECE-CA37-4BDE-B7F5-073AB9361BD8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显性反馈（续）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C6872F-8C31-403C-A77B-8D1CE0203EC7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FD1ACF5-3620-47FE-B359-9A9FCF5E8F34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ADCA26-E123-4442-A37F-D3A10765371C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其他。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7193D20-3706-4855-86CA-722326FB8262}"/>
              </a:ext>
            </a:extLst>
          </p:cNvPr>
          <p:cNvSpPr>
            <a:spLocks noGrp="1"/>
          </p:cNvSpPr>
          <p:nvPr/>
        </p:nvSpPr>
        <p:spPr>
          <a:xfrm>
            <a:off x="838200" y="21145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这样可以降低用户填写成本，同时帮助团队进行初步分类。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C1ABC6D-B802-448C-97D6-8C53F561A1BB}"/>
              </a:ext>
            </a:extLst>
          </p:cNvPr>
          <p:cNvSpPr>
            <a:spLocks noGrp="1"/>
          </p:cNvSpPr>
          <p:nvPr/>
        </p:nvSpPr>
        <p:spPr>
          <a:xfrm>
            <a:off x="838200" y="24955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但反馈选项不能设计得太复杂。如果用户需要填写十几个字段，大部分人会直接放弃反馈。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6EB7980-4330-424D-A8C3-E6D2F740B57A}"/>
              </a:ext>
            </a:extLst>
          </p:cNvPr>
          <p:cNvSpPr>
            <a:spLocks noGrp="1"/>
          </p:cNvSpPr>
          <p:nvPr/>
        </p:nvSpPr>
        <p:spPr>
          <a:xfrm>
            <a:off x="838200" y="28765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比较合理的是：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DFF0A7F0-3277-42D1-BFE8-906D4A08E3B5}"/>
              </a:ext>
            </a:extLst>
          </p:cNvPr>
          <p:cNvSpPr>
            <a:spLocks noGrp="1"/>
          </p:cNvSpPr>
          <p:nvPr/>
        </p:nvSpPr>
        <p:spPr>
          <a:xfrm>
            <a:off x="819150" y="32575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B6DFA4C-59E2-44A5-AE32-6C8FB2E02FD3}"/>
              </a:ext>
            </a:extLst>
          </p:cNvPr>
          <p:cNvSpPr>
            <a:spLocks noGrp="1"/>
          </p:cNvSpPr>
          <p:nvPr/>
        </p:nvSpPr>
        <p:spPr>
          <a:xfrm>
            <a:off x="819150" y="32575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1A979C3-727B-4B54-8013-6F11F776D022}"/>
              </a:ext>
            </a:extLst>
          </p:cNvPr>
          <p:cNvSpPr>
            <a:spLocks noGrp="1"/>
          </p:cNvSpPr>
          <p:nvPr/>
        </p:nvSpPr>
        <p:spPr>
          <a:xfrm>
            <a:off x="1104900" y="34004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一次轻量选择，加一个可选的文字补充。</a:t>
            </a:r>
          </a:p>
        </p:txBody>
      </p:sp>
    </p:spTree>
    <p:extLst>
      <p:ext uri="{BB962C8B-B14F-4D97-AF65-F5344CB8AC3E}">
        <p14:creationId xmlns:p14="http://schemas.microsoft.com/office/powerpoint/2010/main" val="2064240245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D2433B93-4999-406E-A0B7-77FF57BCB9F0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309EB6-C59E-4033-B0BE-3C4DED40E1B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2F97ACA-EB13-4935-B33A-0DC84EC5FD5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8CA4919-1A05-4FE4-B2C8-83FDA6B2708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82480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766059E-FE4F-4C00-9205-18F8FF4C495B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隐性反馈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0C6E4C5-72D7-4CE1-9297-6AABC52FDFF5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B5CE6B1-7A47-4641-B45A-16718796EA05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隐性行为不能直接等同于满意或不满意，需要结合场景解释。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AFD957A-1B52-44CD-AB8A-0DDD8AF4426D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收藏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F5A8118-4568-4BC7-A6A5-B78A58F2D868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0F68E3-9DCA-43AF-863C-76D53FD648F6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可能代表内容具有长期价值。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121F3A-04FE-4985-A34C-B25637548319}"/>
              </a:ext>
            </a:extLst>
          </p:cNvPr>
          <p:cNvSpPr>
            <a:spLocks noGrp="1"/>
          </p:cNvSpPr>
          <p:nvPr/>
        </p:nvSpPr>
        <p:spPr>
          <a:xfrm>
            <a:off x="838200" y="2905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但也可能只是用户暂时保存，之后并未使用。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8B96AAA-5790-4DAD-BF8D-73ABB3ADE5F1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复制或导出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D0DE017-325C-4DD0-8EA3-22FFF586B7FB}"/>
              </a:ext>
            </a:extLst>
          </p:cNvPr>
          <p:cNvSpPr>
            <a:spLocks noGrp="1"/>
          </p:cNvSpPr>
          <p:nvPr/>
        </p:nvSpPr>
        <p:spPr>
          <a:xfrm>
            <a:off x="838200" y="36195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A88C782-B225-4663-A8BE-7BB869EE112F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可能代表AI结果进入了真实工作流程，通常是较强的正向信号。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C64941-29DE-4FBE-BFB9-316FA2C5DD5D}"/>
              </a:ext>
            </a:extLst>
          </p:cNvPr>
          <p:cNvSpPr>
            <a:spLocks noGrp="1"/>
          </p:cNvSpPr>
          <p:nvPr/>
        </p:nvSpPr>
        <p:spPr>
          <a:xfrm>
            <a:off x="838200" y="4095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但也可能是用户复制后准备进行大量修改。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D83665-515A-4144-9162-9400D3CC60DF}"/>
              </a:ext>
            </a:extLst>
          </p:cNvPr>
          <p:cNvSpPr>
            <a:spLocks noGrp="1"/>
          </p:cNvSpPr>
          <p:nvPr/>
        </p:nvSpPr>
        <p:spPr>
          <a:xfrm>
            <a:off x="838200" y="44862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重生成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EC3A610-7F87-4C1A-8395-2258B4819CD0}"/>
              </a:ext>
            </a:extLst>
          </p:cNvPr>
          <p:cNvSpPr>
            <a:spLocks noGrp="1"/>
          </p:cNvSpPr>
          <p:nvPr/>
        </p:nvSpPr>
        <p:spPr>
          <a:xfrm>
            <a:off x="838200" y="48101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357BECB-FC7C-4507-B864-116623337F35}"/>
              </a:ext>
            </a:extLst>
          </p:cNvPr>
          <p:cNvSpPr>
            <a:spLocks noGrp="1"/>
          </p:cNvSpPr>
          <p:nvPr/>
        </p:nvSpPr>
        <p:spPr>
          <a:xfrm>
            <a:off x="838200" y="49053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通常意味着当前回答没有满足需求。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B87E50A-400E-4CC3-A5CA-C77533CE6CD7}"/>
              </a:ext>
            </a:extLst>
          </p:cNvPr>
          <p:cNvSpPr>
            <a:spLocks noGrp="1"/>
          </p:cNvSpPr>
          <p:nvPr/>
        </p:nvSpPr>
        <p:spPr>
          <a:xfrm>
            <a:off x="838200" y="52863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但也可能是用户希望探索其他创意，而不是认为原回答错误。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0158F67-F9C0-46EF-BFC6-C2DA40430EF4}"/>
              </a:ext>
            </a:extLst>
          </p:cNvPr>
          <p:cNvSpPr>
            <a:spLocks noGrp="1"/>
          </p:cNvSpPr>
          <p:nvPr/>
        </p:nvSpPr>
        <p:spPr>
          <a:xfrm>
            <a:off x="838200" y="56769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继续追问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DB8B831-1F77-4DC0-9F42-C0E73FC8B0A9}"/>
              </a:ext>
            </a:extLst>
          </p:cNvPr>
          <p:cNvSpPr>
            <a:spLocks noGrp="1"/>
          </p:cNvSpPr>
          <p:nvPr/>
        </p:nvSpPr>
        <p:spPr>
          <a:xfrm>
            <a:off x="838200" y="60007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4304228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74F72CB0-38D3-479C-8F2E-7AE59B2BA16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2A41DAD-0B54-4FC7-B7EA-2CDF8CB5E0BE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DA93E4-18C3-4E0E-8F35-B844C5F4368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E4B87-DE95-4422-AD9A-F7B831DD759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884348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EBF081B-2BB4-4185-B0F5-F0BDB1646C2B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隐性反馈（续）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DAA2D50-1AF2-4E92-8A10-0866549502D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3498839-8E35-4BAF-A1E4-61B768A9FC91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可能表示回答不完整。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26458DF-705C-4CEA-B440-68FC2DC8E4BA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也可能表示回答很好，促使用户继续深入。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2FAC0D-ACF9-4749-ACE5-A95B9BA7B89F}"/>
              </a:ext>
            </a:extLst>
          </p:cNvPr>
          <p:cNvSpPr>
            <a:spLocks noGrp="1"/>
          </p:cNvSpPr>
          <p:nvPr/>
        </p:nvSpPr>
        <p:spPr>
          <a:xfrm>
            <a:off x="838200" y="2486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快速退出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4CFC053-0FCA-411D-B14C-421FCB0E9585}"/>
              </a:ext>
            </a:extLst>
          </p:cNvPr>
          <p:cNvSpPr>
            <a:spLocks noGrp="1"/>
          </p:cNvSpPr>
          <p:nvPr/>
        </p:nvSpPr>
        <p:spPr>
          <a:xfrm>
            <a:off x="838200" y="2809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06017B2-C36A-4759-BB96-06011FC3F4F0}"/>
              </a:ext>
            </a:extLst>
          </p:cNvPr>
          <p:cNvSpPr>
            <a:spLocks noGrp="1"/>
          </p:cNvSpPr>
          <p:nvPr/>
        </p:nvSpPr>
        <p:spPr>
          <a:xfrm>
            <a:off x="838200" y="2905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可能是产品没有价值。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05A852F-A7EF-49AB-AD3A-AC152B7772E5}"/>
              </a:ext>
            </a:extLst>
          </p:cNvPr>
          <p:cNvSpPr>
            <a:spLocks noGrp="1"/>
          </p:cNvSpPr>
          <p:nvPr/>
        </p:nvSpPr>
        <p:spPr>
          <a:xfrm>
            <a:off x="838200" y="3286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也可能是用户已经立刻获得答案，任务顺利完成。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53033CA-8A28-45EA-83E9-D0DC5376EE92}"/>
              </a:ext>
            </a:extLst>
          </p:cNvPr>
          <p:cNvSpPr>
            <a:spLocks noGrp="1"/>
          </p:cNvSpPr>
          <p:nvPr/>
        </p:nvSpPr>
        <p:spPr>
          <a:xfrm>
            <a:off x="838200" y="3667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所以：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C2DD6491-1BB7-4C71-8D76-0AC889C236A4}"/>
              </a:ext>
            </a:extLst>
          </p:cNvPr>
          <p:cNvSpPr>
            <a:spLocks noGrp="1"/>
          </p:cNvSpPr>
          <p:nvPr/>
        </p:nvSpPr>
        <p:spPr>
          <a:xfrm>
            <a:off x="819150" y="404812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D1A2249-8044-4283-883F-BCAC922A2004}"/>
              </a:ext>
            </a:extLst>
          </p:cNvPr>
          <p:cNvSpPr>
            <a:spLocks noGrp="1"/>
          </p:cNvSpPr>
          <p:nvPr/>
        </p:nvSpPr>
        <p:spPr>
          <a:xfrm>
            <a:off x="819150" y="404812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655CF2-3F50-4857-8167-6454CE08C317}"/>
              </a:ext>
            </a:extLst>
          </p:cNvPr>
          <p:cNvSpPr>
            <a:spLocks noGrp="1"/>
          </p:cNvSpPr>
          <p:nvPr/>
        </p:nvSpPr>
        <p:spPr>
          <a:xfrm>
            <a:off x="1104900" y="419100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隐性行为是线索，不是结论。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CAF7DF6-7C63-45B7-A1A4-5E3CFAABB899}"/>
              </a:ext>
            </a:extLst>
          </p:cNvPr>
          <p:cNvSpPr>
            <a:spLocks noGrp="1"/>
          </p:cNvSpPr>
          <p:nvPr/>
        </p:nvSpPr>
        <p:spPr>
          <a:xfrm>
            <a:off x="838200" y="47244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产品经理需要把多个行为组合起来判断。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7248A72-A2B6-4254-8D1D-633F17130BC9}"/>
              </a:ext>
            </a:extLst>
          </p:cNvPr>
          <p:cNvSpPr>
            <a:spLocks noGrp="1"/>
          </p:cNvSpPr>
          <p:nvPr/>
        </p:nvSpPr>
        <p:spPr>
          <a:xfrm>
            <a:off x="838200" y="51054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</p:spTree>
    <p:extLst>
      <p:ext uri="{BB962C8B-B14F-4D97-AF65-F5344CB8AC3E}">
        <p14:creationId xmlns:p14="http://schemas.microsoft.com/office/powerpoint/2010/main" val="109504921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F8672848-0898-4C39-98B5-FC246C7802CD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8BB5EA-B5C9-449F-BDD6-11933EEE829C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E3CEB4-62F6-4A91-B077-6819B2ABDE1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5C2A580-3938-4A5D-A795-BE9E571539C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994389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FDB22FC-7AE9-4243-A8EE-F34B43F0CDD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隐性反馈（续）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AAC1D99-57CB-4A76-A647-086D1F00C1A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B9AA3BBF-6EBB-4689-BF11-B939EEECBEC7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72750" cy="1104900"/>
          </a:xfrm>
          <a:prstGeom prst="roundRect">
            <a:avLst>
              <a:gd name="adj" fmla="val 8621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7967087-37FB-4963-B470-42078971D224}"/>
              </a:ext>
            </a:extLst>
          </p:cNvPr>
          <p:cNvSpPr>
            <a:spLocks noGrp="1"/>
          </p:cNvSpPr>
          <p:nvPr/>
        </p:nvSpPr>
        <p:spPr>
          <a:xfrm>
            <a:off x="1066800" y="1847850"/>
            <a:ext cx="10048875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生成答案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→ 用户连续重生成3次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→ 最终没有复制或保存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→ 退出页面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3FB021A-AD8C-4897-8CED-05128FBA4039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这比单独一次“退出”更可能表示结果没有满足需求。</a:t>
            </a:r>
          </a:p>
        </p:txBody>
      </p:sp>
    </p:spTree>
    <p:extLst>
      <p:ext uri="{BB962C8B-B14F-4D97-AF65-F5344CB8AC3E}">
        <p14:creationId xmlns:p14="http://schemas.microsoft.com/office/powerpoint/2010/main" val="25690216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319B81F0-0B6C-478C-8F8D-04044546874D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F0715A-C9DE-4D1D-A9E8-168344AC5B0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E1FDD2-ED13-4EFA-910C-9D86BC713C1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4C86069-06A8-4CD2-8F59-54470A71CBD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00343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4496576-8DE6-48F0-B1AD-B36480D88953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不同产品的反馈设计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868FADA-9B33-46E8-8DD9-2482B686CF9B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7D9FD12-D7B2-4337-B3AF-9C511E914522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反馈机制应该放在用户完成任务的关键节点上。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813DF59-4EE6-4775-B1C1-DC3409BABC97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企业知识助手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86BEE64-6AF6-461F-85A8-30181B933969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A324B27-2CE6-428E-AF38-14B84605289A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可以采集：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FC9F629-EE9F-4E87-B33C-CC1FB53E86C5}"/>
              </a:ext>
            </a:extLst>
          </p:cNvPr>
          <p:cNvSpPr>
            <a:spLocks noGrp="1"/>
          </p:cNvSpPr>
          <p:nvPr/>
        </p:nvSpPr>
        <p:spPr>
          <a:xfrm>
            <a:off x="876300" y="2943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E0DB797-80E0-4364-92BD-516029843590}"/>
              </a:ext>
            </a:extLst>
          </p:cNvPr>
          <p:cNvSpPr>
            <a:spLocks noGrp="1"/>
          </p:cNvSpPr>
          <p:nvPr/>
        </p:nvSpPr>
        <p:spPr>
          <a:xfrm>
            <a:off x="1371600" y="2933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点赞或点踩；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7E795A2-D0FB-4813-A25D-25B3154E372E}"/>
              </a:ext>
            </a:extLst>
          </p:cNvPr>
          <p:cNvSpPr>
            <a:spLocks noGrp="1"/>
          </p:cNvSpPr>
          <p:nvPr/>
        </p:nvSpPr>
        <p:spPr>
          <a:xfrm>
            <a:off x="876300" y="3343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333D4C-2724-4893-86EA-83F5B9BFAF13}"/>
              </a:ext>
            </a:extLst>
          </p:cNvPr>
          <p:cNvSpPr>
            <a:spLocks noGrp="1"/>
          </p:cNvSpPr>
          <p:nvPr/>
        </p:nvSpPr>
        <p:spPr>
          <a:xfrm>
            <a:off x="1371600" y="3333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是否点击引用来源；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57FA2C-92B8-467E-9106-CB6A5B8F6CEE}"/>
              </a:ext>
            </a:extLst>
          </p:cNvPr>
          <p:cNvSpPr>
            <a:spLocks noGrp="1"/>
          </p:cNvSpPr>
          <p:nvPr/>
        </p:nvSpPr>
        <p:spPr>
          <a:xfrm>
            <a:off x="876300" y="3743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1037871-A862-42EB-A8FC-C2574C642C54}"/>
              </a:ext>
            </a:extLst>
          </p:cNvPr>
          <p:cNvSpPr>
            <a:spLocks noGrp="1"/>
          </p:cNvSpPr>
          <p:nvPr/>
        </p:nvSpPr>
        <p:spPr>
          <a:xfrm>
            <a:off x="1371600" y="3733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是否继续追问同一问题；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0A3916B-C118-4A50-A5A9-0FCF1FFBA41D}"/>
              </a:ext>
            </a:extLst>
          </p:cNvPr>
          <p:cNvSpPr>
            <a:spLocks noGrp="1"/>
          </p:cNvSpPr>
          <p:nvPr/>
        </p:nvSpPr>
        <p:spPr>
          <a:xfrm>
            <a:off x="876300" y="4143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B4E3643-F5A1-4D59-B632-FB35E21F7984}"/>
              </a:ext>
            </a:extLst>
          </p:cNvPr>
          <p:cNvSpPr>
            <a:spLocks noGrp="1"/>
          </p:cNvSpPr>
          <p:nvPr/>
        </p:nvSpPr>
        <p:spPr>
          <a:xfrm>
            <a:off x="1371600" y="4133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是否转人工；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6615B12-2F85-4C63-B6FE-6F1F9319A806}"/>
              </a:ext>
            </a:extLst>
          </p:cNvPr>
          <p:cNvSpPr>
            <a:spLocks noGrp="1"/>
          </p:cNvSpPr>
          <p:nvPr/>
        </p:nvSpPr>
        <p:spPr>
          <a:xfrm>
            <a:off x="876300" y="4543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CAAA4B-0E12-427D-B470-02BF335432F7}"/>
              </a:ext>
            </a:extLst>
          </p:cNvPr>
          <p:cNvSpPr>
            <a:spLocks noGrp="1"/>
          </p:cNvSpPr>
          <p:nvPr/>
        </p:nvSpPr>
        <p:spPr>
          <a:xfrm>
            <a:off x="1371600" y="4533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是否复制答案。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D72BEBF-DAF5-4401-BAB1-BCEF106F737A}"/>
              </a:ext>
            </a:extLst>
          </p:cNvPr>
          <p:cNvSpPr>
            <a:spLocks noGrp="1"/>
          </p:cNvSpPr>
          <p:nvPr/>
        </p:nvSpPr>
        <p:spPr>
          <a:xfrm>
            <a:off x="838200" y="49149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AI写作工具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0DDD962-5143-4985-AA7E-2DE50B842952}"/>
              </a:ext>
            </a:extLst>
          </p:cNvPr>
          <p:cNvSpPr>
            <a:spLocks noGrp="1"/>
          </p:cNvSpPr>
          <p:nvPr/>
        </p:nvSpPr>
        <p:spPr>
          <a:xfrm>
            <a:off x="838200" y="52387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3EE7474-3D65-4F7E-A346-65ED8A0D89D4}"/>
              </a:ext>
            </a:extLst>
          </p:cNvPr>
          <p:cNvSpPr>
            <a:spLocks noGrp="1"/>
          </p:cNvSpPr>
          <p:nvPr/>
        </p:nvSpPr>
        <p:spPr>
          <a:xfrm>
            <a:off x="838200" y="53340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可以采集：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F80A6ED-DF5A-4142-BC8B-302BCD24817E}"/>
              </a:ext>
            </a:extLst>
          </p:cNvPr>
          <p:cNvSpPr>
            <a:spLocks noGrp="1"/>
          </p:cNvSpPr>
          <p:nvPr/>
        </p:nvSpPr>
        <p:spPr>
          <a:xfrm>
            <a:off x="876300" y="57531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5B8DEB7-9A4B-4BEA-A7E1-7EE154BF600B}"/>
              </a:ext>
            </a:extLst>
          </p:cNvPr>
          <p:cNvSpPr>
            <a:spLocks noGrp="1"/>
          </p:cNvSpPr>
          <p:nvPr/>
        </p:nvSpPr>
        <p:spPr>
          <a:xfrm>
            <a:off x="1371600" y="57435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用户采用了多少生成内容；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9E720EE-FCAC-44A9-9A98-CB9FD8FE8CD6}"/>
              </a:ext>
            </a:extLst>
          </p:cNvPr>
          <p:cNvSpPr>
            <a:spLocks noGrp="1"/>
          </p:cNvSpPr>
          <p:nvPr/>
        </p:nvSpPr>
        <p:spPr>
          <a:xfrm>
            <a:off x="876300" y="61531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08BB8C5-2782-4847-BDD3-B7F031C75302}"/>
              </a:ext>
            </a:extLst>
          </p:cNvPr>
          <p:cNvSpPr>
            <a:spLocks noGrp="1"/>
          </p:cNvSpPr>
          <p:nvPr/>
        </p:nvSpPr>
        <p:spPr>
          <a:xfrm>
            <a:off x="1371600" y="61436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修改前后的文本差异；</a:t>
            </a:r>
          </a:p>
        </p:txBody>
      </p:sp>
    </p:spTree>
    <p:extLst>
      <p:ext uri="{BB962C8B-B14F-4D97-AF65-F5344CB8AC3E}">
        <p14:creationId xmlns:p14="http://schemas.microsoft.com/office/powerpoint/2010/main" val="1645335383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97517930-253E-4B65-A79F-A152065506D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227AB7-FCED-470C-A371-EA48E7AD689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59C5DDF-31DC-4F29-97DB-EDCC2DD2CE9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D3E0562-6A59-443F-88AD-33D6E6B4840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06298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FF83B6-A34D-47CA-8D1C-3A1C57207CF6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不同产品的反馈设计（续）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CFE1318-2821-4FD1-A941-82795E133087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996FBD8-AD56-43D5-990C-DC5CE21A459A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969B330-AA26-48A1-80B4-49EDF57D1612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是否多次重生成；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260245F-F841-41F2-8ECB-2F37DF1E27E5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E22438E-A6BE-4BBC-B9C3-CAFFAA337D6E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是否导出或发布；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8FE82B4-3E11-47C6-9C41-8376110B43D8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BBEBF76-8405-45DA-8F87-07C737BAE472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哪些段落被删除。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EABC981-6FD7-472F-B49F-B622040526EB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相比简单的“满意/不满意”，修改前后差异更能反映输出质量。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4FB6C9-7297-4E06-8937-A2950C76F254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98F2598-AB85-49E9-A96A-1FE4C5B79024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644D14F-FD70-4751-8725-DA5C9231CFAB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直接采用：结果高度可用；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1441D7A-69F5-4386-A35B-7AE5DB4C77BA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174E66A-E109-4F44-84FA-75748CFA2C73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少量修改：基本可用；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0A090F6-420F-4010-A72D-45C1455B23CA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7E4D2FD-724A-4B5B-BC1C-7A1C24FE86EA}"/>
              </a:ext>
            </a:extLst>
          </p:cNvPr>
          <p:cNvSpPr>
            <a:spLocks noGrp="1"/>
          </p:cNvSpPr>
          <p:nvPr/>
        </p:nvSpPr>
        <p:spPr>
          <a:xfrm>
            <a:off x="1371600" y="4505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大幅修改：只提供了部分价值；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C9D43A1-D50B-45C9-99BB-82C4726A3305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DC26163-29E0-4A14-B5E0-735DB0654C74}"/>
              </a:ext>
            </a:extLst>
          </p:cNvPr>
          <p:cNvSpPr>
            <a:spLocks noGrp="1"/>
          </p:cNvSpPr>
          <p:nvPr/>
        </p:nvSpPr>
        <p:spPr>
          <a:xfrm>
            <a:off x="1371600" y="4905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完全弃用：没有进入最终产物。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A060501-2333-4C10-B407-14EDE3CCBCAD}"/>
              </a:ext>
            </a:extLst>
          </p:cNvPr>
          <p:cNvSpPr>
            <a:spLocks noGrp="1"/>
          </p:cNvSpPr>
          <p:nvPr/>
        </p:nvSpPr>
        <p:spPr>
          <a:xfrm>
            <a:off x="838200" y="52863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AI客服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C0EB96D-96D3-44AB-8F10-4FC71B660F78}"/>
              </a:ext>
            </a:extLst>
          </p:cNvPr>
          <p:cNvSpPr>
            <a:spLocks noGrp="1"/>
          </p:cNvSpPr>
          <p:nvPr/>
        </p:nvSpPr>
        <p:spPr>
          <a:xfrm>
            <a:off x="838200" y="56102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2041CCB-092E-49BF-A9F7-BDA1137C4C41}"/>
              </a:ext>
            </a:extLst>
          </p:cNvPr>
          <p:cNvSpPr>
            <a:spLocks noGrp="1"/>
          </p:cNvSpPr>
          <p:nvPr/>
        </p:nvSpPr>
        <p:spPr>
          <a:xfrm>
            <a:off x="838200" y="57054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可以采集：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A542F6-2DD4-42CE-8BFE-EDFB6D3D8088}"/>
              </a:ext>
            </a:extLst>
          </p:cNvPr>
          <p:cNvSpPr>
            <a:spLocks noGrp="1"/>
          </p:cNvSpPr>
          <p:nvPr/>
        </p:nvSpPr>
        <p:spPr>
          <a:xfrm>
            <a:off x="876300" y="6124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B798F64-2F08-426F-B982-263A77FA99DD}"/>
              </a:ext>
            </a:extLst>
          </p:cNvPr>
          <p:cNvSpPr>
            <a:spLocks noGrp="1"/>
          </p:cNvSpPr>
          <p:nvPr/>
        </p:nvSpPr>
        <p:spPr>
          <a:xfrm>
            <a:off x="1371600" y="61150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用户是否解决问题；</a:t>
            </a:r>
          </a:p>
        </p:txBody>
      </p:sp>
    </p:spTree>
    <p:extLst>
      <p:ext uri="{BB962C8B-B14F-4D97-AF65-F5344CB8AC3E}">
        <p14:creationId xmlns:p14="http://schemas.microsoft.com/office/powerpoint/2010/main" val="79067558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10208BB2-CAE6-459D-90CF-D6174D0039A7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57F4504-873F-4575-BE3D-33E69A59D80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2F6E1AA-9D88-4F0F-9924-154A8D70538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2B3EF52-D769-4DF4-AA18-BAE9F06E378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122525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2207CAF-57F6-416A-8AD2-FFD7A595BCB0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不同产品的反馈设计（续）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5C9F766-EB7E-4631-A798-766191F4DFFD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329283-33FA-468B-8720-440B1F01206B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3D20B67-591D-42AB-A8EB-170E3847AB38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是否再次咨询同一问题；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D3064BA-2B6E-4EF4-9E15-56398EE439A6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523841-FB07-4D40-9251-C5A257B49F7C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是否转人工；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7045AB3-8173-41C8-B9C3-B375E07759ED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2EC7A2F-25D9-4CEB-8F74-AC6981EB93F4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人工最终如何处理；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F72E233-464F-4AD1-AF6D-2969A51D3AC5}"/>
              </a:ext>
            </a:extLst>
          </p:cNvPr>
          <p:cNvSpPr>
            <a:spLocks noGrp="1"/>
          </p:cNvSpPr>
          <p:nvPr/>
        </p:nvSpPr>
        <p:spPr>
          <a:xfrm>
            <a:off x="876300" y="2952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138E85C-B2FE-4C7C-BEA0-921AD2401B11}"/>
              </a:ext>
            </a:extLst>
          </p:cNvPr>
          <p:cNvSpPr>
            <a:spLocks noGrp="1"/>
          </p:cNvSpPr>
          <p:nvPr/>
        </p:nvSpPr>
        <p:spPr>
          <a:xfrm>
            <a:off x="1371600" y="2943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用户是否完成退款、查询或修改等任务。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0E304D5-4BA7-4E34-A7CF-790500D23DBC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客服产品最重要的指标往往不是“回答看起来好不好”，而是：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A9FE5DE9-E63B-44F4-88DB-667A87FC45D3}"/>
              </a:ext>
            </a:extLst>
          </p:cNvPr>
          <p:cNvSpPr>
            <a:spLocks noGrp="1"/>
          </p:cNvSpPr>
          <p:nvPr/>
        </p:nvSpPr>
        <p:spPr>
          <a:xfrm>
            <a:off x="819150" y="36957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C186DDE-7EF2-45C6-AFD9-239757139019}"/>
              </a:ext>
            </a:extLst>
          </p:cNvPr>
          <p:cNvSpPr>
            <a:spLocks noGrp="1"/>
          </p:cNvSpPr>
          <p:nvPr/>
        </p:nvSpPr>
        <p:spPr>
          <a:xfrm>
            <a:off x="819150" y="36957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5A8846-7AB3-4559-9224-6F979CBC8361}"/>
              </a:ext>
            </a:extLst>
          </p:cNvPr>
          <p:cNvSpPr>
            <a:spLocks noGrp="1"/>
          </p:cNvSpPr>
          <p:nvPr/>
        </p:nvSpPr>
        <p:spPr>
          <a:xfrm>
            <a:off x="1104900" y="38385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用户的业务问题是否真正得到解决。</a:t>
            </a:r>
          </a:p>
        </p:txBody>
      </p:sp>
    </p:spTree>
    <p:extLst>
      <p:ext uri="{BB962C8B-B14F-4D97-AF65-F5344CB8AC3E}">
        <p14:creationId xmlns:p14="http://schemas.microsoft.com/office/powerpoint/2010/main" val="1963143279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3DE82DBD-274B-4631-8316-237ED424E2E5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BC4A94-64A4-428B-8156-E2ED8CE9607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BEF86E4-EDDA-4595-9D31-24F3B660F83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81260E4-0F4A-4273-BAD5-E8FA9B28E72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18206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A7437B8-7D1B-4D5A-A3D0-26B273A2EA38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低分会话进入Bad Case问题池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0115C1-D8FD-439F-8F2A-B8EAFC735D0A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47A2EC-DD85-4755-9E0E-25A39E50D3E7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并不是所有点踩都应该直接成为模型Bad Case。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C20509-A979-4C59-B130-E92D8EAA3A7E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一个比较完整的处理流程是：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03CC4E-FADB-43A6-8416-6A8E019B831D}"/>
              </a:ext>
            </a:extLst>
          </p:cNvPr>
          <p:cNvSpPr>
            <a:spLocks noGrp="1"/>
          </p:cNvSpPr>
          <p:nvPr/>
        </p:nvSpPr>
        <p:spPr>
          <a:xfrm>
            <a:off x="876300" y="2514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05C769A-8B2D-403C-9778-BEB49D50417D}"/>
              </a:ext>
            </a:extLst>
          </p:cNvPr>
          <p:cNvSpPr>
            <a:spLocks noGrp="1"/>
          </p:cNvSpPr>
          <p:nvPr/>
        </p:nvSpPr>
        <p:spPr>
          <a:xfrm>
            <a:off x="1371600" y="2505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触发低分、点踩或红线规则；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209CC9-F9B5-401A-98DF-6E3B22FB5C67}"/>
              </a:ext>
            </a:extLst>
          </p:cNvPr>
          <p:cNvSpPr>
            <a:spLocks noGrp="1"/>
          </p:cNvSpPr>
          <p:nvPr/>
        </p:nvSpPr>
        <p:spPr>
          <a:xfrm>
            <a:off x="876300" y="2914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6F1D8E8-4A92-43D3-B4ED-A2D8DA0D2469}"/>
              </a:ext>
            </a:extLst>
          </p:cNvPr>
          <p:cNvSpPr>
            <a:spLocks noGrp="1"/>
          </p:cNvSpPr>
          <p:nvPr/>
        </p:nvSpPr>
        <p:spPr>
          <a:xfrm>
            <a:off x="1371600" y="2905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对数据进行脱敏；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8C516F-BC39-48B3-A02D-625D2A1002B0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1C905A4-9B9E-4776-AC0C-C8DA702EF9C1}"/>
              </a:ext>
            </a:extLst>
          </p:cNvPr>
          <p:cNvSpPr>
            <a:spLocks noGrp="1"/>
          </p:cNvSpPr>
          <p:nvPr/>
        </p:nvSpPr>
        <p:spPr>
          <a:xfrm>
            <a:off x="1371600" y="3305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去除重复问题；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CB1F717-5180-4367-9B33-D0EF5DD41DCF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547EEF-ED0B-402C-8808-9CCBF7283EFC}"/>
              </a:ext>
            </a:extLst>
          </p:cNvPr>
          <p:cNvSpPr>
            <a:spLocks noGrp="1"/>
          </p:cNvSpPr>
          <p:nvPr/>
        </p:nvSpPr>
        <p:spPr>
          <a:xfrm>
            <a:off x="1371600" y="3705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人工复核用户意图和业务规则；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C9D20C8-5B86-4380-B76E-189A153450AC}"/>
              </a:ext>
            </a:extLst>
          </p:cNvPr>
          <p:cNvSpPr>
            <a:spLocks noGrp="1"/>
          </p:cNvSpPr>
          <p:nvPr/>
        </p:nvSpPr>
        <p:spPr>
          <a:xfrm>
            <a:off x="876300" y="4114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1BF6BB6-0143-4326-89FA-D044B6A4C237}"/>
              </a:ext>
            </a:extLst>
          </p:cNvPr>
          <p:cNvSpPr>
            <a:spLocks noGrp="1"/>
          </p:cNvSpPr>
          <p:nvPr/>
        </p:nvSpPr>
        <p:spPr>
          <a:xfrm>
            <a:off x="1371600" y="4105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判断是否为真实问题；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258F73F-C791-485C-9C99-ECA94EB59A29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9CC38E8-E5BF-4E87-8FDE-8DBF3E99344F}"/>
              </a:ext>
            </a:extLst>
          </p:cNvPr>
          <p:cNvSpPr>
            <a:spLocks noGrp="1"/>
          </p:cNvSpPr>
          <p:nvPr/>
        </p:nvSpPr>
        <p:spPr>
          <a:xfrm>
            <a:off x="1371600" y="4505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完成问题归因和严重度分级；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505BCA0-34F8-4C8B-AB34-3D85A098AB57}"/>
              </a:ext>
            </a:extLst>
          </p:cNvPr>
          <p:cNvSpPr>
            <a:spLocks noGrp="1"/>
          </p:cNvSpPr>
          <p:nvPr/>
        </p:nvSpPr>
        <p:spPr>
          <a:xfrm>
            <a:off x="876300" y="4914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537A427-054B-4539-9648-4C498E4767EB}"/>
              </a:ext>
            </a:extLst>
          </p:cNvPr>
          <p:cNvSpPr>
            <a:spLocks noGrp="1"/>
          </p:cNvSpPr>
          <p:nvPr/>
        </p:nvSpPr>
        <p:spPr>
          <a:xfrm>
            <a:off x="1371600" y="4905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加入Bad Case问题池；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ABFD520-1EDC-4735-BB83-CF1D8978074A}"/>
              </a:ext>
            </a:extLst>
          </p:cNvPr>
          <p:cNvSpPr>
            <a:spLocks noGrp="1"/>
          </p:cNvSpPr>
          <p:nvPr/>
        </p:nvSpPr>
        <p:spPr>
          <a:xfrm>
            <a:off x="876300" y="5314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1FDAE27-E9AC-496F-A636-21313A65CA81}"/>
              </a:ext>
            </a:extLst>
          </p:cNvPr>
          <p:cNvSpPr>
            <a:spLocks noGrp="1"/>
          </p:cNvSpPr>
          <p:nvPr/>
        </p:nvSpPr>
        <p:spPr>
          <a:xfrm>
            <a:off x="1371600" y="5305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选择关键案例进入回归集。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C92C773-411A-41E1-A19D-E389F166592F}"/>
              </a:ext>
            </a:extLst>
          </p:cNvPr>
          <p:cNvSpPr>
            <a:spLocks noGrp="1"/>
          </p:cNvSpPr>
          <p:nvPr/>
        </p:nvSpPr>
        <p:spPr>
          <a:xfrm>
            <a:off x="838200" y="5676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人工复核很重要。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72827C1-4555-4AA3-95D1-EE0FFFCDE569}"/>
              </a:ext>
            </a:extLst>
          </p:cNvPr>
          <p:cNvSpPr>
            <a:spLocks noGrp="1"/>
          </p:cNvSpPr>
          <p:nvPr/>
        </p:nvSpPr>
        <p:spPr>
          <a:xfrm>
            <a:off x="838200" y="6057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例如用户问：</a:t>
            </a:r>
          </a:p>
        </p:txBody>
      </p:sp>
    </p:spTree>
    <p:extLst>
      <p:ext uri="{BB962C8B-B14F-4D97-AF65-F5344CB8AC3E}">
        <p14:creationId xmlns:p14="http://schemas.microsoft.com/office/powerpoint/2010/main" val="12974533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B5B227AB-BFE9-4139-B041-3D1911782D09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7959CD6-81EB-471F-84AD-4E634CE1C9FF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CAB73D-E3DF-468B-A301-7416C81DD69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835F0AC-7872-4B23-AE85-40B5519CD63B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24161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34B75F-FA5B-45EC-AA54-D39649D03E0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低分会话进入Bad Case问题池（续）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3FC5B1F-413B-4388-9DB6-46AF10376808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BAB8824A-0E8B-433B-8051-8AC7F9F99C86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10FBF8B-D0D4-4BCE-843A-1978D106BB14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460A89-BBDB-4DDA-B128-0CB4163EC91C}"/>
              </a:ext>
            </a:extLst>
          </p:cNvPr>
          <p:cNvSpPr>
            <a:spLocks noGrp="1"/>
          </p:cNvSpPr>
          <p:nvPr/>
        </p:nvSpPr>
        <p:spPr>
          <a:xfrm>
            <a:off x="1104900" y="185737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为什么不能给我免费退款？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2A0A317-90F3-4326-9259-C9C146C1C1DC}"/>
              </a:ext>
            </a:extLst>
          </p:cNvPr>
          <p:cNvSpPr>
            <a:spLocks noGrp="1"/>
          </p:cNvSpPr>
          <p:nvPr/>
        </p:nvSpPr>
        <p:spPr>
          <a:xfrm>
            <a:off x="838200" y="2390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AI按照公司政策正确拒绝了，用户仍然点踩。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3065508-D67E-4C82-A764-E058CB59AF6B}"/>
              </a:ext>
            </a:extLst>
          </p:cNvPr>
          <p:cNvSpPr>
            <a:spLocks noGrp="1"/>
          </p:cNvSpPr>
          <p:nvPr/>
        </p:nvSpPr>
        <p:spPr>
          <a:xfrm>
            <a:off x="838200" y="2771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这是负面用户反馈，但不一定是产品回答错误。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6FDEDED-29D2-4265-9967-B276A94E2313}"/>
              </a:ext>
            </a:extLst>
          </p:cNvPr>
          <p:cNvSpPr>
            <a:spLocks noGrp="1"/>
          </p:cNvSpPr>
          <p:nvPr/>
        </p:nvSpPr>
        <p:spPr>
          <a:xfrm>
            <a:off x="838200" y="31527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因此需要区分：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EEA4C4A-4ADE-407C-B961-35101CD23680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D5AA6F-3A2D-4ED0-B23E-EA09A8DB1BDB}"/>
              </a:ext>
            </a:extLst>
          </p:cNvPr>
          <p:cNvSpPr>
            <a:spLocks noGrp="1"/>
          </p:cNvSpPr>
          <p:nvPr/>
        </p:nvSpPr>
        <p:spPr>
          <a:xfrm>
            <a:off x="1371600" y="35623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用户不喜欢这个结果；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D3B9067-6D30-4FEA-8267-56E103E55E96}"/>
              </a:ext>
            </a:extLst>
          </p:cNvPr>
          <p:cNvSpPr>
            <a:spLocks noGrp="1"/>
          </p:cNvSpPr>
          <p:nvPr/>
        </p:nvSpPr>
        <p:spPr>
          <a:xfrm>
            <a:off x="876300" y="3971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8D23806-E692-4C07-95F5-52BFD49DE12A}"/>
              </a:ext>
            </a:extLst>
          </p:cNvPr>
          <p:cNvSpPr>
            <a:spLocks noGrp="1"/>
          </p:cNvSpPr>
          <p:nvPr/>
        </p:nvSpPr>
        <p:spPr>
          <a:xfrm>
            <a:off x="1371600" y="3962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产品没有正确执行规则。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4AAE337-78A1-4909-A047-6923FBC8AABA}"/>
              </a:ext>
            </a:extLst>
          </p:cNvPr>
          <p:cNvSpPr>
            <a:spLocks noGrp="1"/>
          </p:cNvSpPr>
          <p:nvPr/>
        </p:nvSpPr>
        <p:spPr>
          <a:xfrm>
            <a:off x="838200" y="43338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二者不是一回事。</a:t>
            </a:r>
          </a:p>
        </p:txBody>
      </p:sp>
    </p:spTree>
    <p:extLst>
      <p:ext uri="{BB962C8B-B14F-4D97-AF65-F5344CB8AC3E}">
        <p14:creationId xmlns:p14="http://schemas.microsoft.com/office/powerpoint/2010/main" val="1205275754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484C71BE-AAB9-4BEF-95B3-22BC4356FDEE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A99BC25-944B-47E2-972A-28A0A152D3D2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89F4B39-FD3B-402C-B72B-B0ABB4D1634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9FC14C6-231A-4098-8E45-CB8CC6E3B25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30115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E7DA42-3F3D-4599-AF18-C5B4E31BDD5C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数据清洗与标注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44C878B-1363-46D0-8F6A-866C001355C1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9A4B38B-5D32-4188-AFD2-67BF4CE377A3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原始反馈通常不能直接用于产品优化，需要先处理。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144C240-4024-4157-9310-EEFDCF34BF5B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数据清洗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9AB3F9-6ED8-427A-BF13-FC21E47E9481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A0882C6-63FA-4A80-9D3C-B633AC053E5D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包括：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F6CB68C-69B3-418A-9F0E-6F11D4D3C7F3}"/>
              </a:ext>
            </a:extLst>
          </p:cNvPr>
          <p:cNvSpPr>
            <a:spLocks noGrp="1"/>
          </p:cNvSpPr>
          <p:nvPr/>
        </p:nvSpPr>
        <p:spPr>
          <a:xfrm>
            <a:off x="876300" y="29432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652C8F-F6C9-4CDB-933E-4FE1D5DB9CCD}"/>
              </a:ext>
            </a:extLst>
          </p:cNvPr>
          <p:cNvSpPr>
            <a:spLocks noGrp="1"/>
          </p:cNvSpPr>
          <p:nvPr/>
        </p:nvSpPr>
        <p:spPr>
          <a:xfrm>
            <a:off x="1371600" y="29337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去除隐私信息；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4947CFE-9948-4EE1-ACB9-F3D972DD9C8C}"/>
              </a:ext>
            </a:extLst>
          </p:cNvPr>
          <p:cNvSpPr>
            <a:spLocks noGrp="1"/>
          </p:cNvSpPr>
          <p:nvPr/>
        </p:nvSpPr>
        <p:spPr>
          <a:xfrm>
            <a:off x="876300" y="33432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D2C555-6A8A-4480-A6B7-7DD11171F99E}"/>
              </a:ext>
            </a:extLst>
          </p:cNvPr>
          <p:cNvSpPr>
            <a:spLocks noGrp="1"/>
          </p:cNvSpPr>
          <p:nvPr/>
        </p:nvSpPr>
        <p:spPr>
          <a:xfrm>
            <a:off x="1371600" y="33337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删除无效数据；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0EFDF3A-5C35-4B2B-AB8D-82D56AE7B3B7}"/>
              </a:ext>
            </a:extLst>
          </p:cNvPr>
          <p:cNvSpPr>
            <a:spLocks noGrp="1"/>
          </p:cNvSpPr>
          <p:nvPr/>
        </p:nvSpPr>
        <p:spPr>
          <a:xfrm>
            <a:off x="876300" y="37433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6C02813-83A6-4361-9DC0-336F54AF9EC7}"/>
              </a:ext>
            </a:extLst>
          </p:cNvPr>
          <p:cNvSpPr>
            <a:spLocks noGrp="1"/>
          </p:cNvSpPr>
          <p:nvPr/>
        </p:nvSpPr>
        <p:spPr>
          <a:xfrm>
            <a:off x="1371600" y="37338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合并重复案例；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B49C29-834C-40F8-8E59-9760CED466E1}"/>
              </a:ext>
            </a:extLst>
          </p:cNvPr>
          <p:cNvSpPr>
            <a:spLocks noGrp="1"/>
          </p:cNvSpPr>
          <p:nvPr/>
        </p:nvSpPr>
        <p:spPr>
          <a:xfrm>
            <a:off x="876300" y="41433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5107B3D-FA9B-44A1-BEBD-30CB351460E8}"/>
              </a:ext>
            </a:extLst>
          </p:cNvPr>
          <p:cNvSpPr>
            <a:spLocks noGrp="1"/>
          </p:cNvSpPr>
          <p:nvPr/>
        </p:nvSpPr>
        <p:spPr>
          <a:xfrm>
            <a:off x="1371600" y="41338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修正乱码；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002A3FF-0314-4377-8887-3EEBFC22E058}"/>
              </a:ext>
            </a:extLst>
          </p:cNvPr>
          <p:cNvSpPr>
            <a:spLocks noGrp="1"/>
          </p:cNvSpPr>
          <p:nvPr/>
        </p:nvSpPr>
        <p:spPr>
          <a:xfrm>
            <a:off x="876300" y="45434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1E32708-D01C-41D1-A466-166AF87F68D6}"/>
              </a:ext>
            </a:extLst>
          </p:cNvPr>
          <p:cNvSpPr>
            <a:spLocks noGrp="1"/>
          </p:cNvSpPr>
          <p:nvPr/>
        </p:nvSpPr>
        <p:spPr>
          <a:xfrm>
            <a:off x="1371600" y="45339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补全必要上下文；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B30464C-CBDD-48AD-9B04-1A281BC105CD}"/>
              </a:ext>
            </a:extLst>
          </p:cNvPr>
          <p:cNvSpPr>
            <a:spLocks noGrp="1"/>
          </p:cNvSpPr>
          <p:nvPr/>
        </p:nvSpPr>
        <p:spPr>
          <a:xfrm>
            <a:off x="876300" y="4943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455F5E9-CBA1-4136-950C-00EDE256CBF5}"/>
              </a:ext>
            </a:extLst>
          </p:cNvPr>
          <p:cNvSpPr>
            <a:spLocks noGrp="1"/>
          </p:cNvSpPr>
          <p:nvPr/>
        </p:nvSpPr>
        <p:spPr>
          <a:xfrm>
            <a:off x="1371600" y="4933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关联模型和知识库版本；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0324EA4-7455-4793-AB23-2B17E579194E}"/>
              </a:ext>
            </a:extLst>
          </p:cNvPr>
          <p:cNvSpPr>
            <a:spLocks noGrp="1"/>
          </p:cNvSpPr>
          <p:nvPr/>
        </p:nvSpPr>
        <p:spPr>
          <a:xfrm>
            <a:off x="876300" y="5343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C7F480E-4E9C-40A7-B3F4-DAD74C25DE48}"/>
              </a:ext>
            </a:extLst>
          </p:cNvPr>
          <p:cNvSpPr>
            <a:spLocks noGrp="1"/>
          </p:cNvSpPr>
          <p:nvPr/>
        </p:nvSpPr>
        <p:spPr>
          <a:xfrm>
            <a:off x="1371600" y="5334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排除明显恶意输入。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3B0E013-B12D-4FA1-BCCF-50A33E1BAF61}"/>
              </a:ext>
            </a:extLst>
          </p:cNvPr>
          <p:cNvSpPr>
            <a:spLocks noGrp="1"/>
          </p:cNvSpPr>
          <p:nvPr/>
        </p:nvSpPr>
        <p:spPr>
          <a:xfrm>
            <a:off x="838200" y="57150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数据标注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12387C0-DEDD-4CB9-B5C5-114CCB74BB46}"/>
              </a:ext>
            </a:extLst>
          </p:cNvPr>
          <p:cNvSpPr>
            <a:spLocks noGrp="1"/>
          </p:cNvSpPr>
          <p:nvPr/>
        </p:nvSpPr>
        <p:spPr>
          <a:xfrm>
            <a:off x="838200" y="60388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899282-9CA5-4E01-9DB4-2AA0A85D0FA8}"/>
              </a:ext>
            </a:extLst>
          </p:cNvPr>
          <p:cNvSpPr>
            <a:spLocks noGrp="1"/>
          </p:cNvSpPr>
          <p:nvPr/>
        </p:nvSpPr>
        <p:spPr>
          <a:xfrm>
            <a:off x="838200" y="61341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为案例增加结构化标签，例如：</a:t>
            </a:r>
          </a:p>
        </p:txBody>
      </p:sp>
    </p:spTree>
    <p:extLst>
      <p:ext uri="{BB962C8B-B14F-4D97-AF65-F5344CB8AC3E}">
        <p14:creationId xmlns:p14="http://schemas.microsoft.com/office/powerpoint/2010/main" val="1878706526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F2F8B4AE-62CA-4737-B411-EB60FD4BF4BD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582739-1FDB-4E9B-8744-34BCFE798029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F51275-A9BD-454F-B5BB-BBEE2F2F0982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05313DC-2037-4AF8-BF87-507694D843AD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360702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5FD9EA-DDC2-4C92-BBA1-A23E7DC6FE8B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数据清洗与标注（续）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39827D-3CBB-42CF-B097-5F3D9251453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5BF9D69-5B2C-4A8A-A499-E066E1477577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10572750" cy="1524000"/>
          </a:xfrm>
          <a:prstGeom prst="roundRect">
            <a:avLst>
              <a:gd name="adj" fmla="val 6250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CA3EE90-3184-4690-96A3-1674D4DDDF3B}"/>
              </a:ext>
            </a:extLst>
          </p:cNvPr>
          <p:cNvSpPr>
            <a:spLocks noGrp="1"/>
          </p:cNvSpPr>
          <p:nvPr/>
        </p:nvSpPr>
        <p:spPr>
          <a:xfrm>
            <a:off x="1066800" y="1847850"/>
            <a:ext cx="10048875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场景：住宿报销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问题类型：知识版本错误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严重度：高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用户意图：查询金额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期望行为：追问职级后回答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修复层级：知识库＋工作流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1D69195-FC3C-449D-B06B-CA574B4AF7B2}"/>
              </a:ext>
            </a:extLst>
          </p:cNvPr>
          <p:cNvSpPr>
            <a:spLocks noGrp="1"/>
          </p:cNvSpPr>
          <p:nvPr/>
        </p:nvSpPr>
        <p:spPr>
          <a:xfrm>
            <a:off x="838200" y="3333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标签应该服务于后续决策，而不是为了建立一套看起来很复杂的分类体系。</a:t>
            </a:r>
          </a:p>
        </p:txBody>
      </p:sp>
    </p:spTree>
    <p:extLst>
      <p:ext uri="{BB962C8B-B14F-4D97-AF65-F5344CB8AC3E}">
        <p14:creationId xmlns:p14="http://schemas.microsoft.com/office/powerpoint/2010/main" val="397461119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5EF301C5-6B70-4B73-B3C8-42E4EA0829D3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8585399-A2E1-4BA1-9A70-562A563C3F6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1671F41-EC95-4A6A-B591-7889F17A4DB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37C030-2835-43AF-B407-281E9495366C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42024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888AA4C-8C3E-4399-B2F9-02DF50EEDAB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标注规范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260585-6ACA-48D5-BABC-6520E2A29089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11DC100-7285-4039-8A34-32BF7F19CF2D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同一个Bad Case交给不同人员，可能得到不同标签。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5C4696-1133-4D62-B7B7-FE3786CDEA87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因此，每个标签都应该提供三项内容：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B80E47-EC8B-4EFD-A947-E0694055D64A}"/>
              </a:ext>
            </a:extLst>
          </p:cNvPr>
          <p:cNvSpPr>
            <a:spLocks noGrp="1"/>
          </p:cNvSpPr>
          <p:nvPr/>
        </p:nvSpPr>
        <p:spPr>
          <a:xfrm>
            <a:off x="838200" y="2486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定义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42BD019-D91D-440C-8222-F055DFDBEB41}"/>
              </a:ext>
            </a:extLst>
          </p:cNvPr>
          <p:cNvSpPr>
            <a:spLocks noGrp="1"/>
          </p:cNvSpPr>
          <p:nvPr/>
        </p:nvSpPr>
        <p:spPr>
          <a:xfrm>
            <a:off x="838200" y="2809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620A01-EC2C-4924-B8FD-66FA21515C98}"/>
              </a:ext>
            </a:extLst>
          </p:cNvPr>
          <p:cNvSpPr>
            <a:spLocks noGrp="1"/>
          </p:cNvSpPr>
          <p:nvPr/>
        </p:nvSpPr>
        <p:spPr>
          <a:xfrm>
            <a:off x="838200" y="2905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标签描述什么、不描述什么。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5F3A1B5-1D0D-4019-BFA7-F8B6651D34AC}"/>
              </a:ext>
            </a:extLst>
          </p:cNvPr>
          <p:cNvSpPr>
            <a:spLocks noGrp="1"/>
          </p:cNvSpPr>
          <p:nvPr/>
        </p:nvSpPr>
        <p:spPr>
          <a:xfrm>
            <a:off x="838200" y="3286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17E7EE5F-F54B-4327-9C4D-239F3C42ADF2}"/>
              </a:ext>
            </a:extLst>
          </p:cNvPr>
          <p:cNvSpPr>
            <a:spLocks noGrp="1"/>
          </p:cNvSpPr>
          <p:nvPr/>
        </p:nvSpPr>
        <p:spPr>
          <a:xfrm>
            <a:off x="819150" y="366712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4FAEC74-836F-4220-ABA0-004867261231}"/>
              </a:ext>
            </a:extLst>
          </p:cNvPr>
          <p:cNvSpPr>
            <a:spLocks noGrp="1"/>
          </p:cNvSpPr>
          <p:nvPr/>
        </p:nvSpPr>
        <p:spPr>
          <a:xfrm>
            <a:off x="819150" y="366712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2E0BD6C-5553-400D-93BF-03ADF0164500}"/>
              </a:ext>
            </a:extLst>
          </p:cNvPr>
          <p:cNvSpPr>
            <a:spLocks noGrp="1"/>
          </p:cNvSpPr>
          <p:nvPr/>
        </p:nvSpPr>
        <p:spPr>
          <a:xfrm>
            <a:off x="1104900" y="381000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知识缺失：回答所需的正确资料未进入知识库。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029E151-8584-446A-BC2D-27CD9A93DF2A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正例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A21F821-3D11-4EFD-B9CB-C9BA6003A366}"/>
              </a:ext>
            </a:extLst>
          </p:cNvPr>
          <p:cNvSpPr>
            <a:spLocks noGrp="1"/>
          </p:cNvSpPr>
          <p:nvPr/>
        </p:nvSpPr>
        <p:spPr>
          <a:xfrm>
            <a:off x="838200" y="46767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BC2C11F-3382-4235-8DEC-AA977EC39001}"/>
              </a:ext>
            </a:extLst>
          </p:cNvPr>
          <p:cNvSpPr>
            <a:spLocks noGrp="1"/>
          </p:cNvSpPr>
          <p:nvPr/>
        </p:nvSpPr>
        <p:spPr>
          <a:xfrm>
            <a:off x="838200" y="47720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应该标记为该标签的案例。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545E54E-6433-4C19-96FE-FCC6139D7D3D}"/>
              </a:ext>
            </a:extLst>
          </p:cNvPr>
          <p:cNvSpPr>
            <a:spLocks noGrp="1"/>
          </p:cNvSpPr>
          <p:nvPr/>
        </p:nvSpPr>
        <p:spPr>
          <a:xfrm>
            <a:off x="838200" y="51530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FC149507-887E-4443-90E9-8FE224AABAFA}"/>
              </a:ext>
            </a:extLst>
          </p:cNvPr>
          <p:cNvSpPr>
            <a:spLocks noGrp="1"/>
          </p:cNvSpPr>
          <p:nvPr/>
        </p:nvSpPr>
        <p:spPr>
          <a:xfrm>
            <a:off x="819150" y="553402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F132B7A-D04C-4492-8F39-7BA67EB6605A}"/>
              </a:ext>
            </a:extLst>
          </p:cNvPr>
          <p:cNvSpPr>
            <a:spLocks noGrp="1"/>
          </p:cNvSpPr>
          <p:nvPr/>
        </p:nvSpPr>
        <p:spPr>
          <a:xfrm>
            <a:off x="819150" y="553402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E715F6B-3BAD-4032-B779-8D47973BE0D7}"/>
              </a:ext>
            </a:extLst>
          </p:cNvPr>
          <p:cNvSpPr>
            <a:spLocks noGrp="1"/>
          </p:cNvSpPr>
          <p:nvPr/>
        </p:nvSpPr>
        <p:spPr>
          <a:xfrm>
            <a:off x="1104900" y="567690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用户询问2026年新制度，但知识库只有2025年版本。</a:t>
            </a:r>
          </a:p>
        </p:txBody>
      </p:sp>
    </p:spTree>
    <p:extLst>
      <p:ext uri="{BB962C8B-B14F-4D97-AF65-F5344CB8AC3E}">
        <p14:creationId xmlns:p14="http://schemas.microsoft.com/office/powerpoint/2010/main" val="1962752024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9ADC580-8EFD-463C-A8D8-558BFE902E3B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87FC991-C3BD-4786-96C1-6FFC4CFC792B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176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81A93C-6C9D-4D1C-8657-DF2A8C4B3BB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FC9F9DD-AEDE-4E79-BB3D-072135FAD7C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47979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594EFD4-DCD8-4D55-A135-F2AFFBBC7FC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标注规范（续）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FE4AE6-F948-4E29-AE25-65C40D6F9FB3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830538-3DD5-4B59-A3EC-1B1EF9FA91C9}"/>
              </a:ext>
            </a:extLst>
          </p:cNvPr>
          <p:cNvSpPr>
            <a:spLocks noGrp="1"/>
          </p:cNvSpPr>
          <p:nvPr/>
        </p:nvSpPr>
        <p:spPr>
          <a:xfrm>
            <a:off x="838200" y="1724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反例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172CAA9-9AA0-44AC-9218-13F7D71C8BC7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B6A7140-FE83-495C-92C6-1039FB8C440C}"/>
              </a:ext>
            </a:extLst>
          </p:cNvPr>
          <p:cNvSpPr>
            <a:spLocks noGrp="1"/>
          </p:cNvSpPr>
          <p:nvPr/>
        </p:nvSpPr>
        <p:spPr>
          <a:xfrm>
            <a:off x="838200" y="2143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看起来相似，但不应该使用该标签的案例。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D0EC91-1725-4005-AC27-6619DF0C1322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48B4B922-9538-4F10-9F0D-8F2800CACC5F}"/>
              </a:ext>
            </a:extLst>
          </p:cNvPr>
          <p:cNvSpPr>
            <a:spLocks noGrp="1"/>
          </p:cNvSpPr>
          <p:nvPr/>
        </p:nvSpPr>
        <p:spPr>
          <a:xfrm>
            <a:off x="819150" y="2905125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2E245B2-7B17-4B2C-935A-580503112480}"/>
              </a:ext>
            </a:extLst>
          </p:cNvPr>
          <p:cNvSpPr>
            <a:spLocks noGrp="1"/>
          </p:cNvSpPr>
          <p:nvPr/>
        </p:nvSpPr>
        <p:spPr>
          <a:xfrm>
            <a:off x="819150" y="2905125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D87080-2778-4A26-A3A7-27D1F83B1467}"/>
              </a:ext>
            </a:extLst>
          </p:cNvPr>
          <p:cNvSpPr>
            <a:spLocks noGrp="1"/>
          </p:cNvSpPr>
          <p:nvPr/>
        </p:nvSpPr>
        <p:spPr>
          <a:xfrm>
            <a:off x="1104900" y="3048000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正确资料已经存在并被召回，但模型没有使用。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561FBB6-A1D3-42EC-B832-5F3A8C3E8AFF}"/>
              </a:ext>
            </a:extLst>
          </p:cNvPr>
          <p:cNvSpPr>
            <a:spLocks noGrp="1"/>
          </p:cNvSpPr>
          <p:nvPr/>
        </p:nvSpPr>
        <p:spPr>
          <a:xfrm>
            <a:off x="838200" y="35814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这更可能是Prompt或生成问题，而不是知识缺失。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F196C1D-6B21-4322-A4DF-7355852AE3A4}"/>
              </a:ext>
            </a:extLst>
          </p:cNvPr>
          <p:cNvSpPr>
            <a:spLocks noGrp="1"/>
          </p:cNvSpPr>
          <p:nvPr/>
        </p:nvSpPr>
        <p:spPr>
          <a:xfrm>
            <a:off x="838200" y="39624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标注规范越清楚，问题统计和后续优化就越可信。</a:t>
            </a:r>
          </a:p>
        </p:txBody>
      </p:sp>
    </p:spTree>
    <p:extLst>
      <p:ext uri="{BB962C8B-B14F-4D97-AF65-F5344CB8AC3E}">
        <p14:creationId xmlns:p14="http://schemas.microsoft.com/office/powerpoint/2010/main" val="31295997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49B4755E-1C9C-408D-8449-752B0461034F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F215853-BA91-43EC-8D05-75AE7B03BBDD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DC6DC49-A39C-417D-9952-585FD66D7B05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2D7A813-E696-48D0-89DA-6C84357F3451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539334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61CB968-7A89-46C9-8F88-C6C7C79AD660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从问题标注到产品实验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93D1599-905A-4ECB-8216-AABF85F735F9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0945F16-4AF8-4DB0-995B-E0B229ADA106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完成问题分类后，不应该直接进行笼统的“模型优化”。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73DB65D-7C35-4F83-93B4-952F405F3498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不同问题类型对应不同方案。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CF0D35-548A-4347-8C93-B764ABF9B6BD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例如统计发现：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ACD9A9A2-5893-4FB0-AFAD-BC4C94C821EF}"/>
              </a:ext>
            </a:extLst>
          </p:cNvPr>
          <p:cNvSpPr>
            <a:spLocks noGrp="1"/>
          </p:cNvSpPr>
          <p:nvPr/>
        </p:nvSpPr>
        <p:spPr>
          <a:xfrm>
            <a:off x="819150" y="2857500"/>
            <a:ext cx="10572750" cy="1314450"/>
          </a:xfrm>
          <a:prstGeom prst="roundRect">
            <a:avLst>
              <a:gd name="adj" fmla="val 7246"/>
            </a:avLst>
          </a:prstGeom>
          <a:solidFill>
            <a:srgbClr val="031016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6E0E752-6F6D-4B0C-B74C-24615A840D8C}"/>
              </a:ext>
            </a:extLst>
          </p:cNvPr>
          <p:cNvSpPr>
            <a:spLocks noGrp="1"/>
          </p:cNvSpPr>
          <p:nvPr/>
        </p:nvSpPr>
        <p:spPr>
          <a:xfrm>
            <a:off x="1066800" y="2990850"/>
            <a:ext cx="10048875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知识召回错误：35%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信息不足未追问：25%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回答格式错误：15%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工具调用失败：10%</a:t>
            </a:r>
          </a:p>
          <a:p>
            <a:pPr algn="l">
              <a:defRPr sz="1200" b="0">
                <a:solidFill>
                  <a:srgbClr val="6EE7B7"/>
                </a:solidFill>
              </a:defRPr>
            </a:pPr>
            <a:r>
              <a:rPr sz="1200" b="0">
                <a:solidFill>
                  <a:srgbClr val="6EE7B7"/>
                </a:solidFill>
              </a:rPr>
              <a:t>其他问题：15%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E2D8455-22C4-4C82-B682-74B91A3D1ED8}"/>
              </a:ext>
            </a:extLst>
          </p:cNvPr>
          <p:cNvSpPr>
            <a:spLocks noGrp="1"/>
          </p:cNvSpPr>
          <p:nvPr/>
        </p:nvSpPr>
        <p:spPr>
          <a:xfrm>
            <a:off x="838200" y="42672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团队可以分别设计实验：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AA1FFB2-A688-442D-AD20-96F200748E80}"/>
              </a:ext>
            </a:extLst>
          </p:cNvPr>
          <p:cNvSpPr>
            <a:spLocks noGrp="1"/>
          </p:cNvSpPr>
          <p:nvPr/>
        </p:nvSpPr>
        <p:spPr>
          <a:xfrm>
            <a:off x="876300" y="46863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C43800-2FCE-4C8F-B7F9-B872A5AB0A47}"/>
              </a:ext>
            </a:extLst>
          </p:cNvPr>
          <p:cNvSpPr>
            <a:spLocks noGrp="1"/>
          </p:cNvSpPr>
          <p:nvPr/>
        </p:nvSpPr>
        <p:spPr>
          <a:xfrm>
            <a:off x="1371600" y="46767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调整检索和重排序；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02920F9-D1B2-43B3-9A66-6D987E3DF85F}"/>
              </a:ext>
            </a:extLst>
          </p:cNvPr>
          <p:cNvSpPr>
            <a:spLocks noGrp="1"/>
          </p:cNvSpPr>
          <p:nvPr/>
        </p:nvSpPr>
        <p:spPr>
          <a:xfrm>
            <a:off x="876300" y="50863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B973EE3-8DDA-492C-AB31-20969B937F0A}"/>
              </a:ext>
            </a:extLst>
          </p:cNvPr>
          <p:cNvSpPr>
            <a:spLocks noGrp="1"/>
          </p:cNvSpPr>
          <p:nvPr/>
        </p:nvSpPr>
        <p:spPr>
          <a:xfrm>
            <a:off x="1371600" y="50768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增加信息补全节点；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8B0B0D2-137D-4546-BC61-8C2B4E2982E9}"/>
              </a:ext>
            </a:extLst>
          </p:cNvPr>
          <p:cNvSpPr>
            <a:spLocks noGrp="1"/>
          </p:cNvSpPr>
          <p:nvPr/>
        </p:nvSpPr>
        <p:spPr>
          <a:xfrm>
            <a:off x="876300" y="54864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96A601-0AE5-4A7E-B175-C4F5AB922771}"/>
              </a:ext>
            </a:extLst>
          </p:cNvPr>
          <p:cNvSpPr>
            <a:spLocks noGrp="1"/>
          </p:cNvSpPr>
          <p:nvPr/>
        </p:nvSpPr>
        <p:spPr>
          <a:xfrm>
            <a:off x="1371600" y="54768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修改输出格式约束；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376A5E8-C109-4FCD-879A-FD58B0A3ED51}"/>
              </a:ext>
            </a:extLst>
          </p:cNvPr>
          <p:cNvSpPr>
            <a:spLocks noGrp="1"/>
          </p:cNvSpPr>
          <p:nvPr/>
        </p:nvSpPr>
        <p:spPr>
          <a:xfrm>
            <a:off x="876300" y="5886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D156870-9627-41CD-8800-A611424F2D7B}"/>
              </a:ext>
            </a:extLst>
          </p:cNvPr>
          <p:cNvSpPr>
            <a:spLocks noGrp="1"/>
          </p:cNvSpPr>
          <p:nvPr/>
        </p:nvSpPr>
        <p:spPr>
          <a:xfrm>
            <a:off x="1371600" y="58769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增加工具超时与重试；</a:t>
            </a:r>
          </a:p>
        </p:txBody>
      </p:sp>
    </p:spTree>
    <p:extLst>
      <p:ext uri="{BB962C8B-B14F-4D97-AF65-F5344CB8AC3E}">
        <p14:creationId xmlns:p14="http://schemas.microsoft.com/office/powerpoint/2010/main" val="1187100480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03C9D177-B1DE-42AF-B646-9515F743D0A5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5A56C3-F19D-4BFE-B1EB-3C765D87EA56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9347BC7-3BD2-4EF7-B712-16326A22241F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27DD564-0683-49E6-A777-A05D876D011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598879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304624-7FD5-49D6-BB81-1ABADED67ADD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从问题标注到产品实验（续）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127B0C-04EC-41D7-8B41-7C25344298E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B5338B8-A198-406C-BE61-A285FAAEF021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1BB50E-41BE-4BBC-977C-5A02506BC710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明确产品边界。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B82742E-038D-475A-9FF7-3D787FD555E5}"/>
              </a:ext>
            </a:extLst>
          </p:cNvPr>
          <p:cNvSpPr>
            <a:spLocks noGrp="1"/>
          </p:cNvSpPr>
          <p:nvPr/>
        </p:nvSpPr>
        <p:spPr>
          <a:xfrm>
            <a:off x="838200" y="21145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每一次修改都应该对应具体假设。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AE43738-1497-40EF-BED2-88B46535C70D}"/>
              </a:ext>
            </a:extLst>
          </p:cNvPr>
          <p:cNvSpPr>
            <a:spLocks noGrp="1"/>
          </p:cNvSpPr>
          <p:nvPr/>
        </p:nvSpPr>
        <p:spPr>
          <a:xfrm>
            <a:off x="838200" y="24955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例如：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1B56508B-149A-4217-89F9-7433FAF0266B}"/>
              </a:ext>
            </a:extLst>
          </p:cNvPr>
          <p:cNvSpPr>
            <a:spLocks noGrp="1"/>
          </p:cNvSpPr>
          <p:nvPr/>
        </p:nvSpPr>
        <p:spPr>
          <a:xfrm>
            <a:off x="819150" y="28765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5D3AF25-5442-4196-9BCB-FA21E4B05454}"/>
              </a:ext>
            </a:extLst>
          </p:cNvPr>
          <p:cNvSpPr>
            <a:spLocks noGrp="1"/>
          </p:cNvSpPr>
          <p:nvPr/>
        </p:nvSpPr>
        <p:spPr>
          <a:xfrm>
            <a:off x="819150" y="28765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96DAE6E-163D-4EF6-A8E0-A434CA8EB2A6}"/>
              </a:ext>
            </a:extLst>
          </p:cNvPr>
          <p:cNvSpPr>
            <a:spLocks noGrp="1"/>
          </p:cNvSpPr>
          <p:nvPr/>
        </p:nvSpPr>
        <p:spPr>
          <a:xfrm>
            <a:off x="1104900" y="30194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如果在回答住宿标准前增加职级确认节点，那么“错误使用其他职级标准”的Bad Case应该明显减少。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31ADFE-4615-4DED-A312-42F4965EFB95}"/>
              </a:ext>
            </a:extLst>
          </p:cNvPr>
          <p:cNvSpPr>
            <a:spLocks noGrp="1"/>
          </p:cNvSpPr>
          <p:nvPr/>
        </p:nvSpPr>
        <p:spPr>
          <a:xfrm>
            <a:off x="838200" y="35528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修改后，通过评测和线上数据验证：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1CC6101-A5D7-428D-AD12-00053748FA1D}"/>
              </a:ext>
            </a:extLst>
          </p:cNvPr>
          <p:cNvSpPr>
            <a:spLocks noGrp="1"/>
          </p:cNvSpPr>
          <p:nvPr/>
        </p:nvSpPr>
        <p:spPr>
          <a:xfrm>
            <a:off x="876300" y="3971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1BF8A39-51E7-4ED3-8662-AD8F654E1294}"/>
              </a:ext>
            </a:extLst>
          </p:cNvPr>
          <p:cNvSpPr>
            <a:spLocks noGrp="1"/>
          </p:cNvSpPr>
          <p:nvPr/>
        </p:nvSpPr>
        <p:spPr>
          <a:xfrm>
            <a:off x="1371600" y="39624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该类问题是否减少；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17B7DCD-61AE-4005-9AB5-94DCFE799F72}"/>
              </a:ext>
            </a:extLst>
          </p:cNvPr>
          <p:cNvSpPr>
            <a:spLocks noGrp="1"/>
          </p:cNvSpPr>
          <p:nvPr/>
        </p:nvSpPr>
        <p:spPr>
          <a:xfrm>
            <a:off x="876300" y="4371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3603D09-C22A-4DD8-A32D-35692D5DF591}"/>
              </a:ext>
            </a:extLst>
          </p:cNvPr>
          <p:cNvSpPr>
            <a:spLocks noGrp="1"/>
          </p:cNvSpPr>
          <p:nvPr/>
        </p:nvSpPr>
        <p:spPr>
          <a:xfrm>
            <a:off x="1371600" y="43624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是否引入新的体验问题；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F56EF4E-B0AC-4F95-9E59-8A6430817F11}"/>
              </a:ext>
            </a:extLst>
          </p:cNvPr>
          <p:cNvSpPr>
            <a:spLocks noGrp="1"/>
          </p:cNvSpPr>
          <p:nvPr/>
        </p:nvSpPr>
        <p:spPr>
          <a:xfrm>
            <a:off x="876300" y="47720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9C034D-6221-423A-9DDA-7A6EAD977FD4}"/>
              </a:ext>
            </a:extLst>
          </p:cNvPr>
          <p:cNvSpPr>
            <a:spLocks noGrp="1"/>
          </p:cNvSpPr>
          <p:nvPr/>
        </p:nvSpPr>
        <p:spPr>
          <a:xfrm>
            <a:off x="1371600" y="47625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用户完成任务是否变慢；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4AE8840-7C8A-4649-A5E5-5284488D73FB}"/>
              </a:ext>
            </a:extLst>
          </p:cNvPr>
          <p:cNvSpPr>
            <a:spLocks noGrp="1"/>
          </p:cNvSpPr>
          <p:nvPr/>
        </p:nvSpPr>
        <p:spPr>
          <a:xfrm>
            <a:off x="876300" y="5172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931C479-FCE7-49B0-8A30-93EEEBF439A0}"/>
              </a:ext>
            </a:extLst>
          </p:cNvPr>
          <p:cNvSpPr>
            <a:spLocks noGrp="1"/>
          </p:cNvSpPr>
          <p:nvPr/>
        </p:nvSpPr>
        <p:spPr>
          <a:xfrm>
            <a:off x="1371600" y="51625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是否出现更多中途退出。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D55DFAA-09B1-4C52-AE60-81C5369C8E0B}"/>
              </a:ext>
            </a:extLst>
          </p:cNvPr>
          <p:cNvSpPr>
            <a:spLocks noGrp="1"/>
          </p:cNvSpPr>
          <p:nvPr/>
        </p:nvSpPr>
        <p:spPr>
          <a:xfrm>
            <a:off x="838200" y="55340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产品实验不能只看被修复指标，也要观察副作用。</a:t>
            </a:r>
          </a:p>
        </p:txBody>
      </p:sp>
    </p:spTree>
    <p:extLst>
      <p:ext uri="{BB962C8B-B14F-4D97-AF65-F5344CB8AC3E}">
        <p14:creationId xmlns:p14="http://schemas.microsoft.com/office/powerpoint/2010/main" val="872315854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3ECD21A6-1990-4FC4-8162-83250B4CA64C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21E7029-55A2-4B9E-B4A7-10565F7F7C7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7F6B249-8631-4AEC-8B95-B1DE7B52C4B4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E9C109E-3F96-496F-8EA7-A84D26E9F636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658423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BA60F33-AAFA-4946-9812-4EE655251A40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数据飞轮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C428F14-734E-4020-AB82-F4515E92F706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2EEA332-CBF0-4B5E-A65F-72AE79D258F1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当反馈闭环持续运行，就会形成数据飞轮：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83E7653-82F0-416A-BDD6-EAA706B600B2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937EB0-4C27-4B5F-91A5-0F9647631A94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更多用户使用产品；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B5AC13-4586-4CEF-9F9E-32E90AA252A8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FF8221A-F4EE-431C-90E7-EBAB0764829D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产生更多真实问题和行为数据；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FB7ABF7-8CE9-4E13-A055-27F2B54E781D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B7ACC92-8477-4854-AF4E-888084D5B53D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团队发现新的失败类型；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91495CB-14A7-4940-A225-4AC56F974751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C0AF795-537F-4A89-8B97-A4F0BF258D1C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评测集和产品能力得到改进；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D7B8A00-7155-4E2C-9041-22EB70B6A9DF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8034B4-BFD4-4007-8E67-1556D2D44116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产品效果提升；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6A55488-94F4-4E0E-9239-C15574C2EA9A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CF0DC4-B216-4115-968A-F2EFDB540DB9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更多用户愿意继续使用；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846A686-AA7F-4BD2-A985-FED3FF512564}"/>
              </a:ext>
            </a:extLst>
          </p:cNvPr>
          <p:cNvSpPr>
            <a:spLocks noGrp="1"/>
          </p:cNvSpPr>
          <p:nvPr/>
        </p:nvSpPr>
        <p:spPr>
          <a:xfrm>
            <a:off x="876300" y="4533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BDB97F5-7EC3-4F2C-A862-F654A0F253F9}"/>
              </a:ext>
            </a:extLst>
          </p:cNvPr>
          <p:cNvSpPr>
            <a:spLocks noGrp="1"/>
          </p:cNvSpPr>
          <p:nvPr/>
        </p:nvSpPr>
        <p:spPr>
          <a:xfrm>
            <a:off x="1371600" y="4524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产生更高质量的反馈数据。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F01DA0F-4126-4E09-970B-3C85F0CFD32C}"/>
              </a:ext>
            </a:extLst>
          </p:cNvPr>
          <p:cNvSpPr>
            <a:spLocks noGrp="1"/>
          </p:cNvSpPr>
          <p:nvPr/>
        </p:nvSpPr>
        <p:spPr>
          <a:xfrm>
            <a:off x="838200" y="4895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但数据飞轮不会自动发生。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A83F23-B966-419C-A415-186A34224434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如果团队只是保存大量日志，却没有：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3B01AF0-AD53-4608-8A3F-AF0E32AA8398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658EABD-C6F9-4975-A38E-1DA1C618E641}"/>
              </a:ext>
            </a:extLst>
          </p:cNvPr>
          <p:cNvSpPr>
            <a:spLocks noGrp="1"/>
          </p:cNvSpPr>
          <p:nvPr/>
        </p:nvSpPr>
        <p:spPr>
          <a:xfrm>
            <a:off x="1371600" y="56864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清洗；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A12F7F3-2E52-4084-847C-54FA70E5C40E}"/>
              </a:ext>
            </a:extLst>
          </p:cNvPr>
          <p:cNvSpPr>
            <a:spLocks noGrp="1"/>
          </p:cNvSpPr>
          <p:nvPr/>
        </p:nvSpPr>
        <p:spPr>
          <a:xfrm>
            <a:off x="876300" y="60960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150141B-1FF2-4A4F-A7F1-B499B802175A}"/>
              </a:ext>
            </a:extLst>
          </p:cNvPr>
          <p:cNvSpPr>
            <a:spLocks noGrp="1"/>
          </p:cNvSpPr>
          <p:nvPr/>
        </p:nvSpPr>
        <p:spPr>
          <a:xfrm>
            <a:off x="1371600" y="60864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标注；</a:t>
            </a:r>
          </a:p>
        </p:txBody>
      </p:sp>
    </p:spTree>
    <p:extLst>
      <p:ext uri="{BB962C8B-B14F-4D97-AF65-F5344CB8AC3E}">
        <p14:creationId xmlns:p14="http://schemas.microsoft.com/office/powerpoint/2010/main" val="160400633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164C691-59BE-43AC-B38D-23701E5242AA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42A54B7-965E-4E08-B29C-A3F01EC04B10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180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2C2AAF-00C7-4549-90B1-32FC60AFA78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88688A-C363-476E-91B1-D95C25DF1DD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717967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5B3122E-47F5-42EE-9737-B7A2B269DD87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数据飞轮（续）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0E2E456-9CE2-4609-A227-031D79F356E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7F8BA1F-AFCE-4F2A-9CFD-86FC19A41D60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2A7B1A-ED5A-45DC-8ECF-F1BBBF1591DF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归因；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AB1E070-75F8-439C-9633-D771DBDD5991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FDE727D-FBCD-4817-A3D6-8D8026821784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实验；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4833B6-1FF1-437A-8FE1-67F5374E3387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BEAA321-C438-4DC3-9FB0-1F7CD600DB9A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回归验证；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257CBF6-9607-4199-965C-003DEDAAE0A5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这些数据只是一堆库存，不会自然变成产品能力。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63FC056-1FDF-40BB-8750-83C502702A1E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真正有价值的不是“拥有多少数据”，而是：</a:t>
            </a:r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97163C8B-8547-4FCE-AEE4-8FA86641DFDE}"/>
              </a:ext>
            </a:extLst>
          </p:cNvPr>
          <p:cNvSpPr>
            <a:spLocks noGrp="1"/>
          </p:cNvSpPr>
          <p:nvPr/>
        </p:nvSpPr>
        <p:spPr>
          <a:xfrm>
            <a:off x="819150" y="36766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9345805-C701-4F37-852B-7A4A17262FB7}"/>
              </a:ext>
            </a:extLst>
          </p:cNvPr>
          <p:cNvSpPr>
            <a:spLocks noGrp="1"/>
          </p:cNvSpPr>
          <p:nvPr/>
        </p:nvSpPr>
        <p:spPr>
          <a:xfrm>
            <a:off x="819150" y="36766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27749D4-67F2-455F-AF97-21881318171B}"/>
              </a:ext>
            </a:extLst>
          </p:cNvPr>
          <p:cNvSpPr>
            <a:spLocks noGrp="1"/>
          </p:cNvSpPr>
          <p:nvPr/>
        </p:nvSpPr>
        <p:spPr>
          <a:xfrm>
            <a:off x="1104900" y="38195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能否把数据稳定地转化为可验证的产品改进。</a:t>
            </a:r>
          </a:p>
        </p:txBody>
      </p:sp>
    </p:spTree>
    <p:extLst>
      <p:ext uri="{BB962C8B-B14F-4D97-AF65-F5344CB8AC3E}">
        <p14:creationId xmlns:p14="http://schemas.microsoft.com/office/powerpoint/2010/main" val="104598067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7E653C5D-E343-4159-A530-A3726836F772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214BB29-E7D9-4E53-B1A4-47449740DB7C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181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863B7B6-0017-43F7-8057-8FF8D90A6FE7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C5B7A2F-C5F2-4D6D-A36E-04BA2A764188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777511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76D6EB-0F8A-47D8-A55B-B9141185DF64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数据隐私与合规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7B1980D-8770-4FE0-BC3D-EA126FF22D00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368A817-C6B5-426E-889C-79745BE18F3B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收集反馈数据时，需要遵守几个基本原则。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E0052CA-7B7E-4DCB-B002-470F6333562A}"/>
              </a:ext>
            </a:extLst>
          </p:cNvPr>
          <p:cNvSpPr>
            <a:spLocks noGrp="1"/>
          </p:cNvSpPr>
          <p:nvPr/>
        </p:nvSpPr>
        <p:spPr>
          <a:xfrm>
            <a:off x="838200" y="210502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用户知情与授权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2F8CD4-F9EC-429B-AA2A-69638529DA25}"/>
              </a:ext>
            </a:extLst>
          </p:cNvPr>
          <p:cNvSpPr>
            <a:spLocks noGrp="1"/>
          </p:cNvSpPr>
          <p:nvPr/>
        </p:nvSpPr>
        <p:spPr>
          <a:xfrm>
            <a:off x="838200" y="242887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B8D94C9-F0AC-471B-842D-FA395D8365BE}"/>
              </a:ext>
            </a:extLst>
          </p:cNvPr>
          <p:cNvSpPr>
            <a:spLocks noGrp="1"/>
          </p:cNvSpPr>
          <p:nvPr/>
        </p:nvSpPr>
        <p:spPr>
          <a:xfrm>
            <a:off x="838200" y="252412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用户应该知道哪些数据会被收集、用于什么目的。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7AA29FF-474C-439E-87EC-8BAF16F8DAD0}"/>
              </a:ext>
            </a:extLst>
          </p:cNvPr>
          <p:cNvSpPr>
            <a:spLocks noGrp="1"/>
          </p:cNvSpPr>
          <p:nvPr/>
        </p:nvSpPr>
        <p:spPr>
          <a:xfrm>
            <a:off x="838200" y="29146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最小必要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766CA01-A192-4362-B0BE-95B574B30A82}"/>
              </a:ext>
            </a:extLst>
          </p:cNvPr>
          <p:cNvSpPr>
            <a:spLocks noGrp="1"/>
          </p:cNvSpPr>
          <p:nvPr/>
        </p:nvSpPr>
        <p:spPr>
          <a:xfrm>
            <a:off x="838200" y="323850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BB4809E-E380-4ADF-BEEA-3E75136E0E97}"/>
              </a:ext>
            </a:extLst>
          </p:cNvPr>
          <p:cNvSpPr>
            <a:spLocks noGrp="1"/>
          </p:cNvSpPr>
          <p:nvPr/>
        </p:nvSpPr>
        <p:spPr>
          <a:xfrm>
            <a:off x="838200" y="3333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只收集完成评测和优化所必需的数据。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BF6887F-3C2B-45A2-9AAC-ED12A0F49629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不应该因为“以后可能有用”就无限保存。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AE9279D-F52E-4FF5-B9F5-1D0DD36F87F5}"/>
              </a:ext>
            </a:extLst>
          </p:cNvPr>
          <p:cNvSpPr>
            <a:spLocks noGrp="1"/>
          </p:cNvSpPr>
          <p:nvPr/>
        </p:nvSpPr>
        <p:spPr>
          <a:xfrm>
            <a:off x="838200" y="41052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数据脱敏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4F3CE60-29DD-4A96-BE90-A74E388436FC}"/>
              </a:ext>
            </a:extLst>
          </p:cNvPr>
          <p:cNvSpPr>
            <a:spLocks noGrp="1"/>
          </p:cNvSpPr>
          <p:nvPr/>
        </p:nvSpPr>
        <p:spPr>
          <a:xfrm>
            <a:off x="838200" y="44291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1633934-AE7A-4D59-AC0F-FE41697CD3A5}"/>
              </a:ext>
            </a:extLst>
          </p:cNvPr>
          <p:cNvSpPr>
            <a:spLocks noGrp="1"/>
          </p:cNvSpPr>
          <p:nvPr/>
        </p:nvSpPr>
        <p:spPr>
          <a:xfrm>
            <a:off x="838200" y="45243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处理：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808D9AA-6EC1-4B89-A657-11682D67A8E1}"/>
              </a:ext>
            </a:extLst>
          </p:cNvPr>
          <p:cNvSpPr>
            <a:spLocks noGrp="1"/>
          </p:cNvSpPr>
          <p:nvPr/>
        </p:nvSpPr>
        <p:spPr>
          <a:xfrm>
            <a:off x="876300" y="49434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6D037B9-E0B7-4704-AEDE-F8FC46E6A78F}"/>
              </a:ext>
            </a:extLst>
          </p:cNvPr>
          <p:cNvSpPr>
            <a:spLocks noGrp="1"/>
          </p:cNvSpPr>
          <p:nvPr/>
        </p:nvSpPr>
        <p:spPr>
          <a:xfrm>
            <a:off x="1371600" y="49339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姓名；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8EBEEB8-8EAA-45D3-9703-EB70D0C90DDE}"/>
              </a:ext>
            </a:extLst>
          </p:cNvPr>
          <p:cNvSpPr>
            <a:spLocks noGrp="1"/>
          </p:cNvSpPr>
          <p:nvPr/>
        </p:nvSpPr>
        <p:spPr>
          <a:xfrm>
            <a:off x="876300" y="53435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91B3F4B-42F6-4226-ADB2-F1664150265C}"/>
              </a:ext>
            </a:extLst>
          </p:cNvPr>
          <p:cNvSpPr>
            <a:spLocks noGrp="1"/>
          </p:cNvSpPr>
          <p:nvPr/>
        </p:nvSpPr>
        <p:spPr>
          <a:xfrm>
            <a:off x="1371600" y="533400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手机号；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073457A-A747-4E6F-B916-99E738A42938}"/>
              </a:ext>
            </a:extLst>
          </p:cNvPr>
          <p:cNvSpPr>
            <a:spLocks noGrp="1"/>
          </p:cNvSpPr>
          <p:nvPr/>
        </p:nvSpPr>
        <p:spPr>
          <a:xfrm>
            <a:off x="876300" y="5743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2C60168-221E-4E11-B30A-6158AF6FB028}"/>
              </a:ext>
            </a:extLst>
          </p:cNvPr>
          <p:cNvSpPr>
            <a:spLocks noGrp="1"/>
          </p:cNvSpPr>
          <p:nvPr/>
        </p:nvSpPr>
        <p:spPr>
          <a:xfrm>
            <a:off x="1371600" y="5734050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身份证号；</a:t>
            </a:r>
          </a:p>
        </p:txBody>
      </p:sp>
    </p:spTree>
    <p:extLst>
      <p:ext uri="{BB962C8B-B14F-4D97-AF65-F5344CB8AC3E}">
        <p14:creationId xmlns:p14="http://schemas.microsoft.com/office/powerpoint/2010/main" val="111724130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DF3D22A-8E18-4EDA-BCA4-EE7C0CFA9592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B0A426-7732-4EA2-9E28-FA75F4821421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182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C33880-BD3B-4DE8-B528-E0A1AD3C6833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9FA35BD-D453-47E7-B1F4-67C85216B070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37056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57ECAF7-83E6-474C-91F6-26E83C9E6C2B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数据隐私与合规（续）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DB1920D-D3F9-49B2-A19A-FC97AF3D9804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0A52B3-F414-40C6-86AE-8E65B79324BD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E38AF99-C01C-4173-B5CC-4A39CC2CC13C}"/>
              </a:ext>
            </a:extLst>
          </p:cNvPr>
          <p:cNvSpPr>
            <a:spLocks noGrp="1"/>
          </p:cNvSpPr>
          <p:nvPr/>
        </p:nvSpPr>
        <p:spPr>
          <a:xfrm>
            <a:off x="1371600" y="1743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地址；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914CCDC-1164-4D36-912B-36037993389F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B5F7A28-5A10-489F-8E35-83ADB0734158}"/>
              </a:ext>
            </a:extLst>
          </p:cNvPr>
          <p:cNvSpPr>
            <a:spLocks noGrp="1"/>
          </p:cNvSpPr>
          <p:nvPr/>
        </p:nvSpPr>
        <p:spPr>
          <a:xfrm>
            <a:off x="1371600" y="2143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银行卡；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CBDE4A3-08D6-4366-8009-0B8C8DFCB296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69D1D42-E353-4C7F-8F7B-5D7D18A14EFD}"/>
              </a:ext>
            </a:extLst>
          </p:cNvPr>
          <p:cNvSpPr>
            <a:spLocks noGrp="1"/>
          </p:cNvSpPr>
          <p:nvPr/>
        </p:nvSpPr>
        <p:spPr>
          <a:xfrm>
            <a:off x="1371600" y="2543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医疗和财务等敏感信息。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308BC39-0EFB-4B55-8E0B-012FB7ABBAF9}"/>
              </a:ext>
            </a:extLst>
          </p:cNvPr>
          <p:cNvSpPr>
            <a:spLocks noGrp="1"/>
          </p:cNvSpPr>
          <p:nvPr/>
        </p:nvSpPr>
        <p:spPr>
          <a:xfrm>
            <a:off x="838200" y="29241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权限控制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77B5CC-E035-48F6-827B-EF1581A9AC30}"/>
              </a:ext>
            </a:extLst>
          </p:cNvPr>
          <p:cNvSpPr>
            <a:spLocks noGrp="1"/>
          </p:cNvSpPr>
          <p:nvPr/>
        </p:nvSpPr>
        <p:spPr>
          <a:xfrm>
            <a:off x="838200" y="3248025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D038B40-4F79-4336-9FDD-BFD8CE2FDF7B}"/>
              </a:ext>
            </a:extLst>
          </p:cNvPr>
          <p:cNvSpPr>
            <a:spLocks noGrp="1"/>
          </p:cNvSpPr>
          <p:nvPr/>
        </p:nvSpPr>
        <p:spPr>
          <a:xfrm>
            <a:off x="838200" y="3343275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不同团队成员只能访问工作所需范围内的数据。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3681CE9-E2B5-4C29-9DCF-FCAA37AE0752}"/>
              </a:ext>
            </a:extLst>
          </p:cNvPr>
          <p:cNvSpPr>
            <a:spLocks noGrp="1"/>
          </p:cNvSpPr>
          <p:nvPr/>
        </p:nvSpPr>
        <p:spPr>
          <a:xfrm>
            <a:off x="838200" y="373380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36D6C2"/>
                </a:solidFill>
              </a:defRPr>
            </a:pPr>
            <a:r>
              <a:rPr sz="1650" b="1">
                <a:solidFill>
                  <a:srgbClr val="36D6C2"/>
                </a:solidFill>
              </a:rPr>
              <a:t>可追踪与可删除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1D45932-DA20-4B69-ACBF-8AD90B809C72}"/>
              </a:ext>
            </a:extLst>
          </p:cNvPr>
          <p:cNvSpPr>
            <a:spLocks noGrp="1"/>
          </p:cNvSpPr>
          <p:nvPr/>
        </p:nvSpPr>
        <p:spPr>
          <a:xfrm>
            <a:off x="838200" y="4057650"/>
            <a:ext cx="762000" cy="2857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F38C1B8-6FAA-43A5-BA38-8F32AD743984}"/>
              </a:ext>
            </a:extLst>
          </p:cNvPr>
          <p:cNvSpPr>
            <a:spLocks noGrp="1"/>
          </p:cNvSpPr>
          <p:nvPr/>
        </p:nvSpPr>
        <p:spPr>
          <a:xfrm>
            <a:off x="838200" y="4152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记录数据来源、用途和处理过程，并支持按规则删除。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1D35E8-73D6-47FA-B84A-EDF403A4EBF1}"/>
              </a:ext>
            </a:extLst>
          </p:cNvPr>
          <p:cNvSpPr>
            <a:spLocks noGrp="1"/>
          </p:cNvSpPr>
          <p:nvPr/>
        </p:nvSpPr>
        <p:spPr>
          <a:xfrm>
            <a:off x="838200" y="45339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AI产品的数据闭环不能以牺牲用户隐私为代价。</a:t>
            </a:r>
          </a:p>
        </p:txBody>
      </p:sp>
    </p:spTree>
    <p:extLst>
      <p:ext uri="{BB962C8B-B14F-4D97-AF65-F5344CB8AC3E}">
        <p14:creationId xmlns:p14="http://schemas.microsoft.com/office/powerpoint/2010/main" val="9658252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5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86733EC1-31FC-4DAE-B02A-6D04A616CD5E}"/>
              </a:ext>
            </a:extLst>
          </p:cNvPr>
          <p:cNvSpPr>
            <a:spLocks noGrp="1"/>
          </p:cNvSpPr>
          <p:nvPr/>
        </p:nvSpPr>
        <p:spPr>
          <a:xfrm>
            <a:off x="647700" y="266700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ACAD811-D0C0-4B4B-B1C9-455ED8C1E934}"/>
              </a:ext>
            </a:extLst>
          </p:cNvPr>
          <p:cNvSpPr>
            <a:spLocks noGrp="1"/>
          </p:cNvSpPr>
          <p:nvPr/>
        </p:nvSpPr>
        <p:spPr>
          <a:xfrm>
            <a:off x="10953750" y="266700"/>
            <a:ext cx="609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183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DB68EE9-4E1E-4CB7-A748-616A8D0691EA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26404A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0A242A9-AF0F-4B7D-8ABE-8EAAA59AFC39}"/>
              </a:ext>
            </a:extLst>
          </p:cNvPr>
          <p:cNvSpPr>
            <a:spLocks noGrp="1"/>
          </p:cNvSpPr>
          <p:nvPr/>
        </p:nvSpPr>
        <p:spPr>
          <a:xfrm>
            <a:off x="647700" y="6477000"/>
            <a:ext cx="10896600" cy="1905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12EC3E-B69C-45EA-ACE7-7682E739963F}"/>
              </a:ext>
            </a:extLst>
          </p:cNvPr>
          <p:cNvSpPr>
            <a:spLocks noGrp="1"/>
          </p:cNvSpPr>
          <p:nvPr/>
        </p:nvSpPr>
        <p:spPr>
          <a:xfrm>
            <a:off x="647700" y="742950"/>
            <a:ext cx="10715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第八部分总结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8A87B07-56AE-41C5-BAD0-7E65CA5EEF6E}"/>
              </a:ext>
            </a:extLst>
          </p:cNvPr>
          <p:cNvSpPr>
            <a:spLocks noGrp="1"/>
          </p:cNvSpPr>
          <p:nvPr/>
        </p:nvSpPr>
        <p:spPr>
          <a:xfrm>
            <a:off x="647700" y="1504950"/>
            <a:ext cx="1524000" cy="38100"/>
          </a:xfrm>
          <a:prstGeom prst="rect">
            <a:avLst/>
          </a:prstGeom>
          <a:solidFill>
            <a:srgbClr val="36D6C2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F628A53-273C-4040-961C-320FBBC667FA}"/>
              </a:ext>
            </a:extLst>
          </p:cNvPr>
          <p:cNvSpPr>
            <a:spLocks noGrp="1"/>
          </p:cNvSpPr>
          <p:nvPr/>
        </p:nvSpPr>
        <p:spPr>
          <a:xfrm>
            <a:off x="838200" y="171450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数据反馈闭环包括：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86A1F7A-4F45-4573-8BFC-57D85FA78249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99BA89D-8652-4CF3-91E1-985B2D4EFC11}"/>
              </a:ext>
            </a:extLst>
          </p:cNvPr>
          <p:cNvSpPr>
            <a:spLocks noGrp="1"/>
          </p:cNvSpPr>
          <p:nvPr/>
        </p:nvSpPr>
        <p:spPr>
          <a:xfrm>
            <a:off x="1371600" y="21240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采集业务数据、对话记录和用户反馈。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E463015-8D18-428C-9528-B5AE17B115F2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274EC7-E6DE-419A-BC86-8348959F83AC}"/>
              </a:ext>
            </a:extLst>
          </p:cNvPr>
          <p:cNvSpPr>
            <a:spLocks noGrp="1"/>
          </p:cNvSpPr>
          <p:nvPr/>
        </p:nvSpPr>
        <p:spPr>
          <a:xfrm>
            <a:off x="1371600" y="25241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结合显性反馈与隐性行为理解产品效果。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38EA575-55AE-4164-AF62-F5C5D1279CBE}"/>
              </a:ext>
            </a:extLst>
          </p:cNvPr>
          <p:cNvSpPr>
            <a:spLocks noGrp="1"/>
          </p:cNvSpPr>
          <p:nvPr/>
        </p:nvSpPr>
        <p:spPr>
          <a:xfrm>
            <a:off x="876300" y="2933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E4AC098-0FE0-4341-9773-52C11BBCFBF7}"/>
              </a:ext>
            </a:extLst>
          </p:cNvPr>
          <p:cNvSpPr>
            <a:spLocks noGrp="1"/>
          </p:cNvSpPr>
          <p:nvPr/>
        </p:nvSpPr>
        <p:spPr>
          <a:xfrm>
            <a:off x="1371600" y="29241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对低分会话进行脱敏、去重和人工复核。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BC07FA2-2074-42A9-92F7-A73036CF68FE}"/>
              </a:ext>
            </a:extLst>
          </p:cNvPr>
          <p:cNvSpPr>
            <a:spLocks noGrp="1"/>
          </p:cNvSpPr>
          <p:nvPr/>
        </p:nvSpPr>
        <p:spPr>
          <a:xfrm>
            <a:off x="876300" y="3333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1EC5AC0-EDCF-4CBB-8E12-327936F147DE}"/>
              </a:ext>
            </a:extLst>
          </p:cNvPr>
          <p:cNvSpPr>
            <a:spLocks noGrp="1"/>
          </p:cNvSpPr>
          <p:nvPr/>
        </p:nvSpPr>
        <p:spPr>
          <a:xfrm>
            <a:off x="1371600" y="33242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对Bad Case进行清洗、标注和归因。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313746C-5AED-4B09-87B0-0CFFD482B997}"/>
              </a:ext>
            </a:extLst>
          </p:cNvPr>
          <p:cNvSpPr>
            <a:spLocks noGrp="1"/>
          </p:cNvSpPr>
          <p:nvPr/>
        </p:nvSpPr>
        <p:spPr>
          <a:xfrm>
            <a:off x="876300" y="37338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0C4DE98-D23E-4DBF-A4DF-83E87DB65894}"/>
              </a:ext>
            </a:extLst>
          </p:cNvPr>
          <p:cNvSpPr>
            <a:spLocks noGrp="1"/>
          </p:cNvSpPr>
          <p:nvPr/>
        </p:nvSpPr>
        <p:spPr>
          <a:xfrm>
            <a:off x="1371600" y="37242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根据具体失败类型设计产品实验。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00CA1CA-4962-4E92-AE9D-C4B79ADFAC8B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37BA995-5B2A-473B-92CD-271F2FB23B3C}"/>
              </a:ext>
            </a:extLst>
          </p:cNvPr>
          <p:cNvSpPr>
            <a:spLocks noGrp="1"/>
          </p:cNvSpPr>
          <p:nvPr/>
        </p:nvSpPr>
        <p:spPr>
          <a:xfrm>
            <a:off x="1371600" y="412432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通过评测和线上数据验证修改结果。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A3C0922-FC98-4440-8F7A-0DCC24D3D7DD}"/>
              </a:ext>
            </a:extLst>
          </p:cNvPr>
          <p:cNvSpPr>
            <a:spLocks noGrp="1"/>
          </p:cNvSpPr>
          <p:nvPr/>
        </p:nvSpPr>
        <p:spPr>
          <a:xfrm>
            <a:off x="876300" y="4533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F7657"/>
                </a:solidFill>
              </a:defRPr>
            </a:pPr>
            <a:r>
              <a:rPr sz="14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4A51F7D-554B-42C3-AB28-0649B40D45D7}"/>
              </a:ext>
            </a:extLst>
          </p:cNvPr>
          <p:cNvSpPr>
            <a:spLocks noGrp="1"/>
          </p:cNvSpPr>
          <p:nvPr/>
        </p:nvSpPr>
        <p:spPr>
          <a:xfrm>
            <a:off x="1371600" y="4524375"/>
            <a:ext cx="984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在隐私和合规要求下持续运行。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5BA841D-8003-4342-A4CD-B00BB7CAC611}"/>
              </a:ext>
            </a:extLst>
          </p:cNvPr>
          <p:cNvSpPr>
            <a:spLocks noGrp="1"/>
          </p:cNvSpPr>
          <p:nvPr/>
        </p:nvSpPr>
        <p:spPr>
          <a:xfrm>
            <a:off x="838200" y="4895850"/>
            <a:ext cx="1047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5F2E9"/>
                </a:solidFill>
              </a:defRPr>
            </a:pPr>
            <a:r>
              <a:rPr sz="1350" b="0">
                <a:solidFill>
                  <a:srgbClr val="F5F2E9"/>
                </a:solidFill>
              </a:rPr>
              <a:t>核心不是收集更多数据，而是：</a:t>
            </a: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71C9ECE0-A3E1-4211-85BF-157D65AE037F}"/>
              </a:ext>
            </a:extLst>
          </p:cNvPr>
          <p:cNvSpPr>
            <a:spLocks noGrp="1"/>
          </p:cNvSpPr>
          <p:nvPr/>
        </p:nvSpPr>
        <p:spPr>
          <a:xfrm>
            <a:off x="819150" y="5276850"/>
            <a:ext cx="10572750" cy="581025"/>
          </a:xfrm>
          <a:prstGeom prst="roundRect">
            <a:avLst>
              <a:gd name="adj" fmla="val 19672"/>
            </a:avLst>
          </a:prstGeom>
          <a:solidFill>
            <a:srgbClr val="0B202C"/>
          </a:solidFill>
          <a:ln w="9525">
            <a:solidFill>
              <a:srgbClr val="26404A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7CC1181-A7A6-4B7F-995B-3050B8E0BCE5}"/>
              </a:ext>
            </a:extLst>
          </p:cNvPr>
          <p:cNvSpPr>
            <a:spLocks noGrp="1"/>
          </p:cNvSpPr>
          <p:nvPr/>
        </p:nvSpPr>
        <p:spPr>
          <a:xfrm>
            <a:off x="819150" y="5276850"/>
            <a:ext cx="66675" cy="581025"/>
          </a:xfrm>
          <a:prstGeom prst="rect">
            <a:avLst/>
          </a:prstGeom>
          <a:solidFill>
            <a:srgbClr val="FF765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1A8BC17-DAB6-433A-9645-8FAEE1C5BBAF}"/>
              </a:ext>
            </a:extLst>
          </p:cNvPr>
          <p:cNvSpPr>
            <a:spLocks noGrp="1"/>
          </p:cNvSpPr>
          <p:nvPr/>
        </p:nvSpPr>
        <p:spPr>
          <a:xfrm>
            <a:off x="1104900" y="5419725"/>
            <a:ext cx="9982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5F2E9"/>
                </a:solidFill>
              </a:defRPr>
            </a:pPr>
            <a:r>
              <a:rPr sz="1500" b="1">
                <a:solidFill>
                  <a:srgbClr val="F5F2E9"/>
                </a:solidFill>
              </a:rPr>
              <a:t>把真实使用反馈持续转化为可以验证的产品改进。</a:t>
            </a:r>
          </a:p>
        </p:txBody>
      </p:sp>
    </p:spTree>
    <p:extLst>
      <p:ext uri="{BB962C8B-B14F-4D97-AF65-F5344CB8AC3E}">
        <p14:creationId xmlns:p14="http://schemas.microsoft.com/office/powerpoint/2010/main" val="119756199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1173</TotalTime>
  <Words>14502</Words>
  <Application>Microsoft Macintosh PowerPoint</Application>
  <DocSecurity>0</DocSecurity>
  <PresentationFormat>宽屏</PresentationFormat>
  <Paragraphs>3249</Paragraphs>
  <Slides>176</Slides>
  <Notes>176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176</vt:i4>
      </vt:variant>
    </vt:vector>
  </HeadingPairs>
  <TitlesOfParts>
    <vt:vector size="178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didi</cp:lastModifiedBy>
  <cp:revision>2</cp:revision>
  <dcterms:created xsi:type="dcterms:W3CDTF">2026-08-16T05:12:24Z</dcterms:created>
  <dcterms:modified xsi:type="dcterms:W3CDTF">2026-08-17T06:30:27Z</dcterms:modified>
</cp:coreProperties>
</file>