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8" r:id="rId3"/>
    <p:sldId id="257" r:id="rId4"/>
    <p:sldId id="291" r:id="rId5"/>
    <p:sldId id="258" r:id="rId6"/>
    <p:sldId id="259" r:id="rId7"/>
    <p:sldId id="260" r:id="rId8"/>
    <p:sldId id="261" r:id="rId9"/>
    <p:sldId id="262" r:id="rId10"/>
    <p:sldId id="263" r:id="rId11"/>
    <p:sldId id="290" r:id="rId12"/>
    <p:sldId id="264" r:id="rId13"/>
    <p:sldId id="265" r:id="rId14"/>
    <p:sldId id="266" r:id="rId15"/>
    <p:sldId id="267" r:id="rId16"/>
    <p:sldId id="293" r:id="rId17"/>
    <p:sldId id="268" r:id="rId18"/>
    <p:sldId id="269" r:id="rId19"/>
    <p:sldId id="271" r:id="rId20"/>
    <p:sldId id="272" r:id="rId21"/>
    <p:sldId id="273" r:id="rId22"/>
    <p:sldId id="295" r:id="rId23"/>
    <p:sldId id="296" r:id="rId24"/>
    <p:sldId id="292" r:id="rId25"/>
    <p:sldId id="277" r:id="rId26"/>
    <p:sldId id="281" r:id="rId27"/>
    <p:sldId id="294" r:id="rId28"/>
    <p:sldId id="297" r:id="rId29"/>
    <p:sldId id="285" r:id="rId30"/>
    <p:sldId id="286" r:id="rId31"/>
    <p:sldId id="298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38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85FB-D1D5-57FC-75D3-CA4138B1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2F19B-7269-D042-77FB-3FB93B750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6E58F-5284-A7BE-9D6D-36BE4094B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CFB9B-2DC2-B466-E87F-D4F341C30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10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3FFF-8EF7-5815-BB0F-88B678B3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E3A05-C151-09F1-9CA0-CD652704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3DA46-2FC6-B5EF-A314-B9766591C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658ED-B3DA-07CA-A40F-5CCD10E4A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07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6E34-A3FB-1B75-91E2-C30D6C7B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21348-D10E-6B3A-AD1A-569E99CF2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538D7-D661-929B-2F84-42D4A4E0F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78B64-F7E5-97BC-F109-85669C83F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0158-44B3-A2C7-9A78-B6341BF8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C4366-8517-9C15-3C2B-56226F0A6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30FCB-9EB2-780E-54D5-5CDDC0651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A42B-5097-7DAC-AF83-6FA83BD63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09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4F73-6BEB-15BB-7622-E778F993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25FCC-0D68-A903-8CBF-E471BA567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7CD09-A424-FE5B-7CDC-8767DA0A2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26553-D147-1477-215A-F0B5CA449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59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FEB4-1CAE-96F0-EED5-B261D6FF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DB902-B970-ABDA-BD2B-5CE2B309C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710A4-97DB-8D8B-0BCB-36F9588E1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7C569-6CA3-684A-786C-EA07ADEC3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08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15FF-B0FC-F7E1-37BC-69E4BB61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D292A-93CA-19E8-8D0B-3AD83483B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E51A6-272F-639C-CCAD-39EB4CB86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8E1EC-CCF0-5293-535F-12557139C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77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C9A2-3CD3-7302-E415-780F8607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349AB-0874-840D-309A-9B8862F41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63749-5D19-E9FD-1D01-CD0EDB7A5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E15A8-DC9E-AE63-4FC0-0E22EE844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10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24C76-2C36-3E1F-495A-D03271A1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3F319-9173-3544-6719-F53EB192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5EC6C-7EE5-87B9-40B8-0F199C2F6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93C9D-2ECE-15B1-B0EE-320FA6D5F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744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3E45-17AC-9DD6-DE9A-14071081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34060-BC4C-8C59-F899-69CFF673B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127BB-4AF2-015F-2F98-183698C80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A20E2-D2FC-440D-45FC-AB5F61A27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613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371600"/>
            <a:ext cx="5669280" cy="5669280"/>
          </a:xfrm>
          <a:prstGeom prst="ellipse">
            <a:avLst/>
          </a:prstGeom>
          <a:solidFill>
            <a:srgbClr val="246BFD">
              <a:alpha val="65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36C5F0">
              <a:alpha val="4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709676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36C5F0">
              <a:alpha val="1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8183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C5F0"/>
                </a:solidFill>
              </a:rPr>
              <a:t>第 00 课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</a:rPr>
              <a:t>开班典礼与学习地图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27614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C9D7EB"/>
                </a:solidFill>
              </a:rPr>
              <a:t>看清地图，好好学习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3246120"/>
            <a:ext cx="5303520" cy="0"/>
          </a:xfrm>
          <a:prstGeom prst="line">
            <a:avLst/>
          </a:prstGeom>
          <a:noFill/>
          <a:ln w="38100">
            <a:solidFill>
              <a:srgbClr val="36C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6616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C5F0"/>
                </a:solidFill>
              </a:rPr>
              <a:t>系统知识  ×  项目实践  ×  求职转化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AI 产品经理系统课程 · 第一阶段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A6AAF-AF15-F0C7-9230-6C2E51BA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2A4F843-033C-ECBD-7428-51B6FE6C63DF}"/>
              </a:ext>
            </a:extLst>
          </p:cNvPr>
          <p:cNvSpPr/>
          <p:nvPr/>
        </p:nvSpPr>
        <p:spPr>
          <a:xfrm>
            <a:off x="9398000" y="-973836"/>
            <a:ext cx="3840480" cy="3840480"/>
          </a:xfrm>
          <a:prstGeom prst="ellipse">
            <a:avLst/>
          </a:prstGeom>
          <a:solidFill>
            <a:srgbClr val="36C5F0">
              <a:alpha val="4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505F3-7EDF-DDB1-3B5B-FFDFB8A91D2A}"/>
              </a:ext>
            </a:extLst>
          </p:cNvPr>
          <p:cNvSpPr/>
          <p:nvPr/>
        </p:nvSpPr>
        <p:spPr>
          <a:xfrm>
            <a:off x="1615440" y="302666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 err="1">
                <a:solidFill>
                  <a:srgbClr val="FFFFFF"/>
                </a:solidFill>
              </a:rPr>
              <a:t>欢迎大家开启自己的AI时代</a:t>
            </a:r>
            <a:endParaRPr lang="en-US" sz="3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E3007F-5B77-F812-A8D2-6C17997A1994}"/>
              </a:ext>
            </a:extLst>
          </p:cNvPr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AI 产品经理系统课程 · 第一阶段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6180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开场诊断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你现在最大的困惑是什么？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73152" cy="16002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61668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967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26464" y="17256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方向不清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不知道 AI 产品经理具体做什么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4813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481328"/>
            <a:ext cx="73152" cy="16002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1659636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7967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1826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技术焦虑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90872" y="22677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名词很多，担心自己学不会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4813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481328"/>
            <a:ext cx="73152" cy="160020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7344" y="1659636"/>
            <a:ext cx="420624" cy="420624"/>
          </a:xfrm>
          <a:prstGeom prst="ellipse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7967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15984" y="172567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工具碎片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85632" y="22677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会用一些工具，但没有体系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387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538728"/>
            <a:ext cx="73152" cy="16002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3717036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8541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26464" y="379247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没有项目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96112" y="43251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学过概念，却没有完整产出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434840" y="35387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3538728"/>
            <a:ext cx="73152" cy="160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2584" y="3717036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385419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21224" y="379145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不会表达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690872" y="43251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经历和项目无法转成求职证据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568756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42B4A"/>
                </a:solidFill>
              </a:rPr>
              <a:t>请选择最接近你当前状态的一项，并用在评论区介绍下自己的背景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176D9588-EECB-89D0-2AA4-4FE866A2D7F0}"/>
              </a:ext>
            </a:extLst>
          </p:cNvPr>
          <p:cNvSpPr/>
          <p:nvPr/>
        </p:nvSpPr>
        <p:spPr>
          <a:xfrm>
            <a:off x="8229600" y="3538728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F03A4ABC-D6E3-BC4B-E0E3-D4F33F12349C}"/>
              </a:ext>
            </a:extLst>
          </p:cNvPr>
          <p:cNvSpPr/>
          <p:nvPr/>
        </p:nvSpPr>
        <p:spPr>
          <a:xfrm>
            <a:off x="8229600" y="3538728"/>
            <a:ext cx="73152" cy="1600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62483167-3FC5-5963-8CA1-A93BFA6192FA}"/>
              </a:ext>
            </a:extLst>
          </p:cNvPr>
          <p:cNvSpPr/>
          <p:nvPr/>
        </p:nvSpPr>
        <p:spPr>
          <a:xfrm>
            <a:off x="8467344" y="3717036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0C4664EA-DC15-8748-79EB-8857511E7FA0}"/>
              </a:ext>
            </a:extLst>
          </p:cNvPr>
          <p:cNvSpPr/>
          <p:nvPr/>
        </p:nvSpPr>
        <p:spPr>
          <a:xfrm>
            <a:off x="8467344" y="3860292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A8795EC8-B1D2-BB47-7807-080FC3F68491}"/>
              </a:ext>
            </a:extLst>
          </p:cNvPr>
          <p:cNvSpPr/>
          <p:nvPr/>
        </p:nvSpPr>
        <p:spPr>
          <a:xfrm>
            <a:off x="9015984" y="37856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42B4A"/>
                </a:solidFill>
              </a:rPr>
              <a:t>其他</a:t>
            </a:r>
            <a:endParaRPr lang="en-US" sz="155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EE4817C7-9D0E-3DC3-A453-B8FC4D124C5E}"/>
              </a:ext>
            </a:extLst>
          </p:cNvPr>
          <p:cNvSpPr/>
          <p:nvPr/>
        </p:nvSpPr>
        <p:spPr>
          <a:xfrm>
            <a:off x="8485632" y="4325112"/>
            <a:ext cx="2926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E7148-5F2A-3032-298B-38D88330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F3E8BE9-474E-D43F-25F2-23C1DED65BCD}"/>
              </a:ext>
            </a:extLst>
          </p:cNvPr>
          <p:cNvSpPr/>
          <p:nvPr/>
        </p:nvSpPr>
        <p:spPr>
          <a:xfrm>
            <a:off x="9398000" y="-973836"/>
            <a:ext cx="3840480" cy="3840480"/>
          </a:xfrm>
          <a:prstGeom prst="ellipse">
            <a:avLst/>
          </a:prstGeom>
          <a:solidFill>
            <a:srgbClr val="36C5F0">
              <a:alpha val="42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7CAC0FD-590A-5F5F-FF4E-C07E3D1CC1A8}"/>
              </a:ext>
            </a:extLst>
          </p:cNvPr>
          <p:cNvSpPr/>
          <p:nvPr/>
        </p:nvSpPr>
        <p:spPr>
          <a:xfrm>
            <a:off x="1615440" y="302666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你和最好的AI产品经理的差距是</a:t>
            </a:r>
            <a:r>
              <a:rPr lang="en-US" altLang="zh-CN" sz="3800" b="1" dirty="0">
                <a:solidFill>
                  <a:srgbClr val="FFFFFF"/>
                </a:solidFill>
              </a:rPr>
              <a:t>6</a:t>
            </a:r>
            <a:r>
              <a:rPr lang="zh-CN" altLang="en-US" sz="3800" b="1" dirty="0">
                <a:solidFill>
                  <a:srgbClr val="FFFFFF"/>
                </a:solidFill>
              </a:rPr>
              <a:t>个月</a:t>
            </a:r>
            <a:endParaRPr lang="en-US" sz="3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D2C6F5-784B-4984-F347-DF94D510E151}"/>
              </a:ext>
            </a:extLst>
          </p:cNvPr>
          <p:cNvSpPr/>
          <p:nvPr/>
        </p:nvSpPr>
        <p:spPr>
          <a:xfrm>
            <a:off x="749808" y="6080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E"/>
                </a:solidFill>
              </a:rPr>
              <a:t>AI 产品经理系统课程 · 第一阶段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0836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本课目标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今天完成四件事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00200"/>
            <a:ext cx="73152" cy="34290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78308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讲清初心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为什么要做这门课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600200"/>
            <a:ext cx="73152" cy="34290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78308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看懂路径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67328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三个阶段怎样递进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600200"/>
            <a:ext cx="73152" cy="34290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178308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50608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建立约定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20256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如何更新、纠错与保证质量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17152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17152" y="1600200"/>
            <a:ext cx="73152" cy="342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178308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4896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03536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开始行动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473184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完成第一次 AI </a:t>
            </a:r>
            <a:r>
              <a:rPr lang="en-US" sz="1150" dirty="0" err="1">
                <a:solidFill>
                  <a:srgbClr val="667085"/>
                </a:solidFill>
              </a:rPr>
              <a:t>场景思考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01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为什么要做这门课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课程初心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我调研到的课程，常见两种偏向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5257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347472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69164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422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17904" y="1728216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偏技术原理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87552" y="2295144"/>
            <a:ext cx="47548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模型、训练、微调、向量、召回讲得很深。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产品经理听懂概念后，仍可能不知道怎样转化为需求、PRD、交互和项目决策。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508760"/>
            <a:ext cx="525780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508760"/>
            <a:ext cx="73152" cy="3474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69164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182422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86016" y="1728216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偏工具操作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55664" y="2295144"/>
            <a:ext cx="47548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搭 Bot、做工作流、生成网页和原型。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学员可能做出 Demo，却回答不了为什么要做、效果怎样验证、出了错谁负责。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085"/>
                </a:solidFill>
              </a:rPr>
              <a:t>说明：这是基于有限课程样本的个人观察，不代表对整个市场的绝对判断。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核心立场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AI 产品经理 ≠ AI 工具产品经理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EDF4FF"/>
          </a:solidFill>
          <a:ln w="12700">
            <a:solidFill>
              <a:srgbClr val="BB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6BFD"/>
                </a:solidFill>
              </a:rPr>
              <a:t>会使用 AI 工具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研究与写作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搭建 Bot / Workflow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生成原型与 Demo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rgbClr val="1F2937"/>
                </a:solidFill>
              </a:rPr>
              <a:t>提高个人工作效率</a:t>
            </a:r>
            <a:endParaRPr lang="en-US" sz="1600" dirty="0">
              <a:solidFill>
                <a:srgbClr val="1F2937"/>
              </a:solidFill>
            </a:endParaRPr>
          </a:p>
          <a:p>
            <a:pPr marL="0" indent="0" algn="ctr">
              <a:buNone/>
            </a:pPr>
            <a:r>
              <a:rPr lang="en-US" sz="1600" dirty="0"/>
              <a:t>Vibe</a:t>
            </a:r>
            <a:r>
              <a:rPr lang="zh-CN" altLang="en-US" sz="1600" dirty="0"/>
              <a:t> </a:t>
            </a:r>
            <a:r>
              <a:rPr lang="en-US" altLang="zh-CN" sz="1600" dirty="0"/>
              <a:t>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F0F9F4"/>
          </a:solidFill>
          <a:ln w="12700">
            <a:solidFill>
              <a:srgbClr val="BFE6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</a:rPr>
              <a:t>会设计 AI 产品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识别真实业务问题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判断 AI 是否必要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设计系统与异常路径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对效果、风险和价值负责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3872" y="3063240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核心立场</a:t>
            </a:r>
            <a:endParaRPr lang="en-US" alt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工具仍然重要，但它是手段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73152" cy="32004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82880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72184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研究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41832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快速获得信息和线索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38728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645920"/>
            <a:ext cx="73152" cy="32004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182880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5112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表达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94760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把方案变成文档与图示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91656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91656" y="1645920"/>
            <a:ext cx="73152" cy="32004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82880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验证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47688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低成本做原型和 Demo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44584" y="1645920"/>
            <a:ext cx="2514600" cy="32004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44584" y="1645920"/>
            <a:ext cx="73152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328" y="18288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328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30968" y="18653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提效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500616" y="2432304"/>
            <a:ext cx="201168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缩短重复劳动时间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关键追问：它帮助我们解决了什么产品问题？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88720" y="52578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课程不会排斥工具，也不会把工具熟练度当成岗位价值的全部。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课程初心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课程试图连接技术与产品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200400" cy="347472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73152" cy="347472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73736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6994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17904" y="177393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理解够用的技术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87552" y="2340864"/>
            <a:ext cx="26974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知道模型、Prompt、Workflow、RAG、Agent 的作用、边界和基本机制。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2880360"/>
            <a:ext cx="59436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3200400" cy="347472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54480"/>
            <a:ext cx="73152" cy="34747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2624" y="173736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86994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41264" y="1773936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形成产品判断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10912" y="2340864"/>
            <a:ext cx="269748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从用户、业务、流程、风险和价值出发，选择合适方案。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2880360"/>
            <a:ext cx="59436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554480"/>
            <a:ext cx="2651760" cy="34747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0" y="1554480"/>
            <a:ext cx="73152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173736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5984" y="186994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64624" y="177393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推动真实落地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34272" y="2340864"/>
            <a:ext cx="214884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用测试、反馈、成本与协作，把 Demo 推向可用产品。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62B1-5FCA-A868-9A6C-0688FBB9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7A858F-A6D2-2F5A-8A67-FB20CDE670B9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课程初心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F7A467-F9E3-8BAA-BE99-9E0A5897519D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注意事项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78B78E-FD80-15FB-16AB-11C163CABAB5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9FE95D8-8D8D-DCC7-8D48-DA8C4D15A186}"/>
              </a:ext>
            </a:extLst>
          </p:cNvPr>
          <p:cNvGrpSpPr/>
          <p:nvPr/>
        </p:nvGrpSpPr>
        <p:grpSpPr>
          <a:xfrm>
            <a:off x="894080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25AE68A-2B11-684A-316D-87CF5B592C75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保持自信但不要自我感觉良好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018C0A42-8B73-F332-4C84-C17DC059CD4A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84635801-B417-FC08-C86E-FB531758F505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747C6857-39A0-CA50-7F54-22E4AF16BB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92B27F0-317C-E282-3D71-B451B5C6737C}"/>
              </a:ext>
            </a:extLst>
          </p:cNvPr>
          <p:cNvGrpSpPr/>
          <p:nvPr/>
        </p:nvGrpSpPr>
        <p:grpSpPr>
          <a:xfrm>
            <a:off x="894079" y="2776391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181342B-DF1E-F4E1-7EA1-56AF597CC2FA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多互动，不懂就问</a:t>
              </a: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2094057B-7F5F-1B81-39B9-6ABE2B32C5E0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6490A5B-E7DC-03A8-7B4D-C22E4110E29D}"/>
              </a:ext>
            </a:extLst>
          </p:cNvPr>
          <p:cNvGrpSpPr/>
          <p:nvPr/>
        </p:nvGrpSpPr>
        <p:grpSpPr>
          <a:xfrm>
            <a:off x="894078" y="3907875"/>
            <a:ext cx="8699709" cy="720000"/>
            <a:chOff x="640080" y="1481328"/>
            <a:chExt cx="8699709" cy="72000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40F60CAE-58B0-AE77-F07C-3A1D5D555A0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多学多练习</a:t>
              </a:r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2C46525F-4B8D-2224-987F-0D1CE9948A1C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76921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02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课程三阶段的设计思路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9D7EB"/>
                </a:solidFill>
              </a:rPr>
              <a:t>知识不是终点：最终要进入项目，再进入求职表达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课程设计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三阶段是一条成果链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00200"/>
            <a:ext cx="73152" cy="34747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82880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3624" y="1819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第一阶段｜系统学习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386584"/>
            <a:ext cx="27432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建立 AI </a:t>
            </a:r>
            <a:r>
              <a:rPr lang="en-US" sz="1150" dirty="0" err="1">
                <a:solidFill>
                  <a:srgbClr val="667085"/>
                </a:solidFill>
              </a:rPr>
              <a:t>产品完整地图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2971800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002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00200"/>
            <a:ext cx="73152" cy="34747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82880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58384" y="1819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第二阶段｜项目实践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828032" y="2386584"/>
            <a:ext cx="27432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把知识变成可展示产出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0" y="2971800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600200"/>
            <a:ext cx="3246120" cy="34747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1600200"/>
            <a:ext cx="73152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4504" y="18288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53144" y="18196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第三阶段｜求职转化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622792" y="2386584"/>
            <a:ext cx="2743200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让市场看懂并相信能力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系统学习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第一阶段｜建立体系化认知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17830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基础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20370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大模型、Prompt 与上下文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417320"/>
            <a:ext cx="73152" cy="178308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判断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36592" y="220370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场景与产品形态选择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02752" y="141732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2752" y="1417320"/>
            <a:ext cx="73152" cy="17830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方案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58784" y="220370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PRD、Workflow、RAG、Agent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657600"/>
            <a:ext cx="73152" cy="178308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表达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44398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交互、原型与 Demo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3657600"/>
            <a:ext cx="73152" cy="17830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验证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36592" y="444398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测试、Bad Case、风险治理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02752" y="3657600"/>
            <a:ext cx="345643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02752" y="3657600"/>
            <a:ext cx="73152" cy="1783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58784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经营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558784" y="4443984"/>
            <a:ext cx="2953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模型选择、成本、ROI 与立项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系统学习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热门内容很多，但不是名词堆砌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46BF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44952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7655D4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66944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FF9F4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8384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88936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7AE6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0376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10928" y="160020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36C5F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02368" y="17739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MCP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46BFD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 Calling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44952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7655D4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Vibe Coding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66944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FF9F43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Bad Case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88936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27AE6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成本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10928" y="25603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36C5F0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" y="3977640"/>
            <a:ext cx="101498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297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B4A"/>
                </a:solidFill>
              </a:rPr>
              <a:t>学习目标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0" y="42702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知道每个概念解决什么问题、彼此是什么关系、何时适合使用，以及怎样进入产品方案。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B836-E748-539C-5885-74296EAA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123CF4-DB07-C35F-1D11-24626DBF8E53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 err="1">
                <a:solidFill>
                  <a:srgbClr val="246BFD"/>
                </a:solidFill>
              </a:rPr>
              <a:t>系统学习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F7653B-68C5-5FFF-874C-5A21952300D9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双线成长结构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5C949BE-412E-2A0E-B3E4-874BA8DD387E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231745-4A92-B3EA-80DD-0CCD88E525B1}"/>
              </a:ext>
            </a:extLst>
          </p:cNvPr>
          <p:cNvSpPr/>
          <p:nvPr/>
        </p:nvSpPr>
        <p:spPr>
          <a:xfrm>
            <a:off x="77724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EDF4FF"/>
          </a:solidFill>
          <a:ln w="12700">
            <a:solidFill>
              <a:srgbClr val="BBD2F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A11862-E839-C7EB-CC0B-840F512C4000}"/>
              </a:ext>
            </a:extLst>
          </p:cNvPr>
          <p:cNvSpPr/>
          <p:nvPr/>
        </p:nvSpPr>
        <p:spPr>
          <a:xfrm>
            <a:off x="109728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246BFD"/>
                </a:solidFill>
              </a:rPr>
              <a:t>会用AI的产品经理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D27D5A-50DA-2D13-33CB-24A136A12B9C}"/>
              </a:ext>
            </a:extLst>
          </p:cNvPr>
          <p:cNvSpPr/>
          <p:nvPr/>
        </p:nvSpPr>
        <p:spPr>
          <a:xfrm>
            <a:off x="132588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dirty="0" err="1"/>
              <a:t>用</a:t>
            </a:r>
            <a:r>
              <a:rPr lang="en-US" altLang="zh-CN" dirty="0"/>
              <a:t> AI </a:t>
            </a:r>
            <a:r>
              <a:rPr lang="en-US" altLang="zh-CN" dirty="0" err="1"/>
              <a:t>提升调研、竞品、需求、PRD、原型与</a:t>
            </a:r>
            <a:r>
              <a:rPr lang="en-US" altLang="zh-CN" dirty="0"/>
              <a:t> Demo </a:t>
            </a:r>
            <a:r>
              <a:rPr lang="en-US" altLang="zh-CN" dirty="0" err="1"/>
              <a:t>效率</a:t>
            </a:r>
            <a:r>
              <a:rPr lang="zh-CN" altLang="zh-CN" sz="1600" dirty="0"/>
              <a:t> 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9385F9A-C81F-DF10-2846-42B7FA55E8B0}"/>
              </a:ext>
            </a:extLst>
          </p:cNvPr>
          <p:cNvSpPr/>
          <p:nvPr/>
        </p:nvSpPr>
        <p:spPr>
          <a:xfrm>
            <a:off x="6537960" y="1508760"/>
            <a:ext cx="4846320" cy="3977640"/>
          </a:xfrm>
          <a:prstGeom prst="roundRect">
            <a:avLst>
              <a:gd name="adj" fmla="val 1379"/>
            </a:avLst>
          </a:prstGeom>
          <a:solidFill>
            <a:srgbClr val="F0F9F4"/>
          </a:solidFill>
          <a:ln w="12700">
            <a:solidFill>
              <a:srgbClr val="BFE6CE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D5FBE4-A102-262C-C877-C2FE4818736A}"/>
              </a:ext>
            </a:extLst>
          </p:cNvPr>
          <p:cNvSpPr/>
          <p:nvPr/>
        </p:nvSpPr>
        <p:spPr>
          <a:xfrm>
            <a:off x="685800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27AE60"/>
                </a:solidFill>
              </a:rPr>
              <a:t>会做AI产品的产品经理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FAD90C-A673-7B53-6050-41E75C20EC3D}"/>
              </a:ext>
            </a:extLst>
          </p:cNvPr>
          <p:cNvSpPr/>
          <p:nvPr/>
        </p:nvSpPr>
        <p:spPr>
          <a:xfrm>
            <a:off x="7086600" y="2514600"/>
            <a:ext cx="3749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dirty="0" err="1"/>
              <a:t>完成场景、架构、风险、评估、成本和落地设计</a:t>
            </a:r>
            <a:r>
              <a:rPr lang="zh-CN" altLang="zh-CN" sz="1600" dirty="0"/>
              <a:t> 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F3DA94-AC15-A981-CA99-3E32CD9AD67F}"/>
              </a:ext>
            </a:extLst>
          </p:cNvPr>
          <p:cNvSpPr/>
          <p:nvPr/>
        </p:nvSpPr>
        <p:spPr>
          <a:xfrm>
            <a:off x="5998464" y="3282695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F7324E2-1A2F-ABAC-A491-173D43D1AA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FE84A89-8987-11C9-D3BE-AAF4FDECAFF7}"/>
              </a:ext>
            </a:extLst>
          </p:cNvPr>
          <p:cNvSpPr/>
          <p:nvPr/>
        </p:nvSpPr>
        <p:spPr>
          <a:xfrm rot="10800000">
            <a:off x="5623560" y="3282695"/>
            <a:ext cx="50292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300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项目实践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第二阶段｜用项目把知识变成能力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73152" cy="34290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2880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26464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公共项目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6112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所有人走通 0→1 完整闭环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3063240"/>
            <a:ext cx="41148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11296" y="1600200"/>
            <a:ext cx="73152" cy="342900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82880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方向项目 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767328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Workflow / RAG / Agent / 复杂 B 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71616" y="3063240"/>
            <a:ext cx="41148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1600200"/>
            <a:ext cx="73152" cy="34290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0256" y="182880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68896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方向项目 B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38544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选择与背景、目标岗位匹配的方向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42832" y="3063240"/>
            <a:ext cx="411480" cy="384048"/>
          </a:xfrm>
          <a:prstGeom prst="chevron">
            <a:avLst/>
          </a:prstGeom>
          <a:solidFill>
            <a:srgbClr val="36C5F0">
              <a:alpha val="88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3728" y="1600200"/>
            <a:ext cx="2542032" cy="34290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53728" y="1600200"/>
            <a:ext cx="73152" cy="342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91472" y="18288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91472" y="191566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40112" y="181965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主项目深化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509760" y="2386584"/>
            <a:ext cx="203911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补齐指标、风险、成本和追问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011680" y="53492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B4A"/>
                </a:solidFill>
              </a:rPr>
              <a:t>最终形成：3 个完整项目 + 1 个重点主项目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项目实践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为什么采用小组和不同项目？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7248" y="139395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320" y="161289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5320" y="169367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64232" y="160883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避免同质化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01008" y="148996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不是全班复制同一个知识库机器人，每个人保留独立选题和产出。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25320" y="271017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5320" y="279095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64232" y="270611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扩大案例面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1008" y="258724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不同背景带来不同业务、流程、用户和系统限制。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925320" y="380745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5320" y="388823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64232" y="380339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共享 Bad Case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01008" y="368452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同学之间不仅分享结果，也分享失败、修改和验证过程。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925320" y="4904739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5320" y="4985511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64232" y="4900675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B4A"/>
                </a:solidFill>
              </a:rPr>
              <a:t>训练协作表达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01008" y="4781804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展示、互评和追问，让方案从“自己觉得对”变成“别人能理解”。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求职转化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第三阶段｜把项目转化成求职证据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74520"/>
            <a:ext cx="658368" cy="658368"/>
          </a:xfrm>
          <a:prstGeom prst="ellipse">
            <a:avLst/>
          </a:prstGeom>
          <a:solidFill>
            <a:srgbClr val="246BF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75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定位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目标岗位与 JD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1874520"/>
            <a:ext cx="658368" cy="658368"/>
          </a:xfrm>
          <a:prstGeom prst="ellipse">
            <a:avLst/>
          </a:prstGeom>
          <a:solidFill>
            <a:srgbClr val="7655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075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简历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41448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经历与关键词证据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41648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37176" y="1874520"/>
            <a:ext cx="658368" cy="658368"/>
          </a:xfrm>
          <a:prstGeom prst="ellipse">
            <a:avLst/>
          </a:prstGeom>
          <a:solidFill>
            <a:srgbClr val="FF9F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2075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9976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项目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79976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主项目深度表达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0176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5704" y="1874520"/>
            <a:ext cx="658368" cy="658368"/>
          </a:xfrm>
          <a:prstGeom prst="ellipse">
            <a:avLst/>
          </a:prstGeom>
          <a:solidFill>
            <a:srgbClr val="36C5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2075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18504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作品集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18504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辅助材料与图示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18704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14232" y="1874520"/>
            <a:ext cx="658368" cy="658368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4232" y="2075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57032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面试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57032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追问与模拟反馈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57232" y="2011680"/>
            <a:ext cx="320040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1874520"/>
            <a:ext cx="658368" cy="658368"/>
          </a:xfrm>
          <a:prstGeom prst="ellipse">
            <a:avLst/>
          </a:prstGeom>
          <a:solidFill>
            <a:srgbClr val="E85D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52760" y="2075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95560" y="27889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投递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195560" y="3246120"/>
            <a:ext cx="15727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版本管理与复盘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0160" y="4937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B4A"/>
                </a:solidFill>
              </a:rPr>
              <a:t>目标不是“包装得像做过”，而是让真实能力更容易被看见、理解和追问。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课程设计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三个阶段，分别回答三个问题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73152" cy="338328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87452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362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你懂不懂？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432304"/>
            <a:ext cx="274320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第一阶段建立体系与判断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45920"/>
            <a:ext cx="73152" cy="33832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187452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5838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你做没做？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828032" y="2432304"/>
            <a:ext cx="274320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第二阶段形成项目与证据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164592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645920"/>
            <a:ext cx="73152" cy="3383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4504" y="187452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5314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你讲得清吗？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622792" y="2432304"/>
            <a:ext cx="2743200" cy="2395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667085"/>
                </a:solidFill>
              </a:rPr>
              <a:t>第三阶段完成求职转化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03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课程的一些说明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42CF-EB3B-4312-120F-364BBDE2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DD2BC2-3E75-9A63-09D5-4B35EF2D88BD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课程约定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08685E-7043-E651-C8AF-1812140FD6BE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上课事项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4511C7-79E9-A88B-1F23-2AEDFC93F59B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2008BF0-E19B-9A78-6CC0-991E2A5003D1}"/>
              </a:ext>
            </a:extLst>
          </p:cNvPr>
          <p:cNvGrpSpPr/>
          <p:nvPr/>
        </p:nvGrpSpPr>
        <p:grpSpPr>
          <a:xfrm>
            <a:off x="1151657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180027A-D129-29EF-CB98-670DBDC63E6C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每周两次课，一次在周末，一次在周中，预计是周三和周日，但有可能调整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2DFF1C6-8918-8BF9-346E-D190F0955EB1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BCB31194-BC2A-460C-739A-E8374BDDE577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E017693A-7B8C-D300-E7D8-2F3855C638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B44BA33-2C5A-52F7-D278-DBCA2282CD17}"/>
              </a:ext>
            </a:extLst>
          </p:cNvPr>
          <p:cNvGrpSpPr/>
          <p:nvPr/>
        </p:nvGrpSpPr>
        <p:grpSpPr>
          <a:xfrm>
            <a:off x="1151657" y="2709000"/>
            <a:ext cx="8699709" cy="720000"/>
            <a:chOff x="640080" y="1481328"/>
            <a:chExt cx="8699709" cy="72000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4404D7BF-A516-102E-F93B-4D7F2615B729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每次的课程大约在</a:t>
              </a:r>
              <a:r>
                <a:rPr lang="en-US" altLang="zh-CN" sz="2000" dirty="0"/>
                <a:t>2</a:t>
              </a:r>
              <a:r>
                <a:rPr lang="zh-CN" altLang="en-US" sz="2000" dirty="0"/>
                <a:t>个小时左右，会根据具体的课程内容做适当调整。</a:t>
              </a:r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24837263-0D04-F123-05A9-6335EFA1D6F7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BA9D3E-AE43-90F9-FC97-B9040E3805E8}"/>
              </a:ext>
            </a:extLst>
          </p:cNvPr>
          <p:cNvGrpSpPr/>
          <p:nvPr/>
        </p:nvGrpSpPr>
        <p:grpSpPr>
          <a:xfrm>
            <a:off x="1151656" y="3840484"/>
            <a:ext cx="8699709" cy="720000"/>
            <a:chOff x="640080" y="1481328"/>
            <a:chExt cx="8699709" cy="720000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3DBBBD0D-E5F3-9A3F-51B2-EEAADB368527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整个课程预计是</a:t>
              </a:r>
              <a:r>
                <a:rPr lang="en-US" altLang="zh-CN" sz="2000" dirty="0"/>
                <a:t>3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-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4</a:t>
              </a:r>
              <a:r>
                <a:rPr lang="zh-CN" altLang="en-US" sz="2000" dirty="0"/>
                <a:t>个月的时间，其中第一阶段大约</a:t>
              </a:r>
              <a:r>
                <a:rPr lang="en-US" altLang="zh-CN" sz="2000" dirty="0"/>
                <a:t>1.5</a:t>
              </a:r>
              <a:r>
                <a:rPr lang="zh-CN" altLang="en-US" sz="2000" dirty="0"/>
                <a:t>个月</a:t>
              </a:r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40240FAA-03C3-A81C-0666-B66EEB522C3A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3736034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B749-6126-0680-788B-3AC92FAE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FF3711-A16D-80CC-C163-2E452375DEED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课程约定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B37C59-9E10-4FEE-C372-700A0F612E10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后期上课准备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391942-9FA7-41C4-13FD-7080B0A6B9A1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0F992C-F202-78E5-FAA5-E92480BB5D8D}"/>
              </a:ext>
            </a:extLst>
          </p:cNvPr>
          <p:cNvGrpSpPr/>
          <p:nvPr/>
        </p:nvGrpSpPr>
        <p:grpSpPr>
          <a:xfrm>
            <a:off x="1151657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9F2CC7BA-B3CF-6F47-9882-7B6243AAC453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科学上网，找到稳定科学上网的方法。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6885562B-3F5F-90DB-72B3-BE3356D3FA1E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EECB2F9B-9896-1FD8-641C-7CE3757A4447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F0302479-7E7E-8A66-1EA1-6D1C03E738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4F8D5E5-68F3-FE4F-66A3-5F1478B65DF7}"/>
              </a:ext>
            </a:extLst>
          </p:cNvPr>
          <p:cNvGrpSpPr/>
          <p:nvPr/>
        </p:nvGrpSpPr>
        <p:grpSpPr>
          <a:xfrm>
            <a:off x="1151657" y="2709000"/>
            <a:ext cx="8699709" cy="720000"/>
            <a:chOff x="640080" y="1481328"/>
            <a:chExt cx="8699709" cy="72000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1C30592F-8AC0-9B2E-2722-2EB2BE5606A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</a:t>
              </a:r>
              <a:r>
                <a:rPr lang="en-US" altLang="zh-CN" sz="2000" dirty="0"/>
                <a:t>Claude/ChatGPT/Gemini</a:t>
              </a:r>
              <a:r>
                <a:rPr lang="zh-CN" altLang="en-US" sz="2000" dirty="0"/>
                <a:t>，</a:t>
              </a:r>
              <a:r>
                <a:rPr lang="en-US" altLang="zh-CN" sz="2000" dirty="0"/>
                <a:t>3</a:t>
              </a:r>
              <a:r>
                <a:rPr lang="zh-CN" altLang="en-US" sz="2000" dirty="0"/>
                <a:t>个账号必须有其中的一个，优先级依次递减。</a:t>
              </a:r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61669309-ECD1-9350-F464-5B75789EAAC7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EC65C93-062E-6BE8-0A04-A61370B6E101}"/>
              </a:ext>
            </a:extLst>
          </p:cNvPr>
          <p:cNvGrpSpPr/>
          <p:nvPr/>
        </p:nvGrpSpPr>
        <p:grpSpPr>
          <a:xfrm>
            <a:off x="1151656" y="3840484"/>
            <a:ext cx="8699709" cy="720000"/>
            <a:chOff x="640080" y="1481328"/>
            <a:chExt cx="8699709" cy="720000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3D7F1AD7-5A20-D4E4-89D7-C8E4C261D8A7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</a:t>
              </a:r>
              <a:r>
                <a:rPr lang="en-US" altLang="zh-CN" sz="2000" dirty="0"/>
                <a:t>Claude</a:t>
              </a:r>
              <a:r>
                <a:rPr lang="zh-CN" altLang="en-US" sz="2000" dirty="0"/>
                <a:t> </a:t>
              </a:r>
              <a:r>
                <a:rPr lang="en-US" altLang="zh-CN" sz="2000" dirty="0"/>
                <a:t>Code/Codex</a:t>
              </a:r>
              <a:r>
                <a:rPr lang="zh-CN" altLang="en-US" sz="2000" dirty="0"/>
                <a:t>需要有其中的一个，如果没有对应账号需要自购</a:t>
              </a:r>
              <a:r>
                <a:rPr lang="en-US" altLang="zh-CN" sz="2000" dirty="0"/>
                <a:t>API</a:t>
              </a:r>
              <a:endParaRPr lang="zh-CN" altLang="en-US" sz="2000" dirty="0"/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CF49DC2A-0823-BAC2-CD55-A041D8BFEC99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8F483F7-2277-F07E-E991-21EA07BAE953}"/>
              </a:ext>
            </a:extLst>
          </p:cNvPr>
          <p:cNvGrpSpPr/>
          <p:nvPr/>
        </p:nvGrpSpPr>
        <p:grpSpPr>
          <a:xfrm>
            <a:off x="1151655" y="4971968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89D00A8F-EAA8-F290-368C-CE972382875E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</a:t>
              </a:r>
              <a:r>
                <a:rPr lang="en-US" altLang="zh-CN" sz="2000" dirty="0"/>
                <a:t>OpenClaw/Hermes</a:t>
              </a:r>
              <a:r>
                <a:rPr lang="zh-CN" altLang="en-US" sz="2000" dirty="0"/>
                <a:t> 可选，同样需要</a:t>
              </a:r>
              <a:r>
                <a:rPr lang="en-US" altLang="zh-CN" sz="2000" dirty="0"/>
                <a:t>API</a:t>
              </a:r>
              <a:endParaRPr lang="zh-CN" altLang="en-US" sz="2000" dirty="0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80FB01FE-BDAF-186A-AD8D-56C42293E10F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</p:sp>
      </p:grpSp>
      <p:sp>
        <p:nvSpPr>
          <p:cNvPr id="11" name="Text 33">
            <a:extLst>
              <a:ext uri="{FF2B5EF4-FFF2-40B4-BE49-F238E27FC236}">
                <a16:creationId xmlns:a16="http://schemas.microsoft.com/office/drawing/2014/main" id="{376AB083-39E8-86A9-AD36-7A1AEC414E6A}"/>
              </a:ext>
            </a:extLst>
          </p:cNvPr>
          <p:cNvSpPr/>
          <p:nvPr/>
        </p:nvSpPr>
        <p:spPr>
          <a:xfrm>
            <a:off x="5074920" y="584640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42B4A"/>
                </a:solidFill>
              </a:rPr>
              <a:t>如果账号和API没有的同学</a:t>
            </a:r>
            <a:r>
              <a:rPr lang="zh-CN" altLang="en-US" sz="1200" b="1" dirty="0">
                <a:solidFill>
                  <a:srgbClr val="142B4A"/>
                </a:solidFill>
              </a:rPr>
              <a:t>，可以找我获取购买方式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866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5E59-D511-5FC2-9734-E9CCFF88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DBB4A4-94AC-D7E0-6AA0-7A6741783FAB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950" b="1" kern="0" spc="120" dirty="0" err="1">
                <a:solidFill>
                  <a:srgbClr val="246BFD"/>
                </a:solidFill>
              </a:rPr>
              <a:t>课程约定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E5B06E-1A07-CF3A-5458-A86139CD0C1B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因为AI变化实在太快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282A32-5E1A-CD27-47E6-2B269394A987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242D513-B951-0641-E1BF-04356D914096}"/>
              </a:ext>
            </a:extLst>
          </p:cNvPr>
          <p:cNvGrpSpPr/>
          <p:nvPr/>
        </p:nvGrpSpPr>
        <p:grpSpPr>
          <a:xfrm>
            <a:off x="894080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DB84EF6C-DE13-6622-0CB3-BF50B3A45D97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上课过程中可能会有新的技术或方向出现，因此课程可能会有加餐或微调</a:t>
              </a:r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F46C378D-A7A5-FF55-0E0B-BC987D5A3006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E47F189C-85FD-278F-DD91-D07CBB101840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39A68318-05F9-F12C-72F8-39B93821E0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A64B588-82D4-4329-0DF9-510D8056B26E}"/>
              </a:ext>
            </a:extLst>
          </p:cNvPr>
          <p:cNvGrpSpPr/>
          <p:nvPr/>
        </p:nvGrpSpPr>
        <p:grpSpPr>
          <a:xfrm>
            <a:off x="894079" y="2776391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C7AB106B-5805-C4B7-0E55-139F9BE68DF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我自己也可能因为知识储备不够，而在课程里有错误或误区，欢迎指正</a:t>
              </a:r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A5A9D0F3-8235-F1EB-F022-43D3E2B39376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674029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学习机制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学习不是听完，而是完成一个闭环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868680" cy="868680"/>
          </a:xfrm>
          <a:prstGeom prst="ellipse">
            <a:avLst/>
          </a:prstGeom>
          <a:solidFill>
            <a:srgbClr val="246BF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课前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带着真实问题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691640"/>
            <a:ext cx="868680" cy="868680"/>
          </a:xfrm>
          <a:prstGeom prst="ellipse">
            <a:avLst/>
          </a:prstGeom>
          <a:solidFill>
            <a:srgbClr val="7655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965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07208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课中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07208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使用模板判断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4416" y="1691640"/>
            <a:ext cx="868680" cy="868680"/>
          </a:xfrm>
          <a:prstGeom prst="ellipse">
            <a:avLst/>
          </a:prstGeom>
          <a:solidFill>
            <a:srgbClr val="FF9F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1965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11496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课后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11496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在自己的场景重做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3448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8704" y="1691640"/>
            <a:ext cx="868680" cy="86868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8704" y="1965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15784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反馈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15784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接受老师和同学质疑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17736" y="1920240"/>
            <a:ext cx="347472" cy="384048"/>
          </a:xfrm>
          <a:prstGeom prst="chevron">
            <a:avLst/>
          </a:prstGeom>
          <a:solidFill>
            <a:srgbClr val="D9E2EF">
              <a:alpha val="88000"/>
            </a:srgbClr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22992" y="1691640"/>
            <a:ext cx="868680" cy="868680"/>
          </a:xfrm>
          <a:prstGeom prst="ellipse">
            <a:avLst/>
          </a:prstGeom>
          <a:solidFill>
            <a:srgbClr val="36C5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22992" y="1965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28163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B4A"/>
                </a:solidFill>
              </a:rPr>
              <a:t>修订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20072" y="33375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保留版本与修改原因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48463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B4A"/>
                </a:solidFill>
              </a:rPr>
              <a:t>眼睛会了、脑子理解了，不等于手能够完成。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04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AI时代基本背景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8833-78B1-F090-8E74-FE565D24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1F4AA8-7245-A2F4-C6CF-FA2D40F2B94F}"/>
              </a:ext>
            </a:extLst>
          </p:cNvPr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950" b="1" kern="0" spc="120" dirty="0">
                <a:solidFill>
                  <a:srgbClr val="246BFD"/>
                </a:solidFill>
              </a:rPr>
              <a:t>基本背景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662C5B-54C8-D716-A6CE-5E68C01F9DDD}"/>
              </a:ext>
            </a:extLst>
          </p:cNvPr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42B4A"/>
                </a:solidFill>
              </a:rPr>
              <a:t>AI是第四次工业革命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F7BAAA-F818-1D07-D7ED-FE3ED1E589B7}"/>
              </a:ext>
            </a:extLst>
          </p:cNvPr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7C800FD-D287-75FA-D726-85D03FE348DB}"/>
              </a:ext>
            </a:extLst>
          </p:cNvPr>
          <p:cNvGrpSpPr/>
          <p:nvPr/>
        </p:nvGrpSpPr>
        <p:grpSpPr>
          <a:xfrm>
            <a:off x="894080" y="1651680"/>
            <a:ext cx="8699709" cy="720000"/>
            <a:chOff x="640080" y="1481328"/>
            <a:chExt cx="8699709" cy="72000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822D3717-4059-F073-3A85-58E3403A79A4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第一次工业革命（蒸汽机）：</a:t>
              </a:r>
              <a:r>
                <a:rPr lang="zh-CN" altLang="zh-CN" sz="2000" dirty="0"/>
                <a:t>机械化扩大人的体力</a:t>
              </a:r>
              <a:endParaRPr lang="zh-CN" altLang="en-US" sz="2000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F1BAE1D-2C60-27FD-2BA5-3290FC02E44D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246BFD"/>
            </a:solidFill>
            <a:ln w="12700">
              <a:solidFill>
                <a:srgbClr val="246BFD"/>
              </a:solidFill>
              <a:prstDash val="solid"/>
            </a:ln>
          </p:spPr>
        </p:sp>
      </p:grpSp>
      <p:sp>
        <p:nvSpPr>
          <p:cNvPr id="9" name="Text 7">
            <a:extLst>
              <a:ext uri="{FF2B5EF4-FFF2-40B4-BE49-F238E27FC236}">
                <a16:creationId xmlns:a16="http://schemas.microsoft.com/office/drawing/2014/main" id="{712EACA3-8944-C9E3-5557-DBE7677E0A1B}"/>
              </a:ext>
            </a:extLst>
          </p:cNvPr>
          <p:cNvSpPr/>
          <p:nvPr/>
        </p:nvSpPr>
        <p:spPr>
          <a:xfrm>
            <a:off x="1371600" y="171907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002AC03A-A264-1EB0-A364-AF813AC531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6EBBD88-8476-0E63-7F68-F64D3D87F51A}"/>
              </a:ext>
            </a:extLst>
          </p:cNvPr>
          <p:cNvGrpSpPr/>
          <p:nvPr/>
        </p:nvGrpSpPr>
        <p:grpSpPr>
          <a:xfrm>
            <a:off x="894079" y="2776391"/>
            <a:ext cx="8699709" cy="720000"/>
            <a:chOff x="640080" y="1481328"/>
            <a:chExt cx="8699709" cy="72000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FE21BB66-A89A-39A3-88A1-8FCC43F6F62B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第二次工业革命（电气化）：</a:t>
              </a:r>
              <a:r>
                <a:rPr lang="zh-CN" altLang="zh-CN" sz="2000" dirty="0"/>
                <a:t>电气化推动规模化生产和能源灵活分配</a:t>
              </a:r>
              <a:endParaRPr lang="zh-CN" altLang="en-US" sz="2000" dirty="0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4904FD93-01F6-B010-F324-EF273A757EDE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prstDash val="solid"/>
            </a:ln>
          </p:spPr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5FA696A-1BD5-4BD7-737F-1A428B89C966}"/>
              </a:ext>
            </a:extLst>
          </p:cNvPr>
          <p:cNvGrpSpPr/>
          <p:nvPr/>
        </p:nvGrpSpPr>
        <p:grpSpPr>
          <a:xfrm>
            <a:off x="894078" y="3907875"/>
            <a:ext cx="8699709" cy="720000"/>
            <a:chOff x="640080" y="1481328"/>
            <a:chExt cx="8699709" cy="72000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12B29544-D5D0-6B96-662B-FAB34A741CE2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第三次工业革命（互联网）：</a:t>
              </a:r>
              <a:r>
                <a:rPr lang="zh-CN" altLang="zh-CN" sz="2000" dirty="0"/>
                <a:t>计算机与互联网扩大信息处理和连接能力</a:t>
              </a:r>
              <a:endParaRPr lang="zh-CN" altLang="en-US" sz="2000" dirty="0"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934DC3C3-8C61-8285-20DB-5D3C9E91FF80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  <a:prstDash val="solid"/>
            </a:ln>
          </p:spPr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B120938-20EF-7C7A-D34B-82376A69D630}"/>
              </a:ext>
            </a:extLst>
          </p:cNvPr>
          <p:cNvGrpSpPr/>
          <p:nvPr/>
        </p:nvGrpSpPr>
        <p:grpSpPr>
          <a:xfrm>
            <a:off x="894077" y="5039359"/>
            <a:ext cx="8699709" cy="720000"/>
            <a:chOff x="640080" y="1481328"/>
            <a:chExt cx="8699709" cy="720000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74710703-3AC1-768F-7791-0759A8185B3F}"/>
                </a:ext>
              </a:extLst>
            </p:cNvPr>
            <p:cNvSpPr/>
            <p:nvPr/>
          </p:nvSpPr>
          <p:spPr>
            <a:xfrm>
              <a:off x="640080" y="1481328"/>
              <a:ext cx="8699709" cy="713227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2700">
              <a:solidFill>
                <a:srgbClr val="D9E2EF"/>
              </a:solidFill>
              <a:prstDash val="solid"/>
            </a:ln>
            <a:effectLst>
              <a:outerShdw blurRad="12700" dist="50800" dir="2700000" algn="bl" rotWithShape="0">
                <a:srgbClr val="AAB6C5">
                  <a:alpha val="16000"/>
                </a:srgbClr>
              </a:outerShdw>
            </a:effectLst>
          </p:spPr>
          <p:txBody>
            <a:bodyPr anchor="ctr"/>
            <a:lstStyle/>
            <a:p>
              <a:r>
                <a:rPr lang="zh-CN" altLang="en-US" sz="2000" dirty="0"/>
                <a:t>  第四次工业革命（</a:t>
              </a:r>
              <a:r>
                <a:rPr lang="en-US" altLang="zh-CN" sz="2000" dirty="0"/>
                <a:t>AI</a:t>
              </a:r>
              <a:r>
                <a:rPr lang="zh-CN" altLang="en-US" sz="2000" dirty="0"/>
                <a:t>）：</a:t>
              </a:r>
              <a:r>
                <a:rPr lang="zh-CN" altLang="zh-CN" sz="2000" dirty="0"/>
                <a:t>扩大认知、内容生成和复杂任务自动化能力</a:t>
              </a:r>
              <a:endParaRPr lang="zh-CN" altLang="en-US" sz="2000" dirty="0"/>
            </a:p>
          </p:txBody>
        </p:sp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6AB33DD0-C62B-1B9A-9491-D65451BFD110}"/>
                </a:ext>
              </a:extLst>
            </p:cNvPr>
            <p:cNvSpPr/>
            <p:nvPr/>
          </p:nvSpPr>
          <p:spPr>
            <a:xfrm>
              <a:off x="640080" y="1481328"/>
              <a:ext cx="73152" cy="72000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66862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70E81-3E8D-1220-0DFD-2F34A03C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590096-3BC1-707A-DD15-7B73A516AC30}"/>
              </a:ext>
            </a:extLst>
          </p:cNvPr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828DF-3AB5-FC8F-F3BD-AC6DF219816C}"/>
              </a:ext>
            </a:extLst>
          </p:cNvPr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15412B-CCD6-37B4-A14A-61BE2C2A3270}"/>
              </a:ext>
            </a:extLst>
          </p:cNvPr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</a:t>
            </a:r>
            <a:r>
              <a:rPr lang="en-US" altLang="zh-CN" sz="5000" b="1" dirty="0">
                <a:solidFill>
                  <a:srgbClr val="36C5F0"/>
                </a:solidFill>
              </a:rPr>
              <a:t>5</a:t>
            </a:r>
            <a:endParaRPr lang="en-US" sz="5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787E1D-3716-5AA6-995A-50998D6E4692}"/>
              </a:ext>
            </a:extLst>
          </p:cNvPr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案例精讲</a:t>
            </a:r>
            <a:endParaRPr lang="en-US" sz="3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B86D3F8-756C-DD5B-3ACB-B3A21DC55371}"/>
              </a:ext>
            </a:extLst>
          </p:cNvPr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1575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个人练习 · 12 分钟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课堂练习：第一次 AI 场景思考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2542032" cy="393192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17320"/>
            <a:ext cx="73152" cy="393192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64592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327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44752" y="163677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谁遇到什么问题？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2203704"/>
            <a:ext cx="203911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限定一个角色、一次任务和一个主要结果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不知道的信息请标记“待验证”。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1417320"/>
            <a:ext cx="2542032" cy="393192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1296" y="1417320"/>
            <a:ext cx="73152" cy="3931920"/>
          </a:xfrm>
          <a:prstGeom prst="rect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645920"/>
            <a:ext cx="420624" cy="420624"/>
          </a:xfrm>
          <a:prstGeom prst="ellipse">
            <a:avLst/>
          </a:prstGeom>
          <a:solidFill>
            <a:srgbClr val="7655D4"/>
          </a:solidFill>
          <a:ln w="12700">
            <a:solidFill>
              <a:srgbClr val="765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7327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163677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现在怎样解决？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67328" y="2203704"/>
            <a:ext cx="203911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写出现有流程、工具和最痛的环节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不知道的信息请标记“待验证”。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1417320"/>
            <a:ext cx="2542032" cy="393192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417320"/>
            <a:ext cx="73152" cy="393192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164592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7327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50608" y="163677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AI 帮助什么？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20256" y="2203704"/>
            <a:ext cx="203911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只选择一个具体介入点，并保留人工边界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不知道的信息请标记“待验证”。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17152" y="1417320"/>
            <a:ext cx="2542032" cy="393192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17152" y="1417320"/>
            <a:ext cx="73152" cy="3931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164592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4896" y="17327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03536" y="163677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如何验证？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473184" y="2203704"/>
            <a:ext cx="2039112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定义一个效果指标、一个业务/体验指标和最小试点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不知道的信息请标记“待验证”。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246BFD"/>
                </a:solidFill>
              </a:rPr>
              <a:t>课堂练习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42B4A"/>
                </a:solidFill>
              </a:rPr>
              <a:t>互评只问三个问题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3246120" cy="342900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73152" cy="3429000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874520"/>
            <a:ext cx="420624" cy="420624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362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场景具体吗？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432304"/>
            <a:ext cx="2743200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是否明确到一个角色、一次任务和主要问题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3246120" cy="342900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45920"/>
            <a:ext cx="73152" cy="342900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1874520"/>
            <a:ext cx="420624" cy="420624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5838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AI 必要吗？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828032" y="2432304"/>
            <a:ext cx="2743200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普通产品优化能否更低成本地解决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1645920"/>
            <a:ext cx="3246120" cy="342900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12700" dist="50800" dir="2700000" algn="bl" rotWithShape="0">
              <a:srgbClr val="AAB6C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1645920"/>
            <a:ext cx="73152" cy="342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4504" y="187452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19613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53144" y="18653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42B4A"/>
                </a:solidFill>
              </a:rPr>
              <a:t>结果可验证吗？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622792" y="2432304"/>
            <a:ext cx="2743200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“提高效率”能否转化为可观察变化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B4A"/>
                </a:solidFill>
              </a:rPr>
              <a:t>点评重点不是方案听起来多高级，而是问题是否真实、选择是否有理由。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C9C83-F1BA-55F3-D1DD-B4417467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DF04E9-A515-18AA-3BE3-D3933260A2BA}"/>
              </a:ext>
            </a:extLst>
          </p:cNvPr>
          <p:cNvSpPr/>
          <p:nvPr/>
        </p:nvSpPr>
        <p:spPr>
          <a:xfrm>
            <a:off x="8961120" y="-1005840"/>
            <a:ext cx="4297680" cy="429768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0173A8-D7D4-14DC-1A3E-2EE8B2D9406C}"/>
              </a:ext>
            </a:extLst>
          </p:cNvPr>
          <p:cNvSpPr/>
          <p:nvPr/>
        </p:nvSpPr>
        <p:spPr>
          <a:xfrm>
            <a:off x="9875520" y="4297680"/>
            <a:ext cx="2926080" cy="2926080"/>
          </a:xfrm>
          <a:prstGeom prst="ellipse">
            <a:avLst/>
          </a:prstGeom>
          <a:solidFill>
            <a:srgbClr val="36C5F0">
              <a:alpha val="24000"/>
            </a:srgbClr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8ADB2B-0BF9-12D2-4CB2-CA867FCEFE1D}"/>
              </a:ext>
            </a:extLst>
          </p:cNvPr>
          <p:cNvSpPr/>
          <p:nvPr/>
        </p:nvSpPr>
        <p:spPr>
          <a:xfrm>
            <a:off x="685800" y="731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36C5F0"/>
                </a:solidFill>
              </a:rPr>
              <a:t>0</a:t>
            </a:r>
            <a:r>
              <a:rPr lang="en-US" altLang="zh-CN" sz="5000" b="1" dirty="0">
                <a:solidFill>
                  <a:srgbClr val="36C5F0"/>
                </a:solidFill>
              </a:rPr>
              <a:t>6</a:t>
            </a:r>
            <a:endParaRPr lang="en-US" sz="5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9098EC-1FA2-30C9-0B15-D4544E095C34}"/>
              </a:ext>
            </a:extLst>
          </p:cNvPr>
          <p:cNvSpPr/>
          <p:nvPr/>
        </p:nvSpPr>
        <p:spPr>
          <a:xfrm>
            <a:off x="713232" y="19202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</a:rPr>
              <a:t>课后作业</a:t>
            </a:r>
            <a:endParaRPr lang="en-US" sz="3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43B347-3ECE-A790-EE69-59186B12AAF3}"/>
              </a:ext>
            </a:extLst>
          </p:cNvPr>
          <p:cNvSpPr/>
          <p:nvPr/>
        </p:nvSpPr>
        <p:spPr>
          <a:xfrm>
            <a:off x="749808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E"/>
                </a:solidFill>
              </a:rPr>
              <a:t>AI 产品经理系统课程 · 第 00 课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06366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389120" cy="4389120"/>
          </a:xfrm>
          <a:prstGeom prst="ellipse">
            <a:avLst/>
          </a:prstGeom>
          <a:solidFill>
            <a:srgbClr val="246BFD">
              <a:alpha val="58000"/>
            </a:srgbClr>
          </a:solidFill>
          <a:ln w="12700">
            <a:solidFill>
              <a:srgbClr val="246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40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今天带走四个结论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246BF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08760" y="162763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工具重要，但不等于产品判断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FF9F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49631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系统学习、项目实践、求职转化逐级递进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7472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336499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课程会更新，但来源、边界和质量机制必须透明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36C5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423367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从一个真实、具体、可验证的问题开始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4" y="5257800"/>
            <a:ext cx="10332720" cy="694944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4681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6C5F0"/>
                </a:solidFill>
              </a:rPr>
              <a:t>课后作业：个人能力与学习目标表 + 第一次 AI 场景思考卡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0C9"/>
                </a:solidFill>
              </a:rPr>
              <a:t>下一课：AI 产品经理岗位认知与转型路径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1010</Words>
  <Application>Microsoft Macintosh PowerPoint</Application>
  <PresentationFormat>宽屏</PresentationFormat>
  <Paragraphs>372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PingFang SC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课程说明会与学习地图</dc:title>
  <dc:subject>第 00 课：课程说明会、学习地图与第一次 AI 场景思考</dc:subject>
  <dc:creator>AI 产品经理系统课程</dc:creator>
  <cp:lastModifiedBy>didi</cp:lastModifiedBy>
  <cp:revision>6</cp:revision>
  <dcterms:created xsi:type="dcterms:W3CDTF">2026-07-11T08:11:09Z</dcterms:created>
  <dcterms:modified xsi:type="dcterms:W3CDTF">2026-07-12T02:45:08Z</dcterms:modified>
</cp:coreProperties>
</file>