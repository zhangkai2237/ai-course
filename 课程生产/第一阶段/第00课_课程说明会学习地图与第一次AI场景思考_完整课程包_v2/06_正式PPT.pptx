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7"/>
  </p:notesMasterIdLst>
  <p:sldIdLst>
    <p:sldId id="256" r:id="rId2"/>
    <p:sldId id="288" r:id="rId3"/>
    <p:sldId id="257" r:id="rId4"/>
    <p:sldId id="291" r:id="rId5"/>
    <p:sldId id="258" r:id="rId6"/>
    <p:sldId id="259" r:id="rId7"/>
    <p:sldId id="260" r:id="rId8"/>
    <p:sldId id="261" r:id="rId9"/>
    <p:sldId id="262" r:id="rId10"/>
    <p:sldId id="263" r:id="rId11"/>
    <p:sldId id="290" r:id="rId12"/>
    <p:sldId id="264" r:id="rId13"/>
    <p:sldId id="265" r:id="rId14"/>
    <p:sldId id="266" r:id="rId15"/>
    <p:sldId id="267" r:id="rId16"/>
    <p:sldId id="293" r:id="rId17"/>
    <p:sldId id="268" r:id="rId18"/>
    <p:sldId id="269" r:id="rId19"/>
    <p:sldId id="271" r:id="rId20"/>
    <p:sldId id="272" r:id="rId21"/>
    <p:sldId id="273" r:id="rId22"/>
    <p:sldId id="295" r:id="rId23"/>
    <p:sldId id="296" r:id="rId24"/>
    <p:sldId id="292" r:id="rId25"/>
    <p:sldId id="277" r:id="rId26"/>
    <p:sldId id="281" r:id="rId27"/>
    <p:sldId id="294" r:id="rId28"/>
    <p:sldId id="320" r:id="rId29"/>
    <p:sldId id="321" r:id="rId30"/>
    <p:sldId id="303" r:id="rId31"/>
    <p:sldId id="299" r:id="rId32"/>
    <p:sldId id="306" r:id="rId33"/>
    <p:sldId id="297" r:id="rId34"/>
    <p:sldId id="323" r:id="rId35"/>
    <p:sldId id="309" r:id="rId36"/>
    <p:sldId id="310" r:id="rId37"/>
    <p:sldId id="311" r:id="rId38"/>
    <p:sldId id="312" r:id="rId39"/>
    <p:sldId id="313" r:id="rId40"/>
    <p:sldId id="314" r:id="rId41"/>
    <p:sldId id="315" r:id="rId42"/>
    <p:sldId id="298" r:id="rId43"/>
    <p:sldId id="316" r:id="rId44"/>
    <p:sldId id="317" r:id="rId45"/>
    <p:sldId id="319" r:id="rId4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2B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08"/>
    <p:restoredTop sz="78802"/>
  </p:normalViewPr>
  <p:slideViewPr>
    <p:cSldViewPr snapToGrid="0" snapToObjects="1">
      <p:cViewPr varScale="1">
        <p:scale>
          <a:sx n="105" d="100"/>
          <a:sy n="105" d="100"/>
        </p:scale>
        <p:origin x="8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7380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285FB-D1D5-57FC-75D3-CA4138B12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32F19B-7269-D042-77FB-3FB93B750C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36E58F-5284-A7BE-9D6D-36BE4094B9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ECFB9B-2DC2-B466-E87F-D4F341C30A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7102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E3FFF-8EF7-5815-BB0F-88B678B31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3E3A05-C151-09F1-9CA0-CD65270457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33DA46-2FC6-B5EF-A314-B9766591CC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9658ED-B3DA-07CA-A40F-5CCD10E4A6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0079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b="1" dirty="0"/>
              <a:t>建议开场话术</a:t>
            </a:r>
          </a:p>
          <a:p>
            <a:r>
              <a:rPr lang="zh-CN" altLang="zh-CN" dirty="0"/>
              <a:t>在正式介绍课程内容之前，我想先讲清楚：为什么要做这门课？</a:t>
            </a:r>
          </a:p>
          <a:p>
            <a:r>
              <a:rPr lang="zh-CN" altLang="zh-CN" dirty="0"/>
              <a:t>现在想学习AI产品经理的人，通常不是因为完全没有学习资源。恰恰相反，大家每天都能看到大量AI内容。</a:t>
            </a:r>
          </a:p>
          <a:p>
            <a:r>
              <a:rPr lang="zh-CN" altLang="zh-CN" dirty="0"/>
              <a:t>今天有人讲Prompt，明天有人讲RAG，后天又出现Agent、MCP、Workflow和Vibe Coding。新的模型、新的工具和新的概念几乎每天都在出现。</a:t>
            </a:r>
          </a:p>
          <a:p>
            <a:r>
              <a:rPr lang="zh-CN" altLang="zh-CN" dirty="0"/>
              <a:t>信息看起来越来越多，但很多产品经理学了一段时间后，反而会产生三个问题。</a:t>
            </a:r>
          </a:p>
          <a:p>
            <a:r>
              <a:rPr lang="zh-CN" altLang="zh-CN" dirty="0"/>
              <a:t>第一个问题是：</a:t>
            </a:r>
          </a:p>
          <a:p>
            <a:r>
              <a:rPr lang="zh-CN" altLang="zh-CN" dirty="0"/>
              <a:t>我知道的名词越来越多，但不知道它们之间是什么关系。</a:t>
            </a:r>
          </a:p>
          <a:p>
            <a:r>
              <a:rPr lang="zh-CN" altLang="zh-CN" dirty="0"/>
              <a:t>例如，很多人都听过机器学习、深度学习、NLP、大模型、AIGC、RAG和Agent，但很难把这些概念放进同一张地图。</a:t>
            </a:r>
          </a:p>
          <a:p>
            <a:r>
              <a:rPr lang="zh-CN" altLang="zh-CN" dirty="0"/>
              <a:t>第二个问题是：</a:t>
            </a:r>
          </a:p>
          <a:p>
            <a:r>
              <a:rPr lang="zh-CN" altLang="zh-CN" dirty="0"/>
              <a:t>我会使用一些AI工具，但不知道这能不能证明我会做AI产品。</a:t>
            </a:r>
          </a:p>
          <a:p>
            <a:r>
              <a:rPr lang="zh-CN" altLang="zh-CN" dirty="0"/>
              <a:t>例如，我们可以用AI写竞品分析、生成PRD、画原型、搭建一个机器人。但如果面试官继续追问“你解决了谁的问题”“为什么需要AI”“为什么选择这个方案”“效果怎么验证”，很多人就不知道怎么回答。</a:t>
            </a:r>
          </a:p>
          <a:p>
            <a:r>
              <a:rPr lang="zh-CN" altLang="zh-CN" dirty="0"/>
              <a:t>第三个问题是：</a:t>
            </a:r>
          </a:p>
          <a:p>
            <a:r>
              <a:rPr lang="zh-CN" altLang="zh-CN" dirty="0"/>
              <a:t>我听懂了很多内容，却没有办法把它转化成项目和求职证据。</a:t>
            </a:r>
          </a:p>
          <a:p>
            <a:r>
              <a:rPr lang="zh-CN" altLang="zh-CN" dirty="0"/>
              <a:t>我们可能收藏了很多文章、看了很多课程，也尝试过很多工具，但最后简历里还是没有AI项目，面试时也讲不出一套完整的产品判断。</a:t>
            </a:r>
          </a:p>
          <a:p>
            <a:r>
              <a:rPr lang="zh-CN" altLang="zh-CN" dirty="0"/>
              <a:t>所以，真正缺少的往往不是更多的信息，而是：</a:t>
            </a:r>
          </a:p>
          <a:p>
            <a:r>
              <a:rPr lang="zh-CN" altLang="zh-CN" dirty="0"/>
              <a:t>一条能够把AI知识、产品判断、项目实践和求职表达连接起来的学习路径。</a:t>
            </a:r>
          </a:p>
          <a:p>
            <a:r>
              <a:rPr lang="zh-CN" altLang="zh-CN" dirty="0"/>
              <a:t>这就是我想做这门课程的原因。</a:t>
            </a:r>
          </a:p>
          <a:p>
            <a:r>
              <a:rPr lang="zh-CN" altLang="zh-CN" b="1" dirty="0"/>
              <a:t>讲师提示</a:t>
            </a:r>
          </a:p>
          <a:p>
            <a:r>
              <a:rPr lang="zh-CN" altLang="zh-CN" dirty="0"/>
              <a:t>这一页不要急着讲具体课程模块。先让学员意识到：问题不一定是“学得不够多”，而可能是“知识没有形成结构，也没有进入实践”。</a:t>
            </a:r>
          </a:p>
          <a:p>
            <a:r>
              <a:rPr lang="zh-CN" altLang="zh-CN" b="1" dirty="0"/>
              <a:t>互动问题</a:t>
            </a:r>
          </a:p>
          <a:p>
            <a:r>
              <a:rPr lang="zh-CN" altLang="zh-CN" dirty="0"/>
              <a:t>可以问学员：</a:t>
            </a:r>
          </a:p>
          <a:p>
            <a:r>
              <a:rPr lang="zh-CN" altLang="zh-CN" dirty="0"/>
              <a:t>大家过去学习AI时，更接近哪种状态：不知道学什么、学得很碎、会用工具但不会做产品，还是学过但没有项目？</a:t>
            </a:r>
          </a:p>
          <a:p>
            <a:r>
              <a:rPr lang="zh-CN" altLang="zh-CN" dirty="0"/>
              <a:t>请1—2名学员简单回答，不要在这里展开个人职业诊断。</a:t>
            </a:r>
          </a:p>
          <a:p>
            <a:r>
              <a:rPr lang="zh-CN" altLang="zh-CN" b="1" dirty="0"/>
              <a:t>本页收口</a:t>
            </a:r>
          </a:p>
          <a:p>
            <a:r>
              <a:rPr lang="zh-CN" altLang="zh-CN" dirty="0"/>
              <a:t>这门课不是要继续给大家增加更多零散信息，而是帮助大家把已经看到的AI概念放进一套产品经理可以使用的体系里。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b="1" dirty="0"/>
              <a:t>建议讲法</a:t>
            </a:r>
          </a:p>
          <a:p>
            <a:r>
              <a:rPr lang="zh-CN" altLang="zh-CN" dirty="0"/>
              <a:t>为了设计这门课程，我学习和整理了一些市面上的AI产品经理课程，也分析了它们的课程大纲、讲解内容和项目设计。</a:t>
            </a:r>
          </a:p>
          <a:p>
            <a:r>
              <a:rPr lang="zh-CN" altLang="zh-CN" dirty="0"/>
              <a:t>在我接触到的有限课程样本中，比较常见的是两种偏向。</a:t>
            </a:r>
          </a:p>
          <a:p>
            <a:r>
              <a:rPr lang="zh-CN" altLang="zh-CN" dirty="0"/>
              <a:t>这里需要先说明：</a:t>
            </a:r>
          </a:p>
          <a:p>
            <a:r>
              <a:rPr lang="zh-CN" altLang="zh-CN" dirty="0"/>
              <a:t>这是我基于有限样本形成的个人观察，不代表对整个课程市场的绝对判断，也不是说技术课程或工具课程没有价值。</a:t>
            </a:r>
          </a:p>
          <a:p>
            <a:r>
              <a:rPr lang="zh-CN" altLang="zh-CN" b="1" dirty="0"/>
              <a:t>第一种偏向：技术原理讲得比较深</a:t>
            </a:r>
          </a:p>
          <a:p>
            <a:r>
              <a:rPr lang="zh-CN" altLang="zh-CN" dirty="0"/>
              <a:t>这类课程可能会讲：</a:t>
            </a:r>
          </a:p>
          <a:p>
            <a:r>
              <a:rPr lang="zh-CN" altLang="zh-CN" dirty="0"/>
              <a:t>机器学习和深度学习；</a:t>
            </a:r>
          </a:p>
          <a:p>
            <a:r>
              <a:rPr lang="zh-CN" altLang="zh-CN" dirty="0"/>
              <a:t>神经网络和Transformer；</a:t>
            </a:r>
          </a:p>
          <a:p>
            <a:r>
              <a:rPr lang="zh-CN" altLang="zh-CN" dirty="0"/>
              <a:t>模型训练和微调；</a:t>
            </a:r>
          </a:p>
          <a:p>
            <a:r>
              <a:rPr lang="zh-CN" altLang="zh-CN" dirty="0"/>
              <a:t>Embedding和向量数据库；</a:t>
            </a:r>
          </a:p>
          <a:p>
            <a:r>
              <a:rPr lang="zh-CN" altLang="zh-CN" dirty="0"/>
              <a:t>检索、召回和排序；</a:t>
            </a:r>
          </a:p>
          <a:p>
            <a:r>
              <a:rPr lang="zh-CN" altLang="zh-CN" dirty="0"/>
              <a:t>模型参数和推理机制。</a:t>
            </a:r>
          </a:p>
          <a:p>
            <a:r>
              <a:rPr lang="zh-CN" altLang="zh-CN" dirty="0"/>
              <a:t>这些内容本身非常重要。如果完全不理解技术，产品经理也很难和算法、研发合作。</a:t>
            </a:r>
          </a:p>
          <a:p>
            <a:r>
              <a:rPr lang="zh-CN" altLang="zh-CN" dirty="0"/>
              <a:t>但对初级产品经理来说，只学习技术原理可能遇到一个问题：</a:t>
            </a:r>
          </a:p>
          <a:p>
            <a:r>
              <a:rPr lang="zh-CN" altLang="zh-CN" dirty="0"/>
              <a:t>知道一个技术是什么，不等于知道怎样把它设计成产品。</a:t>
            </a:r>
          </a:p>
          <a:p>
            <a:r>
              <a:rPr lang="zh-CN" altLang="zh-CN" dirty="0"/>
              <a:t>例如，一个学员知道RAG是“检索增强生成”，也知道它会先检索知识，再让模型生成回答。</a:t>
            </a:r>
          </a:p>
          <a:p>
            <a:r>
              <a:rPr lang="zh-CN" altLang="zh-CN" dirty="0"/>
              <a:t>但真正做产品时，还需要继续回答：</a:t>
            </a:r>
          </a:p>
          <a:p>
            <a:r>
              <a:rPr lang="zh-CN" altLang="zh-CN" dirty="0"/>
              <a:t>为什么这个场景需要RAG？</a:t>
            </a:r>
          </a:p>
          <a:p>
            <a:r>
              <a:rPr lang="zh-CN" altLang="zh-CN" dirty="0"/>
              <a:t>知识从哪里来？</a:t>
            </a:r>
          </a:p>
          <a:p>
            <a:r>
              <a:rPr lang="zh-CN" altLang="zh-CN" dirty="0"/>
              <a:t>哪些资料可以进入知识库？</a:t>
            </a:r>
          </a:p>
          <a:p>
            <a:r>
              <a:rPr lang="zh-CN" altLang="zh-CN" dirty="0"/>
              <a:t>资料更新后怎么同步？</a:t>
            </a:r>
          </a:p>
          <a:p>
            <a:r>
              <a:rPr lang="zh-CN" altLang="zh-CN" dirty="0"/>
              <a:t>检索不到内容怎么办？</a:t>
            </a:r>
          </a:p>
          <a:p>
            <a:r>
              <a:rPr lang="zh-CN" altLang="zh-CN" dirty="0"/>
              <a:t>检索到了错误内容怎么办？</a:t>
            </a:r>
          </a:p>
          <a:p>
            <a:r>
              <a:rPr lang="zh-CN" altLang="zh-CN" dirty="0"/>
              <a:t>回答是否需要展示来源？</a:t>
            </a:r>
          </a:p>
          <a:p>
            <a:r>
              <a:rPr lang="zh-CN" altLang="zh-CN" dirty="0"/>
              <a:t>哪些问题必须转人工？</a:t>
            </a:r>
          </a:p>
          <a:p>
            <a:r>
              <a:rPr lang="zh-CN" altLang="zh-CN" dirty="0"/>
              <a:t>怎么判断回答质量是否合格？</a:t>
            </a:r>
          </a:p>
          <a:p>
            <a:r>
              <a:rPr lang="zh-CN" altLang="zh-CN" dirty="0"/>
              <a:t>如果这些问题回答不了，那么学员只是理解了一个技术名词，还没有形成产品方案。</a:t>
            </a:r>
          </a:p>
          <a:p>
            <a:r>
              <a:rPr lang="zh-CN" altLang="zh-CN" b="1" dirty="0"/>
              <a:t>第二种偏向：工具操作和Demo搭建</a:t>
            </a:r>
          </a:p>
          <a:p>
            <a:r>
              <a:rPr lang="zh-CN" altLang="zh-CN" dirty="0"/>
              <a:t>另一类课程会教大家：</a:t>
            </a:r>
          </a:p>
          <a:p>
            <a:r>
              <a:rPr lang="zh-CN" altLang="zh-CN" dirty="0"/>
              <a:t>怎样写Prompt；</a:t>
            </a:r>
          </a:p>
          <a:p>
            <a:r>
              <a:rPr lang="zh-CN" altLang="zh-CN" dirty="0"/>
              <a:t>怎样搭建Bot；</a:t>
            </a:r>
          </a:p>
          <a:p>
            <a:r>
              <a:rPr lang="zh-CN" altLang="zh-CN" dirty="0"/>
              <a:t>怎样搭建Workflow；</a:t>
            </a:r>
          </a:p>
          <a:p>
            <a:r>
              <a:rPr lang="zh-CN" altLang="zh-CN" dirty="0"/>
              <a:t>怎样调用模型；</a:t>
            </a:r>
          </a:p>
          <a:p>
            <a:r>
              <a:rPr lang="zh-CN" altLang="zh-CN" dirty="0"/>
              <a:t>怎样生成网页和原型；</a:t>
            </a:r>
          </a:p>
          <a:p>
            <a:r>
              <a:rPr lang="zh-CN" altLang="zh-CN" dirty="0"/>
              <a:t>怎样快速做出一个Demo。</a:t>
            </a:r>
          </a:p>
          <a:p>
            <a:r>
              <a:rPr lang="zh-CN" altLang="zh-CN" dirty="0"/>
              <a:t>这些内容同样非常有价值。产品经理能够低成本做出Demo，会明显提高表达和验证效率。</a:t>
            </a:r>
          </a:p>
          <a:p>
            <a:r>
              <a:rPr lang="zh-CN" altLang="zh-CN" dirty="0"/>
              <a:t>但如果课程只停留在操作层，也容易出现另一个问题：</a:t>
            </a:r>
          </a:p>
          <a:p>
            <a:r>
              <a:rPr lang="zh-CN" altLang="zh-CN" dirty="0"/>
              <a:t>学员能够把功能做出来，却不知道这个功能值不值得做。</a:t>
            </a:r>
          </a:p>
          <a:p>
            <a:r>
              <a:rPr lang="zh-CN" altLang="zh-CN" dirty="0"/>
              <a:t>例如，学员上传几份文档，搭建了一个知识库问答机器人。</a:t>
            </a:r>
          </a:p>
          <a:p>
            <a:r>
              <a:rPr lang="zh-CN" altLang="zh-CN" dirty="0"/>
              <a:t>从工具操作角度看，项目已经完成了。但从产品角度看，还没有回答：</a:t>
            </a:r>
          </a:p>
          <a:p>
            <a:r>
              <a:rPr lang="zh-CN" altLang="zh-CN" dirty="0"/>
              <a:t>谁会使用这个机器人？</a:t>
            </a:r>
          </a:p>
          <a:p>
            <a:r>
              <a:rPr lang="zh-CN" altLang="zh-CN" dirty="0"/>
              <a:t>用户现在如何查找资料？</a:t>
            </a:r>
          </a:p>
          <a:p>
            <a:r>
              <a:rPr lang="zh-CN" altLang="zh-CN" dirty="0"/>
              <a:t>当前方案究竟慢在哪里？</a:t>
            </a:r>
          </a:p>
          <a:p>
            <a:r>
              <a:rPr lang="zh-CN" altLang="zh-CN" dirty="0"/>
              <a:t>用户为什么愿意改用机器人？</a:t>
            </a:r>
          </a:p>
          <a:p>
            <a:r>
              <a:rPr lang="zh-CN" altLang="zh-CN" dirty="0"/>
              <a:t>机器人回答错误会造成什么后果？</a:t>
            </a:r>
          </a:p>
          <a:p>
            <a:r>
              <a:rPr lang="zh-CN" altLang="zh-CN" dirty="0"/>
              <a:t>普通搜索是否已经可以解决？</a:t>
            </a:r>
          </a:p>
          <a:p>
            <a:r>
              <a:rPr lang="zh-CN" altLang="zh-CN" dirty="0"/>
              <a:t>用户采用AI答案的比例是多少？</a:t>
            </a:r>
          </a:p>
          <a:p>
            <a:r>
              <a:rPr lang="zh-CN" altLang="zh-CN" dirty="0"/>
              <a:t>维护知识库需要多少成本？</a:t>
            </a:r>
          </a:p>
          <a:p>
            <a:r>
              <a:rPr lang="zh-CN" altLang="zh-CN" dirty="0"/>
              <a:t>如果这些问题没有回答，做出来的更像一个功能演示，而不是经过判断和验证的产品。</a:t>
            </a:r>
          </a:p>
          <a:p>
            <a:r>
              <a:rPr lang="zh-CN" altLang="zh-CN" b="1" dirty="0"/>
              <a:t>两种偏向的共同问题</a:t>
            </a:r>
          </a:p>
          <a:p>
            <a:r>
              <a:rPr lang="zh-CN" altLang="zh-CN" dirty="0"/>
              <a:t>技术课程更容易回答：</a:t>
            </a:r>
          </a:p>
          <a:p>
            <a:r>
              <a:rPr lang="zh-CN" altLang="zh-CN" dirty="0"/>
              <a:t>AI是怎么实现的？</a:t>
            </a:r>
          </a:p>
          <a:p>
            <a:r>
              <a:rPr lang="zh-CN" altLang="zh-CN" dirty="0"/>
              <a:t>工具课程更容易回答：</a:t>
            </a:r>
          </a:p>
          <a:p>
            <a:r>
              <a:rPr lang="zh-CN" altLang="zh-CN" dirty="0"/>
              <a:t>AI功能怎样快速搭出来？</a:t>
            </a:r>
          </a:p>
          <a:p>
            <a:r>
              <a:rPr lang="zh-CN" altLang="zh-CN" dirty="0"/>
              <a:t>但产品经理还需要回答：</a:t>
            </a:r>
          </a:p>
          <a:p>
            <a:r>
              <a:rPr lang="zh-CN" altLang="zh-CN" dirty="0"/>
              <a:t>为什么要做、为谁做、怎样设计、如何验证，以及怎样真正落地？</a:t>
            </a:r>
          </a:p>
          <a:p>
            <a:r>
              <a:rPr lang="zh-CN" altLang="zh-CN" b="1" dirty="0"/>
              <a:t>讲师需要避免的表达</a:t>
            </a:r>
          </a:p>
          <a:p>
            <a:r>
              <a:rPr lang="zh-CN" altLang="zh-CN" dirty="0"/>
              <a:t>不建议说：</a:t>
            </a:r>
          </a:p>
          <a:p>
            <a:r>
              <a:rPr lang="zh-CN" altLang="zh-CN" dirty="0"/>
              <a:t>市面上没有真正落地的AI产品经理课程。</a:t>
            </a:r>
          </a:p>
          <a:p>
            <a:r>
              <a:rPr lang="zh-CN" altLang="zh-CN" dirty="0"/>
              <a:t>这个判断过于绝对，也很难证明。</a:t>
            </a:r>
          </a:p>
          <a:p>
            <a:r>
              <a:rPr lang="zh-CN" altLang="zh-CN" dirty="0"/>
              <a:t>更稳妥、更专业的说法是：</a:t>
            </a:r>
          </a:p>
          <a:p>
            <a:r>
              <a:rPr lang="zh-CN" altLang="zh-CN" dirty="0"/>
              <a:t>在我接触到的课程样本中，技术原理和工具操作通常都有覆盖，但从真实问题到产品方案、效果验证和项目表达的完整连接，仍然有进一步补充的空间。</a:t>
            </a:r>
          </a:p>
          <a:p>
            <a:r>
              <a:rPr lang="zh-CN" altLang="zh-CN" b="1" dirty="0"/>
              <a:t>本页收口</a:t>
            </a:r>
          </a:p>
          <a:p>
            <a:r>
              <a:rPr lang="zh-CN" altLang="zh-CN" dirty="0"/>
              <a:t>技术和工具都要学习，但产品经理不能停留在“听懂技术”或者“搭出Demo”。我们需要补上从能力到产品、从产品到结果的中间过程。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b="1" dirty="0"/>
              <a:t>建议讲法</a:t>
            </a:r>
          </a:p>
          <a:p>
            <a:r>
              <a:rPr lang="zh-CN" altLang="zh-CN" dirty="0"/>
              <a:t>接下来是这门课程非常核心的一个观点：</a:t>
            </a:r>
          </a:p>
          <a:p>
            <a:r>
              <a:rPr lang="zh-CN" altLang="zh-CN" dirty="0"/>
              <a:t>AI产品经理不等于AI工具产品经理。</a:t>
            </a:r>
          </a:p>
          <a:p>
            <a:r>
              <a:rPr lang="zh-CN" altLang="zh-CN" dirty="0"/>
              <a:t>但这句话很容易被误解，所以需要把它解释清楚。</a:t>
            </a:r>
          </a:p>
          <a:p>
            <a:r>
              <a:rPr lang="zh-CN" altLang="zh-CN" dirty="0"/>
              <a:t>它不是说AI工具不重要，也不是说产品经理不需要使用ChatGPT、Claude、Gemini、Cursor、Coze或者其他平台。</a:t>
            </a:r>
          </a:p>
          <a:p>
            <a:r>
              <a:rPr lang="zh-CN" altLang="zh-CN" dirty="0"/>
              <a:t>相反，产品经理应该积极使用AI工具。</a:t>
            </a:r>
          </a:p>
          <a:p>
            <a:r>
              <a:rPr lang="zh-CN" altLang="zh-CN" dirty="0"/>
              <a:t>AI工具可以帮助我们：</a:t>
            </a:r>
          </a:p>
          <a:p>
            <a:r>
              <a:rPr lang="zh-CN" altLang="zh-CN" dirty="0"/>
              <a:t>快速收集和整理资料；</a:t>
            </a:r>
          </a:p>
          <a:p>
            <a:r>
              <a:rPr lang="zh-CN" altLang="zh-CN" dirty="0"/>
              <a:t>辅助用户研究和竞品分析；</a:t>
            </a:r>
          </a:p>
          <a:p>
            <a:r>
              <a:rPr lang="zh-CN" altLang="zh-CN" dirty="0"/>
              <a:t>生成文档初稿；</a:t>
            </a:r>
          </a:p>
          <a:p>
            <a:r>
              <a:rPr lang="zh-CN" altLang="zh-CN" dirty="0"/>
              <a:t>检查需求中的遗漏；</a:t>
            </a:r>
          </a:p>
          <a:p>
            <a:r>
              <a:rPr lang="zh-CN" altLang="zh-CN" dirty="0"/>
              <a:t>生成流程图和原型；</a:t>
            </a:r>
          </a:p>
          <a:p>
            <a:r>
              <a:rPr lang="zh-CN" altLang="zh-CN" dirty="0"/>
              <a:t>快速搭建Demo；</a:t>
            </a:r>
          </a:p>
          <a:p>
            <a:r>
              <a:rPr lang="zh-CN" altLang="zh-CN" dirty="0"/>
              <a:t>降低与研发沟通的成本；</a:t>
            </a:r>
          </a:p>
          <a:p>
            <a:r>
              <a:rPr lang="zh-CN" altLang="zh-CN" dirty="0"/>
              <a:t>验证一个产品想法能否被实现。</a:t>
            </a:r>
          </a:p>
          <a:p>
            <a:r>
              <a:rPr lang="zh-CN" altLang="zh-CN" dirty="0"/>
              <a:t>但“会使用AI工具”和“会设计AI产品”证明的是两种不同的能力。</a:t>
            </a:r>
          </a:p>
          <a:p>
            <a:r>
              <a:rPr lang="zh-CN" altLang="zh-CN" b="1" dirty="0"/>
              <a:t>会使用AI工具，主要证明什么</a:t>
            </a:r>
          </a:p>
          <a:p>
            <a:r>
              <a:rPr lang="zh-CN" altLang="zh-CN" dirty="0"/>
              <a:t>它通常证明：</a:t>
            </a:r>
          </a:p>
          <a:p>
            <a:r>
              <a:rPr lang="zh-CN" altLang="zh-CN" dirty="0"/>
              <a:t>你知道如何操作工具；</a:t>
            </a:r>
          </a:p>
          <a:p>
            <a:r>
              <a:rPr lang="zh-CN" altLang="zh-CN" dirty="0"/>
              <a:t>你能提高个人工作效率；</a:t>
            </a:r>
          </a:p>
          <a:p>
            <a:r>
              <a:rPr lang="zh-CN" altLang="zh-CN" dirty="0"/>
              <a:t>你能快速生成内容；</a:t>
            </a:r>
          </a:p>
          <a:p>
            <a:r>
              <a:rPr lang="zh-CN" altLang="zh-CN" dirty="0"/>
              <a:t>你能低成本搭建一个可演示的结果。</a:t>
            </a:r>
          </a:p>
          <a:p>
            <a:r>
              <a:rPr lang="zh-CN" altLang="zh-CN" dirty="0"/>
              <a:t>这些能力很实用，但主要作用于个人生产力。</a:t>
            </a:r>
          </a:p>
          <a:p>
            <a:r>
              <a:rPr lang="zh-CN" altLang="zh-CN" b="1" dirty="0"/>
              <a:t>会设计AI产品，还需要证明什么</a:t>
            </a:r>
          </a:p>
          <a:p>
            <a:r>
              <a:rPr lang="zh-CN" altLang="zh-CN" dirty="0"/>
              <a:t>AI产品经理需要继续证明：</a:t>
            </a:r>
          </a:p>
          <a:p>
            <a:r>
              <a:rPr lang="zh-CN" altLang="zh-CN" b="1" dirty="0"/>
              <a:t>能发现真实问题</a:t>
            </a:r>
          </a:p>
          <a:p>
            <a:r>
              <a:rPr lang="zh-CN" altLang="zh-CN" dirty="0"/>
              <a:t>不是因为AI很热门，所以寻找一个地方接入AI；而是先确认用户确实存在高频、重要或者成本较高的问题。</a:t>
            </a:r>
          </a:p>
          <a:p>
            <a:r>
              <a:rPr lang="zh-CN" altLang="zh-CN" b="1" dirty="0"/>
              <a:t>能判断是否需要AI</a:t>
            </a:r>
          </a:p>
          <a:p>
            <a:r>
              <a:rPr lang="zh-CN" altLang="zh-CN" dirty="0"/>
              <a:t>有些问题通过优化页面、减少字段、增加规则或者改造流程就能解决，不一定需要AI。</a:t>
            </a:r>
          </a:p>
          <a:p>
            <a:r>
              <a:rPr lang="zh-CN" altLang="zh-CN" dirty="0"/>
              <a:t>使用AI可能同时带来：</a:t>
            </a:r>
          </a:p>
          <a:p>
            <a:r>
              <a:rPr lang="zh-CN" altLang="zh-CN" dirty="0"/>
              <a:t>输出不稳定；</a:t>
            </a:r>
          </a:p>
          <a:p>
            <a:r>
              <a:rPr lang="zh-CN" altLang="zh-CN" dirty="0"/>
              <a:t>错误和幻觉；</a:t>
            </a:r>
          </a:p>
          <a:p>
            <a:r>
              <a:rPr lang="zh-CN" altLang="zh-CN" dirty="0"/>
              <a:t>响应速度问题；</a:t>
            </a:r>
          </a:p>
          <a:p>
            <a:r>
              <a:rPr lang="zh-CN" altLang="zh-CN" dirty="0"/>
              <a:t>模型调用成本；</a:t>
            </a:r>
          </a:p>
          <a:p>
            <a:r>
              <a:rPr lang="zh-CN" altLang="zh-CN" dirty="0"/>
              <a:t>数据安全风险；</a:t>
            </a:r>
          </a:p>
          <a:p>
            <a:r>
              <a:rPr lang="zh-CN" altLang="zh-CN" dirty="0"/>
              <a:t>用户信任问题。</a:t>
            </a:r>
          </a:p>
          <a:p>
            <a:r>
              <a:rPr lang="zh-CN" altLang="zh-CN" dirty="0"/>
              <a:t>所以AI不是默认答案，而是一种需要经过比较的解决方案。</a:t>
            </a:r>
          </a:p>
          <a:p>
            <a:r>
              <a:rPr lang="zh-CN" altLang="zh-CN" b="1" dirty="0"/>
              <a:t>能设计完整系统</a:t>
            </a:r>
          </a:p>
          <a:p>
            <a:r>
              <a:rPr lang="zh-CN" altLang="zh-CN" dirty="0"/>
              <a:t>AI产品通常不只有一个模型，还可能包含：</a:t>
            </a:r>
          </a:p>
          <a:p>
            <a:r>
              <a:rPr lang="zh-CN" altLang="zh-CN" dirty="0"/>
              <a:t>业务数据；</a:t>
            </a:r>
          </a:p>
          <a:p>
            <a:r>
              <a:rPr lang="zh-CN" altLang="zh-CN" dirty="0"/>
              <a:t>企业知识；</a:t>
            </a:r>
          </a:p>
          <a:p>
            <a:r>
              <a:rPr lang="zh-CN" altLang="zh-CN" dirty="0"/>
              <a:t>Prompt；</a:t>
            </a:r>
          </a:p>
          <a:p>
            <a:r>
              <a:rPr lang="zh-CN" altLang="zh-CN" dirty="0"/>
              <a:t>规则；</a:t>
            </a:r>
          </a:p>
          <a:p>
            <a:r>
              <a:rPr lang="zh-CN" altLang="zh-CN" dirty="0"/>
              <a:t>工作流；</a:t>
            </a:r>
          </a:p>
          <a:p>
            <a:r>
              <a:rPr lang="zh-CN" altLang="zh-CN" dirty="0"/>
              <a:t>外部工具；</a:t>
            </a:r>
          </a:p>
          <a:p>
            <a:r>
              <a:rPr lang="zh-CN" altLang="zh-CN" dirty="0"/>
              <a:t>权限；</a:t>
            </a:r>
          </a:p>
          <a:p>
            <a:r>
              <a:rPr lang="zh-CN" altLang="zh-CN" dirty="0"/>
              <a:t>人工审核；</a:t>
            </a:r>
          </a:p>
          <a:p>
            <a:r>
              <a:rPr lang="zh-CN" altLang="zh-CN" dirty="0"/>
              <a:t>反馈和评测机制。</a:t>
            </a:r>
          </a:p>
          <a:p>
            <a:r>
              <a:rPr lang="zh-CN" altLang="zh-CN" dirty="0"/>
              <a:t>产品经理需要设计这些部分如何协同工作。</a:t>
            </a:r>
          </a:p>
          <a:p>
            <a:r>
              <a:rPr lang="zh-CN" altLang="zh-CN" b="1" dirty="0"/>
              <a:t>能管理AI的不确定性</a:t>
            </a:r>
          </a:p>
          <a:p>
            <a:r>
              <a:rPr lang="zh-CN" altLang="zh-CN" dirty="0"/>
              <a:t>传统产品通常按照固定规则返回结果。AI可能对同一个问题给出不同答案，也可能生成看起来合理但实际错误的内容。</a:t>
            </a:r>
          </a:p>
          <a:p>
            <a:r>
              <a:rPr lang="zh-CN" altLang="zh-CN" dirty="0"/>
              <a:t>因此产品经理需要设计：</a:t>
            </a:r>
          </a:p>
          <a:p>
            <a:r>
              <a:rPr lang="zh-CN" altLang="zh-CN" dirty="0"/>
              <a:t>怎么发现错误；</a:t>
            </a:r>
          </a:p>
          <a:p>
            <a:r>
              <a:rPr lang="zh-CN" altLang="zh-CN" dirty="0"/>
              <a:t>怎么展示信息来源；</a:t>
            </a:r>
          </a:p>
          <a:p>
            <a:r>
              <a:rPr lang="zh-CN" altLang="zh-CN" dirty="0"/>
              <a:t>什么情况下让用户确认；</a:t>
            </a:r>
          </a:p>
          <a:p>
            <a:r>
              <a:rPr lang="zh-CN" altLang="zh-CN" dirty="0"/>
              <a:t>什么情况下转人工；</a:t>
            </a:r>
          </a:p>
          <a:p>
            <a:r>
              <a:rPr lang="zh-CN" altLang="zh-CN" dirty="0"/>
              <a:t>错误结果如何纠正；</a:t>
            </a:r>
          </a:p>
          <a:p>
            <a:r>
              <a:rPr lang="zh-CN" altLang="zh-CN" dirty="0"/>
              <a:t>哪些高风险任务禁止自动执行。</a:t>
            </a:r>
          </a:p>
          <a:p>
            <a:r>
              <a:rPr lang="zh-CN" altLang="zh-CN" b="1" dirty="0"/>
              <a:t>能验证产品价值</a:t>
            </a:r>
          </a:p>
          <a:p>
            <a:r>
              <a:rPr lang="zh-CN" altLang="zh-CN" dirty="0"/>
              <a:t>不能只证明“AI生成成功了”，还要证明：</a:t>
            </a:r>
          </a:p>
          <a:p>
            <a:r>
              <a:rPr lang="zh-CN" altLang="zh-CN" dirty="0"/>
              <a:t>用户是否真的愿意使用；</a:t>
            </a:r>
          </a:p>
          <a:p>
            <a:r>
              <a:rPr lang="zh-CN" altLang="zh-CN" dirty="0"/>
              <a:t>工作时间是否减少；</a:t>
            </a:r>
          </a:p>
          <a:p>
            <a:r>
              <a:rPr lang="zh-CN" altLang="zh-CN" dirty="0"/>
              <a:t>输出质量是否提高；</a:t>
            </a:r>
          </a:p>
          <a:p>
            <a:r>
              <a:rPr lang="zh-CN" altLang="zh-CN" dirty="0"/>
              <a:t>错误是否在可接受范围内；</a:t>
            </a:r>
          </a:p>
          <a:p>
            <a:r>
              <a:rPr lang="zh-CN" altLang="zh-CN" dirty="0"/>
              <a:t>业务结果是否改善；</a:t>
            </a:r>
          </a:p>
          <a:p>
            <a:r>
              <a:rPr lang="zh-CN" altLang="zh-CN" dirty="0"/>
              <a:t>收益是否能覆盖模型和运营成本。</a:t>
            </a:r>
          </a:p>
          <a:p>
            <a:r>
              <a:rPr lang="zh-CN" altLang="zh-CN" b="1" dirty="0"/>
              <a:t>推荐使用的对比例子</a:t>
            </a:r>
          </a:p>
          <a:p>
            <a:r>
              <a:rPr lang="zh-CN" altLang="zh-CN" dirty="0"/>
              <a:t>可以给学员看两种表达。</a:t>
            </a:r>
          </a:p>
          <a:p>
            <a:r>
              <a:rPr lang="zh-CN" altLang="zh-CN" dirty="0"/>
              <a:t>第一种：</a:t>
            </a:r>
          </a:p>
          <a:p>
            <a:r>
              <a:rPr lang="zh-CN" altLang="zh-CN" dirty="0"/>
              <a:t>我使用某个平台上传了公司资料，搭建了一个智能客服机器人。</a:t>
            </a:r>
          </a:p>
          <a:p>
            <a:r>
              <a:rPr lang="zh-CN" altLang="zh-CN" dirty="0"/>
              <a:t>它主要证明学员会操作工具、配置知识库和完成Demo。</a:t>
            </a:r>
          </a:p>
          <a:p>
            <a:r>
              <a:rPr lang="zh-CN" altLang="zh-CN" dirty="0"/>
              <a:t>第二种：</a:t>
            </a:r>
          </a:p>
          <a:p>
            <a:r>
              <a:rPr lang="zh-CN" altLang="zh-CN" dirty="0"/>
              <a:t>我发现客服在回答活动规则问题时，需要在多个文档中反复查找，平均处理时间较长，而且不同客服的回答口径不一致。因此，我设计了知识检索、候选回答、来源展示和高风险问题转人工流程，并计划通过平均处理时间、答案采用率、人工修改率和错误率验证效果。</a:t>
            </a:r>
          </a:p>
          <a:p>
            <a:r>
              <a:rPr lang="zh-CN" altLang="zh-CN" dirty="0"/>
              <a:t>第二种表达里多了：</a:t>
            </a:r>
          </a:p>
          <a:p>
            <a:r>
              <a:rPr lang="zh-CN" altLang="zh-CN" dirty="0"/>
              <a:t>用户；</a:t>
            </a:r>
          </a:p>
          <a:p>
            <a:r>
              <a:rPr lang="zh-CN" altLang="zh-CN" dirty="0"/>
              <a:t>场景；</a:t>
            </a:r>
          </a:p>
          <a:p>
            <a:r>
              <a:rPr lang="zh-CN" altLang="zh-CN" dirty="0"/>
              <a:t>现有问题；</a:t>
            </a:r>
          </a:p>
          <a:p>
            <a:r>
              <a:rPr lang="zh-CN" altLang="zh-CN" dirty="0"/>
              <a:t>AI任务；</a:t>
            </a:r>
          </a:p>
          <a:p>
            <a:r>
              <a:rPr lang="zh-CN" altLang="zh-CN" dirty="0"/>
              <a:t>人机分工；</a:t>
            </a:r>
          </a:p>
          <a:p>
            <a:r>
              <a:rPr lang="zh-CN" altLang="zh-CN" dirty="0"/>
              <a:t>风险控制；</a:t>
            </a:r>
          </a:p>
          <a:p>
            <a:r>
              <a:rPr lang="zh-CN" altLang="zh-CN" dirty="0"/>
              <a:t>验证指标。</a:t>
            </a:r>
          </a:p>
          <a:p>
            <a:r>
              <a:rPr lang="zh-CN" altLang="zh-CN" dirty="0"/>
              <a:t>这才开始接近一个完整的AI产品方案。</a:t>
            </a:r>
          </a:p>
          <a:p>
            <a:r>
              <a:rPr lang="zh-CN" altLang="zh-CN" b="1" dirty="0"/>
              <a:t>课堂提问</a:t>
            </a:r>
          </a:p>
          <a:p>
            <a:r>
              <a:rPr lang="zh-CN" altLang="zh-CN" dirty="0"/>
              <a:t>如果一个人可以在半小时内搭建一个AI机器人，他已经是AI产品经理了吗？</a:t>
            </a:r>
          </a:p>
          <a:p>
            <a:r>
              <a:rPr lang="zh-CN" altLang="zh-CN" dirty="0"/>
              <a:t>参考回答：</a:t>
            </a:r>
          </a:p>
          <a:p>
            <a:r>
              <a:rPr lang="zh-CN" altLang="zh-CN" dirty="0"/>
              <a:t>不能只根据是否搭出机器人判断。还需要看他是否理解用户问题、方案选择、错误风险、验证方式和业务结果。</a:t>
            </a:r>
          </a:p>
          <a:p>
            <a:r>
              <a:rPr lang="zh-CN" altLang="zh-CN" b="1" dirty="0"/>
              <a:t>本页收口</a:t>
            </a:r>
          </a:p>
          <a:p>
            <a:r>
              <a:rPr lang="zh-CN" altLang="zh-CN" dirty="0"/>
              <a:t>工具熟练度决定我们能不能快速表达和验证想法，产品判断决定这个想法是否值得做、能否使用以及能否产生价值。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b="1" dirty="0"/>
              <a:t>建议讲法</a:t>
            </a:r>
          </a:p>
          <a:p>
            <a:r>
              <a:rPr lang="zh-CN" altLang="zh-CN" dirty="0"/>
              <a:t>上一页强调AI产品经理不等于AI工具产品经理，并不是要走到另一个极端，认为工具操作不重要。</a:t>
            </a:r>
          </a:p>
          <a:p>
            <a:r>
              <a:rPr lang="zh-CN" altLang="zh-CN" dirty="0"/>
              <a:t>产品经理如果完全不会使用AI工具，也会面临实际问题：</a:t>
            </a:r>
          </a:p>
          <a:p>
            <a:r>
              <a:rPr lang="zh-CN" altLang="zh-CN" dirty="0"/>
              <a:t>产品想法只能写在文档里，无法快速验证；</a:t>
            </a:r>
          </a:p>
          <a:p>
            <a:r>
              <a:rPr lang="zh-CN" altLang="zh-CN" dirty="0"/>
              <a:t>不知道模型实际能做到什么程度；</a:t>
            </a:r>
          </a:p>
          <a:p>
            <a:r>
              <a:rPr lang="zh-CN" altLang="zh-CN" dirty="0"/>
              <a:t>无法理解用户使用AI时会遇到什么问题；</a:t>
            </a:r>
          </a:p>
          <a:p>
            <a:r>
              <a:rPr lang="zh-CN" altLang="zh-CN" dirty="0"/>
              <a:t>和研发、算法沟通时缺少共同体验；</a:t>
            </a:r>
          </a:p>
          <a:p>
            <a:r>
              <a:rPr lang="zh-CN" altLang="zh-CN" dirty="0"/>
              <a:t>方案试错成本过高。</a:t>
            </a:r>
          </a:p>
          <a:p>
            <a:r>
              <a:rPr lang="zh-CN" altLang="zh-CN" dirty="0"/>
              <a:t>所以，这门课程会同时训练两条能力线。</a:t>
            </a:r>
          </a:p>
          <a:p>
            <a:r>
              <a:rPr lang="zh-CN" altLang="zh-CN" b="1" dirty="0"/>
              <a:t>第一条：用AI提高产品经理自己的效率</a:t>
            </a:r>
          </a:p>
          <a:p>
            <a:r>
              <a:rPr lang="zh-CN" altLang="zh-CN" dirty="0"/>
              <a:t>例如：</a:t>
            </a:r>
          </a:p>
          <a:p>
            <a:r>
              <a:rPr lang="zh-CN" altLang="zh-CN" dirty="0"/>
              <a:t>用AI整理行业资料；</a:t>
            </a:r>
          </a:p>
          <a:p>
            <a:r>
              <a:rPr lang="zh-CN" altLang="zh-CN" dirty="0"/>
              <a:t>辅助分析访谈记录；</a:t>
            </a:r>
          </a:p>
          <a:p>
            <a:r>
              <a:rPr lang="zh-CN" altLang="zh-CN" dirty="0"/>
              <a:t>生成竞品对比框架；</a:t>
            </a:r>
          </a:p>
          <a:p>
            <a:r>
              <a:rPr lang="zh-CN" altLang="zh-CN" dirty="0"/>
              <a:t>检查PRD逻辑；</a:t>
            </a:r>
          </a:p>
          <a:p>
            <a:r>
              <a:rPr lang="zh-CN" altLang="zh-CN" dirty="0"/>
              <a:t>生成原型代码；</a:t>
            </a:r>
          </a:p>
          <a:p>
            <a:r>
              <a:rPr lang="zh-CN" altLang="zh-CN" dirty="0"/>
              <a:t>制作简单Demo；</a:t>
            </a:r>
          </a:p>
          <a:p>
            <a:r>
              <a:rPr lang="zh-CN" altLang="zh-CN" dirty="0"/>
              <a:t>模拟用户反馈和面试追问。</a:t>
            </a:r>
          </a:p>
          <a:p>
            <a:r>
              <a:rPr lang="zh-CN" altLang="zh-CN" b="1" dirty="0"/>
              <a:t>第二条：设计真正给用户使用的AI产品</a:t>
            </a:r>
          </a:p>
          <a:p>
            <a:r>
              <a:rPr lang="zh-CN" altLang="zh-CN" dirty="0"/>
              <a:t>例如：</a:t>
            </a:r>
          </a:p>
          <a:p>
            <a:r>
              <a:rPr lang="zh-CN" altLang="zh-CN" dirty="0"/>
              <a:t>判断什么场景适合AI；</a:t>
            </a:r>
          </a:p>
          <a:p>
            <a:r>
              <a:rPr lang="zh-CN" altLang="zh-CN" dirty="0"/>
              <a:t>设计模型、知识、规则与人工之间的关系；</a:t>
            </a:r>
          </a:p>
          <a:p>
            <a:r>
              <a:rPr lang="zh-CN" altLang="zh-CN" dirty="0"/>
              <a:t>设计AI交互和错误处理；</a:t>
            </a:r>
          </a:p>
          <a:p>
            <a:r>
              <a:rPr lang="zh-CN" altLang="zh-CN" dirty="0"/>
              <a:t>建立评测集和指标；</a:t>
            </a:r>
          </a:p>
          <a:p>
            <a:r>
              <a:rPr lang="zh-CN" altLang="zh-CN" dirty="0"/>
              <a:t>计算调用成本；</a:t>
            </a:r>
          </a:p>
          <a:p>
            <a:r>
              <a:rPr lang="zh-CN" altLang="zh-CN" dirty="0"/>
              <a:t>推动产品上线和持续优化。</a:t>
            </a:r>
          </a:p>
          <a:p>
            <a:r>
              <a:rPr lang="zh-CN" altLang="zh-CN" b="1" dirty="0"/>
              <a:t>四类工具价值</a:t>
            </a:r>
          </a:p>
          <a:p>
            <a:r>
              <a:rPr lang="zh-CN" altLang="zh-CN" b="1" dirty="0"/>
              <a:t>研究</a:t>
            </a:r>
          </a:p>
          <a:p>
            <a:r>
              <a:rPr lang="zh-CN" altLang="zh-CN" dirty="0"/>
              <a:t>AI可以帮助我们快速获取信息、整理线索和形成研究框架。</a:t>
            </a:r>
          </a:p>
          <a:p>
            <a:r>
              <a:rPr lang="zh-CN" altLang="zh-CN" dirty="0"/>
              <a:t>但产品经理仍然需要确认：</a:t>
            </a:r>
          </a:p>
          <a:p>
            <a:r>
              <a:rPr lang="zh-CN" altLang="zh-CN" dirty="0"/>
              <a:t>信息来源是否可靠；</a:t>
            </a:r>
          </a:p>
          <a:p>
            <a:r>
              <a:rPr lang="zh-CN" altLang="zh-CN" dirty="0"/>
              <a:t>是否遗漏了反例；</a:t>
            </a:r>
          </a:p>
          <a:p>
            <a:r>
              <a:rPr lang="zh-CN" altLang="zh-CN" dirty="0"/>
              <a:t>结论是事实还是模型推断；</a:t>
            </a:r>
          </a:p>
          <a:p>
            <a:r>
              <a:rPr lang="zh-CN" altLang="zh-CN" dirty="0"/>
              <a:t>信息是否已经过时。</a:t>
            </a:r>
          </a:p>
          <a:p>
            <a:r>
              <a:rPr lang="zh-CN" altLang="zh-CN" b="1" dirty="0"/>
              <a:t>表达</a:t>
            </a:r>
          </a:p>
          <a:p>
            <a:r>
              <a:rPr lang="zh-CN" altLang="zh-CN" dirty="0"/>
              <a:t>AI可以把产品方案变成文档、流程图、原型和演示材料。</a:t>
            </a:r>
          </a:p>
          <a:p>
            <a:r>
              <a:rPr lang="zh-CN" altLang="zh-CN" dirty="0"/>
              <a:t>但表达得漂亮不代表方案是正确的。产品经理仍需要对需求和结论负责。</a:t>
            </a:r>
          </a:p>
          <a:p>
            <a:r>
              <a:rPr lang="zh-CN" altLang="zh-CN" b="1" dirty="0"/>
              <a:t>验证</a:t>
            </a:r>
          </a:p>
          <a:p>
            <a:r>
              <a:rPr lang="zh-CN" altLang="zh-CN" dirty="0"/>
              <a:t>AI可以帮助产品经理快速搭建Demo，让用户真正体验，而不是只对着文档想象。</a:t>
            </a:r>
          </a:p>
          <a:p>
            <a:r>
              <a:rPr lang="zh-CN" altLang="zh-CN" dirty="0"/>
              <a:t>但Demo能够运行，不代表产品可以上线。还要测试准确率、稳定性、风险和成本。</a:t>
            </a:r>
          </a:p>
          <a:p>
            <a:r>
              <a:rPr lang="zh-CN" altLang="zh-CN" b="1" dirty="0"/>
              <a:t>提效</a:t>
            </a:r>
          </a:p>
          <a:p>
            <a:r>
              <a:rPr lang="zh-CN" altLang="zh-CN" dirty="0"/>
              <a:t>AI可以减少重复劳动。</a:t>
            </a:r>
          </a:p>
          <a:p>
            <a:r>
              <a:rPr lang="zh-CN" altLang="zh-CN" dirty="0"/>
              <a:t>但需要进一步判断，节省的是不是关键时间，是否只是把工作从“人工完成”变成“人工检查和修改”。</a:t>
            </a:r>
          </a:p>
          <a:p>
            <a:r>
              <a:rPr lang="zh-CN" altLang="zh-CN" b="1" dirty="0"/>
              <a:t>推荐追问</a:t>
            </a:r>
          </a:p>
          <a:p>
            <a:r>
              <a:rPr lang="zh-CN" altLang="zh-CN" dirty="0"/>
              <a:t>每当学习一个AI工具时，都问自己：</a:t>
            </a:r>
          </a:p>
          <a:p>
            <a:r>
              <a:rPr lang="zh-CN" altLang="zh-CN" dirty="0"/>
              <a:t>它具体帮助我解决了什么产品问题？</a:t>
            </a:r>
          </a:p>
          <a:p>
            <a:r>
              <a:rPr lang="zh-CN" altLang="zh-CN" dirty="0"/>
              <a:t>不要只记录“我学会了某个工具”，还应该记录：</a:t>
            </a:r>
          </a:p>
          <a:p>
            <a:r>
              <a:rPr lang="zh-CN" altLang="zh-CN" dirty="0"/>
              <a:t>我用它完成了什么任务；</a:t>
            </a:r>
          </a:p>
          <a:p>
            <a:r>
              <a:rPr lang="zh-CN" altLang="zh-CN" dirty="0"/>
              <a:t>原来需要多久；</a:t>
            </a:r>
          </a:p>
          <a:p>
            <a:r>
              <a:rPr lang="zh-CN" altLang="zh-CN" dirty="0"/>
              <a:t>现在需要多久；</a:t>
            </a:r>
          </a:p>
          <a:p>
            <a:r>
              <a:rPr lang="zh-CN" altLang="zh-CN" dirty="0"/>
              <a:t>输出还需要多少人工修改；</a:t>
            </a:r>
          </a:p>
          <a:p>
            <a:r>
              <a:rPr lang="zh-CN" altLang="zh-CN" dirty="0"/>
              <a:t>哪些任务不适合交给它。</a:t>
            </a:r>
          </a:p>
          <a:p>
            <a:r>
              <a:rPr lang="zh-CN" altLang="zh-CN" b="1" dirty="0"/>
              <a:t>本页收口</a:t>
            </a:r>
          </a:p>
          <a:p>
            <a:r>
              <a:rPr lang="zh-CN" altLang="zh-CN" dirty="0"/>
              <a:t>课程不会排斥工具，也不会把工具熟练度当成AI产品经理岗位价值的全部。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b="1" dirty="0"/>
              <a:t>建议讲法</a:t>
            </a:r>
          </a:p>
          <a:p>
            <a:r>
              <a:rPr lang="zh-CN" altLang="zh-CN" dirty="0"/>
              <a:t>这门课程主要想建立三层连接。</a:t>
            </a:r>
          </a:p>
          <a:p>
            <a:r>
              <a:rPr lang="zh-CN" altLang="zh-CN" b="1" dirty="0"/>
              <a:t>第一层：理解够用的技术</a:t>
            </a:r>
          </a:p>
          <a:p>
            <a:r>
              <a:rPr lang="zh-CN" altLang="zh-CN" dirty="0"/>
              <a:t>这里的“够用”不是“只学一点皮毛”，而是根据产品经理的职责确定技术深度。</a:t>
            </a:r>
          </a:p>
          <a:p>
            <a:r>
              <a:rPr lang="zh-CN" altLang="zh-CN" dirty="0"/>
              <a:t>产品经理需要知道：</a:t>
            </a:r>
          </a:p>
          <a:p>
            <a:r>
              <a:rPr lang="zh-CN" altLang="zh-CN" dirty="0"/>
              <a:t>模型能做什么；</a:t>
            </a:r>
          </a:p>
          <a:p>
            <a:r>
              <a:rPr lang="zh-CN" altLang="zh-CN" dirty="0"/>
              <a:t>模型为什么可能出错；</a:t>
            </a:r>
          </a:p>
          <a:p>
            <a:r>
              <a:rPr lang="zh-CN" altLang="zh-CN" dirty="0"/>
              <a:t>Prompt、Workflow、RAG和Agent分别解决什么问题；</a:t>
            </a:r>
          </a:p>
          <a:p>
            <a:r>
              <a:rPr lang="zh-CN" altLang="zh-CN" dirty="0"/>
              <a:t>什么任务更适合确定性规则；</a:t>
            </a:r>
          </a:p>
          <a:p>
            <a:r>
              <a:rPr lang="zh-CN" altLang="zh-CN" dirty="0"/>
              <a:t>什么任务适合让模型生成或判断；</a:t>
            </a:r>
          </a:p>
          <a:p>
            <a:r>
              <a:rPr lang="zh-CN" altLang="zh-CN" dirty="0"/>
              <a:t>数据、上下文和工具如何影响结果；</a:t>
            </a:r>
          </a:p>
          <a:p>
            <a:r>
              <a:rPr lang="zh-CN" altLang="zh-CN" dirty="0"/>
              <a:t>技术方案会带来什么成本和风险。</a:t>
            </a:r>
          </a:p>
          <a:p>
            <a:r>
              <a:rPr lang="zh-CN" altLang="zh-CN" dirty="0"/>
              <a:t>产品经理不一定负责训练底层模型，但必须具备与算法和研发讨论产品取舍的能力。</a:t>
            </a:r>
          </a:p>
          <a:p>
            <a:r>
              <a:rPr lang="zh-CN" altLang="zh-CN" b="1" dirty="0"/>
              <a:t>第二层：形成产品判断</a:t>
            </a:r>
          </a:p>
          <a:p>
            <a:r>
              <a:rPr lang="zh-CN" altLang="zh-CN" dirty="0"/>
              <a:t>面对一个AI机会，不是直接选择最热门的技术，而是依次判断：</a:t>
            </a:r>
          </a:p>
          <a:p>
            <a:r>
              <a:rPr lang="zh-CN" altLang="zh-CN" dirty="0"/>
              <a:t>用户问题是否真实？</a:t>
            </a:r>
          </a:p>
          <a:p>
            <a:r>
              <a:rPr lang="zh-CN" altLang="zh-CN" dirty="0"/>
              <a:t>问题是否值得解决？</a:t>
            </a:r>
          </a:p>
          <a:p>
            <a:r>
              <a:rPr lang="zh-CN" altLang="zh-CN" dirty="0"/>
              <a:t>普通产品优化能否解决？</a:t>
            </a:r>
          </a:p>
          <a:p>
            <a:r>
              <a:rPr lang="zh-CN" altLang="zh-CN" dirty="0"/>
              <a:t>AI在哪个步骤具有明显优势？</a:t>
            </a:r>
          </a:p>
          <a:p>
            <a:r>
              <a:rPr lang="zh-CN" altLang="zh-CN" dirty="0"/>
              <a:t>AI出错会造成什么后果？</a:t>
            </a:r>
          </a:p>
          <a:p>
            <a:r>
              <a:rPr lang="zh-CN" altLang="zh-CN" dirty="0"/>
              <a:t>哪些步骤需要人工参与？</a:t>
            </a:r>
          </a:p>
          <a:p>
            <a:r>
              <a:rPr lang="zh-CN" altLang="zh-CN" dirty="0"/>
              <a:t>如何证明产品产生了价值？</a:t>
            </a:r>
          </a:p>
          <a:p>
            <a:r>
              <a:rPr lang="zh-CN" altLang="zh-CN" dirty="0"/>
              <a:t>这套判断方法比记住某个工具的操作路径更稳定。工具会变化，但用户问题、产品取舍、风险和验证不会消失。</a:t>
            </a:r>
          </a:p>
          <a:p>
            <a:r>
              <a:rPr lang="zh-CN" altLang="zh-CN" b="1" dirty="0"/>
              <a:t>第三层：推动真实落地</a:t>
            </a:r>
          </a:p>
          <a:p>
            <a:r>
              <a:rPr lang="zh-CN" altLang="zh-CN" dirty="0"/>
              <a:t>从Demo到真正可用的产品，中间还有很长距离。</a:t>
            </a:r>
          </a:p>
          <a:p>
            <a:r>
              <a:rPr lang="zh-CN" altLang="zh-CN" dirty="0"/>
              <a:t>一个Demo可能只需要：</a:t>
            </a:r>
          </a:p>
          <a:p>
            <a:r>
              <a:rPr lang="zh-CN" altLang="zh-CN" dirty="0"/>
              <a:t>几条Prompt；</a:t>
            </a:r>
          </a:p>
          <a:p>
            <a:r>
              <a:rPr lang="zh-CN" altLang="zh-CN" dirty="0"/>
              <a:t>几份测试资料；</a:t>
            </a:r>
          </a:p>
          <a:p>
            <a:r>
              <a:rPr lang="zh-CN" altLang="zh-CN" dirty="0"/>
              <a:t>一个理想示例；</a:t>
            </a:r>
          </a:p>
          <a:p>
            <a:r>
              <a:rPr lang="zh-CN" altLang="zh-CN" dirty="0"/>
              <a:t>一个人操作。</a:t>
            </a:r>
          </a:p>
          <a:p>
            <a:r>
              <a:rPr lang="zh-CN" altLang="zh-CN" dirty="0"/>
              <a:t>但真实产品需要面对：</a:t>
            </a:r>
          </a:p>
          <a:p>
            <a:r>
              <a:rPr lang="zh-CN" altLang="zh-CN" dirty="0"/>
              <a:t>大量不同用户；</a:t>
            </a:r>
          </a:p>
          <a:p>
            <a:r>
              <a:rPr lang="zh-CN" altLang="zh-CN" dirty="0"/>
              <a:t>不完整和错误的数据；</a:t>
            </a:r>
          </a:p>
          <a:p>
            <a:r>
              <a:rPr lang="zh-CN" altLang="zh-CN" dirty="0"/>
              <a:t>模糊甚至冲突的需求；</a:t>
            </a:r>
          </a:p>
          <a:p>
            <a:r>
              <a:rPr lang="zh-CN" altLang="zh-CN" dirty="0"/>
              <a:t>模型不稳定；</a:t>
            </a:r>
          </a:p>
          <a:p>
            <a:r>
              <a:rPr lang="zh-CN" altLang="zh-CN" dirty="0"/>
              <a:t>权限和隐私；</a:t>
            </a:r>
          </a:p>
          <a:p>
            <a:r>
              <a:rPr lang="zh-CN" altLang="zh-CN" dirty="0"/>
              <a:t>高并发和响应速度；</a:t>
            </a:r>
          </a:p>
          <a:p>
            <a:r>
              <a:rPr lang="zh-CN" altLang="zh-CN" dirty="0"/>
              <a:t>调用成本；</a:t>
            </a:r>
          </a:p>
          <a:p>
            <a:r>
              <a:rPr lang="zh-CN" altLang="zh-CN" dirty="0"/>
              <a:t>用户反馈；</a:t>
            </a:r>
          </a:p>
          <a:p>
            <a:r>
              <a:rPr lang="zh-CN" altLang="zh-CN" dirty="0"/>
              <a:t>长期维护。</a:t>
            </a:r>
          </a:p>
          <a:p>
            <a:r>
              <a:rPr lang="zh-CN" altLang="zh-CN" dirty="0"/>
              <a:t>所以产品经理还要学习：</a:t>
            </a:r>
          </a:p>
          <a:p>
            <a:r>
              <a:rPr lang="zh-CN" altLang="zh-CN" dirty="0"/>
              <a:t>怎样制作测试样本；</a:t>
            </a:r>
          </a:p>
          <a:p>
            <a:r>
              <a:rPr lang="zh-CN" altLang="zh-CN" dirty="0"/>
              <a:t>怎样收集Bad Case；</a:t>
            </a:r>
          </a:p>
          <a:p>
            <a:r>
              <a:rPr lang="zh-CN" altLang="zh-CN" dirty="0"/>
              <a:t>怎样确定上线标准；</a:t>
            </a:r>
          </a:p>
          <a:p>
            <a:r>
              <a:rPr lang="zh-CN" altLang="zh-CN" dirty="0"/>
              <a:t>怎样设计灰度试点；</a:t>
            </a:r>
          </a:p>
          <a:p>
            <a:r>
              <a:rPr lang="zh-CN" altLang="zh-CN" dirty="0"/>
              <a:t>怎样建立反馈闭环；</a:t>
            </a:r>
          </a:p>
          <a:p>
            <a:r>
              <a:rPr lang="zh-CN" altLang="zh-CN" dirty="0"/>
              <a:t>怎样判断是否继续投入。</a:t>
            </a:r>
          </a:p>
          <a:p>
            <a:r>
              <a:rPr lang="zh-CN" altLang="zh-CN" b="1" dirty="0"/>
              <a:t>一个简单例子</a:t>
            </a:r>
          </a:p>
          <a:p>
            <a:r>
              <a:rPr lang="zh-CN" altLang="zh-CN" dirty="0"/>
              <a:t>假设我们要做“销售拜访记录助手”。</a:t>
            </a:r>
          </a:p>
          <a:p>
            <a:r>
              <a:rPr lang="zh-CN" altLang="zh-CN" dirty="0"/>
              <a:t>技术层面需要理解语音识别、大模型信息提取和结构化输出。</a:t>
            </a:r>
          </a:p>
          <a:p>
            <a:r>
              <a:rPr lang="zh-CN" altLang="zh-CN" dirty="0"/>
              <a:t>产品层面需要判断销售的真实问题是什么，AI应该处理哪些步骤，哪些信息必须由销售确认。</a:t>
            </a:r>
          </a:p>
          <a:p>
            <a:r>
              <a:rPr lang="zh-CN" altLang="zh-CN" dirty="0"/>
              <a:t>落地层面还需要处理录音授权、客户隐私、行业术语、说话人识别、CRM权限、错误记录和效果验证。</a:t>
            </a:r>
          </a:p>
          <a:p>
            <a:r>
              <a:rPr lang="zh-CN" altLang="zh-CN" dirty="0"/>
              <a:t>这三层共同构成AI产品经理的工作。</a:t>
            </a:r>
          </a:p>
          <a:p>
            <a:r>
              <a:rPr lang="zh-CN" altLang="zh-CN" b="1" dirty="0"/>
              <a:t>本页收口</a:t>
            </a:r>
          </a:p>
          <a:p>
            <a:r>
              <a:rPr lang="zh-CN" altLang="zh-CN" dirty="0"/>
              <a:t>这门课程不是把所有人培养成算法工程师，也不是只让大家会搭Demo，而是让产品经理能够理解技术、做出判断并推动落地。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A6E34-A3FB-1B75-91E2-C30D6C7B6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021348-D10E-6B3A-AD1A-569E99CF24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0538D7-D661-929B-2F84-42D4A4E0FA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b="1" dirty="0"/>
              <a:t>建议讲法</a:t>
            </a:r>
          </a:p>
          <a:p>
            <a:r>
              <a:rPr lang="zh-CN" altLang="zh-CN" dirty="0"/>
              <a:t>最后，我想提前说明几个学习上的注意事项。</a:t>
            </a:r>
          </a:p>
          <a:p>
            <a:r>
              <a:rPr lang="zh-CN" altLang="zh-CN" b="1" dirty="0"/>
              <a:t>保持信心，但不要形成虚假的确定感</a:t>
            </a:r>
          </a:p>
          <a:p>
            <a:r>
              <a:rPr lang="zh-CN" altLang="zh-CN" dirty="0"/>
              <a:t>AI领域有很多听起来很复杂的术语，但初级产品经理不需要因为不会训练模型就认为自己没有机会。</a:t>
            </a:r>
          </a:p>
          <a:p>
            <a:r>
              <a:rPr lang="zh-CN" altLang="zh-CN" dirty="0"/>
              <a:t>同时，也不能因为搭出了几个Demo，就认为自己已经掌握了AI产品。</a:t>
            </a:r>
          </a:p>
          <a:p>
            <a:r>
              <a:rPr lang="zh-CN" altLang="zh-CN" dirty="0"/>
              <a:t>比较健康的状态是：</a:t>
            </a:r>
          </a:p>
          <a:p>
            <a:r>
              <a:rPr lang="zh-CN" altLang="zh-CN" dirty="0"/>
              <a:t>对学习保持信心，对自己的结论保持谨慎。</a:t>
            </a:r>
          </a:p>
          <a:p>
            <a:r>
              <a:rPr lang="zh-CN" altLang="zh-CN" b="1" dirty="0"/>
              <a:t>多提问，不要假装听懂</a:t>
            </a:r>
          </a:p>
          <a:p>
            <a:r>
              <a:rPr lang="zh-CN" altLang="zh-CN" dirty="0"/>
              <a:t>如果课堂上出现不理解的概念，请及时提问。</a:t>
            </a:r>
          </a:p>
          <a:p>
            <a:r>
              <a:rPr lang="zh-CN" altLang="zh-CN" dirty="0"/>
              <a:t>很多AI概念之间本来就容易混淆。例如：</a:t>
            </a:r>
          </a:p>
          <a:p>
            <a:r>
              <a:rPr lang="zh-CN" altLang="zh-CN" dirty="0"/>
              <a:t>AI和AIGC不是同一个概念；</a:t>
            </a:r>
          </a:p>
          <a:p>
            <a:r>
              <a:rPr lang="zh-CN" altLang="zh-CN" dirty="0"/>
              <a:t>大模型和ChatGPT不是同一个东西；</a:t>
            </a:r>
          </a:p>
          <a:p>
            <a:r>
              <a:rPr lang="zh-CN" altLang="zh-CN" dirty="0"/>
              <a:t>Workflow和Agent不是简单的新旧替代关系；</a:t>
            </a:r>
          </a:p>
          <a:p>
            <a:r>
              <a:rPr lang="zh-CN" altLang="zh-CN" dirty="0"/>
              <a:t>一个产品使用了AI，不代表所有流程都应该自动化。</a:t>
            </a:r>
          </a:p>
          <a:p>
            <a:r>
              <a:rPr lang="zh-CN" altLang="zh-CN" dirty="0"/>
              <a:t>如果基础概念没有弄清楚，后面越学越容易混乱。</a:t>
            </a:r>
          </a:p>
          <a:p>
            <a:r>
              <a:rPr lang="zh-CN" altLang="zh-CN" b="1" dirty="0"/>
              <a:t>多练习，不要只收藏材料</a:t>
            </a:r>
          </a:p>
          <a:p>
            <a:r>
              <a:rPr lang="zh-CN" altLang="zh-CN" dirty="0"/>
              <a:t>看懂老师的案例，和自己能够完成分析，是两件不同的事。</a:t>
            </a:r>
          </a:p>
          <a:p>
            <a:r>
              <a:rPr lang="zh-CN" altLang="zh-CN" dirty="0"/>
              <a:t>课堂案例通常已经被整理过，问题、流程和答案都相对清晰。但回到真实工作时，你会发现：</a:t>
            </a:r>
          </a:p>
          <a:p>
            <a:r>
              <a:rPr lang="zh-CN" altLang="zh-CN" dirty="0"/>
              <a:t>用户问题没有那么明确；</a:t>
            </a:r>
          </a:p>
          <a:p>
            <a:r>
              <a:rPr lang="zh-CN" altLang="zh-CN" dirty="0"/>
              <a:t>不同角色说法不一致；</a:t>
            </a:r>
          </a:p>
          <a:p>
            <a:r>
              <a:rPr lang="zh-CN" altLang="zh-CN" dirty="0"/>
              <a:t>数据可能拿不到；</a:t>
            </a:r>
          </a:p>
          <a:p>
            <a:r>
              <a:rPr lang="zh-CN" altLang="zh-CN" dirty="0"/>
              <a:t>AI是否适合并不确定；</a:t>
            </a:r>
          </a:p>
          <a:p>
            <a:r>
              <a:rPr lang="zh-CN" altLang="zh-CN" dirty="0"/>
              <a:t>很多信息需要继续验证。</a:t>
            </a:r>
          </a:p>
          <a:p>
            <a:r>
              <a:rPr lang="zh-CN" altLang="zh-CN" dirty="0"/>
              <a:t>所以，每节课都需要回到自己的工作场景重新完成一次。</a:t>
            </a:r>
          </a:p>
          <a:p>
            <a:r>
              <a:rPr lang="zh-CN" altLang="zh-CN" b="1" dirty="0"/>
              <a:t>区分事实、假设和观点</a:t>
            </a:r>
          </a:p>
          <a:p>
            <a:r>
              <a:rPr lang="zh-CN" altLang="zh-CN" dirty="0"/>
              <a:t>做AI产品时，建议养成标记习惯：</a:t>
            </a:r>
          </a:p>
          <a:p>
            <a:r>
              <a:rPr lang="zh-CN" altLang="zh-CN" dirty="0"/>
              <a:t>事实：已经通过数据、访谈或公开资料确认；</a:t>
            </a:r>
          </a:p>
          <a:p>
            <a:r>
              <a:rPr lang="zh-CN" altLang="zh-CN" dirty="0"/>
              <a:t>假设：目前认为可能成立，但还没有验证；</a:t>
            </a:r>
          </a:p>
          <a:p>
            <a:r>
              <a:rPr lang="zh-CN" altLang="zh-CN" dirty="0"/>
              <a:t>观点：基于现有信息作出的产品判断。</a:t>
            </a:r>
          </a:p>
          <a:p>
            <a:r>
              <a:rPr lang="zh-CN" altLang="zh-CN" dirty="0"/>
              <a:t>例如：</a:t>
            </a:r>
          </a:p>
          <a:p>
            <a:r>
              <a:rPr lang="zh-CN" altLang="zh-CN" dirty="0"/>
              <a:t>“销售每天拜访3—5家客户。”</a:t>
            </a:r>
          </a:p>
          <a:p>
            <a:r>
              <a:rPr lang="zh-CN" altLang="zh-CN" dirty="0"/>
              <a:t>如果没有真实调研数据，这只能是教学案例中的假设，不能直接当成业务事实。</a:t>
            </a:r>
          </a:p>
          <a:p>
            <a:r>
              <a:rPr lang="zh-CN" altLang="zh-CN" dirty="0"/>
              <a:t>“销售拜访后填写CRM很痛苦。”</a:t>
            </a:r>
          </a:p>
          <a:p>
            <a:r>
              <a:rPr lang="zh-CN" altLang="zh-CN" dirty="0"/>
              <a:t>这也是一个需要访谈和数据验证的假设。</a:t>
            </a:r>
          </a:p>
          <a:p>
            <a:r>
              <a:rPr lang="zh-CN" altLang="zh-CN" dirty="0"/>
              <a:t>产品经理的专业感，不是把所有话都说得非常确定，而是清楚知道哪些内容已经被证明，哪些还需要验证。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F78B64-F7E5-97BC-F109-85669C83FC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4689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b="1" dirty="0"/>
              <a:t>页面核心观点</a:t>
            </a:r>
          </a:p>
          <a:p>
            <a:r>
              <a:rPr lang="zh-CN" altLang="zh-CN" dirty="0"/>
              <a:t>第一阶段建立认知，第二阶段形成项目，第三阶段完成市场表达。</a:t>
            </a:r>
          </a:p>
          <a:p>
            <a:r>
              <a:rPr lang="zh-CN" altLang="zh-CN" b="1" dirty="0"/>
              <a:t>建议讲法</a:t>
            </a:r>
          </a:p>
          <a:p>
            <a:r>
              <a:rPr lang="zh-CN" altLang="zh-CN" dirty="0"/>
              <a:t>这一页需要强调“三阶段是一条成果链”，而不是三个彼此没有关系的产品。</a:t>
            </a:r>
          </a:p>
          <a:p>
            <a:r>
              <a:rPr lang="zh-CN" altLang="zh-CN" b="1" dirty="0"/>
              <a:t>第一阶段的输入和输出</a:t>
            </a:r>
          </a:p>
          <a:p>
            <a:r>
              <a:rPr lang="zh-CN" altLang="zh-CN" dirty="0"/>
              <a:t>第一阶段的输入可能是：</a:t>
            </a:r>
          </a:p>
          <a:p>
            <a:r>
              <a:rPr lang="zh-CN" altLang="zh-CN" dirty="0"/>
              <a:t>对AI只有零散了解；</a:t>
            </a:r>
          </a:p>
          <a:p>
            <a:r>
              <a:rPr lang="zh-CN" altLang="zh-CN" dirty="0"/>
              <a:t>使用过一些AI工具；</a:t>
            </a:r>
          </a:p>
          <a:p>
            <a:r>
              <a:rPr lang="zh-CN" altLang="zh-CN" dirty="0"/>
              <a:t>听过一些技术名词；</a:t>
            </a:r>
          </a:p>
          <a:p>
            <a:r>
              <a:rPr lang="zh-CN" altLang="zh-CN" dirty="0"/>
              <a:t>没有完整AI产品方法。</a:t>
            </a:r>
          </a:p>
          <a:p>
            <a:r>
              <a:rPr lang="zh-CN" altLang="zh-CN" dirty="0"/>
              <a:t>第一阶段的输出应该是：</a:t>
            </a:r>
          </a:p>
          <a:p>
            <a:r>
              <a:rPr lang="zh-CN" altLang="zh-CN" dirty="0"/>
              <a:t>一张基本的AI产品知识地图；</a:t>
            </a:r>
          </a:p>
          <a:p>
            <a:r>
              <a:rPr lang="zh-CN" altLang="zh-CN" dirty="0"/>
              <a:t>一套分析AI场景的方法；</a:t>
            </a:r>
          </a:p>
          <a:p>
            <a:r>
              <a:rPr lang="zh-CN" altLang="zh-CN" dirty="0"/>
              <a:t>一份能够说明产品逻辑的方案；</a:t>
            </a:r>
          </a:p>
          <a:p>
            <a:r>
              <a:rPr lang="zh-CN" altLang="zh-CN" dirty="0"/>
              <a:t>对AI能力、风险和边界的基本判断。</a:t>
            </a:r>
          </a:p>
          <a:p>
            <a:r>
              <a:rPr lang="zh-CN" altLang="zh-CN" b="1" dirty="0"/>
              <a:t>第二阶段的输入和输出</a:t>
            </a:r>
          </a:p>
          <a:p>
            <a:r>
              <a:rPr lang="zh-CN" altLang="zh-CN" dirty="0"/>
              <a:t>第二阶段使用第一阶段的知识和方法，进入具体项目。</a:t>
            </a:r>
          </a:p>
          <a:p>
            <a:r>
              <a:rPr lang="zh-CN" altLang="zh-CN" dirty="0"/>
              <a:t>第二阶段的输出应该是：</a:t>
            </a:r>
          </a:p>
          <a:p>
            <a:r>
              <a:rPr lang="zh-CN" altLang="zh-CN" dirty="0"/>
              <a:t>真实、明确的项目问题；</a:t>
            </a:r>
          </a:p>
          <a:p>
            <a:r>
              <a:rPr lang="zh-CN" altLang="zh-CN" dirty="0"/>
              <a:t>项目调研和需求分析；</a:t>
            </a:r>
          </a:p>
          <a:p>
            <a:r>
              <a:rPr lang="zh-CN" altLang="zh-CN" dirty="0"/>
              <a:t>AI方案与人机分工；</a:t>
            </a:r>
          </a:p>
          <a:p>
            <a:r>
              <a:rPr lang="zh-CN" altLang="zh-CN" dirty="0"/>
              <a:t>产品流程、原型或Demo；</a:t>
            </a:r>
          </a:p>
          <a:p>
            <a:r>
              <a:rPr lang="zh-CN" altLang="zh-CN" dirty="0"/>
              <a:t>测试样本和Bad Case；</a:t>
            </a:r>
          </a:p>
          <a:p>
            <a:r>
              <a:rPr lang="zh-CN" altLang="zh-CN" dirty="0"/>
              <a:t>项目复盘与迭代记录。</a:t>
            </a:r>
          </a:p>
          <a:p>
            <a:r>
              <a:rPr lang="zh-CN" altLang="zh-CN" b="1" dirty="0"/>
              <a:t>第三阶段的输入和输出</a:t>
            </a:r>
          </a:p>
          <a:p>
            <a:r>
              <a:rPr lang="zh-CN" altLang="zh-CN" dirty="0"/>
              <a:t>第三阶段不会凭空“包装”一个项目，而是使用前两个阶段形成的真实材料。</a:t>
            </a:r>
          </a:p>
          <a:p>
            <a:r>
              <a:rPr lang="zh-CN" altLang="zh-CN" dirty="0"/>
              <a:t>第三阶段的输出应该是：</a:t>
            </a:r>
          </a:p>
          <a:p>
            <a:r>
              <a:rPr lang="zh-CN" altLang="zh-CN" dirty="0"/>
              <a:t>与目标岗位匹配的简历；</a:t>
            </a:r>
          </a:p>
          <a:p>
            <a:r>
              <a:rPr lang="zh-CN" altLang="zh-CN" dirty="0"/>
              <a:t>一套完整项目讲述；</a:t>
            </a:r>
          </a:p>
          <a:p>
            <a:r>
              <a:rPr lang="zh-CN" altLang="zh-CN" dirty="0"/>
              <a:t>作品集或补充材料；</a:t>
            </a:r>
          </a:p>
          <a:p>
            <a:r>
              <a:rPr lang="zh-CN" altLang="zh-CN" dirty="0"/>
              <a:t>面试追问的准备；</a:t>
            </a:r>
          </a:p>
          <a:p>
            <a:r>
              <a:rPr lang="zh-CN" altLang="zh-CN" dirty="0"/>
              <a:t>投递和面试复盘机制。</a:t>
            </a:r>
          </a:p>
          <a:p>
            <a:r>
              <a:rPr lang="zh-CN" altLang="zh-CN" b="1" dirty="0"/>
              <a:t>三阶段之间的关系</a:t>
            </a:r>
          </a:p>
          <a:p>
            <a:r>
              <a:rPr lang="zh-CN" altLang="zh-CN" dirty="0"/>
              <a:t>可以这样理解：</a:t>
            </a:r>
          </a:p>
          <a:p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阶段主要问题核心产出</a:t>
            </a:r>
            <a:endParaRPr lang="zh-CN" altLang="zh-CN" dirty="0">
              <a:effectLst/>
            </a:endParaRP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第一阶段我是否理解AI产品知识地图和产品判断</a:t>
            </a:r>
            <a:endParaRPr lang="zh-CN" altLang="zh-CN" dirty="0">
              <a:effectLst/>
            </a:endParaRP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第二阶段我是否能够应用项目过程和能力证据</a:t>
            </a:r>
            <a:endParaRPr lang="zh-CN" altLang="zh-CN" dirty="0">
              <a:effectLst/>
            </a:endParaRP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第三阶段我是否能够证明简历、项目表达和面试表现</a:t>
            </a:r>
            <a:endParaRPr lang="zh-CN" altLang="zh-CN" dirty="0">
              <a:effectLst/>
            </a:endParaRPr>
          </a:p>
          <a:p>
            <a:r>
              <a:rPr lang="zh-CN" altLang="zh-CN" b="1" dirty="0"/>
              <a:t>一个具体例子</a:t>
            </a:r>
          </a:p>
          <a:p>
            <a:r>
              <a:rPr lang="zh-CN" altLang="zh-CN" dirty="0"/>
              <a:t>假设一名学员想做“销售拜访记录助手”。</a:t>
            </a:r>
          </a:p>
          <a:p>
            <a:r>
              <a:rPr lang="zh-CN" altLang="zh-CN" dirty="0"/>
              <a:t>在第一阶段，他需要理解：</a:t>
            </a:r>
          </a:p>
          <a:p>
            <a:r>
              <a:rPr lang="zh-CN" altLang="zh-CN" dirty="0"/>
              <a:t>语音识别是什么；</a:t>
            </a:r>
          </a:p>
          <a:p>
            <a:r>
              <a:rPr lang="zh-CN" altLang="zh-CN" dirty="0"/>
              <a:t>大模型可以怎样提取信息；</a:t>
            </a:r>
          </a:p>
          <a:p>
            <a:r>
              <a:rPr lang="zh-CN" altLang="zh-CN" dirty="0"/>
              <a:t>什么是结构化输出；</a:t>
            </a:r>
          </a:p>
          <a:p>
            <a:r>
              <a:rPr lang="zh-CN" altLang="zh-CN" dirty="0"/>
              <a:t>AI为什么可能产生错误；</a:t>
            </a:r>
          </a:p>
          <a:p>
            <a:r>
              <a:rPr lang="zh-CN" altLang="zh-CN" dirty="0"/>
              <a:t>怎样设计人工确认；</a:t>
            </a:r>
          </a:p>
          <a:p>
            <a:r>
              <a:rPr lang="zh-CN" altLang="zh-CN" dirty="0"/>
              <a:t>怎样设置验证指标。</a:t>
            </a:r>
          </a:p>
          <a:p>
            <a:r>
              <a:rPr lang="zh-CN" altLang="zh-CN" dirty="0"/>
              <a:t>在第二阶段，他需要实际完成：</a:t>
            </a:r>
          </a:p>
          <a:p>
            <a:r>
              <a:rPr lang="zh-CN" altLang="zh-CN" dirty="0"/>
              <a:t>销售访谈或场景调研；</a:t>
            </a:r>
          </a:p>
          <a:p>
            <a:r>
              <a:rPr lang="zh-CN" altLang="zh-CN" dirty="0"/>
              <a:t>销售现有流程分析；</a:t>
            </a:r>
          </a:p>
          <a:p>
            <a:r>
              <a:rPr lang="zh-CN" altLang="zh-CN" dirty="0"/>
              <a:t>AI介入点选择；</a:t>
            </a:r>
          </a:p>
          <a:p>
            <a:r>
              <a:rPr lang="zh-CN" altLang="zh-CN" dirty="0"/>
              <a:t>原型或Demo；</a:t>
            </a:r>
          </a:p>
          <a:p>
            <a:r>
              <a:rPr lang="zh-CN" altLang="zh-CN" dirty="0"/>
              <a:t>测试数据准备；</a:t>
            </a:r>
          </a:p>
          <a:p>
            <a:r>
              <a:rPr lang="zh-CN" altLang="zh-CN" dirty="0"/>
              <a:t>信息提取准确率测试；</a:t>
            </a:r>
          </a:p>
          <a:p>
            <a:r>
              <a:rPr lang="zh-CN" altLang="zh-CN" dirty="0"/>
              <a:t>销售反馈和方案迭代。</a:t>
            </a:r>
          </a:p>
          <a:p>
            <a:r>
              <a:rPr lang="zh-CN" altLang="zh-CN" dirty="0"/>
              <a:t>在第三阶段，他需要能够向面试官讲清楚：</a:t>
            </a:r>
          </a:p>
          <a:p>
            <a:r>
              <a:rPr lang="zh-CN" altLang="zh-CN" dirty="0"/>
              <a:t>为什么选择这个问题；</a:t>
            </a:r>
          </a:p>
          <a:p>
            <a:r>
              <a:rPr lang="zh-CN" altLang="zh-CN" dirty="0"/>
              <a:t>自己负责了哪些工作；</a:t>
            </a:r>
          </a:p>
          <a:p>
            <a:r>
              <a:rPr lang="zh-CN" altLang="zh-CN" dirty="0"/>
              <a:t>为什么没有让AI直接写入CRM；</a:t>
            </a:r>
          </a:p>
          <a:p>
            <a:r>
              <a:rPr lang="zh-CN" altLang="zh-CN" dirty="0"/>
              <a:t>怎样设计人机分工；</a:t>
            </a:r>
          </a:p>
          <a:p>
            <a:r>
              <a:rPr lang="zh-CN" altLang="zh-CN" dirty="0"/>
              <a:t>测试中发现了哪些Bad Case；</a:t>
            </a:r>
          </a:p>
          <a:p>
            <a:r>
              <a:rPr lang="zh-CN" altLang="zh-CN" dirty="0"/>
              <a:t>如何验证效率和质量；</a:t>
            </a:r>
          </a:p>
          <a:p>
            <a:r>
              <a:rPr lang="zh-CN" altLang="zh-CN" dirty="0"/>
              <a:t>这个方案目前处于什么阶段。</a:t>
            </a:r>
          </a:p>
          <a:p>
            <a:r>
              <a:rPr lang="zh-CN" altLang="zh-CN" dirty="0"/>
              <a:t>这就是三个阶段之间的成果传递。</a:t>
            </a:r>
          </a:p>
          <a:p>
            <a:r>
              <a:rPr lang="zh-CN" altLang="zh-CN" b="1" dirty="0"/>
              <a:t>讲师需要强调</a:t>
            </a:r>
          </a:p>
          <a:p>
            <a:r>
              <a:rPr lang="zh-CN" altLang="zh-CN" dirty="0"/>
              <a:t>如果三个阶段之间没有成果传递，就容易出现：</a:t>
            </a:r>
          </a:p>
          <a:p>
            <a:r>
              <a:rPr lang="zh-CN" altLang="zh-CN" dirty="0"/>
              <a:t>第一阶段听完以后只剩下一堆笔记；</a:t>
            </a:r>
          </a:p>
          <a:p>
            <a:r>
              <a:rPr lang="zh-CN" altLang="zh-CN" dirty="0"/>
              <a:t>第二阶段做项目时又从零开始；</a:t>
            </a:r>
          </a:p>
          <a:p>
            <a:r>
              <a:rPr lang="zh-CN" altLang="zh-CN" dirty="0"/>
              <a:t>第三阶段为了写简历，临时编造项目细节。</a:t>
            </a:r>
          </a:p>
          <a:p>
            <a:r>
              <a:rPr lang="zh-CN" altLang="zh-CN" dirty="0"/>
              <a:t>课程设计需要尽量避免这种断裂。</a:t>
            </a:r>
          </a:p>
          <a:p>
            <a:r>
              <a:rPr lang="zh-CN" altLang="zh-CN" b="1" dirty="0"/>
              <a:t>本页收口</a:t>
            </a:r>
          </a:p>
          <a:p>
            <a:r>
              <a:rPr lang="zh-CN" altLang="zh-CN" dirty="0"/>
              <a:t>第一阶段产生方法，第二阶段产生证据，第三阶段让证据被看见。</a:t>
            </a:r>
          </a:p>
          <a:p>
            <a:endParaRPr lang="en-US" altLang="zh-CN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b="1" dirty="0"/>
              <a:t>页面核心观点</a:t>
            </a:r>
          </a:p>
          <a:p>
            <a:r>
              <a:rPr lang="zh-CN" altLang="zh-CN" dirty="0"/>
              <a:t>第一阶段不追求记住所有名词，而是建立完整的判断框架。</a:t>
            </a:r>
          </a:p>
          <a:p>
            <a:r>
              <a:rPr lang="zh-CN" altLang="zh-CN" b="1" dirty="0"/>
              <a:t>建议讲法</a:t>
            </a:r>
          </a:p>
          <a:p>
            <a:r>
              <a:rPr lang="zh-CN" altLang="zh-CN" dirty="0"/>
              <a:t>第一阶段主要解决的问题是：</a:t>
            </a:r>
          </a:p>
          <a:p>
            <a:r>
              <a:rPr lang="zh-CN" altLang="zh-CN" dirty="0"/>
              <a:t>面对一个AI产品问题，我是否知道应该从哪些方面进行分析？</a:t>
            </a:r>
          </a:p>
          <a:p>
            <a:r>
              <a:rPr lang="zh-CN" altLang="zh-CN" dirty="0"/>
              <a:t>课程会涉及六个层面的内容。</a:t>
            </a:r>
          </a:p>
          <a:p>
            <a:r>
              <a:rPr lang="zh-CN" altLang="zh-CN" b="1" dirty="0"/>
              <a:t>基础：理解模型、Prompt和上下文</a:t>
            </a:r>
          </a:p>
          <a:p>
            <a:r>
              <a:rPr lang="zh-CN" altLang="zh-CN" dirty="0"/>
              <a:t>这一部分解决的是：</a:t>
            </a:r>
          </a:p>
          <a:p>
            <a:r>
              <a:rPr lang="zh-CN" altLang="zh-CN" dirty="0"/>
              <a:t>AI的基本能力从哪里来，产品经理应该怎样与模型进行沟通？</a:t>
            </a:r>
          </a:p>
          <a:p>
            <a:r>
              <a:rPr lang="zh-CN" altLang="zh-CN" dirty="0"/>
              <a:t>学员需要理解：</a:t>
            </a:r>
          </a:p>
          <a:p>
            <a:r>
              <a:rPr lang="zh-CN" altLang="zh-CN" dirty="0"/>
              <a:t>AI、大模型和大语言模型是什么；</a:t>
            </a:r>
          </a:p>
          <a:p>
            <a:r>
              <a:rPr lang="zh-CN" altLang="zh-CN" dirty="0"/>
              <a:t>模型的输入和输出是什么；</a:t>
            </a:r>
          </a:p>
          <a:p>
            <a:r>
              <a:rPr lang="zh-CN" altLang="zh-CN" dirty="0"/>
              <a:t>Prompt为什么会影响结果；</a:t>
            </a:r>
          </a:p>
          <a:p>
            <a:r>
              <a:rPr lang="zh-CN" altLang="zh-CN" dirty="0"/>
              <a:t>上下文是什么；</a:t>
            </a:r>
          </a:p>
          <a:p>
            <a:r>
              <a:rPr lang="zh-CN" altLang="zh-CN" dirty="0"/>
              <a:t>模型为什么会出现幻觉；</a:t>
            </a:r>
          </a:p>
          <a:p>
            <a:r>
              <a:rPr lang="zh-CN" altLang="zh-CN" dirty="0"/>
              <a:t>模型能记住多少信息；</a:t>
            </a:r>
          </a:p>
          <a:p>
            <a:r>
              <a:rPr lang="zh-CN" altLang="zh-CN" dirty="0"/>
              <a:t>不同模型为什么表现不同。</a:t>
            </a:r>
          </a:p>
          <a:p>
            <a:r>
              <a:rPr lang="zh-CN" altLang="zh-CN" dirty="0"/>
              <a:t>这里不要求学员训练底层模型，但需要具备和算法、研发讨论方案的基础语言。</a:t>
            </a:r>
          </a:p>
          <a:p>
            <a:r>
              <a:rPr lang="zh-CN" altLang="zh-CN" b="1" dirty="0"/>
              <a:t>判断：选择场景和产品形态</a:t>
            </a:r>
          </a:p>
          <a:p>
            <a:r>
              <a:rPr lang="zh-CN" altLang="zh-CN" dirty="0"/>
              <a:t>这一部分解决的是：</a:t>
            </a:r>
          </a:p>
          <a:p>
            <a:r>
              <a:rPr lang="zh-CN" altLang="zh-CN" dirty="0"/>
              <a:t>什么问题适合使用AI，什么问题不一定需要AI？</a:t>
            </a:r>
          </a:p>
          <a:p>
            <a:r>
              <a:rPr lang="zh-CN" altLang="zh-CN" dirty="0"/>
              <a:t>学员需要学习：</a:t>
            </a:r>
          </a:p>
          <a:p>
            <a:r>
              <a:rPr lang="zh-CN" altLang="zh-CN" dirty="0"/>
              <a:t>怎样从真实用户问题出发；</a:t>
            </a:r>
          </a:p>
          <a:p>
            <a:r>
              <a:rPr lang="zh-CN" altLang="zh-CN" dirty="0"/>
              <a:t>怎样拆解现有业务流程；</a:t>
            </a:r>
          </a:p>
          <a:p>
            <a:r>
              <a:rPr lang="zh-CN" altLang="zh-CN" dirty="0"/>
              <a:t>怎样判断AI的介入点；</a:t>
            </a:r>
          </a:p>
          <a:p>
            <a:r>
              <a:rPr lang="zh-CN" altLang="zh-CN" dirty="0"/>
              <a:t>普通规则、搜索、自动化和AI之间如何选择；</a:t>
            </a:r>
          </a:p>
          <a:p>
            <a:r>
              <a:rPr lang="zh-CN" altLang="zh-CN" dirty="0"/>
              <a:t>AI是作为辅助工具，还是作为核心产品能力；</a:t>
            </a:r>
          </a:p>
          <a:p>
            <a:r>
              <a:rPr lang="zh-CN" altLang="zh-CN" dirty="0"/>
              <a:t>什么情况下不应该使用AI。</a:t>
            </a:r>
          </a:p>
          <a:p>
            <a:r>
              <a:rPr lang="zh-CN" altLang="zh-CN" dirty="0"/>
              <a:t>例如，如果用户的问题只是表单字段过多，那么减少字段可能比接入大模型更有效。</a:t>
            </a:r>
          </a:p>
          <a:p>
            <a:r>
              <a:rPr lang="zh-CN" altLang="zh-CN" b="1" dirty="0"/>
              <a:t>方案：PRD、Workflow、RAG和Agent</a:t>
            </a:r>
          </a:p>
          <a:p>
            <a:r>
              <a:rPr lang="zh-CN" altLang="zh-CN" dirty="0"/>
              <a:t>这一部分解决的是：</a:t>
            </a:r>
          </a:p>
          <a:p>
            <a:r>
              <a:rPr lang="zh-CN" altLang="zh-CN" dirty="0"/>
              <a:t>找到问题以后，怎样把它设计成一个完整产品方案？</a:t>
            </a:r>
          </a:p>
          <a:p>
            <a:r>
              <a:rPr lang="zh-CN" altLang="zh-CN" dirty="0"/>
              <a:t>学员需要理解：</a:t>
            </a:r>
          </a:p>
          <a:p>
            <a:r>
              <a:rPr lang="zh-CN" altLang="zh-CN" dirty="0"/>
              <a:t>PRD中如何描述AI能力；</a:t>
            </a:r>
          </a:p>
          <a:p>
            <a:r>
              <a:rPr lang="zh-CN" altLang="zh-CN" dirty="0"/>
              <a:t>输入、处理和输出怎样定义；</a:t>
            </a:r>
          </a:p>
          <a:p>
            <a:r>
              <a:rPr lang="zh-CN" altLang="zh-CN" dirty="0"/>
              <a:t>Workflow如何把任务拆成固定步骤；</a:t>
            </a:r>
          </a:p>
          <a:p>
            <a:r>
              <a:rPr lang="zh-CN" altLang="zh-CN" dirty="0"/>
              <a:t>RAG如何让AI使用企业知识；</a:t>
            </a:r>
          </a:p>
          <a:p>
            <a:r>
              <a:rPr lang="zh-CN" altLang="zh-CN" dirty="0"/>
              <a:t>Agent如何围绕目标调用工具并完成多步任务；</a:t>
            </a:r>
          </a:p>
          <a:p>
            <a:r>
              <a:rPr lang="zh-CN" altLang="zh-CN" dirty="0"/>
              <a:t>哪些环节使用模型；</a:t>
            </a:r>
          </a:p>
          <a:p>
            <a:r>
              <a:rPr lang="zh-CN" altLang="zh-CN" dirty="0"/>
              <a:t>哪些环节使用确定性规则；</a:t>
            </a:r>
          </a:p>
          <a:p>
            <a:r>
              <a:rPr lang="zh-CN" altLang="zh-CN" dirty="0"/>
              <a:t>哪些环节需要人工参与。</a:t>
            </a:r>
          </a:p>
          <a:p>
            <a:r>
              <a:rPr lang="zh-CN" altLang="zh-CN" b="1" dirty="0"/>
              <a:t>表达：交互、原型和Demo</a:t>
            </a:r>
          </a:p>
          <a:p>
            <a:r>
              <a:rPr lang="zh-CN" altLang="zh-CN" dirty="0"/>
              <a:t>这一部分解决的是：</a:t>
            </a:r>
          </a:p>
          <a:p>
            <a:r>
              <a:rPr lang="zh-CN" altLang="zh-CN" dirty="0"/>
              <a:t>怎样把抽象的AI方案变成可以体验和讨论的产品？</a:t>
            </a:r>
          </a:p>
          <a:p>
            <a:r>
              <a:rPr lang="zh-CN" altLang="zh-CN" dirty="0"/>
              <a:t>学员需要设计：</a:t>
            </a:r>
          </a:p>
          <a:p>
            <a:r>
              <a:rPr lang="zh-CN" altLang="zh-CN" dirty="0"/>
              <a:t>用户怎样向AI表达任务；</a:t>
            </a:r>
          </a:p>
          <a:p>
            <a:r>
              <a:rPr lang="zh-CN" altLang="zh-CN" dirty="0"/>
              <a:t>AI如何展示处理过程；</a:t>
            </a:r>
          </a:p>
          <a:p>
            <a:r>
              <a:rPr lang="zh-CN" altLang="zh-CN" dirty="0"/>
              <a:t>不确定结果怎样呈现；</a:t>
            </a:r>
          </a:p>
          <a:p>
            <a:r>
              <a:rPr lang="zh-CN" altLang="zh-CN" dirty="0"/>
              <a:t>信息来源怎样展示；</a:t>
            </a:r>
          </a:p>
          <a:p>
            <a:r>
              <a:rPr lang="zh-CN" altLang="zh-CN" dirty="0"/>
              <a:t>用户怎样修改和确认；</a:t>
            </a:r>
          </a:p>
          <a:p>
            <a:r>
              <a:rPr lang="zh-CN" altLang="zh-CN" dirty="0"/>
              <a:t>失败时怎样重试或转人工；</a:t>
            </a:r>
          </a:p>
          <a:p>
            <a:r>
              <a:rPr lang="zh-CN" altLang="zh-CN" dirty="0"/>
              <a:t>怎样用原型和Demo验证方案。</a:t>
            </a:r>
          </a:p>
          <a:p>
            <a:r>
              <a:rPr lang="zh-CN" altLang="zh-CN" dirty="0"/>
              <a:t>AI产品的交互不只是增加一个输入框和一个发送按钮。</a:t>
            </a:r>
          </a:p>
          <a:p>
            <a:r>
              <a:rPr lang="zh-CN" altLang="zh-CN" b="1" dirty="0"/>
              <a:t>验证：测试、Bad Case和风险治理</a:t>
            </a:r>
          </a:p>
          <a:p>
            <a:r>
              <a:rPr lang="zh-CN" altLang="zh-CN" dirty="0"/>
              <a:t>这一部分解决的是：</a:t>
            </a:r>
          </a:p>
          <a:p>
            <a:r>
              <a:rPr lang="zh-CN" altLang="zh-CN" dirty="0"/>
              <a:t>怎样证明AI产品不是只能完成一个理想示例？</a:t>
            </a:r>
          </a:p>
          <a:p>
            <a:r>
              <a:rPr lang="zh-CN" altLang="zh-CN" dirty="0"/>
              <a:t>学员需要学习：</a:t>
            </a:r>
          </a:p>
          <a:p>
            <a:r>
              <a:rPr lang="zh-CN" altLang="zh-CN" dirty="0"/>
              <a:t>怎样建立测试样本；</a:t>
            </a:r>
          </a:p>
          <a:p>
            <a:r>
              <a:rPr lang="zh-CN" altLang="zh-CN" dirty="0"/>
              <a:t>怎样定义正确结果；</a:t>
            </a:r>
          </a:p>
          <a:p>
            <a:r>
              <a:rPr lang="zh-CN" altLang="zh-CN" dirty="0"/>
              <a:t>怎样评估准确性和可用性；</a:t>
            </a:r>
          </a:p>
          <a:p>
            <a:r>
              <a:rPr lang="zh-CN" altLang="zh-CN" dirty="0"/>
              <a:t>怎样收集Bad Case；</a:t>
            </a:r>
          </a:p>
          <a:p>
            <a:r>
              <a:rPr lang="zh-CN" altLang="zh-CN" dirty="0"/>
              <a:t>怎样区分严重错误和轻微错误；</a:t>
            </a:r>
          </a:p>
          <a:p>
            <a:r>
              <a:rPr lang="zh-CN" altLang="zh-CN" dirty="0"/>
              <a:t>怎样设计人工确认；</a:t>
            </a:r>
          </a:p>
          <a:p>
            <a:r>
              <a:rPr lang="zh-CN" altLang="zh-CN" dirty="0"/>
              <a:t>怎样处理隐私、安全和合规问题；</a:t>
            </a:r>
          </a:p>
          <a:p>
            <a:r>
              <a:rPr lang="zh-CN" altLang="zh-CN" dirty="0"/>
              <a:t>怎样决定产品是否可以进入试点。</a:t>
            </a:r>
          </a:p>
          <a:p>
            <a:r>
              <a:rPr lang="zh-CN" altLang="zh-CN" dirty="0"/>
              <a:t>Bad Case是指产品没有正确完成任务的案例。</a:t>
            </a:r>
          </a:p>
          <a:p>
            <a:r>
              <a:rPr lang="zh-CN" altLang="zh-CN" dirty="0"/>
              <a:t>例如，销售拜访记录助手把“销售建议客户试用”错误总结成“客户已经同意试用”，就是一个重要Bad Case。</a:t>
            </a:r>
          </a:p>
          <a:p>
            <a:r>
              <a:rPr lang="zh-CN" altLang="zh-CN" b="1" dirty="0"/>
              <a:t>经营：模型选择、成本、ROI和立项</a:t>
            </a:r>
          </a:p>
          <a:p>
            <a:r>
              <a:rPr lang="zh-CN" altLang="zh-CN" dirty="0"/>
              <a:t>这一部分解决的是：</a:t>
            </a:r>
          </a:p>
          <a:p>
            <a:r>
              <a:rPr lang="zh-CN" altLang="zh-CN" dirty="0"/>
              <a:t>产品能够实现之后，是否值得长期运行？</a:t>
            </a:r>
          </a:p>
          <a:p>
            <a:r>
              <a:rPr lang="zh-CN" altLang="zh-CN" dirty="0"/>
              <a:t>产品经理需要考虑：</a:t>
            </a:r>
          </a:p>
          <a:p>
            <a:r>
              <a:rPr lang="zh-CN" altLang="zh-CN" dirty="0"/>
              <a:t>使用哪个模型；</a:t>
            </a:r>
          </a:p>
          <a:p>
            <a:r>
              <a:rPr lang="zh-CN" altLang="zh-CN" dirty="0"/>
              <a:t>响应速度是否可接受；</a:t>
            </a:r>
          </a:p>
          <a:p>
            <a:r>
              <a:rPr lang="zh-CN" altLang="zh-CN" dirty="0"/>
              <a:t>单次调用成本是多少；</a:t>
            </a:r>
          </a:p>
          <a:p>
            <a:r>
              <a:rPr lang="zh-CN" altLang="zh-CN" dirty="0"/>
              <a:t>用户量增加后成本怎样变化；</a:t>
            </a:r>
          </a:p>
          <a:p>
            <a:r>
              <a:rPr lang="zh-CN" altLang="zh-CN" dirty="0"/>
              <a:t>是否需要购买外部服务；</a:t>
            </a:r>
          </a:p>
          <a:p>
            <a:r>
              <a:rPr lang="zh-CN" altLang="zh-CN" dirty="0"/>
              <a:t>维护知识和测试数据需要多少人力；</a:t>
            </a:r>
          </a:p>
          <a:p>
            <a:r>
              <a:rPr lang="zh-CN" altLang="zh-CN" dirty="0"/>
              <a:t>产品产生的收益能否覆盖成本；</a:t>
            </a:r>
          </a:p>
          <a:p>
            <a:r>
              <a:rPr lang="zh-CN" altLang="zh-CN" dirty="0"/>
              <a:t>应该直接上线，还是先做小范围试点。</a:t>
            </a:r>
          </a:p>
          <a:p>
            <a:r>
              <a:rPr lang="zh-CN" altLang="zh-CN" b="1" dirty="0"/>
              <a:t>第一阶段不要求什么</a:t>
            </a:r>
          </a:p>
          <a:p>
            <a:r>
              <a:rPr lang="zh-CN" altLang="zh-CN" dirty="0"/>
              <a:t>需要帮助学员降低不必要的焦虑。</a:t>
            </a:r>
          </a:p>
          <a:p>
            <a:r>
              <a:rPr lang="zh-CN" altLang="zh-CN" dirty="0"/>
              <a:t>第一阶段不要求：</a:t>
            </a:r>
          </a:p>
          <a:p>
            <a:r>
              <a:rPr lang="zh-CN" altLang="zh-CN" dirty="0"/>
              <a:t>训练一个底层大模型；</a:t>
            </a:r>
          </a:p>
          <a:p>
            <a:r>
              <a:rPr lang="zh-CN" altLang="zh-CN" dirty="0"/>
              <a:t>掌握复杂数学推导；</a:t>
            </a:r>
          </a:p>
          <a:p>
            <a:r>
              <a:rPr lang="zh-CN" altLang="zh-CN" dirty="0"/>
              <a:t>成为算法工程师；</a:t>
            </a:r>
          </a:p>
          <a:p>
            <a:r>
              <a:rPr lang="zh-CN" altLang="zh-CN" dirty="0"/>
              <a:t>记住所有模型名称和参数；</a:t>
            </a:r>
          </a:p>
          <a:p>
            <a:r>
              <a:rPr lang="zh-CN" altLang="zh-CN" dirty="0"/>
              <a:t>对每一种AI工具都非常熟悉。</a:t>
            </a:r>
          </a:p>
          <a:p>
            <a:r>
              <a:rPr lang="zh-CN" altLang="zh-CN" dirty="0"/>
              <a:t>但要求学员能够：</a:t>
            </a:r>
          </a:p>
          <a:p>
            <a:r>
              <a:rPr lang="zh-CN" altLang="zh-CN" dirty="0"/>
              <a:t>理解核心概念；</a:t>
            </a:r>
          </a:p>
          <a:p>
            <a:r>
              <a:rPr lang="zh-CN" altLang="zh-CN" dirty="0"/>
              <a:t>与技术同学进行基本沟通；</a:t>
            </a:r>
          </a:p>
          <a:p>
            <a:r>
              <a:rPr lang="zh-CN" altLang="zh-CN" dirty="0"/>
              <a:t>知道AI的能力和风险；</a:t>
            </a:r>
          </a:p>
          <a:p>
            <a:r>
              <a:rPr lang="zh-CN" altLang="zh-CN" dirty="0"/>
              <a:t>完成基本产品判断；</a:t>
            </a:r>
          </a:p>
          <a:p>
            <a:r>
              <a:rPr lang="zh-CN" altLang="zh-CN" dirty="0"/>
              <a:t>写出有逻辑的AI产品方案。</a:t>
            </a:r>
          </a:p>
          <a:p>
            <a:r>
              <a:rPr lang="zh-CN" altLang="zh-CN" b="1" dirty="0"/>
              <a:t>本页收口</a:t>
            </a:r>
          </a:p>
          <a:p>
            <a:r>
              <a:rPr lang="zh-CN" altLang="zh-CN" dirty="0"/>
              <a:t>第一阶段最重要的成果，不是“我学过多少名词”，而是“面对一个AI场景，我知道应该按什么顺序思考”。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b="1" dirty="0"/>
              <a:t>页面核心观点</a:t>
            </a:r>
          </a:p>
          <a:p>
            <a:r>
              <a:rPr lang="zh-CN" altLang="zh-CN" dirty="0"/>
              <a:t>每个概念都必须回到它解决的问题、使用条件和产品要求。</a:t>
            </a:r>
          </a:p>
          <a:p>
            <a:r>
              <a:rPr lang="zh-CN" altLang="zh-CN" b="1" dirty="0"/>
              <a:t>建议讲法</a:t>
            </a:r>
          </a:p>
          <a:p>
            <a:r>
              <a:rPr lang="zh-CN" altLang="zh-CN" dirty="0"/>
              <a:t>大家会在第一阶段看到很多热门概念：</a:t>
            </a:r>
          </a:p>
          <a:p>
            <a:r>
              <a:rPr lang="zh-CN" altLang="zh-CN" dirty="0"/>
              <a:t>Prompt；</a:t>
            </a:r>
          </a:p>
          <a:p>
            <a:r>
              <a:rPr lang="zh-CN" altLang="zh-CN" dirty="0"/>
              <a:t>Workflow；</a:t>
            </a:r>
          </a:p>
          <a:p>
            <a:r>
              <a:rPr lang="zh-CN" altLang="zh-CN" dirty="0"/>
              <a:t>RAG；</a:t>
            </a:r>
          </a:p>
          <a:p>
            <a:r>
              <a:rPr lang="zh-CN" altLang="zh-CN" dirty="0"/>
              <a:t>Agent；</a:t>
            </a:r>
          </a:p>
          <a:p>
            <a:r>
              <a:rPr lang="zh-CN" altLang="zh-CN" dirty="0"/>
              <a:t>MCP；</a:t>
            </a:r>
          </a:p>
          <a:p>
            <a:r>
              <a:rPr lang="zh-CN" altLang="zh-CN" dirty="0"/>
              <a:t>Function Calling；</a:t>
            </a:r>
          </a:p>
          <a:p>
            <a:r>
              <a:rPr lang="zh-CN" altLang="zh-CN" dirty="0"/>
              <a:t>Vibe Coding；</a:t>
            </a:r>
          </a:p>
          <a:p>
            <a:r>
              <a:rPr lang="zh-CN" altLang="zh-CN" dirty="0"/>
              <a:t>Bad Case；</a:t>
            </a:r>
          </a:p>
          <a:p>
            <a:r>
              <a:rPr lang="zh-CN" altLang="zh-CN" dirty="0"/>
              <a:t>Token成本；</a:t>
            </a:r>
          </a:p>
          <a:p>
            <a:r>
              <a:rPr lang="zh-CN" altLang="zh-CN" dirty="0"/>
              <a:t>ROI。</a:t>
            </a:r>
          </a:p>
          <a:p>
            <a:r>
              <a:rPr lang="zh-CN" altLang="zh-CN" dirty="0"/>
              <a:t>如果只把这些词排列在课程大纲里，课程看起来会非常丰富，但学员最后可能仍然不知道怎样使用。</a:t>
            </a:r>
          </a:p>
          <a:p>
            <a:r>
              <a:rPr lang="zh-CN" altLang="zh-CN" dirty="0"/>
              <a:t>所以我们不会只讲“它是什么”，还会继续回答四个问题：</a:t>
            </a:r>
          </a:p>
          <a:p>
            <a:r>
              <a:rPr lang="zh-CN" altLang="zh-CN" dirty="0"/>
              <a:t>它解决什么问题？</a:t>
            </a:r>
          </a:p>
          <a:p>
            <a:r>
              <a:rPr lang="zh-CN" altLang="zh-CN" dirty="0"/>
              <a:t>它和其他概念是什么关系？</a:t>
            </a:r>
          </a:p>
          <a:p>
            <a:r>
              <a:rPr lang="zh-CN" altLang="zh-CN" dirty="0"/>
              <a:t>什么情况下适合使用？</a:t>
            </a:r>
          </a:p>
          <a:p>
            <a:r>
              <a:rPr lang="zh-CN" altLang="zh-CN" dirty="0"/>
              <a:t>使用它以后，产品需要增加哪些设计？</a:t>
            </a:r>
          </a:p>
          <a:p>
            <a:r>
              <a:rPr lang="zh-CN" altLang="zh-CN" b="1" dirty="0"/>
              <a:t>以RAG为例</a:t>
            </a:r>
          </a:p>
          <a:p>
            <a:r>
              <a:rPr lang="zh-CN" altLang="zh-CN" dirty="0"/>
              <a:t>只讲定义：</a:t>
            </a:r>
          </a:p>
          <a:p>
            <a:r>
              <a:rPr lang="zh-CN" altLang="zh-CN" dirty="0"/>
              <a:t>RAG是检索增强生成，先从知识库中检索资料，再让模型生成回答。</a:t>
            </a:r>
          </a:p>
          <a:p>
            <a:r>
              <a:rPr lang="zh-CN" altLang="zh-CN" dirty="0"/>
              <a:t>这只是第一层。</a:t>
            </a:r>
          </a:p>
          <a:p>
            <a:r>
              <a:rPr lang="zh-CN" altLang="zh-CN" dirty="0"/>
              <a:t>产品经理还要继续问：</a:t>
            </a:r>
          </a:p>
          <a:p>
            <a:r>
              <a:rPr lang="zh-CN" altLang="zh-CN" dirty="0"/>
              <a:t>为什么用户不能直接搜索？</a:t>
            </a:r>
          </a:p>
          <a:p>
            <a:r>
              <a:rPr lang="zh-CN" altLang="zh-CN" dirty="0"/>
              <a:t>知识来源是什么？</a:t>
            </a:r>
          </a:p>
          <a:p>
            <a:r>
              <a:rPr lang="zh-CN" altLang="zh-CN" dirty="0"/>
              <a:t>知识是否允许被用户查看？</a:t>
            </a:r>
          </a:p>
          <a:p>
            <a:r>
              <a:rPr lang="zh-CN" altLang="zh-CN" dirty="0"/>
              <a:t>资料多久更新一次？</a:t>
            </a:r>
          </a:p>
          <a:p>
            <a:r>
              <a:rPr lang="zh-CN" altLang="zh-CN" dirty="0"/>
              <a:t>检索不到内容时怎么办？</a:t>
            </a:r>
          </a:p>
          <a:p>
            <a:r>
              <a:rPr lang="zh-CN" altLang="zh-CN" dirty="0"/>
              <a:t>检索到冲突内容时怎么办？</a:t>
            </a:r>
          </a:p>
          <a:p>
            <a:r>
              <a:rPr lang="zh-CN" altLang="zh-CN" dirty="0"/>
              <a:t>回答是否必须标注来源？</a:t>
            </a:r>
          </a:p>
          <a:p>
            <a:r>
              <a:rPr lang="zh-CN" altLang="zh-CN" dirty="0"/>
              <a:t>什么问题应该禁止回答？</a:t>
            </a:r>
          </a:p>
          <a:p>
            <a:r>
              <a:rPr lang="zh-CN" altLang="zh-CN" dirty="0"/>
              <a:t>如何评估回答质量？</a:t>
            </a:r>
          </a:p>
          <a:p>
            <a:r>
              <a:rPr lang="zh-CN" altLang="zh-CN" b="1" dirty="0"/>
              <a:t>以Agent为例</a:t>
            </a:r>
          </a:p>
          <a:p>
            <a:r>
              <a:rPr lang="zh-CN" altLang="zh-CN" dirty="0"/>
              <a:t>只讲定义：</a:t>
            </a:r>
          </a:p>
          <a:p>
            <a:r>
              <a:rPr lang="zh-CN" altLang="zh-CN" dirty="0"/>
              <a:t>Agent可以围绕目标进行推理，并调用工具执行任务。</a:t>
            </a:r>
          </a:p>
          <a:p>
            <a:r>
              <a:rPr lang="zh-CN" altLang="zh-CN" dirty="0"/>
              <a:t>还不够。</a:t>
            </a:r>
          </a:p>
          <a:p>
            <a:r>
              <a:rPr lang="zh-CN" altLang="zh-CN" dirty="0"/>
              <a:t>产品经理还要继续问：</a:t>
            </a:r>
          </a:p>
          <a:p>
            <a:r>
              <a:rPr lang="zh-CN" altLang="zh-CN" dirty="0"/>
              <a:t>Agent可以调用哪些工具？</a:t>
            </a:r>
          </a:p>
          <a:p>
            <a:r>
              <a:rPr lang="zh-CN" altLang="zh-CN" dirty="0"/>
              <a:t>哪些工具只有读取权限？</a:t>
            </a:r>
          </a:p>
          <a:p>
            <a:r>
              <a:rPr lang="zh-CN" altLang="zh-CN" dirty="0"/>
              <a:t>哪些操作会改变真实数据？</a:t>
            </a:r>
          </a:p>
          <a:p>
            <a:r>
              <a:rPr lang="zh-CN" altLang="zh-CN" dirty="0"/>
              <a:t>支付、发送消息或删除内容前是否需要确认？</a:t>
            </a:r>
          </a:p>
          <a:p>
            <a:r>
              <a:rPr lang="zh-CN" altLang="zh-CN" dirty="0"/>
              <a:t>执行失败后怎样恢复？</a:t>
            </a:r>
          </a:p>
          <a:p>
            <a:r>
              <a:rPr lang="zh-CN" altLang="zh-CN" dirty="0"/>
              <a:t>用户怎样知道Agent已经做了什么？</a:t>
            </a:r>
          </a:p>
          <a:p>
            <a:r>
              <a:rPr lang="zh-CN" altLang="zh-CN" dirty="0"/>
              <a:t>Agent怎样停止？</a:t>
            </a:r>
          </a:p>
          <a:p>
            <a:r>
              <a:rPr lang="zh-CN" altLang="zh-CN" dirty="0"/>
              <a:t>怎样记录和审计执行过程？</a:t>
            </a:r>
          </a:p>
          <a:p>
            <a:r>
              <a:rPr lang="zh-CN" altLang="zh-CN" b="1" dirty="0"/>
              <a:t>以Vibe Coding为例</a:t>
            </a:r>
          </a:p>
          <a:p>
            <a:r>
              <a:rPr lang="zh-CN" altLang="zh-CN" dirty="0"/>
              <a:t>Vibe Coding可以帮助产品经理通过自然语言快速生成代码和原型。</a:t>
            </a:r>
          </a:p>
          <a:p>
            <a:r>
              <a:rPr lang="zh-CN" altLang="zh-CN" dirty="0"/>
              <a:t>但课程不仅会关注“生成了一个页面”，还会关注：</a:t>
            </a:r>
          </a:p>
          <a:p>
            <a:r>
              <a:rPr lang="zh-CN" altLang="zh-CN" dirty="0"/>
              <a:t>这个原型验证什么假设；</a:t>
            </a:r>
          </a:p>
          <a:p>
            <a:r>
              <a:rPr lang="zh-CN" altLang="zh-CN" dirty="0"/>
              <a:t>生成代码是否包含安全问题；</a:t>
            </a:r>
          </a:p>
          <a:p>
            <a:r>
              <a:rPr lang="zh-CN" altLang="zh-CN" dirty="0"/>
              <a:t>数据是否是真实数据；</a:t>
            </a:r>
          </a:p>
          <a:p>
            <a:r>
              <a:rPr lang="zh-CN" altLang="zh-CN" dirty="0"/>
              <a:t>Demo和正式产品的差距是什么；</a:t>
            </a:r>
          </a:p>
          <a:p>
            <a:r>
              <a:rPr lang="zh-CN" altLang="zh-CN" dirty="0"/>
              <a:t>哪些内容需要研发重新实现。</a:t>
            </a:r>
          </a:p>
          <a:p>
            <a:r>
              <a:rPr lang="zh-CN" altLang="zh-CN" b="1" dirty="0"/>
              <a:t>课堂互动</a:t>
            </a:r>
          </a:p>
          <a:p>
            <a:r>
              <a:rPr lang="zh-CN" altLang="zh-CN" dirty="0"/>
              <a:t>可以随机选择一个词，让学员不要解释定义，只回答：</a:t>
            </a:r>
          </a:p>
          <a:p>
            <a:r>
              <a:rPr lang="zh-CN" altLang="zh-CN" dirty="0"/>
              <a:t>它帮助我们解决什么产品问题？</a:t>
            </a:r>
          </a:p>
          <a:p>
            <a:r>
              <a:rPr lang="zh-CN" altLang="zh-CN" dirty="0"/>
              <a:t>如果学员只能复述名词定义，说明还没有进入产品理解。</a:t>
            </a:r>
          </a:p>
          <a:p>
            <a:r>
              <a:rPr lang="zh-CN" altLang="zh-CN" b="1" dirty="0"/>
              <a:t>本页收口</a:t>
            </a:r>
          </a:p>
          <a:p>
            <a:r>
              <a:rPr lang="zh-CN" altLang="zh-CN" dirty="0"/>
              <a:t>学习一个AI概念，不是为了在面试中说出这个词，而是为了在具体问题中做出正确选择。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70158-44B3-A2C7-9A78-B6341BF8A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1C4366-8517-9C15-3C2B-56226F0A6B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C30FCB-9EB2-780E-54D5-5CDDC06517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b="1" dirty="0"/>
              <a:t>页面核心观点</a:t>
            </a:r>
          </a:p>
          <a:p>
            <a:r>
              <a:rPr lang="zh-CN" altLang="zh-CN" dirty="0"/>
              <a:t>同时成为“会用AI的产品经理”和“会做AI产品的产品经理”。</a:t>
            </a:r>
          </a:p>
          <a:p>
            <a:r>
              <a:rPr lang="zh-CN" altLang="zh-CN" b="1" dirty="0"/>
              <a:t>建议讲法</a:t>
            </a:r>
          </a:p>
          <a:p>
            <a:r>
              <a:rPr lang="zh-CN" altLang="zh-CN" dirty="0"/>
              <a:t>第一阶段不是只有一条成长线，而是两条并行的能力线。</a:t>
            </a:r>
          </a:p>
          <a:p>
            <a:r>
              <a:rPr lang="zh-CN" altLang="zh-CN" b="1" dirty="0"/>
              <a:t>第一条线：会用AI的产品经理</a:t>
            </a:r>
          </a:p>
          <a:p>
            <a:r>
              <a:rPr lang="zh-CN" altLang="zh-CN" dirty="0"/>
              <a:t>这条线关注的是个人生产力。</a:t>
            </a:r>
          </a:p>
          <a:p>
            <a:r>
              <a:rPr lang="zh-CN" altLang="zh-CN" dirty="0"/>
              <a:t>例如：</a:t>
            </a:r>
          </a:p>
          <a:p>
            <a:r>
              <a:rPr lang="zh-CN" altLang="zh-CN" dirty="0"/>
              <a:t>用AI辅助行业研究；</a:t>
            </a:r>
          </a:p>
          <a:p>
            <a:r>
              <a:rPr lang="zh-CN" altLang="zh-CN" dirty="0"/>
              <a:t>整理用户访谈；</a:t>
            </a:r>
          </a:p>
          <a:p>
            <a:r>
              <a:rPr lang="zh-CN" altLang="zh-CN" dirty="0"/>
              <a:t>提炼需求；</a:t>
            </a:r>
          </a:p>
          <a:p>
            <a:r>
              <a:rPr lang="zh-CN" altLang="zh-CN" dirty="0"/>
              <a:t>分析竞品；</a:t>
            </a:r>
          </a:p>
          <a:p>
            <a:r>
              <a:rPr lang="zh-CN" altLang="zh-CN" dirty="0"/>
              <a:t>检查PRD；</a:t>
            </a:r>
          </a:p>
          <a:p>
            <a:r>
              <a:rPr lang="zh-CN" altLang="zh-CN" dirty="0"/>
              <a:t>制作流程图；</a:t>
            </a:r>
          </a:p>
          <a:p>
            <a:r>
              <a:rPr lang="zh-CN" altLang="zh-CN" dirty="0"/>
              <a:t>生成原型；</a:t>
            </a:r>
          </a:p>
          <a:p>
            <a:r>
              <a:rPr lang="zh-CN" altLang="zh-CN" dirty="0"/>
              <a:t>搭建Demo；</a:t>
            </a:r>
          </a:p>
          <a:p>
            <a:r>
              <a:rPr lang="zh-CN" altLang="zh-CN" dirty="0"/>
              <a:t>模拟用户和面试官的追问。</a:t>
            </a:r>
          </a:p>
          <a:p>
            <a:r>
              <a:rPr lang="zh-CN" altLang="zh-CN" dirty="0"/>
              <a:t>目标是让AI成为产品经理日常工作的助手。</a:t>
            </a:r>
          </a:p>
          <a:p>
            <a:r>
              <a:rPr lang="zh-CN" altLang="zh-CN" b="1" dirty="0"/>
              <a:t>第二条线：会做AI产品的产品经理</a:t>
            </a:r>
          </a:p>
          <a:p>
            <a:r>
              <a:rPr lang="zh-CN" altLang="zh-CN" dirty="0"/>
              <a:t>这条线关注的是给用户和业务提供AI产品能力。</a:t>
            </a:r>
          </a:p>
          <a:p>
            <a:r>
              <a:rPr lang="zh-CN" altLang="zh-CN" dirty="0"/>
              <a:t>例如：</a:t>
            </a:r>
          </a:p>
          <a:p>
            <a:r>
              <a:rPr lang="zh-CN" altLang="zh-CN" dirty="0"/>
              <a:t>找到真实问题；</a:t>
            </a:r>
          </a:p>
          <a:p>
            <a:r>
              <a:rPr lang="zh-CN" altLang="zh-CN" dirty="0"/>
              <a:t>判断AI是否必要；</a:t>
            </a:r>
          </a:p>
          <a:p>
            <a:r>
              <a:rPr lang="zh-CN" altLang="zh-CN" dirty="0"/>
              <a:t>设计输入、处理和输出；</a:t>
            </a:r>
          </a:p>
          <a:p>
            <a:r>
              <a:rPr lang="zh-CN" altLang="zh-CN" dirty="0"/>
              <a:t>选择Workflow、RAG或Agent等方案；</a:t>
            </a:r>
          </a:p>
          <a:p>
            <a:r>
              <a:rPr lang="zh-CN" altLang="zh-CN" dirty="0"/>
              <a:t>设计模型、规则和人工之间的分工；</a:t>
            </a:r>
          </a:p>
          <a:p>
            <a:r>
              <a:rPr lang="zh-CN" altLang="zh-CN" dirty="0"/>
              <a:t>建立测试集和评估指标；</a:t>
            </a:r>
          </a:p>
          <a:p>
            <a:r>
              <a:rPr lang="zh-CN" altLang="zh-CN" dirty="0"/>
              <a:t>管理幻觉、隐私和业务风险；</a:t>
            </a:r>
          </a:p>
          <a:p>
            <a:r>
              <a:rPr lang="zh-CN" altLang="zh-CN" dirty="0"/>
              <a:t>评估成本和ROI；</a:t>
            </a:r>
          </a:p>
          <a:p>
            <a:r>
              <a:rPr lang="zh-CN" altLang="zh-CN" dirty="0"/>
              <a:t>推动试点、上线和迭代。</a:t>
            </a:r>
          </a:p>
          <a:p>
            <a:r>
              <a:rPr lang="zh-CN" altLang="zh-CN" b="1" dirty="0"/>
              <a:t>为什么两条线必须同时训练</a:t>
            </a:r>
          </a:p>
          <a:p>
            <a:r>
              <a:rPr lang="zh-CN" altLang="zh-CN" dirty="0"/>
              <a:t>如果只会使用AI工具：</a:t>
            </a:r>
          </a:p>
          <a:p>
            <a:r>
              <a:rPr lang="zh-CN" altLang="zh-CN" dirty="0"/>
              <a:t>个人效率可能很高；</a:t>
            </a:r>
          </a:p>
          <a:p>
            <a:r>
              <a:rPr lang="zh-CN" altLang="zh-CN" dirty="0"/>
              <a:t>可以快速做出Demo；</a:t>
            </a:r>
          </a:p>
          <a:p>
            <a:r>
              <a:rPr lang="zh-CN" altLang="zh-CN" dirty="0"/>
              <a:t>但可能缺少业务和产品判断。</a:t>
            </a:r>
          </a:p>
          <a:p>
            <a:r>
              <a:rPr lang="zh-CN" altLang="zh-CN" dirty="0"/>
              <a:t>如果只理解AI产品方法，却完全不会操作AI工具：</a:t>
            </a:r>
          </a:p>
          <a:p>
            <a:r>
              <a:rPr lang="zh-CN" altLang="zh-CN" dirty="0"/>
              <a:t>方案可能停留在文档层；</a:t>
            </a:r>
          </a:p>
          <a:p>
            <a:r>
              <a:rPr lang="zh-CN" altLang="zh-CN" dirty="0"/>
              <a:t>很难快速验证；</a:t>
            </a:r>
          </a:p>
          <a:p>
            <a:r>
              <a:rPr lang="zh-CN" altLang="zh-CN" dirty="0"/>
              <a:t>无法亲自感受模型的能力和限制；</a:t>
            </a:r>
          </a:p>
          <a:p>
            <a:r>
              <a:rPr lang="zh-CN" altLang="zh-CN" dirty="0"/>
              <a:t>与研发和算法沟通时缺少实际体验。</a:t>
            </a:r>
          </a:p>
          <a:p>
            <a:r>
              <a:rPr lang="zh-CN" altLang="zh-CN" dirty="0"/>
              <a:t>比较理想的状态是：</a:t>
            </a:r>
          </a:p>
          <a:p>
            <a:r>
              <a:rPr lang="zh-CN" altLang="zh-CN" dirty="0"/>
              <a:t>用AI提升自己的产品工作效率，同时把亲自使用AI的经验转化成AI产品设计能力。</a:t>
            </a:r>
          </a:p>
          <a:p>
            <a:r>
              <a:rPr lang="zh-CN" altLang="zh-CN" b="1" dirty="0"/>
              <a:t>具体例子</a:t>
            </a:r>
          </a:p>
          <a:p>
            <a:r>
              <a:rPr lang="zh-CN" altLang="zh-CN" dirty="0"/>
              <a:t>以用户访谈为例。</a:t>
            </a:r>
          </a:p>
          <a:p>
            <a:r>
              <a:rPr lang="zh-CN" altLang="zh-CN" dirty="0"/>
              <a:t>“会用AI的产品经理”可以让AI：</a:t>
            </a:r>
          </a:p>
          <a:p>
            <a:r>
              <a:rPr lang="zh-CN" altLang="zh-CN" dirty="0"/>
              <a:t>整理访谈录音；</a:t>
            </a:r>
          </a:p>
          <a:p>
            <a:r>
              <a:rPr lang="zh-CN" altLang="zh-CN" dirty="0"/>
              <a:t>提取用户问题；</a:t>
            </a:r>
          </a:p>
          <a:p>
            <a:r>
              <a:rPr lang="zh-CN" altLang="zh-CN" dirty="0"/>
              <a:t>生成主题分类；</a:t>
            </a:r>
          </a:p>
          <a:p>
            <a:r>
              <a:rPr lang="zh-CN" altLang="zh-CN" dirty="0"/>
              <a:t>辅助比较不同用户的观点。</a:t>
            </a:r>
          </a:p>
          <a:p>
            <a:r>
              <a:rPr lang="zh-CN" altLang="zh-CN" dirty="0"/>
              <a:t>“会做AI产品的产品经理”还会进一步思考：</a:t>
            </a:r>
          </a:p>
          <a:p>
            <a:r>
              <a:rPr lang="zh-CN" altLang="zh-CN" dirty="0"/>
              <a:t>是否获得用户授权；</a:t>
            </a:r>
          </a:p>
          <a:p>
            <a:r>
              <a:rPr lang="zh-CN" altLang="zh-CN" dirty="0"/>
              <a:t>哪些信息属于敏感信息；</a:t>
            </a:r>
          </a:p>
          <a:p>
            <a:r>
              <a:rPr lang="zh-CN" altLang="zh-CN" dirty="0"/>
              <a:t>AI是否会把不同用户的观点混在一起；</a:t>
            </a:r>
          </a:p>
          <a:p>
            <a:r>
              <a:rPr lang="zh-CN" altLang="zh-CN" dirty="0"/>
              <a:t>如何查看原始访谈证据；</a:t>
            </a:r>
          </a:p>
          <a:p>
            <a:r>
              <a:rPr lang="zh-CN" altLang="zh-CN" dirty="0"/>
              <a:t>AI总结是否需要人工确认；</a:t>
            </a:r>
          </a:p>
          <a:p>
            <a:r>
              <a:rPr lang="zh-CN" altLang="zh-CN" dirty="0"/>
              <a:t>这个能力是否值得做成团队产品。</a:t>
            </a:r>
          </a:p>
          <a:p>
            <a:r>
              <a:rPr lang="zh-CN" altLang="zh-CN" b="1" dirty="0"/>
              <a:t>本页收口</a:t>
            </a:r>
          </a:p>
          <a:p>
            <a:r>
              <a:rPr lang="zh-CN" altLang="zh-CN" dirty="0"/>
              <a:t>一条线让你成为更高效的产品经理，另一条线让你具备设计AI产品的能力。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E5A42B-5097-7DAC-AF83-6FA83BD630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4090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b="1" dirty="0"/>
              <a:t>页面核心观点</a:t>
            </a:r>
          </a:p>
          <a:p>
            <a:r>
              <a:rPr lang="zh-CN" altLang="zh-CN" dirty="0"/>
              <a:t>项目不是课程装饰，而是把“我听懂了”转变为“我做过并能证明”的过程。</a:t>
            </a:r>
          </a:p>
          <a:p>
            <a:r>
              <a:rPr lang="zh-CN" altLang="zh-CN" b="1" dirty="0"/>
              <a:t>建议讲法</a:t>
            </a:r>
          </a:p>
          <a:p>
            <a:r>
              <a:rPr lang="zh-CN" altLang="zh-CN" dirty="0"/>
              <a:t>为什么学完第一阶段以后，还需要专门进入项目阶段？</a:t>
            </a:r>
          </a:p>
          <a:p>
            <a:r>
              <a:rPr lang="zh-CN" altLang="zh-CN" dirty="0"/>
              <a:t>因为听老师分析案例时，很多事情看起来都很清楚：</a:t>
            </a:r>
          </a:p>
          <a:p>
            <a:r>
              <a:rPr lang="zh-CN" altLang="zh-CN" dirty="0"/>
              <a:t>用户是谁很清楚；</a:t>
            </a:r>
          </a:p>
          <a:p>
            <a:r>
              <a:rPr lang="zh-CN" altLang="zh-CN" dirty="0"/>
              <a:t>问题是什么很清楚；</a:t>
            </a:r>
          </a:p>
          <a:p>
            <a:r>
              <a:rPr lang="zh-CN" altLang="zh-CN" dirty="0"/>
              <a:t>AI应该做什么很清楚；</a:t>
            </a:r>
          </a:p>
          <a:p>
            <a:r>
              <a:rPr lang="zh-CN" altLang="zh-CN" dirty="0"/>
              <a:t>指标应该怎么设计也很清楚。</a:t>
            </a:r>
          </a:p>
          <a:p>
            <a:r>
              <a:rPr lang="zh-CN" altLang="zh-CN" dirty="0"/>
              <a:t>但回到自己的工作场景，情况通常没有那么理想：</a:t>
            </a:r>
          </a:p>
          <a:p>
            <a:r>
              <a:rPr lang="zh-CN" altLang="zh-CN" dirty="0"/>
              <a:t>不同用户说法不一致；</a:t>
            </a:r>
          </a:p>
          <a:p>
            <a:r>
              <a:rPr lang="zh-CN" altLang="zh-CN" dirty="0"/>
              <a:t>用户提出的需求不一定是真实问题；</a:t>
            </a:r>
          </a:p>
          <a:p>
            <a:r>
              <a:rPr lang="zh-CN" altLang="zh-CN" dirty="0"/>
              <a:t>数据可能拿不到；</a:t>
            </a:r>
          </a:p>
          <a:p>
            <a:r>
              <a:rPr lang="zh-CN" altLang="zh-CN" dirty="0"/>
              <a:t>AI能力可能达不到预期；</a:t>
            </a:r>
          </a:p>
          <a:p>
            <a:r>
              <a:rPr lang="zh-CN" altLang="zh-CN" dirty="0"/>
              <a:t>测试时会出现大量错误；</a:t>
            </a:r>
          </a:p>
          <a:p>
            <a:r>
              <a:rPr lang="zh-CN" altLang="zh-CN" dirty="0"/>
              <a:t>方案需要不断取舍和修改。</a:t>
            </a:r>
          </a:p>
          <a:p>
            <a:r>
              <a:rPr lang="zh-CN" altLang="zh-CN" dirty="0"/>
              <a:t>这些能力无法只通过听课获得，必须通过项目训练。</a:t>
            </a:r>
          </a:p>
          <a:p>
            <a:r>
              <a:rPr lang="zh-CN" altLang="zh-CN" b="1" dirty="0"/>
              <a:t>第二阶段的四类项目安排</a:t>
            </a:r>
          </a:p>
          <a:p>
            <a:r>
              <a:rPr lang="zh-CN" altLang="zh-CN" b="1" dirty="0"/>
              <a:t>公共项目</a:t>
            </a:r>
          </a:p>
          <a:p>
            <a:r>
              <a:rPr lang="zh-CN" altLang="zh-CN" dirty="0"/>
              <a:t>所有学员先完成一个相对统一的轻量项目。</a:t>
            </a:r>
          </a:p>
          <a:p>
            <a:r>
              <a:rPr lang="zh-CN" altLang="zh-CN" dirty="0"/>
              <a:t>目的不是让所有人最终都把这个项目写进简历，而是确保每个人都走过完整流程：</a:t>
            </a: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发现问题</a:t>
            </a: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 调研与分析</a:t>
            </a: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 选择AI介入点</a:t>
            </a: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 设计方案</a:t>
            </a: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 制作原型或Demo</a:t>
            </a: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 测试</a:t>
            </a: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 收集Bad Case</a:t>
            </a: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 修改和复盘</a:t>
            </a:r>
          </a:p>
          <a:p>
            <a:r>
              <a:rPr lang="zh-CN" altLang="zh-CN" b="1" dirty="0"/>
              <a:t>方向项目A</a:t>
            </a:r>
          </a:p>
          <a:p>
            <a:r>
              <a:rPr lang="zh-CN" altLang="zh-CN" dirty="0"/>
              <a:t>学员根据兴趣和目标岗位，选择一个AI产品方向，例如：</a:t>
            </a:r>
          </a:p>
          <a:p>
            <a:r>
              <a:rPr lang="zh-CN" altLang="zh-CN" dirty="0"/>
              <a:t>Workflow；</a:t>
            </a:r>
          </a:p>
          <a:p>
            <a:r>
              <a:rPr lang="zh-CN" altLang="zh-CN" dirty="0"/>
              <a:t>RAG；</a:t>
            </a:r>
          </a:p>
          <a:p>
            <a:r>
              <a:rPr lang="zh-CN" altLang="zh-CN" dirty="0"/>
              <a:t>Agent；</a:t>
            </a:r>
          </a:p>
          <a:p>
            <a:r>
              <a:rPr lang="zh-CN" altLang="zh-CN" dirty="0"/>
              <a:t>AI内容生产；</a:t>
            </a:r>
          </a:p>
          <a:p>
            <a:r>
              <a:rPr lang="zh-CN" altLang="zh-CN" dirty="0"/>
              <a:t>AI数据分析；</a:t>
            </a:r>
          </a:p>
          <a:p>
            <a:r>
              <a:rPr lang="zh-CN" altLang="zh-CN" dirty="0"/>
              <a:t>复杂B端AI产品。</a:t>
            </a:r>
          </a:p>
          <a:p>
            <a:r>
              <a:rPr lang="zh-CN" altLang="zh-CN" b="1" dirty="0"/>
              <a:t>方向项目B</a:t>
            </a:r>
          </a:p>
          <a:p>
            <a:r>
              <a:rPr lang="zh-CN" altLang="zh-CN" dirty="0"/>
              <a:t>第二个方向项目与学员自身背景和目标岗位进一步匹配。</a:t>
            </a:r>
          </a:p>
          <a:p>
            <a:r>
              <a:rPr lang="zh-CN" altLang="zh-CN" dirty="0"/>
              <a:t>例如：</a:t>
            </a:r>
          </a:p>
          <a:p>
            <a:r>
              <a:rPr lang="zh-CN" altLang="zh-CN" dirty="0"/>
              <a:t>做过客服，可以选择服务流程或知识助手；</a:t>
            </a:r>
          </a:p>
          <a:p>
            <a:r>
              <a:rPr lang="zh-CN" altLang="zh-CN" dirty="0"/>
              <a:t>做过销售，可以选择商机、跟进或客户洞察；</a:t>
            </a:r>
          </a:p>
          <a:p>
            <a:r>
              <a:rPr lang="zh-CN" altLang="zh-CN" dirty="0"/>
              <a:t>做过内容，可以选择内容生产、审核或运营；</a:t>
            </a:r>
          </a:p>
          <a:p>
            <a:r>
              <a:rPr lang="zh-CN" altLang="zh-CN" dirty="0"/>
              <a:t>做过企业产品，可以选择文档、审批或数据分析。</a:t>
            </a:r>
          </a:p>
          <a:p>
            <a:r>
              <a:rPr lang="zh-CN" altLang="zh-CN" b="1" dirty="0"/>
              <a:t>主项目深化</a:t>
            </a:r>
          </a:p>
          <a:p>
            <a:r>
              <a:rPr lang="zh-CN" altLang="zh-CN" dirty="0"/>
              <a:t>并不是所有项目都要投入同样深度。</a:t>
            </a:r>
          </a:p>
          <a:p>
            <a:r>
              <a:rPr lang="zh-CN" altLang="zh-CN" dirty="0"/>
              <a:t>学员应该选择一个最能体现自己能力、也最接近目标岗位的项目作为主项目，重点补充：</a:t>
            </a:r>
          </a:p>
          <a:p>
            <a:r>
              <a:rPr lang="zh-CN" altLang="zh-CN" dirty="0"/>
              <a:t>用户证据；</a:t>
            </a:r>
          </a:p>
          <a:p>
            <a:r>
              <a:rPr lang="zh-CN" altLang="zh-CN" dirty="0"/>
              <a:t>方案选择；</a:t>
            </a:r>
          </a:p>
          <a:p>
            <a:r>
              <a:rPr lang="zh-CN" altLang="zh-CN" dirty="0"/>
              <a:t>测试数据；</a:t>
            </a:r>
          </a:p>
          <a:p>
            <a:r>
              <a:rPr lang="zh-CN" altLang="zh-CN" dirty="0"/>
              <a:t>Bad Case；</a:t>
            </a:r>
          </a:p>
          <a:p>
            <a:r>
              <a:rPr lang="zh-CN" altLang="zh-CN" dirty="0"/>
              <a:t>迭代记录；</a:t>
            </a:r>
          </a:p>
          <a:p>
            <a:r>
              <a:rPr lang="zh-CN" altLang="zh-CN" dirty="0"/>
              <a:t>成本和风险；</a:t>
            </a:r>
          </a:p>
          <a:p>
            <a:r>
              <a:rPr lang="zh-CN" altLang="zh-CN" dirty="0"/>
              <a:t>可展示的原型或Demo；</a:t>
            </a:r>
          </a:p>
          <a:p>
            <a:r>
              <a:rPr lang="zh-CN" altLang="zh-CN" dirty="0"/>
              <a:t>面试追问答案。</a:t>
            </a:r>
          </a:p>
          <a:p>
            <a:r>
              <a:rPr lang="zh-CN" altLang="zh-CN" b="1" dirty="0"/>
              <a:t>项目阶段的真正成果</a:t>
            </a:r>
          </a:p>
          <a:p>
            <a:r>
              <a:rPr lang="zh-CN" altLang="zh-CN" dirty="0"/>
              <a:t>项目阶段的成果不只是一个最终页面，而是完整过程证据：</a:t>
            </a:r>
          </a:p>
          <a:p>
            <a:r>
              <a:rPr lang="zh-CN" altLang="zh-CN" dirty="0"/>
              <a:t>为什么选这个问题；</a:t>
            </a:r>
          </a:p>
          <a:p>
            <a:r>
              <a:rPr lang="zh-CN" altLang="zh-CN" dirty="0"/>
              <a:t>做过哪些调研；</a:t>
            </a:r>
          </a:p>
          <a:p>
            <a:r>
              <a:rPr lang="zh-CN" altLang="zh-CN" dirty="0"/>
              <a:t>方案怎样发生变化；</a:t>
            </a:r>
          </a:p>
          <a:p>
            <a:r>
              <a:rPr lang="zh-CN" altLang="zh-CN" dirty="0"/>
              <a:t>哪些假设被否定；</a:t>
            </a:r>
          </a:p>
          <a:p>
            <a:r>
              <a:rPr lang="zh-CN" altLang="zh-CN" dirty="0"/>
              <a:t>遇到了哪些错误；</a:t>
            </a:r>
          </a:p>
          <a:p>
            <a:r>
              <a:rPr lang="zh-CN" altLang="zh-CN" dirty="0"/>
              <a:t>怎样修改；</a:t>
            </a:r>
          </a:p>
          <a:p>
            <a:r>
              <a:rPr lang="zh-CN" altLang="zh-CN" dirty="0"/>
              <a:t>还有哪些内容没有验证。</a:t>
            </a:r>
          </a:p>
          <a:p>
            <a:r>
              <a:rPr lang="zh-CN" altLang="zh-CN" b="1" dirty="0"/>
              <a:t>本页收口</a:t>
            </a:r>
          </a:p>
          <a:p>
            <a:r>
              <a:rPr lang="zh-CN" altLang="zh-CN" dirty="0"/>
              <a:t>项目真正证明的不是“我能做出一个页面”，而是“我能够面对不确定问题，完成分析、选择、测试和迭代”。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b="1" dirty="0"/>
              <a:t>页面核心观点</a:t>
            </a:r>
          </a:p>
          <a:p>
            <a:r>
              <a:rPr lang="zh-CN" altLang="zh-CN" dirty="0"/>
              <a:t>不同项目扩大案例面，小组反馈帮助学员发现自己的盲区。</a:t>
            </a:r>
          </a:p>
          <a:p>
            <a:r>
              <a:rPr lang="zh-CN" altLang="zh-CN" b="1" dirty="0"/>
              <a:t>建议讲法</a:t>
            </a:r>
          </a:p>
          <a:p>
            <a:r>
              <a:rPr lang="zh-CN" altLang="zh-CN" dirty="0"/>
              <a:t>第二阶段会采用小组形式，但这里需要先解释“小组”的含义。</a:t>
            </a:r>
          </a:p>
          <a:p>
            <a:r>
              <a:rPr lang="zh-CN" altLang="zh-CN" dirty="0"/>
              <a:t>小组不是几个人分工，最后共同交一份项目。每个人仍然需要有自己的问题、自己的方案和自己的项目证据。</a:t>
            </a:r>
          </a:p>
          <a:p>
            <a:r>
              <a:rPr lang="zh-CN" altLang="zh-CN" dirty="0"/>
              <a:t>小组的主要价值有四个。</a:t>
            </a:r>
          </a:p>
          <a:p>
            <a:r>
              <a:rPr lang="zh-CN" altLang="zh-CN" b="1" dirty="0"/>
              <a:t>避免项目同质化</a:t>
            </a:r>
          </a:p>
          <a:p>
            <a:r>
              <a:rPr lang="zh-CN" altLang="zh-CN" dirty="0"/>
              <a:t>如果全班都做同一个知识库机器人，最终很容易出现：</a:t>
            </a:r>
          </a:p>
          <a:p>
            <a:r>
              <a:rPr lang="zh-CN" altLang="zh-CN" dirty="0"/>
              <a:t>场景相同；</a:t>
            </a:r>
          </a:p>
          <a:p>
            <a:r>
              <a:rPr lang="zh-CN" altLang="zh-CN" dirty="0"/>
              <a:t>页面相同；</a:t>
            </a:r>
          </a:p>
          <a:p>
            <a:r>
              <a:rPr lang="zh-CN" altLang="zh-CN" dirty="0"/>
              <a:t>方案相同；</a:t>
            </a:r>
          </a:p>
          <a:p>
            <a:r>
              <a:rPr lang="zh-CN" altLang="zh-CN" dirty="0"/>
              <a:t>面试表达相同。</a:t>
            </a:r>
          </a:p>
          <a:p>
            <a:r>
              <a:rPr lang="zh-CN" altLang="zh-CN" dirty="0"/>
              <a:t>面试官很难判断学员是否真正做过判断，还是复制了统一答案。</a:t>
            </a:r>
          </a:p>
          <a:p>
            <a:r>
              <a:rPr lang="zh-CN" altLang="zh-CN" dirty="0"/>
              <a:t>不同项目可以让每个人保留自己的背景和优势。</a:t>
            </a:r>
          </a:p>
          <a:p>
            <a:r>
              <a:rPr lang="zh-CN" altLang="zh-CN" b="1" dirty="0"/>
              <a:t>扩大案例面</a:t>
            </a:r>
          </a:p>
          <a:p>
            <a:r>
              <a:rPr lang="zh-CN" altLang="zh-CN" dirty="0"/>
              <a:t>一名学员不可能在短时间内亲自完成所有类型的AI项目。</a:t>
            </a:r>
          </a:p>
          <a:p>
            <a:r>
              <a:rPr lang="zh-CN" altLang="zh-CN" dirty="0"/>
              <a:t>但通过小组展示，可以看到：</a:t>
            </a:r>
          </a:p>
          <a:p>
            <a:r>
              <a:rPr lang="zh-CN" altLang="zh-CN" dirty="0"/>
              <a:t>不同行业的问题；</a:t>
            </a:r>
          </a:p>
          <a:p>
            <a:r>
              <a:rPr lang="zh-CN" altLang="zh-CN" dirty="0"/>
              <a:t>不同类型的用户；</a:t>
            </a:r>
          </a:p>
          <a:p>
            <a:r>
              <a:rPr lang="zh-CN" altLang="zh-CN" dirty="0"/>
              <a:t>不同AI方案；</a:t>
            </a:r>
          </a:p>
          <a:p>
            <a:r>
              <a:rPr lang="zh-CN" altLang="zh-CN" dirty="0"/>
              <a:t>不同风险；</a:t>
            </a:r>
          </a:p>
          <a:p>
            <a:r>
              <a:rPr lang="zh-CN" altLang="zh-CN" dirty="0"/>
              <a:t>不同验证方式。</a:t>
            </a:r>
          </a:p>
          <a:p>
            <a:r>
              <a:rPr lang="zh-CN" altLang="zh-CN" dirty="0"/>
              <a:t>你自己可能只做一个项目，但可以从同学的多个项目中学习。</a:t>
            </a:r>
          </a:p>
          <a:p>
            <a:r>
              <a:rPr lang="zh-CN" altLang="zh-CN" b="1" dirty="0"/>
              <a:t>共享Bad Case</a:t>
            </a:r>
          </a:p>
          <a:p>
            <a:r>
              <a:rPr lang="zh-CN" altLang="zh-CN" dirty="0"/>
              <a:t>成功案例通常很容易被展示，但真正有学习价值的往往是失败过程。</a:t>
            </a:r>
          </a:p>
          <a:p>
            <a:r>
              <a:rPr lang="zh-CN" altLang="zh-CN" dirty="0"/>
              <a:t>例如：</a:t>
            </a:r>
          </a:p>
          <a:p>
            <a:r>
              <a:rPr lang="zh-CN" altLang="zh-CN" dirty="0"/>
              <a:t>模型没有提取到关键信息；</a:t>
            </a:r>
          </a:p>
          <a:p>
            <a:r>
              <a:rPr lang="zh-CN" altLang="zh-CN" dirty="0"/>
              <a:t>RAG检索到了错误资料；</a:t>
            </a:r>
          </a:p>
          <a:p>
            <a:r>
              <a:rPr lang="zh-CN" altLang="zh-CN" dirty="0"/>
              <a:t>Agent反复调用工具；</a:t>
            </a:r>
          </a:p>
          <a:p>
            <a:r>
              <a:rPr lang="zh-CN" altLang="zh-CN" dirty="0"/>
              <a:t>用户不愿意确认AI结果；</a:t>
            </a:r>
          </a:p>
          <a:p>
            <a:r>
              <a:rPr lang="zh-CN" altLang="zh-CN" dirty="0"/>
              <a:t>模型调用成本过高；</a:t>
            </a:r>
          </a:p>
          <a:p>
            <a:r>
              <a:rPr lang="zh-CN" altLang="zh-CN" dirty="0"/>
              <a:t>Demo可以运行，但无法进入真实业务系统。</a:t>
            </a:r>
          </a:p>
          <a:p>
            <a:r>
              <a:rPr lang="zh-CN" altLang="zh-CN" dirty="0"/>
              <a:t>小组可以共享这些失败案例和处理方式。</a:t>
            </a:r>
          </a:p>
          <a:p>
            <a:r>
              <a:rPr lang="zh-CN" altLang="zh-CN" b="1" dirty="0"/>
              <a:t>训练表达和接受质疑</a:t>
            </a:r>
          </a:p>
          <a:p>
            <a:r>
              <a:rPr lang="zh-CN" altLang="zh-CN" dirty="0"/>
              <a:t>很多人自己看自己的方案时，会觉得逻辑很完整。</a:t>
            </a:r>
          </a:p>
          <a:p>
            <a:r>
              <a:rPr lang="zh-CN" altLang="zh-CN" dirty="0"/>
              <a:t>但当同学追问：</a:t>
            </a:r>
          </a:p>
          <a:p>
            <a:r>
              <a:rPr lang="zh-CN" altLang="zh-CN" dirty="0"/>
              <a:t>用户为什么不用现在的方案？</a:t>
            </a:r>
          </a:p>
          <a:p>
            <a:r>
              <a:rPr lang="zh-CN" altLang="zh-CN" dirty="0"/>
              <a:t>为什么一定要用AI？</a:t>
            </a:r>
          </a:p>
          <a:p>
            <a:r>
              <a:rPr lang="zh-CN" altLang="zh-CN" dirty="0"/>
              <a:t>这个数据从哪里来？</a:t>
            </a:r>
          </a:p>
          <a:p>
            <a:r>
              <a:rPr lang="zh-CN" altLang="zh-CN" dirty="0"/>
              <a:t>AI判断错了怎么办？</a:t>
            </a:r>
          </a:p>
          <a:p>
            <a:r>
              <a:rPr lang="zh-CN" altLang="zh-CN" dirty="0"/>
              <a:t>你这个指标怎么获得？</a:t>
            </a:r>
          </a:p>
          <a:p>
            <a:r>
              <a:rPr lang="zh-CN" altLang="zh-CN" dirty="0"/>
              <a:t>方案中的问题才会暴露出来。</a:t>
            </a:r>
          </a:p>
          <a:p>
            <a:r>
              <a:rPr lang="zh-CN" altLang="zh-CN" dirty="0"/>
              <a:t>所以展示和互评本身就是训练。</a:t>
            </a:r>
          </a:p>
          <a:p>
            <a:r>
              <a:rPr lang="zh-CN" altLang="zh-CN" b="1" dirty="0"/>
              <a:t>小组学习的边界</a:t>
            </a:r>
          </a:p>
          <a:p>
            <a:r>
              <a:rPr lang="zh-CN" altLang="zh-CN" dirty="0"/>
              <a:t>为避免有人依赖其他同学，需要建立基本规则：</a:t>
            </a:r>
          </a:p>
          <a:p>
            <a:r>
              <a:rPr lang="zh-CN" altLang="zh-CN" dirty="0"/>
              <a:t>每个人有自己的项目文件；</a:t>
            </a:r>
          </a:p>
          <a:p>
            <a:r>
              <a:rPr lang="zh-CN" altLang="zh-CN" dirty="0"/>
              <a:t>每个人能够独立讲述；</a:t>
            </a:r>
          </a:p>
          <a:p>
            <a:r>
              <a:rPr lang="zh-CN" altLang="zh-CN" dirty="0"/>
              <a:t>可以共享方法，不直接复制结论；</a:t>
            </a:r>
          </a:p>
          <a:p>
            <a:r>
              <a:rPr lang="zh-CN" altLang="zh-CN" dirty="0"/>
              <a:t>使用他人材料时需要说明来源；</a:t>
            </a:r>
          </a:p>
          <a:p>
            <a:r>
              <a:rPr lang="zh-CN" altLang="zh-CN" dirty="0"/>
              <a:t>每个人保留自己的修改记录；</a:t>
            </a:r>
          </a:p>
          <a:p>
            <a:r>
              <a:rPr lang="zh-CN" altLang="zh-CN" dirty="0"/>
              <a:t>小组反馈不能代替个人决策。</a:t>
            </a:r>
          </a:p>
          <a:p>
            <a:r>
              <a:rPr lang="zh-CN" altLang="zh-CN" b="1" dirty="0"/>
              <a:t>本页收口</a:t>
            </a:r>
          </a:p>
          <a:p>
            <a:r>
              <a:rPr lang="zh-CN" altLang="zh-CN" dirty="0"/>
              <a:t>小组的作用不是替你完成项目，而是用更多案例、失败和追问加快你的学习。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b="1" dirty="0"/>
              <a:t>页面核心观点</a:t>
            </a:r>
          </a:p>
          <a:p>
            <a:r>
              <a:rPr lang="zh-CN" altLang="zh-CN" dirty="0"/>
              <a:t>求职不是把项目“包装得像做过”，而是让真实能力更容易被看见和验证。</a:t>
            </a:r>
          </a:p>
          <a:p>
            <a:r>
              <a:rPr lang="zh-CN" altLang="zh-CN" b="1" dirty="0"/>
              <a:t>建议讲法</a:t>
            </a:r>
          </a:p>
          <a:p>
            <a:r>
              <a:rPr lang="zh-CN" altLang="zh-CN" dirty="0"/>
              <a:t>很多学员完成项目后，会遇到一个新的问题：</a:t>
            </a:r>
          </a:p>
          <a:p>
            <a:r>
              <a:rPr lang="zh-CN" altLang="zh-CN" dirty="0"/>
              <a:t>我明明做了很多工作，但简历上只写出了一句话。</a:t>
            </a:r>
          </a:p>
          <a:p>
            <a:r>
              <a:rPr lang="zh-CN" altLang="zh-CN" dirty="0"/>
              <a:t>例如：</a:t>
            </a:r>
          </a:p>
          <a:p>
            <a:r>
              <a:rPr lang="zh-CN" altLang="zh-CN" dirty="0"/>
              <a:t>负责AI销售助手的产品设计，提高销售工作效率。</a:t>
            </a:r>
          </a:p>
          <a:p>
            <a:r>
              <a:rPr lang="zh-CN" altLang="zh-CN" dirty="0"/>
              <a:t>这句话几乎无法证明能力。</a:t>
            </a:r>
          </a:p>
          <a:p>
            <a:r>
              <a:rPr lang="zh-CN" altLang="zh-CN" dirty="0"/>
              <a:t>面试官不知道：</a:t>
            </a:r>
          </a:p>
          <a:p>
            <a:r>
              <a:rPr lang="zh-CN" altLang="zh-CN" dirty="0"/>
              <a:t>为什么选择这个问题；</a:t>
            </a:r>
          </a:p>
          <a:p>
            <a:r>
              <a:rPr lang="zh-CN" altLang="zh-CN" dirty="0"/>
              <a:t>学员具体负责什么；</a:t>
            </a:r>
          </a:p>
          <a:p>
            <a:r>
              <a:rPr lang="zh-CN" altLang="zh-CN" dirty="0"/>
              <a:t>AI承担了什么任务；</a:t>
            </a:r>
          </a:p>
          <a:p>
            <a:r>
              <a:rPr lang="zh-CN" altLang="zh-CN" dirty="0"/>
              <a:t>方案有什么取舍；</a:t>
            </a:r>
          </a:p>
          <a:p>
            <a:r>
              <a:rPr lang="zh-CN" altLang="zh-CN" dirty="0"/>
              <a:t>做过哪些测试；</a:t>
            </a:r>
          </a:p>
          <a:p>
            <a:r>
              <a:rPr lang="zh-CN" altLang="zh-CN" dirty="0"/>
              <a:t>是否真实上线；</a:t>
            </a:r>
          </a:p>
          <a:p>
            <a:r>
              <a:rPr lang="zh-CN" altLang="zh-CN" dirty="0"/>
              <a:t>“提高效率”是怎么计算的。</a:t>
            </a:r>
          </a:p>
          <a:p>
            <a:r>
              <a:rPr lang="zh-CN" altLang="zh-CN" dirty="0"/>
              <a:t>第三阶段就是帮助学员把已有材料转化成可被验证的求职证据。</a:t>
            </a:r>
          </a:p>
          <a:p>
            <a:r>
              <a:rPr lang="zh-CN" altLang="zh-CN" b="1" dirty="0"/>
              <a:t>定位</a:t>
            </a:r>
          </a:p>
          <a:p>
            <a:r>
              <a:rPr lang="zh-CN" altLang="zh-CN" dirty="0"/>
              <a:t>先确定目标岗位。</a:t>
            </a:r>
          </a:p>
          <a:p>
            <a:r>
              <a:rPr lang="zh-CN" altLang="zh-CN" dirty="0"/>
              <a:t>不同AI产品岗位对能力的要求不同：</a:t>
            </a:r>
          </a:p>
          <a:p>
            <a:r>
              <a:rPr lang="zh-CN" altLang="zh-CN" dirty="0"/>
              <a:t>AI应用产品经理；</a:t>
            </a:r>
          </a:p>
          <a:p>
            <a:r>
              <a:rPr lang="zh-CN" altLang="zh-CN" dirty="0"/>
              <a:t>AI平台产品经理；</a:t>
            </a:r>
          </a:p>
          <a:p>
            <a:r>
              <a:rPr lang="zh-CN" altLang="zh-CN" dirty="0"/>
              <a:t>智能客服产品经理；</a:t>
            </a:r>
          </a:p>
          <a:p>
            <a:r>
              <a:rPr lang="zh-CN" altLang="zh-CN" dirty="0"/>
              <a:t>AI内容产品经理；</a:t>
            </a:r>
          </a:p>
          <a:p>
            <a:r>
              <a:rPr lang="zh-CN" altLang="zh-CN" dirty="0"/>
              <a:t>AI企业服务产品经理；</a:t>
            </a:r>
          </a:p>
          <a:p>
            <a:r>
              <a:rPr lang="zh-CN" altLang="zh-CN" dirty="0"/>
              <a:t>Agent或开发者工具产品经理。</a:t>
            </a:r>
          </a:p>
          <a:p>
            <a:r>
              <a:rPr lang="zh-CN" altLang="zh-CN" dirty="0"/>
              <a:t>不确定目标岗位，就很难决定应该突出什么项目和能力。</a:t>
            </a:r>
          </a:p>
          <a:p>
            <a:r>
              <a:rPr lang="zh-CN" altLang="zh-CN" b="1" dirty="0"/>
              <a:t>简历</a:t>
            </a:r>
          </a:p>
          <a:p>
            <a:r>
              <a:rPr lang="zh-CN" altLang="zh-CN" dirty="0"/>
              <a:t>简历不是把所有工作写上去，而是选择与目标岗位有关的证据。</a:t>
            </a:r>
          </a:p>
          <a:p>
            <a:r>
              <a:rPr lang="zh-CN" altLang="zh-CN" dirty="0"/>
              <a:t>例如目标岗位强调RAG和企业知识管理，就需要突出：</a:t>
            </a:r>
          </a:p>
          <a:p>
            <a:r>
              <a:rPr lang="zh-CN" altLang="zh-CN" dirty="0"/>
              <a:t>知识来源；</a:t>
            </a:r>
          </a:p>
          <a:p>
            <a:r>
              <a:rPr lang="zh-CN" altLang="zh-CN" dirty="0"/>
              <a:t>检索设计；</a:t>
            </a:r>
          </a:p>
          <a:p>
            <a:r>
              <a:rPr lang="zh-CN" altLang="zh-CN" dirty="0"/>
              <a:t>回答引用；</a:t>
            </a:r>
          </a:p>
          <a:p>
            <a:r>
              <a:rPr lang="zh-CN" altLang="zh-CN" dirty="0"/>
              <a:t>权限；</a:t>
            </a:r>
          </a:p>
          <a:p>
            <a:r>
              <a:rPr lang="zh-CN" altLang="zh-CN" dirty="0"/>
              <a:t>评测；</a:t>
            </a:r>
          </a:p>
          <a:p>
            <a:r>
              <a:rPr lang="zh-CN" altLang="zh-CN" dirty="0"/>
              <a:t>Bad Case。</a:t>
            </a:r>
          </a:p>
          <a:p>
            <a:r>
              <a:rPr lang="zh-CN" altLang="zh-CN" dirty="0"/>
              <a:t>如果目标岗位强调Agent，就需要突出：</a:t>
            </a:r>
          </a:p>
          <a:p>
            <a:r>
              <a:rPr lang="zh-CN" altLang="zh-CN" dirty="0"/>
              <a:t>任务拆解；</a:t>
            </a:r>
          </a:p>
          <a:p>
            <a:r>
              <a:rPr lang="zh-CN" altLang="zh-CN" dirty="0"/>
              <a:t>工具调用；</a:t>
            </a:r>
          </a:p>
          <a:p>
            <a:r>
              <a:rPr lang="zh-CN" altLang="zh-CN" dirty="0"/>
              <a:t>权限确认；</a:t>
            </a:r>
          </a:p>
          <a:p>
            <a:r>
              <a:rPr lang="zh-CN" altLang="zh-CN" dirty="0"/>
              <a:t>执行状态；</a:t>
            </a:r>
          </a:p>
          <a:p>
            <a:r>
              <a:rPr lang="zh-CN" altLang="zh-CN" dirty="0"/>
              <a:t>失败恢复；</a:t>
            </a:r>
          </a:p>
          <a:p>
            <a:r>
              <a:rPr lang="zh-CN" altLang="zh-CN" dirty="0"/>
              <a:t>可观测性。</a:t>
            </a:r>
          </a:p>
          <a:p>
            <a:r>
              <a:rPr lang="zh-CN" altLang="zh-CN" b="1" dirty="0"/>
              <a:t>项目表达</a:t>
            </a:r>
          </a:p>
          <a:p>
            <a:r>
              <a:rPr lang="zh-CN" altLang="zh-CN" dirty="0"/>
              <a:t>一个项目至少要能够回答：</a:t>
            </a:r>
          </a:p>
          <a:p>
            <a:r>
              <a:rPr lang="zh-CN" altLang="zh-CN" dirty="0"/>
              <a:t>项目背景是什么？</a:t>
            </a:r>
          </a:p>
          <a:p>
            <a:r>
              <a:rPr lang="zh-CN" altLang="zh-CN" dirty="0"/>
              <a:t>用户和问题是什么？</a:t>
            </a:r>
          </a:p>
          <a:p>
            <a:r>
              <a:rPr lang="zh-CN" altLang="zh-CN" dirty="0"/>
              <a:t>为什么使用AI？</a:t>
            </a:r>
          </a:p>
          <a:p>
            <a:r>
              <a:rPr lang="zh-CN" altLang="zh-CN" dirty="0"/>
              <a:t>为什么选择这个方案？</a:t>
            </a:r>
          </a:p>
          <a:p>
            <a:r>
              <a:rPr lang="zh-CN" altLang="zh-CN" dirty="0"/>
              <a:t>自己负责了什么？</a:t>
            </a:r>
          </a:p>
          <a:p>
            <a:r>
              <a:rPr lang="zh-CN" altLang="zh-CN" dirty="0"/>
              <a:t>如何验证？</a:t>
            </a:r>
          </a:p>
          <a:p>
            <a:r>
              <a:rPr lang="zh-CN" altLang="zh-CN" dirty="0"/>
              <a:t>遇到什么问题？</a:t>
            </a:r>
          </a:p>
          <a:p>
            <a:r>
              <a:rPr lang="zh-CN" altLang="zh-CN" dirty="0"/>
              <a:t>怎样迭代？</a:t>
            </a:r>
          </a:p>
          <a:p>
            <a:r>
              <a:rPr lang="zh-CN" altLang="zh-CN" dirty="0"/>
              <a:t>项目处于什么阶段？</a:t>
            </a:r>
          </a:p>
          <a:p>
            <a:r>
              <a:rPr lang="zh-CN" altLang="zh-CN" dirty="0"/>
              <a:t>如果继续做，会如何推进？</a:t>
            </a:r>
          </a:p>
          <a:p>
            <a:r>
              <a:rPr lang="zh-CN" altLang="zh-CN" b="1" dirty="0"/>
              <a:t>作品集</a:t>
            </a:r>
          </a:p>
          <a:p>
            <a:r>
              <a:rPr lang="zh-CN" altLang="zh-CN" dirty="0"/>
              <a:t>作品集不是把PPT做得很漂亮，而是补充简历无法承载的证据，例如：</a:t>
            </a:r>
          </a:p>
          <a:p>
            <a:r>
              <a:rPr lang="zh-CN" altLang="zh-CN" dirty="0"/>
              <a:t>用户流程；</a:t>
            </a:r>
          </a:p>
          <a:p>
            <a:r>
              <a:rPr lang="zh-CN" altLang="zh-CN" dirty="0"/>
              <a:t>产品架构；</a:t>
            </a:r>
          </a:p>
          <a:p>
            <a:r>
              <a:rPr lang="zh-CN" altLang="zh-CN" dirty="0"/>
              <a:t>原型；</a:t>
            </a:r>
          </a:p>
          <a:p>
            <a:r>
              <a:rPr lang="zh-CN" altLang="zh-CN" dirty="0"/>
              <a:t>测试集；</a:t>
            </a:r>
          </a:p>
          <a:p>
            <a:r>
              <a:rPr lang="zh-CN" altLang="zh-CN" dirty="0"/>
              <a:t>Bad Case；</a:t>
            </a:r>
          </a:p>
          <a:p>
            <a:r>
              <a:rPr lang="zh-CN" altLang="zh-CN" dirty="0"/>
              <a:t>迭代对比；</a:t>
            </a:r>
          </a:p>
          <a:p>
            <a:r>
              <a:rPr lang="zh-CN" altLang="zh-CN" dirty="0"/>
              <a:t>指标设计；</a:t>
            </a:r>
          </a:p>
          <a:p>
            <a:r>
              <a:rPr lang="zh-CN" altLang="zh-CN" dirty="0"/>
              <a:t>关键决策记录。</a:t>
            </a:r>
          </a:p>
          <a:p>
            <a:r>
              <a:rPr lang="zh-CN" altLang="zh-CN" b="1" dirty="0"/>
              <a:t>面试</a:t>
            </a:r>
          </a:p>
          <a:p>
            <a:r>
              <a:rPr lang="zh-CN" altLang="zh-CN" dirty="0"/>
              <a:t>面试训练不只是背诵标准答案，而是准备追问。</a:t>
            </a:r>
          </a:p>
          <a:p>
            <a:r>
              <a:rPr lang="zh-CN" altLang="zh-CN" dirty="0"/>
              <a:t>例如面试官可能问：</a:t>
            </a:r>
          </a:p>
          <a:p>
            <a:r>
              <a:rPr lang="zh-CN" altLang="zh-CN" dirty="0"/>
              <a:t>为什么这个问题需要AI？</a:t>
            </a:r>
          </a:p>
          <a:p>
            <a:r>
              <a:rPr lang="zh-CN" altLang="zh-CN" dirty="0"/>
              <a:t>为什么不用规则？</a:t>
            </a:r>
          </a:p>
          <a:p>
            <a:r>
              <a:rPr lang="zh-CN" altLang="zh-CN" dirty="0"/>
              <a:t>为什么不用更便宜的模型？</a:t>
            </a:r>
          </a:p>
          <a:p>
            <a:r>
              <a:rPr lang="zh-CN" altLang="zh-CN" dirty="0"/>
              <a:t>模型错误如何处理？</a:t>
            </a:r>
          </a:p>
          <a:p>
            <a:r>
              <a:rPr lang="zh-CN" altLang="zh-CN" dirty="0"/>
              <a:t>如何建立评测集？</a:t>
            </a:r>
          </a:p>
          <a:p>
            <a:r>
              <a:rPr lang="zh-CN" altLang="zh-CN" dirty="0"/>
              <a:t>项目没有上线，价值怎么证明？</a:t>
            </a:r>
          </a:p>
          <a:p>
            <a:r>
              <a:rPr lang="zh-CN" altLang="zh-CN" dirty="0"/>
              <a:t>如果用户不愿意使用怎么办？</a:t>
            </a:r>
          </a:p>
          <a:p>
            <a:r>
              <a:rPr lang="zh-CN" altLang="zh-CN" b="1" dirty="0"/>
              <a:t>投递和复盘</a:t>
            </a:r>
          </a:p>
          <a:p>
            <a:r>
              <a:rPr lang="zh-CN" altLang="zh-CN" dirty="0"/>
              <a:t>求职不是提交一份简历后等待结果。</a:t>
            </a:r>
          </a:p>
          <a:p>
            <a:r>
              <a:rPr lang="zh-CN" altLang="zh-CN" dirty="0"/>
              <a:t>需要记录：</a:t>
            </a:r>
          </a:p>
          <a:p>
            <a:r>
              <a:rPr lang="zh-CN" altLang="zh-CN" dirty="0"/>
              <a:t>投递了哪些岗位；</a:t>
            </a:r>
          </a:p>
          <a:p>
            <a:r>
              <a:rPr lang="zh-CN" altLang="zh-CN" dirty="0"/>
              <a:t>哪个版本的简历；</a:t>
            </a:r>
          </a:p>
          <a:p>
            <a:r>
              <a:rPr lang="zh-CN" altLang="zh-CN" dirty="0"/>
              <a:t>是否获得面试；</a:t>
            </a:r>
          </a:p>
          <a:p>
            <a:r>
              <a:rPr lang="zh-CN" altLang="zh-CN" dirty="0"/>
              <a:t>哪些问题没有回答好；</a:t>
            </a:r>
          </a:p>
          <a:p>
            <a:r>
              <a:rPr lang="zh-CN" altLang="zh-CN" dirty="0"/>
              <a:t>哪些项目材料需要补充；</a:t>
            </a:r>
          </a:p>
          <a:p>
            <a:r>
              <a:rPr lang="zh-CN" altLang="zh-CN" dirty="0"/>
              <a:t>下一轮怎样调整。</a:t>
            </a:r>
          </a:p>
          <a:p>
            <a:r>
              <a:rPr lang="zh-CN" altLang="zh-CN" b="1" dirty="0"/>
              <a:t>需要明确的真实性底线</a:t>
            </a:r>
          </a:p>
          <a:p>
            <a:r>
              <a:rPr lang="zh-CN" altLang="zh-CN" dirty="0"/>
              <a:t>课程项目可以展示，但需要明确标注为课程项目、个人项目或业务改造方案。</a:t>
            </a:r>
          </a:p>
          <a:p>
            <a:r>
              <a:rPr lang="zh-CN" altLang="zh-CN" dirty="0"/>
              <a:t>不能：</a:t>
            </a:r>
          </a:p>
          <a:p>
            <a:r>
              <a:rPr lang="zh-CN" altLang="zh-CN" dirty="0"/>
              <a:t>没有上线却写成上线；</a:t>
            </a:r>
          </a:p>
          <a:p>
            <a:r>
              <a:rPr lang="zh-CN" altLang="zh-CN" dirty="0"/>
              <a:t>没有真实用户却编造用户数量；</a:t>
            </a:r>
          </a:p>
          <a:p>
            <a:r>
              <a:rPr lang="zh-CN" altLang="zh-CN" dirty="0"/>
              <a:t>没有业务数据却编造提升比例；</a:t>
            </a:r>
          </a:p>
          <a:p>
            <a:r>
              <a:rPr lang="zh-CN" altLang="zh-CN" dirty="0"/>
              <a:t>把老师提供的答案完全写成个人决策；</a:t>
            </a:r>
          </a:p>
          <a:p>
            <a:r>
              <a:rPr lang="zh-CN" altLang="zh-CN" dirty="0"/>
              <a:t>把团队成果全部写成个人成果。</a:t>
            </a:r>
          </a:p>
          <a:p>
            <a:r>
              <a:rPr lang="zh-CN" altLang="zh-CN" dirty="0"/>
              <a:t>可以诚实表达：</a:t>
            </a:r>
          </a:p>
          <a:p>
            <a:r>
              <a:rPr lang="zh-CN" altLang="zh-CN" dirty="0"/>
              <a:t>这是一个基于销售访谈和公开业务场景设计的个人项目，目前完成了原型和小样本测试，尚未进入正式业务上线。</a:t>
            </a:r>
          </a:p>
          <a:p>
            <a:r>
              <a:rPr lang="zh-CN" altLang="zh-CN" dirty="0"/>
              <a:t>这种表达不会天然降低项目价值。面试官仍然可以通过问题分析、方案选择、测试和复盘判断能力。</a:t>
            </a:r>
          </a:p>
          <a:p>
            <a:r>
              <a:rPr lang="zh-CN" altLang="zh-CN" b="1" dirty="0"/>
              <a:t>本页收口</a:t>
            </a:r>
          </a:p>
          <a:p>
            <a:r>
              <a:rPr lang="zh-CN" altLang="zh-CN" dirty="0"/>
              <a:t>求职转化不是创造一段不存在的经历，而是让真实学习和项目成果变成可以被阅读、追问和验证的证据。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b="1" dirty="0"/>
              <a:t>页面核心观点</a:t>
            </a:r>
          </a:p>
          <a:p>
            <a:r>
              <a:rPr lang="zh-CN" altLang="zh-CN" dirty="0"/>
              <a:t>你懂不懂？你做没做？你讲得清吗？</a:t>
            </a:r>
          </a:p>
          <a:p>
            <a:r>
              <a:rPr lang="zh-CN" altLang="zh-CN" b="1" dirty="0"/>
              <a:t>建议讲法</a:t>
            </a:r>
          </a:p>
          <a:p>
            <a:r>
              <a:rPr lang="zh-CN" altLang="zh-CN" dirty="0"/>
              <a:t>最后，我们用三个问题总结课程设计。</a:t>
            </a:r>
          </a:p>
          <a:p>
            <a:r>
              <a:rPr lang="zh-CN" altLang="zh-CN" b="1" dirty="0"/>
              <a:t>第一个问题：你懂不懂</a:t>
            </a:r>
          </a:p>
          <a:p>
            <a:r>
              <a:rPr lang="zh-CN" altLang="zh-CN" dirty="0"/>
              <a:t>第一阶段回答：</a:t>
            </a:r>
          </a:p>
          <a:p>
            <a:r>
              <a:rPr lang="zh-CN" altLang="zh-CN" dirty="0"/>
              <a:t>你是否理解AI产品的基本概念；</a:t>
            </a:r>
          </a:p>
          <a:p>
            <a:r>
              <a:rPr lang="zh-CN" altLang="zh-CN" dirty="0"/>
              <a:t>是否知道不同方案的作用和边界；</a:t>
            </a:r>
          </a:p>
          <a:p>
            <a:r>
              <a:rPr lang="zh-CN" altLang="zh-CN" dirty="0"/>
              <a:t>是否能够从用户问题出发做产品判断；</a:t>
            </a:r>
          </a:p>
          <a:p>
            <a:r>
              <a:rPr lang="zh-CN" altLang="zh-CN" dirty="0"/>
              <a:t>是否知道怎样设计、测试和评估。</a:t>
            </a:r>
          </a:p>
          <a:p>
            <a:r>
              <a:rPr lang="zh-CN" altLang="zh-CN" dirty="0"/>
              <a:t>这里的“懂”不是会背定义，而是能够使用。</a:t>
            </a:r>
          </a:p>
          <a:p>
            <a:r>
              <a:rPr lang="zh-CN" altLang="zh-CN" b="1" dirty="0"/>
              <a:t>第二个问题：你做没做</a:t>
            </a:r>
          </a:p>
          <a:p>
            <a:r>
              <a:rPr lang="zh-CN" altLang="zh-CN" dirty="0"/>
              <a:t>第二阶段回答：</a:t>
            </a:r>
          </a:p>
          <a:p>
            <a:r>
              <a:rPr lang="zh-CN" altLang="zh-CN" dirty="0"/>
              <a:t>你是否真正进入过一个具体项目；</a:t>
            </a:r>
          </a:p>
          <a:p>
            <a:r>
              <a:rPr lang="zh-CN" altLang="zh-CN" dirty="0"/>
              <a:t>是否做过调研和流程分析；</a:t>
            </a:r>
          </a:p>
          <a:p>
            <a:r>
              <a:rPr lang="zh-CN" altLang="zh-CN" dirty="0"/>
              <a:t>是否制作过方案、原型或Demo；</a:t>
            </a:r>
          </a:p>
          <a:p>
            <a:r>
              <a:rPr lang="zh-CN" altLang="zh-CN" dirty="0"/>
              <a:t>是否遇到过错误和限制；</a:t>
            </a:r>
          </a:p>
          <a:p>
            <a:r>
              <a:rPr lang="zh-CN" altLang="zh-CN" dirty="0"/>
              <a:t>是否根据反馈修改过方案。</a:t>
            </a:r>
          </a:p>
          <a:p>
            <a:r>
              <a:rPr lang="zh-CN" altLang="zh-CN" dirty="0"/>
              <a:t>这里的“做”不等于一定正式上线，但必须有真实过程和可检查的产出。</a:t>
            </a:r>
          </a:p>
          <a:p>
            <a:r>
              <a:rPr lang="zh-CN" altLang="zh-CN" b="1" dirty="0"/>
              <a:t>第三个问题：你讲得清吗</a:t>
            </a:r>
          </a:p>
          <a:p>
            <a:r>
              <a:rPr lang="zh-CN" altLang="zh-CN" dirty="0"/>
              <a:t>第三阶段回答：</a:t>
            </a:r>
          </a:p>
          <a:p>
            <a:r>
              <a:rPr lang="zh-CN" altLang="zh-CN" dirty="0"/>
              <a:t>目标岗位能否看见你的能力；</a:t>
            </a:r>
          </a:p>
          <a:p>
            <a:r>
              <a:rPr lang="zh-CN" altLang="zh-CN" dirty="0"/>
              <a:t>简历是否有有效证据；</a:t>
            </a:r>
          </a:p>
          <a:p>
            <a:r>
              <a:rPr lang="zh-CN" altLang="zh-CN" dirty="0"/>
              <a:t>项目能否被清楚讲述；</a:t>
            </a:r>
          </a:p>
          <a:p>
            <a:r>
              <a:rPr lang="zh-CN" altLang="zh-CN" dirty="0"/>
              <a:t>面对追问能否解释决策；</a:t>
            </a:r>
          </a:p>
          <a:p>
            <a:r>
              <a:rPr lang="zh-CN" altLang="zh-CN" dirty="0"/>
              <a:t>能否诚实说明项目边界。</a:t>
            </a:r>
          </a:p>
          <a:p>
            <a:r>
              <a:rPr lang="zh-CN" altLang="zh-CN" b="1" dirty="0"/>
              <a:t>三个阶段缺少一个会怎样</a:t>
            </a:r>
          </a:p>
          <a:p>
            <a:r>
              <a:rPr lang="zh-CN" altLang="zh-CN" dirty="0"/>
              <a:t>只有第一阶段：</a:t>
            </a:r>
          </a:p>
          <a:p>
            <a:r>
              <a:rPr lang="zh-CN" altLang="zh-CN" dirty="0"/>
              <a:t>懂了一些知识，但没有项目证据。</a:t>
            </a:r>
          </a:p>
          <a:p>
            <a:r>
              <a:rPr lang="zh-CN" altLang="zh-CN" dirty="0"/>
              <a:t>只有第二阶段：</a:t>
            </a:r>
          </a:p>
          <a:p>
            <a:r>
              <a:rPr lang="zh-CN" altLang="zh-CN" dirty="0"/>
              <a:t>做出了项目，但方法可能不完整，也不一定能讲清楚。</a:t>
            </a:r>
          </a:p>
          <a:p>
            <a:r>
              <a:rPr lang="zh-CN" altLang="zh-CN" dirty="0"/>
              <a:t>只有第三阶段：</a:t>
            </a:r>
          </a:p>
          <a:p>
            <a:r>
              <a:rPr lang="zh-CN" altLang="zh-CN" dirty="0"/>
              <a:t>只学习表达和面试技巧，但没有足够真实内容支撑。</a:t>
            </a:r>
          </a:p>
          <a:p>
            <a:r>
              <a:rPr lang="zh-CN" altLang="zh-CN" dirty="0"/>
              <a:t>因此三个阶段的关系是：</a:t>
            </a: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第一阶段让你形成判断</a:t>
            </a: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 第二阶段让你积累证据</a:t>
            </a: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 第三阶段让证据被目标市场理解</a:t>
            </a:r>
          </a:p>
          <a:p>
            <a:r>
              <a:rPr lang="zh-CN" altLang="zh-CN" b="1" dirty="0"/>
              <a:t>课堂互动</a:t>
            </a:r>
          </a:p>
          <a:p>
            <a:r>
              <a:rPr lang="zh-CN" altLang="zh-CN" dirty="0"/>
              <a:t>可以让学员给自己做一个简单诊断。</a:t>
            </a:r>
          </a:p>
          <a:p>
            <a:r>
              <a:rPr lang="zh-CN" altLang="zh-CN" dirty="0"/>
              <a:t>请分别给下面三项打1—5分：</a:t>
            </a:r>
          </a:p>
          <a:p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能力自评分</a:t>
            </a:r>
            <a:endParaRPr lang="zh-CN" altLang="zh-CN" dirty="0">
              <a:effectLst/>
            </a:endParaRP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我对AI产品有体系化理解1—5分</a:t>
            </a:r>
            <a:endParaRPr lang="zh-CN" altLang="zh-CN" dirty="0">
              <a:effectLst/>
            </a:endParaRP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我拥有可以深入讲述的AI项目1—5分</a:t>
            </a:r>
            <a:endParaRPr lang="zh-CN" altLang="zh-CN" dirty="0">
              <a:effectLst/>
            </a:endParaRP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我能通过简历和面试证明自己的能力1—5分</a:t>
            </a:r>
            <a:endParaRPr lang="zh-CN" altLang="zh-CN" dirty="0">
              <a:effectLst/>
            </a:endParaRPr>
          </a:p>
          <a:p>
            <a:r>
              <a:rPr lang="zh-CN" altLang="zh-CN" dirty="0"/>
              <a:t>然后问：</a:t>
            </a:r>
          </a:p>
          <a:p>
            <a:r>
              <a:rPr lang="zh-CN" altLang="zh-CN" dirty="0"/>
              <a:t>你当前最低的一项是什么？</a:t>
            </a:r>
          </a:p>
          <a:p>
            <a:r>
              <a:rPr lang="zh-CN" altLang="zh-CN" dirty="0"/>
              <a:t>不需要现场解决每个人的问题。这个问题的目的是让学员知道自己处于哪一个阶段。</a:t>
            </a:r>
          </a:p>
          <a:p>
            <a:r>
              <a:rPr lang="zh-CN" altLang="zh-CN" b="1" dirty="0"/>
              <a:t>关于分阶段购买的建议讲法</a:t>
            </a:r>
          </a:p>
          <a:p>
            <a:r>
              <a:rPr lang="zh-CN" altLang="zh-CN" dirty="0"/>
              <a:t>三个阶段可以分别学习和购买，是因为它们分别解决不同问题。</a:t>
            </a:r>
          </a:p>
          <a:p>
            <a:r>
              <a:rPr lang="zh-CN" altLang="zh-CN" dirty="0"/>
              <a:t>但分阶段不代表彼此完全独立。</a:t>
            </a:r>
          </a:p>
          <a:p>
            <a:r>
              <a:rPr lang="zh-CN" altLang="zh-CN" dirty="0"/>
              <a:t>例如，一个已经具备AI产品基础、也有真实项目的人，可能更需要第三阶段；一个对AI概念还很混乱的人，如果直接进入求职表达，项目很容易经不起追问。</a:t>
            </a:r>
          </a:p>
          <a:p>
            <a:r>
              <a:rPr lang="zh-CN" altLang="zh-CN" dirty="0"/>
              <a:t>所以是否进入下一阶段，不应该只看是否“听完了课”，还要看是否形成了上一阶段所需要的成果。</a:t>
            </a:r>
          </a:p>
          <a:p>
            <a:r>
              <a:rPr lang="zh-CN" altLang="zh-CN" b="1" dirty="0"/>
              <a:t>本页收口</a:t>
            </a:r>
          </a:p>
          <a:p>
            <a:r>
              <a:rPr lang="zh-CN" altLang="zh-CN" dirty="0"/>
              <a:t>第一阶段不是为了把课听完，而是建立判断；第二阶段不是为了凑项目数量，而是形成真实证据；第三阶段不是为了包装经历，而是让真实能力被看见。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E4F73-6BEB-15BB-7622-E778F993E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525FCC-0D68-A903-8CBF-E471BA567F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F7CD09-A424-FE5B-7CDC-8767DA0A2A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B26553-D147-1477-215A-F0B5CA4490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65920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3FEB4-1CAE-96F0-EED5-B261D6FFD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1DB902-B970-ABDA-BD2B-5CE2B309CE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B710A4-97DB-8D8B-0BCB-36F9588E1E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87C569-6CA3-684A-786C-EA07ADEC33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20888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715FF-B0FC-F7E1-37BC-69E4BB610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5D292A-93CA-19E8-8D0B-3AD83483B5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1E51A6-272F-639C-CCAD-39EB4CB867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D8E1EC-CCF0-5293-535F-12557139C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67760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b="1" dirty="0"/>
              <a:t>页面核心观点</a:t>
            </a:r>
          </a:p>
          <a:p>
            <a:r>
              <a:rPr lang="zh-CN" altLang="zh-CN" dirty="0"/>
              <a:t>你懂不懂？你做没做？你讲得清吗？</a:t>
            </a:r>
          </a:p>
          <a:p>
            <a:r>
              <a:rPr lang="zh-CN" altLang="zh-CN" b="1" dirty="0"/>
              <a:t>建议讲法</a:t>
            </a:r>
          </a:p>
          <a:p>
            <a:r>
              <a:rPr lang="zh-CN" altLang="zh-CN" dirty="0"/>
              <a:t>最后，我们用三个问题总结课程设计。</a:t>
            </a:r>
          </a:p>
          <a:p>
            <a:r>
              <a:rPr lang="zh-CN" altLang="zh-CN" b="1" dirty="0"/>
              <a:t>第一个问题：你懂不懂</a:t>
            </a:r>
          </a:p>
          <a:p>
            <a:r>
              <a:rPr lang="zh-CN" altLang="zh-CN" dirty="0"/>
              <a:t>第一阶段回答：</a:t>
            </a:r>
          </a:p>
          <a:p>
            <a:r>
              <a:rPr lang="zh-CN" altLang="zh-CN" dirty="0"/>
              <a:t>你是否理解AI产品的基本概念；</a:t>
            </a:r>
          </a:p>
          <a:p>
            <a:r>
              <a:rPr lang="zh-CN" altLang="zh-CN" dirty="0"/>
              <a:t>是否知道不同方案的作用和边界；</a:t>
            </a:r>
          </a:p>
          <a:p>
            <a:r>
              <a:rPr lang="zh-CN" altLang="zh-CN" dirty="0"/>
              <a:t>是否能够从用户问题出发做产品判断；</a:t>
            </a:r>
          </a:p>
          <a:p>
            <a:r>
              <a:rPr lang="zh-CN" altLang="zh-CN" dirty="0"/>
              <a:t>是否知道怎样设计、测试和评估。</a:t>
            </a:r>
          </a:p>
          <a:p>
            <a:r>
              <a:rPr lang="zh-CN" altLang="zh-CN" dirty="0"/>
              <a:t>这里的“懂”不是会背定义，而是能够使用。</a:t>
            </a:r>
          </a:p>
          <a:p>
            <a:r>
              <a:rPr lang="zh-CN" altLang="zh-CN" b="1" dirty="0"/>
              <a:t>第二个问题：你做没做</a:t>
            </a:r>
          </a:p>
          <a:p>
            <a:r>
              <a:rPr lang="zh-CN" altLang="zh-CN" dirty="0"/>
              <a:t>第二阶段回答：</a:t>
            </a:r>
          </a:p>
          <a:p>
            <a:r>
              <a:rPr lang="zh-CN" altLang="zh-CN" dirty="0"/>
              <a:t>你是否真正进入过一个具体项目；</a:t>
            </a:r>
          </a:p>
          <a:p>
            <a:r>
              <a:rPr lang="zh-CN" altLang="zh-CN" dirty="0"/>
              <a:t>是否做过调研和流程分析；</a:t>
            </a:r>
          </a:p>
          <a:p>
            <a:r>
              <a:rPr lang="zh-CN" altLang="zh-CN" dirty="0"/>
              <a:t>是否制作过方案、原型或Demo；</a:t>
            </a:r>
          </a:p>
          <a:p>
            <a:r>
              <a:rPr lang="zh-CN" altLang="zh-CN" dirty="0"/>
              <a:t>是否遇到过错误和限制；</a:t>
            </a:r>
          </a:p>
          <a:p>
            <a:r>
              <a:rPr lang="zh-CN" altLang="zh-CN" dirty="0"/>
              <a:t>是否根据反馈修改过方案。</a:t>
            </a:r>
          </a:p>
          <a:p>
            <a:r>
              <a:rPr lang="zh-CN" altLang="zh-CN" dirty="0"/>
              <a:t>这里的“做”不等于一定正式上线，但必须有真实过程和可检查的产出。</a:t>
            </a:r>
          </a:p>
          <a:p>
            <a:r>
              <a:rPr lang="zh-CN" altLang="zh-CN" b="1" dirty="0"/>
              <a:t>第三个问题：你讲得清吗</a:t>
            </a:r>
          </a:p>
          <a:p>
            <a:r>
              <a:rPr lang="zh-CN" altLang="zh-CN" dirty="0"/>
              <a:t>第三阶段回答：</a:t>
            </a:r>
          </a:p>
          <a:p>
            <a:r>
              <a:rPr lang="zh-CN" altLang="zh-CN" dirty="0"/>
              <a:t>目标岗位能否看见你的能力；</a:t>
            </a:r>
          </a:p>
          <a:p>
            <a:r>
              <a:rPr lang="zh-CN" altLang="zh-CN" dirty="0"/>
              <a:t>简历是否有有效证据；</a:t>
            </a:r>
          </a:p>
          <a:p>
            <a:r>
              <a:rPr lang="zh-CN" altLang="zh-CN" dirty="0"/>
              <a:t>项目能否被清楚讲述；</a:t>
            </a:r>
          </a:p>
          <a:p>
            <a:r>
              <a:rPr lang="zh-CN" altLang="zh-CN" dirty="0"/>
              <a:t>面对追问能否解释决策；</a:t>
            </a:r>
          </a:p>
          <a:p>
            <a:r>
              <a:rPr lang="zh-CN" altLang="zh-CN" dirty="0"/>
              <a:t>能否诚实说明项目边界。</a:t>
            </a:r>
          </a:p>
          <a:p>
            <a:r>
              <a:rPr lang="zh-CN" altLang="zh-CN" b="1" dirty="0"/>
              <a:t>三个阶段缺少一个会怎样</a:t>
            </a:r>
          </a:p>
          <a:p>
            <a:r>
              <a:rPr lang="zh-CN" altLang="zh-CN" dirty="0"/>
              <a:t>只有第一阶段：</a:t>
            </a:r>
          </a:p>
          <a:p>
            <a:r>
              <a:rPr lang="zh-CN" altLang="zh-CN" dirty="0"/>
              <a:t>懂了一些知识，但没有项目证据。</a:t>
            </a:r>
          </a:p>
          <a:p>
            <a:r>
              <a:rPr lang="zh-CN" altLang="zh-CN" dirty="0"/>
              <a:t>只有第二阶段：</a:t>
            </a:r>
          </a:p>
          <a:p>
            <a:r>
              <a:rPr lang="zh-CN" altLang="zh-CN" dirty="0"/>
              <a:t>做出了项目，但方法可能不完整，也不一定能讲清楚。</a:t>
            </a:r>
          </a:p>
          <a:p>
            <a:r>
              <a:rPr lang="zh-CN" altLang="zh-CN" dirty="0"/>
              <a:t>只有第三阶段：</a:t>
            </a:r>
          </a:p>
          <a:p>
            <a:r>
              <a:rPr lang="zh-CN" altLang="zh-CN" dirty="0"/>
              <a:t>只学习表达和面试技巧，但没有足够真实内容支撑。</a:t>
            </a:r>
          </a:p>
          <a:p>
            <a:r>
              <a:rPr lang="zh-CN" altLang="zh-CN" dirty="0"/>
              <a:t>因此三个阶段的关系是：</a:t>
            </a: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第一阶段让你形成判断</a:t>
            </a: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 第二阶段让你积累证据</a:t>
            </a: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 第三阶段让证据被目标市场理解</a:t>
            </a:r>
          </a:p>
          <a:p>
            <a:r>
              <a:rPr lang="zh-CN" altLang="zh-CN" b="1" dirty="0"/>
              <a:t>课堂互动</a:t>
            </a:r>
          </a:p>
          <a:p>
            <a:r>
              <a:rPr lang="zh-CN" altLang="zh-CN" dirty="0"/>
              <a:t>可以让学员给自己做一个简单诊断。</a:t>
            </a:r>
          </a:p>
          <a:p>
            <a:r>
              <a:rPr lang="zh-CN" altLang="zh-CN" dirty="0"/>
              <a:t>请分别给下面三项打1—5分：</a:t>
            </a:r>
          </a:p>
          <a:p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能力自评分</a:t>
            </a:r>
            <a:endParaRPr lang="zh-CN" altLang="zh-CN" dirty="0">
              <a:effectLst/>
            </a:endParaRP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我对AI产品有体系化理解1—5分</a:t>
            </a:r>
            <a:endParaRPr lang="zh-CN" altLang="zh-CN" dirty="0">
              <a:effectLst/>
            </a:endParaRP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我拥有可以深入讲述的AI项目1—5分</a:t>
            </a:r>
            <a:endParaRPr lang="zh-CN" altLang="zh-CN" dirty="0">
              <a:effectLst/>
            </a:endParaRP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我能通过简历和面试证明自己的能力1—5分</a:t>
            </a:r>
            <a:endParaRPr lang="zh-CN" altLang="zh-CN" dirty="0">
              <a:effectLst/>
            </a:endParaRPr>
          </a:p>
          <a:p>
            <a:r>
              <a:rPr lang="zh-CN" altLang="zh-CN" dirty="0"/>
              <a:t>然后问：</a:t>
            </a:r>
          </a:p>
          <a:p>
            <a:r>
              <a:rPr lang="zh-CN" altLang="zh-CN" dirty="0"/>
              <a:t>你当前最低的一项是什么？</a:t>
            </a:r>
          </a:p>
          <a:p>
            <a:r>
              <a:rPr lang="zh-CN" altLang="zh-CN" dirty="0"/>
              <a:t>不需要现场解决每个人的问题。这个问题的目的是让学员知道自己处于哪一个阶段。</a:t>
            </a:r>
          </a:p>
          <a:p>
            <a:r>
              <a:rPr lang="zh-CN" altLang="zh-CN" b="1" dirty="0"/>
              <a:t>关于分阶段购买的建议讲法</a:t>
            </a:r>
          </a:p>
          <a:p>
            <a:r>
              <a:rPr lang="zh-CN" altLang="zh-CN" dirty="0"/>
              <a:t>三个阶段可以分别学习和购买，是因为它们分别解决不同问题。</a:t>
            </a:r>
          </a:p>
          <a:p>
            <a:r>
              <a:rPr lang="zh-CN" altLang="zh-CN" dirty="0"/>
              <a:t>但分阶段不代表彼此完全独立。</a:t>
            </a:r>
          </a:p>
          <a:p>
            <a:r>
              <a:rPr lang="zh-CN" altLang="zh-CN" dirty="0"/>
              <a:t>例如，一个已经具备AI产品基础、也有真实项目的人，可能更需要第三阶段；一个对AI概念还很混乱的人，如果直接进入求职表达，项目很容易经不起追问。</a:t>
            </a:r>
          </a:p>
          <a:p>
            <a:r>
              <a:rPr lang="zh-CN" altLang="zh-CN" dirty="0"/>
              <a:t>所以是否进入下一阶段，不应该只看是否“听完了课”，还要看是否形成了上一阶段所需要的成果。</a:t>
            </a:r>
          </a:p>
          <a:p>
            <a:r>
              <a:rPr lang="zh-CN" altLang="zh-CN" b="1" dirty="0"/>
              <a:t>本页收口</a:t>
            </a:r>
          </a:p>
          <a:p>
            <a:r>
              <a:rPr lang="zh-CN" altLang="zh-CN" dirty="0"/>
              <a:t>第一阶段不是为了把课听完，而是建立判断；第二阶段不是为了凑项目数量，而是形成真实证据；第三阶段不是为了包装经历，而是让真实能力被看见。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EC9A2-3CD3-7302-E415-780F8607A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8349AB-0874-840D-309A-9B8862F411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C63749-5D19-E9FD-1D01-CD0EDB7A5A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b="1" dirty="0"/>
              <a:t>本页核心观点</a:t>
            </a:r>
          </a:p>
          <a:p>
            <a:r>
              <a:rPr lang="zh-CN" altLang="zh-CN" dirty="0"/>
              <a:t>AI正在扩大人的认知、内容生成和复杂任务自动化能力，可能成为影响多个行业的通用技术。</a:t>
            </a:r>
          </a:p>
          <a:p>
            <a:r>
              <a:rPr lang="zh-CN" altLang="zh-CN" b="1" dirty="0"/>
              <a:t>需要注意的表达边界</a:t>
            </a:r>
          </a:p>
          <a:p>
            <a:r>
              <a:rPr lang="zh-CN" altLang="zh-CN" dirty="0"/>
              <a:t>“AI是第四次工业革命”是一种用于课程讲解的概括性表达，不是所有学者都完全一致认可的严格历史结论。</a:t>
            </a:r>
          </a:p>
          <a:p>
            <a:r>
              <a:rPr lang="zh-CN" altLang="zh-CN" dirty="0"/>
              <a:t>更准确的说法是：</a:t>
            </a:r>
          </a:p>
          <a:p>
            <a:r>
              <a:rPr lang="zh-CN" altLang="zh-CN" dirty="0"/>
              <a:t>AI正在成为新一轮产业和生产方式变化的重要推动力量，很多人把这种变化放在“第四次工业革命”的框架下理解。</a:t>
            </a:r>
          </a:p>
          <a:p>
            <a:r>
              <a:rPr lang="zh-CN" altLang="zh-CN" dirty="0"/>
              <a:t>这样既能表达AI的重要性，也不会把存在讨论的观点讲成毫无争议的事实。</a:t>
            </a:r>
          </a:p>
          <a:p>
            <a:r>
              <a:rPr lang="zh-CN" altLang="zh-CN" b="1" dirty="0"/>
              <a:t>建议讲法</a:t>
            </a:r>
          </a:p>
          <a:p>
            <a:r>
              <a:rPr lang="zh-CN" altLang="zh-CN" dirty="0"/>
              <a:t>为了理解AI为什么重要，我们可以先回顾过去几次重要的技术变化。</a:t>
            </a:r>
          </a:p>
          <a:p>
            <a:r>
              <a:rPr lang="zh-CN" altLang="zh-CN" b="1" dirty="0"/>
              <a:t>第一次工业革命：机械化扩大人的体力</a:t>
            </a:r>
          </a:p>
          <a:p>
            <a:r>
              <a:rPr lang="zh-CN" altLang="zh-CN" dirty="0"/>
              <a:t>第一次工业革命通常与蒸汽机和机械化生产联系在一起。</a:t>
            </a:r>
          </a:p>
          <a:p>
            <a:r>
              <a:rPr lang="zh-CN" altLang="zh-CN" dirty="0"/>
              <a:t>在此之前，大量生产依赖人的体力、牲畜和自然条件。蒸汽机和机械设备出现以后，人可以借助机器完成更大规模的生产。</a:t>
            </a:r>
          </a:p>
          <a:p>
            <a:r>
              <a:rPr lang="zh-CN" altLang="zh-CN" dirty="0"/>
              <a:t>它带来的核心变化可以概括为：</a:t>
            </a:r>
          </a:p>
          <a:p>
            <a:r>
              <a:rPr lang="zh-CN" altLang="zh-CN" dirty="0"/>
              <a:t>机器开始大规模替代和扩大人的体力。</a:t>
            </a:r>
          </a:p>
          <a:p>
            <a:r>
              <a:rPr lang="zh-CN" altLang="zh-CN" dirty="0"/>
              <a:t>例如，过去需要很多人完成的纺织、运输和生产工作，可以通过机械设备更快完成。</a:t>
            </a:r>
          </a:p>
          <a:p>
            <a:r>
              <a:rPr lang="zh-CN" altLang="zh-CN" b="1" dirty="0"/>
              <a:t>第二次工业革命：电气化推动规模化生产</a:t>
            </a:r>
          </a:p>
          <a:p>
            <a:r>
              <a:rPr lang="zh-CN" altLang="zh-CN" dirty="0"/>
              <a:t>第二次工业革命通常与电力、流水线、大规模制造等变化联系在一起。</a:t>
            </a:r>
          </a:p>
          <a:p>
            <a:r>
              <a:rPr lang="zh-CN" altLang="zh-CN" dirty="0"/>
              <a:t>电力相比蒸汽动力更加灵活，可以支持工厂中的不同设备，也推动了照明、通信、交通和制造业发展。</a:t>
            </a:r>
          </a:p>
          <a:p>
            <a:r>
              <a:rPr lang="zh-CN" altLang="zh-CN" dirty="0"/>
              <a:t>它带来的核心变化是：</a:t>
            </a:r>
          </a:p>
          <a:p>
            <a:r>
              <a:rPr lang="zh-CN" altLang="zh-CN" dirty="0"/>
              <a:t>能源可以更加灵活地分配，生产开始走向标准化和规模化。</a:t>
            </a:r>
          </a:p>
          <a:p>
            <a:r>
              <a:rPr lang="zh-CN" altLang="zh-CN" dirty="0"/>
              <a:t>例如，一条流水线可以把复杂产品拆成多个标准步骤，让更多人协同完成大规模生产。</a:t>
            </a:r>
          </a:p>
          <a:p>
            <a:r>
              <a:rPr lang="zh-CN" altLang="zh-CN" b="1" dirty="0"/>
              <a:t>第三次工业革命：计算机和互联网扩大信息处理能力</a:t>
            </a:r>
          </a:p>
          <a:p>
            <a:r>
              <a:rPr lang="zh-CN" altLang="zh-CN" dirty="0"/>
              <a:t>计算机帮助人们更快地存储、计算和处理信息；互联网帮助人们跨越时间和空间连接信息与服务。</a:t>
            </a:r>
          </a:p>
          <a:p>
            <a:r>
              <a:rPr lang="zh-CN" altLang="zh-CN" dirty="0"/>
              <a:t>它带来的核心变化是：</a:t>
            </a:r>
          </a:p>
          <a:p>
            <a:r>
              <a:rPr lang="zh-CN" altLang="zh-CN" dirty="0"/>
              <a:t>信息可以被数字化、快速处理和大规模传播。</a:t>
            </a:r>
          </a:p>
          <a:p>
            <a:r>
              <a:rPr lang="zh-CN" altLang="zh-CN" dirty="0"/>
              <a:t>例如：</a:t>
            </a:r>
          </a:p>
          <a:p>
            <a:r>
              <a:rPr lang="zh-CN" altLang="zh-CN" dirty="0"/>
              <a:t>银行交易从纸质记录走向电子系统；</a:t>
            </a:r>
          </a:p>
          <a:p>
            <a:r>
              <a:rPr lang="zh-CN" altLang="zh-CN" dirty="0"/>
              <a:t>商品交易从线下门店扩展到电子商务；</a:t>
            </a:r>
          </a:p>
          <a:p>
            <a:r>
              <a:rPr lang="zh-CN" altLang="zh-CN" dirty="0"/>
              <a:t>人与人之间的沟通从信件和电话扩展到即时通信；</a:t>
            </a:r>
          </a:p>
          <a:p>
            <a:r>
              <a:rPr lang="zh-CN" altLang="zh-CN" dirty="0"/>
              <a:t>企业管理从纸质表格走向软件系统。</a:t>
            </a:r>
          </a:p>
          <a:p>
            <a:r>
              <a:rPr lang="zh-CN" altLang="zh-CN" b="1" dirty="0"/>
              <a:t>新一轮变化：AI扩大认知和任务自动化能力</a:t>
            </a:r>
          </a:p>
          <a:p>
            <a:r>
              <a:rPr lang="zh-CN" altLang="zh-CN" dirty="0"/>
              <a:t>过去的软件通常要求人提前定义清楚规则。</a:t>
            </a:r>
          </a:p>
          <a:p>
            <a:r>
              <a:rPr lang="zh-CN" altLang="zh-CN" dirty="0"/>
              <a:t>例如：</a:t>
            </a:r>
          </a:p>
          <a:p>
            <a:r>
              <a:rPr lang="zh-CN" altLang="zh-CN" dirty="0"/>
              <a:t>用户点击哪个按钮；</a:t>
            </a:r>
          </a:p>
          <a:p>
            <a:r>
              <a:rPr lang="zh-CN" altLang="zh-CN" dirty="0"/>
              <a:t>系统执行哪个流程；</a:t>
            </a:r>
          </a:p>
          <a:p>
            <a:r>
              <a:rPr lang="zh-CN" altLang="zh-CN" dirty="0"/>
              <a:t>满足什么条件；</a:t>
            </a:r>
          </a:p>
          <a:p>
            <a:r>
              <a:rPr lang="zh-CN" altLang="zh-CN" dirty="0"/>
              <a:t>返回什么固定结果。</a:t>
            </a:r>
          </a:p>
          <a:p>
            <a:r>
              <a:rPr lang="zh-CN" altLang="zh-CN" dirty="0"/>
              <a:t>而AI开始能够处理过去难以完全写成规则的任务，例如：</a:t>
            </a:r>
          </a:p>
          <a:p>
            <a:r>
              <a:rPr lang="zh-CN" altLang="zh-CN" dirty="0"/>
              <a:t>理解一段自然语言；</a:t>
            </a:r>
          </a:p>
          <a:p>
            <a:r>
              <a:rPr lang="zh-CN" altLang="zh-CN" dirty="0"/>
              <a:t>判断一张图片包含什么；</a:t>
            </a:r>
          </a:p>
          <a:p>
            <a:r>
              <a:rPr lang="zh-CN" altLang="zh-CN" dirty="0"/>
              <a:t>总结一段复杂对话；</a:t>
            </a:r>
          </a:p>
          <a:p>
            <a:r>
              <a:rPr lang="zh-CN" altLang="zh-CN" dirty="0"/>
              <a:t>生成文字、图片和代码；</a:t>
            </a:r>
          </a:p>
          <a:p>
            <a:r>
              <a:rPr lang="zh-CN" altLang="zh-CN" dirty="0"/>
              <a:t>根据目标规划多个步骤；</a:t>
            </a:r>
          </a:p>
          <a:p>
            <a:r>
              <a:rPr lang="zh-CN" altLang="zh-CN" dirty="0"/>
              <a:t>调用外部工具完成任务。</a:t>
            </a:r>
          </a:p>
          <a:p>
            <a:r>
              <a:rPr lang="zh-CN" altLang="zh-CN" dirty="0"/>
              <a:t>因此，AI可能带来的核心变化可以概括为：</a:t>
            </a:r>
          </a:p>
          <a:p>
            <a:r>
              <a:rPr lang="zh-CN" altLang="zh-CN" dirty="0"/>
              <a:t>机器不仅帮助人处理体力和信息，还开始帮助人完成部分理解、判断、生成和执行任务。</a:t>
            </a:r>
          </a:p>
          <a:p>
            <a:r>
              <a:rPr lang="zh-CN" altLang="zh-CN" b="1" dirty="0"/>
              <a:t>不建议使用的说法</a:t>
            </a:r>
          </a:p>
          <a:p>
            <a:r>
              <a:rPr lang="zh-CN" altLang="zh-CN" dirty="0"/>
              <a:t>不建议直接说：</a:t>
            </a:r>
          </a:p>
          <a:p>
            <a:r>
              <a:rPr lang="zh-CN" altLang="zh-CN" dirty="0"/>
              <a:t>第一次工业革命替代人的体力，第四次工业革命将替代人的大脑。</a:t>
            </a:r>
          </a:p>
          <a:p>
            <a:r>
              <a:rPr lang="zh-CN" altLang="zh-CN" dirty="0"/>
              <a:t>原因是这种表达过于绝对。</a:t>
            </a:r>
          </a:p>
          <a:p>
            <a:r>
              <a:rPr lang="zh-CN" altLang="zh-CN" dirty="0"/>
              <a:t>AI目前擅长的是部分认知任务，并不等于具备完整的人类理解、责任判断、价值判断和社会协作能力。</a:t>
            </a:r>
          </a:p>
          <a:p>
            <a:r>
              <a:rPr lang="zh-CN" altLang="zh-CN" dirty="0"/>
              <a:t>更稳妥的表达是：</a:t>
            </a:r>
          </a:p>
          <a:p>
            <a:r>
              <a:rPr lang="zh-CN" altLang="zh-CN" dirty="0"/>
              <a:t>AI正在扩大人的认知能力，并自动化一部分可以被描述、被评估的复杂任务。</a:t>
            </a:r>
          </a:p>
          <a:p>
            <a:r>
              <a:rPr lang="zh-CN" altLang="zh-CN" b="1" dirty="0"/>
              <a:t>可使用的现实例子</a:t>
            </a:r>
          </a:p>
          <a:p>
            <a:r>
              <a:rPr lang="zh-CN" altLang="zh-CN" dirty="0"/>
              <a:t>过去，产品经理整理100份用户反馈，可能需要逐条阅读、分类和总结。</a:t>
            </a:r>
          </a:p>
          <a:p>
            <a:r>
              <a:rPr lang="zh-CN" altLang="zh-CN" dirty="0"/>
              <a:t>现在，AI可以帮助：</a:t>
            </a:r>
          </a:p>
          <a:p>
            <a:r>
              <a:rPr lang="zh-CN" altLang="zh-CN" dirty="0"/>
              <a:t>对反馈进行初步分类；</a:t>
            </a:r>
          </a:p>
          <a:p>
            <a:r>
              <a:rPr lang="zh-CN" altLang="zh-CN" dirty="0"/>
              <a:t>提取高频问题；</a:t>
            </a:r>
          </a:p>
          <a:p>
            <a:r>
              <a:rPr lang="zh-CN" altLang="zh-CN" dirty="0"/>
              <a:t>总结用户情绪；</a:t>
            </a:r>
          </a:p>
          <a:p>
            <a:r>
              <a:rPr lang="zh-CN" altLang="zh-CN" dirty="0"/>
              <a:t>找出代表性原文；</a:t>
            </a:r>
          </a:p>
          <a:p>
            <a:r>
              <a:rPr lang="zh-CN" altLang="zh-CN" dirty="0"/>
              <a:t>生成分析初稿。</a:t>
            </a:r>
          </a:p>
          <a:p>
            <a:r>
              <a:rPr lang="zh-CN" altLang="zh-CN" dirty="0"/>
              <a:t>但产品经理仍然需要判断：</a:t>
            </a:r>
          </a:p>
          <a:p>
            <a:r>
              <a:rPr lang="zh-CN" altLang="zh-CN" dirty="0"/>
              <a:t>分类标准是否合理；</a:t>
            </a:r>
          </a:p>
          <a:p>
            <a:r>
              <a:rPr lang="zh-CN" altLang="zh-CN" dirty="0"/>
              <a:t>AI有没有遗漏重要的少数意见；</a:t>
            </a:r>
          </a:p>
          <a:p>
            <a:r>
              <a:rPr lang="zh-CN" altLang="zh-CN" dirty="0"/>
              <a:t>结论是否能代表真实用户；</a:t>
            </a:r>
          </a:p>
          <a:p>
            <a:r>
              <a:rPr lang="zh-CN" altLang="zh-CN" dirty="0"/>
              <a:t>哪些问题值得进入产品规划。</a:t>
            </a:r>
          </a:p>
          <a:p>
            <a:r>
              <a:rPr lang="zh-CN" altLang="zh-CN" dirty="0"/>
              <a:t>这说明AI更多是在扩大人的能力，而不是简单地“把人替换掉”。</a:t>
            </a:r>
          </a:p>
          <a:p>
            <a:r>
              <a:rPr lang="zh-CN" altLang="zh-CN" b="1" dirty="0"/>
              <a:t>课堂提问</a:t>
            </a:r>
          </a:p>
          <a:p>
            <a:r>
              <a:rPr lang="zh-CN" altLang="zh-CN" dirty="0"/>
              <a:t>可以问学员：</a:t>
            </a:r>
          </a:p>
          <a:p>
            <a:r>
              <a:rPr lang="zh-CN" altLang="zh-CN" dirty="0"/>
              <a:t>如果蒸汽机扩大的是人的体力，计算机和互联网扩大的是信息处理能力，那么你认为AI正在扩大人的什么能力？</a:t>
            </a:r>
          </a:p>
          <a:p>
            <a:r>
              <a:rPr lang="zh-CN" altLang="zh-CN" dirty="0"/>
              <a:t>可以接受不同答案，例如：</a:t>
            </a:r>
          </a:p>
          <a:p>
            <a:r>
              <a:rPr lang="zh-CN" altLang="zh-CN" dirty="0"/>
              <a:t>理解；</a:t>
            </a:r>
          </a:p>
          <a:p>
            <a:r>
              <a:rPr lang="zh-CN" altLang="zh-CN" dirty="0"/>
              <a:t>生成；</a:t>
            </a:r>
          </a:p>
          <a:p>
            <a:r>
              <a:rPr lang="zh-CN" altLang="zh-CN" dirty="0"/>
              <a:t>分析；</a:t>
            </a:r>
          </a:p>
          <a:p>
            <a:r>
              <a:rPr lang="zh-CN" altLang="zh-CN" dirty="0"/>
              <a:t>判断；</a:t>
            </a:r>
          </a:p>
          <a:p>
            <a:r>
              <a:rPr lang="zh-CN" altLang="zh-CN" dirty="0"/>
              <a:t>执行复杂任务。</a:t>
            </a:r>
          </a:p>
          <a:p>
            <a:r>
              <a:rPr lang="zh-CN" altLang="zh-CN" dirty="0"/>
              <a:t>最后由老师收口：</a:t>
            </a:r>
          </a:p>
          <a:p>
            <a:r>
              <a:rPr lang="zh-CN" altLang="zh-CN" dirty="0"/>
              <a:t>AI正在扩大人的部分认知和任务执行能力。</a:t>
            </a:r>
          </a:p>
          <a:p>
            <a:r>
              <a:rPr lang="zh-CN" altLang="zh-CN" b="1" dirty="0"/>
              <a:t>本页收口</a:t>
            </a:r>
          </a:p>
          <a:p>
            <a:r>
              <a:rPr lang="zh-CN" altLang="zh-CN" dirty="0"/>
              <a:t>AI的重要性不只是多了几个聊天工具，而是机器开始能够参与过去主要依赖人类理解、生成和判断的工作流程。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3E15A8-DC9E-AE63-4FC0-0E22EE844B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1104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99EB1-2320-C0C6-9EBD-EF42912AF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9A5750-8262-5819-4EFE-D6D25F7FDE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07EFD1-7CF6-E8D2-195A-97EACA1580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b="1" dirty="0"/>
              <a:t>本页核心观点</a:t>
            </a:r>
          </a:p>
          <a:p>
            <a:r>
              <a:rPr lang="zh-CN" altLang="zh-CN" dirty="0"/>
              <a:t>AI是一个很大的目标范围：让机器具备感知、理解、推理、决策和行动等能力。</a:t>
            </a:r>
          </a:p>
          <a:p>
            <a:r>
              <a:rPr lang="zh-CN" altLang="zh-CN" b="1" dirty="0"/>
              <a:t>建议讲法</a:t>
            </a:r>
          </a:p>
          <a:p>
            <a:r>
              <a:rPr lang="zh-CN" altLang="zh-CN" dirty="0"/>
              <a:t>AI是Artificial Intelligence的缩写，中文通常翻译为人工智能。</a:t>
            </a:r>
          </a:p>
          <a:p>
            <a:r>
              <a:rPr lang="zh-CN" altLang="zh-CN" dirty="0"/>
              <a:t>对于初学者，我们不需要一开始就背复杂的学术定义，可以先把AI理解为：</a:t>
            </a:r>
          </a:p>
          <a:p>
            <a:r>
              <a:rPr lang="zh-CN" altLang="zh-CN" dirty="0"/>
              <a:t>让机器表现出某些过去通常需要人类智能才能完成的能力。</a:t>
            </a:r>
          </a:p>
          <a:p>
            <a:r>
              <a:rPr lang="zh-CN" altLang="zh-CN" dirty="0"/>
              <a:t>PPT里列出了五类能力。</a:t>
            </a:r>
          </a:p>
          <a:p>
            <a:r>
              <a:rPr lang="zh-CN" altLang="zh-CN" b="1" dirty="0"/>
              <a:t>感知</a:t>
            </a:r>
          </a:p>
          <a:p>
            <a:r>
              <a:rPr lang="zh-CN" altLang="zh-CN" dirty="0"/>
              <a:t>感知是指机器接收和识别外部信息。</a:t>
            </a:r>
          </a:p>
          <a:p>
            <a:r>
              <a:rPr lang="zh-CN" altLang="zh-CN" dirty="0"/>
              <a:t>例如：</a:t>
            </a:r>
          </a:p>
          <a:p>
            <a:r>
              <a:rPr lang="zh-CN" altLang="zh-CN" dirty="0"/>
              <a:t>识别图片中的人、车辆和商品；</a:t>
            </a:r>
          </a:p>
          <a:p>
            <a:r>
              <a:rPr lang="zh-CN" altLang="zh-CN" dirty="0"/>
              <a:t>把用户的语音转换成文字；</a:t>
            </a:r>
          </a:p>
          <a:p>
            <a:r>
              <a:rPr lang="zh-CN" altLang="zh-CN" dirty="0"/>
              <a:t>识别视频中的动作；</a:t>
            </a:r>
          </a:p>
          <a:p>
            <a:r>
              <a:rPr lang="zh-CN" altLang="zh-CN" dirty="0"/>
              <a:t>判断设备传感器是否出现异常。</a:t>
            </a:r>
          </a:p>
          <a:p>
            <a:r>
              <a:rPr lang="zh-CN" altLang="zh-CN" dirty="0"/>
              <a:t>无人车识别道路、红绿灯和行人，首先使用的就是感知能力。</a:t>
            </a:r>
          </a:p>
          <a:p>
            <a:r>
              <a:rPr lang="zh-CN" altLang="zh-CN" b="1" dirty="0"/>
              <a:t>理解</a:t>
            </a:r>
          </a:p>
          <a:p>
            <a:r>
              <a:rPr lang="zh-CN" altLang="zh-CN" dirty="0"/>
              <a:t>理解是指机器不仅接收到信息，还能够判断信息表达的内容和意图。</a:t>
            </a:r>
          </a:p>
          <a:p>
            <a:r>
              <a:rPr lang="zh-CN" altLang="zh-CN" dirty="0"/>
              <a:t>例如：</a:t>
            </a:r>
          </a:p>
          <a:p>
            <a:r>
              <a:rPr lang="zh-CN" altLang="zh-CN" dirty="0"/>
              <a:t>判断用户是在咨询退款，还是投诉服务；</a:t>
            </a:r>
          </a:p>
          <a:p>
            <a:r>
              <a:rPr lang="zh-CN" altLang="zh-CN" dirty="0"/>
              <a:t>从销售对话中提取客户的核心诉求；</a:t>
            </a:r>
          </a:p>
          <a:p>
            <a:r>
              <a:rPr lang="zh-CN" altLang="zh-CN" dirty="0"/>
              <a:t>理解一段合同在讨论什么问题；</a:t>
            </a:r>
          </a:p>
          <a:p>
            <a:r>
              <a:rPr lang="zh-CN" altLang="zh-CN" dirty="0"/>
              <a:t>判断用户说的“还可以”是真正满意，还是态度保留。</a:t>
            </a:r>
          </a:p>
          <a:p>
            <a:r>
              <a:rPr lang="zh-CN" altLang="zh-CN" dirty="0"/>
              <a:t>需要注意，模型表现得像理解，不代表它具备和人完全相同的理解过程。对于产品经理来说，更重要的是评估它在具体任务中的输出是否可靠。</a:t>
            </a:r>
          </a:p>
          <a:p>
            <a:r>
              <a:rPr lang="zh-CN" altLang="zh-CN" b="1" dirty="0"/>
              <a:t>推理</a:t>
            </a:r>
          </a:p>
          <a:p>
            <a:r>
              <a:rPr lang="zh-CN" altLang="zh-CN" dirty="0"/>
              <a:t>推理是指机器根据已有信息进行分析，形成新的判断或结论。</a:t>
            </a:r>
          </a:p>
          <a:p>
            <a:r>
              <a:rPr lang="zh-CN" altLang="zh-CN" dirty="0"/>
              <a:t>例如：</a:t>
            </a:r>
          </a:p>
          <a:p>
            <a:r>
              <a:rPr lang="zh-CN" altLang="zh-CN" dirty="0"/>
              <a:t>根据多个条件分析一个项目风险；</a:t>
            </a:r>
          </a:p>
          <a:p>
            <a:r>
              <a:rPr lang="zh-CN" altLang="zh-CN" dirty="0"/>
              <a:t>比较不同产品方案的优缺点；</a:t>
            </a:r>
          </a:p>
          <a:p>
            <a:r>
              <a:rPr lang="zh-CN" altLang="zh-CN" dirty="0"/>
              <a:t>根据问题拆解出多个处理步骤；</a:t>
            </a:r>
          </a:p>
          <a:p>
            <a:r>
              <a:rPr lang="zh-CN" altLang="zh-CN" dirty="0"/>
              <a:t>从一组现象中推测可能原因。</a:t>
            </a:r>
          </a:p>
          <a:p>
            <a:r>
              <a:rPr lang="zh-CN" altLang="zh-CN" dirty="0"/>
              <a:t>推理不等于一定正确。AI可能因为信息不完整、理解错误或生成幻觉，得到看起来合理但实际上错误的结论。</a:t>
            </a:r>
          </a:p>
          <a:p>
            <a:r>
              <a:rPr lang="zh-CN" altLang="zh-CN" b="1" dirty="0"/>
              <a:t>决策</a:t>
            </a:r>
          </a:p>
          <a:p>
            <a:r>
              <a:rPr lang="zh-CN" altLang="zh-CN" dirty="0"/>
              <a:t>决策是指机器根据目标和条件，选择一个结果或行动方案。</a:t>
            </a:r>
          </a:p>
          <a:p>
            <a:r>
              <a:rPr lang="zh-CN" altLang="zh-CN" dirty="0"/>
              <a:t>例如：</a:t>
            </a:r>
          </a:p>
          <a:p>
            <a:r>
              <a:rPr lang="zh-CN" altLang="zh-CN" dirty="0"/>
              <a:t>推荐系统决定向用户展示什么内容；</a:t>
            </a:r>
          </a:p>
          <a:p>
            <a:r>
              <a:rPr lang="zh-CN" altLang="zh-CN" dirty="0"/>
              <a:t>风控系统决定一笔交易是否需要额外验证；</a:t>
            </a:r>
          </a:p>
          <a:p>
            <a:r>
              <a:rPr lang="zh-CN" altLang="zh-CN" dirty="0"/>
              <a:t>广告系统决定展示哪一条广告；</a:t>
            </a:r>
          </a:p>
          <a:p>
            <a:r>
              <a:rPr lang="zh-CN" altLang="zh-CN" dirty="0"/>
              <a:t>客服系统决定一个问题是否转给人工。</a:t>
            </a:r>
          </a:p>
          <a:p>
            <a:r>
              <a:rPr lang="zh-CN" altLang="zh-CN" dirty="0"/>
              <a:t>产品经理需要关注：这个决策由AI自动执行，还是只给人提供建议？</a:t>
            </a:r>
          </a:p>
          <a:p>
            <a:r>
              <a:rPr lang="zh-CN" altLang="zh-CN" b="1" dirty="0"/>
              <a:t>行动</a:t>
            </a:r>
          </a:p>
          <a:p>
            <a:r>
              <a:rPr lang="zh-CN" altLang="zh-CN" dirty="0"/>
              <a:t>行动是指AI不只给出一段文字，还能够通过工具或系统完成具体操作。</a:t>
            </a:r>
          </a:p>
          <a:p>
            <a:r>
              <a:rPr lang="zh-CN" altLang="zh-CN" dirty="0"/>
              <a:t>例如：</a:t>
            </a:r>
          </a:p>
          <a:p>
            <a:r>
              <a:rPr lang="zh-CN" altLang="zh-CN" dirty="0"/>
              <a:t>在日历中创建会议；</a:t>
            </a:r>
          </a:p>
          <a:p>
            <a:r>
              <a:rPr lang="zh-CN" altLang="zh-CN" dirty="0"/>
              <a:t>查询数据库；</a:t>
            </a:r>
          </a:p>
          <a:p>
            <a:r>
              <a:rPr lang="zh-CN" altLang="zh-CN" dirty="0"/>
              <a:t>生成并发送一封邮件；</a:t>
            </a:r>
          </a:p>
          <a:p>
            <a:r>
              <a:rPr lang="zh-CN" altLang="zh-CN" dirty="0"/>
              <a:t>在CRM中创建一条待办；</a:t>
            </a:r>
          </a:p>
          <a:p>
            <a:r>
              <a:rPr lang="zh-CN" altLang="zh-CN" dirty="0"/>
              <a:t>调用多个系统完成一个业务流程。</a:t>
            </a:r>
          </a:p>
          <a:p>
            <a:r>
              <a:rPr lang="zh-CN" altLang="zh-CN" dirty="0"/>
              <a:t>行动能力越强，潜在价值越大，但风险也越高。</a:t>
            </a:r>
          </a:p>
          <a:p>
            <a:r>
              <a:rPr lang="zh-CN" altLang="zh-CN" dirty="0"/>
              <a:t>如果AI只是生成一段摘要，用户可以先检查；如果AI直接发送邮件、修改价格或者删除数据，错误可能产生真实影响，因此必须设计权限、确认和撤销机制。</a:t>
            </a:r>
          </a:p>
          <a:p>
            <a:r>
              <a:rPr lang="zh-CN" altLang="zh-CN" b="1" dirty="0"/>
              <a:t>PPT中的例子怎么解释</a:t>
            </a:r>
          </a:p>
          <a:p>
            <a:r>
              <a:rPr lang="zh-CN" altLang="zh-CN" b="1" dirty="0"/>
              <a:t>推荐系统判断用户喜欢什么</a:t>
            </a:r>
          </a:p>
          <a:p>
            <a:r>
              <a:rPr lang="zh-CN" altLang="zh-CN" dirty="0"/>
              <a:t>推荐系统根据用户历史行为、内容特征和其他信息，预测用户可能感兴趣的内容。</a:t>
            </a:r>
          </a:p>
          <a:p>
            <a:r>
              <a:rPr lang="zh-CN" altLang="zh-CN" dirty="0"/>
              <a:t>它属于AI，但不属于典型的AIGC，因为它主要在判断和排序，而不是生成新的内容。</a:t>
            </a:r>
          </a:p>
          <a:p>
            <a:r>
              <a:rPr lang="zh-CN" altLang="zh-CN" b="1" dirty="0"/>
              <a:t>地图预测到达时间</a:t>
            </a:r>
          </a:p>
          <a:p>
            <a:r>
              <a:rPr lang="zh-CN" altLang="zh-CN" dirty="0"/>
              <a:t>地图根据道路距离、实时交通、历史速度等数据，预测用户什么时候到达。</a:t>
            </a:r>
          </a:p>
          <a:p>
            <a:r>
              <a:rPr lang="zh-CN" altLang="zh-CN" dirty="0"/>
              <a:t>这是一类预测问题。</a:t>
            </a:r>
          </a:p>
          <a:p>
            <a:r>
              <a:rPr lang="zh-CN" altLang="zh-CN" b="1" dirty="0"/>
              <a:t>风控系统识别异常交易</a:t>
            </a:r>
          </a:p>
          <a:p>
            <a:r>
              <a:rPr lang="zh-CN" altLang="zh-CN" dirty="0"/>
              <a:t>系统根据交易金额、地点、设备、频率和历史行为，判断交易是否可能存在风险。</a:t>
            </a:r>
          </a:p>
          <a:p>
            <a:r>
              <a:rPr lang="zh-CN" altLang="zh-CN" dirty="0"/>
              <a:t>它是一类识别和分类问题。</a:t>
            </a:r>
          </a:p>
          <a:p>
            <a:r>
              <a:rPr lang="zh-CN" altLang="zh-CN" b="1" dirty="0"/>
              <a:t>ChatGPT回答问题</a:t>
            </a:r>
          </a:p>
          <a:p>
            <a:r>
              <a:rPr lang="zh-CN" altLang="zh-CN" dirty="0"/>
              <a:t>ChatGPT通过大语言模型理解用户输入，并生成回答。</a:t>
            </a:r>
          </a:p>
          <a:p>
            <a:r>
              <a:rPr lang="zh-CN" altLang="zh-CN" dirty="0"/>
              <a:t>它体现了自然语言处理和生成式AI能力。</a:t>
            </a:r>
          </a:p>
          <a:p>
            <a:r>
              <a:rPr lang="zh-CN" altLang="zh-CN" b="1" dirty="0"/>
              <a:t>无人车识别道路和行人</a:t>
            </a:r>
          </a:p>
          <a:p>
            <a:r>
              <a:rPr lang="zh-CN" altLang="zh-CN" dirty="0"/>
              <a:t>无人车需要综合使用计算机视觉、传感器、定位、预测、规划和控制能力。</a:t>
            </a:r>
          </a:p>
          <a:p>
            <a:r>
              <a:rPr lang="zh-CN" altLang="zh-CN" dirty="0"/>
              <a:t>它不是只依靠一个模型，而是一套复杂系统。</a:t>
            </a:r>
          </a:p>
          <a:p>
            <a:r>
              <a:rPr lang="zh-CN" altLang="zh-CN" b="1" dirty="0"/>
              <a:t>需要强调的概念</a:t>
            </a:r>
          </a:p>
          <a:p>
            <a:r>
              <a:rPr lang="zh-CN" altLang="zh-CN" dirty="0"/>
              <a:t>AI不等于ChatGPT。</a:t>
            </a:r>
          </a:p>
          <a:p>
            <a:r>
              <a:rPr lang="zh-CN" altLang="zh-CN" dirty="0"/>
              <a:t>ChatGPT是一个具体产品，生成式AI是AI中的一种能力形态，AI的范围还包括推荐、搜索、预测、识别、风控和自动驾驶等。</a:t>
            </a:r>
          </a:p>
          <a:p>
            <a:r>
              <a:rPr lang="zh-CN" altLang="zh-CN" dirty="0"/>
              <a:t>可以写在白板上：</a:t>
            </a:r>
          </a:p>
          <a:p>
            <a:r>
              <a:rPr lang="zh-CN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AI ＞ 生成式AI ＞ 具体AI产品</a:t>
            </a:r>
          </a:p>
          <a:p>
            <a:r>
              <a:rPr lang="zh-CN" altLang="zh-CN" dirty="0"/>
              <a:t>这里的“大于”不是严格数学符号，而是帮助初学者理解范围。</a:t>
            </a:r>
          </a:p>
          <a:p>
            <a:r>
              <a:rPr lang="zh-CN" altLang="zh-CN" b="1" dirty="0"/>
              <a:t>课堂提问</a:t>
            </a:r>
          </a:p>
          <a:p>
            <a:r>
              <a:rPr lang="zh-CN" altLang="zh-CN" dirty="0"/>
              <a:t>地图预测到达时间属于AI吗？它生成文章了吗？</a:t>
            </a:r>
          </a:p>
          <a:p>
            <a:r>
              <a:rPr lang="zh-CN" altLang="zh-CN" dirty="0"/>
              <a:t>参考回答：</a:t>
            </a:r>
          </a:p>
          <a:p>
            <a:r>
              <a:rPr lang="zh-CN" altLang="zh-CN" dirty="0"/>
              <a:t>属于AI，但不属于以生成内容为主要目标的AIGC产品。AI不仅包括生成，还包括预测、判断和识别。</a:t>
            </a:r>
          </a:p>
          <a:p>
            <a:r>
              <a:rPr lang="zh-CN" altLang="zh-CN" b="1" dirty="0"/>
              <a:t>本页收口</a:t>
            </a:r>
          </a:p>
          <a:p>
            <a:r>
              <a:rPr lang="zh-CN" altLang="zh-CN" dirty="0"/>
              <a:t>AI不是某一个工具，也不是某一个模型，而是一整类让机器表现出感知、理解、推理、决策和行动能力的技术与系统。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C03D2-E08C-6DDB-4F30-13D2338484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53125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E2E55-3F7C-94A5-A70C-E18D248D2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91DE83-6F93-9466-3E14-0144C8AF3E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AA0A9A-8F99-F270-366D-9FFA352C82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b="1" dirty="0"/>
              <a:t>本页核心观点</a:t>
            </a:r>
          </a:p>
          <a:p>
            <a:r>
              <a:rPr lang="zh-CN" altLang="zh-CN" dirty="0"/>
              <a:t>传统软件主要依赖人写规则，机器学习主要让机器从数据中学习规律。</a:t>
            </a:r>
          </a:p>
          <a:p>
            <a:r>
              <a:rPr lang="zh-CN" altLang="zh-CN" b="1" dirty="0"/>
              <a:t>建议讲法</a:t>
            </a:r>
          </a:p>
          <a:p>
            <a:r>
              <a:rPr lang="zh-CN" altLang="zh-CN" dirty="0"/>
              <a:t>知道AI想实现什么以后，下一个问题是：</a:t>
            </a:r>
          </a:p>
          <a:p>
            <a:r>
              <a:rPr lang="zh-CN" altLang="zh-CN" dirty="0"/>
              <a:t>机器为什么能够表现出这些能力？</a:t>
            </a:r>
          </a:p>
          <a:p>
            <a:r>
              <a:rPr lang="zh-CN" altLang="zh-CN" dirty="0"/>
              <a:t>为了方便理解，我们先比较传统软件和机器学习。</a:t>
            </a:r>
          </a:p>
          <a:p>
            <a:r>
              <a:rPr lang="zh-CN" altLang="zh-CN" b="1" dirty="0"/>
              <a:t>一、传统软件：人写规则，机器执行规则</a:t>
            </a:r>
          </a:p>
          <a:p>
            <a:r>
              <a:rPr lang="zh-CN" altLang="zh-CN" dirty="0"/>
              <a:t>传统软件通常按照明确规则运行。</a:t>
            </a:r>
          </a:p>
          <a:p>
            <a:r>
              <a:rPr lang="zh-CN" altLang="zh-CN" dirty="0"/>
              <a:t>例如，我们设计一个会员优惠系统：</a:t>
            </a: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如果用户是会员</a:t>
            </a: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并且订单金额超过100元</a:t>
            </a: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那么减免10元</a:t>
            </a:r>
          </a:p>
          <a:p>
            <a:r>
              <a:rPr lang="zh-CN" altLang="zh-CN" dirty="0"/>
              <a:t>这条规则由产品经理和研发提前确定，系统只是执行。</a:t>
            </a:r>
          </a:p>
          <a:p>
            <a:r>
              <a:rPr lang="zh-CN" altLang="zh-CN" dirty="0"/>
              <a:t>再比如判断一条评论是否包含敏感词：</a:t>
            </a: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如果评论中出现敏感词库里的词</a:t>
            </a: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那么将评论提交审核</a:t>
            </a:r>
          </a:p>
          <a:p>
            <a:r>
              <a:rPr lang="zh-CN" altLang="zh-CN" dirty="0"/>
              <a:t>这种方式有几个优点：</a:t>
            </a:r>
          </a:p>
          <a:p>
            <a:r>
              <a:rPr lang="zh-CN" altLang="zh-CN" dirty="0"/>
              <a:t>规则明确；</a:t>
            </a:r>
          </a:p>
          <a:p>
            <a:r>
              <a:rPr lang="zh-CN" altLang="zh-CN" dirty="0"/>
              <a:t>结果容易解释；</a:t>
            </a:r>
          </a:p>
          <a:p>
            <a:r>
              <a:rPr lang="zh-CN" altLang="zh-CN" dirty="0"/>
              <a:t>相同输入通常得到相同结果；</a:t>
            </a:r>
          </a:p>
          <a:p>
            <a:r>
              <a:rPr lang="zh-CN" altLang="zh-CN" dirty="0"/>
              <a:t>出错后容易查找是哪条规则造成的。</a:t>
            </a:r>
          </a:p>
          <a:p>
            <a:r>
              <a:rPr lang="zh-CN" altLang="zh-CN" dirty="0"/>
              <a:t>但它也有局限：</a:t>
            </a:r>
          </a:p>
          <a:p>
            <a:r>
              <a:rPr lang="zh-CN" altLang="zh-CN" dirty="0"/>
              <a:t>复杂场景中的规则可能非常多；</a:t>
            </a:r>
          </a:p>
          <a:p>
            <a:r>
              <a:rPr lang="zh-CN" altLang="zh-CN" dirty="0"/>
              <a:t>人无法提前列出所有情况；</a:t>
            </a:r>
          </a:p>
          <a:p>
            <a:r>
              <a:rPr lang="zh-CN" altLang="zh-CN" dirty="0"/>
              <a:t>自然语言、图片和用户行为很难完全写成固定规则；</a:t>
            </a:r>
          </a:p>
          <a:p>
            <a:r>
              <a:rPr lang="zh-CN" altLang="zh-CN" dirty="0"/>
              <a:t>规则变化后需要持续人工维护。</a:t>
            </a:r>
          </a:p>
          <a:p>
            <a:r>
              <a:rPr lang="zh-CN" altLang="zh-CN" b="1" dirty="0"/>
              <a:t>二、机器学习：人提供数据和目标，机器学习规律</a:t>
            </a:r>
          </a:p>
          <a:p>
            <a:r>
              <a:rPr lang="zh-CN" altLang="zh-CN" dirty="0"/>
              <a:t>机器学习不是由人把所有规则逐条写出来，而是给机器大量案例，让机器从数据中找到规律。</a:t>
            </a:r>
          </a:p>
          <a:p>
            <a:r>
              <a:rPr lang="zh-CN" altLang="zh-CN" dirty="0"/>
              <a:t>例如，我们希望判断一条评论是正面还是负面。</a:t>
            </a:r>
          </a:p>
          <a:p>
            <a:r>
              <a:rPr lang="zh-CN" altLang="zh-CN" dirty="0"/>
              <a:t>传统方式可能是：</a:t>
            </a: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出现“非常好”就是正面；</a:t>
            </a: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出现“非常差”就是负面。</a:t>
            </a:r>
          </a:p>
          <a:p>
            <a:r>
              <a:rPr lang="zh-CN" altLang="zh-CN" dirty="0"/>
              <a:t>但真实语言很复杂。</a:t>
            </a:r>
          </a:p>
          <a:p>
            <a:r>
              <a:rPr lang="zh-CN" altLang="zh-CN" dirty="0"/>
              <a:t>例如：</a:t>
            </a:r>
          </a:p>
          <a:p>
            <a:r>
              <a:rPr lang="zh-CN" altLang="zh-CN" dirty="0"/>
              <a:t>“这家店真是好得不得了，以后再也不来了。”</a:t>
            </a:r>
          </a:p>
          <a:p>
            <a:r>
              <a:rPr lang="zh-CN" altLang="zh-CN" dirty="0"/>
              <a:t>里面出现了“好”，但整体可能是在讽刺。</a:t>
            </a:r>
          </a:p>
          <a:p>
            <a:r>
              <a:rPr lang="zh-CN" altLang="zh-CN" dirty="0"/>
              <a:t>机器学习的做法是准备大量已经标注的评论：</a:t>
            </a:r>
          </a:p>
          <a:p>
            <a:r>
              <a:rPr lang="zh-CN" altLang="zh-CN" dirty="0"/>
              <a:t>这条是正面；</a:t>
            </a:r>
          </a:p>
          <a:p>
            <a:r>
              <a:rPr lang="zh-CN" altLang="zh-CN" dirty="0"/>
              <a:t>这条是负面；</a:t>
            </a:r>
          </a:p>
          <a:p>
            <a:r>
              <a:rPr lang="zh-CN" altLang="zh-CN" dirty="0"/>
              <a:t>这条是中性。</a:t>
            </a:r>
          </a:p>
          <a:p>
            <a:r>
              <a:rPr lang="zh-CN" altLang="zh-CN" dirty="0"/>
              <a:t>模型从这些样本中学习语言特征，再判断新的评论。</a:t>
            </a:r>
          </a:p>
          <a:p>
            <a:r>
              <a:rPr lang="zh-CN" altLang="zh-CN" b="1" dirty="0"/>
              <a:t>三、谁来告诉机器什么是正确答案</a:t>
            </a:r>
          </a:p>
          <a:p>
            <a:r>
              <a:rPr lang="zh-CN" altLang="zh-CN" dirty="0"/>
              <a:t>这一点很重要。</a:t>
            </a:r>
          </a:p>
          <a:p>
            <a:r>
              <a:rPr lang="zh-CN" altLang="zh-CN" dirty="0"/>
              <a:t>机器学习不是机器凭空变聪明，而是依赖：</a:t>
            </a:r>
          </a:p>
          <a:p>
            <a:r>
              <a:rPr lang="zh-CN" altLang="zh-CN" dirty="0"/>
              <a:t>训练数据；</a:t>
            </a:r>
          </a:p>
          <a:p>
            <a:r>
              <a:rPr lang="zh-CN" altLang="zh-CN" dirty="0"/>
              <a:t>数据中的标签或目标；</a:t>
            </a:r>
          </a:p>
          <a:p>
            <a:r>
              <a:rPr lang="zh-CN" altLang="zh-CN" dirty="0"/>
              <a:t>模型和训练方法；</a:t>
            </a:r>
          </a:p>
          <a:p>
            <a:r>
              <a:rPr lang="zh-CN" altLang="zh-CN" dirty="0"/>
              <a:t>评估标准；</a:t>
            </a:r>
          </a:p>
          <a:p>
            <a:r>
              <a:rPr lang="zh-CN" altLang="zh-CN" dirty="0"/>
              <a:t>使用环境。</a:t>
            </a:r>
          </a:p>
          <a:p>
            <a:r>
              <a:rPr lang="zh-CN" altLang="zh-CN" dirty="0"/>
              <a:t>如果数据本身有问题，模型也可能学习到错误规律。</a:t>
            </a:r>
          </a:p>
          <a:p>
            <a:r>
              <a:rPr lang="zh-CN" altLang="zh-CN" dirty="0"/>
              <a:t>例如，如果训练数据中的商家主要来自一线城市，那么模型在小城市或特殊行业中的表现可能下降。</a:t>
            </a:r>
          </a:p>
          <a:p>
            <a:r>
              <a:rPr lang="zh-CN" altLang="zh-CN" dirty="0"/>
              <a:t>所以产品经理需要关注的不只是模型，还包括：</a:t>
            </a:r>
          </a:p>
          <a:p>
            <a:r>
              <a:rPr lang="zh-CN" altLang="zh-CN" dirty="0"/>
              <a:t>数据从哪里来；</a:t>
            </a:r>
          </a:p>
          <a:p>
            <a:r>
              <a:rPr lang="zh-CN" altLang="zh-CN" dirty="0"/>
              <a:t>数据是否代表真实用户；</a:t>
            </a:r>
          </a:p>
          <a:p>
            <a:r>
              <a:rPr lang="zh-CN" altLang="zh-CN" dirty="0"/>
              <a:t>标签是谁标的；</a:t>
            </a:r>
          </a:p>
          <a:p>
            <a:r>
              <a:rPr lang="zh-CN" altLang="zh-CN" dirty="0"/>
              <a:t>什么叫正确结果；</a:t>
            </a:r>
          </a:p>
          <a:p>
            <a:r>
              <a:rPr lang="zh-CN" altLang="zh-CN" dirty="0"/>
              <a:t>哪些用户或场景可能被忽略。</a:t>
            </a:r>
          </a:p>
          <a:p>
            <a:r>
              <a:rPr lang="zh-CN" altLang="zh-CN" b="1" dirty="0"/>
              <a:t>四、深度学习是什么</a:t>
            </a:r>
          </a:p>
          <a:p>
            <a:r>
              <a:rPr lang="zh-CN" altLang="zh-CN" dirty="0"/>
              <a:t>PPT上虽然没有单独展示深度学习，但时间线中会出现这个概念，因此需要在这里补充。</a:t>
            </a:r>
          </a:p>
          <a:p>
            <a:r>
              <a:rPr lang="zh-CN" altLang="zh-CN" dirty="0"/>
              <a:t>深度学习是机器学习中的一类方法，通常使用多层神经网络，从大量数据中学习复杂规律。</a:t>
            </a:r>
          </a:p>
          <a:p>
            <a:r>
              <a:rPr lang="zh-CN" altLang="zh-CN" dirty="0"/>
              <a:t>它推动了很多能力的发展，例如：</a:t>
            </a:r>
          </a:p>
          <a:p>
            <a:r>
              <a:rPr lang="zh-CN" altLang="zh-CN" dirty="0"/>
              <a:t>图片识别；</a:t>
            </a:r>
          </a:p>
          <a:p>
            <a:r>
              <a:rPr lang="zh-CN" altLang="zh-CN" dirty="0"/>
              <a:t>语音识别；</a:t>
            </a:r>
          </a:p>
          <a:p>
            <a:r>
              <a:rPr lang="zh-CN" altLang="zh-CN" dirty="0"/>
              <a:t>机器翻译；</a:t>
            </a:r>
          </a:p>
          <a:p>
            <a:r>
              <a:rPr lang="zh-CN" altLang="zh-CN" dirty="0"/>
              <a:t>自然语言处理；</a:t>
            </a:r>
          </a:p>
          <a:p>
            <a:r>
              <a:rPr lang="zh-CN" altLang="zh-CN" dirty="0"/>
              <a:t>生成式AI。</a:t>
            </a:r>
          </a:p>
          <a:p>
            <a:r>
              <a:rPr lang="zh-CN" altLang="zh-CN" dirty="0"/>
              <a:t>初学者可以先记住下面的包含关系：</a:t>
            </a: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人工智能 AI</a:t>
            </a: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 机器学习 Machine Learning</a:t>
            </a: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└── 深度学习 Deep Learning</a:t>
            </a: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└── 大模型、生成模型等重要方向</a:t>
            </a:r>
          </a:p>
          <a:p>
            <a:r>
              <a:rPr lang="zh-CN" altLang="zh-CN" dirty="0"/>
              <a:t>这是一张帮助初学者理解的简化图，不是对所有AI技术的完整分类。</a:t>
            </a:r>
          </a:p>
          <a:p>
            <a:r>
              <a:rPr lang="zh-CN" altLang="zh-CN" b="1" dirty="0"/>
              <a:t>五、传统软件和机器学习并不是互相替代</a:t>
            </a:r>
          </a:p>
          <a:p>
            <a:r>
              <a:rPr lang="zh-CN" altLang="zh-CN" dirty="0"/>
              <a:t>不要让学员形成“机器学习比规则高级，所以所有问题都应该用机器学习”的误解。</a:t>
            </a:r>
          </a:p>
          <a:p>
            <a:r>
              <a:rPr lang="zh-CN" altLang="zh-CN" dirty="0"/>
              <a:t>真实产品通常会组合使用多种方式。</a:t>
            </a:r>
          </a:p>
          <a:p>
            <a:r>
              <a:rPr lang="zh-CN" altLang="zh-CN" dirty="0"/>
              <a:t>例如，一个退款审核系统可能同时包含：</a:t>
            </a:r>
          </a:p>
          <a:p>
            <a:r>
              <a:rPr lang="zh-CN" altLang="zh-CN" dirty="0"/>
              <a:t>固定规则：超过某个金额必须人工审核；</a:t>
            </a:r>
          </a:p>
          <a:p>
            <a:r>
              <a:rPr lang="zh-CN" altLang="zh-CN" dirty="0"/>
              <a:t>机器学习：判断交易风险；</a:t>
            </a:r>
          </a:p>
          <a:p>
            <a:r>
              <a:rPr lang="zh-CN" altLang="zh-CN" dirty="0"/>
              <a:t>大模型：总结用户申诉内容；</a:t>
            </a:r>
          </a:p>
          <a:p>
            <a:r>
              <a:rPr lang="zh-CN" altLang="zh-CN" dirty="0"/>
              <a:t>人工：处理高风险和特殊情况。</a:t>
            </a:r>
          </a:p>
          <a:p>
            <a:r>
              <a:rPr lang="zh-CN" altLang="zh-CN" dirty="0"/>
              <a:t>不同方法适合不同任务。</a:t>
            </a:r>
          </a:p>
          <a:p>
            <a:r>
              <a:rPr lang="zh-CN" altLang="zh-CN" b="1" dirty="0"/>
              <a:t>规则适合</a:t>
            </a:r>
          </a:p>
          <a:p>
            <a:r>
              <a:rPr lang="zh-CN" altLang="zh-CN" dirty="0"/>
              <a:t>条件清晰；</a:t>
            </a:r>
          </a:p>
          <a:p>
            <a:r>
              <a:rPr lang="zh-CN" altLang="zh-CN" dirty="0"/>
              <a:t>结果必须确定；</a:t>
            </a:r>
          </a:p>
          <a:p>
            <a:r>
              <a:rPr lang="zh-CN" altLang="zh-CN" dirty="0"/>
              <a:t>规则变化不频繁；</a:t>
            </a:r>
          </a:p>
          <a:p>
            <a:r>
              <a:rPr lang="zh-CN" altLang="zh-CN" dirty="0"/>
              <a:t>出错风险较高；</a:t>
            </a:r>
          </a:p>
          <a:p>
            <a:r>
              <a:rPr lang="zh-CN" altLang="zh-CN" dirty="0"/>
              <a:t>需要明确解释。</a:t>
            </a:r>
          </a:p>
          <a:p>
            <a:r>
              <a:rPr lang="zh-CN" altLang="zh-CN" b="1" dirty="0"/>
              <a:t>机器学习适合</a:t>
            </a:r>
          </a:p>
          <a:p>
            <a:r>
              <a:rPr lang="zh-CN" altLang="zh-CN" dirty="0"/>
              <a:t>数据量比较大；</a:t>
            </a:r>
          </a:p>
          <a:p>
            <a:r>
              <a:rPr lang="zh-CN" altLang="zh-CN" dirty="0"/>
              <a:t>规律很难由人穷举；</a:t>
            </a:r>
          </a:p>
          <a:p>
            <a:r>
              <a:rPr lang="zh-CN" altLang="zh-CN" dirty="0"/>
              <a:t>允许通过样本持续优化；</a:t>
            </a:r>
          </a:p>
          <a:p>
            <a:r>
              <a:rPr lang="zh-CN" altLang="zh-CN" dirty="0"/>
              <a:t>任务主要是预测、分类、排序或识别。</a:t>
            </a:r>
          </a:p>
          <a:p>
            <a:r>
              <a:rPr lang="zh-CN" altLang="zh-CN" b="1" dirty="0"/>
              <a:t>生成式AI适合</a:t>
            </a:r>
          </a:p>
          <a:p>
            <a:r>
              <a:rPr lang="zh-CN" altLang="zh-CN" dirty="0"/>
              <a:t>输入以自然语言、图片等非结构化信息为主；</a:t>
            </a:r>
          </a:p>
          <a:p>
            <a:r>
              <a:rPr lang="zh-CN" altLang="zh-CN" dirty="0"/>
              <a:t>输出需要总结、生成、改写或开放式回答；</a:t>
            </a:r>
          </a:p>
          <a:p>
            <a:r>
              <a:rPr lang="zh-CN" altLang="zh-CN" dirty="0"/>
              <a:t>可以设计评测、人工确认和错误兜底。</a:t>
            </a:r>
          </a:p>
          <a:p>
            <a:r>
              <a:rPr lang="zh-CN" altLang="zh-CN" b="1" dirty="0"/>
              <a:t>课堂互动</a:t>
            </a:r>
          </a:p>
          <a:p>
            <a:r>
              <a:rPr lang="zh-CN" altLang="zh-CN" dirty="0"/>
              <a:t>可以给出三个问题，让学员判断优先考虑规则还是AI：</a:t>
            </a:r>
          </a:p>
          <a:p>
            <a:r>
              <a:rPr lang="zh-CN" altLang="zh-CN" dirty="0">
                <a:effectLst/>
              </a:rPr>
              <a:t>订单金额超过5000元必须由主管审批。 参考答案：确定性规则更合适。</a:t>
            </a:r>
          </a:p>
          <a:p>
            <a:r>
              <a:rPr lang="zh-CN" altLang="zh-CN" dirty="0">
                <a:effectLst/>
              </a:rPr>
              <a:t>判断一条用户反馈属于价格问题、服务问题还是功能问题。 参考答案：可以使用分类模型或大模型。</a:t>
            </a:r>
          </a:p>
          <a:p>
            <a:r>
              <a:rPr lang="zh-CN" altLang="zh-CN" dirty="0">
                <a:effectLst/>
              </a:rPr>
              <a:t>根据一组用户反馈生成问题总结。 参考答案：可以使用生成式AI，但需要检查遗漏和幻觉。</a:t>
            </a:r>
          </a:p>
          <a:p>
            <a:r>
              <a:rPr lang="zh-CN" altLang="zh-CN" b="1" dirty="0"/>
              <a:t>本页收口</a:t>
            </a:r>
          </a:p>
          <a:p>
            <a:r>
              <a:rPr lang="zh-CN" altLang="zh-CN" dirty="0"/>
              <a:t>传统软件由人明确写出规则，机器学习让机器从数据中学习规律。产品经理的任务不是追求最先进的技术，而是为具体问题选择合适的方法。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4280D4-C562-AC51-953A-CDD0DFACDD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82998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5AE7ADE7-26AA-3592-C798-2F31C5B560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zh-CN" altLang="zh-CN" b="1" dirty="0"/>
              <a:t>本页核心观点</a:t>
            </a:r>
          </a:p>
          <a:p>
            <a:r>
              <a:rPr lang="zh-CN" altLang="zh-CN" dirty="0"/>
              <a:t>NLP、CV、ASR、TTS、推荐与预测，描述的是AI正在处理哪一类信息或完成哪一类任务。</a:t>
            </a:r>
          </a:p>
          <a:p>
            <a:r>
              <a:rPr lang="zh-CN" altLang="zh-CN" b="1" dirty="0"/>
              <a:t>建议讲法</a:t>
            </a:r>
          </a:p>
          <a:p>
            <a:r>
              <a:rPr lang="zh-CN" altLang="zh-CN" dirty="0"/>
              <a:t>这一页中的概念和机器学习不属于同一个分类维度。</a:t>
            </a:r>
          </a:p>
          <a:p>
            <a:r>
              <a:rPr lang="zh-CN" altLang="zh-CN" dirty="0"/>
              <a:t>机器学习和深度学习更接近“怎样实现AI”；NLP、CV、ASR和TTS更接近“AI在处理什么问题”。</a:t>
            </a:r>
          </a:p>
          <a:p>
            <a:r>
              <a:rPr lang="zh-CN" altLang="zh-CN" dirty="0"/>
              <a:t>这一区分非常重要。</a:t>
            </a:r>
          </a:p>
          <a:p>
            <a:r>
              <a:rPr lang="zh-CN" altLang="zh-CN" dirty="0"/>
              <a:t>例如：</a:t>
            </a:r>
          </a:p>
          <a:p>
            <a:r>
              <a:rPr lang="zh-CN" altLang="zh-CN" dirty="0"/>
              <a:t>NLP不是机器学习的竞争对手。</a:t>
            </a:r>
          </a:p>
          <a:p>
            <a:r>
              <a:rPr lang="zh-CN" altLang="zh-CN" dirty="0"/>
              <a:t>我们可以使用机器学习或深度学习方法解决NLP问题。</a:t>
            </a:r>
          </a:p>
          <a:p>
            <a:r>
              <a:rPr lang="zh-CN" altLang="zh-CN" b="1" dirty="0"/>
              <a:t>NLP：自然语言处理</a:t>
            </a:r>
          </a:p>
          <a:p>
            <a:r>
              <a:rPr lang="zh-CN" altLang="zh-CN" dirty="0"/>
              <a:t>NLP是Natural Language Processing的缩写，中文是自然语言处理。</a:t>
            </a:r>
          </a:p>
          <a:p>
            <a:r>
              <a:rPr lang="zh-CN" altLang="zh-CN" dirty="0"/>
              <a:t>自然语言指人平时使用的语言，例如中文、英文和日常口语。</a:t>
            </a:r>
          </a:p>
          <a:p>
            <a:r>
              <a:rPr lang="zh-CN" altLang="zh-CN" dirty="0"/>
              <a:t>NLP任务包括：</a:t>
            </a:r>
          </a:p>
          <a:p>
            <a:r>
              <a:rPr lang="zh-CN" altLang="zh-CN" dirty="0"/>
              <a:t>文本分类；</a:t>
            </a:r>
          </a:p>
          <a:p>
            <a:r>
              <a:rPr lang="zh-CN" altLang="zh-CN" dirty="0"/>
              <a:t>情感判断；</a:t>
            </a:r>
          </a:p>
          <a:p>
            <a:r>
              <a:rPr lang="zh-CN" altLang="zh-CN" dirty="0"/>
              <a:t>关键词提取；</a:t>
            </a:r>
          </a:p>
          <a:p>
            <a:r>
              <a:rPr lang="zh-CN" altLang="zh-CN" dirty="0"/>
              <a:t>信息抽取；</a:t>
            </a:r>
          </a:p>
          <a:p>
            <a:r>
              <a:rPr lang="zh-CN" altLang="zh-CN" dirty="0"/>
              <a:t>机器翻译；</a:t>
            </a:r>
          </a:p>
          <a:p>
            <a:r>
              <a:rPr lang="zh-CN" altLang="zh-CN" dirty="0"/>
              <a:t>文章摘要；</a:t>
            </a:r>
          </a:p>
          <a:p>
            <a:r>
              <a:rPr lang="zh-CN" altLang="zh-CN" dirty="0"/>
              <a:t>问答；</a:t>
            </a:r>
          </a:p>
          <a:p>
            <a:r>
              <a:rPr lang="zh-CN" altLang="zh-CN" dirty="0"/>
              <a:t>对话理解。</a:t>
            </a:r>
          </a:p>
          <a:p>
            <a:r>
              <a:rPr lang="zh-CN" altLang="zh-CN" b="1" dirty="0"/>
              <a:t>产品例子</a:t>
            </a:r>
          </a:p>
          <a:p>
            <a:r>
              <a:rPr lang="zh-CN" altLang="zh-CN" dirty="0"/>
              <a:t>判断用户反馈属于哪个问题类型；</a:t>
            </a:r>
          </a:p>
          <a:p>
            <a:r>
              <a:rPr lang="zh-CN" altLang="zh-CN" dirty="0"/>
              <a:t>从客服对话中提取用户诉求；</a:t>
            </a:r>
          </a:p>
          <a:p>
            <a:r>
              <a:rPr lang="zh-CN" altLang="zh-CN" dirty="0"/>
              <a:t>总结一份会议记录；</a:t>
            </a:r>
          </a:p>
          <a:p>
            <a:r>
              <a:rPr lang="zh-CN" altLang="zh-CN" dirty="0"/>
              <a:t>将中文产品说明翻译成英文；</a:t>
            </a:r>
          </a:p>
          <a:p>
            <a:r>
              <a:rPr lang="zh-CN" altLang="zh-CN" dirty="0"/>
              <a:t>回答用户提出的问题。</a:t>
            </a:r>
          </a:p>
          <a:p>
            <a:r>
              <a:rPr lang="zh-CN" altLang="zh-CN" b="1" dirty="0"/>
              <a:t>需要强调</a:t>
            </a:r>
          </a:p>
          <a:p>
            <a:r>
              <a:rPr lang="zh-CN" altLang="zh-CN" dirty="0"/>
              <a:t>NLP不是大模型出现以后才有的。</a:t>
            </a:r>
          </a:p>
          <a:p>
            <a:r>
              <a:rPr lang="zh-CN" altLang="zh-CN" dirty="0"/>
              <a:t>在大语言模型普及以前，搜索、机器翻译、文本分类和智能客服已经大量使用NLP技术。大语言模型是NLP发展过程中的重要阶段，不等于NLP的全部。</a:t>
            </a:r>
          </a:p>
          <a:p>
            <a:r>
              <a:rPr lang="zh-CN" altLang="zh-CN" b="1" dirty="0"/>
              <a:t>CV：计算机视觉</a:t>
            </a:r>
          </a:p>
          <a:p>
            <a:r>
              <a:rPr lang="zh-CN" altLang="zh-CN" dirty="0"/>
              <a:t>CV是Computer Vision的缩写，中文是计算机视觉。</a:t>
            </a:r>
          </a:p>
          <a:p>
            <a:r>
              <a:rPr lang="zh-CN" altLang="zh-CN" dirty="0"/>
              <a:t>它帮助机器识别和理解图片、视频等视觉信息。</a:t>
            </a:r>
          </a:p>
          <a:p>
            <a:r>
              <a:rPr lang="zh-CN" altLang="zh-CN" dirty="0"/>
              <a:t>常见任务包括：</a:t>
            </a:r>
          </a:p>
          <a:p>
            <a:r>
              <a:rPr lang="zh-CN" altLang="zh-CN" dirty="0"/>
              <a:t>图片分类；</a:t>
            </a:r>
          </a:p>
          <a:p>
            <a:r>
              <a:rPr lang="zh-CN" altLang="zh-CN" dirty="0"/>
              <a:t>物体识别；</a:t>
            </a:r>
          </a:p>
          <a:p>
            <a:r>
              <a:rPr lang="zh-CN" altLang="zh-CN" dirty="0"/>
              <a:t>目标检测；</a:t>
            </a:r>
          </a:p>
          <a:p>
            <a:r>
              <a:rPr lang="zh-CN" altLang="zh-CN" dirty="0"/>
              <a:t>人脸识别；</a:t>
            </a:r>
          </a:p>
          <a:p>
            <a:r>
              <a:rPr lang="zh-CN" altLang="zh-CN" dirty="0"/>
              <a:t>文字识别；</a:t>
            </a:r>
          </a:p>
          <a:p>
            <a:r>
              <a:rPr lang="zh-CN" altLang="zh-CN" dirty="0"/>
              <a:t>内容审核；</a:t>
            </a:r>
          </a:p>
          <a:p>
            <a:r>
              <a:rPr lang="zh-CN" altLang="zh-CN" dirty="0"/>
              <a:t>视频理解。</a:t>
            </a:r>
          </a:p>
          <a:p>
            <a:r>
              <a:rPr lang="zh-CN" altLang="zh-CN" b="1" dirty="0"/>
              <a:t>产品例子</a:t>
            </a:r>
          </a:p>
          <a:p>
            <a:r>
              <a:rPr lang="zh-CN" altLang="zh-CN" dirty="0"/>
              <a:t>判断商品图片中是否包含违规内容；</a:t>
            </a:r>
          </a:p>
          <a:p>
            <a:r>
              <a:rPr lang="zh-CN" altLang="zh-CN" dirty="0"/>
              <a:t>识别道路中的车辆和行人；</a:t>
            </a:r>
          </a:p>
          <a:p>
            <a:r>
              <a:rPr lang="zh-CN" altLang="zh-CN" dirty="0"/>
              <a:t>从营业执照图片中提取文字；</a:t>
            </a:r>
          </a:p>
          <a:p>
            <a:r>
              <a:rPr lang="zh-CN" altLang="zh-CN" dirty="0"/>
              <a:t>判断照片是否清晰；</a:t>
            </a:r>
          </a:p>
          <a:p>
            <a:r>
              <a:rPr lang="zh-CN" altLang="zh-CN" dirty="0"/>
              <a:t>识别货架上缺少哪些商品。</a:t>
            </a:r>
          </a:p>
          <a:p>
            <a:r>
              <a:rPr lang="zh-CN" altLang="zh-CN" b="1" dirty="0"/>
              <a:t>ASR：语音识别</a:t>
            </a:r>
          </a:p>
          <a:p>
            <a:r>
              <a:rPr lang="zh-CN" altLang="zh-CN" dirty="0"/>
              <a:t>ASR是Automatic Speech Recognition的缩写，即自动语音识别。</a:t>
            </a:r>
          </a:p>
          <a:p>
            <a:r>
              <a:rPr lang="zh-CN" altLang="zh-CN" dirty="0"/>
              <a:t>它的主要任务是：</a:t>
            </a:r>
          </a:p>
          <a:p>
            <a:r>
              <a:rPr lang="zh-CN" altLang="zh-CN" dirty="0"/>
              <a:t>把人说的话转换成文字。</a:t>
            </a:r>
          </a:p>
          <a:p>
            <a:r>
              <a:rPr lang="zh-CN" altLang="zh-CN" dirty="0"/>
              <a:t>常见产品包括：</a:t>
            </a:r>
          </a:p>
          <a:p>
            <a:r>
              <a:rPr lang="zh-CN" altLang="zh-CN" dirty="0"/>
              <a:t>手机语音输入；</a:t>
            </a:r>
          </a:p>
          <a:p>
            <a:r>
              <a:rPr lang="zh-CN" altLang="zh-CN" dirty="0"/>
              <a:t>通话转写；</a:t>
            </a:r>
          </a:p>
          <a:p>
            <a:r>
              <a:rPr lang="zh-CN" altLang="zh-CN" dirty="0"/>
              <a:t>会议录音转文字；</a:t>
            </a:r>
          </a:p>
          <a:p>
            <a:r>
              <a:rPr lang="zh-CN" altLang="zh-CN" dirty="0"/>
              <a:t>客服录音质检；</a:t>
            </a:r>
          </a:p>
          <a:p>
            <a:r>
              <a:rPr lang="zh-CN" altLang="zh-CN" dirty="0"/>
              <a:t>视频字幕生成。</a:t>
            </a:r>
          </a:p>
          <a:p>
            <a:r>
              <a:rPr lang="zh-CN" altLang="zh-CN" b="1" dirty="0"/>
              <a:t>容易忽略的问题</a:t>
            </a:r>
          </a:p>
          <a:p>
            <a:r>
              <a:rPr lang="zh-CN" altLang="zh-CN" dirty="0"/>
              <a:t>语音识别并不是只要“能转成文字”就完成了。</a:t>
            </a:r>
          </a:p>
          <a:p>
            <a:r>
              <a:rPr lang="zh-CN" altLang="zh-CN" dirty="0"/>
              <a:t>真实产品还会遇到：</a:t>
            </a:r>
          </a:p>
          <a:p>
            <a:r>
              <a:rPr lang="zh-CN" altLang="zh-CN" dirty="0"/>
              <a:t>环境噪音；</a:t>
            </a:r>
          </a:p>
          <a:p>
            <a:r>
              <a:rPr lang="zh-CN" altLang="zh-CN" dirty="0"/>
              <a:t>多个人同时说话；</a:t>
            </a:r>
          </a:p>
          <a:p>
            <a:r>
              <a:rPr lang="zh-CN" altLang="zh-CN" dirty="0"/>
              <a:t>方言和口音；</a:t>
            </a:r>
          </a:p>
          <a:p>
            <a:r>
              <a:rPr lang="zh-CN" altLang="zh-CN" dirty="0"/>
              <a:t>行业术语；</a:t>
            </a:r>
          </a:p>
          <a:p>
            <a:r>
              <a:rPr lang="zh-CN" altLang="zh-CN" dirty="0"/>
              <a:t>人名和产品名；</a:t>
            </a:r>
          </a:p>
          <a:p>
            <a:r>
              <a:rPr lang="zh-CN" altLang="zh-CN" dirty="0"/>
              <a:t>数字、金额和日期；</a:t>
            </a:r>
          </a:p>
          <a:p>
            <a:r>
              <a:rPr lang="zh-CN" altLang="zh-CN" dirty="0"/>
              <a:t>说话人区分。</a:t>
            </a:r>
          </a:p>
          <a:p>
            <a:r>
              <a:rPr lang="zh-CN" altLang="zh-CN" dirty="0"/>
              <a:t>这些都会直接影响后续AI分析。</a:t>
            </a:r>
          </a:p>
          <a:p>
            <a:r>
              <a:rPr lang="zh-CN" altLang="zh-CN" b="1" dirty="0"/>
              <a:t>TTS：语音合成</a:t>
            </a:r>
          </a:p>
          <a:p>
            <a:r>
              <a:rPr lang="zh-CN" altLang="zh-CN" dirty="0"/>
              <a:t>TTS是Text to Speech的缩写，即文字转语音。</a:t>
            </a:r>
          </a:p>
          <a:p>
            <a:r>
              <a:rPr lang="zh-CN" altLang="zh-CN" dirty="0"/>
              <a:t>它将文字内容转换成机器生成的语音。</a:t>
            </a:r>
          </a:p>
          <a:p>
            <a:r>
              <a:rPr lang="zh-CN" altLang="zh-CN" dirty="0"/>
              <a:t>常见产品包括：</a:t>
            </a:r>
          </a:p>
          <a:p>
            <a:r>
              <a:rPr lang="zh-CN" altLang="zh-CN" dirty="0"/>
              <a:t>地图导航语音；</a:t>
            </a:r>
          </a:p>
          <a:p>
            <a:r>
              <a:rPr lang="zh-CN" altLang="zh-CN" dirty="0"/>
              <a:t>智能语音助手；</a:t>
            </a:r>
          </a:p>
          <a:p>
            <a:r>
              <a:rPr lang="zh-CN" altLang="zh-CN" dirty="0"/>
              <a:t>有声内容；</a:t>
            </a:r>
          </a:p>
          <a:p>
            <a:r>
              <a:rPr lang="zh-CN" altLang="zh-CN" dirty="0"/>
              <a:t>无障碍阅读；</a:t>
            </a:r>
          </a:p>
          <a:p>
            <a:r>
              <a:rPr lang="zh-CN" altLang="zh-CN" dirty="0"/>
              <a:t>智能客服外呼。</a:t>
            </a:r>
          </a:p>
          <a:p>
            <a:r>
              <a:rPr lang="zh-CN" altLang="zh-CN" dirty="0"/>
              <a:t>产品经理需要考虑：</a:t>
            </a:r>
          </a:p>
          <a:p>
            <a:r>
              <a:rPr lang="zh-CN" altLang="zh-CN" dirty="0"/>
              <a:t>声音是否自然；</a:t>
            </a:r>
          </a:p>
          <a:p>
            <a:r>
              <a:rPr lang="zh-CN" altLang="zh-CN" dirty="0"/>
              <a:t>情绪是否适合场景；</a:t>
            </a:r>
          </a:p>
          <a:p>
            <a:r>
              <a:rPr lang="zh-CN" altLang="zh-CN" dirty="0"/>
              <a:t>语速是否合适；</a:t>
            </a:r>
          </a:p>
          <a:p>
            <a:r>
              <a:rPr lang="zh-CN" altLang="zh-CN" dirty="0"/>
              <a:t>用户是否知道对方是AI；</a:t>
            </a:r>
          </a:p>
          <a:p>
            <a:r>
              <a:rPr lang="zh-CN" altLang="zh-CN" dirty="0"/>
              <a:t>是否存在冒用真人声音的风险。</a:t>
            </a:r>
          </a:p>
          <a:p>
            <a:r>
              <a:rPr lang="zh-CN" altLang="zh-CN" b="1" dirty="0"/>
              <a:t>推荐与预测</a:t>
            </a:r>
          </a:p>
          <a:p>
            <a:r>
              <a:rPr lang="zh-CN" altLang="zh-CN" dirty="0"/>
              <a:t>推荐系统根据用户行为、内容特征和其他数据，预测用户可能感兴趣的内容。</a:t>
            </a:r>
          </a:p>
          <a:p>
            <a:r>
              <a:rPr lang="zh-CN" altLang="zh-CN" dirty="0"/>
              <a:t>预测任务还包括：</a:t>
            </a:r>
          </a:p>
          <a:p>
            <a:r>
              <a:rPr lang="zh-CN" altLang="zh-CN" dirty="0"/>
              <a:t>判断用户是否可能流失；</a:t>
            </a:r>
          </a:p>
          <a:p>
            <a:r>
              <a:rPr lang="zh-CN" altLang="zh-CN" dirty="0"/>
              <a:t>预测商品销量；</a:t>
            </a:r>
          </a:p>
          <a:p>
            <a:r>
              <a:rPr lang="zh-CN" altLang="zh-CN" dirty="0"/>
              <a:t>预测到达时间；</a:t>
            </a:r>
          </a:p>
          <a:p>
            <a:r>
              <a:rPr lang="zh-CN" altLang="zh-CN" dirty="0"/>
              <a:t>识别交易风险；</a:t>
            </a:r>
          </a:p>
          <a:p>
            <a:r>
              <a:rPr lang="zh-CN" altLang="zh-CN" dirty="0"/>
              <a:t>判断销售线索的潜在价值。</a:t>
            </a:r>
          </a:p>
          <a:p>
            <a:r>
              <a:rPr lang="zh-CN" altLang="zh-CN" dirty="0"/>
              <a:t>推荐和预测也是AI的重要组成部分，但通常不是AIGC。</a:t>
            </a:r>
          </a:p>
          <a:p>
            <a:r>
              <a:rPr lang="zh-CN" altLang="zh-CN" b="1" dirty="0"/>
              <a:t>六、AIGC需要在这里补充解释</a:t>
            </a:r>
          </a:p>
          <a:p>
            <a:r>
              <a:rPr lang="zh-CN" altLang="zh-CN" dirty="0"/>
              <a:t>PPT后面会提到生成式AI，因此建议在这一页补充AIGC。</a:t>
            </a:r>
          </a:p>
          <a:p>
            <a:r>
              <a:rPr lang="zh-CN" altLang="zh-CN" dirty="0"/>
              <a:t>AIGC通常理解为AI Generated Content，即AI生成内容。</a:t>
            </a:r>
          </a:p>
          <a:p>
            <a:r>
              <a:rPr lang="zh-CN" altLang="zh-CN" dirty="0"/>
              <a:t>它可以生成：</a:t>
            </a:r>
          </a:p>
          <a:p>
            <a:r>
              <a:rPr lang="zh-CN" altLang="zh-CN" dirty="0"/>
              <a:t>文字；</a:t>
            </a:r>
          </a:p>
          <a:p>
            <a:r>
              <a:rPr lang="zh-CN" altLang="zh-CN" dirty="0"/>
              <a:t>图片；</a:t>
            </a:r>
          </a:p>
          <a:p>
            <a:r>
              <a:rPr lang="zh-CN" altLang="zh-CN" dirty="0"/>
              <a:t>音频；</a:t>
            </a:r>
          </a:p>
          <a:p>
            <a:r>
              <a:rPr lang="zh-CN" altLang="zh-CN" dirty="0"/>
              <a:t>视频；</a:t>
            </a:r>
          </a:p>
          <a:p>
            <a:r>
              <a:rPr lang="zh-CN" altLang="zh-CN" dirty="0"/>
              <a:t>代码；</a:t>
            </a:r>
          </a:p>
          <a:p>
            <a:r>
              <a:rPr lang="zh-CN" altLang="zh-CN" dirty="0"/>
              <a:t>结构化信息。</a:t>
            </a:r>
          </a:p>
          <a:p>
            <a:r>
              <a:rPr lang="zh-CN" altLang="zh-CN" dirty="0"/>
              <a:t>例如：</a:t>
            </a:r>
          </a:p>
          <a:p>
            <a:r>
              <a:rPr lang="zh-CN" altLang="zh-CN" dirty="0"/>
              <a:t>判断一条评论是正面还是负面，属于识别或分类；</a:t>
            </a:r>
          </a:p>
          <a:p>
            <a:r>
              <a:rPr lang="zh-CN" altLang="zh-CN" dirty="0"/>
              <a:t>根据1000条评论生成问题总结，属于AIGC；</a:t>
            </a:r>
          </a:p>
          <a:p>
            <a:r>
              <a:rPr lang="zh-CN" altLang="zh-CN" dirty="0"/>
              <a:t>判断图片是否违规，属于识别或审核；</a:t>
            </a:r>
          </a:p>
          <a:p>
            <a:r>
              <a:rPr lang="zh-CN" altLang="zh-CN" dirty="0"/>
              <a:t>根据文字描述生成图片，属于AIGC。</a:t>
            </a:r>
          </a:p>
          <a:p>
            <a:r>
              <a:rPr lang="zh-CN" altLang="zh-CN" dirty="0"/>
              <a:t>因此：</a:t>
            </a:r>
          </a:p>
          <a:p>
            <a:r>
              <a:rPr lang="zh-CN" altLang="zh-CN" dirty="0"/>
              <a:t>AIGC是AI的一部分，不是全部AI。</a:t>
            </a:r>
          </a:p>
          <a:p>
            <a:r>
              <a:rPr lang="zh-CN" altLang="zh-CN" b="1" dirty="0"/>
              <a:t>七、多种能力可以组合成一个产品</a:t>
            </a:r>
          </a:p>
          <a:p>
            <a:r>
              <a:rPr lang="zh-CN" altLang="zh-CN" dirty="0"/>
              <a:t>一个真实产品往往会同时使用多种AI能力。</a:t>
            </a:r>
          </a:p>
          <a:p>
            <a:r>
              <a:rPr lang="zh-CN" altLang="zh-CN" dirty="0"/>
              <a:t>以销售拜访记录助手为例：</a:t>
            </a: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ASR</a:t>
            </a: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把拜访录音转换成文字</a:t>
            </a:r>
          </a:p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 NLP或大语言模型</a:t>
            </a: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理解对话，提取客户诉求和异议</a:t>
            </a:r>
          </a:p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 AIGC</a:t>
            </a: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生成结构化的拜访记录草稿</a:t>
            </a:r>
          </a:p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 规则系统</a:t>
            </a: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要求金额、承诺和截止时间必须人工确认</a:t>
            </a:r>
          </a:p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 CRM</a:t>
            </a: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确认后写入客户系统</a:t>
            </a:r>
          </a:p>
          <a:p>
            <a:r>
              <a:rPr lang="zh-CN" altLang="zh-CN" dirty="0"/>
              <a:t>所以不要试图给一个产品只贴一个技术标签。</a:t>
            </a:r>
          </a:p>
          <a:p>
            <a:r>
              <a:rPr lang="zh-CN" altLang="zh-CN" b="1" dirty="0"/>
              <a:t>课堂练习</a:t>
            </a:r>
          </a:p>
          <a:p>
            <a:r>
              <a:rPr lang="zh-CN" altLang="zh-CN" dirty="0"/>
              <a:t>请学员判断下面任务主要使用哪一类能力：</a:t>
            </a:r>
          </a:p>
          <a:p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任务主要能力</a:t>
            </a:r>
            <a:endParaRPr lang="zh-CN" altLang="zh-CN" dirty="0">
              <a:effectLst/>
            </a:endParaRP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将客户电话转成文字ASR</a:t>
            </a:r>
            <a:endParaRPr lang="zh-CN" altLang="zh-CN" dirty="0">
              <a:effectLst/>
            </a:endParaRP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判断商品图片是否违规CV</a:t>
            </a:r>
            <a:endParaRPr lang="zh-CN" altLang="zh-CN" dirty="0">
              <a:effectLst/>
            </a:endParaRP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提取用户投诉原因NLP</a:t>
            </a:r>
            <a:endParaRPr lang="zh-CN" altLang="zh-CN" dirty="0">
              <a:effectLst/>
            </a:endParaRP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把文章转换成语音TTS</a:t>
            </a:r>
            <a:endParaRPr lang="zh-CN" altLang="zh-CN" dirty="0">
              <a:effectLst/>
            </a:endParaRP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预测用户是否可能流失预测</a:t>
            </a:r>
            <a:endParaRPr lang="zh-CN" altLang="zh-CN" dirty="0">
              <a:effectLst/>
            </a:endParaRP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根据用户反馈生成总结AIGC、NLP</a:t>
            </a:r>
            <a:endParaRPr lang="zh-CN" altLang="zh-CN" dirty="0">
              <a:effectLst/>
            </a:endParaRPr>
          </a:p>
          <a:p>
            <a:r>
              <a:rPr lang="zh-CN" altLang="zh-CN" b="1" dirty="0"/>
              <a:t>本页收口</a:t>
            </a:r>
          </a:p>
          <a:p>
            <a:r>
              <a:rPr lang="zh-CN" altLang="zh-CN" dirty="0"/>
              <a:t>机器学习描述机器怎样学习，NLP、CV、ASR和TTS描述AI处理什么信息，AIGC描述AI生成新内容的能力。</a:t>
            </a:r>
          </a:p>
          <a:p>
            <a:endParaRPr kumimoji="1" lang="zh-CN" altLang="en-US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72B1C421-26C4-B8C4-EBC5-32C8808A96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zh-CN" altLang="zh-CN" b="1" dirty="0"/>
              <a:t>本页核心观点</a:t>
            </a:r>
          </a:p>
          <a:p>
            <a:r>
              <a:rPr lang="zh-CN" altLang="zh-CN" dirty="0"/>
              <a:t>AI不是最近几年才出现；最近几年发生的是生成式AI能力、产品形态和大众使用门槛的共同变化。</a:t>
            </a:r>
          </a:p>
          <a:p>
            <a:r>
              <a:rPr lang="zh-CN" altLang="zh-CN" b="1" dirty="0"/>
              <a:t>建议讲法</a:t>
            </a:r>
          </a:p>
          <a:p>
            <a:r>
              <a:rPr lang="zh-CN" altLang="zh-CN" dirty="0"/>
              <a:t>如果AI在20世纪50年代就已经出现，为什么大多数人是在最近几年才明显感受到AI？</a:t>
            </a:r>
          </a:p>
          <a:p>
            <a:r>
              <a:rPr lang="zh-CN" altLang="zh-CN" dirty="0"/>
              <a:t>原因不是过去完全没有AI，而是过去的AI大多具有下面几个特点：</a:t>
            </a:r>
          </a:p>
          <a:p>
            <a:r>
              <a:rPr lang="zh-CN" altLang="zh-CN" dirty="0"/>
              <a:t>主要存在于专业领域或产品后台；</a:t>
            </a:r>
          </a:p>
          <a:p>
            <a:r>
              <a:rPr lang="zh-CN" altLang="zh-CN" dirty="0"/>
              <a:t>通常只完成一类任务；</a:t>
            </a:r>
          </a:p>
          <a:p>
            <a:r>
              <a:rPr lang="zh-CN" altLang="zh-CN" dirty="0"/>
              <a:t>普通用户很难直接操作；</a:t>
            </a:r>
          </a:p>
          <a:p>
            <a:r>
              <a:rPr lang="zh-CN" altLang="zh-CN" dirty="0"/>
              <a:t>每个新场景可能需要单独准备数据和训练模型；</a:t>
            </a:r>
          </a:p>
          <a:p>
            <a:r>
              <a:rPr lang="zh-CN" altLang="zh-CN" dirty="0"/>
              <a:t>使用和开发门槛较高。</a:t>
            </a:r>
          </a:p>
          <a:p>
            <a:r>
              <a:rPr lang="zh-CN" altLang="zh-CN" dirty="0"/>
              <a:t>最近几年的生成式AI则发生了明显变化：</a:t>
            </a:r>
          </a:p>
          <a:p>
            <a:r>
              <a:rPr lang="zh-CN" altLang="zh-CN" dirty="0"/>
              <a:t>普通用户可以直接使用自然语言；</a:t>
            </a:r>
          </a:p>
          <a:p>
            <a:r>
              <a:rPr lang="zh-CN" altLang="zh-CN" dirty="0"/>
              <a:t>一个模型能够完成多种任务；</a:t>
            </a:r>
          </a:p>
          <a:p>
            <a:r>
              <a:rPr lang="zh-CN" altLang="zh-CN" dirty="0"/>
              <a:t>模型开始处理文字、图片、语音等多种信息；</a:t>
            </a:r>
          </a:p>
          <a:p>
            <a:r>
              <a:rPr lang="zh-CN" altLang="zh-CN" dirty="0"/>
              <a:t>企业和个人可以通过API或产品快速使用模型；</a:t>
            </a:r>
          </a:p>
          <a:p>
            <a:r>
              <a:rPr lang="zh-CN" altLang="zh-CN" dirty="0"/>
              <a:t>AI从后台算法变成用户可以直接感知的产品能力。</a:t>
            </a:r>
          </a:p>
          <a:p>
            <a:r>
              <a:rPr lang="zh-CN" altLang="zh-CN" b="1" dirty="0"/>
              <a:t>时间线讲解</a:t>
            </a:r>
          </a:p>
          <a:p>
            <a:r>
              <a:rPr lang="zh-CN" altLang="zh-CN" b="1" dirty="0"/>
              <a:t>1950年代：人工智能概念诞生</a:t>
            </a:r>
          </a:p>
          <a:p>
            <a:r>
              <a:rPr lang="zh-CN" altLang="zh-CN" dirty="0"/>
              <a:t>研究者开始讨论：</a:t>
            </a:r>
          </a:p>
          <a:p>
            <a:r>
              <a:rPr lang="zh-CN" altLang="zh-CN" dirty="0"/>
              <a:t>机器能否表现出智能；</a:t>
            </a:r>
          </a:p>
          <a:p>
            <a:r>
              <a:rPr lang="zh-CN" altLang="zh-CN" dirty="0"/>
              <a:t>机器能否进行推理；</a:t>
            </a:r>
          </a:p>
          <a:p>
            <a:r>
              <a:rPr lang="zh-CN" altLang="zh-CN" dirty="0"/>
              <a:t>机器能否理解语言；</a:t>
            </a:r>
          </a:p>
          <a:p>
            <a:r>
              <a:rPr lang="zh-CN" altLang="zh-CN" dirty="0"/>
              <a:t>机器能否解决复杂问题。</a:t>
            </a:r>
          </a:p>
          <a:p>
            <a:r>
              <a:rPr lang="zh-CN" altLang="zh-CN" dirty="0"/>
              <a:t>这一阶段更多是提出问题、建立研究方向和进行早期实验。</a:t>
            </a:r>
          </a:p>
          <a:p>
            <a:r>
              <a:rPr lang="zh-CN" altLang="zh-CN" b="1" dirty="0"/>
              <a:t>1990—2010年：机器学习进入实际产品</a:t>
            </a:r>
          </a:p>
          <a:p>
            <a:r>
              <a:rPr lang="zh-CN" altLang="zh-CN" dirty="0"/>
              <a:t>随着数据量、计算能力和统计方法的发展，机器学习逐渐进入真实产品。</a:t>
            </a:r>
          </a:p>
          <a:p>
            <a:r>
              <a:rPr lang="zh-CN" altLang="zh-CN" dirty="0"/>
              <a:t>典型应用包括：</a:t>
            </a:r>
          </a:p>
          <a:p>
            <a:r>
              <a:rPr lang="zh-CN" altLang="zh-CN" dirty="0"/>
              <a:t>搜索排序；</a:t>
            </a:r>
          </a:p>
          <a:p>
            <a:r>
              <a:rPr lang="zh-CN" altLang="zh-CN" dirty="0"/>
              <a:t>内容推荐；</a:t>
            </a:r>
          </a:p>
          <a:p>
            <a:r>
              <a:rPr lang="zh-CN" altLang="zh-CN" dirty="0"/>
              <a:t>广告投放；</a:t>
            </a:r>
          </a:p>
          <a:p>
            <a:r>
              <a:rPr lang="zh-CN" altLang="zh-CN" dirty="0"/>
              <a:t>垃圾邮件识别；</a:t>
            </a:r>
          </a:p>
          <a:p>
            <a:r>
              <a:rPr lang="zh-CN" altLang="zh-CN" dirty="0"/>
              <a:t>信用风险；</a:t>
            </a:r>
          </a:p>
          <a:p>
            <a:r>
              <a:rPr lang="zh-CN" altLang="zh-CN" dirty="0"/>
              <a:t>用户流失预测。</a:t>
            </a:r>
          </a:p>
          <a:p>
            <a:r>
              <a:rPr lang="zh-CN" altLang="zh-CN" dirty="0"/>
              <a:t>这一阶段的AI很多时候位于产品后台，用户不一定直接意识到它的存在。</a:t>
            </a:r>
          </a:p>
          <a:p>
            <a:r>
              <a:rPr lang="zh-CN" altLang="zh-CN" b="1" dirty="0"/>
              <a:t>2012年前后：深度学习快速发展</a:t>
            </a:r>
          </a:p>
          <a:p>
            <a:r>
              <a:rPr lang="zh-CN" altLang="zh-CN" dirty="0"/>
              <a:t>2012年前后，深度学习在图像识别等任务上的表现引发广泛关注。</a:t>
            </a:r>
          </a:p>
          <a:p>
            <a:r>
              <a:rPr lang="zh-CN" altLang="zh-CN" dirty="0"/>
              <a:t>随后，深度学习推动了：</a:t>
            </a:r>
          </a:p>
          <a:p>
            <a:r>
              <a:rPr lang="zh-CN" altLang="zh-CN" dirty="0"/>
              <a:t>图像识别；</a:t>
            </a:r>
          </a:p>
          <a:p>
            <a:r>
              <a:rPr lang="zh-CN" altLang="zh-CN" dirty="0"/>
              <a:t>语音识别；</a:t>
            </a:r>
          </a:p>
          <a:p>
            <a:r>
              <a:rPr lang="zh-CN" altLang="zh-CN" dirty="0"/>
              <a:t>机器翻译；</a:t>
            </a:r>
          </a:p>
          <a:p>
            <a:r>
              <a:rPr lang="zh-CN" altLang="zh-CN" dirty="0"/>
              <a:t>自然语言处理；</a:t>
            </a:r>
          </a:p>
          <a:p>
            <a:r>
              <a:rPr lang="zh-CN" altLang="zh-CN" dirty="0"/>
              <a:t>自动驾驶相关感知能力。</a:t>
            </a:r>
          </a:p>
          <a:p>
            <a:r>
              <a:rPr lang="zh-CN" altLang="zh-CN" dirty="0"/>
              <a:t>这一阶段的重要变化是，机器可以从大量数据中学习更加复杂的特征。</a:t>
            </a:r>
          </a:p>
          <a:p>
            <a:r>
              <a:rPr lang="zh-CN" altLang="zh-CN" b="1" dirty="0"/>
              <a:t>2017年：Transformer出现</a:t>
            </a:r>
          </a:p>
          <a:p>
            <a:r>
              <a:rPr lang="zh-CN" altLang="zh-CN" dirty="0"/>
              <a:t>Transformer是一种重要的模型架构。</a:t>
            </a:r>
          </a:p>
          <a:p>
            <a:r>
              <a:rPr lang="zh-CN" altLang="zh-CN" dirty="0"/>
              <a:t>第00课不需要讲注意力机制和数学公式。学员只需要先知道：</a:t>
            </a:r>
          </a:p>
          <a:p>
            <a:r>
              <a:rPr lang="zh-CN" altLang="zh-CN" dirty="0"/>
              <a:t>Transformer更适合大规模训练和处理语言序列，后来成为很多大语言模型的重要基础。</a:t>
            </a:r>
          </a:p>
          <a:p>
            <a:r>
              <a:rPr lang="zh-CN" altLang="zh-CN" dirty="0"/>
              <a:t>它让模型可以更有效地学习大量文本中的语言规律和上下文关系。</a:t>
            </a:r>
          </a:p>
          <a:p>
            <a:r>
              <a:rPr lang="zh-CN" altLang="zh-CN" b="1" dirty="0"/>
              <a:t>2022年：生成式AI进入大众市场</a:t>
            </a:r>
          </a:p>
          <a:p>
            <a:r>
              <a:rPr lang="zh-CN" altLang="zh-CN" dirty="0"/>
              <a:t>这一阶段最明显的变化不是模型第一次可以生成文字，而是：</a:t>
            </a:r>
          </a:p>
          <a:p>
            <a:r>
              <a:rPr lang="zh-CN" altLang="zh-CN" dirty="0"/>
              <a:t>普通用户第一次能够非常低门槛地用自然语言要求AI完成大量任务。</a:t>
            </a:r>
          </a:p>
          <a:p>
            <a:r>
              <a:rPr lang="zh-CN" altLang="zh-CN" dirty="0"/>
              <a:t>用户不需要学习编程，就可以要求AI：</a:t>
            </a:r>
          </a:p>
          <a:p>
            <a:r>
              <a:rPr lang="zh-CN" altLang="zh-CN" dirty="0"/>
              <a:t>总结资料；</a:t>
            </a:r>
          </a:p>
          <a:p>
            <a:r>
              <a:rPr lang="zh-CN" altLang="zh-CN" dirty="0"/>
              <a:t>修改文案；</a:t>
            </a:r>
          </a:p>
          <a:p>
            <a:r>
              <a:rPr lang="zh-CN" altLang="zh-CN" dirty="0"/>
              <a:t>回答问题；</a:t>
            </a:r>
          </a:p>
          <a:p>
            <a:r>
              <a:rPr lang="zh-CN" altLang="zh-CN" dirty="0"/>
              <a:t>分析内容；</a:t>
            </a:r>
          </a:p>
          <a:p>
            <a:r>
              <a:rPr lang="zh-CN" altLang="zh-CN" dirty="0"/>
              <a:t>生成代码；</a:t>
            </a:r>
          </a:p>
          <a:p>
            <a:r>
              <a:rPr lang="zh-CN" altLang="zh-CN" dirty="0"/>
              <a:t>模拟角色；</a:t>
            </a:r>
          </a:p>
          <a:p>
            <a:r>
              <a:rPr lang="zh-CN" altLang="zh-CN" dirty="0"/>
              <a:t>制定计划。</a:t>
            </a:r>
          </a:p>
          <a:p>
            <a:r>
              <a:rPr lang="zh-CN" altLang="zh-CN" dirty="0"/>
              <a:t>生成式AI从研究和专业应用走向大众产品。</a:t>
            </a:r>
          </a:p>
          <a:p>
            <a:r>
              <a:rPr lang="zh-CN" altLang="zh-CN" b="1" dirty="0"/>
              <a:t>2024年至今：推理、工具调用与Agent</a:t>
            </a:r>
          </a:p>
          <a:p>
            <a:r>
              <a:rPr lang="zh-CN" altLang="zh-CN" dirty="0"/>
              <a:t>AI开始从“给出一段内容”走向“围绕目标完成任务”。</a:t>
            </a:r>
          </a:p>
          <a:p>
            <a:r>
              <a:rPr lang="zh-CN" altLang="zh-CN" dirty="0"/>
              <a:t>例如：</a:t>
            </a:r>
          </a:p>
          <a:p>
            <a:r>
              <a:rPr lang="zh-CN" altLang="zh-CN" dirty="0"/>
              <a:t>先分析用户目标；</a:t>
            </a:r>
          </a:p>
          <a:p>
            <a:r>
              <a:rPr lang="zh-CN" altLang="zh-CN" dirty="0"/>
              <a:t>决定需要查询什么资料；</a:t>
            </a:r>
          </a:p>
          <a:p>
            <a:r>
              <a:rPr lang="zh-CN" altLang="zh-CN" dirty="0"/>
              <a:t>调用搜索、数据库或代码工具；</a:t>
            </a:r>
          </a:p>
          <a:p>
            <a:r>
              <a:rPr lang="zh-CN" altLang="zh-CN" dirty="0"/>
              <a:t>根据结果继续处理；</a:t>
            </a:r>
          </a:p>
          <a:p>
            <a:r>
              <a:rPr lang="zh-CN" altLang="zh-CN" dirty="0"/>
              <a:t>完成多步任务；</a:t>
            </a:r>
          </a:p>
          <a:p>
            <a:r>
              <a:rPr lang="zh-CN" altLang="zh-CN" dirty="0"/>
              <a:t>向用户返回结果和执行记录。</a:t>
            </a:r>
          </a:p>
          <a:p>
            <a:r>
              <a:rPr lang="zh-CN" altLang="zh-CN" dirty="0"/>
              <a:t>这就是为什么最近两年大家越来越多地讨论Agent。</a:t>
            </a:r>
          </a:p>
          <a:p>
            <a:r>
              <a:rPr lang="zh-CN" altLang="zh-CN" b="1" dirty="0"/>
              <a:t>为什么最近几年加速</a:t>
            </a:r>
          </a:p>
          <a:p>
            <a:r>
              <a:rPr lang="zh-CN" altLang="zh-CN" dirty="0"/>
              <a:t>可以总结为五个因素：</a:t>
            </a:r>
          </a:p>
          <a:p>
            <a:r>
              <a:rPr lang="zh-CN" altLang="zh-CN" b="1" dirty="0"/>
              <a:t>模型能力提升</a:t>
            </a:r>
          </a:p>
          <a:p>
            <a:r>
              <a:rPr lang="zh-CN" altLang="zh-CN" dirty="0"/>
              <a:t>模型能够理解和生成更复杂的内容，并适应更多任务。</a:t>
            </a:r>
          </a:p>
          <a:p>
            <a:r>
              <a:rPr lang="zh-CN" altLang="zh-CN" b="1" dirty="0"/>
              <a:t>数据规模增加</a:t>
            </a:r>
          </a:p>
          <a:p>
            <a:r>
              <a:rPr lang="zh-CN" altLang="zh-CN" dirty="0"/>
              <a:t>互联网积累了大量文字、图片、视频和代码数据。</a:t>
            </a:r>
          </a:p>
          <a:p>
            <a:r>
              <a:rPr lang="zh-CN" altLang="zh-CN" b="1" dirty="0"/>
              <a:t>计算能力提升</a:t>
            </a:r>
          </a:p>
          <a:p>
            <a:r>
              <a:rPr lang="zh-CN" altLang="zh-CN" dirty="0"/>
              <a:t>更强的计算设备和基础设施支持更大规模训练和推理。</a:t>
            </a:r>
          </a:p>
          <a:p>
            <a:r>
              <a:rPr lang="zh-CN" altLang="zh-CN" b="1" dirty="0"/>
              <a:t>使用门槛降低</a:t>
            </a:r>
          </a:p>
          <a:p>
            <a:r>
              <a:rPr lang="zh-CN" altLang="zh-CN" dirty="0"/>
              <a:t>普通用户可以直接用自然语言交流，企业也可以通过API接入模型能力。</a:t>
            </a:r>
          </a:p>
          <a:p>
            <a:r>
              <a:rPr lang="zh-CN" altLang="zh-CN" b="1" dirty="0"/>
              <a:t>产品形态发生变化</a:t>
            </a:r>
          </a:p>
          <a:p>
            <a:r>
              <a:rPr lang="zh-CN" altLang="zh-CN" dirty="0"/>
              <a:t>AI从后台的预测分数，变成用户可以直接对话、生成和操作的产品能力。</a:t>
            </a:r>
          </a:p>
          <a:p>
            <a:r>
              <a:rPr lang="zh-CN" altLang="zh-CN" b="1" dirty="0"/>
              <a:t>需要强调的结论</a:t>
            </a:r>
          </a:p>
          <a:p>
            <a:r>
              <a:rPr lang="zh-CN" altLang="zh-CN" dirty="0"/>
              <a:t>最近几年爆发的不是“AI这个概念”，而是普通人可以直接使用的生成式AI，以及围绕大模型形成的新产品生态。</a:t>
            </a:r>
          </a:p>
          <a:p>
            <a:r>
              <a:rPr lang="zh-CN" altLang="zh-CN" b="1" dirty="0"/>
              <a:t>课堂提问</a:t>
            </a:r>
          </a:p>
          <a:p>
            <a:r>
              <a:rPr lang="zh-CN" altLang="zh-CN" dirty="0"/>
              <a:t>在ChatGPT出现以前，我们使用过哪些AI产品？</a:t>
            </a:r>
          </a:p>
          <a:p>
            <a:r>
              <a:rPr lang="zh-CN" altLang="zh-CN" dirty="0"/>
              <a:t>学员可能回答：</a:t>
            </a:r>
          </a:p>
          <a:p>
            <a:r>
              <a:rPr lang="zh-CN" altLang="zh-CN" dirty="0"/>
              <a:t>推荐系统；</a:t>
            </a:r>
          </a:p>
          <a:p>
            <a:r>
              <a:rPr lang="zh-CN" altLang="zh-CN" dirty="0"/>
              <a:t>地图导航；</a:t>
            </a:r>
          </a:p>
          <a:p>
            <a:r>
              <a:rPr lang="zh-CN" altLang="zh-CN" dirty="0"/>
              <a:t>搜索；</a:t>
            </a:r>
          </a:p>
          <a:p>
            <a:r>
              <a:rPr lang="zh-CN" altLang="zh-CN" dirty="0"/>
              <a:t>人脸识别；</a:t>
            </a:r>
          </a:p>
          <a:p>
            <a:r>
              <a:rPr lang="zh-CN" altLang="zh-CN" dirty="0"/>
              <a:t>语音助手；</a:t>
            </a:r>
          </a:p>
          <a:p>
            <a:r>
              <a:rPr lang="zh-CN" altLang="zh-CN" dirty="0"/>
              <a:t>风控；</a:t>
            </a:r>
          </a:p>
          <a:p>
            <a:r>
              <a:rPr lang="zh-CN" altLang="zh-CN" dirty="0"/>
              <a:t>翻译。</a:t>
            </a:r>
          </a:p>
          <a:p>
            <a:r>
              <a:rPr lang="zh-CN" altLang="zh-CN" dirty="0"/>
              <a:t>用这个问题帮助学员意识到，AI早已存在，只是产品形态发生了变化。</a:t>
            </a:r>
          </a:p>
          <a:p>
            <a:endParaRPr kumimoji="1" lang="zh-CN" altLang="en-US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D1A262B3-F420-4517-2651-98FBF17F54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zh-CN" altLang="zh-CN" b="1" dirty="0"/>
              <a:t>本页核心观点</a:t>
            </a:r>
          </a:p>
          <a:p>
            <a:r>
              <a:rPr lang="zh-CN" altLang="zh-CN" dirty="0"/>
              <a:t>AI能力的发展主线正在从理解和生成信息，进一步走向推理、工具调用和多步骤任务执行。</a:t>
            </a:r>
          </a:p>
          <a:p>
            <a:r>
              <a:rPr lang="zh-CN" altLang="zh-CN" b="1" dirty="0"/>
              <a:t>建议讲法</a:t>
            </a:r>
          </a:p>
          <a:p>
            <a:r>
              <a:rPr lang="zh-CN" altLang="zh-CN" dirty="0"/>
              <a:t>上一页讲的是70多年的整体历史，这一页把重点放到2017年以后的加速阶段。</a:t>
            </a:r>
          </a:p>
          <a:p>
            <a:r>
              <a:rPr lang="zh-CN" altLang="zh-CN" b="1" dirty="0"/>
              <a:t>2017年：Transformer</a:t>
            </a:r>
          </a:p>
          <a:p>
            <a:r>
              <a:rPr lang="zh-CN" altLang="zh-CN" dirty="0"/>
              <a:t>Transformer为大规模语言模型提供了重要技术基础。</a:t>
            </a:r>
          </a:p>
          <a:p>
            <a:r>
              <a:rPr lang="zh-CN" altLang="zh-CN" dirty="0"/>
              <a:t>对产品经理来说，不需要掌握公式，但需要知道它推动了模型对上下文、语言关系和大规模文本的学习。</a:t>
            </a:r>
          </a:p>
          <a:p>
            <a:r>
              <a:rPr lang="zh-CN" altLang="zh-CN" b="1" dirty="0"/>
              <a:t>2018—2021年：预训练模型</a:t>
            </a:r>
          </a:p>
          <a:p>
            <a:r>
              <a:rPr lang="zh-CN" altLang="zh-CN" dirty="0"/>
              <a:t>过去，一个任务通常对应一个专门模型。</a:t>
            </a:r>
          </a:p>
          <a:p>
            <a:r>
              <a:rPr lang="zh-CN" altLang="zh-CN" dirty="0"/>
              <a:t>例如：</a:t>
            </a:r>
          </a:p>
          <a:p>
            <a:r>
              <a:rPr lang="zh-CN" altLang="zh-CN" dirty="0"/>
              <a:t>一个模型判断情绪；</a:t>
            </a:r>
          </a:p>
          <a:p>
            <a:r>
              <a:rPr lang="zh-CN" altLang="zh-CN" dirty="0"/>
              <a:t>一个模型做文本分类；</a:t>
            </a:r>
          </a:p>
          <a:p>
            <a:r>
              <a:rPr lang="zh-CN" altLang="zh-CN" dirty="0"/>
              <a:t>一个模型做翻译；</a:t>
            </a:r>
          </a:p>
          <a:p>
            <a:r>
              <a:rPr lang="zh-CN" altLang="zh-CN" dirty="0"/>
              <a:t>一个模型做问答。</a:t>
            </a:r>
          </a:p>
          <a:p>
            <a:r>
              <a:rPr lang="zh-CN" altLang="zh-CN" dirty="0"/>
              <a:t>预训练模型的思路是：</a:t>
            </a:r>
          </a:p>
          <a:p>
            <a:r>
              <a:rPr lang="zh-CN" altLang="zh-CN" dirty="0"/>
              <a:t>先通过大规模数据训练一个基础模型，再让它适应不同任务。</a:t>
            </a:r>
          </a:p>
          <a:p>
            <a:r>
              <a:rPr lang="zh-CN" altLang="zh-CN" dirty="0"/>
              <a:t>产品开发开始从“每个任务训练一个模型”，逐渐走向“使用基础模型完成多种任务”。</a:t>
            </a:r>
          </a:p>
          <a:p>
            <a:r>
              <a:rPr lang="zh-CN" altLang="zh-CN" b="1" dirty="0"/>
              <a:t>2022年：生成式AI普及</a:t>
            </a:r>
          </a:p>
          <a:p>
            <a:r>
              <a:rPr lang="zh-CN" altLang="zh-CN" dirty="0"/>
              <a:t>用户通过自然语言向AI表达任务。</a:t>
            </a:r>
          </a:p>
          <a:p>
            <a:r>
              <a:rPr lang="zh-CN" altLang="zh-CN" dirty="0"/>
              <a:t>交互方式从：</a:t>
            </a:r>
          </a:p>
          <a:p>
            <a:r>
              <a:rPr lang="zh-CN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点击固定功能</a:t>
            </a:r>
          </a:p>
          <a:p>
            <a:r>
              <a:rPr lang="zh-CN" altLang="zh-CN" dirty="0"/>
              <a:t>逐渐扩展为：</a:t>
            </a:r>
          </a:p>
          <a:p>
            <a:r>
              <a:rPr lang="zh-CN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描述自己的目标</a:t>
            </a:r>
          </a:p>
          <a:p>
            <a:r>
              <a:rPr lang="zh-CN" altLang="zh-CN" dirty="0"/>
              <a:t>例如，用户不再只点击“生成摘要”，而是可以说：</a:t>
            </a:r>
          </a:p>
          <a:p>
            <a:r>
              <a:rPr lang="zh-CN" altLang="zh-CN" dirty="0"/>
              <a:t>请总结这份访谈中用户最不满意的三个问题，并列出对应原文。</a:t>
            </a:r>
          </a:p>
          <a:p>
            <a:r>
              <a:rPr lang="zh-CN" altLang="zh-CN" dirty="0"/>
              <a:t>自然语言开始成为新的产品交互入口。</a:t>
            </a:r>
          </a:p>
          <a:p>
            <a:r>
              <a:rPr lang="zh-CN" altLang="zh-CN" b="1" dirty="0"/>
              <a:t>2023年：大模型和多模态</a:t>
            </a:r>
          </a:p>
          <a:p>
            <a:r>
              <a:rPr lang="zh-CN" altLang="zh-CN" dirty="0"/>
              <a:t>多模态是指模型能够处理多种类型的信息。</a:t>
            </a:r>
          </a:p>
          <a:p>
            <a:r>
              <a:rPr lang="zh-CN" altLang="zh-CN" dirty="0"/>
              <a:t>例如，一个模型可以同时处理：</a:t>
            </a:r>
          </a:p>
          <a:p>
            <a:r>
              <a:rPr lang="zh-CN" altLang="zh-CN" dirty="0"/>
              <a:t>文字；</a:t>
            </a:r>
          </a:p>
          <a:p>
            <a:r>
              <a:rPr lang="zh-CN" altLang="zh-CN" dirty="0"/>
              <a:t>图片；</a:t>
            </a:r>
          </a:p>
          <a:p>
            <a:r>
              <a:rPr lang="zh-CN" altLang="zh-CN" dirty="0"/>
              <a:t>表格；</a:t>
            </a:r>
          </a:p>
          <a:p>
            <a:r>
              <a:rPr lang="zh-CN" altLang="zh-CN" dirty="0"/>
              <a:t>语音；</a:t>
            </a:r>
          </a:p>
          <a:p>
            <a:r>
              <a:rPr lang="zh-CN" altLang="zh-CN" dirty="0"/>
              <a:t>视频。</a:t>
            </a:r>
          </a:p>
          <a:p>
            <a:r>
              <a:rPr lang="zh-CN" altLang="zh-CN" dirty="0"/>
              <a:t>这意味着产品不再只能让用户输入文字。</a:t>
            </a:r>
          </a:p>
          <a:p>
            <a:r>
              <a:rPr lang="zh-CN" altLang="zh-CN" dirty="0"/>
              <a:t>例如，用户可以上传一张商品图片，让AI：</a:t>
            </a:r>
          </a:p>
          <a:p>
            <a:r>
              <a:rPr lang="zh-CN" altLang="zh-CN" dirty="0"/>
              <a:t>识别商品内容；</a:t>
            </a:r>
          </a:p>
          <a:p>
            <a:r>
              <a:rPr lang="zh-CN" altLang="zh-CN" dirty="0"/>
              <a:t>提取图片中的文字；</a:t>
            </a:r>
          </a:p>
          <a:p>
            <a:r>
              <a:rPr lang="zh-CN" altLang="zh-CN" dirty="0"/>
              <a:t>判断是否存在风险；</a:t>
            </a:r>
          </a:p>
          <a:p>
            <a:r>
              <a:rPr lang="zh-CN" altLang="zh-CN" dirty="0"/>
              <a:t>生成商品描述；</a:t>
            </a:r>
          </a:p>
          <a:p>
            <a:r>
              <a:rPr lang="zh-CN" altLang="zh-CN" dirty="0"/>
              <a:t>提出修改建议。</a:t>
            </a:r>
          </a:p>
          <a:p>
            <a:r>
              <a:rPr lang="zh-CN" altLang="zh-CN" b="1" dirty="0"/>
              <a:t>2024年：长上下文和工具调用</a:t>
            </a:r>
          </a:p>
          <a:p>
            <a:r>
              <a:rPr lang="zh-CN" altLang="zh-CN" b="1" dirty="0"/>
              <a:t>长上下文是什么</a:t>
            </a:r>
          </a:p>
          <a:p>
            <a:r>
              <a:rPr lang="zh-CN" altLang="zh-CN" dirty="0"/>
              <a:t>上下文可以简单理解为模型在一次任务中能够接收和参考的信息。</a:t>
            </a:r>
          </a:p>
          <a:p>
            <a:r>
              <a:rPr lang="zh-CN" altLang="zh-CN" dirty="0"/>
              <a:t>上下文越长，模型一次可以处理的资料越多，例如：</a:t>
            </a:r>
          </a:p>
          <a:p>
            <a:r>
              <a:rPr lang="zh-CN" altLang="zh-CN" dirty="0"/>
              <a:t>更长的合同；</a:t>
            </a:r>
          </a:p>
          <a:p>
            <a:r>
              <a:rPr lang="zh-CN" altLang="zh-CN" dirty="0"/>
              <a:t>多份项目文档；</a:t>
            </a:r>
          </a:p>
          <a:p>
            <a:r>
              <a:rPr lang="zh-CN" altLang="zh-CN" dirty="0"/>
              <a:t>大量代码；</a:t>
            </a:r>
          </a:p>
          <a:p>
            <a:r>
              <a:rPr lang="zh-CN" altLang="zh-CN" dirty="0"/>
              <a:t>一段很长的会议记录。</a:t>
            </a:r>
          </a:p>
          <a:p>
            <a:r>
              <a:rPr lang="zh-CN" altLang="zh-CN" dirty="0"/>
              <a:t>但“能够放进去”不等于“能够准确理解所有内容”。产品仍需要测试模型是否遗漏、混淆和错误引用。</a:t>
            </a:r>
          </a:p>
          <a:p>
            <a:r>
              <a:rPr lang="zh-CN" altLang="zh-CN" b="1" dirty="0"/>
              <a:t>工具调用是什么</a:t>
            </a:r>
          </a:p>
          <a:p>
            <a:r>
              <a:rPr lang="zh-CN" altLang="zh-CN" dirty="0"/>
              <a:t>模型本身主要负责理解、推理和生成，但它不天然拥有企业实时数据，也不一定能直接操作业务系统。</a:t>
            </a:r>
          </a:p>
          <a:p>
            <a:r>
              <a:rPr lang="zh-CN" altLang="zh-CN" dirty="0"/>
              <a:t>工具调用允许模型连接外部能力，例如：</a:t>
            </a:r>
          </a:p>
          <a:p>
            <a:r>
              <a:rPr lang="zh-CN" altLang="zh-CN" dirty="0"/>
              <a:t>查询天气；</a:t>
            </a:r>
          </a:p>
          <a:p>
            <a:r>
              <a:rPr lang="zh-CN" altLang="zh-CN" dirty="0"/>
              <a:t>查询数据库；</a:t>
            </a:r>
          </a:p>
          <a:p>
            <a:r>
              <a:rPr lang="zh-CN" altLang="zh-CN" dirty="0"/>
              <a:t>搜索知识库；</a:t>
            </a:r>
          </a:p>
          <a:p>
            <a:r>
              <a:rPr lang="zh-CN" altLang="zh-CN" dirty="0"/>
              <a:t>运行代码；</a:t>
            </a:r>
          </a:p>
          <a:p>
            <a:r>
              <a:rPr lang="zh-CN" altLang="zh-CN" dirty="0"/>
              <a:t>创建日历；</a:t>
            </a:r>
          </a:p>
          <a:p>
            <a:r>
              <a:rPr lang="zh-CN" altLang="zh-CN" dirty="0"/>
              <a:t>写入CRM；</a:t>
            </a:r>
          </a:p>
          <a:p>
            <a:r>
              <a:rPr lang="zh-CN" altLang="zh-CN" dirty="0"/>
              <a:t>调用业务接口。</a:t>
            </a:r>
          </a:p>
          <a:p>
            <a:r>
              <a:rPr lang="zh-CN" altLang="zh-CN" dirty="0"/>
              <a:t>这样，AI开始从“告诉用户怎么做”走向“使用工具帮助用户做”。</a:t>
            </a:r>
          </a:p>
          <a:p>
            <a:r>
              <a:rPr lang="zh-CN" altLang="zh-CN" b="1" dirty="0"/>
              <a:t>2025年至今：推理和Agent</a:t>
            </a:r>
          </a:p>
          <a:p>
            <a:r>
              <a:rPr lang="zh-CN" altLang="zh-CN" b="1" dirty="0"/>
              <a:t>推理模型</a:t>
            </a:r>
          </a:p>
          <a:p>
            <a:r>
              <a:rPr lang="zh-CN" altLang="zh-CN" dirty="0"/>
              <a:t>推理模型更强调在复杂问题上进行多步骤分析。</a:t>
            </a:r>
          </a:p>
          <a:p>
            <a:r>
              <a:rPr lang="zh-CN" altLang="zh-CN" dirty="0"/>
              <a:t>例如：</a:t>
            </a:r>
          </a:p>
          <a:p>
            <a:r>
              <a:rPr lang="zh-CN" altLang="zh-CN" dirty="0"/>
              <a:t>先拆解目标；</a:t>
            </a:r>
          </a:p>
          <a:p>
            <a:r>
              <a:rPr lang="zh-CN" altLang="zh-CN" dirty="0"/>
              <a:t>分析已有信息；</a:t>
            </a:r>
          </a:p>
          <a:p>
            <a:r>
              <a:rPr lang="zh-CN" altLang="zh-CN" dirty="0"/>
              <a:t>找出缺失条件；</a:t>
            </a:r>
          </a:p>
          <a:p>
            <a:r>
              <a:rPr lang="zh-CN" altLang="zh-CN" dirty="0"/>
              <a:t>比较多个方案；</a:t>
            </a:r>
          </a:p>
          <a:p>
            <a:r>
              <a:rPr lang="zh-CN" altLang="zh-CN" dirty="0"/>
              <a:t>得出结论。</a:t>
            </a:r>
          </a:p>
          <a:p>
            <a:r>
              <a:rPr lang="zh-CN" altLang="zh-CN" dirty="0"/>
              <a:t>推理能力仍然可能出错，因此不能因为模型展示了详细思考过程，就默认结果一定正确。</a:t>
            </a:r>
          </a:p>
          <a:p>
            <a:r>
              <a:rPr lang="zh-CN" altLang="zh-CN" b="1" dirty="0"/>
              <a:t>Agent</a:t>
            </a:r>
          </a:p>
          <a:p>
            <a:r>
              <a:rPr lang="zh-CN" altLang="zh-CN" dirty="0"/>
              <a:t>Agent可以先被简单理解为：</a:t>
            </a:r>
          </a:p>
          <a:p>
            <a:r>
              <a:rPr lang="zh-CN" altLang="zh-CN" dirty="0"/>
              <a:t>围绕一个目标，使用模型、上下文、记忆和工具完成多个步骤的系统。</a:t>
            </a:r>
          </a:p>
          <a:p>
            <a:r>
              <a:rPr lang="zh-CN" altLang="zh-CN" dirty="0"/>
              <a:t>例如，用户说：</a:t>
            </a:r>
          </a:p>
          <a:p>
            <a:r>
              <a:rPr lang="zh-CN" altLang="zh-CN" dirty="0"/>
              <a:t>帮我分析本周销售客户的跟进情况，并找出最需要优先跟进的客户。</a:t>
            </a:r>
          </a:p>
          <a:p>
            <a:r>
              <a:rPr lang="zh-CN" altLang="zh-CN" dirty="0"/>
              <a:t>一个Agent可能：</a:t>
            </a:r>
          </a:p>
          <a:p>
            <a:r>
              <a:rPr lang="zh-CN" altLang="zh-CN" dirty="0"/>
              <a:t>查询CRM；</a:t>
            </a:r>
          </a:p>
          <a:p>
            <a:r>
              <a:rPr lang="zh-CN" altLang="zh-CN" dirty="0"/>
              <a:t>获取客户历史记录；</a:t>
            </a:r>
          </a:p>
          <a:p>
            <a:r>
              <a:rPr lang="zh-CN" altLang="zh-CN" dirty="0"/>
              <a:t>分析客户状态；</a:t>
            </a:r>
          </a:p>
          <a:p>
            <a:r>
              <a:rPr lang="zh-CN" altLang="zh-CN" dirty="0"/>
              <a:t>找出停滞客户；</a:t>
            </a:r>
          </a:p>
          <a:p>
            <a:r>
              <a:rPr lang="zh-CN" altLang="zh-CN" dirty="0"/>
              <a:t>生成优先级建议；</a:t>
            </a:r>
          </a:p>
          <a:p>
            <a:r>
              <a:rPr lang="zh-CN" altLang="zh-CN" dirty="0"/>
              <a:t>形成跟进清单；</a:t>
            </a:r>
          </a:p>
          <a:p>
            <a:r>
              <a:rPr lang="zh-CN" altLang="zh-CN" dirty="0"/>
              <a:t>等待销售确认；</a:t>
            </a:r>
          </a:p>
          <a:p>
            <a:r>
              <a:rPr lang="zh-CN" altLang="zh-CN" dirty="0"/>
              <a:t>创建后续任务。</a:t>
            </a:r>
          </a:p>
          <a:p>
            <a:r>
              <a:rPr lang="zh-CN" altLang="zh-CN" dirty="0"/>
              <a:t>它不只是回答一个问题，而是在执行一个任务流程。</a:t>
            </a:r>
          </a:p>
          <a:p>
            <a:r>
              <a:rPr lang="zh-CN" altLang="zh-CN" b="1" dirty="0"/>
              <a:t>从“生成内容”到“执行任务”</a:t>
            </a:r>
          </a:p>
          <a:p>
            <a:r>
              <a:rPr lang="zh-CN" altLang="zh-CN" dirty="0"/>
              <a:t>这一页底部的路径需要逐步解释。</a:t>
            </a:r>
          </a:p>
          <a:p>
            <a:r>
              <a:rPr lang="zh-CN" altLang="zh-CN" b="1" dirty="0"/>
              <a:t>第一步：识别信息</a:t>
            </a:r>
          </a:p>
          <a:p>
            <a:r>
              <a:rPr lang="zh-CN" altLang="zh-CN" dirty="0"/>
              <a:t>AI判断图片、文字、语音和数据中包含什么。</a:t>
            </a:r>
          </a:p>
          <a:p>
            <a:r>
              <a:rPr lang="zh-CN" altLang="zh-CN" b="1" dirty="0"/>
              <a:t>第二步：生成内容</a:t>
            </a:r>
          </a:p>
          <a:p>
            <a:r>
              <a:rPr lang="zh-CN" altLang="zh-CN" dirty="0"/>
              <a:t>AI生成文字、图片、音频、视频和代码。</a:t>
            </a:r>
          </a:p>
          <a:p>
            <a:r>
              <a:rPr lang="zh-CN" altLang="zh-CN" b="1" dirty="0"/>
              <a:t>第三步：分析问题</a:t>
            </a:r>
          </a:p>
          <a:p>
            <a:r>
              <a:rPr lang="zh-CN" altLang="zh-CN" dirty="0"/>
              <a:t>AI根据多条信息进行总结、比较和推理。</a:t>
            </a:r>
          </a:p>
          <a:p>
            <a:r>
              <a:rPr lang="zh-CN" altLang="zh-CN" b="1" dirty="0"/>
              <a:t>第四步：调用工具</a:t>
            </a:r>
          </a:p>
          <a:p>
            <a:r>
              <a:rPr lang="zh-CN" altLang="zh-CN" dirty="0"/>
              <a:t>AI连接搜索、数据库、代码、业务系统和外部接口。</a:t>
            </a:r>
          </a:p>
          <a:p>
            <a:r>
              <a:rPr lang="zh-CN" altLang="zh-CN" b="1" dirty="0"/>
              <a:t>第五步：执行任务</a:t>
            </a:r>
          </a:p>
          <a:p>
            <a:r>
              <a:rPr lang="zh-CN" altLang="zh-CN" dirty="0"/>
              <a:t>AI围绕目标完成多个步骤，并可能改变真实系统状态。</a:t>
            </a:r>
          </a:p>
          <a:p>
            <a:r>
              <a:rPr lang="zh-CN" altLang="zh-CN" b="1" dirty="0"/>
              <a:t>为什么越往后风险越高</a:t>
            </a:r>
          </a:p>
          <a:p>
            <a:r>
              <a:rPr lang="zh-CN" altLang="zh-CN" dirty="0"/>
              <a:t>识别错误，可能得到一个错误标签。</a:t>
            </a:r>
          </a:p>
          <a:p>
            <a:r>
              <a:rPr lang="zh-CN" altLang="zh-CN" dirty="0"/>
              <a:t>生成错误，可能得到一段错误内容。</a:t>
            </a:r>
          </a:p>
          <a:p>
            <a:r>
              <a:rPr lang="zh-CN" altLang="zh-CN" dirty="0"/>
              <a:t>如果AI调用工具和执行任务时出错，可能会：</a:t>
            </a:r>
          </a:p>
          <a:p>
            <a:r>
              <a:rPr lang="zh-CN" altLang="zh-CN" dirty="0"/>
              <a:t>发送错误消息；</a:t>
            </a:r>
          </a:p>
          <a:p>
            <a:r>
              <a:rPr lang="zh-CN" altLang="zh-CN" dirty="0"/>
              <a:t>修改错误数据；</a:t>
            </a:r>
          </a:p>
          <a:p>
            <a:r>
              <a:rPr lang="zh-CN" altLang="zh-CN" dirty="0"/>
              <a:t>创建错误订单；</a:t>
            </a:r>
          </a:p>
          <a:p>
            <a:r>
              <a:rPr lang="zh-CN" altLang="zh-CN" dirty="0"/>
              <a:t>向错误对象发送信息；</a:t>
            </a:r>
          </a:p>
          <a:p>
            <a:r>
              <a:rPr lang="zh-CN" altLang="zh-CN" dirty="0"/>
              <a:t>删除重要内容；</a:t>
            </a:r>
          </a:p>
          <a:p>
            <a:r>
              <a:rPr lang="zh-CN" altLang="zh-CN" dirty="0"/>
              <a:t>泄露敏感数据。</a:t>
            </a:r>
          </a:p>
          <a:p>
            <a:r>
              <a:rPr lang="zh-CN" altLang="zh-CN" dirty="0"/>
              <a:t>所以，AI能力越接近执行，产品越需要：</a:t>
            </a:r>
          </a:p>
          <a:p>
            <a:r>
              <a:rPr lang="zh-CN" altLang="zh-CN" dirty="0"/>
              <a:t>权限控制；</a:t>
            </a:r>
          </a:p>
          <a:p>
            <a:r>
              <a:rPr lang="zh-CN" altLang="zh-CN" dirty="0"/>
              <a:t>人工确认；</a:t>
            </a:r>
          </a:p>
          <a:p>
            <a:r>
              <a:rPr lang="zh-CN" altLang="zh-CN" dirty="0"/>
              <a:t>操作记录；</a:t>
            </a:r>
          </a:p>
          <a:p>
            <a:r>
              <a:rPr lang="zh-CN" altLang="zh-CN" dirty="0"/>
              <a:t>状态展示；</a:t>
            </a:r>
          </a:p>
          <a:p>
            <a:r>
              <a:rPr lang="zh-CN" altLang="zh-CN" dirty="0"/>
              <a:t>失败重试；</a:t>
            </a:r>
          </a:p>
          <a:p>
            <a:r>
              <a:rPr lang="zh-CN" altLang="zh-CN" dirty="0"/>
              <a:t>撤销机制；</a:t>
            </a:r>
          </a:p>
          <a:p>
            <a:r>
              <a:rPr lang="zh-CN" altLang="zh-CN" dirty="0"/>
              <a:t>审计与追踪。</a:t>
            </a:r>
          </a:p>
          <a:p>
            <a:r>
              <a:rPr lang="zh-CN" altLang="zh-CN" b="1" dirty="0"/>
              <a:t>给产品经理的启示</a:t>
            </a:r>
          </a:p>
          <a:p>
            <a:r>
              <a:rPr lang="zh-CN" altLang="zh-CN" dirty="0"/>
              <a:t>未来的AI产品经理不能只思考：</a:t>
            </a:r>
          </a:p>
          <a:p>
            <a:r>
              <a:rPr lang="zh-CN" altLang="zh-CN" dirty="0"/>
              <a:t>AI能不能生成一个结果？</a:t>
            </a:r>
          </a:p>
          <a:p>
            <a:r>
              <a:rPr lang="zh-CN" altLang="zh-CN" dirty="0"/>
              <a:t>还要思考：</a:t>
            </a:r>
          </a:p>
          <a:p>
            <a:r>
              <a:rPr lang="zh-CN" altLang="zh-CN" dirty="0"/>
              <a:t>AI是否理解了正确目标；</a:t>
            </a:r>
          </a:p>
          <a:p>
            <a:r>
              <a:rPr lang="zh-CN" altLang="zh-CN" dirty="0"/>
              <a:t>AI需要哪些数据和知识；</a:t>
            </a:r>
          </a:p>
          <a:p>
            <a:r>
              <a:rPr lang="zh-CN" altLang="zh-CN" dirty="0"/>
              <a:t>AI可以调用哪些工具；</a:t>
            </a:r>
          </a:p>
          <a:p>
            <a:r>
              <a:rPr lang="zh-CN" altLang="zh-CN" dirty="0"/>
              <a:t>哪些操作只允许读取；</a:t>
            </a:r>
          </a:p>
          <a:p>
            <a:r>
              <a:rPr lang="zh-CN" altLang="zh-CN" dirty="0"/>
              <a:t>哪些操作会修改真实数据；</a:t>
            </a:r>
          </a:p>
          <a:p>
            <a:r>
              <a:rPr lang="zh-CN" altLang="zh-CN" dirty="0"/>
              <a:t>哪些步骤必须由人确认；</a:t>
            </a:r>
          </a:p>
          <a:p>
            <a:r>
              <a:rPr lang="zh-CN" altLang="zh-CN" dirty="0"/>
              <a:t>执行失败后怎样恢复；</a:t>
            </a:r>
          </a:p>
          <a:p>
            <a:r>
              <a:rPr lang="zh-CN" altLang="zh-CN" dirty="0"/>
              <a:t>怎样评估整个任务是否完成。</a:t>
            </a:r>
          </a:p>
          <a:p>
            <a:r>
              <a:rPr lang="zh-CN" altLang="zh-CN" b="1" dirty="0"/>
              <a:t>课堂互动</a:t>
            </a:r>
          </a:p>
          <a:p>
            <a:r>
              <a:rPr lang="zh-CN" altLang="zh-CN" dirty="0"/>
              <a:t>给学员两个方案：</a:t>
            </a:r>
          </a:p>
          <a:p>
            <a:r>
              <a:rPr lang="zh-CN" altLang="zh-CN" b="1" dirty="0"/>
              <a:t>方案A</a:t>
            </a:r>
          </a:p>
          <a:p>
            <a:r>
              <a:rPr lang="zh-CN" altLang="zh-CN" dirty="0"/>
              <a:t>AI根据销售拜访记录生成一份客户摘要。</a:t>
            </a:r>
          </a:p>
          <a:p>
            <a:r>
              <a:rPr lang="zh-CN" altLang="zh-CN" b="1" dirty="0"/>
              <a:t>方案B</a:t>
            </a:r>
          </a:p>
          <a:p>
            <a:r>
              <a:rPr lang="zh-CN" altLang="zh-CN" dirty="0"/>
              <a:t>AI生成摘要，判断客户意向，创建后续任务，并自动向客户发送试用方案。</a:t>
            </a:r>
          </a:p>
          <a:p>
            <a:r>
              <a:rPr lang="zh-CN" altLang="zh-CN" dirty="0"/>
              <a:t>提问：</a:t>
            </a:r>
          </a:p>
          <a:p>
            <a:r>
              <a:rPr lang="zh-CN" altLang="zh-CN" dirty="0"/>
              <a:t>哪一个方案价值可能更大？哪一个方案风险更大？为什么？</a:t>
            </a:r>
          </a:p>
          <a:p>
            <a:r>
              <a:rPr lang="zh-CN" altLang="zh-CN" dirty="0"/>
              <a:t>参考收口：</a:t>
            </a:r>
          </a:p>
          <a:p>
            <a:r>
              <a:rPr lang="zh-CN" altLang="zh-CN" dirty="0"/>
              <a:t>方案B更接近任务执行，价值可能更大，但AI一旦误判客户意向、选错材料或发送给错误对象，也会造成更大风险，因此需要更严格的人机分工和确认机制。</a:t>
            </a:r>
          </a:p>
          <a:p>
            <a:r>
              <a:rPr lang="zh-CN" altLang="zh-CN" b="1" dirty="0"/>
              <a:t>本页收口</a:t>
            </a:r>
          </a:p>
          <a:p>
            <a:r>
              <a:rPr lang="zh-CN" altLang="zh-CN" dirty="0"/>
              <a:t>AI正在从“帮助我们产生内容”走向“帮助我们完成任务”。产品经理的重点，也会从设计一个生成入口，逐渐转向设计目标、知识、工具、权限、流程和人机协作。</a:t>
            </a:r>
          </a:p>
          <a:p>
            <a:endParaRPr kumimoji="1" lang="zh-CN" altLang="en-US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24C76-2C36-3E1F-495A-D03271A1E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E3F319-9173-3544-6719-F53EB192FC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D5EC6C-7EE5-87B9-40B8-0F199C2F61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b="1" dirty="0"/>
              <a:t>页面作用</a:t>
            </a:r>
          </a:p>
          <a:p>
            <a:r>
              <a:rPr lang="zh-CN" altLang="zh-CN" dirty="0"/>
              <a:t>从AI基本概念进入产品分析实践。</a:t>
            </a:r>
          </a:p>
          <a:p>
            <a:r>
              <a:rPr lang="zh-CN" altLang="zh-CN" dirty="0"/>
              <a:t>前面的内容回答了“AI是什么、怎样发展、能够做什么”；从这一页开始，需要让学员第一次真正站在产品经理角度做判断。</a:t>
            </a:r>
          </a:p>
          <a:p>
            <a:r>
              <a:rPr lang="zh-CN" altLang="zh-CN" b="1" dirty="0"/>
              <a:t>建议转场话术</a:t>
            </a:r>
          </a:p>
          <a:p>
            <a:r>
              <a:rPr lang="zh-CN" altLang="zh-CN" dirty="0"/>
              <a:t>前面我们建立了AI的基本概念地图。</a:t>
            </a:r>
          </a:p>
          <a:p>
            <a:r>
              <a:rPr lang="zh-CN" altLang="zh-CN" dirty="0"/>
              <a:t>我们知道AI可以识别信息、生成内容、分析问题、调用工具和执行任务。</a:t>
            </a:r>
          </a:p>
          <a:p>
            <a:r>
              <a:rPr lang="zh-CN" altLang="zh-CN" dirty="0"/>
              <a:t>但对于产品经理来说，知道AI能做什么只是第一步。</a:t>
            </a:r>
          </a:p>
          <a:p>
            <a:r>
              <a:rPr lang="zh-CN" altLang="zh-CN" dirty="0"/>
              <a:t>真正困难的问题是：</a:t>
            </a:r>
          </a:p>
          <a:p>
            <a:r>
              <a:rPr lang="zh-CN" altLang="zh-CN" dirty="0"/>
              <a:t>在一个真实业务中，究竟应该优先使用AI解决什么问题？</a:t>
            </a:r>
          </a:p>
          <a:p>
            <a:r>
              <a:rPr lang="zh-CN" altLang="zh-CN" dirty="0"/>
              <a:t>如果没有这个判断，很容易看到一个业务就说“做一个AI助手”，看到一批资料就说“做一个知识库”，看到一段流程就说“做一个Agent”。</a:t>
            </a:r>
          </a:p>
          <a:p>
            <a:r>
              <a:rPr lang="zh-CN" altLang="zh-CN" dirty="0"/>
              <a:t>接下来，我们用一个本地生活销售场景进行练习。</a:t>
            </a:r>
          </a:p>
          <a:p>
            <a:r>
              <a:rPr lang="zh-CN" altLang="zh-CN" dirty="0"/>
              <a:t>这一次我不会一开始告诉大家标准答案。大家需要先从业务背景中寻找问题，提出不同方向，再判断哪个方向最值得优先尝试。</a:t>
            </a:r>
          </a:p>
          <a:p>
            <a:r>
              <a:rPr lang="zh-CN" altLang="zh-CN" b="1" dirty="0"/>
              <a:t>课堂规则</a:t>
            </a:r>
          </a:p>
          <a:p>
            <a:r>
              <a:rPr lang="zh-CN" altLang="zh-CN" dirty="0"/>
              <a:t>提前告诉学员三条规则：</a:t>
            </a:r>
          </a:p>
          <a:p>
            <a:r>
              <a:rPr lang="zh-CN" altLang="zh-CN" dirty="0"/>
              <a:t>暂时不要讨论具体模型和工具；</a:t>
            </a:r>
          </a:p>
          <a:p>
            <a:r>
              <a:rPr lang="zh-CN" altLang="zh-CN" dirty="0"/>
              <a:t>暂时不要直接说“做一个AI助手”；</a:t>
            </a:r>
          </a:p>
          <a:p>
            <a:r>
              <a:rPr lang="zh-CN" altLang="zh-CN" dirty="0"/>
              <a:t>不要求找出唯一正确答案，但每个选择都要说明理由。</a:t>
            </a:r>
          </a:p>
          <a:p>
            <a:r>
              <a:rPr lang="zh-CN" altLang="zh-CN" b="1" dirty="0"/>
              <a:t>讲师提示</a:t>
            </a:r>
          </a:p>
          <a:p>
            <a:r>
              <a:rPr lang="zh-CN" altLang="zh-CN" dirty="0"/>
              <a:t>这一页不要提前出现“销售拜访记录助手”“录音转写”“CRM草稿”等词，否则后面的开放分析会失去意义。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D93C9D-2ECE-15B1-B0EE-320FA6D5FA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17444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522C0-6472-F46B-DC82-932B105E5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89EAF327-215E-577C-EBD7-DD85220EA2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zh-CN" altLang="zh-CN" b="1" dirty="0"/>
              <a:t>本页教学目标</a:t>
            </a:r>
          </a:p>
          <a:p>
            <a:r>
              <a:rPr lang="zh-CN" altLang="zh-CN" dirty="0"/>
              <a:t>让学员从完整的销售客户经营场景中发现多个潜在问题，而不是直接被引导到会议纪要或资料整理。</a:t>
            </a:r>
          </a:p>
          <a:p>
            <a:r>
              <a:rPr lang="zh-CN" altLang="zh-CN" b="1" dirty="0"/>
              <a:t>一、案例性质说明</a:t>
            </a:r>
          </a:p>
          <a:p>
            <a:r>
              <a:rPr lang="zh-CN" altLang="zh-CN" dirty="0"/>
              <a:t>建议先说：</a:t>
            </a:r>
          </a:p>
          <a:p>
            <a:r>
              <a:rPr lang="zh-CN" altLang="zh-CN" dirty="0"/>
              <a:t>这是一个根据常见本地生活销售业务抽象出来的教学案例，不代表任何公司的内部项目或真实经营数据。案例中的人数、客户量和工作方式都是为了课堂练习设置的假设，真实立项前必须重新调研和验证。</a:t>
            </a:r>
          </a:p>
          <a:p>
            <a:r>
              <a:rPr lang="zh-CN" altLang="zh-CN" dirty="0"/>
              <a:t>这样既能保持案例真实感，也不会将教学假设伪装成真实内部经历。</a:t>
            </a:r>
          </a:p>
          <a:p>
            <a:r>
              <a:rPr lang="zh-CN" altLang="zh-CN" b="1" dirty="0"/>
              <a:t>二、讲解业务背景</a:t>
            </a:r>
          </a:p>
          <a:p>
            <a:r>
              <a:rPr lang="zh-CN" altLang="zh-CN" dirty="0"/>
              <a:t>某本地生活平台主要服务餐饮、休闲娱乐等本地商家。</a:t>
            </a:r>
          </a:p>
          <a:p>
            <a:r>
              <a:rPr lang="zh-CN" altLang="zh-CN" dirty="0"/>
              <a:t>销售团队的工作不是完成一次销售就结束，而是需要持续经营客户。</a:t>
            </a:r>
          </a:p>
          <a:p>
            <a:r>
              <a:rPr lang="zh-CN" altLang="zh-CN" dirty="0"/>
              <a:t>一名销售可能需要完成：</a:t>
            </a:r>
          </a:p>
          <a:p>
            <a:r>
              <a:rPr lang="zh-CN" altLang="zh-CN" dirty="0"/>
              <a:t>寻找潜在商家；</a:t>
            </a:r>
          </a:p>
          <a:p>
            <a:r>
              <a:rPr lang="zh-CN" altLang="zh-CN" dirty="0"/>
              <a:t>了解商家的经营情况；</a:t>
            </a:r>
          </a:p>
          <a:p>
            <a:r>
              <a:rPr lang="zh-CN" altLang="zh-CN" dirty="0"/>
              <a:t>判断商家的真实需求；</a:t>
            </a:r>
          </a:p>
          <a:p>
            <a:r>
              <a:rPr lang="zh-CN" altLang="zh-CN" dirty="0"/>
              <a:t>推荐平台产品或营销方案；</a:t>
            </a:r>
          </a:p>
          <a:p>
            <a:r>
              <a:rPr lang="zh-CN" altLang="zh-CN" dirty="0"/>
              <a:t>回答客户提出的功能、价格和效果问题；</a:t>
            </a:r>
          </a:p>
          <a:p>
            <a:r>
              <a:rPr lang="zh-CN" altLang="zh-CN" dirty="0"/>
              <a:t>推动客户试用或签约；</a:t>
            </a:r>
          </a:p>
          <a:p>
            <a:r>
              <a:rPr lang="zh-CN" altLang="zh-CN" dirty="0"/>
              <a:t>维护已经合作的客户；</a:t>
            </a:r>
          </a:p>
          <a:p>
            <a:r>
              <a:rPr lang="zh-CN" altLang="zh-CN" dirty="0"/>
              <a:t>识别可能流失的客户；</a:t>
            </a:r>
          </a:p>
          <a:p>
            <a:r>
              <a:rPr lang="zh-CN" altLang="zh-CN" dirty="0"/>
              <a:t>协调内部团队解决客户问题。</a:t>
            </a:r>
          </a:p>
          <a:p>
            <a:r>
              <a:rPr lang="zh-CN" altLang="zh-CN" dirty="0"/>
              <a:t>这意味着销售面对的不是一个简单动作，而是一条完整客户经营链路。</a:t>
            </a:r>
          </a:p>
          <a:p>
            <a:r>
              <a:rPr lang="zh-CN" altLang="zh-CN" b="1" dirty="0"/>
              <a:t>三、讲解“销售的一天”</a:t>
            </a:r>
          </a:p>
          <a:p>
            <a:r>
              <a:rPr lang="zh-CN" altLang="zh-CN" dirty="0"/>
              <a:t>假设一名销售同时跟进30—50个客户。</a:t>
            </a:r>
          </a:p>
          <a:p>
            <a:r>
              <a:rPr lang="zh-CN" altLang="zh-CN" dirty="0"/>
              <a:t>这里的数字只是教学假设，目的是让大家感受到销售面临的管理复杂度，不代表真实企业数据。</a:t>
            </a:r>
          </a:p>
          <a:p>
            <a:r>
              <a:rPr lang="zh-CN" altLang="zh-CN" dirty="0"/>
              <a:t>销售一天可能需要：</a:t>
            </a:r>
          </a:p>
          <a:p>
            <a:r>
              <a:rPr lang="zh-CN" altLang="zh-CN" dirty="0"/>
              <a:t>查看客户历史情况；</a:t>
            </a:r>
          </a:p>
          <a:p>
            <a:r>
              <a:rPr lang="zh-CN" altLang="zh-CN" dirty="0"/>
              <a:t>判断今天优先跟进谁；</a:t>
            </a:r>
          </a:p>
          <a:p>
            <a:r>
              <a:rPr lang="zh-CN" altLang="zh-CN" dirty="0"/>
              <a:t>准备不同客户的沟通方案；</a:t>
            </a:r>
          </a:p>
          <a:p>
            <a:r>
              <a:rPr lang="zh-CN" altLang="zh-CN" dirty="0"/>
              <a:t>拜访或联系3—5个客户；</a:t>
            </a:r>
          </a:p>
          <a:p>
            <a:r>
              <a:rPr lang="zh-CN" altLang="zh-CN" dirty="0"/>
              <a:t>回答客户问题；</a:t>
            </a:r>
          </a:p>
          <a:p>
            <a:r>
              <a:rPr lang="zh-CN" altLang="zh-CN" dirty="0"/>
              <a:t>协调产品、运营和售后；</a:t>
            </a:r>
          </a:p>
          <a:p>
            <a:r>
              <a:rPr lang="zh-CN" altLang="zh-CN" dirty="0"/>
              <a:t>推动客户完成下一步行动；</a:t>
            </a:r>
          </a:p>
          <a:p>
            <a:r>
              <a:rPr lang="zh-CN" altLang="zh-CN" dirty="0"/>
              <a:t>向主管同步进展。</a:t>
            </a:r>
          </a:p>
          <a:p>
            <a:r>
              <a:rPr lang="zh-CN" altLang="zh-CN" dirty="0"/>
              <a:t>这些客户所处阶段不同：</a:t>
            </a:r>
          </a:p>
          <a:p>
            <a:r>
              <a:rPr lang="zh-CN" altLang="zh-CN" dirty="0"/>
              <a:t>有些客户不了解平台；</a:t>
            </a:r>
          </a:p>
          <a:p>
            <a:r>
              <a:rPr lang="zh-CN" altLang="zh-CN" dirty="0"/>
              <a:t>有些客户正在比较方案；</a:t>
            </a:r>
          </a:p>
          <a:p>
            <a:r>
              <a:rPr lang="zh-CN" altLang="zh-CN" dirty="0"/>
              <a:t>有些客户有意向但没有行动；</a:t>
            </a:r>
          </a:p>
          <a:p>
            <a:r>
              <a:rPr lang="zh-CN" altLang="zh-CN" dirty="0"/>
              <a:t>有些已经合作但使用效果不好；</a:t>
            </a:r>
          </a:p>
          <a:p>
            <a:r>
              <a:rPr lang="zh-CN" altLang="zh-CN" dirty="0"/>
              <a:t>有些可能即将停止合作。</a:t>
            </a:r>
          </a:p>
          <a:p>
            <a:r>
              <a:rPr lang="zh-CN" altLang="zh-CN" b="1" dirty="0"/>
              <a:t>四、讲解当前现象</a:t>
            </a:r>
          </a:p>
          <a:p>
            <a:r>
              <a:rPr lang="zh-CN" altLang="zh-CN" dirty="0"/>
              <a:t>逐条展示现象，但不要替学员判断哪个最重要。</a:t>
            </a:r>
          </a:p>
          <a:p>
            <a:r>
              <a:rPr lang="zh-CN" altLang="zh-CN" b="1" dirty="0"/>
              <a:t>现象1：很难快速掌握客户完整情况</a:t>
            </a:r>
          </a:p>
          <a:p>
            <a:r>
              <a:rPr lang="zh-CN" altLang="zh-CN" dirty="0"/>
              <a:t>客户信息可能分散在CRM、聊天记录、订单数据、历史活动和销售个人记忆中。</a:t>
            </a:r>
          </a:p>
          <a:p>
            <a:r>
              <a:rPr lang="zh-CN" altLang="zh-CN" dirty="0"/>
              <a:t>但“信息分散”不一定自动等于“应该做AI总结”。还需要判断信息是否真实存在、是否允许访问，以及销售最缺的究竟是信息还是判断。</a:t>
            </a:r>
          </a:p>
          <a:p>
            <a:r>
              <a:rPr lang="zh-CN" altLang="zh-CN" b="1" dirty="0"/>
              <a:t>现象2：客户意向判断标准不一致</a:t>
            </a:r>
          </a:p>
          <a:p>
            <a:r>
              <a:rPr lang="zh-CN" altLang="zh-CN" dirty="0"/>
              <a:t>一名销售认为“愿意继续了解”代表高意向，另一名销售可能认为只有确定预算和时间才算高意向。</a:t>
            </a:r>
          </a:p>
          <a:p>
            <a:r>
              <a:rPr lang="zh-CN" altLang="zh-CN" dirty="0"/>
              <a:t>这可能是AI机会，也可能首先需要统一销售管理标准。</a:t>
            </a:r>
          </a:p>
          <a:p>
            <a:r>
              <a:rPr lang="zh-CN" altLang="zh-CN" b="1" dirty="0"/>
              <a:t>现象3：大量时间用于查资料和准备沟通</a:t>
            </a:r>
          </a:p>
          <a:p>
            <a:r>
              <a:rPr lang="zh-CN" altLang="zh-CN" dirty="0"/>
              <a:t>这可能产生多个方向：</a:t>
            </a:r>
          </a:p>
          <a:p>
            <a:r>
              <a:rPr lang="zh-CN" altLang="zh-CN" dirty="0"/>
              <a:t>客户洞察；</a:t>
            </a:r>
          </a:p>
          <a:p>
            <a:r>
              <a:rPr lang="zh-CN" altLang="zh-CN" dirty="0"/>
              <a:t>拜访前准备；</a:t>
            </a:r>
          </a:p>
          <a:p>
            <a:r>
              <a:rPr lang="zh-CN" altLang="zh-CN" dirty="0"/>
              <a:t>产品知识问答；</a:t>
            </a:r>
          </a:p>
          <a:p>
            <a:r>
              <a:rPr lang="zh-CN" altLang="zh-CN" dirty="0"/>
              <a:t>个性化方案推荐。</a:t>
            </a:r>
          </a:p>
          <a:p>
            <a:r>
              <a:rPr lang="zh-CN" altLang="zh-CN" dirty="0"/>
              <a:t>但需要继续判断哪个方向价值更高。</a:t>
            </a:r>
          </a:p>
          <a:p>
            <a:r>
              <a:rPr lang="zh-CN" altLang="zh-CN" b="1" dirty="0"/>
              <a:t>现象4：客户问题无法当场准确回答</a:t>
            </a:r>
          </a:p>
          <a:p>
            <a:r>
              <a:rPr lang="zh-CN" altLang="zh-CN" dirty="0"/>
              <a:t>可能需要知识辅助，也可能需要优化产品培训、专家支持或内部协作流程。</a:t>
            </a:r>
          </a:p>
          <a:p>
            <a:r>
              <a:rPr lang="zh-CN" altLang="zh-CN" b="1" dirty="0"/>
              <a:t>现象5：相同方案推荐给不同客户</a:t>
            </a:r>
          </a:p>
          <a:p>
            <a:r>
              <a:rPr lang="zh-CN" altLang="zh-CN" dirty="0"/>
              <a:t>这可能意味着销售缺少客户分层、需求识别或方案推荐能力。</a:t>
            </a:r>
          </a:p>
          <a:p>
            <a:r>
              <a:rPr lang="zh-CN" altLang="zh-CN" b="1" dirty="0"/>
              <a:t>现象6：高潜力客户没有及时跟进</a:t>
            </a:r>
          </a:p>
          <a:p>
            <a:r>
              <a:rPr lang="zh-CN" altLang="zh-CN" dirty="0"/>
              <a:t>可能涉及客户优先级、提醒机制、销售执行力或客户意向判断。</a:t>
            </a:r>
          </a:p>
          <a:p>
            <a:r>
              <a:rPr lang="zh-CN" altLang="zh-CN" b="1" dirty="0"/>
              <a:t>现象7：管理者不知道客户为什么停滞</a:t>
            </a:r>
          </a:p>
          <a:p>
            <a:r>
              <a:rPr lang="zh-CN" altLang="zh-CN" dirty="0"/>
              <a:t>可能涉及信息记录、销售过程管理、客户阶段定义或商机分析。</a:t>
            </a:r>
          </a:p>
          <a:p>
            <a:r>
              <a:rPr lang="zh-CN" altLang="zh-CN" b="1" dirty="0"/>
              <a:t>现象8：优秀销售经验难以复制</a:t>
            </a:r>
          </a:p>
          <a:p>
            <a:r>
              <a:rPr lang="zh-CN" altLang="zh-CN" dirty="0"/>
              <a:t>可能涉及培训、知识沉淀、沟通策略和最佳实践推荐。</a:t>
            </a:r>
          </a:p>
          <a:p>
            <a:r>
              <a:rPr lang="zh-CN" altLang="zh-CN" b="1" dirty="0"/>
              <a:t>五、独立思考任务</a:t>
            </a:r>
          </a:p>
          <a:p>
            <a:r>
              <a:rPr lang="zh-CN" altLang="zh-CN" dirty="0"/>
              <a:t>给学员5分钟，要求每个人完成下面的内容：</a:t>
            </a: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我选择的问题：</a:t>
            </a: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受到影响的用户：</a:t>
            </a: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用户现在怎样解决：</a:t>
            </a: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我认为AI可以承担的任务：</a:t>
            </a: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 AI产生的具体输出：</a:t>
            </a: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6. 必须由人完成的部分：</a:t>
            </a: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7. 我选择这个问题的理由：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b="1" dirty="0"/>
              <a:t>六、学员可能提出的方向</a:t>
            </a:r>
          </a:p>
          <a:p>
            <a:r>
              <a:rPr lang="zh-CN" altLang="zh-CN" dirty="0"/>
              <a:t>讲师不要只等待“销售拜访记录”。正常情况下，学员可能提出：</a:t>
            </a:r>
          </a:p>
          <a:p>
            <a:r>
              <a:rPr lang="zh-CN" altLang="zh-CN" dirty="0"/>
              <a:t>潜在客户识别；</a:t>
            </a:r>
          </a:p>
          <a:p>
            <a:r>
              <a:rPr lang="zh-CN" altLang="zh-CN" dirty="0"/>
              <a:t>客户优先级排序；</a:t>
            </a:r>
          </a:p>
          <a:p>
            <a:r>
              <a:rPr lang="zh-CN" altLang="zh-CN" dirty="0"/>
              <a:t>拜访前客户洞察；</a:t>
            </a:r>
          </a:p>
          <a:p>
            <a:r>
              <a:rPr lang="zh-CN" altLang="zh-CN" dirty="0"/>
              <a:t>个性化拜访方案；</a:t>
            </a:r>
          </a:p>
          <a:p>
            <a:r>
              <a:rPr lang="zh-CN" altLang="zh-CN" dirty="0"/>
              <a:t>销售实时话术辅助；</a:t>
            </a:r>
          </a:p>
          <a:p>
            <a:r>
              <a:rPr lang="zh-CN" altLang="zh-CN" dirty="0"/>
              <a:t>产品知识问答；</a:t>
            </a:r>
          </a:p>
          <a:p>
            <a:r>
              <a:rPr lang="zh-CN" altLang="zh-CN" dirty="0"/>
              <a:t>客户需求识别；</a:t>
            </a:r>
          </a:p>
          <a:p>
            <a:r>
              <a:rPr lang="zh-CN" altLang="zh-CN" dirty="0"/>
              <a:t>销售拜访信息沉淀；</a:t>
            </a:r>
          </a:p>
          <a:p>
            <a:r>
              <a:rPr lang="zh-CN" altLang="zh-CN" dirty="0"/>
              <a:t>下一步行动建议；</a:t>
            </a:r>
          </a:p>
          <a:p>
            <a:r>
              <a:rPr lang="zh-CN" altLang="zh-CN" dirty="0"/>
              <a:t>客户流失风险预测；</a:t>
            </a:r>
          </a:p>
          <a:p>
            <a:r>
              <a:rPr lang="zh-CN" altLang="zh-CN" dirty="0"/>
              <a:t>销售主管的商机分析；</a:t>
            </a:r>
          </a:p>
          <a:p>
            <a:r>
              <a:rPr lang="zh-CN" altLang="zh-CN" dirty="0"/>
              <a:t>新销售培训助手。</a:t>
            </a:r>
          </a:p>
          <a:p>
            <a:r>
              <a:rPr lang="zh-CN" altLang="zh-CN" dirty="0"/>
              <a:t>这些答案都可以成立，关键是继续比较。</a:t>
            </a:r>
          </a:p>
          <a:p>
            <a:r>
              <a:rPr lang="zh-CN" altLang="zh-CN" b="1" dirty="0"/>
              <a:t>七、小组交流方式</a:t>
            </a:r>
          </a:p>
          <a:p>
            <a:r>
              <a:rPr lang="zh-CN" altLang="zh-CN" dirty="0"/>
              <a:t>独立思考后，3—4人一组交流。</a:t>
            </a:r>
          </a:p>
          <a:p>
            <a:r>
              <a:rPr lang="zh-CN" altLang="zh-CN" dirty="0"/>
              <a:t>每个人用一分钟说明：</a:t>
            </a:r>
          </a:p>
          <a:p>
            <a:r>
              <a:rPr lang="zh-CN" altLang="zh-CN" dirty="0"/>
              <a:t>选择了哪个问题；</a:t>
            </a:r>
          </a:p>
          <a:p>
            <a:r>
              <a:rPr lang="zh-CN" altLang="zh-CN" dirty="0"/>
              <a:t>为什么它最值得优先解决；</a:t>
            </a:r>
          </a:p>
          <a:p>
            <a:r>
              <a:rPr lang="zh-CN" altLang="zh-CN" dirty="0"/>
              <a:t>AI具体做什么；</a:t>
            </a:r>
          </a:p>
          <a:p>
            <a:r>
              <a:rPr lang="zh-CN" altLang="zh-CN" dirty="0"/>
              <a:t>最大风险是什么。</a:t>
            </a:r>
          </a:p>
          <a:p>
            <a:r>
              <a:rPr lang="zh-CN" altLang="zh-CN" dirty="0"/>
              <a:t>小组最后选出一个最想推进的方向。</a:t>
            </a:r>
          </a:p>
          <a:p>
            <a:r>
              <a:rPr lang="zh-CN" altLang="zh-CN" b="1" dirty="0"/>
              <a:t>讲师巡视时的追问</a:t>
            </a:r>
          </a:p>
          <a:p>
            <a:r>
              <a:rPr lang="zh-CN" altLang="zh-CN" dirty="0"/>
              <a:t>如果学员说“做一个AI销售助手”，继续追问：</a:t>
            </a:r>
          </a:p>
          <a:p>
            <a:r>
              <a:rPr lang="zh-CN" altLang="zh-CN" dirty="0"/>
              <a:t>这个助手每天在什么时刻被使用？一次只完成什么任务？</a:t>
            </a:r>
          </a:p>
          <a:p>
            <a:r>
              <a:rPr lang="zh-CN" altLang="zh-CN" dirty="0"/>
              <a:t>如果学员说“提高销售效率”，继续追问：</a:t>
            </a:r>
          </a:p>
          <a:p>
            <a:r>
              <a:rPr lang="zh-CN" altLang="zh-CN" dirty="0"/>
              <a:t>销售的哪一步需要多长时间？效率低具体表现在哪里？</a:t>
            </a:r>
          </a:p>
          <a:p>
            <a:r>
              <a:rPr lang="zh-CN" altLang="zh-CN" dirty="0"/>
              <a:t>如果学员说“提高转化率”，继续追问：</a:t>
            </a:r>
          </a:p>
          <a:p>
            <a:r>
              <a:rPr lang="zh-CN" altLang="zh-CN" dirty="0"/>
              <a:t>转化率低是因为哪个具体环节？AI能够直接改变哪个中间结果？</a:t>
            </a:r>
          </a:p>
          <a:p>
            <a:r>
              <a:rPr lang="zh-CN" altLang="zh-CN" dirty="0"/>
              <a:t>如果学员说“推荐销售话术”，继续追问：</a:t>
            </a:r>
          </a:p>
          <a:p>
            <a:r>
              <a:rPr lang="zh-CN" altLang="zh-CN" dirty="0"/>
              <a:t>AI根据什么信息推荐？推荐错了会有什么后果？销售为什么会相信？</a:t>
            </a:r>
          </a:p>
          <a:p>
            <a:r>
              <a:rPr lang="zh-CN" altLang="zh-CN" b="1" dirty="0"/>
              <a:t>本页阶段性收口</a:t>
            </a:r>
          </a:p>
          <a:p>
            <a:r>
              <a:rPr lang="zh-CN" altLang="zh-CN" dirty="0"/>
              <a:t>一个复杂业务场景中通常存在多个AI机会。产品经理的第一项工作不是立即设计功能，而是找到最值得优先验证的问题。</a:t>
            </a:r>
          </a:p>
          <a:p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b="1" dirty="0"/>
              <a:t>从开放场景收敛到销售拜访记录助手</a:t>
            </a:r>
          </a:p>
          <a:p>
            <a:r>
              <a:rPr lang="zh-CN" altLang="zh-CN" b="1" dirty="0"/>
              <a:t>为什么必须增加这个过渡</a:t>
            </a:r>
          </a:p>
          <a:p>
            <a:r>
              <a:rPr lang="zh-CN" altLang="zh-CN" dirty="0"/>
              <a:t>当前PPT第34页是开放的客户经营场景，第35页直接进入“拜访后录入CRM”。</a:t>
            </a:r>
          </a:p>
          <a:p>
            <a:r>
              <a:rPr lang="zh-CN" altLang="zh-CN" dirty="0"/>
              <a:t>如果不讲中间的选择逻辑，学员会觉得老师只是先假装开放讨论，然后突然公布自己预设的答案。</a:t>
            </a:r>
          </a:p>
          <a:p>
            <a:r>
              <a:rPr lang="zh-CN" altLang="zh-CN" dirty="0"/>
              <a:t>因此，在翻到第35页前，需要在白板或口头完成一次候选方向比较。</a:t>
            </a:r>
          </a:p>
          <a:p>
            <a:r>
              <a:rPr lang="zh-CN" altLang="zh-CN" b="1" dirty="0"/>
              <a:t>一、汇总候选方向</a:t>
            </a:r>
          </a:p>
          <a:p>
            <a:r>
              <a:rPr lang="zh-CN" altLang="zh-CN" dirty="0"/>
              <a:t>可以在白板上记录学员提出的方向：</a:t>
            </a:r>
          </a:p>
          <a:p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候选方向主要价值</a:t>
            </a:r>
            <a:endParaRPr lang="zh-CN" altLang="zh-CN" dirty="0">
              <a:effectLst/>
            </a:endParaRP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客户优先级判断帮助销售决定先跟进谁</a:t>
            </a:r>
            <a:endParaRPr lang="zh-CN" altLang="zh-CN" dirty="0">
              <a:effectLst/>
            </a:endParaRP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拜访前客户洞察减少准备时间</a:t>
            </a:r>
            <a:endParaRPr lang="zh-CN" altLang="zh-CN" dirty="0">
              <a:effectLst/>
            </a:endParaRP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实时产品知识辅助提高现场回答质量</a:t>
            </a:r>
            <a:endParaRPr lang="zh-CN" altLang="zh-CN" dirty="0">
              <a:effectLst/>
            </a:endParaRP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个性化方案推荐提高方案匹配度</a:t>
            </a:r>
            <a:endParaRPr lang="zh-CN" altLang="zh-CN" dirty="0">
              <a:effectLst/>
            </a:endParaRP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拜访信息沉淀减少整理时间和信息遗漏</a:t>
            </a:r>
            <a:endParaRPr lang="zh-CN" altLang="zh-CN" dirty="0">
              <a:effectLst/>
            </a:endParaRP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流失风险识别提前发现风险客户</a:t>
            </a:r>
            <a:endParaRPr lang="zh-CN" altLang="zh-CN" dirty="0">
              <a:effectLst/>
            </a:endParaRP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新销售培训复制优秀销售经验</a:t>
            </a:r>
            <a:endParaRPr lang="zh-CN" altLang="zh-CN" dirty="0">
              <a:effectLst/>
            </a:endParaRPr>
          </a:p>
          <a:p>
            <a:r>
              <a:rPr lang="zh-CN" altLang="zh-CN" b="1" dirty="0"/>
              <a:t>二、给出统一的选择标准</a:t>
            </a:r>
          </a:p>
          <a:p>
            <a:r>
              <a:rPr lang="zh-CN" altLang="zh-CN" dirty="0"/>
              <a:t>不要靠老师个人偏好决定，使用五个标准进行比较。</a:t>
            </a:r>
          </a:p>
          <a:p>
            <a:r>
              <a:rPr lang="zh-CN" altLang="zh-CN" b="1" dirty="0"/>
              <a:t>用户痛感</a:t>
            </a:r>
          </a:p>
          <a:p>
            <a:r>
              <a:rPr lang="zh-CN" altLang="zh-CN" dirty="0"/>
              <a:t>问题是否频繁发生？用户是否真的在意？</a:t>
            </a:r>
          </a:p>
          <a:p>
            <a:r>
              <a:rPr lang="zh-CN" altLang="zh-CN" b="1" dirty="0"/>
              <a:t>业务价值</a:t>
            </a:r>
          </a:p>
          <a:p>
            <a:r>
              <a:rPr lang="zh-CN" altLang="zh-CN" dirty="0"/>
              <a:t>问题被解决后，是否能改善客户经营过程？</a:t>
            </a:r>
          </a:p>
          <a:p>
            <a:r>
              <a:rPr lang="zh-CN" altLang="zh-CN" b="1" dirty="0"/>
              <a:t>AI适配度</a:t>
            </a:r>
          </a:p>
          <a:p>
            <a:r>
              <a:rPr lang="zh-CN" altLang="zh-CN" dirty="0"/>
              <a:t>任务是否涉及大量文字、语音、判断、总结或非结构化信息？</a:t>
            </a:r>
          </a:p>
          <a:p>
            <a:r>
              <a:rPr lang="zh-CN" altLang="zh-CN" dirty="0"/>
              <a:t>普通规则是否已经足够？</a:t>
            </a:r>
          </a:p>
          <a:p>
            <a:r>
              <a:rPr lang="zh-CN" altLang="zh-CN" b="1" dirty="0"/>
              <a:t>数据可获得性</a:t>
            </a:r>
          </a:p>
          <a:p>
            <a:r>
              <a:rPr lang="zh-CN" altLang="zh-CN" dirty="0"/>
              <a:t>实现和验证需要的数据是否能够获得？</a:t>
            </a:r>
          </a:p>
          <a:p>
            <a:r>
              <a:rPr lang="zh-CN" altLang="zh-CN" dirty="0"/>
              <a:t>数据是否合规？</a:t>
            </a:r>
          </a:p>
          <a:p>
            <a:r>
              <a:rPr lang="zh-CN" altLang="zh-CN" b="1" dirty="0"/>
              <a:t>风险和试点难度</a:t>
            </a:r>
          </a:p>
          <a:p>
            <a:r>
              <a:rPr lang="zh-CN" altLang="zh-CN" dirty="0"/>
              <a:t>AI出错会造成多大影响？</a:t>
            </a:r>
          </a:p>
          <a:p>
            <a:r>
              <a:rPr lang="zh-CN" altLang="zh-CN" dirty="0"/>
              <a:t>是否可以先通过“AI生成、人确认”的方式小范围试点？</a:t>
            </a:r>
          </a:p>
          <a:p>
            <a:r>
              <a:rPr lang="zh-CN" altLang="zh-CN" b="1" dirty="0"/>
              <a:t>三、示范比较</a:t>
            </a:r>
          </a:p>
          <a:p>
            <a:r>
              <a:rPr lang="zh-CN" altLang="zh-CN" dirty="0"/>
              <a:t>课堂上不需要精确打分，可以使用高、中、低进行初步判断。</a:t>
            </a:r>
          </a:p>
          <a:p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候选方向用户痛感AI适配度数据可得性风险首期试点难度</a:t>
            </a:r>
            <a:endParaRPr lang="zh-CN" altLang="zh-CN" dirty="0">
              <a:effectLst/>
            </a:endParaRP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客户优先级判断高中中中高中高</a:t>
            </a:r>
            <a:endParaRPr lang="zh-CN" altLang="zh-CN" dirty="0">
              <a:effectLst/>
            </a:endParaRP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实时销售话术中高高中高高</a:t>
            </a:r>
            <a:endParaRPr lang="zh-CN" altLang="zh-CN" dirty="0">
              <a:effectLst/>
            </a:endParaRP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个性化方案推荐高高中高高</a:t>
            </a:r>
            <a:endParaRPr lang="zh-CN" altLang="zh-CN" dirty="0">
              <a:effectLst/>
            </a:endParaRP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拜访信息沉淀高高中高可控中低</a:t>
            </a:r>
            <a:endParaRPr lang="zh-CN" altLang="zh-CN" dirty="0">
              <a:effectLst/>
            </a:endParaRP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流失风险识别高中高中中高中高</a:t>
            </a:r>
            <a:endParaRPr lang="zh-CN" altLang="zh-CN" dirty="0">
              <a:effectLst/>
            </a:endParaRP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新销售培训中高中中低中</a:t>
            </a:r>
            <a:endParaRPr lang="zh-CN" altLang="zh-CN" dirty="0">
              <a:effectLst/>
            </a:endParaRPr>
          </a:p>
          <a:p>
            <a:r>
              <a:rPr lang="zh-CN" altLang="zh-CN" b="1" dirty="0"/>
              <a:t>四、为什么课堂选择拜访信息沉淀</a:t>
            </a:r>
          </a:p>
          <a:p>
            <a:r>
              <a:rPr lang="zh-CN" altLang="zh-CN" dirty="0"/>
              <a:t>建议讲法：</a:t>
            </a:r>
          </a:p>
          <a:p>
            <a:r>
              <a:rPr lang="zh-CN" altLang="zh-CN" dirty="0"/>
              <a:t>大家提出的方向都可能有价值。这节课选择“拜访信息沉淀”作为示范，不代表它一定是所有企业中价值最高的方向。</a:t>
            </a:r>
          </a:p>
          <a:p>
            <a:r>
              <a:rPr lang="zh-CN" altLang="zh-CN" dirty="0"/>
              <a:t>我们选择它，是因为在教学假设下，它有几个特点：</a:t>
            </a:r>
          </a:p>
          <a:p>
            <a:r>
              <a:rPr lang="zh-CN" altLang="zh-CN" dirty="0"/>
              <a:t>发生频率相对较高；</a:t>
            </a:r>
          </a:p>
          <a:p>
            <a:r>
              <a:rPr lang="zh-CN" altLang="zh-CN" dirty="0"/>
              <a:t>用户问题比较容易理解；</a:t>
            </a:r>
          </a:p>
          <a:p>
            <a:r>
              <a:rPr lang="zh-CN" altLang="zh-CN" dirty="0"/>
              <a:t>输入和输出相对明确；</a:t>
            </a:r>
          </a:p>
          <a:p>
            <a:r>
              <a:rPr lang="zh-CN" altLang="zh-CN" dirty="0"/>
              <a:t>AI适合处理语音和自然语言；</a:t>
            </a:r>
          </a:p>
          <a:p>
            <a:r>
              <a:rPr lang="zh-CN" altLang="zh-CN" dirty="0"/>
              <a:t>可以先生成草稿，由销售确认；</a:t>
            </a:r>
          </a:p>
          <a:p>
            <a:r>
              <a:rPr lang="zh-CN" altLang="zh-CN" dirty="0"/>
              <a:t>错误风险可以通过人机协作控制；</a:t>
            </a:r>
          </a:p>
          <a:p>
            <a:r>
              <a:rPr lang="zh-CN" altLang="zh-CN" dirty="0"/>
              <a:t>效率和质量可以通过小范围试点测量。</a:t>
            </a:r>
          </a:p>
          <a:p>
            <a:r>
              <a:rPr lang="zh-CN" altLang="zh-CN" dirty="0"/>
              <a:t>相比之下，客户优先级和流失预测可能更依赖高质量历史数据；自动推荐销售策略可能有更高的业务风险；实时话术还会面临延迟、干扰沟通和客户接受度问题。</a:t>
            </a:r>
          </a:p>
          <a:p>
            <a:r>
              <a:rPr lang="zh-CN" altLang="zh-CN" dirty="0"/>
              <a:t>所以我们不是证明“拜访记录一定最好”，而是把它作为一个适合初步验证的课堂切口。</a:t>
            </a:r>
          </a:p>
          <a:p>
            <a:r>
              <a:rPr lang="zh-CN" altLang="zh-CN" b="1" dirty="0"/>
              <a:t>关键表达</a:t>
            </a:r>
          </a:p>
          <a:p>
            <a:r>
              <a:rPr lang="zh-CN" altLang="zh-CN" dirty="0"/>
              <a:t>下面我们暂时把其他机会放进候选池，选择“销售拜访后的信息沉淀”作为第一期试点进行深入分析。</a:t>
            </a:r>
          </a:p>
          <a:p>
            <a:r>
              <a:rPr lang="zh-CN" altLang="zh-CN" dirty="0"/>
              <a:t>这样再进入第35页，逻辑会自然很多。</a:t>
            </a:r>
          </a:p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0070154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1B6E3896-F5D1-000E-867E-BA9B1C5A6C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zh-CN" altLang="zh-CN" b="1" dirty="0"/>
              <a:t>本页核心观点</a:t>
            </a:r>
          </a:p>
          <a:p>
            <a:r>
              <a:rPr lang="zh-CN" altLang="zh-CN" dirty="0"/>
              <a:t>AI产品机会不是“可以使用AI的地方”，而是“值得被解决的用户问题”。</a:t>
            </a:r>
          </a:p>
          <a:p>
            <a:r>
              <a:rPr lang="zh-CN" altLang="zh-CN" b="1" dirty="0"/>
              <a:t>一、不要直接把PPT右侧内容当作事实</a:t>
            </a:r>
          </a:p>
          <a:p>
            <a:r>
              <a:rPr lang="zh-CN" altLang="zh-CN" dirty="0"/>
              <a:t>PPT中的内容是本案例的初步判断：</a:t>
            </a:r>
          </a:p>
          <a:p>
            <a:r>
              <a:rPr lang="zh-CN" altLang="zh-CN" dirty="0"/>
              <a:t>用户：经常拜访客户的销售和BD；</a:t>
            </a:r>
          </a:p>
          <a:p>
            <a:r>
              <a:rPr lang="zh-CN" altLang="zh-CN" dirty="0"/>
              <a:t>场景：拜访或电话后录入CRM；</a:t>
            </a:r>
          </a:p>
          <a:p>
            <a:r>
              <a:rPr lang="zh-CN" altLang="zh-CN" dirty="0"/>
              <a:t>现状：使用手写、录音、聊天记录和回忆；</a:t>
            </a:r>
          </a:p>
          <a:p>
            <a:r>
              <a:rPr lang="zh-CN" altLang="zh-CN" dirty="0"/>
              <a:t>问题：整理耗时，关键信息容易遗漏。</a:t>
            </a:r>
          </a:p>
          <a:p>
            <a:r>
              <a:rPr lang="zh-CN" altLang="zh-CN" dirty="0"/>
              <a:t>需要明确告诉学员：</a:t>
            </a:r>
          </a:p>
          <a:p>
            <a:r>
              <a:rPr lang="zh-CN" altLang="zh-CN" dirty="0"/>
              <a:t>这些是根据教学背景形成的产品假设，不是已经被调研证明的事实。</a:t>
            </a:r>
          </a:p>
          <a:p>
            <a:r>
              <a:rPr lang="zh-CN" altLang="zh-CN" b="1" dirty="0"/>
              <a:t>二、先问五个问题</a:t>
            </a:r>
          </a:p>
          <a:p>
            <a:r>
              <a:rPr lang="zh-CN" altLang="zh-CN" b="1" dirty="0"/>
              <a:t>谁遇到了问题</a:t>
            </a:r>
          </a:p>
          <a:p>
            <a:r>
              <a:rPr lang="zh-CN" altLang="zh-CN" dirty="0"/>
              <a:t>不能只写“销售团队”。</a:t>
            </a:r>
          </a:p>
          <a:p>
            <a:r>
              <a:rPr lang="zh-CN" altLang="zh-CN" dirty="0"/>
              <a:t>还要继续明确：</a:t>
            </a:r>
          </a:p>
          <a:p>
            <a:r>
              <a:rPr lang="zh-CN" altLang="zh-CN" dirty="0"/>
              <a:t>是一线销售还是销售主管？</a:t>
            </a:r>
          </a:p>
          <a:p>
            <a:r>
              <a:rPr lang="zh-CN" altLang="zh-CN" dirty="0"/>
              <a:t>是新销售还是成熟销售？</a:t>
            </a:r>
          </a:p>
          <a:p>
            <a:r>
              <a:rPr lang="zh-CN" altLang="zh-CN" dirty="0"/>
              <a:t>是每天高频拜访的BD，还是主要线上沟通的销售？</a:t>
            </a:r>
          </a:p>
          <a:p>
            <a:r>
              <a:rPr lang="zh-CN" altLang="zh-CN" dirty="0"/>
              <a:t>不同角色的问题是否一样？</a:t>
            </a:r>
          </a:p>
          <a:p>
            <a:r>
              <a:rPr lang="zh-CN" altLang="zh-CN" dirty="0"/>
              <a:t>本案例先选择：</a:t>
            </a:r>
          </a:p>
          <a:p>
            <a:r>
              <a:rPr lang="zh-CN" altLang="zh-CN" dirty="0"/>
              <a:t>经常需要拜访或电话沟通，并在沟通后维护CRM信息的一线销售和BD。</a:t>
            </a:r>
          </a:p>
          <a:p>
            <a:r>
              <a:rPr lang="zh-CN" altLang="zh-CN" b="1" dirty="0"/>
              <a:t>问题发生在什么环节</a:t>
            </a:r>
          </a:p>
          <a:p>
            <a:r>
              <a:rPr lang="zh-CN" altLang="zh-CN" dirty="0"/>
              <a:t>“销售效率低”太宽泛。</a:t>
            </a:r>
          </a:p>
          <a:p>
            <a:r>
              <a:rPr lang="zh-CN" altLang="zh-CN" dirty="0"/>
              <a:t>本案例聚焦的是：</a:t>
            </a:r>
          </a:p>
          <a:p>
            <a:r>
              <a:rPr lang="zh-CN" altLang="zh-CN" dirty="0"/>
              <a:t>客户沟通结束后，将非结构化的对话和零散笔记整理为结构化客户记录与下一步行动。</a:t>
            </a:r>
          </a:p>
          <a:p>
            <a:r>
              <a:rPr lang="zh-CN" altLang="zh-CN" b="1" dirty="0"/>
              <a:t>用户现在怎样解决</a:t>
            </a:r>
          </a:p>
          <a:p>
            <a:r>
              <a:rPr lang="zh-CN" altLang="zh-CN" dirty="0"/>
              <a:t>需要了解现有替代方案：</a:t>
            </a:r>
          </a:p>
          <a:p>
            <a:r>
              <a:rPr lang="zh-CN" altLang="zh-CN" dirty="0"/>
              <a:t>拜访中手写关键词；</a:t>
            </a:r>
          </a:p>
          <a:p>
            <a:r>
              <a:rPr lang="zh-CN" altLang="zh-CN" dirty="0"/>
              <a:t>获得客户同意后录音；</a:t>
            </a:r>
          </a:p>
          <a:p>
            <a:r>
              <a:rPr lang="zh-CN" altLang="zh-CN" dirty="0"/>
              <a:t>保存聊天记录；</a:t>
            </a:r>
          </a:p>
          <a:p>
            <a:r>
              <a:rPr lang="zh-CN" altLang="zh-CN" dirty="0"/>
              <a:t>拜访结束后依靠记忆补充；</a:t>
            </a:r>
          </a:p>
          <a:p>
            <a:r>
              <a:rPr lang="zh-CN" altLang="zh-CN" dirty="0"/>
              <a:t>手动填写CRM；</a:t>
            </a:r>
          </a:p>
          <a:p>
            <a:r>
              <a:rPr lang="zh-CN" altLang="zh-CN" dirty="0"/>
              <a:t>在日历或聊天工具里设置提醒；</a:t>
            </a:r>
          </a:p>
          <a:p>
            <a:r>
              <a:rPr lang="zh-CN" altLang="zh-CN" dirty="0"/>
              <a:t>让助理帮助整理。</a:t>
            </a:r>
          </a:p>
          <a:p>
            <a:r>
              <a:rPr lang="zh-CN" altLang="zh-CN" dirty="0"/>
              <a:t>用户不是“什么都没做”，而是已经通过多个方式解决，只是可能存在成本和质量问题。</a:t>
            </a:r>
          </a:p>
          <a:p>
            <a:r>
              <a:rPr lang="zh-CN" altLang="zh-CN" b="1" dirty="0"/>
              <a:t>问题发生频率有多高</a:t>
            </a:r>
          </a:p>
          <a:p>
            <a:r>
              <a:rPr lang="zh-CN" altLang="zh-CN" dirty="0"/>
              <a:t>需要验证：</a:t>
            </a:r>
          </a:p>
          <a:p>
            <a:r>
              <a:rPr lang="zh-CN" altLang="zh-CN" dirty="0"/>
              <a:t>每名销售每周有多少次客户沟通？</a:t>
            </a:r>
          </a:p>
          <a:p>
            <a:r>
              <a:rPr lang="zh-CN" altLang="zh-CN" dirty="0"/>
              <a:t>每次记录需要多长时间？</a:t>
            </a:r>
          </a:p>
          <a:p>
            <a:r>
              <a:rPr lang="zh-CN" altLang="zh-CN" dirty="0"/>
              <a:t>有多少次没有按时填写？</a:t>
            </a:r>
          </a:p>
          <a:p>
            <a:r>
              <a:rPr lang="zh-CN" altLang="zh-CN" dirty="0"/>
              <a:t>哪些客户沟通最需要记录？</a:t>
            </a:r>
          </a:p>
          <a:p>
            <a:r>
              <a:rPr lang="zh-CN" altLang="zh-CN" dirty="0"/>
              <a:t>电话、线上会议和线下拜访是否不同？</a:t>
            </a:r>
          </a:p>
          <a:p>
            <a:r>
              <a:rPr lang="zh-CN" altLang="zh-CN" b="1" dirty="0"/>
              <a:t>问题造成什么损失</a:t>
            </a:r>
          </a:p>
          <a:p>
            <a:r>
              <a:rPr lang="zh-CN" altLang="zh-CN" dirty="0"/>
              <a:t>可能包括：</a:t>
            </a:r>
          </a:p>
          <a:p>
            <a:r>
              <a:rPr lang="zh-CN" altLang="zh-CN" dirty="0"/>
              <a:t>销售花费大量时间整理；</a:t>
            </a:r>
          </a:p>
          <a:p>
            <a:r>
              <a:rPr lang="zh-CN" altLang="zh-CN" dirty="0"/>
              <a:t>客户诉求和异议遗漏；</a:t>
            </a:r>
          </a:p>
          <a:p>
            <a:r>
              <a:rPr lang="zh-CN" altLang="zh-CN" dirty="0"/>
              <a:t>下一步行动没有负责人；</a:t>
            </a:r>
          </a:p>
          <a:p>
            <a:r>
              <a:rPr lang="zh-CN" altLang="zh-CN" dirty="0"/>
              <a:t>销售主管看不到真实商机进展；</a:t>
            </a:r>
          </a:p>
          <a:p>
            <a:r>
              <a:rPr lang="zh-CN" altLang="zh-CN" dirty="0"/>
              <a:t>产品和运营收不到客户反馈；</a:t>
            </a:r>
          </a:p>
          <a:p>
            <a:r>
              <a:rPr lang="zh-CN" altLang="zh-CN" dirty="0"/>
              <a:t>销售转岗后客户信息难以交接。</a:t>
            </a:r>
          </a:p>
          <a:p>
            <a:r>
              <a:rPr lang="zh-CN" altLang="zh-CN" b="1" dirty="0"/>
              <a:t>三、怎样验证这个问题</a:t>
            </a:r>
          </a:p>
          <a:p>
            <a:r>
              <a:rPr lang="zh-CN" altLang="zh-CN" dirty="0"/>
              <a:t>如果是真实项目，建议使用三类方法。</a:t>
            </a:r>
          </a:p>
          <a:p>
            <a:r>
              <a:rPr lang="zh-CN" altLang="zh-CN" b="1" dirty="0"/>
              <a:t>销售访谈</a:t>
            </a:r>
          </a:p>
          <a:p>
            <a:r>
              <a:rPr lang="zh-CN" altLang="zh-CN" dirty="0"/>
              <a:t>询问：</a:t>
            </a:r>
          </a:p>
          <a:p>
            <a:r>
              <a:rPr lang="zh-CN" altLang="zh-CN" dirty="0"/>
              <a:t>你最近一次填写CRM是什么时候？</a:t>
            </a:r>
          </a:p>
          <a:p>
            <a:r>
              <a:rPr lang="zh-CN" altLang="zh-CN" dirty="0"/>
              <a:t>你通常在拜访后多久填写？</a:t>
            </a:r>
          </a:p>
          <a:p>
            <a:r>
              <a:rPr lang="zh-CN" altLang="zh-CN" dirty="0"/>
              <a:t>哪些字段最难填写？</a:t>
            </a:r>
          </a:p>
          <a:p>
            <a:r>
              <a:rPr lang="zh-CN" altLang="zh-CN" dirty="0"/>
              <a:t>有没有因为遗漏信息造成过问题？</a:t>
            </a:r>
          </a:p>
          <a:p>
            <a:r>
              <a:rPr lang="zh-CN" altLang="zh-CN" dirty="0"/>
              <a:t>你为什么有时不愿意填写？</a:t>
            </a:r>
          </a:p>
          <a:p>
            <a:r>
              <a:rPr lang="zh-CN" altLang="zh-CN" dirty="0"/>
              <a:t>你会不会使用录音？为什么？</a:t>
            </a:r>
          </a:p>
          <a:p>
            <a:r>
              <a:rPr lang="zh-CN" altLang="zh-CN" dirty="0"/>
              <a:t>不要只问：</a:t>
            </a:r>
          </a:p>
          <a:p>
            <a:r>
              <a:rPr lang="zh-CN" altLang="zh-CN" dirty="0"/>
              <a:t>你是否需要一个AI记录助手？</a:t>
            </a:r>
          </a:p>
          <a:p>
            <a:r>
              <a:rPr lang="zh-CN" altLang="zh-CN" dirty="0"/>
              <a:t>因为用户很容易对一个听起来方便的功能表示支持，但这不能证明他会使用。</a:t>
            </a:r>
          </a:p>
          <a:p>
            <a:r>
              <a:rPr lang="zh-CN" altLang="zh-CN" b="1" dirty="0"/>
              <a:t>跟岗观察</a:t>
            </a:r>
          </a:p>
          <a:p>
            <a:r>
              <a:rPr lang="zh-CN" altLang="zh-CN" dirty="0"/>
              <a:t>观察一名销售完成拜访后的真实行为：</a:t>
            </a:r>
          </a:p>
          <a:p>
            <a:r>
              <a:rPr lang="zh-CN" altLang="zh-CN" dirty="0"/>
              <a:t>是否立即记录；</a:t>
            </a:r>
          </a:p>
          <a:p>
            <a:r>
              <a:rPr lang="zh-CN" altLang="zh-CN" dirty="0"/>
              <a:t>在什么设备上记录；</a:t>
            </a:r>
          </a:p>
          <a:p>
            <a:r>
              <a:rPr lang="zh-CN" altLang="zh-CN" dirty="0"/>
              <a:t>是否需要赶路；</a:t>
            </a:r>
          </a:p>
          <a:p>
            <a:r>
              <a:rPr lang="zh-CN" altLang="zh-CN" dirty="0"/>
              <a:t>是否还要同时回复客户消息；</a:t>
            </a:r>
          </a:p>
          <a:p>
            <a:r>
              <a:rPr lang="zh-CN" altLang="zh-CN" dirty="0"/>
              <a:t>哪些信息最先被记录；</a:t>
            </a:r>
          </a:p>
          <a:p>
            <a:r>
              <a:rPr lang="zh-CN" altLang="zh-CN" dirty="0"/>
              <a:t>哪些信息最后丢失。</a:t>
            </a:r>
          </a:p>
          <a:p>
            <a:r>
              <a:rPr lang="zh-CN" altLang="zh-CN" b="1" dirty="0"/>
              <a:t>数据分析</a:t>
            </a:r>
          </a:p>
          <a:p>
            <a:r>
              <a:rPr lang="zh-CN" altLang="zh-CN" dirty="0"/>
              <a:t>可以查看：</a:t>
            </a:r>
          </a:p>
          <a:p>
            <a:r>
              <a:rPr lang="zh-CN" altLang="zh-CN" dirty="0"/>
              <a:t>CRM记录完成时间；</a:t>
            </a:r>
          </a:p>
          <a:p>
            <a:r>
              <a:rPr lang="zh-CN" altLang="zh-CN" dirty="0"/>
              <a:t>字段缺失率；</a:t>
            </a:r>
          </a:p>
          <a:p>
            <a:r>
              <a:rPr lang="zh-CN" altLang="zh-CN" dirty="0"/>
              <a:t>每条记录的文字长度；</a:t>
            </a:r>
          </a:p>
          <a:p>
            <a:r>
              <a:rPr lang="zh-CN" altLang="zh-CN" dirty="0"/>
              <a:t>行动项创建率；</a:t>
            </a:r>
          </a:p>
          <a:p>
            <a:r>
              <a:rPr lang="zh-CN" altLang="zh-CN" dirty="0"/>
              <a:t>记录后是否产生后续跟进；</a:t>
            </a:r>
          </a:p>
          <a:p>
            <a:r>
              <a:rPr lang="zh-CN" altLang="zh-CN" dirty="0"/>
              <a:t>不同销售之间差异。</a:t>
            </a:r>
          </a:p>
          <a:p>
            <a:r>
              <a:rPr lang="zh-CN" altLang="zh-CN" b="1" dirty="0"/>
              <a:t>四、课堂提问</a:t>
            </a:r>
          </a:p>
          <a:p>
            <a:r>
              <a:rPr lang="zh-CN" altLang="zh-CN" dirty="0"/>
              <a:t>如果调研发现销售不是因为整理耗时，而是认为CRM记录对自己没有价值，那么AI总结还能解决问题吗？</a:t>
            </a:r>
          </a:p>
          <a:p>
            <a:r>
              <a:rPr lang="zh-CN" altLang="zh-CN" dirty="0"/>
              <a:t>参考答案：</a:t>
            </a:r>
          </a:p>
          <a:p>
            <a:r>
              <a:rPr lang="zh-CN" altLang="zh-CN" dirty="0"/>
              <a:t>不一定。问题可能是激励机制、CRM设计或管理流程，而不是信息整理能力。AI可能生成得更快，但销售依然不愿意确认和使用。</a:t>
            </a:r>
          </a:p>
          <a:p>
            <a:r>
              <a:rPr lang="zh-CN" altLang="zh-CN" b="1" dirty="0"/>
              <a:t>本页收口</a:t>
            </a:r>
          </a:p>
          <a:p>
            <a:r>
              <a:rPr lang="zh-CN" altLang="zh-CN" dirty="0"/>
              <a:t>先确认用户为什么不做、哪里困难，再决定AI解决什么。不能把“用户没有填写CRM”自动解释成“用户缺少AI总结工具”。</a:t>
            </a:r>
          </a:p>
          <a:p>
            <a:endParaRPr kumimoji="1" lang="zh-CN" altLang="en-US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98E818DA-E4BC-B69F-B828-0E4829DADC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zh-CN" altLang="zh-CN" b="1" dirty="0"/>
              <a:t>本页核心观点</a:t>
            </a:r>
          </a:p>
          <a:p>
            <a:r>
              <a:rPr lang="zh-CN" altLang="zh-CN" dirty="0"/>
              <a:t>不要让AI笼统地“优化销售流程”，而要明确AI介入哪个步骤。</a:t>
            </a:r>
          </a:p>
          <a:p>
            <a:r>
              <a:rPr lang="zh-CN" altLang="zh-CN" b="1" dirty="0"/>
              <a:t>一、逐步讲解现有流程</a:t>
            </a: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拜访前准备</a:t>
            </a: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 进行客户沟通</a:t>
            </a: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 记录沟通内容</a:t>
            </a: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 整理关键信息</a:t>
            </a: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 填写CRM</a:t>
            </a: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 创建后续任务</a:t>
            </a: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 持续跟进客户</a:t>
            </a:r>
          </a:p>
          <a:p>
            <a:r>
              <a:rPr lang="zh-CN" altLang="zh-CN" b="1" dirty="0"/>
              <a:t>拜访前准备</a:t>
            </a:r>
          </a:p>
          <a:p>
            <a:r>
              <a:rPr lang="zh-CN" altLang="zh-CN" dirty="0"/>
              <a:t>销售查看客户资料、历史沟通、购买和使用情况，准备沟通重点。</a:t>
            </a:r>
          </a:p>
          <a:p>
            <a:r>
              <a:rPr lang="zh-CN" altLang="zh-CN" dirty="0"/>
              <a:t>这一环节也可能有AI机会，但不是本次深入分析的重点。</a:t>
            </a:r>
          </a:p>
          <a:p>
            <a:r>
              <a:rPr lang="zh-CN" altLang="zh-CN" b="1" dirty="0"/>
              <a:t>进行客户沟通</a:t>
            </a:r>
          </a:p>
          <a:p>
            <a:r>
              <a:rPr lang="zh-CN" altLang="zh-CN" dirty="0"/>
              <a:t>销售需要理解客户情况、建立信任、回答问题和推动合作。</a:t>
            </a:r>
          </a:p>
          <a:p>
            <a:r>
              <a:rPr lang="zh-CN" altLang="zh-CN" dirty="0"/>
              <a:t>这个环节包含大量人的判断和关系建立，不适合简单交给AI替代。</a:t>
            </a:r>
          </a:p>
          <a:p>
            <a:r>
              <a:rPr lang="zh-CN" altLang="zh-CN" b="1" dirty="0"/>
              <a:t>记录沟通内容</a:t>
            </a:r>
          </a:p>
          <a:p>
            <a:r>
              <a:rPr lang="zh-CN" altLang="zh-CN" dirty="0"/>
              <a:t>销售可能手写、录音或者依靠记忆。</a:t>
            </a:r>
          </a:p>
          <a:p>
            <a:r>
              <a:rPr lang="zh-CN" altLang="zh-CN" dirty="0"/>
              <a:t>AI可以参与语音转文字，但必须考虑客户授权、噪音、多人对话和隐私。</a:t>
            </a:r>
          </a:p>
          <a:p>
            <a:r>
              <a:rPr lang="zh-CN" altLang="zh-CN" b="1" dirty="0"/>
              <a:t>整理关键信息</a:t>
            </a:r>
          </a:p>
          <a:p>
            <a:r>
              <a:rPr lang="zh-CN" altLang="zh-CN" dirty="0"/>
              <a:t>从对话中提取：</a:t>
            </a:r>
          </a:p>
          <a:p>
            <a:r>
              <a:rPr lang="zh-CN" altLang="zh-CN" dirty="0"/>
              <a:t>客户诉求；</a:t>
            </a:r>
          </a:p>
          <a:p>
            <a:r>
              <a:rPr lang="zh-CN" altLang="zh-CN" dirty="0"/>
              <a:t>主要异议；</a:t>
            </a:r>
          </a:p>
          <a:p>
            <a:r>
              <a:rPr lang="zh-CN" altLang="zh-CN" dirty="0"/>
              <a:t>合作意向；</a:t>
            </a:r>
          </a:p>
          <a:p>
            <a:r>
              <a:rPr lang="zh-CN" altLang="zh-CN" dirty="0"/>
              <a:t>产品问题；</a:t>
            </a:r>
          </a:p>
          <a:p>
            <a:r>
              <a:rPr lang="zh-CN" altLang="zh-CN" dirty="0"/>
              <a:t>下一步行动；</a:t>
            </a:r>
          </a:p>
          <a:p>
            <a:r>
              <a:rPr lang="zh-CN" altLang="zh-CN" dirty="0"/>
              <a:t>负责人和时间。</a:t>
            </a:r>
          </a:p>
          <a:p>
            <a:r>
              <a:rPr lang="zh-CN" altLang="zh-CN" dirty="0"/>
              <a:t>这是AI比较适合介入的部分。</a:t>
            </a:r>
          </a:p>
          <a:p>
            <a:r>
              <a:rPr lang="zh-CN" altLang="zh-CN" b="1" dirty="0"/>
              <a:t>填写CRM</a:t>
            </a:r>
          </a:p>
          <a:p>
            <a:r>
              <a:rPr lang="zh-CN" altLang="zh-CN" dirty="0"/>
              <a:t>把结果映射到CRM字段。</a:t>
            </a:r>
          </a:p>
          <a:p>
            <a:r>
              <a:rPr lang="zh-CN" altLang="zh-CN" dirty="0"/>
              <a:t>这不仅是文本生成，还涉及：</a:t>
            </a:r>
          </a:p>
          <a:p>
            <a:r>
              <a:rPr lang="zh-CN" altLang="zh-CN" dirty="0"/>
              <a:t>字段结构；</a:t>
            </a:r>
          </a:p>
          <a:p>
            <a:r>
              <a:rPr lang="zh-CN" altLang="zh-CN" dirty="0"/>
              <a:t>数据格式；</a:t>
            </a:r>
          </a:p>
          <a:p>
            <a:r>
              <a:rPr lang="zh-CN" altLang="zh-CN" dirty="0"/>
              <a:t>权限；</a:t>
            </a:r>
          </a:p>
          <a:p>
            <a:r>
              <a:rPr lang="zh-CN" altLang="zh-CN" dirty="0"/>
              <a:t>是否覆盖已有信息；</a:t>
            </a:r>
          </a:p>
          <a:p>
            <a:r>
              <a:rPr lang="zh-CN" altLang="zh-CN" dirty="0"/>
              <a:t>是否需要人工确认。</a:t>
            </a:r>
          </a:p>
          <a:p>
            <a:r>
              <a:rPr lang="zh-CN" altLang="zh-CN" b="1" dirty="0"/>
              <a:t>创建后续任务</a:t>
            </a:r>
          </a:p>
          <a:p>
            <a:r>
              <a:rPr lang="zh-CN" altLang="zh-CN" dirty="0"/>
              <a:t>根据行动项创建提醒。</a:t>
            </a:r>
          </a:p>
          <a:p>
            <a:r>
              <a:rPr lang="zh-CN" altLang="zh-CN" dirty="0"/>
              <a:t>一旦改变真实系统状态，风险高于生成草稿，需要更严格确认。</a:t>
            </a:r>
          </a:p>
          <a:p>
            <a:r>
              <a:rPr lang="zh-CN" altLang="zh-CN" b="1" dirty="0"/>
              <a:t>持续跟进</a:t>
            </a:r>
          </a:p>
          <a:p>
            <a:r>
              <a:rPr lang="zh-CN" altLang="zh-CN" dirty="0"/>
              <a:t>销售根据客户情况决定策略。</a:t>
            </a:r>
          </a:p>
          <a:p>
            <a:r>
              <a:rPr lang="zh-CN" altLang="zh-CN" dirty="0"/>
              <a:t>AI可以提供建议，但不应未经销售确认直接作出商务承诺。</a:t>
            </a:r>
          </a:p>
          <a:p>
            <a:r>
              <a:rPr lang="zh-CN" altLang="zh-CN" b="1" dirty="0"/>
              <a:t>二、判断哪些步骤适合AI</a:t>
            </a:r>
          </a:p>
          <a:p>
            <a:r>
              <a:rPr lang="zh-CN" altLang="zh-CN" dirty="0"/>
              <a:t>可以使用三个标准：</a:t>
            </a:r>
          </a:p>
          <a:p>
            <a:r>
              <a:rPr lang="zh-CN" altLang="zh-CN" dirty="0"/>
              <a:t>输入中是否有大量非结构化信息；</a:t>
            </a:r>
          </a:p>
          <a:p>
            <a:r>
              <a:rPr lang="zh-CN" altLang="zh-CN" dirty="0"/>
              <a:t>工作是否高频、重复、耗时；</a:t>
            </a:r>
          </a:p>
          <a:p>
            <a:r>
              <a:rPr lang="zh-CN" altLang="zh-CN" dirty="0"/>
              <a:t>错误是否能够被人及时发现和纠正。</a:t>
            </a:r>
          </a:p>
          <a:p>
            <a:r>
              <a:rPr lang="zh-CN" altLang="zh-CN" dirty="0"/>
              <a:t>因此第一期可以让AI：</a:t>
            </a:r>
          </a:p>
          <a:p>
            <a:r>
              <a:rPr lang="zh-CN" altLang="zh-CN" dirty="0"/>
              <a:t>将录音转换为文字；</a:t>
            </a:r>
          </a:p>
          <a:p>
            <a:r>
              <a:rPr lang="zh-CN" altLang="zh-CN" dirty="0"/>
              <a:t>提取诉求和异议；</a:t>
            </a:r>
          </a:p>
          <a:p>
            <a:r>
              <a:rPr lang="zh-CN" altLang="zh-CN" dirty="0"/>
              <a:t>总结沟通结论；</a:t>
            </a:r>
          </a:p>
          <a:p>
            <a:r>
              <a:rPr lang="zh-CN" altLang="zh-CN" dirty="0"/>
              <a:t>生成CRM记录草稿；</a:t>
            </a:r>
          </a:p>
          <a:p>
            <a:r>
              <a:rPr lang="zh-CN" altLang="zh-CN" dirty="0"/>
              <a:t>生成候选待办事项。</a:t>
            </a:r>
          </a:p>
          <a:p>
            <a:r>
              <a:rPr lang="zh-CN" altLang="zh-CN" b="1" dirty="0"/>
              <a:t>三、哪些步骤保留给人</a:t>
            </a:r>
          </a:p>
          <a:p>
            <a:r>
              <a:rPr lang="zh-CN" altLang="zh-CN" dirty="0"/>
              <a:t>判断客户真实合作意愿；</a:t>
            </a:r>
          </a:p>
          <a:p>
            <a:r>
              <a:rPr lang="zh-CN" altLang="zh-CN" dirty="0"/>
              <a:t>确认报价和商务承诺；</a:t>
            </a:r>
          </a:p>
          <a:p>
            <a:r>
              <a:rPr lang="zh-CN" altLang="zh-CN" dirty="0"/>
              <a:t>决定销售策略；</a:t>
            </a:r>
          </a:p>
          <a:p>
            <a:r>
              <a:rPr lang="zh-CN" altLang="zh-CN" dirty="0"/>
              <a:t>确认信息是否正确；</a:t>
            </a:r>
          </a:p>
          <a:p>
            <a:r>
              <a:rPr lang="zh-CN" altLang="zh-CN" dirty="0"/>
              <a:t>决定是否写入CRM和创建任务。</a:t>
            </a:r>
          </a:p>
          <a:p>
            <a:r>
              <a:rPr lang="zh-CN" altLang="zh-CN" b="1" dirty="0"/>
              <a:t>四、课堂互动</a:t>
            </a:r>
          </a:p>
          <a:p>
            <a:r>
              <a:rPr lang="zh-CN" altLang="zh-CN" dirty="0"/>
              <a:t>把学员分成两组。</a:t>
            </a:r>
          </a:p>
          <a:p>
            <a:r>
              <a:rPr lang="zh-CN" altLang="zh-CN" dirty="0"/>
              <a:t>一组回答：</a:t>
            </a:r>
          </a:p>
          <a:p>
            <a:r>
              <a:rPr lang="zh-CN" altLang="zh-CN" dirty="0"/>
              <a:t>尽可能多地把哪些任务交给AI？</a:t>
            </a:r>
          </a:p>
          <a:p>
            <a:r>
              <a:rPr lang="zh-CN" altLang="zh-CN" dirty="0"/>
              <a:t>另一组回答：</a:t>
            </a:r>
          </a:p>
          <a:p>
            <a:r>
              <a:rPr lang="zh-CN" altLang="zh-CN" dirty="0"/>
              <a:t>哪些任务绝对不能未经确认自动执行？</a:t>
            </a:r>
          </a:p>
          <a:p>
            <a:r>
              <a:rPr lang="zh-CN" altLang="zh-CN" dirty="0"/>
              <a:t>通过对比形成产品边界。</a:t>
            </a:r>
          </a:p>
          <a:p>
            <a:r>
              <a:rPr lang="zh-CN" altLang="zh-CN" b="1" dirty="0"/>
              <a:t>本页收口</a:t>
            </a:r>
          </a:p>
          <a:p>
            <a:r>
              <a:rPr lang="zh-CN" altLang="zh-CN" dirty="0"/>
              <a:t>AI并不是接管整条销售流程，而是在特定步骤中降低信息处理成本。</a:t>
            </a:r>
          </a:p>
          <a:p>
            <a:endParaRPr kumimoji="1" lang="zh-CN" altLang="en-US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44DD7F8C-5269-E9B8-B413-E1B406285B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zh-CN" altLang="zh-CN" b="1" dirty="0"/>
              <a:t>本页核心观点</a:t>
            </a:r>
          </a:p>
          <a:p>
            <a:r>
              <a:rPr lang="zh-CN" altLang="zh-CN" dirty="0"/>
              <a:t>AI负责处理大量信息，人负责确认事实和作出商务决策。</a:t>
            </a:r>
          </a:p>
          <a:p>
            <a:r>
              <a:rPr lang="zh-CN" altLang="zh-CN" b="1" dirty="0"/>
              <a:t>一、逐步讲解目标流程</a:t>
            </a:r>
          </a:p>
          <a:p>
            <a:r>
              <a:rPr lang="zh-CN" altLang="zh-CN" b="1" dirty="0"/>
              <a:t>第一步：销售完成拜访</a:t>
            </a:r>
          </a:p>
          <a:p>
            <a:r>
              <a:rPr lang="zh-CN" altLang="zh-CN" dirty="0"/>
              <a:t>这是业务事件的起点。</a:t>
            </a:r>
          </a:p>
          <a:p>
            <a:r>
              <a:rPr lang="zh-CN" altLang="zh-CN" dirty="0"/>
              <a:t>如果使用录音，需要提前获得客户同意，并遵守企业的数据安全和隐私要求。</a:t>
            </a:r>
          </a:p>
          <a:p>
            <a:r>
              <a:rPr lang="zh-CN" altLang="zh-CN" b="1" dirty="0"/>
              <a:t>第二步：AI将录音转换成文字</a:t>
            </a:r>
          </a:p>
          <a:p>
            <a:r>
              <a:rPr lang="zh-CN" altLang="zh-CN" dirty="0"/>
              <a:t>AI完成初步转写。</a:t>
            </a:r>
          </a:p>
          <a:p>
            <a:r>
              <a:rPr lang="zh-CN" altLang="zh-CN" dirty="0"/>
              <a:t>但系统需要处理：</a:t>
            </a:r>
          </a:p>
          <a:p>
            <a:r>
              <a:rPr lang="zh-CN" altLang="zh-CN" dirty="0"/>
              <a:t>说话人是谁；</a:t>
            </a:r>
          </a:p>
          <a:p>
            <a:r>
              <a:rPr lang="zh-CN" altLang="zh-CN" dirty="0"/>
              <a:t>是否存在方言；</a:t>
            </a:r>
          </a:p>
          <a:p>
            <a:r>
              <a:rPr lang="zh-CN" altLang="zh-CN" dirty="0"/>
              <a:t>行业术语是否正确；</a:t>
            </a:r>
          </a:p>
          <a:p>
            <a:r>
              <a:rPr lang="zh-CN" altLang="zh-CN" dirty="0"/>
              <a:t>金额和日期是否准确；</a:t>
            </a:r>
          </a:p>
          <a:p>
            <a:r>
              <a:rPr lang="zh-CN" altLang="zh-CN" dirty="0"/>
              <a:t>是否需要保留时间戳。</a:t>
            </a:r>
          </a:p>
          <a:p>
            <a:r>
              <a:rPr lang="zh-CN" altLang="zh-CN" b="1" dirty="0"/>
              <a:t>第三步：AI提取诉求与异议</a:t>
            </a:r>
          </a:p>
          <a:p>
            <a:r>
              <a:rPr lang="zh-CN" altLang="zh-CN" dirty="0"/>
              <a:t>AI从长对话中提取结构化信息。</a:t>
            </a:r>
          </a:p>
          <a:p>
            <a:r>
              <a:rPr lang="zh-CN" altLang="zh-CN" dirty="0"/>
              <a:t>这里需要区分：</a:t>
            </a:r>
          </a:p>
          <a:p>
            <a:r>
              <a:rPr lang="zh-CN" altLang="zh-CN" dirty="0"/>
              <a:t>客户明确说出的事实；</a:t>
            </a:r>
          </a:p>
          <a:p>
            <a:r>
              <a:rPr lang="zh-CN" altLang="zh-CN" dirty="0"/>
              <a:t>AI根据表达作出的推断。</a:t>
            </a:r>
          </a:p>
          <a:p>
            <a:r>
              <a:rPr lang="zh-CN" altLang="zh-CN" dirty="0"/>
              <a:t>例如：</a:t>
            </a:r>
          </a:p>
          <a:p>
            <a:r>
              <a:rPr lang="zh-CN" altLang="zh-CN" dirty="0"/>
              <a:t>“你们先把资料发来，我再和老板商量。”</a:t>
            </a:r>
          </a:p>
          <a:p>
            <a:r>
              <a:rPr lang="zh-CN" altLang="zh-CN" dirty="0"/>
              <a:t>可以确认的事实是“客户要求补充资料并需要内部讨论”。</a:t>
            </a:r>
          </a:p>
          <a:p>
            <a:r>
              <a:rPr lang="zh-CN" altLang="zh-CN" dirty="0"/>
              <a:t>但“客户合作意向高”属于AI推断，不能混在一起。</a:t>
            </a:r>
          </a:p>
          <a:p>
            <a:r>
              <a:rPr lang="zh-CN" altLang="zh-CN" b="1" dirty="0"/>
              <a:t>第四步：AI生成结构化记录</a:t>
            </a:r>
          </a:p>
          <a:p>
            <a:r>
              <a:rPr lang="zh-CN" altLang="zh-CN" dirty="0"/>
              <a:t>输出应该匹配CRM字段，而不是只有一段长摘要。</a:t>
            </a:r>
          </a:p>
          <a:p>
            <a:r>
              <a:rPr lang="zh-CN" altLang="zh-CN" dirty="0"/>
              <a:t>例如：</a:t>
            </a:r>
          </a:p>
          <a:p>
            <a:r>
              <a:rPr lang="zh-CN" altLang="zh-CN" dirty="0"/>
              <a:t>核心诉求；</a:t>
            </a:r>
          </a:p>
          <a:p>
            <a:r>
              <a:rPr lang="zh-CN" altLang="zh-CN" dirty="0"/>
              <a:t>主要异议；</a:t>
            </a:r>
          </a:p>
          <a:p>
            <a:r>
              <a:rPr lang="zh-CN" altLang="zh-CN" dirty="0"/>
              <a:t>合作意向；</a:t>
            </a:r>
          </a:p>
          <a:p>
            <a:r>
              <a:rPr lang="zh-CN" altLang="zh-CN" dirty="0"/>
              <a:t>下一步行动；</a:t>
            </a:r>
          </a:p>
          <a:p>
            <a:r>
              <a:rPr lang="zh-CN" altLang="zh-CN" dirty="0"/>
              <a:t>负责人；</a:t>
            </a:r>
          </a:p>
          <a:p>
            <a:r>
              <a:rPr lang="zh-CN" altLang="zh-CN" dirty="0"/>
              <a:t>截止时间；</a:t>
            </a:r>
          </a:p>
          <a:p>
            <a:r>
              <a:rPr lang="zh-CN" altLang="zh-CN" dirty="0"/>
              <a:t>待确认信息。</a:t>
            </a:r>
          </a:p>
          <a:p>
            <a:r>
              <a:rPr lang="zh-CN" altLang="zh-CN" b="1" dirty="0"/>
              <a:t>第五步：销售检查和修改</a:t>
            </a:r>
          </a:p>
          <a:p>
            <a:r>
              <a:rPr lang="zh-CN" altLang="zh-CN" dirty="0"/>
              <a:t>销售需要看到：</a:t>
            </a:r>
          </a:p>
          <a:p>
            <a:r>
              <a:rPr lang="zh-CN" altLang="zh-CN" dirty="0"/>
              <a:t>AI生成内容；</a:t>
            </a:r>
          </a:p>
          <a:p>
            <a:r>
              <a:rPr lang="zh-CN" altLang="zh-CN" dirty="0"/>
              <a:t>对应原始对话；</a:t>
            </a:r>
          </a:p>
          <a:p>
            <a:r>
              <a:rPr lang="zh-CN" altLang="zh-CN" dirty="0"/>
              <a:t>AI标记的不确定信息；</a:t>
            </a:r>
          </a:p>
          <a:p>
            <a:r>
              <a:rPr lang="zh-CN" altLang="zh-CN" dirty="0"/>
              <a:t>需要确认的关键字段。</a:t>
            </a:r>
          </a:p>
          <a:p>
            <a:r>
              <a:rPr lang="zh-CN" altLang="zh-CN" dirty="0"/>
              <a:t>产品不能只提供“接受全部”按钮，还要允许逐项修改和删除。</a:t>
            </a:r>
          </a:p>
          <a:p>
            <a:r>
              <a:rPr lang="zh-CN" altLang="zh-CN" b="1" dirty="0"/>
              <a:t>第六步：系统写入CRM并创建任务</a:t>
            </a:r>
          </a:p>
          <a:p>
            <a:r>
              <a:rPr lang="zh-CN" altLang="zh-CN" dirty="0"/>
              <a:t>只有销售确认后，系统才改变真实业务数据。</a:t>
            </a:r>
          </a:p>
          <a:p>
            <a:r>
              <a:rPr lang="zh-CN" altLang="zh-CN" dirty="0"/>
              <a:t>需要记录：</a:t>
            </a:r>
          </a:p>
          <a:p>
            <a:r>
              <a:rPr lang="zh-CN" altLang="zh-CN" dirty="0"/>
              <a:t>AI生成了什么；</a:t>
            </a:r>
          </a:p>
          <a:p>
            <a:r>
              <a:rPr lang="zh-CN" altLang="zh-CN" dirty="0"/>
              <a:t>销售修改了什么；</a:t>
            </a:r>
          </a:p>
          <a:p>
            <a:r>
              <a:rPr lang="zh-CN" altLang="zh-CN" dirty="0"/>
              <a:t>谁完成了确认；</a:t>
            </a:r>
          </a:p>
          <a:p>
            <a:r>
              <a:rPr lang="zh-CN" altLang="zh-CN" dirty="0"/>
              <a:t>什么时间写入CRM。</a:t>
            </a:r>
          </a:p>
          <a:p>
            <a:r>
              <a:rPr lang="zh-CN" altLang="zh-CN" dirty="0"/>
              <a:t>这些信息不仅用于审计，也可以用于后续评测模型。</a:t>
            </a:r>
          </a:p>
          <a:p>
            <a:r>
              <a:rPr lang="zh-CN" altLang="zh-CN" b="1" dirty="0"/>
              <a:t>二、为什么不是全自动</a:t>
            </a:r>
          </a:p>
          <a:p>
            <a:r>
              <a:rPr lang="zh-CN" altLang="zh-CN" dirty="0"/>
              <a:t>可以问学员：</a:t>
            </a:r>
          </a:p>
          <a:p>
            <a:r>
              <a:rPr lang="zh-CN" altLang="zh-CN" dirty="0"/>
              <a:t>如果AI能够生成结构化记录，为什么还需要销售确认？</a:t>
            </a:r>
          </a:p>
          <a:p>
            <a:r>
              <a:rPr lang="zh-CN" altLang="zh-CN" dirty="0"/>
              <a:t>参考答案：</a:t>
            </a:r>
          </a:p>
          <a:p>
            <a:r>
              <a:rPr lang="zh-CN" altLang="zh-CN" dirty="0"/>
              <a:t>AI可能转写错误；</a:t>
            </a:r>
          </a:p>
          <a:p>
            <a:r>
              <a:rPr lang="zh-CN" altLang="zh-CN" dirty="0"/>
              <a:t>AI可能混淆说话人；</a:t>
            </a:r>
          </a:p>
          <a:p>
            <a:r>
              <a:rPr lang="zh-CN" altLang="zh-CN" dirty="0"/>
              <a:t>合作意向具有主观性；</a:t>
            </a:r>
          </a:p>
          <a:p>
            <a:r>
              <a:rPr lang="zh-CN" altLang="zh-CN" dirty="0"/>
              <a:t>金额和承诺错误会影响业务；</a:t>
            </a:r>
          </a:p>
          <a:p>
            <a:r>
              <a:rPr lang="zh-CN" altLang="zh-CN" dirty="0"/>
              <a:t>销售本人承担客户关系责任；</a:t>
            </a:r>
          </a:p>
          <a:p>
            <a:r>
              <a:rPr lang="zh-CN" altLang="zh-CN" dirty="0"/>
              <a:t>需要通过修改记录积累真实评测数据。</a:t>
            </a:r>
          </a:p>
          <a:p>
            <a:r>
              <a:rPr lang="zh-CN" altLang="zh-CN" b="1" dirty="0"/>
              <a:t>三、自动化程度可以逐步提升</a:t>
            </a:r>
          </a:p>
          <a:p>
            <a:r>
              <a:rPr lang="zh-CN" altLang="zh-CN" dirty="0"/>
              <a:t>第一阶段：</a:t>
            </a:r>
          </a:p>
          <a:p>
            <a:r>
              <a:rPr lang="zh-CN" altLang="zh-CN" dirty="0"/>
              <a:t>AI生成草稿，销售逐项确认。</a:t>
            </a:r>
          </a:p>
          <a:p>
            <a:r>
              <a:rPr lang="zh-CN" altLang="zh-CN" dirty="0"/>
              <a:t>积累数据后：</a:t>
            </a:r>
          </a:p>
          <a:p>
            <a:r>
              <a:rPr lang="zh-CN" altLang="zh-CN" dirty="0"/>
              <a:t>对高准确率、低风险字段减少确认成本。</a:t>
            </a:r>
          </a:p>
          <a:p>
            <a:r>
              <a:rPr lang="zh-CN" altLang="zh-CN" dirty="0"/>
              <a:t>例如：</a:t>
            </a:r>
          </a:p>
          <a:p>
            <a:r>
              <a:rPr lang="zh-CN" altLang="zh-CN" dirty="0"/>
              <a:t>拜访时间可以自动填写；</a:t>
            </a:r>
          </a:p>
          <a:p>
            <a:r>
              <a:rPr lang="zh-CN" altLang="zh-CN" dirty="0"/>
              <a:t>参与人员可以提供候选项；</a:t>
            </a:r>
          </a:p>
          <a:p>
            <a:r>
              <a:rPr lang="zh-CN" altLang="zh-CN" dirty="0"/>
              <a:t>客户诉求仍需要确认；</a:t>
            </a:r>
          </a:p>
          <a:p>
            <a:r>
              <a:rPr lang="zh-CN" altLang="zh-CN" dirty="0"/>
              <a:t>报价和合作承诺始终需要明确确认。</a:t>
            </a:r>
          </a:p>
          <a:p>
            <a:r>
              <a:rPr lang="zh-CN" altLang="zh-CN" b="1" dirty="0"/>
              <a:t>本页收口</a:t>
            </a:r>
          </a:p>
          <a:p>
            <a:r>
              <a:rPr lang="zh-CN" altLang="zh-CN" dirty="0"/>
              <a:t>人机分工不是固定的，可以根据风险和真实准确率逐步调整，但不能在缺少证据时直接追求全自动。</a:t>
            </a:r>
          </a:p>
          <a:p>
            <a:endParaRPr kumimoji="1" lang="zh-CN" altLang="en-US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4901E827-50C5-5B09-3DCF-CBB235EFB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zh-CN" altLang="zh-CN" b="1" dirty="0"/>
              <a:t>本页核心观点</a:t>
            </a:r>
          </a:p>
          <a:p>
            <a:r>
              <a:rPr lang="zh-CN" altLang="zh-CN" dirty="0"/>
              <a:t>好的AI输出不仅要有结论，还要区分事实、推断、原文证据和待确认信息。</a:t>
            </a:r>
          </a:p>
          <a:p>
            <a:r>
              <a:rPr lang="zh-CN" altLang="zh-CN" b="1" dirty="0"/>
              <a:t>一、讲解客户核心诉求</a:t>
            </a:r>
          </a:p>
          <a:p>
            <a:r>
              <a:rPr lang="zh-CN" altLang="zh-CN" dirty="0"/>
              <a:t>AI输出：</a:t>
            </a:r>
          </a:p>
          <a:p>
            <a:r>
              <a:rPr lang="zh-CN" altLang="zh-CN" dirty="0"/>
              <a:t>希望减少门店活动配置的操作时间。</a:t>
            </a:r>
          </a:p>
          <a:p>
            <a:r>
              <a:rPr lang="zh-CN" altLang="zh-CN" dirty="0"/>
              <a:t>继续追问：</a:t>
            </a:r>
          </a:p>
          <a:p>
            <a:r>
              <a:rPr lang="zh-CN" altLang="zh-CN" dirty="0"/>
              <a:t>这是客户明确说的，还是AI概括的？</a:t>
            </a:r>
          </a:p>
          <a:p>
            <a:r>
              <a:rPr lang="zh-CN" altLang="zh-CN" dirty="0"/>
              <a:t>对应原话是什么？</a:t>
            </a:r>
          </a:p>
          <a:p>
            <a:r>
              <a:rPr lang="zh-CN" altLang="zh-CN" dirty="0"/>
              <a:t>“减少”具体希望减少多少？</a:t>
            </a:r>
          </a:p>
          <a:p>
            <a:r>
              <a:rPr lang="zh-CN" altLang="zh-CN" dirty="0"/>
              <a:t>是所有门店都有问题，还是部分门店？</a:t>
            </a:r>
          </a:p>
          <a:p>
            <a:r>
              <a:rPr lang="zh-CN" altLang="zh-CN" dirty="0"/>
              <a:t>产品中可以设计“查看原文”功能。</a:t>
            </a:r>
          </a:p>
          <a:p>
            <a:r>
              <a:rPr lang="zh-CN" altLang="zh-CN" b="1" dirty="0"/>
              <a:t>二、讲解主要异议</a:t>
            </a:r>
          </a:p>
          <a:p>
            <a:r>
              <a:rPr lang="zh-CN" altLang="zh-CN" dirty="0"/>
              <a:t>AI输出：</a:t>
            </a:r>
          </a:p>
          <a:p>
            <a:r>
              <a:rPr lang="zh-CN" altLang="zh-CN" dirty="0"/>
              <a:t>担心新系统的培训成本过高。</a:t>
            </a:r>
          </a:p>
          <a:p>
            <a:r>
              <a:rPr lang="zh-CN" altLang="zh-CN" dirty="0"/>
              <a:t>需要进一步区分：</a:t>
            </a:r>
          </a:p>
          <a:p>
            <a:r>
              <a:rPr lang="zh-CN" altLang="zh-CN" dirty="0"/>
              <a:t>客户担心培训时间；</a:t>
            </a:r>
          </a:p>
          <a:p>
            <a:r>
              <a:rPr lang="zh-CN" altLang="zh-CN" dirty="0"/>
              <a:t>担心员工不会使用；</a:t>
            </a:r>
          </a:p>
          <a:p>
            <a:r>
              <a:rPr lang="zh-CN" altLang="zh-CN" dirty="0"/>
              <a:t>担心培训费用；</a:t>
            </a:r>
          </a:p>
          <a:p>
            <a:r>
              <a:rPr lang="zh-CN" altLang="zh-CN" dirty="0"/>
              <a:t>还是担心切换系统的整体成本。</a:t>
            </a:r>
          </a:p>
          <a:p>
            <a:r>
              <a:rPr lang="zh-CN" altLang="zh-CN" dirty="0"/>
              <a:t>AI的总结可能过于宽泛，销售需要查看原文。</a:t>
            </a:r>
          </a:p>
          <a:p>
            <a:r>
              <a:rPr lang="zh-CN" altLang="zh-CN" b="1" dirty="0"/>
              <a:t>三、讲解合作意向</a:t>
            </a:r>
          </a:p>
          <a:p>
            <a:r>
              <a:rPr lang="zh-CN" altLang="zh-CN" dirty="0"/>
              <a:t>AI输出：</a:t>
            </a:r>
          </a:p>
          <a:p>
            <a:r>
              <a:rPr lang="zh-CN" altLang="zh-CN" dirty="0"/>
              <a:t>愿意参加小范围试用，但暂不愿意全量采购。</a:t>
            </a:r>
          </a:p>
          <a:p>
            <a:r>
              <a:rPr lang="zh-CN" altLang="zh-CN" dirty="0"/>
              <a:t>如果这是客户明确表达，可以作为事实记录。</a:t>
            </a:r>
          </a:p>
          <a:p>
            <a:r>
              <a:rPr lang="zh-CN" altLang="zh-CN" dirty="0"/>
              <a:t>如果客户原话只是：</a:t>
            </a:r>
          </a:p>
          <a:p>
            <a:r>
              <a:rPr lang="zh-CN" altLang="zh-CN" dirty="0"/>
              <a:t>“可以先看看试用方案。”</a:t>
            </a:r>
          </a:p>
          <a:p>
            <a:r>
              <a:rPr lang="zh-CN" altLang="zh-CN" dirty="0"/>
              <a:t>那么“愿意参加小范围试用”可能是过度推断。</a:t>
            </a:r>
          </a:p>
          <a:p>
            <a:r>
              <a:rPr lang="zh-CN" altLang="zh-CN" dirty="0"/>
              <a:t>因此页面标注“需要销售人工确认”非常重要。</a:t>
            </a:r>
          </a:p>
          <a:p>
            <a:r>
              <a:rPr lang="zh-CN" altLang="zh-CN" b="1" dirty="0"/>
              <a:t>四、讲解下一步行动</a:t>
            </a:r>
          </a:p>
          <a:p>
            <a:r>
              <a:rPr lang="zh-CN" altLang="zh-CN" dirty="0"/>
              <a:t>下一步行动必须包含：</a:t>
            </a:r>
          </a:p>
          <a:p>
            <a:r>
              <a:rPr lang="zh-CN" altLang="zh-CN" dirty="0"/>
              <a:t>做什么；</a:t>
            </a:r>
          </a:p>
          <a:p>
            <a:r>
              <a:rPr lang="zh-CN" altLang="zh-CN" dirty="0"/>
              <a:t>谁负责；</a:t>
            </a:r>
          </a:p>
          <a:p>
            <a:r>
              <a:rPr lang="zh-CN" altLang="zh-CN" dirty="0"/>
              <a:t>什么时候完成。</a:t>
            </a:r>
          </a:p>
          <a:p>
            <a:r>
              <a:rPr lang="zh-CN" altLang="zh-CN" dirty="0"/>
              <a:t>只有“后续跟进”没有可执行性。</a:t>
            </a:r>
          </a:p>
          <a:p>
            <a:r>
              <a:rPr lang="zh-CN" altLang="zh-CN" dirty="0"/>
              <a:t>示例：</a:t>
            </a: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周五前发送试用方案</a:t>
            </a: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负责人：销售A</a:t>
            </a:r>
          </a:p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下周安排产品演示</a:t>
            </a: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负责人：产品B</a:t>
            </a:r>
          </a:p>
          <a:p>
            <a:r>
              <a:rPr lang="zh-CN" altLang="zh-CN" dirty="0"/>
              <a:t>还要确认：</a:t>
            </a:r>
          </a:p>
          <a:p>
            <a:r>
              <a:rPr lang="zh-CN" altLang="zh-CN" dirty="0"/>
              <a:t>“周五”是哪一天；</a:t>
            </a:r>
          </a:p>
          <a:p>
            <a:r>
              <a:rPr lang="zh-CN" altLang="zh-CN" dirty="0"/>
              <a:t>产品B是否已经同意；</a:t>
            </a:r>
          </a:p>
          <a:p>
            <a:r>
              <a:rPr lang="zh-CN" altLang="zh-CN" dirty="0"/>
              <a:t>客户是否确认下周有时间；</a:t>
            </a:r>
          </a:p>
          <a:p>
            <a:r>
              <a:rPr lang="zh-CN" altLang="zh-CN" dirty="0"/>
              <a:t>任务是否应该同步到CRM或日历。</a:t>
            </a:r>
          </a:p>
          <a:p>
            <a:r>
              <a:rPr lang="zh-CN" altLang="zh-CN" b="1" dirty="0"/>
              <a:t>五、建议补充的专业输出结构</a:t>
            </a:r>
          </a:p>
          <a:p>
            <a:r>
              <a:rPr lang="zh-CN" altLang="zh-CN" dirty="0"/>
              <a:t>课堂上可以口头展示：</a:t>
            </a: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客户原话：</a:t>
            </a: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“你们先把试用方案发给我，我和老板讨论以后再回复。”</a:t>
            </a:r>
          </a:p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可确认事实：</a:t>
            </a: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客户要求提供试用方案，并表示需要内部讨论。</a:t>
            </a:r>
          </a:p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AI推断：</a:t>
            </a: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合作意向：中等。</a:t>
            </a:r>
          </a:p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置信状态：</a:t>
            </a: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需要销售确认。</a:t>
            </a:r>
          </a:p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下一步行动：</a:t>
            </a: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周五前发送试用方案。</a:t>
            </a:r>
          </a:p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负责人：</a:t>
            </a: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销售A。</a:t>
            </a:r>
          </a:p>
          <a:p>
            <a:r>
              <a:rPr lang="zh-CN" altLang="zh-CN" b="1" dirty="0"/>
              <a:t>本页收口</a:t>
            </a:r>
          </a:p>
          <a:p>
            <a:r>
              <a:rPr lang="zh-CN" altLang="zh-CN" dirty="0"/>
              <a:t>AI输出不能把事实和推断混成一段看起来流畅的总结。产品需要帮助用户知道哪些信息来自原文，哪些是模型判断。</a:t>
            </a:r>
          </a:p>
          <a:p>
            <a:endParaRPr kumimoji="1" lang="zh-CN" altLang="en-US"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DAF89343-C9E4-1854-F2A5-9631400350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zh-CN" altLang="zh-CN" b="1" dirty="0"/>
              <a:t>本页核心观点</a:t>
            </a:r>
          </a:p>
          <a:p>
            <a:r>
              <a:rPr lang="zh-CN" altLang="zh-CN" dirty="0"/>
              <a:t>AI能够生成结果，不代表结果可以直接进入业务系统。</a:t>
            </a:r>
          </a:p>
          <a:p>
            <a:r>
              <a:rPr lang="zh-CN" altLang="zh-CN" b="1" dirty="0"/>
              <a:t>一、说话人混淆</a:t>
            </a:r>
          </a:p>
          <a:p>
            <a:r>
              <a:rPr lang="zh-CN" altLang="zh-CN" dirty="0"/>
              <a:t>销售说：</a:t>
            </a:r>
          </a:p>
          <a:p>
            <a:r>
              <a:rPr lang="zh-CN" altLang="zh-CN" dirty="0"/>
              <a:t>我建议你们可以先试用两周。</a:t>
            </a:r>
          </a:p>
          <a:p>
            <a:r>
              <a:rPr lang="zh-CN" altLang="zh-CN" dirty="0"/>
              <a:t>客户回答：</a:t>
            </a:r>
          </a:p>
          <a:p>
            <a:r>
              <a:rPr lang="zh-CN" altLang="zh-CN" dirty="0"/>
              <a:t>我回去考虑一下。</a:t>
            </a:r>
          </a:p>
          <a:p>
            <a:r>
              <a:rPr lang="zh-CN" altLang="zh-CN" dirty="0"/>
              <a:t>AI可能错误总结为：</a:t>
            </a:r>
          </a:p>
          <a:p>
            <a:r>
              <a:rPr lang="zh-CN" altLang="zh-CN" dirty="0"/>
              <a:t>客户同意先试用两周。</a:t>
            </a:r>
          </a:p>
          <a:p>
            <a:r>
              <a:rPr lang="zh-CN" altLang="zh-CN" dirty="0"/>
              <a:t>这会把销售建议变成客户承诺。</a:t>
            </a:r>
          </a:p>
          <a:p>
            <a:r>
              <a:rPr lang="zh-CN" altLang="zh-CN" b="1" dirty="0"/>
              <a:t>兜底方式</a:t>
            </a:r>
          </a:p>
          <a:p>
            <a:r>
              <a:rPr lang="zh-CN" altLang="zh-CN" dirty="0"/>
              <a:t>标记说话人；</a:t>
            </a:r>
          </a:p>
          <a:p>
            <a:r>
              <a:rPr lang="zh-CN" altLang="zh-CN" dirty="0"/>
              <a:t>结论附带原文；</a:t>
            </a:r>
          </a:p>
          <a:p>
            <a:r>
              <a:rPr lang="zh-CN" altLang="zh-CN" dirty="0"/>
              <a:t>客户承诺必须人工确认；</a:t>
            </a:r>
          </a:p>
          <a:p>
            <a:r>
              <a:rPr lang="zh-CN" altLang="zh-CN" dirty="0"/>
              <a:t>测试多人对话和插话场景。</a:t>
            </a:r>
          </a:p>
          <a:p>
            <a:r>
              <a:rPr lang="zh-CN" altLang="zh-CN" b="1" dirty="0"/>
              <a:t>二、术语识别错误</a:t>
            </a:r>
          </a:p>
          <a:p>
            <a:r>
              <a:rPr lang="zh-CN" altLang="zh-CN" dirty="0"/>
              <a:t>AI可能将：</a:t>
            </a:r>
          </a:p>
          <a:p>
            <a:r>
              <a:rPr lang="zh-CN" altLang="zh-CN" dirty="0"/>
              <a:t>产品名称；</a:t>
            </a:r>
          </a:p>
          <a:p>
            <a:r>
              <a:rPr lang="zh-CN" altLang="zh-CN" dirty="0"/>
              <a:t>商家名称；</a:t>
            </a:r>
          </a:p>
          <a:p>
            <a:r>
              <a:rPr lang="zh-CN" altLang="zh-CN" dirty="0"/>
              <a:t>金额；</a:t>
            </a:r>
          </a:p>
          <a:p>
            <a:r>
              <a:rPr lang="zh-CN" altLang="zh-CN" dirty="0"/>
              <a:t>日期；</a:t>
            </a:r>
          </a:p>
          <a:p>
            <a:r>
              <a:rPr lang="zh-CN" altLang="zh-CN" dirty="0"/>
              <a:t>行业术语</a:t>
            </a:r>
          </a:p>
          <a:p>
            <a:r>
              <a:rPr lang="zh-CN" altLang="zh-CN" dirty="0"/>
              <a:t>识别错误。</a:t>
            </a:r>
          </a:p>
          <a:p>
            <a:r>
              <a:rPr lang="zh-CN" altLang="zh-CN" b="1" dirty="0"/>
              <a:t>兜底方式</a:t>
            </a:r>
          </a:p>
          <a:p>
            <a:r>
              <a:rPr lang="zh-CN" altLang="zh-CN" dirty="0"/>
              <a:t>接入企业术语词表；</a:t>
            </a:r>
          </a:p>
          <a:p>
            <a:r>
              <a:rPr lang="zh-CN" altLang="zh-CN" dirty="0"/>
              <a:t>对金额、日期和专有名词重点标记；</a:t>
            </a:r>
          </a:p>
          <a:p>
            <a:r>
              <a:rPr lang="zh-CN" altLang="zh-CN" dirty="0"/>
              <a:t>允许用户播放对应录音；</a:t>
            </a:r>
          </a:p>
          <a:p>
            <a:r>
              <a:rPr lang="zh-CN" altLang="zh-CN" dirty="0"/>
              <a:t>重要字段必须确认。</a:t>
            </a:r>
          </a:p>
          <a:p>
            <a:r>
              <a:rPr lang="zh-CN" altLang="zh-CN" b="1" dirty="0"/>
              <a:t>三、信息遗漏</a:t>
            </a:r>
          </a:p>
          <a:p>
            <a:r>
              <a:rPr lang="zh-CN" altLang="zh-CN" dirty="0"/>
              <a:t>AI可能没有提取：</a:t>
            </a:r>
          </a:p>
          <a:p>
            <a:r>
              <a:rPr lang="zh-CN" altLang="zh-CN" dirty="0"/>
              <a:t>客户最重要的异议；</a:t>
            </a:r>
          </a:p>
          <a:p>
            <a:r>
              <a:rPr lang="zh-CN" altLang="zh-CN" dirty="0"/>
              <a:t>行动项；</a:t>
            </a:r>
          </a:p>
          <a:p>
            <a:r>
              <a:rPr lang="zh-CN" altLang="zh-CN" dirty="0"/>
              <a:t>负责人；</a:t>
            </a:r>
          </a:p>
          <a:p>
            <a:r>
              <a:rPr lang="zh-CN" altLang="zh-CN" dirty="0"/>
              <a:t>截止时间。</a:t>
            </a:r>
          </a:p>
          <a:p>
            <a:r>
              <a:rPr lang="zh-CN" altLang="zh-CN" b="1" dirty="0"/>
              <a:t>兜底方式</a:t>
            </a:r>
          </a:p>
          <a:p>
            <a:r>
              <a:rPr lang="zh-CN" altLang="zh-CN" dirty="0"/>
              <a:t>使用固定结构检查；</a:t>
            </a:r>
          </a:p>
          <a:p>
            <a:r>
              <a:rPr lang="zh-CN" altLang="zh-CN" dirty="0"/>
              <a:t>没有识别到负责人时明确显示“待补充”；</a:t>
            </a:r>
          </a:p>
          <a:p>
            <a:r>
              <a:rPr lang="zh-CN" altLang="zh-CN" dirty="0"/>
              <a:t>不要用空白假装任务不存在；</a:t>
            </a:r>
          </a:p>
          <a:p>
            <a:r>
              <a:rPr lang="zh-CN" altLang="zh-CN" dirty="0"/>
              <a:t>测试不同类型的真实对话。</a:t>
            </a:r>
          </a:p>
          <a:p>
            <a:r>
              <a:rPr lang="zh-CN" altLang="zh-CN" b="1" dirty="0"/>
              <a:t>四、无中生有</a:t>
            </a:r>
          </a:p>
          <a:p>
            <a:r>
              <a:rPr lang="zh-CN" altLang="zh-CN" dirty="0"/>
              <a:t>大模型可能生成对话中没有的信息，这通常被称为幻觉。</a:t>
            </a:r>
          </a:p>
          <a:p>
            <a:r>
              <a:rPr lang="zh-CN" altLang="zh-CN" b="1" dirty="0"/>
              <a:t>兜底方式</a:t>
            </a:r>
          </a:p>
          <a:p>
            <a:r>
              <a:rPr lang="zh-CN" altLang="zh-CN" dirty="0"/>
              <a:t>要求回答基于原始对话；</a:t>
            </a:r>
          </a:p>
          <a:p>
            <a:r>
              <a:rPr lang="zh-CN" altLang="zh-CN" dirty="0"/>
              <a:t>展示原文证据；</a:t>
            </a:r>
          </a:p>
          <a:p>
            <a:r>
              <a:rPr lang="zh-CN" altLang="zh-CN" dirty="0"/>
              <a:t>没有证据时输出“未提及”；</a:t>
            </a:r>
          </a:p>
          <a:p>
            <a:r>
              <a:rPr lang="zh-CN" altLang="zh-CN" dirty="0"/>
              <a:t>不允许模型为了填满字段而猜测；</a:t>
            </a:r>
          </a:p>
          <a:p>
            <a:r>
              <a:rPr lang="zh-CN" altLang="zh-CN" dirty="0"/>
              <a:t>使用测试集统计幻觉情况。</a:t>
            </a:r>
          </a:p>
          <a:p>
            <a:r>
              <a:rPr lang="zh-CN" altLang="zh-CN" b="1" dirty="0"/>
              <a:t>五、敏感信息泄露</a:t>
            </a:r>
          </a:p>
          <a:p>
            <a:r>
              <a:rPr lang="zh-CN" altLang="zh-CN" dirty="0"/>
              <a:t>客户对话可能包含：</a:t>
            </a:r>
          </a:p>
          <a:p>
            <a:r>
              <a:rPr lang="zh-CN" altLang="zh-CN" dirty="0"/>
              <a:t>联系方式；</a:t>
            </a:r>
          </a:p>
          <a:p>
            <a:r>
              <a:rPr lang="zh-CN" altLang="zh-CN" dirty="0"/>
              <a:t>经营数据；</a:t>
            </a:r>
          </a:p>
          <a:p>
            <a:r>
              <a:rPr lang="zh-CN" altLang="zh-CN" dirty="0"/>
              <a:t>合作价格；</a:t>
            </a:r>
          </a:p>
          <a:p>
            <a:r>
              <a:rPr lang="zh-CN" altLang="zh-CN" dirty="0"/>
              <a:t>合同信息；</a:t>
            </a:r>
          </a:p>
          <a:p>
            <a:r>
              <a:rPr lang="zh-CN" altLang="zh-CN" dirty="0"/>
              <a:t>未公开产品计划；</a:t>
            </a:r>
          </a:p>
          <a:p>
            <a:r>
              <a:rPr lang="zh-CN" altLang="zh-CN" dirty="0"/>
              <a:t>个人身份信息。</a:t>
            </a:r>
          </a:p>
          <a:p>
            <a:r>
              <a:rPr lang="zh-CN" altLang="zh-CN" b="1" dirty="0"/>
              <a:t>兜底方式</a:t>
            </a:r>
          </a:p>
          <a:p>
            <a:r>
              <a:rPr lang="zh-CN" altLang="zh-CN" dirty="0"/>
              <a:t>明确录音授权；</a:t>
            </a:r>
          </a:p>
          <a:p>
            <a:r>
              <a:rPr lang="zh-CN" altLang="zh-CN" dirty="0"/>
              <a:t>使用合规的模型和存储环境；</a:t>
            </a:r>
          </a:p>
          <a:p>
            <a:r>
              <a:rPr lang="zh-CN" altLang="zh-CN" dirty="0"/>
              <a:t>设置数据权限；</a:t>
            </a:r>
          </a:p>
          <a:p>
            <a:r>
              <a:rPr lang="zh-CN" altLang="zh-CN" dirty="0"/>
              <a:t>对敏感字段脱敏；</a:t>
            </a:r>
          </a:p>
          <a:p>
            <a:r>
              <a:rPr lang="zh-CN" altLang="zh-CN" dirty="0"/>
              <a:t>限制数据保存期限；</a:t>
            </a:r>
          </a:p>
          <a:p>
            <a:r>
              <a:rPr lang="zh-CN" altLang="zh-CN" dirty="0"/>
              <a:t>记录数据访问和操作日志。</a:t>
            </a:r>
          </a:p>
          <a:p>
            <a:r>
              <a:rPr lang="zh-CN" altLang="zh-CN" b="1" dirty="0"/>
              <a:t>六、按风险选择处理方式</a:t>
            </a:r>
          </a:p>
          <a:p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风险等级示例处理方式</a:t>
            </a:r>
            <a:endParaRPr lang="zh-CN" altLang="zh-CN" dirty="0">
              <a:effectLst/>
            </a:endParaRP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低摘要不够简洁允许编辑</a:t>
            </a:r>
            <a:endParaRPr lang="zh-CN" altLang="zh-CN" dirty="0">
              <a:effectLst/>
            </a:endParaRP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中客户诉求概括不准确展示原文并确认</a:t>
            </a:r>
            <a:endParaRPr lang="zh-CN" altLang="zh-CN" dirty="0">
              <a:effectLst/>
            </a:endParaRP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高报价、承诺、合作意向错误禁止自动写入，必须确认</a:t>
            </a:r>
            <a:endParaRPr lang="zh-CN" altLang="zh-CN" dirty="0">
              <a:effectLst/>
            </a:endParaRP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极高客户数据泄露权限、隔离、合规审查</a:t>
            </a:r>
            <a:endParaRPr lang="zh-CN" altLang="zh-CN" dirty="0">
              <a:effectLst/>
            </a:endParaRPr>
          </a:p>
          <a:p>
            <a:r>
              <a:rPr lang="zh-CN" altLang="zh-CN" b="1" dirty="0"/>
              <a:t>课堂提问</a:t>
            </a:r>
          </a:p>
          <a:p>
            <a:r>
              <a:rPr lang="zh-CN" altLang="zh-CN" dirty="0"/>
              <a:t>哪个错误最严重：摘要写得不够好、客户意向判断错、还是客户信息泄露？</a:t>
            </a:r>
          </a:p>
          <a:p>
            <a:r>
              <a:rPr lang="zh-CN" altLang="zh-CN" dirty="0"/>
              <a:t>引导学员认识：</a:t>
            </a:r>
          </a:p>
          <a:p>
            <a:r>
              <a:rPr lang="zh-CN" altLang="zh-CN" dirty="0"/>
              <a:t>不能只统计“模型错了多少次”，还要判断错误的严重程度。</a:t>
            </a:r>
          </a:p>
          <a:p>
            <a:r>
              <a:rPr lang="zh-CN" altLang="zh-CN" b="1" dirty="0"/>
              <a:t>本页收口</a:t>
            </a:r>
          </a:p>
          <a:p>
            <a:r>
              <a:rPr lang="zh-CN" altLang="zh-CN" dirty="0"/>
              <a:t>AI产品不是追求完全不出错，而是识别可能的错误，并确保严重错误不会直接造成业务后果。</a:t>
            </a:r>
          </a:p>
          <a:p>
            <a:endParaRPr kumimoji="1" lang="zh-CN" altLang="en-US"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A3200AF4-0EB4-2F12-4591-3CC4856C9F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zh-CN" altLang="zh-CN" b="1" dirty="0"/>
              <a:t>本页核心观点</a:t>
            </a:r>
          </a:p>
          <a:p>
            <a:r>
              <a:rPr lang="zh-CN" altLang="zh-CN" dirty="0"/>
              <a:t>“生成了一份摘要”是功能结果；“减少记录时间并降低遗漏”才是产品价值。</a:t>
            </a:r>
          </a:p>
          <a:p>
            <a:r>
              <a:rPr lang="zh-CN" altLang="zh-CN" b="1" dirty="0"/>
              <a:t>一、效率指标</a:t>
            </a:r>
          </a:p>
          <a:p>
            <a:r>
              <a:rPr lang="zh-CN" altLang="zh-CN" b="1" dirty="0"/>
              <a:t>每次拜访后的平均记录时间</a:t>
            </a:r>
          </a:p>
          <a:p>
            <a:r>
              <a:rPr lang="zh-CN" altLang="zh-CN" dirty="0"/>
              <a:t>使用前：</a:t>
            </a:r>
          </a:p>
          <a:p>
            <a:r>
              <a:rPr lang="zh-CN" altLang="zh-CN" dirty="0"/>
              <a:t>销售从拜访结束到完成CRM记录，平均需要多少分钟？</a:t>
            </a:r>
          </a:p>
          <a:p>
            <a:r>
              <a:rPr lang="zh-CN" altLang="zh-CN" dirty="0"/>
              <a:t>使用后：</a:t>
            </a:r>
          </a:p>
          <a:p>
            <a:r>
              <a:rPr lang="zh-CN" altLang="zh-CN" dirty="0"/>
              <a:t>AI生成草稿、销售确认和修改，一共需要多少分钟？</a:t>
            </a:r>
          </a:p>
          <a:p>
            <a:r>
              <a:rPr lang="zh-CN" altLang="zh-CN" dirty="0"/>
              <a:t>这里要统计完整时间，不能只统计AI生成的几秒钟。</a:t>
            </a:r>
          </a:p>
          <a:p>
            <a:r>
              <a:rPr lang="zh-CN" altLang="zh-CN" b="1" dirty="0"/>
              <a:t>CRM录入完成时间</a:t>
            </a:r>
          </a:p>
          <a:p>
            <a:r>
              <a:rPr lang="zh-CN" altLang="zh-CN" dirty="0"/>
              <a:t>除了单次操作时长，还可以观察：</a:t>
            </a:r>
          </a:p>
          <a:p>
            <a:r>
              <a:rPr lang="zh-CN" altLang="zh-CN" dirty="0"/>
              <a:t>拜访结束后多久，记录才真正进入CRM？</a:t>
            </a:r>
          </a:p>
          <a:p>
            <a:r>
              <a:rPr lang="zh-CN" altLang="zh-CN" dirty="0"/>
              <a:t>如果过去需要两天，现在可以当天完成，也具有价值。</a:t>
            </a:r>
          </a:p>
          <a:p>
            <a:r>
              <a:rPr lang="zh-CN" altLang="zh-CN" b="1" dirty="0"/>
              <a:t>销售使用频率</a:t>
            </a:r>
          </a:p>
          <a:p>
            <a:r>
              <a:rPr lang="zh-CN" altLang="zh-CN" dirty="0"/>
              <a:t>系统做出来以后，销售是否真的愿意使用？</a:t>
            </a:r>
          </a:p>
          <a:p>
            <a:r>
              <a:rPr lang="zh-CN" altLang="zh-CN" dirty="0"/>
              <a:t>要区分：</a:t>
            </a:r>
          </a:p>
          <a:p>
            <a:r>
              <a:rPr lang="zh-CN" altLang="zh-CN" dirty="0"/>
              <a:t>系统自动生成了多少次；</a:t>
            </a:r>
          </a:p>
          <a:p>
            <a:r>
              <a:rPr lang="zh-CN" altLang="zh-CN" dirty="0"/>
              <a:t>销售打开了多少次；</a:t>
            </a:r>
          </a:p>
          <a:p>
            <a:r>
              <a:rPr lang="zh-CN" altLang="zh-CN" dirty="0"/>
              <a:t>销售完成确认多少次；</a:t>
            </a:r>
          </a:p>
          <a:p>
            <a:r>
              <a:rPr lang="zh-CN" altLang="zh-CN" dirty="0"/>
              <a:t>最终写入CRM多少次。</a:t>
            </a:r>
          </a:p>
          <a:p>
            <a:r>
              <a:rPr lang="zh-CN" altLang="zh-CN" b="1" dirty="0"/>
              <a:t>二、质量指标</a:t>
            </a:r>
          </a:p>
          <a:p>
            <a:r>
              <a:rPr lang="zh-CN" altLang="zh-CN" b="1" dirty="0"/>
              <a:t>CRM关键字段完整率</a:t>
            </a:r>
          </a:p>
          <a:p>
            <a:r>
              <a:rPr lang="zh-CN" altLang="zh-CN" dirty="0"/>
              <a:t>例如：</a:t>
            </a:r>
          </a:p>
          <a:p>
            <a:r>
              <a:rPr lang="zh-CN" altLang="zh-CN" dirty="0"/>
              <a:t>客户诉求；</a:t>
            </a:r>
          </a:p>
          <a:p>
            <a:r>
              <a:rPr lang="zh-CN" altLang="zh-CN" dirty="0"/>
              <a:t>主要异议；</a:t>
            </a:r>
          </a:p>
          <a:p>
            <a:r>
              <a:rPr lang="zh-CN" altLang="zh-CN" dirty="0"/>
              <a:t>合作意向；</a:t>
            </a:r>
          </a:p>
          <a:p>
            <a:r>
              <a:rPr lang="zh-CN" altLang="zh-CN" dirty="0"/>
              <a:t>行动项；</a:t>
            </a:r>
          </a:p>
          <a:p>
            <a:r>
              <a:rPr lang="zh-CN" altLang="zh-CN" dirty="0"/>
              <a:t>负责人；</a:t>
            </a:r>
          </a:p>
          <a:p>
            <a:r>
              <a:rPr lang="zh-CN" altLang="zh-CN" dirty="0"/>
              <a:t>截止时间。</a:t>
            </a:r>
          </a:p>
          <a:p>
            <a:r>
              <a:rPr lang="zh-CN" altLang="zh-CN" dirty="0"/>
              <a:t>需要比较使用AI前后字段是否更完整。</a:t>
            </a:r>
          </a:p>
          <a:p>
            <a:r>
              <a:rPr lang="zh-CN" altLang="zh-CN" b="1" dirty="0"/>
              <a:t>行动项遗漏率</a:t>
            </a:r>
          </a:p>
          <a:p>
            <a:r>
              <a:rPr lang="zh-CN" altLang="zh-CN" dirty="0"/>
              <a:t>通过人工复核部分真实对话，判断AI是否漏掉了重要行动项。</a:t>
            </a:r>
          </a:p>
          <a:p>
            <a:r>
              <a:rPr lang="zh-CN" altLang="zh-CN" b="1" dirty="0"/>
              <a:t>销售修改率</a:t>
            </a:r>
          </a:p>
          <a:p>
            <a:r>
              <a:rPr lang="zh-CN" altLang="zh-CN" dirty="0"/>
              <a:t>修改率不能简单理解为越低越好。</a:t>
            </a:r>
          </a:p>
          <a:p>
            <a:r>
              <a:rPr lang="zh-CN" altLang="zh-CN" dirty="0"/>
              <a:t>修改率高可能代表AI质量差，也可能代表销售认真确认。</a:t>
            </a:r>
          </a:p>
          <a:p>
            <a:r>
              <a:rPr lang="zh-CN" altLang="zh-CN" dirty="0"/>
              <a:t>需要进一步看：</a:t>
            </a:r>
          </a:p>
          <a:p>
            <a:r>
              <a:rPr lang="zh-CN" altLang="zh-CN" dirty="0"/>
              <a:t>修改了哪些字段；</a:t>
            </a:r>
          </a:p>
          <a:p>
            <a:r>
              <a:rPr lang="zh-CN" altLang="zh-CN" dirty="0"/>
              <a:t>是文字润色还是事实修正；</a:t>
            </a:r>
          </a:p>
          <a:p>
            <a:r>
              <a:rPr lang="zh-CN" altLang="zh-CN" dirty="0"/>
              <a:t>哪类信息最容易错；</a:t>
            </a:r>
          </a:p>
          <a:p>
            <a:r>
              <a:rPr lang="zh-CN" altLang="zh-CN" dirty="0"/>
              <a:t>修改是否影响业务意义。</a:t>
            </a:r>
          </a:p>
          <a:p>
            <a:r>
              <a:rPr lang="zh-CN" altLang="zh-CN" b="1" dirty="0"/>
              <a:t>关键信息提取准确率</a:t>
            </a:r>
          </a:p>
          <a:p>
            <a:r>
              <a:rPr lang="zh-CN" altLang="zh-CN" dirty="0"/>
              <a:t>准备一组经过人工确认的测试对话，比较AI提取结果和标准结果。</a:t>
            </a:r>
          </a:p>
          <a:p>
            <a:r>
              <a:rPr lang="zh-CN" altLang="zh-CN" dirty="0"/>
              <a:t>可以分别统计：</a:t>
            </a:r>
          </a:p>
          <a:p>
            <a:r>
              <a:rPr lang="zh-CN" altLang="zh-CN" dirty="0"/>
              <a:t>客户诉求准确率；</a:t>
            </a:r>
          </a:p>
          <a:p>
            <a:r>
              <a:rPr lang="zh-CN" altLang="zh-CN" dirty="0"/>
              <a:t>异议提取准确率；</a:t>
            </a:r>
          </a:p>
          <a:p>
            <a:r>
              <a:rPr lang="zh-CN" altLang="zh-CN" dirty="0"/>
              <a:t>行动项准确率；</a:t>
            </a:r>
          </a:p>
          <a:p>
            <a:r>
              <a:rPr lang="zh-CN" altLang="zh-CN" dirty="0"/>
              <a:t>负责人和日期准确率。</a:t>
            </a:r>
          </a:p>
          <a:p>
            <a:r>
              <a:rPr lang="zh-CN" altLang="zh-CN" dirty="0"/>
              <a:t>不要只用一个总准确率掩盖高风险字段的问题。</a:t>
            </a:r>
          </a:p>
          <a:p>
            <a:r>
              <a:rPr lang="zh-CN" altLang="zh-CN" b="1" dirty="0"/>
              <a:t>三、业务指标</a:t>
            </a:r>
          </a:p>
          <a:p>
            <a:r>
              <a:rPr lang="zh-CN" altLang="zh-CN" b="1" dirty="0"/>
              <a:t>客户跟进任务按时完成率</a:t>
            </a:r>
          </a:p>
          <a:p>
            <a:r>
              <a:rPr lang="zh-CN" altLang="zh-CN" dirty="0"/>
              <a:t>记录更完整以后，后续行动是否更按时？</a:t>
            </a:r>
          </a:p>
          <a:p>
            <a:r>
              <a:rPr lang="zh-CN" altLang="zh-CN" b="1" dirty="0"/>
              <a:t>有效客户信息沉淀率</a:t>
            </a:r>
          </a:p>
          <a:p>
            <a:r>
              <a:rPr lang="zh-CN" altLang="zh-CN" dirty="0"/>
              <a:t>CRM中是否留下了更多可供主管、产品和运营使用的信息？</a:t>
            </a:r>
          </a:p>
          <a:p>
            <a:r>
              <a:rPr lang="zh-CN" altLang="zh-CN" b="1" dirty="0"/>
              <a:t>客户转化率</a:t>
            </a:r>
          </a:p>
          <a:p>
            <a:r>
              <a:rPr lang="zh-CN" altLang="zh-CN" dirty="0"/>
              <a:t>可以长期观察，但不适合作为第一期唯一指标。</a:t>
            </a:r>
          </a:p>
          <a:p>
            <a:r>
              <a:rPr lang="zh-CN" altLang="zh-CN" dirty="0"/>
              <a:t>因为转化率还受到：</a:t>
            </a:r>
          </a:p>
          <a:p>
            <a:r>
              <a:rPr lang="zh-CN" altLang="zh-CN" dirty="0"/>
              <a:t>价格；</a:t>
            </a:r>
          </a:p>
          <a:p>
            <a:r>
              <a:rPr lang="zh-CN" altLang="zh-CN" dirty="0"/>
              <a:t>产品竞争力；</a:t>
            </a:r>
          </a:p>
          <a:p>
            <a:r>
              <a:rPr lang="zh-CN" altLang="zh-CN" dirty="0"/>
              <a:t>市场环境；</a:t>
            </a:r>
          </a:p>
          <a:p>
            <a:r>
              <a:rPr lang="zh-CN" altLang="zh-CN" dirty="0"/>
              <a:t>商家预算；</a:t>
            </a:r>
          </a:p>
          <a:p>
            <a:r>
              <a:rPr lang="zh-CN" altLang="zh-CN" dirty="0"/>
              <a:t>销售能力；</a:t>
            </a:r>
          </a:p>
          <a:p>
            <a:r>
              <a:rPr lang="zh-CN" altLang="zh-CN" dirty="0"/>
              <a:t>客户决策周期</a:t>
            </a:r>
          </a:p>
          <a:p>
            <a:r>
              <a:rPr lang="zh-CN" altLang="zh-CN" dirty="0"/>
              <a:t>等大量因素影响。</a:t>
            </a:r>
          </a:p>
          <a:p>
            <a:r>
              <a:rPr lang="zh-CN" altLang="zh-CN" b="1" dirty="0"/>
              <a:t>四、建议的小范围试点</a:t>
            </a:r>
          </a:p>
          <a:p>
            <a:r>
              <a:rPr lang="zh-CN" altLang="zh-CN" dirty="0"/>
              <a:t>可以设计一个教学版试点方案：</a:t>
            </a:r>
          </a:p>
          <a:p>
            <a:r>
              <a:rPr lang="zh-CN" altLang="zh-CN" b="1" dirty="0"/>
              <a:t>试点对象</a:t>
            </a:r>
          </a:p>
          <a:p>
            <a:r>
              <a:rPr lang="zh-CN" altLang="zh-CN" dirty="0"/>
              <a:t>选择5名愿意参与的销售。</a:t>
            </a:r>
          </a:p>
          <a:p>
            <a:r>
              <a:rPr lang="zh-CN" altLang="zh-CN" b="1" dirty="0"/>
              <a:t>试点周期</a:t>
            </a:r>
          </a:p>
          <a:p>
            <a:r>
              <a:rPr lang="zh-CN" altLang="zh-CN" dirty="0"/>
              <a:t>连续使用2周。</a:t>
            </a:r>
          </a:p>
          <a:p>
            <a:r>
              <a:rPr lang="zh-CN" altLang="zh-CN" b="1" dirty="0"/>
              <a:t>样本</a:t>
            </a:r>
          </a:p>
          <a:p>
            <a:r>
              <a:rPr lang="zh-CN" altLang="zh-CN" dirty="0"/>
              <a:t>覆盖不同客户类型和沟通方式，例如：</a:t>
            </a:r>
          </a:p>
          <a:p>
            <a:r>
              <a:rPr lang="zh-CN" altLang="zh-CN" dirty="0"/>
              <a:t>线下拜访；</a:t>
            </a:r>
          </a:p>
          <a:p>
            <a:r>
              <a:rPr lang="zh-CN" altLang="zh-CN" dirty="0"/>
              <a:t>电话沟通；</a:t>
            </a:r>
          </a:p>
          <a:p>
            <a:r>
              <a:rPr lang="zh-CN" altLang="zh-CN" dirty="0"/>
              <a:t>多人会议；</a:t>
            </a:r>
          </a:p>
          <a:p>
            <a:r>
              <a:rPr lang="zh-CN" altLang="zh-CN" dirty="0"/>
              <a:t>包含行业术语的沟通。</a:t>
            </a:r>
          </a:p>
          <a:p>
            <a:r>
              <a:rPr lang="zh-CN" altLang="zh-CN" b="1" dirty="0"/>
              <a:t>使用前记录</a:t>
            </a:r>
          </a:p>
          <a:p>
            <a:r>
              <a:rPr lang="zh-CN" altLang="zh-CN" dirty="0"/>
              <a:t>平均整理时间；</a:t>
            </a:r>
          </a:p>
          <a:p>
            <a:r>
              <a:rPr lang="zh-CN" altLang="zh-CN" dirty="0"/>
              <a:t>CRM字段完整率；</a:t>
            </a:r>
          </a:p>
          <a:p>
            <a:r>
              <a:rPr lang="zh-CN" altLang="zh-CN" dirty="0"/>
              <a:t>行动项遗漏情况；</a:t>
            </a:r>
          </a:p>
          <a:p>
            <a:r>
              <a:rPr lang="zh-CN" altLang="zh-CN" dirty="0"/>
              <a:t>拜访后24小时内完成记录的比例。</a:t>
            </a:r>
          </a:p>
          <a:p>
            <a:r>
              <a:rPr lang="zh-CN" altLang="zh-CN" b="1" dirty="0"/>
              <a:t>使用后记录</a:t>
            </a:r>
          </a:p>
          <a:p>
            <a:r>
              <a:rPr lang="zh-CN" altLang="zh-CN" dirty="0"/>
              <a:t>AI生成时间；</a:t>
            </a:r>
          </a:p>
          <a:p>
            <a:r>
              <a:rPr lang="zh-CN" altLang="zh-CN" dirty="0"/>
              <a:t>销售确认和修改时间；</a:t>
            </a:r>
          </a:p>
          <a:p>
            <a:r>
              <a:rPr lang="zh-CN" altLang="zh-CN" dirty="0"/>
              <a:t>各字段修改率；</a:t>
            </a:r>
          </a:p>
          <a:p>
            <a:r>
              <a:rPr lang="zh-CN" altLang="zh-CN" dirty="0"/>
              <a:t>严重错误数量；</a:t>
            </a:r>
          </a:p>
          <a:p>
            <a:r>
              <a:rPr lang="zh-CN" altLang="zh-CN" dirty="0"/>
              <a:t>最终写入CRM的比例；</a:t>
            </a:r>
          </a:p>
          <a:p>
            <a:r>
              <a:rPr lang="zh-CN" altLang="zh-CN" dirty="0"/>
              <a:t>销售主观满意度。</a:t>
            </a:r>
          </a:p>
          <a:p>
            <a:r>
              <a:rPr lang="zh-CN" altLang="zh-CN" b="1" dirty="0"/>
              <a:t>五、成功标准示例</a:t>
            </a:r>
          </a:p>
          <a:p>
            <a:r>
              <a:rPr lang="zh-CN" altLang="zh-CN" dirty="0"/>
              <a:t>课堂上可以给出假设性的成功标准，但必须明确不是实际结果。</a:t>
            </a:r>
          </a:p>
          <a:p>
            <a:r>
              <a:rPr lang="zh-CN" altLang="zh-CN" dirty="0"/>
              <a:t>例如：</a:t>
            </a:r>
          </a:p>
          <a:p>
            <a:r>
              <a:rPr lang="zh-CN" altLang="zh-CN" dirty="0"/>
              <a:t>单次整理时间明显下降；</a:t>
            </a:r>
          </a:p>
          <a:p>
            <a:r>
              <a:rPr lang="zh-CN" altLang="zh-CN" dirty="0"/>
              <a:t>关键字段完整率提高；</a:t>
            </a:r>
          </a:p>
          <a:p>
            <a:r>
              <a:rPr lang="zh-CN" altLang="zh-CN" dirty="0"/>
              <a:t>高风险事实错误控制在可接受范围；</a:t>
            </a:r>
          </a:p>
          <a:p>
            <a:r>
              <a:rPr lang="zh-CN" altLang="zh-CN" dirty="0"/>
              <a:t>大多数销售愿意持续使用；</a:t>
            </a:r>
          </a:p>
          <a:p>
            <a:r>
              <a:rPr lang="zh-CN" altLang="zh-CN" dirty="0"/>
              <a:t>没有发生未经确认自动写入关键承诺的情况。</a:t>
            </a:r>
          </a:p>
          <a:p>
            <a:r>
              <a:rPr lang="zh-CN" altLang="zh-CN" dirty="0"/>
              <a:t>不要直接宣称：</a:t>
            </a:r>
          </a:p>
          <a:p>
            <a:r>
              <a:rPr lang="zh-CN" altLang="zh-CN" dirty="0"/>
              <a:t>该产品已经将效率提升50%、转化率提高20%。</a:t>
            </a:r>
          </a:p>
          <a:p>
            <a:r>
              <a:rPr lang="zh-CN" altLang="zh-CN" dirty="0"/>
              <a:t>除非确实有真实试点数据和计算方法。</a:t>
            </a:r>
          </a:p>
          <a:p>
            <a:r>
              <a:rPr lang="zh-CN" altLang="zh-CN" b="1" dirty="0"/>
              <a:t>本页收口</a:t>
            </a:r>
          </a:p>
          <a:p>
            <a:r>
              <a:rPr lang="zh-CN" altLang="zh-CN" dirty="0"/>
              <a:t>AI产品的价值不是模型能够生成内容，而是用户的工作过程和业务结果是否因此发生了可验证的改善。</a:t>
            </a:r>
          </a:p>
          <a:p>
            <a:endParaRPr kumimoji="1" lang="zh-CN" altLang="en-US"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05D665C9-1AFB-46BB-E070-22759E2ACF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zh-CN" altLang="zh-CN" b="1" dirty="0"/>
              <a:t>课堂案例最终复盘</a:t>
            </a:r>
          </a:p>
          <a:p>
            <a:r>
              <a:rPr lang="zh-CN" altLang="zh-CN" dirty="0"/>
              <a:t>讲完第40页后，建议不要立即结束，带学员复盘一次完整方法。</a:t>
            </a:r>
          </a:p>
          <a:p>
            <a:r>
              <a:rPr lang="zh-CN" altLang="zh-CN" b="1" dirty="0"/>
              <a:t>第一步：先理解完整业务</a:t>
            </a:r>
          </a:p>
          <a:p>
            <a:r>
              <a:rPr lang="zh-CN" altLang="zh-CN" dirty="0"/>
              <a:t>我们没有一开始就假设要做记录助手，而是先了解销售客户经营的完整过程。</a:t>
            </a:r>
          </a:p>
          <a:p>
            <a:r>
              <a:rPr lang="zh-CN" altLang="zh-CN" b="1" dirty="0"/>
              <a:t>第二步：发现多个AI机会</a:t>
            </a:r>
          </a:p>
          <a:p>
            <a:r>
              <a:rPr lang="zh-CN" altLang="zh-CN" dirty="0"/>
              <a:t>我们可以做客户洞察、优先级判断、方案推荐、知识辅助、信息沉淀和流失预测。</a:t>
            </a:r>
          </a:p>
          <a:p>
            <a:r>
              <a:rPr lang="zh-CN" altLang="zh-CN" b="1" dirty="0"/>
              <a:t>第三步：通过标准进行收敛</a:t>
            </a:r>
          </a:p>
          <a:p>
            <a:r>
              <a:rPr lang="zh-CN" altLang="zh-CN" dirty="0"/>
              <a:t>选择首期场景时比较：</a:t>
            </a:r>
          </a:p>
          <a:p>
            <a:r>
              <a:rPr lang="zh-CN" altLang="zh-CN" dirty="0"/>
              <a:t>用户痛感；</a:t>
            </a:r>
          </a:p>
          <a:p>
            <a:r>
              <a:rPr lang="zh-CN" altLang="zh-CN" dirty="0"/>
              <a:t>业务价值；</a:t>
            </a:r>
          </a:p>
          <a:p>
            <a:r>
              <a:rPr lang="zh-CN" altLang="zh-CN" dirty="0"/>
              <a:t>AI适配度；</a:t>
            </a:r>
          </a:p>
          <a:p>
            <a:r>
              <a:rPr lang="zh-CN" altLang="zh-CN" dirty="0"/>
              <a:t>数据可获得性；</a:t>
            </a:r>
          </a:p>
          <a:p>
            <a:r>
              <a:rPr lang="zh-CN" altLang="zh-CN" dirty="0"/>
              <a:t>错误风险；</a:t>
            </a:r>
          </a:p>
          <a:p>
            <a:r>
              <a:rPr lang="zh-CN" altLang="zh-CN" dirty="0"/>
              <a:t>试点难度。</a:t>
            </a:r>
          </a:p>
          <a:p>
            <a:r>
              <a:rPr lang="zh-CN" altLang="zh-CN" b="1" dirty="0"/>
              <a:t>第四步：选择一个具体切口</a:t>
            </a:r>
          </a:p>
          <a:p>
            <a:r>
              <a:rPr lang="zh-CN" altLang="zh-CN" dirty="0"/>
              <a:t>课堂选择了销售拜访后的信息沉淀，原因是输入输出较明确、AI适配度较高、可以通过人工确认控制风险，也方便小范围验证。</a:t>
            </a:r>
          </a:p>
          <a:p>
            <a:r>
              <a:rPr lang="zh-CN" altLang="zh-CN" b="1" dirty="0"/>
              <a:t>第五步：拆解流程</a:t>
            </a:r>
          </a:p>
          <a:p>
            <a:r>
              <a:rPr lang="zh-CN" altLang="zh-CN" dirty="0"/>
              <a:t>AI不是优化整个销售流程，而是负责转写、提取和生成草稿。</a:t>
            </a:r>
          </a:p>
          <a:p>
            <a:r>
              <a:rPr lang="zh-CN" altLang="zh-CN" b="1" dirty="0"/>
              <a:t>第六步：设计人机分工</a:t>
            </a:r>
          </a:p>
          <a:p>
            <a:r>
              <a:rPr lang="zh-CN" altLang="zh-CN" dirty="0"/>
              <a:t>AI负责信息处理，销售负责事实确认和商务决策。</a:t>
            </a:r>
          </a:p>
          <a:p>
            <a:r>
              <a:rPr lang="zh-CN" altLang="zh-CN" b="1" dirty="0"/>
              <a:t>第七步：管理错误</a:t>
            </a:r>
          </a:p>
          <a:p>
            <a:r>
              <a:rPr lang="zh-CN" altLang="zh-CN" dirty="0"/>
              <a:t>针对说话人混淆、术语错误、遗漏、幻觉和数据泄露，设计不同兜底措施。</a:t>
            </a:r>
          </a:p>
          <a:p>
            <a:r>
              <a:rPr lang="zh-CN" altLang="zh-CN" b="1" dirty="0"/>
              <a:t>第八步：验证产品价值</a:t>
            </a:r>
          </a:p>
          <a:p>
            <a:r>
              <a:rPr lang="zh-CN" altLang="zh-CN" dirty="0"/>
              <a:t>使用效率、质量、使用和业务指标证明产品是否有效。</a:t>
            </a:r>
          </a:p>
          <a:p>
            <a:r>
              <a:rPr lang="zh-CN" altLang="zh-CN" b="1" dirty="0"/>
              <a:t>最终方法公式</a:t>
            </a:r>
          </a:p>
          <a:p>
            <a:r>
              <a:rPr lang="zh-CN" altLang="zh-CN" dirty="0"/>
              <a:t>AI产品分析 = 业务背景 + 候选问题 + 优先级判断 + AI任务 + 人机分工 + 风险兜底 + 验证指标。</a:t>
            </a:r>
          </a:p>
          <a:p>
            <a:br>
              <a:rPr lang="zh-CN" altLang="zh-CN" dirty="0"/>
            </a:br>
            <a:endParaRPr lang="zh-CN" altLang="zh-CN" dirty="0"/>
          </a:p>
          <a:p>
            <a:r>
              <a:rPr lang="zh-CN" altLang="zh-CN" b="1" dirty="0"/>
              <a:t>课堂点评标准</a:t>
            </a:r>
          </a:p>
          <a:p>
            <a:r>
              <a:rPr lang="zh-CN" altLang="zh-CN" dirty="0"/>
              <a:t>学员回答后，不要以“是否和老师答案一致”作为评价标准。</a:t>
            </a:r>
          </a:p>
          <a:p>
            <a:r>
              <a:rPr lang="zh-CN" altLang="zh-CN" dirty="0"/>
              <a:t>重点检查七件事：</a:t>
            </a:r>
          </a:p>
          <a:p>
            <a:r>
              <a:rPr lang="zh-CN" altLang="zh-CN" dirty="0"/>
              <a:t>是否说清楚目标用户；</a:t>
            </a:r>
          </a:p>
          <a:p>
            <a:r>
              <a:rPr lang="zh-CN" altLang="zh-CN" dirty="0"/>
              <a:t>是否选择了一个具体问题；</a:t>
            </a:r>
          </a:p>
          <a:p>
            <a:r>
              <a:rPr lang="zh-CN" altLang="zh-CN" dirty="0"/>
              <a:t>是否说明用户现在怎样解决；</a:t>
            </a:r>
          </a:p>
          <a:p>
            <a:r>
              <a:rPr lang="zh-CN" altLang="zh-CN" dirty="0"/>
              <a:t>是否明确AI的输入、处理和输出；</a:t>
            </a:r>
          </a:p>
          <a:p>
            <a:r>
              <a:rPr lang="zh-CN" altLang="zh-CN" dirty="0"/>
              <a:t>是否解释为什么适合使用AI；</a:t>
            </a:r>
          </a:p>
          <a:p>
            <a:r>
              <a:rPr lang="zh-CN" altLang="zh-CN" dirty="0"/>
              <a:t>是否保留人的判断和责任；</a:t>
            </a:r>
          </a:p>
          <a:p>
            <a:r>
              <a:rPr lang="zh-CN" altLang="zh-CN" dirty="0"/>
              <a:t>是否提出可以执行的验证方法。</a:t>
            </a:r>
          </a:p>
          <a:p>
            <a:r>
              <a:rPr lang="zh-CN" altLang="zh-CN" b="1" dirty="0"/>
              <a:t>优秀回答示例</a:t>
            </a:r>
          </a:p>
          <a:p>
            <a:r>
              <a:rPr lang="zh-CN" altLang="zh-CN" dirty="0"/>
              <a:t>我选择销售拜访前的客户洞察。销售在拜访前需要从CRM、交易数据和历史沟通中了解客户，但资料分散、准备时间较长。AI可以读取有权限的数据，生成客户现状、历史问题和建议追问清单。销售负责判断沟通策略，不让AI直接向客户发送内容。第一期通过准备时间、信息采用率、错误信息率和销售使用率验证。</a:t>
            </a:r>
          </a:p>
          <a:p>
            <a:r>
              <a:rPr lang="zh-CN" altLang="zh-CN" dirty="0"/>
              <a:t>这个答案虽然没有选择拜访记录助手，但符合完整产品分析逻辑，应该得到正面评价。</a:t>
            </a:r>
          </a:p>
          <a:p>
            <a:r>
              <a:rPr lang="zh-CN" altLang="zh-CN" b="1" dirty="0"/>
              <a:t>需要继续追问的回答</a:t>
            </a:r>
          </a:p>
          <a:p>
            <a:r>
              <a:rPr lang="zh-CN" altLang="zh-CN" dirty="0"/>
              <a:t>做一个AI销售助手，提高销售效率。</a:t>
            </a:r>
          </a:p>
          <a:p>
            <a:r>
              <a:rPr lang="zh-CN" altLang="zh-CN" dirty="0"/>
              <a:t>需要追问：</a:t>
            </a:r>
          </a:p>
          <a:p>
            <a:r>
              <a:rPr lang="zh-CN" altLang="zh-CN" dirty="0"/>
              <a:t>哪一类销售？</a:t>
            </a:r>
          </a:p>
          <a:p>
            <a:r>
              <a:rPr lang="zh-CN" altLang="zh-CN" dirty="0"/>
              <a:t>在哪个具体时刻使用？</a:t>
            </a:r>
          </a:p>
          <a:p>
            <a:r>
              <a:rPr lang="zh-CN" altLang="zh-CN" dirty="0"/>
              <a:t>当前最痛的步骤是什么？</a:t>
            </a:r>
          </a:p>
          <a:p>
            <a:r>
              <a:rPr lang="zh-CN" altLang="zh-CN" dirty="0"/>
              <a:t>AI输入和输出是什么？</a:t>
            </a:r>
          </a:p>
          <a:p>
            <a:r>
              <a:rPr lang="zh-CN" altLang="zh-CN" dirty="0"/>
              <a:t>为什么普通规则不能解决？</a:t>
            </a:r>
          </a:p>
          <a:p>
            <a:r>
              <a:rPr lang="zh-CN" altLang="zh-CN" dirty="0"/>
              <a:t>出错会造成什么后果？</a:t>
            </a:r>
          </a:p>
          <a:p>
            <a:r>
              <a:rPr lang="zh-CN" altLang="zh-CN" dirty="0"/>
              <a:t>怎么证明效率提高？</a:t>
            </a:r>
          </a:p>
          <a:p>
            <a:br>
              <a:rPr lang="zh-CN" altLang="zh-CN" dirty="0"/>
            </a:br>
            <a:endParaRPr lang="zh-CN" altLang="zh-CN" dirty="0"/>
          </a:p>
          <a:p>
            <a:r>
              <a:rPr lang="zh-CN" altLang="zh-CN" b="1" dirty="0"/>
              <a:t>讲师容易犯的错误</a:t>
            </a:r>
          </a:p>
          <a:p>
            <a:r>
              <a:rPr lang="zh-CN" altLang="zh-CN" b="1" dirty="0"/>
              <a:t>表面上开放，实际上只接受记录助手</a:t>
            </a:r>
          </a:p>
          <a:p>
            <a:r>
              <a:rPr lang="zh-CN" altLang="zh-CN" dirty="0"/>
              <a:t>如果学员提出其他合理方向，应肯定其分析。课堂选择记录助手只是为了继续示范，不代表它是唯一正确答案。</a:t>
            </a:r>
          </a:p>
          <a:p>
            <a:r>
              <a:rPr lang="zh-CN" altLang="zh-CN" b="1" dirty="0"/>
              <a:t>没有解释为什么收敛</a:t>
            </a:r>
          </a:p>
          <a:p>
            <a:r>
              <a:rPr lang="zh-CN" altLang="zh-CN" dirty="0"/>
              <a:t>从开放销售场景直接跳到CRM记录，会显得答案是预设的。必须增加候选方向和优先级比较。</a:t>
            </a:r>
          </a:p>
          <a:p>
            <a:r>
              <a:rPr lang="zh-CN" altLang="zh-CN" b="1" dirty="0"/>
              <a:t>把教学假设讲成真实公司数据</a:t>
            </a:r>
          </a:p>
          <a:p>
            <a:r>
              <a:rPr lang="zh-CN" altLang="zh-CN" dirty="0"/>
              <a:t>“同时跟进30—50个客户”“每天拜访3—5家”需要明确是教学假设。真实项目必须重新调研。</a:t>
            </a:r>
          </a:p>
          <a:p>
            <a:r>
              <a:rPr lang="zh-CN" altLang="zh-CN" b="1" dirty="0"/>
              <a:t>过早讨论模型和工具</a:t>
            </a:r>
          </a:p>
          <a:p>
            <a:r>
              <a:rPr lang="zh-CN" altLang="zh-CN" dirty="0"/>
              <a:t>学员还没确认问题，就开始讨论用哪个大模型，会让练习退化成技术选型。</a:t>
            </a:r>
          </a:p>
          <a:p>
            <a:r>
              <a:rPr lang="zh-CN" altLang="zh-CN" b="1" dirty="0"/>
              <a:t>把“转化率提高”作为万能指标</a:t>
            </a:r>
          </a:p>
          <a:p>
            <a:r>
              <a:rPr lang="zh-CN" altLang="zh-CN" dirty="0"/>
              <a:t>第一期应优先测量与功能直接相关的效率和质量变化。</a:t>
            </a:r>
          </a:p>
          <a:p>
            <a:r>
              <a:rPr lang="zh-CN" altLang="zh-CN" b="1" dirty="0"/>
              <a:t>追求全自动</a:t>
            </a:r>
          </a:p>
          <a:p>
            <a:r>
              <a:rPr lang="zh-CN" altLang="zh-CN" dirty="0"/>
              <a:t>AI自动写入CRM、创建任务甚至发送客户材料，确实更有想象力，但风险也更高。课堂应让学员理解自动化程度需要依靠真实数据逐步提高。</a:t>
            </a:r>
          </a:p>
          <a:p>
            <a:r>
              <a:rPr lang="zh-CN" altLang="zh-CN" b="1" dirty="0"/>
              <a:t>只关注平均准确率</a:t>
            </a:r>
          </a:p>
          <a:p>
            <a:r>
              <a:rPr lang="zh-CN" altLang="zh-CN" dirty="0"/>
              <a:t>金额、承诺、日期和客户意向的错误，可能比普通措辞错误严重得多。AI评测需要考虑错误类型和严重程度。</a:t>
            </a:r>
          </a:p>
          <a:p>
            <a:endParaRPr kumimoji="1" lang="zh-CN" altLang="en-US"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13E45-17AC-9DD6-DE9A-14071081C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434060-BC4C-8C59-F899-69CFF673B0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C127BB-4AF2-015F-2F98-183698C807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9A20E2-D2FC-440D-45FC-AB5F61A274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76134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A88A8CFB-5C0D-07E0-B6AE-43970DD6C4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kumimoji="1" lang="zh-CN" altLang="en-US" dirty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6C5F0"/>
          </a:solidFill>
          <a:ln w="12700">
            <a:solidFill>
              <a:srgbClr val="36C5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1809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1371600"/>
            <a:ext cx="5669280" cy="5669280"/>
          </a:xfrm>
          <a:prstGeom prst="ellipse">
            <a:avLst/>
          </a:prstGeom>
          <a:solidFill>
            <a:srgbClr val="246BFD">
              <a:alpha val="65000"/>
            </a:srgbClr>
          </a:solidFill>
          <a:ln w="12700">
            <a:solidFill>
              <a:srgbClr val="246BF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3291840"/>
            <a:ext cx="3840480" cy="3840480"/>
          </a:xfrm>
          <a:prstGeom prst="ellipse">
            <a:avLst/>
          </a:prstGeom>
          <a:solidFill>
            <a:srgbClr val="36C5F0">
              <a:alpha val="42000"/>
            </a:srgbClr>
          </a:solidFill>
          <a:ln w="12700">
            <a:solidFill>
              <a:srgbClr val="36C5F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" y="709676"/>
            <a:ext cx="1097280" cy="310896"/>
          </a:xfrm>
          <a:prstGeom prst="roundRect">
            <a:avLst>
              <a:gd name="adj" fmla="val 23529"/>
            </a:avLst>
          </a:prstGeom>
          <a:solidFill>
            <a:srgbClr val="36C5F0">
              <a:alpha val="12000"/>
            </a:srgbClr>
          </a:solidFill>
          <a:ln w="12700">
            <a:solidFill>
              <a:srgbClr val="36C5F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818388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6C5F0"/>
                </a:solidFill>
              </a:rPr>
              <a:t>第 00 课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3232" y="1463040"/>
            <a:ext cx="8961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 err="1">
                <a:solidFill>
                  <a:srgbClr val="FFFFFF"/>
                </a:solidFill>
              </a:rPr>
              <a:t>开班典礼与学习地图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49808" y="276148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 err="1">
                <a:solidFill>
                  <a:srgbClr val="C9D7EB"/>
                </a:solidFill>
              </a:rPr>
              <a:t>看清地图，好好学习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49808" y="3246120"/>
            <a:ext cx="5303520" cy="0"/>
          </a:xfrm>
          <a:prstGeom prst="line">
            <a:avLst/>
          </a:prstGeom>
          <a:noFill/>
          <a:ln w="38100">
            <a:solidFill>
              <a:srgbClr val="36C5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3566160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6C5F0"/>
                </a:solidFill>
              </a:rPr>
              <a:t>系统知识  ×  项目实践  ×  求职转化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9808" y="608076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1A4BE"/>
                </a:solidFill>
              </a:rPr>
              <a:t>AI 产品经理系统课程 · 第一阶段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B4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BA6AAF-AF15-F0C7-9230-6C2E51BAD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02A4F843-033C-ECBD-7428-51B6FE6C63DF}"/>
              </a:ext>
            </a:extLst>
          </p:cNvPr>
          <p:cNvSpPr/>
          <p:nvPr/>
        </p:nvSpPr>
        <p:spPr>
          <a:xfrm>
            <a:off x="9398000" y="-973836"/>
            <a:ext cx="3840480" cy="3840480"/>
          </a:xfrm>
          <a:prstGeom prst="ellipse">
            <a:avLst/>
          </a:prstGeom>
          <a:solidFill>
            <a:srgbClr val="36C5F0">
              <a:alpha val="42000"/>
            </a:srgbClr>
          </a:solidFill>
          <a:ln w="12700">
            <a:solidFill>
              <a:srgbClr val="36C5F0">
                <a:alpha val="0"/>
              </a:srgbClr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32505F3-7EDF-DDB1-3B5B-FFDFB8A91D2A}"/>
              </a:ext>
            </a:extLst>
          </p:cNvPr>
          <p:cNvSpPr/>
          <p:nvPr/>
        </p:nvSpPr>
        <p:spPr>
          <a:xfrm>
            <a:off x="1615440" y="3026664"/>
            <a:ext cx="8961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800" b="1" dirty="0" err="1">
                <a:solidFill>
                  <a:srgbClr val="FFFFFF"/>
                </a:solidFill>
              </a:rPr>
              <a:t>欢迎大家开启自己的AI时代</a:t>
            </a:r>
            <a:endParaRPr lang="en-US" sz="38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6E3007F-5B77-F812-A8D2-6C17997A1994}"/>
              </a:ext>
            </a:extLst>
          </p:cNvPr>
          <p:cNvSpPr/>
          <p:nvPr/>
        </p:nvSpPr>
        <p:spPr>
          <a:xfrm>
            <a:off x="749808" y="608076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1A4BE"/>
                </a:solidFill>
              </a:rPr>
              <a:t>AI 产品经理系统课程 · 第一阶段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861805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246BFD"/>
                </a:solidFill>
              </a:rPr>
              <a:t>开场诊断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42B4A"/>
                </a:solidFill>
              </a:rPr>
              <a:t>你现在最大的困惑是什么？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170432"/>
            <a:ext cx="1101852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81328"/>
            <a:ext cx="342900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81328"/>
            <a:ext cx="73152" cy="1600200"/>
          </a:xfrm>
          <a:prstGeom prst="rect">
            <a:avLst/>
          </a:prstGeom>
          <a:solidFill>
            <a:srgbClr val="246BFD"/>
          </a:solidFill>
          <a:ln w="12700">
            <a:solidFill>
              <a:srgbClr val="246BF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" y="1661668"/>
            <a:ext cx="420624" cy="420624"/>
          </a:xfrm>
          <a:prstGeom prst="ellipse">
            <a:avLst/>
          </a:prstGeom>
          <a:solidFill>
            <a:srgbClr val="246BFD"/>
          </a:solidFill>
          <a:ln w="12700">
            <a:solidFill>
              <a:srgbClr val="246B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1796796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26464" y="1725676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42B4A"/>
                </a:solidFill>
              </a:rPr>
              <a:t>方向不清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96112" y="2267712"/>
            <a:ext cx="292608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不知道 AI 产品经理具体做什么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434840" y="1481328"/>
            <a:ext cx="342900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34840" y="1481328"/>
            <a:ext cx="73152" cy="1600200"/>
          </a:xfrm>
          <a:prstGeom prst="rect">
            <a:avLst/>
          </a:prstGeom>
          <a:solidFill>
            <a:srgbClr val="7655D4"/>
          </a:solidFill>
          <a:ln w="12700">
            <a:solidFill>
              <a:srgbClr val="7655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72584" y="1659636"/>
            <a:ext cx="420624" cy="420624"/>
          </a:xfrm>
          <a:prstGeom prst="ellipse">
            <a:avLst/>
          </a:prstGeom>
          <a:solidFill>
            <a:srgbClr val="7655D4"/>
          </a:solidFill>
          <a:ln w="12700">
            <a:solidFill>
              <a:srgbClr val="7655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72584" y="1796796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11826" y="1719072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42B4A"/>
                </a:solidFill>
              </a:rPr>
              <a:t>技术焦虑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690872" y="2267712"/>
            <a:ext cx="292608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名词很多，担心自己学不会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29600" y="1481328"/>
            <a:ext cx="342900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0" y="1481328"/>
            <a:ext cx="73152" cy="1600200"/>
          </a:xfrm>
          <a:prstGeom prst="rect">
            <a:avLst/>
          </a:prstGeom>
          <a:solidFill>
            <a:srgbClr val="36C5F0"/>
          </a:solidFill>
          <a:ln w="12700">
            <a:solidFill>
              <a:srgbClr val="36C5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67344" y="1659636"/>
            <a:ext cx="420624" cy="420624"/>
          </a:xfrm>
          <a:prstGeom prst="ellipse">
            <a:avLst/>
          </a:prstGeom>
          <a:solidFill>
            <a:srgbClr val="36C5F0"/>
          </a:solidFill>
          <a:ln w="12700">
            <a:solidFill>
              <a:srgbClr val="36C5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67344" y="1796796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015984" y="1725676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42B4A"/>
                </a:solidFill>
              </a:rPr>
              <a:t>工具碎片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8485632" y="2267712"/>
            <a:ext cx="292608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会用一些工具，但没有体系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3538728"/>
            <a:ext cx="342900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" y="3538728"/>
            <a:ext cx="73152" cy="1600200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" y="3717036"/>
            <a:ext cx="420624" cy="420624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7824" y="3854196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426464" y="3792474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42B4A"/>
                </a:solidFill>
              </a:rPr>
              <a:t>没有项目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896112" y="4325112"/>
            <a:ext cx="292608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学过概念，却没有完整产出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434840" y="3538728"/>
            <a:ext cx="342900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434840" y="3538728"/>
            <a:ext cx="73152" cy="1600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72584" y="3717036"/>
            <a:ext cx="420624" cy="42062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72584" y="3854196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21224" y="3791458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42B4A"/>
                </a:solidFill>
              </a:rPr>
              <a:t>不会表达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4690872" y="4325112"/>
            <a:ext cx="292608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经历和项目无法转成求职证据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074920" y="5687568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 err="1">
                <a:solidFill>
                  <a:srgbClr val="142B4A"/>
                </a:solidFill>
              </a:rPr>
              <a:t>请选择最接近你当前状态的一项，并用在评论区介绍下自己的背景</a:t>
            </a:r>
            <a:endParaRPr lang="en-US" sz="12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sp>
        <p:nvSpPr>
          <p:cNvPr id="37" name="Shape 27">
            <a:extLst>
              <a:ext uri="{FF2B5EF4-FFF2-40B4-BE49-F238E27FC236}">
                <a16:creationId xmlns:a16="http://schemas.microsoft.com/office/drawing/2014/main" id="{176D9588-EECB-89D0-2AA4-4FE866A2D7F0}"/>
              </a:ext>
            </a:extLst>
          </p:cNvPr>
          <p:cNvSpPr/>
          <p:nvPr/>
        </p:nvSpPr>
        <p:spPr>
          <a:xfrm>
            <a:off x="8229600" y="3538728"/>
            <a:ext cx="342900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6000"/>
              </a:srgbClr>
            </a:outerShdw>
          </a:effectLst>
        </p:spPr>
      </p:sp>
      <p:sp>
        <p:nvSpPr>
          <p:cNvPr id="38" name="Shape 28">
            <a:extLst>
              <a:ext uri="{FF2B5EF4-FFF2-40B4-BE49-F238E27FC236}">
                <a16:creationId xmlns:a16="http://schemas.microsoft.com/office/drawing/2014/main" id="{F03A4ABC-D6E3-BC4B-E0E3-D4F33F12349C}"/>
              </a:ext>
            </a:extLst>
          </p:cNvPr>
          <p:cNvSpPr/>
          <p:nvPr/>
        </p:nvSpPr>
        <p:spPr>
          <a:xfrm>
            <a:off x="8229600" y="3538728"/>
            <a:ext cx="73152" cy="160020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9" name="Shape 29">
            <a:extLst>
              <a:ext uri="{FF2B5EF4-FFF2-40B4-BE49-F238E27FC236}">
                <a16:creationId xmlns:a16="http://schemas.microsoft.com/office/drawing/2014/main" id="{62483167-3FC5-5963-8CA1-A93BFA6192FA}"/>
              </a:ext>
            </a:extLst>
          </p:cNvPr>
          <p:cNvSpPr/>
          <p:nvPr/>
        </p:nvSpPr>
        <p:spPr>
          <a:xfrm>
            <a:off x="8467344" y="3717036"/>
            <a:ext cx="420624" cy="42062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0" name="Text 30">
            <a:extLst>
              <a:ext uri="{FF2B5EF4-FFF2-40B4-BE49-F238E27FC236}">
                <a16:creationId xmlns:a16="http://schemas.microsoft.com/office/drawing/2014/main" id="{0C4664EA-DC15-8748-79EB-8857511E7FA0}"/>
              </a:ext>
            </a:extLst>
          </p:cNvPr>
          <p:cNvSpPr/>
          <p:nvPr/>
        </p:nvSpPr>
        <p:spPr>
          <a:xfrm>
            <a:off x="8467344" y="3860292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41" name="Text 31">
            <a:extLst>
              <a:ext uri="{FF2B5EF4-FFF2-40B4-BE49-F238E27FC236}">
                <a16:creationId xmlns:a16="http://schemas.microsoft.com/office/drawing/2014/main" id="{A8795EC8-B1D2-BB47-7807-080FC3F68491}"/>
              </a:ext>
            </a:extLst>
          </p:cNvPr>
          <p:cNvSpPr/>
          <p:nvPr/>
        </p:nvSpPr>
        <p:spPr>
          <a:xfrm>
            <a:off x="9015984" y="3785616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 err="1">
                <a:solidFill>
                  <a:srgbClr val="142B4A"/>
                </a:solidFill>
              </a:rPr>
              <a:t>其他</a:t>
            </a:r>
            <a:endParaRPr lang="en-US" sz="1550" dirty="0"/>
          </a:p>
        </p:txBody>
      </p:sp>
      <p:sp>
        <p:nvSpPr>
          <p:cNvPr id="42" name="Text 32">
            <a:extLst>
              <a:ext uri="{FF2B5EF4-FFF2-40B4-BE49-F238E27FC236}">
                <a16:creationId xmlns:a16="http://schemas.microsoft.com/office/drawing/2014/main" id="{EE4817C7-9D0E-3DC3-A453-B8FC4D124C5E}"/>
              </a:ext>
            </a:extLst>
          </p:cNvPr>
          <p:cNvSpPr/>
          <p:nvPr/>
        </p:nvSpPr>
        <p:spPr>
          <a:xfrm>
            <a:off x="8485632" y="4325112"/>
            <a:ext cx="292608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B4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5E7148-5F2A-3032-298B-38D883308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5F3E8BE9-474E-D43F-25F2-23C1DED65BCD}"/>
              </a:ext>
            </a:extLst>
          </p:cNvPr>
          <p:cNvSpPr/>
          <p:nvPr/>
        </p:nvSpPr>
        <p:spPr>
          <a:xfrm>
            <a:off x="9398000" y="-973836"/>
            <a:ext cx="3840480" cy="3840480"/>
          </a:xfrm>
          <a:prstGeom prst="ellipse">
            <a:avLst/>
          </a:prstGeom>
          <a:solidFill>
            <a:srgbClr val="36C5F0">
              <a:alpha val="42000"/>
            </a:srgbClr>
          </a:solidFill>
          <a:ln w="12700">
            <a:solidFill>
              <a:srgbClr val="36C5F0">
                <a:alpha val="0"/>
              </a:srgbClr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7CAC0FD-590A-5F5F-FF4E-C07E3D1CC1A8}"/>
              </a:ext>
            </a:extLst>
          </p:cNvPr>
          <p:cNvSpPr/>
          <p:nvPr/>
        </p:nvSpPr>
        <p:spPr>
          <a:xfrm>
            <a:off x="1615440" y="3026664"/>
            <a:ext cx="8961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</a:rPr>
              <a:t>你和最好的AI产品经理的差距是</a:t>
            </a:r>
            <a:r>
              <a:rPr lang="en-US" altLang="zh-CN" sz="3800" b="1" dirty="0">
                <a:solidFill>
                  <a:srgbClr val="FFFFFF"/>
                </a:solidFill>
              </a:rPr>
              <a:t>6</a:t>
            </a:r>
            <a:r>
              <a:rPr lang="zh-CN" altLang="en-US" sz="3800" b="1" dirty="0">
                <a:solidFill>
                  <a:srgbClr val="FFFFFF"/>
                </a:solidFill>
              </a:rPr>
              <a:t>个月</a:t>
            </a:r>
            <a:endParaRPr lang="en-US" sz="38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4D2C6F5-784B-4984-F347-DF94D510E151}"/>
              </a:ext>
            </a:extLst>
          </p:cNvPr>
          <p:cNvSpPr/>
          <p:nvPr/>
        </p:nvSpPr>
        <p:spPr>
          <a:xfrm>
            <a:off x="749808" y="608076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1A4BE"/>
                </a:solidFill>
              </a:rPr>
              <a:t>AI 产品经理系统课程 · 第一阶段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508366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246BFD"/>
                </a:solidFill>
              </a:rPr>
              <a:t>本课目标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42B4A"/>
                </a:solidFill>
              </a:rPr>
              <a:t>今天完成四件事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170432"/>
            <a:ext cx="1101852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600200"/>
            <a:ext cx="2542032" cy="3429000"/>
          </a:xfrm>
          <a:prstGeom prst="roundRect">
            <a:avLst>
              <a:gd name="adj" fmla="val 215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600200"/>
            <a:ext cx="73152" cy="3429000"/>
          </a:xfrm>
          <a:prstGeom prst="rect">
            <a:avLst/>
          </a:prstGeom>
          <a:solidFill>
            <a:srgbClr val="246BFD"/>
          </a:solidFill>
          <a:ln w="12700">
            <a:solidFill>
              <a:srgbClr val="246BF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1783080"/>
            <a:ext cx="420624" cy="420624"/>
          </a:xfrm>
          <a:prstGeom prst="ellipse">
            <a:avLst/>
          </a:prstGeom>
          <a:solidFill>
            <a:srgbClr val="246BFD"/>
          </a:solidFill>
          <a:ln w="12700">
            <a:solidFill>
              <a:srgbClr val="246B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915668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44752" y="1819656"/>
            <a:ext cx="1527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42B4A"/>
                </a:solidFill>
              </a:rPr>
              <a:t>讲清初心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914400" y="2386584"/>
            <a:ext cx="2039112" cy="2441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为什么要做这门课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511296" y="1600200"/>
            <a:ext cx="2542032" cy="3429000"/>
          </a:xfrm>
          <a:prstGeom prst="roundRect">
            <a:avLst>
              <a:gd name="adj" fmla="val 215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11296" y="1600200"/>
            <a:ext cx="73152" cy="3429000"/>
          </a:xfrm>
          <a:prstGeom prst="rect">
            <a:avLst/>
          </a:prstGeom>
          <a:solidFill>
            <a:srgbClr val="7655D4"/>
          </a:solidFill>
          <a:ln w="12700">
            <a:solidFill>
              <a:srgbClr val="7655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49040" y="1783080"/>
            <a:ext cx="420624" cy="420624"/>
          </a:xfrm>
          <a:prstGeom prst="ellipse">
            <a:avLst/>
          </a:prstGeom>
          <a:solidFill>
            <a:srgbClr val="7655D4"/>
          </a:solidFill>
          <a:ln w="12700">
            <a:solidFill>
              <a:srgbClr val="7655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49040" y="1915668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97680" y="1819656"/>
            <a:ext cx="1527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42B4A"/>
                </a:solidFill>
              </a:rPr>
              <a:t>看懂路径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3767328" y="2386584"/>
            <a:ext cx="2039112" cy="2441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 err="1">
                <a:solidFill>
                  <a:srgbClr val="667085"/>
                </a:solidFill>
              </a:rPr>
              <a:t>三个阶段怎样递进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364224" y="1600200"/>
            <a:ext cx="2542032" cy="3429000"/>
          </a:xfrm>
          <a:prstGeom prst="roundRect">
            <a:avLst>
              <a:gd name="adj" fmla="val 215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64224" y="1600200"/>
            <a:ext cx="73152" cy="3429000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01968" y="1783080"/>
            <a:ext cx="420624" cy="420624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01968" y="1915668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150608" y="1819656"/>
            <a:ext cx="1527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42B4A"/>
                </a:solidFill>
              </a:rPr>
              <a:t>建立约定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620256" y="2386584"/>
            <a:ext cx="2039112" cy="2441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 err="1">
                <a:solidFill>
                  <a:srgbClr val="667085"/>
                </a:solidFill>
              </a:rPr>
              <a:t>如何更新、纠错与保证质量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217152" y="1600200"/>
            <a:ext cx="2542032" cy="3429000"/>
          </a:xfrm>
          <a:prstGeom prst="roundRect">
            <a:avLst>
              <a:gd name="adj" fmla="val 215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217152" y="1600200"/>
            <a:ext cx="73152" cy="34290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454896" y="1783080"/>
            <a:ext cx="420624" cy="42062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54896" y="1915668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003536" y="1819656"/>
            <a:ext cx="1527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42B4A"/>
                </a:solidFill>
              </a:rPr>
              <a:t>开始行动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9473184" y="2386584"/>
            <a:ext cx="2039112" cy="2441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完成第一次 AI </a:t>
            </a:r>
            <a:r>
              <a:rPr lang="en-US" sz="1150" dirty="0" err="1">
                <a:solidFill>
                  <a:srgbClr val="667085"/>
                </a:solidFill>
              </a:rPr>
              <a:t>场景思考</a:t>
            </a:r>
            <a:endParaRPr lang="en-US" sz="115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005840"/>
            <a:ext cx="4297680" cy="4297680"/>
          </a:xfrm>
          <a:prstGeom prst="ellipse">
            <a:avLst/>
          </a:prstGeom>
          <a:solidFill>
            <a:srgbClr val="246BFD">
              <a:alpha val="58000"/>
            </a:srgbClr>
          </a:solidFill>
          <a:ln w="12700">
            <a:solidFill>
              <a:srgbClr val="246BF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4297680"/>
            <a:ext cx="2926080" cy="2926080"/>
          </a:xfrm>
          <a:prstGeom prst="ellipse">
            <a:avLst/>
          </a:prstGeom>
          <a:solidFill>
            <a:srgbClr val="36C5F0">
              <a:alpha val="24000"/>
            </a:srgbClr>
          </a:solidFill>
          <a:ln w="12700">
            <a:solidFill>
              <a:srgbClr val="36C5F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7315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36C5F0"/>
                </a:solidFill>
              </a:rPr>
              <a:t>01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713232" y="1920240"/>
            <a:ext cx="8686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为什么要做这门课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49808" y="61447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1A4BE"/>
                </a:solidFill>
              </a:rPr>
              <a:t>AI 产品经理系统课程 · 第 00 课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246BFD"/>
                </a:solidFill>
              </a:rPr>
              <a:t>课程初心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42B4A"/>
                </a:solidFill>
              </a:rPr>
              <a:t>我调研到的课程，常见两种偏向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170432"/>
            <a:ext cx="1101852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08760"/>
            <a:ext cx="5257800" cy="3474720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6000"/>
              </a:srgbClr>
            </a:outerShdw>
          </a:effectLst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Shape 4"/>
          <p:cNvSpPr/>
          <p:nvPr/>
        </p:nvSpPr>
        <p:spPr>
          <a:xfrm>
            <a:off x="731520" y="1508760"/>
            <a:ext cx="73152" cy="3474720"/>
          </a:xfrm>
          <a:prstGeom prst="rect">
            <a:avLst/>
          </a:prstGeom>
          <a:solidFill>
            <a:srgbClr val="7655D4"/>
          </a:solidFill>
          <a:ln w="12700">
            <a:solidFill>
              <a:srgbClr val="7655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9264" y="1691640"/>
            <a:ext cx="420624" cy="420624"/>
          </a:xfrm>
          <a:prstGeom prst="ellipse">
            <a:avLst/>
          </a:prstGeom>
          <a:solidFill>
            <a:srgbClr val="7655D4"/>
          </a:solidFill>
          <a:ln w="12700">
            <a:solidFill>
              <a:srgbClr val="7655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1824228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17904" y="1728216"/>
            <a:ext cx="4242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42B4A"/>
                </a:solidFill>
              </a:rPr>
              <a:t>偏技术原理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987552" y="2295144"/>
            <a:ext cx="4754880" cy="2487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模型、训练、微调、向量、召回讲得很深。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产品经理听懂概念后，仍可能不知道怎样转化为需求、PRD、交互和项目决策。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99632" y="1508760"/>
            <a:ext cx="5257800" cy="3474720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99632" y="1508760"/>
            <a:ext cx="73152" cy="3474720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37376" y="1691640"/>
            <a:ext cx="420624" cy="420624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37376" y="1824228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986016" y="1728216"/>
            <a:ext cx="4242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42B4A"/>
                </a:solidFill>
              </a:rPr>
              <a:t>偏工具操作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455664" y="2295144"/>
            <a:ext cx="4754880" cy="2487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搭 Bot、做工作流、生成网页和原型。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学员可能做出 Demo，却回答不了为什么要做、效果怎样验证、出了错谁负责。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14400" y="539496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67085"/>
                </a:solidFill>
              </a:rPr>
              <a:t>说明：这是基于有限课程样本的个人观察，不代表对整个市场的绝对判断。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246BFD"/>
                </a:solidFill>
              </a:rPr>
              <a:t>核心立场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42B4A"/>
                </a:solidFill>
              </a:rPr>
              <a:t>AI 产品经理 ≠ AI 工具产品经理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170432"/>
            <a:ext cx="1101852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508760"/>
            <a:ext cx="4846320" cy="3977640"/>
          </a:xfrm>
          <a:prstGeom prst="roundRect">
            <a:avLst>
              <a:gd name="adj" fmla="val 1379"/>
            </a:avLst>
          </a:prstGeom>
          <a:solidFill>
            <a:srgbClr val="EDF4FF"/>
          </a:solidFill>
          <a:ln w="12700">
            <a:solidFill>
              <a:srgbClr val="BBD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82880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46BFD"/>
                </a:solidFill>
              </a:rPr>
              <a:t>会使用 AI 工具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25880" y="2514600"/>
            <a:ext cx="3749040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F2937"/>
                </a:solidFill>
              </a:rPr>
              <a:t>研究与写作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F2937"/>
                </a:solidFill>
              </a:rPr>
              <a:t>搭建 Bot / Workflow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F2937"/>
                </a:solidFill>
              </a:rPr>
              <a:t>生成原型与 Demo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 err="1">
                <a:solidFill>
                  <a:srgbClr val="1F2937"/>
                </a:solidFill>
              </a:rPr>
              <a:t>提高个人工作效率</a:t>
            </a:r>
            <a:endParaRPr lang="en-US" sz="1600" dirty="0">
              <a:solidFill>
                <a:srgbClr val="1F2937"/>
              </a:solidFill>
            </a:endParaRPr>
          </a:p>
          <a:p>
            <a:pPr marL="0" indent="0" algn="ctr">
              <a:buNone/>
            </a:pPr>
            <a:r>
              <a:rPr lang="en-US" sz="1600" dirty="0"/>
              <a:t>Vibe</a:t>
            </a:r>
            <a:r>
              <a:rPr lang="zh-CN" altLang="en-US" sz="1600" dirty="0"/>
              <a:t> </a:t>
            </a:r>
            <a:r>
              <a:rPr lang="en-US" altLang="zh-CN" sz="1600" dirty="0"/>
              <a:t>Coding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37960" y="1508760"/>
            <a:ext cx="4846320" cy="3977640"/>
          </a:xfrm>
          <a:prstGeom prst="roundRect">
            <a:avLst>
              <a:gd name="adj" fmla="val 1379"/>
            </a:avLst>
          </a:prstGeom>
          <a:solidFill>
            <a:srgbClr val="F0F9F4"/>
          </a:solidFill>
          <a:ln w="12700">
            <a:solidFill>
              <a:srgbClr val="BFE6C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0" y="182880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7AE60"/>
                </a:solidFill>
              </a:rPr>
              <a:t>会设计 AI 产品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086600" y="2514600"/>
            <a:ext cx="3749040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F2937"/>
                </a:solidFill>
              </a:rPr>
              <a:t>识别真实业务问题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F2937"/>
                </a:solidFill>
              </a:rPr>
              <a:t>判断 AI 是否必要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F2937"/>
                </a:solidFill>
              </a:rPr>
              <a:t>设计系统与异常路径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F2937"/>
                </a:solidFill>
              </a:rPr>
              <a:t>对效果、风险和价值负责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833872" y="3063240"/>
            <a:ext cx="502920" cy="384048"/>
          </a:xfrm>
          <a:prstGeom prst="chevron">
            <a:avLst/>
          </a:prstGeom>
          <a:solidFill>
            <a:srgbClr val="36C5F0">
              <a:alpha val="88000"/>
            </a:srgbClr>
          </a:solidFill>
          <a:ln w="12700">
            <a:solidFill>
              <a:srgbClr val="36C5F0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950" b="1" kern="0" spc="120" dirty="0" err="1">
                <a:solidFill>
                  <a:srgbClr val="246BFD"/>
                </a:solidFill>
              </a:rPr>
              <a:t>核心立场</a:t>
            </a:r>
            <a:endParaRPr lang="en-US" altLang="zh-CN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42B4A"/>
                </a:solidFill>
              </a:rPr>
              <a:t>工具仍然重要，但它是手段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170432"/>
            <a:ext cx="1101852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45920"/>
            <a:ext cx="2514600" cy="32004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645920"/>
            <a:ext cx="73152" cy="3200400"/>
          </a:xfrm>
          <a:prstGeom prst="rect">
            <a:avLst/>
          </a:prstGeom>
          <a:solidFill>
            <a:srgbClr val="246BFD"/>
          </a:solidFill>
          <a:ln w="12700">
            <a:solidFill>
              <a:srgbClr val="246BF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3544" y="1828800"/>
            <a:ext cx="420624" cy="420624"/>
          </a:xfrm>
          <a:prstGeom prst="ellipse">
            <a:avLst/>
          </a:prstGeom>
          <a:solidFill>
            <a:srgbClr val="246BFD"/>
          </a:solidFill>
          <a:ln w="12700">
            <a:solidFill>
              <a:srgbClr val="246B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3544" y="1961388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72184" y="1865376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42B4A"/>
                </a:solidFill>
              </a:rPr>
              <a:t>研究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941832" y="2432304"/>
            <a:ext cx="2011680" cy="2212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快速获得信息和线索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关键追问：它帮助我们解决了什么产品问题？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538728" y="1645920"/>
            <a:ext cx="2514600" cy="32004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38728" y="1645920"/>
            <a:ext cx="73152" cy="3200400"/>
          </a:xfrm>
          <a:prstGeom prst="rect">
            <a:avLst/>
          </a:prstGeom>
          <a:solidFill>
            <a:srgbClr val="7655D4"/>
          </a:solidFill>
          <a:ln w="12700">
            <a:solidFill>
              <a:srgbClr val="7655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76472" y="1828800"/>
            <a:ext cx="420624" cy="420624"/>
          </a:xfrm>
          <a:prstGeom prst="ellipse">
            <a:avLst/>
          </a:prstGeom>
          <a:solidFill>
            <a:srgbClr val="7655D4"/>
          </a:solidFill>
          <a:ln w="12700">
            <a:solidFill>
              <a:srgbClr val="7655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76472" y="1961388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25112" y="1865376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42B4A"/>
                </a:solidFill>
              </a:rPr>
              <a:t>表达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3794760" y="2432304"/>
            <a:ext cx="2011680" cy="2212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把方案变成文档与图示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关键追问：它帮助我们解决了什么产品问题？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391656" y="1645920"/>
            <a:ext cx="2514600" cy="32004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91656" y="1645920"/>
            <a:ext cx="73152" cy="3200400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29400" y="1828800"/>
            <a:ext cx="420624" cy="420624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9400" y="1961388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178040" y="1865376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42B4A"/>
                </a:solidFill>
              </a:rPr>
              <a:t>验证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647688" y="2432304"/>
            <a:ext cx="2011680" cy="2212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低成本做原型和 Demo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关键追问：它帮助我们解决了什么产品问题？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244584" y="1645920"/>
            <a:ext cx="2514600" cy="32004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244584" y="1645920"/>
            <a:ext cx="73152" cy="32004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482328" y="1828800"/>
            <a:ext cx="420624" cy="42062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82328" y="1961388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030968" y="1865376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42B4A"/>
                </a:solidFill>
              </a:rPr>
              <a:t>提效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9500616" y="2432304"/>
            <a:ext cx="2011680" cy="2212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缩短重复劳动时间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关键追问：它帮助我们解决了什么产品问题？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188720" y="5257800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B4A"/>
                </a:solidFill>
              </a:rPr>
              <a:t>课程不会排斥工具，也不会把工具熟练度当成岗位价值的全部。</a:t>
            </a:r>
            <a:endParaRPr lang="en-US" sz="15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246BFD"/>
                </a:solidFill>
              </a:rPr>
              <a:t>课程初心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42B4A"/>
                </a:solidFill>
              </a:rPr>
              <a:t>课程试图连接技术与产品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170432"/>
            <a:ext cx="1101852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54480"/>
            <a:ext cx="3200400" cy="347472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554480"/>
            <a:ext cx="73152" cy="3474720"/>
          </a:xfrm>
          <a:prstGeom prst="rect">
            <a:avLst/>
          </a:prstGeom>
          <a:solidFill>
            <a:srgbClr val="7655D4"/>
          </a:solidFill>
          <a:ln w="12700">
            <a:solidFill>
              <a:srgbClr val="7655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9264" y="1737360"/>
            <a:ext cx="420624" cy="420624"/>
          </a:xfrm>
          <a:prstGeom prst="ellipse">
            <a:avLst/>
          </a:prstGeom>
          <a:solidFill>
            <a:srgbClr val="7655D4"/>
          </a:solidFill>
          <a:ln w="12700">
            <a:solidFill>
              <a:srgbClr val="7655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1869948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17904" y="1773936"/>
            <a:ext cx="2185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42B4A"/>
                </a:solidFill>
              </a:rPr>
              <a:t>理解够用的技术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987552" y="2340864"/>
            <a:ext cx="2697480" cy="2487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知道模型、Prompt、Workflow、RAG、Agent 的作用、边界和基本机制。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160520" y="2880360"/>
            <a:ext cx="594360" cy="384048"/>
          </a:xfrm>
          <a:prstGeom prst="chevron">
            <a:avLst/>
          </a:prstGeom>
          <a:solidFill>
            <a:srgbClr val="36C5F0">
              <a:alpha val="88000"/>
            </a:srgbClr>
          </a:solidFill>
          <a:ln w="12700">
            <a:solidFill>
              <a:srgbClr val="36C5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554480"/>
            <a:ext cx="3200400" cy="347472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554480"/>
            <a:ext cx="73152" cy="3474720"/>
          </a:xfrm>
          <a:prstGeom prst="rect">
            <a:avLst/>
          </a:prstGeom>
          <a:solidFill>
            <a:srgbClr val="246BFD"/>
          </a:solidFill>
          <a:ln w="12700">
            <a:solidFill>
              <a:srgbClr val="246BF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92624" y="1737360"/>
            <a:ext cx="420624" cy="420624"/>
          </a:xfrm>
          <a:prstGeom prst="ellipse">
            <a:avLst/>
          </a:prstGeom>
          <a:solidFill>
            <a:srgbClr val="246BFD"/>
          </a:solidFill>
          <a:ln w="12700">
            <a:solidFill>
              <a:srgbClr val="246B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92624" y="1869948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41264" y="1773936"/>
            <a:ext cx="2185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42B4A"/>
                </a:solidFill>
              </a:rPr>
              <a:t>形成产品判断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5010912" y="2340864"/>
            <a:ext cx="2697480" cy="2487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从用户、业务、流程、风险和价值出发，选择合适方案。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83880" y="2880360"/>
            <a:ext cx="594360" cy="384048"/>
          </a:xfrm>
          <a:prstGeom prst="chevron">
            <a:avLst/>
          </a:prstGeom>
          <a:solidFill>
            <a:srgbClr val="36C5F0">
              <a:alpha val="88000"/>
            </a:srgbClr>
          </a:solidFill>
          <a:ln w="12700">
            <a:solidFill>
              <a:srgbClr val="36C5F0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0" y="1554480"/>
            <a:ext cx="2651760" cy="347472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778240" y="1554480"/>
            <a:ext cx="73152" cy="34747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15984" y="1737360"/>
            <a:ext cx="420624" cy="42062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15984" y="1869948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564624" y="1773936"/>
            <a:ext cx="1636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42B4A"/>
                </a:solidFill>
              </a:rPr>
              <a:t>推动真实落地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9034272" y="2340864"/>
            <a:ext cx="2148840" cy="2487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用测试、反馈、成本与协作，把 Demo 推向可用产品。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C62B1-5FCA-A868-9A6C-0688FBB98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57A858F-A6D2-2F5A-8A67-FB20CDE670B9}"/>
              </a:ext>
            </a:extLst>
          </p:cNvPr>
          <p:cNvSpPr/>
          <p:nvPr/>
        </p:nvSpPr>
        <p:spPr>
          <a:xfrm>
            <a:off x="566928" y="310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950" b="1" kern="0" spc="120" dirty="0" err="1">
                <a:solidFill>
                  <a:srgbClr val="246BFD"/>
                </a:solidFill>
              </a:rPr>
              <a:t>课程初心</a:t>
            </a:r>
            <a:endParaRPr lang="en-US" sz="9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EF7A467-F9E3-8BAA-BE99-9E0A5897519D}"/>
              </a:ext>
            </a:extLst>
          </p:cNvPr>
          <p:cNvSpPr/>
          <p:nvPr/>
        </p:nvSpPr>
        <p:spPr>
          <a:xfrm>
            <a:off x="566928" y="566928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142B4A"/>
                </a:solidFill>
              </a:rPr>
              <a:t>注意事项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878B78E-FD80-15FB-16AB-11C163CABAB5}"/>
              </a:ext>
            </a:extLst>
          </p:cNvPr>
          <p:cNvSpPr/>
          <p:nvPr/>
        </p:nvSpPr>
        <p:spPr>
          <a:xfrm>
            <a:off x="566928" y="1170432"/>
            <a:ext cx="1101852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F9FE95D8-8D8D-DCC7-8D48-DA8C4D15A186}"/>
              </a:ext>
            </a:extLst>
          </p:cNvPr>
          <p:cNvGrpSpPr/>
          <p:nvPr/>
        </p:nvGrpSpPr>
        <p:grpSpPr>
          <a:xfrm>
            <a:off x="894080" y="1651680"/>
            <a:ext cx="8699709" cy="720000"/>
            <a:chOff x="640080" y="1481328"/>
            <a:chExt cx="8699709" cy="720000"/>
          </a:xfrm>
        </p:grpSpPr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225AE68A-2B11-684A-316D-87CF5B592C75}"/>
                </a:ext>
              </a:extLst>
            </p:cNvPr>
            <p:cNvSpPr/>
            <p:nvPr/>
          </p:nvSpPr>
          <p:spPr>
            <a:xfrm>
              <a:off x="640080" y="1481328"/>
              <a:ext cx="8699709" cy="713227"/>
            </a:xfrm>
            <a:prstGeom prst="roundRect">
              <a:avLst>
                <a:gd name="adj" fmla="val 3429"/>
              </a:avLst>
            </a:prstGeom>
            <a:solidFill>
              <a:srgbClr val="FFFFFF"/>
            </a:solidFill>
            <a:ln w="12700">
              <a:solidFill>
                <a:srgbClr val="D9E2EF"/>
              </a:solidFill>
              <a:prstDash val="solid"/>
            </a:ln>
            <a:effectLst>
              <a:outerShdw blurRad="12700" dist="50800" dir="2700000" algn="bl" rotWithShape="0">
                <a:srgbClr val="AAB6C5">
                  <a:alpha val="16000"/>
                </a:srgbClr>
              </a:outerShdw>
            </a:effectLst>
          </p:spPr>
          <p:txBody>
            <a:bodyPr anchor="ctr"/>
            <a:lstStyle/>
            <a:p>
              <a:r>
                <a:rPr lang="zh-CN" altLang="en-US" sz="2000" dirty="0"/>
                <a:t>  保持自信但不要自我感觉良好</a:t>
              </a:r>
            </a:p>
          </p:txBody>
        </p:sp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018C0A42-8B73-F332-4C84-C17DC059CD4A}"/>
                </a:ext>
              </a:extLst>
            </p:cNvPr>
            <p:cNvSpPr/>
            <p:nvPr/>
          </p:nvSpPr>
          <p:spPr>
            <a:xfrm>
              <a:off x="640080" y="1481328"/>
              <a:ext cx="73152" cy="720000"/>
            </a:xfrm>
            <a:prstGeom prst="rect">
              <a:avLst/>
            </a:prstGeom>
            <a:solidFill>
              <a:srgbClr val="246BFD"/>
            </a:solidFill>
            <a:ln w="12700">
              <a:solidFill>
                <a:srgbClr val="246BFD"/>
              </a:solidFill>
              <a:prstDash val="solid"/>
            </a:ln>
          </p:spPr>
        </p:sp>
      </p:grpSp>
      <p:sp>
        <p:nvSpPr>
          <p:cNvPr id="9" name="Text 7">
            <a:extLst>
              <a:ext uri="{FF2B5EF4-FFF2-40B4-BE49-F238E27FC236}">
                <a16:creationId xmlns:a16="http://schemas.microsoft.com/office/drawing/2014/main" id="{84635801-B417-FC08-C86E-FB531758F505}"/>
              </a:ext>
            </a:extLst>
          </p:cNvPr>
          <p:cNvSpPr/>
          <p:nvPr/>
        </p:nvSpPr>
        <p:spPr>
          <a:xfrm>
            <a:off x="1371600" y="1719072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550" dirty="0"/>
          </a:p>
        </p:txBody>
      </p:sp>
      <p:sp>
        <p:nvSpPr>
          <p:cNvPr id="36" name="Slide Number Placeholder 0">
            <a:extLst>
              <a:ext uri="{FF2B5EF4-FFF2-40B4-BE49-F238E27FC236}">
                <a16:creationId xmlns:a16="http://schemas.microsoft.com/office/drawing/2014/main" id="{747C6857-39A0-CA50-7F54-22E4AF16BB5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F92B27F0-317C-E282-3D71-B451B5C6737C}"/>
              </a:ext>
            </a:extLst>
          </p:cNvPr>
          <p:cNvGrpSpPr/>
          <p:nvPr/>
        </p:nvGrpSpPr>
        <p:grpSpPr>
          <a:xfrm>
            <a:off x="894079" y="2776391"/>
            <a:ext cx="8699709" cy="720000"/>
            <a:chOff x="640080" y="1481328"/>
            <a:chExt cx="8699709" cy="720000"/>
          </a:xfrm>
        </p:grpSpPr>
        <p:sp>
          <p:nvSpPr>
            <p:cNvPr id="8" name="Shape 3">
              <a:extLst>
                <a:ext uri="{FF2B5EF4-FFF2-40B4-BE49-F238E27FC236}">
                  <a16:creationId xmlns:a16="http://schemas.microsoft.com/office/drawing/2014/main" id="{6181342B-DF1E-F4E1-7EA1-56AF597CC2FA}"/>
                </a:ext>
              </a:extLst>
            </p:cNvPr>
            <p:cNvSpPr/>
            <p:nvPr/>
          </p:nvSpPr>
          <p:spPr>
            <a:xfrm>
              <a:off x="640080" y="1481328"/>
              <a:ext cx="8699709" cy="713227"/>
            </a:xfrm>
            <a:prstGeom prst="roundRect">
              <a:avLst>
                <a:gd name="adj" fmla="val 3429"/>
              </a:avLst>
            </a:prstGeom>
            <a:solidFill>
              <a:srgbClr val="FFFFFF"/>
            </a:solidFill>
            <a:ln w="12700">
              <a:solidFill>
                <a:srgbClr val="D9E2EF"/>
              </a:solidFill>
              <a:prstDash val="solid"/>
            </a:ln>
            <a:effectLst>
              <a:outerShdw blurRad="12700" dist="50800" dir="2700000" algn="bl" rotWithShape="0">
                <a:srgbClr val="AAB6C5">
                  <a:alpha val="16000"/>
                </a:srgbClr>
              </a:outerShdw>
            </a:effectLst>
          </p:spPr>
          <p:txBody>
            <a:bodyPr anchor="ctr"/>
            <a:lstStyle/>
            <a:p>
              <a:r>
                <a:rPr lang="zh-CN" altLang="en-US" sz="2000" dirty="0"/>
                <a:t>  多互动，不懂就问</a:t>
              </a:r>
            </a:p>
          </p:txBody>
        </p:sp>
        <p:sp>
          <p:nvSpPr>
            <p:cNvPr id="10" name="Shape 4">
              <a:extLst>
                <a:ext uri="{FF2B5EF4-FFF2-40B4-BE49-F238E27FC236}">
                  <a16:creationId xmlns:a16="http://schemas.microsoft.com/office/drawing/2014/main" id="{2094057B-7F5F-1B81-39B9-6ABE2B32C5E0}"/>
                </a:ext>
              </a:extLst>
            </p:cNvPr>
            <p:cNvSpPr/>
            <p:nvPr/>
          </p:nvSpPr>
          <p:spPr>
            <a:xfrm>
              <a:off x="640080" y="1481328"/>
              <a:ext cx="73152" cy="720000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prstDash val="solid"/>
            </a:ln>
          </p:spPr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D6490A5B-E7DC-03A8-7B4D-C22E4110E29D}"/>
              </a:ext>
            </a:extLst>
          </p:cNvPr>
          <p:cNvGrpSpPr/>
          <p:nvPr/>
        </p:nvGrpSpPr>
        <p:grpSpPr>
          <a:xfrm>
            <a:off x="894078" y="3907875"/>
            <a:ext cx="8699709" cy="720000"/>
            <a:chOff x="640080" y="1481328"/>
            <a:chExt cx="8699709" cy="720000"/>
          </a:xfrm>
        </p:grpSpPr>
        <p:sp>
          <p:nvSpPr>
            <p:cNvPr id="12" name="Shape 3">
              <a:extLst>
                <a:ext uri="{FF2B5EF4-FFF2-40B4-BE49-F238E27FC236}">
                  <a16:creationId xmlns:a16="http://schemas.microsoft.com/office/drawing/2014/main" id="{40F60CAE-58B0-AE77-F07C-3A1D5D555A04}"/>
                </a:ext>
              </a:extLst>
            </p:cNvPr>
            <p:cNvSpPr/>
            <p:nvPr/>
          </p:nvSpPr>
          <p:spPr>
            <a:xfrm>
              <a:off x="640080" y="1481328"/>
              <a:ext cx="8699709" cy="713227"/>
            </a:xfrm>
            <a:prstGeom prst="roundRect">
              <a:avLst>
                <a:gd name="adj" fmla="val 3429"/>
              </a:avLst>
            </a:prstGeom>
            <a:solidFill>
              <a:srgbClr val="FFFFFF"/>
            </a:solidFill>
            <a:ln w="12700">
              <a:solidFill>
                <a:srgbClr val="D9E2EF"/>
              </a:solidFill>
              <a:prstDash val="solid"/>
            </a:ln>
            <a:effectLst>
              <a:outerShdw blurRad="12700" dist="50800" dir="2700000" algn="bl" rotWithShape="0">
                <a:srgbClr val="AAB6C5">
                  <a:alpha val="16000"/>
                </a:srgbClr>
              </a:outerShdw>
            </a:effectLst>
          </p:spPr>
          <p:txBody>
            <a:bodyPr anchor="ctr"/>
            <a:lstStyle/>
            <a:p>
              <a:r>
                <a:rPr lang="zh-CN" altLang="en-US" sz="2000" dirty="0"/>
                <a:t>  多学多练习</a:t>
              </a:r>
            </a:p>
          </p:txBody>
        </p:sp>
        <p:sp>
          <p:nvSpPr>
            <p:cNvPr id="13" name="Shape 4">
              <a:extLst>
                <a:ext uri="{FF2B5EF4-FFF2-40B4-BE49-F238E27FC236}">
                  <a16:creationId xmlns:a16="http://schemas.microsoft.com/office/drawing/2014/main" id="{2C46525F-4B8D-2224-987F-0D1CE9948A1C}"/>
                </a:ext>
              </a:extLst>
            </p:cNvPr>
            <p:cNvSpPr/>
            <p:nvPr/>
          </p:nvSpPr>
          <p:spPr>
            <a:xfrm>
              <a:off x="640080" y="1481328"/>
              <a:ext cx="73152" cy="720000"/>
            </a:xfrm>
            <a:prstGeom prst="rect">
              <a:avLst/>
            </a:prstGeom>
            <a:solidFill>
              <a:srgbClr val="7030A0"/>
            </a:solidFill>
            <a:ln w="12700">
              <a:solidFill>
                <a:srgbClr val="7030A0"/>
              </a:solidFill>
              <a:prstDash val="solid"/>
            </a:ln>
          </p:spPr>
        </p:sp>
      </p:grpSp>
    </p:spTree>
    <p:extLst>
      <p:ext uri="{BB962C8B-B14F-4D97-AF65-F5344CB8AC3E}">
        <p14:creationId xmlns:p14="http://schemas.microsoft.com/office/powerpoint/2010/main" val="17692164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005840"/>
            <a:ext cx="4297680" cy="4297680"/>
          </a:xfrm>
          <a:prstGeom prst="ellipse">
            <a:avLst/>
          </a:prstGeom>
          <a:solidFill>
            <a:srgbClr val="246BFD">
              <a:alpha val="58000"/>
            </a:srgbClr>
          </a:solidFill>
          <a:ln w="12700">
            <a:solidFill>
              <a:srgbClr val="246BF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4297680"/>
            <a:ext cx="2926080" cy="2926080"/>
          </a:xfrm>
          <a:prstGeom prst="ellipse">
            <a:avLst/>
          </a:prstGeom>
          <a:solidFill>
            <a:srgbClr val="36C5F0">
              <a:alpha val="24000"/>
            </a:srgbClr>
          </a:solidFill>
          <a:ln w="12700">
            <a:solidFill>
              <a:srgbClr val="36C5F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7315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36C5F0"/>
                </a:solidFill>
              </a:rPr>
              <a:t>02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713232" y="1920240"/>
            <a:ext cx="8686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FFFFFF"/>
                </a:solidFill>
              </a:rPr>
              <a:t>课程三阶段的设计思路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49808" y="2971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C9D7EB"/>
                </a:solidFill>
              </a:rPr>
              <a:t>知识不是终点：最终要进入项目，再进入求职表达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49808" y="61447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1A4BE"/>
                </a:solidFill>
              </a:rPr>
              <a:t>AI 产品经理系统课程 · 第 00 课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246BFD"/>
                </a:solidFill>
              </a:rPr>
              <a:t>课程设计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42B4A"/>
                </a:solidFill>
              </a:rPr>
              <a:t>三阶段是一条成果链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170432"/>
            <a:ext cx="1101852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00200"/>
            <a:ext cx="3246120" cy="34747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600200"/>
            <a:ext cx="73152" cy="3474720"/>
          </a:xfrm>
          <a:prstGeom prst="rect">
            <a:avLst/>
          </a:prstGeom>
          <a:solidFill>
            <a:srgbClr val="246BFD"/>
          </a:solidFill>
          <a:ln w="12700">
            <a:solidFill>
              <a:srgbClr val="246BF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4984" y="1828800"/>
            <a:ext cx="420624" cy="420624"/>
          </a:xfrm>
          <a:prstGeom prst="ellipse">
            <a:avLst/>
          </a:prstGeom>
          <a:solidFill>
            <a:srgbClr val="246BFD"/>
          </a:solidFill>
          <a:ln w="12700">
            <a:solidFill>
              <a:srgbClr val="246B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4984" y="1915668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63624" y="1819656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42B4A"/>
                </a:solidFill>
              </a:rPr>
              <a:t>第一阶段｜系统学习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033272" y="2386584"/>
            <a:ext cx="2743200" cy="2487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建立 AI </a:t>
            </a:r>
            <a:r>
              <a:rPr lang="en-US" sz="1150" dirty="0" err="1">
                <a:solidFill>
                  <a:srgbClr val="667085"/>
                </a:solidFill>
              </a:rPr>
              <a:t>产品完整地图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069080" y="2971800"/>
            <a:ext cx="502920" cy="384048"/>
          </a:xfrm>
          <a:prstGeom prst="chevron">
            <a:avLst/>
          </a:prstGeom>
          <a:solidFill>
            <a:srgbClr val="36C5F0">
              <a:alpha val="88000"/>
            </a:srgbClr>
          </a:solidFill>
          <a:ln w="12700">
            <a:solidFill>
              <a:srgbClr val="36C5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1600200"/>
            <a:ext cx="3246120" cy="34747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1600200"/>
            <a:ext cx="73152" cy="3474720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09744" y="1828800"/>
            <a:ext cx="420624" cy="420624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9744" y="1915668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58384" y="1819656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42B4A"/>
                </a:solidFill>
              </a:rPr>
              <a:t>第二阶段｜项目实践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828032" y="2386584"/>
            <a:ext cx="2743200" cy="2487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把知识变成可展示产出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863840" y="2971800"/>
            <a:ext cx="502920" cy="384048"/>
          </a:xfrm>
          <a:prstGeom prst="chevron">
            <a:avLst/>
          </a:prstGeom>
          <a:solidFill>
            <a:srgbClr val="36C5F0">
              <a:alpha val="88000"/>
            </a:srgbClr>
          </a:solidFill>
          <a:ln w="12700">
            <a:solidFill>
              <a:srgbClr val="36C5F0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66760" y="1600200"/>
            <a:ext cx="3246120" cy="34747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366760" y="1600200"/>
            <a:ext cx="73152" cy="34747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04504" y="1828800"/>
            <a:ext cx="420624" cy="42062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04504" y="1915668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53144" y="1819656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42B4A"/>
                </a:solidFill>
              </a:rPr>
              <a:t>第三阶段｜求职转化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8622792" y="2386584"/>
            <a:ext cx="2743200" cy="2487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 err="1">
                <a:solidFill>
                  <a:srgbClr val="667085"/>
                </a:solidFill>
              </a:rPr>
              <a:t>让市场看懂并相信能力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246BFD"/>
                </a:solidFill>
              </a:rPr>
              <a:t>系统学习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42B4A"/>
                </a:solidFill>
              </a:rPr>
              <a:t>第一阶段｜建立体系化认知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170432"/>
            <a:ext cx="1101852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417320"/>
            <a:ext cx="3456432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417320"/>
            <a:ext cx="73152" cy="1783080"/>
          </a:xfrm>
          <a:prstGeom prst="rect">
            <a:avLst/>
          </a:prstGeom>
          <a:solidFill>
            <a:srgbClr val="246BFD"/>
          </a:solidFill>
          <a:ln w="12700">
            <a:solidFill>
              <a:srgbClr val="246B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36776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42B4A"/>
                </a:solidFill>
              </a:rPr>
              <a:t>基础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14400" y="2203704"/>
            <a:ext cx="2953512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大模型、Prompt 与上下文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80560" y="1417320"/>
            <a:ext cx="3456432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80560" y="1417320"/>
            <a:ext cx="73152" cy="1783080"/>
          </a:xfrm>
          <a:prstGeom prst="rect">
            <a:avLst/>
          </a:prstGeom>
          <a:solidFill>
            <a:srgbClr val="7655D4"/>
          </a:solidFill>
          <a:ln w="12700">
            <a:solidFill>
              <a:srgbClr val="7655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36592" y="1636776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42B4A"/>
                </a:solidFill>
              </a:rPr>
              <a:t>判断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736592" y="2203704"/>
            <a:ext cx="2953512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场景与产品形态选择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302752" y="1417320"/>
            <a:ext cx="3456432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02752" y="1417320"/>
            <a:ext cx="73152" cy="1783080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58784" y="1636776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42B4A"/>
                </a:solidFill>
              </a:rPr>
              <a:t>方案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558784" y="2203704"/>
            <a:ext cx="2953512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PRD、Workflow、RAG、Agent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58368" y="3657600"/>
            <a:ext cx="3456432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8368" y="3657600"/>
            <a:ext cx="73152" cy="1783080"/>
          </a:xfrm>
          <a:prstGeom prst="rect">
            <a:avLst/>
          </a:prstGeom>
          <a:solidFill>
            <a:srgbClr val="36C5F0"/>
          </a:solidFill>
          <a:ln w="12700">
            <a:solidFill>
              <a:srgbClr val="36C5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877056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42B4A"/>
                </a:solidFill>
              </a:rPr>
              <a:t>表达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914400" y="4443984"/>
            <a:ext cx="2953512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交互、原型与 Demo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480560" y="3657600"/>
            <a:ext cx="3456432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80560" y="3657600"/>
            <a:ext cx="73152" cy="178308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36592" y="3877056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42B4A"/>
                </a:solidFill>
              </a:rPr>
              <a:t>验证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736592" y="4443984"/>
            <a:ext cx="2953512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测试、Bad Case、风险治理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302752" y="3657600"/>
            <a:ext cx="3456432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302752" y="3657600"/>
            <a:ext cx="73152" cy="17830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58784" y="3877056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42B4A"/>
                </a:solidFill>
              </a:rPr>
              <a:t>经营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8558784" y="4443984"/>
            <a:ext cx="2953512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模型选择、成本、ROI 与立项</a:t>
            </a:r>
            <a:endParaRPr lang="en-US" sz="115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246BFD"/>
                </a:solidFill>
              </a:rPr>
              <a:t>系统学习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42B4A"/>
                </a:solidFill>
              </a:rPr>
              <a:t>热门内容很多，但不是名词堆砌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170432"/>
            <a:ext cx="1101852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1874520" cy="585216"/>
          </a:xfrm>
          <a:prstGeom prst="roundRect">
            <a:avLst>
              <a:gd name="adj" fmla="val 18750"/>
            </a:avLst>
          </a:prstGeom>
          <a:solidFill>
            <a:srgbClr val="246BFD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73936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Prompt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044952" y="1600200"/>
            <a:ext cx="1874520" cy="585216"/>
          </a:xfrm>
          <a:prstGeom prst="roundRect">
            <a:avLst>
              <a:gd name="adj" fmla="val 18750"/>
            </a:avLst>
          </a:prstGeom>
          <a:solidFill>
            <a:srgbClr val="7655D4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36392" y="1773936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Workflow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266944" y="1600200"/>
            <a:ext cx="1874520" cy="585216"/>
          </a:xfrm>
          <a:prstGeom prst="roundRect">
            <a:avLst>
              <a:gd name="adj" fmla="val 18750"/>
            </a:avLst>
          </a:prstGeom>
          <a:solidFill>
            <a:srgbClr val="FF9F43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58384" y="1773936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RAG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488936" y="1600200"/>
            <a:ext cx="1874520" cy="585216"/>
          </a:xfrm>
          <a:prstGeom prst="roundRect">
            <a:avLst>
              <a:gd name="adj" fmla="val 18750"/>
            </a:avLst>
          </a:prstGeom>
          <a:solidFill>
            <a:srgbClr val="27AE60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0376" y="1773936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Agent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710928" y="1600200"/>
            <a:ext cx="1874520" cy="585216"/>
          </a:xfrm>
          <a:prstGeom prst="roundRect">
            <a:avLst>
              <a:gd name="adj" fmla="val 18750"/>
            </a:avLst>
          </a:prstGeom>
          <a:solidFill>
            <a:srgbClr val="36C5F0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02368" y="1773936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MCP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2560320"/>
            <a:ext cx="1874520" cy="585216"/>
          </a:xfrm>
          <a:prstGeom prst="roundRect">
            <a:avLst>
              <a:gd name="adj" fmla="val 18750"/>
            </a:avLst>
          </a:prstGeom>
          <a:solidFill>
            <a:srgbClr val="246BFD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734056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Function Calling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044952" y="2560320"/>
            <a:ext cx="1874520" cy="585216"/>
          </a:xfrm>
          <a:prstGeom prst="roundRect">
            <a:avLst>
              <a:gd name="adj" fmla="val 18750"/>
            </a:avLst>
          </a:prstGeom>
          <a:solidFill>
            <a:srgbClr val="7655D4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36392" y="2734056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Vibe Coding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266944" y="2560320"/>
            <a:ext cx="1874520" cy="585216"/>
          </a:xfrm>
          <a:prstGeom prst="roundRect">
            <a:avLst>
              <a:gd name="adj" fmla="val 18750"/>
            </a:avLst>
          </a:prstGeom>
          <a:solidFill>
            <a:srgbClr val="FF9F43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58384" y="2734056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Bad Case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488936" y="2560320"/>
            <a:ext cx="1874520" cy="585216"/>
          </a:xfrm>
          <a:prstGeom prst="roundRect">
            <a:avLst>
              <a:gd name="adj" fmla="val 18750"/>
            </a:avLst>
          </a:prstGeom>
          <a:solidFill>
            <a:srgbClr val="27AE60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80376" y="2734056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Token 成本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710928" y="2560320"/>
            <a:ext cx="1874520" cy="585216"/>
          </a:xfrm>
          <a:prstGeom prst="roundRect">
            <a:avLst>
              <a:gd name="adj" fmla="val 18750"/>
            </a:avLst>
          </a:prstGeom>
          <a:solidFill>
            <a:srgbClr val="36C5F0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02368" y="2734056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ROI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05840" y="3977640"/>
            <a:ext cx="1014984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25880" y="42976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B4A"/>
                </a:solidFill>
              </a:rPr>
              <a:t>学习目标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743200" y="427024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67085"/>
                </a:solidFill>
              </a:rPr>
              <a:t>知道每个概念解决什么问题、彼此是什么关系、何时适合使用，以及怎样进入产品方案。</a:t>
            </a:r>
            <a:endParaRPr lang="en-US" sz="14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4B836-E748-539C-5885-74296EAAF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6123CF4-DB07-C35F-1D11-24626DBF8E53}"/>
              </a:ext>
            </a:extLst>
          </p:cNvPr>
          <p:cNvSpPr/>
          <p:nvPr/>
        </p:nvSpPr>
        <p:spPr>
          <a:xfrm>
            <a:off x="566928" y="310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 err="1">
                <a:solidFill>
                  <a:srgbClr val="246BFD"/>
                </a:solidFill>
              </a:rPr>
              <a:t>系统学习</a:t>
            </a:r>
            <a:endParaRPr lang="en-US" sz="9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AF7653B-68C5-5FFF-874C-5A21952300D9}"/>
              </a:ext>
            </a:extLst>
          </p:cNvPr>
          <p:cNvSpPr/>
          <p:nvPr/>
        </p:nvSpPr>
        <p:spPr>
          <a:xfrm>
            <a:off x="566928" y="566928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142B4A"/>
                </a:solidFill>
              </a:rPr>
              <a:t>双线成长结构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5C949BE-412E-2A0E-B3E4-874BA8DD387E}"/>
              </a:ext>
            </a:extLst>
          </p:cNvPr>
          <p:cNvSpPr/>
          <p:nvPr/>
        </p:nvSpPr>
        <p:spPr>
          <a:xfrm>
            <a:off x="566928" y="1170432"/>
            <a:ext cx="1101852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3231745-4A92-B3EA-80DD-0CCD88E525B1}"/>
              </a:ext>
            </a:extLst>
          </p:cNvPr>
          <p:cNvSpPr/>
          <p:nvPr/>
        </p:nvSpPr>
        <p:spPr>
          <a:xfrm>
            <a:off x="777240" y="1508760"/>
            <a:ext cx="4846320" cy="3977640"/>
          </a:xfrm>
          <a:prstGeom prst="roundRect">
            <a:avLst>
              <a:gd name="adj" fmla="val 1379"/>
            </a:avLst>
          </a:prstGeom>
          <a:solidFill>
            <a:srgbClr val="EDF4FF"/>
          </a:solidFill>
          <a:ln w="12700">
            <a:solidFill>
              <a:srgbClr val="BBD2FF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EA11862-E839-C7EB-CC0B-840F512C4000}"/>
              </a:ext>
            </a:extLst>
          </p:cNvPr>
          <p:cNvSpPr/>
          <p:nvPr/>
        </p:nvSpPr>
        <p:spPr>
          <a:xfrm>
            <a:off x="1097280" y="182880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 err="1">
                <a:solidFill>
                  <a:srgbClr val="246BFD"/>
                </a:solidFill>
              </a:rPr>
              <a:t>会用AI的产品经理</a:t>
            </a:r>
            <a:endParaRPr lang="en-US" sz="22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DD27D5A-50DA-2D13-33CB-24A136A12B9C}"/>
              </a:ext>
            </a:extLst>
          </p:cNvPr>
          <p:cNvSpPr/>
          <p:nvPr/>
        </p:nvSpPr>
        <p:spPr>
          <a:xfrm>
            <a:off x="1325880" y="2514600"/>
            <a:ext cx="3749040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r>
              <a:rPr lang="en-US" altLang="zh-CN" dirty="0" err="1"/>
              <a:t>用</a:t>
            </a:r>
            <a:r>
              <a:rPr lang="en-US" altLang="zh-CN" dirty="0"/>
              <a:t> AI </a:t>
            </a:r>
            <a:r>
              <a:rPr lang="en-US" altLang="zh-CN" dirty="0" err="1"/>
              <a:t>提升调研、竞品、需求、PRD、原型与</a:t>
            </a:r>
            <a:r>
              <a:rPr lang="en-US" altLang="zh-CN" dirty="0"/>
              <a:t> Demo </a:t>
            </a:r>
            <a:r>
              <a:rPr lang="en-US" altLang="zh-CN" dirty="0" err="1"/>
              <a:t>效率</a:t>
            </a:r>
            <a:r>
              <a:rPr lang="zh-CN" altLang="zh-CN" sz="1600" dirty="0"/>
              <a:t> </a:t>
            </a:r>
            <a:endParaRPr lang="en-US" sz="16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29385F9A-C81F-DF10-2846-42B7FA55E8B0}"/>
              </a:ext>
            </a:extLst>
          </p:cNvPr>
          <p:cNvSpPr/>
          <p:nvPr/>
        </p:nvSpPr>
        <p:spPr>
          <a:xfrm>
            <a:off x="6537960" y="1508760"/>
            <a:ext cx="4846320" cy="3977640"/>
          </a:xfrm>
          <a:prstGeom prst="roundRect">
            <a:avLst>
              <a:gd name="adj" fmla="val 1379"/>
            </a:avLst>
          </a:prstGeom>
          <a:solidFill>
            <a:srgbClr val="F0F9F4"/>
          </a:solidFill>
          <a:ln w="12700">
            <a:solidFill>
              <a:srgbClr val="BFE6CE"/>
            </a:solidFill>
            <a:prstDash val="solid"/>
          </a:ln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0D5FBE4-A102-262C-C877-C2FE4818736A}"/>
              </a:ext>
            </a:extLst>
          </p:cNvPr>
          <p:cNvSpPr/>
          <p:nvPr/>
        </p:nvSpPr>
        <p:spPr>
          <a:xfrm>
            <a:off x="6858000" y="182880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 err="1">
                <a:solidFill>
                  <a:srgbClr val="27AE60"/>
                </a:solidFill>
              </a:rPr>
              <a:t>会做AI产品的产品经理</a:t>
            </a:r>
            <a:endParaRPr lang="en-US" sz="22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7FAD90C-A673-7B53-6050-41E75C20EC3D}"/>
              </a:ext>
            </a:extLst>
          </p:cNvPr>
          <p:cNvSpPr/>
          <p:nvPr/>
        </p:nvSpPr>
        <p:spPr>
          <a:xfrm>
            <a:off x="7086600" y="2514600"/>
            <a:ext cx="3749040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r>
              <a:rPr lang="en-US" altLang="zh-CN" dirty="0" err="1"/>
              <a:t>完成场景、架构、风险、评估、成本和落地设计</a:t>
            </a:r>
            <a:r>
              <a:rPr lang="zh-CN" altLang="zh-CN" sz="1600" dirty="0"/>
              <a:t> </a:t>
            </a:r>
            <a:endParaRPr lang="en-US" sz="16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4EF3DA94-AC15-A981-CA99-3E32CD9AD67F}"/>
              </a:ext>
            </a:extLst>
          </p:cNvPr>
          <p:cNvSpPr/>
          <p:nvPr/>
        </p:nvSpPr>
        <p:spPr>
          <a:xfrm>
            <a:off x="5998464" y="3282695"/>
            <a:ext cx="502920" cy="384048"/>
          </a:xfrm>
          <a:prstGeom prst="chevron">
            <a:avLst/>
          </a:prstGeom>
          <a:solidFill>
            <a:srgbClr val="36C5F0">
              <a:alpha val="88000"/>
            </a:srgbClr>
          </a:solidFill>
          <a:ln w="12700">
            <a:solidFill>
              <a:srgbClr val="36C5F0">
                <a:alpha val="0"/>
              </a:srgbClr>
            </a:solidFill>
            <a:prstDash val="solid"/>
          </a:ln>
        </p:spPr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3F7324E2-1A2F-ABAC-A491-173D43D1AA6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2FE84A89-8987-11C9-D3BE-AAF4FDECAFF7}"/>
              </a:ext>
            </a:extLst>
          </p:cNvPr>
          <p:cNvSpPr/>
          <p:nvPr/>
        </p:nvSpPr>
        <p:spPr>
          <a:xfrm rot="10800000">
            <a:off x="5623560" y="3282695"/>
            <a:ext cx="502920" cy="384048"/>
          </a:xfrm>
          <a:prstGeom prst="chevron">
            <a:avLst/>
          </a:prstGeom>
          <a:solidFill>
            <a:srgbClr val="36C5F0">
              <a:alpha val="88000"/>
            </a:srgbClr>
          </a:solidFill>
          <a:ln w="12700">
            <a:solidFill>
              <a:srgbClr val="36C5F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330016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246BFD"/>
                </a:solidFill>
              </a:rPr>
              <a:t>项目实践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42B4A"/>
                </a:solidFill>
              </a:rPr>
              <a:t>第二阶段｜用项目把知识变成能力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170432"/>
            <a:ext cx="1101852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00200"/>
            <a:ext cx="2542032" cy="3429000"/>
          </a:xfrm>
          <a:prstGeom prst="roundRect">
            <a:avLst>
              <a:gd name="adj" fmla="val 215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00200"/>
            <a:ext cx="73152" cy="3429000"/>
          </a:xfrm>
          <a:prstGeom prst="rect">
            <a:avLst/>
          </a:prstGeom>
          <a:solidFill>
            <a:srgbClr val="246BFD"/>
          </a:solidFill>
          <a:ln w="12700">
            <a:solidFill>
              <a:srgbClr val="246BF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" y="1828800"/>
            <a:ext cx="420624" cy="420624"/>
          </a:xfrm>
          <a:prstGeom prst="ellipse">
            <a:avLst/>
          </a:prstGeom>
          <a:solidFill>
            <a:srgbClr val="246BFD"/>
          </a:solidFill>
          <a:ln w="12700">
            <a:solidFill>
              <a:srgbClr val="246B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1915668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26464" y="1819656"/>
            <a:ext cx="1527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42B4A"/>
                </a:solidFill>
              </a:rPr>
              <a:t>公共项目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96112" y="2386584"/>
            <a:ext cx="2039112" cy="2441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所有人走通 0→1 完整闭环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0" y="3063240"/>
            <a:ext cx="411480" cy="384048"/>
          </a:xfrm>
          <a:prstGeom prst="chevron">
            <a:avLst/>
          </a:prstGeom>
          <a:solidFill>
            <a:srgbClr val="36C5F0">
              <a:alpha val="88000"/>
            </a:srgbClr>
          </a:solidFill>
          <a:ln w="12700">
            <a:solidFill>
              <a:srgbClr val="36C5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11296" y="1600200"/>
            <a:ext cx="2542032" cy="3429000"/>
          </a:xfrm>
          <a:prstGeom prst="roundRect">
            <a:avLst>
              <a:gd name="adj" fmla="val 215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11296" y="1600200"/>
            <a:ext cx="73152" cy="3429000"/>
          </a:xfrm>
          <a:prstGeom prst="rect">
            <a:avLst/>
          </a:prstGeom>
          <a:solidFill>
            <a:srgbClr val="7655D4"/>
          </a:solidFill>
          <a:ln w="12700">
            <a:solidFill>
              <a:srgbClr val="7655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0" y="1828800"/>
            <a:ext cx="420624" cy="420624"/>
          </a:xfrm>
          <a:prstGeom prst="ellipse">
            <a:avLst/>
          </a:prstGeom>
          <a:solidFill>
            <a:srgbClr val="7655D4"/>
          </a:solidFill>
          <a:ln w="12700">
            <a:solidFill>
              <a:srgbClr val="7655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9040" y="1915668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297680" y="1819656"/>
            <a:ext cx="1527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42B4A"/>
                </a:solidFill>
              </a:rPr>
              <a:t>方向项目 A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3767328" y="2386584"/>
            <a:ext cx="2039112" cy="2441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Workflow / RAG / Agent / 复杂 B 端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071616" y="3063240"/>
            <a:ext cx="411480" cy="384048"/>
          </a:xfrm>
          <a:prstGeom prst="chevron">
            <a:avLst/>
          </a:prstGeom>
          <a:solidFill>
            <a:srgbClr val="36C5F0">
              <a:alpha val="88000"/>
            </a:srgbClr>
          </a:solidFill>
          <a:ln w="12700">
            <a:solidFill>
              <a:srgbClr val="36C5F0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82512" y="1600200"/>
            <a:ext cx="2542032" cy="3429000"/>
          </a:xfrm>
          <a:prstGeom prst="roundRect">
            <a:avLst>
              <a:gd name="adj" fmla="val 215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82512" y="1600200"/>
            <a:ext cx="73152" cy="3429000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20256" y="1828800"/>
            <a:ext cx="420624" cy="420624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0256" y="1915668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68896" y="1819656"/>
            <a:ext cx="1527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42B4A"/>
                </a:solidFill>
              </a:rPr>
              <a:t>方向项目 B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6638544" y="2386584"/>
            <a:ext cx="2039112" cy="2441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选择与背景、目标岗位匹配的方向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942832" y="3063240"/>
            <a:ext cx="411480" cy="384048"/>
          </a:xfrm>
          <a:prstGeom prst="chevron">
            <a:avLst/>
          </a:prstGeom>
          <a:solidFill>
            <a:srgbClr val="36C5F0">
              <a:alpha val="88000"/>
            </a:srgbClr>
          </a:solidFill>
          <a:ln w="12700">
            <a:solidFill>
              <a:srgbClr val="36C5F0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53728" y="1600200"/>
            <a:ext cx="2542032" cy="3429000"/>
          </a:xfrm>
          <a:prstGeom prst="roundRect">
            <a:avLst>
              <a:gd name="adj" fmla="val 215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253728" y="1600200"/>
            <a:ext cx="73152" cy="34290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491472" y="1828800"/>
            <a:ext cx="420624" cy="42062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91472" y="1915668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040112" y="1819656"/>
            <a:ext cx="1527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42B4A"/>
                </a:solidFill>
              </a:rPr>
              <a:t>主项目深化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9509760" y="2386584"/>
            <a:ext cx="2039112" cy="2441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补齐指标、风险、成本和追问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2011680" y="534924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B4A"/>
                </a:solidFill>
              </a:rPr>
              <a:t>最终形成：3 个完整项目 + 1 个重点主项目</a:t>
            </a:r>
            <a:endParaRPr lang="en-US" sz="18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246BFD"/>
                </a:solidFill>
              </a:rPr>
              <a:t>项目实践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42B4A"/>
                </a:solidFill>
              </a:rPr>
              <a:t>为什么采用小组和不同项目？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87248" y="1393952"/>
            <a:ext cx="1101852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25320" y="1612899"/>
            <a:ext cx="256032" cy="256032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5320" y="1693671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364232" y="1608835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42B4A"/>
                </a:solidFill>
              </a:rPr>
              <a:t>避免同质化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001008" y="1489964"/>
            <a:ext cx="6995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不是全班复制同一个知识库机器人，每个人保留独立选题和产出。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925320" y="2710179"/>
            <a:ext cx="256032" cy="256032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5320" y="2790951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364232" y="2706115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42B4A"/>
                </a:solidFill>
              </a:rPr>
              <a:t>扩大案例面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001008" y="2587244"/>
            <a:ext cx="6995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不同背景带来不同业务、流程、用户和系统限制。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925320" y="3807459"/>
            <a:ext cx="256032" cy="256032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25320" y="3888231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364232" y="3803395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42B4A"/>
                </a:solidFill>
              </a:rPr>
              <a:t>共享 Bad Case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001008" y="3684524"/>
            <a:ext cx="6995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同学之间不仅分享结果，也分享失败、修改和验证过程。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925320" y="4904739"/>
            <a:ext cx="256032" cy="256032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25320" y="4985511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364232" y="4900675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42B4A"/>
                </a:solidFill>
              </a:rPr>
              <a:t>训练协作表达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001008" y="4781804"/>
            <a:ext cx="6995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展示、互评和追问，让方案从“自己觉得对”变成“别人能理解”。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246BFD"/>
                </a:solidFill>
              </a:rPr>
              <a:t>求职转化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42B4A"/>
                </a:solidFill>
              </a:rPr>
              <a:t>第三阶段｜把项目转化成求职证据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170432"/>
            <a:ext cx="1101852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874520"/>
            <a:ext cx="658368" cy="658368"/>
          </a:xfrm>
          <a:prstGeom prst="ellipse">
            <a:avLst/>
          </a:prstGeom>
          <a:solidFill>
            <a:srgbClr val="246BF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11683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278892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B4A"/>
                </a:solidFill>
              </a:rPr>
              <a:t>定位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3246120"/>
            <a:ext cx="1572768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</a:rPr>
              <a:t>目标岗位与 JD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103120" y="2011680"/>
            <a:ext cx="320040" cy="384048"/>
          </a:xfrm>
          <a:prstGeom prst="chevron">
            <a:avLst/>
          </a:prstGeom>
          <a:solidFill>
            <a:srgbClr val="D9E2EF">
              <a:alpha val="88000"/>
            </a:srgbClr>
          </a:solidFill>
          <a:ln w="12700">
            <a:solidFill>
              <a:srgbClr val="D9E2E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98648" y="1874520"/>
            <a:ext cx="658368" cy="658368"/>
          </a:xfrm>
          <a:prstGeom prst="ellipse">
            <a:avLst/>
          </a:prstGeom>
          <a:solidFill>
            <a:srgbClr val="7655D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98648" y="211683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41448" y="278892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B4A"/>
                </a:solidFill>
              </a:rPr>
              <a:t>简历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441448" y="3246120"/>
            <a:ext cx="1572768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</a:rPr>
              <a:t>经历与关键词证据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041648" y="2011680"/>
            <a:ext cx="320040" cy="384048"/>
          </a:xfrm>
          <a:prstGeom prst="chevron">
            <a:avLst/>
          </a:prstGeom>
          <a:solidFill>
            <a:srgbClr val="D9E2EF">
              <a:alpha val="88000"/>
            </a:srgbClr>
          </a:solidFill>
          <a:ln w="12700">
            <a:solidFill>
              <a:srgbClr val="D9E2E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37176" y="1874520"/>
            <a:ext cx="658368" cy="658368"/>
          </a:xfrm>
          <a:prstGeom prst="ellipse">
            <a:avLst/>
          </a:prstGeom>
          <a:solidFill>
            <a:srgbClr val="FF9F4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37176" y="211683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79976" y="278892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B4A"/>
                </a:solidFill>
              </a:rPr>
              <a:t>项目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379976" y="3246120"/>
            <a:ext cx="1572768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</a:rPr>
              <a:t>主项目深度表达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980176" y="2011680"/>
            <a:ext cx="320040" cy="384048"/>
          </a:xfrm>
          <a:prstGeom prst="chevron">
            <a:avLst/>
          </a:prstGeom>
          <a:solidFill>
            <a:srgbClr val="D9E2EF">
              <a:alpha val="88000"/>
            </a:srgbClr>
          </a:solidFill>
          <a:ln w="12700">
            <a:solidFill>
              <a:srgbClr val="D9E2E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75704" y="1874520"/>
            <a:ext cx="658368" cy="658368"/>
          </a:xfrm>
          <a:prstGeom prst="ellipse">
            <a:avLst/>
          </a:prstGeom>
          <a:solidFill>
            <a:srgbClr val="36C5F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75704" y="211683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18504" y="278892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B4A"/>
                </a:solidFill>
              </a:rPr>
              <a:t>作品集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318504" y="3246120"/>
            <a:ext cx="1572768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</a:rPr>
              <a:t>辅助材料与图示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918704" y="2011680"/>
            <a:ext cx="320040" cy="384048"/>
          </a:xfrm>
          <a:prstGeom prst="chevron">
            <a:avLst/>
          </a:prstGeom>
          <a:solidFill>
            <a:srgbClr val="D9E2EF">
              <a:alpha val="88000"/>
            </a:srgbClr>
          </a:solidFill>
          <a:ln w="12700">
            <a:solidFill>
              <a:srgbClr val="D9E2E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14232" y="1874520"/>
            <a:ext cx="658368" cy="658368"/>
          </a:xfrm>
          <a:prstGeom prst="ellipse">
            <a:avLst/>
          </a:prstGeom>
          <a:solidFill>
            <a:srgbClr val="27AE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14232" y="211683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57032" y="278892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B4A"/>
                </a:solidFill>
              </a:rPr>
              <a:t>面试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257032" y="3246120"/>
            <a:ext cx="1572768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</a:rPr>
              <a:t>追问与模拟反馈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857232" y="2011680"/>
            <a:ext cx="320040" cy="384048"/>
          </a:xfrm>
          <a:prstGeom prst="chevron">
            <a:avLst/>
          </a:prstGeom>
          <a:solidFill>
            <a:srgbClr val="D9E2EF">
              <a:alpha val="88000"/>
            </a:srgbClr>
          </a:solidFill>
          <a:ln w="12700">
            <a:solidFill>
              <a:srgbClr val="D9E2E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652760" y="1874520"/>
            <a:ext cx="658368" cy="658368"/>
          </a:xfrm>
          <a:prstGeom prst="ellipse">
            <a:avLst/>
          </a:prstGeom>
          <a:solidFill>
            <a:srgbClr val="E85D7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652760" y="211683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195560" y="278892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B4A"/>
                </a:solidFill>
              </a:rPr>
              <a:t>投递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0195560" y="3246120"/>
            <a:ext cx="1572768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</a:rPr>
              <a:t>版本管理与复盘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280160" y="493776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B4A"/>
                </a:solidFill>
              </a:rPr>
              <a:t>目标不是“包装得像做过”，而是让真实能力更容易被看见、理解和追问。</a:t>
            </a:r>
            <a:endParaRPr lang="en-US" sz="16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246BFD"/>
                </a:solidFill>
              </a:rPr>
              <a:t>课程设计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42B4A"/>
                </a:solidFill>
              </a:rPr>
              <a:t>三个阶段，分别回答三个问题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170432"/>
            <a:ext cx="1101852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45920"/>
            <a:ext cx="3246120" cy="338328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645920"/>
            <a:ext cx="73152" cy="3383280"/>
          </a:xfrm>
          <a:prstGeom prst="rect">
            <a:avLst/>
          </a:prstGeom>
          <a:solidFill>
            <a:srgbClr val="246BFD"/>
          </a:solidFill>
          <a:ln w="12700">
            <a:solidFill>
              <a:srgbClr val="246BF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4984" y="1874520"/>
            <a:ext cx="420624" cy="420624"/>
          </a:xfrm>
          <a:prstGeom prst="ellipse">
            <a:avLst/>
          </a:prstGeom>
          <a:solidFill>
            <a:srgbClr val="246BFD"/>
          </a:solidFill>
          <a:ln w="12700">
            <a:solidFill>
              <a:srgbClr val="246B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4984" y="1961388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63624" y="1865376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42B4A"/>
                </a:solidFill>
              </a:rPr>
              <a:t>你懂不懂？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033272" y="2432304"/>
            <a:ext cx="2743200" cy="2395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 err="1">
                <a:solidFill>
                  <a:srgbClr val="667085"/>
                </a:solidFill>
              </a:rPr>
              <a:t>第一阶段建立体系与判断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0" y="1645920"/>
            <a:ext cx="3246120" cy="338328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1645920"/>
            <a:ext cx="73152" cy="3383280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9744" y="1874520"/>
            <a:ext cx="420624" cy="420624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9744" y="1961388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58384" y="1865376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42B4A"/>
                </a:solidFill>
              </a:rPr>
              <a:t>你做没做？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828032" y="2432304"/>
            <a:ext cx="2743200" cy="2395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 err="1">
                <a:solidFill>
                  <a:srgbClr val="667085"/>
                </a:solidFill>
              </a:rPr>
              <a:t>第二阶段形成项目与证据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366760" y="1645920"/>
            <a:ext cx="3246120" cy="338328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66760" y="1645920"/>
            <a:ext cx="73152" cy="33832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04504" y="1874520"/>
            <a:ext cx="420624" cy="42062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04504" y="1961388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53144" y="1865376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42B4A"/>
                </a:solidFill>
              </a:rPr>
              <a:t>你讲得清吗？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8622792" y="2432304"/>
            <a:ext cx="2743200" cy="2395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 err="1">
                <a:solidFill>
                  <a:srgbClr val="667085"/>
                </a:solidFill>
              </a:rPr>
              <a:t>第三阶段完成求职转化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005840"/>
            <a:ext cx="4297680" cy="4297680"/>
          </a:xfrm>
          <a:prstGeom prst="ellipse">
            <a:avLst/>
          </a:prstGeom>
          <a:solidFill>
            <a:srgbClr val="246BFD">
              <a:alpha val="58000"/>
            </a:srgbClr>
          </a:solidFill>
          <a:ln w="12700">
            <a:solidFill>
              <a:srgbClr val="246BF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4297680"/>
            <a:ext cx="2926080" cy="2926080"/>
          </a:xfrm>
          <a:prstGeom prst="ellipse">
            <a:avLst/>
          </a:prstGeom>
          <a:solidFill>
            <a:srgbClr val="36C5F0">
              <a:alpha val="24000"/>
            </a:srgbClr>
          </a:solidFill>
          <a:ln w="12700">
            <a:solidFill>
              <a:srgbClr val="36C5F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7315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36C5F0"/>
                </a:solidFill>
              </a:rPr>
              <a:t>03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713232" y="1920240"/>
            <a:ext cx="8686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FFFFFF"/>
                </a:solidFill>
              </a:rPr>
              <a:t>课程的一些说明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49808" y="61447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1A4BE"/>
                </a:solidFill>
              </a:rPr>
              <a:t>AI 产品经理系统课程 · 第 00 课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C42CF-EB3B-4312-120F-364BBDE26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5DD2BC2-3E75-9A63-09D5-4B35EF2D88BD}"/>
              </a:ext>
            </a:extLst>
          </p:cNvPr>
          <p:cNvSpPr/>
          <p:nvPr/>
        </p:nvSpPr>
        <p:spPr>
          <a:xfrm>
            <a:off x="566928" y="310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950" b="1" kern="0" spc="120" dirty="0" err="1">
                <a:solidFill>
                  <a:srgbClr val="246BFD"/>
                </a:solidFill>
              </a:rPr>
              <a:t>课程约定</a:t>
            </a:r>
            <a:endParaRPr lang="en-US" sz="9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708685E-7043-E651-C8AF-1812140FD6BE}"/>
              </a:ext>
            </a:extLst>
          </p:cNvPr>
          <p:cNvSpPr/>
          <p:nvPr/>
        </p:nvSpPr>
        <p:spPr>
          <a:xfrm>
            <a:off x="566928" y="566928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142B4A"/>
                </a:solidFill>
              </a:rPr>
              <a:t>上课事项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B4511C7-79E9-A88B-1F23-2AEDFC93F59B}"/>
              </a:ext>
            </a:extLst>
          </p:cNvPr>
          <p:cNvSpPr/>
          <p:nvPr/>
        </p:nvSpPr>
        <p:spPr>
          <a:xfrm>
            <a:off x="566928" y="1170432"/>
            <a:ext cx="1101852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82008BF0-E19B-9A78-6CC0-991E2A5003D1}"/>
              </a:ext>
            </a:extLst>
          </p:cNvPr>
          <p:cNvGrpSpPr/>
          <p:nvPr/>
        </p:nvGrpSpPr>
        <p:grpSpPr>
          <a:xfrm>
            <a:off x="1151657" y="1651680"/>
            <a:ext cx="8699709" cy="720000"/>
            <a:chOff x="640080" y="1481328"/>
            <a:chExt cx="8699709" cy="720000"/>
          </a:xfrm>
        </p:grpSpPr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4180027A-D129-29EF-CB98-670DBDC63E6C}"/>
                </a:ext>
              </a:extLst>
            </p:cNvPr>
            <p:cNvSpPr/>
            <p:nvPr/>
          </p:nvSpPr>
          <p:spPr>
            <a:xfrm>
              <a:off x="640080" y="1481328"/>
              <a:ext cx="8699709" cy="713227"/>
            </a:xfrm>
            <a:prstGeom prst="roundRect">
              <a:avLst>
                <a:gd name="adj" fmla="val 3429"/>
              </a:avLst>
            </a:prstGeom>
            <a:solidFill>
              <a:srgbClr val="FFFFFF"/>
            </a:solidFill>
            <a:ln w="12700">
              <a:solidFill>
                <a:srgbClr val="D9E2EF"/>
              </a:solidFill>
              <a:prstDash val="solid"/>
            </a:ln>
            <a:effectLst>
              <a:outerShdw blurRad="12700" dist="50800" dir="2700000" algn="bl" rotWithShape="0">
                <a:srgbClr val="AAB6C5">
                  <a:alpha val="16000"/>
                </a:srgbClr>
              </a:outerShdw>
            </a:effectLst>
          </p:spPr>
          <p:txBody>
            <a:bodyPr anchor="ctr"/>
            <a:lstStyle/>
            <a:p>
              <a:r>
                <a:rPr lang="zh-CN" altLang="en-US" sz="2000" dirty="0"/>
                <a:t>  每周两次课，一次在周末，一次在周中，预计是周三和周日，但有可能调整</a:t>
              </a:r>
            </a:p>
          </p:txBody>
        </p:sp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32DFF1C6-8918-8BF9-346E-D190F0955EB1}"/>
                </a:ext>
              </a:extLst>
            </p:cNvPr>
            <p:cNvSpPr/>
            <p:nvPr/>
          </p:nvSpPr>
          <p:spPr>
            <a:xfrm>
              <a:off x="640080" y="1481328"/>
              <a:ext cx="73152" cy="720000"/>
            </a:xfrm>
            <a:prstGeom prst="rect">
              <a:avLst/>
            </a:prstGeom>
            <a:solidFill>
              <a:srgbClr val="246BFD"/>
            </a:solidFill>
            <a:ln w="12700">
              <a:solidFill>
                <a:srgbClr val="246BFD"/>
              </a:solidFill>
              <a:prstDash val="solid"/>
            </a:ln>
          </p:spPr>
        </p:sp>
      </p:grpSp>
      <p:sp>
        <p:nvSpPr>
          <p:cNvPr id="9" name="Text 7">
            <a:extLst>
              <a:ext uri="{FF2B5EF4-FFF2-40B4-BE49-F238E27FC236}">
                <a16:creationId xmlns:a16="http://schemas.microsoft.com/office/drawing/2014/main" id="{BCB31194-BC2A-460C-739A-E8374BDDE577}"/>
              </a:ext>
            </a:extLst>
          </p:cNvPr>
          <p:cNvSpPr/>
          <p:nvPr/>
        </p:nvSpPr>
        <p:spPr>
          <a:xfrm>
            <a:off x="1371600" y="1719072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550" dirty="0"/>
          </a:p>
        </p:txBody>
      </p:sp>
      <p:sp>
        <p:nvSpPr>
          <p:cNvPr id="36" name="Slide Number Placeholder 0">
            <a:extLst>
              <a:ext uri="{FF2B5EF4-FFF2-40B4-BE49-F238E27FC236}">
                <a16:creationId xmlns:a16="http://schemas.microsoft.com/office/drawing/2014/main" id="{E017693A-7B8C-D300-E7D8-2F3855C6388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6B44BA33-2C5A-52F7-D278-DBCA2282CD17}"/>
              </a:ext>
            </a:extLst>
          </p:cNvPr>
          <p:cNvGrpSpPr/>
          <p:nvPr/>
        </p:nvGrpSpPr>
        <p:grpSpPr>
          <a:xfrm>
            <a:off x="1151657" y="2709000"/>
            <a:ext cx="8699709" cy="720000"/>
            <a:chOff x="640080" y="1481328"/>
            <a:chExt cx="8699709" cy="720000"/>
          </a:xfrm>
        </p:grpSpPr>
        <p:sp>
          <p:nvSpPr>
            <p:cNvPr id="15" name="Shape 3">
              <a:extLst>
                <a:ext uri="{FF2B5EF4-FFF2-40B4-BE49-F238E27FC236}">
                  <a16:creationId xmlns:a16="http://schemas.microsoft.com/office/drawing/2014/main" id="{4404D7BF-A516-102E-F93B-4D7F2615B729}"/>
                </a:ext>
              </a:extLst>
            </p:cNvPr>
            <p:cNvSpPr/>
            <p:nvPr/>
          </p:nvSpPr>
          <p:spPr>
            <a:xfrm>
              <a:off x="640080" y="1481328"/>
              <a:ext cx="8699709" cy="713227"/>
            </a:xfrm>
            <a:prstGeom prst="roundRect">
              <a:avLst>
                <a:gd name="adj" fmla="val 3429"/>
              </a:avLst>
            </a:prstGeom>
            <a:solidFill>
              <a:srgbClr val="FFFFFF"/>
            </a:solidFill>
            <a:ln w="12700">
              <a:solidFill>
                <a:srgbClr val="D9E2EF"/>
              </a:solidFill>
              <a:prstDash val="solid"/>
            </a:ln>
            <a:effectLst>
              <a:outerShdw blurRad="12700" dist="50800" dir="2700000" algn="bl" rotWithShape="0">
                <a:srgbClr val="AAB6C5">
                  <a:alpha val="16000"/>
                </a:srgbClr>
              </a:outerShdw>
            </a:effectLst>
          </p:spPr>
          <p:txBody>
            <a:bodyPr anchor="ctr"/>
            <a:lstStyle/>
            <a:p>
              <a:r>
                <a:rPr lang="zh-CN" altLang="en-US" sz="2000" dirty="0"/>
                <a:t>  每次的课程大约在</a:t>
              </a:r>
              <a:r>
                <a:rPr lang="en-US" altLang="zh-CN" sz="2000" dirty="0"/>
                <a:t>2</a:t>
              </a:r>
              <a:r>
                <a:rPr lang="zh-CN" altLang="en-US" sz="2000" dirty="0"/>
                <a:t>个小时左右，会根据具体的课程内容做适当调整。</a:t>
              </a:r>
            </a:p>
          </p:txBody>
        </p:sp>
        <p:sp>
          <p:nvSpPr>
            <p:cNvPr id="16" name="Shape 4">
              <a:extLst>
                <a:ext uri="{FF2B5EF4-FFF2-40B4-BE49-F238E27FC236}">
                  <a16:creationId xmlns:a16="http://schemas.microsoft.com/office/drawing/2014/main" id="{24837263-0D04-F123-05A9-6335EFA1D6F7}"/>
                </a:ext>
              </a:extLst>
            </p:cNvPr>
            <p:cNvSpPr/>
            <p:nvPr/>
          </p:nvSpPr>
          <p:spPr>
            <a:xfrm>
              <a:off x="640080" y="1481328"/>
              <a:ext cx="73152" cy="720000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prstDash val="solid"/>
            </a:ln>
          </p:spPr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8ABA9D3E-AE43-90F9-FC97-B9040E3805E8}"/>
              </a:ext>
            </a:extLst>
          </p:cNvPr>
          <p:cNvGrpSpPr/>
          <p:nvPr/>
        </p:nvGrpSpPr>
        <p:grpSpPr>
          <a:xfrm>
            <a:off x="1151656" y="3840484"/>
            <a:ext cx="8699709" cy="720000"/>
            <a:chOff x="640080" y="1481328"/>
            <a:chExt cx="8699709" cy="720000"/>
          </a:xfrm>
        </p:grpSpPr>
        <p:sp>
          <p:nvSpPr>
            <p:cNvPr id="18" name="Shape 3">
              <a:extLst>
                <a:ext uri="{FF2B5EF4-FFF2-40B4-BE49-F238E27FC236}">
                  <a16:creationId xmlns:a16="http://schemas.microsoft.com/office/drawing/2014/main" id="{3DBBBD0D-E5F3-9A3F-51B2-EEAADB368527}"/>
                </a:ext>
              </a:extLst>
            </p:cNvPr>
            <p:cNvSpPr/>
            <p:nvPr/>
          </p:nvSpPr>
          <p:spPr>
            <a:xfrm>
              <a:off x="640080" y="1481328"/>
              <a:ext cx="8699709" cy="713227"/>
            </a:xfrm>
            <a:prstGeom prst="roundRect">
              <a:avLst>
                <a:gd name="adj" fmla="val 3429"/>
              </a:avLst>
            </a:prstGeom>
            <a:solidFill>
              <a:srgbClr val="FFFFFF"/>
            </a:solidFill>
            <a:ln w="12700">
              <a:solidFill>
                <a:srgbClr val="D9E2EF"/>
              </a:solidFill>
              <a:prstDash val="solid"/>
            </a:ln>
            <a:effectLst>
              <a:outerShdw blurRad="12700" dist="50800" dir="2700000" algn="bl" rotWithShape="0">
                <a:srgbClr val="AAB6C5">
                  <a:alpha val="16000"/>
                </a:srgbClr>
              </a:outerShdw>
            </a:effectLst>
          </p:spPr>
          <p:txBody>
            <a:bodyPr anchor="ctr"/>
            <a:lstStyle/>
            <a:p>
              <a:r>
                <a:rPr lang="zh-CN" altLang="en-US" sz="2000" dirty="0"/>
                <a:t>  整个课程预计是</a:t>
              </a:r>
              <a:r>
                <a:rPr lang="en-US" altLang="zh-CN" sz="2000" dirty="0"/>
                <a:t>3</a:t>
              </a:r>
              <a:r>
                <a:rPr lang="zh-CN" altLang="en-US" sz="2000" dirty="0"/>
                <a:t> </a:t>
              </a:r>
              <a:r>
                <a:rPr lang="en-US" altLang="zh-CN" sz="2000" dirty="0"/>
                <a:t>-</a:t>
              </a:r>
              <a:r>
                <a:rPr lang="zh-CN" altLang="en-US" sz="2000" dirty="0"/>
                <a:t> </a:t>
              </a:r>
              <a:r>
                <a:rPr lang="en-US" altLang="zh-CN" sz="2000" dirty="0"/>
                <a:t>4</a:t>
              </a:r>
              <a:r>
                <a:rPr lang="zh-CN" altLang="en-US" sz="2000" dirty="0"/>
                <a:t>个月的时间，其中第一阶段大约</a:t>
              </a:r>
              <a:r>
                <a:rPr lang="en-US" altLang="zh-CN" sz="2000" dirty="0"/>
                <a:t>1.5</a:t>
              </a:r>
              <a:r>
                <a:rPr lang="zh-CN" altLang="en-US" sz="2000" dirty="0"/>
                <a:t>个月</a:t>
              </a:r>
            </a:p>
          </p:txBody>
        </p:sp>
        <p:sp>
          <p:nvSpPr>
            <p:cNvPr id="19" name="Shape 4">
              <a:extLst>
                <a:ext uri="{FF2B5EF4-FFF2-40B4-BE49-F238E27FC236}">
                  <a16:creationId xmlns:a16="http://schemas.microsoft.com/office/drawing/2014/main" id="{40240FAA-03C3-A81C-0666-B66EEB522C3A}"/>
                </a:ext>
              </a:extLst>
            </p:cNvPr>
            <p:cNvSpPr/>
            <p:nvPr/>
          </p:nvSpPr>
          <p:spPr>
            <a:xfrm>
              <a:off x="640080" y="1481328"/>
              <a:ext cx="73152" cy="720000"/>
            </a:xfrm>
            <a:prstGeom prst="rect">
              <a:avLst/>
            </a:prstGeom>
            <a:solidFill>
              <a:srgbClr val="7030A0"/>
            </a:solidFill>
            <a:ln w="12700">
              <a:solidFill>
                <a:srgbClr val="7030A0"/>
              </a:solidFill>
              <a:prstDash val="solid"/>
            </a:ln>
          </p:spPr>
        </p:sp>
      </p:grpSp>
    </p:spTree>
    <p:extLst>
      <p:ext uri="{BB962C8B-B14F-4D97-AF65-F5344CB8AC3E}">
        <p14:creationId xmlns:p14="http://schemas.microsoft.com/office/powerpoint/2010/main" val="37360342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7B749-6126-0680-788B-3AC92FAE8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2FF3711-A16D-80CC-C163-2E452375DEED}"/>
              </a:ext>
            </a:extLst>
          </p:cNvPr>
          <p:cNvSpPr/>
          <p:nvPr/>
        </p:nvSpPr>
        <p:spPr>
          <a:xfrm>
            <a:off x="566928" y="310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950" b="1" kern="0" spc="120" dirty="0" err="1">
                <a:solidFill>
                  <a:srgbClr val="246BFD"/>
                </a:solidFill>
              </a:rPr>
              <a:t>课程约定</a:t>
            </a:r>
            <a:endParaRPr lang="en-US" sz="9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6B37C59-9E10-4FEE-C372-700A0F612E10}"/>
              </a:ext>
            </a:extLst>
          </p:cNvPr>
          <p:cNvSpPr/>
          <p:nvPr/>
        </p:nvSpPr>
        <p:spPr>
          <a:xfrm>
            <a:off x="566928" y="566928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142B4A"/>
                </a:solidFill>
              </a:rPr>
              <a:t>后期上课准备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8391942-9FA7-41C4-13FD-7080B0A6B9A1}"/>
              </a:ext>
            </a:extLst>
          </p:cNvPr>
          <p:cNvSpPr/>
          <p:nvPr/>
        </p:nvSpPr>
        <p:spPr>
          <a:xfrm>
            <a:off x="566928" y="1170432"/>
            <a:ext cx="1101852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380F992C-F202-78E5-FAA5-E92480BB5D8D}"/>
              </a:ext>
            </a:extLst>
          </p:cNvPr>
          <p:cNvGrpSpPr/>
          <p:nvPr/>
        </p:nvGrpSpPr>
        <p:grpSpPr>
          <a:xfrm>
            <a:off x="1151657" y="1651680"/>
            <a:ext cx="8699709" cy="720000"/>
            <a:chOff x="640080" y="1481328"/>
            <a:chExt cx="8699709" cy="720000"/>
          </a:xfrm>
        </p:grpSpPr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9F2CC7BA-B3CF-6F47-9882-7B6243AAC453}"/>
                </a:ext>
              </a:extLst>
            </p:cNvPr>
            <p:cNvSpPr/>
            <p:nvPr/>
          </p:nvSpPr>
          <p:spPr>
            <a:xfrm>
              <a:off x="640080" y="1481328"/>
              <a:ext cx="8699709" cy="713227"/>
            </a:xfrm>
            <a:prstGeom prst="roundRect">
              <a:avLst>
                <a:gd name="adj" fmla="val 3429"/>
              </a:avLst>
            </a:prstGeom>
            <a:solidFill>
              <a:srgbClr val="FFFFFF"/>
            </a:solidFill>
            <a:ln w="12700">
              <a:solidFill>
                <a:srgbClr val="D9E2EF"/>
              </a:solidFill>
              <a:prstDash val="solid"/>
            </a:ln>
            <a:effectLst>
              <a:outerShdw blurRad="12700" dist="50800" dir="2700000" algn="bl" rotWithShape="0">
                <a:srgbClr val="AAB6C5">
                  <a:alpha val="16000"/>
                </a:srgbClr>
              </a:outerShdw>
            </a:effectLst>
          </p:spPr>
          <p:txBody>
            <a:bodyPr anchor="ctr"/>
            <a:lstStyle/>
            <a:p>
              <a:r>
                <a:rPr lang="zh-CN" altLang="en-US" sz="2000" dirty="0"/>
                <a:t>  科学上网，找到稳定科学上网的方法。</a:t>
              </a:r>
            </a:p>
          </p:txBody>
        </p:sp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6885562B-3F5F-90DB-72B3-BE3356D3FA1E}"/>
                </a:ext>
              </a:extLst>
            </p:cNvPr>
            <p:cNvSpPr/>
            <p:nvPr/>
          </p:nvSpPr>
          <p:spPr>
            <a:xfrm>
              <a:off x="640080" y="1481328"/>
              <a:ext cx="73152" cy="720000"/>
            </a:xfrm>
            <a:prstGeom prst="rect">
              <a:avLst/>
            </a:prstGeom>
            <a:solidFill>
              <a:srgbClr val="246BFD"/>
            </a:solidFill>
            <a:ln w="12700">
              <a:solidFill>
                <a:srgbClr val="246BFD"/>
              </a:solidFill>
              <a:prstDash val="solid"/>
            </a:ln>
          </p:spPr>
        </p:sp>
      </p:grpSp>
      <p:sp>
        <p:nvSpPr>
          <p:cNvPr id="9" name="Text 7">
            <a:extLst>
              <a:ext uri="{FF2B5EF4-FFF2-40B4-BE49-F238E27FC236}">
                <a16:creationId xmlns:a16="http://schemas.microsoft.com/office/drawing/2014/main" id="{EECB2F9B-9896-1FD8-641C-7CE3757A4447}"/>
              </a:ext>
            </a:extLst>
          </p:cNvPr>
          <p:cNvSpPr/>
          <p:nvPr/>
        </p:nvSpPr>
        <p:spPr>
          <a:xfrm>
            <a:off x="1371600" y="1719072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550" dirty="0"/>
          </a:p>
        </p:txBody>
      </p:sp>
      <p:sp>
        <p:nvSpPr>
          <p:cNvPr id="36" name="Slide Number Placeholder 0">
            <a:extLst>
              <a:ext uri="{FF2B5EF4-FFF2-40B4-BE49-F238E27FC236}">
                <a16:creationId xmlns:a16="http://schemas.microsoft.com/office/drawing/2014/main" id="{F0302479-7E7E-8A66-1EA1-6D1C03E738E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84F8D5E5-68F3-FE4F-66A3-5F1478B65DF7}"/>
              </a:ext>
            </a:extLst>
          </p:cNvPr>
          <p:cNvGrpSpPr/>
          <p:nvPr/>
        </p:nvGrpSpPr>
        <p:grpSpPr>
          <a:xfrm>
            <a:off x="1151657" y="2709000"/>
            <a:ext cx="8699709" cy="720000"/>
            <a:chOff x="640080" y="1481328"/>
            <a:chExt cx="8699709" cy="720000"/>
          </a:xfrm>
        </p:grpSpPr>
        <p:sp>
          <p:nvSpPr>
            <p:cNvPr id="15" name="Shape 3">
              <a:extLst>
                <a:ext uri="{FF2B5EF4-FFF2-40B4-BE49-F238E27FC236}">
                  <a16:creationId xmlns:a16="http://schemas.microsoft.com/office/drawing/2014/main" id="{1C30592F-8AC0-9B2E-2722-2EB2BE5606A4}"/>
                </a:ext>
              </a:extLst>
            </p:cNvPr>
            <p:cNvSpPr/>
            <p:nvPr/>
          </p:nvSpPr>
          <p:spPr>
            <a:xfrm>
              <a:off x="640080" y="1481328"/>
              <a:ext cx="8699709" cy="713227"/>
            </a:xfrm>
            <a:prstGeom prst="roundRect">
              <a:avLst>
                <a:gd name="adj" fmla="val 3429"/>
              </a:avLst>
            </a:prstGeom>
            <a:solidFill>
              <a:srgbClr val="FFFFFF"/>
            </a:solidFill>
            <a:ln w="12700">
              <a:solidFill>
                <a:srgbClr val="D9E2EF"/>
              </a:solidFill>
              <a:prstDash val="solid"/>
            </a:ln>
            <a:effectLst>
              <a:outerShdw blurRad="12700" dist="50800" dir="2700000" algn="bl" rotWithShape="0">
                <a:srgbClr val="AAB6C5">
                  <a:alpha val="16000"/>
                </a:srgbClr>
              </a:outerShdw>
            </a:effectLst>
          </p:spPr>
          <p:txBody>
            <a:bodyPr anchor="ctr"/>
            <a:lstStyle/>
            <a:p>
              <a:r>
                <a:rPr lang="zh-CN" altLang="en-US" sz="2000" dirty="0"/>
                <a:t>  </a:t>
              </a:r>
              <a:r>
                <a:rPr lang="en-US" altLang="zh-CN" sz="2000" dirty="0"/>
                <a:t>Claude/ChatGPT/Gemini</a:t>
              </a:r>
              <a:r>
                <a:rPr lang="zh-CN" altLang="en-US" sz="2000" dirty="0"/>
                <a:t>，</a:t>
              </a:r>
              <a:r>
                <a:rPr lang="en-US" altLang="zh-CN" sz="2000" dirty="0"/>
                <a:t>3</a:t>
              </a:r>
              <a:r>
                <a:rPr lang="zh-CN" altLang="en-US" sz="2000" dirty="0"/>
                <a:t>个账号必须有其中的一个，优先级依次递减。</a:t>
              </a:r>
            </a:p>
          </p:txBody>
        </p:sp>
        <p:sp>
          <p:nvSpPr>
            <p:cNvPr id="16" name="Shape 4">
              <a:extLst>
                <a:ext uri="{FF2B5EF4-FFF2-40B4-BE49-F238E27FC236}">
                  <a16:creationId xmlns:a16="http://schemas.microsoft.com/office/drawing/2014/main" id="{61669309-ECD1-9350-F464-5B75789EAAC7}"/>
                </a:ext>
              </a:extLst>
            </p:cNvPr>
            <p:cNvSpPr/>
            <p:nvPr/>
          </p:nvSpPr>
          <p:spPr>
            <a:xfrm>
              <a:off x="640080" y="1481328"/>
              <a:ext cx="73152" cy="720000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prstDash val="solid"/>
            </a:ln>
          </p:spPr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DEC65C93-062E-6BE8-0A04-A61370B6E101}"/>
              </a:ext>
            </a:extLst>
          </p:cNvPr>
          <p:cNvGrpSpPr/>
          <p:nvPr/>
        </p:nvGrpSpPr>
        <p:grpSpPr>
          <a:xfrm>
            <a:off x="1151656" y="3840484"/>
            <a:ext cx="8699709" cy="720000"/>
            <a:chOff x="640080" y="1481328"/>
            <a:chExt cx="8699709" cy="720000"/>
          </a:xfrm>
        </p:grpSpPr>
        <p:sp>
          <p:nvSpPr>
            <p:cNvPr id="18" name="Shape 3">
              <a:extLst>
                <a:ext uri="{FF2B5EF4-FFF2-40B4-BE49-F238E27FC236}">
                  <a16:creationId xmlns:a16="http://schemas.microsoft.com/office/drawing/2014/main" id="{3D7F1AD7-5A20-D4E4-89D7-C8E4C261D8A7}"/>
                </a:ext>
              </a:extLst>
            </p:cNvPr>
            <p:cNvSpPr/>
            <p:nvPr/>
          </p:nvSpPr>
          <p:spPr>
            <a:xfrm>
              <a:off x="640080" y="1481328"/>
              <a:ext cx="8699709" cy="713227"/>
            </a:xfrm>
            <a:prstGeom prst="roundRect">
              <a:avLst>
                <a:gd name="adj" fmla="val 3429"/>
              </a:avLst>
            </a:prstGeom>
            <a:solidFill>
              <a:srgbClr val="FFFFFF"/>
            </a:solidFill>
            <a:ln w="12700">
              <a:solidFill>
                <a:srgbClr val="D9E2EF"/>
              </a:solidFill>
              <a:prstDash val="solid"/>
            </a:ln>
            <a:effectLst>
              <a:outerShdw blurRad="12700" dist="50800" dir="2700000" algn="bl" rotWithShape="0">
                <a:srgbClr val="AAB6C5">
                  <a:alpha val="16000"/>
                </a:srgbClr>
              </a:outerShdw>
            </a:effectLst>
          </p:spPr>
          <p:txBody>
            <a:bodyPr anchor="ctr"/>
            <a:lstStyle/>
            <a:p>
              <a:r>
                <a:rPr lang="zh-CN" altLang="en-US" sz="2000" dirty="0"/>
                <a:t>  </a:t>
              </a:r>
              <a:r>
                <a:rPr lang="en-US" altLang="zh-CN" sz="2000" dirty="0"/>
                <a:t>Claude</a:t>
              </a:r>
              <a:r>
                <a:rPr lang="zh-CN" altLang="en-US" sz="2000" dirty="0"/>
                <a:t> </a:t>
              </a:r>
              <a:r>
                <a:rPr lang="en-US" altLang="zh-CN" sz="2000" dirty="0"/>
                <a:t>Code/Codex</a:t>
              </a:r>
              <a:r>
                <a:rPr lang="zh-CN" altLang="en-US" sz="2000" dirty="0"/>
                <a:t>需要有其中的一个，如果没有对应账号需要自购</a:t>
              </a:r>
              <a:r>
                <a:rPr lang="en-US" altLang="zh-CN" sz="2000" dirty="0"/>
                <a:t>API</a:t>
              </a:r>
              <a:endParaRPr lang="zh-CN" altLang="en-US" sz="2000" dirty="0"/>
            </a:p>
          </p:txBody>
        </p:sp>
        <p:sp>
          <p:nvSpPr>
            <p:cNvPr id="19" name="Shape 4">
              <a:extLst>
                <a:ext uri="{FF2B5EF4-FFF2-40B4-BE49-F238E27FC236}">
                  <a16:creationId xmlns:a16="http://schemas.microsoft.com/office/drawing/2014/main" id="{CF49DC2A-0823-BAC2-CD55-A041D8BFEC99}"/>
                </a:ext>
              </a:extLst>
            </p:cNvPr>
            <p:cNvSpPr/>
            <p:nvPr/>
          </p:nvSpPr>
          <p:spPr>
            <a:xfrm>
              <a:off x="640080" y="1481328"/>
              <a:ext cx="73152" cy="720000"/>
            </a:xfrm>
            <a:prstGeom prst="rect">
              <a:avLst/>
            </a:prstGeom>
            <a:solidFill>
              <a:srgbClr val="7030A0"/>
            </a:solidFill>
            <a:ln w="12700">
              <a:solidFill>
                <a:srgbClr val="7030A0"/>
              </a:solidFill>
              <a:prstDash val="solid"/>
            </a:ln>
          </p:spPr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78F483F7-2277-F07E-E991-21EA07BAE953}"/>
              </a:ext>
            </a:extLst>
          </p:cNvPr>
          <p:cNvGrpSpPr/>
          <p:nvPr/>
        </p:nvGrpSpPr>
        <p:grpSpPr>
          <a:xfrm>
            <a:off x="1151655" y="4971968"/>
            <a:ext cx="8699709" cy="720000"/>
            <a:chOff x="640080" y="1481328"/>
            <a:chExt cx="8699709" cy="720000"/>
          </a:xfrm>
        </p:grpSpPr>
        <p:sp>
          <p:nvSpPr>
            <p:cNvPr id="8" name="Shape 3">
              <a:extLst>
                <a:ext uri="{FF2B5EF4-FFF2-40B4-BE49-F238E27FC236}">
                  <a16:creationId xmlns:a16="http://schemas.microsoft.com/office/drawing/2014/main" id="{89D00A8F-EAA8-F290-368C-CE972382875E}"/>
                </a:ext>
              </a:extLst>
            </p:cNvPr>
            <p:cNvSpPr/>
            <p:nvPr/>
          </p:nvSpPr>
          <p:spPr>
            <a:xfrm>
              <a:off x="640080" y="1481328"/>
              <a:ext cx="8699709" cy="713227"/>
            </a:xfrm>
            <a:prstGeom prst="roundRect">
              <a:avLst>
                <a:gd name="adj" fmla="val 3429"/>
              </a:avLst>
            </a:prstGeom>
            <a:solidFill>
              <a:srgbClr val="FFFFFF"/>
            </a:solidFill>
            <a:ln w="12700">
              <a:solidFill>
                <a:srgbClr val="D9E2EF"/>
              </a:solidFill>
              <a:prstDash val="solid"/>
            </a:ln>
            <a:effectLst>
              <a:outerShdw blurRad="12700" dist="50800" dir="2700000" algn="bl" rotWithShape="0">
                <a:srgbClr val="AAB6C5">
                  <a:alpha val="16000"/>
                </a:srgbClr>
              </a:outerShdw>
            </a:effectLst>
          </p:spPr>
          <p:txBody>
            <a:bodyPr anchor="ctr"/>
            <a:lstStyle/>
            <a:p>
              <a:r>
                <a:rPr lang="zh-CN" altLang="en-US" sz="2000" dirty="0"/>
                <a:t>  </a:t>
              </a:r>
              <a:r>
                <a:rPr lang="en-US" altLang="zh-CN" sz="2000" dirty="0"/>
                <a:t>OpenClaw/Hermes</a:t>
              </a:r>
              <a:r>
                <a:rPr lang="zh-CN" altLang="en-US" sz="2000" dirty="0"/>
                <a:t> 可选，同样需要</a:t>
              </a:r>
              <a:r>
                <a:rPr lang="en-US" altLang="zh-CN" sz="2000" dirty="0"/>
                <a:t>API</a:t>
              </a:r>
              <a:endParaRPr lang="zh-CN" altLang="en-US" sz="2000" dirty="0"/>
            </a:p>
          </p:txBody>
        </p:sp>
        <p:sp>
          <p:nvSpPr>
            <p:cNvPr id="10" name="Shape 4">
              <a:extLst>
                <a:ext uri="{FF2B5EF4-FFF2-40B4-BE49-F238E27FC236}">
                  <a16:creationId xmlns:a16="http://schemas.microsoft.com/office/drawing/2014/main" id="{80FB01FE-BDAF-186A-AD8D-56C42293E10F}"/>
                </a:ext>
              </a:extLst>
            </p:cNvPr>
            <p:cNvSpPr/>
            <p:nvPr/>
          </p:nvSpPr>
          <p:spPr>
            <a:xfrm>
              <a:off x="640080" y="1481328"/>
              <a:ext cx="73152" cy="720000"/>
            </a:xfrm>
            <a:prstGeom prst="rect">
              <a:avLst/>
            </a:prstGeom>
            <a:solidFill>
              <a:schemeClr val="accent6"/>
            </a:solidFill>
            <a:ln w="12700">
              <a:solidFill>
                <a:schemeClr val="accent6"/>
              </a:solidFill>
              <a:prstDash val="solid"/>
            </a:ln>
          </p:spPr>
        </p:sp>
      </p:grpSp>
      <p:sp>
        <p:nvSpPr>
          <p:cNvPr id="11" name="Text 33">
            <a:extLst>
              <a:ext uri="{FF2B5EF4-FFF2-40B4-BE49-F238E27FC236}">
                <a16:creationId xmlns:a16="http://schemas.microsoft.com/office/drawing/2014/main" id="{376AB083-39E8-86A9-AD36-7A1AEC414E6A}"/>
              </a:ext>
            </a:extLst>
          </p:cNvPr>
          <p:cNvSpPr/>
          <p:nvPr/>
        </p:nvSpPr>
        <p:spPr>
          <a:xfrm>
            <a:off x="5074920" y="584640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 err="1">
                <a:solidFill>
                  <a:srgbClr val="142B4A"/>
                </a:solidFill>
              </a:rPr>
              <a:t>如果账号和API没有的同学</a:t>
            </a:r>
            <a:r>
              <a:rPr lang="zh-CN" altLang="en-US" sz="1200" b="1" dirty="0">
                <a:solidFill>
                  <a:srgbClr val="142B4A"/>
                </a:solidFill>
              </a:rPr>
              <a:t>，可以找我获取购买方式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888666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B5E59-D511-5FC2-9734-E9CCFF882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FDBB4A4-94AC-D7E0-6AA0-7A6741783FAB}"/>
              </a:ext>
            </a:extLst>
          </p:cNvPr>
          <p:cNvSpPr/>
          <p:nvPr/>
        </p:nvSpPr>
        <p:spPr>
          <a:xfrm>
            <a:off x="566928" y="310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950" b="1" kern="0" spc="120" dirty="0" err="1">
                <a:solidFill>
                  <a:srgbClr val="246BFD"/>
                </a:solidFill>
              </a:rPr>
              <a:t>课程约定</a:t>
            </a:r>
            <a:endParaRPr lang="en-US" sz="9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3E5B06E-1A07-CF3A-5458-A86139CD0C1B}"/>
              </a:ext>
            </a:extLst>
          </p:cNvPr>
          <p:cNvSpPr/>
          <p:nvPr/>
        </p:nvSpPr>
        <p:spPr>
          <a:xfrm>
            <a:off x="566928" y="566928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142B4A"/>
                </a:solidFill>
              </a:rPr>
              <a:t>因为AI变化实在太快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5282A32-5E1A-CD27-47E6-2B269394A987}"/>
              </a:ext>
            </a:extLst>
          </p:cNvPr>
          <p:cNvSpPr/>
          <p:nvPr/>
        </p:nvSpPr>
        <p:spPr>
          <a:xfrm>
            <a:off x="566928" y="1170432"/>
            <a:ext cx="1101852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4242D513-B951-0641-E1BF-04356D914096}"/>
              </a:ext>
            </a:extLst>
          </p:cNvPr>
          <p:cNvGrpSpPr/>
          <p:nvPr/>
        </p:nvGrpSpPr>
        <p:grpSpPr>
          <a:xfrm>
            <a:off x="894080" y="1651680"/>
            <a:ext cx="8699709" cy="720000"/>
            <a:chOff x="640080" y="1481328"/>
            <a:chExt cx="8699709" cy="720000"/>
          </a:xfrm>
        </p:grpSpPr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DB84EF6C-DE13-6622-0CB3-BF50B3A45D97}"/>
                </a:ext>
              </a:extLst>
            </p:cNvPr>
            <p:cNvSpPr/>
            <p:nvPr/>
          </p:nvSpPr>
          <p:spPr>
            <a:xfrm>
              <a:off x="640080" y="1481328"/>
              <a:ext cx="8699709" cy="713227"/>
            </a:xfrm>
            <a:prstGeom prst="roundRect">
              <a:avLst>
                <a:gd name="adj" fmla="val 3429"/>
              </a:avLst>
            </a:prstGeom>
            <a:solidFill>
              <a:srgbClr val="FFFFFF"/>
            </a:solidFill>
            <a:ln w="12700">
              <a:solidFill>
                <a:srgbClr val="D9E2EF"/>
              </a:solidFill>
              <a:prstDash val="solid"/>
            </a:ln>
            <a:effectLst>
              <a:outerShdw blurRad="12700" dist="50800" dir="2700000" algn="bl" rotWithShape="0">
                <a:srgbClr val="AAB6C5">
                  <a:alpha val="16000"/>
                </a:srgbClr>
              </a:outerShdw>
            </a:effectLst>
          </p:spPr>
          <p:txBody>
            <a:bodyPr anchor="ctr"/>
            <a:lstStyle/>
            <a:p>
              <a:r>
                <a:rPr lang="zh-CN" altLang="en-US" sz="2000" dirty="0"/>
                <a:t>  上课过程中可能会有新的技术或方向出现，因此课程可能会有加餐或微调</a:t>
              </a:r>
            </a:p>
          </p:txBody>
        </p:sp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F46C378D-A7A5-FF55-0E0B-BC987D5A3006}"/>
                </a:ext>
              </a:extLst>
            </p:cNvPr>
            <p:cNvSpPr/>
            <p:nvPr/>
          </p:nvSpPr>
          <p:spPr>
            <a:xfrm>
              <a:off x="640080" y="1481328"/>
              <a:ext cx="73152" cy="720000"/>
            </a:xfrm>
            <a:prstGeom prst="rect">
              <a:avLst/>
            </a:prstGeom>
            <a:solidFill>
              <a:srgbClr val="246BFD"/>
            </a:solidFill>
            <a:ln w="12700">
              <a:solidFill>
                <a:srgbClr val="246BFD"/>
              </a:solidFill>
              <a:prstDash val="solid"/>
            </a:ln>
          </p:spPr>
        </p:sp>
      </p:grpSp>
      <p:sp>
        <p:nvSpPr>
          <p:cNvPr id="9" name="Text 7">
            <a:extLst>
              <a:ext uri="{FF2B5EF4-FFF2-40B4-BE49-F238E27FC236}">
                <a16:creationId xmlns:a16="http://schemas.microsoft.com/office/drawing/2014/main" id="{E47F189C-85FD-278F-DD91-D07CBB101840}"/>
              </a:ext>
            </a:extLst>
          </p:cNvPr>
          <p:cNvSpPr/>
          <p:nvPr/>
        </p:nvSpPr>
        <p:spPr>
          <a:xfrm>
            <a:off x="1371600" y="1719072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550" dirty="0"/>
          </a:p>
        </p:txBody>
      </p:sp>
      <p:sp>
        <p:nvSpPr>
          <p:cNvPr id="36" name="Slide Number Placeholder 0">
            <a:extLst>
              <a:ext uri="{FF2B5EF4-FFF2-40B4-BE49-F238E27FC236}">
                <a16:creationId xmlns:a16="http://schemas.microsoft.com/office/drawing/2014/main" id="{39A68318-05F9-F12C-72F8-39B93821E09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DA64B588-82D4-4329-0DF9-510D8056B26E}"/>
              </a:ext>
            </a:extLst>
          </p:cNvPr>
          <p:cNvGrpSpPr/>
          <p:nvPr/>
        </p:nvGrpSpPr>
        <p:grpSpPr>
          <a:xfrm>
            <a:off x="894079" y="2776391"/>
            <a:ext cx="8699709" cy="720000"/>
            <a:chOff x="640080" y="1481328"/>
            <a:chExt cx="8699709" cy="720000"/>
          </a:xfrm>
        </p:grpSpPr>
        <p:sp>
          <p:nvSpPr>
            <p:cNvPr id="8" name="Shape 3">
              <a:extLst>
                <a:ext uri="{FF2B5EF4-FFF2-40B4-BE49-F238E27FC236}">
                  <a16:creationId xmlns:a16="http://schemas.microsoft.com/office/drawing/2014/main" id="{C7AB106B-5805-C4B7-0E55-139F9BE68DF4}"/>
                </a:ext>
              </a:extLst>
            </p:cNvPr>
            <p:cNvSpPr/>
            <p:nvPr/>
          </p:nvSpPr>
          <p:spPr>
            <a:xfrm>
              <a:off x="640080" y="1481328"/>
              <a:ext cx="8699709" cy="713227"/>
            </a:xfrm>
            <a:prstGeom prst="roundRect">
              <a:avLst>
                <a:gd name="adj" fmla="val 3429"/>
              </a:avLst>
            </a:prstGeom>
            <a:solidFill>
              <a:srgbClr val="FFFFFF"/>
            </a:solidFill>
            <a:ln w="12700">
              <a:solidFill>
                <a:srgbClr val="D9E2EF"/>
              </a:solidFill>
              <a:prstDash val="solid"/>
            </a:ln>
            <a:effectLst>
              <a:outerShdw blurRad="12700" dist="50800" dir="2700000" algn="bl" rotWithShape="0">
                <a:srgbClr val="AAB6C5">
                  <a:alpha val="16000"/>
                </a:srgbClr>
              </a:outerShdw>
            </a:effectLst>
          </p:spPr>
          <p:txBody>
            <a:bodyPr anchor="ctr"/>
            <a:lstStyle/>
            <a:p>
              <a:r>
                <a:rPr lang="zh-CN" altLang="en-US" sz="2000" dirty="0"/>
                <a:t>  我自己也可能因为知识储备不够，而在课程里有错误或误区，欢迎指正</a:t>
              </a:r>
            </a:p>
          </p:txBody>
        </p:sp>
        <p:sp>
          <p:nvSpPr>
            <p:cNvPr id="10" name="Shape 4">
              <a:extLst>
                <a:ext uri="{FF2B5EF4-FFF2-40B4-BE49-F238E27FC236}">
                  <a16:creationId xmlns:a16="http://schemas.microsoft.com/office/drawing/2014/main" id="{A5A9D0F3-8235-F1EB-F022-43D3E2B39376}"/>
                </a:ext>
              </a:extLst>
            </p:cNvPr>
            <p:cNvSpPr/>
            <p:nvPr/>
          </p:nvSpPr>
          <p:spPr>
            <a:xfrm>
              <a:off x="640080" y="1481328"/>
              <a:ext cx="73152" cy="720000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prstDash val="solid"/>
            </a:ln>
          </p:spPr>
        </p:sp>
      </p:grpSp>
    </p:spTree>
    <p:extLst>
      <p:ext uri="{BB962C8B-B14F-4D97-AF65-F5344CB8AC3E}">
        <p14:creationId xmlns:p14="http://schemas.microsoft.com/office/powerpoint/2010/main" val="16740295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246BFD"/>
                </a:solidFill>
              </a:rPr>
              <a:t>学习机制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42B4A"/>
                </a:solidFill>
              </a:rPr>
              <a:t>学习不是听完，而是完成一个闭环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170432"/>
            <a:ext cx="1101852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1691640"/>
            <a:ext cx="868680" cy="868680"/>
          </a:xfrm>
          <a:prstGeom prst="ellipse">
            <a:avLst/>
          </a:prstGeom>
          <a:solidFill>
            <a:srgbClr val="246BF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03911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81635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2B4A"/>
                </a:solidFill>
              </a:rPr>
              <a:t>课前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02920" y="333756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085"/>
                </a:solidFill>
              </a:rPr>
              <a:t>带着真实问题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04872" y="1920240"/>
            <a:ext cx="347472" cy="384048"/>
          </a:xfrm>
          <a:prstGeom prst="chevron">
            <a:avLst/>
          </a:prstGeom>
          <a:solidFill>
            <a:srgbClr val="D9E2EF">
              <a:alpha val="88000"/>
            </a:srgbClr>
          </a:solidFill>
          <a:ln w="12700">
            <a:solidFill>
              <a:srgbClr val="D9E2E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10128" y="1691640"/>
            <a:ext cx="868680" cy="868680"/>
          </a:xfrm>
          <a:prstGeom prst="ellipse">
            <a:avLst/>
          </a:prstGeom>
          <a:solidFill>
            <a:srgbClr val="7655D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0128" y="203911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807208" y="281635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2B4A"/>
                </a:solidFill>
              </a:rPr>
              <a:t>课中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807208" y="333756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085"/>
                </a:solidFill>
              </a:rPr>
              <a:t>使用模板判断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1920240"/>
            <a:ext cx="347472" cy="384048"/>
          </a:xfrm>
          <a:prstGeom prst="chevron">
            <a:avLst/>
          </a:prstGeom>
          <a:solidFill>
            <a:srgbClr val="D9E2EF">
              <a:alpha val="88000"/>
            </a:srgbClr>
          </a:solidFill>
          <a:ln w="12700">
            <a:solidFill>
              <a:srgbClr val="D9E2E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14416" y="1691640"/>
            <a:ext cx="868680" cy="868680"/>
          </a:xfrm>
          <a:prstGeom prst="ellipse">
            <a:avLst/>
          </a:prstGeom>
          <a:solidFill>
            <a:srgbClr val="FF9F4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14416" y="203911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111496" y="281635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2B4A"/>
                </a:solidFill>
              </a:rPr>
              <a:t>课后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111496" y="333756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085"/>
                </a:solidFill>
              </a:rPr>
              <a:t>在自己的场景重做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013448" y="1920240"/>
            <a:ext cx="347472" cy="384048"/>
          </a:xfrm>
          <a:prstGeom prst="chevron">
            <a:avLst/>
          </a:prstGeom>
          <a:solidFill>
            <a:srgbClr val="D9E2EF">
              <a:alpha val="88000"/>
            </a:srgbClr>
          </a:solidFill>
          <a:ln w="12700">
            <a:solidFill>
              <a:srgbClr val="D9E2E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18704" y="1691640"/>
            <a:ext cx="868680" cy="868680"/>
          </a:xfrm>
          <a:prstGeom prst="ellipse">
            <a:avLst/>
          </a:prstGeom>
          <a:solidFill>
            <a:srgbClr val="27AE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18704" y="203911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415784" y="281635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2B4A"/>
                </a:solidFill>
              </a:rPr>
              <a:t>反馈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415784" y="333756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085"/>
                </a:solidFill>
              </a:rPr>
              <a:t>接受老师和同学质疑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317736" y="1920240"/>
            <a:ext cx="347472" cy="384048"/>
          </a:xfrm>
          <a:prstGeom prst="chevron">
            <a:avLst/>
          </a:prstGeom>
          <a:solidFill>
            <a:srgbClr val="D9E2EF">
              <a:alpha val="88000"/>
            </a:srgbClr>
          </a:solidFill>
          <a:ln w="12700">
            <a:solidFill>
              <a:srgbClr val="D9E2E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222992" y="1691640"/>
            <a:ext cx="868680" cy="868680"/>
          </a:xfrm>
          <a:prstGeom prst="ellipse">
            <a:avLst/>
          </a:prstGeom>
          <a:solidFill>
            <a:srgbClr val="36C5F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22992" y="203911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720072" y="281635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2B4A"/>
                </a:solidFill>
              </a:rPr>
              <a:t>修订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720072" y="333756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085"/>
                </a:solidFill>
              </a:rPr>
              <a:t>保留版本与修改原因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645920" y="484632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B4A"/>
                </a:solidFill>
              </a:rPr>
              <a:t>眼睛会了、脑子理解了，不等于手能够完成。</a:t>
            </a:r>
            <a:endParaRPr lang="en-US" sz="20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005840"/>
            <a:ext cx="4297680" cy="4297680"/>
          </a:xfrm>
          <a:prstGeom prst="ellipse">
            <a:avLst/>
          </a:prstGeom>
          <a:solidFill>
            <a:srgbClr val="246BFD">
              <a:alpha val="58000"/>
            </a:srgbClr>
          </a:solidFill>
          <a:ln w="12700">
            <a:solidFill>
              <a:srgbClr val="246BF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4297680"/>
            <a:ext cx="2926080" cy="2926080"/>
          </a:xfrm>
          <a:prstGeom prst="ellipse">
            <a:avLst/>
          </a:prstGeom>
          <a:solidFill>
            <a:srgbClr val="36C5F0">
              <a:alpha val="24000"/>
            </a:srgbClr>
          </a:solidFill>
          <a:ln w="12700">
            <a:solidFill>
              <a:srgbClr val="36C5F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7315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36C5F0"/>
                </a:solidFill>
              </a:rPr>
              <a:t>04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713232" y="1920240"/>
            <a:ext cx="8686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FFFFFF"/>
                </a:solidFill>
              </a:rPr>
              <a:t>AI时代基本背景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49808" y="61447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1A4BE"/>
                </a:solidFill>
              </a:rPr>
              <a:t>AI 产品经理系统课程 · 第 00 课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E8833-78B1-F090-8E74-FE565D247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11F4AA8-7245-A2F4-C6CF-FA2D40F2B94F}"/>
              </a:ext>
            </a:extLst>
          </p:cNvPr>
          <p:cNvSpPr/>
          <p:nvPr/>
        </p:nvSpPr>
        <p:spPr>
          <a:xfrm>
            <a:off x="566928" y="310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CN" altLang="en-US" sz="950" b="1" kern="0" spc="120" dirty="0">
                <a:solidFill>
                  <a:srgbClr val="246BFD"/>
                </a:solidFill>
              </a:rPr>
              <a:t>基本背景</a:t>
            </a:r>
            <a:endParaRPr lang="en-US" sz="9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F662C5B-54C8-D716-A6CE-5E68C01F9DDD}"/>
              </a:ext>
            </a:extLst>
          </p:cNvPr>
          <p:cNvSpPr/>
          <p:nvPr/>
        </p:nvSpPr>
        <p:spPr>
          <a:xfrm>
            <a:off x="566928" y="566928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142B4A"/>
                </a:solidFill>
              </a:rPr>
              <a:t>AI是第四次工业革命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BF7BAAA-F818-1D07-D7ED-FE3ED1E589B7}"/>
              </a:ext>
            </a:extLst>
          </p:cNvPr>
          <p:cNvSpPr/>
          <p:nvPr/>
        </p:nvSpPr>
        <p:spPr>
          <a:xfrm>
            <a:off x="566928" y="1170432"/>
            <a:ext cx="1101852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97C800FD-D287-75FA-D726-85D03FE348DB}"/>
              </a:ext>
            </a:extLst>
          </p:cNvPr>
          <p:cNvGrpSpPr/>
          <p:nvPr/>
        </p:nvGrpSpPr>
        <p:grpSpPr>
          <a:xfrm>
            <a:off x="894080" y="1651680"/>
            <a:ext cx="8699709" cy="720000"/>
            <a:chOff x="640080" y="1481328"/>
            <a:chExt cx="8699709" cy="720000"/>
          </a:xfrm>
        </p:grpSpPr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822D3717-4059-F073-3A85-58E3403A79A4}"/>
                </a:ext>
              </a:extLst>
            </p:cNvPr>
            <p:cNvSpPr/>
            <p:nvPr/>
          </p:nvSpPr>
          <p:spPr>
            <a:xfrm>
              <a:off x="640080" y="1481328"/>
              <a:ext cx="8699709" cy="713227"/>
            </a:xfrm>
            <a:prstGeom prst="roundRect">
              <a:avLst>
                <a:gd name="adj" fmla="val 3429"/>
              </a:avLst>
            </a:prstGeom>
            <a:solidFill>
              <a:srgbClr val="FFFFFF"/>
            </a:solidFill>
            <a:ln w="12700">
              <a:solidFill>
                <a:srgbClr val="D9E2EF"/>
              </a:solidFill>
              <a:prstDash val="solid"/>
            </a:ln>
            <a:effectLst>
              <a:outerShdw blurRad="12700" dist="50800" dir="2700000" algn="bl" rotWithShape="0">
                <a:srgbClr val="AAB6C5">
                  <a:alpha val="16000"/>
                </a:srgbClr>
              </a:outerShdw>
            </a:effectLst>
          </p:spPr>
          <p:txBody>
            <a:bodyPr anchor="ctr"/>
            <a:lstStyle/>
            <a:p>
              <a:r>
                <a:rPr lang="zh-CN" altLang="en-US" sz="2000" dirty="0"/>
                <a:t>  第一次工业革命（蒸汽机）：</a:t>
              </a:r>
              <a:r>
                <a:rPr lang="zh-CN" altLang="zh-CN" sz="2000" dirty="0"/>
                <a:t>机械化扩大人的体力</a:t>
              </a:r>
              <a:endParaRPr lang="zh-CN" altLang="en-US" sz="2000" dirty="0"/>
            </a:p>
          </p:txBody>
        </p:sp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1F1BAE1D-2C60-27FD-2BA5-3290FC02E44D}"/>
                </a:ext>
              </a:extLst>
            </p:cNvPr>
            <p:cNvSpPr/>
            <p:nvPr/>
          </p:nvSpPr>
          <p:spPr>
            <a:xfrm>
              <a:off x="640080" y="1481328"/>
              <a:ext cx="73152" cy="720000"/>
            </a:xfrm>
            <a:prstGeom prst="rect">
              <a:avLst/>
            </a:prstGeom>
            <a:solidFill>
              <a:srgbClr val="246BFD"/>
            </a:solidFill>
            <a:ln w="12700">
              <a:solidFill>
                <a:srgbClr val="246BFD"/>
              </a:solidFill>
              <a:prstDash val="solid"/>
            </a:ln>
          </p:spPr>
        </p:sp>
      </p:grpSp>
      <p:sp>
        <p:nvSpPr>
          <p:cNvPr id="9" name="Text 7">
            <a:extLst>
              <a:ext uri="{FF2B5EF4-FFF2-40B4-BE49-F238E27FC236}">
                <a16:creationId xmlns:a16="http://schemas.microsoft.com/office/drawing/2014/main" id="{712EACA3-8944-C9E3-5557-DBE7677E0A1B}"/>
              </a:ext>
            </a:extLst>
          </p:cNvPr>
          <p:cNvSpPr/>
          <p:nvPr/>
        </p:nvSpPr>
        <p:spPr>
          <a:xfrm>
            <a:off x="1371600" y="1719072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550" dirty="0"/>
          </a:p>
        </p:txBody>
      </p:sp>
      <p:sp>
        <p:nvSpPr>
          <p:cNvPr id="36" name="Slide Number Placeholder 0">
            <a:extLst>
              <a:ext uri="{FF2B5EF4-FFF2-40B4-BE49-F238E27FC236}">
                <a16:creationId xmlns:a16="http://schemas.microsoft.com/office/drawing/2014/main" id="{002AC03A-A264-1EB0-A364-AF813AC531A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A6EBBD88-8476-0E63-7F68-F64D3D87F51A}"/>
              </a:ext>
            </a:extLst>
          </p:cNvPr>
          <p:cNvGrpSpPr/>
          <p:nvPr/>
        </p:nvGrpSpPr>
        <p:grpSpPr>
          <a:xfrm>
            <a:off x="894079" y="2776391"/>
            <a:ext cx="8699709" cy="720000"/>
            <a:chOff x="640080" y="1481328"/>
            <a:chExt cx="8699709" cy="720000"/>
          </a:xfrm>
        </p:grpSpPr>
        <p:sp>
          <p:nvSpPr>
            <p:cNvPr id="8" name="Shape 3">
              <a:extLst>
                <a:ext uri="{FF2B5EF4-FFF2-40B4-BE49-F238E27FC236}">
                  <a16:creationId xmlns:a16="http://schemas.microsoft.com/office/drawing/2014/main" id="{FE21BB66-A89A-39A3-88A1-8FCC43F6F62B}"/>
                </a:ext>
              </a:extLst>
            </p:cNvPr>
            <p:cNvSpPr/>
            <p:nvPr/>
          </p:nvSpPr>
          <p:spPr>
            <a:xfrm>
              <a:off x="640080" y="1481328"/>
              <a:ext cx="8699709" cy="713227"/>
            </a:xfrm>
            <a:prstGeom prst="roundRect">
              <a:avLst>
                <a:gd name="adj" fmla="val 3429"/>
              </a:avLst>
            </a:prstGeom>
            <a:solidFill>
              <a:srgbClr val="FFFFFF"/>
            </a:solidFill>
            <a:ln w="12700">
              <a:solidFill>
                <a:srgbClr val="D9E2EF"/>
              </a:solidFill>
              <a:prstDash val="solid"/>
            </a:ln>
            <a:effectLst>
              <a:outerShdw blurRad="12700" dist="50800" dir="2700000" algn="bl" rotWithShape="0">
                <a:srgbClr val="AAB6C5">
                  <a:alpha val="16000"/>
                </a:srgbClr>
              </a:outerShdw>
            </a:effectLst>
          </p:spPr>
          <p:txBody>
            <a:bodyPr anchor="ctr"/>
            <a:lstStyle/>
            <a:p>
              <a:r>
                <a:rPr lang="zh-CN" altLang="en-US" sz="2000" dirty="0"/>
                <a:t>  第二次工业革命（电气化）：</a:t>
              </a:r>
              <a:r>
                <a:rPr lang="zh-CN" altLang="zh-CN" sz="2000" dirty="0"/>
                <a:t>电气化推动规模化生产和能源灵活分配</a:t>
              </a:r>
              <a:endParaRPr lang="zh-CN" altLang="en-US" sz="2000" dirty="0"/>
            </a:p>
          </p:txBody>
        </p:sp>
        <p:sp>
          <p:nvSpPr>
            <p:cNvPr id="10" name="Shape 4">
              <a:extLst>
                <a:ext uri="{FF2B5EF4-FFF2-40B4-BE49-F238E27FC236}">
                  <a16:creationId xmlns:a16="http://schemas.microsoft.com/office/drawing/2014/main" id="{4904FD93-01F6-B010-F324-EF273A757EDE}"/>
                </a:ext>
              </a:extLst>
            </p:cNvPr>
            <p:cNvSpPr/>
            <p:nvPr/>
          </p:nvSpPr>
          <p:spPr>
            <a:xfrm>
              <a:off x="640080" y="1481328"/>
              <a:ext cx="73152" cy="720000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prstDash val="solid"/>
            </a:ln>
          </p:spPr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45FA696A-1BD5-4BD7-737F-1A428B89C966}"/>
              </a:ext>
            </a:extLst>
          </p:cNvPr>
          <p:cNvGrpSpPr/>
          <p:nvPr/>
        </p:nvGrpSpPr>
        <p:grpSpPr>
          <a:xfrm>
            <a:off x="894078" y="3907875"/>
            <a:ext cx="8699709" cy="720000"/>
            <a:chOff x="640080" y="1481328"/>
            <a:chExt cx="8699709" cy="720000"/>
          </a:xfrm>
        </p:grpSpPr>
        <p:sp>
          <p:nvSpPr>
            <p:cNvPr id="12" name="Shape 3">
              <a:extLst>
                <a:ext uri="{FF2B5EF4-FFF2-40B4-BE49-F238E27FC236}">
                  <a16:creationId xmlns:a16="http://schemas.microsoft.com/office/drawing/2014/main" id="{12B29544-D5D0-6B96-662B-FAB34A741CE2}"/>
                </a:ext>
              </a:extLst>
            </p:cNvPr>
            <p:cNvSpPr/>
            <p:nvPr/>
          </p:nvSpPr>
          <p:spPr>
            <a:xfrm>
              <a:off x="640080" y="1481328"/>
              <a:ext cx="8699709" cy="713227"/>
            </a:xfrm>
            <a:prstGeom prst="roundRect">
              <a:avLst>
                <a:gd name="adj" fmla="val 3429"/>
              </a:avLst>
            </a:prstGeom>
            <a:solidFill>
              <a:srgbClr val="FFFFFF"/>
            </a:solidFill>
            <a:ln w="12700">
              <a:solidFill>
                <a:srgbClr val="D9E2EF"/>
              </a:solidFill>
              <a:prstDash val="solid"/>
            </a:ln>
            <a:effectLst>
              <a:outerShdw blurRad="12700" dist="50800" dir="2700000" algn="bl" rotWithShape="0">
                <a:srgbClr val="AAB6C5">
                  <a:alpha val="16000"/>
                </a:srgbClr>
              </a:outerShdw>
            </a:effectLst>
          </p:spPr>
          <p:txBody>
            <a:bodyPr anchor="ctr"/>
            <a:lstStyle/>
            <a:p>
              <a:r>
                <a:rPr lang="zh-CN" altLang="en-US" sz="2000" dirty="0"/>
                <a:t>  第三次工业革命（互联网）：</a:t>
              </a:r>
              <a:r>
                <a:rPr lang="zh-CN" altLang="zh-CN" sz="2000" dirty="0"/>
                <a:t>计算机与互联网扩大信息处理和连接能力</a:t>
              </a:r>
              <a:endParaRPr lang="zh-CN" altLang="en-US" sz="2000" dirty="0"/>
            </a:p>
          </p:txBody>
        </p:sp>
        <p:sp>
          <p:nvSpPr>
            <p:cNvPr id="13" name="Shape 4">
              <a:extLst>
                <a:ext uri="{FF2B5EF4-FFF2-40B4-BE49-F238E27FC236}">
                  <a16:creationId xmlns:a16="http://schemas.microsoft.com/office/drawing/2014/main" id="{934DC3C3-8C61-8285-20DB-5D3C9E91FF80}"/>
                </a:ext>
              </a:extLst>
            </p:cNvPr>
            <p:cNvSpPr/>
            <p:nvPr/>
          </p:nvSpPr>
          <p:spPr>
            <a:xfrm>
              <a:off x="640080" y="1481328"/>
              <a:ext cx="73152" cy="720000"/>
            </a:xfrm>
            <a:prstGeom prst="rect">
              <a:avLst/>
            </a:prstGeom>
            <a:solidFill>
              <a:srgbClr val="7030A0"/>
            </a:solidFill>
            <a:ln w="12700">
              <a:solidFill>
                <a:srgbClr val="7030A0"/>
              </a:solidFill>
              <a:prstDash val="solid"/>
            </a:ln>
          </p:spPr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1B120938-20EF-7C7A-D34B-82376A69D630}"/>
              </a:ext>
            </a:extLst>
          </p:cNvPr>
          <p:cNvGrpSpPr/>
          <p:nvPr/>
        </p:nvGrpSpPr>
        <p:grpSpPr>
          <a:xfrm>
            <a:off x="894077" y="5039359"/>
            <a:ext cx="8699709" cy="720000"/>
            <a:chOff x="640080" y="1481328"/>
            <a:chExt cx="8699709" cy="720000"/>
          </a:xfrm>
        </p:grpSpPr>
        <p:sp>
          <p:nvSpPr>
            <p:cNvPr id="15" name="Shape 3">
              <a:extLst>
                <a:ext uri="{FF2B5EF4-FFF2-40B4-BE49-F238E27FC236}">
                  <a16:creationId xmlns:a16="http://schemas.microsoft.com/office/drawing/2014/main" id="{74710703-3AC1-768F-7791-0759A8185B3F}"/>
                </a:ext>
              </a:extLst>
            </p:cNvPr>
            <p:cNvSpPr/>
            <p:nvPr/>
          </p:nvSpPr>
          <p:spPr>
            <a:xfrm>
              <a:off x="640080" y="1481328"/>
              <a:ext cx="8699709" cy="713227"/>
            </a:xfrm>
            <a:prstGeom prst="roundRect">
              <a:avLst>
                <a:gd name="adj" fmla="val 3429"/>
              </a:avLst>
            </a:prstGeom>
            <a:solidFill>
              <a:srgbClr val="FFFFFF"/>
            </a:solidFill>
            <a:ln w="12700">
              <a:solidFill>
                <a:srgbClr val="D9E2EF"/>
              </a:solidFill>
              <a:prstDash val="solid"/>
            </a:ln>
            <a:effectLst>
              <a:outerShdw blurRad="12700" dist="50800" dir="2700000" algn="bl" rotWithShape="0">
                <a:srgbClr val="AAB6C5">
                  <a:alpha val="16000"/>
                </a:srgbClr>
              </a:outerShdw>
            </a:effectLst>
          </p:spPr>
          <p:txBody>
            <a:bodyPr anchor="ctr"/>
            <a:lstStyle/>
            <a:p>
              <a:r>
                <a:rPr lang="zh-CN" altLang="en-US" sz="2000" dirty="0"/>
                <a:t>  第四次工业革命（</a:t>
              </a:r>
              <a:r>
                <a:rPr lang="en-US" altLang="zh-CN" sz="2000" dirty="0"/>
                <a:t>AI</a:t>
              </a:r>
              <a:r>
                <a:rPr lang="zh-CN" altLang="en-US" sz="2000" dirty="0"/>
                <a:t>）：</a:t>
              </a:r>
              <a:r>
                <a:rPr lang="zh-CN" altLang="zh-CN" sz="2000" dirty="0"/>
                <a:t>扩大认知、内容生成和复杂任务自动化能力</a:t>
              </a:r>
              <a:endParaRPr lang="zh-CN" altLang="en-US" sz="2000" dirty="0"/>
            </a:p>
          </p:txBody>
        </p:sp>
        <p:sp>
          <p:nvSpPr>
            <p:cNvPr id="16" name="Shape 4">
              <a:extLst>
                <a:ext uri="{FF2B5EF4-FFF2-40B4-BE49-F238E27FC236}">
                  <a16:creationId xmlns:a16="http://schemas.microsoft.com/office/drawing/2014/main" id="{6AB33DD0-C62B-1B9A-9491-D65451BFD110}"/>
                </a:ext>
              </a:extLst>
            </p:cNvPr>
            <p:cNvSpPr/>
            <p:nvPr/>
          </p:nvSpPr>
          <p:spPr>
            <a:xfrm>
              <a:off x="640080" y="1481328"/>
              <a:ext cx="73152" cy="720000"/>
            </a:xfrm>
            <a:prstGeom prst="rect">
              <a:avLst/>
            </a:prstGeom>
            <a:solidFill>
              <a:schemeClr val="accent6"/>
            </a:solidFill>
            <a:ln w="12700">
              <a:solidFill>
                <a:schemeClr val="accent6"/>
              </a:solidFill>
              <a:prstDash val="solid"/>
            </a:ln>
          </p:spPr>
        </p:sp>
      </p:grpSp>
    </p:spTree>
    <p:extLst>
      <p:ext uri="{BB962C8B-B14F-4D97-AF65-F5344CB8AC3E}">
        <p14:creationId xmlns:p14="http://schemas.microsoft.com/office/powerpoint/2010/main" val="668623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F20D5-9AC4-F803-92A0-8C8F116F8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32BCBB2-DA53-56A9-F120-139B70338FEF}"/>
              </a:ext>
            </a:extLst>
          </p:cNvPr>
          <p:cNvSpPr/>
          <p:nvPr/>
        </p:nvSpPr>
        <p:spPr>
          <a:xfrm>
            <a:off x="566928" y="310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950" b="1" kern="0" spc="110" dirty="0" err="1">
                <a:solidFill>
                  <a:srgbClr val="246BFD"/>
                </a:solidFill>
              </a:rPr>
              <a:t>什么是AI</a:t>
            </a:r>
            <a:endParaRPr lang="en-US" altLang="zh-CN" sz="9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2321C89-680A-55D3-3DDC-BA9CD49F1845}"/>
              </a:ext>
            </a:extLst>
          </p:cNvPr>
          <p:cNvSpPr/>
          <p:nvPr/>
        </p:nvSpPr>
        <p:spPr>
          <a:xfrm>
            <a:off x="566928" y="566928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142B4A"/>
                </a:solidFill>
              </a:rPr>
              <a:t>AI是什么</a:t>
            </a:r>
            <a:r>
              <a:rPr lang="zh-CN" altLang="en-US" sz="2400" b="1" dirty="0">
                <a:solidFill>
                  <a:srgbClr val="142B4A"/>
                </a:solidFill>
              </a:rPr>
              <a:t>？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64D9435-09D4-45E6-3F15-15C1D2C79F41}"/>
              </a:ext>
            </a:extLst>
          </p:cNvPr>
          <p:cNvSpPr/>
          <p:nvPr/>
        </p:nvSpPr>
        <p:spPr>
          <a:xfrm>
            <a:off x="566928" y="1170432"/>
            <a:ext cx="1101852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1331DD1-0026-6C0A-D388-1A306EB045A4}"/>
              </a:ext>
            </a:extLst>
          </p:cNvPr>
          <p:cNvSpPr/>
          <p:nvPr/>
        </p:nvSpPr>
        <p:spPr>
          <a:xfrm>
            <a:off x="1257762" y="1719072"/>
            <a:ext cx="9008456" cy="3138526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6000"/>
              </a:srgbClr>
            </a:outerShdw>
          </a:effectLst>
        </p:spPr>
        <p:txBody>
          <a:bodyPr anchor="ctr"/>
          <a:lstStyle/>
          <a:p>
            <a:r>
              <a:rPr lang="zh-CN" altLang="en-US" sz="2000" dirty="0"/>
              <a:t>定义：</a:t>
            </a:r>
            <a:r>
              <a:rPr lang="zh-CN" altLang="zh-CN" sz="2000" dirty="0"/>
              <a:t>让机器具备感知、理解、推理、决策和行动等能力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例如：</a:t>
            </a:r>
            <a:endParaRPr lang="en-US" altLang="zh-C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zh-CN" sz="2000" dirty="0"/>
              <a:t>推荐系统判断用户喜欢什么；</a:t>
            </a:r>
            <a:endParaRPr lang="en-US" altLang="zh-C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zh-CN" sz="2000" dirty="0"/>
              <a:t>地图预测到达时间；</a:t>
            </a:r>
            <a:endParaRPr lang="en-US" altLang="zh-C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zh-CN" sz="2000" dirty="0"/>
              <a:t>风控系统识别异常交易；</a:t>
            </a:r>
            <a:endParaRPr lang="en-US" altLang="zh-C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zh-CN" sz="2000" dirty="0"/>
              <a:t>ChatGPT回答问题；</a:t>
            </a:r>
            <a:endParaRPr lang="en-US" altLang="zh-C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zh-CN" sz="2000" dirty="0"/>
              <a:t>无人车识别道路和行人。</a:t>
            </a:r>
            <a:endParaRPr lang="zh-CN" altLang="en-US" sz="20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748D5FB-AE83-7480-B122-9490B15096B0}"/>
              </a:ext>
            </a:extLst>
          </p:cNvPr>
          <p:cNvSpPr/>
          <p:nvPr/>
        </p:nvSpPr>
        <p:spPr>
          <a:xfrm>
            <a:off x="1371600" y="1719072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550" dirty="0"/>
          </a:p>
        </p:txBody>
      </p:sp>
      <p:sp>
        <p:nvSpPr>
          <p:cNvPr id="36" name="Slide Number Placeholder 0">
            <a:extLst>
              <a:ext uri="{FF2B5EF4-FFF2-40B4-BE49-F238E27FC236}">
                <a16:creationId xmlns:a16="http://schemas.microsoft.com/office/drawing/2014/main" id="{8E1CFE19-A3D9-936F-08C6-124A74E224F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3125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0009B-6F7E-48EF-D886-14E67B478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BC7031B-EE75-1EFF-203F-012FF99AEA70}"/>
              </a:ext>
            </a:extLst>
          </p:cNvPr>
          <p:cNvSpPr/>
          <p:nvPr/>
        </p:nvSpPr>
        <p:spPr>
          <a:xfrm>
            <a:off x="566928" y="310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950" b="1" kern="0" spc="110" dirty="0" err="1">
                <a:solidFill>
                  <a:srgbClr val="246BFD"/>
                </a:solidFill>
              </a:rPr>
              <a:t>什么是AI</a:t>
            </a:r>
            <a:endParaRPr lang="en-US" altLang="zh-CN" sz="9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1B10550-2683-A1CD-E9FB-2E0B9E782B7F}"/>
              </a:ext>
            </a:extLst>
          </p:cNvPr>
          <p:cNvSpPr/>
          <p:nvPr/>
        </p:nvSpPr>
        <p:spPr>
          <a:xfrm>
            <a:off x="566928" y="566928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zh-CN" altLang="en-US" sz="2400" b="1" dirty="0">
                <a:solidFill>
                  <a:srgbClr val="142B4A"/>
                </a:solidFill>
              </a:rPr>
              <a:t>机器是怎么获得智能的？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A1E0129-6F74-D498-8C67-75801D06EEF7}"/>
              </a:ext>
            </a:extLst>
          </p:cNvPr>
          <p:cNvSpPr/>
          <p:nvPr/>
        </p:nvSpPr>
        <p:spPr>
          <a:xfrm>
            <a:off x="566928" y="1170432"/>
            <a:ext cx="1101852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CB0FCEA-A698-32A5-D214-3043A160E7F7}"/>
              </a:ext>
            </a:extLst>
          </p:cNvPr>
          <p:cNvSpPr/>
          <p:nvPr/>
        </p:nvSpPr>
        <p:spPr>
          <a:xfrm>
            <a:off x="469484" y="1865376"/>
            <a:ext cx="4218247" cy="2427733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6000"/>
              </a:srgbClr>
            </a:outerShdw>
          </a:effectLst>
        </p:spPr>
        <p:txBody>
          <a:bodyPr anchor="ctr"/>
          <a:lstStyle/>
          <a:p>
            <a:r>
              <a:rPr lang="zh-CN" altLang="zh-CN" sz="2000" b="1" dirty="0"/>
              <a:t>传统软件</a:t>
            </a:r>
            <a:r>
              <a:rPr lang="zh-CN" altLang="zh-CN" sz="2000" dirty="0"/>
              <a:t>：人写规则，机器执行规则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zh-CN" sz="2000" b="1" dirty="0"/>
              <a:t>机器学习</a:t>
            </a:r>
            <a:r>
              <a:rPr lang="zh-CN" altLang="zh-CN" sz="2000" dirty="0"/>
              <a:t>：人提供数据和目标，机器从数据中学习规律。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EC27288-74F5-19FB-02FB-A6638723AA48}"/>
              </a:ext>
            </a:extLst>
          </p:cNvPr>
          <p:cNvSpPr/>
          <p:nvPr/>
        </p:nvSpPr>
        <p:spPr>
          <a:xfrm>
            <a:off x="1371600" y="1719072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550" dirty="0"/>
          </a:p>
        </p:txBody>
      </p:sp>
      <p:sp>
        <p:nvSpPr>
          <p:cNvPr id="36" name="Slide Number Placeholder 0">
            <a:extLst>
              <a:ext uri="{FF2B5EF4-FFF2-40B4-BE49-F238E27FC236}">
                <a16:creationId xmlns:a16="http://schemas.microsoft.com/office/drawing/2014/main" id="{4BF3EFFD-8BD0-4B67-2920-8264CFBE45B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29</a:t>
            </a:fld>
            <a:endParaRPr 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140E1D1-031C-4DB4-7141-695A4488FC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0779" y="1445260"/>
            <a:ext cx="5206069" cy="4973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149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10" dirty="0">
                <a:solidFill>
                  <a:srgbClr val="246BFD"/>
                </a:solidFill>
              </a:rPr>
              <a:t>AI能力领域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142B4A"/>
                </a:solidFill>
              </a:rPr>
              <a:t>AI能做什么事情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170432"/>
            <a:ext cx="1101852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389888"/>
            <a:ext cx="3493008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" y="1389888"/>
            <a:ext cx="73152" cy="1572768"/>
          </a:xfrm>
          <a:prstGeom prst="rect">
            <a:avLst/>
          </a:prstGeom>
          <a:solidFill>
            <a:srgbClr val="246BFD"/>
          </a:solidFill>
          <a:ln w="12700">
            <a:solidFill>
              <a:srgbClr val="246BF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0392" y="1546998"/>
            <a:ext cx="393192" cy="393192"/>
          </a:xfrm>
          <a:prstGeom prst="ellipse">
            <a:avLst/>
          </a:prstGeom>
          <a:solidFill>
            <a:srgbClr val="246BFD"/>
          </a:solidFill>
          <a:ln w="12700">
            <a:solidFill>
              <a:srgbClr val="246B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691640"/>
            <a:ext cx="393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371600" y="1600200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42B4A"/>
                </a:solidFill>
              </a:rPr>
              <a:t>NLP 自然语言处理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7824" y="2139696"/>
            <a:ext cx="2980944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67085"/>
                </a:solidFill>
              </a:rPr>
              <a:t>分类、摘要、翻译、问答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4462272" y="1389888"/>
            <a:ext cx="3493008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62272" y="1389888"/>
            <a:ext cx="73152" cy="1572768"/>
          </a:xfrm>
          <a:prstGeom prst="rect">
            <a:avLst/>
          </a:prstGeom>
          <a:solidFill>
            <a:srgbClr val="7655D4"/>
          </a:solidFill>
          <a:ln w="12700">
            <a:solidFill>
              <a:srgbClr val="7655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90872" y="1546998"/>
            <a:ext cx="393192" cy="393192"/>
          </a:xfrm>
          <a:prstGeom prst="ellipse">
            <a:avLst/>
          </a:prstGeom>
          <a:solidFill>
            <a:srgbClr val="7655D4"/>
          </a:solidFill>
          <a:ln w="12700">
            <a:solidFill>
              <a:srgbClr val="7655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90872" y="1691640"/>
            <a:ext cx="393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212080" y="1600200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42B4A"/>
                </a:solidFill>
              </a:rPr>
              <a:t>CV 计算机视觉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718304" y="2139696"/>
            <a:ext cx="2980944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67085"/>
                </a:solidFill>
              </a:rPr>
              <a:t>图片识别、检测、审核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8302752" y="1389888"/>
            <a:ext cx="3493008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02752" y="1389888"/>
            <a:ext cx="73152" cy="1572768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31352" y="1546998"/>
            <a:ext cx="393192" cy="393192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31352" y="1691640"/>
            <a:ext cx="393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3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052560" y="1600200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42B4A"/>
                </a:solidFill>
              </a:rPr>
              <a:t>ASR 语音识别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558784" y="2139696"/>
            <a:ext cx="2980944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67085"/>
                </a:solidFill>
              </a:rPr>
              <a:t>将人的语音转成文字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621792" y="3401568"/>
            <a:ext cx="3493008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1792" y="3401568"/>
            <a:ext cx="73152" cy="1572768"/>
          </a:xfrm>
          <a:prstGeom prst="rect">
            <a:avLst/>
          </a:prstGeom>
          <a:solidFill>
            <a:srgbClr val="36C5F0"/>
          </a:solidFill>
          <a:ln w="12700">
            <a:solidFill>
              <a:srgbClr val="36C5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50392" y="3558678"/>
            <a:ext cx="393192" cy="393192"/>
          </a:xfrm>
          <a:prstGeom prst="ellipse">
            <a:avLst/>
          </a:prstGeom>
          <a:solidFill>
            <a:srgbClr val="36C5F0"/>
          </a:solidFill>
          <a:ln w="12700">
            <a:solidFill>
              <a:srgbClr val="36C5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0392" y="3703320"/>
            <a:ext cx="393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4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371600" y="3611880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42B4A"/>
                </a:solidFill>
              </a:rPr>
              <a:t>TTS 语音合成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77824" y="4151376"/>
            <a:ext cx="2980944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67085"/>
                </a:solidFill>
              </a:rPr>
              <a:t>将文字信息转成语音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4462272" y="3401568"/>
            <a:ext cx="3493008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462272" y="3401568"/>
            <a:ext cx="73152" cy="157276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90872" y="3558678"/>
            <a:ext cx="393192" cy="39319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90872" y="3703320"/>
            <a:ext cx="393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5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212080" y="3611880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42B4A"/>
                </a:solidFill>
              </a:rPr>
              <a:t>推荐与预测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718304" y="4151376"/>
            <a:ext cx="2980944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67085"/>
                </a:solidFill>
              </a:rPr>
              <a:t>推荐、评分、风险预测</a:t>
            </a:r>
            <a:endParaRPr lang="en-US" sz="112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10" dirty="0">
                <a:solidFill>
                  <a:srgbClr val="246BFD"/>
                </a:solidFill>
              </a:rPr>
              <a:t>AI时代背景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42B4A"/>
                </a:solidFill>
              </a:rPr>
              <a:t>AI已经发展70多年，为什么最近几年突然爆发？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170432"/>
            <a:ext cx="1101852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17320"/>
            <a:ext cx="3456432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17320"/>
            <a:ext cx="73152" cy="1481328"/>
          </a:xfrm>
          <a:prstGeom prst="rect">
            <a:avLst/>
          </a:prstGeom>
          <a:solidFill>
            <a:srgbClr val="246BFD"/>
          </a:solidFill>
          <a:ln w="12700">
            <a:solidFill>
              <a:srgbClr val="246BF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600200"/>
            <a:ext cx="393192" cy="393192"/>
          </a:xfrm>
          <a:prstGeom prst="ellipse">
            <a:avLst/>
          </a:prstGeom>
          <a:solidFill>
            <a:srgbClr val="246BFD"/>
          </a:solidFill>
          <a:ln w="12700">
            <a:solidFill>
              <a:srgbClr val="246B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719072"/>
            <a:ext cx="393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389888" y="1627632"/>
            <a:ext cx="2496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42B4A"/>
                </a:solidFill>
              </a:rPr>
              <a:t>1950s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96112" y="2167128"/>
            <a:ext cx="2944368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67085"/>
                </a:solidFill>
              </a:rPr>
              <a:t>人工智能概念诞生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4462272" y="1417320"/>
            <a:ext cx="3456432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62272" y="1417320"/>
            <a:ext cx="73152" cy="1481328"/>
          </a:xfrm>
          <a:prstGeom prst="rect">
            <a:avLst/>
          </a:prstGeom>
          <a:solidFill>
            <a:srgbClr val="7655D4"/>
          </a:solidFill>
          <a:ln w="12700">
            <a:solidFill>
              <a:srgbClr val="7655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90872" y="1600200"/>
            <a:ext cx="393192" cy="393192"/>
          </a:xfrm>
          <a:prstGeom prst="ellipse">
            <a:avLst/>
          </a:prstGeom>
          <a:solidFill>
            <a:srgbClr val="7655D4"/>
          </a:solidFill>
          <a:ln w="12700">
            <a:solidFill>
              <a:srgbClr val="7655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90872" y="1719072"/>
            <a:ext cx="393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212080" y="1627632"/>
            <a:ext cx="2496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42B4A"/>
                </a:solidFill>
              </a:rPr>
              <a:t>1990—2010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718304" y="2167128"/>
            <a:ext cx="2944368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67085"/>
                </a:solidFill>
              </a:rPr>
              <a:t>机器学习进入搜索、推荐和风控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8284464" y="1417320"/>
            <a:ext cx="3456432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84464" y="1417320"/>
            <a:ext cx="73152" cy="1481328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13064" y="1600200"/>
            <a:ext cx="393192" cy="393192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13064" y="1719072"/>
            <a:ext cx="393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3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034272" y="1627632"/>
            <a:ext cx="2496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42B4A"/>
                </a:solidFill>
              </a:rPr>
              <a:t>2012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540496" y="2167128"/>
            <a:ext cx="2944368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67085"/>
                </a:solidFill>
              </a:rPr>
              <a:t>深度学习推动图像与语音识别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640080" y="3337560"/>
            <a:ext cx="3456432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" y="3337560"/>
            <a:ext cx="73152" cy="1481328"/>
          </a:xfrm>
          <a:prstGeom prst="rect">
            <a:avLst/>
          </a:prstGeom>
          <a:solidFill>
            <a:srgbClr val="36C5F0"/>
          </a:solidFill>
          <a:ln w="12700">
            <a:solidFill>
              <a:srgbClr val="36C5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680" y="3520440"/>
            <a:ext cx="393192" cy="393192"/>
          </a:xfrm>
          <a:prstGeom prst="ellipse">
            <a:avLst/>
          </a:prstGeom>
          <a:solidFill>
            <a:srgbClr val="36C5F0"/>
          </a:solidFill>
          <a:ln w="12700">
            <a:solidFill>
              <a:srgbClr val="36C5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3639312"/>
            <a:ext cx="393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4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389888" y="3547872"/>
            <a:ext cx="2496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42B4A"/>
                </a:solidFill>
              </a:rPr>
              <a:t>2017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96112" y="4087368"/>
            <a:ext cx="2944368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67085"/>
                </a:solidFill>
              </a:rPr>
              <a:t>Transformer成为大模型重要基础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4462272" y="3337560"/>
            <a:ext cx="3456432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462272" y="3337560"/>
            <a:ext cx="73152" cy="148132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90872" y="3520440"/>
            <a:ext cx="393192" cy="39319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90872" y="3639312"/>
            <a:ext cx="393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5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212080" y="3547872"/>
            <a:ext cx="2496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42B4A"/>
                </a:solidFill>
              </a:rPr>
              <a:t>2022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718304" y="4087368"/>
            <a:ext cx="2944368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67085"/>
                </a:solidFill>
              </a:rPr>
              <a:t>生成式AI进入大众市场</a:t>
            </a:r>
            <a:endParaRPr lang="en-US" sz="1120" dirty="0"/>
          </a:p>
        </p:txBody>
      </p:sp>
      <p:sp>
        <p:nvSpPr>
          <p:cNvPr id="35" name="Shape 33"/>
          <p:cNvSpPr/>
          <p:nvPr/>
        </p:nvSpPr>
        <p:spPr>
          <a:xfrm>
            <a:off x="8284464" y="3337560"/>
            <a:ext cx="3456432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4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284464" y="3337560"/>
            <a:ext cx="73152" cy="1481328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513064" y="3520440"/>
            <a:ext cx="393192" cy="393192"/>
          </a:xfrm>
          <a:prstGeom prst="ellipse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13064" y="3639312"/>
            <a:ext cx="393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6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9034272" y="3547872"/>
            <a:ext cx="2496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42B4A"/>
                </a:solidFill>
              </a:rPr>
              <a:t>2024至今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8540496" y="4087368"/>
            <a:ext cx="2944368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67085"/>
                </a:solidFill>
              </a:rPr>
              <a:t>推理、工具调用与Agent</a:t>
            </a:r>
            <a:endParaRPr lang="en-US" sz="1120" dirty="0"/>
          </a:p>
        </p:txBody>
      </p:sp>
      <p:sp>
        <p:nvSpPr>
          <p:cNvPr id="41" name="Shape 39"/>
          <p:cNvSpPr/>
          <p:nvPr/>
        </p:nvSpPr>
        <p:spPr>
          <a:xfrm>
            <a:off x="914400" y="5376672"/>
            <a:ext cx="10332720" cy="566928"/>
          </a:xfrm>
          <a:prstGeom prst="roundRect">
            <a:avLst>
              <a:gd name="adj" fmla="val 8065"/>
            </a:avLst>
          </a:prstGeom>
          <a:solidFill>
            <a:srgbClr val="EEF3FA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43000" y="5559552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B4A"/>
                </a:solidFill>
              </a:rPr>
              <a:t>最近几年爆发的不是“AI这个概念”，而是普通人可以直接使用的生成式AI。</a:t>
            </a:r>
            <a:endParaRPr lang="en-US" sz="130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10" dirty="0">
                <a:solidFill>
                  <a:srgbClr val="246BFD"/>
                </a:solidFill>
              </a:rPr>
              <a:t>最近几年的加速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42B4A"/>
                </a:solidFill>
              </a:rPr>
              <a:t>AI正在从“生成内容”走向“执行任务”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170432"/>
            <a:ext cx="1101852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371600"/>
            <a:ext cx="3493008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" y="1371600"/>
            <a:ext cx="73152" cy="1572768"/>
          </a:xfrm>
          <a:prstGeom prst="rect">
            <a:avLst/>
          </a:prstGeom>
          <a:solidFill>
            <a:srgbClr val="246BFD"/>
          </a:solidFill>
          <a:ln w="12700">
            <a:solidFill>
              <a:srgbClr val="246BF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0392" y="1591056"/>
            <a:ext cx="393192" cy="393192"/>
          </a:xfrm>
          <a:prstGeom prst="ellipse">
            <a:avLst/>
          </a:prstGeom>
          <a:solidFill>
            <a:srgbClr val="246BFD"/>
          </a:solidFill>
          <a:ln w="12700">
            <a:solidFill>
              <a:srgbClr val="246B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673352"/>
            <a:ext cx="393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371600" y="1581912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42B4A"/>
                </a:solidFill>
              </a:rPr>
              <a:t>2017｜Transformer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7824" y="2121408"/>
            <a:ext cx="2980944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67085"/>
                </a:solidFill>
              </a:rPr>
              <a:t>大规模训练与语言处理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4462272" y="1371600"/>
            <a:ext cx="3493008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62272" y="1371600"/>
            <a:ext cx="73152" cy="1572768"/>
          </a:xfrm>
          <a:prstGeom prst="rect">
            <a:avLst/>
          </a:prstGeom>
          <a:solidFill>
            <a:srgbClr val="7655D4"/>
          </a:solidFill>
          <a:ln w="12700">
            <a:solidFill>
              <a:srgbClr val="7655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90872" y="1591056"/>
            <a:ext cx="393192" cy="393192"/>
          </a:xfrm>
          <a:prstGeom prst="ellipse">
            <a:avLst/>
          </a:prstGeom>
          <a:solidFill>
            <a:srgbClr val="7655D4"/>
          </a:solidFill>
          <a:ln w="12700">
            <a:solidFill>
              <a:srgbClr val="7655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90872" y="1673352"/>
            <a:ext cx="393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212080" y="1581912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42B4A"/>
                </a:solidFill>
              </a:rPr>
              <a:t>2018—21｜预训练模型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718304" y="2121408"/>
            <a:ext cx="2980944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67085"/>
                </a:solidFill>
              </a:rPr>
              <a:t>一个基础模型适应多个任务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8302752" y="1371600"/>
            <a:ext cx="3493008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02752" y="1371600"/>
            <a:ext cx="73152" cy="1572768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31352" y="1591056"/>
            <a:ext cx="393192" cy="393192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31352" y="1673352"/>
            <a:ext cx="393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3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052560" y="1581912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42B4A"/>
                </a:solidFill>
              </a:rPr>
              <a:t>2022｜生成式AI普及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558784" y="2121408"/>
            <a:ext cx="2980944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67085"/>
                </a:solidFill>
              </a:rPr>
              <a:t>普通用户用自然语言使用AI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621792" y="3364992"/>
            <a:ext cx="3493008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1792" y="3364992"/>
            <a:ext cx="73152" cy="1572768"/>
          </a:xfrm>
          <a:prstGeom prst="rect">
            <a:avLst/>
          </a:prstGeom>
          <a:solidFill>
            <a:srgbClr val="36C5F0"/>
          </a:solidFill>
          <a:ln w="12700">
            <a:solidFill>
              <a:srgbClr val="36C5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50392" y="3584448"/>
            <a:ext cx="393192" cy="393192"/>
          </a:xfrm>
          <a:prstGeom prst="ellipse">
            <a:avLst/>
          </a:prstGeom>
          <a:solidFill>
            <a:srgbClr val="36C5F0"/>
          </a:solidFill>
          <a:ln w="12700">
            <a:solidFill>
              <a:srgbClr val="36C5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0392" y="3666744"/>
            <a:ext cx="393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4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371600" y="3575304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42B4A"/>
                </a:solidFill>
              </a:rPr>
              <a:t>2023｜大模型与多模态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77824" y="4114800"/>
            <a:ext cx="2980944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67085"/>
                </a:solidFill>
              </a:rPr>
              <a:t>同时处理文字、图片等信息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4462272" y="3364992"/>
            <a:ext cx="3493008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462272" y="3364992"/>
            <a:ext cx="73152" cy="157276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90872" y="3584448"/>
            <a:ext cx="393192" cy="39319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90872" y="3666744"/>
            <a:ext cx="393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5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212080" y="3575304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42B4A"/>
                </a:solidFill>
              </a:rPr>
              <a:t>2024｜长上下文与工具调用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718304" y="4114800"/>
            <a:ext cx="2980944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67085"/>
                </a:solidFill>
              </a:rPr>
              <a:t>读取更多资料并连接外部工具</a:t>
            </a:r>
            <a:endParaRPr lang="en-US" sz="1120" dirty="0"/>
          </a:p>
        </p:txBody>
      </p:sp>
      <p:sp>
        <p:nvSpPr>
          <p:cNvPr id="35" name="Shape 33"/>
          <p:cNvSpPr/>
          <p:nvPr/>
        </p:nvSpPr>
        <p:spPr>
          <a:xfrm>
            <a:off x="8302752" y="3364992"/>
            <a:ext cx="3493008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4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302752" y="3364992"/>
            <a:ext cx="73152" cy="1572768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531352" y="3584448"/>
            <a:ext cx="393192" cy="393192"/>
          </a:xfrm>
          <a:prstGeom prst="ellipse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31352" y="3666744"/>
            <a:ext cx="393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6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9052560" y="3575304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42B4A"/>
                </a:solidFill>
              </a:rPr>
              <a:t>2025至今｜推理与Agent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8558784" y="4114800"/>
            <a:ext cx="2980944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67085"/>
                </a:solidFill>
              </a:rPr>
              <a:t>围绕目标连续完成多个步骤</a:t>
            </a:r>
            <a:endParaRPr lang="en-US" sz="1120" dirty="0"/>
          </a:p>
        </p:txBody>
      </p:sp>
      <p:sp>
        <p:nvSpPr>
          <p:cNvPr id="41" name="Shape 39"/>
          <p:cNvSpPr/>
          <p:nvPr/>
        </p:nvSpPr>
        <p:spPr>
          <a:xfrm>
            <a:off x="914400" y="5376672"/>
            <a:ext cx="10332720" cy="566928"/>
          </a:xfrm>
          <a:prstGeom prst="roundRect">
            <a:avLst>
              <a:gd name="adj" fmla="val 8065"/>
            </a:avLst>
          </a:prstGeom>
          <a:solidFill>
            <a:srgbClr val="EEF3FA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43000" y="5559552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B4A"/>
                </a:solidFill>
              </a:rPr>
              <a:t>识别信息  →  生成内容  →  分析问题  →  调用工具  →  执行任务</a:t>
            </a:r>
            <a:endParaRPr lang="en-US" sz="130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B4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D70E81-3E8D-1220-0DFD-2F34A03C3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E590096-3BC1-707A-DD15-7B73A516AC30}"/>
              </a:ext>
            </a:extLst>
          </p:cNvPr>
          <p:cNvSpPr/>
          <p:nvPr/>
        </p:nvSpPr>
        <p:spPr>
          <a:xfrm>
            <a:off x="8961120" y="-1005840"/>
            <a:ext cx="4297680" cy="4297680"/>
          </a:xfrm>
          <a:prstGeom prst="ellipse">
            <a:avLst/>
          </a:prstGeom>
          <a:solidFill>
            <a:srgbClr val="246BFD">
              <a:alpha val="58000"/>
            </a:srgbClr>
          </a:solidFill>
          <a:ln w="12700">
            <a:solidFill>
              <a:srgbClr val="246BFD">
                <a:alpha val="0"/>
              </a:srgbClr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05828DF-3AB5-FC8F-F3BD-AC6DF219816C}"/>
              </a:ext>
            </a:extLst>
          </p:cNvPr>
          <p:cNvSpPr/>
          <p:nvPr/>
        </p:nvSpPr>
        <p:spPr>
          <a:xfrm>
            <a:off x="9875520" y="4297680"/>
            <a:ext cx="2926080" cy="2926080"/>
          </a:xfrm>
          <a:prstGeom prst="ellipse">
            <a:avLst/>
          </a:prstGeom>
          <a:solidFill>
            <a:srgbClr val="36C5F0">
              <a:alpha val="24000"/>
            </a:srgbClr>
          </a:solidFill>
          <a:ln w="12700">
            <a:solidFill>
              <a:srgbClr val="36C5F0">
                <a:alpha val="0"/>
              </a:srgbClr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515412B-CCD6-37B4-A14A-61BE2C2A3270}"/>
              </a:ext>
            </a:extLst>
          </p:cNvPr>
          <p:cNvSpPr/>
          <p:nvPr/>
        </p:nvSpPr>
        <p:spPr>
          <a:xfrm>
            <a:off x="685800" y="7315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36C5F0"/>
                </a:solidFill>
              </a:rPr>
              <a:t>0</a:t>
            </a:r>
            <a:r>
              <a:rPr lang="en-US" altLang="zh-CN" sz="5000" b="1" dirty="0">
                <a:solidFill>
                  <a:srgbClr val="36C5F0"/>
                </a:solidFill>
              </a:rPr>
              <a:t>5</a:t>
            </a:r>
            <a:endParaRPr lang="en-US" sz="5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C787E1D-3716-5AA6-995A-50998D6E4692}"/>
              </a:ext>
            </a:extLst>
          </p:cNvPr>
          <p:cNvSpPr/>
          <p:nvPr/>
        </p:nvSpPr>
        <p:spPr>
          <a:xfrm>
            <a:off x="713232" y="1920240"/>
            <a:ext cx="8686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FFFFFF"/>
                </a:solidFill>
              </a:rPr>
              <a:t>课堂案例</a:t>
            </a:r>
            <a:endParaRPr lang="en-US" sz="3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B86D3F8-756C-DD5B-3ACB-B3A21DC55371}"/>
              </a:ext>
            </a:extLst>
          </p:cNvPr>
          <p:cNvSpPr/>
          <p:nvPr/>
        </p:nvSpPr>
        <p:spPr>
          <a:xfrm>
            <a:off x="749808" y="61447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1A4BE"/>
                </a:solidFill>
              </a:rPr>
              <a:t>AI 产品经理系统课程 · 第 00 课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315751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B169B-5753-BE33-31CB-9C62B4A03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73DF502-57A2-ACB0-BD5D-67C89011008C}"/>
              </a:ext>
            </a:extLst>
          </p:cNvPr>
          <p:cNvSpPr/>
          <p:nvPr/>
        </p:nvSpPr>
        <p:spPr>
          <a:xfrm>
            <a:off x="566928" y="31089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10" dirty="0" err="1">
                <a:solidFill>
                  <a:srgbClr val="246BFD"/>
                </a:solidFill>
              </a:rPr>
              <a:t>课堂案例</a:t>
            </a:r>
            <a:endParaRPr lang="en-US" sz="9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C994276-1BDF-4B81-B4BD-19FFAF55FC4F}"/>
              </a:ext>
            </a:extLst>
          </p:cNvPr>
          <p:cNvSpPr/>
          <p:nvPr/>
        </p:nvSpPr>
        <p:spPr>
          <a:xfrm>
            <a:off x="566928" y="56692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zh-CN" altLang="zh-CN" sz="2400" b="1" dirty="0"/>
              <a:t>如何利用AI提升本地生活销售的客户经营效率？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8077F45-D967-59FA-932A-153BF23CEC74}"/>
              </a:ext>
            </a:extLst>
          </p:cNvPr>
          <p:cNvSpPr/>
          <p:nvPr/>
        </p:nvSpPr>
        <p:spPr>
          <a:xfrm>
            <a:off x="566928" y="1170432"/>
            <a:ext cx="1101852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C9BFB97-3AEA-9EE4-B178-F58AD6A1F81F}"/>
              </a:ext>
            </a:extLst>
          </p:cNvPr>
          <p:cNvSpPr/>
          <p:nvPr/>
        </p:nvSpPr>
        <p:spPr>
          <a:xfrm>
            <a:off x="713232" y="1389887"/>
            <a:ext cx="3401568" cy="4522535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4000"/>
              </a:srgbClr>
            </a:outerShdw>
          </a:effectLst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911B167-4639-0C43-E64C-641208D391C8}"/>
              </a:ext>
            </a:extLst>
          </p:cNvPr>
          <p:cNvSpPr/>
          <p:nvPr/>
        </p:nvSpPr>
        <p:spPr>
          <a:xfrm>
            <a:off x="713232" y="1389888"/>
            <a:ext cx="72000" cy="4522534"/>
          </a:xfrm>
          <a:prstGeom prst="rect">
            <a:avLst/>
          </a:prstGeom>
          <a:solidFill>
            <a:srgbClr val="246BFD"/>
          </a:solidFill>
          <a:ln w="12700">
            <a:solidFill>
              <a:srgbClr val="246BFD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BB307D2-D5CE-8D09-B889-8E48FD8A9AA6}"/>
              </a:ext>
            </a:extLst>
          </p:cNvPr>
          <p:cNvSpPr/>
          <p:nvPr/>
        </p:nvSpPr>
        <p:spPr>
          <a:xfrm>
            <a:off x="941832" y="1568196"/>
            <a:ext cx="393192" cy="393192"/>
          </a:xfrm>
          <a:prstGeom prst="ellipse">
            <a:avLst/>
          </a:prstGeom>
          <a:solidFill>
            <a:srgbClr val="246BFD"/>
          </a:solidFill>
          <a:ln w="12700">
            <a:solidFill>
              <a:srgbClr val="246BFD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67BFE12-FB8F-B507-6EC1-9DB4C9F8D319}"/>
              </a:ext>
            </a:extLst>
          </p:cNvPr>
          <p:cNvSpPr/>
          <p:nvPr/>
        </p:nvSpPr>
        <p:spPr>
          <a:xfrm>
            <a:off x="941832" y="1691640"/>
            <a:ext cx="393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1</a:t>
            </a:r>
            <a:endParaRPr lang="en-US" sz="9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5C2EB1D-470F-E836-D446-A63511FC63F0}"/>
              </a:ext>
            </a:extLst>
          </p:cNvPr>
          <p:cNvSpPr/>
          <p:nvPr/>
        </p:nvSpPr>
        <p:spPr>
          <a:xfrm>
            <a:off x="1463040" y="1600200"/>
            <a:ext cx="2441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zh-CN" altLang="zh-CN" sz="1600" b="1" dirty="0"/>
              <a:t>业务背景</a:t>
            </a:r>
            <a:endParaRPr lang="en-US" sz="1500" b="1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433EEE1-18F0-CB9E-B414-4513C91FC7A6}"/>
              </a:ext>
            </a:extLst>
          </p:cNvPr>
          <p:cNvSpPr/>
          <p:nvPr/>
        </p:nvSpPr>
        <p:spPr>
          <a:xfrm>
            <a:off x="969264" y="2139696"/>
            <a:ext cx="2889504" cy="2660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r>
              <a:rPr lang="zh-CN" altLang="zh-CN" sz="1400" dirty="0">
                <a:solidFill>
                  <a:srgbClr val="667085"/>
                </a:solidFill>
              </a:rPr>
              <a:t>某本地生活平台主要服务餐饮、休闲娱乐等本地商家。</a:t>
            </a:r>
            <a:endParaRPr lang="en-US" altLang="zh-CN" sz="1400" dirty="0">
              <a:solidFill>
                <a:srgbClr val="667085"/>
              </a:solidFill>
            </a:endParaRPr>
          </a:p>
          <a:p>
            <a:endParaRPr lang="zh-CN" altLang="zh-CN" sz="1400" dirty="0">
              <a:solidFill>
                <a:srgbClr val="667085"/>
              </a:solidFill>
            </a:endParaRPr>
          </a:p>
          <a:p>
            <a:r>
              <a:rPr lang="zh-CN" altLang="zh-CN" sz="1400" dirty="0">
                <a:solidFill>
                  <a:srgbClr val="667085"/>
                </a:solidFill>
              </a:rPr>
              <a:t>销售团队负责拓展和经营商家客户，主要工作包括：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zh-CN" sz="1400" dirty="0">
                <a:solidFill>
                  <a:srgbClr val="667085"/>
                </a:solidFill>
              </a:rPr>
              <a:t>寻找潜在客户；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zh-CN" sz="1400" dirty="0">
                <a:solidFill>
                  <a:srgbClr val="667085"/>
                </a:solidFill>
              </a:rPr>
              <a:t>了解商家的经营情况；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zh-CN" sz="1400" dirty="0">
                <a:solidFill>
                  <a:srgbClr val="667085"/>
                </a:solidFill>
              </a:rPr>
              <a:t>判断客户的核心需求；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zh-CN" sz="1400" dirty="0">
                <a:solidFill>
                  <a:srgbClr val="667085"/>
                </a:solidFill>
              </a:rPr>
              <a:t>向客户介绍平台产品和营销方案；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zh-CN" sz="1400" dirty="0">
                <a:solidFill>
                  <a:srgbClr val="667085"/>
                </a:solidFill>
              </a:rPr>
              <a:t>处理客户对价格、效果和操作成本的疑问；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zh-CN" sz="1400" dirty="0">
                <a:solidFill>
                  <a:srgbClr val="667085"/>
                </a:solidFill>
              </a:rPr>
              <a:t>推动客户试用、签约和持续合作；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zh-CN" sz="1400" dirty="0">
                <a:solidFill>
                  <a:srgbClr val="667085"/>
                </a:solidFill>
              </a:rPr>
              <a:t>维护已经合作的客户。</a:t>
            </a: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2EEB3D8-843C-F60C-0F69-932207A14C47}"/>
              </a:ext>
            </a:extLst>
          </p:cNvPr>
          <p:cNvSpPr/>
          <p:nvPr/>
        </p:nvSpPr>
        <p:spPr>
          <a:xfrm>
            <a:off x="4389120" y="1389887"/>
            <a:ext cx="3401568" cy="4522499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4000"/>
              </a:srgbClr>
            </a:outerShdw>
          </a:effectLst>
        </p:spPr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0C72D688-C727-5493-B18C-5827EDC05E33}"/>
              </a:ext>
            </a:extLst>
          </p:cNvPr>
          <p:cNvSpPr/>
          <p:nvPr/>
        </p:nvSpPr>
        <p:spPr>
          <a:xfrm>
            <a:off x="4389120" y="1389887"/>
            <a:ext cx="73152" cy="4522499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6C4BFA93-ECFB-5565-2A91-F621869B5583}"/>
              </a:ext>
            </a:extLst>
          </p:cNvPr>
          <p:cNvSpPr/>
          <p:nvPr/>
        </p:nvSpPr>
        <p:spPr>
          <a:xfrm>
            <a:off x="4617720" y="1568196"/>
            <a:ext cx="393192" cy="393192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5E221ED-5CE4-4148-B8BC-43CB802508BA}"/>
              </a:ext>
            </a:extLst>
          </p:cNvPr>
          <p:cNvSpPr/>
          <p:nvPr/>
        </p:nvSpPr>
        <p:spPr>
          <a:xfrm>
            <a:off x="4617720" y="1691640"/>
            <a:ext cx="393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2</a:t>
            </a:r>
            <a:endParaRPr lang="en-US" sz="95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60F9A5F-74BE-3977-1A94-CC915F03F000}"/>
              </a:ext>
            </a:extLst>
          </p:cNvPr>
          <p:cNvSpPr/>
          <p:nvPr/>
        </p:nvSpPr>
        <p:spPr>
          <a:xfrm>
            <a:off x="5138928" y="1600200"/>
            <a:ext cx="2441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zh-CN" altLang="zh-CN" sz="1600" b="1" dirty="0"/>
              <a:t>销售的一天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E46142A1-45A1-79AD-2882-745DC87BD147}"/>
              </a:ext>
            </a:extLst>
          </p:cNvPr>
          <p:cNvSpPr/>
          <p:nvPr/>
        </p:nvSpPr>
        <p:spPr>
          <a:xfrm>
            <a:off x="4645152" y="2139696"/>
            <a:ext cx="2889504" cy="3419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zh-CN" altLang="zh-CN" sz="1200" dirty="0">
                <a:solidFill>
                  <a:srgbClr val="667085"/>
                </a:solidFill>
              </a:rPr>
              <a:t>一名销售通常需要同时跟进30—50个商家客户。</a:t>
            </a:r>
          </a:p>
          <a:p>
            <a:r>
              <a:rPr lang="zh-CN" altLang="zh-CN" sz="1200" dirty="0">
                <a:solidFill>
                  <a:srgbClr val="667085"/>
                </a:solidFill>
              </a:rPr>
              <a:t>一天的工作可能包括：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zh-CN" sz="1200" dirty="0">
                <a:solidFill>
                  <a:srgbClr val="667085"/>
                </a:solidFill>
              </a:rPr>
              <a:t>查看客户资料和历史沟通情况；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zh-CN" sz="1200" dirty="0">
                <a:solidFill>
                  <a:srgbClr val="667085"/>
                </a:solidFill>
              </a:rPr>
              <a:t>决定今天优先跟进哪些客户；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zh-CN" sz="1200" dirty="0">
                <a:solidFill>
                  <a:srgbClr val="667085"/>
                </a:solidFill>
              </a:rPr>
              <a:t>准备针对不同客户的沟通方案；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zh-CN" sz="1200" dirty="0">
                <a:solidFill>
                  <a:srgbClr val="667085"/>
                </a:solidFill>
              </a:rPr>
              <a:t>线下拜访或电话联系3—5家客户；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zh-CN" sz="1200" dirty="0">
                <a:solidFill>
                  <a:srgbClr val="667085"/>
                </a:solidFill>
              </a:rPr>
              <a:t>回答客户提出的产品和运营问题；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zh-CN" sz="1200" dirty="0">
                <a:solidFill>
                  <a:srgbClr val="667085"/>
                </a:solidFill>
              </a:rPr>
              <a:t>协调产品、运营和售后同学解决问题；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zh-CN" sz="1200" dirty="0">
                <a:solidFill>
                  <a:srgbClr val="667085"/>
                </a:solidFill>
              </a:rPr>
              <a:t>推动客户完成下一步合作动作；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zh-CN" sz="1200" dirty="0">
                <a:solidFill>
                  <a:srgbClr val="667085"/>
                </a:solidFill>
              </a:rPr>
              <a:t>向主管同步客户进展。</a:t>
            </a:r>
            <a:endParaRPr lang="en-US" altLang="zh-CN" sz="1200" dirty="0">
              <a:solidFill>
                <a:srgbClr val="667085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zh-CN" altLang="zh-CN" sz="1200" dirty="0">
              <a:solidFill>
                <a:srgbClr val="667085"/>
              </a:solidFill>
            </a:endParaRPr>
          </a:p>
          <a:p>
            <a:r>
              <a:rPr lang="zh-CN" altLang="zh-CN" sz="1200" dirty="0">
                <a:solidFill>
                  <a:srgbClr val="667085"/>
                </a:solidFill>
              </a:rPr>
              <a:t>不同客户所处阶段并不相同：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zh-CN" sz="1200" dirty="0">
                <a:solidFill>
                  <a:srgbClr val="667085"/>
                </a:solidFill>
              </a:rPr>
              <a:t>有些客户还不了解平台；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zh-CN" sz="1200" dirty="0">
                <a:solidFill>
                  <a:srgbClr val="667085"/>
                </a:solidFill>
              </a:rPr>
              <a:t>有些客户正在比较不同方案；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zh-CN" sz="1200" dirty="0">
                <a:solidFill>
                  <a:srgbClr val="667085"/>
                </a:solidFill>
              </a:rPr>
              <a:t>有些客户有意向，但迟迟没有采取行动；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zh-CN" sz="1200" dirty="0">
                <a:solidFill>
                  <a:srgbClr val="667085"/>
                </a:solidFill>
              </a:rPr>
              <a:t>有些客户已经合作，但使用效果不理想；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zh-CN" sz="1200" dirty="0">
                <a:solidFill>
                  <a:srgbClr val="667085"/>
                </a:solidFill>
              </a:rPr>
              <a:t>有些客户可能即将停止合作。</a:t>
            </a: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17036353-CA0F-4077-8526-C2F4099107B1}"/>
              </a:ext>
            </a:extLst>
          </p:cNvPr>
          <p:cNvSpPr/>
          <p:nvPr/>
        </p:nvSpPr>
        <p:spPr>
          <a:xfrm>
            <a:off x="8065008" y="1389887"/>
            <a:ext cx="3401568" cy="4522509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4000"/>
              </a:srgbClr>
            </a:outerShdw>
          </a:effectLst>
        </p:spPr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93FEBC25-139C-9F53-8A29-BC62AE1EFB6D}"/>
              </a:ext>
            </a:extLst>
          </p:cNvPr>
          <p:cNvSpPr/>
          <p:nvPr/>
        </p:nvSpPr>
        <p:spPr>
          <a:xfrm>
            <a:off x="8065008" y="1389887"/>
            <a:ext cx="73152" cy="4522509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E80F898D-A925-A731-B6F7-8756C3452DE4}"/>
              </a:ext>
            </a:extLst>
          </p:cNvPr>
          <p:cNvSpPr/>
          <p:nvPr/>
        </p:nvSpPr>
        <p:spPr>
          <a:xfrm>
            <a:off x="8293608" y="1568196"/>
            <a:ext cx="393192" cy="39319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2EB7BD1B-F470-9044-BBCD-CEF2E42D9777}"/>
              </a:ext>
            </a:extLst>
          </p:cNvPr>
          <p:cNvSpPr/>
          <p:nvPr/>
        </p:nvSpPr>
        <p:spPr>
          <a:xfrm>
            <a:off x="8293608" y="1691640"/>
            <a:ext cx="393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3</a:t>
            </a:r>
            <a:endParaRPr lang="en-US" sz="95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B2E9BF18-B745-E3E7-415F-164709CB6793}"/>
              </a:ext>
            </a:extLst>
          </p:cNvPr>
          <p:cNvSpPr/>
          <p:nvPr/>
        </p:nvSpPr>
        <p:spPr>
          <a:xfrm>
            <a:off x="8814816" y="1600200"/>
            <a:ext cx="2441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zh-CN" altLang="zh-CN" sz="1600" b="1" dirty="0"/>
              <a:t>当前存在的现象</a:t>
            </a:r>
            <a:endParaRPr lang="en-US" sz="1500" b="1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238E2F40-57FA-4681-51FB-D8D8206C10CE}"/>
              </a:ext>
            </a:extLst>
          </p:cNvPr>
          <p:cNvSpPr/>
          <p:nvPr/>
        </p:nvSpPr>
        <p:spPr>
          <a:xfrm>
            <a:off x="8321040" y="2139696"/>
            <a:ext cx="2889504" cy="3200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zh-CN" sz="1400" dirty="0">
                <a:solidFill>
                  <a:srgbClr val="667085"/>
                </a:solidFill>
              </a:rPr>
              <a:t>销售很难快速掌握一个客户的完整情况</a:t>
            </a:r>
            <a:endParaRPr lang="en-US" altLang="zh-CN" sz="1400" dirty="0">
              <a:solidFill>
                <a:srgbClr val="667085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zh-CN" sz="1400" dirty="0">
                <a:solidFill>
                  <a:srgbClr val="667085"/>
                </a:solidFill>
              </a:rPr>
              <a:t>不同销售判断客户意向的标准并不一致</a:t>
            </a:r>
            <a:endParaRPr lang="en-US" altLang="zh-CN" sz="1400" dirty="0">
              <a:solidFill>
                <a:srgbClr val="667085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zh-CN" sz="1400" dirty="0">
                <a:solidFill>
                  <a:srgbClr val="667085"/>
                </a:solidFill>
              </a:rPr>
              <a:t>大量时间花在查资料、准备沟通和跨团队协调上；</a:t>
            </a:r>
            <a:endParaRPr lang="en-US" altLang="zh-CN" sz="1400" dirty="0">
              <a:solidFill>
                <a:srgbClr val="667085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zh-CN" sz="1400" dirty="0">
                <a:solidFill>
                  <a:srgbClr val="667085"/>
                </a:solidFill>
              </a:rPr>
              <a:t>客户提出的问题不一定能在现场获得准确回答；</a:t>
            </a:r>
            <a:endParaRPr lang="en-US" altLang="zh-CN" sz="1400" dirty="0">
              <a:solidFill>
                <a:srgbClr val="667085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zh-CN" sz="1400" dirty="0">
                <a:solidFill>
                  <a:srgbClr val="667085"/>
                </a:solidFill>
              </a:rPr>
              <a:t>同一种产品方案被推荐给了需求完全不同的客户；</a:t>
            </a:r>
            <a:endParaRPr lang="en-US" altLang="zh-CN" sz="1400" dirty="0">
              <a:solidFill>
                <a:srgbClr val="667085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zh-CN" sz="1400" dirty="0">
                <a:solidFill>
                  <a:srgbClr val="667085"/>
                </a:solidFill>
              </a:rPr>
              <a:t>一些高潜力客户没有被及时跟进；</a:t>
            </a:r>
            <a:endParaRPr lang="en-US" altLang="zh-CN" sz="1400" dirty="0">
              <a:solidFill>
                <a:srgbClr val="667085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zh-CN" sz="1400" dirty="0">
                <a:solidFill>
                  <a:srgbClr val="667085"/>
                </a:solidFill>
              </a:rPr>
              <a:t>管理者很难判断客户停滞的真实原因；</a:t>
            </a:r>
            <a:endParaRPr lang="en-US" altLang="zh-CN" sz="1400" dirty="0">
              <a:solidFill>
                <a:srgbClr val="667085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zh-CN" sz="1400" dirty="0">
                <a:solidFill>
                  <a:srgbClr val="667085"/>
                </a:solidFill>
              </a:rPr>
              <a:t>优秀销售的经验难以复制给新人。</a:t>
            </a:r>
            <a:endParaRPr lang="en-US" sz="1400" dirty="0">
              <a:solidFill>
                <a:srgbClr val="667085"/>
              </a:solidFill>
            </a:endParaRPr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7FF8389F-9DE4-C5F4-FBA1-BF24B081096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34</a:t>
            </a:fld>
            <a:endParaRPr lang="en-US"/>
          </a:p>
        </p:txBody>
      </p:sp>
      <p:sp>
        <p:nvSpPr>
          <p:cNvPr id="26" name="Shape 3">
            <a:extLst>
              <a:ext uri="{FF2B5EF4-FFF2-40B4-BE49-F238E27FC236}">
                <a16:creationId xmlns:a16="http://schemas.microsoft.com/office/drawing/2014/main" id="{E808B1FF-70E1-3B18-38A5-75B18C89FE5D}"/>
              </a:ext>
            </a:extLst>
          </p:cNvPr>
          <p:cNvSpPr/>
          <p:nvPr/>
        </p:nvSpPr>
        <p:spPr>
          <a:xfrm>
            <a:off x="9326880" y="640080"/>
            <a:ext cx="2057400" cy="310896"/>
          </a:xfrm>
          <a:prstGeom prst="roundRect">
            <a:avLst>
              <a:gd name="adj" fmla="val 29412"/>
            </a:avLst>
          </a:prstGeom>
          <a:solidFill>
            <a:srgbClr val="FF9F43">
              <a:alpha val="12000"/>
            </a:srgbClr>
          </a:solidFill>
          <a:ln w="12700">
            <a:solidFill>
              <a:srgbClr val="FF9F43">
                <a:alpha val="0"/>
              </a:srgbClr>
            </a:solidFill>
            <a:prstDash val="solid"/>
          </a:ln>
        </p:spPr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E2A3A62E-8A77-C6C6-B735-C93E48AA8C90}"/>
              </a:ext>
            </a:extLst>
          </p:cNvPr>
          <p:cNvSpPr/>
          <p:nvPr/>
        </p:nvSpPr>
        <p:spPr>
          <a:xfrm>
            <a:off x="9381744" y="708660"/>
            <a:ext cx="1947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9F43"/>
                </a:solidFill>
              </a:rPr>
              <a:t>先独立思考</a:t>
            </a:r>
            <a:r>
              <a:rPr lang="en-US" altLang="zh-CN" sz="900" b="1" dirty="0">
                <a:solidFill>
                  <a:srgbClr val="FF9F43"/>
                </a:solidFill>
              </a:rPr>
              <a:t>5</a:t>
            </a:r>
            <a:r>
              <a:rPr lang="en-US" sz="900" b="1" dirty="0">
                <a:solidFill>
                  <a:srgbClr val="FF9F43"/>
                </a:solidFill>
              </a:rPr>
              <a:t>分钟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6535031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10" dirty="0">
                <a:solidFill>
                  <a:srgbClr val="246BFD"/>
                </a:solidFill>
              </a:rPr>
              <a:t>第一步｜确认问题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42B4A"/>
                </a:solidFill>
              </a:rPr>
              <a:t>不要从“AI能做什么”出发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170432"/>
            <a:ext cx="1101852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389888"/>
            <a:ext cx="5074920" cy="361188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389888"/>
            <a:ext cx="73152" cy="3611880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1832" y="1609344"/>
            <a:ext cx="393192" cy="393192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691640"/>
            <a:ext cx="393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?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463040" y="160020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42B4A"/>
                </a:solidFill>
              </a:rPr>
              <a:t>先问五个问题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9264" y="2139696"/>
            <a:ext cx="4562856" cy="2660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667085"/>
                </a:solidFill>
              </a:rPr>
              <a:t>谁遇到了问题？</a:t>
            </a:r>
            <a:endParaRPr lang="en-US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667085"/>
                </a:solidFill>
              </a:rPr>
              <a:t>问题发生在什么环节？</a:t>
            </a:r>
            <a:endParaRPr lang="en-US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667085"/>
                </a:solidFill>
              </a:rPr>
              <a:t>用户现在怎么解决？</a:t>
            </a:r>
            <a:endParaRPr lang="en-US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667085"/>
                </a:solidFill>
              </a:rPr>
              <a:t>问题发生频率有多高？</a:t>
            </a:r>
            <a:endParaRPr lang="en-US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667085"/>
                </a:solidFill>
              </a:rPr>
              <a:t>这个问题造成了什么损失？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6327648" y="1389888"/>
            <a:ext cx="5120640" cy="361188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27648" y="1389888"/>
            <a:ext cx="73152" cy="3611880"/>
          </a:xfrm>
          <a:prstGeom prst="rect">
            <a:avLst/>
          </a:prstGeom>
          <a:solidFill>
            <a:srgbClr val="246BFD"/>
          </a:solidFill>
          <a:ln w="12700">
            <a:solidFill>
              <a:srgbClr val="246BF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56248" y="1609344"/>
            <a:ext cx="393192" cy="393192"/>
          </a:xfrm>
          <a:prstGeom prst="ellipse">
            <a:avLst/>
          </a:prstGeom>
          <a:solidFill>
            <a:srgbClr val="246BFD"/>
          </a:solidFill>
          <a:ln w="12700">
            <a:solidFill>
              <a:srgbClr val="246B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56248" y="1691640"/>
            <a:ext cx="393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1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077456" y="1600200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42B4A"/>
                </a:solidFill>
              </a:rPr>
              <a:t>本案例的初步判断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83680" y="2139696"/>
            <a:ext cx="4608576" cy="2660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667085"/>
                </a:solidFill>
              </a:rPr>
              <a:t>用户：经常拜访客户的销售和BD</a:t>
            </a:r>
            <a:endParaRPr lang="en-US" sz="14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667085"/>
                </a:solidFill>
              </a:rPr>
              <a:t>场景：拜访或电话后录入CRM</a:t>
            </a:r>
            <a:endParaRPr lang="en-US" sz="14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667085"/>
                </a:solidFill>
              </a:rPr>
              <a:t>现状：手写、录音、聊天记录与回忆</a:t>
            </a:r>
            <a:endParaRPr lang="en-US" sz="14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667085"/>
                </a:solidFill>
              </a:rPr>
              <a:t>问题：整理耗时，关键信息容易遗漏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14400" y="5376672"/>
            <a:ext cx="10332720" cy="566928"/>
          </a:xfrm>
          <a:prstGeom prst="roundRect">
            <a:avLst>
              <a:gd name="adj" fmla="val 8065"/>
            </a:avLst>
          </a:prstGeom>
          <a:solidFill>
            <a:srgbClr val="EEF3FA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5559552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B4A"/>
                </a:solidFill>
              </a:rPr>
              <a:t>AI产品机会不是“可以使用AI的地方”，而是“值得被解决的用户问题”。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10" dirty="0">
                <a:solidFill>
                  <a:srgbClr val="246BFD"/>
                </a:solidFill>
              </a:rPr>
              <a:t>第二步｜拆解流程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42B4A"/>
                </a:solidFill>
              </a:rPr>
              <a:t>AI应该承担哪一个具体步骤？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170432"/>
            <a:ext cx="1101852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1554480"/>
            <a:ext cx="14173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" y="1828800"/>
            <a:ext cx="1197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</a:rPr>
              <a:t>拜访前准备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828800" y="1819656"/>
            <a:ext cx="219456" cy="384048"/>
          </a:xfrm>
          <a:prstGeom prst="chevron">
            <a:avLst/>
          </a:prstGeom>
          <a:solidFill>
            <a:srgbClr val="D9E2EF">
              <a:alpha val="92000"/>
            </a:srgbClr>
          </a:solidFill>
          <a:ln w="12700">
            <a:solidFill>
              <a:srgbClr val="D9E2E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57400" y="1554480"/>
            <a:ext cx="14173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67128" y="1828800"/>
            <a:ext cx="1197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</a:rPr>
              <a:t>进行客户沟通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502152" y="1819656"/>
            <a:ext cx="219456" cy="384048"/>
          </a:xfrm>
          <a:prstGeom prst="chevron">
            <a:avLst/>
          </a:prstGeom>
          <a:solidFill>
            <a:srgbClr val="D9E2EF">
              <a:alpha val="92000"/>
            </a:srgbClr>
          </a:solidFill>
          <a:ln w="12700">
            <a:solidFill>
              <a:srgbClr val="D9E2E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30752" y="1554480"/>
            <a:ext cx="1417320" cy="914400"/>
          </a:xfrm>
          <a:prstGeom prst="roundRect">
            <a:avLst>
              <a:gd name="adj" fmla="val 6000"/>
            </a:avLst>
          </a:prstGeom>
          <a:solidFill>
            <a:srgbClr val="EAF2FF"/>
          </a:solidFill>
          <a:ln w="19050">
            <a:solidFill>
              <a:srgbClr val="246B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1828800"/>
            <a:ext cx="1197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46BFD"/>
                </a:solidFill>
              </a:rPr>
              <a:t>记录沟通内容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175504" y="1819656"/>
            <a:ext cx="219456" cy="384048"/>
          </a:xfrm>
          <a:prstGeom prst="chevron">
            <a:avLst/>
          </a:prstGeom>
          <a:solidFill>
            <a:srgbClr val="D9E2EF">
              <a:alpha val="92000"/>
            </a:srgbClr>
          </a:solidFill>
          <a:ln w="12700">
            <a:solidFill>
              <a:srgbClr val="D9E2E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04104" y="1554480"/>
            <a:ext cx="1417320" cy="914400"/>
          </a:xfrm>
          <a:prstGeom prst="roundRect">
            <a:avLst>
              <a:gd name="adj" fmla="val 6000"/>
            </a:avLst>
          </a:prstGeom>
          <a:solidFill>
            <a:srgbClr val="EAF2FF"/>
          </a:solidFill>
          <a:ln w="19050">
            <a:solidFill>
              <a:srgbClr val="246B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13832" y="1828800"/>
            <a:ext cx="1197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46BFD"/>
                </a:solidFill>
              </a:rPr>
              <a:t>整理关键信息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48856" y="1819656"/>
            <a:ext cx="219456" cy="384048"/>
          </a:xfrm>
          <a:prstGeom prst="chevron">
            <a:avLst/>
          </a:prstGeom>
          <a:solidFill>
            <a:srgbClr val="D9E2EF">
              <a:alpha val="92000"/>
            </a:srgbClr>
          </a:solidFill>
          <a:ln w="12700">
            <a:solidFill>
              <a:srgbClr val="D9E2E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77456" y="1554480"/>
            <a:ext cx="1417320" cy="914400"/>
          </a:xfrm>
          <a:prstGeom prst="roundRect">
            <a:avLst>
              <a:gd name="adj" fmla="val 6000"/>
            </a:avLst>
          </a:prstGeom>
          <a:solidFill>
            <a:srgbClr val="EAF2FF"/>
          </a:solidFill>
          <a:ln w="19050">
            <a:solidFill>
              <a:srgbClr val="246BF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87184" y="1828800"/>
            <a:ext cx="1197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46BFD"/>
                </a:solidFill>
              </a:rPr>
              <a:t>填写CRM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522208" y="1819656"/>
            <a:ext cx="219456" cy="384048"/>
          </a:xfrm>
          <a:prstGeom prst="chevron">
            <a:avLst/>
          </a:prstGeom>
          <a:solidFill>
            <a:srgbClr val="D9E2EF">
              <a:alpha val="92000"/>
            </a:srgbClr>
          </a:solidFill>
          <a:ln w="12700">
            <a:solidFill>
              <a:srgbClr val="D9E2E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50808" y="1554480"/>
            <a:ext cx="1417320" cy="914400"/>
          </a:xfrm>
          <a:prstGeom prst="roundRect">
            <a:avLst>
              <a:gd name="adj" fmla="val 6000"/>
            </a:avLst>
          </a:prstGeom>
          <a:solidFill>
            <a:srgbClr val="EAF2FF"/>
          </a:solidFill>
          <a:ln w="19050">
            <a:solidFill>
              <a:srgbClr val="246B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60536" y="1828800"/>
            <a:ext cx="1197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46BFD"/>
                </a:solidFill>
              </a:rPr>
              <a:t>创建后续任务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0195560" y="1819656"/>
            <a:ext cx="219456" cy="384048"/>
          </a:xfrm>
          <a:prstGeom prst="chevron">
            <a:avLst/>
          </a:prstGeom>
          <a:solidFill>
            <a:srgbClr val="D9E2EF">
              <a:alpha val="92000"/>
            </a:srgbClr>
          </a:solidFill>
          <a:ln w="12700">
            <a:solidFill>
              <a:srgbClr val="D9E2E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24160" y="1554480"/>
            <a:ext cx="14173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533888" y="1828800"/>
            <a:ext cx="1197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</a:rPr>
              <a:t>持续跟进客户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13232" y="2926080"/>
            <a:ext cx="516636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13232" y="2926080"/>
            <a:ext cx="73152" cy="2148840"/>
          </a:xfrm>
          <a:prstGeom prst="rect">
            <a:avLst/>
          </a:prstGeom>
          <a:solidFill>
            <a:srgbClr val="246BFD"/>
          </a:solidFill>
          <a:ln w="12700">
            <a:solidFill>
              <a:srgbClr val="246BF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41832" y="3104388"/>
            <a:ext cx="393192" cy="393192"/>
          </a:xfrm>
          <a:prstGeom prst="ellipse">
            <a:avLst/>
          </a:prstGeom>
          <a:solidFill>
            <a:srgbClr val="246BFD"/>
          </a:solidFill>
          <a:ln w="12700">
            <a:solidFill>
              <a:srgbClr val="246BF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1832" y="3227832"/>
            <a:ext cx="393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AI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463040" y="313639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42B4A"/>
                </a:solidFill>
              </a:rPr>
              <a:t>适合AI优先介入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69264" y="3675888"/>
            <a:ext cx="4654296" cy="1197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67085"/>
                </a:solidFill>
              </a:rPr>
              <a:t>录音转文字、提取诉求与异议、总结沟通结论、生成CRM记录草稿和待办事项。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6291072" y="2926080"/>
            <a:ext cx="516636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4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91072" y="2926080"/>
            <a:ext cx="73152" cy="2148840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19672" y="3095244"/>
            <a:ext cx="393192" cy="393192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19672" y="3227832"/>
            <a:ext cx="393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人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040880" y="313639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42B4A"/>
                </a:solidFill>
              </a:rPr>
              <a:t>仍然需要人判断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547104" y="3675888"/>
            <a:ext cx="4654296" cy="1197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67085"/>
                </a:solidFill>
              </a:rPr>
              <a:t>确认客户真实意愿、确认承诺和报价、决定销售策略、确认后正式写入CRM。</a:t>
            </a:r>
            <a:endParaRPr lang="en-US" sz="112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10" dirty="0">
                <a:solidFill>
                  <a:srgbClr val="246BFD"/>
                </a:solidFill>
              </a:rPr>
              <a:t>第三步｜设计人机分工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42B4A"/>
                </a:solidFill>
              </a:rPr>
              <a:t>AI负责整理，人负责确认和决策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170432"/>
            <a:ext cx="1101852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93192" y="1417320"/>
            <a:ext cx="1700784" cy="205740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93192" y="1417320"/>
            <a:ext cx="73152" cy="2057400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584821"/>
            <a:ext cx="393192" cy="393192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719072"/>
            <a:ext cx="393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143000" y="1627632"/>
            <a:ext cx="740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42B4A"/>
                </a:solidFill>
              </a:rPr>
              <a:t>完成拜访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9224" y="2167128"/>
            <a:ext cx="1188720" cy="11064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67085"/>
                </a:solidFill>
              </a:rPr>
              <a:t>销售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2112264" y="2240280"/>
            <a:ext cx="228600" cy="384048"/>
          </a:xfrm>
          <a:prstGeom prst="chevron">
            <a:avLst/>
          </a:prstGeom>
          <a:solidFill>
            <a:srgbClr val="D9E2EF">
              <a:alpha val="92000"/>
            </a:srgbClr>
          </a:solidFill>
          <a:ln w="12700">
            <a:solidFill>
              <a:srgbClr val="D9E2E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31720" y="1417320"/>
            <a:ext cx="1700784" cy="205740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331720" y="1417320"/>
            <a:ext cx="73152" cy="2057400"/>
          </a:xfrm>
          <a:prstGeom prst="rect">
            <a:avLst/>
          </a:prstGeom>
          <a:solidFill>
            <a:srgbClr val="246BFD"/>
          </a:solidFill>
          <a:ln w="12700">
            <a:solidFill>
              <a:srgbClr val="246BF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0" y="1584821"/>
            <a:ext cx="393192" cy="393192"/>
          </a:xfrm>
          <a:prstGeom prst="ellipse">
            <a:avLst/>
          </a:prstGeom>
          <a:solidFill>
            <a:srgbClr val="246BFD"/>
          </a:solidFill>
          <a:ln w="12700">
            <a:solidFill>
              <a:srgbClr val="246B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0" y="1719072"/>
            <a:ext cx="393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2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081527" y="1627632"/>
            <a:ext cx="95097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42B4A"/>
                </a:solidFill>
              </a:rPr>
              <a:t>录音转文字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587752" y="2167128"/>
            <a:ext cx="1188720" cy="11064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67085"/>
                </a:solidFill>
              </a:rPr>
              <a:t>AI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4050792" y="2240280"/>
            <a:ext cx="228600" cy="384048"/>
          </a:xfrm>
          <a:prstGeom prst="chevron">
            <a:avLst/>
          </a:prstGeom>
          <a:solidFill>
            <a:srgbClr val="D9E2EF">
              <a:alpha val="92000"/>
            </a:srgbClr>
          </a:solidFill>
          <a:ln w="12700">
            <a:solidFill>
              <a:srgbClr val="D9E2E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70248" y="1417320"/>
            <a:ext cx="1700784" cy="205740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270248" y="1417320"/>
            <a:ext cx="73152" cy="2057400"/>
          </a:xfrm>
          <a:prstGeom prst="rect">
            <a:avLst/>
          </a:prstGeom>
          <a:solidFill>
            <a:srgbClr val="246BFD"/>
          </a:solidFill>
          <a:ln w="12700">
            <a:solidFill>
              <a:srgbClr val="246BF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98848" y="1584821"/>
            <a:ext cx="393192" cy="393192"/>
          </a:xfrm>
          <a:prstGeom prst="ellipse">
            <a:avLst/>
          </a:prstGeom>
          <a:solidFill>
            <a:srgbClr val="246BFD"/>
          </a:solidFill>
          <a:ln w="12700">
            <a:solidFill>
              <a:srgbClr val="246BF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98848" y="1719072"/>
            <a:ext cx="393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3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999273" y="1584821"/>
            <a:ext cx="950977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42B4A"/>
                </a:solidFill>
              </a:rPr>
              <a:t>提取诉求与异议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26280" y="2167128"/>
            <a:ext cx="1188720" cy="11064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67085"/>
                </a:solidFill>
              </a:rPr>
              <a:t>AI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5989320" y="2240280"/>
            <a:ext cx="228600" cy="384048"/>
          </a:xfrm>
          <a:prstGeom prst="chevron">
            <a:avLst/>
          </a:prstGeom>
          <a:solidFill>
            <a:srgbClr val="D9E2EF">
              <a:alpha val="92000"/>
            </a:srgbClr>
          </a:solidFill>
          <a:ln w="12700">
            <a:solidFill>
              <a:srgbClr val="D9E2E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08776" y="1417320"/>
            <a:ext cx="1700784" cy="205740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08776" y="1417320"/>
            <a:ext cx="73152" cy="2057400"/>
          </a:xfrm>
          <a:prstGeom prst="rect">
            <a:avLst/>
          </a:prstGeom>
          <a:solidFill>
            <a:srgbClr val="246BFD"/>
          </a:solidFill>
          <a:ln w="12700">
            <a:solidFill>
              <a:srgbClr val="246BF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37376" y="1584821"/>
            <a:ext cx="393192" cy="393192"/>
          </a:xfrm>
          <a:prstGeom prst="ellipse">
            <a:avLst/>
          </a:prstGeom>
          <a:solidFill>
            <a:srgbClr val="246BFD"/>
          </a:solidFill>
          <a:ln w="12700">
            <a:solidFill>
              <a:srgbClr val="246BF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37376" y="1719072"/>
            <a:ext cx="393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4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958583" y="1584821"/>
            <a:ext cx="950977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42B4A"/>
                </a:solidFill>
              </a:rPr>
              <a:t>生成结构化记录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464808" y="2167128"/>
            <a:ext cx="1188720" cy="11064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67085"/>
                </a:solidFill>
              </a:rPr>
              <a:t>AI</a:t>
            </a:r>
            <a:endParaRPr lang="en-US" sz="1120" dirty="0"/>
          </a:p>
        </p:txBody>
      </p:sp>
      <p:sp>
        <p:nvSpPr>
          <p:cNvPr id="32" name="Shape 30"/>
          <p:cNvSpPr/>
          <p:nvPr/>
        </p:nvSpPr>
        <p:spPr>
          <a:xfrm>
            <a:off x="7927848" y="2240280"/>
            <a:ext cx="228600" cy="384048"/>
          </a:xfrm>
          <a:prstGeom prst="chevron">
            <a:avLst/>
          </a:prstGeom>
          <a:solidFill>
            <a:srgbClr val="D9E2EF">
              <a:alpha val="92000"/>
            </a:srgbClr>
          </a:solidFill>
          <a:ln w="12700">
            <a:solidFill>
              <a:srgbClr val="D9E2EF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47304" y="1417320"/>
            <a:ext cx="1700784" cy="205740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4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147304" y="1417320"/>
            <a:ext cx="73152" cy="2057400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375904" y="1584821"/>
            <a:ext cx="393192" cy="393192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75904" y="1719072"/>
            <a:ext cx="393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5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897112" y="1627632"/>
            <a:ext cx="870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42B4A"/>
                </a:solidFill>
              </a:rPr>
              <a:t>检查与修改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8403336" y="2167128"/>
            <a:ext cx="1188720" cy="11064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67085"/>
                </a:solidFill>
              </a:rPr>
              <a:t>销售</a:t>
            </a:r>
            <a:endParaRPr lang="en-US" sz="1120" dirty="0"/>
          </a:p>
        </p:txBody>
      </p:sp>
      <p:sp>
        <p:nvSpPr>
          <p:cNvPr id="39" name="Shape 37"/>
          <p:cNvSpPr/>
          <p:nvPr/>
        </p:nvSpPr>
        <p:spPr>
          <a:xfrm>
            <a:off x="9866376" y="2240280"/>
            <a:ext cx="228600" cy="384048"/>
          </a:xfrm>
          <a:prstGeom prst="chevron">
            <a:avLst/>
          </a:prstGeom>
          <a:solidFill>
            <a:srgbClr val="D9E2EF">
              <a:alpha val="92000"/>
            </a:srgbClr>
          </a:solidFill>
          <a:ln w="12700">
            <a:solidFill>
              <a:srgbClr val="D9E2E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085832" y="1417320"/>
            <a:ext cx="1700784" cy="205740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4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10085832" y="1417320"/>
            <a:ext cx="73152" cy="20574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314432" y="1584821"/>
            <a:ext cx="393192" cy="39319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314432" y="1719072"/>
            <a:ext cx="393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6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10820260" y="1584822"/>
            <a:ext cx="950977" cy="39319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42B4A"/>
                </a:solidFill>
              </a:rPr>
              <a:t>写入CRM并创建任务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10341864" y="2167128"/>
            <a:ext cx="1188720" cy="11064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67085"/>
                </a:solidFill>
              </a:rPr>
              <a:t>系统</a:t>
            </a:r>
            <a:endParaRPr lang="en-US" sz="1120" dirty="0"/>
          </a:p>
        </p:txBody>
      </p:sp>
      <p:sp>
        <p:nvSpPr>
          <p:cNvPr id="46" name="Shape 44"/>
          <p:cNvSpPr/>
          <p:nvPr/>
        </p:nvSpPr>
        <p:spPr>
          <a:xfrm>
            <a:off x="1097280" y="3931920"/>
            <a:ext cx="9966960" cy="1143000"/>
          </a:xfrm>
          <a:prstGeom prst="roundRect">
            <a:avLst>
              <a:gd name="adj" fmla="val 4800"/>
            </a:avLst>
          </a:prstGeom>
          <a:solidFill>
            <a:srgbClr val="EEF4FF"/>
          </a:solidFill>
          <a:ln w="12700">
            <a:solidFill>
              <a:srgbClr val="C8D9F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417320" y="4334256"/>
            <a:ext cx="932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42B4A"/>
                </a:solidFill>
              </a:rPr>
              <a:t>示例输出：客户核心诉求｜主要异议｜合作意向｜下一步行动｜负责人｜截止时间</a:t>
            </a:r>
            <a:endParaRPr lang="en-US" sz="1350" dirty="0"/>
          </a:p>
        </p:txBody>
      </p:sp>
      <p:sp>
        <p:nvSpPr>
          <p:cNvPr id="48" name="Shape 46"/>
          <p:cNvSpPr/>
          <p:nvPr/>
        </p:nvSpPr>
        <p:spPr>
          <a:xfrm>
            <a:off x="914400" y="5376672"/>
            <a:ext cx="10332720" cy="566928"/>
          </a:xfrm>
          <a:prstGeom prst="roundRect">
            <a:avLst>
              <a:gd name="adj" fmla="val 8065"/>
            </a:avLst>
          </a:prstGeom>
          <a:solidFill>
            <a:srgbClr val="EEF3FA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143000" y="5559552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B4A"/>
                </a:solidFill>
              </a:rPr>
              <a:t>AI不是直接替销售做决定，而是先降低信息整理和录入成本。</a:t>
            </a:r>
            <a:endParaRPr lang="en-US" sz="1300" dirty="0"/>
          </a:p>
        </p:txBody>
      </p:sp>
      <p:sp>
        <p:nvSpPr>
          <p:cNvPr id="5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10" dirty="0">
                <a:solidFill>
                  <a:srgbClr val="246BFD"/>
                </a:solidFill>
              </a:rPr>
              <a:t>AI输出示例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42B4A"/>
                </a:solidFill>
              </a:rPr>
              <a:t>从对话录音到可确认的结构化记录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170432"/>
            <a:ext cx="1101852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389888"/>
            <a:ext cx="3401568" cy="3611880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389888"/>
            <a:ext cx="73152" cy="3611880"/>
          </a:xfrm>
          <a:prstGeom prst="rect">
            <a:avLst/>
          </a:prstGeom>
          <a:solidFill>
            <a:srgbClr val="246BFD"/>
          </a:solidFill>
          <a:ln w="12700">
            <a:solidFill>
              <a:srgbClr val="246BF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1832" y="1568196"/>
            <a:ext cx="393192" cy="393192"/>
          </a:xfrm>
          <a:prstGeom prst="ellipse">
            <a:avLst/>
          </a:prstGeom>
          <a:solidFill>
            <a:srgbClr val="246BFD"/>
          </a:solidFill>
          <a:ln w="12700">
            <a:solidFill>
              <a:srgbClr val="246B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691640"/>
            <a:ext cx="393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463040" y="1600200"/>
            <a:ext cx="2441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42B4A"/>
                </a:solidFill>
              </a:rPr>
              <a:t>客户核心诉求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9264" y="2139696"/>
            <a:ext cx="2889504" cy="2660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67085"/>
                </a:solidFill>
              </a:rPr>
              <a:t>希望减少门店活动配置的操作时间。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667085"/>
                </a:solidFill>
              </a:rPr>
              <a:t>主要异议：担心新系统的培训成本过高。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4389120" y="1389888"/>
            <a:ext cx="3401568" cy="3611880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89120" y="1389888"/>
            <a:ext cx="73152" cy="3611880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17720" y="1568196"/>
            <a:ext cx="393192" cy="393192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1691640"/>
            <a:ext cx="393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138928" y="1600200"/>
            <a:ext cx="2441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42B4A"/>
                </a:solidFill>
              </a:rPr>
              <a:t>合作意向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45152" y="2139696"/>
            <a:ext cx="2889504" cy="2660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67085"/>
                </a:solidFill>
              </a:rPr>
              <a:t>愿意参加小范围试用，但暂不愿意全量采购。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667085"/>
                </a:solidFill>
              </a:rPr>
              <a:t>信息状态：需要销售人工确认。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8065008" y="1389888"/>
            <a:ext cx="3401568" cy="3611880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65008" y="1389888"/>
            <a:ext cx="73152" cy="3611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93608" y="1568196"/>
            <a:ext cx="393192" cy="39319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93608" y="1691640"/>
            <a:ext cx="393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3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814816" y="1600200"/>
            <a:ext cx="2441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42B4A"/>
                </a:solidFill>
              </a:rPr>
              <a:t>下一步行动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321040" y="2139696"/>
            <a:ext cx="2889504" cy="2660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67085"/>
                </a:solidFill>
              </a:rPr>
              <a:t>1. 周五前发送试用方案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667085"/>
                </a:solidFill>
              </a:rPr>
              <a:t>负责人：销售A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667085"/>
                </a:solidFill>
              </a:rPr>
              <a:t>2. 下周安排产品演示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667085"/>
                </a:solidFill>
              </a:rPr>
              <a:t>负责人：产品B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914400" y="5376672"/>
            <a:ext cx="10332720" cy="566928"/>
          </a:xfrm>
          <a:prstGeom prst="roundRect">
            <a:avLst>
              <a:gd name="adj" fmla="val 8065"/>
            </a:avLst>
          </a:prstGeom>
          <a:solidFill>
            <a:srgbClr val="EEF3FA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43000" y="5559552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B4A"/>
                </a:solidFill>
              </a:rPr>
              <a:t>产品不仅要展示结果，还应允许销售查看原文、修改内容并确认后写入。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10" dirty="0">
                <a:solidFill>
                  <a:srgbClr val="246BFD"/>
                </a:solidFill>
              </a:rPr>
              <a:t>第四步｜风险与兜底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42B4A"/>
                </a:solidFill>
              </a:rPr>
              <a:t>能生成结果，不代表结果可以直接使用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170432"/>
            <a:ext cx="1101852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371600"/>
            <a:ext cx="3493008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" y="1371600"/>
            <a:ext cx="73152" cy="1572768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0392" y="1536608"/>
            <a:ext cx="393192" cy="393192"/>
          </a:xfrm>
          <a:prstGeom prst="ellipse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673352"/>
            <a:ext cx="393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371600" y="1581912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42B4A"/>
                </a:solidFill>
              </a:rPr>
              <a:t>说话人混淆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7824" y="2121408"/>
            <a:ext cx="2980944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67085"/>
                </a:solidFill>
              </a:rPr>
              <a:t>把销售的建议当成客户承诺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4462272" y="1371600"/>
            <a:ext cx="3493008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62272" y="1371600"/>
            <a:ext cx="73152" cy="1572768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90872" y="1536608"/>
            <a:ext cx="393192" cy="393192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90872" y="1673352"/>
            <a:ext cx="393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212080" y="1581912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42B4A"/>
                </a:solidFill>
              </a:rPr>
              <a:t>术语识别错误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718304" y="2121408"/>
            <a:ext cx="2980944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67085"/>
                </a:solidFill>
              </a:rPr>
              <a:t>产品名、金额和日期被错记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8302752" y="1371600"/>
            <a:ext cx="3493008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02752" y="1371600"/>
            <a:ext cx="73152" cy="1572768"/>
          </a:xfrm>
          <a:prstGeom prst="rect">
            <a:avLst/>
          </a:prstGeom>
          <a:solidFill>
            <a:srgbClr val="7655D4"/>
          </a:solidFill>
          <a:ln w="12700">
            <a:solidFill>
              <a:srgbClr val="7655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31352" y="1536608"/>
            <a:ext cx="393192" cy="393192"/>
          </a:xfrm>
          <a:prstGeom prst="ellipse">
            <a:avLst/>
          </a:prstGeom>
          <a:solidFill>
            <a:srgbClr val="7655D4"/>
          </a:solidFill>
          <a:ln w="12700">
            <a:solidFill>
              <a:srgbClr val="7655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31352" y="1673352"/>
            <a:ext cx="393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3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052560" y="1581912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42B4A"/>
                </a:solidFill>
              </a:rPr>
              <a:t>信息遗漏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558784" y="2121408"/>
            <a:ext cx="2980944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67085"/>
                </a:solidFill>
              </a:rPr>
              <a:t>遗漏负责人、截止时间或异议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621792" y="3364992"/>
            <a:ext cx="3493008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1792" y="3364992"/>
            <a:ext cx="73152" cy="1572768"/>
          </a:xfrm>
          <a:prstGeom prst="rect">
            <a:avLst/>
          </a:prstGeom>
          <a:solidFill>
            <a:srgbClr val="246BFD"/>
          </a:solidFill>
          <a:ln w="12700">
            <a:solidFill>
              <a:srgbClr val="246BF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50392" y="3530000"/>
            <a:ext cx="393192" cy="393192"/>
          </a:xfrm>
          <a:prstGeom prst="ellipse">
            <a:avLst/>
          </a:prstGeom>
          <a:solidFill>
            <a:srgbClr val="246BFD"/>
          </a:solidFill>
          <a:ln w="12700">
            <a:solidFill>
              <a:srgbClr val="246BF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0392" y="3666744"/>
            <a:ext cx="393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4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371600" y="3575304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42B4A"/>
                </a:solidFill>
              </a:rPr>
              <a:t>无中生有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77824" y="4114800"/>
            <a:ext cx="2980944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67085"/>
                </a:solidFill>
              </a:rPr>
              <a:t>生成对话中没有出现的信息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4462272" y="3364992"/>
            <a:ext cx="3493008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462272" y="3364992"/>
            <a:ext cx="73152" cy="157276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90872" y="3530000"/>
            <a:ext cx="393192" cy="39319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90872" y="3666744"/>
            <a:ext cx="393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5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212080" y="3575304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42B4A"/>
                </a:solidFill>
              </a:rPr>
              <a:t>敏感信息泄露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718304" y="4114800"/>
            <a:ext cx="2980944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67085"/>
                </a:solidFill>
              </a:rPr>
              <a:t>客户信息进入不合规系统</a:t>
            </a:r>
            <a:endParaRPr lang="en-US" sz="1120" dirty="0"/>
          </a:p>
        </p:txBody>
      </p:sp>
      <p:sp>
        <p:nvSpPr>
          <p:cNvPr id="35" name="Shape 33"/>
          <p:cNvSpPr/>
          <p:nvPr/>
        </p:nvSpPr>
        <p:spPr>
          <a:xfrm>
            <a:off x="914400" y="5376672"/>
            <a:ext cx="10332720" cy="566928"/>
          </a:xfrm>
          <a:prstGeom prst="roundRect">
            <a:avLst>
              <a:gd name="adj" fmla="val 8065"/>
            </a:avLst>
          </a:prstGeom>
          <a:solidFill>
            <a:srgbClr val="EEF3FA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43000" y="5559552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B4A"/>
                </a:solidFill>
              </a:rPr>
              <a:t>低风险结果允许编辑；关键事实展示原文；承诺、报价和敏感信息必须人工确认。</a:t>
            </a:r>
            <a:endParaRPr lang="en-US" sz="13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10" dirty="0">
                <a:solidFill>
                  <a:srgbClr val="246BFD"/>
                </a:solidFill>
              </a:rPr>
              <a:t>第五步｜验证价值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42B4A"/>
                </a:solidFill>
              </a:rPr>
              <a:t>不只看模型准不准，还要看业务有没有变好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170432"/>
            <a:ext cx="1101852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417320"/>
            <a:ext cx="3401568" cy="3611880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417320"/>
            <a:ext cx="73152" cy="3611880"/>
          </a:xfrm>
          <a:prstGeom prst="rect">
            <a:avLst/>
          </a:prstGeom>
          <a:solidFill>
            <a:srgbClr val="246BFD"/>
          </a:solidFill>
          <a:ln w="12700">
            <a:solidFill>
              <a:srgbClr val="246BF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1832" y="1584821"/>
            <a:ext cx="393192" cy="393192"/>
          </a:xfrm>
          <a:prstGeom prst="ellipse">
            <a:avLst/>
          </a:prstGeom>
          <a:solidFill>
            <a:srgbClr val="246BFD"/>
          </a:solidFill>
          <a:ln w="12700">
            <a:solidFill>
              <a:srgbClr val="246B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719072"/>
            <a:ext cx="393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463040" y="1627632"/>
            <a:ext cx="2441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42B4A"/>
                </a:solidFill>
              </a:rPr>
              <a:t>效率指标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9264" y="2167128"/>
            <a:ext cx="2889504" cy="2660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667085"/>
                </a:solidFill>
              </a:rPr>
              <a:t>每次拜访后的平均记录时间</a:t>
            </a:r>
            <a:endParaRPr lang="en-US" sz="14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667085"/>
                </a:solidFill>
              </a:rPr>
              <a:t>CRM录入完成时间</a:t>
            </a:r>
            <a:endParaRPr lang="en-US" sz="14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667085"/>
                </a:solidFill>
              </a:rPr>
              <a:t>销售使用助手的频率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4389120" y="1417320"/>
            <a:ext cx="3401568" cy="3611880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89120" y="1417320"/>
            <a:ext cx="73152" cy="3611880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17720" y="1584821"/>
            <a:ext cx="393192" cy="393192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1719072"/>
            <a:ext cx="393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138928" y="1627632"/>
            <a:ext cx="2441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42B4A"/>
                </a:solidFill>
              </a:rPr>
              <a:t>质量指标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45152" y="2167128"/>
            <a:ext cx="2889504" cy="2660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667085"/>
                </a:solidFill>
              </a:rPr>
              <a:t>CRM关键字段完整率</a:t>
            </a:r>
            <a:endParaRPr lang="en-US" sz="14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667085"/>
                </a:solidFill>
              </a:rPr>
              <a:t>行动项遗漏率</a:t>
            </a:r>
            <a:endParaRPr lang="en-US" sz="14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667085"/>
                </a:solidFill>
              </a:rPr>
              <a:t>销售修改AI结果的比例</a:t>
            </a:r>
            <a:endParaRPr lang="en-US" sz="14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667085"/>
                </a:solidFill>
              </a:rPr>
              <a:t>关键信息提取准确率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065008" y="1417320"/>
            <a:ext cx="3401568" cy="3611880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65008" y="1417320"/>
            <a:ext cx="73152" cy="3611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93608" y="1584821"/>
            <a:ext cx="393192" cy="39319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93608" y="1719072"/>
            <a:ext cx="393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3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814816" y="1627632"/>
            <a:ext cx="2441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42B4A"/>
                </a:solidFill>
              </a:rPr>
              <a:t>业务指标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321040" y="2167128"/>
            <a:ext cx="2889504" cy="2660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667085"/>
                </a:solidFill>
              </a:rPr>
              <a:t>客户跟进任务按时完成率</a:t>
            </a:r>
            <a:endParaRPr lang="en-US" sz="14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667085"/>
                </a:solidFill>
              </a:rPr>
              <a:t>有效客户信息沉淀率</a:t>
            </a:r>
            <a:endParaRPr lang="en-US" sz="14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667085"/>
                </a:solidFill>
              </a:rPr>
              <a:t>长期观察客户转化率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14400" y="5376672"/>
            <a:ext cx="10332720" cy="566928"/>
          </a:xfrm>
          <a:prstGeom prst="roundRect">
            <a:avLst>
              <a:gd name="adj" fmla="val 8065"/>
            </a:avLst>
          </a:prstGeom>
          <a:solidFill>
            <a:srgbClr val="EEF3FA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43000" y="5559552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B4A"/>
                </a:solidFill>
              </a:rPr>
              <a:t>“生成一份摘要”是产品输出；“更快完成记录并减少遗漏”才是产品价值。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10" dirty="0">
                <a:solidFill>
                  <a:srgbClr val="246BFD"/>
                </a:solidFill>
              </a:rPr>
              <a:t>案例复盘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42B4A"/>
                </a:solidFill>
              </a:rPr>
              <a:t>用五个问题完成一次AI场景分析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170432"/>
            <a:ext cx="1101852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371600"/>
            <a:ext cx="3493008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" y="1371600"/>
            <a:ext cx="73152" cy="1572768"/>
          </a:xfrm>
          <a:prstGeom prst="rect">
            <a:avLst/>
          </a:prstGeom>
          <a:solidFill>
            <a:srgbClr val="246BFD"/>
          </a:solidFill>
          <a:ln w="12700">
            <a:solidFill>
              <a:srgbClr val="246BF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0392" y="1539101"/>
            <a:ext cx="393192" cy="393192"/>
          </a:xfrm>
          <a:prstGeom prst="ellipse">
            <a:avLst/>
          </a:prstGeom>
          <a:solidFill>
            <a:srgbClr val="246BFD"/>
          </a:solidFill>
          <a:ln w="12700">
            <a:solidFill>
              <a:srgbClr val="246B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673352"/>
            <a:ext cx="393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371600" y="1581912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42B4A"/>
                </a:solidFill>
              </a:rPr>
              <a:t>用户是谁？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7824" y="2121408"/>
            <a:ext cx="2980944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67085"/>
                </a:solidFill>
              </a:rPr>
              <a:t>经常拜访客户的销售和BD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4462272" y="1371600"/>
            <a:ext cx="3493008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62272" y="1371600"/>
            <a:ext cx="73152" cy="1572768"/>
          </a:xfrm>
          <a:prstGeom prst="rect">
            <a:avLst/>
          </a:prstGeom>
          <a:solidFill>
            <a:srgbClr val="7655D4"/>
          </a:solidFill>
          <a:ln w="12700">
            <a:solidFill>
              <a:srgbClr val="7655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90872" y="1539101"/>
            <a:ext cx="393192" cy="393192"/>
          </a:xfrm>
          <a:prstGeom prst="ellipse">
            <a:avLst/>
          </a:prstGeom>
          <a:solidFill>
            <a:srgbClr val="7655D4"/>
          </a:solidFill>
          <a:ln w="12700">
            <a:solidFill>
              <a:srgbClr val="7655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90872" y="1673352"/>
            <a:ext cx="393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212080" y="1581912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42B4A"/>
                </a:solidFill>
              </a:rPr>
              <a:t>问题是什么？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718304" y="2121408"/>
            <a:ext cx="2980944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67085"/>
                </a:solidFill>
              </a:rPr>
              <a:t>整理耗时，关键信息容易遗漏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8302752" y="1371600"/>
            <a:ext cx="3493008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02752" y="1371600"/>
            <a:ext cx="73152" cy="1572768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31352" y="1539101"/>
            <a:ext cx="393192" cy="393192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31352" y="1673352"/>
            <a:ext cx="393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3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052560" y="1581912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42B4A"/>
                </a:solidFill>
              </a:rPr>
              <a:t>AI具体做什么？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558784" y="2121408"/>
            <a:ext cx="2980944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67085"/>
                </a:solidFill>
              </a:rPr>
              <a:t>转写、提取、总结、生成草稿与行动项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621792" y="3364992"/>
            <a:ext cx="3493008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1792" y="3364992"/>
            <a:ext cx="73152" cy="1572768"/>
          </a:xfrm>
          <a:prstGeom prst="rect">
            <a:avLst/>
          </a:prstGeom>
          <a:solidFill>
            <a:srgbClr val="36C5F0"/>
          </a:solidFill>
          <a:ln w="12700">
            <a:solidFill>
              <a:srgbClr val="36C5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50392" y="3532493"/>
            <a:ext cx="393192" cy="393192"/>
          </a:xfrm>
          <a:prstGeom prst="ellipse">
            <a:avLst/>
          </a:prstGeom>
          <a:solidFill>
            <a:srgbClr val="36C5F0"/>
          </a:solidFill>
          <a:ln w="12700">
            <a:solidFill>
              <a:srgbClr val="36C5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0392" y="3666744"/>
            <a:ext cx="393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4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371600" y="3575304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42B4A"/>
                </a:solidFill>
              </a:rPr>
              <a:t>人需要做什么？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77824" y="4114800"/>
            <a:ext cx="2980944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67085"/>
                </a:solidFill>
              </a:rPr>
              <a:t>确认事实、修改结果、判断意向与决策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4462272" y="3364992"/>
            <a:ext cx="3493008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462272" y="3364992"/>
            <a:ext cx="73152" cy="157276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90872" y="3532493"/>
            <a:ext cx="393192" cy="39319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90872" y="3666744"/>
            <a:ext cx="393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5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212080" y="3575304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42B4A"/>
                </a:solidFill>
              </a:rPr>
              <a:t>怎么验证价值？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718304" y="4114800"/>
            <a:ext cx="2980944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67085"/>
                </a:solidFill>
              </a:rPr>
              <a:t>记录时间、完整率、修改率、遗漏率与跟进完成率</a:t>
            </a:r>
            <a:endParaRPr lang="en-US" sz="1120" dirty="0"/>
          </a:p>
        </p:txBody>
      </p:sp>
      <p:sp>
        <p:nvSpPr>
          <p:cNvPr id="35" name="Shape 33"/>
          <p:cNvSpPr/>
          <p:nvPr/>
        </p:nvSpPr>
        <p:spPr>
          <a:xfrm>
            <a:off x="914400" y="5376672"/>
            <a:ext cx="10332720" cy="566928"/>
          </a:xfrm>
          <a:prstGeom prst="roundRect">
            <a:avLst>
              <a:gd name="adj" fmla="val 8065"/>
            </a:avLst>
          </a:prstGeom>
          <a:solidFill>
            <a:srgbClr val="EEF3FA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43000" y="5559552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B4A"/>
                </a:solidFill>
              </a:rPr>
              <a:t>完整AI产品方案 = 用户问题 + AI任务 + 人机分工 + 错误兜底 + 验证指标</a:t>
            </a:r>
            <a:endParaRPr lang="en-US" sz="13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B4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CC9C83-F1BA-55F3-D1DD-B44174674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EDF04E9-A515-18AA-3BE3-D3933260A2BA}"/>
              </a:ext>
            </a:extLst>
          </p:cNvPr>
          <p:cNvSpPr/>
          <p:nvPr/>
        </p:nvSpPr>
        <p:spPr>
          <a:xfrm>
            <a:off x="8961120" y="-1005840"/>
            <a:ext cx="4297680" cy="4297680"/>
          </a:xfrm>
          <a:prstGeom prst="ellipse">
            <a:avLst/>
          </a:prstGeom>
          <a:solidFill>
            <a:srgbClr val="246BFD">
              <a:alpha val="58000"/>
            </a:srgbClr>
          </a:solidFill>
          <a:ln w="12700">
            <a:solidFill>
              <a:srgbClr val="246BFD">
                <a:alpha val="0"/>
              </a:srgbClr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20173A8-D7D4-14DC-1A3E-2EE8B2D9406C}"/>
              </a:ext>
            </a:extLst>
          </p:cNvPr>
          <p:cNvSpPr/>
          <p:nvPr/>
        </p:nvSpPr>
        <p:spPr>
          <a:xfrm>
            <a:off x="9875520" y="4297680"/>
            <a:ext cx="2926080" cy="2926080"/>
          </a:xfrm>
          <a:prstGeom prst="ellipse">
            <a:avLst/>
          </a:prstGeom>
          <a:solidFill>
            <a:srgbClr val="36C5F0">
              <a:alpha val="24000"/>
            </a:srgbClr>
          </a:solidFill>
          <a:ln w="12700">
            <a:solidFill>
              <a:srgbClr val="36C5F0">
                <a:alpha val="0"/>
              </a:srgbClr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38ADB2B-0BF9-12D2-4CB2-CA867FCEFE1D}"/>
              </a:ext>
            </a:extLst>
          </p:cNvPr>
          <p:cNvSpPr/>
          <p:nvPr/>
        </p:nvSpPr>
        <p:spPr>
          <a:xfrm>
            <a:off x="685800" y="7315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36C5F0"/>
                </a:solidFill>
              </a:rPr>
              <a:t>0</a:t>
            </a:r>
            <a:r>
              <a:rPr lang="en-US" altLang="zh-CN" sz="5000" b="1" dirty="0">
                <a:solidFill>
                  <a:srgbClr val="36C5F0"/>
                </a:solidFill>
              </a:rPr>
              <a:t>6</a:t>
            </a:r>
            <a:endParaRPr lang="en-US" sz="5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39098EC-1FA2-30C9-0B15-D4544E095C34}"/>
              </a:ext>
            </a:extLst>
          </p:cNvPr>
          <p:cNvSpPr/>
          <p:nvPr/>
        </p:nvSpPr>
        <p:spPr>
          <a:xfrm>
            <a:off x="713232" y="1920240"/>
            <a:ext cx="8686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FFFFFF"/>
                </a:solidFill>
              </a:rPr>
              <a:t>课后作业</a:t>
            </a:r>
            <a:endParaRPr lang="en-US" sz="3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E43B347-3ECE-A790-EE69-59186B12AAF3}"/>
              </a:ext>
            </a:extLst>
          </p:cNvPr>
          <p:cNvSpPr/>
          <p:nvPr/>
        </p:nvSpPr>
        <p:spPr>
          <a:xfrm>
            <a:off x="749808" y="61447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1A4BE"/>
                </a:solidFill>
              </a:rPr>
              <a:t>AI 产品经理系统课程 · 第 00 课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80636608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10" dirty="0">
                <a:solidFill>
                  <a:srgbClr val="246BFD"/>
                </a:solidFill>
              </a:rPr>
              <a:t>课后作业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42B4A"/>
                </a:solidFill>
              </a:rPr>
              <a:t>回到自己的工作场景，找到一个真实问题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170432"/>
            <a:ext cx="1101852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417320"/>
            <a:ext cx="5074920" cy="361188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417320"/>
            <a:ext cx="73152" cy="361188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1832" y="1564039"/>
            <a:ext cx="393192" cy="393192"/>
          </a:xfrm>
          <a:prstGeom prst="ellipse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719072"/>
            <a:ext cx="393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×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463040" y="162763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42B4A"/>
                </a:solidFill>
              </a:rPr>
              <a:t>不要从这里开始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9264" y="2167128"/>
            <a:ext cx="4562856" cy="2660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67085"/>
                </a:solidFill>
              </a:rPr>
              <a:t>“我们能不能做一个AI助手？”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667085"/>
                </a:solidFill>
              </a:rPr>
              <a:t>“最近哪个AI技术最热？”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667085"/>
                </a:solidFill>
              </a:rPr>
              <a:t>“我能不能也做一个Agent？”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6355080" y="1417320"/>
            <a:ext cx="5074920" cy="361188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55080" y="1417320"/>
            <a:ext cx="73152" cy="3611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0" y="1564039"/>
            <a:ext cx="393192" cy="39319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1719072"/>
            <a:ext cx="393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✓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104888" y="162763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42B4A"/>
                </a:solidFill>
              </a:rPr>
              <a:t>建议从这里开始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11112" y="2167128"/>
            <a:ext cx="4562856" cy="2660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67085"/>
                </a:solidFill>
              </a:rPr>
              <a:t>“谁在什么情况下，反复遇到了什么问题？”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667085"/>
                </a:solidFill>
              </a:rPr>
              <a:t>“现在如何解决，最痛的环节在哪里？”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914400" y="5376672"/>
            <a:ext cx="10332720" cy="566928"/>
          </a:xfrm>
          <a:prstGeom prst="roundRect">
            <a:avLst>
              <a:gd name="adj" fmla="val 8065"/>
            </a:avLst>
          </a:prstGeom>
          <a:solidFill>
            <a:srgbClr val="EEF3FA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5559552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B4A"/>
                </a:solidFill>
              </a:rPr>
              <a:t>选题不追求大而创新，优先选择你亲自接触过、可以继续访谈和验证的工作场景。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10" dirty="0">
                <a:solidFill>
                  <a:srgbClr val="246BFD"/>
                </a:solidFill>
              </a:rPr>
              <a:t>作业提交模板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42B4A"/>
                </a:solidFill>
              </a:rPr>
              <a:t>使用统一模板完成你的第一次AI场景分析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170432"/>
            <a:ext cx="1101852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53312"/>
            <a:ext cx="260604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353312"/>
            <a:ext cx="73152" cy="1572768"/>
          </a:xfrm>
          <a:prstGeom prst="rect">
            <a:avLst/>
          </a:prstGeom>
          <a:solidFill>
            <a:srgbClr val="246BFD"/>
          </a:solidFill>
          <a:ln w="12700">
            <a:solidFill>
              <a:srgbClr val="246BF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20813"/>
            <a:ext cx="393192" cy="393192"/>
          </a:xfrm>
          <a:prstGeom prst="ellipse">
            <a:avLst/>
          </a:prstGeom>
          <a:solidFill>
            <a:srgbClr val="246BFD"/>
          </a:solidFill>
          <a:ln w="12700">
            <a:solidFill>
              <a:srgbClr val="246B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655064"/>
            <a:ext cx="393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252728" y="156362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42B4A"/>
                </a:solidFill>
              </a:rPr>
              <a:t>1. Case名称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58952" y="2103120"/>
            <a:ext cx="209397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67085"/>
                </a:solidFill>
              </a:rPr>
              <a:t>用一句话命名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3401568" y="1353312"/>
            <a:ext cx="260604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01568" y="1353312"/>
            <a:ext cx="73152" cy="1572768"/>
          </a:xfrm>
          <a:prstGeom prst="rect">
            <a:avLst/>
          </a:prstGeom>
          <a:solidFill>
            <a:srgbClr val="7655D4"/>
          </a:solidFill>
          <a:ln w="12700">
            <a:solidFill>
              <a:srgbClr val="7655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30168" y="1520813"/>
            <a:ext cx="393192" cy="393192"/>
          </a:xfrm>
          <a:prstGeom prst="ellipse">
            <a:avLst/>
          </a:prstGeom>
          <a:solidFill>
            <a:srgbClr val="7655D4"/>
          </a:solidFill>
          <a:ln w="12700">
            <a:solidFill>
              <a:srgbClr val="7655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30168" y="1655064"/>
            <a:ext cx="393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51376" y="156362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42B4A"/>
                </a:solidFill>
              </a:rPr>
              <a:t>2. 目标用户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657600" y="2103120"/>
            <a:ext cx="209397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67085"/>
                </a:solidFill>
              </a:rPr>
              <a:t>谁会使用？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6300216" y="1353312"/>
            <a:ext cx="260604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0216" y="1353312"/>
            <a:ext cx="73152" cy="1572768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28816" y="1520813"/>
            <a:ext cx="393192" cy="393192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28816" y="1655064"/>
            <a:ext cx="393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3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050024" y="156362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42B4A"/>
                </a:solidFill>
              </a:rPr>
              <a:t>3. 使用场景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556248" y="2103120"/>
            <a:ext cx="209397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67085"/>
                </a:solidFill>
              </a:rPr>
              <a:t>什么时候遇到问题？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9198864" y="1353312"/>
            <a:ext cx="260604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198864" y="1353312"/>
            <a:ext cx="73152" cy="157276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427464" y="1520813"/>
            <a:ext cx="393192" cy="39319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27464" y="1655064"/>
            <a:ext cx="393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4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948672" y="156362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42B4A"/>
                </a:solidFill>
              </a:rPr>
              <a:t>4. 当前问题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454896" y="2103120"/>
            <a:ext cx="209397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67085"/>
                </a:solidFill>
              </a:rPr>
              <a:t>现在怎么做？痛点在哪？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502920" y="3383280"/>
            <a:ext cx="260604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02920" y="3383280"/>
            <a:ext cx="73152" cy="1572768"/>
          </a:xfrm>
          <a:prstGeom prst="rect">
            <a:avLst/>
          </a:prstGeom>
          <a:solidFill>
            <a:srgbClr val="246BFD"/>
          </a:solidFill>
          <a:ln w="12700">
            <a:solidFill>
              <a:srgbClr val="246BF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1520" y="3550781"/>
            <a:ext cx="393192" cy="393192"/>
          </a:xfrm>
          <a:prstGeom prst="ellipse">
            <a:avLst/>
          </a:prstGeom>
          <a:solidFill>
            <a:srgbClr val="246BFD"/>
          </a:solidFill>
          <a:ln w="12700">
            <a:solidFill>
              <a:srgbClr val="246BF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3685032"/>
            <a:ext cx="393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5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252728" y="359359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42B4A"/>
                </a:solidFill>
              </a:rPr>
              <a:t>5. AI承担什么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58952" y="4133088"/>
            <a:ext cx="209397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67085"/>
                </a:solidFill>
              </a:rPr>
              <a:t>输入、处理与输出</a:t>
            </a:r>
            <a:endParaRPr lang="en-US" sz="1120" dirty="0"/>
          </a:p>
        </p:txBody>
      </p:sp>
      <p:sp>
        <p:nvSpPr>
          <p:cNvPr id="35" name="Shape 33"/>
          <p:cNvSpPr/>
          <p:nvPr/>
        </p:nvSpPr>
        <p:spPr>
          <a:xfrm>
            <a:off x="3401568" y="3383280"/>
            <a:ext cx="260604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4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401568" y="3383280"/>
            <a:ext cx="73152" cy="1572768"/>
          </a:xfrm>
          <a:prstGeom prst="rect">
            <a:avLst/>
          </a:prstGeom>
          <a:solidFill>
            <a:srgbClr val="7655D4"/>
          </a:solidFill>
          <a:ln w="12700">
            <a:solidFill>
              <a:srgbClr val="7655D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30168" y="3550781"/>
            <a:ext cx="393192" cy="393192"/>
          </a:xfrm>
          <a:prstGeom prst="ellipse">
            <a:avLst/>
          </a:prstGeom>
          <a:solidFill>
            <a:srgbClr val="7655D4"/>
          </a:solidFill>
          <a:ln w="12700">
            <a:solidFill>
              <a:srgbClr val="7655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30168" y="3685032"/>
            <a:ext cx="393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6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151376" y="359359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42B4A"/>
                </a:solidFill>
              </a:rPr>
              <a:t>6. 人机分工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3657600" y="4133088"/>
            <a:ext cx="209397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67085"/>
                </a:solidFill>
              </a:rPr>
              <a:t>哪些给AI？哪些人确认？</a:t>
            </a:r>
            <a:endParaRPr lang="en-US" sz="1120" dirty="0"/>
          </a:p>
        </p:txBody>
      </p:sp>
      <p:sp>
        <p:nvSpPr>
          <p:cNvPr id="41" name="Shape 39"/>
          <p:cNvSpPr/>
          <p:nvPr/>
        </p:nvSpPr>
        <p:spPr>
          <a:xfrm>
            <a:off x="6300216" y="3383280"/>
            <a:ext cx="260604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4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300216" y="3383280"/>
            <a:ext cx="73152" cy="1572768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528816" y="3550781"/>
            <a:ext cx="393192" cy="393192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28816" y="3685032"/>
            <a:ext cx="393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7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050024" y="359359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42B4A"/>
                </a:solidFill>
              </a:rPr>
              <a:t>7. 风险与兜底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6556248" y="4133088"/>
            <a:ext cx="209397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67085"/>
                </a:solidFill>
              </a:rPr>
              <a:t>AI可能错在哪里？</a:t>
            </a:r>
            <a:endParaRPr lang="en-US" sz="1120" dirty="0"/>
          </a:p>
        </p:txBody>
      </p:sp>
      <p:sp>
        <p:nvSpPr>
          <p:cNvPr id="47" name="Shape 45"/>
          <p:cNvSpPr/>
          <p:nvPr/>
        </p:nvSpPr>
        <p:spPr>
          <a:xfrm>
            <a:off x="9198864" y="3383280"/>
            <a:ext cx="260604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4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9198864" y="3383280"/>
            <a:ext cx="73152" cy="157276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427464" y="3550781"/>
            <a:ext cx="393192" cy="39319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427464" y="3685032"/>
            <a:ext cx="393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8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9948672" y="359359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42B4A"/>
                </a:solidFill>
              </a:rPr>
              <a:t>8. 验证指标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9454896" y="4133088"/>
            <a:ext cx="209397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67085"/>
                </a:solidFill>
              </a:rPr>
              <a:t>至少一个效率指标和质量指标</a:t>
            </a:r>
            <a:endParaRPr lang="en-US" sz="1120" dirty="0"/>
          </a:p>
        </p:txBody>
      </p:sp>
      <p:sp>
        <p:nvSpPr>
          <p:cNvPr id="53" name="Shape 51"/>
          <p:cNvSpPr/>
          <p:nvPr/>
        </p:nvSpPr>
        <p:spPr>
          <a:xfrm>
            <a:off x="914400" y="5376672"/>
            <a:ext cx="10332720" cy="566928"/>
          </a:xfrm>
          <a:prstGeom prst="roundRect">
            <a:avLst>
              <a:gd name="adj" fmla="val 8065"/>
            </a:avLst>
          </a:prstGeom>
          <a:solidFill>
            <a:srgbClr val="EEF3FA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143000" y="5559552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B4A"/>
                </a:solidFill>
              </a:rPr>
              <a:t>不要求完整PRD和页面设计；优先把问题、流程、分工和验证方式说清楚。</a:t>
            </a:r>
            <a:endParaRPr lang="en-US" sz="1300" dirty="0"/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097280"/>
            <a:ext cx="4389120" cy="4389120"/>
          </a:xfrm>
          <a:prstGeom prst="ellipse">
            <a:avLst/>
          </a:prstGeom>
          <a:solidFill>
            <a:srgbClr val="246BFD">
              <a:alpha val="58000"/>
            </a:srgbClr>
          </a:solidFill>
          <a:ln w="12700">
            <a:solidFill>
              <a:srgbClr val="246BF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621792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今天带走四个结论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04672" y="1572768"/>
            <a:ext cx="402336" cy="402336"/>
          </a:xfrm>
          <a:prstGeom prst="ellipse">
            <a:avLst/>
          </a:prstGeom>
          <a:solidFill>
            <a:srgbClr val="36C5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682496"/>
            <a:ext cx="402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444752" y="1572768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</a:rPr>
              <a:t>AI是目标，机器学习是方法，NLP是领域，AIGC是能力形态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804672" y="2423160"/>
            <a:ext cx="402336" cy="402336"/>
          </a:xfrm>
          <a:prstGeom prst="ellipse">
            <a:avLst/>
          </a:prstGeom>
          <a:solidFill>
            <a:srgbClr val="7655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2532888"/>
            <a:ext cx="402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444752" y="2423160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</a:rPr>
              <a:t>AI产品不只是模型，还包含知识、工具、流程与权限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04672" y="3273552"/>
            <a:ext cx="402336" cy="402336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3383280"/>
            <a:ext cx="402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444752" y="3273552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</a:rPr>
              <a:t>分析AI Case要考虑问题、分工、风险、兜底和验证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04672" y="4123944"/>
            <a:ext cx="402336" cy="40233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4233672"/>
            <a:ext cx="402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444752" y="4123944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</a:rPr>
              <a:t>课后回到自己的工作场景，找到一个真实问题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777240" y="5257800"/>
            <a:ext cx="10424160" cy="0"/>
          </a:xfrm>
          <a:prstGeom prst="line">
            <a:avLst/>
          </a:prstGeom>
          <a:noFill/>
          <a:ln w="12700">
            <a:solidFill>
              <a:srgbClr val="4A64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5559552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6C5F0"/>
                </a:solidFill>
              </a:rPr>
              <a:t>课后作业：在自己的工作场景中，完成一份AI场景分析卡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4672" y="601675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1A4BE"/>
                </a:solidFill>
              </a:rPr>
              <a:t>下一课：AI产品经理岗位认知与转型路径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2630</TotalTime>
  <Words>21951</Words>
  <Application>Microsoft Macintosh PowerPoint</Application>
  <PresentationFormat>宽屏</PresentationFormat>
  <Paragraphs>2912</Paragraphs>
  <Slides>45</Slides>
  <Notes>45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45</vt:i4>
      </vt:variant>
    </vt:vector>
  </HeadingPairs>
  <TitlesOfParts>
    <vt:vector size="49" baseType="lpstr">
      <vt:lpstr>PingFang SC</vt:lpstr>
      <vt:lpstr>Aptos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AI 产品经理系统课程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课程说明会与学习地图</dc:title>
  <dc:subject>第 00 课：课程说明会、学习地图与第一次 AI 场景思考</dc:subject>
  <dc:creator>AI 产品经理系统课程</dc:creator>
  <cp:lastModifiedBy>didi</cp:lastModifiedBy>
  <cp:revision>11</cp:revision>
  <dcterms:created xsi:type="dcterms:W3CDTF">2026-07-11T08:11:09Z</dcterms:created>
  <dcterms:modified xsi:type="dcterms:W3CDTF">2026-07-13T07:34:48Z</dcterms:modified>
</cp:coreProperties>
</file>