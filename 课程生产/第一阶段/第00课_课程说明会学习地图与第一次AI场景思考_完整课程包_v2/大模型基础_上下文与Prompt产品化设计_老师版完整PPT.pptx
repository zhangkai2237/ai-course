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886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开场：说明本课不是Prompt模板课，而是理解大模型生成机制、上下文和Prompt产品化设计。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本页先建立课程地图。强调每一部分都会产出设计单的一部分。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建议先展示同一句指令的两次结果，再引出“帮我整理一下这次销售拜访”缺什么。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互动追问：给谁看、目的是什么、要输出哪些内容、缺失信息怎么办。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告诉学员本课是一个从任务定义到产品化的完整链路。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本模块只讲产品经理做判断必须理解的部分，不展开完整技术原理。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用“客户认可方案，但上线前还需要确认……”做续写演示。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追问：如果追加“客户法务负责人随后加入会议”，候选会如何变化？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不要展开Top-k、Top-p、seed。只让学员理解直观作用。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收束生成机制模块，转入Token和上下文。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纠偏：不要说一个Token固定等于一个汉字或一个单词。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用“有限工作台”类比，强调产品需要决定当前应该放什么。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从容量问题转向产品设计问题，为下一模块反推上下文做铺垫。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互动：让学员分类材料，不要无差别堆料。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展示长Prompt，让学员判断是否能验收。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必须说明：输出—输入—处理是设计时先想结果。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课堂统一假设一线销售在拜访结束后10分钟内检查并录入CRM。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让学员填写设计单前两栏。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说明这是产品设计重组的六类信息，不是行业唯一标准。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对明确的提取任务，事实规则和输出通常比夸张角色更重要。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提示学员把模块04的业务要求组织成Prompt，而不是从空白页凭感觉写。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每组互查Prompt V0.2，必要时补齐关键骨架。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68—73分钟短休，73分钟准时进入模块06。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核心转变：不再问怎样教用户写Prompt，而是产品能替用户承担哪些专业工作。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边界：不是所有固定项都只能放在System Prompt，还可能由模板、配置、校验和流程承载。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互动分类：没有负责人标待确认、拜访转写、客户资料、本次重点关注、CRM字段定义等。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强调客户资料可以由系统获取，同时高风险使用或写入前要求用户确认。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案例声明：公司、人物、产品、数据和对话均为教学虚构。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不要逐字朗读转写。让学员90秒圈四类信息。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让学员2分钟找至少3个不能进入CRM的地方。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提示学员补通用规则，不写死案例答案。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只检查五点，不追求一次得到完美Prompt。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产品化结果包含字段、默认值、自动带入、证据、编辑、确认和下一步动作。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从“8家试点”错误回到方法：检查确定性规则和证据要求。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本模块不是技术选型课，只识别可能超出单次Prompt的信号。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四条讲完立即进入作业，不重新展开概念。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说明作业不是比Prompt长，也不是比技术名词多。关键是场景具体、输出可验收、测试过一次。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结束语。117—120分钟用于机动或答疑。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tyle_tech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60195"/>
            <a:ext cx="4983480" cy="37376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0292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7607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第02课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11430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大模型基础、上下文与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Prompt产品化设计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2743200"/>
            <a:ext cx="41148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" y="2971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从“会聊天”到“会做产品”的120分钟入门课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648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老师版授课PPT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包含课堂讲解、互动练习、案例验证与课后作业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课程任务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本课完成什么？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120分钟基准版：概念建立 → Prompt设计 → 产品化 → 案例验证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1993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075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80160" y="2011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制造问题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832" y="2423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为什么会聊天≠会做产品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1828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1993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075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83480" y="2011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45152" y="2423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大模型怎样逐步生成答案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92440" y="1828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7032" y="1993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2075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686800" y="2011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48472" y="2423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Token与有限工作台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2971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" y="3136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218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80160" y="3154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41832" y="3566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先输出和验收，再写Prompt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0" y="2971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3136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3218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83480" y="3154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45152" y="3566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结构化Prompt骨架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92440" y="2971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7032" y="3136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57032" y="3218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86800" y="3154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48472" y="3566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固定项、变量和风险处理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" y="4114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" y="4279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4361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280160" y="4297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41832" y="4709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89120" y="4114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53712" y="4279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53712" y="4361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83480" y="4297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4645152" y="4709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Case初筛与技术边界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92440" y="41148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57032" y="427939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57032" y="43616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686800" y="4297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8348472" y="4709160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设计单V1.0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为什么“会聊天”不等于“会做产品”？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开场任务：制造问题、暴露初始认知、说明本课产出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pic>
        <p:nvPicPr>
          <p:cNvPr id="11" name="Image 0" descr="/mnt/data/wide_flat_vector_illustration_scene_of_a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067589"/>
            <a:ext cx="4480560" cy="252165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67512" y="2103120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19933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同一句指令，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可能生成不同重点的合理答案。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667512" y="2962656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852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模糊任务，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个人临时可用，但产品化不可验收。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667512" y="3822192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71246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不是教用户写更长Prompt，而是定义任务、信息和流程。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“帮我整理一下”，到底缺了什么？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同一句话，从个人工具用法到产品功能，会缺少大量产品定义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92024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66544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模糊输入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" y="2414016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帮我整理一下这次销售拜访。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709160" y="2560320"/>
            <a:ext cx="777240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15000" y="160020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9592" y="174650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产品化必须回答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79592" y="2093976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给谁看？什么时候用？要输出什么字段？怎样算可用？需要哪些事实和规则？后续要进入什么流程？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20240" y="4800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核心矛盾：用户会聊天，不代表产品已经定义清楚任务。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今天学员会带走哪些产出？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不是一套Prompt模板，而是一份可落地的Prompt产品化设计单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82880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97510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目标输出与验收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96112" y="232257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明确结果长什么样，以及怎样才可用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7510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必要上下文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428232" y="232257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列出事实、背景、规则与来源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02666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96112" y="337413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把产品判断组织成可执行指令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02666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信息供给方式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28232" y="337413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固定项 / 用户填 / 系统获取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0782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风险处理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96112" y="442569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普通展示 / 建议检查 / 必须确认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0782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Case修正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428232" y="442569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定位问题、最小修改、再次验收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大模型到底怎样生成答案？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最低必要心智模型：它不是查答案，而是在上下文中逐步生成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pic>
        <p:nvPicPr>
          <p:cNvPr id="11" name="Image 0" descr="/mnt/data/wide_clean_vector_illustration_ui_concept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4091"/>
            <a:ext cx="4754880" cy="267604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79592" y="2011680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9019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不是答案库，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它通常不是从固定记录里取出答案。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5879592" y="285292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743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不是搜索引擎，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除非产品额外接入搜索或检索。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5879592" y="3694176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58444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不是真人专家，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表达像人，不代表会像人一样核实事实。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大模型会结合当前上下文，计算接下来可能出现的Token，并按生成策略逐步产生内容。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答案是一点一点“长出来”的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前面生成了什么，会影响后面继续生成什么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202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07592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当前输入与上下文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9264" y="251460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用户问题、内部指令、历史信息、补充材料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090672" y="2697480"/>
            <a:ext cx="310896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02152" y="19202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66744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6744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96512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计算候选Token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758184" y="251460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模型给下一个位置形成多个可能候选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879592" y="2697480"/>
            <a:ext cx="310896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91072" y="19202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85432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选择并生成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47104" y="251460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按策略选择一个Token或片段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668512" y="2697480"/>
            <a:ext cx="310896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79992" y="19202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44584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4584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674352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加入上下文继续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336024" y="2514600"/>
            <a:ext cx="1819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刚生成的内容成为下一步的上下文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1280160" y="4754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产品含义：一次成功Demo，不等于每次都稳定进入同一条生成路径。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同一个位置，可能有多个合理候选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模型不是每次只有唯一正确的下一个Token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待续写句子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客户认可方案的整体方向，但上线之前还需要确认……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06440" y="169164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2185416"/>
            <a:ext cx="950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169164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2185416"/>
            <a:ext cx="950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数据权限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169164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54312" y="2185416"/>
            <a:ext cx="950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实施时间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26517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3145536"/>
            <a:ext cx="950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法务条款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26517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3145536"/>
            <a:ext cx="950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技术接口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0680" y="2286000"/>
            <a:ext cx="274320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" y="393192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07822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路径A：预算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425696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确认预算 → 审批人 → 采购流程 → 预计签约时间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393192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407822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路径B：数据权限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425696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确认范围 → 授权方式 → 安全与合规评审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Temperature不是“正确率按钮”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它影响输出发散程度，但不能保证事实准确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288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较低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2322576"/>
            <a:ext cx="2825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结果通常更收敛、更稳定；适合格式化、提取、分类等任务。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较高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90872" y="2322576"/>
            <a:ext cx="2825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结果通常更发散、多样；适合创意、头脑风暴等任务。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8288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8472" y="2322576"/>
            <a:ext cx="2825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低随机性不等于事实一定正确；0也不保证跨模型绝对一致。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 ≠ 正确；多样 ≠ 高质量。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生成机制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一次Demo正确，为什么还不够？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因为产品需要稳定通过验收，而不是偶尔生成好结果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98424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745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生成路径会变化：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同一输入可能走向不同表达和重点。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67512" y="2779776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700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任务没定义时更发散：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模型会替你猜“整理”的范围和用途。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67512" y="3575304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6557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缺少验收标准：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结果看起来通顺，也可能不能进入业务流程。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67512" y="4370832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611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产品要做的是：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定义任务、补齐上下文、约束边界、设计确认。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Token：模型处理和生成信息的基本单位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它不固定等于一个汉字、一个词或一句话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94560"/>
            <a:ext cx="429768" cy="502920"/>
          </a:xfrm>
          <a:prstGeom prst="roundRect">
            <a:avLst>
              <a:gd name="adj" fmla="val 1702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688336"/>
            <a:ext cx="100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53896" y="2194560"/>
            <a:ext cx="603504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2688336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67128" y="2194560"/>
            <a:ext cx="603504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688336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80360" y="2194560"/>
            <a:ext cx="429768" cy="502920"/>
          </a:xfrm>
          <a:prstGeom prst="roundRect">
            <a:avLst>
              <a:gd name="adj" fmla="val 1702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688336"/>
            <a:ext cx="100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9856" y="2194560"/>
            <a:ext cx="950976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2688336"/>
            <a:ext cx="62179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核心诉求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2194560"/>
            <a:ext cx="429768" cy="502920"/>
          </a:xfrm>
          <a:prstGeom prst="roundRect">
            <a:avLst>
              <a:gd name="adj" fmla="val 1702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688336"/>
            <a:ext cx="100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0056" y="21945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2688336"/>
            <a:ext cx="4480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07024" y="2194560"/>
            <a:ext cx="603504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2688336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0256" y="2194560"/>
            <a:ext cx="429768" cy="502920"/>
          </a:xfrm>
          <a:prstGeom prst="roundRect">
            <a:avLst>
              <a:gd name="adj" fmla="val 1702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688336"/>
            <a:ext cx="100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154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仅用于理解概念：真实切分取决于目标模型的Tokenizer。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" y="404164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9319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产品经理为什么要知道Token？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因为它关系到一次任务能装多少内容，以及API调用成本。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上下文窗口：模型本次任务的有限工作台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模型已有能力 ≠ 本次任务实际看到的信息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pic>
        <p:nvPicPr>
          <p:cNvPr id="11" name="Image 0" descr="/mnt/data/a_clean_flat_vector_illustration_infographic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6657"/>
            <a:ext cx="4937760" cy="277896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72200" y="17830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36792" y="2276856"/>
            <a:ext cx="17739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产品内部指令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32520" y="17830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2276856"/>
            <a:ext cx="17739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用户本次输入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26060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3099816"/>
            <a:ext cx="17739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历史对话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32520" y="26060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97112" y="3099816"/>
            <a:ext cx="17739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上传材料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4290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922776"/>
            <a:ext cx="17739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业务数据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732520" y="34290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97112" y="3922776"/>
            <a:ext cx="17739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输出空间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80760" y="457200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本次调用涉及的Token = 输入材料 + 内部规则 + 历史信息 + 模型输出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上下文问题不只是“装不下”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容量和质量都决定模型输出效果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82880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97510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2322576"/>
            <a:ext cx="4425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请求可能超出限制；历史可能被压缩或移除；输出空间可能不足；具体行为取决于模型和产品实现。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97510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质量问题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322576"/>
            <a:ext cx="4425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无关信息太多；资料版本冲突；旧信息干扰当前任务；重要事实被噪声淹没。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上下文窗口回答“最多能装多少”；上下文设计回答“当前应该装什么”。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Token与上下文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练习：哪些材料应该放进本次上下文？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任务：提取本次客户诉求、异议和下一步行动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7452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FF1DF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02082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本次必须提供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2368296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本次销售拜访转写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客户基本信息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当前商机阶段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187452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02082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视任务按需提供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82312" y="2368296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本次讨论产品的功能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报价规则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相关历史CRM记录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66760" y="187452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202082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当前不应全部提供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2368296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公司全部历史CRM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公司全部制度文件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无关部门资料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写Prompt之前，先定义结果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产品经理与普通工具用户的分水岭：先想输出和验收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28800"/>
            <a:ext cx="4800600" cy="1508760"/>
          </a:xfrm>
          <a:prstGeom prst="roundRect">
            <a:avLst>
              <a:gd name="adj" fmla="val 4848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75104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很长但无效的Prompt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322576"/>
            <a:ext cx="4471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“你是一位非常资深、专业、全面、深入的销售专家……”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2606040"/>
            <a:ext cx="594360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46520" y="173736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883664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真正缺的不是形容词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1112" y="2231136"/>
            <a:ext cx="4334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谁使用？输出什么？怎样验收？依据哪些材料？信息不足怎么办？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4892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Prompt不是脱离需求的文案技巧。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产品设计顺序：输出—输入—处理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这是设计顺序，不是系统运行顺序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965960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3055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128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52728" y="21488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谁在什么时点使用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1426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角色、任务场景、下一步动作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596896" y="2788920"/>
            <a:ext cx="256032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44368" y="1965960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13055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2128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38728" y="21488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需要什么目标输出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2560320"/>
            <a:ext cx="1426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不是“专业总结”，而是字段和结果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882896" y="2788920"/>
            <a:ext cx="256032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30368" y="1965960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13055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2128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824728" y="21488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怎样判断可用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0" y="2560320"/>
            <a:ext cx="1426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格式只是外观，验收标准决定能不能用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168896" y="2788920"/>
            <a:ext cx="256032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16368" y="1965960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213055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22128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10728" y="21488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模型需要哪些信息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0" y="2560320"/>
            <a:ext cx="1426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事实、背景、规则和来源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454896" y="2788920"/>
            <a:ext cx="256032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802368" y="1965960"/>
            <a:ext cx="1938528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6960" y="213055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221284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396728" y="214884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最后设计Prompt和流程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0" y="2560320"/>
            <a:ext cx="1426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Prompt、工作流、确认和校验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同一段拜访录音，给谁用会改变输出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不要把“用户”当成抽象画像，要具体到角色、时点和动作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7452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208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一线销售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368296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回顾信息并推动下一步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更关注：诉求、异议、承诺、待办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3611880" y="187452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20208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销售主管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76472" y="2368296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判断商机并辅导销售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更关注：风险、阶段、关键缺口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446520" y="187452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0208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368296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确认双方共识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更关注：结论、双方行动项、时间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9281160" y="187452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0208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CRM系统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45752" y="2368296"/>
            <a:ext cx="2139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形成结构化记录</a:t>
            </a:r>
            <a:endParaRPr lang="en-US" sz="1130" dirty="0"/>
          </a:p>
          <a:p>
            <a:pPr marL="0" indent="0">
              <a:buNone/>
            </a:pP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更关注：固定字段、状态、证据</a:t>
            </a:r>
            <a:endParaRPr lang="en-US" sz="11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反推设计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课堂产出V0.1：目标输出、验收标准、上下文清单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这一步先把产品任务定义清楚，再进入Prompt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288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751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目标输出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32257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客户核心诉求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明确异议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下一步行动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待确认信息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751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验收标准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90872" y="232257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事实可追溯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缺失信息标记待确认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行动项包含负责人和时间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9751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必要上下文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94192" y="232257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拜访转写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客户/商机信息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字段定义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事实规则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结构化Prompt六要素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它是一张检查清单，不是必须等长填写的六个格子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角色与能力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以什么视角处理任务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任务目标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32257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本次必须完成什么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75320" y="182880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背景与输入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9912" y="232257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依据哪些事实和变量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77240" y="30632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20954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规则与约束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355701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边界、缺失、推测如何处理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4526280" y="30632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20954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输出与验收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90872" y="355701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结果长什么样，怎样算可用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275320" y="30632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320954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示例与迭代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39912" y="355701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是否需要正反例和检查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097280" y="50749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判断是否写入Prompt，只问：它解决了什么歧义、信息缺口、业务风险或输出问题？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六要素不是堆词，而是消除任务歧义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销售拜访记录助手中的写法示例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830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293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角色与任务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276856"/>
            <a:ext cx="31455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你是销售拜访记录整理助手，负责依据给定材料提取客户明确表达的信息，供销售检查后录入CRM。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389120" y="17830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9293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规则与约束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2276856"/>
            <a:ext cx="31455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只依据材料；不把推测写成客户事实；没有负责人或时间时标记“待确认”；关键结论附证据原话。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001000" y="17830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19293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输出与验收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5592" y="2276856"/>
            <a:ext cx="31455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按字段输出：诉求、异议、行动项、待确认信息；行动项尽量包含事项、负责人、截止时间和状态。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280160" y="4892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Prompt质量不等于长度，而是任务更明确、规则更有效、结果更可验收。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Prompt从V0到V3：逐步补齐产品判断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不是把一句话变长，而是把任务定义补完整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202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25880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帮我整理一下这次销售拜访。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514600"/>
            <a:ext cx="1819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帮我整理一下这次销售拜访。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2880360"/>
            <a:ext cx="33832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20440" y="19202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85032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0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加入明确任务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2514600"/>
            <a:ext cx="1819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提取诉求、异议和行动项。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2880360"/>
            <a:ext cx="33832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19202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03720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加入材料边界与事实规则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2514600"/>
            <a:ext cx="1819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只依据转写，不得把推测写成事实。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41080" y="2880360"/>
            <a:ext cx="33832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8280" y="192024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62872" y="208483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216712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692640" y="2103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加入字段、验收标准与缺失信息处理。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54312" y="2514600"/>
            <a:ext cx="18196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加入字段、验收标准与缺失信息处理。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六要素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学员互查：一段Prompt先看这六项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不要求完美，但要知道每句话解决什么问题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8288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322576"/>
            <a:ext cx="4242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角色简洁且有用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322576"/>
            <a:ext cx="4242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任务唯一、明确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6517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145536"/>
            <a:ext cx="4242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输入材料有边界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26517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3145536"/>
            <a:ext cx="4242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规则对应真实风险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4747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968496"/>
            <a:ext cx="4242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输出可以验收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968496"/>
            <a:ext cx="4242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示例或迭代确有必要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短休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休息5分钟，回来做“Prompt产品化”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请保存好你的Prompt V0.2，下一步不再写Prompt，而是拆产品分工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pic>
        <p:nvPicPr>
          <p:cNvPr id="11" name="Image 0" descr="/mnt/data/wide_flat_vector_illustration_scene_of_a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45315"/>
            <a:ext cx="4297680" cy="241873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67512" y="225856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1488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回来后，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我们会把Prompt里的内容拆成产品内部、用户填写和系统获取。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667512" y="312724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0175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重点变化，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从“用户怎么写Prompt”转成“产品替用户承担什么复杂度”。</a:t>
            </a:r>
            <a:endParaRPr lang="en-US" sz="1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一段好Prompt，为什么还不是产品？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如果让每个销售自己补完整，它只是专业工具用法，不是产品体验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2880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75104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好Prompt仍然要求用户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322576"/>
            <a:ext cx="43342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理解六要素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复制模板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找到客户和商机资料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记住公司字段与业务规则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每次重复填写固定内容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2880360"/>
            <a:ext cx="731520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182880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1975104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产品化要做的是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02552" y="2322576"/>
            <a:ext cx="43342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固定要求由产品维护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变化信息通过字段收集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已有信息自动获取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高风险结果由用户确认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产品内部指令 vs 用户本次输入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先从产品分工理解，不急着背API消息协议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82880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97510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产品内部指令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322576"/>
            <a:ext cx="4425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长期稳定的角色、任务边界、业务规则和输出要求。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例：不得把推测写成事实；没有时间标待确认；统一CRM字段。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97510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用户本次输入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56832" y="2322576"/>
            <a:ext cx="4425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本次变化的材料、选择和补充。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例：本次拜访转写、本次重点关注、特殊备注、是否生成跟进邮件。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产品内部定义越完整，用户越不需要每次重新写完整Prompt。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三类信息供给：固定、用户、系统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同一个信息在不同任务中可能归类不同，先问它由谁最适合提供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同一产品任务中长期稳定，应该由产品统一维护。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角色、字段、事实规则、统一输出结构。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9751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用户提供项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322576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只有用户知道，或必须由用户主动选择。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本次重点、特殊备注、额外输出选择。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9751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系统获取项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322576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系统已有或授权后可获得。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转写、客户资料、商机阶段、参会人、拜访时间。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风险处理：不是所有结果都能直接写入系统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信息供给和风险处理是两个维度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普通展示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错误影响较低，允许用户直接查看或编辑。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例：普通摘要、学习笔记。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9751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建议检查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322576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提供证据、状态和明显修改入口。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例：客户诉求、异议、风险判断。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97510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必须确认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322576"/>
            <a:ext cx="30083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日期、金额、负责人、客户承诺，以及写入/发送等外部动作。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销售拜访记录助手：从Prompt到产品验证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场景已经决定做以后，怎样让模型更可靠地完成任务？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pic>
        <p:nvPicPr>
          <p:cNvPr id="11" name="Image 0" descr="/mnt/data/wide_clean_vector_illustration_infographic_st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8066"/>
            <a:ext cx="5029200" cy="283042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71032" y="198424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874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今天不重新讨论价值，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只检查上下文、Prompt约束和用户确认流程。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5971032" y="280720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6974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使用已有V0.2/V0.3，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不从空白页重写Prompt。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5971032" y="3630168"/>
            <a:ext cx="64008" cy="64008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35204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最多改3条，</a:t>
            </a:r>
            <a:r>
              <a:rPr lang="en-US" sz="18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每条修改必须对应一个具体Bad Case。</a:t>
            </a:r>
            <a:endParaRPr lang="en-US" sz="1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案例速查：哪些是事实，哪些只是可能？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学员扫描材料时重点圈：数字、日期、人名、确认/可能/暂定/不承诺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1DF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已确认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48家直营店；当前按5家准备；6月19日方案和清单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751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 / 条件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23225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内部协调顺利时可能扩到8家；标准接口下可能两周完成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20954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未确认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35570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预算金额、决策人、采购时间、部署方式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0632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20954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客户纠正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8232" y="35570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试点通过不等于已经承诺采购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第一轮：通顺结果里找Bad Case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最危险的是读起来很顺，却把可能写成承诺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“计划8家试点”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把可能方案写成确定事实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“试点后采购并推广”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90872" y="232257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把推测写成客户承诺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275320" y="182880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197510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“预计6月底上线”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39912" y="232257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把希望写成计划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77240" y="306324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20954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“两周完成对接”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1832" y="355701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丢失条件和边界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526280" y="306324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320954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“预算不是主要问题”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90872" y="355701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自行弱化风险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275320" y="306324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320954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行动项无负责人日期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39912" y="3557016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无法创建后续任务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1097280" y="49834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Case描述必须包含：结果原文、具体问题、原文证据、违反的验收标准。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第二轮：最小修改，不要重写全文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看到结果不好，先定位它对应哪个缺口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不要这样改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2871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“必须输出5家试点。”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这只能解决当前材料，下个客户不会还是5家。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9751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应该这样改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322576"/>
            <a:ext cx="2871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区分已确认、讨论中和待确认；不把方案方估计写成客户承诺。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8288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97510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最多3条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8472" y="2322576"/>
            <a:ext cx="2871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关键结论附证据；待确认信息单列；行动项包含事项、负责人、时间、状态。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第二轮验收：只检查五个关键点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结构化Prompt改完后，要用验收标准检查，而不是凭感觉说更好了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691640"/>
            <a:ext cx="9646920" cy="438912"/>
          </a:xfrm>
          <a:prstGeom prst="roundRect">
            <a:avLst>
              <a:gd name="adj" fmla="val 16667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9032" y="2185416"/>
            <a:ext cx="93177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5家确认与8家待确认是否区分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2404872"/>
            <a:ext cx="9646920" cy="438912"/>
          </a:xfrm>
          <a:prstGeom prst="roundRect">
            <a:avLst>
              <a:gd name="adj" fmla="val 16667"/>
            </a:avLst>
          </a:prstGeom>
          <a:solidFill>
            <a:srgbClr val="FDF0DD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898648"/>
            <a:ext cx="93177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试点不等于采购承诺是否保留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34440" y="3118104"/>
            <a:ext cx="9646920" cy="438912"/>
          </a:xfrm>
          <a:prstGeom prst="roundRect">
            <a:avLst>
              <a:gd name="adj" fmla="val 16667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9032" y="3611880"/>
            <a:ext cx="93177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两周和6月底是否标为未承诺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3831336"/>
            <a:ext cx="9646920" cy="438912"/>
          </a:xfrm>
          <a:prstGeom prst="roundRect">
            <a:avLst>
              <a:gd name="adj" fmla="val 16667"/>
            </a:avLst>
          </a:prstGeom>
          <a:solidFill>
            <a:srgbClr val="FDF0DD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4325112"/>
            <a:ext cx="93177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行动项是否有负责人和日期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34440" y="4544568"/>
            <a:ext cx="9646920" cy="438912"/>
          </a:xfrm>
          <a:prstGeom prst="roundRect">
            <a:avLst>
              <a:gd name="adj" fmla="val 16667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9032" y="5038344"/>
            <a:ext cx="93177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预算、决策人、启动时间是否列为待确认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案例验证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产品流程：把Prompt能力封装成用户可操作的功能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用户不需要理解Prompt，产品负责收集信息、呈现证据、控制风险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11680"/>
            <a:ext cx="1901952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217627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2585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录音/转写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2606040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系统获取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496312" y="2880360"/>
            <a:ext cx="29260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2011680"/>
            <a:ext cx="1901952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217627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2585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20440" y="21945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客户与商机信息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82112" y="2606040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自动带入，可查看修正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828032" y="2880360"/>
            <a:ext cx="29260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57800" y="2011680"/>
            <a:ext cx="1901952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22392" y="217627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22585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852160" y="21945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AI整理草稿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13832" y="2606040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结构化字段与证据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159752" y="2880360"/>
            <a:ext cx="29260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89520" y="2011680"/>
            <a:ext cx="1901952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54112" y="217627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22585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83880" y="21945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用户检查确认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845552" y="2606040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高风险内容必须确认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491472" y="2880360"/>
            <a:ext cx="292608" cy="0"/>
          </a:xfrm>
          <a:prstGeom prst="line">
            <a:avLst/>
          </a:prstGeom>
          <a:noFill/>
          <a:ln w="16510">
            <a:solidFill>
              <a:srgbClr val="C9532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21240" y="2011680"/>
            <a:ext cx="1901952" cy="1737360"/>
          </a:xfrm>
          <a:prstGeom prst="roundRect">
            <a:avLst>
              <a:gd name="adj" fmla="val 4211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85832" y="2176272"/>
            <a:ext cx="320040" cy="320040"/>
          </a:xfrm>
          <a:prstGeom prst="ellipse">
            <a:avLst/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85832" y="225856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515600" y="21945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写入CRM/创建任务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177272" y="2606040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外部动作前最终确认</a:t>
            </a:r>
            <a:endParaRPr lang="en-US" sz="9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Case边界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Case边界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Case初筛：先问问题发生在哪里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不要立即重写Prompt，也不要立即上RAG或Agent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8288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任务问题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到底服务谁、完成什么、做到哪里结束？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751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上下文问题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23225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事实是否足够、可靠、清楚？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20954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规则问题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35570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推测、缺失、冲突和高风险怎样处理？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0632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20954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输出问题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8232" y="35570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结果能否检查并进入下一步流程？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分类可以交叉，但必须先提出一个具体验证动作。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Case边界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Case边界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Prompt与其他机制的边界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技术名词不是固定升级路线，先识别问题类型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0020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746504"/>
            <a:ext cx="10186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任务/输入/规则/输出没说清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87552" y="2093976"/>
            <a:ext cx="101864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优先考虑：Prompt和上下文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DF0DD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69464"/>
            <a:ext cx="10186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缺企业最新或私有知识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87552" y="2916936"/>
            <a:ext cx="101864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优先考虑：知识库/RAG/检索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392424"/>
            <a:ext cx="10186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需要多步骤和条件分支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87552" y="3739896"/>
            <a:ext cx="101864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优先考虑：Workflow/流程编排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DF0DD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215384"/>
            <a:ext cx="10186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需要查询、写入或发送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87552" y="4562856"/>
            <a:ext cx="101864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优先考虑：工具调用/API/权限确认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038344"/>
            <a:ext cx="10186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模型能力持续不达标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987552" y="5385816"/>
            <a:ext cx="101864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优先考虑：换模型、微调、评测、人工兜底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四句话收束整节课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每一句都对应产品经理需要建立的判断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288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75104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322576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大模型是生成，不是固定查询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975104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2322576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上下文是有限的任务工作区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1089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9EE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255264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602736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好Prompt来自清楚的产品定义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1089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3E4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255264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602736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Prompt产品化是让产品承担复杂度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182880"/>
            <a:ext cx="612648" cy="338328"/>
          </a:xfrm>
          <a:prstGeom prst="roundRect">
            <a:avLst>
              <a:gd name="adj" fmla="val 216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AI产品经理系统课程 · 第2课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6696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02568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课后作业：《Prompt产品化设计单》V1.0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21208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C68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从自己的工作中找一个具体文本任务，完整走一遍设计链路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12700">
            <a:solidFill>
              <a:srgbClr val="D9CD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7373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2311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一个具体场景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311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至少2项目标输出及验收标准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68680" y="24231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9169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至少3类必要上下文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63640" y="24231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9169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一版结构化Prompt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68680" y="31089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36027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信息供给方式与风险处理拆分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263640" y="31089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6027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至少运行1条样例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68680" y="37947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2885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 找到1条Bad Case并提出修改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263640" y="379476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D9CD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288536"/>
            <a:ext cx="44256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 不提交敏感数据</a:t>
            </a:r>
            <a:endParaRPr lang="en-US" sz="11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tyle_tech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94460"/>
            <a:ext cx="5303520" cy="3977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02920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C9532F"/>
          </a:solidFill>
          <a:ln w="12700">
            <a:solidFill>
              <a:srgbClr val="C9532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7607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集中答疑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929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请先在模板里写下自己的作业选题，避免下课后题目选得过大。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5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2044</Words>
  <Application>Microsoft Macintosh PowerPoint</Application>
  <PresentationFormat>宽屏</PresentationFormat>
  <Paragraphs>679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大模型基础、上下文与Prompt产品化设计</dc:title>
  <dc:subject>AI产品经理系统课程</dc:subject>
  <dc:creator>OpenAI</dc:creator>
  <cp:lastModifiedBy>didi</cp:lastModifiedBy>
  <cp:revision>2</cp:revision>
  <dcterms:created xsi:type="dcterms:W3CDTF">2026-07-19T08:32:49Z</dcterms:created>
  <dcterms:modified xsi:type="dcterms:W3CDTF">2026-07-20T03:10:58Z</dcterms:modified>
</cp:coreProperties>
</file>