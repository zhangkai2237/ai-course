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notesMasterIdLst>
    <p:notesMasterId r:id="rId8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notesMaster" Target="notesMasters/notesMaster1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内容依据：AI产品方案与PRD设计实战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内容依据：第9课会评测，第10课把评测要求前置到产品方案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内容依据：第10课的产品设计主线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内容依据：学习目标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内容依据：01 业务背景与产品目标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内容依据：项目从内容生产提速开始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内容依据：人工审核流程出现五类问题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内容依据：生产效率提升，审核成为新瓶颈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内容依据：审核不一致与规则变化同时存在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内容依据：系统既要沉淀数据，也要保留人工责任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内容依据：先补业务基线，再验证产品假设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内容依据：不要把业务需求直接写成产品需求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内容依据：项目中有四类核心用户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内容依据：产品目标要能被业务和评测共同验证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内容依据：第一版同时写清目标与非目标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/Users/keivn/Project/AI-Course/课程生产/第一阶段/第10课_AI产品方案与PRD设计实战_重做工作区/01_第一节_智能审核项目的业务背景与产品目标.md
- 内容依据：第一版项目定义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内容依据：02 AI介入判断与能力分工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内容依据：智能审核至少有四种候选方案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内容依据：四种方案的取舍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内容依据：AI是否介入，需要回答六个产品问题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内容依据：只使用大模型，上线时会暴露六类问题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内容依据：先按任务性质分配能力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内容依据：确定性规则负责稳定执行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内容依据：大模型负责规则难以穷举的语义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内容依据：RAG提供依据，人工承担责任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内容依据：混合审核的完整协作流程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内容依据：第一版用Workflow，而不是Agent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内容依据：能力分工要写到输入、输出和边界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/Users/keivn/Project/AI-Course/课程生产/第一阶段/第10课_AI产品方案与PRD设计实战_重做工作区/02_第二节_AI介入判断与智能审核方案的能力分工.md
- 内容依据：同一条文案如何被分层审核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内容依据：03 结果动作与人工复核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内容依据：先把规则、RAG和模型的原始结果放在一起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内容依据：结果合并解决三个问题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内容依据：一条正式风险结果必须结构化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内容依据：一篇内容需要四类整体处理结果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内容依据：风险等级必须映射到明确产品动作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内容依据：运营端不是只看结果，而是完成修改闭环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内容依据：六类情况触发人工复核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内容依据：人工复核工作台要减少重复劳动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内容依据：审核任务需要明确状态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内容依据：机器结果和人工结果必须同时保留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内容依据：内容修改和机器失败都不能偷走安全步骤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/Users/keivn/Project/AI-Course/课程生产/第一阶段/第10课_AI产品方案与PRD设计实战_重做工作区/03_第三节_审核结果处理动作与人工复核流程.md
- 内容依据：完整案例从V1走到V2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内容依据：04 MVP范围与能力优先级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内容依据：MVP验证的是最小审核闭环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内容依据：第一版要验证三个核心假设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内容依据：PoC、MVP与完整产品回答不同问题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内容依据：功能是否进入MVP，连续问四个问题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内容依据：第一版主动收窄试点范围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内容依据：MVP必须具备八类能力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内容依据：这些能力暂时不进入第一版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内容依据：能力优先级围绕闭环排序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/Users/keivn/Project/AI-Course/课程生产/第一阶段/第10课_AI产品方案与PRD设计实战_重做工作区/04_第四节_智能审核产品的MVP范围与能力优先级.md
- 内容依据：MVP采用小范围试点，而不是一次性全量上线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内容依据：05 大模型能力输入与输出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内容依据：一项AI能力要求至少包含八个部分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内容依据：不要让模型判断“是否合法”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内容依据：模型需要五类输入信息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内容依据：模型输入不是一句Prompt，而是一组受控上下文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内容依据：输出结构必须能够被系统稳定解析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内容依据：模型提供判断材料，系统决定业务动作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内容依据：修改建议和最终改写是两个任务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内容依据：不确定与失败结果也必须有产品定义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内容依据：AI能力边界必须写进PRD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/Users/keivn/Project/AI-Course/课程生产/第一阶段/第10课_AI产品方案与PRD设计实战_重做工作区/05_第五节_大模型语义审核的输入输出与能力要求.md
- 内容依据：AI能力卡：营销文案语义风险识别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内容依据：06 评测集来源与验收约定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内容依据：首版评测集来自五类真实与补充数据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内容依据：历史标签不能直接等于标准答案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内容依据：评测表每一行都要包含输入、标准和版本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内容依据：首版评测集的整理过程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内容依据：没有历史数据，也可以建立首版评测集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内容依据：开发、验收和回归样本要分开管理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/Users/keivn/Project/AI-Course/课程生产/第一阶段/第10课_AI产品方案与PRD设计实战_重做工作区/06_第六节_智能审核评测集的来源与验收约定.md
- 内容依据：PRD中的验收约定至少写清六项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内容依据：07 组装完整AI产品PRD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内容依据：AI产品PRD比普通PRD多写三类内容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内容依据：最终PRD由十三个章节组成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内容依据：PRD首页要在一页说清项目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内容依据：前六节内容按同一顺序组装进PRD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内容依据：数据、规则和知识依赖要单独说明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内容依据：风险与待确认项不是缺陷，而是决策清单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内容依据：课堂用两项交付检验是否真正掌握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内容依据：第10课的完整产品设计链路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/Users/keivn/Project/AI-Course/课程生产/第一阶段/第10课_AI产品方案与PRD设计实战_重做工作区/07_第七节_完整AI产品PRD的组装.md
- 内容依据：PRD完成以后，还要回答：这个项目值得投入吗？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DARK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0"/>
            <a:ext cx="209550" cy="68580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81050" y="685800"/>
            <a:ext cx="3810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MANAGER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762000" y="2095500"/>
            <a:ext cx="1028700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AI产品方案与PRD设计实战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800100" y="3314700"/>
            <a:ext cx="6667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6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第10课｜核心结构版</a:t>
            </a:r>
            <a:endParaRPr lang="en-US" sz="1860" dirty="0"/>
          </a:p>
        </p:txBody>
      </p:sp>
      <p:sp>
        <p:nvSpPr>
          <p:cNvPr id="7" name="Shape 4"/>
          <p:cNvSpPr/>
          <p:nvPr/>
        </p:nvSpPr>
        <p:spPr>
          <a:xfrm>
            <a:off x="800100" y="4400550"/>
            <a:ext cx="24765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4762500"/>
            <a:ext cx="8096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BUSINESS · SOLUTION · MVP · CAPABILITY · EVALUATION · PRD</a:t>
            </a:r>
            <a:endParaRPr lang="en-US" sz="1140" dirty="0"/>
          </a:p>
        </p:txBody>
      </p:sp>
      <p:sp>
        <p:nvSpPr>
          <p:cNvPr id="9" name="Text 6"/>
          <p:cNvSpPr txBox="1"/>
          <p:nvPr/>
        </p:nvSpPr>
        <p:spPr>
          <a:xfrm>
            <a:off x="9620250" y="4552950"/>
            <a:ext cx="1428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5640" b="1" dirty="0">
                <a:solidFill>
                  <a:srgbClr val="2945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56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OVERVIEW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681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第9课会评测，第10课把评测要求前置到产品方案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500" y="20955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9" name="Text 6"/>
          <p:cNvSpPr txBox="1"/>
          <p:nvPr/>
        </p:nvSpPr>
        <p:spPr>
          <a:xfrm>
            <a:off x="1447800" y="2085975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不是先选模型，而是先把业务任务拆清楚。</a:t>
            </a:r>
            <a:endParaRPr lang="en-US" sz="1620" dirty="0"/>
          </a:p>
        </p:txBody>
      </p:sp>
      <p:sp>
        <p:nvSpPr>
          <p:cNvPr id="10" name="Text 7"/>
          <p:cNvSpPr txBox="1"/>
          <p:nvPr/>
        </p:nvSpPr>
        <p:spPr>
          <a:xfrm>
            <a:off x="952500" y="26003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11" name="Text 8"/>
          <p:cNvSpPr txBox="1"/>
          <p:nvPr/>
        </p:nvSpPr>
        <p:spPr>
          <a:xfrm>
            <a:off x="1447800" y="2590800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不是只写页面，而是定义能力、流程和责任边界。</a:t>
            </a:r>
            <a:endParaRPr lang="en-US" sz="1620" dirty="0"/>
          </a:p>
        </p:txBody>
      </p:sp>
      <p:sp>
        <p:nvSpPr>
          <p:cNvPr id="12" name="Text 9"/>
          <p:cNvSpPr txBox="1"/>
          <p:nvPr/>
        </p:nvSpPr>
        <p:spPr>
          <a:xfrm>
            <a:off x="952500" y="310515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13" name="Text 10"/>
          <p:cNvSpPr txBox="1"/>
          <p:nvPr/>
        </p:nvSpPr>
        <p:spPr>
          <a:xfrm>
            <a:off x="1447800" y="3095625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不是等上线再测，而是在PRD里约定评测与接管机制。</a:t>
            </a:r>
            <a:endParaRPr lang="en-US" sz="1620" dirty="0"/>
          </a:p>
        </p:txBody>
      </p:sp>
      <p:sp>
        <p:nvSpPr>
          <p:cNvPr id="14" name="Shape 11"/>
          <p:cNvSpPr/>
          <p:nvPr/>
        </p:nvSpPr>
        <p:spPr>
          <a:xfrm>
            <a:off x="819150" y="4286250"/>
            <a:ext cx="10553700" cy="8191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150" y="4286250"/>
            <a:ext cx="76200" cy="819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62050" y="4457700"/>
            <a:ext cx="981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怎样在开发之前，就把业务问题、AI能力、异常处理和验收要求写清楚？</a:t>
            </a: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OVERVIEW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021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第10课的产品设计主线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14525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76600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638675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00750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362825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724900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086975" y="32194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2950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6300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876300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05025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38375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7"/>
          <p:cNvSpPr txBox="1"/>
          <p:nvPr/>
        </p:nvSpPr>
        <p:spPr>
          <a:xfrm>
            <a:off x="2238375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AI介入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67100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00450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3600450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能力分工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29175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62525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6" name="Text 23"/>
          <p:cNvSpPr txBox="1"/>
          <p:nvPr/>
        </p:nvSpPr>
        <p:spPr>
          <a:xfrm>
            <a:off x="4962525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结果流程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91250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24600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324600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553325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86675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2" name="Text 29"/>
          <p:cNvSpPr txBox="1"/>
          <p:nvPr/>
        </p:nvSpPr>
        <p:spPr>
          <a:xfrm>
            <a:off x="7686675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能力契约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915400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48750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20" dirty="0"/>
          </a:p>
        </p:txBody>
      </p:sp>
      <p:sp>
        <p:nvSpPr>
          <p:cNvPr id="35" name="Text 32"/>
          <p:cNvSpPr txBox="1"/>
          <p:nvPr/>
        </p:nvSpPr>
        <p:spPr>
          <a:xfrm>
            <a:off x="9048750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评测验收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277475" y="27813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410825" y="28765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20" dirty="0"/>
          </a:p>
        </p:txBody>
      </p:sp>
      <p:sp>
        <p:nvSpPr>
          <p:cNvPr id="38" name="Text 35"/>
          <p:cNvSpPr txBox="1"/>
          <p:nvPr/>
        </p:nvSpPr>
        <p:spPr>
          <a:xfrm>
            <a:off x="10410825" y="31242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组装PRD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OVERVIEW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362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学习目标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会判断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比较人工、规则、大模型和混合方案，判断AI是否值得介入。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714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会设计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把机器判断接入修改、复核、版本和异常处理流程。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会落地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把MVP、能力输入输出和验收约定组装成可开发的PRD。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702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 业务背景与产品目标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先把真实业务问题说清楚，再讨论AI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043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项目从内容生产提速开始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846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168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429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63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8763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AI辅助生产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51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085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45085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每日内容激增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73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407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81407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人工审核积压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96000" y="3105150"/>
            <a:ext cx="0" cy="447675"/>
          </a:xfrm>
          <a:prstGeom prst="line">
            <a:avLst/>
          </a:prstGeom>
          <a:noFill/>
          <a:ln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846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168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29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63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4" name="Text 21"/>
          <p:cNvSpPr txBox="1"/>
          <p:nvPr/>
        </p:nvSpPr>
        <p:spPr>
          <a:xfrm>
            <a:off x="8763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退回修改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751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085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7" name="Text 24"/>
          <p:cNvSpPr txBox="1"/>
          <p:nvPr/>
        </p:nvSpPr>
        <p:spPr>
          <a:xfrm>
            <a:off x="45085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再次审核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073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407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0" name="Text 27"/>
          <p:cNvSpPr txBox="1"/>
          <p:nvPr/>
        </p:nvSpPr>
        <p:spPr>
          <a:xfrm>
            <a:off x="81407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通过后发布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383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人工审核流程出现五类问题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数量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内容从几十条增长到几百条，审核工作量线性上升。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同一句话，不同审核人员可能给出不同判断。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规则变化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行业、渠道、版本和活动阶段持续变化。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数据沉淀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聊天式反馈无法形成风险类型、依据和修改记录。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责任边界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高风险内容不能完全交给机器独立放行。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724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生产效率提升，审核成为新瓶颈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9150" y="2152650"/>
            <a:ext cx="10553700" cy="8191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9150" y="2152650"/>
            <a:ext cx="76200" cy="8191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62050" y="2324100"/>
            <a:ext cx="981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50条 × 5分钟 = 250分钟   →   300条 × 5分钟 = 1500分钟</a:t>
            </a:r>
            <a:endParaRPr lang="en-US" sz="1920" dirty="0"/>
          </a:p>
        </p:txBody>
      </p:sp>
      <p:sp>
        <p:nvSpPr>
          <p:cNvPr id="11" name="Text 8"/>
          <p:cNvSpPr txBox="1"/>
          <p:nvPr/>
        </p:nvSpPr>
        <p:spPr>
          <a:xfrm>
            <a:off x="1428750" y="344805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80" dirty="0"/>
          </a:p>
        </p:txBody>
      </p:sp>
      <p:sp>
        <p:nvSpPr>
          <p:cNvPr id="12" name="Text 9"/>
          <p:cNvSpPr txBox="1"/>
          <p:nvPr/>
        </p:nvSpPr>
        <p:spPr>
          <a:xfrm>
            <a:off x="1924050" y="3438525"/>
            <a:ext cx="855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AI提高了内容生产效率，却没有同步提高审核效率。</a:t>
            </a:r>
            <a:endParaRPr lang="en-US" sz="1680" dirty="0"/>
          </a:p>
        </p:txBody>
      </p:sp>
      <p:sp>
        <p:nvSpPr>
          <p:cNvPr id="13" name="Text 10"/>
          <p:cNvSpPr txBox="1"/>
          <p:nvPr/>
        </p:nvSpPr>
        <p:spPr>
          <a:xfrm>
            <a:off x="1428750" y="40386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80" dirty="0"/>
          </a:p>
        </p:txBody>
      </p:sp>
      <p:sp>
        <p:nvSpPr>
          <p:cNvPr id="14" name="Text 11"/>
          <p:cNvSpPr txBox="1"/>
          <p:nvPr/>
        </p:nvSpPr>
        <p:spPr>
          <a:xfrm>
            <a:off x="1924050" y="4029075"/>
            <a:ext cx="8553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真正的问题不是“模型能不能审”，而是审核链路能不能扩展。</a:t>
            </a:r>
            <a:endParaRPr lang="en-US" sz="1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2065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审核不一致与规则变化同时存在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同一句话，多种判断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“可能是”是否降低绝对化程度？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“最适合”是否仍属于高风险？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是否需要结合渠道和人群判断？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同一规则，多种上下文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渠道不同，适用标准不同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行业不同，风险底线不同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规则更新，需要保留历史版本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3405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系统既要沉淀数据，也要保留人工责任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结构化沉淀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风险类型与原文位置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命中规则和判断依据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最终修改与人工意见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安全接管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模型可能漏判或误拦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新规则可能尚未进入知识库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高风险结果需要责任人决定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4746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先补业务基线，再验证产品假设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28750" y="2000250"/>
            <a:ext cx="9334500" cy="895350"/>
          </a:xfrm>
          <a:prstGeom prst="roundRect">
            <a:avLst/>
          </a:prstGeom>
          <a:solidFill>
            <a:srgbClr val="31191B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57350" y="2143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FF8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当前基线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3857625" y="2143125"/>
            <a:ext cx="6619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每日审核量、平均耗时、驳回率、积压量、风险分布和人工一致性。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1905000" y="3143250"/>
            <a:ext cx="8382000" cy="89535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33600" y="3286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产品假设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333875" y="3286125"/>
            <a:ext cx="56673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规则＋AI＋人工预审能减少重复工作，同时不突破高风险安全底线。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2381250" y="4286250"/>
            <a:ext cx="7429500" cy="8953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09850" y="4429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验证方式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4810125" y="4429125"/>
            <a:ext cx="4714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历史样本PoC、小范围试点、真实人工耗时与复核量对比。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6086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不要把业务需求直接写成产品需求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7660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00075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72490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4295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表面需求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做AI审核工具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346710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0045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6" name="Text 13"/>
          <p:cNvSpPr txBox="1"/>
          <p:nvPr/>
        </p:nvSpPr>
        <p:spPr>
          <a:xfrm>
            <a:off x="360045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审核积压与不一致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619125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46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32460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用户问题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看不清哪里错、怎么改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891540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4875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2" name="Text 19"/>
          <p:cNvSpPr txBox="1"/>
          <p:nvPr/>
        </p:nvSpPr>
        <p:spPr>
          <a:xfrm>
            <a:off x="904875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产品机会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增加机器预审闭环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7427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项目中有四类核心用户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5267325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内容运营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想知道哪里有问题、为什么有问题、应该怎么改。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200775" y="2000250"/>
            <a:ext cx="5267325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0325" y="21717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人工审核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6410325" y="254317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想直接看到机器发现了什么、依据是什么、为何转人工。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23900" y="3619500"/>
            <a:ext cx="5267325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3450" y="3790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规则运营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933450" y="416242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关心规则版本、更新影响和历史内容追溯。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200775" y="3619500"/>
            <a:ext cx="5267325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0325" y="3790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业务负责人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6410325" y="416242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关心效率是否提升，以及业务风险是否可控。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8767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产品目标要能被业务和评测共同验证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095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1943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目标方向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2762250" y="1952625"/>
            <a:ext cx="5429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8450" y="2047875"/>
            <a:ext cx="5276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产品目标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191500" y="1952625"/>
            <a:ext cx="3333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67700" y="2047875"/>
            <a:ext cx="3181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后续验证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095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2762250" y="2466975"/>
            <a:ext cx="5429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57500" y="2543175"/>
            <a:ext cx="523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减少人工从头检查每条内容的重复工作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8191500" y="2466975"/>
            <a:ext cx="3333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86750" y="254317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单条审核耗时、积压量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095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2762250" y="3019425"/>
            <a:ext cx="5429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57500" y="3095625"/>
            <a:ext cx="523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提前发现高频、明确和语义型风险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8191500" y="3019425"/>
            <a:ext cx="3333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86750" y="309562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漏判、误判、风险覆盖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095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一致性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2762250" y="3571875"/>
            <a:ext cx="5429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857500" y="3648075"/>
            <a:ext cx="523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把规则、依据和输出结构标准化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8191500" y="3571875"/>
            <a:ext cx="3333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86750" y="364807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人工一致性、解析成功率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2095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安全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2762250" y="4124325"/>
            <a:ext cx="5429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857500" y="4200525"/>
            <a:ext cx="5238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不确定与高风险内容能够转人工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8191500" y="4124325"/>
            <a:ext cx="3333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86750" y="420052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人工接管率、失败放行数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0108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第一版同时写清目标与非目标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第一版要做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文本营销内容机器预审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风险定位、依据与修改建议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高风险和不确定结果转人工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第一版不做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不覆盖所有行业与多模态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不自动修改并直接发布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不替代法务承担最终责任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BUSINESS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1448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第一版项目定义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500" y="20955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9" name="Text 6"/>
          <p:cNvSpPr txBox="1"/>
          <p:nvPr/>
        </p:nvSpPr>
        <p:spPr>
          <a:xfrm>
            <a:off x="1447800" y="2085975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产品对象：营销文本内容。</a:t>
            </a:r>
            <a:endParaRPr lang="en-US" sz="1620" dirty="0"/>
          </a:p>
        </p:txBody>
      </p:sp>
      <p:sp>
        <p:nvSpPr>
          <p:cNvPr id="10" name="Text 7"/>
          <p:cNvSpPr txBox="1"/>
          <p:nvPr/>
        </p:nvSpPr>
        <p:spPr>
          <a:xfrm>
            <a:off x="952500" y="26003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11" name="Text 8"/>
          <p:cNvSpPr txBox="1"/>
          <p:nvPr/>
        </p:nvSpPr>
        <p:spPr>
          <a:xfrm>
            <a:off x="1447800" y="2590800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产品位置：正式发布前的机器预审。</a:t>
            </a:r>
            <a:endParaRPr lang="en-US" sz="1620" dirty="0"/>
          </a:p>
        </p:txBody>
      </p:sp>
      <p:sp>
        <p:nvSpPr>
          <p:cNvPr id="12" name="Text 9"/>
          <p:cNvSpPr txBox="1"/>
          <p:nvPr/>
        </p:nvSpPr>
        <p:spPr>
          <a:xfrm>
            <a:off x="952500" y="310515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13" name="Text 10"/>
          <p:cNvSpPr txBox="1"/>
          <p:nvPr/>
        </p:nvSpPr>
        <p:spPr>
          <a:xfrm>
            <a:off x="1447800" y="3095625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产品底线：不自动发布，不替代最终责任人。</a:t>
            </a:r>
            <a:endParaRPr lang="en-US" sz="1620" dirty="0"/>
          </a:p>
        </p:txBody>
      </p:sp>
      <p:sp>
        <p:nvSpPr>
          <p:cNvPr id="14" name="Shape 11"/>
          <p:cNvSpPr/>
          <p:nvPr/>
        </p:nvSpPr>
        <p:spPr>
          <a:xfrm>
            <a:off x="819150" y="4286250"/>
            <a:ext cx="10553700" cy="8191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9150" y="4286250"/>
            <a:ext cx="76200" cy="819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162050" y="4457700"/>
            <a:ext cx="981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规则处理明确检查，大模型识别复杂语义，知识库提供当前依据；低风险进入快速流程，高风险与不确定结果交给人工。</a:t>
            </a: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2789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 AI介入判断与能力分工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先比较方案，再决定每种能力负责什么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4130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智能审核至少有四种候选方案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5267325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纯人工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理解上下文、可以担责，但工作量随内容量线性增长。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200775" y="2000250"/>
            <a:ext cx="5267325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0325" y="21717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纯规则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6410325" y="254317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稳定、便宜、可解释，但难以覆盖隐含语义和上下文。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23900" y="3619500"/>
            <a:ext cx="5267325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3450" y="3790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纯大模型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933450" y="416242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语义理解强，但结果波动、依据可能过时、责任不清。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200775" y="3619500"/>
            <a:ext cx="5267325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0325" y="3790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混合方案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6410325" y="416242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规则＋大模型＋RAG＋人工，能力互补但系统复杂度更高。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5470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四种方案的取舍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1714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1562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2381250" y="1952625"/>
            <a:ext cx="1809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57450" y="2047875"/>
            <a:ext cx="1657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语义理解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4191000" y="1952625"/>
            <a:ext cx="1809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67200" y="2047875"/>
            <a:ext cx="1657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稳定性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000750" y="1952625"/>
            <a:ext cx="2000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76950" y="2047875"/>
            <a:ext cx="1847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当前依据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8001000" y="1952625"/>
            <a:ext cx="1714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077200" y="2047875"/>
            <a:ext cx="1562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人工量</a:t>
            </a:r>
            <a:endParaRPr lang="en-US" sz="1320" dirty="0"/>
          </a:p>
        </p:txBody>
      </p:sp>
      <p:sp>
        <p:nvSpPr>
          <p:cNvPr id="18" name="Shape 15"/>
          <p:cNvSpPr/>
          <p:nvPr/>
        </p:nvSpPr>
        <p:spPr>
          <a:xfrm>
            <a:off x="9715500" y="1952625"/>
            <a:ext cx="1809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91700" y="2047875"/>
            <a:ext cx="1657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复杂度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666750" y="2466975"/>
            <a:ext cx="171450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254317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纯人工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2381250" y="2466975"/>
            <a:ext cx="18097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476500" y="254317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4191000" y="2466975"/>
            <a:ext cx="18097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86250" y="254317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受人员一致性影响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000750" y="2466975"/>
            <a:ext cx="20002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96000" y="2543175"/>
            <a:ext cx="180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人工查询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8001000" y="2466975"/>
            <a:ext cx="171450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096250" y="254317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9715500" y="2466975"/>
            <a:ext cx="18097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9810750" y="254317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3057525"/>
            <a:ext cx="171450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313372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纯规则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2381250" y="3057525"/>
            <a:ext cx="18097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476500" y="313372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弱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4191000" y="3057525"/>
            <a:ext cx="18097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286250" y="313372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1236" dirty="0"/>
          </a:p>
        </p:txBody>
      </p:sp>
      <p:sp>
        <p:nvSpPr>
          <p:cNvPr id="38" name="Shape 35"/>
          <p:cNvSpPr/>
          <p:nvPr/>
        </p:nvSpPr>
        <p:spPr>
          <a:xfrm>
            <a:off x="6000750" y="3057525"/>
            <a:ext cx="20002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096000" y="3133725"/>
            <a:ext cx="180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结构化规则</a:t>
            </a:r>
            <a:endParaRPr lang="en-US" sz="1236" dirty="0"/>
          </a:p>
        </p:txBody>
      </p:sp>
      <p:sp>
        <p:nvSpPr>
          <p:cNvPr id="40" name="Shape 37"/>
          <p:cNvSpPr/>
          <p:nvPr/>
        </p:nvSpPr>
        <p:spPr>
          <a:xfrm>
            <a:off x="8001000" y="3057525"/>
            <a:ext cx="171450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096250" y="313372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1236" dirty="0"/>
          </a:p>
        </p:txBody>
      </p:sp>
      <p:sp>
        <p:nvSpPr>
          <p:cNvPr id="42" name="Shape 39"/>
          <p:cNvSpPr/>
          <p:nvPr/>
        </p:nvSpPr>
        <p:spPr>
          <a:xfrm>
            <a:off x="9715500" y="3057525"/>
            <a:ext cx="18097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9810750" y="313372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1236" dirty="0"/>
          </a:p>
        </p:txBody>
      </p:sp>
      <p:sp>
        <p:nvSpPr>
          <p:cNvPr id="44" name="Shape 41"/>
          <p:cNvSpPr/>
          <p:nvPr/>
        </p:nvSpPr>
        <p:spPr>
          <a:xfrm>
            <a:off x="666750" y="3648075"/>
            <a:ext cx="171450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62000" y="372427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纯大模型</a:t>
            </a:r>
            <a:endParaRPr lang="en-US" sz="1236" dirty="0"/>
          </a:p>
        </p:txBody>
      </p:sp>
      <p:sp>
        <p:nvSpPr>
          <p:cNvPr id="46" name="Shape 43"/>
          <p:cNvSpPr/>
          <p:nvPr/>
        </p:nvSpPr>
        <p:spPr>
          <a:xfrm>
            <a:off x="2381250" y="3648075"/>
            <a:ext cx="18097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2476500" y="372427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</a:t>
            </a:r>
            <a:endParaRPr lang="en-US" sz="1236" dirty="0"/>
          </a:p>
        </p:txBody>
      </p:sp>
      <p:sp>
        <p:nvSpPr>
          <p:cNvPr id="48" name="Shape 45"/>
          <p:cNvSpPr/>
          <p:nvPr/>
        </p:nvSpPr>
        <p:spPr>
          <a:xfrm>
            <a:off x="4191000" y="3648075"/>
            <a:ext cx="18097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286250" y="372427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相对较低</a:t>
            </a:r>
            <a:endParaRPr lang="en-US" sz="1236" dirty="0"/>
          </a:p>
        </p:txBody>
      </p:sp>
      <p:sp>
        <p:nvSpPr>
          <p:cNvPr id="50" name="Shape 47"/>
          <p:cNvSpPr/>
          <p:nvPr/>
        </p:nvSpPr>
        <p:spPr>
          <a:xfrm>
            <a:off x="6000750" y="3648075"/>
            <a:ext cx="20002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6096000" y="3724275"/>
            <a:ext cx="180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容易缺失</a:t>
            </a:r>
            <a:endParaRPr lang="en-US" sz="1236" dirty="0"/>
          </a:p>
        </p:txBody>
      </p:sp>
      <p:sp>
        <p:nvSpPr>
          <p:cNvPr id="52" name="Shape 49"/>
          <p:cNvSpPr/>
          <p:nvPr/>
        </p:nvSpPr>
        <p:spPr>
          <a:xfrm>
            <a:off x="8001000" y="3648075"/>
            <a:ext cx="171450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096250" y="372427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1236" dirty="0"/>
          </a:p>
        </p:txBody>
      </p:sp>
      <p:sp>
        <p:nvSpPr>
          <p:cNvPr id="54" name="Shape 51"/>
          <p:cNvSpPr/>
          <p:nvPr/>
        </p:nvSpPr>
        <p:spPr>
          <a:xfrm>
            <a:off x="9715500" y="3648075"/>
            <a:ext cx="1809750" cy="5905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810750" y="372427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</a:t>
            </a:r>
            <a:endParaRPr lang="en-US" sz="1236" dirty="0"/>
          </a:p>
        </p:txBody>
      </p:sp>
      <p:sp>
        <p:nvSpPr>
          <p:cNvPr id="56" name="Shape 53"/>
          <p:cNvSpPr/>
          <p:nvPr/>
        </p:nvSpPr>
        <p:spPr>
          <a:xfrm>
            <a:off x="666750" y="4238625"/>
            <a:ext cx="171450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762000" y="431482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混合方案</a:t>
            </a:r>
            <a:endParaRPr lang="en-US" sz="1236" dirty="0"/>
          </a:p>
        </p:txBody>
      </p:sp>
      <p:sp>
        <p:nvSpPr>
          <p:cNvPr id="58" name="Shape 55"/>
          <p:cNvSpPr/>
          <p:nvPr/>
        </p:nvSpPr>
        <p:spPr>
          <a:xfrm>
            <a:off x="2381250" y="4238625"/>
            <a:ext cx="18097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2476500" y="431482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</a:t>
            </a:r>
            <a:endParaRPr lang="en-US" sz="1236" dirty="0"/>
          </a:p>
        </p:txBody>
      </p:sp>
      <p:sp>
        <p:nvSpPr>
          <p:cNvPr id="60" name="Shape 57"/>
          <p:cNvSpPr/>
          <p:nvPr/>
        </p:nvSpPr>
        <p:spPr>
          <a:xfrm>
            <a:off x="4191000" y="4238625"/>
            <a:ext cx="18097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4286250" y="431482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可通过分工改善</a:t>
            </a:r>
            <a:endParaRPr lang="en-US" sz="1236" dirty="0"/>
          </a:p>
        </p:txBody>
      </p:sp>
      <p:sp>
        <p:nvSpPr>
          <p:cNvPr id="62" name="Shape 59"/>
          <p:cNvSpPr/>
          <p:nvPr/>
        </p:nvSpPr>
        <p:spPr>
          <a:xfrm>
            <a:off x="6000750" y="4238625"/>
            <a:ext cx="20002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096000" y="4314825"/>
            <a:ext cx="1809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RAG管理</a:t>
            </a:r>
            <a:endParaRPr lang="en-US" sz="1236" dirty="0"/>
          </a:p>
        </p:txBody>
      </p:sp>
      <p:sp>
        <p:nvSpPr>
          <p:cNvPr id="64" name="Shape 61"/>
          <p:cNvSpPr/>
          <p:nvPr/>
        </p:nvSpPr>
        <p:spPr>
          <a:xfrm>
            <a:off x="8001000" y="4238625"/>
            <a:ext cx="171450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096250" y="4314825"/>
            <a:ext cx="15240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聚焦高风险</a:t>
            </a:r>
            <a:endParaRPr lang="en-US" sz="1236" dirty="0"/>
          </a:p>
        </p:txBody>
      </p:sp>
      <p:sp>
        <p:nvSpPr>
          <p:cNvPr id="66" name="Shape 63"/>
          <p:cNvSpPr/>
          <p:nvPr/>
        </p:nvSpPr>
        <p:spPr>
          <a:xfrm>
            <a:off x="9715500" y="4238625"/>
            <a:ext cx="1809750" cy="5905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9810750" y="4314825"/>
            <a:ext cx="16192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6811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AI是否介入，需要回答六个产品问题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3238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3086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判断问题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905250" y="1952625"/>
            <a:ext cx="4476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981450" y="2047875"/>
            <a:ext cx="4324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当前项目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382000" y="1952625"/>
            <a:ext cx="3143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58200" y="2047875"/>
            <a:ext cx="2990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产品结论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323850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业务量是否足够大</a:t>
            </a:r>
            <a:endParaRPr lang="en-US" sz="1176" dirty="0"/>
          </a:p>
        </p:txBody>
      </p:sp>
      <p:sp>
        <p:nvSpPr>
          <p:cNvPr id="16" name="Shape 13"/>
          <p:cNvSpPr/>
          <p:nvPr/>
        </p:nvSpPr>
        <p:spPr>
          <a:xfrm>
            <a:off x="3905250" y="2466975"/>
            <a:ext cx="447675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000500" y="2543175"/>
            <a:ext cx="428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内容快速增长并出现积压</a:t>
            </a:r>
            <a:endParaRPr lang="en-US" sz="1176" dirty="0"/>
          </a:p>
        </p:txBody>
      </p:sp>
      <p:sp>
        <p:nvSpPr>
          <p:cNvPr id="18" name="Shape 15"/>
          <p:cNvSpPr/>
          <p:nvPr/>
        </p:nvSpPr>
        <p:spPr>
          <a:xfrm>
            <a:off x="8382000" y="2466975"/>
            <a:ext cx="314325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77250" y="2543175"/>
            <a:ext cx="2952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值得自动化</a:t>
            </a:r>
            <a:endParaRPr lang="en-US" sz="1176" dirty="0"/>
          </a:p>
        </p:txBody>
      </p:sp>
      <p:sp>
        <p:nvSpPr>
          <p:cNvPr id="20" name="Shape 17"/>
          <p:cNvSpPr/>
          <p:nvPr/>
        </p:nvSpPr>
        <p:spPr>
          <a:xfrm>
            <a:off x="666750" y="3028950"/>
            <a:ext cx="323850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105150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规则能否完全覆盖</a:t>
            </a:r>
            <a:endParaRPr lang="en-US" sz="1176" dirty="0"/>
          </a:p>
        </p:txBody>
      </p:sp>
      <p:sp>
        <p:nvSpPr>
          <p:cNvPr id="22" name="Shape 19"/>
          <p:cNvSpPr/>
          <p:nvPr/>
        </p:nvSpPr>
        <p:spPr>
          <a:xfrm>
            <a:off x="3905250" y="3028950"/>
            <a:ext cx="447675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000500" y="3105150"/>
            <a:ext cx="428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隐含表达难以穷举</a:t>
            </a:r>
            <a:endParaRPr lang="en-US" sz="1176" dirty="0"/>
          </a:p>
        </p:txBody>
      </p:sp>
      <p:sp>
        <p:nvSpPr>
          <p:cNvPr id="24" name="Shape 21"/>
          <p:cNvSpPr/>
          <p:nvPr/>
        </p:nvSpPr>
        <p:spPr>
          <a:xfrm>
            <a:off x="8382000" y="3028950"/>
            <a:ext cx="314325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477250" y="3105150"/>
            <a:ext cx="2952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需要语义能力</a:t>
            </a:r>
            <a:endParaRPr lang="en-US" sz="1176" dirty="0"/>
          </a:p>
        </p:txBody>
      </p:sp>
      <p:sp>
        <p:nvSpPr>
          <p:cNvPr id="26" name="Shape 23"/>
          <p:cNvSpPr/>
          <p:nvPr/>
        </p:nvSpPr>
        <p:spPr>
          <a:xfrm>
            <a:off x="666750" y="3590925"/>
            <a:ext cx="323850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67125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是否有可用知识</a:t>
            </a:r>
            <a:endParaRPr lang="en-US" sz="1176" dirty="0"/>
          </a:p>
        </p:txBody>
      </p:sp>
      <p:sp>
        <p:nvSpPr>
          <p:cNvPr id="28" name="Shape 25"/>
          <p:cNvSpPr/>
          <p:nvPr/>
        </p:nvSpPr>
        <p:spPr>
          <a:xfrm>
            <a:off x="3905250" y="3590925"/>
            <a:ext cx="447675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000500" y="3667125"/>
            <a:ext cx="428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规则、制度和案例存在</a:t>
            </a:r>
            <a:endParaRPr lang="en-US" sz="1176" dirty="0"/>
          </a:p>
        </p:txBody>
      </p:sp>
      <p:sp>
        <p:nvSpPr>
          <p:cNvPr id="30" name="Shape 27"/>
          <p:cNvSpPr/>
          <p:nvPr/>
        </p:nvSpPr>
        <p:spPr>
          <a:xfrm>
            <a:off x="8382000" y="3590925"/>
            <a:ext cx="314325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77250" y="3667125"/>
            <a:ext cx="2952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可以建设知识库</a:t>
            </a:r>
            <a:endParaRPr lang="en-US" sz="1176" dirty="0"/>
          </a:p>
        </p:txBody>
      </p:sp>
      <p:sp>
        <p:nvSpPr>
          <p:cNvPr id="32" name="Shape 29"/>
          <p:cNvSpPr/>
          <p:nvPr/>
        </p:nvSpPr>
        <p:spPr>
          <a:xfrm>
            <a:off x="666750" y="4152900"/>
            <a:ext cx="323850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29100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错误能否被接管</a:t>
            </a:r>
            <a:endParaRPr lang="en-US" sz="1176" dirty="0"/>
          </a:p>
        </p:txBody>
      </p:sp>
      <p:sp>
        <p:nvSpPr>
          <p:cNvPr id="34" name="Shape 31"/>
          <p:cNvSpPr/>
          <p:nvPr/>
        </p:nvSpPr>
        <p:spPr>
          <a:xfrm>
            <a:off x="3905250" y="4152900"/>
            <a:ext cx="447675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000500" y="4229100"/>
            <a:ext cx="428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发布前可拦截和复核</a:t>
            </a:r>
            <a:endParaRPr lang="en-US" sz="1176" dirty="0"/>
          </a:p>
        </p:txBody>
      </p:sp>
      <p:sp>
        <p:nvSpPr>
          <p:cNvPr id="36" name="Shape 33"/>
          <p:cNvSpPr/>
          <p:nvPr/>
        </p:nvSpPr>
        <p:spPr>
          <a:xfrm>
            <a:off x="8382000" y="4152900"/>
            <a:ext cx="314325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477250" y="4229100"/>
            <a:ext cx="2952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适合人机协作</a:t>
            </a:r>
            <a:endParaRPr lang="en-US" sz="1176" dirty="0"/>
          </a:p>
        </p:txBody>
      </p:sp>
      <p:sp>
        <p:nvSpPr>
          <p:cNvPr id="38" name="Shape 35"/>
          <p:cNvSpPr/>
          <p:nvPr/>
        </p:nvSpPr>
        <p:spPr>
          <a:xfrm>
            <a:off x="666750" y="4714875"/>
            <a:ext cx="323850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2000" y="4791075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机器能否独立决策</a:t>
            </a:r>
            <a:endParaRPr lang="en-US" sz="1176" dirty="0"/>
          </a:p>
        </p:txBody>
      </p:sp>
      <p:sp>
        <p:nvSpPr>
          <p:cNvPr id="40" name="Shape 37"/>
          <p:cNvSpPr/>
          <p:nvPr/>
        </p:nvSpPr>
        <p:spPr>
          <a:xfrm>
            <a:off x="3905250" y="4714875"/>
            <a:ext cx="447675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4000500" y="4791075"/>
            <a:ext cx="428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高风险不允许自动放行</a:t>
            </a:r>
            <a:endParaRPr lang="en-US" sz="1176" dirty="0"/>
          </a:p>
        </p:txBody>
      </p:sp>
      <p:sp>
        <p:nvSpPr>
          <p:cNvPr id="42" name="Shape 39"/>
          <p:cNvSpPr/>
          <p:nvPr/>
        </p:nvSpPr>
        <p:spPr>
          <a:xfrm>
            <a:off x="8382000" y="4714875"/>
            <a:ext cx="3143250" cy="56197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477250" y="4791075"/>
            <a:ext cx="2952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必须保留人工</a:t>
            </a:r>
            <a:endParaRPr lang="en-US" sz="1176" dirty="0"/>
          </a:p>
        </p:txBody>
      </p:sp>
      <p:sp>
        <p:nvSpPr>
          <p:cNvPr id="44" name="Shape 41"/>
          <p:cNvSpPr/>
          <p:nvPr/>
        </p:nvSpPr>
        <p:spPr>
          <a:xfrm>
            <a:off x="666750" y="5276850"/>
            <a:ext cx="323850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62000" y="5353050"/>
            <a:ext cx="30480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7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流程是否固定</a:t>
            </a:r>
            <a:endParaRPr lang="en-US" sz="1176" dirty="0"/>
          </a:p>
        </p:txBody>
      </p:sp>
      <p:sp>
        <p:nvSpPr>
          <p:cNvPr id="46" name="Shape 43"/>
          <p:cNvSpPr/>
          <p:nvPr/>
        </p:nvSpPr>
        <p:spPr>
          <a:xfrm>
            <a:off x="3905250" y="5276850"/>
            <a:ext cx="447675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000500" y="5353050"/>
            <a:ext cx="42862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检查与分流步骤明确</a:t>
            </a:r>
            <a:endParaRPr lang="en-US" sz="1176" dirty="0"/>
          </a:p>
        </p:txBody>
      </p:sp>
      <p:sp>
        <p:nvSpPr>
          <p:cNvPr id="48" name="Shape 45"/>
          <p:cNvSpPr/>
          <p:nvPr/>
        </p:nvSpPr>
        <p:spPr>
          <a:xfrm>
            <a:off x="8382000" y="5276850"/>
            <a:ext cx="3143250" cy="56197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77250" y="5353050"/>
            <a:ext cx="295275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7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优先Workflow</a:t>
            </a:r>
            <a:endParaRPr lang="en-US" sz="117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8151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只使用大模型，上线时会暴露六类问题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不稳定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相同输入可能给出不同等级和结论。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依据过时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模型不一定知道内部最新规则。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难以追溯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不知道当时使用哪版规则和Prompt。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成本浪费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格式、词表和阈值不需要大模型判断。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输出难接入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一段自然语言无法稳定驱动产品流程。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80264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59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责任越界</a:t>
            </a:r>
            <a:endParaRPr lang="en-US" sz="1740" dirty="0"/>
          </a:p>
        </p:txBody>
      </p:sp>
      <p:sp>
        <p:nvSpPr>
          <p:cNvPr id="25" name="Text 22"/>
          <p:cNvSpPr txBox="1"/>
          <p:nvPr/>
        </p:nvSpPr>
        <p:spPr>
          <a:xfrm>
            <a:off x="82359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模型不能独立承担高风险最终责任。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29492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先按任务性质分配能力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6670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514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任务性质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333750" y="1952625"/>
            <a:ext cx="53340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09950" y="2047875"/>
            <a:ext cx="5181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典型任务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667750" y="1952625"/>
            <a:ext cx="2857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743950" y="2047875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优先能力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667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247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确定、可枚举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3333750" y="2466975"/>
            <a:ext cx="5334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29000" y="2543175"/>
            <a:ext cx="514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禁用词、必要声明、格式、明确阈值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8667750" y="24669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763000" y="25431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6670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247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依赖上下文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3333750" y="3019425"/>
            <a:ext cx="53340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429000" y="3095625"/>
            <a:ext cx="514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暗示、同义改写、组合语义、误导表达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8667750" y="3019425"/>
            <a:ext cx="2857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763000" y="309562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667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247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依赖当前资料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3333750" y="3571875"/>
            <a:ext cx="5334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429000" y="3648075"/>
            <a:ext cx="514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渠道规则、版本条款、历史争议结论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8667750" y="35718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763000" y="36480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26670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247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高风险或不确定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3333750" y="4124325"/>
            <a:ext cx="53340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429000" y="4200525"/>
            <a:ext cx="5143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依据冲突、信息不足、责任判断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8667750" y="4124325"/>
            <a:ext cx="2857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763000" y="420052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0832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确定性规则负责稳定执行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词与表达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禁用词、敏感词、高风险固定短语。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714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声明与格式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必要风险提示、字数、字段和格式。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明确阈值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可以清楚枚举的业务限制和数值条件。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2173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大模型负责规则难以穷举的语义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隐含承诺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没有直接使用禁词，但整体表达暗示保证结果。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714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上下文误导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单句正常，组合后可能让用户产生错误理解。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同义绕过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用改写、否定、反讽或案例包装绕开固定词。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3513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RAG提供依据，人工承担责任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RAG知识库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检索当前有效规则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提供规则解释和正反案例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保留业务、渠道和版本信息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人工复核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处理高风险与信息不足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解决规则和证据冲突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作出需要责任人确认的最终判断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4854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混合审核的完整协作流程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846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168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429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63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8763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输入校验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51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085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45085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确定性规则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73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407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81407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检索适用依据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96000" y="3105150"/>
            <a:ext cx="0" cy="447675"/>
          </a:xfrm>
          <a:prstGeom prst="line">
            <a:avLst/>
          </a:prstGeom>
          <a:noFill/>
          <a:ln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846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168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29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63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4" name="Text 21"/>
          <p:cNvSpPr txBox="1"/>
          <p:nvPr/>
        </p:nvSpPr>
        <p:spPr>
          <a:xfrm>
            <a:off x="8763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大模型语义审核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751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085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7" name="Text 24"/>
          <p:cNvSpPr txBox="1"/>
          <p:nvPr/>
        </p:nvSpPr>
        <p:spPr>
          <a:xfrm>
            <a:off x="45085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结果合并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073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407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0" name="Text 27"/>
          <p:cNvSpPr txBox="1"/>
          <p:nvPr/>
        </p:nvSpPr>
        <p:spPr>
          <a:xfrm>
            <a:off x="81407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风险路由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6195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第一版用Workflow，而不是Agent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Workflow适合当前主链路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必要步骤每次都执行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每个节点可以单独测试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失败位置容易定位和追踪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Agent留给后续复杂任务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多渠道自主收集材料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动态追问和外部调查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受控生成完整调查报告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7535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能力分工要写到输入、输出和边界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095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1943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模块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2762250" y="1952625"/>
            <a:ext cx="2857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8450" y="2047875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主要输入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5619750" y="1952625"/>
            <a:ext cx="3143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695950" y="2047875"/>
            <a:ext cx="2990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主要输出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763000" y="1952625"/>
            <a:ext cx="2762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839200" y="2047875"/>
            <a:ext cx="2609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不负责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666750" y="2466975"/>
            <a:ext cx="209550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2543175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输入校验</a:t>
            </a:r>
            <a:endParaRPr lang="en-US" sz="1104" dirty="0"/>
          </a:p>
        </p:txBody>
      </p:sp>
      <p:sp>
        <p:nvSpPr>
          <p:cNvPr id="18" name="Shape 15"/>
          <p:cNvSpPr/>
          <p:nvPr/>
        </p:nvSpPr>
        <p:spPr>
          <a:xfrm>
            <a:off x="2762250" y="2466975"/>
            <a:ext cx="285750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57500" y="2543175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文案、渠道、产品信息</a:t>
            </a:r>
            <a:endParaRPr lang="en-US" sz="1104" dirty="0"/>
          </a:p>
        </p:txBody>
      </p:sp>
      <p:sp>
        <p:nvSpPr>
          <p:cNvPr id="20" name="Shape 17"/>
          <p:cNvSpPr/>
          <p:nvPr/>
        </p:nvSpPr>
        <p:spPr>
          <a:xfrm>
            <a:off x="5619750" y="2466975"/>
            <a:ext cx="314325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715000" y="2543175"/>
            <a:ext cx="2952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缺失字段与格式问题</a:t>
            </a:r>
            <a:endParaRPr lang="en-US" sz="1104" dirty="0"/>
          </a:p>
        </p:txBody>
      </p:sp>
      <p:sp>
        <p:nvSpPr>
          <p:cNvPr id="22" name="Shape 19"/>
          <p:cNvSpPr/>
          <p:nvPr/>
        </p:nvSpPr>
        <p:spPr>
          <a:xfrm>
            <a:off x="8763000" y="2466975"/>
            <a:ext cx="276225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858250" y="2543175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语义风险</a:t>
            </a:r>
            <a:endParaRPr lang="en-US" sz="1104" dirty="0"/>
          </a:p>
        </p:txBody>
      </p:sp>
      <p:sp>
        <p:nvSpPr>
          <p:cNvPr id="24" name="Shape 21"/>
          <p:cNvSpPr/>
          <p:nvPr/>
        </p:nvSpPr>
        <p:spPr>
          <a:xfrm>
            <a:off x="666750" y="3009900"/>
            <a:ext cx="209550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" y="3086100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规则检查</a:t>
            </a:r>
            <a:endParaRPr lang="en-US" sz="1104" dirty="0"/>
          </a:p>
        </p:txBody>
      </p:sp>
      <p:sp>
        <p:nvSpPr>
          <p:cNvPr id="26" name="Shape 23"/>
          <p:cNvSpPr/>
          <p:nvPr/>
        </p:nvSpPr>
        <p:spPr>
          <a:xfrm>
            <a:off x="2762250" y="3009900"/>
            <a:ext cx="285750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2857500" y="308610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文案、结构化规则</a:t>
            </a:r>
            <a:endParaRPr lang="en-US" sz="1104" dirty="0"/>
          </a:p>
        </p:txBody>
      </p:sp>
      <p:sp>
        <p:nvSpPr>
          <p:cNvPr id="28" name="Shape 25"/>
          <p:cNvSpPr/>
          <p:nvPr/>
        </p:nvSpPr>
        <p:spPr>
          <a:xfrm>
            <a:off x="5619750" y="3009900"/>
            <a:ext cx="314325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715000" y="3086100"/>
            <a:ext cx="2952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命中规则、风险片段</a:t>
            </a:r>
            <a:endParaRPr lang="en-US" sz="1104" dirty="0"/>
          </a:p>
        </p:txBody>
      </p:sp>
      <p:sp>
        <p:nvSpPr>
          <p:cNvPr id="30" name="Shape 27"/>
          <p:cNvSpPr/>
          <p:nvPr/>
        </p:nvSpPr>
        <p:spPr>
          <a:xfrm>
            <a:off x="8763000" y="3009900"/>
            <a:ext cx="276225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858250" y="3086100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复杂上下文</a:t>
            </a:r>
            <a:endParaRPr lang="en-US" sz="1104" dirty="0"/>
          </a:p>
        </p:txBody>
      </p:sp>
      <p:sp>
        <p:nvSpPr>
          <p:cNvPr id="32" name="Shape 29"/>
          <p:cNvSpPr/>
          <p:nvPr/>
        </p:nvSpPr>
        <p:spPr>
          <a:xfrm>
            <a:off x="666750" y="3552825"/>
            <a:ext cx="209550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3629025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RAG检索</a:t>
            </a:r>
            <a:endParaRPr lang="en-US" sz="1104" dirty="0"/>
          </a:p>
        </p:txBody>
      </p:sp>
      <p:sp>
        <p:nvSpPr>
          <p:cNvPr id="34" name="Shape 31"/>
          <p:cNvSpPr/>
          <p:nvPr/>
        </p:nvSpPr>
        <p:spPr>
          <a:xfrm>
            <a:off x="2762250" y="3552825"/>
            <a:ext cx="285750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857500" y="3629025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业务类型、渠道、风险类别</a:t>
            </a:r>
            <a:endParaRPr lang="en-US" sz="1104" dirty="0"/>
          </a:p>
        </p:txBody>
      </p:sp>
      <p:sp>
        <p:nvSpPr>
          <p:cNvPr id="36" name="Shape 33"/>
          <p:cNvSpPr/>
          <p:nvPr/>
        </p:nvSpPr>
        <p:spPr>
          <a:xfrm>
            <a:off x="5619750" y="3552825"/>
            <a:ext cx="314325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5715000" y="3629025"/>
            <a:ext cx="2952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有效依据与案例</a:t>
            </a:r>
            <a:endParaRPr lang="en-US" sz="1104" dirty="0"/>
          </a:p>
        </p:txBody>
      </p:sp>
      <p:sp>
        <p:nvSpPr>
          <p:cNvPr id="38" name="Shape 35"/>
          <p:cNvSpPr/>
          <p:nvPr/>
        </p:nvSpPr>
        <p:spPr>
          <a:xfrm>
            <a:off x="8763000" y="3552825"/>
            <a:ext cx="276225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858250" y="3629025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最终判断</a:t>
            </a:r>
            <a:endParaRPr lang="en-US" sz="1104" dirty="0"/>
          </a:p>
        </p:txBody>
      </p:sp>
      <p:sp>
        <p:nvSpPr>
          <p:cNvPr id="40" name="Shape 37"/>
          <p:cNvSpPr/>
          <p:nvPr/>
        </p:nvSpPr>
        <p:spPr>
          <a:xfrm>
            <a:off x="666750" y="4095750"/>
            <a:ext cx="209550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62000" y="4171950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104" dirty="0"/>
          </a:p>
        </p:txBody>
      </p:sp>
      <p:sp>
        <p:nvSpPr>
          <p:cNvPr id="42" name="Shape 39"/>
          <p:cNvSpPr/>
          <p:nvPr/>
        </p:nvSpPr>
        <p:spPr>
          <a:xfrm>
            <a:off x="2762250" y="4095750"/>
            <a:ext cx="285750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857500" y="4171950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文案、元数据、规则与依据</a:t>
            </a:r>
            <a:endParaRPr lang="en-US" sz="1104" dirty="0"/>
          </a:p>
        </p:txBody>
      </p:sp>
      <p:sp>
        <p:nvSpPr>
          <p:cNvPr id="44" name="Shape 41"/>
          <p:cNvSpPr/>
          <p:nvPr/>
        </p:nvSpPr>
        <p:spPr>
          <a:xfrm>
            <a:off x="5619750" y="4095750"/>
            <a:ext cx="314325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715000" y="4171950"/>
            <a:ext cx="2952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风险、理由、建议</a:t>
            </a:r>
            <a:endParaRPr lang="en-US" sz="1104" dirty="0"/>
          </a:p>
        </p:txBody>
      </p:sp>
      <p:sp>
        <p:nvSpPr>
          <p:cNvPr id="46" name="Shape 43"/>
          <p:cNvSpPr/>
          <p:nvPr/>
        </p:nvSpPr>
        <p:spPr>
          <a:xfrm>
            <a:off x="8763000" y="4095750"/>
            <a:ext cx="2762250" cy="5429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858250" y="4171950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最终责任</a:t>
            </a:r>
            <a:endParaRPr lang="en-US" sz="1104" dirty="0"/>
          </a:p>
        </p:txBody>
      </p:sp>
      <p:sp>
        <p:nvSpPr>
          <p:cNvPr id="48" name="Shape 45"/>
          <p:cNvSpPr/>
          <p:nvPr/>
        </p:nvSpPr>
        <p:spPr>
          <a:xfrm>
            <a:off x="666750" y="4638675"/>
            <a:ext cx="209550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762000" y="4714875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人工复核</a:t>
            </a:r>
            <a:endParaRPr lang="en-US" sz="1104" dirty="0"/>
          </a:p>
        </p:txBody>
      </p:sp>
      <p:sp>
        <p:nvSpPr>
          <p:cNvPr id="50" name="Shape 47"/>
          <p:cNvSpPr/>
          <p:nvPr/>
        </p:nvSpPr>
        <p:spPr>
          <a:xfrm>
            <a:off x="2762250" y="4638675"/>
            <a:ext cx="285750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2857500" y="4714875"/>
            <a:ext cx="2667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机器结果、依据、原文</a:t>
            </a:r>
            <a:endParaRPr lang="en-US" sz="1104" dirty="0"/>
          </a:p>
        </p:txBody>
      </p:sp>
      <p:sp>
        <p:nvSpPr>
          <p:cNvPr id="52" name="Shape 49"/>
          <p:cNvSpPr/>
          <p:nvPr/>
        </p:nvSpPr>
        <p:spPr>
          <a:xfrm>
            <a:off x="5619750" y="4638675"/>
            <a:ext cx="314325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715000" y="4714875"/>
            <a:ext cx="2952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最终结论与原因</a:t>
            </a:r>
            <a:endParaRPr lang="en-US" sz="1104" dirty="0"/>
          </a:p>
        </p:txBody>
      </p:sp>
      <p:sp>
        <p:nvSpPr>
          <p:cNvPr id="54" name="Shape 51"/>
          <p:cNvSpPr/>
          <p:nvPr/>
        </p:nvSpPr>
        <p:spPr>
          <a:xfrm>
            <a:off x="8763000" y="4638675"/>
            <a:ext cx="2762250" cy="5429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8858250" y="4714875"/>
            <a:ext cx="257175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重复检查全部低风险内容</a:t>
            </a:r>
            <a:endParaRPr lang="en-US" sz="110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SOLUTION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38876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同一条文案如何被分层审核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81250" y="1276350"/>
            <a:ext cx="885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贯穿案例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781050" y="1857375"/>
            <a:ext cx="10629900" cy="952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66800" y="2076450"/>
            <a:ext cx="100584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6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这款产品是目前最值得购买的理财产品，预计年化收益可达20%，收益稳定，完全不用担心亏损。</a:t>
            </a:r>
            <a:endParaRPr lang="en-US" sz="1860" dirty="0"/>
          </a:p>
        </p:txBody>
      </p:sp>
      <p:sp>
        <p:nvSpPr>
          <p:cNvPr id="11" name="Shape 8"/>
          <p:cNvSpPr/>
          <p:nvPr/>
        </p:nvSpPr>
        <p:spPr>
          <a:xfrm>
            <a:off x="781050" y="3048000"/>
            <a:ext cx="10629900" cy="1000125"/>
          </a:xfrm>
          <a:prstGeom prst="roundRect">
            <a:avLst/>
          </a:prstGeom>
          <a:solidFill>
            <a:srgbClr val="031016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066800" y="3267075"/>
            <a:ext cx="100584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整体风险等级：高风险｜机器建议：不允许直接发布｜下一步：转人工复核</a:t>
            </a:r>
            <a:endParaRPr lang="en-US" sz="1560" dirty="0"/>
          </a:p>
        </p:txBody>
      </p:sp>
      <p:sp>
        <p:nvSpPr>
          <p:cNvPr id="13" name="Shape 10"/>
          <p:cNvSpPr/>
          <p:nvPr/>
        </p:nvSpPr>
        <p:spPr>
          <a:xfrm>
            <a:off x="723900" y="4333875"/>
            <a:ext cx="2528888" cy="1190625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33450" y="4505325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740" dirty="0"/>
          </a:p>
        </p:txBody>
      </p:sp>
      <p:sp>
        <p:nvSpPr>
          <p:cNvPr id="15" name="Text 12"/>
          <p:cNvSpPr txBox="1"/>
          <p:nvPr/>
        </p:nvSpPr>
        <p:spPr>
          <a:xfrm>
            <a:off x="933450" y="4876800"/>
            <a:ext cx="21097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绝对化与高风险短语</a:t>
            </a:r>
            <a:endParaRPr lang="en-US" sz="1260" dirty="0"/>
          </a:p>
        </p:txBody>
      </p:sp>
      <p:sp>
        <p:nvSpPr>
          <p:cNvPr id="16" name="Shape 13"/>
          <p:cNvSpPr/>
          <p:nvPr/>
        </p:nvSpPr>
        <p:spPr>
          <a:xfrm>
            <a:off x="3462338" y="4333875"/>
            <a:ext cx="2528888" cy="1190625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71888" y="4505325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740" dirty="0"/>
          </a:p>
        </p:txBody>
      </p:sp>
      <p:sp>
        <p:nvSpPr>
          <p:cNvPr id="18" name="Text 15"/>
          <p:cNvSpPr txBox="1"/>
          <p:nvPr/>
        </p:nvSpPr>
        <p:spPr>
          <a:xfrm>
            <a:off x="3671888" y="4876800"/>
            <a:ext cx="21097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收益保证与数据规范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6200775" y="4333875"/>
            <a:ext cx="2528888" cy="1190625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10325" y="4505325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740" dirty="0"/>
          </a:p>
        </p:txBody>
      </p:sp>
      <p:sp>
        <p:nvSpPr>
          <p:cNvPr id="21" name="Text 18"/>
          <p:cNvSpPr txBox="1"/>
          <p:nvPr/>
        </p:nvSpPr>
        <p:spPr>
          <a:xfrm>
            <a:off x="6410325" y="4876800"/>
            <a:ext cx="21097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收益误导与风险隐瞒</a:t>
            </a:r>
            <a:endParaRPr lang="en-US" sz="1260" dirty="0"/>
          </a:p>
        </p:txBody>
      </p:sp>
      <p:sp>
        <p:nvSpPr>
          <p:cNvPr id="22" name="Shape 19"/>
          <p:cNvSpPr/>
          <p:nvPr/>
        </p:nvSpPr>
        <p:spPr>
          <a:xfrm>
            <a:off x="8939213" y="4333875"/>
            <a:ext cx="2528888" cy="1190625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148763" y="4505325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</a:t>
            </a:r>
            <a:endParaRPr lang="en-US" sz="1740" dirty="0"/>
          </a:p>
        </p:txBody>
      </p:sp>
      <p:sp>
        <p:nvSpPr>
          <p:cNvPr id="24" name="Text 21"/>
          <p:cNvSpPr txBox="1"/>
          <p:nvPr/>
        </p:nvSpPr>
        <p:spPr>
          <a:xfrm>
            <a:off x="9148763" y="4876800"/>
            <a:ext cx="2109788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驳回并记录复核原因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0216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 结果动作与人工复核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发现问题以后，产品要让用户继续完成任务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1557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先把规则、RAG和模型的原始结果放在一起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095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1943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2762250" y="1952625"/>
            <a:ext cx="5810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8450" y="2047875"/>
            <a:ext cx="5657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发现内容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572500" y="1952625"/>
            <a:ext cx="2952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648700" y="2047875"/>
            <a:ext cx="2800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产品价值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095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2762250" y="2466975"/>
            <a:ext cx="5810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57500" y="2543175"/>
            <a:ext cx="561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命中“最值得购买”“不用担心亏损”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8572500" y="2466975"/>
            <a:ext cx="2952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67750" y="254317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稳定召回明确问题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095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2762250" y="3019425"/>
            <a:ext cx="5810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57500" y="3095625"/>
            <a:ext cx="561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返回绝对化、收益保证与数据来源条款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8572500" y="3019425"/>
            <a:ext cx="2952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667750" y="309562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提供当前审核依据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095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2762250" y="3571875"/>
            <a:ext cx="5810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857500" y="3648075"/>
            <a:ext cx="561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识别收益数据不足、收益误导和风险隐瞒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8572500" y="3571875"/>
            <a:ext cx="2952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67750" y="364807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补充语义风险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2897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结果合并解决三个问题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8465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1685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42950" y="2857500"/>
            <a:ext cx="344170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63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876300" y="3248025"/>
            <a:ext cx="317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相同风险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不重复展示</a:t>
            </a:r>
            <a:endParaRPr lang="en-US" sz="1440" dirty="0"/>
          </a:p>
        </p:txBody>
      </p:sp>
      <p:sp>
        <p:nvSpPr>
          <p:cNvPr id="13" name="Shape 10"/>
          <p:cNvSpPr/>
          <p:nvPr/>
        </p:nvSpPr>
        <p:spPr>
          <a:xfrm>
            <a:off x="4375150" y="2857500"/>
            <a:ext cx="344170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085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4508500" y="3248025"/>
            <a:ext cx="317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不同来源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继续保留证据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8007350" y="2857500"/>
            <a:ext cx="344170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407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8140700" y="3248025"/>
            <a:ext cx="317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每个风险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对应处理建议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4238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一条正式风险结果必须结构化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8250" y="1952625"/>
            <a:ext cx="9715500" cy="3810000"/>
          </a:xfrm>
          <a:prstGeom prst="roundRect">
            <a:avLst/>
          </a:prstGeom>
          <a:solidFill>
            <a:srgbClr val="031016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19250" y="2190750"/>
            <a:ext cx="895350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风险片段：完全不用担心亏损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风险类型：收益保证与风险隐瞒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风险等级：高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识别来源：规则＋大模型＋RAG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审核依据：金融营销内容审核规则V3，第18条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修改建议：删除保证性表达，补充必要风险提示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是否需要人工复核：是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5578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一篇内容需要四类整体处理结果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5267325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机器预审通过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未发现阻断风险，依据完整，且属于当前支持范围。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200775" y="2000250"/>
            <a:ext cx="5267325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0325" y="21717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建议修改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6410325" y="254317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只有低风险或提示性问题，用户可以确认或修改。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23900" y="3619500"/>
            <a:ext cx="5267325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3450" y="3790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退回修改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933450" y="416242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存在明确且可以通过修改解决的中风险问题。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200775" y="3619500"/>
            <a:ext cx="5267325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0325" y="3790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转人工复核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6410325" y="4162425"/>
            <a:ext cx="4848225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高风险、不确定、依据不足、规则冲突或系统异常。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6919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风险等级必须映射到明确产品动作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4381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422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审核情况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48250" y="1952625"/>
            <a:ext cx="2857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4450" y="2047875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整体结果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905750" y="1952625"/>
            <a:ext cx="3619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81950" y="2047875"/>
            <a:ext cx="346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4381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未发现风险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5048250" y="24669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143500" y="25431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机器预审通过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7905750" y="2466975"/>
            <a:ext cx="3619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25431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进入原有后续流程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4381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只有低风险问题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5048250" y="3019425"/>
            <a:ext cx="2857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43500" y="309562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建议修改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7905750" y="3019425"/>
            <a:ext cx="3619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01000" y="309562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用户确认、修改或申请人工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4381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明确中风险问题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5048250" y="35718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143500" y="36480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退回修改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7905750" y="3571875"/>
            <a:ext cx="3619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01000" y="36480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生成新版本后重新审核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4381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高风险、不确定或依据冲突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5048250" y="4124325"/>
            <a:ext cx="2857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143500" y="420052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待人工复核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7905750" y="4124325"/>
            <a:ext cx="3619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01000" y="420052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进入人工审核工作台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8260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运营端不是只看结果，而是完成修改闭环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846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168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429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63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8763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提交内容V1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51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085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45085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查看风险位置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73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407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81407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理解依据与建议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96000" y="3105150"/>
            <a:ext cx="0" cy="447675"/>
          </a:xfrm>
          <a:prstGeom prst="line">
            <a:avLst/>
          </a:prstGeom>
          <a:noFill/>
          <a:ln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846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168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29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63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4" name="Text 21"/>
          <p:cNvSpPr txBox="1"/>
          <p:nvPr/>
        </p:nvSpPr>
        <p:spPr>
          <a:xfrm>
            <a:off x="8763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修改形成V2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751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085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7" name="Text 24"/>
          <p:cNvSpPr txBox="1"/>
          <p:nvPr/>
        </p:nvSpPr>
        <p:spPr>
          <a:xfrm>
            <a:off x="45085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重新完整审核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073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407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0" name="Text 27"/>
          <p:cNvSpPr txBox="1"/>
          <p:nvPr/>
        </p:nvSpPr>
        <p:spPr>
          <a:xfrm>
            <a:off x="81407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进入后续流程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49600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六类情况触发人工复核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命中红线规则或高风险语义。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模型无法稳定作出判断。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信息不足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缺少产品事实或业务上下文。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依据冲突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规则、知识或版本之间存在冲突。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用户申诉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运营对机器结论发起复核。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80264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359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系统失败</a:t>
            </a:r>
            <a:endParaRPr lang="en-US" sz="1740" dirty="0"/>
          </a:p>
        </p:txBody>
      </p:sp>
      <p:sp>
        <p:nvSpPr>
          <p:cNvPr id="25" name="Text 22"/>
          <p:cNvSpPr txBox="1"/>
          <p:nvPr/>
        </p:nvSpPr>
        <p:spPr>
          <a:xfrm>
            <a:off x="82359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重试后规则、RAG或模型仍未完成。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0941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人工复核工作台要减少重复劳动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人工需要看到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原始内容与内容版本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机器风险、依据和原始输出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转人工原因与历史处理记录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人工可以执行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复核通过或驳回修改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调整风险类型与等级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升级给规则或专业负责人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2281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审核任务需要明确状态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619375" y="3343275"/>
            <a:ext cx="23812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000125" y="2905125"/>
            <a:ext cx="161925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33475" y="3095625"/>
            <a:ext cx="1352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待审核</a:t>
            </a:r>
            <a:endParaRPr lang="en-US" sz="1380" dirty="0"/>
          </a:p>
        </p:txBody>
      </p:sp>
      <p:sp>
        <p:nvSpPr>
          <p:cNvPr id="11" name="Shape 8"/>
          <p:cNvSpPr/>
          <p:nvPr/>
        </p:nvSpPr>
        <p:spPr>
          <a:xfrm>
            <a:off x="4524375" y="3343275"/>
            <a:ext cx="23812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05125" y="2905125"/>
            <a:ext cx="161925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38475" y="3095625"/>
            <a:ext cx="1352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机器审核中</a:t>
            </a:r>
            <a:endParaRPr lang="en-US" sz="1380" dirty="0"/>
          </a:p>
        </p:txBody>
      </p:sp>
      <p:sp>
        <p:nvSpPr>
          <p:cNvPr id="14" name="Shape 11"/>
          <p:cNvSpPr/>
          <p:nvPr/>
        </p:nvSpPr>
        <p:spPr>
          <a:xfrm>
            <a:off x="6429375" y="3343275"/>
            <a:ext cx="23812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810125" y="2905125"/>
            <a:ext cx="161925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43475" y="3095625"/>
            <a:ext cx="1352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待修改</a:t>
            </a:r>
            <a:endParaRPr lang="en-US" sz="1380" dirty="0"/>
          </a:p>
        </p:txBody>
      </p:sp>
      <p:sp>
        <p:nvSpPr>
          <p:cNvPr id="17" name="Shape 14"/>
          <p:cNvSpPr/>
          <p:nvPr/>
        </p:nvSpPr>
        <p:spPr>
          <a:xfrm>
            <a:off x="8334375" y="3343275"/>
            <a:ext cx="238125" cy="0"/>
          </a:xfrm>
          <a:prstGeom prst="line">
            <a:avLst/>
          </a:prstGeom>
          <a:noFill/>
          <a:ln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715125" y="2905125"/>
            <a:ext cx="161925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48475" y="3095625"/>
            <a:ext cx="1352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待人工复核</a:t>
            </a:r>
            <a:endParaRPr lang="en-US" sz="1380" dirty="0"/>
          </a:p>
        </p:txBody>
      </p:sp>
      <p:sp>
        <p:nvSpPr>
          <p:cNvPr id="20" name="Shape 17"/>
          <p:cNvSpPr/>
          <p:nvPr/>
        </p:nvSpPr>
        <p:spPr>
          <a:xfrm>
            <a:off x="8620125" y="2905125"/>
            <a:ext cx="1619250" cy="876300"/>
          </a:xfrm>
          <a:prstGeom prst="roundRect">
            <a:avLst/>
          </a:prstGeom>
          <a:solidFill>
            <a:srgbClr val="31191B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53475" y="3095625"/>
            <a:ext cx="13525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80" b="1" dirty="0">
                <a:solidFill>
                  <a:srgbClr val="FF8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审核完成</a:t>
            </a:r>
            <a:endParaRPr lang="en-US" sz="13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3622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机器结果和人工结果必须同时保留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最小追溯记录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机器原始结果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人工最终结果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修改原因、操作人与时间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最小版本绑定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内容版本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规则与知识版本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模型与Prompt版本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4962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内容修改和机器失败都不能偷走安全步骤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28750" y="2000250"/>
            <a:ext cx="9334500" cy="895350"/>
          </a:xfrm>
          <a:prstGeom prst="roundRect">
            <a:avLst/>
          </a:prstGeom>
          <a:solidFill>
            <a:srgbClr val="31191B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57350" y="2143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FF8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内容发生实质修改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3857625" y="2143125"/>
            <a:ext cx="6619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生成新版本，原审核结论不再适用，必须重新执行完整审核。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1905000" y="3143250"/>
            <a:ext cx="8382000" cy="89535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33600" y="3286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机器审核未完成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333875" y="3286125"/>
            <a:ext cx="56673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保留已有结果，允许有限安全重试，再次失败后转人工。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2381250" y="4286250"/>
            <a:ext cx="7429500" cy="8953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09850" y="4429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统一原则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4810125" y="4429125"/>
            <a:ext cx="4714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没有完成审核，不等于审核没有问题。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FLOW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6303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完整案例从V1走到V2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09107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665764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222421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779079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335736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892393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42950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63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提交V1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99607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32957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2432957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发现4项风险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856264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89614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22" name="Text 19"/>
          <p:cNvSpPr txBox="1"/>
          <p:nvPr/>
        </p:nvSpPr>
        <p:spPr>
          <a:xfrm>
            <a:off x="3989614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转人工复核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12921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46271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5" name="Text 22"/>
          <p:cNvSpPr txBox="1"/>
          <p:nvPr/>
        </p:nvSpPr>
        <p:spPr>
          <a:xfrm>
            <a:off x="5546271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驳回修改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69579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02929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8" name="Text 25"/>
          <p:cNvSpPr txBox="1"/>
          <p:nvPr/>
        </p:nvSpPr>
        <p:spPr>
          <a:xfrm>
            <a:off x="7102929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生成V2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526236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59586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1" name="Text 28"/>
          <p:cNvSpPr txBox="1"/>
          <p:nvPr/>
        </p:nvSpPr>
        <p:spPr>
          <a:xfrm>
            <a:off x="8659586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重新审核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82893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216243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20" dirty="0"/>
          </a:p>
        </p:txBody>
      </p:sp>
      <p:sp>
        <p:nvSpPr>
          <p:cNvPr id="34" name="Text 31"/>
          <p:cNvSpPr txBox="1"/>
          <p:nvPr/>
        </p:nvSpPr>
        <p:spPr>
          <a:xfrm>
            <a:off x="10216243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预审通过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7643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 MVP范围与能力优先级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第一版不是功能最少，而是验证链路完整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58984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MVP验证的是最小审核闭环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2500" y="20955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9" name="Text 6"/>
          <p:cNvSpPr txBox="1"/>
          <p:nvPr/>
        </p:nvSpPr>
        <p:spPr>
          <a:xfrm>
            <a:off x="1447800" y="2085975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功能少不等于能够验证价值。</a:t>
            </a:r>
            <a:endParaRPr lang="en-US" sz="1620" dirty="0"/>
          </a:p>
        </p:txBody>
      </p:sp>
      <p:sp>
        <p:nvSpPr>
          <p:cNvPr id="10" name="Text 7"/>
          <p:cNvSpPr txBox="1"/>
          <p:nvPr/>
        </p:nvSpPr>
        <p:spPr>
          <a:xfrm>
            <a:off x="952500" y="26003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620" dirty="0"/>
          </a:p>
        </p:txBody>
      </p:sp>
      <p:sp>
        <p:nvSpPr>
          <p:cNvPr id="11" name="Text 8"/>
          <p:cNvSpPr txBox="1"/>
          <p:nvPr/>
        </p:nvSpPr>
        <p:spPr>
          <a:xfrm>
            <a:off x="1447800" y="2590800"/>
            <a:ext cx="9601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2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第一版必须同时验证能力、效率和安全接管。</a:t>
            </a:r>
            <a:endParaRPr lang="en-US" sz="1620" dirty="0"/>
          </a:p>
        </p:txBody>
      </p:sp>
      <p:sp>
        <p:nvSpPr>
          <p:cNvPr id="12" name="Shape 9"/>
          <p:cNvSpPr/>
          <p:nvPr/>
        </p:nvSpPr>
        <p:spPr>
          <a:xfrm>
            <a:off x="819150" y="4286250"/>
            <a:ext cx="10553700" cy="8191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9150" y="4286250"/>
            <a:ext cx="76200" cy="819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162050" y="4457700"/>
            <a:ext cx="981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真实提交 → 机器预审 → 查看结构化结果 → 修改或人工复核 → 记录最终结果</a:t>
            </a: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0325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第一版要验证三个核心假设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发现更多有效风险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混合方案能识别纯规则难以覆盖的语义风险，同时不过度增加误报。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714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减少人工重复工作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机器提前定位问题、提供依据和建议，人工不再从头检查所有内容。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异常可安全接管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不确定、高风险和失败任务可以完整交给人工处理。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1665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PoC、MVP与完整产品回答不同问题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095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1943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阶段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2762250" y="1952625"/>
            <a:ext cx="4857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838450" y="2047875"/>
            <a:ext cx="4705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核心问题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620000" y="1952625"/>
            <a:ext cx="3905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96200" y="2047875"/>
            <a:ext cx="3752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需要具备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095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能力PoC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2762250" y="2466975"/>
            <a:ext cx="4857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857500" y="2543175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技术方案在历史样本上是否基本可行？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7620000" y="2466975"/>
            <a:ext cx="3905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15250" y="2543175"/>
            <a:ext cx="3714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样本、规则、模型与离线对比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095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产品MVP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2762250" y="3019425"/>
            <a:ext cx="4857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857500" y="3095625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进入真实流程后是否提高效率且安全？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7620000" y="3019425"/>
            <a:ext cx="3905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15250" y="3095625"/>
            <a:ext cx="3714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真实提交、人工接管、结果记录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095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190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完整产品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2762250" y="3571875"/>
            <a:ext cx="4857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857500" y="3648075"/>
            <a:ext cx="4667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如何支持规模化、多渠道和复杂组织？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7620000" y="3571875"/>
            <a:ext cx="3905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15250" y="3648075"/>
            <a:ext cx="3714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多模态、权限、批量、发布与运营平台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3006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功能是否进入MVP，连续问四个问题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7660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600075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724900" y="34099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74295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63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0"/>
          <p:cNvSpPr txBox="1"/>
          <p:nvPr/>
        </p:nvSpPr>
        <p:spPr>
          <a:xfrm>
            <a:off x="87630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是否直接验证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核心假设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346710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0045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6" name="Text 13"/>
          <p:cNvSpPr txBox="1"/>
          <p:nvPr/>
        </p:nvSpPr>
        <p:spPr>
          <a:xfrm>
            <a:off x="360045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缺少它是否无法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形成闭环</a:t>
            </a:r>
            <a:endParaRPr lang="en-US" sz="1440" dirty="0"/>
          </a:p>
        </p:txBody>
      </p:sp>
      <p:sp>
        <p:nvSpPr>
          <p:cNvPr id="17" name="Shape 14"/>
          <p:cNvSpPr/>
          <p:nvPr/>
        </p:nvSpPr>
        <p:spPr>
          <a:xfrm>
            <a:off x="619125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246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632460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能否暂时由人工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或简单工具替代</a:t>
            </a:r>
            <a:endParaRPr lang="en-US" sz="1440" dirty="0"/>
          </a:p>
        </p:txBody>
      </p:sp>
      <p:sp>
        <p:nvSpPr>
          <p:cNvPr id="20" name="Shape 17"/>
          <p:cNvSpPr/>
          <p:nvPr/>
        </p:nvSpPr>
        <p:spPr>
          <a:xfrm>
            <a:off x="8915400" y="2857500"/>
            <a:ext cx="2533650" cy="11049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04875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2" name="Text 19"/>
          <p:cNvSpPr txBox="1"/>
          <p:nvPr/>
        </p:nvSpPr>
        <p:spPr>
          <a:xfrm>
            <a:off x="9048750" y="3248025"/>
            <a:ext cx="22669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投入是否会显著</a:t>
            </a:r>
            <a:endParaRPr lang="en-US" sz="14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44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拖慢试点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4346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第一版主动收窄试点范围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190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038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范围维度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2857500" y="1952625"/>
            <a:ext cx="4667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933700" y="2047875"/>
            <a:ext cx="4514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MVP选择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524750" y="1952625"/>
            <a:ext cx="4000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00950" y="2047875"/>
            <a:ext cx="3848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暂不扩展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190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内容类型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2857500" y="2466975"/>
            <a:ext cx="4667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952750" y="254317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文本营销文案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7524750" y="2466975"/>
            <a:ext cx="4000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620000" y="2543175"/>
            <a:ext cx="381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图片、音频、视频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190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业务范围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2857500" y="3019425"/>
            <a:ext cx="4667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952750" y="309562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一个业务线或高频场景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7524750" y="3019425"/>
            <a:ext cx="4000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0" y="3095625"/>
            <a:ext cx="381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全部行业与组织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190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渠道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2857500" y="3571875"/>
            <a:ext cx="4667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2952750" y="364807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少量规则相对明确的渠道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7524750" y="3571875"/>
            <a:ext cx="4000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20000" y="3648075"/>
            <a:ext cx="381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全渠道统一覆盖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2190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2000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处理方式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2857500" y="4124325"/>
            <a:ext cx="4667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952750" y="4200525"/>
            <a:ext cx="4476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预审、修改、复核和重审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7524750" y="4124325"/>
            <a:ext cx="4000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620000" y="4200525"/>
            <a:ext cx="3810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自动发布和处罚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5687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MVP必须具备八类能力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文案和必要上下文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3462338" y="200025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71888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3671888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确定性风险检查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6200775" y="200025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0325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RAG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6410325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当前规则依据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8939213" y="200025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8763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大模型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148763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语义风险识别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23900" y="361950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3450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933450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结构化展示与合并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3462338" y="361950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71888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分流</a:t>
            </a:r>
            <a:endParaRPr lang="en-US" sz="1740" dirty="0"/>
          </a:p>
        </p:txBody>
      </p:sp>
      <p:sp>
        <p:nvSpPr>
          <p:cNvPr id="25" name="Text 22"/>
          <p:cNvSpPr txBox="1"/>
          <p:nvPr/>
        </p:nvSpPr>
        <p:spPr>
          <a:xfrm>
            <a:off x="3671888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通过、修改或转人工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6200775" y="361950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10325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复核</a:t>
            </a:r>
            <a:endParaRPr lang="en-US" sz="1740" dirty="0"/>
          </a:p>
        </p:txBody>
      </p:sp>
      <p:sp>
        <p:nvSpPr>
          <p:cNvPr id="28" name="Text 25"/>
          <p:cNvSpPr txBox="1"/>
          <p:nvPr/>
        </p:nvSpPr>
        <p:spPr>
          <a:xfrm>
            <a:off x="6410325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人工最终处理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8939213" y="361950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8763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追溯</a:t>
            </a:r>
            <a:endParaRPr lang="en-US" sz="1740" dirty="0"/>
          </a:p>
        </p:txBody>
      </p:sp>
      <p:sp>
        <p:nvSpPr>
          <p:cNvPr id="31" name="Text 28"/>
          <p:cNvSpPr txBox="1"/>
          <p:nvPr/>
        </p:nvSpPr>
        <p:spPr>
          <a:xfrm>
            <a:off x="9148763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版本、日志和失败记录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7027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这些能力暂时不进入第一版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多模态审核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图片、视频和音频会显著扩大技术与标准范围。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自动改写发布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不能在未确认事实和责任的情况下直接覆盖原文。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完整规则后台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第一版可以由产品与研发预配置规则。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复杂审批权限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先用最小角色和人工分配验证主链路。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Agent自主调查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关键审核步骤不允许被自主跳过。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8368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能力优先级围绕闭环排序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28750" y="2000250"/>
            <a:ext cx="9334500" cy="895350"/>
          </a:xfrm>
          <a:prstGeom prst="roundRect">
            <a:avLst/>
          </a:prstGeom>
          <a:solidFill>
            <a:srgbClr val="31191B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57350" y="2143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FF8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P0｜没有就无法试点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3857625" y="2143125"/>
            <a:ext cx="6619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提交、规则、语义审核、结构化结果、人工接管、重审、日志。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1905000" y="3143250"/>
            <a:ext cx="8382000" cy="89535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33600" y="3286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P1｜提高使用效率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333875" y="3286125"/>
            <a:ext cx="56673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更好的任务筛选、批量查看、修改辅助和基础统计。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2381250" y="4286250"/>
            <a:ext cx="7429500" cy="8953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09850" y="4429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P2｜规模化扩展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4810125" y="4429125"/>
            <a:ext cx="4714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多渠道、多模态、完整规则平台、复杂权限和自动发布。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MVP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69708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MVP采用小范围试点，而不是一次性全量上线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试点方式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先跑历史样本PoC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选择一个团队影子运行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人工仍保留最终控制权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成功标准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有效风险发现能力提升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人工平均耗时下降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高风险无默认放行，复核量可承受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1049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 大模型能力输入与输出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把“大模型审核”写成可实现、可接入的能力契约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2390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一项AI能力要求至少包含八个部分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为什么需要这项能力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3462338" y="200025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71888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对象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3671888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处理什么内容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6200775" y="200025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10325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6410325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模型能够看到什么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8939213" y="200025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148763" y="217170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148763" y="254317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模型具体判断什么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723900" y="361950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3450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933450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必须返回哪些字段</a:t>
            </a:r>
            <a:endParaRPr lang="en-US" sz="1260" dirty="0"/>
          </a:p>
        </p:txBody>
      </p:sp>
      <p:sp>
        <p:nvSpPr>
          <p:cNvPr id="23" name="Shape 20"/>
          <p:cNvSpPr/>
          <p:nvPr/>
        </p:nvSpPr>
        <p:spPr>
          <a:xfrm>
            <a:off x="3462338" y="361950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671888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约束</a:t>
            </a:r>
            <a:endParaRPr lang="en-US" sz="1740" dirty="0"/>
          </a:p>
        </p:txBody>
      </p:sp>
      <p:sp>
        <p:nvSpPr>
          <p:cNvPr id="25" name="Text 22"/>
          <p:cNvSpPr txBox="1"/>
          <p:nvPr/>
        </p:nvSpPr>
        <p:spPr>
          <a:xfrm>
            <a:off x="3671888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哪些规则必须遵守</a:t>
            </a:r>
            <a:endParaRPr lang="en-US" sz="1260" dirty="0"/>
          </a:p>
        </p:txBody>
      </p:sp>
      <p:sp>
        <p:nvSpPr>
          <p:cNvPr id="26" name="Shape 23"/>
          <p:cNvSpPr/>
          <p:nvPr/>
        </p:nvSpPr>
        <p:spPr>
          <a:xfrm>
            <a:off x="6200775" y="3619500"/>
            <a:ext cx="2528888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410325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</a:t>
            </a:r>
            <a:endParaRPr lang="en-US" sz="1740" dirty="0"/>
          </a:p>
        </p:txBody>
      </p:sp>
      <p:sp>
        <p:nvSpPr>
          <p:cNvPr id="28" name="Text 25"/>
          <p:cNvSpPr txBox="1"/>
          <p:nvPr/>
        </p:nvSpPr>
        <p:spPr>
          <a:xfrm>
            <a:off x="6410325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不确定与失败怎么处理</a:t>
            </a:r>
            <a:endParaRPr lang="en-US" sz="1260" dirty="0"/>
          </a:p>
        </p:txBody>
      </p:sp>
      <p:sp>
        <p:nvSpPr>
          <p:cNvPr id="29" name="Shape 26"/>
          <p:cNvSpPr/>
          <p:nvPr/>
        </p:nvSpPr>
        <p:spPr>
          <a:xfrm>
            <a:off x="8939213" y="3619500"/>
            <a:ext cx="2528888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9148763" y="3790950"/>
            <a:ext cx="2109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740" dirty="0"/>
          </a:p>
        </p:txBody>
      </p:sp>
      <p:sp>
        <p:nvSpPr>
          <p:cNvPr id="31" name="Text 28"/>
          <p:cNvSpPr txBox="1"/>
          <p:nvPr/>
        </p:nvSpPr>
        <p:spPr>
          <a:xfrm>
            <a:off x="9148763" y="4162425"/>
            <a:ext cx="2109788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明确不负责什么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3730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不要让模型判断“是否合法”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范围过大的写法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判断文案是否合法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默认模型掌握全部法律事实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责任和验收标准都不清楚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可实现的写法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基于给定规则和事实识别营销表达风险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标记原文位置并说明依据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输出后续处理建议和不确定原因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5071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模型需要五类输入信息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完整内容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标题、正文、按钮文案与必要上下文。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业务上下文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产品类型、渠道、用户、活动和内容用途。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产品事实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功能、适用范围、数据、价格和官方表述。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审核依据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当前有效规则、解释、案例和版本信息。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输出约束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风险类型枚举、原文定位和JSON结构要求。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6411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模型输入不是一句Prompt，而是一组受控上下文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8250" y="1952625"/>
            <a:ext cx="9715500" cy="3810000"/>
          </a:xfrm>
          <a:prstGeom prst="roundRect">
            <a:avLst/>
          </a:prstGeom>
          <a:solidFill>
            <a:srgbClr val="031016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19250" y="2190750"/>
            <a:ext cx="895350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待审内容：完整营销文案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业务上下文：金融产品｜小红书｜成年人｜拉新活动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产品事实：历史收益数据、统计周期、风险说明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规则依据：当前有效规则V3＋正反案例</a:t>
            </a:r>
            <a:endParaRPr lang="en-US" sz="12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输出要求：限定风险类型；必须定位原文；信息不足不得编造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7752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输出结构必须能够被系统稳定解析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38250" y="1952625"/>
            <a:ext cx="9715500" cy="3810000"/>
          </a:xfrm>
          <a:prstGeom prst="roundRect">
            <a:avLst/>
          </a:prstGeom>
          <a:solidFill>
            <a:srgbClr val="031016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19250" y="2190750"/>
            <a:ext cx="8953500" cy="333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{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"overall_result": "need_human_review",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"overall_risk_level": "high",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"risks": [{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"text_span": "完全不用担心亏损",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"risk_type": "收益保证与风险隐瞒",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"reason": "暗示本金和收益不会发生损失",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"evidence": "规则V3-18",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"suggestion": "删除保证性表达并补充风险提示",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"need_human_review": true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}]</a:t>
            </a:r>
            <a:endParaRPr lang="en-US" sz="1056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56" dirty="0">
                <a:solidFill>
                  <a:srgbClr val="6EE7B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}</a:t>
            </a:r>
            <a:endParaRPr lang="en-US" sz="105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79092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模型提供判断材料，系统决定业务动作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857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705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模型结果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524250" y="1952625"/>
            <a:ext cx="4286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00450" y="2047875"/>
            <a:ext cx="4133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系统继续检查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810500" y="1952625"/>
            <a:ext cx="3714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86700" y="2047875"/>
            <a:ext cx="3562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后续动作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未发现语义风险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3524250" y="2466975"/>
            <a:ext cx="4286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619500" y="2543175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规则是否命中、调用是否完整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7810500" y="2466975"/>
            <a:ext cx="3714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05750" y="2543175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进入整体结果合并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857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低风险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3524250" y="3019425"/>
            <a:ext cx="4286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619500" y="3095625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是否允许运营自行处理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7810500" y="3019425"/>
            <a:ext cx="3714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05750" y="3095625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建议修改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中风险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3524250" y="3571875"/>
            <a:ext cx="4286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619500" y="3648075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规则要求与业务场景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7810500" y="3571875"/>
            <a:ext cx="3714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905750" y="3648075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退回修改或人工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2857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高风险/信息不足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3524250" y="4124325"/>
            <a:ext cx="4286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619500" y="4200525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高风险路由和缺失信息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7810500" y="4124325"/>
            <a:ext cx="3714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905750" y="4200525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转人工或补充信息</a:t>
            </a:r>
            <a:endParaRPr lang="en-US" sz="1236" dirty="0"/>
          </a:p>
        </p:txBody>
      </p:sp>
      <p:sp>
        <p:nvSpPr>
          <p:cNvPr id="38" name="Shape 35"/>
          <p:cNvSpPr/>
          <p:nvPr/>
        </p:nvSpPr>
        <p:spPr>
          <a:xfrm>
            <a:off x="666750" y="4676775"/>
            <a:ext cx="2857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62000" y="4752975"/>
            <a:ext cx="2667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输出异常/调用失败</a:t>
            </a:r>
            <a:endParaRPr lang="en-US" sz="1236" dirty="0"/>
          </a:p>
        </p:txBody>
      </p:sp>
      <p:sp>
        <p:nvSpPr>
          <p:cNvPr id="40" name="Shape 37"/>
          <p:cNvSpPr/>
          <p:nvPr/>
        </p:nvSpPr>
        <p:spPr>
          <a:xfrm>
            <a:off x="3524250" y="4676775"/>
            <a:ext cx="4286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619500" y="4752975"/>
            <a:ext cx="4095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能否安全重试</a:t>
            </a:r>
            <a:endParaRPr lang="en-US" sz="1236" dirty="0"/>
          </a:p>
        </p:txBody>
      </p:sp>
      <p:sp>
        <p:nvSpPr>
          <p:cNvPr id="42" name="Shape 39"/>
          <p:cNvSpPr/>
          <p:nvPr/>
        </p:nvSpPr>
        <p:spPr>
          <a:xfrm>
            <a:off x="7810500" y="4676775"/>
            <a:ext cx="3714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905750" y="4752975"/>
            <a:ext cx="3524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重试后转人工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0433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修改建议和最终改写是两个任务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模型可以提供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应删除或弱化的表达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需要补充的限制条件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一条参考性示例表达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第一版不能自动做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直接覆盖运营原文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跳过重新审核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在缺少事实时自行补充内容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1773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不确定与失败结果也必须有产品定义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信息不足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指出缺少什么、为何影响判断，以及补充或转人工。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依据冲突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展示冲突依据，不让模型自行选择最终结论。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定位不稳定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允许返回段落级风险，并降低自动处理程度。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结构错误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缺字段、值越界或无法解析都视为机器失败。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调用失败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有限安全重试，仍失败则转人工并保留记录。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3114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AI能力边界必须写进PRD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4381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4229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模型不负责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5048250" y="1952625"/>
            <a:ext cx="64770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24450" y="2047875"/>
            <a:ext cx="6324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原因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66750" y="2466975"/>
            <a:ext cx="4381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2000" y="254317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替代法务或规则负责人作最终结论</a:t>
            </a:r>
            <a:endParaRPr lang="en-US" sz="1236" dirty="0"/>
          </a:p>
        </p:txBody>
      </p:sp>
      <p:sp>
        <p:nvSpPr>
          <p:cNvPr id="14" name="Shape 11"/>
          <p:cNvSpPr/>
          <p:nvPr/>
        </p:nvSpPr>
        <p:spPr>
          <a:xfrm>
            <a:off x="5048250" y="2466975"/>
            <a:ext cx="6477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143500" y="2543175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模型不承担最终业务与法律责任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666750" y="3019425"/>
            <a:ext cx="4381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309562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判断未提供证据的产品事实是否真实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5048250" y="3019425"/>
            <a:ext cx="64770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143500" y="3095625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模型不能凭常识补齐内部事实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571875"/>
            <a:ext cx="4381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64807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自动放行高风险或不确定内容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5048250" y="3571875"/>
            <a:ext cx="6477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143500" y="3648075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业务动作由系统规则与人工控制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666750" y="4124325"/>
            <a:ext cx="4381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" y="420052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自动覆盖原文、发布、删除或处罚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5048250" y="4124325"/>
            <a:ext cx="64770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143500" y="4200525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建议仍需用户确认并重新审核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666750" y="4676775"/>
            <a:ext cx="4381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2000" y="4752975"/>
            <a:ext cx="419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在缺少依据时编造审核规则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5048250" y="4676775"/>
            <a:ext cx="64770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143500" y="4752975"/>
            <a:ext cx="62865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必须允许返回信息不足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CAPABILITY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4455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AI能力卡：营销文案语义风险识别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95500"/>
            <a:ext cx="5267325" cy="1333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266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63842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目标：识别必须结合上下文判断的营销表达风险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200775" y="2095500"/>
            <a:ext cx="5267325" cy="1333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0325" y="2266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6410325" y="263842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输入：完整文案、业务上下文、产品事实和当前规则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23900" y="3638550"/>
            <a:ext cx="5267325" cy="1333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3450" y="38100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933450" y="418147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输出：风险位置、类型、等级、依据、建议和不确定原因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200775" y="3638550"/>
            <a:ext cx="5267325" cy="1333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0325" y="38100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6410325" y="418147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异常：信息不足补充信息；冲突、失败和高风险转人工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5795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 评测集来源与验收约定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PRD要提前说明拿什么测、谁确认、何时重测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7136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首版评测集来自五类真实与补充数据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历史记录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通过、驳回、修改前后版本和人工备注。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高风险案例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投诉、损失、红线和不能漏掉的典型问题。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争议案例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审核分歧、申诉、升级和规则冲突内容。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723900" y="3619500"/>
            <a:ext cx="3441700" cy="14097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345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近期样本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93345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最近业务、新产品、新渠道和新型规避表达。</a:t>
            </a:r>
            <a:endParaRPr lang="en-US" sz="1260" dirty="0"/>
          </a:p>
        </p:txBody>
      </p:sp>
      <p:sp>
        <p:nvSpPr>
          <p:cNvPr id="20" name="Shape 17"/>
          <p:cNvSpPr/>
          <p:nvPr/>
        </p:nvSpPr>
        <p:spPr>
          <a:xfrm>
            <a:off x="4375150" y="3619500"/>
            <a:ext cx="3441700" cy="14097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84700" y="379095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边界样本</a:t>
            </a:r>
            <a:endParaRPr lang="en-US" sz="1740" dirty="0"/>
          </a:p>
        </p:txBody>
      </p:sp>
      <p:sp>
        <p:nvSpPr>
          <p:cNvPr id="22" name="Text 19"/>
          <p:cNvSpPr txBox="1"/>
          <p:nvPr/>
        </p:nvSpPr>
        <p:spPr>
          <a:xfrm>
            <a:off x="4584700" y="4162425"/>
            <a:ext cx="3022600" cy="752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人工构造并用模型扩写的正反与临界变体。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8476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历史标签不能直接等于标准答案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428750" y="2000250"/>
            <a:ext cx="9334500" cy="895350"/>
          </a:xfrm>
          <a:prstGeom prst="roundRect">
            <a:avLst/>
          </a:prstGeom>
          <a:solidFill>
            <a:srgbClr val="31191B"/>
          </a:solidFill>
          <a:ln w="12700">
            <a:solidFill>
              <a:srgbClr val="FF8A7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657350" y="2143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FF8A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历史数据的价值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3857625" y="2143125"/>
            <a:ext cx="6619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来自真实业务，能够反映常见表达、风险分布和人工流程。</a:t>
            </a:r>
            <a:endParaRPr lang="en-US" sz="1440" dirty="0"/>
          </a:p>
        </p:txBody>
      </p:sp>
      <p:sp>
        <p:nvSpPr>
          <p:cNvPr id="11" name="Shape 8"/>
          <p:cNvSpPr/>
          <p:nvPr/>
        </p:nvSpPr>
        <p:spPr>
          <a:xfrm>
            <a:off x="1905000" y="3143250"/>
            <a:ext cx="8382000" cy="89535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133600" y="3286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历史数据的问题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333875" y="3286125"/>
            <a:ext cx="56673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人工标准不一、规则可能失效、备注不完整、旧错误可能被保留。</a:t>
            </a:r>
            <a:endParaRPr lang="en-US" sz="1440" dirty="0"/>
          </a:p>
        </p:txBody>
      </p:sp>
      <p:sp>
        <p:nvSpPr>
          <p:cNvPr id="14" name="Shape 11"/>
          <p:cNvSpPr/>
          <p:nvPr/>
        </p:nvSpPr>
        <p:spPr>
          <a:xfrm>
            <a:off x="2381250" y="4286250"/>
            <a:ext cx="7429500" cy="8953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609850" y="4429125"/>
            <a:ext cx="2190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进入评测集前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4810125" y="4429125"/>
            <a:ext cx="4714875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4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历史样本抽样复核；高风险和争议样本逐条确认。</a:t>
            </a:r>
            <a:endParaRPr lang="en-US" sz="14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89817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评测表每一行都要包含输入、标准和版本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381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228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字段组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048000" y="1952625"/>
            <a:ext cx="5238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24200" y="2047875"/>
            <a:ext cx="5086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典型字段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286750" y="1952625"/>
            <a:ext cx="3238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362950" y="2047875"/>
            <a:ext cx="3086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作用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381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样本输入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3048000" y="2466975"/>
            <a:ext cx="5238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43250" y="2543175"/>
            <a:ext cx="504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文案、业务场景、产品事实、渠道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8286750" y="2466975"/>
            <a:ext cx="3238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82000" y="2543175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还原模型实际可见信息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381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标准答案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3048000" y="3019425"/>
            <a:ext cx="5238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43250" y="3095625"/>
            <a:ext cx="504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风险类型、等级、位置、预期处理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8286750" y="3019425"/>
            <a:ext cx="3238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382000" y="3095625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明确什么算正确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381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样本元数据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3048000" y="3571875"/>
            <a:ext cx="5238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43250" y="3648075"/>
            <a:ext cx="504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来源、重要性、确认人、规则版本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8286750" y="3571875"/>
            <a:ext cx="3238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82000" y="3648075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保证可追溯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2381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运行记录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3048000" y="4124325"/>
            <a:ext cx="5238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43250" y="4200525"/>
            <a:ext cx="5048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模型输出、版本、评分和Bad Case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8286750" y="4124325"/>
            <a:ext cx="3238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82000" y="4200525"/>
            <a:ext cx="3048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支持比较与回归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1157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首版评测集的整理过程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846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816850" y="2581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429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763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2" name="Text 9"/>
          <p:cNvSpPr txBox="1"/>
          <p:nvPr/>
        </p:nvSpPr>
        <p:spPr>
          <a:xfrm>
            <a:off x="8763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确定MVP风险范围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751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085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5" name="Text 12"/>
          <p:cNvSpPr txBox="1"/>
          <p:nvPr/>
        </p:nvSpPr>
        <p:spPr>
          <a:xfrm>
            <a:off x="45085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提取历史样本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007350" y="2143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40700" y="2238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18" name="Text 15"/>
          <p:cNvSpPr txBox="1"/>
          <p:nvPr/>
        </p:nvSpPr>
        <p:spPr>
          <a:xfrm>
            <a:off x="8140700" y="2486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去重清理并补上下文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96000" y="3105150"/>
            <a:ext cx="0" cy="447675"/>
          </a:xfrm>
          <a:prstGeom prst="line">
            <a:avLst/>
          </a:prstGeom>
          <a:noFill/>
          <a:ln w="25400">
            <a:solidFill>
              <a:srgbClr val="FF7657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1846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816850" y="4105275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7429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763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4" name="Text 21"/>
          <p:cNvSpPr txBox="1"/>
          <p:nvPr/>
        </p:nvSpPr>
        <p:spPr>
          <a:xfrm>
            <a:off x="8763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业务复核标签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3751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085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7" name="Text 24"/>
          <p:cNvSpPr txBox="1"/>
          <p:nvPr/>
        </p:nvSpPr>
        <p:spPr>
          <a:xfrm>
            <a:off x="45085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补高风险与边界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8007350" y="3667125"/>
            <a:ext cx="3441700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140700" y="3762375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0" name="Text 27"/>
          <p:cNvSpPr txBox="1"/>
          <p:nvPr/>
        </p:nvSpPr>
        <p:spPr>
          <a:xfrm>
            <a:off x="8140700" y="4010025"/>
            <a:ext cx="31750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形成首版评测集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2498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没有历史数据，也可以建立首版评测集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启动阶段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从规则文档整理风险类型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收集培训中的正反案例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业务人员编写典型违规样本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持续替换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模型生成表达变体后人工确认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两名业务人员独立判断分歧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影子运行后用真实案例替换构造数据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3838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开发、验收和回归样本要分开管理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开发样本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产品、算法和研发可以反复查看，用于设计规则与Prompt。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4375150" y="2000250"/>
            <a:ext cx="3441700" cy="1714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8470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验收样本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458470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方案基本稳定后判断是否达到上线条件，避免针对题目调答案。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8026400" y="2000250"/>
            <a:ext cx="3441700" cy="1714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35950" y="2171700"/>
            <a:ext cx="30226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回归样本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8235950" y="2543175"/>
            <a:ext cx="3022600" cy="1057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重要错误、高风险和线上问题；规则、模型或Prompt变化后重跑。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EVALUATION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5179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PRD中的验收约定至少写清六项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952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800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约定项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619500" y="1952625"/>
            <a:ext cx="7905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95700" y="2047875"/>
            <a:ext cx="7753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需要明确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666750" y="2466975"/>
            <a:ext cx="2952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62000" y="254317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评测对象</a:t>
            </a:r>
            <a:endParaRPr lang="en-US" sz="1236" dirty="0"/>
          </a:p>
        </p:txBody>
      </p:sp>
      <p:sp>
        <p:nvSpPr>
          <p:cNvPr id="14" name="Shape 11"/>
          <p:cNvSpPr/>
          <p:nvPr/>
        </p:nvSpPr>
        <p:spPr>
          <a:xfrm>
            <a:off x="3619500" y="2466975"/>
            <a:ext cx="7905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714750" y="254317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单独模型、组合审核结果，还是完整产品闭环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666750" y="3019425"/>
            <a:ext cx="2952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2000" y="309562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样本来源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3619500" y="3019425"/>
            <a:ext cx="7905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714750" y="309562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历史、近期、高风险、争议和构造样本分别从哪里来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571875"/>
            <a:ext cx="2952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64807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风险范围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3619500" y="3571875"/>
            <a:ext cx="7905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714750" y="364807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本次MVP必须覆盖什么，暂不验收什么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666750" y="4124325"/>
            <a:ext cx="2952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2000" y="420052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标准答案责任人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3619500" y="4124325"/>
            <a:ext cx="7905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714750" y="420052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谁确认风险类型、等级和预期动作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666750" y="4676775"/>
            <a:ext cx="2952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62000" y="475297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上线门槛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3619500" y="4676775"/>
            <a:ext cx="7905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714750" y="475297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高风险底线、识别要求、输出可用性和人工承载量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5229225"/>
            <a:ext cx="2952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5305425"/>
            <a:ext cx="2762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版本变化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3619500" y="5229225"/>
            <a:ext cx="7905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714750" y="5305425"/>
            <a:ext cx="771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规则、知识、模型、Prompt或结构变化后何时重新验收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6520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2000" y="1733550"/>
            <a:ext cx="10287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8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 组装完整AI产品PRD</a:t>
            </a:r>
            <a:endParaRPr lang="en-US" sz="4080" dirty="0"/>
          </a:p>
        </p:txBody>
      </p:sp>
      <p:sp>
        <p:nvSpPr>
          <p:cNvPr id="7" name="Shape 4"/>
          <p:cNvSpPr/>
          <p:nvPr/>
        </p:nvSpPr>
        <p:spPr>
          <a:xfrm>
            <a:off x="762000" y="2857500"/>
            <a:ext cx="1143000" cy="57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" y="3286125"/>
            <a:ext cx="9334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8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把前六节的产品判断装进一份可执行文档</a:t>
            </a:r>
            <a:endParaRPr lang="en-US" sz="1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786056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AI产品PRD比普通PRD多写三类内容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普通PRD通常关注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用户、场景与业务流程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页面、功能与状态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权限、数据和异常路径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AI产品PRD还必须关注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AI介入依据和能力边界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输入、输出、版本与失败接管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评测集来源和上线门槛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9920111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最终PRD由十三个章节组成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3619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346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01—04 业务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4286250" y="1952625"/>
            <a:ext cx="3619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362450" y="2047875"/>
            <a:ext cx="346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05—08 方案与范围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905750" y="1952625"/>
            <a:ext cx="3619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81950" y="2047875"/>
            <a:ext cx="346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09—13 能力与保障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3619500" cy="7334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项目摘要</a:t>
            </a:r>
            <a:endParaRPr lang="en-US" sz="1104" dirty="0"/>
          </a:p>
        </p:txBody>
      </p:sp>
      <p:sp>
        <p:nvSpPr>
          <p:cNvPr id="16" name="Shape 13"/>
          <p:cNvSpPr/>
          <p:nvPr/>
        </p:nvSpPr>
        <p:spPr>
          <a:xfrm>
            <a:off x="4286250" y="2466975"/>
            <a:ext cx="3619500" cy="7334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381500" y="2543175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AI介入判断与备选方案</a:t>
            </a:r>
            <a:endParaRPr lang="en-US" sz="1104" dirty="0"/>
          </a:p>
        </p:txBody>
      </p:sp>
      <p:sp>
        <p:nvSpPr>
          <p:cNvPr id="18" name="Shape 15"/>
          <p:cNvSpPr/>
          <p:nvPr/>
        </p:nvSpPr>
        <p:spPr>
          <a:xfrm>
            <a:off x="7905750" y="2466975"/>
            <a:ext cx="3619500" cy="7334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2543175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AI输入、输出与边界</a:t>
            </a:r>
            <a:endParaRPr lang="en-US" sz="1104" dirty="0"/>
          </a:p>
        </p:txBody>
      </p:sp>
      <p:sp>
        <p:nvSpPr>
          <p:cNvPr id="20" name="Shape 17"/>
          <p:cNvSpPr/>
          <p:nvPr/>
        </p:nvSpPr>
        <p:spPr>
          <a:xfrm>
            <a:off x="666750" y="3200400"/>
            <a:ext cx="3619500" cy="7334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276600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业务背景与现状</a:t>
            </a:r>
            <a:endParaRPr lang="en-US" sz="1104" dirty="0"/>
          </a:p>
        </p:txBody>
      </p:sp>
      <p:sp>
        <p:nvSpPr>
          <p:cNvPr id="22" name="Shape 19"/>
          <p:cNvSpPr/>
          <p:nvPr/>
        </p:nvSpPr>
        <p:spPr>
          <a:xfrm>
            <a:off x="4286250" y="3200400"/>
            <a:ext cx="3619500" cy="7334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381500" y="3276600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能力分工</a:t>
            </a:r>
            <a:endParaRPr lang="en-US" sz="1104" dirty="0"/>
          </a:p>
        </p:txBody>
      </p:sp>
      <p:sp>
        <p:nvSpPr>
          <p:cNvPr id="24" name="Shape 21"/>
          <p:cNvSpPr/>
          <p:nvPr/>
        </p:nvSpPr>
        <p:spPr>
          <a:xfrm>
            <a:off x="7905750" y="3200400"/>
            <a:ext cx="3619500" cy="7334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01000" y="3276600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数据、规则与知识依赖</a:t>
            </a:r>
            <a:endParaRPr lang="en-US" sz="1104" dirty="0"/>
          </a:p>
        </p:txBody>
      </p:sp>
      <p:sp>
        <p:nvSpPr>
          <p:cNvPr id="26" name="Shape 23"/>
          <p:cNvSpPr/>
          <p:nvPr/>
        </p:nvSpPr>
        <p:spPr>
          <a:xfrm>
            <a:off x="666750" y="3933825"/>
            <a:ext cx="3619500" cy="7334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4010025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用户、场景与流程</a:t>
            </a:r>
            <a:endParaRPr lang="en-US" sz="1104" dirty="0"/>
          </a:p>
        </p:txBody>
      </p:sp>
      <p:sp>
        <p:nvSpPr>
          <p:cNvPr id="28" name="Shape 25"/>
          <p:cNvSpPr/>
          <p:nvPr/>
        </p:nvSpPr>
        <p:spPr>
          <a:xfrm>
            <a:off x="4286250" y="3933825"/>
            <a:ext cx="3619500" cy="7334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381500" y="4010025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审核结果与处理流程</a:t>
            </a:r>
            <a:endParaRPr lang="en-US" sz="1104" dirty="0"/>
          </a:p>
        </p:txBody>
      </p:sp>
      <p:sp>
        <p:nvSpPr>
          <p:cNvPr id="30" name="Shape 27"/>
          <p:cNvSpPr/>
          <p:nvPr/>
        </p:nvSpPr>
        <p:spPr>
          <a:xfrm>
            <a:off x="7905750" y="3933825"/>
            <a:ext cx="3619500" cy="733425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01000" y="4010025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评测集与验收条件</a:t>
            </a:r>
            <a:endParaRPr lang="en-US" sz="1104" dirty="0"/>
          </a:p>
        </p:txBody>
      </p:sp>
      <p:sp>
        <p:nvSpPr>
          <p:cNvPr id="32" name="Shape 29"/>
          <p:cNvSpPr/>
          <p:nvPr/>
        </p:nvSpPr>
        <p:spPr>
          <a:xfrm>
            <a:off x="666750" y="4667250"/>
            <a:ext cx="3619500" cy="7334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743450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4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问题、目标与非目标</a:t>
            </a:r>
            <a:endParaRPr lang="en-US" sz="1104" dirty="0"/>
          </a:p>
        </p:txBody>
      </p:sp>
      <p:sp>
        <p:nvSpPr>
          <p:cNvPr id="34" name="Shape 31"/>
          <p:cNvSpPr/>
          <p:nvPr/>
        </p:nvSpPr>
        <p:spPr>
          <a:xfrm>
            <a:off x="4286250" y="4667250"/>
            <a:ext cx="3619500" cy="7334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1500" y="4743450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MVP与试点范围</a:t>
            </a:r>
            <a:endParaRPr lang="en-US" sz="1104" dirty="0"/>
          </a:p>
        </p:txBody>
      </p:sp>
      <p:sp>
        <p:nvSpPr>
          <p:cNvPr id="36" name="Shape 33"/>
          <p:cNvSpPr/>
          <p:nvPr/>
        </p:nvSpPr>
        <p:spPr>
          <a:xfrm>
            <a:off x="7905750" y="4667250"/>
            <a:ext cx="3619500" cy="733425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01000" y="4743450"/>
            <a:ext cx="3429000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4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人工复核、异常、风险与待确认项</a:t>
            </a:r>
            <a:endParaRPr lang="en-US" sz="110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054167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PRD首页要在一页说清项目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95500"/>
            <a:ext cx="5267325" cy="1333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33450" y="2266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740" dirty="0"/>
          </a:p>
        </p:txBody>
      </p:sp>
      <p:sp>
        <p:nvSpPr>
          <p:cNvPr id="10" name="Text 7"/>
          <p:cNvSpPr txBox="1"/>
          <p:nvPr/>
        </p:nvSpPr>
        <p:spPr>
          <a:xfrm>
            <a:off x="933450" y="263842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业务问题：内容量增加导致审核积压、标准不一和结果难沉淀</a:t>
            </a:r>
            <a:endParaRPr lang="en-US" sz="1260" dirty="0"/>
          </a:p>
        </p:txBody>
      </p:sp>
      <p:sp>
        <p:nvSpPr>
          <p:cNvPr id="11" name="Shape 8"/>
          <p:cNvSpPr/>
          <p:nvPr/>
        </p:nvSpPr>
        <p:spPr>
          <a:xfrm>
            <a:off x="6200775" y="2095500"/>
            <a:ext cx="5267325" cy="1333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10325" y="226695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740" dirty="0"/>
          </a:p>
        </p:txBody>
      </p:sp>
      <p:sp>
        <p:nvSpPr>
          <p:cNvPr id="13" name="Text 10"/>
          <p:cNvSpPr txBox="1"/>
          <p:nvPr/>
        </p:nvSpPr>
        <p:spPr>
          <a:xfrm>
            <a:off x="6410325" y="263842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产品方案：规则＋RAG＋大模型＋人工的分层机器预审</a:t>
            </a:r>
            <a:endParaRPr lang="en-US" sz="1260" dirty="0"/>
          </a:p>
        </p:txBody>
      </p:sp>
      <p:sp>
        <p:nvSpPr>
          <p:cNvPr id="14" name="Shape 11"/>
          <p:cNvSpPr/>
          <p:nvPr/>
        </p:nvSpPr>
        <p:spPr>
          <a:xfrm>
            <a:off x="723900" y="3638550"/>
            <a:ext cx="5267325" cy="1333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3450" y="38100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740" dirty="0"/>
          </a:p>
        </p:txBody>
      </p:sp>
      <p:sp>
        <p:nvSpPr>
          <p:cNvPr id="16" name="Text 13"/>
          <p:cNvSpPr txBox="1"/>
          <p:nvPr/>
        </p:nvSpPr>
        <p:spPr>
          <a:xfrm>
            <a:off x="933450" y="418147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MVP范围：文本、单一业务试点、修改复核重审闭环</a:t>
            </a:r>
            <a:endParaRPr lang="en-US" sz="1260" dirty="0"/>
          </a:p>
        </p:txBody>
      </p:sp>
      <p:sp>
        <p:nvSpPr>
          <p:cNvPr id="17" name="Shape 14"/>
          <p:cNvSpPr/>
          <p:nvPr/>
        </p:nvSpPr>
        <p:spPr>
          <a:xfrm>
            <a:off x="6200775" y="3638550"/>
            <a:ext cx="5267325" cy="1333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10325" y="3810000"/>
            <a:ext cx="484822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740" dirty="0"/>
          </a:p>
        </p:txBody>
      </p:sp>
      <p:sp>
        <p:nvSpPr>
          <p:cNvPr id="19" name="Text 16"/>
          <p:cNvSpPr txBox="1"/>
          <p:nvPr/>
        </p:nvSpPr>
        <p:spPr>
          <a:xfrm>
            <a:off x="6410325" y="4181475"/>
            <a:ext cx="48482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验收方式：能力效果、人工效率、安全底线和失败接管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188222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前六节内容按同一顺序组装进PRD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09107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665764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222421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779079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335736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9892393" y="3295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42950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6300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6" name="Text 13"/>
          <p:cNvSpPr txBox="1"/>
          <p:nvPr/>
        </p:nvSpPr>
        <p:spPr>
          <a:xfrm>
            <a:off x="876300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背景目标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299607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32957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19" name="Text 16"/>
          <p:cNvSpPr txBox="1"/>
          <p:nvPr/>
        </p:nvSpPr>
        <p:spPr>
          <a:xfrm>
            <a:off x="2432957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AI方案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856264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989614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22" name="Text 19"/>
          <p:cNvSpPr txBox="1"/>
          <p:nvPr/>
        </p:nvSpPr>
        <p:spPr>
          <a:xfrm>
            <a:off x="3989614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结果流程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12921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46271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5" name="Text 22"/>
          <p:cNvSpPr txBox="1"/>
          <p:nvPr/>
        </p:nvSpPr>
        <p:spPr>
          <a:xfrm>
            <a:off x="5546271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MVP范围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69579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102929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8" name="Text 25"/>
          <p:cNvSpPr txBox="1"/>
          <p:nvPr/>
        </p:nvSpPr>
        <p:spPr>
          <a:xfrm>
            <a:off x="7102929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能力契约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8526236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659586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1" name="Text 28"/>
          <p:cNvSpPr txBox="1"/>
          <p:nvPr/>
        </p:nvSpPr>
        <p:spPr>
          <a:xfrm>
            <a:off x="8659586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评测验收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10082893" y="2857500"/>
            <a:ext cx="1366157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0216243" y="2952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20" dirty="0"/>
          </a:p>
        </p:txBody>
      </p:sp>
      <p:sp>
        <p:nvSpPr>
          <p:cNvPr id="34" name="Text 31"/>
          <p:cNvSpPr txBox="1"/>
          <p:nvPr/>
        </p:nvSpPr>
        <p:spPr>
          <a:xfrm>
            <a:off x="10216243" y="3200400"/>
            <a:ext cx="1099457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风险待确认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322278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数据、规则和知识依赖要单独说明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2381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228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048000" y="1952625"/>
            <a:ext cx="5143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124200" y="2047875"/>
            <a:ext cx="4991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需要说明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8191500" y="1952625"/>
            <a:ext cx="3333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67700" y="2047875"/>
            <a:ext cx="3181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典型风险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2381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业务数据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3048000" y="2466975"/>
            <a:ext cx="5143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43250" y="2543175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内容、产品事实、渠道和历史记录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8191500" y="2466975"/>
            <a:ext cx="3333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86750" y="254317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字段缺失、事实未结构化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2381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规则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3048000" y="3019425"/>
            <a:ext cx="5143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143250" y="3095625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适用范围、版本、责任人和更新机制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8191500" y="3019425"/>
            <a:ext cx="3333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286750" y="309562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标准冲突、版本不一致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2381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3048000" y="3571875"/>
            <a:ext cx="5143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143250" y="3648075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来源、切分、检索和有效期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8191500" y="3571875"/>
            <a:ext cx="3333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86750" y="364807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召回不足、过期依据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2381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2190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模型与Prompt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3048000" y="4124325"/>
            <a:ext cx="5143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43250" y="4200525"/>
            <a:ext cx="4953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版本、配置、输出结构和回归要求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8191500" y="4124325"/>
            <a:ext cx="3333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286750" y="4200525"/>
            <a:ext cx="3143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波动、格式错误、成本与延迟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456333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风险与待确认项不是缺陷，而是决策清单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6750" y="1952625"/>
            <a:ext cx="31432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2950" y="2047875"/>
            <a:ext cx="29908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待确认项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810000" y="1952625"/>
            <a:ext cx="409575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86200" y="2047875"/>
            <a:ext cx="39433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当前情况</a:t>
            </a:r>
            <a:endParaRPr lang="en-US" sz="1320" dirty="0"/>
          </a:p>
        </p:txBody>
      </p:sp>
      <p:sp>
        <p:nvSpPr>
          <p:cNvPr id="12" name="Shape 9"/>
          <p:cNvSpPr/>
          <p:nvPr/>
        </p:nvSpPr>
        <p:spPr>
          <a:xfrm>
            <a:off x="7905750" y="1952625"/>
            <a:ext cx="3619500" cy="514350"/>
          </a:xfrm>
          <a:prstGeom prst="rect">
            <a:avLst/>
          </a:prstGeom>
          <a:solidFill>
            <a:srgbClr val="168E85"/>
          </a:solidFill>
          <a:ln w="12700">
            <a:solidFill>
              <a:srgbClr val="0715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981950" y="2047875"/>
            <a:ext cx="34671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影响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666750" y="2466975"/>
            <a:ext cx="3143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62000" y="2543175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人工审核基线</a:t>
            </a:r>
            <a:endParaRPr lang="en-US" sz="1236" dirty="0"/>
          </a:p>
        </p:txBody>
      </p:sp>
      <p:sp>
        <p:nvSpPr>
          <p:cNvPr id="16" name="Shape 13"/>
          <p:cNvSpPr/>
          <p:nvPr/>
        </p:nvSpPr>
        <p:spPr>
          <a:xfrm>
            <a:off x="3810000" y="2466975"/>
            <a:ext cx="4095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905250" y="2543175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需要从业务系统补充</a:t>
            </a:r>
            <a:endParaRPr lang="en-US" sz="1236" dirty="0"/>
          </a:p>
        </p:txBody>
      </p:sp>
      <p:sp>
        <p:nvSpPr>
          <p:cNvPr id="18" name="Shape 15"/>
          <p:cNvSpPr/>
          <p:nvPr/>
        </p:nvSpPr>
        <p:spPr>
          <a:xfrm>
            <a:off x="7905750" y="2466975"/>
            <a:ext cx="3619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0" y="25431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效率目标与收益测算</a:t>
            </a:r>
            <a:endParaRPr lang="en-US" sz="1236" dirty="0"/>
          </a:p>
        </p:txBody>
      </p:sp>
      <p:sp>
        <p:nvSpPr>
          <p:cNvPr id="20" name="Shape 17"/>
          <p:cNvSpPr/>
          <p:nvPr/>
        </p:nvSpPr>
        <p:spPr>
          <a:xfrm>
            <a:off x="666750" y="3019425"/>
            <a:ext cx="3143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62000" y="3095625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高风险判断标准</a:t>
            </a:r>
            <a:endParaRPr lang="en-US" sz="1236" dirty="0"/>
          </a:p>
        </p:txBody>
      </p:sp>
      <p:sp>
        <p:nvSpPr>
          <p:cNvPr id="22" name="Shape 19"/>
          <p:cNvSpPr/>
          <p:nvPr/>
        </p:nvSpPr>
        <p:spPr>
          <a:xfrm>
            <a:off x="3810000" y="3019425"/>
            <a:ext cx="4095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905250" y="3095625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需要规则负责人确认</a:t>
            </a:r>
            <a:endParaRPr lang="en-US" sz="1236" dirty="0"/>
          </a:p>
        </p:txBody>
      </p:sp>
      <p:sp>
        <p:nvSpPr>
          <p:cNvPr id="24" name="Shape 21"/>
          <p:cNvSpPr/>
          <p:nvPr/>
        </p:nvSpPr>
        <p:spPr>
          <a:xfrm>
            <a:off x="7905750" y="3019425"/>
            <a:ext cx="3619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01000" y="309562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自动处理范围</a:t>
            </a:r>
            <a:endParaRPr lang="en-US" sz="1236" dirty="0"/>
          </a:p>
        </p:txBody>
      </p:sp>
      <p:sp>
        <p:nvSpPr>
          <p:cNvPr id="26" name="Shape 23"/>
          <p:cNvSpPr/>
          <p:nvPr/>
        </p:nvSpPr>
        <p:spPr>
          <a:xfrm>
            <a:off x="666750" y="3571875"/>
            <a:ext cx="31432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62000" y="3648075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历史数据质量</a:t>
            </a:r>
            <a:endParaRPr lang="en-US" sz="1236" dirty="0"/>
          </a:p>
        </p:txBody>
      </p:sp>
      <p:sp>
        <p:nvSpPr>
          <p:cNvPr id="28" name="Shape 25"/>
          <p:cNvSpPr/>
          <p:nvPr/>
        </p:nvSpPr>
        <p:spPr>
          <a:xfrm>
            <a:off x="3810000" y="3571875"/>
            <a:ext cx="409575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905250" y="3648075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尚未完成抽样检查</a:t>
            </a:r>
            <a:endParaRPr lang="en-US" sz="1236" dirty="0"/>
          </a:p>
        </p:txBody>
      </p:sp>
      <p:sp>
        <p:nvSpPr>
          <p:cNvPr id="30" name="Shape 27"/>
          <p:cNvSpPr/>
          <p:nvPr/>
        </p:nvSpPr>
        <p:spPr>
          <a:xfrm>
            <a:off x="7905750" y="3571875"/>
            <a:ext cx="3619500" cy="552450"/>
          </a:xfrm>
          <a:prstGeom prst="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01000" y="364807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评测集可靠性</a:t>
            </a:r>
            <a:endParaRPr lang="en-US" sz="1236" dirty="0"/>
          </a:p>
        </p:txBody>
      </p:sp>
      <p:sp>
        <p:nvSpPr>
          <p:cNvPr id="32" name="Shape 29"/>
          <p:cNvSpPr/>
          <p:nvPr/>
        </p:nvSpPr>
        <p:spPr>
          <a:xfrm>
            <a:off x="666750" y="4124325"/>
            <a:ext cx="31432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62000" y="4200525"/>
            <a:ext cx="2952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36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模型响应与复核承载</a:t>
            </a:r>
            <a:endParaRPr lang="en-US" sz="1236" dirty="0"/>
          </a:p>
        </p:txBody>
      </p:sp>
      <p:sp>
        <p:nvSpPr>
          <p:cNvPr id="34" name="Shape 31"/>
          <p:cNvSpPr/>
          <p:nvPr/>
        </p:nvSpPr>
        <p:spPr>
          <a:xfrm>
            <a:off x="3810000" y="4124325"/>
            <a:ext cx="409575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905250" y="4200525"/>
            <a:ext cx="39052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需要PoC和业务测算</a:t>
            </a:r>
            <a:endParaRPr lang="en-US" sz="1236" dirty="0"/>
          </a:p>
        </p:txBody>
      </p:sp>
      <p:sp>
        <p:nvSpPr>
          <p:cNvPr id="36" name="Shape 33"/>
          <p:cNvSpPr/>
          <p:nvPr/>
        </p:nvSpPr>
        <p:spPr>
          <a:xfrm>
            <a:off x="7905750" y="4124325"/>
            <a:ext cx="3619500" cy="552450"/>
          </a:xfrm>
          <a:prstGeom prst="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001000" y="4200525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6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体验与风险阈值</a:t>
            </a:r>
            <a:endParaRPr lang="en-US" sz="123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PRD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590389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课堂用两项交付检验是否真正掌握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3900" y="2019300"/>
            <a:ext cx="5048250" cy="361950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9060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练习一｜PRD首页</a:t>
            </a:r>
            <a:endParaRPr lang="en-US" sz="2040" dirty="0"/>
          </a:p>
        </p:txBody>
      </p:sp>
      <p:sp>
        <p:nvSpPr>
          <p:cNvPr id="10" name="Text 7"/>
          <p:cNvSpPr txBox="1"/>
          <p:nvPr/>
        </p:nvSpPr>
        <p:spPr>
          <a:xfrm>
            <a:off x="96202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45732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业务问题与目标用户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96202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5732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产品目标和混合审核方案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96202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45732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MVP范围与验收方式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419850" y="2019300"/>
            <a:ext cx="5048250" cy="36195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686550" y="2209800"/>
            <a:ext cx="45148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4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练习二｜AI能力卡</a:t>
            </a:r>
            <a:endParaRPr lang="en-US" sz="2040" dirty="0"/>
          </a:p>
        </p:txBody>
      </p:sp>
      <p:sp>
        <p:nvSpPr>
          <p:cNvPr id="18" name="Text 15"/>
          <p:cNvSpPr txBox="1"/>
          <p:nvPr/>
        </p:nvSpPr>
        <p:spPr>
          <a:xfrm>
            <a:off x="6657975" y="286702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7153275" y="285750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模型处理什么、能获得什么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657975" y="3390900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153275" y="3381375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必须输出什么、何时转人工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6657975" y="3914775"/>
            <a:ext cx="361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153275" y="3905250"/>
            <a:ext cx="40767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模型明确不负责什么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OVERVIEW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724444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第10课的完整产品设计链路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14525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76600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638675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00750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7362825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724900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086975" y="2914650"/>
            <a:ext cx="142875" cy="0"/>
          </a:xfrm>
          <a:prstGeom prst="line">
            <a:avLst/>
          </a:prstGeom>
          <a:noFill/>
          <a:ln w="25400">
            <a:solidFill>
              <a:srgbClr val="36D6C2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42950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6300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020" dirty="0"/>
          </a:p>
        </p:txBody>
      </p:sp>
      <p:sp>
        <p:nvSpPr>
          <p:cNvPr id="17" name="Text 14"/>
          <p:cNvSpPr txBox="1"/>
          <p:nvPr/>
        </p:nvSpPr>
        <p:spPr>
          <a:xfrm>
            <a:off x="876300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发现业务问题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105025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238375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7"/>
          <p:cNvSpPr txBox="1"/>
          <p:nvPr/>
        </p:nvSpPr>
        <p:spPr>
          <a:xfrm>
            <a:off x="2238375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判断AI介入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467100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00450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020" dirty="0"/>
          </a:p>
        </p:txBody>
      </p:sp>
      <p:sp>
        <p:nvSpPr>
          <p:cNvPr id="23" name="Text 20"/>
          <p:cNvSpPr txBox="1"/>
          <p:nvPr/>
        </p:nvSpPr>
        <p:spPr>
          <a:xfrm>
            <a:off x="3600450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划分能力责任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829175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62525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020" dirty="0"/>
          </a:p>
        </p:txBody>
      </p:sp>
      <p:sp>
        <p:nvSpPr>
          <p:cNvPr id="26" name="Text 23"/>
          <p:cNvSpPr txBox="1"/>
          <p:nvPr/>
        </p:nvSpPr>
        <p:spPr>
          <a:xfrm>
            <a:off x="4962525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设计结果流程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191250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324600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020" dirty="0"/>
          </a:p>
        </p:txBody>
      </p:sp>
      <p:sp>
        <p:nvSpPr>
          <p:cNvPr id="29" name="Text 26"/>
          <p:cNvSpPr txBox="1"/>
          <p:nvPr/>
        </p:nvSpPr>
        <p:spPr>
          <a:xfrm>
            <a:off x="6324600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确定MVP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7553325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686675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06</a:t>
            </a:r>
            <a:endParaRPr lang="en-US" sz="1020" dirty="0"/>
          </a:p>
        </p:txBody>
      </p:sp>
      <p:sp>
        <p:nvSpPr>
          <p:cNvPr id="32" name="Text 29"/>
          <p:cNvSpPr txBox="1"/>
          <p:nvPr/>
        </p:nvSpPr>
        <p:spPr>
          <a:xfrm>
            <a:off x="7686675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定义能力契约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8915400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9048750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07</a:t>
            </a:r>
            <a:endParaRPr lang="en-US" sz="1020" dirty="0"/>
          </a:p>
        </p:txBody>
      </p:sp>
      <p:sp>
        <p:nvSpPr>
          <p:cNvPr id="35" name="Text 32"/>
          <p:cNvSpPr txBox="1"/>
          <p:nvPr/>
        </p:nvSpPr>
        <p:spPr>
          <a:xfrm>
            <a:off x="9048750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约定评测验收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277475" y="2476500"/>
            <a:ext cx="1171575" cy="876300"/>
          </a:xfrm>
          <a:prstGeom prst="roundRect">
            <a:avLst/>
          </a:prstGeom>
          <a:solidFill>
            <a:srgbClr val="102B37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410825" y="2571750"/>
            <a:ext cx="342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FF76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08</a:t>
            </a:r>
            <a:endParaRPr lang="en-US" sz="1020" dirty="0"/>
          </a:p>
        </p:txBody>
      </p:sp>
      <p:sp>
        <p:nvSpPr>
          <p:cNvPr id="38" name="Text 35"/>
          <p:cNvSpPr txBox="1"/>
          <p:nvPr/>
        </p:nvSpPr>
        <p:spPr>
          <a:xfrm>
            <a:off x="10410825" y="2819400"/>
            <a:ext cx="904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组装完整PRD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819150" y="4476750"/>
            <a:ext cx="10553700" cy="8191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19150" y="4476750"/>
            <a:ext cx="76200" cy="819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162050" y="4648200"/>
            <a:ext cx="981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把一个模糊的AI想法，变成边界清楚、能够开发、可以验收的产品方案。</a:t>
            </a: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71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666750" y="257175"/>
            <a:ext cx="4286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PRODUCT · NEXT</a:t>
            </a:r>
            <a:endParaRPr lang="en-US" sz="960" dirty="0"/>
          </a:p>
        </p:txBody>
      </p:sp>
      <p:sp>
        <p:nvSpPr>
          <p:cNvPr id="4" name="Shape 1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294550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6750" y="6505575"/>
            <a:ext cx="10858500" cy="1905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750" y="685800"/>
            <a:ext cx="10763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PRD完成以后，还要回答：这个项目值得投入吗？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666750" y="1409700"/>
            <a:ext cx="1524000" cy="38100"/>
          </a:xfrm>
          <a:prstGeom prst="rect">
            <a:avLst/>
          </a:prstGeom>
          <a:solidFill>
            <a:srgbClr val="36D6C2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81250" y="1276350"/>
            <a:ext cx="88582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60" dirty="0">
                <a:solidFill>
                  <a:srgbClr val="A7B5B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第11课：模型选择、调用成本、人工成本与业务收益</a:t>
            </a:r>
            <a:endParaRPr lang="en-US" sz="1260" dirty="0"/>
          </a:p>
        </p:txBody>
      </p:sp>
      <p:sp>
        <p:nvSpPr>
          <p:cNvPr id="9" name="Shape 6"/>
          <p:cNvSpPr/>
          <p:nvPr/>
        </p:nvSpPr>
        <p:spPr>
          <a:xfrm>
            <a:off x="819150" y="2476500"/>
            <a:ext cx="10553700" cy="819150"/>
          </a:xfrm>
          <a:prstGeom prst="roundRect">
            <a:avLst/>
          </a:prstGeom>
          <a:solidFill>
            <a:srgbClr val="0B202C"/>
          </a:solidFill>
          <a:ln w="12700">
            <a:solidFill>
              <a:srgbClr val="29455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19150" y="2476500"/>
            <a:ext cx="76200" cy="819150"/>
          </a:xfrm>
          <a:prstGeom prst="rect">
            <a:avLst/>
          </a:prstGeom>
          <a:solidFill>
            <a:srgbClr val="FF7657"/>
          </a:solidFill>
          <a:ln w="12700">
            <a:solidFill>
              <a:srgbClr val="07151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162050" y="2647950"/>
            <a:ext cx="9810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20" b="1" dirty="0">
                <a:solidFill>
                  <a:srgbClr val="F5F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产品方案可开发、可验收，不代表它在经济上一定值得做。</a:t>
            </a:r>
            <a:endParaRPr lang="en-US" sz="1920" dirty="0"/>
          </a:p>
        </p:txBody>
      </p:sp>
      <p:sp>
        <p:nvSpPr>
          <p:cNvPr id="12" name="Text 9"/>
          <p:cNvSpPr txBox="1"/>
          <p:nvPr/>
        </p:nvSpPr>
        <p:spPr>
          <a:xfrm>
            <a:off x="1428750" y="3810000"/>
            <a:ext cx="9334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60" b="1" dirty="0">
                <a:solidFill>
                  <a:srgbClr val="36D6C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第11课：模型选择、调用成本、人工成本与业务收益</a:t>
            </a:r>
            <a:endParaRPr lang="en-US" sz="2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246888"/>
            <a:ext cx="50292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50">
                <a:solidFill>
                  <a:srgbClr val="A7B5BC"/>
                </a:solidFill>
                <a:latin typeface="PingFang SC"/>
                <a:ea typeface="PingFang SC"/>
                <a:cs typeface="PingFang SC"/>
              </a:defRPr>
            </a:lvl1pPr>
          </a:lstStyle>
          <a:p>
            <a:pPr algn="r"/>
            <a:fld id="{F7021451-1387-4CA6-816F-3879F97B5CBC}" type="slidenum">
              <a:rPr b="1" lang="en-US"/>
              <a:t>81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81</Slides>
  <Notes>81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81</vt:i4>
      </vt:variant>
    </vt:vector>
  </HeadingPairs>
  <TitlesOfParts>
    <vt:vector size="8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</vt:vector>
  </TitlesOfParts>
  <Company>AI PRODUCT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AI产品方案与PRD设计实战</dc:title>
  <dc:subject>第10课 AI产品方案与PRD设计实战</dc:subject>
  <dc:creator>AI-Course</dc:creator>
  <cp:lastModifiedBy>AI-Course</cp:lastModifiedBy>
  <cp:revision>1</cp:revision>
  <dcterms:created xsi:type="dcterms:W3CDTF">2026-08-20T07:42:29Z</dcterms:created>
  <dcterms:modified xsi:type="dcterms:W3CDTF">2026-08-20T07:42:29Z</dcterms:modified>
</cp:coreProperties>
</file>