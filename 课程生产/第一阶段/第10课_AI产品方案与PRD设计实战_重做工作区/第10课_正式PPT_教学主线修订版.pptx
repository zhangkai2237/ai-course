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8"/>
  </p:notesMasterIdLst>
  <p:sldIdLst>
    <p:sldId id="256" r:id="rId2"/>
    <p:sldId id="258" r:id="rId3"/>
    <p:sldId id="260" r:id="rId4"/>
    <p:sldId id="261" r:id="rId5"/>
    <p:sldId id="262" r:id="rId6"/>
    <p:sldId id="263" r:id="rId7"/>
    <p:sldId id="267" r:id="rId8"/>
    <p:sldId id="268" r:id="rId9"/>
    <p:sldId id="269" r:id="rId10"/>
    <p:sldId id="272" r:id="rId11"/>
    <p:sldId id="273" r:id="rId12"/>
    <p:sldId id="274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8" r:id="rId32"/>
    <p:sldId id="299" r:id="rId33"/>
    <p:sldId id="300" r:id="rId34"/>
    <p:sldId id="301" r:id="rId35"/>
    <p:sldId id="302" r:id="rId36"/>
    <p:sldId id="303" r:id="rId37"/>
    <p:sldId id="304" r:id="rId38"/>
    <p:sldId id="305" r:id="rId39"/>
    <p:sldId id="306" r:id="rId40"/>
    <p:sldId id="307" r:id="rId41"/>
    <p:sldId id="308" r:id="rId42"/>
    <p:sldId id="309" r:id="rId43"/>
    <p:sldId id="310" r:id="rId44"/>
    <p:sldId id="311" r:id="rId45"/>
    <p:sldId id="312" r:id="rId46"/>
    <p:sldId id="313" r:id="rId47"/>
    <p:sldId id="314" r:id="rId48"/>
    <p:sldId id="315" r:id="rId49"/>
    <p:sldId id="316" r:id="rId50"/>
    <p:sldId id="317" r:id="rId51"/>
    <p:sldId id="319" r:id="rId52"/>
    <p:sldId id="320" r:id="rId53"/>
    <p:sldId id="321" r:id="rId54"/>
    <p:sldId id="322" r:id="rId55"/>
    <p:sldId id="323" r:id="rId56"/>
    <p:sldId id="324" r:id="rId57"/>
    <p:sldId id="325" r:id="rId58"/>
    <p:sldId id="326" r:id="rId59"/>
    <p:sldId id="327" r:id="rId60"/>
    <p:sldId id="328" r:id="rId61"/>
    <p:sldId id="329" r:id="rId62"/>
    <p:sldId id="330" r:id="rId63"/>
    <p:sldId id="331" r:id="rId64"/>
    <p:sldId id="332" r:id="rId65"/>
    <p:sldId id="333" r:id="rId66"/>
    <p:sldId id="334" r:id="rId6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5"/>
  </p:normalViewPr>
  <p:slideViewPr>
    <p:cSldViewPr snapToGrid="0" snapToObjects="1">
      <p:cViewPr varScale="1">
        <p:scale>
          <a:sx n="113" d="100"/>
          <a:sy n="113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内容依据：AI产品方案与PRD设计实战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内容依据：第10课的产品设计主线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内容依据：01 </a:t>
            </a:r>
            <a:r>
              <a:rPr dirty="0" err="1"/>
              <a:t>业务背景与产品目标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内容依据：项目从内容生产提速开始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内容依据：人工审核流程出现五类问题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内容依据：生产效率提升，审核成为新瓶颈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内容依据：不要把业务需求直接写成产品需求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内容依据：项目中有四类核心用户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/第10课_AI产品方案与PRD设计实战_重做工作区/01_第一节_智能审核项目的业务背景与产品目标.md
- </a:t>
            </a:r>
            <a:r>
              <a:rPr dirty="0" err="1"/>
              <a:t>内容依据：产品目标要能被业务和评测共同验证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内容依据：02 </a:t>
            </a:r>
            <a:r>
              <a:rPr dirty="0" err="1"/>
              <a:t>AI介入判断与能力分工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内容依据：智能审核至少有四种候选方案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内容依据：四种方案的取舍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内容依据：只使用大模型，上线时会暴露六类问题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内容依据：先按任务性质分配能力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内容依据：确定性规则负责稳定执行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内容依据：大模型负责规则难以穷举的语义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内容依据：RAG提供依据，人工承担责任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内容依据：混合审核的完整协作流程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内容依据：第一版用Workflow，而不是Agent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/第10课_AI产品方案与PRD设计实战_重做工作区/02_第二节_AI介入判断与智能审核方案的能力分工.md
- </a:t>
            </a:r>
            <a:r>
              <a:rPr dirty="0" err="1"/>
              <a:t>内容依据：同一条文案如何被分层审核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内容依据：03 </a:t>
            </a:r>
            <a:r>
              <a:rPr dirty="0" err="1"/>
              <a:t>结果动作与人工复核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内容依据：先把规则、RAG和模型的原始结果放在一起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内容依据：结果合并解决三个问题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内容依据：一条正式风险结果必须结构化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内容依据：一篇内容需要四类整体处理结果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内容依据：风险等级必须映射到明确产品动作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内容依据：运营端不是只看结果，而是完成修改闭环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内容依据：六类情况触发人工复核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内容依据：人工复核工作台要减少重复劳动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/第10课_AI产品方案与PRD设计实战_重做工作区/03_第三节_审核结果处理动作与人工复核流程.md
- </a:t>
            </a:r>
            <a:r>
              <a:rPr dirty="0" err="1"/>
              <a:t>内容依据：审核任务需要明确状态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内容依据：04 MVP范围与能力优先级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内容依据：MVP验证的是最小审核闭环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内容依据：第一版要验证三个核心假设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内容依据：PoC、MVP与完整产品回答不同问题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内容依据：功能是否进入MVP，连续问四个问题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内容依据：第一版主动收窄试点范围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内容依据：MVP必须具备八类能力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内容依据：这些能力暂时不进入第一版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内容依据：能力优先级围绕闭环排序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/第10课_AI产品方案与PRD设计实战_重做工作区/04_第四节_智能审核产品的MVP范围与能力优先级.md
- </a:t>
            </a:r>
            <a:r>
              <a:rPr dirty="0" err="1"/>
              <a:t>内容依据：MVP采用小范围试点，而不是一次性全量上线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内容依据：05 </a:t>
            </a:r>
            <a:r>
              <a:rPr dirty="0" err="1"/>
              <a:t>大模型能力输入与输出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内容依据：一项AI能力要求至少包含八个部分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内容依据：不要让模型判断“是否合法</a:t>
            </a:r>
            <a:r>
              <a:rPr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内容依据：模型需要五类输入信息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内容依据：模型输入不是一句Prompt，而是一组受控上下文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内容依据：输出结构必须能够被系统稳定解析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内容依据：模型提供判断材料，系统决定业务动作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内容依据：修改建议和最终改写是两个任务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内容依据：不确定与失败结果也必须有产品定义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/第10课_AI产品方案与PRD设计实战_重做工作区/05_第五节_大模型语义审核的输入输出与能力要求.md
- </a:t>
            </a:r>
            <a:r>
              <a:rPr dirty="0" err="1"/>
              <a:t>内容依据：AI能力边界必须写进PRD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内容依据：06 </a:t>
            </a:r>
            <a:r>
              <a:rPr dirty="0" err="1"/>
              <a:t>评测集来源与验收约定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内容依据：首版评测集来自五类真实与补充数据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内容依据：历史标签不能直接等于标准答案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内容依据：评测表每一行都要包含输入、标准和版本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内容依据：首版评测集的整理过程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内容依据：没有历史数据，也可以建立首版评测集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内容依据：开发、验收和回归样本要分开管理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/第10课_AI产品方案与PRD设计实战_重做工作区/06_第六节_智能审核评测集的来源与验收约定.md
- </a:t>
            </a:r>
            <a:r>
              <a:rPr dirty="0" err="1"/>
              <a:t>内容依据：PRD中的验收约定至少写清六项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内容依据：07 </a:t>
            </a:r>
            <a:r>
              <a:rPr dirty="0" err="1"/>
              <a:t>组装完整AI产品PRD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内容依据：AI产品PRD比普通PRD多写三类内容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内容依据：最终PRD由十三个章节组成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内容依据：PRD首页要在一页说清项目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内容依据：前六节内容按同一顺序组装进PRD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内容依据：数据、规则和知识依赖要单独说明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内容依据：风险与待确认项不是缺陷，而是决策清单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
- /Users/</a:t>
            </a:r>
            <a:r>
              <a:rPr dirty="0" err="1"/>
              <a:t>keivn</a:t>
            </a:r>
            <a:r>
              <a:rPr dirty="0"/>
              <a:t>/Project/AI-Course/</a:t>
            </a:r>
            <a:r>
              <a:rPr dirty="0" err="1"/>
              <a:t>课程生产</a:t>
            </a:r>
            <a:r>
              <a:rPr dirty="0"/>
              <a:t>/</a:t>
            </a:r>
            <a:r>
              <a:rPr dirty="0" err="1"/>
              <a:t>第一阶段</a:t>
            </a:r>
            <a:r>
              <a:rPr dirty="0"/>
              <a:t>/第10课_AI产品方案与PRD设计实战_重做工作区/07_第七节_完整AI产品PRD的组装.md
- </a:t>
            </a:r>
            <a:r>
              <a:rPr dirty="0" err="1"/>
              <a:t>内容依据：课堂用两项交付检验是否真正掌握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DARK"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4DD39EE-B98D-4231-BC46-723217BE50B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E789917-3A70-4108-89C4-1EC2D72A054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BF1D2D5-5249-4426-A16B-9483A24BF3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714275C-4114-4986-948E-81FDAEDFA977}"/>
              </a:ext>
            </a:extLst>
          </p:cNvPr>
          <p:cNvSpPr>
            <a:spLocks noGrp="1"/>
          </p:cNvSpPr>
          <p:nvPr/>
        </p:nvSpPr>
        <p:spPr>
          <a:xfrm>
            <a:off x="781050" y="685800"/>
            <a:ext cx="381000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AI PRODUCT MANAGER</a:t>
            </a:r>
            <a:endParaRPr sz="12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03A4CBB-83C8-43C7-94FC-9C6E4FBA8C33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10287000" cy="876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AI产品方案与PRD设计实战</a:t>
            </a:r>
            <a:endParaRPr sz="42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04332F4-6533-4649-AF48-3393042EFA36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6667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86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第10课｜核心结构版</a:t>
            </a:r>
            <a:endParaRPr sz="186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6E76ED1-DBEF-4573-A64A-E2A1A7AB8C9B}"/>
              </a:ext>
            </a:extLst>
          </p:cNvPr>
          <p:cNvSpPr>
            <a:spLocks noGrp="1"/>
          </p:cNvSpPr>
          <p:nvPr/>
        </p:nvSpPr>
        <p:spPr>
          <a:xfrm>
            <a:off x="800100" y="4400550"/>
            <a:ext cx="24765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C0DF12D-8F1A-4234-A1C3-040A92AA8DC4}"/>
              </a:ext>
            </a:extLst>
          </p:cNvPr>
          <p:cNvSpPr>
            <a:spLocks noGrp="1"/>
          </p:cNvSpPr>
          <p:nvPr/>
        </p:nvSpPr>
        <p:spPr>
          <a:xfrm>
            <a:off x="800100" y="4762500"/>
            <a:ext cx="80962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40" b="1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BUSINESS · SOLUTION · MVP · CAPABILITY · EVALUATION · PRD</a:t>
            </a:r>
            <a:endParaRPr sz="114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0C65E5-376F-4918-9734-B65DDFF12EC3}"/>
              </a:ext>
            </a:extLst>
          </p:cNvPr>
          <p:cNvSpPr>
            <a:spLocks noGrp="1"/>
          </p:cNvSpPr>
          <p:nvPr/>
        </p:nvSpPr>
        <p:spPr>
          <a:xfrm>
            <a:off x="9620250" y="4552950"/>
            <a:ext cx="1428750" cy="857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sz="5640" b="1">
                <a:solidFill>
                  <a:srgbClr val="294550"/>
                </a:solidFill>
                <a:latin typeface="PingFang SC"/>
                <a:ea typeface="PingFang SC"/>
                <a:cs typeface="PingFang SC"/>
              </a:rPr>
              <a:t>10</a:t>
            </a:r>
            <a:endParaRPr sz="56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39D7E0C-5FD6-431F-B3DB-20049F32819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1436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1EF208E-4024-482A-AA40-EC1955013BC4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课程主线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530BC32-48D1-4E27-AD59-352E7F6C60B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BDEC7E4-B483-4057-84AC-432367364FC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021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69D1662-53F8-49D4-856B-7CBA1D8F68D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项目主线：把模糊AI想法变成可验收PRD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D70240C-9288-4463-A212-235DC04F362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DD57C4A-3B06-444C-BB06-4BD6C6133ED8}"/>
              </a:ext>
            </a:extLst>
          </p:cNvPr>
          <p:cNvSpPr>
            <a:spLocks noGrp="1"/>
          </p:cNvSpPr>
          <p:nvPr/>
        </p:nvSpPr>
        <p:spPr>
          <a:xfrm>
            <a:off x="1914525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B95B9941-4761-4392-A870-8F9EEE35ABA0}"/>
              </a:ext>
            </a:extLst>
          </p:cNvPr>
          <p:cNvSpPr>
            <a:spLocks noGrp="1"/>
          </p:cNvSpPr>
          <p:nvPr/>
        </p:nvSpPr>
        <p:spPr>
          <a:xfrm>
            <a:off x="3276600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3F0E948-336F-4DC0-8C03-975DE8FD4575}"/>
              </a:ext>
            </a:extLst>
          </p:cNvPr>
          <p:cNvSpPr>
            <a:spLocks noGrp="1"/>
          </p:cNvSpPr>
          <p:nvPr/>
        </p:nvSpPr>
        <p:spPr>
          <a:xfrm>
            <a:off x="4638675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F103E6C9-4EC9-4E76-B388-4912CDCB96DF}"/>
              </a:ext>
            </a:extLst>
          </p:cNvPr>
          <p:cNvSpPr>
            <a:spLocks noGrp="1"/>
          </p:cNvSpPr>
          <p:nvPr/>
        </p:nvSpPr>
        <p:spPr>
          <a:xfrm>
            <a:off x="6000750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0CD0F39A-10D0-423D-9C00-4C3A2D0BD896}"/>
              </a:ext>
            </a:extLst>
          </p:cNvPr>
          <p:cNvSpPr>
            <a:spLocks noGrp="1"/>
          </p:cNvSpPr>
          <p:nvPr/>
        </p:nvSpPr>
        <p:spPr>
          <a:xfrm>
            <a:off x="7362825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5DEBEEB-DE32-43C7-B9CA-7F69F46A2ED2}"/>
              </a:ext>
            </a:extLst>
          </p:cNvPr>
          <p:cNvSpPr>
            <a:spLocks noGrp="1"/>
          </p:cNvSpPr>
          <p:nvPr/>
        </p:nvSpPr>
        <p:spPr>
          <a:xfrm>
            <a:off x="8724900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4558F434-DBA7-4BA7-8752-08E809C5C8D5}"/>
              </a:ext>
            </a:extLst>
          </p:cNvPr>
          <p:cNvSpPr>
            <a:spLocks noGrp="1"/>
          </p:cNvSpPr>
          <p:nvPr/>
        </p:nvSpPr>
        <p:spPr>
          <a:xfrm>
            <a:off x="10086975" y="32194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6E6DC4F-E3D7-48C0-8D60-1FE17D62F0D8}"/>
              </a:ext>
            </a:extLst>
          </p:cNvPr>
          <p:cNvSpPr>
            <a:spLocks noGrp="1"/>
          </p:cNvSpPr>
          <p:nvPr/>
        </p:nvSpPr>
        <p:spPr>
          <a:xfrm>
            <a:off x="742950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73769B6-A99A-4DF0-A8B3-148A2FAF9B5F}"/>
              </a:ext>
            </a:extLst>
          </p:cNvPr>
          <p:cNvSpPr>
            <a:spLocks noGrp="1"/>
          </p:cNvSpPr>
          <p:nvPr/>
        </p:nvSpPr>
        <p:spPr>
          <a:xfrm>
            <a:off x="876300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D29D271-5962-4C22-92ED-1740C78613F9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业务问题</a:t>
            </a:r>
            <a:endParaRPr sz="12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BAF348E6-3288-4134-968B-007FE44E5856}"/>
              </a:ext>
            </a:extLst>
          </p:cNvPr>
          <p:cNvSpPr>
            <a:spLocks noGrp="1"/>
          </p:cNvSpPr>
          <p:nvPr/>
        </p:nvSpPr>
        <p:spPr>
          <a:xfrm>
            <a:off x="2105025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2984D5C-AB4C-425E-A617-8210605FD962}"/>
              </a:ext>
            </a:extLst>
          </p:cNvPr>
          <p:cNvSpPr>
            <a:spLocks noGrp="1"/>
          </p:cNvSpPr>
          <p:nvPr/>
        </p:nvSpPr>
        <p:spPr>
          <a:xfrm>
            <a:off x="2238375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1EDA256-6B90-4321-819D-54046C300818}"/>
              </a:ext>
            </a:extLst>
          </p:cNvPr>
          <p:cNvSpPr>
            <a:spLocks noGrp="1"/>
          </p:cNvSpPr>
          <p:nvPr/>
        </p:nvSpPr>
        <p:spPr>
          <a:xfrm>
            <a:off x="2238375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AI介入</a:t>
            </a:r>
            <a:endParaRPr sz="120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0D05B8E-A8D4-4577-AE93-DC392C9C3243}"/>
              </a:ext>
            </a:extLst>
          </p:cNvPr>
          <p:cNvSpPr>
            <a:spLocks noGrp="1"/>
          </p:cNvSpPr>
          <p:nvPr/>
        </p:nvSpPr>
        <p:spPr>
          <a:xfrm>
            <a:off x="3467100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FA6B714-3584-49C6-BD6B-B29ABA063FF6}"/>
              </a:ext>
            </a:extLst>
          </p:cNvPr>
          <p:cNvSpPr>
            <a:spLocks noGrp="1"/>
          </p:cNvSpPr>
          <p:nvPr/>
        </p:nvSpPr>
        <p:spPr>
          <a:xfrm>
            <a:off x="3600450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FAA6640-7D12-4F3F-810E-60A6146C36CA}"/>
              </a:ext>
            </a:extLst>
          </p:cNvPr>
          <p:cNvSpPr>
            <a:spLocks noGrp="1"/>
          </p:cNvSpPr>
          <p:nvPr/>
        </p:nvSpPr>
        <p:spPr>
          <a:xfrm>
            <a:off x="3600450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能力分工</a:t>
            </a:r>
            <a:endParaRPr sz="12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DF96EDA-D0C9-4F31-81B6-4DB10B5C36CC}"/>
              </a:ext>
            </a:extLst>
          </p:cNvPr>
          <p:cNvSpPr>
            <a:spLocks noGrp="1"/>
          </p:cNvSpPr>
          <p:nvPr/>
        </p:nvSpPr>
        <p:spPr>
          <a:xfrm>
            <a:off x="4829175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3794CFB-2553-40ED-B4BA-A38120F6A955}"/>
              </a:ext>
            </a:extLst>
          </p:cNvPr>
          <p:cNvSpPr>
            <a:spLocks noGrp="1"/>
          </p:cNvSpPr>
          <p:nvPr/>
        </p:nvSpPr>
        <p:spPr>
          <a:xfrm>
            <a:off x="4962525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AC6BF3A6-2382-4A3D-ACD3-DD5B19EBD6AC}"/>
              </a:ext>
            </a:extLst>
          </p:cNvPr>
          <p:cNvSpPr>
            <a:spLocks noGrp="1"/>
          </p:cNvSpPr>
          <p:nvPr/>
        </p:nvSpPr>
        <p:spPr>
          <a:xfrm>
            <a:off x="4962525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结果流程</a:t>
            </a:r>
            <a:endParaRPr sz="120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8547684-E974-4EA4-810B-008705EE90D8}"/>
              </a:ext>
            </a:extLst>
          </p:cNvPr>
          <p:cNvSpPr>
            <a:spLocks noGrp="1"/>
          </p:cNvSpPr>
          <p:nvPr/>
        </p:nvSpPr>
        <p:spPr>
          <a:xfrm>
            <a:off x="6191250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985DEC8D-0E6C-4412-9258-C5B6A253F614}"/>
              </a:ext>
            </a:extLst>
          </p:cNvPr>
          <p:cNvSpPr>
            <a:spLocks noGrp="1"/>
          </p:cNvSpPr>
          <p:nvPr/>
        </p:nvSpPr>
        <p:spPr>
          <a:xfrm>
            <a:off x="6324600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02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A7930AB-242F-4489-BC8D-4C14D4B2AA72}"/>
              </a:ext>
            </a:extLst>
          </p:cNvPr>
          <p:cNvSpPr>
            <a:spLocks noGrp="1"/>
          </p:cNvSpPr>
          <p:nvPr/>
        </p:nvSpPr>
        <p:spPr>
          <a:xfrm>
            <a:off x="6324600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</a:t>
            </a:r>
            <a:endParaRPr sz="120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0DBC7C0B-8F1A-418D-8AB7-312214BF0438}"/>
              </a:ext>
            </a:extLst>
          </p:cNvPr>
          <p:cNvSpPr>
            <a:spLocks noGrp="1"/>
          </p:cNvSpPr>
          <p:nvPr/>
        </p:nvSpPr>
        <p:spPr>
          <a:xfrm>
            <a:off x="7553325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B6DC27C7-BAC2-4D9C-8CE6-827DD05D4317}"/>
              </a:ext>
            </a:extLst>
          </p:cNvPr>
          <p:cNvSpPr>
            <a:spLocks noGrp="1"/>
          </p:cNvSpPr>
          <p:nvPr/>
        </p:nvSpPr>
        <p:spPr>
          <a:xfrm>
            <a:off x="7686675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02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C14A5DE7-794C-4F4C-8E0B-128D6A3F243D}"/>
              </a:ext>
            </a:extLst>
          </p:cNvPr>
          <p:cNvSpPr>
            <a:spLocks noGrp="1"/>
          </p:cNvSpPr>
          <p:nvPr/>
        </p:nvSpPr>
        <p:spPr>
          <a:xfrm>
            <a:off x="7686675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能力契约</a:t>
            </a:r>
            <a:endParaRPr sz="120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37C6D8D3-7985-4A66-9BA9-AAE317317EBC}"/>
              </a:ext>
            </a:extLst>
          </p:cNvPr>
          <p:cNvSpPr>
            <a:spLocks noGrp="1"/>
          </p:cNvSpPr>
          <p:nvPr/>
        </p:nvSpPr>
        <p:spPr>
          <a:xfrm>
            <a:off x="8915400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F9AA4108-304B-43EE-941A-30CE7364EFB4}"/>
              </a:ext>
            </a:extLst>
          </p:cNvPr>
          <p:cNvSpPr>
            <a:spLocks noGrp="1"/>
          </p:cNvSpPr>
          <p:nvPr/>
        </p:nvSpPr>
        <p:spPr>
          <a:xfrm>
            <a:off x="9048750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07</a:t>
            </a:r>
            <a:endParaRPr sz="102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56ADE2FA-CB92-4A9B-B019-F90602B89C8A}"/>
              </a:ext>
            </a:extLst>
          </p:cNvPr>
          <p:cNvSpPr>
            <a:spLocks noGrp="1"/>
          </p:cNvSpPr>
          <p:nvPr/>
        </p:nvSpPr>
        <p:spPr>
          <a:xfrm>
            <a:off x="9048750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评测验收</a:t>
            </a:r>
            <a:endParaRPr sz="120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5CF56AC1-AF13-4E5F-92CE-23253D187F42}"/>
              </a:ext>
            </a:extLst>
          </p:cNvPr>
          <p:cNvSpPr>
            <a:spLocks noGrp="1"/>
          </p:cNvSpPr>
          <p:nvPr/>
        </p:nvSpPr>
        <p:spPr>
          <a:xfrm>
            <a:off x="10277475" y="2781300"/>
            <a:ext cx="1171575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2D5F39B-13BF-488C-9C8C-1F6F25D28581}"/>
              </a:ext>
            </a:extLst>
          </p:cNvPr>
          <p:cNvSpPr>
            <a:spLocks noGrp="1"/>
          </p:cNvSpPr>
          <p:nvPr/>
        </p:nvSpPr>
        <p:spPr>
          <a:xfrm>
            <a:off x="10410825" y="28765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08</a:t>
            </a:r>
            <a:endParaRPr sz="102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4BD7EB5C-C100-46E4-8C6C-7838B9ED3F1E}"/>
              </a:ext>
            </a:extLst>
          </p:cNvPr>
          <p:cNvSpPr>
            <a:spLocks noGrp="1"/>
          </p:cNvSpPr>
          <p:nvPr/>
        </p:nvSpPr>
        <p:spPr>
          <a:xfrm>
            <a:off x="10410825" y="3124200"/>
            <a:ext cx="904875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 dirty="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PRD</a:t>
            </a:r>
            <a:endParaRPr sz="1200" dirty="0"/>
          </a:p>
        </p:txBody>
      </p:sp>
      <p:sp>
        <p:nvSpPr>
          <p:cNvPr id="39" name="Slide Number Placeholder 0">
            <a:extLst>
              <a:ext uri="{FF2B5EF4-FFF2-40B4-BE49-F238E27FC236}">
                <a16:creationId xmlns:a16="http://schemas.microsoft.com/office/drawing/2014/main" id="{D9609DFC-AC4E-4D8D-9756-AA57B11D7FC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98464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02006B4-685D-482B-A617-A1701FCD7858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AFA1323-D05F-4F3F-A6DD-904F3471673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CB2035F-F97E-4D51-AF49-D8C9A68D826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702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3A1D42C-88A7-4560-9114-6B59F6420CD3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01 业务背景与产品目标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522FA37-E986-4266-956A-6E6B0BE33A43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C6FFD42-9F15-42CF-B346-30B6DD7BB248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 dirty="0" err="1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先回答：为什么做、为谁做、要达到什么结果</a:t>
            </a:r>
            <a:endParaRPr sz="198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DD0DDFB-646C-49CE-9C1B-602841C0659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0130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21669B0-6A1B-4413-982E-5B5EFD55D34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62A1A46-68D3-4D71-BB90-4BFBBDE12CE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BD4FF91-A173-45F1-8D0A-824D6B62AB0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043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F703826-478D-4617-8C8D-D2BB332FD83E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3000" b="1" dirty="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现状</a:t>
            </a:r>
            <a:endParaRPr sz="3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2B7A1DB-1BF3-4BCC-93C5-8B545A8F84DB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89DFC0DF-5A11-420A-8F1C-A711753396E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</a:t>
            </a:fld>
            <a:endParaRPr/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3FE4818D-4F2D-67BC-9959-77208CE747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539" y="1555750"/>
            <a:ext cx="36195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95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79BABA8-FDBA-4CB6-B0F0-2B41D2B89E4A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578B221-D87B-4D44-ACFA-070FDB4FB388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CCA0D23-77E2-4677-9022-87FB7F4E358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383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FEE3D54-6F37-4BCC-BEFB-1C815403B85E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业务现状：人工审核遇到哪些问题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5CAC14A-AB17-4AC4-895A-A4E8B9898BA5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3E1E196-A546-4058-94AE-24F4C67C825C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B27A6BB-122D-458F-8869-FD407AE26DD1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数量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D8B46E5-1992-416A-A1F2-5152E679509B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内容从几十条增长到几百条，审核工作量线性上升。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373F091-7060-4738-98FF-151957F525DF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68C00-A139-4B00-B5B2-2F827C707EB1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一致性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14C7E2-7BAD-4225-B31D-1466693D9AA4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同一句话，不同审核人员可能给出不同判断。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C8A86E5-73DB-4822-A060-F32C18138959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EF6FB7C-1C01-48F6-BE05-77F2B97019A9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规则变化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EFCBC99-F811-4609-ABD3-92D6EED92C85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行业、渠道、版本和活动阶段持续变化。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8033828-5E0C-4916-9F5B-B9F606E63D75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27D0DB5-8563-4507-BC0A-C1B8BC303E8E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数据沉淀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E33643-506E-43E1-8851-61EE0462CD6E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聊天式反馈无法形成风险类型、依据和修改记录。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898ADC0-9B84-41DF-99C8-09AB5B6DD31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956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B62CDD2-1F9D-42CF-9800-27370F625F88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C34D57-EE6F-42C0-8B09-2AA7A5527EB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1FB3A97-51A8-4994-822A-BABB4727DBF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724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7A58536-3542-46B6-B1D2-0037F73428E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核心矛盾：生产提速后，瓶颈转移到审核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C27B490-82CC-4DE4-B971-EA6427FF9450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994960F-64BF-46F7-BACF-C789C8CA9FCF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0553700" cy="81915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C953D63-62A7-4BAE-A66A-F0B9C21D3B58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76200" cy="8191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C0CBD40-411B-4B96-B04F-0712B10AA9E4}"/>
              </a:ext>
            </a:extLst>
          </p:cNvPr>
          <p:cNvSpPr>
            <a:spLocks noGrp="1"/>
          </p:cNvSpPr>
          <p:nvPr/>
        </p:nvSpPr>
        <p:spPr>
          <a:xfrm>
            <a:off x="1162050" y="2324100"/>
            <a:ext cx="98107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50条 × 5分钟 = 250分钟   →   300条 × 5分钟 = 1500分钟</a:t>
            </a:r>
            <a:endParaRPr sz="192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019A9F-7FDC-42B3-8441-D5DC839881C5}"/>
              </a:ext>
            </a:extLst>
          </p:cNvPr>
          <p:cNvSpPr>
            <a:spLocks noGrp="1"/>
          </p:cNvSpPr>
          <p:nvPr/>
        </p:nvSpPr>
        <p:spPr>
          <a:xfrm>
            <a:off x="1428750" y="344805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8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68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936F289-BEB9-4287-914A-DEB583ABDC96}"/>
              </a:ext>
            </a:extLst>
          </p:cNvPr>
          <p:cNvSpPr>
            <a:spLocks noGrp="1"/>
          </p:cNvSpPr>
          <p:nvPr/>
        </p:nvSpPr>
        <p:spPr>
          <a:xfrm>
            <a:off x="1924050" y="3438525"/>
            <a:ext cx="855345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8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AI提高了内容生产效率，却没有同步提高审核效率。</a:t>
            </a:r>
            <a:endParaRPr sz="168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A3BAD3D-E3DC-41C7-B94F-B6C35235DE97}"/>
              </a:ext>
            </a:extLst>
          </p:cNvPr>
          <p:cNvSpPr>
            <a:spLocks noGrp="1"/>
          </p:cNvSpPr>
          <p:nvPr/>
        </p:nvSpPr>
        <p:spPr>
          <a:xfrm>
            <a:off x="1428750" y="40386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8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68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8820D07-99EA-468B-9CF7-638E2549AFE8}"/>
              </a:ext>
            </a:extLst>
          </p:cNvPr>
          <p:cNvSpPr>
            <a:spLocks noGrp="1"/>
          </p:cNvSpPr>
          <p:nvPr/>
        </p:nvSpPr>
        <p:spPr>
          <a:xfrm>
            <a:off x="1924050" y="4029075"/>
            <a:ext cx="855345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8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真正的问题不是“模型能不能审”，而是审核链路能不能扩展。</a:t>
            </a:r>
            <a:endParaRPr sz="16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D18FE54-DEA3-46C5-9959-C30704D78EC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010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921F00A-A081-4EB7-91E8-E1A5FAC6BA7F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61A907B-4974-4164-A98B-DC7CAE3705F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B1841EE-2B45-4F8C-9576-5E97544875C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6086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DD0CD5A-9B2F-47FF-9EF4-DE642F68842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需求澄清：把业务诉求转成产品问题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C19371D-ED14-4204-B5DA-E0FA0432348D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B3AD986-3BA7-4AC6-8B34-EBF26CE9FB30}"/>
              </a:ext>
            </a:extLst>
          </p:cNvPr>
          <p:cNvSpPr>
            <a:spLocks noGrp="1"/>
          </p:cNvSpPr>
          <p:nvPr/>
        </p:nvSpPr>
        <p:spPr>
          <a:xfrm>
            <a:off x="327660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A26D6E2-B1C4-42F7-ACE7-CBCFCEA48F73}"/>
              </a:ext>
            </a:extLst>
          </p:cNvPr>
          <p:cNvSpPr>
            <a:spLocks noGrp="1"/>
          </p:cNvSpPr>
          <p:nvPr/>
        </p:nvSpPr>
        <p:spPr>
          <a:xfrm>
            <a:off x="600075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524503D-B7B4-4014-9C6F-B85214B17926}"/>
              </a:ext>
            </a:extLst>
          </p:cNvPr>
          <p:cNvSpPr>
            <a:spLocks noGrp="1"/>
          </p:cNvSpPr>
          <p:nvPr/>
        </p:nvSpPr>
        <p:spPr>
          <a:xfrm>
            <a:off x="872490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3DCCD63-762D-4380-8262-2B64BA0ED833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388D893-6FB9-4BEF-8B36-1511ED80936F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8C5EEFD-7E20-4C11-B6C0-4B8A99D4E4AC}"/>
              </a:ext>
            </a:extLst>
          </p:cNvPr>
          <p:cNvSpPr>
            <a:spLocks noGrp="1"/>
          </p:cNvSpPr>
          <p:nvPr/>
        </p:nvSpPr>
        <p:spPr>
          <a:xfrm>
            <a:off x="87630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表面需求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做AI审核工具</a:t>
            </a:r>
            <a:endParaRPr sz="144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B62AE093-16B2-4BF4-A65B-0DDC80443FB4}"/>
              </a:ext>
            </a:extLst>
          </p:cNvPr>
          <p:cNvSpPr>
            <a:spLocks noGrp="1"/>
          </p:cNvSpPr>
          <p:nvPr/>
        </p:nvSpPr>
        <p:spPr>
          <a:xfrm>
            <a:off x="346710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9D65DAE-771C-44D2-91D8-34651D896011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F8253F4-DD9E-4E10-A158-ED4DF9256AC1}"/>
              </a:ext>
            </a:extLst>
          </p:cNvPr>
          <p:cNvSpPr>
            <a:spLocks noGrp="1"/>
          </p:cNvSpPr>
          <p:nvPr/>
        </p:nvSpPr>
        <p:spPr>
          <a:xfrm>
            <a:off x="360045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业务问题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审核积压与不一致</a:t>
            </a:r>
            <a:endParaRPr sz="144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CFCC6DE-6150-4C9E-964B-A14CAF2CC572}"/>
              </a:ext>
            </a:extLst>
          </p:cNvPr>
          <p:cNvSpPr>
            <a:spLocks noGrp="1"/>
          </p:cNvSpPr>
          <p:nvPr/>
        </p:nvSpPr>
        <p:spPr>
          <a:xfrm>
            <a:off x="619125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214177A-508D-4F02-8D20-01E4863C9148}"/>
              </a:ext>
            </a:extLst>
          </p:cNvPr>
          <p:cNvSpPr>
            <a:spLocks noGrp="1"/>
          </p:cNvSpPr>
          <p:nvPr/>
        </p:nvSpPr>
        <p:spPr>
          <a:xfrm>
            <a:off x="63246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DBA8783D-BEEE-4820-B2FA-A5F7AF2F9440}"/>
              </a:ext>
            </a:extLst>
          </p:cNvPr>
          <p:cNvSpPr>
            <a:spLocks noGrp="1"/>
          </p:cNvSpPr>
          <p:nvPr/>
        </p:nvSpPr>
        <p:spPr>
          <a:xfrm>
            <a:off x="632460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用户问题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看不清哪里错、怎么改</a:t>
            </a:r>
            <a:endParaRPr sz="144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5CC03EDE-42FD-4DB3-8FCE-BC01DD5D952A}"/>
              </a:ext>
            </a:extLst>
          </p:cNvPr>
          <p:cNvSpPr>
            <a:spLocks noGrp="1"/>
          </p:cNvSpPr>
          <p:nvPr/>
        </p:nvSpPr>
        <p:spPr>
          <a:xfrm>
            <a:off x="891540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651D0C6-8ACB-4659-BD5F-2EA568AF3EC1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B77554F-437C-4CAC-9601-63BD364C38D2}"/>
              </a:ext>
            </a:extLst>
          </p:cNvPr>
          <p:cNvSpPr>
            <a:spLocks noGrp="1"/>
          </p:cNvSpPr>
          <p:nvPr/>
        </p:nvSpPr>
        <p:spPr>
          <a:xfrm>
            <a:off x="904875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产品机会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增加机器预审闭环</a:t>
            </a:r>
            <a:endParaRPr sz="14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D3BA718-1547-4753-AF13-2A434C20201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8275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2600483-5B5C-4F48-AF37-7CADBDAA5FA0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308D528-A260-4C7E-B175-54475942EEF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EA5B53E-E7D3-47B3-8E2B-945309EE715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7427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07A0D74-1F95-4D2F-8983-1CABB2C49BF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用户分析：谁会使用和管理智能审核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DCD9AC1-DDF3-455A-9264-F8950D89A81D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AD93AD1-8196-43E3-9DAD-D3D65DAF220C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B1B82FC-0DCE-411F-9166-5616B3025AFF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内容运营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B9B5655-C286-4C0B-94ED-F59B5DF571CC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想知道哪里有问题、为什么有问题、应该怎么改。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92EDB86-4C12-4ADA-BBA0-097970DE5F5C}"/>
              </a:ext>
            </a:extLst>
          </p:cNvPr>
          <p:cNvSpPr>
            <a:spLocks noGrp="1"/>
          </p:cNvSpPr>
          <p:nvPr/>
        </p:nvSpPr>
        <p:spPr>
          <a:xfrm>
            <a:off x="6200775" y="200025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29339D6-7C43-4FCC-96EA-BB054805DB50}"/>
              </a:ext>
            </a:extLst>
          </p:cNvPr>
          <p:cNvSpPr>
            <a:spLocks noGrp="1"/>
          </p:cNvSpPr>
          <p:nvPr/>
        </p:nvSpPr>
        <p:spPr>
          <a:xfrm>
            <a:off x="6410325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人工审核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5456B98-EA9C-4B04-BF5A-A49FEA322AD5}"/>
              </a:ext>
            </a:extLst>
          </p:cNvPr>
          <p:cNvSpPr>
            <a:spLocks noGrp="1"/>
          </p:cNvSpPr>
          <p:nvPr/>
        </p:nvSpPr>
        <p:spPr>
          <a:xfrm>
            <a:off x="6410325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想直接看到机器发现了什么、依据是什么、为何转人工。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274A971-7966-4412-9EBA-9CD3488AE1ED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29E4F8C-F35F-4C28-B651-0D330176895A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规则运营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560D8B0-EEAF-4019-B5C8-AE94339B71AA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关心规则版本、更新影响和历史内容追溯。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D85FFC2-EC57-4117-9257-9AC4E6671987}"/>
              </a:ext>
            </a:extLst>
          </p:cNvPr>
          <p:cNvSpPr>
            <a:spLocks noGrp="1"/>
          </p:cNvSpPr>
          <p:nvPr/>
        </p:nvSpPr>
        <p:spPr>
          <a:xfrm>
            <a:off x="6200775" y="361950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2689C6D-829A-41EA-8820-3FB8F5ECC6BD}"/>
              </a:ext>
            </a:extLst>
          </p:cNvPr>
          <p:cNvSpPr>
            <a:spLocks noGrp="1"/>
          </p:cNvSpPr>
          <p:nvPr/>
        </p:nvSpPr>
        <p:spPr>
          <a:xfrm>
            <a:off x="6410325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业务负责人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8E97725-E9B5-49F4-9F5D-66B35F121095}"/>
              </a:ext>
            </a:extLst>
          </p:cNvPr>
          <p:cNvSpPr>
            <a:spLocks noGrp="1"/>
          </p:cNvSpPr>
          <p:nvPr/>
        </p:nvSpPr>
        <p:spPr>
          <a:xfrm>
            <a:off x="6410325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关心效率是否提升，以及业务风险是否可控。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BD4622A-6E64-42F1-AB9B-B08F50C7C22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5411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78D8AE7-1513-451E-B9BC-2D669ADA5289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项目第1步 · 业务问题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6C7039B-3C89-4B2C-BD62-E66B94E4137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757D6F7-1ED1-43EE-ACC0-FB908CD04F81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8767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82CC335-FFF4-4D52-B55D-DA69219DC17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目标定义：产品效果要如何验证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18FECE2-1BE8-4967-9921-4265DE527B3A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AE41DB6-84C5-42EF-B7D9-DA8406B33FCC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095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A665B5-0EF8-4F90-95B6-CB029ED71666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1943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目标方向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52BC957-46D5-4710-B946-8EF658E84914}"/>
              </a:ext>
            </a:extLst>
          </p:cNvPr>
          <p:cNvSpPr>
            <a:spLocks noGrp="1"/>
          </p:cNvSpPr>
          <p:nvPr/>
        </p:nvSpPr>
        <p:spPr>
          <a:xfrm>
            <a:off x="2762250" y="1952625"/>
            <a:ext cx="5429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2BC1184-C8C5-4B2E-8FBF-048AB582B857}"/>
              </a:ext>
            </a:extLst>
          </p:cNvPr>
          <p:cNvSpPr>
            <a:spLocks noGrp="1"/>
          </p:cNvSpPr>
          <p:nvPr/>
        </p:nvSpPr>
        <p:spPr>
          <a:xfrm>
            <a:off x="2838450" y="2047875"/>
            <a:ext cx="5276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产品目标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C358434B-7D1D-4D0D-8A96-41DB866748C3}"/>
              </a:ext>
            </a:extLst>
          </p:cNvPr>
          <p:cNvSpPr>
            <a:spLocks noGrp="1"/>
          </p:cNvSpPr>
          <p:nvPr/>
        </p:nvSpPr>
        <p:spPr>
          <a:xfrm>
            <a:off x="8191500" y="1952625"/>
            <a:ext cx="3333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093EBE8-D8D7-42DB-A7F7-5E512DD5906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3181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后续验证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7F5F2F6-5348-4A5C-A6A0-2F87F5482C5A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CB76882-7D98-4644-9442-62599AEA1B42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效率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A6B81932-4648-4FE0-AEB5-DE7F6D9CA639}"/>
              </a:ext>
            </a:extLst>
          </p:cNvPr>
          <p:cNvSpPr>
            <a:spLocks noGrp="1"/>
          </p:cNvSpPr>
          <p:nvPr/>
        </p:nvSpPr>
        <p:spPr>
          <a:xfrm>
            <a:off x="2762250" y="2466975"/>
            <a:ext cx="5429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C1D7662-84AF-4199-855A-2071344997ED}"/>
              </a:ext>
            </a:extLst>
          </p:cNvPr>
          <p:cNvSpPr>
            <a:spLocks noGrp="1"/>
          </p:cNvSpPr>
          <p:nvPr/>
        </p:nvSpPr>
        <p:spPr>
          <a:xfrm>
            <a:off x="2857500" y="2543175"/>
            <a:ext cx="5238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减少人工从头检查每条内容的重复工作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D967DAC9-12B4-4FAA-81F3-20B86788BDCC}"/>
              </a:ext>
            </a:extLst>
          </p:cNvPr>
          <p:cNvSpPr>
            <a:spLocks noGrp="1"/>
          </p:cNvSpPr>
          <p:nvPr/>
        </p:nvSpPr>
        <p:spPr>
          <a:xfrm>
            <a:off x="8191500" y="2466975"/>
            <a:ext cx="3333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848637C-A0FE-464A-BAEE-A01407DA6755}"/>
              </a:ext>
            </a:extLst>
          </p:cNvPr>
          <p:cNvSpPr>
            <a:spLocks noGrp="1"/>
          </p:cNvSpPr>
          <p:nvPr/>
        </p:nvSpPr>
        <p:spPr>
          <a:xfrm>
            <a:off x="8286750" y="254317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单条审核耗时、积压量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E1DF98E-8D72-4EFF-AF12-41B415DDB3CD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095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A9697F4E-0AA9-4CA3-85A8-E05C8168C0CA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质量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C381EF0E-5673-4BC8-A9F7-DF40AC431F8A}"/>
              </a:ext>
            </a:extLst>
          </p:cNvPr>
          <p:cNvSpPr>
            <a:spLocks noGrp="1"/>
          </p:cNvSpPr>
          <p:nvPr/>
        </p:nvSpPr>
        <p:spPr>
          <a:xfrm>
            <a:off x="2762250" y="3019425"/>
            <a:ext cx="5429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CF971A4-F56B-4B7B-B157-DD5504B8E05F}"/>
              </a:ext>
            </a:extLst>
          </p:cNvPr>
          <p:cNvSpPr>
            <a:spLocks noGrp="1"/>
          </p:cNvSpPr>
          <p:nvPr/>
        </p:nvSpPr>
        <p:spPr>
          <a:xfrm>
            <a:off x="2857500" y="3095625"/>
            <a:ext cx="5238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提前发现高频、明确和语义型风险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D7AB6F9-51AA-41FB-845C-DE331D4F1D88}"/>
              </a:ext>
            </a:extLst>
          </p:cNvPr>
          <p:cNvSpPr>
            <a:spLocks noGrp="1"/>
          </p:cNvSpPr>
          <p:nvPr/>
        </p:nvSpPr>
        <p:spPr>
          <a:xfrm>
            <a:off x="8191500" y="3019425"/>
            <a:ext cx="3333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10C1DDE6-35DF-4EA1-8A9D-492D33E5392B}"/>
              </a:ext>
            </a:extLst>
          </p:cNvPr>
          <p:cNvSpPr>
            <a:spLocks noGrp="1"/>
          </p:cNvSpPr>
          <p:nvPr/>
        </p:nvSpPr>
        <p:spPr>
          <a:xfrm>
            <a:off x="8286750" y="309562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漏判、误判、风险覆盖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287676F-F4AA-48B3-AFB8-B4D66D72FBF6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E81B5B26-3DD0-4262-8164-801FA9A50C5D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一致性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3797A936-BDF3-40DD-8FA7-DD4E417275FF}"/>
              </a:ext>
            </a:extLst>
          </p:cNvPr>
          <p:cNvSpPr>
            <a:spLocks noGrp="1"/>
          </p:cNvSpPr>
          <p:nvPr/>
        </p:nvSpPr>
        <p:spPr>
          <a:xfrm>
            <a:off x="2762250" y="3571875"/>
            <a:ext cx="5429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D46405E-4F99-4AFB-BD08-F7600E76FC58}"/>
              </a:ext>
            </a:extLst>
          </p:cNvPr>
          <p:cNvSpPr>
            <a:spLocks noGrp="1"/>
          </p:cNvSpPr>
          <p:nvPr/>
        </p:nvSpPr>
        <p:spPr>
          <a:xfrm>
            <a:off x="2857500" y="3648075"/>
            <a:ext cx="5238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把规则、依据和输出结构标准化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F895F8C7-21BA-4ECB-B06B-442BEF7DAE3B}"/>
              </a:ext>
            </a:extLst>
          </p:cNvPr>
          <p:cNvSpPr>
            <a:spLocks noGrp="1"/>
          </p:cNvSpPr>
          <p:nvPr/>
        </p:nvSpPr>
        <p:spPr>
          <a:xfrm>
            <a:off x="8191500" y="3571875"/>
            <a:ext cx="3333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ABC4B13-0C2B-4101-98BE-3F5A1AFB8059}"/>
              </a:ext>
            </a:extLst>
          </p:cNvPr>
          <p:cNvSpPr>
            <a:spLocks noGrp="1"/>
          </p:cNvSpPr>
          <p:nvPr/>
        </p:nvSpPr>
        <p:spPr>
          <a:xfrm>
            <a:off x="8286750" y="364807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人工一致性、解析成功率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1F58E3FB-C06A-48D6-97C7-3150155EC251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095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66E2CD9-71A2-4FFD-947F-AC95E7F3177C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安全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895E59D-5D24-4BE4-9B89-D868006FF481}"/>
              </a:ext>
            </a:extLst>
          </p:cNvPr>
          <p:cNvSpPr>
            <a:spLocks noGrp="1"/>
          </p:cNvSpPr>
          <p:nvPr/>
        </p:nvSpPr>
        <p:spPr>
          <a:xfrm>
            <a:off x="2762250" y="4124325"/>
            <a:ext cx="5429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BB112DB6-83D8-41DE-870A-69DF3B5A9137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5238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不确定与高风险内容能够转人工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15EE29B-FAA1-429F-86E1-8B6969FB711E}"/>
              </a:ext>
            </a:extLst>
          </p:cNvPr>
          <p:cNvSpPr>
            <a:spLocks noGrp="1"/>
          </p:cNvSpPr>
          <p:nvPr/>
        </p:nvSpPr>
        <p:spPr>
          <a:xfrm>
            <a:off x="8191500" y="4124325"/>
            <a:ext cx="3333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4F05D036-B433-4718-A558-8392BDE5CBFE}"/>
              </a:ext>
            </a:extLst>
          </p:cNvPr>
          <p:cNvSpPr>
            <a:spLocks noGrp="1"/>
          </p:cNvSpPr>
          <p:nvPr/>
        </p:nvSpPr>
        <p:spPr>
          <a:xfrm>
            <a:off x="8286750" y="420052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人工接管率、失败放行数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3282E109-EBD9-4E6E-802F-DA245ED8351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2841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77D1C55-AE57-4678-AAC6-20596F5BA9ED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D2EB4C3-362A-44B3-AC1A-5A496B7220AF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6FE9568-22CC-42BF-B72B-BF727449FFA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22789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6557B46-1D22-4370-841A-05C8EE690F48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02 AI介入判断与能力分工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11231B-85E2-44E7-A2D5-F0088509E9EE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85A0821-5E91-4827-B6CC-2C915E96A270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业务问题明确后，判断AI是否介入，以及各能力如何分工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74A0E80-8A34-4177-9417-C4B0129AAED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8201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7E68068-ED65-48C3-B3EF-7A26AB06DF31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CDBD8C0-C6DB-45E8-9661-5E7A8B38B73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71B600D-D674-4F70-8773-AAB45F9A8A2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24130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934D87-72E7-4C14-9172-A941EB6DED9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方案选择：智能审核有哪些实现路线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656769F-4D32-45A2-AD48-87719D12E5E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1A26072-AC6F-427C-868B-66C22C40FD9E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C964142-531D-4367-9D2B-90C14BFEDDEF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纯人工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0A9BA7A-351A-4143-AA06-635724B3F8D6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理解上下文、可以担责，但工作量随内容量线性增长。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0E1D534-738E-4E06-B91E-5CF83FBB7E81}"/>
              </a:ext>
            </a:extLst>
          </p:cNvPr>
          <p:cNvSpPr>
            <a:spLocks noGrp="1"/>
          </p:cNvSpPr>
          <p:nvPr/>
        </p:nvSpPr>
        <p:spPr>
          <a:xfrm>
            <a:off x="6200775" y="200025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7628F97-1F01-4EF2-BC75-2185C0A2E665}"/>
              </a:ext>
            </a:extLst>
          </p:cNvPr>
          <p:cNvSpPr>
            <a:spLocks noGrp="1"/>
          </p:cNvSpPr>
          <p:nvPr/>
        </p:nvSpPr>
        <p:spPr>
          <a:xfrm>
            <a:off x="6410325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纯规则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4AF41C4-1AFF-49C1-9CBB-22B970EFE02A}"/>
              </a:ext>
            </a:extLst>
          </p:cNvPr>
          <p:cNvSpPr>
            <a:spLocks noGrp="1"/>
          </p:cNvSpPr>
          <p:nvPr/>
        </p:nvSpPr>
        <p:spPr>
          <a:xfrm>
            <a:off x="6410325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稳定、便宜、可解释，但难以覆盖隐含语义和上下文。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71F14AF-6D8D-452D-8A60-879CFE4735ED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59D2835-C3A1-4EC1-ABB7-343E0CB7A454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纯大模型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5B41F2CC-2411-4854-87A2-CB07FE214F2D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语义理解强，但结果波动、依据可能过时、责任不清。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DCA78C9-9D8C-4C7C-836B-A18EADB4A59B}"/>
              </a:ext>
            </a:extLst>
          </p:cNvPr>
          <p:cNvSpPr>
            <a:spLocks noGrp="1"/>
          </p:cNvSpPr>
          <p:nvPr/>
        </p:nvSpPr>
        <p:spPr>
          <a:xfrm>
            <a:off x="6200775" y="361950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884B13AB-076F-41A2-8E26-417C9F9810BF}"/>
              </a:ext>
            </a:extLst>
          </p:cNvPr>
          <p:cNvSpPr>
            <a:spLocks noGrp="1"/>
          </p:cNvSpPr>
          <p:nvPr/>
        </p:nvSpPr>
        <p:spPr>
          <a:xfrm>
            <a:off x="6410325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混合方案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A486271-2823-4470-B86F-78A04C3E8A4C}"/>
              </a:ext>
            </a:extLst>
          </p:cNvPr>
          <p:cNvSpPr>
            <a:spLocks noGrp="1"/>
          </p:cNvSpPr>
          <p:nvPr/>
        </p:nvSpPr>
        <p:spPr>
          <a:xfrm>
            <a:off x="6410325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规则＋大模型＋RAG＋人工，能力互补但系统复杂度更高。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7344B31-08E0-4A75-9CBC-6900A64E361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7292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5D77E62-69E5-4FCC-A01A-427A1CF4BA6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3FE6A53-AE9E-443E-A10E-2D33B166434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8BAA10E-0ECB-444C-87F0-BC681ACD052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25470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1B4C3EF-4972-4924-9C3D-ED93C2270BCF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方案比较：四种路线分别如何取舍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906D2FE-17AB-4529-B213-CE53B3AC863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E703976-29B1-4E9C-89EC-DBD02410F59C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714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9B337B3-D350-47F1-AB0E-25016DF4219D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1562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方案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0D2D55F-3F1E-43F1-8167-E3D35B7E1746}"/>
              </a:ext>
            </a:extLst>
          </p:cNvPr>
          <p:cNvSpPr>
            <a:spLocks noGrp="1"/>
          </p:cNvSpPr>
          <p:nvPr/>
        </p:nvSpPr>
        <p:spPr>
          <a:xfrm>
            <a:off x="2381250" y="1952625"/>
            <a:ext cx="1809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AD7FA8B-E13E-47EB-B26B-7645F86BCEF2}"/>
              </a:ext>
            </a:extLst>
          </p:cNvPr>
          <p:cNvSpPr>
            <a:spLocks noGrp="1"/>
          </p:cNvSpPr>
          <p:nvPr/>
        </p:nvSpPr>
        <p:spPr>
          <a:xfrm>
            <a:off x="2457450" y="2047875"/>
            <a:ext cx="1657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语义理解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76BE224-92E1-4E19-A2A8-AC8812BD3CE2}"/>
              </a:ext>
            </a:extLst>
          </p:cNvPr>
          <p:cNvSpPr>
            <a:spLocks noGrp="1"/>
          </p:cNvSpPr>
          <p:nvPr/>
        </p:nvSpPr>
        <p:spPr>
          <a:xfrm>
            <a:off x="4191000" y="1952625"/>
            <a:ext cx="1809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D4451AE-8CFA-448B-B768-37C7B593B972}"/>
              </a:ext>
            </a:extLst>
          </p:cNvPr>
          <p:cNvSpPr>
            <a:spLocks noGrp="1"/>
          </p:cNvSpPr>
          <p:nvPr/>
        </p:nvSpPr>
        <p:spPr>
          <a:xfrm>
            <a:off x="4267200" y="2047875"/>
            <a:ext cx="1657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稳定性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ABBCCA1B-6141-47E6-AADA-D996B44B8C97}"/>
              </a:ext>
            </a:extLst>
          </p:cNvPr>
          <p:cNvSpPr>
            <a:spLocks noGrp="1"/>
          </p:cNvSpPr>
          <p:nvPr/>
        </p:nvSpPr>
        <p:spPr>
          <a:xfrm>
            <a:off x="6000750" y="1952625"/>
            <a:ext cx="2000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24E140C-E543-449E-8407-DBBA4812D879}"/>
              </a:ext>
            </a:extLst>
          </p:cNvPr>
          <p:cNvSpPr>
            <a:spLocks noGrp="1"/>
          </p:cNvSpPr>
          <p:nvPr/>
        </p:nvSpPr>
        <p:spPr>
          <a:xfrm>
            <a:off x="6076950" y="2047875"/>
            <a:ext cx="1847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当前依据</a:t>
            </a:r>
            <a:endParaRPr sz="132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7192DFB6-5146-428A-9799-CE8359E21D89}"/>
              </a:ext>
            </a:extLst>
          </p:cNvPr>
          <p:cNvSpPr>
            <a:spLocks noGrp="1"/>
          </p:cNvSpPr>
          <p:nvPr/>
        </p:nvSpPr>
        <p:spPr>
          <a:xfrm>
            <a:off x="8001000" y="1952625"/>
            <a:ext cx="1714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4F441D3-EDBC-4754-BDB6-780DEC33A683}"/>
              </a:ext>
            </a:extLst>
          </p:cNvPr>
          <p:cNvSpPr>
            <a:spLocks noGrp="1"/>
          </p:cNvSpPr>
          <p:nvPr/>
        </p:nvSpPr>
        <p:spPr>
          <a:xfrm>
            <a:off x="8077200" y="2047875"/>
            <a:ext cx="1562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人工量</a:t>
            </a:r>
            <a:endParaRPr sz="132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51B9394F-D985-414D-943B-72CE0BA233CC}"/>
              </a:ext>
            </a:extLst>
          </p:cNvPr>
          <p:cNvSpPr>
            <a:spLocks noGrp="1"/>
          </p:cNvSpPr>
          <p:nvPr/>
        </p:nvSpPr>
        <p:spPr>
          <a:xfrm>
            <a:off x="9715500" y="1952625"/>
            <a:ext cx="1809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BEEE528-532F-4EBD-8BAB-5FA0F5197BA4}"/>
              </a:ext>
            </a:extLst>
          </p:cNvPr>
          <p:cNvSpPr>
            <a:spLocks noGrp="1"/>
          </p:cNvSpPr>
          <p:nvPr/>
        </p:nvSpPr>
        <p:spPr>
          <a:xfrm>
            <a:off x="9791700" y="2047875"/>
            <a:ext cx="1657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复杂度</a:t>
            </a:r>
            <a:endParaRPr sz="132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2E06D7B-8CC9-47E2-A3B2-37229770A59A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171450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C3C4D24-B039-4013-BB37-08BEDA6E06F2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纯人工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961EE662-9A17-4D43-A327-F5E236CD7297}"/>
              </a:ext>
            </a:extLst>
          </p:cNvPr>
          <p:cNvSpPr>
            <a:spLocks noGrp="1"/>
          </p:cNvSpPr>
          <p:nvPr/>
        </p:nvSpPr>
        <p:spPr>
          <a:xfrm>
            <a:off x="2381250" y="24669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9D17033E-5F3F-42AF-A091-7945D7A56FAF}"/>
              </a:ext>
            </a:extLst>
          </p:cNvPr>
          <p:cNvSpPr>
            <a:spLocks noGrp="1"/>
          </p:cNvSpPr>
          <p:nvPr/>
        </p:nvSpPr>
        <p:spPr>
          <a:xfrm>
            <a:off x="2476500" y="25431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强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463D5AF-F06B-4262-8DF9-AE438AD2DD7A}"/>
              </a:ext>
            </a:extLst>
          </p:cNvPr>
          <p:cNvSpPr>
            <a:spLocks noGrp="1"/>
          </p:cNvSpPr>
          <p:nvPr/>
        </p:nvSpPr>
        <p:spPr>
          <a:xfrm>
            <a:off x="4191000" y="24669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1A3CAEE0-62E6-4258-A541-EB5EB266CE42}"/>
              </a:ext>
            </a:extLst>
          </p:cNvPr>
          <p:cNvSpPr>
            <a:spLocks noGrp="1"/>
          </p:cNvSpPr>
          <p:nvPr/>
        </p:nvSpPr>
        <p:spPr>
          <a:xfrm>
            <a:off x="4286250" y="25431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受人员一致性影响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79A66825-1791-487C-9404-A4D11FBC9160}"/>
              </a:ext>
            </a:extLst>
          </p:cNvPr>
          <p:cNvSpPr>
            <a:spLocks noGrp="1"/>
          </p:cNvSpPr>
          <p:nvPr/>
        </p:nvSpPr>
        <p:spPr>
          <a:xfrm>
            <a:off x="6000750" y="2466975"/>
            <a:ext cx="20002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C40C0902-9C34-4838-B4D0-9E3E36AF6C90}"/>
              </a:ext>
            </a:extLst>
          </p:cNvPr>
          <p:cNvSpPr>
            <a:spLocks noGrp="1"/>
          </p:cNvSpPr>
          <p:nvPr/>
        </p:nvSpPr>
        <p:spPr>
          <a:xfrm>
            <a:off x="6096000" y="2543175"/>
            <a:ext cx="18097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人工查询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6CEFC2FB-6DA1-478E-BDD0-DAF6AC43EF65}"/>
              </a:ext>
            </a:extLst>
          </p:cNvPr>
          <p:cNvSpPr>
            <a:spLocks noGrp="1"/>
          </p:cNvSpPr>
          <p:nvPr/>
        </p:nvSpPr>
        <p:spPr>
          <a:xfrm>
            <a:off x="8001000" y="2466975"/>
            <a:ext cx="171450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B46B0E56-76F8-4D85-8DFA-FF82EDC40C6D}"/>
              </a:ext>
            </a:extLst>
          </p:cNvPr>
          <p:cNvSpPr>
            <a:spLocks noGrp="1"/>
          </p:cNvSpPr>
          <p:nvPr/>
        </p:nvSpPr>
        <p:spPr>
          <a:xfrm>
            <a:off x="8096250" y="254317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546CA87-6B42-4D54-B454-F7665F4C8253}"/>
              </a:ext>
            </a:extLst>
          </p:cNvPr>
          <p:cNvSpPr>
            <a:spLocks noGrp="1"/>
          </p:cNvSpPr>
          <p:nvPr/>
        </p:nvSpPr>
        <p:spPr>
          <a:xfrm>
            <a:off x="9715500" y="24669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6D386ED4-8ADD-4130-8EC7-7C0CC5429394}"/>
              </a:ext>
            </a:extLst>
          </p:cNvPr>
          <p:cNvSpPr>
            <a:spLocks noGrp="1"/>
          </p:cNvSpPr>
          <p:nvPr/>
        </p:nvSpPr>
        <p:spPr>
          <a:xfrm>
            <a:off x="9810750" y="25431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低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F1F4700E-97C0-4396-A169-89AF18ED586D}"/>
              </a:ext>
            </a:extLst>
          </p:cNvPr>
          <p:cNvSpPr>
            <a:spLocks noGrp="1"/>
          </p:cNvSpPr>
          <p:nvPr/>
        </p:nvSpPr>
        <p:spPr>
          <a:xfrm>
            <a:off x="666750" y="3057525"/>
            <a:ext cx="171450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8780A46-29FD-4259-8AB4-EB36F248F88F}"/>
              </a:ext>
            </a:extLst>
          </p:cNvPr>
          <p:cNvSpPr>
            <a:spLocks noGrp="1"/>
          </p:cNvSpPr>
          <p:nvPr/>
        </p:nvSpPr>
        <p:spPr>
          <a:xfrm>
            <a:off x="762000" y="313372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纯规则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7F98B38E-7DA9-4026-8CC1-376F0385BFD5}"/>
              </a:ext>
            </a:extLst>
          </p:cNvPr>
          <p:cNvSpPr>
            <a:spLocks noGrp="1"/>
          </p:cNvSpPr>
          <p:nvPr/>
        </p:nvSpPr>
        <p:spPr>
          <a:xfrm>
            <a:off x="2381250" y="30575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4010D3C6-8AA0-43D7-A007-9D26F2437444}"/>
              </a:ext>
            </a:extLst>
          </p:cNvPr>
          <p:cNvSpPr>
            <a:spLocks noGrp="1"/>
          </p:cNvSpPr>
          <p:nvPr/>
        </p:nvSpPr>
        <p:spPr>
          <a:xfrm>
            <a:off x="2476500" y="31337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弱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C95FC108-8FBE-48D0-87C0-F400D62AF23A}"/>
              </a:ext>
            </a:extLst>
          </p:cNvPr>
          <p:cNvSpPr>
            <a:spLocks noGrp="1"/>
          </p:cNvSpPr>
          <p:nvPr/>
        </p:nvSpPr>
        <p:spPr>
          <a:xfrm>
            <a:off x="4191000" y="30575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A1752270-642F-42FE-B4FA-AD573A032DFB}"/>
              </a:ext>
            </a:extLst>
          </p:cNvPr>
          <p:cNvSpPr>
            <a:spLocks noGrp="1"/>
          </p:cNvSpPr>
          <p:nvPr/>
        </p:nvSpPr>
        <p:spPr>
          <a:xfrm>
            <a:off x="4286250" y="31337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</a:t>
            </a:r>
            <a:endParaRPr sz="1236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7237BB24-2C61-444E-A732-26B2B47F72E3}"/>
              </a:ext>
            </a:extLst>
          </p:cNvPr>
          <p:cNvSpPr>
            <a:spLocks noGrp="1"/>
          </p:cNvSpPr>
          <p:nvPr/>
        </p:nvSpPr>
        <p:spPr>
          <a:xfrm>
            <a:off x="6000750" y="3057525"/>
            <a:ext cx="20002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7E3BC384-A7F7-4899-94C1-6F907A7FE6D7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8097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结构化规则</a:t>
            </a:r>
            <a:endParaRPr sz="1236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1FA54F4B-B3F5-4281-89FD-D30BCD05A8F3}"/>
              </a:ext>
            </a:extLst>
          </p:cNvPr>
          <p:cNvSpPr>
            <a:spLocks noGrp="1"/>
          </p:cNvSpPr>
          <p:nvPr/>
        </p:nvSpPr>
        <p:spPr>
          <a:xfrm>
            <a:off x="8001000" y="3057525"/>
            <a:ext cx="171450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C734ACC5-8A78-4665-ACFF-B94CD6BCA11A}"/>
              </a:ext>
            </a:extLst>
          </p:cNvPr>
          <p:cNvSpPr>
            <a:spLocks noGrp="1"/>
          </p:cNvSpPr>
          <p:nvPr/>
        </p:nvSpPr>
        <p:spPr>
          <a:xfrm>
            <a:off x="8096250" y="313372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中</a:t>
            </a:r>
            <a:endParaRPr sz="1236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55D66C2F-59E8-4467-A287-8A371883D3E4}"/>
              </a:ext>
            </a:extLst>
          </p:cNvPr>
          <p:cNvSpPr>
            <a:spLocks noGrp="1"/>
          </p:cNvSpPr>
          <p:nvPr/>
        </p:nvSpPr>
        <p:spPr>
          <a:xfrm>
            <a:off x="9715500" y="30575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D9C192A4-4E63-4478-AE83-ADB13F9D5D99}"/>
              </a:ext>
            </a:extLst>
          </p:cNvPr>
          <p:cNvSpPr>
            <a:spLocks noGrp="1"/>
          </p:cNvSpPr>
          <p:nvPr/>
        </p:nvSpPr>
        <p:spPr>
          <a:xfrm>
            <a:off x="9810750" y="31337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中</a:t>
            </a:r>
            <a:endParaRPr sz="1236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C0F602AA-9D18-4BDC-BA24-4F2BB9C024DB}"/>
              </a:ext>
            </a:extLst>
          </p:cNvPr>
          <p:cNvSpPr>
            <a:spLocks noGrp="1"/>
          </p:cNvSpPr>
          <p:nvPr/>
        </p:nvSpPr>
        <p:spPr>
          <a:xfrm>
            <a:off x="666750" y="3648075"/>
            <a:ext cx="171450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4A3AEDDB-3CFC-4EBF-A505-05BE228B0BFF}"/>
              </a:ext>
            </a:extLst>
          </p:cNvPr>
          <p:cNvSpPr>
            <a:spLocks noGrp="1"/>
          </p:cNvSpPr>
          <p:nvPr/>
        </p:nvSpPr>
        <p:spPr>
          <a:xfrm>
            <a:off x="762000" y="372427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纯大模型</a:t>
            </a:r>
            <a:endParaRPr sz="1236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8FB5A70-A364-4A97-967C-3DC91CE242A3}"/>
              </a:ext>
            </a:extLst>
          </p:cNvPr>
          <p:cNvSpPr>
            <a:spLocks noGrp="1"/>
          </p:cNvSpPr>
          <p:nvPr/>
        </p:nvSpPr>
        <p:spPr>
          <a:xfrm>
            <a:off x="2381250" y="36480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861F0208-27C3-41B6-A23A-BC6C6814BCF7}"/>
              </a:ext>
            </a:extLst>
          </p:cNvPr>
          <p:cNvSpPr>
            <a:spLocks noGrp="1"/>
          </p:cNvSpPr>
          <p:nvPr/>
        </p:nvSpPr>
        <p:spPr>
          <a:xfrm>
            <a:off x="2476500" y="37242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强</a:t>
            </a:r>
            <a:endParaRPr sz="1236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FFDDAEF7-02E8-4536-ADBD-0421A58994F9}"/>
              </a:ext>
            </a:extLst>
          </p:cNvPr>
          <p:cNvSpPr>
            <a:spLocks noGrp="1"/>
          </p:cNvSpPr>
          <p:nvPr/>
        </p:nvSpPr>
        <p:spPr>
          <a:xfrm>
            <a:off x="4191000" y="36480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E8E1B9DE-0BA9-4F10-8704-F7E85DFB07E1}"/>
              </a:ext>
            </a:extLst>
          </p:cNvPr>
          <p:cNvSpPr>
            <a:spLocks noGrp="1"/>
          </p:cNvSpPr>
          <p:nvPr/>
        </p:nvSpPr>
        <p:spPr>
          <a:xfrm>
            <a:off x="4286250" y="37242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相对较低</a:t>
            </a:r>
            <a:endParaRPr sz="1236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8EF5C2C2-067D-441B-899D-102FCA41132B}"/>
              </a:ext>
            </a:extLst>
          </p:cNvPr>
          <p:cNvSpPr>
            <a:spLocks noGrp="1"/>
          </p:cNvSpPr>
          <p:nvPr/>
        </p:nvSpPr>
        <p:spPr>
          <a:xfrm>
            <a:off x="6000750" y="3648075"/>
            <a:ext cx="20002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04D0A176-E83E-4AFF-A8CD-BA5723A10076}"/>
              </a:ext>
            </a:extLst>
          </p:cNvPr>
          <p:cNvSpPr>
            <a:spLocks noGrp="1"/>
          </p:cNvSpPr>
          <p:nvPr/>
        </p:nvSpPr>
        <p:spPr>
          <a:xfrm>
            <a:off x="6096000" y="3724275"/>
            <a:ext cx="18097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容易缺失</a:t>
            </a:r>
            <a:endParaRPr sz="1236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25595198-738A-4BD1-9307-3DAE18DDDF9D}"/>
              </a:ext>
            </a:extLst>
          </p:cNvPr>
          <p:cNvSpPr>
            <a:spLocks noGrp="1"/>
          </p:cNvSpPr>
          <p:nvPr/>
        </p:nvSpPr>
        <p:spPr>
          <a:xfrm>
            <a:off x="8001000" y="3648075"/>
            <a:ext cx="171450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AF260086-9057-49CC-B00D-B65EC349C97F}"/>
              </a:ext>
            </a:extLst>
          </p:cNvPr>
          <p:cNvSpPr>
            <a:spLocks noGrp="1"/>
          </p:cNvSpPr>
          <p:nvPr/>
        </p:nvSpPr>
        <p:spPr>
          <a:xfrm>
            <a:off x="8096250" y="372427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中</a:t>
            </a:r>
            <a:endParaRPr sz="1236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9FD04B9D-27B3-401D-B420-506B987CDBE1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1809750" cy="5905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061AC29F-659C-495C-A2D5-6D1550DB9BAA}"/>
              </a:ext>
            </a:extLst>
          </p:cNvPr>
          <p:cNvSpPr>
            <a:spLocks noGrp="1"/>
          </p:cNvSpPr>
          <p:nvPr/>
        </p:nvSpPr>
        <p:spPr>
          <a:xfrm>
            <a:off x="9810750" y="372427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中</a:t>
            </a:r>
            <a:endParaRPr sz="1236"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216E1DB3-0DAA-474B-96E3-72B33A389C8A}"/>
              </a:ext>
            </a:extLst>
          </p:cNvPr>
          <p:cNvSpPr>
            <a:spLocks noGrp="1"/>
          </p:cNvSpPr>
          <p:nvPr/>
        </p:nvSpPr>
        <p:spPr>
          <a:xfrm>
            <a:off x="666750" y="4238625"/>
            <a:ext cx="171450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0E5417C4-52CD-4B13-9E8F-604698E23C37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混合方案</a:t>
            </a:r>
            <a:endParaRPr sz="1236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843CB673-7B11-4163-8106-1212D1A3C372}"/>
              </a:ext>
            </a:extLst>
          </p:cNvPr>
          <p:cNvSpPr>
            <a:spLocks noGrp="1"/>
          </p:cNvSpPr>
          <p:nvPr/>
        </p:nvSpPr>
        <p:spPr>
          <a:xfrm>
            <a:off x="2381250" y="42386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83DA20FC-00F6-46EF-86D3-2DD57B89FA24}"/>
              </a:ext>
            </a:extLst>
          </p:cNvPr>
          <p:cNvSpPr>
            <a:spLocks noGrp="1"/>
          </p:cNvSpPr>
          <p:nvPr/>
        </p:nvSpPr>
        <p:spPr>
          <a:xfrm>
            <a:off x="2476500" y="43148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强</a:t>
            </a:r>
            <a:endParaRPr sz="1236"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28AA65D-DA66-4841-9312-A6D045A2EC50}"/>
              </a:ext>
            </a:extLst>
          </p:cNvPr>
          <p:cNvSpPr>
            <a:spLocks noGrp="1"/>
          </p:cNvSpPr>
          <p:nvPr/>
        </p:nvSpPr>
        <p:spPr>
          <a:xfrm>
            <a:off x="4191000" y="42386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78841100-927B-47F3-9AA7-6C8FE1E640A6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可通过分工改善</a:t>
            </a:r>
            <a:endParaRPr sz="1236"/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5877DDF8-CAD4-4DED-AC72-D9534A91B6BE}"/>
              </a:ext>
            </a:extLst>
          </p:cNvPr>
          <p:cNvSpPr>
            <a:spLocks noGrp="1"/>
          </p:cNvSpPr>
          <p:nvPr/>
        </p:nvSpPr>
        <p:spPr>
          <a:xfrm>
            <a:off x="6000750" y="4238625"/>
            <a:ext cx="20002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13887930-C3AC-4657-9A1A-68529A1518A3}"/>
              </a:ext>
            </a:extLst>
          </p:cNvPr>
          <p:cNvSpPr>
            <a:spLocks noGrp="1"/>
          </p:cNvSpPr>
          <p:nvPr/>
        </p:nvSpPr>
        <p:spPr>
          <a:xfrm>
            <a:off x="6096000" y="4314825"/>
            <a:ext cx="18097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RAG管理</a:t>
            </a:r>
            <a:endParaRPr sz="1236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40C4DF72-8424-4E83-9521-F0AA6DDCE290}"/>
              </a:ext>
            </a:extLst>
          </p:cNvPr>
          <p:cNvSpPr>
            <a:spLocks noGrp="1"/>
          </p:cNvSpPr>
          <p:nvPr/>
        </p:nvSpPr>
        <p:spPr>
          <a:xfrm>
            <a:off x="8001000" y="4238625"/>
            <a:ext cx="171450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65" name="Text 62">
            <a:extLst>
              <a:ext uri="{FF2B5EF4-FFF2-40B4-BE49-F238E27FC236}">
                <a16:creationId xmlns:a16="http://schemas.microsoft.com/office/drawing/2014/main" id="{C0D3CC3A-A0AB-424D-AE82-EFB7BBF19532}"/>
              </a:ext>
            </a:extLst>
          </p:cNvPr>
          <p:cNvSpPr>
            <a:spLocks noGrp="1"/>
          </p:cNvSpPr>
          <p:nvPr/>
        </p:nvSpPr>
        <p:spPr>
          <a:xfrm>
            <a:off x="8096250" y="4314825"/>
            <a:ext cx="15240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聚焦高风险</a:t>
            </a:r>
            <a:endParaRPr sz="1236"/>
          </a:p>
        </p:txBody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E17C482E-0980-4D84-BBD0-2B393F8BD759}"/>
              </a:ext>
            </a:extLst>
          </p:cNvPr>
          <p:cNvSpPr>
            <a:spLocks noGrp="1"/>
          </p:cNvSpPr>
          <p:nvPr/>
        </p:nvSpPr>
        <p:spPr>
          <a:xfrm>
            <a:off x="9715500" y="4238625"/>
            <a:ext cx="1809750" cy="5905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48AAD78-A19E-4B25-A0E4-99D8F8AAA663}"/>
              </a:ext>
            </a:extLst>
          </p:cNvPr>
          <p:cNvSpPr>
            <a:spLocks noGrp="1"/>
          </p:cNvSpPr>
          <p:nvPr/>
        </p:nvSpPr>
        <p:spPr>
          <a:xfrm>
            <a:off x="9810750" y="4314825"/>
            <a:ext cx="161925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</a:t>
            </a:r>
            <a:endParaRPr sz="1236"/>
          </a:p>
        </p:txBody>
      </p:sp>
      <p:sp>
        <p:nvSpPr>
          <p:cNvPr id="68" name="Slide Number Placeholder 0">
            <a:extLst>
              <a:ext uri="{FF2B5EF4-FFF2-40B4-BE49-F238E27FC236}">
                <a16:creationId xmlns:a16="http://schemas.microsoft.com/office/drawing/2014/main" id="{05F8E231-6FC2-4896-9282-FB6CCFD976D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7782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08715FB-23FF-40E6-8395-28E656516AF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89B189-C9B4-4BD0-B8EE-CA8497D889E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0F8BB80-9844-4796-A759-DBEC8B0E4DE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28151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8B666E1-F49D-4E79-A711-4B24B14AA4A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 dirty="0" err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为什么不能只接大模型</a:t>
            </a:r>
            <a:endParaRPr sz="3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75CABBE-E4ED-46F3-8D3C-8822C6A4A4E5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A069E1A-B675-4B46-ACFE-6D0B85AE3A39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8F73E7B-2B47-431D-9006-D1F9B41CCB9D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不稳定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7F631B3-4396-43A3-952B-E2B9F763EA6F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相同输入可能给出不同等级和结论。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B12054B-C127-4B98-BEC7-E609FC4473C2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0A1180F-20A4-4A2D-B40B-B944357E6A66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依据过时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E52D4EF-3FE1-47A8-AAD0-F75546397E20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模型不一定知道内部最新规则。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EC135BA-02A8-41E5-8638-120A381996E0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DC030F5-D668-408C-9169-B1B5C9860026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难以追溯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C6BAAC2-B570-42A7-991E-59ECA7A6BE42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不知道当时使用哪版规则和Prompt。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0C10EE3F-4A6B-45CD-BC52-06A54EE19D55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9A0C8A3-E758-483A-806C-205BCBD48CAC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成本浪费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39B95BF-22E5-44A1-8083-D4B401D82980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格式、词表和阈值不需要大模型判断。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15F7DAF-8F08-4386-BE0D-BF5912FF2B92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A6FEE6C3-7A9D-4540-B0AE-E8135AEA8E58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输出难接入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EAF2E1E5-E3CD-46D3-AB8A-F594ABF53FA9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一段自然语言无法稳定驱动产品流程。</a:t>
            </a:r>
            <a:endParaRPr sz="126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5F70121C-A32D-4991-97A8-927C76E56DCF}"/>
              </a:ext>
            </a:extLst>
          </p:cNvPr>
          <p:cNvSpPr>
            <a:spLocks noGrp="1"/>
          </p:cNvSpPr>
          <p:nvPr/>
        </p:nvSpPr>
        <p:spPr>
          <a:xfrm>
            <a:off x="80264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0297219B-ED8F-487D-9983-2E6770A7B1DC}"/>
              </a:ext>
            </a:extLst>
          </p:cNvPr>
          <p:cNvSpPr>
            <a:spLocks noGrp="1"/>
          </p:cNvSpPr>
          <p:nvPr/>
        </p:nvSpPr>
        <p:spPr>
          <a:xfrm>
            <a:off x="82359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责任越界</a:t>
            </a:r>
            <a:endParaRPr sz="174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C75E8D9-080C-43EF-8628-D1CFDD8E92F1}"/>
              </a:ext>
            </a:extLst>
          </p:cNvPr>
          <p:cNvSpPr>
            <a:spLocks noGrp="1"/>
          </p:cNvSpPr>
          <p:nvPr/>
        </p:nvSpPr>
        <p:spPr>
          <a:xfrm>
            <a:off x="82359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模型不能独立承担高风险最终责任。</a:t>
            </a:r>
            <a:endParaRPr sz="126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00848D9-1C80-401B-962C-E143648778B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0957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5C5D13D-B642-4E23-BE63-13EB57951E6A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DDFBFA-738D-4EAD-BE51-D18AB50E597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CA83EE1-7397-4EEF-972C-130C66EFE55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29492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FF2EF0C-5A6F-4583-A73A-B67B49087FF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分工原则：先按任务性质选择技术方案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AA4B02E-9F70-4A7B-9DCE-DCD84E96774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EB9F4A7-B904-4B20-9619-BAB35631EDBF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6670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82C3DA7-5A72-44E5-B3E3-4973926E8071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514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任务性质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03F61E1-944C-42FC-9249-56CA5E2FEFAC}"/>
              </a:ext>
            </a:extLst>
          </p:cNvPr>
          <p:cNvSpPr>
            <a:spLocks noGrp="1"/>
          </p:cNvSpPr>
          <p:nvPr/>
        </p:nvSpPr>
        <p:spPr>
          <a:xfrm>
            <a:off x="3333750" y="1952625"/>
            <a:ext cx="53340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943C94B-2267-42B9-AEC4-FB3A31E8A17D}"/>
              </a:ext>
            </a:extLst>
          </p:cNvPr>
          <p:cNvSpPr>
            <a:spLocks noGrp="1"/>
          </p:cNvSpPr>
          <p:nvPr/>
        </p:nvSpPr>
        <p:spPr>
          <a:xfrm>
            <a:off x="3409950" y="2047875"/>
            <a:ext cx="5181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典型任务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7E8397CE-36C3-4BF1-BEA1-C5257A18C10E}"/>
              </a:ext>
            </a:extLst>
          </p:cNvPr>
          <p:cNvSpPr>
            <a:spLocks noGrp="1"/>
          </p:cNvSpPr>
          <p:nvPr/>
        </p:nvSpPr>
        <p:spPr>
          <a:xfrm>
            <a:off x="8667750" y="1952625"/>
            <a:ext cx="2857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2F37C0D-C56E-4E8F-B1F8-4DB30F1179B7}"/>
              </a:ext>
            </a:extLst>
          </p:cNvPr>
          <p:cNvSpPr>
            <a:spLocks noGrp="1"/>
          </p:cNvSpPr>
          <p:nvPr/>
        </p:nvSpPr>
        <p:spPr>
          <a:xfrm>
            <a:off x="8743950" y="2047875"/>
            <a:ext cx="2705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优先能力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79EB12F-55B9-4245-ADA4-3218A5DD60F3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667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5FB7987-7EB6-4329-9A65-BCD3F33103B4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47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确定、可枚举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D981039-CC50-4E38-AA8D-8E8575FA7FC8}"/>
              </a:ext>
            </a:extLst>
          </p:cNvPr>
          <p:cNvSpPr>
            <a:spLocks noGrp="1"/>
          </p:cNvSpPr>
          <p:nvPr/>
        </p:nvSpPr>
        <p:spPr>
          <a:xfrm>
            <a:off x="3333750" y="2466975"/>
            <a:ext cx="5334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A15D91D-A4C8-4A01-834E-C73C466CADA3}"/>
              </a:ext>
            </a:extLst>
          </p:cNvPr>
          <p:cNvSpPr>
            <a:spLocks noGrp="1"/>
          </p:cNvSpPr>
          <p:nvPr/>
        </p:nvSpPr>
        <p:spPr>
          <a:xfrm>
            <a:off x="3429000" y="2543175"/>
            <a:ext cx="5143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禁用词、必要声明、格式、明确阈值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F1F5DCD6-428E-47C0-BB6E-3ADE572995D9}"/>
              </a:ext>
            </a:extLst>
          </p:cNvPr>
          <p:cNvSpPr>
            <a:spLocks noGrp="1"/>
          </p:cNvSpPr>
          <p:nvPr/>
        </p:nvSpPr>
        <p:spPr>
          <a:xfrm>
            <a:off x="8667750" y="24669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1FD5721-225E-4B21-8C0F-6F5F11E18E94}"/>
              </a:ext>
            </a:extLst>
          </p:cNvPr>
          <p:cNvSpPr>
            <a:spLocks noGrp="1"/>
          </p:cNvSpPr>
          <p:nvPr/>
        </p:nvSpPr>
        <p:spPr>
          <a:xfrm>
            <a:off x="8763000" y="25431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55F1A32-900C-40E6-9112-DDEA188A5FE9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667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EE37185-60CB-40AB-8D16-F3C2368CB797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47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依赖上下文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E62A040-8B32-433B-B3B4-A8BE17BEED5D}"/>
              </a:ext>
            </a:extLst>
          </p:cNvPr>
          <p:cNvSpPr>
            <a:spLocks noGrp="1"/>
          </p:cNvSpPr>
          <p:nvPr/>
        </p:nvSpPr>
        <p:spPr>
          <a:xfrm>
            <a:off x="3333750" y="3019425"/>
            <a:ext cx="5334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B6D59F6-DDD7-44A7-A77C-30CBFACA3DB1}"/>
              </a:ext>
            </a:extLst>
          </p:cNvPr>
          <p:cNvSpPr>
            <a:spLocks noGrp="1"/>
          </p:cNvSpPr>
          <p:nvPr/>
        </p:nvSpPr>
        <p:spPr>
          <a:xfrm>
            <a:off x="3429000" y="3095625"/>
            <a:ext cx="5143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暗示、同义改写、组合语义、误导表达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9B8EA0E-1DF1-4E36-A6F4-4008CF8977B6}"/>
              </a:ext>
            </a:extLst>
          </p:cNvPr>
          <p:cNvSpPr>
            <a:spLocks noGrp="1"/>
          </p:cNvSpPr>
          <p:nvPr/>
        </p:nvSpPr>
        <p:spPr>
          <a:xfrm>
            <a:off x="8667750" y="30194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671EE91-B46A-4C40-96D4-168437A7132D}"/>
              </a:ext>
            </a:extLst>
          </p:cNvPr>
          <p:cNvSpPr>
            <a:spLocks noGrp="1"/>
          </p:cNvSpPr>
          <p:nvPr/>
        </p:nvSpPr>
        <p:spPr>
          <a:xfrm>
            <a:off x="8763000" y="30956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大模型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4BF87A92-5F77-459C-BB84-771E56C53210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667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4CC7E8F3-C4C5-4D6E-B533-F3689F961144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47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依赖当前资料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F8986BBB-AD49-4333-B833-B2F264E99D25}"/>
              </a:ext>
            </a:extLst>
          </p:cNvPr>
          <p:cNvSpPr>
            <a:spLocks noGrp="1"/>
          </p:cNvSpPr>
          <p:nvPr/>
        </p:nvSpPr>
        <p:spPr>
          <a:xfrm>
            <a:off x="3333750" y="3571875"/>
            <a:ext cx="5334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F9EBDC1A-401E-4C96-BEA2-ECD8018ECF6D}"/>
              </a:ext>
            </a:extLst>
          </p:cNvPr>
          <p:cNvSpPr>
            <a:spLocks noGrp="1"/>
          </p:cNvSpPr>
          <p:nvPr/>
        </p:nvSpPr>
        <p:spPr>
          <a:xfrm>
            <a:off x="3429000" y="3648075"/>
            <a:ext cx="5143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渠道规则、版本条款、历史争议结论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73231BEB-0A57-4A62-BA23-DD5D141FC54E}"/>
              </a:ext>
            </a:extLst>
          </p:cNvPr>
          <p:cNvSpPr>
            <a:spLocks noGrp="1"/>
          </p:cNvSpPr>
          <p:nvPr/>
        </p:nvSpPr>
        <p:spPr>
          <a:xfrm>
            <a:off x="8667750" y="35718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8AEA092B-3B14-4011-AC39-28EA99129EB2}"/>
              </a:ext>
            </a:extLst>
          </p:cNvPr>
          <p:cNvSpPr>
            <a:spLocks noGrp="1"/>
          </p:cNvSpPr>
          <p:nvPr/>
        </p:nvSpPr>
        <p:spPr>
          <a:xfrm>
            <a:off x="8763000" y="36480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RAG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CBE386D1-28C2-4045-A920-35F4230AAA13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667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052D8A7-4D0A-420D-9892-DBA5A3275D93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47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高风险或不确定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3705DA6B-DC02-4075-910F-FE19E8976926}"/>
              </a:ext>
            </a:extLst>
          </p:cNvPr>
          <p:cNvSpPr>
            <a:spLocks noGrp="1"/>
          </p:cNvSpPr>
          <p:nvPr/>
        </p:nvSpPr>
        <p:spPr>
          <a:xfrm>
            <a:off x="3333750" y="4124325"/>
            <a:ext cx="5334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BFA5B558-153C-453C-BB73-42D401F8E8ED}"/>
              </a:ext>
            </a:extLst>
          </p:cNvPr>
          <p:cNvSpPr>
            <a:spLocks noGrp="1"/>
          </p:cNvSpPr>
          <p:nvPr/>
        </p:nvSpPr>
        <p:spPr>
          <a:xfrm>
            <a:off x="3429000" y="4200525"/>
            <a:ext cx="5143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依据冲突、信息不足、责任判断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B4D2982B-0093-4162-AFB7-AC092B28F47B}"/>
              </a:ext>
            </a:extLst>
          </p:cNvPr>
          <p:cNvSpPr>
            <a:spLocks noGrp="1"/>
          </p:cNvSpPr>
          <p:nvPr/>
        </p:nvSpPr>
        <p:spPr>
          <a:xfrm>
            <a:off x="8667750" y="41243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B88C5898-E537-4190-85BF-F8531097C862}"/>
              </a:ext>
            </a:extLst>
          </p:cNvPr>
          <p:cNvSpPr>
            <a:spLocks noGrp="1"/>
          </p:cNvSpPr>
          <p:nvPr/>
        </p:nvSpPr>
        <p:spPr>
          <a:xfrm>
            <a:off x="8763000" y="42005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A7E26520-843C-4014-88F2-2C3021E0DC6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1822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3256874-DDC1-4D99-B84C-82C4788578A4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D50E9AF-C718-4112-9CD3-19DE9BCC809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DA01FFD-03E1-4530-BB18-0A523B67E55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0832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553A3E6-3815-41BF-B299-5940C1A042D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能力分工①：哪些任务交给规则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A040672-0BC6-4617-BD75-245BF7DFBE63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30BC245-0211-4C68-A9CF-6B043103A3A7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863DF4B-72E8-464D-A3BE-4B36A69D2B68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词与表达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4CB141A-972A-48D8-A4CD-06F84C575786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禁用词、敏感词、高风险固定短语。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54BA539-0384-4868-92C0-940FDE7422E3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714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941BBF6-A722-4244-91B3-D2937957DF69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声明与格式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DBB6C43-F5C8-48C1-AAED-FCB121F1B278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必要风险提示、字数、字段和格式。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424BBC6F-F719-4442-ABD9-9DA97E555F13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B699666-14F9-4A79-A309-DB088A003C06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明确阈值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B5105F8-0BB3-4EED-852D-2032F4989D4B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可以清楚枚举的业务限制和数值条件。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A245F1-7431-45A3-917F-CC90286CD3B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3853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5A29328-7024-4CD3-A029-6CA52E69D94D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D22BBE6-5D1E-4FC0-AC34-1226799D3CF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451F471-59F0-4219-B418-C7EBAEA8C9D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2173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BD4EF2-6B1A-4935-A530-755187692086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能力分工②：哪些任务交给大模型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4A681D8-4E57-4875-ACAC-C2698735252D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A119597-DF46-4C01-BF39-75D22EAFCF03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FB0B535-10F8-4608-B1B5-53A8552403E1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隐含承诺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EA5BCE6-0960-4F71-BD71-98E737C6318B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没有直接使用禁词，但整体表达暗示保证结果。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45982A6-764E-459F-99DB-2567816C7BE5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714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EEB0BD2-90C6-473D-B3ED-A53C8D4AB488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上下文误导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87783B4-79AD-423C-9190-E6A80FDFA398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单句正常，组合后可能让用户产生错误理解。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8A2A060-8948-459F-A575-DC966D402A72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1C2A2EA-160A-4943-8C37-B812A53C3E00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同义绕过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F761958-9B13-452A-8AE3-03AF45B5E992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用改写、否定、反讽或案例包装绕开固定词。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7FAA59E-F3D5-4E06-8C5D-702A8CA9348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6416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326FAD9-942D-4481-B9DB-5BF53489E59D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AB75124-C1D4-40B6-AC64-43713EE794D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B01A11B-3FBD-405B-9370-959940ED28F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3513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435D3DB-2354-4068-9BB2-93A0F616C07F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能力分工③：RAG和人工分别做什么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482638D-55D3-415A-9D20-F92BEBDF09D0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736A5DD-79E1-4E69-870C-D06752D4BCFF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D4FAD18-AC45-4EF9-AE99-A644971B4A00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RAG知识库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DD56407-C297-4E6B-8813-1C4DE0F261A0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8553853-CFD5-4D31-9058-98A8FE98431D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检索当前有效规则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99B8286-6E53-4E4F-A38B-AC0906C9A006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8E1958-9D28-43D1-AFF7-DD70C814E232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提供规则解释和正反案例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7078702-E483-436E-93D2-87FA2047C64F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40BDCDA-BD49-498D-A700-E54D43D0E071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保留业务、渠道和版本信息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A1B9801-60A1-4AE2-9673-06423D997A4E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BA14590-B5A0-4E28-A9DF-2CADAF19E127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人工复核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2C81CEC7-A754-4345-ACD8-D8653637AF5A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D3757442-CFDA-4C38-8CDA-EEB66B57F475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处理高风险与信息不足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79CD0EA-8749-40E3-A2F6-149B18EA5E44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11F49D3-BCC1-447F-AF8B-4D35EB2C71C3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解决规则和证据冲突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E066091-3368-49B5-AEBD-3D14F082B4F8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F7D59DC-B76C-4E43-A78D-D67FFB331D49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作出需要责任人确认的最终判断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E8E4A38-92E7-43E3-BFC5-216CFF72F22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9745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33E7C65-EAEB-458C-9708-5E19970FF69B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28A3777-2238-4688-9D91-8A9C80C1F1A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CA3EC9D-2F9F-43D0-B625-C41A440E68A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4854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A3FDB69-F83F-41AD-9E69-81E316216F5C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方案落地：四类能力怎样组成审核流程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C801863-E93E-4A32-9B96-904D39CE93A6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76D60E8-A3DA-44C5-B458-94B09DEEA07F}"/>
              </a:ext>
            </a:extLst>
          </p:cNvPr>
          <p:cNvSpPr>
            <a:spLocks noGrp="1"/>
          </p:cNvSpPr>
          <p:nvPr/>
        </p:nvSpPr>
        <p:spPr>
          <a:xfrm>
            <a:off x="41846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2226717B-A407-4401-81E9-038751A388BF}"/>
              </a:ext>
            </a:extLst>
          </p:cNvPr>
          <p:cNvSpPr>
            <a:spLocks noGrp="1"/>
          </p:cNvSpPr>
          <p:nvPr/>
        </p:nvSpPr>
        <p:spPr>
          <a:xfrm>
            <a:off x="78168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135ABE4-5534-460D-A196-231E6F3A9B31}"/>
              </a:ext>
            </a:extLst>
          </p:cNvPr>
          <p:cNvSpPr>
            <a:spLocks noGrp="1"/>
          </p:cNvSpPr>
          <p:nvPr/>
        </p:nvSpPr>
        <p:spPr>
          <a:xfrm>
            <a:off x="7429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E8BED93-6A3A-43E2-B335-4AE28BF35803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C41142D-4CD2-4026-B9B6-667699166096}"/>
              </a:ext>
            </a:extLst>
          </p:cNvPr>
          <p:cNvSpPr>
            <a:spLocks noGrp="1"/>
          </p:cNvSpPr>
          <p:nvPr/>
        </p:nvSpPr>
        <p:spPr>
          <a:xfrm>
            <a:off x="8763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输入校验</a:t>
            </a:r>
            <a:endParaRPr sz="120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658F8FA9-49A3-4EB1-B3A0-9B6952A38BA4}"/>
              </a:ext>
            </a:extLst>
          </p:cNvPr>
          <p:cNvSpPr>
            <a:spLocks noGrp="1"/>
          </p:cNvSpPr>
          <p:nvPr/>
        </p:nvSpPr>
        <p:spPr>
          <a:xfrm>
            <a:off x="43751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70C4D8A-1241-402F-BFAF-95EC8E2AD6C7}"/>
              </a:ext>
            </a:extLst>
          </p:cNvPr>
          <p:cNvSpPr>
            <a:spLocks noGrp="1"/>
          </p:cNvSpPr>
          <p:nvPr/>
        </p:nvSpPr>
        <p:spPr>
          <a:xfrm>
            <a:off x="45085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4EE7EF8-2880-4310-A36B-6328B7406B52}"/>
              </a:ext>
            </a:extLst>
          </p:cNvPr>
          <p:cNvSpPr>
            <a:spLocks noGrp="1"/>
          </p:cNvSpPr>
          <p:nvPr/>
        </p:nvSpPr>
        <p:spPr>
          <a:xfrm>
            <a:off x="45085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确定性规则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7CB5BD7-5AEC-467E-AA1B-EF51B9A70430}"/>
              </a:ext>
            </a:extLst>
          </p:cNvPr>
          <p:cNvSpPr>
            <a:spLocks noGrp="1"/>
          </p:cNvSpPr>
          <p:nvPr/>
        </p:nvSpPr>
        <p:spPr>
          <a:xfrm>
            <a:off x="80073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2675C6D-A303-4919-A107-B6C29EE7D41A}"/>
              </a:ext>
            </a:extLst>
          </p:cNvPr>
          <p:cNvSpPr>
            <a:spLocks noGrp="1"/>
          </p:cNvSpPr>
          <p:nvPr/>
        </p:nvSpPr>
        <p:spPr>
          <a:xfrm>
            <a:off x="81407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CC3A87E-D522-40E3-8912-D7F3FA55A50D}"/>
              </a:ext>
            </a:extLst>
          </p:cNvPr>
          <p:cNvSpPr>
            <a:spLocks noGrp="1"/>
          </p:cNvSpPr>
          <p:nvPr/>
        </p:nvSpPr>
        <p:spPr>
          <a:xfrm>
            <a:off x="81407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检索适用依据</a:t>
            </a:r>
            <a:endParaRPr sz="12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366AB99-81E2-4164-9ADD-F7248E5E3EFB}"/>
              </a:ext>
            </a:extLst>
          </p:cNvPr>
          <p:cNvSpPr>
            <a:spLocks noGrp="1"/>
          </p:cNvSpPr>
          <p:nvPr/>
        </p:nvSpPr>
        <p:spPr>
          <a:xfrm>
            <a:off x="41846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1B2438D7-F309-4E4A-8648-1D13461CA485}"/>
              </a:ext>
            </a:extLst>
          </p:cNvPr>
          <p:cNvSpPr>
            <a:spLocks noGrp="1"/>
          </p:cNvSpPr>
          <p:nvPr/>
        </p:nvSpPr>
        <p:spPr>
          <a:xfrm>
            <a:off x="78168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6319D1C5-A7B7-4E48-B780-FB0CEE036BA5}"/>
              </a:ext>
            </a:extLst>
          </p:cNvPr>
          <p:cNvSpPr>
            <a:spLocks noGrp="1"/>
          </p:cNvSpPr>
          <p:nvPr/>
        </p:nvSpPr>
        <p:spPr>
          <a:xfrm>
            <a:off x="7429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9EF06CE-1A79-4748-85CC-F560779C99F2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84460C6-B1AB-4E6C-ACB6-8FD5CF74ED6A}"/>
              </a:ext>
            </a:extLst>
          </p:cNvPr>
          <p:cNvSpPr>
            <a:spLocks noGrp="1"/>
          </p:cNvSpPr>
          <p:nvPr/>
        </p:nvSpPr>
        <p:spPr>
          <a:xfrm>
            <a:off x="8763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大模型语义审核</a:t>
            </a:r>
            <a:endParaRPr sz="120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C0483221-0BE1-4210-B74A-ED0B296AB8FE}"/>
              </a:ext>
            </a:extLst>
          </p:cNvPr>
          <p:cNvSpPr>
            <a:spLocks noGrp="1"/>
          </p:cNvSpPr>
          <p:nvPr/>
        </p:nvSpPr>
        <p:spPr>
          <a:xfrm>
            <a:off x="43751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4EB1422-CA03-4800-B941-A96B168D3778}"/>
              </a:ext>
            </a:extLst>
          </p:cNvPr>
          <p:cNvSpPr>
            <a:spLocks noGrp="1"/>
          </p:cNvSpPr>
          <p:nvPr/>
        </p:nvSpPr>
        <p:spPr>
          <a:xfrm>
            <a:off x="45085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02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5DB69D7-08A4-461C-AC14-5F0AD8DCE793}"/>
              </a:ext>
            </a:extLst>
          </p:cNvPr>
          <p:cNvSpPr>
            <a:spLocks noGrp="1"/>
          </p:cNvSpPr>
          <p:nvPr/>
        </p:nvSpPr>
        <p:spPr>
          <a:xfrm>
            <a:off x="45085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结果合并</a:t>
            </a:r>
            <a:endParaRPr sz="12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79418676-8786-4454-84EA-576FEA7BB2C7}"/>
              </a:ext>
            </a:extLst>
          </p:cNvPr>
          <p:cNvSpPr>
            <a:spLocks noGrp="1"/>
          </p:cNvSpPr>
          <p:nvPr/>
        </p:nvSpPr>
        <p:spPr>
          <a:xfrm>
            <a:off x="80073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456A205A-3C75-4B0C-ABAC-33A96F8EF7E0}"/>
              </a:ext>
            </a:extLst>
          </p:cNvPr>
          <p:cNvSpPr>
            <a:spLocks noGrp="1"/>
          </p:cNvSpPr>
          <p:nvPr/>
        </p:nvSpPr>
        <p:spPr>
          <a:xfrm>
            <a:off x="81407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02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EACFE9E-E48B-48BB-8616-81CE60B8D375}"/>
              </a:ext>
            </a:extLst>
          </p:cNvPr>
          <p:cNvSpPr>
            <a:spLocks noGrp="1"/>
          </p:cNvSpPr>
          <p:nvPr/>
        </p:nvSpPr>
        <p:spPr>
          <a:xfrm>
            <a:off x="81407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风险路由</a:t>
            </a:r>
            <a:endParaRPr sz="120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0085996D-31E9-46DE-BD89-78C13EEBFF2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70418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44B84E2-03B0-4986-9B53-234A68BFF6A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D9E0A09-99C0-4610-964A-31F5C05D799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1A32CED-51A4-4CF5-B57F-56460BAAFA48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6195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19A4401-9A76-479D-AAE8-957794B90E7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流程选择：第一版为什么使用Workflow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03201DD-389D-4FD4-9247-27EB8B944B0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D8E50F8-7378-4CF0-B122-0B421AFEF362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B6E51E7-58F6-4A91-AD3E-E1C2DC671686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Workflow适合当前主链路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1C01749-1470-428C-A1AA-DD5D218B03BA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F5BAC44-03D3-402A-908C-1B15C4F80660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必要步骤每次都执行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7A1CF2A-431E-43CE-9005-8ACB15E52350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B0913D2-826B-47A4-AF61-6850D7FC9DF6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每个节点可以单独测试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20B6D8F-F960-4AFF-B27D-A9FF395EC810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9F0B66F-B1E9-4D0C-B59B-9B8B41700917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失败位置容易定位和追踪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BEB5F409-491F-4F2D-A739-38EF61F626BF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8B5F6CD-64BA-4A33-91A7-46A718CDCADC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Agent留给后续复杂任务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FC26F9D-B13E-4051-902F-C7666B19799F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7880821-BC9F-411D-97A4-DEFA430BBE0D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多渠道自主收集材料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21BD75D-4123-49E0-B9C1-8678E29AC3B6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E1F91ED-445D-4593-AC09-D846BD9DE6C0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动态追问和外部调查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D3905CBA-7F72-4EA5-85FD-C0963D83BCFF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529CEC6D-F686-4A90-BBC8-421C421C58F7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受控生成完整调查报告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E58A10C-1FDD-4E0E-B2B5-E0FCA93FEF1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1644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593D951-53F6-4FA0-A9D9-9E3DDBBB3DDA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项目第2步 · 方案与分工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BF01B27-77D7-4973-B8B5-A6BB43B211E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E47E555-0DA6-4284-ADA2-6FB21D94FDB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38876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DB1815C-A9EC-4938-B4E9-EE23F0C5EF5C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贯穿案例：同一条文案如何被分层审核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F53325F-700D-4F73-A0C3-ABFC8F5E2B7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DD1B357-FBE2-4DA9-85CE-A19CEB6E456D}"/>
              </a:ext>
            </a:extLst>
          </p:cNvPr>
          <p:cNvSpPr>
            <a:spLocks noGrp="1"/>
          </p:cNvSpPr>
          <p:nvPr/>
        </p:nvSpPr>
        <p:spPr>
          <a:xfrm>
            <a:off x="2381250" y="1276350"/>
            <a:ext cx="8858250" cy="304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sz="126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贯穿案例</a:t>
            </a:r>
            <a:endParaRPr sz="126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7EF7F0D-616C-4170-A749-2830A64CD9A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629900" cy="952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2AD8066-218D-4CFE-91DB-17EBDF76D22B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10058400" cy="4953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86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这款产品是目前最值得购买的理财产品，预计年化收益可达20%，收益稳定，完全不用担心亏损。</a:t>
            </a:r>
            <a:endParaRPr sz="18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F2E153F-B388-4371-B404-43717B3BC9FB}"/>
              </a:ext>
            </a:extLst>
          </p:cNvPr>
          <p:cNvSpPr>
            <a:spLocks noGrp="1"/>
          </p:cNvSpPr>
          <p:nvPr/>
        </p:nvSpPr>
        <p:spPr>
          <a:xfrm>
            <a:off x="781050" y="3048000"/>
            <a:ext cx="10629900" cy="1000125"/>
          </a:xfrm>
          <a:prstGeom prst="roundRect">
            <a:avLst/>
          </a:prstGeom>
          <a:solidFill>
            <a:srgbClr val="031016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D7CFFDC-0D3D-4D39-9A36-22E07CADDF85}"/>
              </a:ext>
            </a:extLst>
          </p:cNvPr>
          <p:cNvSpPr>
            <a:spLocks noGrp="1"/>
          </p:cNvSpPr>
          <p:nvPr/>
        </p:nvSpPr>
        <p:spPr>
          <a:xfrm>
            <a:off x="1066800" y="3267075"/>
            <a:ext cx="10058400" cy="590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60">
                <a:solidFill>
                  <a:srgbClr val="6EE7B7"/>
                </a:solidFill>
                <a:latin typeface="Menlo"/>
                <a:ea typeface="Menlo"/>
                <a:cs typeface="Menlo"/>
              </a:rPr>
              <a:t>整体风险等级：高风险｜机器建议：不允许直接发布｜下一步：转人工复核</a:t>
            </a:r>
            <a:endParaRPr sz="156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3C655C7-A7E6-415F-A9CC-B6B5CFADF33F}"/>
              </a:ext>
            </a:extLst>
          </p:cNvPr>
          <p:cNvSpPr>
            <a:spLocks noGrp="1"/>
          </p:cNvSpPr>
          <p:nvPr/>
        </p:nvSpPr>
        <p:spPr>
          <a:xfrm>
            <a:off x="723900" y="4333875"/>
            <a:ext cx="2528888" cy="1190625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AFEE44-DFC5-4F87-8A23-36DDB1BA8790}"/>
              </a:ext>
            </a:extLst>
          </p:cNvPr>
          <p:cNvSpPr>
            <a:spLocks noGrp="1"/>
          </p:cNvSpPr>
          <p:nvPr/>
        </p:nvSpPr>
        <p:spPr>
          <a:xfrm>
            <a:off x="933450" y="4505325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</a:t>
            </a:r>
            <a:endParaRPr sz="174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F599963-5B68-4A7B-BC6B-7E72A51AECAB}"/>
              </a:ext>
            </a:extLst>
          </p:cNvPr>
          <p:cNvSpPr>
            <a:spLocks noGrp="1"/>
          </p:cNvSpPr>
          <p:nvPr/>
        </p:nvSpPr>
        <p:spPr>
          <a:xfrm>
            <a:off x="933450" y="4876800"/>
            <a:ext cx="2109788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绝对化与高风险短语</a:t>
            </a:r>
            <a:endParaRPr sz="126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A33EAD19-A95C-422C-B2A4-59B2497420F3}"/>
              </a:ext>
            </a:extLst>
          </p:cNvPr>
          <p:cNvSpPr>
            <a:spLocks noGrp="1"/>
          </p:cNvSpPr>
          <p:nvPr/>
        </p:nvSpPr>
        <p:spPr>
          <a:xfrm>
            <a:off x="3462338" y="4333875"/>
            <a:ext cx="2528888" cy="1190625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2ECE9D1-DB7E-4571-A1E7-3BB4DFB47CA6}"/>
              </a:ext>
            </a:extLst>
          </p:cNvPr>
          <p:cNvSpPr>
            <a:spLocks noGrp="1"/>
          </p:cNvSpPr>
          <p:nvPr/>
        </p:nvSpPr>
        <p:spPr>
          <a:xfrm>
            <a:off x="3671888" y="4505325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RAG</a:t>
            </a:r>
            <a:endParaRPr sz="17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A1A8AEA-6677-4315-9271-D6100212208A}"/>
              </a:ext>
            </a:extLst>
          </p:cNvPr>
          <p:cNvSpPr>
            <a:spLocks noGrp="1"/>
          </p:cNvSpPr>
          <p:nvPr/>
        </p:nvSpPr>
        <p:spPr>
          <a:xfrm>
            <a:off x="3671888" y="4876800"/>
            <a:ext cx="2109788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收益保证与数据规范</a:t>
            </a:r>
            <a:endParaRPr sz="126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07332995-A60C-4914-9EEC-09DF2DAAD28B}"/>
              </a:ext>
            </a:extLst>
          </p:cNvPr>
          <p:cNvSpPr>
            <a:spLocks noGrp="1"/>
          </p:cNvSpPr>
          <p:nvPr/>
        </p:nvSpPr>
        <p:spPr>
          <a:xfrm>
            <a:off x="6200775" y="4333875"/>
            <a:ext cx="2528888" cy="1190625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1419514-197B-4937-96D9-0B61360420D1}"/>
              </a:ext>
            </a:extLst>
          </p:cNvPr>
          <p:cNvSpPr>
            <a:spLocks noGrp="1"/>
          </p:cNvSpPr>
          <p:nvPr/>
        </p:nvSpPr>
        <p:spPr>
          <a:xfrm>
            <a:off x="6410325" y="4505325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大模型</a:t>
            </a:r>
            <a:endParaRPr sz="174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E24A4F0-33A2-45D4-B62F-89F0B8EDD7AE}"/>
              </a:ext>
            </a:extLst>
          </p:cNvPr>
          <p:cNvSpPr>
            <a:spLocks noGrp="1"/>
          </p:cNvSpPr>
          <p:nvPr/>
        </p:nvSpPr>
        <p:spPr>
          <a:xfrm>
            <a:off x="6410325" y="4876800"/>
            <a:ext cx="2109788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收益误导与风险隐瞒</a:t>
            </a:r>
            <a:endParaRPr sz="126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D393A335-8BEF-4B17-AA1E-0FF4BD54C938}"/>
              </a:ext>
            </a:extLst>
          </p:cNvPr>
          <p:cNvSpPr>
            <a:spLocks noGrp="1"/>
          </p:cNvSpPr>
          <p:nvPr/>
        </p:nvSpPr>
        <p:spPr>
          <a:xfrm>
            <a:off x="8939213" y="4333875"/>
            <a:ext cx="2528888" cy="1190625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577AF07-920C-49C0-81EB-19E61FC97F64}"/>
              </a:ext>
            </a:extLst>
          </p:cNvPr>
          <p:cNvSpPr>
            <a:spLocks noGrp="1"/>
          </p:cNvSpPr>
          <p:nvPr/>
        </p:nvSpPr>
        <p:spPr>
          <a:xfrm>
            <a:off x="9148763" y="4505325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人工</a:t>
            </a:r>
            <a:endParaRPr sz="174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1ED0D99E-7B9D-4877-9724-105E1B906397}"/>
              </a:ext>
            </a:extLst>
          </p:cNvPr>
          <p:cNvSpPr>
            <a:spLocks noGrp="1"/>
          </p:cNvSpPr>
          <p:nvPr/>
        </p:nvSpPr>
        <p:spPr>
          <a:xfrm>
            <a:off x="9148763" y="4876800"/>
            <a:ext cx="2109788" cy="53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驳回并记录复核原因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06F7EC4-DF5F-429B-B3A6-A4044B0682B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4001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EFE71DF-4EB6-43BE-85FE-8501A6EC84D0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F6A60F-F0B5-4B3B-80D9-638B2C7399D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673E7B1-3AFD-40BE-A4F1-C4A42668E4F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0216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FA5808-7128-4CB3-B0E7-B297AB29E93E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03 结果动作与人工复核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2DFA19F-48DF-4B15-8C96-9EE3822C4B01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56A04C8-6124-49C6-9A05-4269B758C04F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方案选定后，设计审核结果如何进入真实业务流程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74E9BF4-D4A2-40DB-8000-DAB0718DA88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2738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5B92D6A-9E32-4CF2-A519-2F5BD1B0E28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0BA0E3E-433D-4B00-AF1F-81BD4B14A08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858C61F-1315-4B13-8BFE-DA7E8E19F1F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1557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E855601-D7BA-4589-8325-AE2E574AFC7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结果合并：三类能力分别发现了什么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C669E96-FEA1-4B47-9551-38558B4B00B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38FE822-7B11-41CE-ADB2-960B61DF07C4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095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EFA11E-CC1A-4719-9D2E-37AED621E225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1943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来源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B00B36C-A2A7-472B-AB2F-1178CD754E32}"/>
              </a:ext>
            </a:extLst>
          </p:cNvPr>
          <p:cNvSpPr>
            <a:spLocks noGrp="1"/>
          </p:cNvSpPr>
          <p:nvPr/>
        </p:nvSpPr>
        <p:spPr>
          <a:xfrm>
            <a:off x="2762250" y="1952625"/>
            <a:ext cx="5810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F04E172-F43B-4534-86D4-184C69449CE0}"/>
              </a:ext>
            </a:extLst>
          </p:cNvPr>
          <p:cNvSpPr>
            <a:spLocks noGrp="1"/>
          </p:cNvSpPr>
          <p:nvPr/>
        </p:nvSpPr>
        <p:spPr>
          <a:xfrm>
            <a:off x="2838450" y="2047875"/>
            <a:ext cx="5657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发现内容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1107174-759E-45CE-B503-A363768E406E}"/>
              </a:ext>
            </a:extLst>
          </p:cNvPr>
          <p:cNvSpPr>
            <a:spLocks noGrp="1"/>
          </p:cNvSpPr>
          <p:nvPr/>
        </p:nvSpPr>
        <p:spPr>
          <a:xfrm>
            <a:off x="8572500" y="1952625"/>
            <a:ext cx="2952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BA06746-FA20-47B0-9433-AE67EEA1C969}"/>
              </a:ext>
            </a:extLst>
          </p:cNvPr>
          <p:cNvSpPr>
            <a:spLocks noGrp="1"/>
          </p:cNvSpPr>
          <p:nvPr/>
        </p:nvSpPr>
        <p:spPr>
          <a:xfrm>
            <a:off x="8648700" y="2047875"/>
            <a:ext cx="2800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产品价值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01B8912-E01B-42BC-A42E-ADEA94D5BBD5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BB8C044-EE8B-4332-A272-F3546197DBB6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B970E841-D233-46FC-8FA1-264DFBC3A155}"/>
              </a:ext>
            </a:extLst>
          </p:cNvPr>
          <p:cNvSpPr>
            <a:spLocks noGrp="1"/>
          </p:cNvSpPr>
          <p:nvPr/>
        </p:nvSpPr>
        <p:spPr>
          <a:xfrm>
            <a:off x="2762250" y="2466975"/>
            <a:ext cx="5810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E7597FF-2FD7-4DE2-B6AA-2B04E9947472}"/>
              </a:ext>
            </a:extLst>
          </p:cNvPr>
          <p:cNvSpPr>
            <a:spLocks noGrp="1"/>
          </p:cNvSpPr>
          <p:nvPr/>
        </p:nvSpPr>
        <p:spPr>
          <a:xfrm>
            <a:off x="2857500" y="2543175"/>
            <a:ext cx="5619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命中“最值得购买”“不用担心亏损”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F1F65F1-8EF9-46D1-9E5D-305124F5860D}"/>
              </a:ext>
            </a:extLst>
          </p:cNvPr>
          <p:cNvSpPr>
            <a:spLocks noGrp="1"/>
          </p:cNvSpPr>
          <p:nvPr/>
        </p:nvSpPr>
        <p:spPr>
          <a:xfrm>
            <a:off x="8572500" y="2466975"/>
            <a:ext cx="2952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4BB6EF5-9801-4FC4-991F-24063FE92B2F}"/>
              </a:ext>
            </a:extLst>
          </p:cNvPr>
          <p:cNvSpPr>
            <a:spLocks noGrp="1"/>
          </p:cNvSpPr>
          <p:nvPr/>
        </p:nvSpPr>
        <p:spPr>
          <a:xfrm>
            <a:off x="8667750" y="254317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稳定召回明确问题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50D7507A-3786-4E06-85DA-D46CB998D03D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095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6E8A1F0-10C3-4B72-B2E5-C0B1E12DF96D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RAG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F92C023B-460F-4D4E-B130-691DC30755C4}"/>
              </a:ext>
            </a:extLst>
          </p:cNvPr>
          <p:cNvSpPr>
            <a:spLocks noGrp="1"/>
          </p:cNvSpPr>
          <p:nvPr/>
        </p:nvSpPr>
        <p:spPr>
          <a:xfrm>
            <a:off x="2762250" y="3019425"/>
            <a:ext cx="5810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419584FC-DAD0-47E0-879F-B26AD65B213A}"/>
              </a:ext>
            </a:extLst>
          </p:cNvPr>
          <p:cNvSpPr>
            <a:spLocks noGrp="1"/>
          </p:cNvSpPr>
          <p:nvPr/>
        </p:nvSpPr>
        <p:spPr>
          <a:xfrm>
            <a:off x="2857500" y="3095625"/>
            <a:ext cx="5619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返回绝对化、收益保证与数据来源条款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0AA935E-8660-4C14-9128-A090D549A0F2}"/>
              </a:ext>
            </a:extLst>
          </p:cNvPr>
          <p:cNvSpPr>
            <a:spLocks noGrp="1"/>
          </p:cNvSpPr>
          <p:nvPr/>
        </p:nvSpPr>
        <p:spPr>
          <a:xfrm>
            <a:off x="8572500" y="3019425"/>
            <a:ext cx="2952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9BD6F991-F805-4D14-A0DC-E0D7967B361C}"/>
              </a:ext>
            </a:extLst>
          </p:cNvPr>
          <p:cNvSpPr>
            <a:spLocks noGrp="1"/>
          </p:cNvSpPr>
          <p:nvPr/>
        </p:nvSpPr>
        <p:spPr>
          <a:xfrm>
            <a:off x="8667750" y="309562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提供当前审核依据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AB729DF-B218-4216-A14F-434FD5319278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ECA8A1FA-EB38-4A1C-86F2-2F1D63B29436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大模型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7F953204-2C1C-4AF1-A1CC-A77E7B5D1B0B}"/>
              </a:ext>
            </a:extLst>
          </p:cNvPr>
          <p:cNvSpPr>
            <a:spLocks noGrp="1"/>
          </p:cNvSpPr>
          <p:nvPr/>
        </p:nvSpPr>
        <p:spPr>
          <a:xfrm>
            <a:off x="2762250" y="3571875"/>
            <a:ext cx="5810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5DDB6BC0-567F-40D9-B8C1-C3E52D4FCD3B}"/>
              </a:ext>
            </a:extLst>
          </p:cNvPr>
          <p:cNvSpPr>
            <a:spLocks noGrp="1"/>
          </p:cNvSpPr>
          <p:nvPr/>
        </p:nvSpPr>
        <p:spPr>
          <a:xfrm>
            <a:off x="2857500" y="3648075"/>
            <a:ext cx="5619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识别收益数据不足、收益误导和风险隐瞒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5BDDDEC4-BD22-4398-BFCC-874407D305DC}"/>
              </a:ext>
            </a:extLst>
          </p:cNvPr>
          <p:cNvSpPr>
            <a:spLocks noGrp="1"/>
          </p:cNvSpPr>
          <p:nvPr/>
        </p:nvSpPr>
        <p:spPr>
          <a:xfrm>
            <a:off x="8572500" y="3571875"/>
            <a:ext cx="2952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1E4A1854-7F14-42F9-854C-3D00F9CE5DAC}"/>
              </a:ext>
            </a:extLst>
          </p:cNvPr>
          <p:cNvSpPr>
            <a:spLocks noGrp="1"/>
          </p:cNvSpPr>
          <p:nvPr/>
        </p:nvSpPr>
        <p:spPr>
          <a:xfrm>
            <a:off x="8667750" y="364807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补充语义风险</a:t>
            </a:r>
            <a:endParaRPr sz="1236"/>
          </a:p>
        </p:txBody>
      </p:sp>
      <p:sp>
        <p:nvSpPr>
          <p:cNvPr id="32" name="Slide Number Placeholder 0">
            <a:extLst>
              <a:ext uri="{FF2B5EF4-FFF2-40B4-BE49-F238E27FC236}">
                <a16:creationId xmlns:a16="http://schemas.microsoft.com/office/drawing/2014/main" id="{ABC81FFC-DDBB-4C8E-945C-5D2CF3E40BD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97166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1CBC1A5-1462-4EC7-981F-4FD8817B84F0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4384BF7-CFA5-40E0-9D3A-9818FBA54E6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06E0184-7AB3-4AB0-8E62-B045B47AE7D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2897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9BC146-A1BC-4C4E-A961-1A6984AFEAF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结果合并：为什么要去重、留证据、给建议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DD1E34F-86E2-41B4-96DB-EF1265E03D7B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F762295-AED3-476E-B9CC-D645A09DD025}"/>
              </a:ext>
            </a:extLst>
          </p:cNvPr>
          <p:cNvSpPr>
            <a:spLocks noGrp="1"/>
          </p:cNvSpPr>
          <p:nvPr/>
        </p:nvSpPr>
        <p:spPr>
          <a:xfrm>
            <a:off x="418465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6D670AA-F36A-4C4A-BA5B-CC86BA350517}"/>
              </a:ext>
            </a:extLst>
          </p:cNvPr>
          <p:cNvSpPr>
            <a:spLocks noGrp="1"/>
          </p:cNvSpPr>
          <p:nvPr/>
        </p:nvSpPr>
        <p:spPr>
          <a:xfrm>
            <a:off x="781685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5BD2164-6C68-4233-8B9E-DA161E47AE46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344170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4E586C2-CDD8-430F-A02E-97E8BD5E5806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0CF0CC1-9F9E-48C9-B0E3-84590F4A582D}"/>
              </a:ext>
            </a:extLst>
          </p:cNvPr>
          <p:cNvSpPr>
            <a:spLocks noGrp="1"/>
          </p:cNvSpPr>
          <p:nvPr/>
        </p:nvSpPr>
        <p:spPr>
          <a:xfrm>
            <a:off x="876300" y="3248025"/>
            <a:ext cx="31750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相同风险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不重复展示</a:t>
            </a:r>
            <a:endParaRPr sz="144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5A312FEF-0206-42FB-9438-B7812B71F21B}"/>
              </a:ext>
            </a:extLst>
          </p:cNvPr>
          <p:cNvSpPr>
            <a:spLocks noGrp="1"/>
          </p:cNvSpPr>
          <p:nvPr/>
        </p:nvSpPr>
        <p:spPr>
          <a:xfrm>
            <a:off x="4375150" y="2857500"/>
            <a:ext cx="344170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6D82B25-E735-42B7-909A-DA4D7C128AAF}"/>
              </a:ext>
            </a:extLst>
          </p:cNvPr>
          <p:cNvSpPr>
            <a:spLocks noGrp="1"/>
          </p:cNvSpPr>
          <p:nvPr/>
        </p:nvSpPr>
        <p:spPr>
          <a:xfrm>
            <a:off x="45085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F26729E-A92C-46A0-B9AE-9BE1F3A29C6C}"/>
              </a:ext>
            </a:extLst>
          </p:cNvPr>
          <p:cNvSpPr>
            <a:spLocks noGrp="1"/>
          </p:cNvSpPr>
          <p:nvPr/>
        </p:nvSpPr>
        <p:spPr>
          <a:xfrm>
            <a:off x="4508500" y="3248025"/>
            <a:ext cx="31750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不同来源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继续保留证据</a:t>
            </a:r>
            <a:endParaRPr sz="144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6704FE3-7328-4C49-B931-D04B2090A354}"/>
              </a:ext>
            </a:extLst>
          </p:cNvPr>
          <p:cNvSpPr>
            <a:spLocks noGrp="1"/>
          </p:cNvSpPr>
          <p:nvPr/>
        </p:nvSpPr>
        <p:spPr>
          <a:xfrm>
            <a:off x="8007350" y="2857500"/>
            <a:ext cx="344170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1DA9669-9A1D-40FA-ADEE-B2C448DBF22E}"/>
              </a:ext>
            </a:extLst>
          </p:cNvPr>
          <p:cNvSpPr>
            <a:spLocks noGrp="1"/>
          </p:cNvSpPr>
          <p:nvPr/>
        </p:nvSpPr>
        <p:spPr>
          <a:xfrm>
            <a:off x="81407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3C8A3FF-402F-49D8-825E-70770F012EF3}"/>
              </a:ext>
            </a:extLst>
          </p:cNvPr>
          <p:cNvSpPr>
            <a:spLocks noGrp="1"/>
          </p:cNvSpPr>
          <p:nvPr/>
        </p:nvSpPr>
        <p:spPr>
          <a:xfrm>
            <a:off x="8140700" y="3248025"/>
            <a:ext cx="31750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每个风险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对应处理建议</a:t>
            </a:r>
            <a:endParaRPr sz="14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20FB002-3615-49FA-AE55-11499074350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858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4C4A4A5-C680-41AA-BAE9-58896FA4A23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E97EC8F-55AA-4CF1-ACDA-DCFE85DBF20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44D7AEF-0418-4396-A33D-C9030CF9A1D8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4238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A71A8FC-83BF-4025-B9C8-12CCB8D41FE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结果结构：一条风险结果包含哪些字段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5FAA6C5-10ED-4C29-9A93-3A97E2F65600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4D42953-C6E5-45CB-945E-93BF4BE7AC94}"/>
              </a:ext>
            </a:extLst>
          </p:cNvPr>
          <p:cNvSpPr>
            <a:spLocks noGrp="1"/>
          </p:cNvSpPr>
          <p:nvPr/>
        </p:nvSpPr>
        <p:spPr>
          <a:xfrm>
            <a:off x="1238250" y="1952625"/>
            <a:ext cx="9715500" cy="3810000"/>
          </a:xfrm>
          <a:prstGeom prst="roundRect">
            <a:avLst/>
          </a:prstGeom>
          <a:solidFill>
            <a:srgbClr val="031016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63A8D95-5889-41FD-9D9F-83D5D8CE8E12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8953500" cy="3333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风险片段：完全不用担心亏损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风险类型：收益保证与风险隐瞒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风险等级：高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识别来源：规则＋大模型＋RAG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审核依据：金融营销内容审核规则V3，第18条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修改建议：删除保证性表达，补充必要风险提示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是否需要人工复核：是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E642759-5D16-4D7A-A4F1-DFD9E08978D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1564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C1445FA-BED4-4B18-9703-BFFC18442B9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33DA97C-A247-4BF3-8072-AE6F8B51EC68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0B7BC45-351D-4C8F-B8CA-AC030EA33F8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5578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1BEE0D3-FF32-49E7-BFFD-7C54F503C5B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整体结果：一篇内容会进入哪种状态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6028CB1-5043-4D9E-B4DD-65CB241811C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833CF3B-AF14-4A32-B005-B0BB7BE31F34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EDDE109-1D3F-41C1-9860-A018C765D95A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机器预审通过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D45C837-6BFD-45AE-AEE8-F67E81F29BA0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未发现阻断风险，依据完整，且属于当前支持范围。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BED0210-356A-4456-BEFD-EFEAF817883C}"/>
              </a:ext>
            </a:extLst>
          </p:cNvPr>
          <p:cNvSpPr>
            <a:spLocks noGrp="1"/>
          </p:cNvSpPr>
          <p:nvPr/>
        </p:nvSpPr>
        <p:spPr>
          <a:xfrm>
            <a:off x="6200775" y="200025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D241CAC-03AF-4C64-A897-5ACD3699BBF9}"/>
              </a:ext>
            </a:extLst>
          </p:cNvPr>
          <p:cNvSpPr>
            <a:spLocks noGrp="1"/>
          </p:cNvSpPr>
          <p:nvPr/>
        </p:nvSpPr>
        <p:spPr>
          <a:xfrm>
            <a:off x="6410325" y="21717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建议修改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D1A688D-27C7-4D73-BB83-0FF323BD6658}"/>
              </a:ext>
            </a:extLst>
          </p:cNvPr>
          <p:cNvSpPr>
            <a:spLocks noGrp="1"/>
          </p:cNvSpPr>
          <p:nvPr/>
        </p:nvSpPr>
        <p:spPr>
          <a:xfrm>
            <a:off x="6410325" y="254317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只有低风险或提示性问题，用户可以确认或修改。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7285B4A7-3EE5-4D87-A300-2C7596B9624E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5267325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384FB6C-0453-4727-A23E-8BAC2DA64825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退回修改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7FEDB69-AAA3-43FF-BACF-F4880424C83D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存在明确且可以通过修改解决的中风险问题。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9B9F5450-4716-4CB5-BDE1-601CB694C760}"/>
              </a:ext>
            </a:extLst>
          </p:cNvPr>
          <p:cNvSpPr>
            <a:spLocks noGrp="1"/>
          </p:cNvSpPr>
          <p:nvPr/>
        </p:nvSpPr>
        <p:spPr>
          <a:xfrm>
            <a:off x="6200775" y="3619500"/>
            <a:ext cx="5267325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547FB51-1DF0-44CB-BF1A-B330EDC8A199}"/>
              </a:ext>
            </a:extLst>
          </p:cNvPr>
          <p:cNvSpPr>
            <a:spLocks noGrp="1"/>
          </p:cNvSpPr>
          <p:nvPr/>
        </p:nvSpPr>
        <p:spPr>
          <a:xfrm>
            <a:off x="6410325" y="3790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转人工复核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3095A9B-1C1F-4FD9-84BA-1ECF15C87735}"/>
              </a:ext>
            </a:extLst>
          </p:cNvPr>
          <p:cNvSpPr>
            <a:spLocks noGrp="1"/>
          </p:cNvSpPr>
          <p:nvPr/>
        </p:nvSpPr>
        <p:spPr>
          <a:xfrm>
            <a:off x="6410325" y="4162425"/>
            <a:ext cx="4848225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高风险、不确定、依据不足、规则冲突或系统异常。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0DF7600-CDE6-42D9-898E-8D0221322C9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4525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0B9DD4B-D907-41BC-A895-128129198040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B208D3B-AFC3-4FD0-B304-CB66F7C1701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5E601EB-1E1F-4307-AA0E-78D34550095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6919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B87E8B-A94D-42A9-86AE-B230A3627DF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动作映射：风险等级如何决定下一步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D0F7655-56D2-4640-B957-281E788096E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A216D9-FE91-451E-80C5-BBF43BCD71E2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4381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D15AC28-75CC-42A9-BB58-E9A460615668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4229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审核情况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CA02F4F-4966-4A17-A998-BD29E39E2BBF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2857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7C6A4BA-13F0-427F-A54D-9E6BD2AFAF12}"/>
              </a:ext>
            </a:extLst>
          </p:cNvPr>
          <p:cNvSpPr>
            <a:spLocks noGrp="1"/>
          </p:cNvSpPr>
          <p:nvPr/>
        </p:nvSpPr>
        <p:spPr>
          <a:xfrm>
            <a:off x="5124450" y="2047875"/>
            <a:ext cx="2705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整体结果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D784040-1D25-4425-BB90-C42D8E4A7C93}"/>
              </a:ext>
            </a:extLst>
          </p:cNvPr>
          <p:cNvSpPr>
            <a:spLocks noGrp="1"/>
          </p:cNvSpPr>
          <p:nvPr/>
        </p:nvSpPr>
        <p:spPr>
          <a:xfrm>
            <a:off x="7905750" y="1952625"/>
            <a:ext cx="3619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411D81A-3BA7-46B5-BABC-7CBD99FF0185}"/>
              </a:ext>
            </a:extLst>
          </p:cNvPr>
          <p:cNvSpPr>
            <a:spLocks noGrp="1"/>
          </p:cNvSpPr>
          <p:nvPr/>
        </p:nvSpPr>
        <p:spPr>
          <a:xfrm>
            <a:off x="7981950" y="2047875"/>
            <a:ext cx="3467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下一步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BF63DDD-0A8F-4CCE-A2BA-3AA95371E301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4381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D14A8EF-F85F-4463-927A-86EBE9878104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未发现风险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3383598-3F6E-463B-8A93-3F2348E6AF67}"/>
              </a:ext>
            </a:extLst>
          </p:cNvPr>
          <p:cNvSpPr>
            <a:spLocks noGrp="1"/>
          </p:cNvSpPr>
          <p:nvPr/>
        </p:nvSpPr>
        <p:spPr>
          <a:xfrm>
            <a:off x="5048250" y="24669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45E98BCC-AE99-4DC6-8277-5B8BA369BA46}"/>
              </a:ext>
            </a:extLst>
          </p:cNvPr>
          <p:cNvSpPr>
            <a:spLocks noGrp="1"/>
          </p:cNvSpPr>
          <p:nvPr/>
        </p:nvSpPr>
        <p:spPr>
          <a:xfrm>
            <a:off x="5143500" y="25431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机器预审通过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E4503ACD-736C-4FEB-A6CA-27EE8B8A0D76}"/>
              </a:ext>
            </a:extLst>
          </p:cNvPr>
          <p:cNvSpPr>
            <a:spLocks noGrp="1"/>
          </p:cNvSpPr>
          <p:nvPr/>
        </p:nvSpPr>
        <p:spPr>
          <a:xfrm>
            <a:off x="7905750" y="2466975"/>
            <a:ext cx="3619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F93E522-4459-4CF9-B94F-B534E0436B95}"/>
              </a:ext>
            </a:extLst>
          </p:cNvPr>
          <p:cNvSpPr>
            <a:spLocks noGrp="1"/>
          </p:cNvSpPr>
          <p:nvPr/>
        </p:nvSpPr>
        <p:spPr>
          <a:xfrm>
            <a:off x="8001000" y="254317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进入原有后续流程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55EC18EC-C276-4D97-A44E-CD562976982F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4381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0D8C4DD-A6EA-4938-94F8-1846BCB33861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只有低风险问题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3F28F2C-C774-4A26-BDF9-606EC988700F}"/>
              </a:ext>
            </a:extLst>
          </p:cNvPr>
          <p:cNvSpPr>
            <a:spLocks noGrp="1"/>
          </p:cNvSpPr>
          <p:nvPr/>
        </p:nvSpPr>
        <p:spPr>
          <a:xfrm>
            <a:off x="5048250" y="30194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9978A32A-3B40-4C44-A3C4-106154769338}"/>
              </a:ext>
            </a:extLst>
          </p:cNvPr>
          <p:cNvSpPr>
            <a:spLocks noGrp="1"/>
          </p:cNvSpPr>
          <p:nvPr/>
        </p:nvSpPr>
        <p:spPr>
          <a:xfrm>
            <a:off x="5143500" y="30956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建议修改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21EE034-7D45-4FB7-9451-4D966C130883}"/>
              </a:ext>
            </a:extLst>
          </p:cNvPr>
          <p:cNvSpPr>
            <a:spLocks noGrp="1"/>
          </p:cNvSpPr>
          <p:nvPr/>
        </p:nvSpPr>
        <p:spPr>
          <a:xfrm>
            <a:off x="7905750" y="3019425"/>
            <a:ext cx="3619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6D5242D-BFB0-4AC1-8B31-763C725025A6}"/>
              </a:ext>
            </a:extLst>
          </p:cNvPr>
          <p:cNvSpPr>
            <a:spLocks noGrp="1"/>
          </p:cNvSpPr>
          <p:nvPr/>
        </p:nvSpPr>
        <p:spPr>
          <a:xfrm>
            <a:off x="8001000" y="309562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用户确认、修改或申请人工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CECC1F75-3E9B-465D-836A-B3DA15D6BC6A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381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1B083C5B-24EB-4E5E-A2DB-996714DFB64F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明确中风险问题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5BF62958-0D12-459D-A6B3-85BD020C8CC7}"/>
              </a:ext>
            </a:extLst>
          </p:cNvPr>
          <p:cNvSpPr>
            <a:spLocks noGrp="1"/>
          </p:cNvSpPr>
          <p:nvPr/>
        </p:nvSpPr>
        <p:spPr>
          <a:xfrm>
            <a:off x="5048250" y="35718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6266E62B-27FA-46CD-BCF9-5DA3179CF36D}"/>
              </a:ext>
            </a:extLst>
          </p:cNvPr>
          <p:cNvSpPr>
            <a:spLocks noGrp="1"/>
          </p:cNvSpPr>
          <p:nvPr/>
        </p:nvSpPr>
        <p:spPr>
          <a:xfrm>
            <a:off x="5143500" y="36480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退回修改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4AB1B21B-25AF-4124-8175-DF35D741AB61}"/>
              </a:ext>
            </a:extLst>
          </p:cNvPr>
          <p:cNvSpPr>
            <a:spLocks noGrp="1"/>
          </p:cNvSpPr>
          <p:nvPr/>
        </p:nvSpPr>
        <p:spPr>
          <a:xfrm>
            <a:off x="7905750" y="3571875"/>
            <a:ext cx="3619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5B0250B-C222-4B78-A682-A18EDA7A7358}"/>
              </a:ext>
            </a:extLst>
          </p:cNvPr>
          <p:cNvSpPr>
            <a:spLocks noGrp="1"/>
          </p:cNvSpPr>
          <p:nvPr/>
        </p:nvSpPr>
        <p:spPr>
          <a:xfrm>
            <a:off x="8001000" y="364807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生成新版本后重新审核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AD36E2A3-A5B9-49C1-A04B-5ACE861332BD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4381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884CA6B7-EC6D-47FB-891A-854C81F3C067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高风险、不确定或依据冲突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46233E8B-6277-469D-BEE4-5B74E4186AC1}"/>
              </a:ext>
            </a:extLst>
          </p:cNvPr>
          <p:cNvSpPr>
            <a:spLocks noGrp="1"/>
          </p:cNvSpPr>
          <p:nvPr/>
        </p:nvSpPr>
        <p:spPr>
          <a:xfrm>
            <a:off x="5048250" y="41243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24699A42-DB6D-4DA5-8D0A-D86D7681F7D4}"/>
              </a:ext>
            </a:extLst>
          </p:cNvPr>
          <p:cNvSpPr>
            <a:spLocks noGrp="1"/>
          </p:cNvSpPr>
          <p:nvPr/>
        </p:nvSpPr>
        <p:spPr>
          <a:xfrm>
            <a:off x="5143500" y="42005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待人工复核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98744C42-8B08-448C-97D7-CB3092E3E099}"/>
              </a:ext>
            </a:extLst>
          </p:cNvPr>
          <p:cNvSpPr>
            <a:spLocks noGrp="1"/>
          </p:cNvSpPr>
          <p:nvPr/>
        </p:nvSpPr>
        <p:spPr>
          <a:xfrm>
            <a:off x="7905750" y="4124325"/>
            <a:ext cx="3619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4BFCB4D-FE3B-4B5A-A38D-599CD6FE1C81}"/>
              </a:ext>
            </a:extLst>
          </p:cNvPr>
          <p:cNvSpPr>
            <a:spLocks noGrp="1"/>
          </p:cNvSpPr>
          <p:nvPr/>
        </p:nvSpPr>
        <p:spPr>
          <a:xfrm>
            <a:off x="8001000" y="420052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进入人工审核工作台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F4A3B49E-19A8-47C2-9E46-61ED8131C07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943458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252D709-0C78-45F6-8882-DDDB4B451D4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05127F3-2D75-4251-96DC-5110150940B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351F151-6279-4980-AE11-E9E62DF47A7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8260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A2A40F-849F-4613-9E39-7D184C54713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用户流程：运营怎样完成修改闭环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3309E7F-104B-47A3-9E38-2F9D754680F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47FF8C4-41E7-4F34-B477-679EB140865E}"/>
              </a:ext>
            </a:extLst>
          </p:cNvPr>
          <p:cNvSpPr>
            <a:spLocks noGrp="1"/>
          </p:cNvSpPr>
          <p:nvPr/>
        </p:nvSpPr>
        <p:spPr>
          <a:xfrm>
            <a:off x="41846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986E323-E4EE-4619-8DE7-7C6F59AAE783}"/>
              </a:ext>
            </a:extLst>
          </p:cNvPr>
          <p:cNvSpPr>
            <a:spLocks noGrp="1"/>
          </p:cNvSpPr>
          <p:nvPr/>
        </p:nvSpPr>
        <p:spPr>
          <a:xfrm>
            <a:off x="78168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B08D658-877B-47A3-A940-CC3367B3A6D3}"/>
              </a:ext>
            </a:extLst>
          </p:cNvPr>
          <p:cNvSpPr>
            <a:spLocks noGrp="1"/>
          </p:cNvSpPr>
          <p:nvPr/>
        </p:nvSpPr>
        <p:spPr>
          <a:xfrm>
            <a:off x="7429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7E0E654-4B99-4152-A3AF-83A5CA00DAD2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33C29E9-5EB7-4FEB-9A44-8E25A9B8FAA6}"/>
              </a:ext>
            </a:extLst>
          </p:cNvPr>
          <p:cNvSpPr>
            <a:spLocks noGrp="1"/>
          </p:cNvSpPr>
          <p:nvPr/>
        </p:nvSpPr>
        <p:spPr>
          <a:xfrm>
            <a:off x="8763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提交内容V1</a:t>
            </a:r>
            <a:endParaRPr sz="120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3D5812D-41F6-4688-B0C0-75E9F860E5FA}"/>
              </a:ext>
            </a:extLst>
          </p:cNvPr>
          <p:cNvSpPr>
            <a:spLocks noGrp="1"/>
          </p:cNvSpPr>
          <p:nvPr/>
        </p:nvSpPr>
        <p:spPr>
          <a:xfrm>
            <a:off x="43751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2E37B47-5911-4256-A128-145BEEA73E31}"/>
              </a:ext>
            </a:extLst>
          </p:cNvPr>
          <p:cNvSpPr>
            <a:spLocks noGrp="1"/>
          </p:cNvSpPr>
          <p:nvPr/>
        </p:nvSpPr>
        <p:spPr>
          <a:xfrm>
            <a:off x="45085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A17F020-2072-4E59-9131-0615EB8F0331}"/>
              </a:ext>
            </a:extLst>
          </p:cNvPr>
          <p:cNvSpPr>
            <a:spLocks noGrp="1"/>
          </p:cNvSpPr>
          <p:nvPr/>
        </p:nvSpPr>
        <p:spPr>
          <a:xfrm>
            <a:off x="45085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查看风险位置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516F2E8-8DC6-4BB9-BC8E-46C555D423EC}"/>
              </a:ext>
            </a:extLst>
          </p:cNvPr>
          <p:cNvSpPr>
            <a:spLocks noGrp="1"/>
          </p:cNvSpPr>
          <p:nvPr/>
        </p:nvSpPr>
        <p:spPr>
          <a:xfrm>
            <a:off x="80073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EC37A3A-828E-4E09-8374-C8BA27CFAB28}"/>
              </a:ext>
            </a:extLst>
          </p:cNvPr>
          <p:cNvSpPr>
            <a:spLocks noGrp="1"/>
          </p:cNvSpPr>
          <p:nvPr/>
        </p:nvSpPr>
        <p:spPr>
          <a:xfrm>
            <a:off x="81407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E26B2-2153-4698-A857-817C48BA2D47}"/>
              </a:ext>
            </a:extLst>
          </p:cNvPr>
          <p:cNvSpPr>
            <a:spLocks noGrp="1"/>
          </p:cNvSpPr>
          <p:nvPr/>
        </p:nvSpPr>
        <p:spPr>
          <a:xfrm>
            <a:off x="81407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理解依据与建议</a:t>
            </a:r>
            <a:endParaRPr sz="12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51E3264-9B84-49C0-92B2-A33FCD73004C}"/>
              </a:ext>
            </a:extLst>
          </p:cNvPr>
          <p:cNvSpPr>
            <a:spLocks noGrp="1"/>
          </p:cNvSpPr>
          <p:nvPr/>
        </p:nvSpPr>
        <p:spPr>
          <a:xfrm>
            <a:off x="41846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C67E06D-7137-47E4-B9DA-2DBC5C24A9BA}"/>
              </a:ext>
            </a:extLst>
          </p:cNvPr>
          <p:cNvSpPr>
            <a:spLocks noGrp="1"/>
          </p:cNvSpPr>
          <p:nvPr/>
        </p:nvSpPr>
        <p:spPr>
          <a:xfrm>
            <a:off x="78168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4EF8F63-4E3E-46E6-9017-1BFD49A6ACEE}"/>
              </a:ext>
            </a:extLst>
          </p:cNvPr>
          <p:cNvSpPr>
            <a:spLocks noGrp="1"/>
          </p:cNvSpPr>
          <p:nvPr/>
        </p:nvSpPr>
        <p:spPr>
          <a:xfrm>
            <a:off x="7429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7480CF25-7E64-4ACB-8322-E033867CF7F8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7FA7146-A2E2-448D-B859-6F37F6F7256F}"/>
              </a:ext>
            </a:extLst>
          </p:cNvPr>
          <p:cNvSpPr>
            <a:spLocks noGrp="1"/>
          </p:cNvSpPr>
          <p:nvPr/>
        </p:nvSpPr>
        <p:spPr>
          <a:xfrm>
            <a:off x="8763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修改形成V2</a:t>
            </a:r>
            <a:endParaRPr sz="120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A4C434D4-BE87-48BF-9D0F-116D0C0125F0}"/>
              </a:ext>
            </a:extLst>
          </p:cNvPr>
          <p:cNvSpPr>
            <a:spLocks noGrp="1"/>
          </p:cNvSpPr>
          <p:nvPr/>
        </p:nvSpPr>
        <p:spPr>
          <a:xfrm>
            <a:off x="43751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A54748A5-DBF1-48B2-B636-12AF586FA005}"/>
              </a:ext>
            </a:extLst>
          </p:cNvPr>
          <p:cNvSpPr>
            <a:spLocks noGrp="1"/>
          </p:cNvSpPr>
          <p:nvPr/>
        </p:nvSpPr>
        <p:spPr>
          <a:xfrm>
            <a:off x="45085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02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04772ECC-FB3B-4CCF-B093-30FCC4F6DBD8}"/>
              </a:ext>
            </a:extLst>
          </p:cNvPr>
          <p:cNvSpPr>
            <a:spLocks noGrp="1"/>
          </p:cNvSpPr>
          <p:nvPr/>
        </p:nvSpPr>
        <p:spPr>
          <a:xfrm>
            <a:off x="45085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重新完整审核</a:t>
            </a:r>
            <a:endParaRPr sz="12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77C0D2A1-2A7C-4134-B66B-918EC44DCE6B}"/>
              </a:ext>
            </a:extLst>
          </p:cNvPr>
          <p:cNvSpPr>
            <a:spLocks noGrp="1"/>
          </p:cNvSpPr>
          <p:nvPr/>
        </p:nvSpPr>
        <p:spPr>
          <a:xfrm>
            <a:off x="80073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BED8B34-048C-4EF6-8C9B-FC01AE417B0B}"/>
              </a:ext>
            </a:extLst>
          </p:cNvPr>
          <p:cNvSpPr>
            <a:spLocks noGrp="1"/>
          </p:cNvSpPr>
          <p:nvPr/>
        </p:nvSpPr>
        <p:spPr>
          <a:xfrm>
            <a:off x="81407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02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4600939-79CB-4DF4-9FD4-A836B3360701}"/>
              </a:ext>
            </a:extLst>
          </p:cNvPr>
          <p:cNvSpPr>
            <a:spLocks noGrp="1"/>
          </p:cNvSpPr>
          <p:nvPr/>
        </p:nvSpPr>
        <p:spPr>
          <a:xfrm>
            <a:off x="81407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进入后续流程</a:t>
            </a:r>
            <a:endParaRPr sz="120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322E0B65-8E9C-455E-9884-52B15745F2E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2670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5092DD3-1A42-413F-AF2B-CD6948F71C43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49AAA4F-90A4-47CF-A321-481D9BE2DC91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9875D7D-4F45-4B06-83A6-A6E7EB54336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49600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2328AA3-3028-4436-BACB-553FADE4941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人工接管：哪些情况必须触发复核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D92A8D-AE2B-47E9-8F12-9AE330489B7D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15028ED-ABB5-4545-A8BD-117FB6DABC13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5B0F06F-4597-4A4D-BC25-919EFEDB80A5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87E480C-817F-4CBC-9AC7-9D40DBDF0123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命中红线规则或高风险语义。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6E7F528-60DA-477A-992D-BC6B19075398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E29B4F-2B6A-4E72-A6D6-AC466E191D05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不确定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2302BB3-14B4-4928-843D-B27AD380A1CC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模型无法稳定作出判断。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799F6ED-B909-4BFD-89E4-90AF4C8798A2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FB8606B-2E70-4D8F-AD57-1A2FF2CDBD98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信息不足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39E9FB9-144F-4482-B45A-D62D32A196A7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缺少产品事实或业务上下文。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DAF0F7D-A02D-4427-A82E-AEB54FD28903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A6DEE04-5B21-41CE-9274-EACE8AABBC52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依据冲突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0A67EE3-D42B-4642-A705-D96BEEB35CDA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规则、知识或版本之间存在冲突。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F22B200-E69E-4248-A8F6-45FBB9F26998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067514B-61C2-421D-A9E7-4D3BE54E6147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用户申诉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F97A4AE-9ED1-4B93-89E5-837946888FA6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运营对机器结论发起复核。</a:t>
            </a:r>
            <a:endParaRPr sz="126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7D221BD-9183-4894-ABFC-8FEA318ABFFD}"/>
              </a:ext>
            </a:extLst>
          </p:cNvPr>
          <p:cNvSpPr>
            <a:spLocks noGrp="1"/>
          </p:cNvSpPr>
          <p:nvPr/>
        </p:nvSpPr>
        <p:spPr>
          <a:xfrm>
            <a:off x="80264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31A59DD5-60AF-4871-9833-4A0E31493ED9}"/>
              </a:ext>
            </a:extLst>
          </p:cNvPr>
          <p:cNvSpPr>
            <a:spLocks noGrp="1"/>
          </p:cNvSpPr>
          <p:nvPr/>
        </p:nvSpPr>
        <p:spPr>
          <a:xfrm>
            <a:off x="82359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系统失败</a:t>
            </a:r>
            <a:endParaRPr sz="174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996F340-20EC-45D8-9494-2452ECF1BD7A}"/>
              </a:ext>
            </a:extLst>
          </p:cNvPr>
          <p:cNvSpPr>
            <a:spLocks noGrp="1"/>
          </p:cNvSpPr>
          <p:nvPr/>
        </p:nvSpPr>
        <p:spPr>
          <a:xfrm>
            <a:off x="82359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重试后规则、RAG或模型仍未完成。</a:t>
            </a:r>
            <a:endParaRPr sz="126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C2C6E2DD-734E-4257-BAFE-E60AD46144B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0598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FA5FF80-7C12-4057-A843-4AACB361E1F1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3DE6B3C-32B6-4249-BA07-5869297F77D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9207909-B73C-4A6A-AD66-6F72B38CA81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50941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37931DC-AAA5-4412-9198-3C59602A11C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复核工作台：人工需要看到和处理什么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1A4DB99-811D-4D28-9724-0EF4B4D28B55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6434553-4391-46AB-8419-05A604A54F4C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F5726AE-8105-4899-8566-92232AEF2F6D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人工需要看到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A016BA6-8BD1-4D10-A3BC-153EED8BF222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5FF2C02-DE05-416C-8809-DD3EB8DC8A8D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原始内容与内容版本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87B500D-F8D2-4814-8FBC-69E44B62F45A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3EB460D-AAC7-4E80-A634-D44D6AA2CC59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机器风险、依据和原始输出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E4637C1-B277-4A12-8121-19F3B321449B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381600E-C517-4425-A361-8EFCB44C9A18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转人工原因与历史处理记录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14FF31E-AEDF-4960-8511-9CC968C6C36D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FA0167A-EFBD-4147-B6AF-DE200DAE8586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人工可以执行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31EE21E-6013-4884-8D7E-12C8DF74B669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5711994-5908-40DC-B1ED-BC869E367881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复核通过或驳回修改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BE581DB-A2EE-4FD8-B95F-C7E12B6B5210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25B1A2B-3D42-442F-8A41-099907157B19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调整风险类型与等级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E2A6CA64-F537-4FB4-8FF7-109C47DE5837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A69849B-E4FF-4429-8F58-3701CA478D53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升级给规则或专业负责人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6A215CA-D34A-4F0B-B642-C9F627AAFEA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7712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4C8D12D-2359-46C6-AE64-BD4BF3011268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项目第3步 · 结果与流程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DA5865C-3871-4EDF-AD90-4F5DC6EA384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61E01EA-99ED-4005-9CCE-80CFEDD3709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52281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F0FB698-7949-4AB3-9451-8F4A87B73E0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任务状态：审核流程如何记录进度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1E8C30B-5516-4606-8DD7-0F1AE367249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68DA14E-D9A1-46B6-A61D-A98E339E5A54}"/>
              </a:ext>
            </a:extLst>
          </p:cNvPr>
          <p:cNvSpPr>
            <a:spLocks noGrp="1"/>
          </p:cNvSpPr>
          <p:nvPr/>
        </p:nvSpPr>
        <p:spPr>
          <a:xfrm>
            <a:off x="2619375" y="3343275"/>
            <a:ext cx="23812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0E27FE3-FED1-473A-9616-C5E1D17E5564}"/>
              </a:ext>
            </a:extLst>
          </p:cNvPr>
          <p:cNvSpPr>
            <a:spLocks noGrp="1"/>
          </p:cNvSpPr>
          <p:nvPr/>
        </p:nvSpPr>
        <p:spPr>
          <a:xfrm>
            <a:off x="1000125" y="2905125"/>
            <a:ext cx="161925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6ECDEB9-CD70-426B-96B4-8CF433A67DB0}"/>
              </a:ext>
            </a:extLst>
          </p:cNvPr>
          <p:cNvSpPr>
            <a:spLocks noGrp="1"/>
          </p:cNvSpPr>
          <p:nvPr/>
        </p:nvSpPr>
        <p:spPr>
          <a:xfrm>
            <a:off x="1133475" y="3095625"/>
            <a:ext cx="13525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待审核</a:t>
            </a:r>
            <a:endParaRPr sz="138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644F60E-69F1-4E8E-8D8D-F966826DC720}"/>
              </a:ext>
            </a:extLst>
          </p:cNvPr>
          <p:cNvSpPr>
            <a:spLocks noGrp="1"/>
          </p:cNvSpPr>
          <p:nvPr/>
        </p:nvSpPr>
        <p:spPr>
          <a:xfrm>
            <a:off x="4524375" y="3343275"/>
            <a:ext cx="23812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2BB20A0-45F0-44C7-9980-9B99BA7D18D7}"/>
              </a:ext>
            </a:extLst>
          </p:cNvPr>
          <p:cNvSpPr>
            <a:spLocks noGrp="1"/>
          </p:cNvSpPr>
          <p:nvPr/>
        </p:nvSpPr>
        <p:spPr>
          <a:xfrm>
            <a:off x="2905125" y="2905125"/>
            <a:ext cx="161925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DFDA104-ECA5-452C-BAE8-73C78EF3C7D9}"/>
              </a:ext>
            </a:extLst>
          </p:cNvPr>
          <p:cNvSpPr>
            <a:spLocks noGrp="1"/>
          </p:cNvSpPr>
          <p:nvPr/>
        </p:nvSpPr>
        <p:spPr>
          <a:xfrm>
            <a:off x="3038475" y="3095625"/>
            <a:ext cx="13525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机器审核中</a:t>
            </a:r>
            <a:endParaRPr sz="138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F52EB03-FA55-45F4-9EA6-431CA4D55E3C}"/>
              </a:ext>
            </a:extLst>
          </p:cNvPr>
          <p:cNvSpPr>
            <a:spLocks noGrp="1"/>
          </p:cNvSpPr>
          <p:nvPr/>
        </p:nvSpPr>
        <p:spPr>
          <a:xfrm>
            <a:off x="6429375" y="3343275"/>
            <a:ext cx="23812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12D1C6D-C807-48B7-B8AD-83039016E7DA}"/>
              </a:ext>
            </a:extLst>
          </p:cNvPr>
          <p:cNvSpPr>
            <a:spLocks noGrp="1"/>
          </p:cNvSpPr>
          <p:nvPr/>
        </p:nvSpPr>
        <p:spPr>
          <a:xfrm>
            <a:off x="4810125" y="2905125"/>
            <a:ext cx="161925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6E36B0C-1CFF-4880-807A-1EA577B81F50}"/>
              </a:ext>
            </a:extLst>
          </p:cNvPr>
          <p:cNvSpPr>
            <a:spLocks noGrp="1"/>
          </p:cNvSpPr>
          <p:nvPr/>
        </p:nvSpPr>
        <p:spPr>
          <a:xfrm>
            <a:off x="4943475" y="3095625"/>
            <a:ext cx="13525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待修改</a:t>
            </a:r>
            <a:endParaRPr sz="138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927D706-E53F-42EF-A23D-951587481754}"/>
              </a:ext>
            </a:extLst>
          </p:cNvPr>
          <p:cNvSpPr>
            <a:spLocks noGrp="1"/>
          </p:cNvSpPr>
          <p:nvPr/>
        </p:nvSpPr>
        <p:spPr>
          <a:xfrm>
            <a:off x="8334375" y="3343275"/>
            <a:ext cx="238125" cy="0"/>
          </a:xfrm>
          <a:prstGeom prst="line">
            <a:avLst/>
          </a:prstGeom>
          <a:noFill/>
          <a:ln w="25400">
            <a:solidFill>
              <a:srgbClr val="FF7657"/>
            </a:solidFill>
            <a:prstDash val="solid"/>
            <a:tailEnd type="triangle"/>
          </a:ln>
        </p:spPr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547E002F-E85D-4DF0-822B-FDF675AB986D}"/>
              </a:ext>
            </a:extLst>
          </p:cNvPr>
          <p:cNvSpPr>
            <a:spLocks noGrp="1"/>
          </p:cNvSpPr>
          <p:nvPr/>
        </p:nvSpPr>
        <p:spPr>
          <a:xfrm>
            <a:off x="6715125" y="2905125"/>
            <a:ext cx="161925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604F144-27B2-47CE-B3F2-2B8421A46AB8}"/>
              </a:ext>
            </a:extLst>
          </p:cNvPr>
          <p:cNvSpPr>
            <a:spLocks noGrp="1"/>
          </p:cNvSpPr>
          <p:nvPr/>
        </p:nvSpPr>
        <p:spPr>
          <a:xfrm>
            <a:off x="6848475" y="3095625"/>
            <a:ext cx="13525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待人工复核</a:t>
            </a:r>
            <a:endParaRPr sz="138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76862CC3-9D1A-4F08-8805-E78717A0D326}"/>
              </a:ext>
            </a:extLst>
          </p:cNvPr>
          <p:cNvSpPr>
            <a:spLocks noGrp="1"/>
          </p:cNvSpPr>
          <p:nvPr/>
        </p:nvSpPr>
        <p:spPr>
          <a:xfrm>
            <a:off x="8620125" y="2905125"/>
            <a:ext cx="1619250" cy="876300"/>
          </a:xfrm>
          <a:prstGeom prst="roundRect">
            <a:avLst/>
          </a:prstGeom>
          <a:solidFill>
            <a:srgbClr val="31191B"/>
          </a:solidFill>
          <a:ln w="12700">
            <a:solidFill>
              <a:srgbClr val="FF8A7A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303601D-71BB-4B63-8359-D7C08BC64303}"/>
              </a:ext>
            </a:extLst>
          </p:cNvPr>
          <p:cNvSpPr>
            <a:spLocks noGrp="1"/>
          </p:cNvSpPr>
          <p:nvPr/>
        </p:nvSpPr>
        <p:spPr>
          <a:xfrm>
            <a:off x="8753475" y="3095625"/>
            <a:ext cx="13525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80" b="1">
                <a:solidFill>
                  <a:srgbClr val="FF8A7A"/>
                </a:solidFill>
                <a:latin typeface="PingFang SC"/>
                <a:ea typeface="PingFang SC"/>
                <a:cs typeface="PingFang SC"/>
              </a:rPr>
              <a:t>审核完成</a:t>
            </a:r>
            <a:endParaRPr sz="13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A247360-5C37-428D-88DA-B29D772A5B9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654494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E9E41FE-15B4-482D-BFED-867CC0762A4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1C5FBDF-5A06-4F85-AAAA-1E3B7D35E74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BDA2BB8-386A-4716-B0AF-24D61E98160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57643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01F15E4-D80D-4E5B-A936-275E4A555B96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04 MVP范围与能力优先级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44EE3AB-FC4C-48D7-A34F-2CD11E57414C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04597D4-6AED-4D62-A3D7-4D4E4E3D41F2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流程闭环后，决定第一版做到哪里、暂时不做什么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72FF72-B649-4894-89E5-E7BD282CFDA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96449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48653CC-3CE6-4524-9C03-F733C6B90DFD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13959E6-0967-4389-BB3B-D8FC893257F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37CD8B1-3739-4261-A23A-3C9E023C6B9F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58984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53335F-D05D-40D6-B5C0-6A7AE75BC45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MVP定义：第一版要跑通哪条最小闭环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BADB8A7-F3D8-46FA-99CC-C62503B8467A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6F3A39E-EA2D-4F3F-B199-F963DC96943E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62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181833D-6D83-4B77-8F82-58BC861781B2}"/>
              </a:ext>
            </a:extLst>
          </p:cNvPr>
          <p:cNvSpPr>
            <a:spLocks noGrp="1"/>
          </p:cNvSpPr>
          <p:nvPr/>
        </p:nvSpPr>
        <p:spPr>
          <a:xfrm>
            <a:off x="1447800" y="2085975"/>
            <a:ext cx="96012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2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功能少不等于能够验证价值。</a:t>
            </a:r>
            <a:endParaRPr sz="162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8A63C2E-D9D9-4028-870A-1C28A639B48E}"/>
              </a:ext>
            </a:extLst>
          </p:cNvPr>
          <p:cNvSpPr>
            <a:spLocks noGrp="1"/>
          </p:cNvSpPr>
          <p:nvPr/>
        </p:nvSpPr>
        <p:spPr>
          <a:xfrm>
            <a:off x="952500" y="26003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62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DDAA594-A117-48ED-9CAB-E6250013197A}"/>
              </a:ext>
            </a:extLst>
          </p:cNvPr>
          <p:cNvSpPr>
            <a:spLocks noGrp="1"/>
          </p:cNvSpPr>
          <p:nvPr/>
        </p:nvSpPr>
        <p:spPr>
          <a:xfrm>
            <a:off x="1447800" y="2590800"/>
            <a:ext cx="96012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62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第一版必须同时验证能力、效率和安全接管。</a:t>
            </a:r>
            <a:endParaRPr sz="16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41188E5-2B4D-4857-8633-D2839FD8122B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10553700" cy="81915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774A9F6B-7D6A-472B-BB59-72099678F299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76200" cy="819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F13E57A-4B54-48A1-8EA4-839F26C22CBE}"/>
              </a:ext>
            </a:extLst>
          </p:cNvPr>
          <p:cNvSpPr>
            <a:spLocks noGrp="1"/>
          </p:cNvSpPr>
          <p:nvPr/>
        </p:nvSpPr>
        <p:spPr>
          <a:xfrm>
            <a:off x="1162050" y="4457700"/>
            <a:ext cx="981075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真实提交 → 机器预审 → 查看结构化结果 → 修改或人工复核 → 记录最终结果</a:t>
            </a:r>
            <a:endParaRPr sz="192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4C380E0-DA5C-4632-9B68-49A5A457766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1951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A654041-2B54-40D3-B971-3D5654D1FA4C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AA5DD13-6973-4343-AEB0-D5BD4C23FEF1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43688C32-2616-4337-A5C2-E05038F8365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0325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1F88F6A-D8CB-46D0-A03A-FA7C87330D3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核心假设：MVP首先验证什么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8AA70A2-A29F-4E40-92E7-1B593AAE08D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D75B87E-4F0E-463B-A7C7-2287BEBB9280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F8749CC-1828-4C3F-BCCB-F5F980397FCA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发现更多有效风险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3D596E2-778E-4011-ACD8-5956322B1FDD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混合方案能识别纯规则难以覆盖的语义风险，同时不过度增加误报。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CD20292-AFAD-4A0F-B798-A9A76F7709A5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714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C4A1B58-181D-4442-8B73-0639EDD2F38F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减少人工重复工作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48ACF30-6B6E-401F-AE8C-25ACA800BDE2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机器提前定位问题、提供依据和建议，人工不再从头检查所有内容。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A0CD3DF-71F4-4DB8-893D-B8219D1B0F30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835DE7E-6218-40A6-B737-D30706955EF3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异常可安全接管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5DF393D-2D5A-4F01-8041-83F55BB71D75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不确定、高风险和失败任务可以完整交给人工处理。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1BF238A-938A-417B-90BD-CB93FE90A7D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8991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6D1FECD-B864-49CC-8C8C-156159EB7431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B687399-89BE-49A8-B695-18D4D42EC3E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00CED4C-8149-4C09-9211-0CA33721391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1665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EB207D9-13A6-436E-8105-D1F37477993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阶段区分：PoC、MVP和完整产品有何不同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C8C89B9-10E3-4099-8640-03ADC160544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FFD0340-2657-4523-B9F7-4DBB6954C047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095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0925BD4-7E72-4CCE-8C51-E9602D6B1F06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1943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阶段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83B4636-8CEC-437A-8B03-9D6DEB44DEEA}"/>
              </a:ext>
            </a:extLst>
          </p:cNvPr>
          <p:cNvSpPr>
            <a:spLocks noGrp="1"/>
          </p:cNvSpPr>
          <p:nvPr/>
        </p:nvSpPr>
        <p:spPr>
          <a:xfrm>
            <a:off x="2762250" y="1952625"/>
            <a:ext cx="4857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FB4A12C-357B-440F-AEE1-E38BC81A68C0}"/>
              </a:ext>
            </a:extLst>
          </p:cNvPr>
          <p:cNvSpPr>
            <a:spLocks noGrp="1"/>
          </p:cNvSpPr>
          <p:nvPr/>
        </p:nvSpPr>
        <p:spPr>
          <a:xfrm>
            <a:off x="2838450" y="2047875"/>
            <a:ext cx="4705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核心问题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515071B-6F0A-40A8-ABD7-A06C2DC61FF0}"/>
              </a:ext>
            </a:extLst>
          </p:cNvPr>
          <p:cNvSpPr>
            <a:spLocks noGrp="1"/>
          </p:cNvSpPr>
          <p:nvPr/>
        </p:nvSpPr>
        <p:spPr>
          <a:xfrm>
            <a:off x="7620000" y="1952625"/>
            <a:ext cx="3905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E48346E-22FD-4831-AD98-1B621EAC8866}"/>
              </a:ext>
            </a:extLst>
          </p:cNvPr>
          <p:cNvSpPr>
            <a:spLocks noGrp="1"/>
          </p:cNvSpPr>
          <p:nvPr/>
        </p:nvSpPr>
        <p:spPr>
          <a:xfrm>
            <a:off x="7696200" y="2047875"/>
            <a:ext cx="3752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需要具备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E18135B-3530-4444-9212-FBF354FF5FFB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21F9F0B-2427-4847-AD84-BC8E42AC0EA6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能力PoC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F3630B3-4154-460F-A6DC-F6815FEC0D11}"/>
              </a:ext>
            </a:extLst>
          </p:cNvPr>
          <p:cNvSpPr>
            <a:spLocks noGrp="1"/>
          </p:cNvSpPr>
          <p:nvPr/>
        </p:nvSpPr>
        <p:spPr>
          <a:xfrm>
            <a:off x="2762250" y="2466975"/>
            <a:ext cx="4857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281E52D-A5F1-43CB-BF87-3A3316BA3BB2}"/>
              </a:ext>
            </a:extLst>
          </p:cNvPr>
          <p:cNvSpPr>
            <a:spLocks noGrp="1"/>
          </p:cNvSpPr>
          <p:nvPr/>
        </p:nvSpPr>
        <p:spPr>
          <a:xfrm>
            <a:off x="2857500" y="2543175"/>
            <a:ext cx="4667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技术方案在历史样本上是否基本可行？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C8338B28-8FE4-4508-A155-23AE5C04DA91}"/>
              </a:ext>
            </a:extLst>
          </p:cNvPr>
          <p:cNvSpPr>
            <a:spLocks noGrp="1"/>
          </p:cNvSpPr>
          <p:nvPr/>
        </p:nvSpPr>
        <p:spPr>
          <a:xfrm>
            <a:off x="7620000" y="2466975"/>
            <a:ext cx="3905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85B43CF-FC36-4011-ABA2-AD74F21F08EA}"/>
              </a:ext>
            </a:extLst>
          </p:cNvPr>
          <p:cNvSpPr>
            <a:spLocks noGrp="1"/>
          </p:cNvSpPr>
          <p:nvPr/>
        </p:nvSpPr>
        <p:spPr>
          <a:xfrm>
            <a:off x="7715250" y="2543175"/>
            <a:ext cx="3714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样本、规则、模型与离线对比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1ECC62C9-6213-4714-A6E9-7A6BFFDA80A0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095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3D86775-3168-4296-A9FC-AF283ABE33D0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产品MVP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F14B30F7-F1C9-4FC1-BE33-F87D9DA6644F}"/>
              </a:ext>
            </a:extLst>
          </p:cNvPr>
          <p:cNvSpPr>
            <a:spLocks noGrp="1"/>
          </p:cNvSpPr>
          <p:nvPr/>
        </p:nvSpPr>
        <p:spPr>
          <a:xfrm>
            <a:off x="2762250" y="3019425"/>
            <a:ext cx="4857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C6FA25AD-4B21-4F50-AF1B-CE1975FB8C91}"/>
              </a:ext>
            </a:extLst>
          </p:cNvPr>
          <p:cNvSpPr>
            <a:spLocks noGrp="1"/>
          </p:cNvSpPr>
          <p:nvPr/>
        </p:nvSpPr>
        <p:spPr>
          <a:xfrm>
            <a:off x="2857500" y="3095625"/>
            <a:ext cx="4667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进入真实流程后是否提高效率且安全？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969F65D-6BBE-4B6B-8103-FE47377E085D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905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F0C4E2E-BE6B-4843-95B8-7160D5D0A92B}"/>
              </a:ext>
            </a:extLst>
          </p:cNvPr>
          <p:cNvSpPr>
            <a:spLocks noGrp="1"/>
          </p:cNvSpPr>
          <p:nvPr/>
        </p:nvSpPr>
        <p:spPr>
          <a:xfrm>
            <a:off x="7715250" y="3095625"/>
            <a:ext cx="3714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真实提交、人工接管、结果记录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47A3885-8706-4D6E-8C62-6F167AE061A7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095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F27168-2DAC-4B40-B815-9C1C9778ACFB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1905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完整产品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B403D48-13DB-4541-B6A9-3F8A12A64335}"/>
              </a:ext>
            </a:extLst>
          </p:cNvPr>
          <p:cNvSpPr>
            <a:spLocks noGrp="1"/>
          </p:cNvSpPr>
          <p:nvPr/>
        </p:nvSpPr>
        <p:spPr>
          <a:xfrm>
            <a:off x="2762250" y="3571875"/>
            <a:ext cx="4857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A6347F2-EE40-47F9-AF08-D1F1A1E4E217}"/>
              </a:ext>
            </a:extLst>
          </p:cNvPr>
          <p:cNvSpPr>
            <a:spLocks noGrp="1"/>
          </p:cNvSpPr>
          <p:nvPr/>
        </p:nvSpPr>
        <p:spPr>
          <a:xfrm>
            <a:off x="2857500" y="3648075"/>
            <a:ext cx="4667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如何支持规模化、多渠道和复杂组织？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7628C015-BC3F-4953-8E79-3FB64F6A71A0}"/>
              </a:ext>
            </a:extLst>
          </p:cNvPr>
          <p:cNvSpPr>
            <a:spLocks noGrp="1"/>
          </p:cNvSpPr>
          <p:nvPr/>
        </p:nvSpPr>
        <p:spPr>
          <a:xfrm>
            <a:off x="7620000" y="3571875"/>
            <a:ext cx="3905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1253918-F3EA-49BD-965F-AD130249D274}"/>
              </a:ext>
            </a:extLst>
          </p:cNvPr>
          <p:cNvSpPr>
            <a:spLocks noGrp="1"/>
          </p:cNvSpPr>
          <p:nvPr/>
        </p:nvSpPr>
        <p:spPr>
          <a:xfrm>
            <a:off x="7715250" y="3648075"/>
            <a:ext cx="3714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多模态、权限、批量、发布与运营平台</a:t>
            </a:r>
            <a:endParaRPr sz="1236"/>
          </a:p>
        </p:txBody>
      </p:sp>
      <p:sp>
        <p:nvSpPr>
          <p:cNvPr id="32" name="Slide Number Placeholder 0">
            <a:extLst>
              <a:ext uri="{FF2B5EF4-FFF2-40B4-BE49-F238E27FC236}">
                <a16:creationId xmlns:a16="http://schemas.microsoft.com/office/drawing/2014/main" id="{F1F9C016-6B89-4CE8-BDE1-AAE1547C49E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349340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2A9A857-BE4B-4408-B83E-FA02F2E72A0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79D2136-E2C1-4603-A9BF-E043C506D34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3AA793A-A639-4B6D-9029-EFFB09C7CE8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3006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040DCFE-C8A8-4342-A40E-86BC5B2C2DDE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范围判断：一个功能是否应该进入MVP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58E1466-DDD4-4DD4-8A8A-8248C72E580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5FE30BE-B3D2-4FF7-B4DF-C6D105FA9483}"/>
              </a:ext>
            </a:extLst>
          </p:cNvPr>
          <p:cNvSpPr>
            <a:spLocks noGrp="1"/>
          </p:cNvSpPr>
          <p:nvPr/>
        </p:nvSpPr>
        <p:spPr>
          <a:xfrm>
            <a:off x="327660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2748552-626E-4D98-8F95-3255922485A1}"/>
              </a:ext>
            </a:extLst>
          </p:cNvPr>
          <p:cNvSpPr>
            <a:spLocks noGrp="1"/>
          </p:cNvSpPr>
          <p:nvPr/>
        </p:nvSpPr>
        <p:spPr>
          <a:xfrm>
            <a:off x="600075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265BD9B-88C2-459D-BB38-C18C1BC371A1}"/>
              </a:ext>
            </a:extLst>
          </p:cNvPr>
          <p:cNvSpPr>
            <a:spLocks noGrp="1"/>
          </p:cNvSpPr>
          <p:nvPr/>
        </p:nvSpPr>
        <p:spPr>
          <a:xfrm>
            <a:off x="8724900" y="34099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83547A1-B176-4804-98DE-A976F48BC66A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040A230-B43E-469A-88A7-B556BFF96C24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B3F1CD8-982B-422B-B4D4-4388D236F733}"/>
              </a:ext>
            </a:extLst>
          </p:cNvPr>
          <p:cNvSpPr>
            <a:spLocks noGrp="1"/>
          </p:cNvSpPr>
          <p:nvPr/>
        </p:nvSpPr>
        <p:spPr>
          <a:xfrm>
            <a:off x="87630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是否直接验证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核心假设</a:t>
            </a:r>
            <a:endParaRPr sz="144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37368F1-0923-42B5-BA52-666846FC7637}"/>
              </a:ext>
            </a:extLst>
          </p:cNvPr>
          <p:cNvSpPr>
            <a:spLocks noGrp="1"/>
          </p:cNvSpPr>
          <p:nvPr/>
        </p:nvSpPr>
        <p:spPr>
          <a:xfrm>
            <a:off x="346710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99142CF-7E01-4E88-9B37-D21263BE1F77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2DD022D-71FE-4D2B-9CD1-1FD6B2CAE504}"/>
              </a:ext>
            </a:extLst>
          </p:cNvPr>
          <p:cNvSpPr>
            <a:spLocks noGrp="1"/>
          </p:cNvSpPr>
          <p:nvPr/>
        </p:nvSpPr>
        <p:spPr>
          <a:xfrm>
            <a:off x="360045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缺少它是否无法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形成闭环</a:t>
            </a:r>
            <a:endParaRPr sz="144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04196AE-AFF1-47F3-8B41-12983F8F206C}"/>
              </a:ext>
            </a:extLst>
          </p:cNvPr>
          <p:cNvSpPr>
            <a:spLocks noGrp="1"/>
          </p:cNvSpPr>
          <p:nvPr/>
        </p:nvSpPr>
        <p:spPr>
          <a:xfrm>
            <a:off x="619125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E007FD5-61C1-43E5-A743-F7D47A88C45B}"/>
              </a:ext>
            </a:extLst>
          </p:cNvPr>
          <p:cNvSpPr>
            <a:spLocks noGrp="1"/>
          </p:cNvSpPr>
          <p:nvPr/>
        </p:nvSpPr>
        <p:spPr>
          <a:xfrm>
            <a:off x="63246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D10380-15C4-46E6-AD8C-4B74EAA540BE}"/>
              </a:ext>
            </a:extLst>
          </p:cNvPr>
          <p:cNvSpPr>
            <a:spLocks noGrp="1"/>
          </p:cNvSpPr>
          <p:nvPr/>
        </p:nvSpPr>
        <p:spPr>
          <a:xfrm>
            <a:off x="632460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能否暂时由人工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或简单工具替代</a:t>
            </a:r>
            <a:endParaRPr sz="144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728E2B68-B15E-46A5-9911-001AD664C300}"/>
              </a:ext>
            </a:extLst>
          </p:cNvPr>
          <p:cNvSpPr>
            <a:spLocks noGrp="1"/>
          </p:cNvSpPr>
          <p:nvPr/>
        </p:nvSpPr>
        <p:spPr>
          <a:xfrm>
            <a:off x="8915400" y="2857500"/>
            <a:ext cx="2533650" cy="11049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6A1C8A6-A749-45F7-9D68-A79592EB0FB2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4B8A12-F014-4B21-BD42-0F34C41ED447}"/>
              </a:ext>
            </a:extLst>
          </p:cNvPr>
          <p:cNvSpPr>
            <a:spLocks noGrp="1"/>
          </p:cNvSpPr>
          <p:nvPr/>
        </p:nvSpPr>
        <p:spPr>
          <a:xfrm>
            <a:off x="9048750" y="3248025"/>
            <a:ext cx="2266950" cy="533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投入是否会显著</a:t>
            </a:r>
            <a:endParaRPr sz="1440"/>
          </a:p>
          <a:p>
            <a:pPr marL="0" indent="0" algn="ctr">
              <a:lnSpc>
                <a:spcPct val="100000"/>
              </a:lnSpc>
              <a:buNone/>
            </a:pPr>
            <a:r>
              <a:rPr sz="144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拖慢试点</a:t>
            </a:r>
            <a:endParaRPr sz="14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1DBD48D-B6E1-43D7-83C4-11B75AE0506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520633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5F66F23-477C-4736-A828-25909B35CDD3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F02929F-1119-41B2-A824-21C1B6D55601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A7C3818-5432-4296-8B89-B8392F73763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4346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5E0C4B-C7A6-4AF5-9B71-373441C3042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试点范围：第一版主动收窄哪些维度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CC34511-9673-4A09-BF39-3D3EC841F6FD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5083F10-1BF4-46BA-B638-9F9654A539DF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190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4ED2BEE-1055-4DE6-BEFE-CFB053585E40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038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范围维度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76B5712-97F0-462F-9D31-17B6DEF3347F}"/>
              </a:ext>
            </a:extLst>
          </p:cNvPr>
          <p:cNvSpPr>
            <a:spLocks noGrp="1"/>
          </p:cNvSpPr>
          <p:nvPr/>
        </p:nvSpPr>
        <p:spPr>
          <a:xfrm>
            <a:off x="2857500" y="1952625"/>
            <a:ext cx="4667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0BAC397-255B-42EE-824B-46C27CD51EAC}"/>
              </a:ext>
            </a:extLst>
          </p:cNvPr>
          <p:cNvSpPr>
            <a:spLocks noGrp="1"/>
          </p:cNvSpPr>
          <p:nvPr/>
        </p:nvSpPr>
        <p:spPr>
          <a:xfrm>
            <a:off x="2933700" y="2047875"/>
            <a:ext cx="4514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MVP选择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710B311-E4CA-47F4-86BA-3121AB2C17DE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00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E467C5C-23EF-4803-914D-5CFE7B1E750A}"/>
              </a:ext>
            </a:extLst>
          </p:cNvPr>
          <p:cNvSpPr>
            <a:spLocks noGrp="1"/>
          </p:cNvSpPr>
          <p:nvPr/>
        </p:nvSpPr>
        <p:spPr>
          <a:xfrm>
            <a:off x="7600950" y="2047875"/>
            <a:ext cx="3848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暂不扩展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7009E8CC-190B-413C-B975-DCD15EC69077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190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9CD5922-6FB8-4B09-A04A-D4D9474C6656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000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内容类型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433FCF7-8FEC-4154-AE42-D00FEBB6CD6D}"/>
              </a:ext>
            </a:extLst>
          </p:cNvPr>
          <p:cNvSpPr>
            <a:spLocks noGrp="1"/>
          </p:cNvSpPr>
          <p:nvPr/>
        </p:nvSpPr>
        <p:spPr>
          <a:xfrm>
            <a:off x="2857500" y="2466975"/>
            <a:ext cx="4667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5C7CC7-D77A-40F4-9BA8-A167777EC5C9}"/>
              </a:ext>
            </a:extLst>
          </p:cNvPr>
          <p:cNvSpPr>
            <a:spLocks noGrp="1"/>
          </p:cNvSpPr>
          <p:nvPr/>
        </p:nvSpPr>
        <p:spPr>
          <a:xfrm>
            <a:off x="2952750" y="2543175"/>
            <a:ext cx="4476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文本营销文案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3A481AD4-6DD5-4828-BF1D-8A2283CA386D}"/>
              </a:ext>
            </a:extLst>
          </p:cNvPr>
          <p:cNvSpPr>
            <a:spLocks noGrp="1"/>
          </p:cNvSpPr>
          <p:nvPr/>
        </p:nvSpPr>
        <p:spPr>
          <a:xfrm>
            <a:off x="7524750" y="2466975"/>
            <a:ext cx="4000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4EA172C-1289-4C71-8BDC-109B4C6C70D9}"/>
              </a:ext>
            </a:extLst>
          </p:cNvPr>
          <p:cNvSpPr>
            <a:spLocks noGrp="1"/>
          </p:cNvSpPr>
          <p:nvPr/>
        </p:nvSpPr>
        <p:spPr>
          <a:xfrm>
            <a:off x="7620000" y="2543175"/>
            <a:ext cx="3810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图片、音频、视频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6695B64-FDE2-4B91-A374-0889E3909904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190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E9ACB52-DF90-4A65-8D31-2E846B390831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000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业务范围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5152D200-5868-4D98-9A6C-A15FC0A56CF6}"/>
              </a:ext>
            </a:extLst>
          </p:cNvPr>
          <p:cNvSpPr>
            <a:spLocks noGrp="1"/>
          </p:cNvSpPr>
          <p:nvPr/>
        </p:nvSpPr>
        <p:spPr>
          <a:xfrm>
            <a:off x="2857500" y="3019425"/>
            <a:ext cx="4667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D6755BF-E800-4067-BACE-E3677AB7C830}"/>
              </a:ext>
            </a:extLst>
          </p:cNvPr>
          <p:cNvSpPr>
            <a:spLocks noGrp="1"/>
          </p:cNvSpPr>
          <p:nvPr/>
        </p:nvSpPr>
        <p:spPr>
          <a:xfrm>
            <a:off x="2952750" y="3095625"/>
            <a:ext cx="4476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一个业务线或高频场景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6734AB01-CB2B-490E-8ABB-6506CF88E664}"/>
              </a:ext>
            </a:extLst>
          </p:cNvPr>
          <p:cNvSpPr>
            <a:spLocks noGrp="1"/>
          </p:cNvSpPr>
          <p:nvPr/>
        </p:nvSpPr>
        <p:spPr>
          <a:xfrm>
            <a:off x="7524750" y="3019425"/>
            <a:ext cx="4000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51DB64E4-5138-40C2-8BD9-C5C8D6032201}"/>
              </a:ext>
            </a:extLst>
          </p:cNvPr>
          <p:cNvSpPr>
            <a:spLocks noGrp="1"/>
          </p:cNvSpPr>
          <p:nvPr/>
        </p:nvSpPr>
        <p:spPr>
          <a:xfrm>
            <a:off x="7620000" y="3095625"/>
            <a:ext cx="3810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全部行业与组织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A58A294D-7A04-4E4A-8B62-724276FE94F3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190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C5D5C521-7C85-4402-A570-9C5026ECC395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000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渠道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342E8-1310-46D3-A9FD-B6CFDF9790C5}"/>
              </a:ext>
            </a:extLst>
          </p:cNvPr>
          <p:cNvSpPr>
            <a:spLocks noGrp="1"/>
          </p:cNvSpPr>
          <p:nvPr/>
        </p:nvSpPr>
        <p:spPr>
          <a:xfrm>
            <a:off x="2857500" y="3571875"/>
            <a:ext cx="4667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C76D92E-3279-4345-8ECC-7F7567B59DB0}"/>
              </a:ext>
            </a:extLst>
          </p:cNvPr>
          <p:cNvSpPr>
            <a:spLocks noGrp="1"/>
          </p:cNvSpPr>
          <p:nvPr/>
        </p:nvSpPr>
        <p:spPr>
          <a:xfrm>
            <a:off x="2952750" y="3648075"/>
            <a:ext cx="4476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少量规则相对明确的渠道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ACCE83D1-4CCC-489C-A955-8F63155AD370}"/>
              </a:ext>
            </a:extLst>
          </p:cNvPr>
          <p:cNvSpPr>
            <a:spLocks noGrp="1"/>
          </p:cNvSpPr>
          <p:nvPr/>
        </p:nvSpPr>
        <p:spPr>
          <a:xfrm>
            <a:off x="7524750" y="3571875"/>
            <a:ext cx="4000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9E87514-776E-4C54-90D2-8A2BCD20F104}"/>
              </a:ext>
            </a:extLst>
          </p:cNvPr>
          <p:cNvSpPr>
            <a:spLocks noGrp="1"/>
          </p:cNvSpPr>
          <p:nvPr/>
        </p:nvSpPr>
        <p:spPr>
          <a:xfrm>
            <a:off x="7620000" y="3648075"/>
            <a:ext cx="3810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全渠道统一覆盖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0BF88CB8-91ED-4013-B7AC-A97B59573EFB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190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1879336A-3A66-4953-B5F8-D3003A5F72A2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000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处理方式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338C3A5-D917-411E-85FF-8075FA516048}"/>
              </a:ext>
            </a:extLst>
          </p:cNvPr>
          <p:cNvSpPr>
            <a:spLocks noGrp="1"/>
          </p:cNvSpPr>
          <p:nvPr/>
        </p:nvSpPr>
        <p:spPr>
          <a:xfrm>
            <a:off x="2857500" y="4124325"/>
            <a:ext cx="4667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BC26252-C50F-4CEF-9079-21D278EF3A01}"/>
              </a:ext>
            </a:extLst>
          </p:cNvPr>
          <p:cNvSpPr>
            <a:spLocks noGrp="1"/>
          </p:cNvSpPr>
          <p:nvPr/>
        </p:nvSpPr>
        <p:spPr>
          <a:xfrm>
            <a:off x="2952750" y="4200525"/>
            <a:ext cx="4476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预审、修改、复核和重审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D3999B5E-DB41-4CAE-A5CC-79403A9D17E2}"/>
              </a:ext>
            </a:extLst>
          </p:cNvPr>
          <p:cNvSpPr>
            <a:spLocks noGrp="1"/>
          </p:cNvSpPr>
          <p:nvPr/>
        </p:nvSpPr>
        <p:spPr>
          <a:xfrm>
            <a:off x="7524750" y="4124325"/>
            <a:ext cx="4000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AB49C0F-7BD7-4805-81A3-850950202212}"/>
              </a:ext>
            </a:extLst>
          </p:cNvPr>
          <p:cNvSpPr>
            <a:spLocks noGrp="1"/>
          </p:cNvSpPr>
          <p:nvPr/>
        </p:nvSpPr>
        <p:spPr>
          <a:xfrm>
            <a:off x="7620000" y="4200525"/>
            <a:ext cx="3810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自动发布和处罚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D19050F3-8F17-44CE-8091-AC98D0EE8FB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3385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6FFEE2B-7651-44D1-9A91-EC085DF70FCE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3D077C6-0235-44C3-BE11-9F12DD78412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6184CA0-77BF-4BD7-8CA4-0DC450BF3F5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5687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1C4BA0E-CB48-4A18-B66C-F52A11573226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必备能力：最小闭环需要哪些产品能力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6E539D1-DF84-441C-BB9A-731C9C30DE3A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3DA609F-0FF9-4DFB-85BE-246EB5D42A4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F535161-CDFE-414B-98C5-20F91594FF6F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提交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E0AEBF-3ABC-44C3-94D5-9CA7A639E851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文案和必要上下文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96FDDDB-E916-4B16-9FA1-6B3368E86556}"/>
              </a:ext>
            </a:extLst>
          </p:cNvPr>
          <p:cNvSpPr>
            <a:spLocks noGrp="1"/>
          </p:cNvSpPr>
          <p:nvPr/>
        </p:nvSpPr>
        <p:spPr>
          <a:xfrm>
            <a:off x="3462338" y="200025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B3D3C2B-8438-4E5C-9BE0-C043D5673302}"/>
              </a:ext>
            </a:extLst>
          </p:cNvPr>
          <p:cNvSpPr>
            <a:spLocks noGrp="1"/>
          </p:cNvSpPr>
          <p:nvPr/>
        </p:nvSpPr>
        <p:spPr>
          <a:xfrm>
            <a:off x="3671888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582C121-4DC0-4C49-BD80-D88260ACD208}"/>
              </a:ext>
            </a:extLst>
          </p:cNvPr>
          <p:cNvSpPr>
            <a:spLocks noGrp="1"/>
          </p:cNvSpPr>
          <p:nvPr/>
        </p:nvSpPr>
        <p:spPr>
          <a:xfrm>
            <a:off x="3671888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确定性风险检查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0589247-6480-4850-A3A6-9C0F9CD7E8E3}"/>
              </a:ext>
            </a:extLst>
          </p:cNvPr>
          <p:cNvSpPr>
            <a:spLocks noGrp="1"/>
          </p:cNvSpPr>
          <p:nvPr/>
        </p:nvSpPr>
        <p:spPr>
          <a:xfrm>
            <a:off x="6200775" y="200025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76EE1D4-CA68-46E4-AC94-5274BB5247B8}"/>
              </a:ext>
            </a:extLst>
          </p:cNvPr>
          <p:cNvSpPr>
            <a:spLocks noGrp="1"/>
          </p:cNvSpPr>
          <p:nvPr/>
        </p:nvSpPr>
        <p:spPr>
          <a:xfrm>
            <a:off x="6410325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RAG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C35C0C2-5935-46FE-AF98-C55AB94E1AE5}"/>
              </a:ext>
            </a:extLst>
          </p:cNvPr>
          <p:cNvSpPr>
            <a:spLocks noGrp="1"/>
          </p:cNvSpPr>
          <p:nvPr/>
        </p:nvSpPr>
        <p:spPr>
          <a:xfrm>
            <a:off x="6410325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当前规则依据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AE4FD22-35B1-49BB-90E0-599E19FD0F73}"/>
              </a:ext>
            </a:extLst>
          </p:cNvPr>
          <p:cNvSpPr>
            <a:spLocks noGrp="1"/>
          </p:cNvSpPr>
          <p:nvPr/>
        </p:nvSpPr>
        <p:spPr>
          <a:xfrm>
            <a:off x="8939213" y="200025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BB79F88A-D863-4331-A848-21A6FBC65A8E}"/>
              </a:ext>
            </a:extLst>
          </p:cNvPr>
          <p:cNvSpPr>
            <a:spLocks noGrp="1"/>
          </p:cNvSpPr>
          <p:nvPr/>
        </p:nvSpPr>
        <p:spPr>
          <a:xfrm>
            <a:off x="9148763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大模型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A200A9A-3BB7-4346-A944-CD7FB5106EC6}"/>
              </a:ext>
            </a:extLst>
          </p:cNvPr>
          <p:cNvSpPr>
            <a:spLocks noGrp="1"/>
          </p:cNvSpPr>
          <p:nvPr/>
        </p:nvSpPr>
        <p:spPr>
          <a:xfrm>
            <a:off x="9148763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语义风险识别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AB1B37A-9F50-4B11-B161-750498FE6A42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6699F39D-785B-4CBE-AD48-95EBED0BE925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结果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C2B709B-5357-459E-B5AB-FC8A3C2591BB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结构化展示与合并</a:t>
            </a:r>
            <a:endParaRPr sz="126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B05A97A6-E125-4C53-9F24-F4CE9CC1705E}"/>
              </a:ext>
            </a:extLst>
          </p:cNvPr>
          <p:cNvSpPr>
            <a:spLocks noGrp="1"/>
          </p:cNvSpPr>
          <p:nvPr/>
        </p:nvSpPr>
        <p:spPr>
          <a:xfrm>
            <a:off x="3462338" y="361950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6930BBB-3D62-4094-B899-575214D54C42}"/>
              </a:ext>
            </a:extLst>
          </p:cNvPr>
          <p:cNvSpPr>
            <a:spLocks noGrp="1"/>
          </p:cNvSpPr>
          <p:nvPr/>
        </p:nvSpPr>
        <p:spPr>
          <a:xfrm>
            <a:off x="3671888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分流</a:t>
            </a:r>
            <a:endParaRPr sz="174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0D04A926-73B1-4D70-87B1-B37965FE966C}"/>
              </a:ext>
            </a:extLst>
          </p:cNvPr>
          <p:cNvSpPr>
            <a:spLocks noGrp="1"/>
          </p:cNvSpPr>
          <p:nvPr/>
        </p:nvSpPr>
        <p:spPr>
          <a:xfrm>
            <a:off x="3671888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通过、修改或转人工</a:t>
            </a:r>
            <a:endParaRPr sz="126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B34E1EAA-D62B-4DF9-A0E0-165935A88A1C}"/>
              </a:ext>
            </a:extLst>
          </p:cNvPr>
          <p:cNvSpPr>
            <a:spLocks noGrp="1"/>
          </p:cNvSpPr>
          <p:nvPr/>
        </p:nvSpPr>
        <p:spPr>
          <a:xfrm>
            <a:off x="6200775" y="361950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1C09F5AB-FCA1-4523-AA07-9A172188DAA2}"/>
              </a:ext>
            </a:extLst>
          </p:cNvPr>
          <p:cNvSpPr>
            <a:spLocks noGrp="1"/>
          </p:cNvSpPr>
          <p:nvPr/>
        </p:nvSpPr>
        <p:spPr>
          <a:xfrm>
            <a:off x="6410325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复核</a:t>
            </a:r>
            <a:endParaRPr sz="174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0FF79E8-EC0D-4175-8260-D26BB2EA7154}"/>
              </a:ext>
            </a:extLst>
          </p:cNvPr>
          <p:cNvSpPr>
            <a:spLocks noGrp="1"/>
          </p:cNvSpPr>
          <p:nvPr/>
        </p:nvSpPr>
        <p:spPr>
          <a:xfrm>
            <a:off x="6410325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人工最终处理</a:t>
            </a:r>
            <a:endParaRPr sz="126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8F820DD8-2593-40D1-8B93-BB7EE516C80B}"/>
              </a:ext>
            </a:extLst>
          </p:cNvPr>
          <p:cNvSpPr>
            <a:spLocks noGrp="1"/>
          </p:cNvSpPr>
          <p:nvPr/>
        </p:nvSpPr>
        <p:spPr>
          <a:xfrm>
            <a:off x="8939213" y="361950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63414EC-3DA9-42EF-8336-C6D85AC5B7F4}"/>
              </a:ext>
            </a:extLst>
          </p:cNvPr>
          <p:cNvSpPr>
            <a:spLocks noGrp="1"/>
          </p:cNvSpPr>
          <p:nvPr/>
        </p:nvSpPr>
        <p:spPr>
          <a:xfrm>
            <a:off x="9148763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追溯</a:t>
            </a:r>
            <a:endParaRPr sz="174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70B3A5A-D638-4D73-B278-E2B9EA29FB43}"/>
              </a:ext>
            </a:extLst>
          </p:cNvPr>
          <p:cNvSpPr>
            <a:spLocks noGrp="1"/>
          </p:cNvSpPr>
          <p:nvPr/>
        </p:nvSpPr>
        <p:spPr>
          <a:xfrm>
            <a:off x="9148763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版本、日志和失败记录</a:t>
            </a:r>
            <a:endParaRPr sz="1260"/>
          </a:p>
        </p:txBody>
      </p:sp>
      <p:sp>
        <p:nvSpPr>
          <p:cNvPr id="32" name="Slide Number Placeholder 0">
            <a:extLst>
              <a:ext uri="{FF2B5EF4-FFF2-40B4-BE49-F238E27FC236}">
                <a16:creationId xmlns:a16="http://schemas.microsoft.com/office/drawing/2014/main" id="{76269401-6731-4CDE-95CA-FB21E314572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91271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BBD77AF-0BF7-40AB-817C-82CF38BB5A45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935798B-DD91-47A7-B231-08E595C8FB6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6EA6ABD-F06C-4258-879B-5DEE2A3D9E5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7027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C64DC7F-39D3-4A75-B54A-8AA32486E96F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延后能力：哪些需求暂不进入第一版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95AD720-532E-4F98-930A-A2FD87B92A22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879CB47-D198-45FE-8C23-D0C528AF1CA3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34E4830-ED7C-4DFC-ACE4-738CBF009C10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多模态审核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CEC55C8-0221-4EFC-8BFC-3871DEFB580C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图片、视频和音频会显著扩大技术与标准范围。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82512E6-0844-48A3-9850-43991785DD92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A7C45F9-86AD-473B-A53E-A72F32310AC7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自动改写发布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B1D9639-0502-46FA-9614-CFFB5B14CDB9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不能在未确认事实和责任的情况下直接覆盖原文。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E59615C-FC95-4043-AEC0-92A0FB41E8FC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EB1DFE5-764B-47E6-8362-C2886A8A5469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完整规则后台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EC4A8CB6-E5D2-4CC1-83A9-9082C3D1F323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第一版可以由产品与研发预配置规则。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2052C2A-096D-4251-8105-F5466C6B9C50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4F2C0136-DF0B-40BF-BE1A-2C067F6C9BB9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复杂审批权限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E43F276-1ACB-45A8-BD7A-2D917888E139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先用最小角色和人工分配验证主链路。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17FBB3F-FE59-4B10-96F9-57BB21CD121D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CD7F98B-99F7-4DCB-AF5F-EA0ADEBA53D1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Agent自主调查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6A0BCA-F04C-4FE8-9BAA-7B3BB977C056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关键审核步骤不允许被自主跳过。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932DCEA-613A-4219-B2A8-E90D2BEF52A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3969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84CDEE1-4CAA-43C4-8FAA-6825B73082E7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AE3129D-5F5D-4358-B701-B787DCD0A17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33E5189-42CC-46CA-B8A4-57DD8F8E51E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8368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E029F57-B2BF-4D16-A79B-6350A1B88D2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优先级：先保障闭环，再提升效率和规模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8A77FC8-C73D-482C-BFEC-2DE6D4119BB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2606A2F-E2AA-4268-BC3A-DBD3704F4821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9334500" cy="895350"/>
          </a:xfrm>
          <a:prstGeom prst="roundRect">
            <a:avLst/>
          </a:prstGeom>
          <a:solidFill>
            <a:srgbClr val="31191B"/>
          </a:solidFill>
          <a:ln w="12700">
            <a:solidFill>
              <a:srgbClr val="FF8A7A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0AC9A54-D720-4FE5-90FB-EB426980AD3E}"/>
              </a:ext>
            </a:extLst>
          </p:cNvPr>
          <p:cNvSpPr>
            <a:spLocks noGrp="1"/>
          </p:cNvSpPr>
          <p:nvPr/>
        </p:nvSpPr>
        <p:spPr>
          <a:xfrm>
            <a:off x="1657350" y="2143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FF8A7A"/>
                </a:solidFill>
                <a:latin typeface="PingFang SC"/>
                <a:ea typeface="PingFang SC"/>
                <a:cs typeface="PingFang SC"/>
              </a:rPr>
              <a:t>P0｜没有就无法试点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D6ED535-E5FC-4B05-9357-1ED6873EA589}"/>
              </a:ext>
            </a:extLst>
          </p:cNvPr>
          <p:cNvSpPr>
            <a:spLocks noGrp="1"/>
          </p:cNvSpPr>
          <p:nvPr/>
        </p:nvSpPr>
        <p:spPr>
          <a:xfrm>
            <a:off x="3857625" y="2143125"/>
            <a:ext cx="66198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提交、规则、语义审核、结构化结果、人工接管、重审、日志。</a:t>
            </a:r>
            <a:endParaRPr sz="144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2BECEBF-E18C-4E21-976B-97196E4CF0AB}"/>
              </a:ext>
            </a:extLst>
          </p:cNvPr>
          <p:cNvSpPr>
            <a:spLocks noGrp="1"/>
          </p:cNvSpPr>
          <p:nvPr/>
        </p:nvSpPr>
        <p:spPr>
          <a:xfrm>
            <a:off x="1905000" y="3143250"/>
            <a:ext cx="8382000" cy="89535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CE83A6E-9D7A-42AD-95F7-28E8FFEAD0D5}"/>
              </a:ext>
            </a:extLst>
          </p:cNvPr>
          <p:cNvSpPr>
            <a:spLocks noGrp="1"/>
          </p:cNvSpPr>
          <p:nvPr/>
        </p:nvSpPr>
        <p:spPr>
          <a:xfrm>
            <a:off x="2133600" y="3286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P1｜提高使用效率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B66EE41-BFBF-49D2-A576-6895C483C1FD}"/>
              </a:ext>
            </a:extLst>
          </p:cNvPr>
          <p:cNvSpPr>
            <a:spLocks noGrp="1"/>
          </p:cNvSpPr>
          <p:nvPr/>
        </p:nvSpPr>
        <p:spPr>
          <a:xfrm>
            <a:off x="4333875" y="3286125"/>
            <a:ext cx="56673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更好的任务筛选、批量查看、修改辅助和基础统计。</a:t>
            </a:r>
            <a:endParaRPr sz="144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FDB894A6-8535-4358-B07C-493E6AB4FC86}"/>
              </a:ext>
            </a:extLst>
          </p:cNvPr>
          <p:cNvSpPr>
            <a:spLocks noGrp="1"/>
          </p:cNvSpPr>
          <p:nvPr/>
        </p:nvSpPr>
        <p:spPr>
          <a:xfrm>
            <a:off x="2381250" y="4286250"/>
            <a:ext cx="7429500" cy="89535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EC11311-C6F9-4AB2-B257-127EE4945DF4}"/>
              </a:ext>
            </a:extLst>
          </p:cNvPr>
          <p:cNvSpPr>
            <a:spLocks noGrp="1"/>
          </p:cNvSpPr>
          <p:nvPr/>
        </p:nvSpPr>
        <p:spPr>
          <a:xfrm>
            <a:off x="2609850" y="4429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P2｜规模化扩展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2557E1C-C647-4BEE-A70E-25A40B712EBA}"/>
              </a:ext>
            </a:extLst>
          </p:cNvPr>
          <p:cNvSpPr>
            <a:spLocks noGrp="1"/>
          </p:cNvSpPr>
          <p:nvPr/>
        </p:nvSpPr>
        <p:spPr>
          <a:xfrm>
            <a:off x="4810125" y="4429125"/>
            <a:ext cx="47148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多渠道、多模态、完整规则平台、复杂权限和自动发布。</a:t>
            </a:r>
            <a:endParaRPr sz="14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A27B31A-4BD4-4424-A35C-5FC5CE05488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80223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EB5DC56-4D49-41C6-8F18-671927CE75E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项目第4步 · MVP范围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3BB0913-64B0-49B7-8B90-BF829CB1484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FC9EFFE-1C22-433D-B6AF-FD1618E3F8C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69708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EB59332-E711-4D23-A294-6317C6E7090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试点方式：第一版如何小范围安全上线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5E905EF-DD19-4E31-A0D3-8CBB36832062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4B578C9-72E6-42CD-8B05-D92C620A5764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696BACB-187F-4C22-9186-524EC9BD3D98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试点方式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E19207E-AB24-4EA9-BBC0-B2146AC3FB3C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6D1A3FB-C25B-40BC-9044-D14259C1CA46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先跑历史样本PoC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D8F5D5C-8491-47E5-970D-0EAA68070AA2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D03FE2-29C6-4800-A14C-05C41E869F9A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选择一个团队影子运行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9E8500-ADF4-47A8-9755-CD4F5003E252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9126995-7E4D-442D-8A25-00712E019ACC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人工仍保留最终控制权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DFF31C9-5425-4973-A5C7-8EDFBEBEE30E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CD88627-E41B-4A0F-A852-093FD16B26C0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成功标准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ED413D2E-D0CC-4145-9220-5F1FC36385CF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029B8E5-F252-4662-B7E4-7DE87B57EE57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有效风险发现能力提升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318136F-5E9F-4570-BFC4-AA75FB4F1301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3AF7D65-988B-48BD-9642-F10921C0C806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人工平均耗时下降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CFD53AF-FE24-4495-88ED-B6E94EC3194D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5533FDB-F28A-49BD-B548-121103BE882B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高风险无默认放行，复核量可承受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4C517BA-155C-420B-B576-3222ABB6E90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3460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3B837B7-8906-44D6-B1AE-B96537ACD044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5893E64-07DD-4209-8BF9-7840FF29E93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E016C99-2EEE-461F-8450-1767D302CC5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1049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9C28AB9-0A98-419E-8A9E-F5B8F9BDE3EC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05 大模型能力输入与输出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1BAF2E7-42B9-444B-94C2-128E898F7597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7D2ACC5-C116-4B63-A0F4-911893E16026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MVP范围确定后，把模型审核写成可实现的能力契约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D599B42-753C-4986-B3C4-C5C40521153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890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3331EC-FDE0-4FC5-9B43-6677EE772BC8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275A3FE-9624-45E1-AE0A-1C56D3F9972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02109CE-A5FD-404B-9F99-062DCD4DE34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2390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E62767B-9CA6-4812-8863-43E1E8277DA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能力契约：一项AI能力要写哪些部分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CCC94482-2850-4849-8DDF-35429034056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6A7E96B-D9D5-45E1-8C82-12A63F31CAF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B3C4D19-95D9-4ED9-94E9-B33FB3289EAC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目标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4A3EC2E-F775-4B6F-814B-475136B6BE56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为什么需要这项能力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829B060-D65B-43FD-8627-7720DA34ADC6}"/>
              </a:ext>
            </a:extLst>
          </p:cNvPr>
          <p:cNvSpPr>
            <a:spLocks noGrp="1"/>
          </p:cNvSpPr>
          <p:nvPr/>
        </p:nvSpPr>
        <p:spPr>
          <a:xfrm>
            <a:off x="3462338" y="200025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DA2A9E7-B3E1-4955-826E-151009B1E069}"/>
              </a:ext>
            </a:extLst>
          </p:cNvPr>
          <p:cNvSpPr>
            <a:spLocks noGrp="1"/>
          </p:cNvSpPr>
          <p:nvPr/>
        </p:nvSpPr>
        <p:spPr>
          <a:xfrm>
            <a:off x="3671888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对象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27289AE-0FEA-4AB6-A171-686D50963185}"/>
              </a:ext>
            </a:extLst>
          </p:cNvPr>
          <p:cNvSpPr>
            <a:spLocks noGrp="1"/>
          </p:cNvSpPr>
          <p:nvPr/>
        </p:nvSpPr>
        <p:spPr>
          <a:xfrm>
            <a:off x="3671888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处理什么内容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DB1325C-5D09-4212-8DD8-289380417575}"/>
              </a:ext>
            </a:extLst>
          </p:cNvPr>
          <p:cNvSpPr>
            <a:spLocks noGrp="1"/>
          </p:cNvSpPr>
          <p:nvPr/>
        </p:nvSpPr>
        <p:spPr>
          <a:xfrm>
            <a:off x="6200775" y="200025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0007CB4-389D-4D68-BA6B-E5270E2E7B9B}"/>
              </a:ext>
            </a:extLst>
          </p:cNvPr>
          <p:cNvSpPr>
            <a:spLocks noGrp="1"/>
          </p:cNvSpPr>
          <p:nvPr/>
        </p:nvSpPr>
        <p:spPr>
          <a:xfrm>
            <a:off x="6410325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输入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BE3FE79-D3C9-48A7-B9EA-6457BA7860D7}"/>
              </a:ext>
            </a:extLst>
          </p:cNvPr>
          <p:cNvSpPr>
            <a:spLocks noGrp="1"/>
          </p:cNvSpPr>
          <p:nvPr/>
        </p:nvSpPr>
        <p:spPr>
          <a:xfrm>
            <a:off x="6410325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模型能够看到什么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2BAD833-E814-4C30-AAE2-C668FD1677F6}"/>
              </a:ext>
            </a:extLst>
          </p:cNvPr>
          <p:cNvSpPr>
            <a:spLocks noGrp="1"/>
          </p:cNvSpPr>
          <p:nvPr/>
        </p:nvSpPr>
        <p:spPr>
          <a:xfrm>
            <a:off x="8939213" y="200025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82F6AA2-BC2E-4C21-92FF-D9298D8334F4}"/>
              </a:ext>
            </a:extLst>
          </p:cNvPr>
          <p:cNvSpPr>
            <a:spLocks noGrp="1"/>
          </p:cNvSpPr>
          <p:nvPr/>
        </p:nvSpPr>
        <p:spPr>
          <a:xfrm>
            <a:off x="9148763" y="217170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任务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7843CC-9D53-442E-87FC-0ECA62E7DC2D}"/>
              </a:ext>
            </a:extLst>
          </p:cNvPr>
          <p:cNvSpPr>
            <a:spLocks noGrp="1"/>
          </p:cNvSpPr>
          <p:nvPr/>
        </p:nvSpPr>
        <p:spPr>
          <a:xfrm>
            <a:off x="9148763" y="254317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模型具体判断什么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42C8C94-95DC-469A-B25F-AA768FC3722B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249CA8D-DBEC-4E16-90EF-0D3F7E311AA8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输出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DC5E867-EA6F-4A98-BC3B-1F46CF18D99B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必须返回哪些字段</a:t>
            </a:r>
            <a:endParaRPr sz="126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18082CA2-96FC-4B79-8C30-E08D8C98B0A5}"/>
              </a:ext>
            </a:extLst>
          </p:cNvPr>
          <p:cNvSpPr>
            <a:spLocks noGrp="1"/>
          </p:cNvSpPr>
          <p:nvPr/>
        </p:nvSpPr>
        <p:spPr>
          <a:xfrm>
            <a:off x="3462338" y="361950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5CA56F4-D611-4C7F-A8F0-54C161E31C4F}"/>
              </a:ext>
            </a:extLst>
          </p:cNvPr>
          <p:cNvSpPr>
            <a:spLocks noGrp="1"/>
          </p:cNvSpPr>
          <p:nvPr/>
        </p:nvSpPr>
        <p:spPr>
          <a:xfrm>
            <a:off x="3671888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约束</a:t>
            </a:r>
            <a:endParaRPr sz="174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15A11048-5204-4BCB-B34F-DCFF22A32DC5}"/>
              </a:ext>
            </a:extLst>
          </p:cNvPr>
          <p:cNvSpPr>
            <a:spLocks noGrp="1"/>
          </p:cNvSpPr>
          <p:nvPr/>
        </p:nvSpPr>
        <p:spPr>
          <a:xfrm>
            <a:off x="3671888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哪些规则必须遵守</a:t>
            </a:r>
            <a:endParaRPr sz="126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CD882CB6-E1B1-4F12-961F-FB3E474155EB}"/>
              </a:ext>
            </a:extLst>
          </p:cNvPr>
          <p:cNvSpPr>
            <a:spLocks noGrp="1"/>
          </p:cNvSpPr>
          <p:nvPr/>
        </p:nvSpPr>
        <p:spPr>
          <a:xfrm>
            <a:off x="6200775" y="3619500"/>
            <a:ext cx="2528888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E77FFBE6-BCD6-4F5B-B202-3A8618B79960}"/>
              </a:ext>
            </a:extLst>
          </p:cNvPr>
          <p:cNvSpPr>
            <a:spLocks noGrp="1"/>
          </p:cNvSpPr>
          <p:nvPr/>
        </p:nvSpPr>
        <p:spPr>
          <a:xfrm>
            <a:off x="6410325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异常</a:t>
            </a:r>
            <a:endParaRPr sz="174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FBA922C8-5A92-40F2-B5D4-AE0D5635D137}"/>
              </a:ext>
            </a:extLst>
          </p:cNvPr>
          <p:cNvSpPr>
            <a:spLocks noGrp="1"/>
          </p:cNvSpPr>
          <p:nvPr/>
        </p:nvSpPr>
        <p:spPr>
          <a:xfrm>
            <a:off x="6410325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不确定与失败怎么处理</a:t>
            </a:r>
            <a:endParaRPr sz="126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495ABAF3-74B3-44A1-B8C1-F38EE382B772}"/>
              </a:ext>
            </a:extLst>
          </p:cNvPr>
          <p:cNvSpPr>
            <a:spLocks noGrp="1"/>
          </p:cNvSpPr>
          <p:nvPr/>
        </p:nvSpPr>
        <p:spPr>
          <a:xfrm>
            <a:off x="8939213" y="3619500"/>
            <a:ext cx="2528888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52C7D57-0478-4C97-9EDA-9B513D4F6072}"/>
              </a:ext>
            </a:extLst>
          </p:cNvPr>
          <p:cNvSpPr>
            <a:spLocks noGrp="1"/>
          </p:cNvSpPr>
          <p:nvPr/>
        </p:nvSpPr>
        <p:spPr>
          <a:xfrm>
            <a:off x="9148763" y="3790950"/>
            <a:ext cx="2109788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边界</a:t>
            </a:r>
            <a:endParaRPr sz="174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6D1AB57-D82C-44A0-9BD2-4F74E57578D3}"/>
              </a:ext>
            </a:extLst>
          </p:cNvPr>
          <p:cNvSpPr>
            <a:spLocks noGrp="1"/>
          </p:cNvSpPr>
          <p:nvPr/>
        </p:nvSpPr>
        <p:spPr>
          <a:xfrm>
            <a:off x="9148763" y="4162425"/>
            <a:ext cx="2109788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明确不负责什么</a:t>
            </a:r>
            <a:endParaRPr sz="1260"/>
          </a:p>
        </p:txBody>
      </p:sp>
      <p:sp>
        <p:nvSpPr>
          <p:cNvPr id="32" name="Slide Number Placeholder 0">
            <a:extLst>
              <a:ext uri="{FF2B5EF4-FFF2-40B4-BE49-F238E27FC236}">
                <a16:creationId xmlns:a16="http://schemas.microsoft.com/office/drawing/2014/main" id="{16DEEE53-113F-4F26-89DF-20570792614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26531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BC13883-C204-4C4A-AAC2-B75E2A9C8C94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66D7A5E-55C4-4413-9D6C-D17805FE7A6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0599338-6287-4BD3-8DDB-1F02070854B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3730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C7F41FD-3228-42B7-BCFF-2ABCCEF34285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任务定义：大模型究竟应该判断什么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4CED150-44C6-4F06-905A-DFB3522A9C22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30287F0-9FF9-44EB-8807-F5B4EFD40DCF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BF81FF2-11E0-4CD6-90FE-249203CFC323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范围过大的写法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055B10D-8F37-4297-B054-69AC594474DF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7EC2E79-CD6A-4200-AA4D-55BAD06CF55F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判断文案是否合法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5E2E3C7-1E0C-4293-8136-7A3B389E2A6B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A74705D-FFC2-4858-96F2-A63AE3EB243F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默认模型掌握全部法律事实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2AE625B-D328-4D2B-880A-BC8769E8077F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0542100-E084-43FE-87AC-A2390CB5A547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责任和验收标准都不清楚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86E0A02-FA9A-4B06-B17A-3EDAEAE5393B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5E2495D-9B67-449B-8950-BA64A6FD3E97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可实现的写法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2C0AEECE-5DCF-4B89-9908-DF6F9211E2DF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D4DA900-D30D-475A-BBBD-012EACAA22CD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基于给定规则和事实识别营销表达风险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4185EBA-543D-4FD3-8DB4-A25E2E96C9D5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2BD0A16-56D6-487B-BDD6-F5B516B3762B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标记原文位置并说明依据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DC5DB79-7A70-49BB-8859-1369823AC796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98E9EF7-4A82-4094-B6E8-15CF0EC95948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输出后续处理建议和不确定原因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D8D4F21-BFA5-4508-BE92-0B6C466C639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21544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F66F83F-58C4-48FF-8018-D22A40423367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17CE525-992A-45CF-82D2-65791426905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A8667EF-CB1F-4762-96DB-06AB46BED3B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5071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F190EB2-AFF2-4A11-B80A-90B047E232A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输入设计：模型需要获得哪些信息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14F6189-E73A-4405-AA0E-CC63D751D093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0385AA9-6717-4E0F-BBB6-B7FF951D1457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8EB80F3-6878-449F-8A0D-9F253A553737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完整内容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D70A933-9CC0-4173-ABD2-5527ACADD1AA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标题、正文、按钮文案与必要上下文。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7B04052-E0FC-4451-AE24-AAC81EF25FAD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8139816-D85D-4951-90D4-9260B3BCA9E5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业务上下文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445F8BC-5516-4DAE-9A75-A11F1A64EB26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产品类型、渠道、用户、活动和内容用途。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A379AAB-972F-432A-9240-E90AFD3CAD46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81BC3FD9-D63E-45B5-8A4A-2B03FC96959D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产品事实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EAFE557F-EA9D-42B2-8AF3-3013C3AD5FF9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功能、适用范围、数据、价格和官方表述。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EFD3C3B-FF79-419B-82B1-F323AF3D7712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2E3982CE-4EE6-46CD-B135-85711AE3F16E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审核依据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55B1732-8674-40BC-BE93-57CF54A37D4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当前有效规则、解释、案例和版本信息。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C788871-2AF4-4433-BAB4-FF2851407BA4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37B8453-452F-446A-A479-10BFD9537B27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输出约束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687AE9F-C42D-4220-8CCB-85A67D0C6D65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风险类型枚举、原文定位和JSON结构要求。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57B6772-0555-45B0-AAFC-BE60D75700E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07893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696AC06-E7C9-4595-923D-CBD2ED58873E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3C91971-DF5D-45F8-8757-8FEAC9577B0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FEDCCB5-4A18-46E1-B541-9672DAD1CFE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6411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600BFB-8993-4387-9B0B-8237010B8C8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输入示例：怎样把业务上下文传给模型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C79CEED-523A-425E-92C4-92EE6F5F4EE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DDBC8B1-D4DE-4035-8D96-3719A147A369}"/>
              </a:ext>
            </a:extLst>
          </p:cNvPr>
          <p:cNvSpPr>
            <a:spLocks noGrp="1"/>
          </p:cNvSpPr>
          <p:nvPr/>
        </p:nvSpPr>
        <p:spPr>
          <a:xfrm>
            <a:off x="1238250" y="1952625"/>
            <a:ext cx="9715500" cy="3810000"/>
          </a:xfrm>
          <a:prstGeom prst="roundRect">
            <a:avLst/>
          </a:prstGeom>
          <a:solidFill>
            <a:srgbClr val="031016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6BDC41E-DB49-441D-8305-AC93D1273519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8953500" cy="3333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待审内容：完整营销文案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业务上下文：金融产品｜小红书｜成年人｜拉新活动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产品事实：历史收益数据、统计周期、风险说明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规则依据：当前有效规则V3＋正反案例</a:t>
            </a:r>
            <a:endParaRPr sz="1260"/>
          </a:p>
          <a:p>
            <a:pPr marL="0" indent="0" algn="l">
              <a:lnSpc>
                <a:spcPct val="100000"/>
              </a:lnSpc>
              <a:buNone/>
              <a:defRPr sz="1575"/>
            </a:pPr>
            <a:r>
              <a:rPr sz="1575">
                <a:solidFill>
                  <a:srgbClr val="6EE7B7"/>
                </a:solidFill>
                <a:latin typeface="Menlo"/>
                <a:ea typeface="Menlo"/>
                <a:cs typeface="Menlo"/>
              </a:rPr>
              <a:t>输出要求：限定风险类型；必须定位原文；信息不足不得编造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7BFFED-C0B4-4B4E-BD00-EDA80C33B23B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46771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8E95693-D9EE-4789-ADDF-F7A890AD54DD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C582492-1DF6-4D44-B595-00A0129AE18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3EF4912-F83A-4610-A155-DCE54BBE254D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7752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62BFBD1-324B-43DB-BE40-DA58D9E72E7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输出示例：怎样让系统稳定解析结果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3D251DB-CBEF-4FCC-9995-C1432E10C564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3D71DA6-C36B-4D5A-A201-07E906F2D1A7}"/>
              </a:ext>
            </a:extLst>
          </p:cNvPr>
          <p:cNvSpPr>
            <a:spLocks noGrp="1"/>
          </p:cNvSpPr>
          <p:nvPr/>
        </p:nvSpPr>
        <p:spPr>
          <a:xfrm>
            <a:off x="1238250" y="1952625"/>
            <a:ext cx="9715500" cy="3810000"/>
          </a:xfrm>
          <a:prstGeom prst="roundRect">
            <a:avLst/>
          </a:prstGeom>
          <a:solidFill>
            <a:srgbClr val="031016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B1AC82F-B3DE-48EB-830D-3FA5179F8D19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8953500" cy="33337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{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"overall_result": "need_human_review",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"overall_risk_level": "high",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"risks": [{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"text_span": "完全不用担心亏损",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"risk_type": "收益保证与风险隐瞒",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"reason": "暗示本金和收益不会发生损失",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"evidence": "规则V3-18",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"suggestion": "删除保证性表达并补充风险提示",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  "need_human_review": true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  }]</a:t>
            </a:r>
            <a:endParaRPr sz="1056"/>
          </a:p>
          <a:p>
            <a:pPr marL="0" indent="0" algn="l">
              <a:lnSpc>
                <a:spcPct val="100000"/>
              </a:lnSpc>
              <a:buNone/>
              <a:defRPr sz="1388"/>
            </a:pPr>
            <a:r>
              <a:rPr sz="1388">
                <a:solidFill>
                  <a:srgbClr val="6EE7B7"/>
                </a:solidFill>
                <a:latin typeface="Menlo"/>
                <a:ea typeface="Menlo"/>
                <a:cs typeface="Menlo"/>
              </a:rPr>
              <a:t>}</a:t>
            </a:r>
            <a:endParaRPr sz="1056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2FF54DF-0C19-4D72-8209-8465BCE7828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94586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11B6831-8076-4DFF-84A7-53D451A501EA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57D7D0C-4298-4A90-906C-3346203CDE6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BC4CA61-943A-4A9F-BF28-6BFB609CDEB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79092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23B8D9B-A003-4348-A0AC-0BA05AD83DA5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动作决策：模型结果如何转成业务动作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FBF3352-13FD-44D9-8611-DAA36769AB4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4D441AC-91E2-4938-8BC9-651B012BAAC1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857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46CADB1-64DD-4FA7-AC9C-FD8DA91EE157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705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模型结果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9332173-87EE-4E20-91C7-A1F7A287A01E}"/>
              </a:ext>
            </a:extLst>
          </p:cNvPr>
          <p:cNvSpPr>
            <a:spLocks noGrp="1"/>
          </p:cNvSpPr>
          <p:nvPr/>
        </p:nvSpPr>
        <p:spPr>
          <a:xfrm>
            <a:off x="3524250" y="1952625"/>
            <a:ext cx="4286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5F0DF29-06EF-4FDE-9D30-50F95D9A0919}"/>
              </a:ext>
            </a:extLst>
          </p:cNvPr>
          <p:cNvSpPr>
            <a:spLocks noGrp="1"/>
          </p:cNvSpPr>
          <p:nvPr/>
        </p:nvSpPr>
        <p:spPr>
          <a:xfrm>
            <a:off x="3600450" y="2047875"/>
            <a:ext cx="4133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系统继续检查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64B7FC5-4AF8-4CBF-9C87-63F2E6E5E86B}"/>
              </a:ext>
            </a:extLst>
          </p:cNvPr>
          <p:cNvSpPr>
            <a:spLocks noGrp="1"/>
          </p:cNvSpPr>
          <p:nvPr/>
        </p:nvSpPr>
        <p:spPr>
          <a:xfrm>
            <a:off x="7810500" y="1952625"/>
            <a:ext cx="3714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3997D30-B8C8-4AD7-8146-62CF4209DEF4}"/>
              </a:ext>
            </a:extLst>
          </p:cNvPr>
          <p:cNvSpPr>
            <a:spLocks noGrp="1"/>
          </p:cNvSpPr>
          <p:nvPr/>
        </p:nvSpPr>
        <p:spPr>
          <a:xfrm>
            <a:off x="7886700" y="2047875"/>
            <a:ext cx="3562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后续动作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97C7727-0C3C-430F-8760-032980C0A305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D8B91FA-4384-4DEC-8C58-DFD5273068CF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未发现语义风险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5D8F1D9-D5FE-475B-B9FE-CA1FD2EE5CD9}"/>
              </a:ext>
            </a:extLst>
          </p:cNvPr>
          <p:cNvSpPr>
            <a:spLocks noGrp="1"/>
          </p:cNvSpPr>
          <p:nvPr/>
        </p:nvSpPr>
        <p:spPr>
          <a:xfrm>
            <a:off x="3524250" y="2466975"/>
            <a:ext cx="4286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122AAC1-E86D-4220-9734-DC8C67FFC21E}"/>
              </a:ext>
            </a:extLst>
          </p:cNvPr>
          <p:cNvSpPr>
            <a:spLocks noGrp="1"/>
          </p:cNvSpPr>
          <p:nvPr/>
        </p:nvSpPr>
        <p:spPr>
          <a:xfrm>
            <a:off x="3619500" y="2543175"/>
            <a:ext cx="4095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规则是否命中、调用是否完整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7C2C5B0-AB98-4137-BE6A-AD3E8DDC3009}"/>
              </a:ext>
            </a:extLst>
          </p:cNvPr>
          <p:cNvSpPr>
            <a:spLocks noGrp="1"/>
          </p:cNvSpPr>
          <p:nvPr/>
        </p:nvSpPr>
        <p:spPr>
          <a:xfrm>
            <a:off x="7810500" y="2466975"/>
            <a:ext cx="3714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6A19476-80D3-4391-8953-BB80277DCE7D}"/>
              </a:ext>
            </a:extLst>
          </p:cNvPr>
          <p:cNvSpPr>
            <a:spLocks noGrp="1"/>
          </p:cNvSpPr>
          <p:nvPr/>
        </p:nvSpPr>
        <p:spPr>
          <a:xfrm>
            <a:off x="7905750" y="2543175"/>
            <a:ext cx="3524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进入整体结果合并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65F31350-5060-413F-BC7A-FE9EF649C130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7CB2C38-B6CA-498E-A452-14A408CFA12A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低风险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5754EAC1-0D7C-480D-93B3-9F32438D8453}"/>
              </a:ext>
            </a:extLst>
          </p:cNvPr>
          <p:cNvSpPr>
            <a:spLocks noGrp="1"/>
          </p:cNvSpPr>
          <p:nvPr/>
        </p:nvSpPr>
        <p:spPr>
          <a:xfrm>
            <a:off x="3524250" y="3019425"/>
            <a:ext cx="4286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CB701C4-92F2-48BD-8EE6-09C7202C16A7}"/>
              </a:ext>
            </a:extLst>
          </p:cNvPr>
          <p:cNvSpPr>
            <a:spLocks noGrp="1"/>
          </p:cNvSpPr>
          <p:nvPr/>
        </p:nvSpPr>
        <p:spPr>
          <a:xfrm>
            <a:off x="3619500" y="3095625"/>
            <a:ext cx="4095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是否允许运营自行处理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905B03E-244C-44D9-AEC3-032F3F254EFD}"/>
              </a:ext>
            </a:extLst>
          </p:cNvPr>
          <p:cNvSpPr>
            <a:spLocks noGrp="1"/>
          </p:cNvSpPr>
          <p:nvPr/>
        </p:nvSpPr>
        <p:spPr>
          <a:xfrm>
            <a:off x="7810500" y="3019425"/>
            <a:ext cx="3714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E5C3B00-50CC-44AB-9102-F5E8209C3889}"/>
              </a:ext>
            </a:extLst>
          </p:cNvPr>
          <p:cNvSpPr>
            <a:spLocks noGrp="1"/>
          </p:cNvSpPr>
          <p:nvPr/>
        </p:nvSpPr>
        <p:spPr>
          <a:xfrm>
            <a:off x="7905750" y="3095625"/>
            <a:ext cx="3524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建议修改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E57964A-754B-4F63-B6D2-1240E449E39F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F58AD35-ED57-4860-8541-FC2D78AE2404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中风险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9B6BABC1-7F1B-4C66-B611-66CEC941912F}"/>
              </a:ext>
            </a:extLst>
          </p:cNvPr>
          <p:cNvSpPr>
            <a:spLocks noGrp="1"/>
          </p:cNvSpPr>
          <p:nvPr/>
        </p:nvSpPr>
        <p:spPr>
          <a:xfrm>
            <a:off x="3524250" y="3571875"/>
            <a:ext cx="4286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7018EC-59A1-4A2C-895B-C8105A68566B}"/>
              </a:ext>
            </a:extLst>
          </p:cNvPr>
          <p:cNvSpPr>
            <a:spLocks noGrp="1"/>
          </p:cNvSpPr>
          <p:nvPr/>
        </p:nvSpPr>
        <p:spPr>
          <a:xfrm>
            <a:off x="3619500" y="3648075"/>
            <a:ext cx="4095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规则要求与业务场景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F59EC980-309F-488B-8FCA-8DBC3BA3D5C9}"/>
              </a:ext>
            </a:extLst>
          </p:cNvPr>
          <p:cNvSpPr>
            <a:spLocks noGrp="1"/>
          </p:cNvSpPr>
          <p:nvPr/>
        </p:nvSpPr>
        <p:spPr>
          <a:xfrm>
            <a:off x="7810500" y="3571875"/>
            <a:ext cx="3714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55F40E2-6688-4CFB-BA88-89FD67FA724D}"/>
              </a:ext>
            </a:extLst>
          </p:cNvPr>
          <p:cNvSpPr>
            <a:spLocks noGrp="1"/>
          </p:cNvSpPr>
          <p:nvPr/>
        </p:nvSpPr>
        <p:spPr>
          <a:xfrm>
            <a:off x="7905750" y="3648075"/>
            <a:ext cx="3524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退回修改或人工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D1894657-D0DB-4C1A-8946-7ED672AD4B6D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857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0EE4E75-3DF4-48FE-859F-39CBD3B8F0CB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高风险/信息不足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9EFB3FB2-40A6-4070-AE05-5540EE18C3F4}"/>
              </a:ext>
            </a:extLst>
          </p:cNvPr>
          <p:cNvSpPr>
            <a:spLocks noGrp="1"/>
          </p:cNvSpPr>
          <p:nvPr/>
        </p:nvSpPr>
        <p:spPr>
          <a:xfrm>
            <a:off x="3524250" y="4124325"/>
            <a:ext cx="4286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DB1F87BD-BFB7-48A3-9D6C-698B4B02031E}"/>
              </a:ext>
            </a:extLst>
          </p:cNvPr>
          <p:cNvSpPr>
            <a:spLocks noGrp="1"/>
          </p:cNvSpPr>
          <p:nvPr/>
        </p:nvSpPr>
        <p:spPr>
          <a:xfrm>
            <a:off x="3619500" y="4200525"/>
            <a:ext cx="4095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高风险路由和缺失信息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A25A0413-7C87-42C9-8529-EC94F7133390}"/>
              </a:ext>
            </a:extLst>
          </p:cNvPr>
          <p:cNvSpPr>
            <a:spLocks noGrp="1"/>
          </p:cNvSpPr>
          <p:nvPr/>
        </p:nvSpPr>
        <p:spPr>
          <a:xfrm>
            <a:off x="7810500" y="4124325"/>
            <a:ext cx="3714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493C0A5-E236-4AA7-A3FC-8F979802FFF3}"/>
              </a:ext>
            </a:extLst>
          </p:cNvPr>
          <p:cNvSpPr>
            <a:spLocks noGrp="1"/>
          </p:cNvSpPr>
          <p:nvPr/>
        </p:nvSpPr>
        <p:spPr>
          <a:xfrm>
            <a:off x="7905750" y="4200525"/>
            <a:ext cx="3524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转人工或补充信息</a:t>
            </a:r>
            <a:endParaRPr sz="1236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E140217E-3AA8-4499-96E2-7D5928A5911E}"/>
              </a:ext>
            </a:extLst>
          </p:cNvPr>
          <p:cNvSpPr>
            <a:spLocks noGrp="1"/>
          </p:cNvSpPr>
          <p:nvPr/>
        </p:nvSpPr>
        <p:spPr>
          <a:xfrm>
            <a:off x="666750" y="4676775"/>
            <a:ext cx="2857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812839AE-66D9-4E4B-9A7B-9E8B8386E7A3}"/>
              </a:ext>
            </a:extLst>
          </p:cNvPr>
          <p:cNvSpPr>
            <a:spLocks noGrp="1"/>
          </p:cNvSpPr>
          <p:nvPr/>
        </p:nvSpPr>
        <p:spPr>
          <a:xfrm>
            <a:off x="762000" y="4752975"/>
            <a:ext cx="2667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输出异常/调用失败</a:t>
            </a:r>
            <a:endParaRPr sz="1236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F2151779-D0AE-4F74-BF70-69D256A79B1B}"/>
              </a:ext>
            </a:extLst>
          </p:cNvPr>
          <p:cNvSpPr>
            <a:spLocks noGrp="1"/>
          </p:cNvSpPr>
          <p:nvPr/>
        </p:nvSpPr>
        <p:spPr>
          <a:xfrm>
            <a:off x="3524250" y="4676775"/>
            <a:ext cx="4286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10DA27FB-233E-4915-9681-E5BF2970E5CA}"/>
              </a:ext>
            </a:extLst>
          </p:cNvPr>
          <p:cNvSpPr>
            <a:spLocks noGrp="1"/>
          </p:cNvSpPr>
          <p:nvPr/>
        </p:nvSpPr>
        <p:spPr>
          <a:xfrm>
            <a:off x="3619500" y="4752975"/>
            <a:ext cx="4095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能否安全重试</a:t>
            </a:r>
            <a:endParaRPr sz="1236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5646DC86-9DEC-4794-9273-50DF7DADB38B}"/>
              </a:ext>
            </a:extLst>
          </p:cNvPr>
          <p:cNvSpPr>
            <a:spLocks noGrp="1"/>
          </p:cNvSpPr>
          <p:nvPr/>
        </p:nvSpPr>
        <p:spPr>
          <a:xfrm>
            <a:off x="7810500" y="4676775"/>
            <a:ext cx="3714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2A0E227A-951A-428A-9FB3-B626183D39E3}"/>
              </a:ext>
            </a:extLst>
          </p:cNvPr>
          <p:cNvSpPr>
            <a:spLocks noGrp="1"/>
          </p:cNvSpPr>
          <p:nvPr/>
        </p:nvSpPr>
        <p:spPr>
          <a:xfrm>
            <a:off x="7905750" y="4752975"/>
            <a:ext cx="3524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重试后转人工</a:t>
            </a:r>
            <a:endParaRPr sz="1236"/>
          </a:p>
        </p:txBody>
      </p:sp>
      <p:sp>
        <p:nvSpPr>
          <p:cNvPr id="44" name="Slide Number Placeholder 0">
            <a:extLst>
              <a:ext uri="{FF2B5EF4-FFF2-40B4-BE49-F238E27FC236}">
                <a16:creationId xmlns:a16="http://schemas.microsoft.com/office/drawing/2014/main" id="{DFE3400F-F19D-464F-B158-F816DA673FC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829131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C73C238-A7D6-4DB4-BFDF-C27A60C1B535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000DFA6-5294-4063-80FF-AD5F4156BFB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EC71259-F2D6-4862-A1F4-0FD320988C1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0433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4E377B9-9860-405F-AA57-CC6B1E781DCD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任务拆分：修改建议和自动改写有何不同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D988A6C-6969-4F6D-A444-1275C7846D0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EFEA1DD-DFD7-43A3-8E27-0ACF0FEF028B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DF91AC8-0722-4F0C-A144-ABDC1379911B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模型可以提供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CF82909-560B-4A5C-A8EE-7D027D16A35F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A576A3-9C42-4188-ABE9-94BE8FF261CD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应删除或弱化的表达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B1D7743-BCCC-4DFD-9F19-D5F446A92719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26783C1-4E23-4AD5-87FD-6F5FD738F2BE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需要补充的限制条件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1395AA2-98E4-457B-930B-F51AC72CB202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6E438F7-97BA-43BB-B683-E84CF2B1ED1B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一条参考性示例表达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2274574-2370-4159-B8B6-7EC1BD99575D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79FF06-B782-4B60-A073-C41BB1B6C816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第一版不能自动做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15F9030-A222-4984-8524-BF0435703792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08DF667-650C-47B6-B252-F6702FEFC726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直接覆盖运营原文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508215E-84A2-4C40-A273-0C2720BB8C34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F95BF1F-9092-4B9E-B7AA-A90ADC587E7E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跳过重新审核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767D1B2-D08B-4F7F-B83F-10531E7DF119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0AF3C26-B85F-4581-B5BF-E122D71C2F7C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在缺少事实时自行补充内容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A9DBFE1-9294-4880-8F5C-9548FF243D2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60954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C52005AB-811B-4934-85E0-8354D26BA849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7117C6B-28F9-40BE-A8CB-FF97E728AA8F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80F0CD2-D224-4802-BC65-E06519F5E68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1773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DAB9828-5EA3-4A70-81AA-3AFB3756B7B6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异常定义：不确定和失败结果如何处理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9AB526-8D1A-47F8-A67D-37D073A5A0E1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A5B908D-95A8-44A7-8C68-58C123522878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A600A55-3E82-430B-A164-E7A46D6D9731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信息不足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2A8488F-F823-435F-B2D4-A03D0C498EC6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指出缺少什么、为何影响判断，以及补充或转人工。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24460E9-4886-44F5-8578-27BD122465C7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2E8D32A-4835-4654-925F-B79B05C4F3A4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依据冲突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56BB7E5-BA0C-4A00-81AB-F959D4DE44C1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展示冲突依据，不让模型自行选择最终结论。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28936D5-DD2B-49BB-8688-F03664381A39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A3C1FE9-6C6E-4C55-9D77-58BE6CA57A20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定位不稳定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CFEB72C-BEB8-4D71-897A-3D7A6034D94F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允许返回段落级风险，并降低自动处理程度。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E9C56AF-76F3-410B-BB04-B51777DDF1B7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6E2DFC6-8341-4771-9AAD-1EDA5D4C9FFA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结构错误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1FE7928-0509-48F9-BD0A-A049A70BE773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缺字段、值越界或无法解析都视为机器失败。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2427706-6159-4F16-B97E-1061841E5134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6F52B753-076F-4895-AE07-C2D283BBF10B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调用失败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520681D-CACF-4C55-8953-9C6F79B4D482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有限安全重试，仍失败则转人工并保留记录。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BCC5AAC-ED8B-4C77-A5B0-E1C384D317F8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49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33059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E2A6265-8C1B-4CA4-849C-34824BC9C5B4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项目第5步 · 能力契约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5D0A4BE-BE66-435C-8064-A3180849F107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8A454F7-C901-4007-9AFF-8C71E355674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3114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90F7373-5746-49C4-B6E4-C541B3E82A60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能力边界：哪些责任不能交给大模型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635D7D-FF30-47EC-9186-564B934C2BE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A93DB25-3807-4AD3-B097-9ABB6CC5A6C1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4381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DDF543-9BB1-4476-88E3-113842931940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4229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模型不负责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879CCE0-2235-421D-8309-42CAF0D9CF30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64770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4D1F877-F3E0-4DDC-B2E4-F4BE8A921ED9}"/>
              </a:ext>
            </a:extLst>
          </p:cNvPr>
          <p:cNvSpPr>
            <a:spLocks noGrp="1"/>
          </p:cNvSpPr>
          <p:nvPr/>
        </p:nvSpPr>
        <p:spPr>
          <a:xfrm>
            <a:off x="5124450" y="2047875"/>
            <a:ext cx="6324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原因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E0F0BF5-41DF-4711-943C-0BDC4DA0F0A5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4381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33288D8-9DD5-4B7D-8812-298BB3AF79A0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替代法务或规则负责人作最终结论</a:t>
            </a:r>
            <a:endParaRPr sz="1236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01A60FC-5CE9-473B-9FA4-DB124EB6A804}"/>
              </a:ext>
            </a:extLst>
          </p:cNvPr>
          <p:cNvSpPr>
            <a:spLocks noGrp="1"/>
          </p:cNvSpPr>
          <p:nvPr/>
        </p:nvSpPr>
        <p:spPr>
          <a:xfrm>
            <a:off x="5048250" y="2466975"/>
            <a:ext cx="6477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B60A1E4-48AB-4FD5-92F3-A9A5C03F123C}"/>
              </a:ext>
            </a:extLst>
          </p:cNvPr>
          <p:cNvSpPr>
            <a:spLocks noGrp="1"/>
          </p:cNvSpPr>
          <p:nvPr/>
        </p:nvSpPr>
        <p:spPr>
          <a:xfrm>
            <a:off x="5143500" y="2543175"/>
            <a:ext cx="628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模型不承担最终业务与法律责任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69B7DAE-F4D0-4542-8B77-3C263238CC37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4381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D7F94A5-E939-4E20-95B0-817598715551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判断未提供证据的产品事实是否真实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C459091F-40CF-42F2-B3D9-38BC9E9C8499}"/>
              </a:ext>
            </a:extLst>
          </p:cNvPr>
          <p:cNvSpPr>
            <a:spLocks noGrp="1"/>
          </p:cNvSpPr>
          <p:nvPr/>
        </p:nvSpPr>
        <p:spPr>
          <a:xfrm>
            <a:off x="5048250" y="3019425"/>
            <a:ext cx="6477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D9DCB0E-9803-4011-82AE-FD34924D8217}"/>
              </a:ext>
            </a:extLst>
          </p:cNvPr>
          <p:cNvSpPr>
            <a:spLocks noGrp="1"/>
          </p:cNvSpPr>
          <p:nvPr/>
        </p:nvSpPr>
        <p:spPr>
          <a:xfrm>
            <a:off x="5143500" y="3095625"/>
            <a:ext cx="628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模型不能凭常识补齐内部事实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7BF54E99-DFBB-4308-87BB-D2F9EDF09757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381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E3FE523-5645-4566-A62E-221DDCBC2451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自动放行高风险或不确定内容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E1E4318-A227-414D-9356-2EF89DF161CB}"/>
              </a:ext>
            </a:extLst>
          </p:cNvPr>
          <p:cNvSpPr>
            <a:spLocks noGrp="1"/>
          </p:cNvSpPr>
          <p:nvPr/>
        </p:nvSpPr>
        <p:spPr>
          <a:xfrm>
            <a:off x="5048250" y="3571875"/>
            <a:ext cx="6477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9CA062B-0DC7-4322-BA3B-97191DCAC5CD}"/>
              </a:ext>
            </a:extLst>
          </p:cNvPr>
          <p:cNvSpPr>
            <a:spLocks noGrp="1"/>
          </p:cNvSpPr>
          <p:nvPr/>
        </p:nvSpPr>
        <p:spPr>
          <a:xfrm>
            <a:off x="5143500" y="3648075"/>
            <a:ext cx="628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业务动作由系统规则与人工控制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A663CC3-7081-42BD-948B-A6601AC0EE03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4381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3D9BFD-5DCB-4F8E-BB17-56AFC68B01A1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自动覆盖原文、发布、删除或处罚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BDD9DEA-6FD3-40AD-AB69-3D2207A6D2BF}"/>
              </a:ext>
            </a:extLst>
          </p:cNvPr>
          <p:cNvSpPr>
            <a:spLocks noGrp="1"/>
          </p:cNvSpPr>
          <p:nvPr/>
        </p:nvSpPr>
        <p:spPr>
          <a:xfrm>
            <a:off x="5048250" y="4124325"/>
            <a:ext cx="64770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29361D51-C4B2-486F-B88F-0E606BD4A9B6}"/>
              </a:ext>
            </a:extLst>
          </p:cNvPr>
          <p:cNvSpPr>
            <a:spLocks noGrp="1"/>
          </p:cNvSpPr>
          <p:nvPr/>
        </p:nvSpPr>
        <p:spPr>
          <a:xfrm>
            <a:off x="5143500" y="4200525"/>
            <a:ext cx="628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建议仍需用户确认并重新审核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69022581-F318-4E3B-9F73-BFD92BF02913}"/>
              </a:ext>
            </a:extLst>
          </p:cNvPr>
          <p:cNvSpPr>
            <a:spLocks noGrp="1"/>
          </p:cNvSpPr>
          <p:nvPr/>
        </p:nvSpPr>
        <p:spPr>
          <a:xfrm>
            <a:off x="666750" y="4676775"/>
            <a:ext cx="4381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33A3C32-A97A-40B7-888A-0C91D175B07A}"/>
              </a:ext>
            </a:extLst>
          </p:cNvPr>
          <p:cNvSpPr>
            <a:spLocks noGrp="1"/>
          </p:cNvSpPr>
          <p:nvPr/>
        </p:nvSpPr>
        <p:spPr>
          <a:xfrm>
            <a:off x="762000" y="4752975"/>
            <a:ext cx="4191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在缺少依据时编造审核规则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300DF00-A183-4583-9061-F9755111535B}"/>
              </a:ext>
            </a:extLst>
          </p:cNvPr>
          <p:cNvSpPr>
            <a:spLocks noGrp="1"/>
          </p:cNvSpPr>
          <p:nvPr/>
        </p:nvSpPr>
        <p:spPr>
          <a:xfrm>
            <a:off x="5048250" y="4676775"/>
            <a:ext cx="64770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ACD4744C-5299-4DDD-B776-E2AE628FDF99}"/>
              </a:ext>
            </a:extLst>
          </p:cNvPr>
          <p:cNvSpPr>
            <a:spLocks noGrp="1"/>
          </p:cNvSpPr>
          <p:nvPr/>
        </p:nvSpPr>
        <p:spPr>
          <a:xfrm>
            <a:off x="5143500" y="4752975"/>
            <a:ext cx="62865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必须允许返回信息不足</a:t>
            </a:r>
            <a:endParaRPr sz="1236"/>
          </a:p>
        </p:txBody>
      </p:sp>
      <p:sp>
        <p:nvSpPr>
          <p:cNvPr id="32" name="Slide Number Placeholder 0">
            <a:extLst>
              <a:ext uri="{FF2B5EF4-FFF2-40B4-BE49-F238E27FC236}">
                <a16:creationId xmlns:a16="http://schemas.microsoft.com/office/drawing/2014/main" id="{2402B35F-67C6-4486-8593-153CE856A51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20230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938DC04-58B1-493E-AC50-66C6CD14FE27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A263C41-7DF2-4EDB-88F2-4C84620622C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D9131DC-1CBC-49E1-9E42-B0614389209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5795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7706EC1-310B-480E-8795-E8CCFD31DE0F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06 评测集来源与验收约定</a:t>
            </a:r>
            <a:endParaRPr sz="408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90450E5-558F-4068-ADFA-5590C8B0D129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0E18C94-D0D7-4986-8280-FE3C2DB351D7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能力契约写清后，约定用什么数据、如何判断能否上线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9C2B831-8C2F-40FC-9CE3-32440414B16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929669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E6BD030-1CD2-4E69-8E93-52A65E9A1925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5EC4CED-5115-4A3D-BA63-2D20F8D952AF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1D8093B-05E7-4E87-861D-C1457D6DAA4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7136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D871ED3-A2B6-441E-9445-E4353D8C1B4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数据来源：首版评测集从哪里获得样本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C6567E-43BF-4C1A-B6A5-B25FF726C7C6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64153E7-25AE-4E3A-88F6-F9256934B910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EF965AA-6045-43D4-ABF2-C5639FD0BA95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历史记录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AF96CC4-9A41-4F38-879F-2D4F2EE97274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通过、驳回、修改前后版本和人工备注。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232E011-7553-47C5-AD74-E5DF0A3D568F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1F5449A-712C-4417-AA19-AC531E652DA7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高风险案例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84CE45A-6F3E-40A4-8B24-1F68C51C54B4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投诉、损失、红线和不能漏掉的典型问题。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B9E7EEF8-BE6C-4633-8361-FD527B441FA4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DF174CD-4F90-4A91-8140-DA8F19FAA34F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争议案例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EB826E9-00AF-4040-A219-FD90EEA2182E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审核分歧、申诉、升级和规则冲突内容。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E9B6F66-2B17-48FC-B812-7BD3BB7B076B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3441700" cy="14097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82326DF-9552-4E3C-9DDC-E8031C1C9256}"/>
              </a:ext>
            </a:extLst>
          </p:cNvPr>
          <p:cNvSpPr>
            <a:spLocks noGrp="1"/>
          </p:cNvSpPr>
          <p:nvPr/>
        </p:nvSpPr>
        <p:spPr>
          <a:xfrm>
            <a:off x="93345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近期样本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E447AFA-F84F-4DF1-977F-538EE6BB64F6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最近业务、新产品、新渠道和新型规避表达。</a:t>
            </a:r>
            <a:endParaRPr sz="126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3694906-DEB3-4721-AF71-39EAFFA94549}"/>
              </a:ext>
            </a:extLst>
          </p:cNvPr>
          <p:cNvSpPr>
            <a:spLocks noGrp="1"/>
          </p:cNvSpPr>
          <p:nvPr/>
        </p:nvSpPr>
        <p:spPr>
          <a:xfrm>
            <a:off x="4375150" y="3619500"/>
            <a:ext cx="3441700" cy="14097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FD8158A-9758-4182-92A7-E24573AC558F}"/>
              </a:ext>
            </a:extLst>
          </p:cNvPr>
          <p:cNvSpPr>
            <a:spLocks noGrp="1"/>
          </p:cNvSpPr>
          <p:nvPr/>
        </p:nvSpPr>
        <p:spPr>
          <a:xfrm>
            <a:off x="4584700" y="379095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边界样本</a:t>
            </a:r>
            <a:endParaRPr sz="174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BF94643-B12C-4942-B833-9325884DBDE5}"/>
              </a:ext>
            </a:extLst>
          </p:cNvPr>
          <p:cNvSpPr>
            <a:spLocks noGrp="1"/>
          </p:cNvSpPr>
          <p:nvPr/>
        </p:nvSpPr>
        <p:spPr>
          <a:xfrm>
            <a:off x="4584700" y="4162425"/>
            <a:ext cx="3022600" cy="7524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人工构造并用模型扩写的正反与临界变体。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3CA294D-DD4F-468D-A231-002D0BAF1BA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308287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FC67E65-E8A4-4D8E-BF7D-FE5D6BB916E3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D4F51B1-5112-48E7-BB91-45145969C15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1CA5339-BF4C-4B1E-ACB5-F55CF85FECD5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8476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9196EFA-D806-495B-A72B-72F8A668676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标签治理：历史标签为什么不能直接使用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FFDB055-DEED-4F61-8A2C-42DC9FDDE6A2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F5E9DA2-07DB-4CA8-BB17-2424BCDB04B2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9334500" cy="895350"/>
          </a:xfrm>
          <a:prstGeom prst="roundRect">
            <a:avLst/>
          </a:prstGeom>
          <a:solidFill>
            <a:srgbClr val="31191B"/>
          </a:solidFill>
          <a:ln w="12700">
            <a:solidFill>
              <a:srgbClr val="FF8A7A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3B6DFB6-4CCB-4546-AD24-751E16CB2BD5}"/>
              </a:ext>
            </a:extLst>
          </p:cNvPr>
          <p:cNvSpPr>
            <a:spLocks noGrp="1"/>
          </p:cNvSpPr>
          <p:nvPr/>
        </p:nvSpPr>
        <p:spPr>
          <a:xfrm>
            <a:off x="1657350" y="2143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FF8A7A"/>
                </a:solidFill>
                <a:latin typeface="PingFang SC"/>
                <a:ea typeface="PingFang SC"/>
                <a:cs typeface="PingFang SC"/>
              </a:rPr>
              <a:t>历史数据的价值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F171BB3-8A4E-4EBB-B370-61660DFFD677}"/>
              </a:ext>
            </a:extLst>
          </p:cNvPr>
          <p:cNvSpPr>
            <a:spLocks noGrp="1"/>
          </p:cNvSpPr>
          <p:nvPr/>
        </p:nvSpPr>
        <p:spPr>
          <a:xfrm>
            <a:off x="3857625" y="2143125"/>
            <a:ext cx="66198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来自真实业务，能够反映常见表达、风险分布和人工流程。</a:t>
            </a:r>
            <a:endParaRPr sz="144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244EE8A-F001-4B28-9709-3C158B3ED4DD}"/>
              </a:ext>
            </a:extLst>
          </p:cNvPr>
          <p:cNvSpPr>
            <a:spLocks noGrp="1"/>
          </p:cNvSpPr>
          <p:nvPr/>
        </p:nvSpPr>
        <p:spPr>
          <a:xfrm>
            <a:off x="1905000" y="3143250"/>
            <a:ext cx="8382000" cy="89535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80E36E8-23C2-487A-9059-A64DCB74C6A1}"/>
              </a:ext>
            </a:extLst>
          </p:cNvPr>
          <p:cNvSpPr>
            <a:spLocks noGrp="1"/>
          </p:cNvSpPr>
          <p:nvPr/>
        </p:nvSpPr>
        <p:spPr>
          <a:xfrm>
            <a:off x="2133600" y="3286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历史数据的问题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22A346A-95E2-49CC-B910-5AACE06FCB01}"/>
              </a:ext>
            </a:extLst>
          </p:cNvPr>
          <p:cNvSpPr>
            <a:spLocks noGrp="1"/>
          </p:cNvSpPr>
          <p:nvPr/>
        </p:nvSpPr>
        <p:spPr>
          <a:xfrm>
            <a:off x="4333875" y="3286125"/>
            <a:ext cx="56673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人工标准不一、规则可能失效、备注不完整、旧错误可能被保留。</a:t>
            </a:r>
            <a:endParaRPr sz="144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596EA3E-239D-4A45-93C3-E0CFD3C4CD5E}"/>
              </a:ext>
            </a:extLst>
          </p:cNvPr>
          <p:cNvSpPr>
            <a:spLocks noGrp="1"/>
          </p:cNvSpPr>
          <p:nvPr/>
        </p:nvSpPr>
        <p:spPr>
          <a:xfrm>
            <a:off x="2381250" y="4286250"/>
            <a:ext cx="7429500" cy="89535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8B88154E-CAB4-449F-9F98-6D2055BB9023}"/>
              </a:ext>
            </a:extLst>
          </p:cNvPr>
          <p:cNvSpPr>
            <a:spLocks noGrp="1"/>
          </p:cNvSpPr>
          <p:nvPr/>
        </p:nvSpPr>
        <p:spPr>
          <a:xfrm>
            <a:off x="2609850" y="4429125"/>
            <a:ext cx="219075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进入评测集前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111B55D-472B-44B2-A8BE-40368F9C233D}"/>
              </a:ext>
            </a:extLst>
          </p:cNvPr>
          <p:cNvSpPr>
            <a:spLocks noGrp="1"/>
          </p:cNvSpPr>
          <p:nvPr/>
        </p:nvSpPr>
        <p:spPr>
          <a:xfrm>
            <a:off x="4810125" y="4429125"/>
            <a:ext cx="4714875" cy="52387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44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历史样本抽样复核；高风险和争议样本逐条确认。</a:t>
            </a:r>
            <a:endParaRPr sz="144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43C9391-6B23-4B87-A5CD-D2BF549DA484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83678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C46B508-E869-40EA-8F49-159A48A17738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4396117-2910-44A7-8D72-9FE4FBCEB3A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4B93936-D7E8-4392-9EB1-806A53C0C7EF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89817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C42C198-C1AE-4899-B375-D938A4788DF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表格结构：评测集每一行要记录什么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9E5A832-3643-415A-8916-3368BD65990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D011EDE-B2AD-4DA3-9A1D-DE6723E24282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381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FF90E98-0460-403B-AF69-776FCCD4405E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228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字段组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9D076D5-743E-4467-A50D-95B069042E91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5238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37C9DCB-A350-4587-AEC2-EF928F0185F0}"/>
              </a:ext>
            </a:extLst>
          </p:cNvPr>
          <p:cNvSpPr>
            <a:spLocks noGrp="1"/>
          </p:cNvSpPr>
          <p:nvPr/>
        </p:nvSpPr>
        <p:spPr>
          <a:xfrm>
            <a:off x="3124200" y="2047875"/>
            <a:ext cx="5086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典型字段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C525FB5-9D4A-4702-B0C1-C35AC3A0187E}"/>
              </a:ext>
            </a:extLst>
          </p:cNvPr>
          <p:cNvSpPr>
            <a:spLocks noGrp="1"/>
          </p:cNvSpPr>
          <p:nvPr/>
        </p:nvSpPr>
        <p:spPr>
          <a:xfrm>
            <a:off x="8286750" y="1952625"/>
            <a:ext cx="3238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4575E35-CC19-4E01-A763-3671CAC1BC67}"/>
              </a:ext>
            </a:extLst>
          </p:cNvPr>
          <p:cNvSpPr>
            <a:spLocks noGrp="1"/>
          </p:cNvSpPr>
          <p:nvPr/>
        </p:nvSpPr>
        <p:spPr>
          <a:xfrm>
            <a:off x="8362950" y="2047875"/>
            <a:ext cx="3086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作用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6A1AC35-D215-4BF3-A929-A946671131EE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381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C578296-0A19-4C30-BC89-065FBB3C9C2C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样本输入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124E67A-FC6D-4B75-B40E-8D19FC537C7C}"/>
              </a:ext>
            </a:extLst>
          </p:cNvPr>
          <p:cNvSpPr>
            <a:spLocks noGrp="1"/>
          </p:cNvSpPr>
          <p:nvPr/>
        </p:nvSpPr>
        <p:spPr>
          <a:xfrm>
            <a:off x="3048000" y="2466975"/>
            <a:ext cx="5238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24EBD2B-69FE-488B-8A4F-12A6313ADB73}"/>
              </a:ext>
            </a:extLst>
          </p:cNvPr>
          <p:cNvSpPr>
            <a:spLocks noGrp="1"/>
          </p:cNvSpPr>
          <p:nvPr/>
        </p:nvSpPr>
        <p:spPr>
          <a:xfrm>
            <a:off x="3143250" y="2543175"/>
            <a:ext cx="5048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文案、业务场景、产品事实、渠道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EEC1B716-5BCB-40D4-A175-B0C6E45C9FC2}"/>
              </a:ext>
            </a:extLst>
          </p:cNvPr>
          <p:cNvSpPr>
            <a:spLocks noGrp="1"/>
          </p:cNvSpPr>
          <p:nvPr/>
        </p:nvSpPr>
        <p:spPr>
          <a:xfrm>
            <a:off x="8286750" y="2466975"/>
            <a:ext cx="3238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2A2D102-23AB-4309-A535-1752485341BB}"/>
              </a:ext>
            </a:extLst>
          </p:cNvPr>
          <p:cNvSpPr>
            <a:spLocks noGrp="1"/>
          </p:cNvSpPr>
          <p:nvPr/>
        </p:nvSpPr>
        <p:spPr>
          <a:xfrm>
            <a:off x="8382000" y="2543175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还原模型实际可见信息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82523E3-BE36-4DCE-9C5C-9767EB506B80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381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74A0F27-59DE-4D96-B77C-958773929AF9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标准答案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908C2E50-AB08-416B-9717-540CAD8C4404}"/>
              </a:ext>
            </a:extLst>
          </p:cNvPr>
          <p:cNvSpPr>
            <a:spLocks noGrp="1"/>
          </p:cNvSpPr>
          <p:nvPr/>
        </p:nvSpPr>
        <p:spPr>
          <a:xfrm>
            <a:off x="3048000" y="3019425"/>
            <a:ext cx="5238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EB03C1B-699C-44A5-AECD-5725DB58C564}"/>
              </a:ext>
            </a:extLst>
          </p:cNvPr>
          <p:cNvSpPr>
            <a:spLocks noGrp="1"/>
          </p:cNvSpPr>
          <p:nvPr/>
        </p:nvSpPr>
        <p:spPr>
          <a:xfrm>
            <a:off x="3143250" y="3095625"/>
            <a:ext cx="5048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风险类型、等级、位置、预期处理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D256B01-0709-48FD-9360-D99EB185B71E}"/>
              </a:ext>
            </a:extLst>
          </p:cNvPr>
          <p:cNvSpPr>
            <a:spLocks noGrp="1"/>
          </p:cNvSpPr>
          <p:nvPr/>
        </p:nvSpPr>
        <p:spPr>
          <a:xfrm>
            <a:off x="8286750" y="3019425"/>
            <a:ext cx="3238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29FF33D-5F3C-4481-AB20-5CA329171611}"/>
              </a:ext>
            </a:extLst>
          </p:cNvPr>
          <p:cNvSpPr>
            <a:spLocks noGrp="1"/>
          </p:cNvSpPr>
          <p:nvPr/>
        </p:nvSpPr>
        <p:spPr>
          <a:xfrm>
            <a:off x="8382000" y="3095625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明确什么算正确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BE8DD176-DD45-435F-882E-DAEB89A1E23C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381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E75A085-3489-4075-A21F-9F7A9D62FCCD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样本元数据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CC865F5-363B-4DCD-9567-55A272934D2B}"/>
              </a:ext>
            </a:extLst>
          </p:cNvPr>
          <p:cNvSpPr>
            <a:spLocks noGrp="1"/>
          </p:cNvSpPr>
          <p:nvPr/>
        </p:nvSpPr>
        <p:spPr>
          <a:xfrm>
            <a:off x="3048000" y="3571875"/>
            <a:ext cx="5238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5110BF47-6D26-45AD-8729-E7BFEC7CCB0D}"/>
              </a:ext>
            </a:extLst>
          </p:cNvPr>
          <p:cNvSpPr>
            <a:spLocks noGrp="1"/>
          </p:cNvSpPr>
          <p:nvPr/>
        </p:nvSpPr>
        <p:spPr>
          <a:xfrm>
            <a:off x="3143250" y="3648075"/>
            <a:ext cx="5048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来源、重要性、确认人、规则版本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E7A3F670-7316-4C17-9517-5E6AFE340FAF}"/>
              </a:ext>
            </a:extLst>
          </p:cNvPr>
          <p:cNvSpPr>
            <a:spLocks noGrp="1"/>
          </p:cNvSpPr>
          <p:nvPr/>
        </p:nvSpPr>
        <p:spPr>
          <a:xfrm>
            <a:off x="8286750" y="3571875"/>
            <a:ext cx="3238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D1C283B6-1987-40A4-8806-ADBACB99445B}"/>
              </a:ext>
            </a:extLst>
          </p:cNvPr>
          <p:cNvSpPr>
            <a:spLocks noGrp="1"/>
          </p:cNvSpPr>
          <p:nvPr/>
        </p:nvSpPr>
        <p:spPr>
          <a:xfrm>
            <a:off x="8382000" y="3648075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保证可追溯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46ACA090-AE91-4B7C-91D8-1EA2C1F7F728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381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11283B8A-3DE4-45E9-BB5A-E494E8AFF5C4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运行记录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B5FA68B-7DE3-4783-ACBB-79FCF1E77A60}"/>
              </a:ext>
            </a:extLst>
          </p:cNvPr>
          <p:cNvSpPr>
            <a:spLocks noGrp="1"/>
          </p:cNvSpPr>
          <p:nvPr/>
        </p:nvSpPr>
        <p:spPr>
          <a:xfrm>
            <a:off x="3048000" y="4124325"/>
            <a:ext cx="5238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4BE57608-A6B2-4DE2-87BF-C885182EAF8B}"/>
              </a:ext>
            </a:extLst>
          </p:cNvPr>
          <p:cNvSpPr>
            <a:spLocks noGrp="1"/>
          </p:cNvSpPr>
          <p:nvPr/>
        </p:nvSpPr>
        <p:spPr>
          <a:xfrm>
            <a:off x="3143250" y="4200525"/>
            <a:ext cx="5048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模型输出、版本、评分和Bad Case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504B0077-EBD7-448E-889A-3E4A34670DA1}"/>
              </a:ext>
            </a:extLst>
          </p:cNvPr>
          <p:cNvSpPr>
            <a:spLocks noGrp="1"/>
          </p:cNvSpPr>
          <p:nvPr/>
        </p:nvSpPr>
        <p:spPr>
          <a:xfrm>
            <a:off x="8286750" y="4124325"/>
            <a:ext cx="3238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4824328-3212-4284-B03F-206FA62D0533}"/>
              </a:ext>
            </a:extLst>
          </p:cNvPr>
          <p:cNvSpPr>
            <a:spLocks noGrp="1"/>
          </p:cNvSpPr>
          <p:nvPr/>
        </p:nvSpPr>
        <p:spPr>
          <a:xfrm>
            <a:off x="8382000" y="4200525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支持比较与回归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C8785A82-B4CD-461F-8D7E-84525BD69E2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3160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56AE07A-EEDB-4D4F-9A27-28E322076C8E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DEFAB2D-6FD1-4836-8CF5-8664F55C1E24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BE6C90D-923E-4365-BD4B-F3252E64BFF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1157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A7055AB-2F78-42D4-B84D-FB767D713DA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整理流程：如何从历史数据形成评测集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F785331-1A98-4C3E-9B4E-64000D8D3D6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49BFD2B-F569-4048-A04D-ECC3424A7F41}"/>
              </a:ext>
            </a:extLst>
          </p:cNvPr>
          <p:cNvSpPr>
            <a:spLocks noGrp="1"/>
          </p:cNvSpPr>
          <p:nvPr/>
        </p:nvSpPr>
        <p:spPr>
          <a:xfrm>
            <a:off x="41846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B521340F-5CFB-41B9-BB8E-B89935C7CA86}"/>
              </a:ext>
            </a:extLst>
          </p:cNvPr>
          <p:cNvSpPr>
            <a:spLocks noGrp="1"/>
          </p:cNvSpPr>
          <p:nvPr/>
        </p:nvSpPr>
        <p:spPr>
          <a:xfrm>
            <a:off x="7816850" y="2581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CAF76ED-2265-4FA4-98A3-654047A88A09}"/>
              </a:ext>
            </a:extLst>
          </p:cNvPr>
          <p:cNvSpPr>
            <a:spLocks noGrp="1"/>
          </p:cNvSpPr>
          <p:nvPr/>
        </p:nvSpPr>
        <p:spPr>
          <a:xfrm>
            <a:off x="7429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C380FDF-734E-4557-820F-534DD6924E9B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C2CB3EB-D5A9-49AC-ADCC-7A2A828CA823}"/>
              </a:ext>
            </a:extLst>
          </p:cNvPr>
          <p:cNvSpPr>
            <a:spLocks noGrp="1"/>
          </p:cNvSpPr>
          <p:nvPr/>
        </p:nvSpPr>
        <p:spPr>
          <a:xfrm>
            <a:off x="8763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确定MVP风险范围</a:t>
            </a:r>
            <a:endParaRPr sz="120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F2F1C54D-6552-4450-B40D-0E77A9EDB240}"/>
              </a:ext>
            </a:extLst>
          </p:cNvPr>
          <p:cNvSpPr>
            <a:spLocks noGrp="1"/>
          </p:cNvSpPr>
          <p:nvPr/>
        </p:nvSpPr>
        <p:spPr>
          <a:xfrm>
            <a:off x="43751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B4AC7F1-0189-4DF8-84A1-650A9FC99F06}"/>
              </a:ext>
            </a:extLst>
          </p:cNvPr>
          <p:cNvSpPr>
            <a:spLocks noGrp="1"/>
          </p:cNvSpPr>
          <p:nvPr/>
        </p:nvSpPr>
        <p:spPr>
          <a:xfrm>
            <a:off x="45085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582901D-3082-4D84-A4EA-70AB9E64E025}"/>
              </a:ext>
            </a:extLst>
          </p:cNvPr>
          <p:cNvSpPr>
            <a:spLocks noGrp="1"/>
          </p:cNvSpPr>
          <p:nvPr/>
        </p:nvSpPr>
        <p:spPr>
          <a:xfrm>
            <a:off x="45085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提取历史样本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6C09791-9DEC-42ED-8446-5111D2B24F71}"/>
              </a:ext>
            </a:extLst>
          </p:cNvPr>
          <p:cNvSpPr>
            <a:spLocks noGrp="1"/>
          </p:cNvSpPr>
          <p:nvPr/>
        </p:nvSpPr>
        <p:spPr>
          <a:xfrm>
            <a:off x="8007350" y="2143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74ACBD3-A8D0-4291-A90F-D81C0DA79035}"/>
              </a:ext>
            </a:extLst>
          </p:cNvPr>
          <p:cNvSpPr>
            <a:spLocks noGrp="1"/>
          </p:cNvSpPr>
          <p:nvPr/>
        </p:nvSpPr>
        <p:spPr>
          <a:xfrm>
            <a:off x="8140700" y="2238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AC38EE8-DE2B-4E34-B89F-569157986539}"/>
              </a:ext>
            </a:extLst>
          </p:cNvPr>
          <p:cNvSpPr>
            <a:spLocks noGrp="1"/>
          </p:cNvSpPr>
          <p:nvPr/>
        </p:nvSpPr>
        <p:spPr>
          <a:xfrm>
            <a:off x="8140700" y="2486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去重清理并补上下文</a:t>
            </a:r>
            <a:endParaRPr sz="12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0AC3E1C-D410-4945-A579-2725EC276F85}"/>
              </a:ext>
            </a:extLst>
          </p:cNvPr>
          <p:cNvSpPr>
            <a:spLocks noGrp="1"/>
          </p:cNvSpPr>
          <p:nvPr/>
        </p:nvSpPr>
        <p:spPr>
          <a:xfrm>
            <a:off x="41846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23CDDB2-6C19-41EB-8815-1519544FA9DD}"/>
              </a:ext>
            </a:extLst>
          </p:cNvPr>
          <p:cNvSpPr>
            <a:spLocks noGrp="1"/>
          </p:cNvSpPr>
          <p:nvPr/>
        </p:nvSpPr>
        <p:spPr>
          <a:xfrm>
            <a:off x="7816850" y="4105275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29CF2B4-B4EC-46E7-A7E5-8EA94556D479}"/>
              </a:ext>
            </a:extLst>
          </p:cNvPr>
          <p:cNvSpPr>
            <a:spLocks noGrp="1"/>
          </p:cNvSpPr>
          <p:nvPr/>
        </p:nvSpPr>
        <p:spPr>
          <a:xfrm>
            <a:off x="7429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561F95E-BBF3-4B23-9D52-C44DBCC5DC41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9CD446DD-BBF4-4E5A-ACD0-EB0E81887DD0}"/>
              </a:ext>
            </a:extLst>
          </p:cNvPr>
          <p:cNvSpPr>
            <a:spLocks noGrp="1"/>
          </p:cNvSpPr>
          <p:nvPr/>
        </p:nvSpPr>
        <p:spPr>
          <a:xfrm>
            <a:off x="8763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业务复核标签</a:t>
            </a:r>
            <a:endParaRPr sz="120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B039FF04-068C-442A-BBE9-5F079C5DBECD}"/>
              </a:ext>
            </a:extLst>
          </p:cNvPr>
          <p:cNvSpPr>
            <a:spLocks noGrp="1"/>
          </p:cNvSpPr>
          <p:nvPr/>
        </p:nvSpPr>
        <p:spPr>
          <a:xfrm>
            <a:off x="43751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6C33C6A-0AE2-4ECB-B054-339D7E43909E}"/>
              </a:ext>
            </a:extLst>
          </p:cNvPr>
          <p:cNvSpPr>
            <a:spLocks noGrp="1"/>
          </p:cNvSpPr>
          <p:nvPr/>
        </p:nvSpPr>
        <p:spPr>
          <a:xfrm>
            <a:off x="45085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02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8182E8A-4265-428C-8D6E-12F0A4317026}"/>
              </a:ext>
            </a:extLst>
          </p:cNvPr>
          <p:cNvSpPr>
            <a:spLocks noGrp="1"/>
          </p:cNvSpPr>
          <p:nvPr/>
        </p:nvSpPr>
        <p:spPr>
          <a:xfrm>
            <a:off x="45085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补高风险与边界</a:t>
            </a:r>
            <a:endParaRPr sz="12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5391550-9B2B-411F-9CD3-B51ABF1CF53D}"/>
              </a:ext>
            </a:extLst>
          </p:cNvPr>
          <p:cNvSpPr>
            <a:spLocks noGrp="1"/>
          </p:cNvSpPr>
          <p:nvPr/>
        </p:nvSpPr>
        <p:spPr>
          <a:xfrm>
            <a:off x="8007350" y="3667125"/>
            <a:ext cx="3441700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41FBC11C-E51E-40ED-A113-CA527B00572D}"/>
              </a:ext>
            </a:extLst>
          </p:cNvPr>
          <p:cNvSpPr>
            <a:spLocks noGrp="1"/>
          </p:cNvSpPr>
          <p:nvPr/>
        </p:nvSpPr>
        <p:spPr>
          <a:xfrm>
            <a:off x="8140700" y="3762375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02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C88C4B40-3698-4C62-9496-59DA2BCB1979}"/>
              </a:ext>
            </a:extLst>
          </p:cNvPr>
          <p:cNvSpPr>
            <a:spLocks noGrp="1"/>
          </p:cNvSpPr>
          <p:nvPr/>
        </p:nvSpPr>
        <p:spPr>
          <a:xfrm>
            <a:off x="8140700" y="4010025"/>
            <a:ext cx="3175000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形成首版评测集</a:t>
            </a:r>
            <a:endParaRPr sz="120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E287B41C-49BC-4FD1-8E97-AE3E45FB710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804913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29554E3-1EEC-499A-8AB8-FB50A73C5BE6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17D0642-26BE-4EAC-B608-37ED0DC5CE5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0D85391-20FF-49C3-929C-8266CCB380F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2498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1002CEE-1FB1-4883-A710-8C0E5F5CC21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冷启动：没有历史数据怎样建立评测集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91FE80D-8E64-4757-BB9C-B92DBEC1BF33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6F5976D-D380-4EC9-BA70-3C15C4C4FDDE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14867A6-3001-42AF-86D6-1C00093E8954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启动阶段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A88A42-0121-4429-9944-CFB6457A065B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46BE36-428C-4B96-BA07-8332F0218E63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从规则文档整理风险类型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48F3AFD-3AAE-4896-829B-24C87D08875B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936537C-578C-46DF-8ABE-895C09F397A2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收集培训中的正反案例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9FD38FA-4E39-4994-A012-A0AD2EF36790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C599C90-71D7-4002-A6A5-8BC3D6BAD481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业务人员编写典型违规样本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AD77AE7-D090-4275-BC23-8F0DF87C46D9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F37D38C-7840-4F9E-A0CC-FA2C14795DD2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持续替换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8AD2C04-9774-4DD2-9A1F-9326E2077C42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9C4FE61-C57D-437F-ACF6-923CE8C7DFC2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模型生成表达变体后人工确认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8C7A5F9-BCE5-4225-9CA3-36672C87A6A6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7F6B479-D34E-421B-BC36-30765EB99BE5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两名业务人员独立判断分歧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42AF4BD-6619-4A14-94A5-CCEAAF440737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974B356-33BA-4B02-9FE0-1E458C40A70E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影子运行后用真实案例替换构造数据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AA02E81-F0A0-4B91-8AD4-DB8C10928C5F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84817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C4BB37E-311D-40DC-96DC-EA4F2EBA8AEB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182F990-8446-4259-BB0F-03BF089659C8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6CCA22A-533A-407E-AE8A-B7C5C2EF5C5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3838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C07287-EBC5-4058-A937-0F18E55F385B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数据管理：开发、验收和回归样本为何分开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677497-AAD1-408C-8CF7-42F2BE5FE62C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67D919B-1B9F-467D-95DA-155F0A78ABF4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EC8939D-6EDB-4A0B-A96E-C3D9E161916F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开发样本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0D94DEE-A988-463D-AC87-7F75779ADF4C}"/>
              </a:ext>
            </a:extLst>
          </p:cNvPr>
          <p:cNvSpPr>
            <a:spLocks noGrp="1"/>
          </p:cNvSpPr>
          <p:nvPr/>
        </p:nvSpPr>
        <p:spPr>
          <a:xfrm>
            <a:off x="9334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产品、算法和研发可以反复查看，用于设计规则与Prompt。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92EC9D7-B598-4640-B6E7-055C5684540D}"/>
              </a:ext>
            </a:extLst>
          </p:cNvPr>
          <p:cNvSpPr>
            <a:spLocks noGrp="1"/>
          </p:cNvSpPr>
          <p:nvPr/>
        </p:nvSpPr>
        <p:spPr>
          <a:xfrm>
            <a:off x="4375150" y="2000250"/>
            <a:ext cx="3441700" cy="1714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46405F0-6B20-4B91-B5D7-041FDEBAFCB8}"/>
              </a:ext>
            </a:extLst>
          </p:cNvPr>
          <p:cNvSpPr>
            <a:spLocks noGrp="1"/>
          </p:cNvSpPr>
          <p:nvPr/>
        </p:nvSpPr>
        <p:spPr>
          <a:xfrm>
            <a:off x="458470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验收样本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CA9FD99-C252-46B6-BD2B-0405DFA59036}"/>
              </a:ext>
            </a:extLst>
          </p:cNvPr>
          <p:cNvSpPr>
            <a:spLocks noGrp="1"/>
          </p:cNvSpPr>
          <p:nvPr/>
        </p:nvSpPr>
        <p:spPr>
          <a:xfrm>
            <a:off x="458470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方案基本稳定后判断是否达到上线条件，避免针对题目调答案。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546B835-B0CF-4A8A-9E72-15DB3317B4F0}"/>
              </a:ext>
            </a:extLst>
          </p:cNvPr>
          <p:cNvSpPr>
            <a:spLocks noGrp="1"/>
          </p:cNvSpPr>
          <p:nvPr/>
        </p:nvSpPr>
        <p:spPr>
          <a:xfrm>
            <a:off x="8026400" y="2000250"/>
            <a:ext cx="3441700" cy="1714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05F284F-3B22-4E21-9F5D-4009041D9BD8}"/>
              </a:ext>
            </a:extLst>
          </p:cNvPr>
          <p:cNvSpPr>
            <a:spLocks noGrp="1"/>
          </p:cNvSpPr>
          <p:nvPr/>
        </p:nvSpPr>
        <p:spPr>
          <a:xfrm>
            <a:off x="8235950" y="2171700"/>
            <a:ext cx="30226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回归样本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B9D9BD6-3BD5-4321-9372-B8B7174CD04E}"/>
              </a:ext>
            </a:extLst>
          </p:cNvPr>
          <p:cNvSpPr>
            <a:spLocks noGrp="1"/>
          </p:cNvSpPr>
          <p:nvPr/>
        </p:nvSpPr>
        <p:spPr>
          <a:xfrm>
            <a:off x="8235950" y="2543175"/>
            <a:ext cx="3022600" cy="1057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重要错误、高风险和线上问题；规则、模型或Prompt变化后重跑。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F07B2F69-4589-45FC-8AB3-AB4C6A9539E6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8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EEECD91-F468-4694-B967-B71D1B6C9173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项目第6步 · 评测验收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ED535E2-9EBC-449E-87E8-2BAD12D3748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91BA783-C9C0-434B-8D9A-B296E9E0EC3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517944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34B8370-61CC-4910-9697-41B0B3303489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验收约定：PRD必须提前写清哪些问题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6260165-C398-49B6-8E84-31B4DE079B8B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C041EB5-965B-44AF-A893-F5CE1866025A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952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1D02F73-523E-450F-AA36-AA3AF3DBCD22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800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约定项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5BE6F64-4919-4577-B47C-7E28405AFCEF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7905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20AFAD9-E004-4C75-8835-C1F56E8A41B1}"/>
              </a:ext>
            </a:extLst>
          </p:cNvPr>
          <p:cNvSpPr>
            <a:spLocks noGrp="1"/>
          </p:cNvSpPr>
          <p:nvPr/>
        </p:nvSpPr>
        <p:spPr>
          <a:xfrm>
            <a:off x="3695700" y="2047875"/>
            <a:ext cx="7753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需要明确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120E8E5-4F4D-4348-A22A-57C9DFDFDBA8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952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7D92A92-C815-43C5-A4E3-FE70538F0F4A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评测对象</a:t>
            </a:r>
            <a:endParaRPr sz="1236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DDD9F37-0E5B-4FA2-8FF1-888F557CE2F2}"/>
              </a:ext>
            </a:extLst>
          </p:cNvPr>
          <p:cNvSpPr>
            <a:spLocks noGrp="1"/>
          </p:cNvSpPr>
          <p:nvPr/>
        </p:nvSpPr>
        <p:spPr>
          <a:xfrm>
            <a:off x="3619500" y="2466975"/>
            <a:ext cx="7905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C00BC0E-AB8A-473B-8C37-29DC776831CA}"/>
              </a:ext>
            </a:extLst>
          </p:cNvPr>
          <p:cNvSpPr>
            <a:spLocks noGrp="1"/>
          </p:cNvSpPr>
          <p:nvPr/>
        </p:nvSpPr>
        <p:spPr>
          <a:xfrm>
            <a:off x="3714750" y="254317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单独模型、组合审核结果，还是完整产品闭环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53834F6-174F-46F0-A37C-4B032220198D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952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C41A0A6-0CEC-4AC8-AA34-750BC18D88CA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样本来源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10D90042-3CF2-4A63-BAAA-66B97AAEAAA2}"/>
              </a:ext>
            </a:extLst>
          </p:cNvPr>
          <p:cNvSpPr>
            <a:spLocks noGrp="1"/>
          </p:cNvSpPr>
          <p:nvPr/>
        </p:nvSpPr>
        <p:spPr>
          <a:xfrm>
            <a:off x="3619500" y="3019425"/>
            <a:ext cx="7905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5A6459B-A5EA-4A72-9921-D8718FE25E24}"/>
              </a:ext>
            </a:extLst>
          </p:cNvPr>
          <p:cNvSpPr>
            <a:spLocks noGrp="1"/>
          </p:cNvSpPr>
          <p:nvPr/>
        </p:nvSpPr>
        <p:spPr>
          <a:xfrm>
            <a:off x="3714750" y="309562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历史、近期、高风险、争议和构造样本分别从哪里来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BC64E10-F6E0-414C-8798-C8FC3CA65043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952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12F9D43-FEE4-4FAB-851E-8C5C7BB0F29A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风险范围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E731D8B7-2444-40F5-B6FC-EE3FBD3325DC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7905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0C05F3D-108E-4F88-9195-1BB49A9117E1}"/>
              </a:ext>
            </a:extLst>
          </p:cNvPr>
          <p:cNvSpPr>
            <a:spLocks noGrp="1"/>
          </p:cNvSpPr>
          <p:nvPr/>
        </p:nvSpPr>
        <p:spPr>
          <a:xfrm>
            <a:off x="3714750" y="364807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本次MVP必须覆盖什么，暂不验收什么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F4ABCE6-DACF-4DEC-A5FF-480B303E06E5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952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CD2951A-DE4A-48C9-A228-DD228B67C59E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标准答案责任人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8F832531-C706-4C21-A862-519DFB90641A}"/>
              </a:ext>
            </a:extLst>
          </p:cNvPr>
          <p:cNvSpPr>
            <a:spLocks noGrp="1"/>
          </p:cNvSpPr>
          <p:nvPr/>
        </p:nvSpPr>
        <p:spPr>
          <a:xfrm>
            <a:off x="3619500" y="4124325"/>
            <a:ext cx="7905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02297263-4607-4873-AAC9-6C08B59F4D80}"/>
              </a:ext>
            </a:extLst>
          </p:cNvPr>
          <p:cNvSpPr>
            <a:spLocks noGrp="1"/>
          </p:cNvSpPr>
          <p:nvPr/>
        </p:nvSpPr>
        <p:spPr>
          <a:xfrm>
            <a:off x="3714750" y="420052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谁确认风险类型、等级和预期动作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A3A510E5-9464-41CD-B132-67EE58F2E830}"/>
              </a:ext>
            </a:extLst>
          </p:cNvPr>
          <p:cNvSpPr>
            <a:spLocks noGrp="1"/>
          </p:cNvSpPr>
          <p:nvPr/>
        </p:nvSpPr>
        <p:spPr>
          <a:xfrm>
            <a:off x="666750" y="4676775"/>
            <a:ext cx="2952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53C7BF23-961B-4217-A604-6F13C2B82C6E}"/>
              </a:ext>
            </a:extLst>
          </p:cNvPr>
          <p:cNvSpPr>
            <a:spLocks noGrp="1"/>
          </p:cNvSpPr>
          <p:nvPr/>
        </p:nvSpPr>
        <p:spPr>
          <a:xfrm>
            <a:off x="762000" y="475297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上线门槛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447CF30A-5764-46FB-A9D8-49EABCC7A804}"/>
              </a:ext>
            </a:extLst>
          </p:cNvPr>
          <p:cNvSpPr>
            <a:spLocks noGrp="1"/>
          </p:cNvSpPr>
          <p:nvPr/>
        </p:nvSpPr>
        <p:spPr>
          <a:xfrm>
            <a:off x="3619500" y="4676775"/>
            <a:ext cx="7905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332AA685-03AB-4BDE-A34B-003AE8DB7340}"/>
              </a:ext>
            </a:extLst>
          </p:cNvPr>
          <p:cNvSpPr>
            <a:spLocks noGrp="1"/>
          </p:cNvSpPr>
          <p:nvPr/>
        </p:nvSpPr>
        <p:spPr>
          <a:xfrm>
            <a:off x="3714750" y="475297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高风险底线、识别要求、输出可用性和人工承载量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3C0CCCB2-02A2-4C2E-9193-46D9C009E079}"/>
              </a:ext>
            </a:extLst>
          </p:cNvPr>
          <p:cNvSpPr>
            <a:spLocks noGrp="1"/>
          </p:cNvSpPr>
          <p:nvPr/>
        </p:nvSpPr>
        <p:spPr>
          <a:xfrm>
            <a:off x="666750" y="5229225"/>
            <a:ext cx="2952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E7C9779-5B0C-4FD3-840C-1BB3D3908565}"/>
              </a:ext>
            </a:extLst>
          </p:cNvPr>
          <p:cNvSpPr>
            <a:spLocks noGrp="1"/>
          </p:cNvSpPr>
          <p:nvPr/>
        </p:nvSpPr>
        <p:spPr>
          <a:xfrm>
            <a:off x="762000" y="5305425"/>
            <a:ext cx="2762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版本变化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EF062807-7F5D-4598-96F2-79AFEE52C523}"/>
              </a:ext>
            </a:extLst>
          </p:cNvPr>
          <p:cNvSpPr>
            <a:spLocks noGrp="1"/>
          </p:cNvSpPr>
          <p:nvPr/>
        </p:nvSpPr>
        <p:spPr>
          <a:xfrm>
            <a:off x="3619500" y="5229225"/>
            <a:ext cx="7905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4323FA3E-98F1-43D8-A217-05454F01C916}"/>
              </a:ext>
            </a:extLst>
          </p:cNvPr>
          <p:cNvSpPr>
            <a:spLocks noGrp="1"/>
          </p:cNvSpPr>
          <p:nvPr/>
        </p:nvSpPr>
        <p:spPr>
          <a:xfrm>
            <a:off x="3714750" y="5305425"/>
            <a:ext cx="771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规则、知识、模型、Prompt或结构变化后何时重新验收</a:t>
            </a:r>
            <a:endParaRPr sz="1236"/>
          </a:p>
        </p:txBody>
      </p:sp>
      <p:sp>
        <p:nvSpPr>
          <p:cNvPr id="36" name="Slide Number Placeholder 0">
            <a:extLst>
              <a:ext uri="{FF2B5EF4-FFF2-40B4-BE49-F238E27FC236}">
                <a16:creationId xmlns:a16="http://schemas.microsoft.com/office/drawing/2014/main" id="{8D979601-7CCB-4945-B2BF-65015741729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88732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99018D7-C30F-452A-BDDC-CFB62223C297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F210C5E-4D2A-4FBE-B35C-DC823333A83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525A009-20F1-4B9F-B702-11F31C7A6FA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652000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4236E8-387C-4EB1-B058-18D176D1C813}"/>
              </a:ext>
            </a:extLst>
          </p:cNvPr>
          <p:cNvSpPr>
            <a:spLocks noGrp="1"/>
          </p:cNvSpPr>
          <p:nvPr/>
        </p:nvSpPr>
        <p:spPr>
          <a:xfrm>
            <a:off x="762000" y="1733550"/>
            <a:ext cx="102870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80" b="1" dirty="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07 </a:t>
            </a:r>
            <a:r>
              <a:rPr lang="zh-CN" altLang="en-US" sz="4080" b="1" dirty="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产出</a:t>
            </a:r>
            <a:r>
              <a:rPr sz="4080" b="1" dirty="0" err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完整AI产品PRD</a:t>
            </a:r>
            <a:endParaRPr sz="408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99196B5-31F7-43BA-A2AA-61DA4789D461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1143000" cy="57150"/>
          </a:xfrm>
          <a:prstGeom prst="rect">
            <a:avLst/>
          </a:prstGeom>
          <a:solidFill>
            <a:srgbClr val="FF7657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1C384B1-FC18-4EB0-9786-2237062FFE7B}"/>
              </a:ext>
            </a:extLst>
          </p:cNvPr>
          <p:cNvSpPr>
            <a:spLocks noGrp="1"/>
          </p:cNvSpPr>
          <p:nvPr/>
        </p:nvSpPr>
        <p:spPr>
          <a:xfrm>
            <a:off x="800100" y="3286125"/>
            <a:ext cx="933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980">
                <a:solidFill>
                  <a:srgbClr val="A7B5BC"/>
                </a:solidFill>
                <a:latin typeface="PingFang SC"/>
                <a:ea typeface="PingFang SC"/>
                <a:cs typeface="PingFang SC"/>
              </a:rPr>
              <a:t>把前六步的产品判断组装成可开发、可验收的PRD</a:t>
            </a:r>
            <a:endParaRPr sz="198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5F6DCF6-68FD-4C42-BEDF-43A661A4874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59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68634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116E1E1-81DF-4C20-9539-75AB05104573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A137AFF-FD42-44C3-855F-07B47D8CF6A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EAA3A84-4603-4637-940D-93305F6FCDE2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786056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A52CA6F-EDF4-4D09-91DF-7352D72D1B65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PRD差异：AI产品需求多写了哪些内容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922BE5D-9CD1-4220-8BA6-7C0670407AB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FBC51AC-EBF9-4AF6-8D57-C7F313832F8D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C8EAC58-0794-42F5-8AD3-FEF7502D8DF1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普通PRD通常关注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D68E773-567A-4A05-9599-EF8738064CF3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CAE3ED0-4094-4AC6-B664-E21ADA5EA08B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用户、场景与业务流程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DCCA78-A258-4A2A-BEE3-FD7EA43BA50A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2C94445-51E8-4043-907A-6B2CB7027288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页面、功能与状态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9F91D2C-D11A-476E-87B6-3C0396CBCA2A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9AADEAB-AAE9-4367-9E8F-C4856ED3C744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权限、数据和异常路径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E619963E-2395-4F48-A658-AE59B0ED26F4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6FBE64A-23CD-4032-B9CF-A0241E3A3ABA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AI产品PRD还必须关注</a:t>
            </a:r>
            <a:endParaRPr sz="204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87A535-5418-44E5-9952-1B22B87E1E78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183C8EB-B30A-454A-B168-5D70755F39CB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AI介入依据和能力边界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1543AAD3-665A-4EF1-B9D1-727E771F2C30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E99A2FF-915B-4638-A5F7-25CD6D686992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输入、输出、版本与失败接管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C021C10-8A48-486A-AFE3-868FBA3B7AF6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7DABB74-4C8A-453D-9ACD-2E8DD705072B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评测集来源和上线门槛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29559DB-A202-40EC-AA8B-6C368C4FC1A0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32689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C3818FD-FC16-4E1A-B1F6-9D03001760DC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2D9CDD1-B554-452B-B25C-39B2FD31F429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AA9E5D5-FFE0-4B3D-8A9D-F4004A2A903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9920111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C4C3C5F-9811-4601-A7E7-546A41083B56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文档结构：完整AI产品PRD包含哪十三章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815CC38-C6D9-435D-9496-88EB8FA7D959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C6FCE9E-17CF-418D-B7A7-40B99BB4E10A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3619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699901-C4A7-40C1-9928-647349EF4C1A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3467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01—04 业务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0659609-FA45-4FF3-AEF9-EC3393EFE14C}"/>
              </a:ext>
            </a:extLst>
          </p:cNvPr>
          <p:cNvSpPr>
            <a:spLocks noGrp="1"/>
          </p:cNvSpPr>
          <p:nvPr/>
        </p:nvSpPr>
        <p:spPr>
          <a:xfrm>
            <a:off x="4286250" y="1952625"/>
            <a:ext cx="3619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BC8F89E-63ED-4ECE-8E40-D794E2BD3A67}"/>
              </a:ext>
            </a:extLst>
          </p:cNvPr>
          <p:cNvSpPr>
            <a:spLocks noGrp="1"/>
          </p:cNvSpPr>
          <p:nvPr/>
        </p:nvSpPr>
        <p:spPr>
          <a:xfrm>
            <a:off x="4362450" y="2047875"/>
            <a:ext cx="3467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05—08 方案与范围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0A6D47F3-ED9B-4113-97AD-A4FF0B67C4A6}"/>
              </a:ext>
            </a:extLst>
          </p:cNvPr>
          <p:cNvSpPr>
            <a:spLocks noGrp="1"/>
          </p:cNvSpPr>
          <p:nvPr/>
        </p:nvSpPr>
        <p:spPr>
          <a:xfrm>
            <a:off x="7905750" y="1952625"/>
            <a:ext cx="3619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30C2A11-019C-44AB-9B35-B6A07DE2935B}"/>
              </a:ext>
            </a:extLst>
          </p:cNvPr>
          <p:cNvSpPr>
            <a:spLocks noGrp="1"/>
          </p:cNvSpPr>
          <p:nvPr/>
        </p:nvSpPr>
        <p:spPr>
          <a:xfrm>
            <a:off x="7981950" y="2047875"/>
            <a:ext cx="3467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09—13 能力与保障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24C4BF74-AEC1-4ADD-9233-0490C81A9A28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9205A34-4230-4EE1-9510-B9741F929716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104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项目摘要</a:t>
            </a:r>
            <a:endParaRPr sz="1104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DE14E865-4ACB-452E-A465-18F03FA1FE06}"/>
              </a:ext>
            </a:extLst>
          </p:cNvPr>
          <p:cNvSpPr>
            <a:spLocks noGrp="1"/>
          </p:cNvSpPr>
          <p:nvPr/>
        </p:nvSpPr>
        <p:spPr>
          <a:xfrm>
            <a:off x="4286250" y="246697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3408BC-ED9B-4134-B636-F3B5CBD9F825}"/>
              </a:ext>
            </a:extLst>
          </p:cNvPr>
          <p:cNvSpPr>
            <a:spLocks noGrp="1"/>
          </p:cNvSpPr>
          <p:nvPr/>
        </p:nvSpPr>
        <p:spPr>
          <a:xfrm>
            <a:off x="4381500" y="254317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AI介入判断与备选方案</a:t>
            </a:r>
            <a:endParaRPr sz="1104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D96ECC60-BE51-408E-9645-E3A57B3B8DFF}"/>
              </a:ext>
            </a:extLst>
          </p:cNvPr>
          <p:cNvSpPr>
            <a:spLocks noGrp="1"/>
          </p:cNvSpPr>
          <p:nvPr/>
        </p:nvSpPr>
        <p:spPr>
          <a:xfrm>
            <a:off x="7905750" y="246697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EF77D45-CA88-4629-851E-4363E02F110B}"/>
              </a:ext>
            </a:extLst>
          </p:cNvPr>
          <p:cNvSpPr>
            <a:spLocks noGrp="1"/>
          </p:cNvSpPr>
          <p:nvPr/>
        </p:nvSpPr>
        <p:spPr>
          <a:xfrm>
            <a:off x="8001000" y="254317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AI输入、输出与边界</a:t>
            </a:r>
            <a:endParaRPr sz="1104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09D9B8E-7297-4FC6-A715-C730291E1875}"/>
              </a:ext>
            </a:extLst>
          </p:cNvPr>
          <p:cNvSpPr>
            <a:spLocks noGrp="1"/>
          </p:cNvSpPr>
          <p:nvPr/>
        </p:nvSpPr>
        <p:spPr>
          <a:xfrm>
            <a:off x="666750" y="320040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123D991-227E-492D-B3B7-D64BBD257941}"/>
              </a:ext>
            </a:extLst>
          </p:cNvPr>
          <p:cNvSpPr>
            <a:spLocks noGrp="1"/>
          </p:cNvSpPr>
          <p:nvPr/>
        </p:nvSpPr>
        <p:spPr>
          <a:xfrm>
            <a:off x="762000" y="327660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104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业务背景与现状</a:t>
            </a:r>
            <a:endParaRPr sz="1104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5CD9C28-0F74-4500-8BFC-E014A9CDF6DA}"/>
              </a:ext>
            </a:extLst>
          </p:cNvPr>
          <p:cNvSpPr>
            <a:spLocks noGrp="1"/>
          </p:cNvSpPr>
          <p:nvPr/>
        </p:nvSpPr>
        <p:spPr>
          <a:xfrm>
            <a:off x="4286250" y="320040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35CE9EA-1568-4EAE-9E99-9E34BB973844}"/>
              </a:ext>
            </a:extLst>
          </p:cNvPr>
          <p:cNvSpPr>
            <a:spLocks noGrp="1"/>
          </p:cNvSpPr>
          <p:nvPr/>
        </p:nvSpPr>
        <p:spPr>
          <a:xfrm>
            <a:off x="4381500" y="327660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能力分工</a:t>
            </a:r>
            <a:endParaRPr sz="1104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5719FEF4-7A59-4775-894F-BE0900E711BE}"/>
              </a:ext>
            </a:extLst>
          </p:cNvPr>
          <p:cNvSpPr>
            <a:spLocks noGrp="1"/>
          </p:cNvSpPr>
          <p:nvPr/>
        </p:nvSpPr>
        <p:spPr>
          <a:xfrm>
            <a:off x="7905750" y="320040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544EB5BF-45C9-4001-8CD6-D49ACD6372DC}"/>
              </a:ext>
            </a:extLst>
          </p:cNvPr>
          <p:cNvSpPr>
            <a:spLocks noGrp="1"/>
          </p:cNvSpPr>
          <p:nvPr/>
        </p:nvSpPr>
        <p:spPr>
          <a:xfrm>
            <a:off x="8001000" y="327660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数据、规则与知识依赖</a:t>
            </a:r>
            <a:endParaRPr sz="1104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CA9FF067-DC96-4646-AAA9-C1117D90C702}"/>
              </a:ext>
            </a:extLst>
          </p:cNvPr>
          <p:cNvSpPr>
            <a:spLocks noGrp="1"/>
          </p:cNvSpPr>
          <p:nvPr/>
        </p:nvSpPr>
        <p:spPr>
          <a:xfrm>
            <a:off x="666750" y="393382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C6058B29-2532-4AEF-9B87-E8D6E7E42D6D}"/>
              </a:ext>
            </a:extLst>
          </p:cNvPr>
          <p:cNvSpPr>
            <a:spLocks noGrp="1"/>
          </p:cNvSpPr>
          <p:nvPr/>
        </p:nvSpPr>
        <p:spPr>
          <a:xfrm>
            <a:off x="762000" y="401002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104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用户、场景与流程</a:t>
            </a:r>
            <a:endParaRPr sz="1104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673E8B-AB77-4F46-A097-EE54FF6BE8B4}"/>
              </a:ext>
            </a:extLst>
          </p:cNvPr>
          <p:cNvSpPr>
            <a:spLocks noGrp="1"/>
          </p:cNvSpPr>
          <p:nvPr/>
        </p:nvSpPr>
        <p:spPr>
          <a:xfrm>
            <a:off x="4286250" y="393382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443F242-CD36-4E30-9536-F2EAA6AF41E5}"/>
              </a:ext>
            </a:extLst>
          </p:cNvPr>
          <p:cNvSpPr>
            <a:spLocks noGrp="1"/>
          </p:cNvSpPr>
          <p:nvPr/>
        </p:nvSpPr>
        <p:spPr>
          <a:xfrm>
            <a:off x="4381500" y="401002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审核结果与处理流程</a:t>
            </a:r>
            <a:endParaRPr sz="1104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6427F318-23EB-4F56-A980-C2BCFFE33FE4}"/>
              </a:ext>
            </a:extLst>
          </p:cNvPr>
          <p:cNvSpPr>
            <a:spLocks noGrp="1"/>
          </p:cNvSpPr>
          <p:nvPr/>
        </p:nvSpPr>
        <p:spPr>
          <a:xfrm>
            <a:off x="7905750" y="3933825"/>
            <a:ext cx="3619500" cy="733425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796CB8A-922E-4D87-99B6-EDAC980F09AD}"/>
              </a:ext>
            </a:extLst>
          </p:cNvPr>
          <p:cNvSpPr>
            <a:spLocks noGrp="1"/>
          </p:cNvSpPr>
          <p:nvPr/>
        </p:nvSpPr>
        <p:spPr>
          <a:xfrm>
            <a:off x="8001000" y="4010025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评测集与验收条件</a:t>
            </a:r>
            <a:endParaRPr sz="1104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776F2EC6-06BB-40CE-8078-76EC81E16B65}"/>
              </a:ext>
            </a:extLst>
          </p:cNvPr>
          <p:cNvSpPr>
            <a:spLocks noGrp="1"/>
          </p:cNvSpPr>
          <p:nvPr/>
        </p:nvSpPr>
        <p:spPr>
          <a:xfrm>
            <a:off x="666750" y="466725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3D4CCDC-57AE-421B-85DF-4FF62D17DF53}"/>
              </a:ext>
            </a:extLst>
          </p:cNvPr>
          <p:cNvSpPr>
            <a:spLocks noGrp="1"/>
          </p:cNvSpPr>
          <p:nvPr/>
        </p:nvSpPr>
        <p:spPr>
          <a:xfrm>
            <a:off x="762000" y="474345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104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问题、目标与非目标</a:t>
            </a:r>
            <a:endParaRPr sz="1104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E48FB21-DB76-4438-B156-E8E279A1AD49}"/>
              </a:ext>
            </a:extLst>
          </p:cNvPr>
          <p:cNvSpPr>
            <a:spLocks noGrp="1"/>
          </p:cNvSpPr>
          <p:nvPr/>
        </p:nvSpPr>
        <p:spPr>
          <a:xfrm>
            <a:off x="4286250" y="466725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E37D3693-2F27-4231-B21B-EA5692708F65}"/>
              </a:ext>
            </a:extLst>
          </p:cNvPr>
          <p:cNvSpPr>
            <a:spLocks noGrp="1"/>
          </p:cNvSpPr>
          <p:nvPr/>
        </p:nvSpPr>
        <p:spPr>
          <a:xfrm>
            <a:off x="4381500" y="474345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MVP与试点范围</a:t>
            </a:r>
            <a:endParaRPr sz="1104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F60816BE-0F29-4077-B349-7CBBF5A394B9}"/>
              </a:ext>
            </a:extLst>
          </p:cNvPr>
          <p:cNvSpPr>
            <a:spLocks noGrp="1"/>
          </p:cNvSpPr>
          <p:nvPr/>
        </p:nvSpPr>
        <p:spPr>
          <a:xfrm>
            <a:off x="7905750" y="4667250"/>
            <a:ext cx="3619500" cy="733425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7F843D68-AA7B-4EAE-A643-EBBD8B14AD7E}"/>
              </a:ext>
            </a:extLst>
          </p:cNvPr>
          <p:cNvSpPr>
            <a:spLocks noGrp="1"/>
          </p:cNvSpPr>
          <p:nvPr/>
        </p:nvSpPr>
        <p:spPr>
          <a:xfrm>
            <a:off x="8001000" y="4743450"/>
            <a:ext cx="3429000" cy="5810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104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12 人工复核与异常处理
13 风险与待确认项</a:t>
            </a:r>
            <a:endParaRPr sz="1104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25D70339-AE56-419E-BE35-C9295E5F96B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184668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33D24FE-7C9A-4896-91CF-D04AF82603B2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33D3C00-BFB8-4A3D-AD9F-BCECA55DAEE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4F1EB5FB-5784-4E4D-B763-DF753DC8ED4E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054167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4EF3256-69D0-46A4-B832-E168BEF5FB8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首页摘要：怎样用一页说清整个项目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7E01063-269F-4417-AF33-E03967689E4E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4E19507-6B76-4145-9AFC-1408243851BD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5267325" cy="1333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CF2C0D4-271C-4901-AEBC-F0AB93BE30BE}"/>
              </a:ext>
            </a:extLst>
          </p:cNvPr>
          <p:cNvSpPr>
            <a:spLocks noGrp="1"/>
          </p:cNvSpPr>
          <p:nvPr/>
        </p:nvSpPr>
        <p:spPr>
          <a:xfrm>
            <a:off x="933450" y="2266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7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33A96E7-EB0F-434F-9EF1-1DBEE592776F}"/>
              </a:ext>
            </a:extLst>
          </p:cNvPr>
          <p:cNvSpPr>
            <a:spLocks noGrp="1"/>
          </p:cNvSpPr>
          <p:nvPr/>
        </p:nvSpPr>
        <p:spPr>
          <a:xfrm>
            <a:off x="933450" y="2638425"/>
            <a:ext cx="4848225" cy="676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业务问题：内容量增加导致审核积压、标准不一和结果难沉淀</a:t>
            </a:r>
            <a:endParaRPr sz="126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5A0E1AF-146A-4674-90F0-063EAE7D113F}"/>
              </a:ext>
            </a:extLst>
          </p:cNvPr>
          <p:cNvSpPr>
            <a:spLocks noGrp="1"/>
          </p:cNvSpPr>
          <p:nvPr/>
        </p:nvSpPr>
        <p:spPr>
          <a:xfrm>
            <a:off x="6200775" y="2095500"/>
            <a:ext cx="5267325" cy="1333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DC48B5B-E0F8-4235-8746-828AAC04CAB8}"/>
              </a:ext>
            </a:extLst>
          </p:cNvPr>
          <p:cNvSpPr>
            <a:spLocks noGrp="1"/>
          </p:cNvSpPr>
          <p:nvPr/>
        </p:nvSpPr>
        <p:spPr>
          <a:xfrm>
            <a:off x="6410325" y="226695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74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B922187-CF47-4AFC-AE43-67C06547E7EB}"/>
              </a:ext>
            </a:extLst>
          </p:cNvPr>
          <p:cNvSpPr>
            <a:spLocks noGrp="1"/>
          </p:cNvSpPr>
          <p:nvPr/>
        </p:nvSpPr>
        <p:spPr>
          <a:xfrm>
            <a:off x="6410325" y="2638425"/>
            <a:ext cx="4848225" cy="676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产品方案：规则＋RAG＋大模型＋人工的分层机器预审</a:t>
            </a:r>
            <a:endParaRPr sz="126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7763935E-B892-49AB-BFAC-091C6890F3C2}"/>
              </a:ext>
            </a:extLst>
          </p:cNvPr>
          <p:cNvSpPr>
            <a:spLocks noGrp="1"/>
          </p:cNvSpPr>
          <p:nvPr/>
        </p:nvSpPr>
        <p:spPr>
          <a:xfrm>
            <a:off x="723900" y="3638550"/>
            <a:ext cx="5267325" cy="1333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C9230E0-581C-4165-A4F5-781A663EABE4}"/>
              </a:ext>
            </a:extLst>
          </p:cNvPr>
          <p:cNvSpPr>
            <a:spLocks noGrp="1"/>
          </p:cNvSpPr>
          <p:nvPr/>
        </p:nvSpPr>
        <p:spPr>
          <a:xfrm>
            <a:off x="933450" y="38100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74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BB2D76A-4E17-46F2-A699-B6DA7B50DB14}"/>
              </a:ext>
            </a:extLst>
          </p:cNvPr>
          <p:cNvSpPr>
            <a:spLocks noGrp="1"/>
          </p:cNvSpPr>
          <p:nvPr/>
        </p:nvSpPr>
        <p:spPr>
          <a:xfrm>
            <a:off x="933450" y="4181475"/>
            <a:ext cx="4848225" cy="676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MVP范围：文本、单一业务试点、修改复核重审闭环</a:t>
            </a:r>
            <a:endParaRPr sz="126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CEB4D43-715B-490C-80D1-DE60965D5A41}"/>
              </a:ext>
            </a:extLst>
          </p:cNvPr>
          <p:cNvSpPr>
            <a:spLocks noGrp="1"/>
          </p:cNvSpPr>
          <p:nvPr/>
        </p:nvSpPr>
        <p:spPr>
          <a:xfrm>
            <a:off x="6200775" y="3638550"/>
            <a:ext cx="5267325" cy="1333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BBD3B64-924D-4F58-9BDD-73970C698C4B}"/>
              </a:ext>
            </a:extLst>
          </p:cNvPr>
          <p:cNvSpPr>
            <a:spLocks noGrp="1"/>
          </p:cNvSpPr>
          <p:nvPr/>
        </p:nvSpPr>
        <p:spPr>
          <a:xfrm>
            <a:off x="6410325" y="3810000"/>
            <a:ext cx="4848225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74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74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D5DB5F8E-1900-47CD-B587-4DB2914633D5}"/>
              </a:ext>
            </a:extLst>
          </p:cNvPr>
          <p:cNvSpPr>
            <a:spLocks noGrp="1"/>
          </p:cNvSpPr>
          <p:nvPr/>
        </p:nvSpPr>
        <p:spPr>
          <a:xfrm>
            <a:off x="6410325" y="4181475"/>
            <a:ext cx="4848225" cy="6762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验收方式：能力效果、人工效率、安全底线和失败接管</a:t>
            </a:r>
            <a:endParaRPr sz="126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A312270-9AF3-48FA-9E34-4C7489AE8342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7859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C0F1DF1-C17A-4B17-8C23-38BE75283C2B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188056E-FC3A-4E27-80DF-192F7481DF56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55E8CAA-FD2A-4522-B545-1CE32D603DE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188222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F4003B4-8699-4A70-9D02-EB588C72296A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组装顺序：前六步如何进入同一份PRD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B883A93-9198-4900-B8C9-7A455C32053A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6F20975-E700-4E4B-A052-2719CCD222E2}"/>
              </a:ext>
            </a:extLst>
          </p:cNvPr>
          <p:cNvSpPr>
            <a:spLocks noGrp="1"/>
          </p:cNvSpPr>
          <p:nvPr/>
        </p:nvSpPr>
        <p:spPr>
          <a:xfrm>
            <a:off x="2109107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F8E478A-911E-49D5-9AA8-9CC3B96B10F4}"/>
              </a:ext>
            </a:extLst>
          </p:cNvPr>
          <p:cNvSpPr>
            <a:spLocks noGrp="1"/>
          </p:cNvSpPr>
          <p:nvPr/>
        </p:nvSpPr>
        <p:spPr>
          <a:xfrm>
            <a:off x="3665764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E8938B6-4F4C-4D1E-8AF7-E92CE30F7DD5}"/>
              </a:ext>
            </a:extLst>
          </p:cNvPr>
          <p:cNvSpPr>
            <a:spLocks noGrp="1"/>
          </p:cNvSpPr>
          <p:nvPr/>
        </p:nvSpPr>
        <p:spPr>
          <a:xfrm>
            <a:off x="5222421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0CC8088-185B-48CE-97E2-8A4D303A3BFE}"/>
              </a:ext>
            </a:extLst>
          </p:cNvPr>
          <p:cNvSpPr>
            <a:spLocks noGrp="1"/>
          </p:cNvSpPr>
          <p:nvPr/>
        </p:nvSpPr>
        <p:spPr>
          <a:xfrm>
            <a:off x="6779079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772D5A41-E9A3-40FA-B005-242B4B456268}"/>
              </a:ext>
            </a:extLst>
          </p:cNvPr>
          <p:cNvSpPr>
            <a:spLocks noGrp="1"/>
          </p:cNvSpPr>
          <p:nvPr/>
        </p:nvSpPr>
        <p:spPr>
          <a:xfrm>
            <a:off x="8335736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0F4C28A6-2989-4136-8634-4E3A20F1AB4E}"/>
              </a:ext>
            </a:extLst>
          </p:cNvPr>
          <p:cNvSpPr>
            <a:spLocks noGrp="1"/>
          </p:cNvSpPr>
          <p:nvPr/>
        </p:nvSpPr>
        <p:spPr>
          <a:xfrm>
            <a:off x="9892393" y="3295650"/>
            <a:ext cx="142875" cy="0"/>
          </a:xfrm>
          <a:prstGeom prst="line">
            <a:avLst/>
          </a:prstGeom>
          <a:noFill/>
          <a:ln w="25400">
            <a:solidFill>
              <a:srgbClr val="36D6C2"/>
            </a:solidFill>
            <a:prstDash val="solid"/>
            <a:tailEnd type="triangle"/>
          </a:ln>
        </p:spPr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FEA281AD-CE9D-4287-8250-AFAFD1A09865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81F9BCF-ADC5-43B9-9C4D-7940EA7CF9C1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02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50C2DA2-ED4F-4889-9CAE-DA6C53477BB3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背景目标</a:t>
            </a:r>
            <a:endParaRPr sz="120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3355240-0C76-497B-8681-D803561641EB}"/>
              </a:ext>
            </a:extLst>
          </p:cNvPr>
          <p:cNvSpPr>
            <a:spLocks noGrp="1"/>
          </p:cNvSpPr>
          <p:nvPr/>
        </p:nvSpPr>
        <p:spPr>
          <a:xfrm>
            <a:off x="2299607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2F412B4-1A15-4BF6-AF98-7C069F26C5ED}"/>
              </a:ext>
            </a:extLst>
          </p:cNvPr>
          <p:cNvSpPr>
            <a:spLocks noGrp="1"/>
          </p:cNvSpPr>
          <p:nvPr/>
        </p:nvSpPr>
        <p:spPr>
          <a:xfrm>
            <a:off x="2432957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02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752D2E9-FFF9-4AD7-8394-4C4AD0474283}"/>
              </a:ext>
            </a:extLst>
          </p:cNvPr>
          <p:cNvSpPr>
            <a:spLocks noGrp="1"/>
          </p:cNvSpPr>
          <p:nvPr/>
        </p:nvSpPr>
        <p:spPr>
          <a:xfrm>
            <a:off x="2432957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AI方案</a:t>
            </a:r>
            <a:endParaRPr sz="12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5E3C9943-8991-4AE2-8104-E24C3458818A}"/>
              </a:ext>
            </a:extLst>
          </p:cNvPr>
          <p:cNvSpPr>
            <a:spLocks noGrp="1"/>
          </p:cNvSpPr>
          <p:nvPr/>
        </p:nvSpPr>
        <p:spPr>
          <a:xfrm>
            <a:off x="3856264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6D500214-3361-47AD-875C-89C6ED7748A1}"/>
              </a:ext>
            </a:extLst>
          </p:cNvPr>
          <p:cNvSpPr>
            <a:spLocks noGrp="1"/>
          </p:cNvSpPr>
          <p:nvPr/>
        </p:nvSpPr>
        <p:spPr>
          <a:xfrm>
            <a:off x="3989614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02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02DA031-6599-4404-9079-FB85F31BA181}"/>
              </a:ext>
            </a:extLst>
          </p:cNvPr>
          <p:cNvSpPr>
            <a:spLocks noGrp="1"/>
          </p:cNvSpPr>
          <p:nvPr/>
        </p:nvSpPr>
        <p:spPr>
          <a:xfrm>
            <a:off x="3989614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结果流程</a:t>
            </a:r>
            <a:endParaRPr sz="120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F1C7A4FC-84EB-4EB2-9757-E7E1D27972C7}"/>
              </a:ext>
            </a:extLst>
          </p:cNvPr>
          <p:cNvSpPr>
            <a:spLocks noGrp="1"/>
          </p:cNvSpPr>
          <p:nvPr/>
        </p:nvSpPr>
        <p:spPr>
          <a:xfrm>
            <a:off x="5412921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847D96A-D39D-4122-812F-406049B1368E}"/>
              </a:ext>
            </a:extLst>
          </p:cNvPr>
          <p:cNvSpPr>
            <a:spLocks noGrp="1"/>
          </p:cNvSpPr>
          <p:nvPr/>
        </p:nvSpPr>
        <p:spPr>
          <a:xfrm>
            <a:off x="5546271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02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CA2F0D68-B218-43C1-B415-9CA911C5EAE1}"/>
              </a:ext>
            </a:extLst>
          </p:cNvPr>
          <p:cNvSpPr>
            <a:spLocks noGrp="1"/>
          </p:cNvSpPr>
          <p:nvPr/>
        </p:nvSpPr>
        <p:spPr>
          <a:xfrm>
            <a:off x="5546271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MVP范围</a:t>
            </a:r>
            <a:endParaRPr sz="120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7BE57AEC-95B6-4E8E-89AF-EF922F89E950}"/>
              </a:ext>
            </a:extLst>
          </p:cNvPr>
          <p:cNvSpPr>
            <a:spLocks noGrp="1"/>
          </p:cNvSpPr>
          <p:nvPr/>
        </p:nvSpPr>
        <p:spPr>
          <a:xfrm>
            <a:off x="6969579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C0FE8D6-09A2-4AA4-AA70-4F3421C52EA0}"/>
              </a:ext>
            </a:extLst>
          </p:cNvPr>
          <p:cNvSpPr>
            <a:spLocks noGrp="1"/>
          </p:cNvSpPr>
          <p:nvPr/>
        </p:nvSpPr>
        <p:spPr>
          <a:xfrm>
            <a:off x="7102929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02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B04E50D2-63AE-4309-94EA-5B67DC5D0202}"/>
              </a:ext>
            </a:extLst>
          </p:cNvPr>
          <p:cNvSpPr>
            <a:spLocks noGrp="1"/>
          </p:cNvSpPr>
          <p:nvPr/>
        </p:nvSpPr>
        <p:spPr>
          <a:xfrm>
            <a:off x="7102929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能力契约</a:t>
            </a:r>
            <a:endParaRPr sz="120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1914169B-05EF-4DF8-9143-F1BBF3BCF388}"/>
              </a:ext>
            </a:extLst>
          </p:cNvPr>
          <p:cNvSpPr>
            <a:spLocks noGrp="1"/>
          </p:cNvSpPr>
          <p:nvPr/>
        </p:nvSpPr>
        <p:spPr>
          <a:xfrm>
            <a:off x="8526236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B6C5B39C-7416-45F4-8ECC-86173ADCC69C}"/>
              </a:ext>
            </a:extLst>
          </p:cNvPr>
          <p:cNvSpPr>
            <a:spLocks noGrp="1"/>
          </p:cNvSpPr>
          <p:nvPr/>
        </p:nvSpPr>
        <p:spPr>
          <a:xfrm>
            <a:off x="8659586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02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B832B07-6140-479E-A830-487393871FD3}"/>
              </a:ext>
            </a:extLst>
          </p:cNvPr>
          <p:cNvSpPr>
            <a:spLocks noGrp="1"/>
          </p:cNvSpPr>
          <p:nvPr/>
        </p:nvSpPr>
        <p:spPr>
          <a:xfrm>
            <a:off x="8659586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评测验收</a:t>
            </a:r>
            <a:endParaRPr sz="120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4BA6C206-9B62-40C7-B450-885E6624B89E}"/>
              </a:ext>
            </a:extLst>
          </p:cNvPr>
          <p:cNvSpPr>
            <a:spLocks noGrp="1"/>
          </p:cNvSpPr>
          <p:nvPr/>
        </p:nvSpPr>
        <p:spPr>
          <a:xfrm>
            <a:off x="10082893" y="2857500"/>
            <a:ext cx="1366157" cy="8763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B1D142B-6142-4A19-9748-B209D765D037}"/>
              </a:ext>
            </a:extLst>
          </p:cNvPr>
          <p:cNvSpPr>
            <a:spLocks noGrp="1"/>
          </p:cNvSpPr>
          <p:nvPr/>
        </p:nvSpPr>
        <p:spPr>
          <a:xfrm>
            <a:off x="10216243" y="29527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02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07</a:t>
            </a:r>
            <a:endParaRPr sz="102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6BDEA8C-81B6-40A1-875F-7D8C967AA785}"/>
              </a:ext>
            </a:extLst>
          </p:cNvPr>
          <p:cNvSpPr>
            <a:spLocks noGrp="1"/>
          </p:cNvSpPr>
          <p:nvPr/>
        </p:nvSpPr>
        <p:spPr>
          <a:xfrm>
            <a:off x="10216243" y="3200400"/>
            <a:ext cx="1099457" cy="42862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风险待确认</a:t>
            </a:r>
            <a:endParaRPr sz="1200"/>
          </a:p>
        </p:txBody>
      </p:sp>
      <p:sp>
        <p:nvSpPr>
          <p:cNvPr id="35" name="Slide Number Placeholder 0">
            <a:extLst>
              <a:ext uri="{FF2B5EF4-FFF2-40B4-BE49-F238E27FC236}">
                <a16:creationId xmlns:a16="http://schemas.microsoft.com/office/drawing/2014/main" id="{76EB437C-F326-49B9-80CD-A80BC4FFB255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224041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AD50B02-32CE-4EF9-B155-3D519560A94A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6FB9113-759E-4A01-8D24-7DF8525C1E4B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AA2C0A27-DA12-420A-A841-2AC45DBA9313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322278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07E4A28-43F0-46E2-8F2D-0D6326F9E82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运行依赖：数据、规则和知识库要说明什么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D95168-827C-468F-BA52-30AAEB183173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A94435D-F13C-4A34-89F1-0530EDACFB1D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2381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968E034-D681-44A3-A9E2-020063CE894B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228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依赖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CE85B18-19B2-4DF4-B390-BBD7748C2CA3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5143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9FFA4DA-3D23-4699-842B-3B518D49B118}"/>
              </a:ext>
            </a:extLst>
          </p:cNvPr>
          <p:cNvSpPr>
            <a:spLocks noGrp="1"/>
          </p:cNvSpPr>
          <p:nvPr/>
        </p:nvSpPr>
        <p:spPr>
          <a:xfrm>
            <a:off x="3124200" y="2047875"/>
            <a:ext cx="4991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需要说明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5E5D7BE-05B3-44BE-AD0C-480125235BCC}"/>
              </a:ext>
            </a:extLst>
          </p:cNvPr>
          <p:cNvSpPr>
            <a:spLocks noGrp="1"/>
          </p:cNvSpPr>
          <p:nvPr/>
        </p:nvSpPr>
        <p:spPr>
          <a:xfrm>
            <a:off x="8191500" y="1952625"/>
            <a:ext cx="3333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B134A2-BE89-425B-A74C-B0B2A958211E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3181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典型风险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F6C41D8D-C738-47F0-B28C-2EFE71DD3512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2381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84775A3-6E4D-4785-AFF6-DA16B541CA65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业务数据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062471B-993B-470E-BF49-1F6D82DEFCC8}"/>
              </a:ext>
            </a:extLst>
          </p:cNvPr>
          <p:cNvSpPr>
            <a:spLocks noGrp="1"/>
          </p:cNvSpPr>
          <p:nvPr/>
        </p:nvSpPr>
        <p:spPr>
          <a:xfrm>
            <a:off x="3048000" y="2466975"/>
            <a:ext cx="5143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1319C7E-C0C1-46EE-BF6C-D15ADE03B9BF}"/>
              </a:ext>
            </a:extLst>
          </p:cNvPr>
          <p:cNvSpPr>
            <a:spLocks noGrp="1"/>
          </p:cNvSpPr>
          <p:nvPr/>
        </p:nvSpPr>
        <p:spPr>
          <a:xfrm>
            <a:off x="3143250" y="2543175"/>
            <a:ext cx="495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内容、产品事实、渠道和历史记录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57E64B6-D8A9-41C7-8490-2AAC44B42926}"/>
              </a:ext>
            </a:extLst>
          </p:cNvPr>
          <p:cNvSpPr>
            <a:spLocks noGrp="1"/>
          </p:cNvSpPr>
          <p:nvPr/>
        </p:nvSpPr>
        <p:spPr>
          <a:xfrm>
            <a:off x="8191500" y="2466975"/>
            <a:ext cx="3333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5DAC0C5-DD49-4900-A49B-A7CE91BA35D2}"/>
              </a:ext>
            </a:extLst>
          </p:cNvPr>
          <p:cNvSpPr>
            <a:spLocks noGrp="1"/>
          </p:cNvSpPr>
          <p:nvPr/>
        </p:nvSpPr>
        <p:spPr>
          <a:xfrm>
            <a:off x="8286750" y="254317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字段缺失、事实未结构化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A7EA63B-D524-4FA2-88CB-86A8A01F4C96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2381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1A3EF15-5114-40CE-B393-5349DB23C119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规则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C81D23D7-6574-43BA-8C04-8315B6E4ECC1}"/>
              </a:ext>
            </a:extLst>
          </p:cNvPr>
          <p:cNvSpPr>
            <a:spLocks noGrp="1"/>
          </p:cNvSpPr>
          <p:nvPr/>
        </p:nvSpPr>
        <p:spPr>
          <a:xfrm>
            <a:off x="3048000" y="3019425"/>
            <a:ext cx="5143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901C4BF-568E-4D6E-AB78-99CF7973DCDD}"/>
              </a:ext>
            </a:extLst>
          </p:cNvPr>
          <p:cNvSpPr>
            <a:spLocks noGrp="1"/>
          </p:cNvSpPr>
          <p:nvPr/>
        </p:nvSpPr>
        <p:spPr>
          <a:xfrm>
            <a:off x="3143250" y="3095625"/>
            <a:ext cx="495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适用范围、版本、责任人和更新机制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2E341D10-C03D-48FE-9196-F8989289C30B}"/>
              </a:ext>
            </a:extLst>
          </p:cNvPr>
          <p:cNvSpPr>
            <a:spLocks noGrp="1"/>
          </p:cNvSpPr>
          <p:nvPr/>
        </p:nvSpPr>
        <p:spPr>
          <a:xfrm>
            <a:off x="8191500" y="3019425"/>
            <a:ext cx="3333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01B4A3A5-28B2-49B6-9EF0-FD723505D72A}"/>
              </a:ext>
            </a:extLst>
          </p:cNvPr>
          <p:cNvSpPr>
            <a:spLocks noGrp="1"/>
          </p:cNvSpPr>
          <p:nvPr/>
        </p:nvSpPr>
        <p:spPr>
          <a:xfrm>
            <a:off x="8286750" y="309562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标准冲突、版本不一致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79D0E0D0-87BC-4117-A2D2-A1BB172F8E75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2381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F712F2B-961C-4194-826C-858972513B10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知识库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F238DC4D-CDAB-4FD2-B0A5-8DD3944D7537}"/>
              </a:ext>
            </a:extLst>
          </p:cNvPr>
          <p:cNvSpPr>
            <a:spLocks noGrp="1"/>
          </p:cNvSpPr>
          <p:nvPr/>
        </p:nvSpPr>
        <p:spPr>
          <a:xfrm>
            <a:off x="3048000" y="3571875"/>
            <a:ext cx="5143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9A5A52AA-3CDC-4AE8-9F18-8D0943AE8AFE}"/>
              </a:ext>
            </a:extLst>
          </p:cNvPr>
          <p:cNvSpPr>
            <a:spLocks noGrp="1"/>
          </p:cNvSpPr>
          <p:nvPr/>
        </p:nvSpPr>
        <p:spPr>
          <a:xfrm>
            <a:off x="3143250" y="3648075"/>
            <a:ext cx="495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来源、切分、检索和有效期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011C0105-061D-4BE7-AFA1-537448040AEE}"/>
              </a:ext>
            </a:extLst>
          </p:cNvPr>
          <p:cNvSpPr>
            <a:spLocks noGrp="1"/>
          </p:cNvSpPr>
          <p:nvPr/>
        </p:nvSpPr>
        <p:spPr>
          <a:xfrm>
            <a:off x="8191500" y="3571875"/>
            <a:ext cx="3333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7DC4950-7DF1-4429-AC6D-8E70974755F7}"/>
              </a:ext>
            </a:extLst>
          </p:cNvPr>
          <p:cNvSpPr>
            <a:spLocks noGrp="1"/>
          </p:cNvSpPr>
          <p:nvPr/>
        </p:nvSpPr>
        <p:spPr>
          <a:xfrm>
            <a:off x="8286750" y="364807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召回不足、过期依据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58F4B66D-4C1E-487A-8D7F-8808A7961781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2381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1813AFC6-4559-4F01-9753-1830F4E3E786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190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模型与Prompt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3FC9D3D-9474-4B4D-A44E-EBBCEEC1AF05}"/>
              </a:ext>
            </a:extLst>
          </p:cNvPr>
          <p:cNvSpPr>
            <a:spLocks noGrp="1"/>
          </p:cNvSpPr>
          <p:nvPr/>
        </p:nvSpPr>
        <p:spPr>
          <a:xfrm>
            <a:off x="3048000" y="4124325"/>
            <a:ext cx="5143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45D2ED0F-B94E-41B8-AF1F-2900202E0553}"/>
              </a:ext>
            </a:extLst>
          </p:cNvPr>
          <p:cNvSpPr>
            <a:spLocks noGrp="1"/>
          </p:cNvSpPr>
          <p:nvPr/>
        </p:nvSpPr>
        <p:spPr>
          <a:xfrm>
            <a:off x="3143250" y="4200525"/>
            <a:ext cx="495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版本、配置、输出结构和回归要求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53A63F3A-0F00-4DFF-BD0E-CE344F2490B7}"/>
              </a:ext>
            </a:extLst>
          </p:cNvPr>
          <p:cNvSpPr>
            <a:spLocks noGrp="1"/>
          </p:cNvSpPr>
          <p:nvPr/>
        </p:nvSpPr>
        <p:spPr>
          <a:xfrm>
            <a:off x="8191500" y="4124325"/>
            <a:ext cx="3333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FE2E3DC-619E-4892-BC03-D0C406628568}"/>
              </a:ext>
            </a:extLst>
          </p:cNvPr>
          <p:cNvSpPr>
            <a:spLocks noGrp="1"/>
          </p:cNvSpPr>
          <p:nvPr/>
        </p:nvSpPr>
        <p:spPr>
          <a:xfrm>
            <a:off x="8286750" y="4200525"/>
            <a:ext cx="3143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波动、格式错误、成本与延迟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4CC89C27-0DA4-4DE4-9F2E-1D76497D875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806320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9FFBCF0-4262-44C9-B327-FF6AF42DDB2E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14B2FB2-49FC-46D8-B399-DBD7BA301EF0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1611BE7-4F4B-4FB7-98CE-1EFC851A7EBC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456333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FD6A621-A805-4D74-9E28-2919F33D8C8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300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决策清单：风险与待确认项如何写进PRD</a:t>
            </a:r>
            <a:endParaRPr sz="30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17AC5E9-6214-47A6-ABE9-AF087321B558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EBDEE7A-1920-445C-9977-8286F860D7F0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31432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0223C7A-7D1E-441B-9770-0B2B10D68C95}"/>
              </a:ext>
            </a:extLst>
          </p:cNvPr>
          <p:cNvSpPr>
            <a:spLocks noGrp="1"/>
          </p:cNvSpPr>
          <p:nvPr/>
        </p:nvSpPr>
        <p:spPr>
          <a:xfrm>
            <a:off x="742950" y="2047875"/>
            <a:ext cx="29908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待确认项</a:t>
            </a:r>
            <a:endParaRPr sz="132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DE57687-98A0-4D84-9686-D2BCC6D83C43}"/>
              </a:ext>
            </a:extLst>
          </p:cNvPr>
          <p:cNvSpPr>
            <a:spLocks noGrp="1"/>
          </p:cNvSpPr>
          <p:nvPr/>
        </p:nvSpPr>
        <p:spPr>
          <a:xfrm>
            <a:off x="3810000" y="1952625"/>
            <a:ext cx="409575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16ECA03-24B8-4307-B7AA-238C5B51CC18}"/>
              </a:ext>
            </a:extLst>
          </p:cNvPr>
          <p:cNvSpPr>
            <a:spLocks noGrp="1"/>
          </p:cNvSpPr>
          <p:nvPr/>
        </p:nvSpPr>
        <p:spPr>
          <a:xfrm>
            <a:off x="3886200" y="2047875"/>
            <a:ext cx="394335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当前情况</a:t>
            </a:r>
            <a:endParaRPr sz="132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2FBB8C0-D612-460B-9C76-7986431CC276}"/>
              </a:ext>
            </a:extLst>
          </p:cNvPr>
          <p:cNvSpPr>
            <a:spLocks noGrp="1"/>
          </p:cNvSpPr>
          <p:nvPr/>
        </p:nvSpPr>
        <p:spPr>
          <a:xfrm>
            <a:off x="7905750" y="1952625"/>
            <a:ext cx="3619500" cy="514350"/>
          </a:xfrm>
          <a:prstGeom prst="rect">
            <a:avLst/>
          </a:prstGeom>
          <a:solidFill>
            <a:srgbClr val="168E85"/>
          </a:solidFill>
          <a:ln w="12700">
            <a:solidFill>
              <a:srgbClr val="07151F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4195984-933B-4EE7-81D6-C3E7986568ED}"/>
              </a:ext>
            </a:extLst>
          </p:cNvPr>
          <p:cNvSpPr>
            <a:spLocks noGrp="1"/>
          </p:cNvSpPr>
          <p:nvPr/>
        </p:nvSpPr>
        <p:spPr>
          <a:xfrm>
            <a:off x="7981950" y="2047875"/>
            <a:ext cx="3467100" cy="3238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影响</a:t>
            </a:r>
            <a:endParaRPr sz="132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304ED8A-DEAA-47B4-8EDE-2975ECE96850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3143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AB3A278-0888-4EF1-9D61-C32D81B3FDB0}"/>
              </a:ext>
            </a:extLst>
          </p:cNvPr>
          <p:cNvSpPr>
            <a:spLocks noGrp="1"/>
          </p:cNvSpPr>
          <p:nvPr/>
        </p:nvSpPr>
        <p:spPr>
          <a:xfrm>
            <a:off x="762000" y="2543175"/>
            <a:ext cx="2952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人工审核基线</a:t>
            </a:r>
            <a:endParaRPr sz="1236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786FDCB3-4172-4B40-B99D-5DAFFFF5A7B3}"/>
              </a:ext>
            </a:extLst>
          </p:cNvPr>
          <p:cNvSpPr>
            <a:spLocks noGrp="1"/>
          </p:cNvSpPr>
          <p:nvPr/>
        </p:nvSpPr>
        <p:spPr>
          <a:xfrm>
            <a:off x="3810000" y="2466975"/>
            <a:ext cx="4095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207C947-4F89-4AFA-8446-896B7E549730}"/>
              </a:ext>
            </a:extLst>
          </p:cNvPr>
          <p:cNvSpPr>
            <a:spLocks noGrp="1"/>
          </p:cNvSpPr>
          <p:nvPr/>
        </p:nvSpPr>
        <p:spPr>
          <a:xfrm>
            <a:off x="3905250" y="2543175"/>
            <a:ext cx="390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需要从业务系统补充</a:t>
            </a:r>
            <a:endParaRPr sz="1236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E2B1EE19-1F9B-42F6-8195-DDEC80AC4CEF}"/>
              </a:ext>
            </a:extLst>
          </p:cNvPr>
          <p:cNvSpPr>
            <a:spLocks noGrp="1"/>
          </p:cNvSpPr>
          <p:nvPr/>
        </p:nvSpPr>
        <p:spPr>
          <a:xfrm>
            <a:off x="7905750" y="2466975"/>
            <a:ext cx="3619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D07FFA1-5D60-4E46-B6DB-923E9F478018}"/>
              </a:ext>
            </a:extLst>
          </p:cNvPr>
          <p:cNvSpPr>
            <a:spLocks noGrp="1"/>
          </p:cNvSpPr>
          <p:nvPr/>
        </p:nvSpPr>
        <p:spPr>
          <a:xfrm>
            <a:off x="8001000" y="254317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效率目标与收益测算</a:t>
            </a:r>
            <a:endParaRPr sz="1236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A7EE0E5-CB2B-49C0-B635-15329BAA3C11}"/>
              </a:ext>
            </a:extLst>
          </p:cNvPr>
          <p:cNvSpPr>
            <a:spLocks noGrp="1"/>
          </p:cNvSpPr>
          <p:nvPr/>
        </p:nvSpPr>
        <p:spPr>
          <a:xfrm>
            <a:off x="666750" y="3019425"/>
            <a:ext cx="3143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424FE9E-7B9A-49A5-B21B-41C6EAACB02C}"/>
              </a:ext>
            </a:extLst>
          </p:cNvPr>
          <p:cNvSpPr>
            <a:spLocks noGrp="1"/>
          </p:cNvSpPr>
          <p:nvPr/>
        </p:nvSpPr>
        <p:spPr>
          <a:xfrm>
            <a:off x="762000" y="3095625"/>
            <a:ext cx="2952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高风险判断标准</a:t>
            </a:r>
            <a:endParaRPr sz="1236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284D0F4-BB8C-4467-BBB5-1F2D4D7BB8EF}"/>
              </a:ext>
            </a:extLst>
          </p:cNvPr>
          <p:cNvSpPr>
            <a:spLocks noGrp="1"/>
          </p:cNvSpPr>
          <p:nvPr/>
        </p:nvSpPr>
        <p:spPr>
          <a:xfrm>
            <a:off x="3810000" y="3019425"/>
            <a:ext cx="4095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FA10AB3-D306-4C49-937D-DD7AC3FA1F8F}"/>
              </a:ext>
            </a:extLst>
          </p:cNvPr>
          <p:cNvSpPr>
            <a:spLocks noGrp="1"/>
          </p:cNvSpPr>
          <p:nvPr/>
        </p:nvSpPr>
        <p:spPr>
          <a:xfrm>
            <a:off x="3905250" y="3095625"/>
            <a:ext cx="390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需要规则负责人确认</a:t>
            </a:r>
            <a:endParaRPr sz="1236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F611ACAB-0021-44D8-A35C-F76F19AE50A5}"/>
              </a:ext>
            </a:extLst>
          </p:cNvPr>
          <p:cNvSpPr>
            <a:spLocks noGrp="1"/>
          </p:cNvSpPr>
          <p:nvPr/>
        </p:nvSpPr>
        <p:spPr>
          <a:xfrm>
            <a:off x="7905750" y="3019425"/>
            <a:ext cx="3619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37E19FB-CE51-4502-8142-05938E617388}"/>
              </a:ext>
            </a:extLst>
          </p:cNvPr>
          <p:cNvSpPr>
            <a:spLocks noGrp="1"/>
          </p:cNvSpPr>
          <p:nvPr/>
        </p:nvSpPr>
        <p:spPr>
          <a:xfrm>
            <a:off x="8001000" y="309562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自动处理范围</a:t>
            </a:r>
            <a:endParaRPr sz="1236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EFA69487-B79E-44BF-88F3-8073ABCE4762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31432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DCF25452-21A7-42D0-8309-3CD8BB46699D}"/>
              </a:ext>
            </a:extLst>
          </p:cNvPr>
          <p:cNvSpPr>
            <a:spLocks noGrp="1"/>
          </p:cNvSpPr>
          <p:nvPr/>
        </p:nvSpPr>
        <p:spPr>
          <a:xfrm>
            <a:off x="762000" y="3648075"/>
            <a:ext cx="2952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历史数据质量</a:t>
            </a:r>
            <a:endParaRPr sz="1236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EDC9E33-D5DD-42A3-9130-6498C4465484}"/>
              </a:ext>
            </a:extLst>
          </p:cNvPr>
          <p:cNvSpPr>
            <a:spLocks noGrp="1"/>
          </p:cNvSpPr>
          <p:nvPr/>
        </p:nvSpPr>
        <p:spPr>
          <a:xfrm>
            <a:off x="3810000" y="3571875"/>
            <a:ext cx="409575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37F7A7C4-C354-4755-B6EB-C9C4B81EABB5}"/>
              </a:ext>
            </a:extLst>
          </p:cNvPr>
          <p:cNvSpPr>
            <a:spLocks noGrp="1"/>
          </p:cNvSpPr>
          <p:nvPr/>
        </p:nvSpPr>
        <p:spPr>
          <a:xfrm>
            <a:off x="3905250" y="3648075"/>
            <a:ext cx="390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尚未完成抽样检查</a:t>
            </a:r>
            <a:endParaRPr sz="1236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17554D06-2AAE-4612-8FE3-B6600A004255}"/>
              </a:ext>
            </a:extLst>
          </p:cNvPr>
          <p:cNvSpPr>
            <a:spLocks noGrp="1"/>
          </p:cNvSpPr>
          <p:nvPr/>
        </p:nvSpPr>
        <p:spPr>
          <a:xfrm>
            <a:off x="7905750" y="3571875"/>
            <a:ext cx="3619500" cy="552450"/>
          </a:xfrm>
          <a:prstGeom prst="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B166E343-AA98-48B0-B0C7-D55BFCC5FD63}"/>
              </a:ext>
            </a:extLst>
          </p:cNvPr>
          <p:cNvSpPr>
            <a:spLocks noGrp="1"/>
          </p:cNvSpPr>
          <p:nvPr/>
        </p:nvSpPr>
        <p:spPr>
          <a:xfrm>
            <a:off x="8001000" y="364807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评测集可靠性</a:t>
            </a:r>
            <a:endParaRPr sz="1236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F5AC0A78-CE20-4718-81C6-34E7B00BD4B5}"/>
              </a:ext>
            </a:extLst>
          </p:cNvPr>
          <p:cNvSpPr>
            <a:spLocks noGrp="1"/>
          </p:cNvSpPr>
          <p:nvPr/>
        </p:nvSpPr>
        <p:spPr>
          <a:xfrm>
            <a:off x="666750" y="4124325"/>
            <a:ext cx="31432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FAE9534-017A-4C73-9D99-36300FDD2336}"/>
              </a:ext>
            </a:extLst>
          </p:cNvPr>
          <p:cNvSpPr>
            <a:spLocks noGrp="1"/>
          </p:cNvSpPr>
          <p:nvPr/>
        </p:nvSpPr>
        <p:spPr>
          <a:xfrm>
            <a:off x="762000" y="4200525"/>
            <a:ext cx="29527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36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模型响应与复核承载</a:t>
            </a:r>
            <a:endParaRPr sz="1236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FB641493-250C-4AD0-BD32-AA1386FD830C}"/>
              </a:ext>
            </a:extLst>
          </p:cNvPr>
          <p:cNvSpPr>
            <a:spLocks noGrp="1"/>
          </p:cNvSpPr>
          <p:nvPr/>
        </p:nvSpPr>
        <p:spPr>
          <a:xfrm>
            <a:off x="3810000" y="4124325"/>
            <a:ext cx="409575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122E5552-1524-409F-968D-9DC91984A253}"/>
              </a:ext>
            </a:extLst>
          </p:cNvPr>
          <p:cNvSpPr>
            <a:spLocks noGrp="1"/>
          </p:cNvSpPr>
          <p:nvPr/>
        </p:nvSpPr>
        <p:spPr>
          <a:xfrm>
            <a:off x="3905250" y="4200525"/>
            <a:ext cx="39052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需要PoC和业务测算</a:t>
            </a:r>
            <a:endParaRPr sz="1236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4DC04200-B1F4-4C89-86DB-4F89E062A07E}"/>
              </a:ext>
            </a:extLst>
          </p:cNvPr>
          <p:cNvSpPr>
            <a:spLocks noGrp="1"/>
          </p:cNvSpPr>
          <p:nvPr/>
        </p:nvSpPr>
        <p:spPr>
          <a:xfrm>
            <a:off x="7905750" y="4124325"/>
            <a:ext cx="3619500" cy="552450"/>
          </a:xfrm>
          <a:prstGeom prst="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7B33F9FA-804A-4F2D-8CD4-497CB5D6E295}"/>
              </a:ext>
            </a:extLst>
          </p:cNvPr>
          <p:cNvSpPr>
            <a:spLocks noGrp="1"/>
          </p:cNvSpPr>
          <p:nvPr/>
        </p:nvSpPr>
        <p:spPr>
          <a:xfrm>
            <a:off x="8001000" y="4200525"/>
            <a:ext cx="342900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236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体验与风险阈值</a:t>
            </a:r>
            <a:endParaRPr sz="1236"/>
          </a:p>
        </p:txBody>
      </p:sp>
      <p:sp>
        <p:nvSpPr>
          <p:cNvPr id="38" name="Slide Number Placeholder 0">
            <a:extLst>
              <a:ext uri="{FF2B5EF4-FFF2-40B4-BE49-F238E27FC236}">
                <a16:creationId xmlns:a16="http://schemas.microsoft.com/office/drawing/2014/main" id="{59F41133-CC91-40A8-8D86-96E029E0F711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560182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0C12F76-CF07-457D-96A9-054BBAD80545}"/>
              </a:ext>
            </a:extLst>
          </p:cNvPr>
          <p:cNvSpPr>
            <a:spLocks noGrp="1"/>
          </p:cNvSpPr>
          <p:nvPr/>
        </p:nvSpPr>
        <p:spPr>
          <a:xfrm>
            <a:off x="666750" y="257175"/>
            <a:ext cx="4286250" cy="2095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60" b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项目第7步 · 组装PRD</a:t>
            </a:r>
            <a:endParaRPr sz="96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C401D93-9982-44C0-8A4C-4BA62287352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858500" cy="19050"/>
          </a:xfrm>
          <a:prstGeom prst="rect">
            <a:avLst/>
          </a:prstGeom>
          <a:solidFill>
            <a:srgbClr val="294550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C52A6AA-42F9-4DB4-AF7A-A6C95CCF503A}"/>
              </a:ext>
            </a:extLst>
          </p:cNvPr>
          <p:cNvSpPr>
            <a:spLocks noGrp="1"/>
          </p:cNvSpPr>
          <p:nvPr/>
        </p:nvSpPr>
        <p:spPr>
          <a:xfrm>
            <a:off x="666750" y="6505575"/>
            <a:ext cx="10590389" cy="1905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3F00AE7-C123-4551-842C-F0986123078C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763250" cy="5524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3000" b="1" dirty="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作业</a:t>
            </a:r>
            <a:endParaRPr sz="3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0AE95B7-8A5A-449D-B0EB-9E68A42CEB91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1524000" cy="38100"/>
          </a:xfrm>
          <a:prstGeom prst="rect">
            <a:avLst/>
          </a:prstGeom>
          <a:solidFill>
            <a:srgbClr val="36D6C2"/>
          </a:solidFill>
          <a:ln w="12700">
            <a:solidFill>
              <a:srgbClr val="07151F">
                <a:alpha val="0"/>
              </a:srgbClr>
            </a:solidFill>
            <a:prstDash val="solid"/>
          </a:ln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2045929-EDFF-4B3A-AB90-6C759D0F65D3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5048250" cy="3619500"/>
          </a:xfrm>
          <a:prstGeom prst="roundRect">
            <a:avLst/>
          </a:prstGeom>
          <a:solidFill>
            <a:srgbClr val="0B202C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8391CEA-7226-45CD-A322-2A7A82C59DC2}"/>
              </a:ext>
            </a:extLst>
          </p:cNvPr>
          <p:cNvSpPr>
            <a:spLocks noGrp="1"/>
          </p:cNvSpPr>
          <p:nvPr/>
        </p:nvSpPr>
        <p:spPr>
          <a:xfrm>
            <a:off x="99060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练习一｜PRD首页</a:t>
            </a:r>
            <a:endParaRPr sz="204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4C0889-9824-4617-A728-4832F75AF91D}"/>
              </a:ext>
            </a:extLst>
          </p:cNvPr>
          <p:cNvSpPr>
            <a:spLocks noGrp="1"/>
          </p:cNvSpPr>
          <p:nvPr/>
        </p:nvSpPr>
        <p:spPr>
          <a:xfrm>
            <a:off x="96202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2F9C53-5379-48DF-ABD6-B2FD3603DD09}"/>
              </a:ext>
            </a:extLst>
          </p:cNvPr>
          <p:cNvSpPr>
            <a:spLocks noGrp="1"/>
          </p:cNvSpPr>
          <p:nvPr/>
        </p:nvSpPr>
        <p:spPr>
          <a:xfrm>
            <a:off x="145732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业务问题与目标用户</a:t>
            </a:r>
            <a:endParaRPr sz="15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35FC4BE-CCFA-4C23-B80A-AF47DCB495BF}"/>
              </a:ext>
            </a:extLst>
          </p:cNvPr>
          <p:cNvSpPr>
            <a:spLocks noGrp="1"/>
          </p:cNvSpPr>
          <p:nvPr/>
        </p:nvSpPr>
        <p:spPr>
          <a:xfrm>
            <a:off x="96202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8107A78-5047-41A8-988C-A8BF27547FE8}"/>
              </a:ext>
            </a:extLst>
          </p:cNvPr>
          <p:cNvSpPr>
            <a:spLocks noGrp="1"/>
          </p:cNvSpPr>
          <p:nvPr/>
        </p:nvSpPr>
        <p:spPr>
          <a:xfrm>
            <a:off x="145732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产品目标和混合审核方案</a:t>
            </a:r>
            <a:endParaRPr sz="15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2DF13ECA-7302-4098-88E6-73B95B273BA2}"/>
              </a:ext>
            </a:extLst>
          </p:cNvPr>
          <p:cNvSpPr>
            <a:spLocks noGrp="1"/>
          </p:cNvSpPr>
          <p:nvPr/>
        </p:nvSpPr>
        <p:spPr>
          <a:xfrm>
            <a:off x="96202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8CC5BBA8-D587-4D85-9887-0972E3A01071}"/>
              </a:ext>
            </a:extLst>
          </p:cNvPr>
          <p:cNvSpPr>
            <a:spLocks noGrp="1"/>
          </p:cNvSpPr>
          <p:nvPr/>
        </p:nvSpPr>
        <p:spPr>
          <a:xfrm>
            <a:off x="145732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MVP范围与验收方式</a:t>
            </a:r>
            <a:endParaRPr sz="15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D4470744-C0CB-4BD6-BE54-691EE7932A39}"/>
              </a:ext>
            </a:extLst>
          </p:cNvPr>
          <p:cNvSpPr>
            <a:spLocks noGrp="1"/>
          </p:cNvSpPr>
          <p:nvPr/>
        </p:nvSpPr>
        <p:spPr>
          <a:xfrm>
            <a:off x="6419850" y="2019300"/>
            <a:ext cx="5048250" cy="3619500"/>
          </a:xfrm>
          <a:prstGeom prst="roundRect">
            <a:avLst/>
          </a:prstGeom>
          <a:solidFill>
            <a:srgbClr val="102B37"/>
          </a:solidFill>
          <a:ln w="12700">
            <a:solidFill>
              <a:srgbClr val="294550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16FD921D-BEED-4716-BF3D-C6C623A11F26}"/>
              </a:ext>
            </a:extLst>
          </p:cNvPr>
          <p:cNvSpPr>
            <a:spLocks noGrp="1"/>
          </p:cNvSpPr>
          <p:nvPr/>
        </p:nvSpPr>
        <p:spPr>
          <a:xfrm>
            <a:off x="6686550" y="22098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40" b="1" dirty="0" err="1">
                <a:solidFill>
                  <a:srgbClr val="36D6C2"/>
                </a:solidFill>
                <a:latin typeface="PingFang SC"/>
                <a:ea typeface="PingFang SC"/>
                <a:cs typeface="PingFang SC"/>
              </a:rPr>
              <a:t>练习二｜AI能力</a:t>
            </a:r>
            <a:endParaRPr sz="2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B21BD55E-8116-4D12-9FF8-6D26061B7874}"/>
              </a:ext>
            </a:extLst>
          </p:cNvPr>
          <p:cNvSpPr>
            <a:spLocks noGrp="1"/>
          </p:cNvSpPr>
          <p:nvPr/>
        </p:nvSpPr>
        <p:spPr>
          <a:xfrm>
            <a:off x="6657975" y="286702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871350E-4B06-4700-8B0D-DF07161E3163}"/>
              </a:ext>
            </a:extLst>
          </p:cNvPr>
          <p:cNvSpPr>
            <a:spLocks noGrp="1"/>
          </p:cNvSpPr>
          <p:nvPr/>
        </p:nvSpPr>
        <p:spPr>
          <a:xfrm>
            <a:off x="7153275" y="285750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模型处理什么、能获得什么</a:t>
            </a:r>
            <a:endParaRPr sz="15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6A691C-5EAF-4A1E-A610-8311D58E8276}"/>
              </a:ext>
            </a:extLst>
          </p:cNvPr>
          <p:cNvSpPr>
            <a:spLocks noGrp="1"/>
          </p:cNvSpPr>
          <p:nvPr/>
        </p:nvSpPr>
        <p:spPr>
          <a:xfrm>
            <a:off x="6657975" y="3390900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4EF2451-7693-4E18-930D-33CCC98B69D8}"/>
              </a:ext>
            </a:extLst>
          </p:cNvPr>
          <p:cNvSpPr>
            <a:spLocks noGrp="1"/>
          </p:cNvSpPr>
          <p:nvPr/>
        </p:nvSpPr>
        <p:spPr>
          <a:xfrm>
            <a:off x="7153275" y="3381375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必须输出什么、何时转人工</a:t>
            </a:r>
            <a:endParaRPr sz="15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1F45729-B235-4211-8BFF-C0526952F978}"/>
              </a:ext>
            </a:extLst>
          </p:cNvPr>
          <p:cNvSpPr>
            <a:spLocks noGrp="1"/>
          </p:cNvSpPr>
          <p:nvPr/>
        </p:nvSpPr>
        <p:spPr>
          <a:xfrm>
            <a:off x="6657975" y="3914775"/>
            <a:ext cx="361950" cy="2857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F7657"/>
                </a:solidFill>
                <a:latin typeface="PingFang SC"/>
                <a:ea typeface="PingFang SC"/>
                <a:cs typeface="PingFang SC"/>
              </a:rPr>
              <a:t>—</a:t>
            </a:r>
            <a:endParaRPr sz="15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B28E875-862B-4C13-B653-0E8B7F2434F9}"/>
              </a:ext>
            </a:extLst>
          </p:cNvPr>
          <p:cNvSpPr>
            <a:spLocks noGrp="1"/>
          </p:cNvSpPr>
          <p:nvPr/>
        </p:nvSpPr>
        <p:spPr>
          <a:xfrm>
            <a:off x="7153275" y="3905250"/>
            <a:ext cx="40767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F5F2E9"/>
                </a:solidFill>
                <a:latin typeface="PingFang SC"/>
                <a:ea typeface="PingFang SC"/>
                <a:cs typeface="PingFang SC"/>
              </a:rPr>
              <a:t>模型明确不负责什么</a:t>
            </a:r>
            <a:endParaRPr sz="15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FAC0E5C2-AC4E-4658-BE90-F0E807C600D3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018520" y="246888"/>
            <a:ext cx="502920" cy="201168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sz="950">
                <a:solidFill>
                  <a:srgbClr val="A7B5BC"/>
                </a:solidFill>
                <a:latin typeface="PingFang SC"/>
                <a:ea typeface="PingFang SC"/>
                <a:cs typeface="PingFang SC"/>
              </a:defRPr>
            </a:lvl1pPr>
          </a:lstStyle>
          <a:p>
            <a:pPr algn="r">
              <a:buNone/>
            </a:pPr>
            <a:fld id="{F7021451-1387-4CA6-816F-3879F97B5CBC}" type="slidenum">
              <a:rPr b="1"/>
              <a:t>66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4238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4911</Words>
  <Application>Microsoft Macintosh PowerPoint</Application>
  <DocSecurity>0</DocSecurity>
  <PresentationFormat>宽屏</PresentationFormat>
  <Paragraphs>939</Paragraphs>
  <Slides>66</Slides>
  <Notes>66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0" baseType="lpstr">
      <vt:lpstr>PingFang SC</vt:lpstr>
      <vt:lpstr>Arial</vt:lpstr>
      <vt:lpstr>Menlo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didi</cp:lastModifiedBy>
  <cp:revision>2</cp:revision>
  <dcterms:created xsi:type="dcterms:W3CDTF">2026-08-20T11:20:47Z</dcterms:created>
  <dcterms:modified xsi:type="dcterms:W3CDTF">2026-08-20T15:06:46Z</dcterms:modified>
</cp:coreProperties>
</file>