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318" r:id="rId3"/>
    <p:sldId id="320" r:id="rId4"/>
    <p:sldId id="322" r:id="rId5"/>
    <p:sldId id="323" r:id="rId6"/>
    <p:sldId id="325" r:id="rId7"/>
    <p:sldId id="326" r:id="rId8"/>
    <p:sldId id="261" r:id="rId9"/>
    <p:sldId id="262" r:id="rId10"/>
    <p:sldId id="263" r:id="rId11"/>
    <p:sldId id="264" r:id="rId12"/>
    <p:sldId id="265" r:id="rId13"/>
    <p:sldId id="271" r:id="rId14"/>
    <p:sldId id="29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459"/>
  </p:normalViewPr>
  <p:slideViewPr>
    <p:cSldViewPr snapToGrid="0" snapToObjects="1">
      <p:cViewPr varScale="1">
        <p:scale>
          <a:sx n="125" d="100"/>
          <a:sy n="125" d="100"/>
        </p:scale>
        <p:origin x="168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5487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A4D6F-0856-5739-4192-DA83B989E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A56AF7-4475-B2AA-E32E-04EF34D3D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34B80F-E77A-EFFD-F486-7E198E93BC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第1页｜课程任务
逐页内容：课程生产/第一阶段/第02课_大模型基础、上下文与Prompt产品化设计_重做工作区/09_PPT结构与逐页内容
老师讲解：课程生产/第一阶段/第02课_大模型基础、上下文与Prompt产品化设计_重做工作区/05_老师版讲义
开场只说课程定位，不展开技术名词。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4B230-A907-F209-0765-98D6F65CD5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928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AFBC-EC06-39C1-1A2D-7E0084881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B8D318-952D-5578-A991-9624E18E4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2DB8DC-6038-4EA3-9884-A1547985A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第6页｜01 Workflow是什么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0229E-651F-B73C-D7A7-4290E322B7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3275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B6754-7CE3-E103-F7A3-424AAB73A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71588-0B2B-DBAA-20CD-B08B8A1D59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B36C17-0569-5C8F-11E8-F8DA090CA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第6页｜01 Workflow是什么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D2CAD-838B-77BF-AEE3-B2D58C3833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6165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BE408-179B-FA8E-629C-5CB8EF996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FD9E80-34AF-3077-14BB-7AE96FF4CE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9D85A6-7933-641C-7F78-3B6C3893D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第6页｜01 Workflow是什么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A3441-72C7-9BD9-80AA-5D0BC2A029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2248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6F93F-C7D2-8556-F116-873A4D16E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31B21A-42CA-CCB7-8E55-D2DFF1DE02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608EEF-0797-30FD-57FA-9C49BD023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第6页｜01 Workflow是什么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E598D-75CF-84E1-48B0-89D417DBE8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4653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52DAE-23BA-EA85-D6CB-9ED69F018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86D32-F0BE-5F32-D3B2-455EB4ACA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96EA26-44F2-12AA-5CE5-2FE0F722AF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第6页｜01 Workflow是什么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F58B0-344C-7E2D-974B-FF587E76B9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0056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第6页｜01 Workflow是什么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第7页｜01 Workflow是什么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老师依次念四个任务，学员举手判断是否需要Workflow，并说明触发了哪条信号：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把标题缩短到15个字；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根据合同类型走不同审查清单；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总结一篇新闻；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判断售后问题，能回答则回答，涉及赔付则转人工。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第16页｜03 五块积木
逐页内容：课程生产/第一阶段/第03课_Workflow类AI产品设计与实操_重做工作区/09_PPT结构与逐页内容
老师讲解：课程生产/第一阶段/第03课_Workflow类AI产品设计与实操_重做工作区/05_老师版讲义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04672" y="65836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804672" y="144475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Workflow类AI产品设计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41248" y="2395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从一次模型调用，到可运行、可分支、可测试的业务流程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41248" y="3063240"/>
            <a:ext cx="2834640" cy="0"/>
          </a:xfrm>
          <a:prstGeom prst="line">
            <a:avLst/>
          </a:prstGeom>
          <a:noFill/>
          <a:ln w="38100">
            <a:solidFill>
              <a:srgbClr val="C3533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41080" y="1051560"/>
            <a:ext cx="1965960" cy="329184"/>
          </a:xfrm>
          <a:prstGeom prst="roundRect">
            <a:avLst>
              <a:gd name="adj" fmla="val 16667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0" y="112471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641080" y="2011680"/>
            <a:ext cx="1965960" cy="329184"/>
          </a:xfrm>
          <a:prstGeom prst="roundRect">
            <a:avLst>
              <a:gd name="adj" fmla="val 16667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0" y="208483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641080" y="2971800"/>
            <a:ext cx="1965960" cy="329184"/>
          </a:xfrm>
          <a:prstGeom prst="roundRect">
            <a:avLst>
              <a:gd name="adj" fmla="val 16667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0" y="304495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分支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641080" y="3931920"/>
            <a:ext cx="1965960" cy="329184"/>
          </a:xfrm>
          <a:prstGeom prst="roundRect">
            <a:avLst>
              <a:gd name="adj" fmla="val 16667"/>
            </a:avLst>
          </a:prstGeom>
          <a:solidFill>
            <a:srgbClr val="E8E0E7"/>
          </a:solidFill>
          <a:ln w="12700">
            <a:solidFill>
              <a:srgbClr val="E8E0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0" y="400507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45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安全输出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833104" y="5879592"/>
            <a:ext cx="2331720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78824" y="595274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第一阶段 · 第03课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49E61A-FD16-AC2B-17DC-A30A70588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52EB644-7FA9-DAB7-03C6-E13F3EBDCF73}"/>
              </a:ext>
            </a:extLst>
          </p:cNvPr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D7E6FEC-772A-3E97-187C-9618A97FAE42}"/>
              </a:ext>
            </a:extLst>
          </p:cNvPr>
          <p:cNvSpPr/>
          <p:nvPr/>
        </p:nvSpPr>
        <p:spPr>
          <a:xfrm>
            <a:off x="795528" y="3113532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 err="1">
                <a:solidFill>
                  <a:srgbClr val="20211F"/>
                </a:solidFill>
                <a:latin typeface="+mn-ea"/>
              </a:rPr>
              <a:t>Workflow是什么</a:t>
            </a:r>
            <a:r>
              <a:rPr lang="zh-CN" altLang="en-US" sz="3600" b="1" dirty="0">
                <a:solidFill>
                  <a:srgbClr val="20211F"/>
                </a:solidFill>
                <a:latin typeface="+mn-ea"/>
              </a:rPr>
              <a:t>？</a:t>
            </a:r>
            <a:endParaRPr lang="en-US" sz="3600" dirty="0">
              <a:latin typeface="+mn-ea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EFE3F55-4575-80A0-EB9A-6AFCA6B07F4E}"/>
              </a:ext>
            </a:extLst>
          </p:cNvPr>
          <p:cNvSpPr/>
          <p:nvPr/>
        </p:nvSpPr>
        <p:spPr>
          <a:xfrm>
            <a:off x="841248" y="3822192"/>
            <a:ext cx="2743200" cy="0"/>
          </a:xfrm>
          <a:prstGeom prst="line">
            <a:avLst/>
          </a:prstGeom>
          <a:noFill/>
          <a:ln w="38100">
            <a:solidFill>
              <a:srgbClr val="C3533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85964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5AA616-CB9C-3DB5-808A-EAF0E5E5D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82B6805-1896-34F8-EB70-9A1236A3F46B}"/>
              </a:ext>
            </a:extLst>
          </p:cNvPr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85648F2-9CE4-8D33-60B8-47E7322E63FD}"/>
              </a:ext>
            </a:extLst>
          </p:cNvPr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338B6C3-AB23-E176-8C81-7D7A36E5A975}"/>
              </a:ext>
            </a:extLst>
          </p:cNvPr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Workflow是什么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0F8D8B7-FC41-B25F-BE5F-42620B7240F1}"/>
              </a:ext>
            </a:extLst>
          </p:cNvPr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Workflow是什么</a:t>
            </a:r>
            <a:endParaRPr lang="en-US" sz="25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34E2F49-D2EC-3AEF-D3AD-47BDDECC7DF0}"/>
              </a:ext>
            </a:extLst>
          </p:cNvPr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4F03573-3778-1373-FA76-A43B73A1D679}"/>
              </a:ext>
            </a:extLst>
          </p:cNvPr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5966121-9D6B-762A-4508-8D1ED20F8D87}"/>
              </a:ext>
            </a:extLst>
          </p:cNvPr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Workflow是什么</a:t>
            </a:r>
            <a:endParaRPr lang="en-US" sz="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071D3AB-CFF4-250C-AC44-648637C7A186}"/>
              </a:ext>
            </a:extLst>
          </p:cNvPr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8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0604800-14BA-39CD-8A51-405E9C9CF5CE}"/>
              </a:ext>
            </a:extLst>
          </p:cNvPr>
          <p:cNvSpPr/>
          <p:nvPr/>
        </p:nvSpPr>
        <p:spPr>
          <a:xfrm>
            <a:off x="1252728" y="2880360"/>
            <a:ext cx="9646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zh-CN" altLang="en-US" sz="2400" b="1" dirty="0"/>
              <a:t>如果我要做一个下面的任务，要怎么做？</a:t>
            </a:r>
            <a:endParaRPr lang="en-US" altLang="zh-CN" sz="2400" b="1" dirty="0"/>
          </a:p>
          <a:p>
            <a:pPr algn="ctr"/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以产品经理的日常为主题，做一个简笔画的动画图片，大概5页左右，主人公是产品经理摸鱼，还有其他角色，如技术、业务和老板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7373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CE1E2E-E775-F3C8-E48C-A2BB454CB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B8EB8C6-F226-9154-28C5-081B27E50586}"/>
              </a:ext>
            </a:extLst>
          </p:cNvPr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4F56EE8-E112-C192-F3F2-7CC1FBC90334}"/>
              </a:ext>
            </a:extLst>
          </p:cNvPr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8EDB1FD-597B-626E-75F0-B6ECCFF89D10}"/>
              </a:ext>
            </a:extLst>
          </p:cNvPr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Workflow是什么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F8B8597-8AD7-3BA2-937C-6BFC0E2A408C}"/>
              </a:ext>
            </a:extLst>
          </p:cNvPr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Workflow是什么</a:t>
            </a:r>
            <a:endParaRPr lang="en-US" sz="25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D29A610-824B-833F-8DC9-D8596C135971}"/>
              </a:ext>
            </a:extLst>
          </p:cNvPr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69AB2FE-1610-5B18-7BC8-01A1536E40C3}"/>
              </a:ext>
            </a:extLst>
          </p:cNvPr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73D564B-B3A4-E556-71FE-28E5C0697E72}"/>
              </a:ext>
            </a:extLst>
          </p:cNvPr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Workflow是什么</a:t>
            </a:r>
            <a:endParaRPr lang="en-US" sz="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9B765D3-0F4D-F90B-4084-97322200E812}"/>
              </a:ext>
            </a:extLst>
          </p:cNvPr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85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26E7A8E-11BB-CF9A-D3DB-4CDFB0592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978" y="1889861"/>
            <a:ext cx="3566161" cy="439607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75A8769-B60E-24C5-D013-9D847E8E28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0487" y="2423537"/>
            <a:ext cx="4994571" cy="296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81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636474-FDB3-08FD-B2E1-115726539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D265E42-DD14-5C8D-997C-AD7DB176325B}"/>
              </a:ext>
            </a:extLst>
          </p:cNvPr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849486-1E54-44B2-9D83-1B954450A2F8}"/>
              </a:ext>
            </a:extLst>
          </p:cNvPr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FAFE9E9-6F72-6305-D16B-B9D0066CF3DB}"/>
              </a:ext>
            </a:extLst>
          </p:cNvPr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Workflow是什么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FC8919B-A741-02FA-41A5-7033BA103A2F}"/>
              </a:ext>
            </a:extLst>
          </p:cNvPr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Workflow是什么</a:t>
            </a:r>
            <a:endParaRPr lang="en-US" sz="25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14C42B9-3E53-CBC4-5E38-425C9C89FF44}"/>
              </a:ext>
            </a:extLst>
          </p:cNvPr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B01A925-7148-22E3-75E1-98FAFABAB4DA}"/>
              </a:ext>
            </a:extLst>
          </p:cNvPr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80EE017-4842-3CDF-0B8E-987E0DB12EA0}"/>
              </a:ext>
            </a:extLst>
          </p:cNvPr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Workflow是什么</a:t>
            </a:r>
            <a:endParaRPr lang="en-US" sz="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5426339-94E3-EF10-A95F-E9F4039511E7}"/>
              </a:ext>
            </a:extLst>
          </p:cNvPr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85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5D750D5-3EB4-A176-BA4F-D6CEAE187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200" y="1843910"/>
            <a:ext cx="5232977" cy="425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99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9C44B9-CBB7-E7AA-79E7-8E86D1FF0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0A7EC69-64C7-CE47-1CAD-E3806DF71023}"/>
              </a:ext>
            </a:extLst>
          </p:cNvPr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700B68C-1D3C-211B-0137-930630A24578}"/>
              </a:ext>
            </a:extLst>
          </p:cNvPr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C9EC205-7358-9055-3B3F-789A5B8D193A}"/>
              </a:ext>
            </a:extLst>
          </p:cNvPr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Workflow是什么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048724A-36F2-63AB-53C8-770790D3871E}"/>
              </a:ext>
            </a:extLst>
          </p:cNvPr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Workflow是什么</a:t>
            </a:r>
            <a:endParaRPr lang="en-US" sz="25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EEA91AE-9E96-C22A-BEB1-ECC26B26E4AF}"/>
              </a:ext>
            </a:extLst>
          </p:cNvPr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D23B17A-8397-FFF3-4E4D-B41CF5D2CC26}"/>
              </a:ext>
            </a:extLst>
          </p:cNvPr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4D7C3D2-9B0D-91AA-28CE-F1BAE01A35B0}"/>
              </a:ext>
            </a:extLst>
          </p:cNvPr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Workflow是什么</a:t>
            </a:r>
            <a:endParaRPr lang="en-US" sz="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51120DB-7AC4-54A3-C573-CF84DA29648C}"/>
              </a:ext>
            </a:extLst>
          </p:cNvPr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8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FC41B26-AA20-BFD1-54FE-FD11F6E3CCE9}"/>
              </a:ext>
            </a:extLst>
          </p:cNvPr>
          <p:cNvSpPr/>
          <p:nvPr/>
        </p:nvSpPr>
        <p:spPr>
          <a:xfrm>
            <a:off x="1325880" y="1874520"/>
            <a:ext cx="9646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zh-CN" altLang="en-US" sz="2400" b="1" dirty="0"/>
              <a:t>如果我要做一个下面的任务，要怎么做？</a:t>
            </a:r>
            <a:endParaRPr lang="en-US" altLang="zh-CN" sz="2400" b="1" dirty="0"/>
          </a:p>
          <a:p>
            <a:pPr algn="ctr"/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zh-CN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以产品经理的日常为主题，做一个简笔画的动画图片，大概5页左右，主人公是产品经理摸鱼，还有其他角色，如技术、业务和老板</a:t>
            </a:r>
            <a:endParaRPr 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C7D25E7-F28F-4314-53A0-3A2D50779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31869"/>
            <a:ext cx="5913120" cy="332613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8E0B19F-62BC-9A8F-1E2D-55F611A54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880" y="3531869"/>
            <a:ext cx="5913120" cy="332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624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2750A4-7C78-93EF-88AB-A2CEDEA03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F5585CD-3BEC-0892-E83F-7CE0682578A2}"/>
              </a:ext>
            </a:extLst>
          </p:cNvPr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1950B30-FD61-D3F5-9DB1-E60010ECDFFC}"/>
              </a:ext>
            </a:extLst>
          </p:cNvPr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4325FE5-ECD6-708D-EF03-B02777F5AB23}"/>
              </a:ext>
            </a:extLst>
          </p:cNvPr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Workflow是什么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5BBFA26-3286-D4DE-6EE3-1517D3706F44}"/>
              </a:ext>
            </a:extLst>
          </p:cNvPr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Workflow是什么</a:t>
            </a:r>
            <a:endParaRPr lang="en-US" sz="25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82D4992-94BB-46B6-7B71-8F17634482C6}"/>
              </a:ext>
            </a:extLst>
          </p:cNvPr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D4A4320-18C6-4E7C-7BE7-8E2C4836DF59}"/>
              </a:ext>
            </a:extLst>
          </p:cNvPr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0661644-AA76-BD21-3398-0C17E41FEC3B}"/>
              </a:ext>
            </a:extLst>
          </p:cNvPr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Workflow是什么</a:t>
            </a:r>
            <a:endParaRPr lang="en-US" sz="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950C312-3D82-E038-F9B9-B73C3F0E41C8}"/>
              </a:ext>
            </a:extLst>
          </p:cNvPr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85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0528943-93FC-73C9-4043-EA09B6CC4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389888"/>
            <a:ext cx="4935255" cy="277608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B43D3CB-1B0C-9329-C4D8-3D5A4FD160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445" y="1389888"/>
            <a:ext cx="4935255" cy="277608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AD4C189-34B7-B3AE-A44F-4037565A93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0222" y="4081918"/>
            <a:ext cx="4935256" cy="277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17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Workflow是什么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Workflow是什么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Workflow是什么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325880" y="1874520"/>
            <a:ext cx="9646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zh-CN" altLang="zh-CN" sz="2400" b="1" dirty="0"/>
              <a:t>Workflow是</a:t>
            </a:r>
            <a:r>
              <a:rPr lang="zh-CN" altLang="en-US" sz="2400" b="1" dirty="0"/>
              <a:t>一套流程化的系统，包含多个步骤，可以调用不同的大模型，</a:t>
            </a:r>
            <a:r>
              <a:rPr lang="en-US" altLang="zh-CN" sz="2400" b="1" dirty="0"/>
              <a:t>API</a:t>
            </a:r>
            <a:r>
              <a:rPr lang="zh-CN" altLang="en-US" sz="2400" b="1" dirty="0"/>
              <a:t>，用户回答问题或完成某项任务</a:t>
            </a:r>
            <a:r>
              <a:rPr lang="zh-CN" altLang="zh-CN" sz="2400" b="1" dirty="0"/>
              <a:t>。</a:t>
            </a:r>
            <a:endParaRPr lang="en-US" sz="2400" b="1" dirty="0"/>
          </a:p>
        </p:txBody>
      </p:sp>
      <p:sp>
        <p:nvSpPr>
          <p:cNvPr id="13" name="Text 10"/>
          <p:cNvSpPr/>
          <p:nvPr/>
        </p:nvSpPr>
        <p:spPr>
          <a:xfrm>
            <a:off x="1371600" y="4485132"/>
            <a:ext cx="9555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先把它理解为：可运行的流程图。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Workflow是什么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流程图与Workflow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Workflow是什么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13232" y="1600200"/>
            <a:ext cx="5285232" cy="3493005"/>
          </a:xfrm>
          <a:prstGeom prst="roundRect">
            <a:avLst>
              <a:gd name="adj" fmla="val 105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600200"/>
            <a:ext cx="64008" cy="3492999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178308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流程图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32688" y="2313432"/>
            <a:ext cx="4846320" cy="24780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描述应该怎样走</a:t>
            </a:r>
            <a:endParaRPr lang="en-US" sz="1900" dirty="0"/>
          </a:p>
          <a:p>
            <a:pPr marL="0" indent="0" algn="ctr">
              <a:buNone/>
            </a:pP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静态表达业务逻辑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6199632" y="1600200"/>
            <a:ext cx="5285232" cy="3492995"/>
          </a:xfrm>
          <a:prstGeom prst="roundRect">
            <a:avLst>
              <a:gd name="adj" fmla="val 105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99632" y="1600200"/>
            <a:ext cx="64008" cy="3492995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19088" y="178308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419088" y="2313432"/>
            <a:ext cx="4846320" cy="24780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接收输入｜传递变量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调用节点｜产生输出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保留运行日志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932688" y="548640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43000" y="561441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先用流程图想清业务，再让Workflow执行。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Workflow是什么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三个适用信号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Workflow是什么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783080"/>
            <a:ext cx="3480816" cy="2788920"/>
          </a:xfrm>
          <a:prstGeom prst="roundRect">
            <a:avLst>
              <a:gd name="adj" fmla="val 16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783080"/>
            <a:ext cx="64008" cy="278892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" y="1965960"/>
            <a:ext cx="3060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多步骤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77824" y="2496312"/>
            <a:ext cx="30419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任务不止一步，后一步依赖前一步结果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358640" y="1783080"/>
            <a:ext cx="3480816" cy="2788920"/>
          </a:xfrm>
          <a:prstGeom prst="roundRect">
            <a:avLst>
              <a:gd name="adj" fmla="val 16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58640" y="1783080"/>
            <a:ext cx="64008" cy="278892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8096" y="1965960"/>
            <a:ext cx="3060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有分支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4578096" y="2496312"/>
            <a:ext cx="30419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不同输入需要走不同路径；</a:t>
            </a:r>
          </a:p>
        </p:txBody>
      </p:sp>
      <p:sp>
        <p:nvSpPr>
          <p:cNvPr id="19" name="Shape 16"/>
          <p:cNvSpPr/>
          <p:nvPr/>
        </p:nvSpPr>
        <p:spPr>
          <a:xfrm>
            <a:off x="8058912" y="1783080"/>
            <a:ext cx="3480816" cy="2788920"/>
          </a:xfrm>
          <a:prstGeom prst="roundRect">
            <a:avLst>
              <a:gd name="adj" fmla="val 163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58912" y="1783080"/>
            <a:ext cx="64008" cy="278892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78368" y="1965960"/>
            <a:ext cx="3060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有边界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278368" y="2496312"/>
            <a:ext cx="30419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需要设置明确边界、兜底或人工确认。</a:t>
            </a:r>
          </a:p>
          <a:p>
            <a:pPr marL="0" indent="0" algn="l">
              <a:buNone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932688" y="498348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43000" y="511149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满足两个，就值得考虑Workflow。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Workflow是什么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不是所有任务都需要Workflow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Workflow是什么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737360"/>
            <a:ext cx="3480816" cy="2743200"/>
          </a:xfrm>
          <a:prstGeom prst="roundRect">
            <a:avLst>
              <a:gd name="adj" fmla="val 166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737360"/>
            <a:ext cx="64008" cy="27432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" y="1920240"/>
            <a:ext cx="3060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标题润色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77824" y="2450592"/>
            <a:ext cx="304190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 err="1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一步即可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358640" y="1737360"/>
            <a:ext cx="3480816" cy="2743200"/>
          </a:xfrm>
          <a:prstGeom prst="roundRect">
            <a:avLst>
              <a:gd name="adj" fmla="val 166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58640" y="1737360"/>
            <a:ext cx="64008" cy="274320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8096" y="1920240"/>
            <a:ext cx="3060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单段总结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4578096" y="2450592"/>
            <a:ext cx="304190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 err="1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一步即可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8058912" y="1737360"/>
            <a:ext cx="3480816" cy="2743200"/>
          </a:xfrm>
          <a:prstGeom prst="roundRect">
            <a:avLst>
              <a:gd name="adj" fmla="val 1667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58912" y="1737360"/>
            <a:ext cx="64008" cy="274320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78368" y="1920240"/>
            <a:ext cx="3060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头脑风暴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278368" y="2450592"/>
            <a:ext cx="304190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 err="1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一次性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932688" y="4956048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F2E7D5"/>
          </a:solidFill>
          <a:ln w="12700">
            <a:solidFill>
              <a:srgbClr val="F2E7D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43000" y="5084064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18A3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节点越多，不等于产品越智能。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Workflow是什么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Workflow与Agent：一句区分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Workflow是什么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13232" y="1600200"/>
            <a:ext cx="5285232" cy="3273548"/>
          </a:xfrm>
          <a:prstGeom prst="roundRect">
            <a:avLst>
              <a:gd name="adj" fmla="val 105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3232" y="1600200"/>
            <a:ext cx="64008" cy="3273548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178308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32688" y="2313432"/>
            <a:ext cx="4846320" cy="22860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 err="1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一丝不苟的按照预设的流程完成工作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6199632" y="1600200"/>
            <a:ext cx="5285232" cy="3273545"/>
          </a:xfrm>
          <a:prstGeom prst="roundRect">
            <a:avLst>
              <a:gd name="adj" fmla="val 1059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99632" y="1600200"/>
            <a:ext cx="64008" cy="3273545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19088" y="1783080"/>
            <a:ext cx="4864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419088" y="2313432"/>
            <a:ext cx="4846320" cy="22860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模型更自主决定下一步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强调灵活，但更难控制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32688" y="548640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F2E2DB"/>
          </a:solidFill>
          <a:ln w="12700">
            <a:solidFill>
              <a:srgbClr val="F2E2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43000" y="561441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本课只学Workflow，不展开Agent。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五块积木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</a:t>
            </a:r>
            <a:r>
              <a:rPr lang="zh-CN" alt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</a:t>
            </a:r>
            <a:r>
              <a:rPr lang="en-US" sz="2500" b="1" dirty="0" err="1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五个部分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五块积木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58368" y="1828800"/>
            <a:ext cx="2000707" cy="246888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" y="1828800"/>
            <a:ext cx="64008" cy="246888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824" y="2011680"/>
            <a:ext cx="15800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节点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77824" y="2542032"/>
            <a:ext cx="1561795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zh-CN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节点是一项可执行动作，例如接收输入、调用模型、判断条件、生成固定文本、结束并返回结果。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878531" y="1828800"/>
            <a:ext cx="2000707" cy="246888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878531" y="1828800"/>
            <a:ext cx="64008" cy="2468880"/>
          </a:xfrm>
          <a:prstGeom prst="rect">
            <a:avLst/>
          </a:prstGeom>
          <a:solidFill>
            <a:srgbClr val="387B77"/>
          </a:solidFill>
          <a:ln w="12700">
            <a:solidFill>
              <a:srgbClr val="387B7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97987" y="2011680"/>
            <a:ext cx="15800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连线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3097987" y="2542032"/>
            <a:ext cx="1561795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zh-CN" altLang="zh-CN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连线表示执行顺序和数据流向。箭头不是装饰：它决定哪个节点先运行、哪一步结果送到哪里。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098694" y="1828800"/>
            <a:ext cx="2000707" cy="246888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098694" y="1828800"/>
            <a:ext cx="64008" cy="2468880"/>
          </a:xfrm>
          <a:prstGeom prst="rect">
            <a:avLst/>
          </a:prstGeom>
          <a:solidFill>
            <a:srgbClr val="D18A38"/>
          </a:solidFill>
          <a:ln w="12700">
            <a:solidFill>
              <a:srgbClr val="D18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18150" y="2011680"/>
            <a:ext cx="15800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变量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5318150" y="2542032"/>
            <a:ext cx="1561795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zh-CN" altLang="zh-CN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变量是节点之间传递的信息容器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318858" y="1828800"/>
            <a:ext cx="2000707" cy="246888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318858" y="1828800"/>
            <a:ext cx="64008" cy="2468880"/>
          </a:xfrm>
          <a:prstGeom prst="rect">
            <a:avLst/>
          </a:prstGeom>
          <a:solidFill>
            <a:srgbClr val="74546A"/>
          </a:solidFill>
          <a:ln w="12700">
            <a:solidFill>
              <a:srgbClr val="7454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38314" y="2011680"/>
            <a:ext cx="15800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分支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7538314" y="2542032"/>
            <a:ext cx="1561795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zh-CN" altLang="zh-CN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根据条件选择下一条路径。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9539021" y="1828800"/>
            <a:ext cx="2000707" cy="2468880"/>
          </a:xfrm>
          <a:prstGeom prst="roundRect">
            <a:avLst>
              <a:gd name="adj" fmla="val 2285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539021" y="1828800"/>
            <a:ext cx="64008" cy="2468880"/>
          </a:xfrm>
          <a:prstGeom prst="rect">
            <a:avLst/>
          </a:prstGeom>
          <a:solidFill>
            <a:srgbClr val="527553"/>
          </a:solidFill>
          <a:ln w="12700">
            <a:solidFill>
              <a:srgbClr val="52755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758477" y="2011680"/>
            <a:ext cx="15800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9758477" y="2542032"/>
            <a:ext cx="1561795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zh-CN" altLang="zh-CN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输出节点把流程结果交还给用户或上层产品。必须提前确定字段、文案和不可输出内容，。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Shape 28"/>
          <p:cNvSpPr/>
          <p:nvPr/>
        </p:nvSpPr>
        <p:spPr>
          <a:xfrm>
            <a:off x="932688" y="4892040"/>
            <a:ext cx="10314432" cy="530352"/>
          </a:xfrm>
          <a:prstGeom prst="roundRect">
            <a:avLst>
              <a:gd name="adj" fmla="val 8621"/>
            </a:avLst>
          </a:prstGeom>
          <a:solidFill>
            <a:srgbClr val="DDEBE8"/>
          </a:solidFill>
          <a:ln w="12700">
            <a:solidFill>
              <a:srgbClr val="DDEB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43000" y="502005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7B7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平台会变，五块积木基本不变。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74320"/>
            <a:ext cx="566928" cy="329184"/>
          </a:xfrm>
          <a:prstGeom prst="roundRect">
            <a:avLst>
              <a:gd name="adj" fmla="val 16667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2648" y="3474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298448" y="34747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总结与作业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课后练习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第一阶段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556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 总结与作业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1133856" y="1481328"/>
            <a:ext cx="10405872" cy="4526280"/>
          </a:xfrm>
          <a:prstGeom prst="roundRect">
            <a:avLst>
              <a:gd name="adj" fmla="val 1124"/>
            </a:avLst>
          </a:prstGeom>
          <a:solidFill>
            <a:srgbClr val="FBF9F4"/>
          </a:solidFill>
          <a:ln w="12700">
            <a:solidFill>
              <a:srgbClr val="D8D0C2"/>
            </a:solidFill>
            <a:prstDash val="solid"/>
          </a:ln>
          <a:effectLst>
            <a:outerShdw blurRad="12700" dist="50800" dir="27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33856" y="1481328"/>
            <a:ext cx="64008" cy="4526280"/>
          </a:xfrm>
          <a:prstGeom prst="rect">
            <a:avLst/>
          </a:prstGeom>
          <a:solidFill>
            <a:srgbClr val="405D78"/>
          </a:solidFill>
          <a:ln w="12700">
            <a:solidFill>
              <a:srgbClr val="405D7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61104" y="2998855"/>
            <a:ext cx="3630168" cy="157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自选一个小场景</a:t>
            </a:r>
            <a:endParaRPr lang="en-US" sz="1550" dirty="0"/>
          </a:p>
          <a:p>
            <a:pPr marL="0" indent="0" algn="ctr">
              <a:buNone/>
            </a:pPr>
            <a:endParaRPr lang="en-US" sz="1550" dirty="0"/>
          </a:p>
          <a:p>
            <a:pPr marL="0" indent="0" algn="ctr">
              <a:buNone/>
            </a:pPr>
            <a:r>
              <a:rPr lang="en-US" sz="1550" dirty="0" err="1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用coze搭建工作流</a:t>
            </a:r>
            <a:r>
              <a:rPr lang="zh-CN" altLang="en-US" sz="15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，</a:t>
            </a:r>
            <a:r>
              <a:rPr lang="en-US" sz="15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至少</a:t>
            </a:r>
            <a:r>
              <a:rPr lang="en-US" altLang="zh-CN" sz="15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r>
              <a:rPr lang="zh-CN" altLang="en-US" sz="15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个节点</a:t>
            </a:r>
            <a:endParaRPr lang="en-US" altLang="zh-CN" sz="1550" dirty="0">
              <a:solidFill>
                <a:srgbClr val="77766F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  <a:p>
            <a:pPr marL="0" indent="0" algn="ctr"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975</TotalTime>
  <Words>1035</Words>
  <Application>Microsoft Macintosh PowerPoint</Application>
  <PresentationFormat>宽屏</PresentationFormat>
  <Paragraphs>160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等线</vt:lpstr>
      <vt:lpstr>PingFang SC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AI 产品经理系统课程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Workflow类AI产品设计：从一次模型调用到可运行流程</dc:title>
  <dc:subject>第03课：Workflow类AI产品设计与实操</dc:subject>
  <dc:creator>AI 产品经理系统课程</dc:creator>
  <cp:lastModifiedBy>didi</cp:lastModifiedBy>
  <cp:revision>4</cp:revision>
  <dcterms:created xsi:type="dcterms:W3CDTF">2026-07-22T15:51:46Z</dcterms:created>
  <dcterms:modified xsi:type="dcterms:W3CDTF">2026-07-24T02:51:52Z</dcterms:modified>
</cp:coreProperties>
</file>