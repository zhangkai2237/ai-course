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第1页｜课程任务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第2页｜课程任务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第3页｜课程任务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第4页｜课程任务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第5页｜课程任务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第11页｜02 从SOP到流程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第12页｜02 从SOP到流程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第13页｜02 从SOP到流程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第14页｜02 从SOP到流程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第15页｜02 从SOP到流程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第16页｜03 五块积木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第17页｜03 五块积木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第18页｜03 五块积木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第19页｜03 五块积木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第20页｜03 五块积木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第21页｜04 纸面练习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第22页｜04 纸面练习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第23页｜04 纸面练习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第24页｜05 单路V0.2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第25页｜05 单路V0.2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第26页｜05 单路V0.2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第27页｜05 单路V0.2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第28页｜05 单路V0.2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第29页｜06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第30页｜06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第31页｜06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第32页｜06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第33页｜06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第34页｜06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第35页｜06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第36页｜06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第37页｜06 四路V0.3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第38页｜07 测试与排错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第39页｜07 测试与排错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第40页｜07 测试与排错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第41页｜07 测试与排错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第42页｜08 总结与作业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4672" y="658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04672" y="14447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Workflow类AI产品设计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41248" y="2395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从一次模型调用，到可运行、可分支、可测试的业务流程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41248" y="3063240"/>
            <a:ext cx="283464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41080" y="105156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11247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41080" y="201168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20848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641080" y="297180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30449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41080" y="393192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0" y="40050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安全输出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33104" y="5879592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78824" y="59527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第03课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今天会完成什么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828800"/>
            <a:ext cx="2555748" cy="2423160"/>
          </a:xfrm>
          <a:prstGeom prst="roundRect">
            <a:avLst>
              <a:gd name="adj" fmla="val 18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828800"/>
            <a:ext cx="64008" cy="24231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01168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能解释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542032"/>
            <a:ext cx="21168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说清Prompt与Workflow的差别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433572" y="1828800"/>
            <a:ext cx="2555748" cy="2423160"/>
          </a:xfrm>
          <a:prstGeom prst="roundRect">
            <a:avLst>
              <a:gd name="adj" fmla="val 18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828800"/>
            <a:ext cx="64008" cy="24231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3028" y="201168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能画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3028" y="2542032"/>
            <a:ext cx="21168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把人工SOP画成四路流程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08776" y="1828800"/>
            <a:ext cx="2555748" cy="2423160"/>
          </a:xfrm>
          <a:prstGeom prst="roundRect">
            <a:avLst>
              <a:gd name="adj" fmla="val 18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828800"/>
            <a:ext cx="64008" cy="24231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201168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能搭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28232" y="2542032"/>
            <a:ext cx="21168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跑通最小Workflow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983980" y="1828800"/>
            <a:ext cx="2555748" cy="2423160"/>
          </a:xfrm>
          <a:prstGeom prst="roundRect">
            <a:avLst>
              <a:gd name="adj" fmla="val 18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828800"/>
            <a:ext cx="64008" cy="24231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03436" y="201168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能测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203436" y="2542032"/>
            <a:ext cx="21168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用测试集定位具体节点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2688" y="484632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97433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最后交付：一张流程图＋一条可运行Workflow＋五条测试记录。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三版递进作品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87452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" y="1874520"/>
            <a:ext cx="64008" cy="15727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5740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22960" y="258775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纸面四路图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50692" y="243230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7852" y="187452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7852" y="1874520"/>
            <a:ext cx="64008" cy="15727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7308" y="205740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V0.2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3607308" y="258775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开始→LLM→结束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35040" y="243230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187452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1874520"/>
            <a:ext cx="64008" cy="15727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91656" y="205740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V0.3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391656" y="258775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分类→分支→安全输出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819388" y="243230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56548" y="187452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956548" y="1874520"/>
            <a:ext cx="64008" cy="15727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76004" y="205740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V1.0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9176004" y="258775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自己的工作场景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32688" y="45720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43000" y="47000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一次只增加一种复杂度，出错时才知道查哪里。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第02课停在哪里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4315968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一次Prompt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输入一次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模型处理一次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输出一次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43159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理解与判断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不同处理路径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四个问题，本来就不该走同一条路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37360"/>
            <a:ext cx="2555748" cy="260604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37360"/>
            <a:ext cx="64008" cy="26060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50592"/>
            <a:ext cx="21168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满减能和会员券叠加吗？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433572" y="1737360"/>
            <a:ext cx="2555748" cy="260604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737360"/>
            <a:ext cx="64008" cy="26060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3028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3028" y="2450592"/>
            <a:ext cx="21168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昨天门店GMV是多少？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08776" y="1737360"/>
            <a:ext cx="2555748" cy="260604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737360"/>
            <a:ext cx="64008" cy="26060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投诉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28232" y="2450592"/>
            <a:ext cx="21168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平台乱扣费，我要投诉。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983980" y="1737360"/>
            <a:ext cx="2555748" cy="260604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737360"/>
            <a:ext cx="64008" cy="26060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03436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模糊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203436" y="2450592"/>
            <a:ext cx="21168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活动怎么回事？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2688" y="4864608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992624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模型都能生成文字，但业务处理必须不同。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0120" y="1874520"/>
            <a:ext cx="73152" cy="1234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1874520"/>
            <a:ext cx="9646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把任务拆成步骤，再通过变量和连线，按预设顺序或条件重复执行。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371600" y="3310128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先把它理解为：可运行的流程图。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流程图与Workflow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43159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流程图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描述应该怎样走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静态表达业务逻辑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43159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接收输入｜传递变量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调用节点｜产生输出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保留运行日志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32688" y="54864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先用流程图想清业务，再让Workflow执行。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三个适用信号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3480816" cy="2788920"/>
          </a:xfrm>
          <a:prstGeom prst="roundRect">
            <a:avLst>
              <a:gd name="adj" fmla="val 16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83080"/>
            <a:ext cx="64008" cy="27889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96596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多步骤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96312"/>
            <a:ext cx="3041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后一步依赖前一步结果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58640" y="1783080"/>
            <a:ext cx="3480816" cy="2788920"/>
          </a:xfrm>
          <a:prstGeom prst="roundRect">
            <a:avLst>
              <a:gd name="adj" fmla="val 16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783080"/>
            <a:ext cx="64008" cy="27889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8096" y="196596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有分支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8096" y="2496312"/>
            <a:ext cx="3041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不同输入走不同路径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58912" y="1783080"/>
            <a:ext cx="3480816" cy="2788920"/>
          </a:xfrm>
          <a:prstGeom prst="roundRect">
            <a:avLst>
              <a:gd name="adj" fmla="val 16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783080"/>
            <a:ext cx="64008" cy="27889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8368" y="196596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有边界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78368" y="2496312"/>
            <a:ext cx="3041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需要兜底或人工确认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32688" y="498348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11149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满足两个，就值得考虑Workflow。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不是所有任务都需要Workflow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37360"/>
            <a:ext cx="64008" cy="27432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92024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标题润色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50592"/>
            <a:ext cx="30419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一次生成即可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58640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737360"/>
            <a:ext cx="64008" cy="27432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8096" y="192024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单段总结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8096" y="2450592"/>
            <a:ext cx="30419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输入和输出明确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58912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737360"/>
            <a:ext cx="64008" cy="27432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8368" y="192024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头脑风暴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78368" y="2450592"/>
            <a:ext cx="30419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一次性开放探索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32688" y="4956048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084064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节点越多，不等于产品越智能。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Workflow与Agent：一句区分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43159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产品预设主要路径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强调可控与可复现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43159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模型更自主决定下一步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强调灵活，但更难控制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32688" y="54864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本课只学Workflow，不展开Agent。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从SOP到流程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项目背景｜商家咨询分流助手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从SOP到流程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572768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572768"/>
            <a:ext cx="64008" cy="429768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55648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邻里增长平台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32688" y="2286000"/>
            <a:ext cx="331012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虚构的本地商家服务平台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商家运营每天处理：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活动规则｜经营数据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扣费投诉｜模糊问题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736592" y="1572768"/>
            <a:ext cx="6583680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36592" y="1572768"/>
            <a:ext cx="64008" cy="1874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56048" y="1755648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当前问题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956048" y="2286000"/>
            <a:ext cx="6144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人工先读、再判断、再转交，重复分流成本高。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736592" y="3703320"/>
            <a:ext cx="6583680" cy="2167128"/>
          </a:xfrm>
          <a:prstGeom prst="roundRect">
            <a:avLst>
              <a:gd name="adj" fmla="val 211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36592" y="3703320"/>
            <a:ext cx="64008" cy="216712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56048" y="3886200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第一步要做什么？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4956048" y="4416552"/>
            <a:ext cx="6144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先做“理解＋分流＋安全回复”，不做全自动客服。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7882128" y="749808"/>
            <a:ext cx="3063240" cy="329184"/>
          </a:xfrm>
          <a:prstGeom prst="roundRect">
            <a:avLst>
              <a:gd name="adj" fmla="val 16667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27848" y="82296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教学虚构｜不对应真实公司项目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从SOP到流程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第一版目标与红线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从SOP到流程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4315968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识别问题类型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进入正确路径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给出安全回复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43159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红线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不编实时数据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不承诺退款赔偿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信息不足不强猜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从SOP到流程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先定义输出｜结果必须可使用、可检查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从SOP到流程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82880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828800"/>
            <a:ext cx="64008" cy="24231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issue_type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542032"/>
            <a:ext cx="1561795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问题类型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878531" y="182880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828800"/>
            <a:ext cx="64008" cy="24231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7987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handling_method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097987" y="2542032"/>
            <a:ext cx="1561795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处理方式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098694" y="182880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828800"/>
            <a:ext cx="64008" cy="24231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18150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reference_reply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318150" y="2542032"/>
            <a:ext cx="1561795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参考回复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318858" y="182880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828800"/>
            <a:ext cx="64008" cy="24231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38314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need_human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538314" y="2542032"/>
            <a:ext cx="1561795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是否人工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539021" y="1828800"/>
            <a:ext cx="2000707" cy="242316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828800"/>
            <a:ext cx="64008" cy="24231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58477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reason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758477" y="2542032"/>
            <a:ext cx="1561795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内部原因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32688" y="484632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97433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输出不是一段“好看的话”，而是业务可使用的结果。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从SOP到流程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再定义输入｜第一版刻意控制复杂度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从SOP到流程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0120" y="1874520"/>
            <a:ext cx="73152" cy="123444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1874520"/>
            <a:ext cx="9646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user_query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371600" y="3310128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商家提交的原始问题｜文本｜必填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2688" y="4736592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4864608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商家ID、门店ID和历史对话可以后加，今天先不加。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从SOP到流程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把人工SOP翻译成流程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从SOP到流程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" y="1783080"/>
            <a:ext cx="64008" cy="15727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读问题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接收原始输入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93822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30982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30982" y="1783080"/>
            <a:ext cx="64008" cy="15727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0438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判断类型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050438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理解用户意图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921301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58461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58461" y="1783080"/>
            <a:ext cx="64008" cy="15727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77917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选择路径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277917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执行分支条件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148779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85939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285939" y="1783080"/>
            <a:ext cx="64008" cy="15727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05395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安全处理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505395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按边界行动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376258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13418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513418" y="1783080"/>
            <a:ext cx="64008" cy="1572768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32874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输出结果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732874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用户话术＋内部字段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32688" y="452628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3000" y="465429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逻辑没画清楚，打开平台只会得到一张复杂画布。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五块积木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Workflow五块积木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五块积木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828800"/>
            <a:ext cx="64008" cy="24688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一项动作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878531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828800"/>
            <a:ext cx="64008" cy="24688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7987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连线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097987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顺序与流向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098694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828800"/>
            <a:ext cx="64008" cy="24688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18150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变量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318150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传递的信息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318858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828800"/>
            <a:ext cx="64008" cy="24688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38314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538314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选择路径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539021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828800"/>
            <a:ext cx="64008" cy="246888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58477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758477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返回结果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32688" y="489204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02005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平台会变，五块积木基本不变。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五块积木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节点与连线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五块积木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87452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" y="1874520"/>
            <a:ext cx="64008" cy="15727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5740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258775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接收问题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50692" y="243230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7852" y="187452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7852" y="1874520"/>
            <a:ext cx="64008" cy="15727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7308" y="205740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判断咨询类型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07308" y="258775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LLM节点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5040" y="243230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187452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1874520"/>
            <a:ext cx="64008" cy="15727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91656" y="205740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选择处理路径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91656" y="258775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条件节点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819388" y="243230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56548" y="187452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956548" y="1874520"/>
            <a:ext cx="64008" cy="15727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76004" y="205740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返回结果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176004" y="258775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结束节点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32688" y="466344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43000" y="479145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用业务动作命名节点，不要只叫“LLM1”“处理2”。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五块积木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变量是节点之间的接力棒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五块积木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92024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1920240"/>
            <a:ext cx="64008" cy="1874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856" y="2103120"/>
            <a:ext cx="2913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user_query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133856" y="2633472"/>
            <a:ext cx="2895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原始问题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76344" y="247802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13504" y="192024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13504" y="1920240"/>
            <a:ext cx="64008" cy="18745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2960" y="2103120"/>
            <a:ext cx="2913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issue_type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632960" y="2633472"/>
            <a:ext cx="2895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分类标签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75448" y="247802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12608" y="192024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12608" y="1920240"/>
            <a:ext cx="64008" cy="1874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2064" y="2103120"/>
            <a:ext cx="2913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final_reply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132064" y="2633472"/>
            <a:ext cx="2895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最终话术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32688" y="475488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488289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画了线，不等于变量自动传对。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五块积木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分类与分支不是一回事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五块积木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43159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分类LLM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理解语言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回答：它是什么？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issue_type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43159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条件节点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执行硬规则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回答：如果是它，走哪里？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精确匹配标签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五块积木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确定性与概率性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五块积木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43159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更偏概率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LLM分类｜LLM生成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结果可能波动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4315968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更偏确定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条件匹配｜固定话术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相同规则稳定执行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932688" y="54864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需要理解时用模型，需要守规则时用结构。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纸面练习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V0.1纸面任务｜先不要打开工具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纸面练习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37360"/>
            <a:ext cx="2555748" cy="260604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37360"/>
            <a:ext cx="64008" cy="26060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4分钟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50592"/>
            <a:ext cx="21168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个人画出最小流程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433572" y="1737360"/>
            <a:ext cx="2555748" cy="260604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737360"/>
            <a:ext cx="64008" cy="26060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3028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2分钟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3028" y="2450592"/>
            <a:ext cx="21168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两人互查路径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08776" y="1737360"/>
            <a:ext cx="2555748" cy="260604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737360"/>
            <a:ext cx="64008" cy="26060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必须包含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28232" y="2450592"/>
            <a:ext cx="21168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1输入｜1分类｜4路径｜1输出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983980" y="1737360"/>
            <a:ext cx="2555748" cy="260604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737360"/>
            <a:ext cx="64008" cy="26060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03436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必须写出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203436" y="2450592"/>
            <a:ext cx="21168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2条系统红线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2688" y="484632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97433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同桌必须能只看图讲清每一种问题会去哪。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纸面练习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V0.1参考流程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纸面练习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2423160"/>
            <a:ext cx="1508760" cy="1097280"/>
          </a:xfrm>
          <a:prstGeom prst="roundRect">
            <a:avLst>
              <a:gd name="adj" fmla="val 41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2423160"/>
            <a:ext cx="64008" cy="109728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2606040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6384" y="3136392"/>
            <a:ext cx="1069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user_query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57984" y="2743200"/>
            <a:ext cx="411480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51760" y="242316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651760" y="2423160"/>
            <a:ext cx="64008" cy="10972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71216" y="2606040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AI分类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71216" y="313639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issue_type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416552" y="2743200"/>
            <a:ext cx="411480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01184" y="2423160"/>
            <a:ext cx="1600200" cy="1097280"/>
          </a:xfrm>
          <a:prstGeom prst="roundRect">
            <a:avLst>
              <a:gd name="adj" fmla="val 41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01184" y="2423160"/>
            <a:ext cx="64008" cy="10972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2606040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20640" y="3136392"/>
            <a:ext cx="1161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四路分流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39712" y="1572768"/>
            <a:ext cx="2011680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39712" y="1572768"/>
            <a:ext cx="64008" cy="15544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59168" y="175564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59168" y="2286000"/>
            <a:ext cx="1572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规则卡回答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098280" y="1572768"/>
            <a:ext cx="2011680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098280" y="1572768"/>
            <a:ext cx="64008" cy="15544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17736" y="175564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317736" y="2286000"/>
            <a:ext cx="1572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需查系统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839712" y="3538728"/>
            <a:ext cx="2011680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839712" y="3538728"/>
            <a:ext cx="64008" cy="15544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59168" y="372160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COMPLAINT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059168" y="4251960"/>
            <a:ext cx="1572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098280" y="3538728"/>
            <a:ext cx="2011680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9098280" y="3538728"/>
            <a:ext cx="64008" cy="15544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17736" y="372160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OTHER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317736" y="4251960"/>
            <a:ext cx="1572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追问澄清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32688" y="52578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43000" y="53858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DATA不编数｜COMPLAINT不承诺｜OTHER不强猜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E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休息 5 分钟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保存V0.1｜老师检查演示环境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914400" y="4846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05:00</a:t>
            </a:r>
            <a:endParaRPr lang="en-US" sz="3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单路V0.2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平台演示路线｜一次只增加一种复杂度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单路V0.2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" y="1783080"/>
            <a:ext cx="64008" cy="15727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跑单路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开始→LLM→结束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93822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30982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30982" y="1783080"/>
            <a:ext cx="64008" cy="15727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0438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看日志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50438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逐节点输入输出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921301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58461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58461" y="1783080"/>
            <a:ext cx="64008" cy="15727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77917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加分类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277917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只输出标签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48779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85939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285939" y="1783080"/>
            <a:ext cx="64008" cy="15727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05395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加分支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505395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四种处理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376258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13418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513418" y="1783080"/>
            <a:ext cx="64008" cy="1572768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32874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做测试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732874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制造失败并修正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32688" y="452628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3000" y="465429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界面名称会变，按节点功能找同类项。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单路V0.2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开始节点｜创建唯一必填输入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单路V0.2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828800"/>
            <a:ext cx="2555748" cy="2423160"/>
          </a:xfrm>
          <a:prstGeom prst="roundRect">
            <a:avLst>
              <a:gd name="adj" fmla="val 18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828800"/>
            <a:ext cx="64008" cy="24231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01168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变量名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542032"/>
            <a:ext cx="21168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user_query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433572" y="1828800"/>
            <a:ext cx="2555748" cy="2423160"/>
          </a:xfrm>
          <a:prstGeom prst="roundRect">
            <a:avLst>
              <a:gd name="adj" fmla="val 18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828800"/>
            <a:ext cx="64008" cy="24231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3028" y="201168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类型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3028" y="2542032"/>
            <a:ext cx="21168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 String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08776" y="1828800"/>
            <a:ext cx="2555748" cy="2423160"/>
          </a:xfrm>
          <a:prstGeom prst="roundRect">
            <a:avLst>
              <a:gd name="adj" fmla="val 18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828800"/>
            <a:ext cx="64008" cy="24231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201168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28232" y="2542032"/>
            <a:ext cx="21168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必填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983980" y="1828800"/>
            <a:ext cx="2555748" cy="2423160"/>
          </a:xfrm>
          <a:prstGeom prst="roundRect">
            <a:avLst>
              <a:gd name="adj" fmla="val 18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828800"/>
            <a:ext cx="64008" cy="24231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03436" y="201168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203436" y="2542032"/>
            <a:ext cx="21168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满减能和会员券一起用吗？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2688" y="484632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97433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开始节点决定流程真正拿到了什么。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单路V0.2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LLM节点｜Prompt必须插入真实变量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单路V0.2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22960" y="1572768"/>
            <a:ext cx="10561320" cy="4160520"/>
          </a:xfrm>
          <a:prstGeom prst="roundRect">
            <a:avLst>
              <a:gd name="adj" fmla="val 10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1572768"/>
            <a:ext cx="64008" cy="41605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2416" y="1755648"/>
            <a:ext cx="10140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V0.2 Prompt骨架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42416" y="2286000"/>
            <a:ext cx="1012240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你是商家咨询处理助手。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请阅读用户问题，说明正式处理前需要确认什么信息。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不得编造实时业务数据，不得承诺退款或赔偿。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用户问题：〔从变量选择器插入 user_query〕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32688" y="553212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566013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不要只手敲占位符后假设平台一定识别。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单路V0.2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结束节点与首次运行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单路V0.2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82880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" y="1828800"/>
            <a:ext cx="64008" cy="15727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1168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开始输入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254203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user_query有值？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50692" y="238658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7852" y="182880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7852" y="1828800"/>
            <a:ext cx="64008" cy="15727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7308" y="201168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LLM输入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07308" y="254203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看到真实问题？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5040" y="238658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182880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1828800"/>
            <a:ext cx="64008" cy="15727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91656" y="201168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LLM输出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391656" y="254203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有处理建议？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819388" y="238658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56548" y="182880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956548" y="1828800"/>
            <a:ext cx="64008" cy="15727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76004" y="201168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结束输出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176004" y="254203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final_reply引用正确？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32688" y="45720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43000" y="47000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逐节点读日志：输入是什么，输出是什么。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单路V0.2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跑通不等于可用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单路V0.2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0120" y="1874520"/>
            <a:ext cx="73152" cy="1234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1874520"/>
            <a:ext cx="9646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V0.2会用同一种方式处理所有问题。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371600" y="3310128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它只证明链路通了，还没有证明业务逻辑正确。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升级目标｜四路V0.3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" y="1783080"/>
            <a:ext cx="64008" cy="15727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user_query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93822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30982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30982" y="1783080"/>
            <a:ext cx="64008" cy="15727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0438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分类LLM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050438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issue_type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921301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58461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58461" y="1783080"/>
            <a:ext cx="64008" cy="15727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77917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条件分支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277917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精确匹配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48779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85939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285939" y="1783080"/>
            <a:ext cx="64008" cy="15727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05395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四种处理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505395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守住边界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376258" y="234086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13418" y="1783080"/>
            <a:ext cx="206288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513418" y="1783080"/>
            <a:ext cx="64008" cy="1572768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32874" y="1965960"/>
            <a:ext cx="16422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732874" y="2496312"/>
            <a:ext cx="16239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结构化结果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32688" y="452628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3000" y="465429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先测试分类，再接条件，最后逐条接处理。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四个标签必须有进入标准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37360"/>
            <a:ext cx="2555748" cy="265176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37360"/>
            <a:ext cx="64008" cy="26517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50592"/>
            <a:ext cx="21168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平台/活动/经营规则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433572" y="1737360"/>
            <a:ext cx="2555748" cy="265176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737360"/>
            <a:ext cx="64008" cy="2651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3028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3028" y="2450592"/>
            <a:ext cx="21168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实时订单/GMV/结算/状态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08776" y="1737360"/>
            <a:ext cx="2555748" cy="265176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737360"/>
            <a:ext cx="64008" cy="2651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COMPLAINT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28232" y="2450592"/>
            <a:ext cx="21168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投诉/扣费/退款赔付/高风险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983980" y="1737360"/>
            <a:ext cx="2555748" cy="265176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737360"/>
            <a:ext cx="64008" cy="26517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03436" y="192024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OTHER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203436" y="2450592"/>
            <a:ext cx="21168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信息不足或未覆盖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2688" y="489204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502005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冲突时高风险优先；无法确定进入OTHER。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分类Prompt｜四个组成部分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691640"/>
            <a:ext cx="2555748" cy="265176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691640"/>
            <a:ext cx="64008" cy="26517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87452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标签定义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04872"/>
            <a:ext cx="21168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什么情况进入哪类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433572" y="1691640"/>
            <a:ext cx="2555748" cy="265176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33572" y="1691640"/>
            <a:ext cx="64008" cy="2651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3028" y="187452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冲突优先级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3028" y="2404872"/>
            <a:ext cx="21168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投诉与扣费优先COMPLAINT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08776" y="1691640"/>
            <a:ext cx="2555748" cy="265176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08776" y="1691640"/>
            <a:ext cx="64008" cy="2651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87452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严格输出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28232" y="2404872"/>
            <a:ext cx="21168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只输出一个大写标签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983980" y="1691640"/>
            <a:ext cx="2555748" cy="265176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83980" y="1691640"/>
            <a:ext cx="64008" cy="26517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03436" y="1874520"/>
            <a:ext cx="21351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边界示例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203436" y="2404872"/>
            <a:ext cx="21168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典型＋模糊问题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2688" y="484632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497433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完整可复制Prompt见课堂材料04。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条件分支｜自然语言输出要接确定性接口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" y="187452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1874520"/>
            <a:ext cx="64008" cy="1874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856" y="2057400"/>
            <a:ext cx="2913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分类输出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33856" y="2587752"/>
            <a:ext cx="2895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issue_type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76344" y="243230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13504" y="187452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13504" y="1874520"/>
            <a:ext cx="64008" cy="18745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2960" y="2057400"/>
            <a:ext cx="2913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精确条件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32960" y="2587752"/>
            <a:ext cx="2895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== RULE / DATA / ...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5448" y="243230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12608" y="1874520"/>
            <a:ext cx="333451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12608" y="1874520"/>
            <a:ext cx="64008" cy="1874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2064" y="2057400"/>
            <a:ext cx="2913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业务路径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132064" y="2587752"/>
            <a:ext cx="2895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进入对应处理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32688" y="470916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483717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优先枚举/结构化输出；必须保留OTHER兜底。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RULE路径｜只能依据课堂规则卡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43159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课堂规则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平台满减与平台新客券不可叠加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商家券看活动配置页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43159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输出要求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→ 依据 → 不确定性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未覆盖：核实当前有效规则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32688" y="54864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这不是RAG：规则材料是固定粘贴进去的。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DATA路径｜没有数据源，就不要生成数字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0120" y="1874520"/>
            <a:ext cx="73152" cy="123444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1874520"/>
            <a:ext cx="9646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该问题需要查询业务系统中的实时数据。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371600" y="3310128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本课堂版本未连接订单或经营系统，因此不会生成具体数值。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2688" y="475488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488289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模型可以解释数据，但真实数据必须由业务系统提供。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COMPLAINT路径｜转人工不是失败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0120" y="1874520"/>
            <a:ext cx="73152" cy="1234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1874520"/>
            <a:ext cx="9646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记录原始问题，并转交人工处理。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371600" y="3310128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当前不自动承诺退款、赔偿或处理结果。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2688" y="475488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488289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质量可控优先于表面上的“全自动”。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OTHER路径｜只追问一个最必要问题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0120" y="1719072"/>
            <a:ext cx="10241280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60120" y="171907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9576" y="1901952"/>
            <a:ext cx="9820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79576" y="2432304"/>
            <a:ext cx="980236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“活动怎么回事？”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为了准确处理，请补充具体活动名称；你想了解的是参与条件、叠加规则，还是生效时间？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32688" y="54864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56144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OTHER是安全兜底，不是垃圾桶。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四路V0.3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完整Workflow｜四路分流与后续接口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四路V0.3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4048" y="2514600"/>
            <a:ext cx="1143000" cy="960120"/>
          </a:xfrm>
          <a:prstGeom prst="roundRect">
            <a:avLst>
              <a:gd name="adj" fmla="val 476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048" y="2514600"/>
            <a:ext cx="64008" cy="96012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2697480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3504" y="3227832"/>
            <a:ext cx="7040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783080" y="251460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783080" y="2514600"/>
            <a:ext cx="64008" cy="9601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02536" y="269748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002536" y="3227832"/>
            <a:ext cx="7955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type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73552" y="251460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73552" y="2514600"/>
            <a:ext cx="64008" cy="9601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93008" y="269748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493008" y="3227832"/>
            <a:ext cx="7955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527048" y="2999232"/>
            <a:ext cx="256032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17520" y="2999232"/>
            <a:ext cx="256032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07992" y="2999232"/>
            <a:ext cx="246888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1746504"/>
            <a:ext cx="0" cy="2496312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577072" y="1746504"/>
            <a:ext cx="0" cy="2496312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54880" y="1746504"/>
            <a:ext cx="228600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83480" y="1426464"/>
            <a:ext cx="3364992" cy="640080"/>
          </a:xfrm>
          <a:prstGeom prst="roundRect">
            <a:avLst>
              <a:gd name="adj" fmla="val 571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83480" y="1426464"/>
            <a:ext cx="64008" cy="6400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93792" y="15819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46520" y="1591056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固定规则卡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348472" y="1746504"/>
            <a:ext cx="228600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54880" y="2578608"/>
            <a:ext cx="228600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983480" y="2258568"/>
            <a:ext cx="3364992" cy="640080"/>
          </a:xfrm>
          <a:prstGeom prst="roundRect">
            <a:avLst>
              <a:gd name="adj" fmla="val 571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983480" y="2258568"/>
            <a:ext cx="64008" cy="6400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93792" y="24140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446520" y="24231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需查系统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348472" y="2578608"/>
            <a:ext cx="228600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54880" y="3410712"/>
            <a:ext cx="228600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83480" y="3090672"/>
            <a:ext cx="3364992" cy="640080"/>
          </a:xfrm>
          <a:prstGeom prst="roundRect">
            <a:avLst>
              <a:gd name="adj" fmla="val 571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983480" y="3090672"/>
            <a:ext cx="64008" cy="6400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93792" y="32461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COMPLAINT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6446520" y="325526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348472" y="3410712"/>
            <a:ext cx="228600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54880" y="4242816"/>
            <a:ext cx="228600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983480" y="3922776"/>
            <a:ext cx="3364992" cy="640080"/>
          </a:xfrm>
          <a:prstGeom prst="roundRect">
            <a:avLst>
              <a:gd name="adj" fmla="val 571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983480" y="3922776"/>
            <a:ext cx="64008" cy="6400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93792" y="40782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OTHER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6446520" y="408736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8348472" y="4242816"/>
            <a:ext cx="228600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577072" y="2999232"/>
            <a:ext cx="384048" cy="0"/>
          </a:xfrm>
          <a:prstGeom prst="line">
            <a:avLst/>
          </a:prstGeom>
          <a:noFill/>
          <a:ln w="25400">
            <a:solidFill>
              <a:srgbClr val="D8D0C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961120" y="251460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8961120" y="2514600"/>
            <a:ext cx="64008" cy="96012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180576" y="2697480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9180576" y="3227832"/>
            <a:ext cx="8869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932688" y="534924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143000" y="547725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下一课：用RAG替换RULE分支的固定材料入口。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五条测试｜先写预期，再运行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691640"/>
            <a:ext cx="2000707" cy="26060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691640"/>
            <a:ext cx="64008" cy="26060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87452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04872"/>
            <a:ext cx="1561795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满减能和会员券叠加吗？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878531" y="1691640"/>
            <a:ext cx="2000707" cy="26060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691640"/>
            <a:ext cx="64008" cy="26060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7987" y="187452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097987" y="2404872"/>
            <a:ext cx="1561795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帮我查昨天门店GMV。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098694" y="1691640"/>
            <a:ext cx="2000707" cy="26060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691640"/>
            <a:ext cx="64008" cy="26060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18150" y="187452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T3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318150" y="2404872"/>
            <a:ext cx="1561795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平台乱扣费，我要投诉。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318858" y="1691640"/>
            <a:ext cx="2000707" cy="26060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691640"/>
            <a:ext cx="64008" cy="26060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38314" y="187452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T4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538314" y="2404872"/>
            <a:ext cx="1561795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帮我写七夕活动标题。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539021" y="1691640"/>
            <a:ext cx="2000707" cy="260604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691640"/>
            <a:ext cx="64008" cy="260604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58477" y="187452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758477" y="2404872"/>
            <a:ext cx="1561795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活动怎么回事？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32688" y="484632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97433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不要看到结果后再反推“预期”。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预期路径与安全处理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37360"/>
            <a:ext cx="2000707" cy="251460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37360"/>
            <a:ext cx="64008" cy="25146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92024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50592"/>
            <a:ext cx="156179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按规则卡回答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878531" y="1737360"/>
            <a:ext cx="2000707" cy="251460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737360"/>
            <a:ext cx="64008" cy="25146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7987" y="192024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097987" y="2450592"/>
            <a:ext cx="156179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不输出数值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098694" y="1737360"/>
            <a:ext cx="2000707" cy="251460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737360"/>
            <a:ext cx="64008" cy="25146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18150" y="192024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COMPLAINT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318150" y="2450592"/>
            <a:ext cx="156179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转人工不承诺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318858" y="1737360"/>
            <a:ext cx="2000707" cy="251460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737360"/>
            <a:ext cx="64008" cy="25146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38314" y="192024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OTHER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538314" y="2450592"/>
            <a:ext cx="156179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未覆盖内容生成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539021" y="1737360"/>
            <a:ext cx="2000707" cy="251460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737360"/>
            <a:ext cx="64008" cy="251460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58477" y="192024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OTHER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758477" y="2450592"/>
            <a:ext cx="156179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追问活动信息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32688" y="48006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9286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典型、模糊和高风险输入都要覆盖。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故意制造一个Bad Case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43159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分类节点实际输出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“RULE，因为这是活动规则问题”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431596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43159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条件节点接受值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精确等于：RULE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结果：匹配失败或走兜底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32688" y="54864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先换模型，还是先检查输出接口和条件？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测试与排错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四步排查法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测试与排错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" y="182880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" y="1828800"/>
            <a:ext cx="64008" cy="15727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1168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看输入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" y="254203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变量有没有值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50692" y="238658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7852" y="182880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7852" y="1828800"/>
            <a:ext cx="64008" cy="15727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7308" y="201168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看输出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607308" y="254203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实际标签是什么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35040" y="238658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182880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1828800"/>
            <a:ext cx="64008" cy="15727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91656" y="201168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看条件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391656" y="254203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引用和值对不对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819388" y="2386584"/>
            <a:ext cx="109728" cy="411480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56548" y="1828800"/>
            <a:ext cx="261975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956548" y="1828800"/>
            <a:ext cx="64008" cy="15727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76004" y="2011680"/>
            <a:ext cx="2199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再优化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176004" y="2542032"/>
            <a:ext cx="2180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Prompt或模型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32688" y="461772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43000" y="474573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不要把所有失败都归咎于模型。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四句总结＋课后V1.0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总结与作业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481328"/>
            <a:ext cx="6537960" cy="4526280"/>
          </a:xfrm>
          <a:prstGeom prst="roundRect">
            <a:avLst>
              <a:gd name="adj" fmla="val 101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481328"/>
            <a:ext cx="64008" cy="45262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664208"/>
            <a:ext cx="6117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四句话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77824" y="2194560"/>
            <a:ext cx="6099048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Prompt管一次处理，Workflow管多步与分支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先画业务路径，再拖平台节点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模型负责理解，条件与固定输出守边界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 能跑只是起点，测试决定能否成为产品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70648" y="1481328"/>
            <a:ext cx="4069080" cy="4526280"/>
          </a:xfrm>
          <a:prstGeom prst="roundRect">
            <a:avLst>
              <a:gd name="adj" fmla="val 112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70648" y="1481328"/>
            <a:ext cx="64008" cy="452628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90104" y="1664208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课后V1.0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690104" y="2194560"/>
            <a:ext cx="3630168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自选一个小场景</a:t>
            </a:r>
            <a:endParaRPr lang="en-US" sz="1550" dirty="0"/>
          </a:p>
          <a:p>
            <a:pPr algn="ctr" indent="0" marL="0">
              <a:buNone/>
            </a:pP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至少三条路径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一个兜底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五条测试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一次失败修正</a:t>
            </a:r>
            <a:endParaRPr lang="en-US" sz="1550" dirty="0"/>
          </a:p>
          <a:p>
            <a:pPr algn="ctr" indent="0" marL="0">
              <a:buNone/>
            </a:pP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下一课：RAG升级RULE分支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AI 产品经理系统课程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Workflow类AI产品设计：从一次模型调用到可运行流程</dc:title>
  <dc:subject>第03课：Workflow类AI产品设计与实操</dc:subject>
  <dc:creator>AI 产品经理系统课程</dc:creator>
  <cp:lastModifiedBy>AI 产品经理系统课程</cp:lastModifiedBy>
  <cp:revision>1</cp:revision>
  <dcterms:created xsi:type="dcterms:W3CDTF">2026-07-22T15:51:46Z</dcterms:created>
  <dcterms:modified xsi:type="dcterms:W3CDTF">2026-07-22T15:51:46Z</dcterms:modified>
</cp:coreProperties>
</file>