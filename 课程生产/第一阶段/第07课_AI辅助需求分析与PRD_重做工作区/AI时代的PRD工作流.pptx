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5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86662"/>
  </p:normalViewPr>
  <p:slideViewPr>
    <p:cSldViewPr snapToGrid="0" snapToObjects="1">
      <p:cViewPr varScale="1">
        <p:scale>
          <a:sx n="117" d="100"/>
          <a:sy n="117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96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讲师开场：,今天这一部分不急着讲Prompt。先让大家看到一个反直觉现象：AI生成PRD很容易，但越像样，越容易掩盖假设。,互动问题：如果老板只说“做一个商品对比工具”，你会怎么开始？信息够不够？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BDBA-A486-EC1A-30A3-5266A056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C310D-09DA-D728-10CE-7414B397C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9FB55-AC71-8667-EF60-39D12F979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讲师开场：,今天这一部分不急着讲Prompt。先让大家看到一个反直觉现象：AI生成PRD很容易，但越像样，越容易掩盖假设。,互动问题：如果老板只说“做一个商品对比工具”，你会怎么开始？信息够不够？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72215-C538-2DE5-6C8B-CB1019941E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43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讲法：,把这句话放出来以后停顿10秒，让学员先判断“够不够”。不要马上讲答案。,引导：商品对比看起来简单，但背后涉及品类、SKU、参数来源、价格优惠、推荐边界、异常处理。,转场：我们先让Codex直接写，看看会发生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现场演示步骤：,1. 在Codex新开一个项目或对话。,2. 输入：帮我写一份电商商品对比工具的PRD。,3. 生成后不要逐字讲，只浏览标题和几个表格。,讲师点评：大家会看到，AI会很快生成“看起来完整”的PRD。这恰恰是风险所在，因为它已经开始替你做决策。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讲师讲法：,拿Codex生成的PRD做现场标注，挑出3-5个AI擅自决定的内容即可。,互动：让学员把每个点归类：这是事实？是假设？还是产品决策？,强调：AI没有恶意，它只是在补空白。但产品经理不能让它悄悄补。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讲师讲法：,三分法要重点讲透。后面使用Codex时，会要求它在所有输出中标记“已确认事实 / 当前假设 / 待确认事项”。,例子：,- 商品参数来自标准化属性库，这是事实吗？不一定，除非素材给了。,- 最多对比4个商品，这是产品决策，不是AI可以自动确定的常识。,- 商品对比能提升转化率，这是假设，必须后续验证。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讲法：,这一页快速讲，不展开传统流程。传统产品经理已经知道怎么写PRD。重点是重新定义AI介入点。,强调：AI可以显著提升信息理解、结构化表达、协作校验，但不能替代产品经理做关键决策。,转场：既然PRD有不同工作，那么AI和人应该怎么分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讲法：,这页的重点是责任，而不是工具。,AI可以执行很多任务，但它不会承担产品上线后的业务结果。,例子：如果AI建议支持跨品类对比，后续原型和Demo都沿用这个设定，最后技术发现参数体系根本不支持，责任不在AI，而在产品经理没有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讲法：,这页不只是方法论，而是之后Codex项目操作的路线。,强调“三个不要”：不要一上来写正文，不要把假设写成事实，不要让AI自动修改决策。,转场：商品对比工具不会只停留在PRD，后面还会继续做原型、Demo和Vibe Coding。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讲师收束：,把这个案例路线说清楚，让学员知道为什么今天这么强调PRD质量。,如果第一步需求错了，后面的原型会错、Demo会错、Vibe Coding也会越跑越偏。,最后抛出下一节：我们将为商品对比工具建立Codex项目和需求素材包。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开场：第一部分我们已经证明，不能直接让AI写PRD。第二部分要回答的问题是：如果不能直接写，那我们应该先给AI什么？这一部分的目标是让学员学会准备需求上下文包。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强调：很多人把AI效果不好归因于Prompt技巧，其实真实问题是上下文不足。AI不知道公司的规则、历史、限制和冲突，就会用常识补齐。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讲师提问：如果只把“做一个商品对比工具”丢给AI，AI会知道这些隐性信息吗？答案是不会。它不知道哪些是历史原因，哪些是技术限制，哪些是未确认的业务诉求。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解释上下文包：它不是答案，不是PRD，也不是模板填空。它的本质是让AI看到业务事实、限制和冲突。后面生成PRD、原型、Demo都要依赖这份底稿。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用商品对比工具举例：不要让学员把它理解成一个简单表格。这个功能背后至少有五类问题：用户是谁、对比对象是什么、展示哪些字段、数据质量怎样、指标如何验证。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这里用“五类信息”比第一部分的三分法更完整：事实、假设、意见、决策、待确认。重点讲：增长说“希望5个”不是产品决策；数据现象也不是因果结论。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展示项目文件夹。提醒学员：真实工作不是把完美需求交给AI，而是有访谈、有数据、有技术约束、有业务意见，甚至有冲突。课堂要从这些混乱素材开始。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这一页是现场演示脚本。你可以先让Codex读取素材，明确要求“不要设计方案”。然后生成需求上下文文件，再生成澄清问题。提醒学员，Prompt里最重要的是限制AI不要越权。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开场：第二部分我们已经整理了需求上下文。第三部分要回答：上下文里仍然有冲突和未知，产品经理如何借助AI把问题问清楚，并形成可进入PRD的产品决策。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强调：第二部分只是把已知信息整理清楚，但产品经理不能马上让AI写PRD。因为还有冲突、缺口和未验证假设。第三部分就是处理未知信息和做取舍。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这一页一定要讲清楚两部分的区别。第二部分是理解，第三部分是判断。很多产品经理会让AI整理材料，但没有让AI帮助追问和做方案对比。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讲六个维度：用户、场景、目标、范围、规则、约束。商品对比工具里，最重要的问题往往不是页面怎么画，而是对比对象、范围和数据约束。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很多AI会一次性提出几十个问题，课堂要教学生筛选。必须确认的问题影响目标、范围、规则和开发；临时假设可以继续推进；评审确认通常是细节。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现场演示时先打开上一节生成的需求上下文。提示词一定要包含“暂时不要生成产品方案”。输出后不要直接进入PRD，而是一起评估这些问题的价值。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AI可能提出很多问题，但产品经理要会过滤。按钮颜色不是核心澄清问题，SPU/SKU是关键问题；动效不是核心，是否登录和是否保存是核心。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这里讲完整流程：AI提问不是终点。优秀的用法是让AI继续提供方案与利弊，然后由PM决策，写入记录，再让AI检查冲突。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产品决策记录是后续PRD和原型的稳定来源。写清楚最终选择、理由、放弃方案和验证方式。然后让AI做一致性检查，找出仍未解决的阻塞问题。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开场：前三部分我们已经有需求上下文、需求澄清问题和产品决策记录。第四部分进入核心实操：把这些已确认内容转化为可评审、可开发、可测试的PRD。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强调：就算已有上下文和决策，也不建议让AI一键生成全文。因为长文会让AI补全缺口、引入冲突，也会让产品经理难以校验。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生成PRD正文前，先让AI提出结构。商品对比工具不需要复杂权限、审批和财务规则，但必须有SKU、参数、价格、页面状态和验收。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建议学员记住这条顺序：背景目标、用户范围、流程方案、功能规则、异常验收、一致性检查。按产品逻辑推进，而不是按照章节一口气写。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商品对比工具很容易被写成提升转化率，但目前数据只能证明多商品浏览存在，不能证明功能必然提升转化。目标和指标要分层。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非需求范围一定要写。它能防止评审时无限扩展，也能防止AI在后续生成中把历史记录、分享和AI推荐又悄悄加回来。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流程页要讲：先还原当前流程，再设计目标流程。商品对比工具的价值来自减少切换和人工记忆，不是单纯增加一个页面。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不要一次生成所有功能。现场选择“加入对比”做示范，因为它同时包含入口、SKU、类目、数量、重复加入和失效商品等核心规则。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主流程通常都能写出来，真正让研发和测试反复追问的是异常。一定要让AI列异常，但PM要检查是否具体到可开发、可验收。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结尾：本部分完成PRD初稿，但还不能直接进入开发。下一部分要让AI模拟产品、研发、测试、数据和运营进行多角色评审。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开场：前四部分已经完成PRD初稿。第五部分不是继续生成内容，而是让AI站在不同协作角色的角度挑战这份PRD，提前暴露问题。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说明：产品经理自查只能覆盖产品视角。真正上线前还需要研发、测试、数据、运营等视角检查，这正是AI多角色评审的价值。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核心认知：生成和评审要分开。评审时不要让AI直接改PRD，否则产品经理看不到原始问题，也不知道AI动了哪些决策。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不要用一个万能Prompt一次模拟所有角色。建议每次只让AI扮演一个角色，并给出明确检查重点；这样每个视角更深入。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产品负责人不是帮你补功能，而是挑战价值、范围和投入产出。商品对比工具尤其要防止直接把“提升转化率”当结论。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研发视角最容易发现数据源、接口能力和异常状态不明确。商品对比案例要重点讲SPU/SKU、优惠价格、参数标准化和本地缓存。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测试负责人最适合检查边界和异常。强调：测试不是挑毛病，而是在上线前把不可验收的模糊描述变成可验证规则。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数据视角关注指标和实验，运营视角关注配置和长期维护。两者能帮助产品经理避免只设计一个页面，却没有想清如何验证和运营。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让AI按照固定格式输出问题。没有编号、等级、章节和影响的问题，很难在评审后闭环。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多个角色会提出不同表述，但背后可能是同一个根问题。讲师可以用优惠价格规则做例子，说明如何合并。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AI评审不是审批。产品经理必须对每条建议做处理：采纳、拒绝或待确认。拒绝也需要有理由，尤其是明确不属于一期范围。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收束：不要让AI根据评审自动重写PRD。必须先由PM标记处理结论，再让AI只处理采纳项，最后做闭环检查。下一部分进入协作材料生成。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开场：前五部分已经完成从需求素材到PRD评审的完整链路。最后一部分不再扩展到研发、设计、测试材料，而是回到PRD本身：怎么定稿、怎么维护变化、怎么完成课堂闭环。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这一页是终稿检查清单。尤其提醒学员：PRD不是语言顺畅就可以定稿，关键是规则、异常、验收是否明确。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这个提示词重点是“暂时不要修改”。让AI先给问题清单，产品经理再决定哪些需要修。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AI很容易把PRD写长。提醒学员：真正专业的PRD不是长，而是准确、稳定、可执行。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真实工作一定会有变更。课程要让学员养成“先分析影响、再局部修改”的习惯。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这一页讲影响分析。让学员意识到一个小变化可能影响范围、异常、验收和技术成本。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版本记录不是流水账。重点记录会影响团队理解、产品范围、功能规则和验收标准的变化。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Codex项目里会有很多文件。文档状态可以避免AI误把草稿、临时方案、旧版本当成最终事实。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最后的实战可以控制范围。让学员围绕一个功能模块体验完整流程，比让他们写完全部PRD更可控。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收尾：不以PRD篇幅作为评分标准，而以决策清楚、规则明确、异常完整、可验收为标准。下一节原型课直接读取最终PRD。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5E6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29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parison_titl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508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323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8C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AI赋能PRD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13232" y="1225296"/>
            <a:ext cx="5230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AI时代的PRD工作流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9808" y="2743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D9EA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从需求素材到可评审产品方案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9808" y="3246120"/>
            <a:ext cx="4206240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23F0A-671C-9B78-E24A-B37547E7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EB6F653-98CC-0045-C022-C28F059F7512}"/>
              </a:ext>
            </a:extLst>
          </p:cNvPr>
          <p:cNvSpPr/>
          <p:nvPr/>
        </p:nvSpPr>
        <p:spPr>
          <a:xfrm>
            <a:off x="635508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D0A23DE-E19C-86CA-4EE1-06178B2DF94E}"/>
              </a:ext>
            </a:extLst>
          </p:cNvPr>
          <p:cNvSpPr/>
          <p:nvPr/>
        </p:nvSpPr>
        <p:spPr>
          <a:xfrm>
            <a:off x="71323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C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AI赋能PRD · 第一部分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C526FB4-6839-D8CF-F710-84C568E89565}"/>
              </a:ext>
            </a:extLst>
          </p:cNvPr>
          <p:cNvSpPr/>
          <p:nvPr/>
        </p:nvSpPr>
        <p:spPr>
          <a:xfrm>
            <a:off x="713232" y="1801369"/>
            <a:ext cx="621366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为什么不能让AI直接写PRD</a:t>
            </a:r>
            <a:r>
              <a:rPr lang="en-US" sz="3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3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BACD64E-3718-3A8A-AE95-65BDEC0C01F8}"/>
              </a:ext>
            </a:extLst>
          </p:cNvPr>
          <p:cNvSpPr/>
          <p:nvPr/>
        </p:nvSpPr>
        <p:spPr>
          <a:xfrm>
            <a:off x="749808" y="3246120"/>
            <a:ext cx="4206240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B842EAC-B5EA-D96D-CC95-BCD9CA35AE83}"/>
              </a:ext>
            </a:extLst>
          </p:cNvPr>
          <p:cNvSpPr/>
          <p:nvPr/>
        </p:nvSpPr>
        <p:spPr>
          <a:xfrm>
            <a:off x="749808" y="34564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FD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不追求“生成一篇漂亮文档”，而是建立可靠的人机协作边界。</a:t>
            </a:r>
            <a:endParaRPr lang="en-US" sz="15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0D344D6-3E5D-CD1D-DC5C-80AC4D50C6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3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一句话需求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一句需求，够写PRD吗</a:t>
            </a:r>
            <a:r>
              <a:rPr lang="en-US" sz="2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先从一个真实但模糊的需求开始。</a:t>
            </a:r>
            <a:endParaRPr lang="en-US" sz="1350" dirty="0"/>
          </a:p>
        </p:txBody>
      </p:sp>
      <p:pic>
        <p:nvPicPr>
          <p:cNvPr id="5" name="Image 0" descr="/mnt/data/pipeline_4_9_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10512"/>
            <a:ext cx="4160520" cy="2715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901952"/>
            <a:ext cx="5166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BFD7F4"/>
            </a:solidFill>
            <a:prstDash val="solid"/>
          </a:ln>
          <a:effectLst>
            <a:outerShdw blurRad="12700" dist="50800" dir="2700000" algn="bl" rotWithShape="0">
              <a:srgbClr val="B7C6D9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78992" y="2002536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“我们想做一个商品对比工具，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帮助用户更快完成购买决策。”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720840" y="1783080"/>
            <a:ext cx="0" cy="388620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52578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需求越短，AI越会用“常识”补空白。产品决策往往就藏在这些空白里。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58368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3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目标：让学员先意识到“需求输入”不完整，而不是先学习Prompt。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错误演示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Codex直接写：看起来很完整</a:t>
            </a:r>
            <a:endParaRPr lang="en-US" sz="2600" dirty="0"/>
          </a:p>
        </p:txBody>
      </p:sp>
      <p:pic>
        <p:nvPicPr>
          <p:cNvPr id="5" name="Image 0" descr="/mnt/data/workspace_5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83080"/>
            <a:ext cx="3611880" cy="35478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" y="17830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20848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 帮我写一份电商商品对比工具的PRD。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通常AI会立刻给出：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703320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0160">
            <a:solidFill>
              <a:srgbClr val="BFD7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78561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背景与目标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3703320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0160">
            <a:solidFill>
              <a:srgbClr val="BFD7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78561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功能范围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4233672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0160">
            <a:solidFill>
              <a:srgbClr val="BFD7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431596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页面流程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91840" y="4233672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0160">
            <a:solidFill>
              <a:srgbClr val="BFD7F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431596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业务规则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14400" y="4764024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E7F8F2"/>
          </a:solidFill>
          <a:ln w="10160">
            <a:solidFill>
              <a:srgbClr val="BCEF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84632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验收标准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315200" y="5532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问题：完整 ≠ 正确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58368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3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现场操作：打开Codex，输入提示词，生成第一版“错误PRD”。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找出隐藏假设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AI替我们做了哪些产品决策？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把AI生成内容拆开看，很多并不是事实。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9536" y="187452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36776" y="1993392"/>
            <a:ext cx="41148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67128" y="1856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最多对比4个商品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37744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36776" y="2496312"/>
            <a:ext cx="41148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128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支持同品类或跨品类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288036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36776" y="2999232"/>
            <a:ext cx="41148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2862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自动定义核心参数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" y="338328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36776" y="3502152"/>
            <a:ext cx="41148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给出“最佳购买建议”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388620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36776" y="4005072"/>
            <a:ext cx="41148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67128" y="3867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展示历史价格趋势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" y="438912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36776" y="4507992"/>
            <a:ext cx="41148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67128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保存/分享对比结果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489204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6776" y="5010912"/>
            <a:ext cx="41148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7128" y="4873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默认参数完整准确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18249" y="30586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AI生成得越完整，隐藏假设可能越多。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58368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3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目标：把“看起来像PRD”的内容拆解成可讨论的产品问题。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三分法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事实、假设、决策：不能混在一起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后续所有AI辅助PRD流程，都围绕这三类信息展开。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670048" y="3730752"/>
            <a:ext cx="1975104" cy="0"/>
          </a:xfrm>
          <a:prstGeom prst="line">
            <a:avLst/>
          </a:prstGeom>
          <a:noFill/>
          <a:ln w="19050">
            <a:solidFill>
              <a:srgbClr val="D6E4F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16752" y="3730752"/>
            <a:ext cx="2011680" cy="0"/>
          </a:xfrm>
          <a:prstGeom prst="line">
            <a:avLst/>
          </a:prstGeom>
          <a:noFill/>
          <a:ln w="19050">
            <a:solidFill>
              <a:srgbClr val="D6E4F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8096" y="210312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B8C6D9">
                <a:alpha val="1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已确认事实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0704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有来源、有证据、可追溯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例如：用户会反复切换详情页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210312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B8C6D9">
                <a:alpha val="1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16552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当前假设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53128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尚未验证，但暂作前提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例如：差异高亮能降低决策成本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62088" y="210312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14B8A6"/>
            </a:solidFill>
            <a:prstDash val="solid"/>
          </a:ln>
          <a:effectLst>
            <a:outerShdw blurRad="12700" dist="50800" dir="2700000" algn="bl" rotWithShape="0">
              <a:srgbClr val="B8C6D9">
                <a:alpha val="1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产品决策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54696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产品经理明确选择并担责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例如：一期只支持同一三级类目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371600" y="4892040"/>
            <a:ext cx="941832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50932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34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AI最常见的问题：把“假设”和“决策”写成“事实”。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3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这页是后续工作流的核心判断框架。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PRD不是简单写作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PRD真正包含四类工作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AI不是只用来“代笔”，而是嵌入整个PRD生产链路。</a:t>
            </a:r>
            <a:endParaRPr lang="en-US" sz="1350" dirty="0"/>
          </a:p>
        </p:txBody>
      </p:sp>
      <p:pic>
        <p:nvPicPr>
          <p:cNvPr id="5" name="Image 0" descr="/mnt/data/transform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783080"/>
            <a:ext cx="4389120" cy="24597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2011680"/>
            <a:ext cx="2240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12700" dist="50800" dir="2700000" algn="bl" rotWithShape="0">
              <a:srgbClr val="94A3B8">
                <a:alpha val="1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41832" y="226771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信息理解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7614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读材料、找证据、识别冲突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3566160" y="2011680"/>
            <a:ext cx="2240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blurRad="12700" dist="50800" dir="2700000" algn="bl" rotWithShape="0">
              <a:srgbClr val="94A3B8">
                <a:alpha val="1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30752" y="226771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产品决策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49040" y="27614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定目标、定范围、做取舍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777240" y="3794760"/>
            <a:ext cx="2240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67E8F9"/>
            </a:solidFill>
            <a:prstDash val="solid"/>
          </a:ln>
          <a:effectLst>
            <a:outerShdw blurRad="12700" dist="50800" dir="2700000" algn="bl" rotWithShape="0">
              <a:srgbClr val="94A3B8">
                <a:alpha val="1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41832" y="405079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结构化表达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60120" y="454456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流程、规则、权限、验收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566160" y="3794760"/>
            <a:ext cx="2240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86EFAC"/>
            </a:solidFill>
            <a:prstDash val="solid"/>
          </a:ln>
          <a:effectLst>
            <a:outerShdw blurRad="12700" dist="50800" dir="2700000" algn="bl" rotWithShape="0">
              <a:srgbClr val="94A3B8">
                <a:alpha val="1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730752" y="405079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协作校验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749040" y="454456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研发/测试/运营评审与修改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960120" y="55321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PRD不是“写出来的”，而是需求理解和产品决策被结构化表达出来的结果。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8368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3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这一页用于把学员从“AI写文档”拉回到“AI辅助产品工作”。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人机分工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AI有建议权和执行权，但没有最终决策权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把“谁来做事”和“谁来负责”分清楚。</a:t>
            </a:r>
            <a:endParaRPr lang="en-US" sz="1350" dirty="0"/>
          </a:p>
        </p:txBody>
      </p:sp>
      <p:pic>
        <p:nvPicPr>
          <p:cNvPr id="5" name="Image 0" descr="/mnt/data/iceberg_4_6_3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74520"/>
            <a:ext cx="3383280" cy="2542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AI负责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7033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产品经理负责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32688" y="25328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25296" y="24505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读取整理材料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32688" y="30358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95351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发现信息缺口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32688" y="353872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25296" y="345643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生成文档初稿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32688" y="404164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5296" y="395935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模拟多角色评审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749040" y="253288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41648" y="245059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确认问题是否真实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749040" y="303580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5351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决定目标与范围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749040" y="353872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41648" y="345643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选择方案并做取舍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749040" y="404164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41648" y="395935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对最终需求负责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14400" y="507492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78992" y="5266944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让AI做“可追责前的工作”，不要让AI替你承担“不可转移的责任”。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635240" y="47091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隐藏复杂性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必须被显性化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58368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3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这页用于形成课堂中的“人机协作契约”。</a:t>
            </a:r>
            <a:endParaRPr lang="en-US" sz="7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正确工作流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从“一键生成”改成“分阶段协作”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今天后续所有操作，都会沿着这条链路推进。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53312" y="2450592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06624" y="2450592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59936" y="2450592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13248" y="2450592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66560" y="2450592"/>
            <a:ext cx="4114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19872" y="2450592"/>
            <a:ext cx="4114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73184" y="2450592"/>
            <a:ext cx="4114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2688" y="201168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21284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8803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需求素材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会议、反馈、数据、约束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0" y="201168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21284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8803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AI理解复述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9384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先确认它是否读懂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39312" y="201168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221284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8803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三分法整理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82696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 / 假设 / 待确认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92624" y="201168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221284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28803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AI提出问题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36008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暴露信息缺口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45936" y="2011680"/>
            <a:ext cx="621792" cy="6217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221284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71616" y="28803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产品决策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89320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范围、规则、取舍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699248" y="2011680"/>
            <a:ext cx="621792" cy="6217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221284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24928" y="28803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生成PRD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42632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分模块完成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052560" y="2011680"/>
            <a:ext cx="621792" cy="6217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221284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78240" y="28803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多角色评审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695944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研发、测试、运营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405872" y="2011680"/>
            <a:ext cx="621792" cy="6217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05872" y="221284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131552" y="28803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确认定稿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049256" y="31821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进入原型与Demo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207008" y="4892040"/>
            <a:ext cx="9692640" cy="640080"/>
          </a:xfrm>
          <a:prstGeom prst="roundRect">
            <a:avLst>
              <a:gd name="adj" fmla="val 11429"/>
            </a:avLst>
          </a:prstGeom>
          <a:solidFill>
            <a:srgbClr val="EAF3FF"/>
          </a:solidFill>
          <a:ln w="12700">
            <a:solidFill>
              <a:srgbClr val="BFD7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17320" y="5102352"/>
            <a:ext cx="9235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重点：先让AI提出问题，再让产品经理做决策，最后才生成PRD。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658368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3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这页是后续实操的路线图。</a:t>
            </a:r>
            <a:endParaRPr lang="en-US" sz="7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课程路线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同一个案例，贯穿PRD到Vibe Coding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商品对比工具会从文档，逐步变成可交互产品。</a:t>
            </a:r>
            <a:endParaRPr lang="en-US" sz="1350" dirty="0"/>
          </a:p>
        </p:txBody>
      </p:sp>
      <p:pic>
        <p:nvPicPr>
          <p:cNvPr id="5" name="Image 0" descr="/mnt/data/comparison_4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47088"/>
            <a:ext cx="3584448" cy="2578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6424" y="2194560"/>
            <a:ext cx="0" cy="475488"/>
          </a:xfrm>
          <a:prstGeom prst="line">
            <a:avLst/>
          </a:prstGeom>
          <a:noFill/>
          <a:ln w="15240">
            <a:solidFill>
              <a:srgbClr val="D6E4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1874520"/>
            <a:ext cx="420624" cy="42062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002536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588008" y="1968859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29840" y="1932283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267200" y="1968859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建立可靠需求基础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106424" y="2907792"/>
            <a:ext cx="0" cy="475488"/>
          </a:xfrm>
          <a:prstGeom prst="line">
            <a:avLst/>
          </a:prstGeom>
          <a:noFill/>
          <a:ln w="15240">
            <a:solidFill>
              <a:srgbClr val="D6E4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258775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2715768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588008" y="2682091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下一课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529840" y="2645515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267200" y="268209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页面结构与交互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106424" y="3621024"/>
            <a:ext cx="0" cy="475488"/>
          </a:xfrm>
          <a:prstGeom prst="line">
            <a:avLst/>
          </a:prstGeom>
          <a:noFill/>
          <a:ln w="15240">
            <a:solidFill>
              <a:srgbClr val="D6E4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6112" y="330098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" y="3429000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588008" y="3395323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再下一课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529840" y="3358747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267200" y="339532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可运行交互样例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96112" y="401421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6112" y="4142232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588008" y="4108555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529840" y="4071979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Vibe Coding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4267200" y="410855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持续迭代与测试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14400" y="5257800"/>
            <a:ext cx="5486400" cy="521208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78992" y="5422392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A34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如果PRD中的规则是AI编出来的，后面的原型、Demo和代码会把错误逐层放大。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315200" y="4663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第一部分结论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15200" y="4992624"/>
            <a:ext cx="3584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今天不是为了生成一篇文档，而是为了建立一个可靠的产品交付起点。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58368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3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下一部分进入：需求素材包与Codex项目结构。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A3B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pic>
        <p:nvPicPr>
          <p:cNvPr id="3" name="Image 0" descr="/mnt/data/a_clean_modern_infographic_illustration_scene_ov.png"/>
          <p:cNvPicPr>
            <a:picLocks noChangeAspect="1"/>
          </p:cNvPicPr>
          <p:nvPr/>
        </p:nvPicPr>
        <p:blipFill>
          <a:blip r:embed="rId3"/>
          <a:srcRect l="25000" r="22622"/>
          <a:stretch/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66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让AI真正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理解业务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30352" y="2697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从零散素材到可复用的需求上下文包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0352" y="3246120"/>
            <a:ext cx="3474720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65562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 · 需求上下文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核心观点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AI输出质量，首先取决于上下文质量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 · 需求上下文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50" dirty="0"/>
          </a:p>
        </p:txBody>
      </p:sp>
      <p:pic>
        <p:nvPicPr>
          <p:cNvPr id="8" name="Image 0" descr="/mnt/data/a_high_detail_conceptual_3d_cgi_illustration_an_i_dark.png"/>
          <p:cNvPicPr>
            <a:picLocks noChangeAspect="1"/>
          </p:cNvPicPr>
          <p:nvPr/>
        </p:nvPicPr>
        <p:blipFill>
          <a:blip r:embed="rId3"/>
          <a:srcRect l="15000" t="15000" r="41679" b="10000"/>
          <a:stretch/>
        </p:blipFill>
        <p:spPr>
          <a:xfrm>
            <a:off x="7909560" y="1005840"/>
            <a:ext cx="356616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4173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618488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A34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缺少上下文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4672" y="200253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AI只能靠常识与猜测补全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975104"/>
            <a:ext cx="11430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846320" y="14173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56632" y="1618488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91B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“完整”PRD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56632" y="2002536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但隐藏大量假设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84048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4041648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高质量上下文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04672" y="442569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E3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事实、约束、冲突都清楚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11880" y="4389120"/>
            <a:ext cx="1143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846320" y="384048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56632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7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可控输出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056632" y="4425696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F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方便追问、生成、评审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3232" y="56692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不是“Prompt越长越好”，而是AI能否看见真实业务上下文。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业务隐性信息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AI不理解你脑子里的业务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 · 需求上下文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50" dirty="0"/>
          </a:p>
        </p:txBody>
      </p:sp>
      <p:pic>
        <p:nvPicPr>
          <p:cNvPr id="8" name="Image 0" descr="/mnt/data/a_realistic_modern_office_scene_with_a_professiona.png"/>
          <p:cNvPicPr>
            <a:picLocks noChangeAspect="1"/>
          </p:cNvPicPr>
          <p:nvPr/>
        </p:nvPicPr>
        <p:blipFill>
          <a:blip r:embed="rId3"/>
          <a:srcRect l="15000" r="38907" b="22000"/>
          <a:stretch/>
        </p:blipFill>
        <p:spPr>
          <a:xfrm>
            <a:off x="7635240" y="960120"/>
            <a:ext cx="384048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传统产品经理通常靠“组织默契”推进需求：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1777950"/>
            <a:ext cx="9144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默认规则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057400" y="1728216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大家都知道的品类规则、权限规则、价格规则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2350008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2436318"/>
            <a:ext cx="9144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历史背景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057400" y="2386584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之前为什么没做、哪些方案已经被否掉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3008376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" y="3094686"/>
            <a:ext cx="9144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数据口径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057400" y="3044952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指标如何计算，哪些数据不能直接得结论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31520" y="366674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" y="3753054"/>
            <a:ext cx="9144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技术限制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057400" y="370332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接口、性能、数据质量、排期限制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31520" y="4325112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" y="4411422"/>
            <a:ext cx="9144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利益诉求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057400" y="4361688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增长、运营、商家、设计、技术各自目标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85800" y="5532120"/>
            <a:ext cx="1069848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7624" y="5705856"/>
            <a:ext cx="9784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把隐性信息显性化，再交给AI</a:t>
            </a: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方法框架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什么是需求上下文包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 · 需求上下文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713232" y="16916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94767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业务背景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2194560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为什么现在做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02152" y="16916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1947672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8736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用户场景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87368" y="2194560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谁在什么情况下用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91072" y="16916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EDD5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1947672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当前流程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76288" y="2194560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现在怎么完成任务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79992" y="16916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E8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4584" y="194767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6520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问题证据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65208" y="2194560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数据、访谈、反馈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" y="32004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345643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341071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业务规则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98448" y="3703320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价格、SKU、参数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02152" y="32004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66744" y="3456432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87368" y="341071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数据约束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87368" y="3703320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完整率、来源、口径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91072" y="32004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5664" y="3456432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341071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技术约束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76288" y="3703320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接口、性能、排期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79992" y="32004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44584" y="3456432"/>
            <a:ext cx="310896" cy="3108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65208" y="341071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冲突与待确认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65208" y="3703320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不能让AI擅自消除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52578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上下文包的价值：让AI先形成“共同理解”，而不是直接生成“看似正确的方案”。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案例落地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商品对比工具需要哪些信息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 · 需求上下文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50" dirty="0"/>
          </a:p>
        </p:txBody>
      </p:sp>
      <p:pic>
        <p:nvPicPr>
          <p:cNvPr id="8" name="Image 0" descr="/mnt/data/a_clean_bright_studio_office_scene_with_a_laptop.png"/>
          <p:cNvPicPr>
            <a:picLocks noChangeAspect="1"/>
          </p:cNvPicPr>
          <p:nvPr/>
        </p:nvPicPr>
        <p:blipFill>
          <a:blip r:embed="rId3"/>
          <a:srcRect l="10000" t="3000" r="33720" b="22000"/>
          <a:stretch/>
        </p:blipFill>
        <p:spPr>
          <a:xfrm>
            <a:off x="7567218" y="1225296"/>
            <a:ext cx="365760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3498" y="155448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1514" y="1627632"/>
            <a:ext cx="10972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用户与场景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2217978" y="1600200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谁在比较？是普通用户、数码用户还是采购？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3498" y="233172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1514" y="2404872"/>
            <a:ext cx="10972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对象与范围</a:t>
            </a:r>
            <a:endParaRPr lang="en-US" sz="870" dirty="0"/>
          </a:p>
        </p:txBody>
      </p:sp>
      <p:sp>
        <p:nvSpPr>
          <p:cNvPr id="14" name="Text 11"/>
          <p:cNvSpPr/>
          <p:nvPr/>
        </p:nvSpPr>
        <p:spPr>
          <a:xfrm>
            <a:off x="2217978" y="2377440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对比SPU还是SKU？同品类还是跨品类？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3498" y="310896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1514" y="3182112"/>
            <a:ext cx="10972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字段与规则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2217978" y="3154680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展示价格、优惠、参数、评价、售后哪些信息？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3498" y="388620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514" y="3959352"/>
            <a:ext cx="10972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数据与约束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2217978" y="3931920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参数缺失、单位不统一、价格实时变化怎么办？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63498" y="466344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1514" y="4736592"/>
            <a:ext cx="109728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指标与验证</a:t>
            </a:r>
            <a:endParaRPr lang="en-US" sz="870" dirty="0"/>
          </a:p>
        </p:txBody>
      </p:sp>
      <p:sp>
        <p:nvSpPr>
          <p:cNvPr id="23" name="Text 20"/>
          <p:cNvSpPr/>
          <p:nvPr/>
        </p:nvSpPr>
        <p:spPr>
          <a:xfrm>
            <a:off x="2217978" y="4709160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提升转化是事实，还是需要验证的假设？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770170" y="4517136"/>
            <a:ext cx="3337560" cy="822960"/>
          </a:xfrm>
          <a:prstGeom prst="roundRect">
            <a:avLst>
              <a:gd name="adj" fmla="val 777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07914" y="4681728"/>
            <a:ext cx="2880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34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同一个“商品对比”，背后包含用户、商品、价格、参数、数据质量和信任问题。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分类方法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需求信息要先分清五类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 · 需求上下文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1993392" cy="3063240"/>
          </a:xfrm>
          <a:prstGeom prst="roundRect">
            <a:avLst>
              <a:gd name="adj" fmla="val 3670"/>
            </a:avLst>
          </a:prstGeom>
          <a:solidFill>
            <a:srgbClr val="DBEAFE"/>
          </a:solidFill>
          <a:ln w="12700">
            <a:solidFill>
              <a:srgbClr val="D0DD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6152" y="1856232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9032" y="2060298"/>
            <a:ext cx="2011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" y="2615184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已确认事实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2990088"/>
            <a:ext cx="15910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有材料、数据或明确来源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94944" y="385876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用户同日浏览3个以上手机SPU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807208" y="1645920"/>
            <a:ext cx="1993392" cy="3063240"/>
          </a:xfrm>
          <a:prstGeom prst="roundRect">
            <a:avLst>
              <a:gd name="adj" fmla="val 3670"/>
            </a:avLst>
          </a:prstGeom>
          <a:solidFill>
            <a:srgbClr val="FFEDD5"/>
          </a:solidFill>
          <a:ln w="12700">
            <a:solidFill>
              <a:srgbClr val="D0DD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1856232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060298"/>
            <a:ext cx="2011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2615184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当前假设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08376" y="2990088"/>
            <a:ext cx="15910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尚未验证，但暂时作为分析前提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999232" y="385876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对比工具可以提升转化率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111496" y="1645920"/>
            <a:ext cx="1993392" cy="3063240"/>
          </a:xfrm>
          <a:prstGeom prst="roundRect">
            <a:avLst>
              <a:gd name="adj" fmla="val 3670"/>
            </a:avLst>
          </a:prstGeom>
          <a:solidFill>
            <a:srgbClr val="F3E8FF"/>
          </a:solidFill>
          <a:ln w="12700">
            <a:solidFill>
              <a:srgbClr val="D0DD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24728" y="1856232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7608" y="2060298"/>
            <a:ext cx="2011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76088" y="2615184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利益方意见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12664" y="2990088"/>
            <a:ext cx="15910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某个角色提出的诉求或判断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5303520" y="385876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增长希望最多支持5个商品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415784" y="1645920"/>
            <a:ext cx="1993392" cy="3063240"/>
          </a:xfrm>
          <a:prstGeom prst="roundRect">
            <a:avLst>
              <a:gd name="adj" fmla="val 3670"/>
            </a:avLst>
          </a:prstGeom>
          <a:solidFill>
            <a:srgbClr val="CCFBF1"/>
          </a:solidFill>
          <a:ln w="12700">
            <a:solidFill>
              <a:srgbClr val="D0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29016" y="185623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1896" y="2060298"/>
            <a:ext cx="2011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0376" y="2615184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产品决策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16952" y="2990088"/>
            <a:ext cx="15910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产品经理明确选择并承担责任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607808" y="385876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一期只做手机，支持2-4个SKU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9720072" y="1645920"/>
            <a:ext cx="1993392" cy="3063240"/>
          </a:xfrm>
          <a:prstGeom prst="roundRect">
            <a:avLst>
              <a:gd name="adj" fmla="val 3670"/>
            </a:avLst>
          </a:prstGeom>
          <a:solidFill>
            <a:srgbClr val="FEE2E2"/>
          </a:solidFill>
          <a:ln w="12700">
            <a:solidFill>
              <a:srgbClr val="D0DD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33304" y="1856232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16184" y="2060298"/>
            <a:ext cx="2011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884664" y="2615184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待确认事项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921240" y="2990088"/>
            <a:ext cx="15910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当前没有答案，不能自动补齐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912096" y="385876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核心参数由谁配置维护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658368" y="5440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AI可以整理五类信息，但不能擅自把后四类变成事实</a:t>
            </a: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课堂素材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Codex项目中的原始材料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 · 需求上下文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50" dirty="0"/>
          </a:p>
        </p:txBody>
      </p:sp>
      <p:pic>
        <p:nvPicPr>
          <p:cNvPr id="8" name="Image 0" descr="/mnt/data/a_high_detail_cinematic_tech_workspace_scene_in_c.png"/>
          <p:cNvPicPr>
            <a:picLocks noChangeAspect="1"/>
          </p:cNvPicPr>
          <p:nvPr/>
        </p:nvPicPr>
        <p:blipFill>
          <a:blip r:embed="rId3"/>
          <a:srcRect l="6000" t="10000" r="37203" b="14000"/>
          <a:stretch/>
        </p:blipFill>
        <p:spPr>
          <a:xfrm>
            <a:off x="7680960" y="868680"/>
            <a:ext cx="3703320" cy="2788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143000"/>
            <a:ext cx="6309360" cy="4434840"/>
          </a:xfrm>
          <a:prstGeom prst="roundRect">
            <a:avLst>
              <a:gd name="adj" fmla="val 164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00-需求素材/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4400" y="1847088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1783080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01-初始需求.md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14400" y="2176272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2112264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02-用户访谈记录.md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14400" y="2505456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441448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03-客服与用户反馈.md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914400" y="2834640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" y="2770632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04-用户行为数据.csv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914400" y="3163824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33856" y="3099816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05-当前用户流程.md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914400" y="349300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3429000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06-业务访谈纪要.md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914400" y="382219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33856" y="3758184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07-商品数据现状.md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914400" y="4151376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33856" y="4087368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08-技术约束.md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914400" y="448056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33856" y="4416552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09-竞品观察.md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914400" y="4809744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33856" y="4745736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10-商品样例数据_原始.csv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7818120" y="4069080"/>
            <a:ext cx="3520440" cy="1024128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92440" y="4233672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课堂演示原则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110728" y="459028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先隐藏教师参考目录，让Codex从混乱原始素材中整理上下文。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现场演示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Codex如何整理项目材料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第二部分 · 需求上下文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1463040" y="14173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1572768"/>
            <a:ext cx="16459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673352"/>
            <a:ext cx="6400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14884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读取全部素材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2816352"/>
            <a:ext cx="1828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暂时不要设计方案，也不要写PRD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251960" y="141732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1572768"/>
            <a:ext cx="16459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1673352"/>
            <a:ext cx="6400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74720" y="214884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分类整理信息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39312" y="2816352"/>
            <a:ext cx="1828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 / 假设 / 意见 / 决策 / 待确认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040880" y="1417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572768"/>
            <a:ext cx="16459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0" y="1673352"/>
            <a:ext cx="6400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14884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创建上下文文件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28232" y="2816352"/>
            <a:ext cx="1828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输出到 01-需求分析/需求上下文.md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829800" y="1417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94392" y="1572768"/>
            <a:ext cx="16459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52560" y="214884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7152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生成澄清问题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17152" y="2816352"/>
            <a:ext cx="1828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按“必须确认 / 临时假设 / 评审确认”分级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960120" y="457200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4736592"/>
            <a:ext cx="2057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演示Prompt核心约束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4736592"/>
            <a:ext cx="68122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“暂时不要设计解决方案；每条结论注明来源；有冲突的内容同时保留；无法确认的信息标记为待确认。”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pic>
        <p:nvPicPr>
          <p:cNvPr id="3" name="Image 0" descr="/mnt/data/a_high_detail_cinematic_tech_workspace_scene_in_c.png"/>
          <p:cNvPicPr>
            <a:picLocks noChangeAspect="1"/>
          </p:cNvPicPr>
          <p:nvPr/>
        </p:nvPicPr>
        <p:blipFill>
          <a:blip r:embed="rId3"/>
          <a:srcRect l="10000" r="46117" b="15000"/>
          <a:stretch/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94360"/>
            <a:ext cx="2743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1325880"/>
            <a:ext cx="47548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让AI提出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正确的问题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7E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需求澄清与产品决策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310128"/>
            <a:ext cx="3474720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承上启下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有了上下文，为什么还不能直接写PRD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50" dirty="0"/>
          </a:p>
        </p:txBody>
      </p:sp>
      <p:pic>
        <p:nvPicPr>
          <p:cNvPr id="8" name="Image 0" descr="/mnt/data/a_high_detail_conceptual_3d_cgi_illustration_an_i_dark.png"/>
          <p:cNvPicPr>
            <a:picLocks noChangeAspect="1"/>
          </p:cNvPicPr>
          <p:nvPr/>
        </p:nvPicPr>
        <p:blipFill>
          <a:blip r:embed="rId3"/>
          <a:srcRect l="20000" t="10000" r="25919" b="8000"/>
          <a:stretch/>
        </p:blipFill>
        <p:spPr>
          <a:xfrm>
            <a:off x="8046720" y="960120"/>
            <a:ext cx="342900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1234440"/>
            <a:ext cx="626364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353312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材料冲突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606040" y="1335024"/>
            <a:ext cx="3977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增长要5个，设计说3个，技术说4个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039112"/>
            <a:ext cx="62636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157984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信息缺失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606040" y="2139696"/>
            <a:ext cx="3977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到底比较SPU还是SKU？参数缺失怎么办？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" y="2843784"/>
            <a:ext cx="626364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2962656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假设未验证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606040" y="2944368"/>
            <a:ext cx="3977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对比工具是否一定提升转化率？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3648456"/>
            <a:ext cx="62636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3767328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范围不清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606040" y="3749040"/>
            <a:ext cx="3977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手机、电脑、平板是否一期都做？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31520" y="4754880"/>
            <a:ext cx="1074420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5010912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上下文解决“我们知道什么”，澄清与决策解决“我们还不知道什么、最终选择什么”。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两个阶段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第二部分与第三部分的区别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4709160" cy="338328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280160"/>
            <a:ext cx="4709160" cy="3383280"/>
          </a:xfrm>
          <a:prstGeom prst="roundRect">
            <a:avLst>
              <a:gd name="adj" fmla="val 2162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27632"/>
            <a:ext cx="4114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第二部分：整理已知信息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61872" y="2148840"/>
            <a:ext cx="3703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我们已经知道什么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587752"/>
            <a:ext cx="3703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信息来自哪里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3026664"/>
            <a:ext cx="3703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哪些是事实 / 假设 / 意见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3465576"/>
            <a:ext cx="3703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材料之间有什么冲突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1627632"/>
            <a:ext cx="4114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第三部分：处理未知信息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78040" y="2148840"/>
            <a:ext cx="3703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还有什么不知道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78040" y="2587752"/>
            <a:ext cx="3703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哪些问题必须先确认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3026664"/>
            <a:ext cx="3703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有哪些备选方案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3465576"/>
            <a:ext cx="3703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最终选择什么，为什么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2971800"/>
            <a:ext cx="8229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920240" y="5166360"/>
            <a:ext cx="83667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5358384"/>
            <a:ext cx="79095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第二部分建立共同理解，第三部分完成产品判断</a:t>
            </a: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提问框架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需求澄清的六个维度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72821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1865376"/>
            <a:ext cx="14630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64208" y="1691640"/>
            <a:ext cx="17373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64208" y="2130552"/>
            <a:ext cx="1874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谁是一期目标用户？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26280" y="14173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27448" y="172821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865376"/>
            <a:ext cx="14630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67528" y="1691640"/>
            <a:ext cx="17373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67528" y="2130552"/>
            <a:ext cx="1874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从哪里进入对比？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4173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2821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86216" y="1865376"/>
            <a:ext cx="14630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070848" y="1691640"/>
            <a:ext cx="17373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70848" y="2130552"/>
            <a:ext cx="1874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一期验证什么指标？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32461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3557016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9576" y="3694176"/>
            <a:ext cx="14630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64208" y="3520440"/>
            <a:ext cx="17373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64208" y="3959352"/>
            <a:ext cx="1874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做手机还是多品类？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26280" y="32461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7448" y="3557016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3694176"/>
            <a:ext cx="14630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67528" y="3520440"/>
            <a:ext cx="17373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367528" y="3959352"/>
            <a:ext cx="1874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SPU还是SKU？最多几个？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0" y="32461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30768" y="3557016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86216" y="3694176"/>
            <a:ext cx="14630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070848" y="3520440"/>
            <a:ext cx="17373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070848" y="3959352"/>
            <a:ext cx="1874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参数、价格、性能能否支持？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68680" y="5440680"/>
            <a:ext cx="10424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固定框架的价值：避免AI只问“看起来专业”的问题，而漏掉影响设计的关键问题。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问题分级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不是所有问题都要马上回答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FEE2E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必须确认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07008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不确认就无法写PRD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371600" y="2999232"/>
            <a:ext cx="2011680" cy="0"/>
          </a:xfrm>
          <a:prstGeom prst="line">
            <a:avLst/>
          </a:prstGeom>
          <a:noFill/>
          <a:ln w="1651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SPU还是SKU？最多几个商品？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55448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FFF7E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临时假设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01768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可以先往下走，但要标风险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66360" y="2999232"/>
            <a:ext cx="2011680" cy="0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55448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EFF6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评审确认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96528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不阻塞核心设计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0" y="2999232"/>
            <a:ext cx="201168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按钮位置、动效、视觉细节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507492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5285232"/>
            <a:ext cx="9509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分级的目的：既不让团队被细节拖住，也不让关键决策被AI自动补齐。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现场演示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让Codex生成需求澄清问题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50" dirty="0"/>
          </a:p>
        </p:txBody>
      </p:sp>
      <p:pic>
        <p:nvPicPr>
          <p:cNvPr id="8" name="Image 0" descr="/mnt/data/a_high_detail_cinematic_tech_workspace_scene_in_c.png"/>
          <p:cNvPicPr>
            <a:picLocks noChangeAspect="1"/>
          </p:cNvPicPr>
          <p:nvPr/>
        </p:nvPicPr>
        <p:blipFill>
          <a:blip r:embed="rId3"/>
          <a:srcRect l="10000" t="10000" r="31991" b="12000"/>
          <a:stretch/>
        </p:blipFill>
        <p:spPr>
          <a:xfrm>
            <a:off x="7863840" y="914400"/>
            <a:ext cx="3383280" cy="2560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207008"/>
            <a:ext cx="6492240" cy="4023360"/>
          </a:xfrm>
          <a:prstGeom prst="roundRect">
            <a:avLst>
              <a:gd name="adj" fmla="val 18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Prompt核心片段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1828800"/>
            <a:ext cx="576072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请阅读 01-需求分析/需求上下文.md。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暂时不要生成产品方案，也不要撰写PRD。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从用户、场景、目标、范围、规则、约束、指标、异常八个维度检查缺失信息。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需求澄清问题.md，并将问题分为：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PRD编写前必须确认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可以采用临时假设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可以在产品评审阶段确认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每个问题说明为什么需要确认、不确认影响什么、建议由谁确认。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7818120" y="406908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4242816"/>
            <a:ext cx="29260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演示重点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10728" y="4572000"/>
            <a:ext cx="2834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不是让AI回答问题，而是让AI找出“还没有答案的问题”。</a:t>
            </a:r>
            <a:endParaRPr lang="en-US" sz="11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价值判断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如何判断一个问题是否重要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9875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34416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417320"/>
            <a:ext cx="11887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影响产品决策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0" y="1362456"/>
            <a:ext cx="7223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对比对象是SPU还是SKU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2075688"/>
            <a:ext cx="98755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2185416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258568"/>
            <a:ext cx="11887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影响研发实现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0" y="2203704"/>
            <a:ext cx="7223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是否登录、是否跨设备保存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2916936"/>
            <a:ext cx="9875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302666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099816"/>
            <a:ext cx="11887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影响验收标准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0" y="3044952"/>
            <a:ext cx="7223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差异高亮怎样才算完成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3758184"/>
            <a:ext cx="98755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386791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941064"/>
            <a:ext cx="11887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影响范围成本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0" y="3886200"/>
            <a:ext cx="7223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一期一个品类还是多个品类</a:t>
            </a:r>
            <a:endParaRPr lang="en-US" sz="1350" dirty="0"/>
          </a:p>
        </p:txBody>
      </p:sp>
      <p:pic>
        <p:nvPicPr>
          <p:cNvPr id="24" name="Image 0" descr="/mnt/data/a_realistic_modern_office_scene_with_a_professiona.png"/>
          <p:cNvPicPr>
            <a:picLocks noChangeAspect="1"/>
          </p:cNvPicPr>
          <p:nvPr/>
        </p:nvPicPr>
        <p:blipFill>
          <a:blip r:embed="rId3"/>
          <a:srcRect l="20000" t="25000" r="24643" b="15000"/>
          <a:stretch/>
        </p:blipFill>
        <p:spPr>
          <a:xfrm>
            <a:off x="9098280" y="4434840"/>
            <a:ext cx="1828800" cy="111556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914400" y="480060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5010912"/>
            <a:ext cx="7086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一个问题是否重要，取决于它是否改变目标、范围、规则、实现或验收。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决策流程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从澄清问题到产品决策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66928" y="19659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139696"/>
            <a:ext cx="23774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10789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AI发现问题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694944" y="2761488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列出缺失、冲突、未知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2048256" y="2542032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8880" y="19659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139696"/>
            <a:ext cx="23774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3472" y="2450592"/>
            <a:ext cx="10789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PM筛选问题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2596896" y="2761488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判断是否影响当前设计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3950208" y="2542032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70832" y="19659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39696"/>
            <a:ext cx="23774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35424" y="2450592"/>
            <a:ext cx="10789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AI提供方案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4498848" y="2761488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给出备选方案和利弊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5852160" y="2542032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72784" y="19659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139696"/>
            <a:ext cx="23774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7376" y="2450592"/>
            <a:ext cx="10789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PM做取舍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6400800" y="2761488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结合目标、约束和资源选择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7754112" y="2542032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74736" y="19659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2139696"/>
            <a:ext cx="23774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39328" y="2450592"/>
            <a:ext cx="10789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记录决策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8302752" y="2761488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写入产品决策记录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9656064" y="2542032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76688" y="19659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43616" y="2139696"/>
            <a:ext cx="23774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41280" y="2450592"/>
            <a:ext cx="10789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AI查冲突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10204704" y="2761488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检查决策一致性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868680" y="4315968"/>
            <a:ext cx="10469880" cy="868680"/>
          </a:xfrm>
          <a:prstGeom prst="roundRect">
            <a:avLst>
              <a:gd name="adj" fmla="val 842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4553712"/>
            <a:ext cx="9921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关键原则：AI可以分析选项，但不能替产品经理拍板。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/ 决策沉淀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产品决策记录与一致性检查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第三部分 · 需求澄清与产品决策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62456"/>
            <a:ext cx="18288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决策主题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62456"/>
            <a:ext cx="19659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最终选择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362456"/>
            <a:ext cx="36576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选择理由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412480" y="123444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362456"/>
            <a:ext cx="27432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后续验证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48640" y="1764792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1883664"/>
            <a:ext cx="18105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一期品类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514600" y="176479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9464" y="1883664"/>
            <a:ext cx="194767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手机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617720" y="1764792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883664"/>
            <a:ext cx="36393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数据成熟、场景清晰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412480" y="1764792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1883664"/>
            <a:ext cx="27249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扩展到电脑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48640" y="23317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2450592"/>
            <a:ext cx="18105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商品数量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2514600" y="233172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2450592"/>
            <a:ext cx="194767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2-4个SKU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617720" y="233172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2584" y="2450592"/>
            <a:ext cx="36393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体验与性能平衡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412480" y="233172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67344" y="2450592"/>
            <a:ext cx="27249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观察添加数量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48640" y="289864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" y="3017520"/>
            <a:ext cx="18105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AI推荐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2514600" y="289864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9464" y="3017520"/>
            <a:ext cx="194767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一期不做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4617720" y="289864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3017520"/>
            <a:ext cx="36393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信任与合规风险高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8412480" y="289864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7344" y="3017520"/>
            <a:ext cx="27249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独立实验验证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77240" y="41605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4343400"/>
            <a:ext cx="4297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写入项目文件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51560" y="4681728"/>
            <a:ext cx="42976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决策不能只留在聊天记录里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41605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4343400"/>
            <a:ext cx="4206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再让AI检查冲突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766560" y="4681728"/>
            <a:ext cx="42062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是否违背上下文、约束和已有决策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pic>
        <p:nvPicPr>
          <p:cNvPr id="3" name="Image 0" descr="/mnt/data/a_clean_bright_studio_office_scene_with_a_laptop.png"/>
          <p:cNvPicPr>
            <a:picLocks noChangeAspect="1"/>
          </p:cNvPicPr>
          <p:nvPr/>
        </p:nvPicPr>
        <p:blipFill>
          <a:blip r:embed="rId3"/>
          <a:srcRect l="6000" r="56629" b="26000"/>
          <a:stretch/>
        </p:blipFill>
        <p:spPr>
          <a:xfrm>
            <a:off x="6035040" y="0"/>
            <a:ext cx="615391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94360"/>
            <a:ext cx="2743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1325880"/>
            <a:ext cx="49834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让AI生成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真正可用的PRD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48640" y="2862072"/>
            <a:ext cx="43891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7E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从产品决策到可评审文档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410712"/>
            <a:ext cx="3474720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先破误区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有了产品决策，也不能一键生成全文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50" dirty="0"/>
          </a:p>
        </p:txBody>
      </p:sp>
      <p:pic>
        <p:nvPicPr>
          <p:cNvPr id="8" name="Image 0" descr="/mnt/data/a_high_detail_conceptual_3d_cgi_illustration_an_i_dark.png"/>
          <p:cNvPicPr>
            <a:picLocks noChangeAspect="1"/>
          </p:cNvPicPr>
          <p:nvPr/>
        </p:nvPicPr>
        <p:blipFill>
          <a:blip r:embed="rId3"/>
          <a:srcRect l="12000" t="10000" r="33919" b="8000"/>
          <a:stretch/>
        </p:blipFill>
        <p:spPr>
          <a:xfrm>
            <a:off x="8028432" y="960120"/>
            <a:ext cx="342900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1234440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362456"/>
            <a:ext cx="1783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偷偷补全缺失内容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44368" y="1344168"/>
            <a:ext cx="3749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分享、历史记录、AI推荐被自动加进来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731520" y="1984248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112264"/>
            <a:ext cx="1783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前后章节不一致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44368" y="2093976"/>
            <a:ext cx="3749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前面最多4个，后面出现第5个逻辑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31520" y="2734056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862072"/>
            <a:ext cx="1783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追求形式完整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44368" y="2843784"/>
            <a:ext cx="3749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背景很长，规则和验收仍然模糊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31520" y="3483864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611880"/>
            <a:ext cx="1783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产品经理失控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44368" y="3593592"/>
            <a:ext cx="3749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要反向检查AI到底改了哪些决策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31520" y="4754880"/>
            <a:ext cx="1074420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4965192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PRD应该分模块生成：每次只解决一类产品问题。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骨架优先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先生成PRD结构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13232" y="1234440"/>
            <a:ext cx="4937760" cy="3886200"/>
          </a:xfrm>
          <a:prstGeom prst="roundRect">
            <a:avLst>
              <a:gd name="adj" fmla="val 188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234440"/>
            <a:ext cx="4937760" cy="3886200"/>
          </a:xfrm>
          <a:prstGeom prst="roundRect">
            <a:avLst>
              <a:gd name="adj" fmla="val 1882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72768"/>
            <a:ext cx="4434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先回答：为什么做、给谁做、做到哪里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029968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业务背景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1115568" y="2414016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问题定义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1115568" y="2798064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产品目标与指标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115568" y="3182112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用户与场景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1115568" y="3566160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需求范围 / 非范围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1115568" y="3950208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当前流程 / 目标流程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812280" y="1572768"/>
            <a:ext cx="4160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再回答：怎么运行、怎么验收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67728" y="2029968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整体方案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6967728" y="2414016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功能需求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967728" y="2798064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业务规则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967728" y="3182112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异常与页面状态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967728" y="3566160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数据埋点与验收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6967728" y="3950208"/>
            <a:ext cx="4023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风险、依赖、待确认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0"/>
            <a:ext cx="8366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5623560"/>
            <a:ext cx="7909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结构不求“通用完整”，而要适合商品对比工具：参数、价格、SKU和异常规则要清楚。</a:t>
            </a:r>
            <a:endParaRPr lang="en-US" sz="12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生成顺序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按产品逻辑分六轮生成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221992"/>
            <a:ext cx="100584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21408" y="2651760"/>
            <a:ext cx="32918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14600" y="20574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2221992"/>
            <a:ext cx="100584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20574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2221992"/>
            <a:ext cx="100584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整体方案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0574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221992"/>
            <a:ext cx="100584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业务规则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20574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2221992"/>
            <a:ext cx="100584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验收标准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12680" y="20574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13848" y="2221992"/>
            <a:ext cx="100584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一致性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变更记录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51560" y="4572000"/>
            <a:ext cx="10104120" cy="749808"/>
          </a:xfrm>
          <a:prstGeom prst="roundRect">
            <a:avLst>
              <a:gd name="adj" fmla="val 9756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8448" y="4818888"/>
            <a:ext cx="9619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每一轮完成后先人工检查，再进入下一轮；不要让AI一次性写完整份PRD。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第一轮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背景、问题、目标和指标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85800" y="1207008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08760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错误写法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2084832"/>
            <a:ext cx="2999232" cy="8229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“通过商品对比功能提升转化率和GMV。”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" y="3246120"/>
            <a:ext cx="29992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问题：把假设写成确定收益，缺少因果证据。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207008"/>
            <a:ext cx="6675120" cy="3520440"/>
          </a:xfrm>
          <a:prstGeom prst="roundRect">
            <a:avLst>
              <a:gd name="adj" fmla="val 20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508760"/>
            <a:ext cx="5989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更合理的目标分层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66360" y="19933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2061972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用户目标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2029968"/>
            <a:ext cx="49377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减少切换、识别差异、理解价格与参数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66360" y="265176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72034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过程指标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688336"/>
            <a:ext cx="49377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加入对比率、发起对比率、只看差异使用率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66360" y="331012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FEDD5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33787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观察指标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3346704"/>
            <a:ext cx="49377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加购率、下单转化率、决策时长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5840" y="5257800"/>
            <a:ext cx="1024128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5394960"/>
            <a:ext cx="97840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区分“数据现象”和“产品因果假设”，不要承诺无法证明的收益。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第二轮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用户、场景、范围和非范围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21792" y="1234440"/>
            <a:ext cx="3200400" cy="3794760"/>
          </a:xfrm>
          <a:prstGeom prst="roundRect">
            <a:avLst>
              <a:gd name="adj" fmla="val 228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17904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目标用户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2011680"/>
            <a:ext cx="2423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已有2-4个候选商品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87552" y="2514600"/>
            <a:ext cx="2423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处于最终比较阶段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87552" y="3017520"/>
            <a:ext cx="2423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优先手机品类用户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3200400" cy="3794760"/>
          </a:xfrm>
          <a:prstGeom prst="roundRect">
            <a:avLst>
              <a:gd name="adj" fmla="val 2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17904"/>
            <a:ext cx="2606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一期范围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64608" y="2011680"/>
            <a:ext cx="233172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同一三级类目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4864608" y="2450592"/>
            <a:ext cx="233172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对比具体SKU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864608" y="2889504"/>
            <a:ext cx="233172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2-4个商品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4864608" y="3328416"/>
            <a:ext cx="233172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未登录可用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302752" y="1234440"/>
            <a:ext cx="3200400" cy="3794760"/>
          </a:xfrm>
          <a:prstGeom prst="roundRect">
            <a:avLst>
              <a:gd name="adj" fmla="val 228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1517904"/>
            <a:ext cx="2560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非需求范围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0" y="2011680"/>
            <a:ext cx="22860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跨品类对比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8686800" y="2450592"/>
            <a:ext cx="22860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AI购买推荐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686800" y="2889504"/>
            <a:ext cx="22860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价格历史趋势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686800" y="3328416"/>
            <a:ext cx="22860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分享与跨设备历史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60120" y="5559552"/>
            <a:ext cx="10241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非需求范围不是放弃，而是保护当前版本的交付边界。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第三轮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当前流程与目标流程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58368" y="1188720"/>
            <a:ext cx="4800600" cy="3886200"/>
          </a:xfrm>
          <a:prstGeom prst="roundRect">
            <a:avLst>
              <a:gd name="adj" fmla="val 188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81328"/>
            <a:ext cx="4206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当前流程：页面切换 + 人工记忆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08760" y="1874520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952244"/>
            <a:ext cx="16459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2176272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08760" y="2304288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382012"/>
            <a:ext cx="16459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返回列表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606040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08760" y="2734056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811780"/>
            <a:ext cx="16459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3035808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508760" y="3163824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3241548"/>
            <a:ext cx="16459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截图/收藏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68880" y="3465576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08760" y="3593592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3671316"/>
            <a:ext cx="16459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再看A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3895344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508760" y="4023360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4101084"/>
            <a:ext cx="16459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人工比较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1188720"/>
            <a:ext cx="4800600" cy="3886200"/>
          </a:xfrm>
          <a:prstGeom prst="roundRect">
            <a:avLst>
              <a:gd name="adj" fmla="val 188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1481328"/>
            <a:ext cx="4206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目标流程：加入对比 + 看差异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43800" y="187452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1952244"/>
            <a:ext cx="18745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浏览A并加入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41080" y="2176272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43800" y="2304288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2382012"/>
            <a:ext cx="18745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浏览B并加入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41080" y="2606040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43800" y="2734056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2811780"/>
            <a:ext cx="18745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打开对比栏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41080" y="3035808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543800" y="3163824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9248" y="3241548"/>
            <a:ext cx="18745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进入对比页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641080" y="3465576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543800" y="3593592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3671316"/>
            <a:ext cx="18745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只看差异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41080" y="3895344"/>
            <a:ext cx="0" cy="128016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43800" y="402336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9248" y="4101084"/>
            <a:ext cx="18745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详情/加购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第四轮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把核心功能拆成可生成模块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3063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819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加入对比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993392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入口、SKU、数量、类目、反馈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06324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5819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已选商品、空位、删除、开始对比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1325880"/>
            <a:ext cx="3063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5819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1993392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价格、参数、差异、详情、加购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926080"/>
            <a:ext cx="306324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182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参数对比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593592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同义词、单位、缺失、冲突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2926080"/>
            <a:ext cx="3063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182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临时保存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3593592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未登录、本地缓存、失效处理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第五轮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异常场景与页面状态决定PRD是否可用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417320"/>
            <a:ext cx="14173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商品不足2个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532888" y="1399032"/>
            <a:ext cx="2743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对比按钮不可用，提示继续添加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417320"/>
            <a:ext cx="14173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超过4个商品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8156448" y="1399032"/>
            <a:ext cx="2743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拒绝加入，提示删除或替换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214884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331720"/>
            <a:ext cx="14173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价格获取失败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2532888" y="2313432"/>
            <a:ext cx="2743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保留商品，价格显示获取失败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09360" y="214884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331720"/>
            <a:ext cx="14173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参数缺失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156448" y="2313432"/>
            <a:ext cx="2743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显示暂无数据，不参与差异判断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246120"/>
            <a:ext cx="14173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商品下架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532888" y="3227832"/>
            <a:ext cx="2743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标记失效，不参与加购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309360" y="306324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246120"/>
            <a:ext cx="14173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网络失败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8156448" y="3227832"/>
            <a:ext cx="2743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允许重试，保留本地列表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14400" y="512064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321808"/>
            <a:ext cx="9875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不要写“友好提示用户”：要写清触发条件、系统状态、可执行操作和是否可重试。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收束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一致性检查与变更记录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第四部分 · 生成真正可用的PRD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96686" y="237744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718" y="2578608"/>
            <a:ext cx="2560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冲突检查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2718" y="2880360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是否违背产品决策记录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45726" y="237744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1758" y="2578608"/>
            <a:ext cx="2560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越权检查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1758" y="2880360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是否新增未确认功能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94766" y="237744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0798" y="2578608"/>
            <a:ext cx="2560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可开发检查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0798" y="2880360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是否存在模糊描述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6686" y="361188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2718" y="3813048"/>
            <a:ext cx="2560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可测试检查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2718" y="4114800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验收标准是否明确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45726" y="361188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1758" y="3813048"/>
            <a:ext cx="2560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异常检查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1758" y="4114800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边界状态是否遗漏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94766" y="361188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0798" y="3813048"/>
            <a:ext cx="2560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变更记录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0798" y="4114800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修改了什么，为什么修改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pic>
        <p:nvPicPr>
          <p:cNvPr id="3" name="Image 0" descr="/mnt/data/a_high_detail_cinematic_tech_workspace_scene_in_c.png"/>
          <p:cNvPicPr>
            <a:picLocks noChangeAspect="1"/>
          </p:cNvPicPr>
          <p:nvPr/>
        </p:nvPicPr>
        <p:blipFill>
          <a:blip r:embed="rId3"/>
          <a:srcRect l="6000" r="57369" b="28000"/>
          <a:stretch/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94360"/>
            <a:ext cx="2743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5074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让AI模拟多角色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完成PRD评审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980944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7E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从“产品视角完整”到“协作视角可落地”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502152"/>
            <a:ext cx="3611880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先换视角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PRD初稿为什么还不能进入开发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50" dirty="0"/>
          </a:p>
        </p:txBody>
      </p:sp>
      <p:pic>
        <p:nvPicPr>
          <p:cNvPr id="8" name="Image 0" descr="/mnt/data/a_realistic_modern_office_scene_with_a_professiona.png"/>
          <p:cNvPicPr>
            <a:picLocks noChangeAspect="1"/>
          </p:cNvPicPr>
          <p:nvPr/>
        </p:nvPicPr>
        <p:blipFill>
          <a:blip r:embed="rId3"/>
          <a:srcRect l="18000" t="6000" r="31997" b="24000"/>
          <a:stretch/>
        </p:blipFill>
        <p:spPr>
          <a:xfrm>
            <a:off x="8046720" y="1097280"/>
            <a:ext cx="301752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1207008"/>
            <a:ext cx="626364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481328"/>
            <a:ext cx="5715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产品经理视角的“完整”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" y="1856232"/>
            <a:ext cx="5577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用户问题、目标、功能流程、范围和体验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749808" y="278892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962656"/>
            <a:ext cx="5303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554480" y="2944368"/>
            <a:ext cx="1783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数据来源、接口、性能、容错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95928" y="278892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60520" y="2962656"/>
            <a:ext cx="5303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0600" y="2944368"/>
            <a:ext cx="1783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边界、异常、状态组合、验收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9808" y="365760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831336"/>
            <a:ext cx="5303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554480" y="3813048"/>
            <a:ext cx="1783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指标口径、埋点、实验、因果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995928" y="365760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60520" y="3831336"/>
            <a:ext cx="5303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00600" y="3813048"/>
            <a:ext cx="1783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配置维护、商品异常、用户反馈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68680" y="5074920"/>
            <a:ext cx="1037844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43000" y="5285232"/>
            <a:ext cx="9829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一份PRD看起来完整，只代表它从产品经理的视角看起来完整。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生成和评审不同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AI生成是补内容，AI评审是找问题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4892040" cy="3840480"/>
          </a:xfrm>
          <a:prstGeom prst="roundRect">
            <a:avLst>
              <a:gd name="adj" fmla="val 19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627632"/>
            <a:ext cx="42519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AI生成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240280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补充内容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形成文档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008376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优化表达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92424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给出解决方案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776472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追求结构完整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1280160"/>
            <a:ext cx="4892040" cy="3840480"/>
          </a:xfrm>
          <a:prstGeom prst="roundRect">
            <a:avLst>
              <a:gd name="adj" fmla="val 1905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1627632"/>
            <a:ext cx="42519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AI评审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78040" y="2240280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挑战假设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8040" y="2624328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暴露风险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3008376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引用章节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3392424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说明影响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3776472"/>
            <a:ext cx="3657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提出确认问题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4440" y="5486400"/>
            <a:ext cx="9738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5641848"/>
            <a:ext cx="91897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评审阶段先发现问题，不要让AI边发现边改写。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多角色框架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每个角色只检查自己最该检查的事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2468880" y="2421418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586010"/>
            <a:ext cx="2468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产品负责人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896906"/>
            <a:ext cx="24688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 / 范围 / 指标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655526" y="2421418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4126" y="2586010"/>
            <a:ext cx="2468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研发负责人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84126" y="2896906"/>
            <a:ext cx="24688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 / 接口 / 性能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85800" y="43434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07992"/>
            <a:ext cx="2468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测试负责人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818888"/>
            <a:ext cx="24688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 / 状态 / 验收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572000" y="43434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4507992"/>
            <a:ext cx="2468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4818888"/>
            <a:ext cx="24688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口径 / 埋点 / 实验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549640" y="43434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4507992"/>
            <a:ext cx="2468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运营负责人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0" y="4818888"/>
            <a:ext cx="24688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 / 维护 / 反馈</a:t>
            </a:r>
            <a:endParaRPr lang="en-US" sz="97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产品负责人评审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产品负责人评审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31520" y="1170432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481328"/>
            <a:ext cx="4617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重点检查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4389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用户问题是否真实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322576"/>
            <a:ext cx="4389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产品目标是否合理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706624"/>
            <a:ext cx="4389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一期范围是否清晰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090672"/>
            <a:ext cx="4389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是否过度设计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4389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指标是否能证明价值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858768"/>
            <a:ext cx="4389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是否违反产品决策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170432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481328"/>
            <a:ext cx="4434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商品对比案例中的追问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20840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203454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2002536"/>
            <a:ext cx="32461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为什么是4个商品，不是3个？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246888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253746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35240" y="2505456"/>
            <a:ext cx="32461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完整参数是否真能降低决策成本？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297180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04038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35240" y="3008376"/>
            <a:ext cx="32461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转化率是否缺少因果依据？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347472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35433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35240" y="3511296"/>
            <a:ext cx="32461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是否有更低成本的验证方案？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研发负责人评审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研发负责人评审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50" dirty="0"/>
          </a:p>
        </p:txBody>
      </p:sp>
      <p:pic>
        <p:nvPicPr>
          <p:cNvPr id="8" name="Image 0" descr="/mnt/data/wide_high_quality_modern_workplace_tech_concept_s.png"/>
          <p:cNvPicPr>
            <a:picLocks noChangeAspect="1"/>
          </p:cNvPicPr>
          <p:nvPr/>
        </p:nvPicPr>
        <p:blipFill>
          <a:blip r:embed="rId3"/>
          <a:srcRect l="22000" t="5000" r="20619" b="25000"/>
          <a:stretch/>
        </p:blipFill>
        <p:spPr>
          <a:xfrm>
            <a:off x="8046720" y="1051560"/>
            <a:ext cx="3063240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" y="1261872"/>
            <a:ext cx="3154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399032"/>
            <a:ext cx="960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SPU / SKU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47672" y="1371600"/>
            <a:ext cx="16916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价格和配置属于具体SKU，参数可能在SPU层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25112" y="1261872"/>
            <a:ext cx="315468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62272" y="1399032"/>
            <a:ext cx="960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价格优惠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59552" y="1371600"/>
            <a:ext cx="16916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用户专属券和到手价接口依赖登录资格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" y="2066544"/>
            <a:ext cx="3154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2203704"/>
            <a:ext cx="960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参数标准化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947672" y="2176272"/>
            <a:ext cx="16916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同义词、单位转换由谁处理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25112" y="2066544"/>
            <a:ext cx="315468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62272" y="2203704"/>
            <a:ext cx="960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容错降级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59552" y="2176272"/>
            <a:ext cx="16916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部分商品请求失败时页面如何保留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3232" y="2871216"/>
            <a:ext cx="3154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" y="3008376"/>
            <a:ext cx="960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本地缓存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947672" y="2980944"/>
            <a:ext cx="16916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下架或失效SKU是否需要清理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325112" y="2871216"/>
            <a:ext cx="315468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62272" y="3008376"/>
            <a:ext cx="960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性能上限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559552" y="2980944"/>
            <a:ext cx="16916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4个商品并行加载是否稳定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68680" y="5166360"/>
            <a:ext cx="1046988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7280" y="5349240"/>
            <a:ext cx="100126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研发评审的价值：把“产品想当然”转换为明确的数据、接口和状态约束。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测试负责人评审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测试负责人评审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13232" y="1207008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80744"/>
            <a:ext cx="114300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数量边界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76272" y="1353312"/>
            <a:ext cx="3017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/ 1 / 2 / 4 / 5个商品分别什么状态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5352" y="1207008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380744"/>
            <a:ext cx="114300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重复加入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08392" y="1353312"/>
            <a:ext cx="3017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同一SKU、同一SPU不同SKU是否允许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210312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276856"/>
            <a:ext cx="114300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类目限制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6272" y="2249424"/>
            <a:ext cx="3017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已有手机时加入智能手表如何处理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210312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276856"/>
            <a:ext cx="114300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状态变化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08392" y="2249424"/>
            <a:ext cx="3017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商品下架、库存变化、SKU失效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" y="2999232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172968"/>
            <a:ext cx="114300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失败场景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76272" y="3145536"/>
            <a:ext cx="3017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价格失败、参数失败、网络失败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5352" y="2999232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172968"/>
            <a:ext cx="114300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验收标准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08392" y="3145536"/>
            <a:ext cx="3017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每条规则是否能被测试复现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5230368"/>
            <a:ext cx="1033272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413248"/>
            <a:ext cx="9875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测试评审会把“系统提示用户”追问成：什么状态？能否重试？原数据是否保留？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数据与运营评审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数据与运营评审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4983480" cy="4160520"/>
          </a:xfrm>
          <a:prstGeom prst="roundRect">
            <a:avLst>
              <a:gd name="adj" fmla="val 17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91056"/>
            <a:ext cx="4434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61872" y="217627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什么算“发起对比”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61872" y="254203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什么算“完成对比”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61872" y="290779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对比后加购观察窗口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327355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实验组和对照组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872" y="363931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过程指标 vs 观察指标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400507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避免错误因果推断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1280160"/>
            <a:ext cx="4983480" cy="4160520"/>
          </a:xfrm>
          <a:prstGeom prst="roundRect">
            <a:avLst>
              <a:gd name="adj" fmla="val 175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591056"/>
            <a:ext cx="4434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运营负责人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31152" y="217627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核心参数由谁配置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1152" y="254203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参数错误如何反馈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31152" y="290779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下架、缺货、活动结束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327355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是否需要人工后台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1152" y="363931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商家影响和申诉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4005072"/>
            <a:ext cx="4069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上线后异常监控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问题标准化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输出可追踪的问题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60396" y="2116836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556" y="2263140"/>
            <a:ext cx="6583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9076" y="2244852"/>
            <a:ext cx="12984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便于追踪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0756" y="2116836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7916" y="2263140"/>
            <a:ext cx="6583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09436" y="2244852"/>
            <a:ext cx="12984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谁提出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1116" y="2116836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8276" y="2263140"/>
            <a:ext cx="6583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89796" y="2244852"/>
            <a:ext cx="12984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P0/P1/P2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01476" y="2116836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8636" y="2263140"/>
            <a:ext cx="6583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70156" y="2244852"/>
            <a:ext cx="12984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具体位置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0396" y="2866644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556" y="3012948"/>
            <a:ext cx="6583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29076" y="2994660"/>
            <a:ext cx="12984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哪里不清楚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40756" y="2866644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7916" y="3012948"/>
            <a:ext cx="6583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09436" y="2994660"/>
            <a:ext cx="12984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不处理会怎样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21116" y="2866644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8276" y="3012948"/>
            <a:ext cx="6583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89796" y="2994660"/>
            <a:ext cx="12984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谁来回答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01476" y="2866644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38636" y="3012948"/>
            <a:ext cx="6583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70156" y="2994660"/>
            <a:ext cx="12984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如何处理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4837176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5111496"/>
            <a:ext cx="28803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 阻塞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32688" y="5477256"/>
            <a:ext cx="2880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不解决无法开发或风险严重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4334256" y="4837176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5111496"/>
            <a:ext cx="28803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重要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608576" y="5477256"/>
            <a:ext cx="2880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影响体验、质量或上线结果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8019288" y="4837176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93608" y="5111496"/>
            <a:ext cx="28803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 建议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293608" y="5477256"/>
            <a:ext cx="2880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后续优化，不影响一期交付</a:t>
            </a:r>
            <a:endParaRPr lang="en-US" sz="10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/ 汇总去重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多角色意见要合并成可处理的问题清单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2029968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2340864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读取全部评审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633472"/>
            <a:ext cx="14630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 / 研发 / 测试 / 数据 / 运营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587752" y="2359152"/>
            <a:ext cx="27432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17520" y="18745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2029968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82112" y="2340864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合并重复问题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54680" y="2633472"/>
            <a:ext cx="14630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同一个根因只保留一条主问题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828032" y="2359152"/>
            <a:ext cx="27432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57800" y="18745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52744" y="2029968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22392" y="2340864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按主题分类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94960" y="2633472"/>
            <a:ext cx="14630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价格、SKU、参数、指标、异常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068312" y="2359152"/>
            <a:ext cx="27432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0" y="18745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2029968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62672" y="2340864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重新分级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635240" y="2633472"/>
            <a:ext cx="14630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P0阻塞 / P1重要 / P2建议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9308592" y="2359152"/>
            <a:ext cx="27432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38360" y="18745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33304" y="2029968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02952" y="2340864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指定决策人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75520" y="2633472"/>
            <a:ext cx="14630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产品、技术、数据或运营负责人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60120" y="4206240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4440" y="4443984"/>
            <a:ext cx="9738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例：研发说“优惠接口不稳定”，测试说“价格失败状态缺失”，数据说“到手价口径不清”——根问题都是：优惠价格展示规则尚未定义清楚。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产品经理处理意见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采纳、拒绝、待确认，都是产品决策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49808" y="1243584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27632"/>
            <a:ext cx="28346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27889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问题成立，需要修改PRD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例：补充商品下架状态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1243584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627632"/>
            <a:ext cx="28346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2331720"/>
            <a:ext cx="27889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不符合一期目标或AI判断错误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例：增加结果分享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1243584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627632"/>
            <a:ext cx="28346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待确认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66760" y="2331720"/>
            <a:ext cx="27889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需要业务或技术进一步回答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例：到手价接口能力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5285232"/>
            <a:ext cx="101498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5449824"/>
            <a:ext cx="96926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不采纳AI建议，也要记录理由，避免后续反复讨论。</a:t>
            </a:r>
            <a:endParaRPr lang="en-US" sz="14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闭环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只修改已采纳问题，并检查是否真的解决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第五部分 · 多角色PRD评审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58368" y="15087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55648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评审汇总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084832"/>
            <a:ext cx="15087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P0/P1/P2问题清单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514600" y="1947672"/>
            <a:ext cx="32004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62656" y="15087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755648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PM标记结论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99816" y="2084832"/>
            <a:ext cx="15087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采纳 / 拒绝 / 待确认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818888" y="1947672"/>
            <a:ext cx="32004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66944" y="15087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1755648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只改采纳项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04104" y="2084832"/>
            <a:ext cx="15087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不重写全文，不改无关章节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123176" y="1947672"/>
            <a:ext cx="32004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71232" y="15087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35824" y="1755648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同步变更记录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08392" y="2084832"/>
            <a:ext cx="15087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说明改了什么和为什么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427464" y="1947672"/>
            <a:ext cx="32004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75520" y="15087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40112" y="1755648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闭环检查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12680" y="2084832"/>
            <a:ext cx="15087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已解决、部分解决、未解决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14400" y="5687568"/>
            <a:ext cx="10332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评审不是为了让AI替代团队，而是让真实评审前的低级问题尽量提前暴露。</a:t>
            </a:r>
            <a:endParaRPr lang="en-US" sz="15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pic>
        <p:nvPicPr>
          <p:cNvPr id="3" name="Image 0" descr="/mnt/data/a_high_detail_cinematic_tech_workspace_scene_in_c.png"/>
          <p:cNvPicPr>
            <a:picLocks noChangeAspect="1"/>
          </p:cNvPicPr>
          <p:nvPr/>
        </p:nvPicPr>
        <p:blipFill>
          <a:blip r:embed="rId3"/>
          <a:srcRect l="6000" r="57369" b="28000"/>
          <a:stretch/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94360"/>
            <a:ext cx="2926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51663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PRD定稿、版本维护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与课堂实战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980944"/>
            <a:ext cx="51663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D7E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从“AI生成的PRD”到“可以持续维护的正式需求文档”</a:t>
            </a:r>
            <a:endParaRPr lang="en-US" sz="1420" dirty="0"/>
          </a:p>
        </p:txBody>
      </p:sp>
      <p:sp>
        <p:nvSpPr>
          <p:cNvPr id="7" name="Shape 4"/>
          <p:cNvSpPr/>
          <p:nvPr/>
        </p:nvSpPr>
        <p:spPr>
          <a:xfrm>
            <a:off x="548640" y="3502152"/>
            <a:ext cx="3840480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定稿前检查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一份PRD定稿前，至少过六道关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29844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463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53162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问题、证据、目标一致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9844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463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53162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做什么、不做什么清楚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66760" y="129844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4630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FEDD5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153162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7260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SKU、数量、类目、参数、价格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271576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88036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4894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292608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入口、对比、删除、SKU切换、后续动作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71576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88036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94894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92608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超限、重复、下架、失败、缺失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66760" y="271576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288036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FEDD5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22792" y="294894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72600" y="292608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每条核心规则都可验证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0120" y="5230368"/>
            <a:ext cx="10287000" cy="530352"/>
          </a:xfrm>
          <a:prstGeom prst="roundRect">
            <a:avLst>
              <a:gd name="adj" fmla="val 1379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7008" y="5413248"/>
            <a:ext cx="9784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商品对比工具最容易出问题的地方：SKU口径、最多4个、同类目、缺失参数、优惠价格、商品失效。</a:t>
            </a:r>
            <a:endParaRPr lang="en-US" sz="13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Codex终稿检查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让AI检查，但不要直接修改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49808" y="1115568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26464"/>
            <a:ext cx="4434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终稿检查提示词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438912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请对当前商品对比工具PRD进行终稿检查。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暂时不要修改文件。</a:t>
            </a:r>
            <a:endParaRPr lang="en-US" sz="1020" dirty="0"/>
          </a:p>
          <a:p>
            <a:pPr marL="0" indent="0" algn="l">
              <a:buNone/>
            </a:pP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请检查：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是否违反产品决策记录；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是否包含未经确认的新功能；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是否将假设写成事实；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范围与非范围是否冲突；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规则、流程、异常是否一致；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是否存在无法验收的模糊描述。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737360"/>
            <a:ext cx="4343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输出分级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03720" y="2359152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2427732"/>
            <a:ext cx="996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阻塞定稿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83880" y="2404872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必须先处理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01752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FFEDD5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3086100"/>
            <a:ext cx="996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建议修改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83880" y="3063240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建议修，但不一定阻塞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675888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3744468"/>
            <a:ext cx="996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表达优化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83880" y="3721608"/>
            <a:ext cx="2560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让文档更简洁清楚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防止文档膨胀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AI文档不是越长越专业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4983480" cy="3977640"/>
          </a:xfrm>
          <a:prstGeom prst="roundRect">
            <a:avLst>
              <a:gd name="adj" fmla="val 183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72768"/>
            <a:ext cx="4434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可以删除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0160" y="2139696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泛泛行业趋势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无来源市场判断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798064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重复产品价值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127248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过度用户画像故事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456432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“提升体验”式空话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785616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与当前版本无关的未来想象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1234440"/>
            <a:ext cx="4983480" cy="3977640"/>
          </a:xfrm>
          <a:prstGeom prst="roundRect">
            <a:avLst>
              <a:gd name="adj" fmla="val 183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572768"/>
            <a:ext cx="4434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C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必须保留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49440" y="2139696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产品目标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468880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范围与非范围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798064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核心流程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127248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功能和数据规则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3456432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异常与边界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3785616"/>
            <a:ext cx="4023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验收标准和待确认项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5486400"/>
            <a:ext cx="10287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5650992"/>
            <a:ext cx="9738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判断标准：删除这段内容后，会不会影响产品决策、开发理解或需求验收？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需求变更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变更来了，不要让AI重写全文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822960" y="1298448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45920"/>
            <a:ext cx="4389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错误方式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322576"/>
            <a:ext cx="4114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“请根据新要求重新生成一份PRD。”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4752" y="2926080"/>
            <a:ext cx="3749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可能改动无关章节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44752" y="3236976"/>
            <a:ext cx="3749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可能带回已拒绝功能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44752" y="3547872"/>
            <a:ext cx="3749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可能篡改产品决策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4752" y="3858768"/>
            <a:ext cx="3749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很难知道改了哪里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1298448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645920"/>
            <a:ext cx="4389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正确方式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2322576"/>
            <a:ext cx="3977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先做影响分析，再局部修改受影响章节。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926080"/>
            <a:ext cx="3749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影响哪些章节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236976"/>
            <a:ext cx="3749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影响哪些规则和异常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547872"/>
            <a:ext cx="3749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是否需要重新评审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3858768"/>
            <a:ext cx="3749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更新变更记录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7280" y="5285232"/>
            <a:ext cx="10012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5440680"/>
            <a:ext cx="9464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案例：业务提出“最多4个商品能不能改成5个？”——先分析影响，不要直接改。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变更影响分析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让AI先列影响面，而不是直接改文档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149047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590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PRD章节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50876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范围、对比栏、异常、验收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149047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590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业务规则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50876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数量上限、删除替换、边界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66760" y="132588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7928" y="149047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FEDD5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5590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移动端体验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0" y="150876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横向空间、滚动、固定列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260604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" y="277063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83921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性能接口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278892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请求数量、加载耗时、降级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60604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77063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83921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评审风险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278892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是否需要设计/研发重新确认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66760" y="260604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67928" y="277063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FEDD5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283921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决策冲突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0" y="278892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是否违反此前产品决策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版本维护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只改受影响章节，并记录重要变化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85800" y="1225296"/>
            <a:ext cx="10835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81328"/>
            <a:ext cx="7315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481328"/>
            <a:ext cx="20116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修改内容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1481328"/>
            <a:ext cx="20116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修改原因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0" y="1481328"/>
            <a:ext cx="20116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决策来源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1810512"/>
            <a:ext cx="73152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V0.1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810512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创建PRD初稿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810512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首次生成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0" y="1810512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产品决策记录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093976"/>
            <a:ext cx="73152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V0.2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093976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补充价格失败状态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093976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研发评审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0" y="2093976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R&amp;D-04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2377440"/>
            <a:ext cx="73152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V0.3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2377440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明确缺失参数不参与差异判断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377440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测试评审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78240" y="2377440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QA-07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2660904"/>
            <a:ext cx="73152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2660904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完成评审并定稿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660904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评审通过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0" y="2660904"/>
            <a:ext cx="201168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评审结论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0120" y="388620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4178808"/>
            <a:ext cx="3977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记录什么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34440" y="4553712"/>
            <a:ext cx="3977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范围变化、核心规则变化、重要异常、关键决策变化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6537960" y="388620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178808"/>
            <a:ext cx="3977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不必记录什么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812280" y="4553712"/>
            <a:ext cx="3977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每一次措辞调整、标点、排版和不影响理解的小修改</a:t>
            </a:r>
            <a:endParaRPr lang="en-US" sz="11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文档状态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让团队和AI都知道哪份是当前版本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47088"/>
            <a:ext cx="107899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草稿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139696" y="1938528"/>
            <a:ext cx="28346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32888" y="157276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847088"/>
            <a:ext cx="107899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待评审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14216" y="1938528"/>
            <a:ext cx="28346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07408" y="157276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847088"/>
            <a:ext cx="107899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评审中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88736" y="1938528"/>
            <a:ext cx="28346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81928" y="157276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847088"/>
            <a:ext cx="107899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待确认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63256" y="1938528"/>
            <a:ext cx="28346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56448" y="157276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847088"/>
            <a:ext cx="107899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C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已定稿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37776" y="1938528"/>
            <a:ext cx="28346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30968" y="157276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1847088"/>
            <a:ext cx="107899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已废弃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97280" y="3429000"/>
            <a:ext cx="9966960" cy="1325880"/>
          </a:xfrm>
          <a:prstGeom prst="roundRect">
            <a:avLst>
              <a:gd name="adj" fmla="val 551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3749040"/>
            <a:ext cx="2011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文档头部建议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0" y="3675888"/>
            <a:ext cx="6995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文档状态：已定稿    当前版本：V1.0    负责人：产品经理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最后更新时间：2026-XX-XX    仍待确认事项：无 / 具体事项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960120" y="5349240"/>
            <a:ext cx="10287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522976"/>
            <a:ext cx="9738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文档状态是防止误用旧版本、草稿版本和AI临时输出的最低成本机制。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/ 课堂实战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用商品对比工具跑一个完整闭环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45889" y="2345435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0481" y="2555747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76241" y="2528315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读取原始需求素材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58737" y="2345435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3329" y="2555747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89089" y="2528315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生成需求上下文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71585" y="2345435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6177" y="2555747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01937" y="2528315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区分事实、假设、意见、决策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84433" y="2345435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9025" y="2555747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14785" y="2528315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生成澄清问题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97281" y="2345435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1873" y="2555747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27633" y="2528315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完成关键产品决策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889" y="3424427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481" y="3634739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76241" y="3607307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生成PRD骨架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58737" y="3424427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3329" y="3634739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89089" y="3607307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完成一个核心功能模块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71585" y="3424427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6177" y="3634739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01937" y="3607307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进行一次多角色评审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84433" y="3424427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9025" y="3634739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14785" y="3607307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根据采纳意见修改PRD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597281" y="3424427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61873" y="3634739"/>
            <a:ext cx="301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127633" y="3607307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完成终稿检查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作业与衔接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自己的真实项目PRD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5624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PRD · 第六部分 · PRD定稿、版本维护与课堂实战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572768"/>
            <a:ext cx="4617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课后提交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98448" y="2176272"/>
            <a:ext cx="42519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需求上下文.md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505456"/>
            <a:ext cx="42519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需求澄清问题.md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2834640"/>
            <a:ext cx="42519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产品决策记录.md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3163824"/>
            <a:ext cx="42519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00" dirty="0" err="1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PRD.md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493008"/>
            <a:ext cx="42519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PRD变更记录.md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3822192"/>
            <a:ext cx="42519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至少两个角色评审.md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1207008"/>
            <a:ext cx="49834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572768"/>
            <a:ext cx="4434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评分重点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2103120"/>
            <a:ext cx="39776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上下文准确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404872"/>
            <a:ext cx="39776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事实/假设/决策清楚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706624"/>
            <a:ext cx="39776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产品决策有依据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008376"/>
            <a:ext cx="39776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范围和规则明确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3310128"/>
            <a:ext cx="39776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异常与验收完整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3611880"/>
            <a:ext cx="39776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AI评审和修改合理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913632"/>
            <a:ext cx="39776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文档简洁可用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2500" y="5888736"/>
            <a:ext cx="102870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6820" y="6044184"/>
            <a:ext cx="9738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0F2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下一节：直接读取最终PRD，进入“AI生成商品对比工具原型”。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4019</Words>
  <Application>Microsoft Macintosh PowerPoint</Application>
  <PresentationFormat>宽屏</PresentationFormat>
  <Paragraphs>1081</Paragraphs>
  <Slides>59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3" baseType="lpstr">
      <vt:lpstr>Noto Sans CJK SC</vt:lpstr>
      <vt:lpstr>Aptos Mono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第一部分：为什么不能让AI直接写PRD</dc:title>
  <dc:subject>传统产品经理转型AI产品经理：AI赋能PRD环节</dc:subject>
  <dc:creator>OpenAI</dc:creator>
  <cp:lastModifiedBy>didi</cp:lastModifiedBy>
  <cp:revision>3</cp:revision>
  <dcterms:created xsi:type="dcterms:W3CDTF">2026-08-08T12:37:19Z</dcterms:created>
  <dcterms:modified xsi:type="dcterms:W3CDTF">2026-08-09T08:30:49Z</dcterms:modified>
</cp:coreProperties>
</file>