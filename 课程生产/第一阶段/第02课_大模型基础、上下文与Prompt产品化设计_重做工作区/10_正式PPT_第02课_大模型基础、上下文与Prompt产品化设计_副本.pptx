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</p:sldIdLst>
  <p:notesMasterIdLst>
    <p:notesMasterId r:id="rId5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notesMaster" Target="notesMasters/notesMaster1.xml"/><Relationship Id="rId55" Type="http://schemas.openxmlformats.org/officeDocument/2006/relationships/presProps" Target="presProps.xml"/><Relationship Id="rId56" Type="http://schemas.openxmlformats.org/officeDocument/2006/relationships/viewProps" Target="viewProps.xml"/><Relationship Id="rId57" Type="http://schemas.openxmlformats.org/officeDocument/2006/relationships/theme" Target="theme/theme1.xml"/><Relationship Id="rId5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第1页｜课程任务
逐页内容：课程生产/第一阶段/第02课_大模型基础、上下文与Prompt产品化设计_重做工作区/09_PPT结构与逐页内容
老师讲解：课程生产/第一阶段/第02课_大模型基础、上下文与Prompt产品化设计_重做工作区/05_老师版讲义
开场只说课程定位，不展开技术名词。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第2页｜课程任务
逐页内容：课程生产/第一阶段/第02课_大模型基础、上下文与Prompt产品化设计_重做工作区/09_PPT结构与逐页内容
老师讲解：课程生产/第一阶段/第02课_大模型基础、上下文与Prompt产品化设计_重做工作区/05_老师版讲义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第3页｜课程任务
逐页内容：课程生产/第一阶段/第02课_大模型基础、上下文与Prompt产品化设计_重做工作区/09_PPT结构与逐页内容
老师讲解：课程生产/第一阶段/第02课_大模型基础、上下文与Prompt产品化设计_重做工作区/05_老师版讲义
基准版只完成V0.2关键骨架。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第4页｜01 会聊天不等于会做产品
逐页内容：课程生产/第一阶段/第02课_大模型基础、上下文与Prompt产品化设计_重做工作区/09_PPT结构与逐页内容
老师讲解：课程生产/第一阶段/第02课_大模型基础、上下文与Prompt产品化设计_重做工作区/05_老师版讲义
分步揭示第1页：先收集学员判断，不展示模型结果。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第4页｜01 会聊天不等于会做产品
逐页内容：课程生产/第一阶段/第02课_大模型基础、上下文与Prompt产品化设计_重做工作区/09_PPT结构与逐页内容
老师讲解：课程生产/第一阶段/第02课_大模型基础、上下文与Prompt产品化设计_重做工作区/05_老师版讲义
必须替换为同一模型、同一输入的真实双次输出；不允许伪造。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第5页｜01 会聊天不等于会做产品
逐页内容：课程生产/第一阶段/第02课_大模型基础、上下文与Prompt产品化设计_重做工作区/09_PPT结构与逐页内容
老师讲解：课程生产/第一阶段/第02课_大模型基础、上下文与Prompt产品化设计_重做工作区/05_老师版讲义
分步揭示第1页：只展示模糊任务，至少收集3项学员答案。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第5页｜01 会聊天不等于会做产品
逐页内容：课程生产/第一阶段/第02课_大模型基础、上下文与Prompt产品化设计_重做工作区/09_PPT结构与逐页内容
老师讲解：课程生产/第一阶段/第02课_大模型基础、上下文与Prompt产品化设计_重做工作区/05_老师版讲义
互动：先收答案，后揭示五个问题。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第6页｜01 会聊天不等于会做产品
逐页内容：课程生产/第一阶段/第02课_大模型基础、上下文与Prompt产品化设计_重做工作区/09_PPT结构与逐页内容
老师讲解：课程生产/第一阶段/第02课_大模型基础、上下文与Prompt产品化设计_重做工作区/05_老师版讲义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第7页｜02 大模型怎样生成答案
逐页内容：课程生产/第一阶段/第02课_大模型基础、上下文与Prompt产品化设计_重做工作区/09_PPT结构与逐页内容
老师讲解：课程生产/第一阶段/第02课_大模型基础、上下文与Prompt产品化设计_重做工作区/05_老师版讲义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第8页｜02 大模型怎样生成答案
逐页内容：课程生产/第一阶段/第02课_大模型基础、上下文与Prompt产品化设计_重做工作区/09_PPT结构与逐页内容
老师讲解：课程生产/第一阶段/第02课_大模型基础、上下文与Prompt产品化设计_重做工作区/05_老师版讲义
分步揭示第1页：让学员先预测生成过程，再展示完整流程。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第8页｜02 大模型怎样生成答案
逐页内容：课程生产/第一阶段/第02课_大模型基础、上下文与Prompt产品化设计_重做工作区/09_PPT结构与逐页内容
老师讲解：课程生产/第一阶段/第02课_大模型基础、上下文与Prompt产品化设计_重做工作区/05_老师版讲义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第9页｜02 大模型怎样生成答案
逐页内容：课程生产/第一阶段/第02课_大模型基础、上下文与Prompt产品化设计_重做工作区/09_PPT结构与逐页内容
老师讲解：课程生产/第一阶段/第02课_大模型基础、上下文与Prompt产品化设计_重做工作区/05_老师版讲义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第10页｜02 大模型怎样生成答案
逐页内容：课程生产/第一阶段/第02课_大模型基础、上下文与Prompt产品化设计_重做工作区/09_PPT结构与逐页内容
老师讲解：课程生产/第一阶段/第02课_大模型基础、上下文与Prompt产品化设计_重做工作区/05_老师版讲义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第11页｜02 大模型怎样生成答案
逐页内容：课程生产/第一阶段/第02课_大模型基础、上下文与Prompt产品化设计_重做工作区/09_PPT结构与逐页内容
老师讲解：课程生产/第一阶段/第02课_大模型基础、上下文与Prompt产品化设计_重做工作区/05_老师版讲义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第12页｜02 大模型怎样生成答案
逐页内容：课程生产/第一阶段/第02课_大模型基础、上下文与Prompt产品化设计_重做工作区/09_PPT结构与逐页内容
老师讲解：课程生产/第一阶段/第02课_大模型基础、上下文与Prompt产品化设计_重做工作区/05_老师版讲义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第13页｜02 大模型怎样生成答案
逐页内容：课程生产/第一阶段/第02课_大模型基础、上下文与Prompt产品化设计_重做工作区/09_PPT结构与逐页内容
老师讲解：课程生产/第一阶段/第02课_大模型基础、上下文与Prompt产品化设计_重做工作区/05_老师版讲义
本课只建立测试意识，完整评测留到后续课程。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第14页｜03 Token与上下文窗口
逐页内容：课程生产/第一阶段/第02课_大模型基础、上下文与Prompt产品化设计_重做工作区/09_PPT结构与逐页内容
老师讲解：课程生产/第一阶段/第02课_大模型基础、上下文与Prompt产品化设计_重做工作区/05_老师版讲义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第15页｜03 Token与上下文窗口
逐页内容：课程生产/第一阶段/第02课_大模型基础、上下文与Prompt产品化设计_重做工作区/09_PPT结构与逐页内容
老师讲解：课程生产/第一阶段/第02课_大模型基础、上下文与Prompt产品化设计_重做工作区/05_老师版讲义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第16页｜03 Token与上下文窗口
逐页内容：课程生产/第一阶段/第02课_大模型基础、上下文与Prompt产品化设计_重做工作区/09_PPT结构与逐页内容
老师讲解：课程生产/第一阶段/第02课_大模型基础、上下文与Prompt产品化设计_重做工作区/05_老师版讲义
具体窗口上限依模型和接口而异。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第17页｜03 Token与上下文窗口
逐页内容：课程生产/第一阶段/第02课_大模型基础、上下文与Prompt产品化设计_重做工作区/09_PPT结构与逐页内容
老师讲解：课程生产/第一阶段/第02课_大模型基础、上下文与Prompt产品化设计_重做工作区/05_老师版讲义
截断与报错行为依产品实现而异。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第18页｜03 Token与上下文窗口
逐页内容：课程生产/第一阶段/第02课_大模型基础、上下文与Prompt产品化设计_重做工作区/09_PPT结构与逐页内容
老师讲解：课程生产/第一阶段/第02课_大模型基础、上下文与Prompt产品化设计_重做工作区/05_老师版讲义
先练习，不在屏幕显示老师答案。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第19页｜04 从目标输出反推上下文
逐页内容：课程生产/第一阶段/第02课_大模型基础、上下文与Prompt产品化设计_重做工作区/09_PPT结构与逐页内容
老师讲解：课程生产/第一阶段/第02课_大模型基础、上下文与Prompt产品化设计_重做工作区/05_老师版讲义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第20页｜04 从目标输出反推上下文
逐页内容：课程生产/第一阶段/第02课_大模型基础、上下文与Prompt产品化设计_重做工作区/09_PPT结构与逐页内容
老师讲解：课程生产/第一阶段/第02课_大模型基础、上下文与Prompt产品化设计_重做工作区/05_老师版讲义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第21页｜04 从目标输出反推上下文
逐页内容：课程生产/第一阶段/第02课_大模型基础、上下文与Prompt产品化设计_重做工作区/09_PPT结构与逐页内容
老师讲解：课程生产/第一阶段/第02课_大模型基础、上下文与Prompt产品化设计_重做工作区/05_老师版讲义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第22页｜04 从目标输出反推上下文
逐页内容：课程生产/第一阶段/第02课_大模型基础、上下文与Prompt产品化设计_重做工作区/09_PPT结构与逐页内容
老师讲解：课程生产/第一阶段/第02课_大模型基础、上下文与Prompt产品化设计_重做工作区/05_老师版讲义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第23页｜04 从目标输出反推上下文
逐页内容：课程生产/第一阶段/第02课_大模型基础、上下文与Prompt产品化设计_重做工作区/09_PPT结构与逐页内容
老师讲解：课程生产/第一阶段/第02课_大模型基础、上下文与Prompt产品化设计_重做工作区/05_老师版讲义
基准版不要求写完整Prompt。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第24页｜05 结构化Prompt六要素
逐页内容：课程生产/第一阶段/第02课_大模型基础、上下文与Prompt产品化设计_重做工作区/09_PPT结构与逐页内容
老师讲解：课程生产/第一阶段/第02课_大模型基础、上下文与Prompt产品化设计_重做工作区/05_老师版讲义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第25页｜05 结构化Prompt六要素
逐页内容：课程生产/第一阶段/第02课_大模型基础、上下文与Prompt产品化设计_重做工作区/09_PPT结构与逐页内容
老师讲解：课程生产/第一阶段/第02课_大模型基础、上下文与Prompt产品化设计_重做工作区/05_老师版讲义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第26页｜05 结构化Prompt六要素
逐页内容：课程生产/第一阶段/第02课_大模型基础、上下文与Prompt产品化设计_重做工作区/09_PPT结构与逐页内容
老师讲解：课程生产/第一阶段/第02课_大模型基础、上下文与Prompt产品化设计_重做工作区/05_老师版讲义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第27页｜05 结构化Prompt六要素
逐页内容：课程生产/第一阶段/第02课_大模型基础、上下文与Prompt产品化设计_重做工作区/09_PPT结构与逐页内容
老师讲解：课程生产/第一阶段/第02课_大模型基础、上下文与Prompt产品化设计_重做工作区/05_老师版讲义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第28页｜05 结构化Prompt六要素
逐页内容：课程生产/第一阶段/第02课_大模型基础、上下文与Prompt产品化设计_重做工作区/09_PPT结构与逐页内容
老师讲解：课程生产/第一阶段/第02课_大模型基础、上下文与Prompt产品化设计_重做工作区/05_老师版讲义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第29页｜05 结构化Prompt六要素
逐页内容：课程生产/第一阶段/第02课_大模型基础、上下文与Prompt产品化设计_重做工作区/09_PPT结构与逐页内容
老师讲解：课程生产/第一阶段/第02课_大模型基础、上下文与Prompt产品化设计_重做工作区/05_老师版讲义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第30页｜短休息
逐页内容：课程生产/第一阶段/第02课_大模型基础、上下文与Prompt产品化设计_重做工作区/09_PPT结构与逐页内容
老师讲解：课程生产/第一阶段/第02课_大模型基础、上下文与Prompt产品化设计_重做工作区/05_老师版讲义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第31页｜06 从Prompt到产品
逐页内容：课程生产/第一阶段/第02课_大模型基础、上下文与Prompt产品化设计_重做工作区/09_PPT结构与逐页内容
老师讲解：课程生产/第一阶段/第02课_大模型基础、上下文与Prompt产品化设计_重做工作区/05_老师版讲义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第32页｜06 从Prompt到产品
逐页内容：课程生产/第一阶段/第02课_大模型基础、上下文与Prompt产品化设计_重做工作区/09_PPT结构与逐页内容
老师讲解：课程生产/第一阶段/第02课_大模型基础、上下文与Prompt产品化设计_重做工作区/05_老师版讲义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第33页｜06 从Prompt到产品
逐页内容：课程生产/第一阶段/第02课_大模型基础、上下文与Prompt产品化设计_重做工作区/09_PPT结构与逐页内容
老师讲解：课程生产/第一阶段/第02课_大模型基础、上下文与Prompt产品化设计_重做工作区/05_老师版讲义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第34页｜06 从Prompt到产品
逐页内容：课程生产/第一阶段/第02课_大模型基础、上下文与Prompt产品化设计_重做工作区/09_PPT结构与逐页内容
老师讲解：课程生产/第一阶段/第02课_大模型基础、上下文与Prompt产品化设计_重做工作区/05_老师版讲义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第35页｜06 从Prompt到产品
逐页内容：课程生产/第一阶段/第02课_大模型基础、上下文与Prompt产品化设计_重做工作区/09_PPT结构与逐页内容
老师讲解：课程生产/第一阶段/第02课_大模型基础、上下文与Prompt产品化设计_重做工作区/05_老师版讲义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第36页｜07 销售拜访记录助手案例
逐页内容：课程生产/第一阶段/第02课_大模型基础、上下文与Prompt产品化设计_重做工作区/09_PPT结构与逐页内容
老师讲解：课程生产/第一阶段/第02课_大模型基础、上下文与Prompt产品化设计_重做工作区/05_老师版讲义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第37页｜07 销售拜访记录助手案例
逐页内容：课程生产/第一阶段/第02课_大模型基础、上下文与Prompt产品化设计_重做工作区/09_PPT结构与逐页内容
老师讲解：课程生产/第一阶段/第02课_大模型基础、上下文与Prompt产品化设计_重做工作区/05_老师版讲义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第38页｜07 销售拜访记录助手案例
逐页内容：课程生产/第一阶段/第02课_大模型基础、上下文与Prompt产品化设计_重做工作区/09_PPT结构与逐页内容
老师讲解：课程生产/第一阶段/第02课_大模型基础、上下文与Prompt产品化设计_重做工作区/05_老师版讲义
不在本页摘录关键原文，避免提前泄题。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第39页｜07 销售拜访记录助手案例
逐页内容：课程生产/第一阶段/第02课_大模型基础、上下文与Prompt产品化设计_重做工作区/09_PPT结构与逐页内容
老师讲解：课程生产/第一阶段/第02课_大模型基础、上下文与Prompt产品化设计_重做工作区/05_老师版讲义
禁止制作伪模型聊天截图。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第40页｜07 销售拜访记录助手案例
逐页内容：课程生产/第一阶段/第02课_大模型基础、上下文与Prompt产品化设计_重做工作区/09_PPT结构与逐页内容
老师讲解：课程生产/第一阶段/第02课_大模型基础、上下文与Prompt产品化设计_重做工作区/05_老师版讲义
示例不对应本案例核心答案。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第41页｜07 销售拜访记录助手案例
逐页内容：课程生产/第一阶段/第02课_大模型基础、上下文与Prompt产品化设计_重做工作区/09_PPT结构与逐页内容
老师讲解：课程生产/第一阶段/第02课_大模型基础、上下文与Prompt产品化设计_重做工作区/05_老师版讲义
课堂重点讲4—5条，其余作为完整答案保留。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第42页｜07 销售拜访记录助手案例
逐页内容：课程生产/第一阶段/第02课_大模型基础、上下文与Prompt产品化设计_重做工作区/09_PPT结构与逐页内容
老师讲解：课程生产/第一阶段/第02课_大模型基础、上下文与Prompt产品化设计_重做工作区/05_老师版讲义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第43页｜07 销售拜访记录助手案例
逐页内容：课程生产/第一阶段/第02课_大模型基础、上下文与Prompt产品化设计_重做工作区/09_PPT结构与逐页内容
老师讲解：课程生产/第一阶段/第02课_大模型基础、上下文与Prompt产品化设计_重做工作区/05_老师版讲义
必须使用真实原始输出；裁剪时标注“节选”；不允许润色后冒充。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第44页｜07 销售拜访记录助手案例
逐页内容：课程生产/第一阶段/第02课_大模型基础、上下文与Prompt产品化设计_重做工作区/09_PPT结构与逐页内容
老师讲解：课程生产/第一阶段/第02课_大模型基础、上下文与Prompt产品化设计_重做工作区/05_老师版讲义
补入第43页真实结果后，更新本轮通过项、剩余问题和新问题。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第45页｜08 Bad Case与Prompt边界
逐页内容：课程生产/第一阶段/第02课_大模型基础、上下文与Prompt产品化设计_重做工作区/09_PPT结构与逐页内容
老师讲解：课程生产/第一阶段/第02课_大模型基础、上下文与Prompt产品化设计_重做工作区/05_老师版讲义
这是Prompt相关第一层初筛，不是完整根因体系。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第46页｜08 Bad Case与Prompt边界
逐页内容：课程生产/第一阶段/第02课_大模型基础、上下文与Prompt产品化设计_重做工作区/09_PPT结构与逐页内容
老师讲解：课程生产/第一阶段/第02课_大模型基础、上下文与Prompt产品化设计_重做工作区/05_老师版讲义
不展开RAG、Workflow、Agent、Function Calling或MCP定义。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第47页｜09 总结与课后作业
逐页内容：课程生产/第一阶段/第02课_大模型基础、上下文与Prompt产品化设计_重做工作区/09_PPT结构与逐页内容
老师讲解：课程生产/第一阶段/第02课_大模型基础、上下文与Prompt产品化设计_重做工作区/05_老师版讲义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第48页｜09 总结与课后作业
逐页内容：课程生产/第一阶段/第02课_大模型基础、上下文与Prompt产品化设计_重做工作区/09_PPT结构与逐页内容
老师讲解：课程生产/第一阶段/第02课_大模型基础、上下文与Prompt产品化设计_重做工作区/05_老师版讲义
详细字段见课后作业模板；不要逐条朗读。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第49页｜09 总结与课后作业
逐页内容：课程生产/第一阶段/第02课_大模型基础、上下文与Prompt产品化设计_重做工作区/09_PPT结构与逐页内容
老师讲解：课程生产/第一阶段/第02课_大模型基础、上下文与Prompt产品化设计_重做工作区/05_老师版讲义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" y="658368"/>
            <a:ext cx="1005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804672" y="1463040"/>
            <a:ext cx="7863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大模型基础、上下文与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Prompt产品化设计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41248" y="3227832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从一次好回答，到可重复交付的AI产品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41248" y="3822192"/>
            <a:ext cx="2743200" cy="0"/>
          </a:xfrm>
          <a:prstGeom prst="line">
            <a:avLst/>
          </a:prstGeom>
          <a:noFill/>
          <a:ln w="38100">
            <a:solidFill>
              <a:srgbClr val="C3533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0" y="1188720"/>
            <a:ext cx="1234440" cy="347472"/>
          </a:xfrm>
          <a:prstGeom prst="roundRect">
            <a:avLst>
              <a:gd name="adj" fmla="val 21053"/>
            </a:avLst>
          </a:prstGeom>
          <a:solidFill>
            <a:srgbClr val="F2E2DB"/>
          </a:solidFill>
          <a:ln w="12700">
            <a:solidFill>
              <a:srgbClr val="F2E2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71232" y="1271016"/>
            <a:ext cx="10881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输入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909560" y="1664208"/>
            <a:ext cx="320040" cy="420624"/>
          </a:xfrm>
          <a:prstGeom prst="chevron">
            <a:avLst/>
          </a:prstGeom>
          <a:solidFill>
            <a:srgbClr val="D8D0C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394192" y="1755648"/>
            <a:ext cx="1234440" cy="347472"/>
          </a:xfrm>
          <a:prstGeom prst="roundRect">
            <a:avLst>
              <a:gd name="adj" fmla="val 21053"/>
            </a:avLst>
          </a:prstGeom>
          <a:solidFill>
            <a:srgbClr val="DDEBE8"/>
          </a:solidFill>
          <a:ln w="12700">
            <a:solidFill>
              <a:srgbClr val="DDEB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67344" y="1837944"/>
            <a:ext cx="10881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87B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上下文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805672" y="2231136"/>
            <a:ext cx="320040" cy="420624"/>
          </a:xfrm>
          <a:prstGeom prst="chevron">
            <a:avLst/>
          </a:prstGeom>
          <a:solidFill>
            <a:srgbClr val="D8D0C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290304" y="2322576"/>
            <a:ext cx="1234440" cy="347472"/>
          </a:xfrm>
          <a:prstGeom prst="roundRect">
            <a:avLst>
              <a:gd name="adj" fmla="val 21053"/>
            </a:avLst>
          </a:prstGeom>
          <a:solidFill>
            <a:srgbClr val="E8E0E7"/>
          </a:solidFill>
          <a:ln w="12700">
            <a:solidFill>
              <a:srgbClr val="E8E0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63456" y="2404872"/>
            <a:ext cx="10881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4546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生成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9701784" y="2798064"/>
            <a:ext cx="320040" cy="420624"/>
          </a:xfrm>
          <a:prstGeom prst="chevron">
            <a:avLst/>
          </a:prstGeom>
          <a:solidFill>
            <a:srgbClr val="D8D0C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186416" y="2889504"/>
            <a:ext cx="1234440" cy="347472"/>
          </a:xfrm>
          <a:prstGeom prst="roundRect">
            <a:avLst>
              <a:gd name="adj" fmla="val 21053"/>
            </a:avLst>
          </a:prstGeom>
          <a:solidFill>
            <a:srgbClr val="F2E7D5"/>
          </a:solidFill>
          <a:ln w="12700">
            <a:solidFill>
              <a:srgbClr val="F2E7D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259568" y="2971800"/>
            <a:ext cx="10881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18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833104" y="5879592"/>
            <a:ext cx="2331720" cy="310896"/>
          </a:xfrm>
          <a:prstGeom prst="roundRect">
            <a:avLst>
              <a:gd name="adj" fmla="val 29412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97112" y="5948172"/>
            <a:ext cx="22037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第一阶段 · 第02课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10896"/>
          </a:xfrm>
          <a:prstGeom prst="roundRect">
            <a:avLst>
              <a:gd name="adj" fmla="val 29412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30936" y="342900"/>
            <a:ext cx="4389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spc="105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课程任务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今天回答四个问题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766560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课程任务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66928" y="1737360"/>
            <a:ext cx="2592324" cy="1554480"/>
          </a:xfrm>
          <a:prstGeom prst="roundRect">
            <a:avLst>
              <a:gd name="adj" fmla="val 2941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911096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04088" y="2304288"/>
            <a:ext cx="23180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怎样生成？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722376" y="2770632"/>
            <a:ext cx="22814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逐步生成</a:t>
            </a:r>
            <a:endParaRPr lang="en-US" sz="970" dirty="0"/>
          </a:p>
        </p:txBody>
      </p:sp>
      <p:sp>
        <p:nvSpPr>
          <p:cNvPr id="14" name="Shape 12"/>
          <p:cNvSpPr/>
          <p:nvPr/>
        </p:nvSpPr>
        <p:spPr>
          <a:xfrm>
            <a:off x="3360420" y="1737360"/>
            <a:ext cx="2592324" cy="1554480"/>
          </a:xfrm>
          <a:prstGeom prst="roundRect">
            <a:avLst>
              <a:gd name="adj" fmla="val 2941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25012" y="1911096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87B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97580" y="2304288"/>
            <a:ext cx="23180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能看到什么？</a:t>
            </a:r>
            <a:endParaRPr lang="en-US" sz="1320" dirty="0"/>
          </a:p>
        </p:txBody>
      </p:sp>
      <p:sp>
        <p:nvSpPr>
          <p:cNvPr id="17" name="Text 15"/>
          <p:cNvSpPr/>
          <p:nvPr/>
        </p:nvSpPr>
        <p:spPr>
          <a:xfrm>
            <a:off x="3515868" y="2770632"/>
            <a:ext cx="22814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上下文窗口</a:t>
            </a:r>
            <a:endParaRPr lang="en-US" sz="970" dirty="0"/>
          </a:p>
        </p:txBody>
      </p:sp>
      <p:sp>
        <p:nvSpPr>
          <p:cNvPr id="18" name="Shape 16"/>
          <p:cNvSpPr/>
          <p:nvPr/>
        </p:nvSpPr>
        <p:spPr>
          <a:xfrm>
            <a:off x="6153912" y="1737360"/>
            <a:ext cx="2592324" cy="1554480"/>
          </a:xfrm>
          <a:prstGeom prst="roundRect">
            <a:avLst>
              <a:gd name="adj" fmla="val 2941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18504" y="1911096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4546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291072" y="2304288"/>
            <a:ext cx="23180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Prompt怎样写？</a:t>
            </a:r>
            <a:endParaRPr lang="en-US" sz="1320" dirty="0"/>
          </a:p>
        </p:txBody>
      </p:sp>
      <p:sp>
        <p:nvSpPr>
          <p:cNvPr id="21" name="Text 19"/>
          <p:cNvSpPr/>
          <p:nvPr/>
        </p:nvSpPr>
        <p:spPr>
          <a:xfrm>
            <a:off x="6309360" y="2770632"/>
            <a:ext cx="22814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产品定义</a:t>
            </a:r>
            <a:endParaRPr lang="en-US" sz="970" dirty="0"/>
          </a:p>
        </p:txBody>
      </p:sp>
      <p:sp>
        <p:nvSpPr>
          <p:cNvPr id="22" name="Shape 20"/>
          <p:cNvSpPr/>
          <p:nvPr/>
        </p:nvSpPr>
        <p:spPr>
          <a:xfrm>
            <a:off x="8947404" y="1737360"/>
            <a:ext cx="2592324" cy="1554480"/>
          </a:xfrm>
          <a:prstGeom prst="roundRect">
            <a:avLst>
              <a:gd name="adj" fmla="val 2941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11996" y="1911096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18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084564" y="2304288"/>
            <a:ext cx="23180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怎样变成产品？</a:t>
            </a:r>
            <a:endParaRPr lang="en-US" sz="1320" dirty="0"/>
          </a:p>
        </p:txBody>
      </p:sp>
      <p:sp>
        <p:nvSpPr>
          <p:cNvPr id="25" name="Text 23"/>
          <p:cNvSpPr/>
          <p:nvPr/>
        </p:nvSpPr>
        <p:spPr>
          <a:xfrm>
            <a:off x="9102852" y="2770632"/>
            <a:ext cx="22814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交互与风险</a:t>
            </a:r>
            <a:endParaRPr lang="en-US" sz="970" dirty="0"/>
          </a:p>
        </p:txBody>
      </p:sp>
      <p:sp>
        <p:nvSpPr>
          <p:cNvPr id="26" name="Text 24"/>
          <p:cNvSpPr/>
          <p:nvPr/>
        </p:nvSpPr>
        <p:spPr>
          <a:xfrm>
            <a:off x="1005840" y="4709160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生成  →  上下文  →  结构化Prompt  →  产品化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10896"/>
          </a:xfrm>
          <a:prstGeom prst="roundRect">
            <a:avLst>
              <a:gd name="adj" fmla="val 29412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30936" y="342900"/>
            <a:ext cx="4389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spc="105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课程任务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今天不是只听懂，而是完成一份设计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766560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课程任务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66928" y="1664208"/>
            <a:ext cx="2592324" cy="1554480"/>
          </a:xfrm>
          <a:prstGeom prst="roundRect">
            <a:avLst>
              <a:gd name="adj" fmla="val 2941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837944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05D7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04088" y="2231136"/>
            <a:ext cx="23180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V0.1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722376" y="2697480"/>
            <a:ext cx="22814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输出＋验收＋上下文</a:t>
            </a:r>
            <a:endParaRPr lang="en-US" sz="970" dirty="0"/>
          </a:p>
        </p:txBody>
      </p:sp>
      <p:sp>
        <p:nvSpPr>
          <p:cNvPr id="14" name="Shape 12"/>
          <p:cNvSpPr/>
          <p:nvPr/>
        </p:nvSpPr>
        <p:spPr>
          <a:xfrm>
            <a:off x="3360420" y="1664208"/>
            <a:ext cx="2592324" cy="1554480"/>
          </a:xfrm>
          <a:prstGeom prst="roundRect">
            <a:avLst>
              <a:gd name="adj" fmla="val 2941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25012" y="1837944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4546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97580" y="2231136"/>
            <a:ext cx="23180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V0.2</a:t>
            </a:r>
            <a:endParaRPr lang="en-US" sz="1320" dirty="0"/>
          </a:p>
        </p:txBody>
      </p:sp>
      <p:sp>
        <p:nvSpPr>
          <p:cNvPr id="17" name="Text 15"/>
          <p:cNvSpPr/>
          <p:nvPr/>
        </p:nvSpPr>
        <p:spPr>
          <a:xfrm>
            <a:off x="3515868" y="2697480"/>
            <a:ext cx="22814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Prompt关键骨架</a:t>
            </a:r>
            <a:endParaRPr lang="en-US" sz="970" dirty="0"/>
          </a:p>
        </p:txBody>
      </p:sp>
      <p:sp>
        <p:nvSpPr>
          <p:cNvPr id="18" name="Shape 16"/>
          <p:cNvSpPr/>
          <p:nvPr/>
        </p:nvSpPr>
        <p:spPr>
          <a:xfrm>
            <a:off x="6153912" y="1664208"/>
            <a:ext cx="2592324" cy="1554480"/>
          </a:xfrm>
          <a:prstGeom prst="roundRect">
            <a:avLst>
              <a:gd name="adj" fmla="val 2941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18504" y="1837944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87B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291072" y="2231136"/>
            <a:ext cx="23180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V0.3</a:t>
            </a:r>
            <a:endParaRPr lang="en-US" sz="1320" dirty="0"/>
          </a:p>
        </p:txBody>
      </p:sp>
      <p:sp>
        <p:nvSpPr>
          <p:cNvPr id="21" name="Text 19"/>
          <p:cNvSpPr/>
          <p:nvPr/>
        </p:nvSpPr>
        <p:spPr>
          <a:xfrm>
            <a:off x="6309360" y="2697480"/>
            <a:ext cx="22814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信息供给＋风险处理</a:t>
            </a:r>
            <a:endParaRPr lang="en-US" sz="970" dirty="0"/>
          </a:p>
        </p:txBody>
      </p:sp>
      <p:sp>
        <p:nvSpPr>
          <p:cNvPr id="22" name="Shape 20"/>
          <p:cNvSpPr/>
          <p:nvPr/>
        </p:nvSpPr>
        <p:spPr>
          <a:xfrm>
            <a:off x="8947404" y="1664208"/>
            <a:ext cx="2592324" cy="1554480"/>
          </a:xfrm>
          <a:prstGeom prst="roundRect">
            <a:avLst>
              <a:gd name="adj" fmla="val 2941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11996" y="1837944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18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084564" y="2231136"/>
            <a:ext cx="23180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案例验证</a:t>
            </a:r>
            <a:endParaRPr lang="en-US" sz="1320" dirty="0"/>
          </a:p>
        </p:txBody>
      </p:sp>
      <p:sp>
        <p:nvSpPr>
          <p:cNvPr id="25" name="Text 23"/>
          <p:cNvSpPr/>
          <p:nvPr/>
        </p:nvSpPr>
        <p:spPr>
          <a:xfrm>
            <a:off x="9102852" y="2697480"/>
            <a:ext cx="22814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找错＋修改＋复测</a:t>
            </a:r>
            <a:endParaRPr lang="en-US" sz="970" dirty="0"/>
          </a:p>
        </p:txBody>
      </p:sp>
      <p:sp>
        <p:nvSpPr>
          <p:cNvPr id="26" name="Shape 24"/>
          <p:cNvSpPr/>
          <p:nvPr/>
        </p:nvSpPr>
        <p:spPr>
          <a:xfrm>
            <a:off x="914400" y="3977640"/>
            <a:ext cx="73152" cy="73152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34440" y="4069080"/>
            <a:ext cx="6629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课堂案例｜销售拜访记录助手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8641080" y="4114800"/>
            <a:ext cx="1417320" cy="347472"/>
          </a:xfrm>
          <a:prstGeom prst="roundRect">
            <a:avLst>
              <a:gd name="adj" fmla="val 21053"/>
            </a:avLst>
          </a:prstGeom>
          <a:solidFill>
            <a:srgbClr val="F2E7D5"/>
          </a:solidFill>
          <a:ln w="12700">
            <a:solidFill>
              <a:srgbClr val="F2E7D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714232" y="4197096"/>
            <a:ext cx="12710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18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教学虚构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498080" y="473659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公司、人物、产品和数据均为虚构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10896"/>
          </a:xfrm>
          <a:prstGeom prst="roundRect">
            <a:avLst>
              <a:gd name="adj" fmla="val 29412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30936" y="342900"/>
            <a:ext cx="4389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spc="105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会聊天不等于会做产品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同一句话，运行两次，结果会一样吗？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766560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 会聊天不等于会做产品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13232" y="1536192"/>
            <a:ext cx="4572000" cy="4343400"/>
          </a:xfrm>
          <a:prstGeom prst="roundRect">
            <a:avLst>
              <a:gd name="adj" fmla="val 1053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1536192"/>
            <a:ext cx="64008" cy="434340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1746504"/>
            <a:ext cx="4096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输入完全相同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60120" y="2258568"/>
            <a:ext cx="4078224" cy="3410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请为一款「销售拜访记录助手」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写一句15字以内的产品介绍。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5559552" y="1536192"/>
            <a:ext cx="5760720" cy="4343400"/>
          </a:xfrm>
          <a:prstGeom prst="roundRect">
            <a:avLst>
              <a:gd name="adj" fmla="val 1053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559552" y="1536192"/>
            <a:ext cx="64008" cy="434340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06440" y="1746504"/>
            <a:ext cx="5285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请先投票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806440" y="2258568"/>
            <a:ext cx="5266944" cy="3410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  完全一样</a:t>
            </a:r>
            <a:endParaRPr lang="en-US" sz="1800" dirty="0"/>
          </a:p>
          <a:p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  基本一样</a:t>
            </a:r>
            <a:endParaRPr lang="en-US" sz="1800" dirty="0"/>
          </a:p>
          <a:p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  可能明显不同</a:t>
            </a:r>
            <a:endParaRPr lang="en-US" sz="1800" dirty="0"/>
          </a:p>
          <a:p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  不确定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933688" y="749808"/>
            <a:ext cx="2057400" cy="310896"/>
          </a:xfrm>
          <a:prstGeom prst="roundRect">
            <a:avLst>
              <a:gd name="adj" fmla="val 29412"/>
            </a:avLst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97696" y="818388"/>
            <a:ext cx="19293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先收答案，再翻页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10896"/>
          </a:xfrm>
          <a:prstGeom prst="roundRect">
            <a:avLst>
              <a:gd name="adj" fmla="val 29412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30936" y="342900"/>
            <a:ext cx="4389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spc="105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会聊天不等于会做产品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投票之后：查看两次真实运行结果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766560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 会聊天不等于会做产品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13232" y="1536192"/>
            <a:ext cx="3291840" cy="4343400"/>
          </a:xfrm>
          <a:prstGeom prst="roundRect">
            <a:avLst>
              <a:gd name="adj" fmla="val 1389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1536192"/>
            <a:ext cx="64008" cy="434340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1746504"/>
            <a:ext cx="2816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输入完全相同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60120" y="2258568"/>
            <a:ext cx="2798064" cy="3410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请为一款「销售拜访记录助手」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写一句15字以内的产品介绍。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 完全一样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 基本一样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 可能明显不同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 不确定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297680" y="1536192"/>
            <a:ext cx="3401568" cy="3246120"/>
          </a:xfrm>
          <a:prstGeom prst="roundRect">
            <a:avLst>
              <a:gd name="adj" fmla="val 14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297680" y="1536192"/>
            <a:ext cx="64008" cy="324612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44568" y="174650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第1次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544568" y="2258568"/>
            <a:ext cx="2907792" cy="2313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【课前替换】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真实模型输出 A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955280" y="1536192"/>
            <a:ext cx="3401568" cy="3246120"/>
          </a:xfrm>
          <a:prstGeom prst="roundRect">
            <a:avLst>
              <a:gd name="adj" fmla="val 14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955280" y="1536192"/>
            <a:ext cx="64008" cy="3246120"/>
          </a:xfrm>
          <a:prstGeom prst="rect">
            <a:avLst/>
          </a:prstGeom>
          <a:solidFill>
            <a:srgbClr val="74546A"/>
          </a:solidFill>
          <a:ln w="12700">
            <a:solidFill>
              <a:srgbClr val="74546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02168" y="174650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第2次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202168" y="2258568"/>
            <a:ext cx="2907792" cy="2313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【课前替换】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真实模型输出 B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4315968" y="501091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模型：________  日期：________  可见设置：________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315968" y="5504688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同一输入，结果可能不同；也可能相同或接近。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10896"/>
          </a:xfrm>
          <a:prstGeom prst="roundRect">
            <a:avLst>
              <a:gd name="adj" fmla="val 29412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30936" y="342900"/>
            <a:ext cx="4389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spc="105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会聊天不等于会做产品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“帮我整理一下这次销售拜访”，还缺什么？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766560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 会聊天不等于会做产品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914400" y="1691640"/>
            <a:ext cx="73152" cy="132588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4440" y="1783080"/>
            <a:ext cx="9921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帮我整理一下这次销售拜访。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914400" y="388620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请先独立想30秒，再说出至少3项缺失信息。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14400" y="475488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提示：不要急着写Prompt，先判断这个任务为什么无法验收。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933688" y="749808"/>
            <a:ext cx="2057400" cy="310896"/>
          </a:xfrm>
          <a:prstGeom prst="roundRect">
            <a:avLst>
              <a:gd name="adj" fmla="val 29412"/>
            </a:avLst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97696" y="818388"/>
            <a:ext cx="19293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先收答案，再翻页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10896"/>
          </a:xfrm>
          <a:prstGeom prst="roundRect">
            <a:avLst>
              <a:gd name="adj" fmla="val 29412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30936" y="342900"/>
            <a:ext cx="4389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spc="105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会聊天不等于会做产品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收答案后：至少检查这五类信息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766560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 会聊天不等于会做产品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804672" y="1572768"/>
            <a:ext cx="73152" cy="114300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24712" y="1664208"/>
            <a:ext cx="4434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帮我整理一下这次销售拜访。</a:t>
            </a:r>
            <a:endParaRPr lang="en-US" sz="2500" dirty="0"/>
          </a:p>
        </p:txBody>
      </p:sp>
      <p:sp>
        <p:nvSpPr>
          <p:cNvPr id="12" name="Shape 10"/>
          <p:cNvSpPr/>
          <p:nvPr/>
        </p:nvSpPr>
        <p:spPr>
          <a:xfrm>
            <a:off x="5897880" y="1572768"/>
            <a:ext cx="2240280" cy="347472"/>
          </a:xfrm>
          <a:prstGeom prst="roundRect">
            <a:avLst>
              <a:gd name="adj" fmla="val 21053"/>
            </a:avLst>
          </a:prstGeom>
          <a:solidFill>
            <a:srgbClr val="F2E2DB"/>
          </a:solidFill>
          <a:ln w="12700">
            <a:solidFill>
              <a:srgbClr val="F2E2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71032" y="1655064"/>
            <a:ext cx="2093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给谁使用？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412480" y="1572768"/>
            <a:ext cx="2240280" cy="347472"/>
          </a:xfrm>
          <a:prstGeom prst="roundRect">
            <a:avLst>
              <a:gd name="adj" fmla="val 21053"/>
            </a:avLst>
          </a:prstGeom>
          <a:solidFill>
            <a:srgbClr val="DDEBE8"/>
          </a:solidFill>
          <a:ln w="12700">
            <a:solidFill>
              <a:srgbClr val="DDEB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85632" y="1655064"/>
            <a:ext cx="2093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87B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具体要什么？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897880" y="2651760"/>
            <a:ext cx="2240280" cy="347472"/>
          </a:xfrm>
          <a:prstGeom prst="roundRect">
            <a:avLst>
              <a:gd name="adj" fmla="val 21053"/>
            </a:avLst>
          </a:prstGeom>
          <a:solidFill>
            <a:srgbClr val="F2E7D5"/>
          </a:solidFill>
          <a:ln w="12700">
            <a:solidFill>
              <a:srgbClr val="F2E7D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71032" y="2734056"/>
            <a:ext cx="2093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18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哪些不能推测？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412480" y="2651760"/>
            <a:ext cx="2240280" cy="347472"/>
          </a:xfrm>
          <a:prstGeom prst="roundRect">
            <a:avLst>
              <a:gd name="adj" fmla="val 21053"/>
            </a:avLst>
          </a:prstGeom>
          <a:solidFill>
            <a:srgbClr val="E8E0E7"/>
          </a:solidFill>
          <a:ln w="12700">
            <a:solidFill>
              <a:srgbClr val="E8E0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85632" y="2734056"/>
            <a:ext cx="2093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4546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怎样算合格？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897880" y="3730752"/>
            <a:ext cx="4663440" cy="347472"/>
          </a:xfrm>
          <a:prstGeom prst="roundRect">
            <a:avLst>
              <a:gd name="adj" fmla="val 21053"/>
            </a:avLst>
          </a:prstGeom>
          <a:solidFill>
            <a:srgbClr val="E2E9DE"/>
          </a:solidFill>
          <a:ln w="12700">
            <a:solidFill>
              <a:srgbClr val="E2E9D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71032" y="3813048"/>
            <a:ext cx="45171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2755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结果进入什么动作？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914400" y="525780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先让学员说出至少3项，再逐步揭示。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10896"/>
          </a:xfrm>
          <a:prstGeom prst="roundRect">
            <a:avLst>
              <a:gd name="adj" fmla="val 29412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30936" y="342900"/>
            <a:ext cx="4389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spc="105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会聊天不等于会做产品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会使用聊天工具，不等于已经完成AI产品设计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766560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 会聊天不等于会做产品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13232" y="1572768"/>
            <a:ext cx="5285232" cy="4251960"/>
          </a:xfrm>
          <a:prstGeom prst="roundRect">
            <a:avLst>
              <a:gd name="adj" fmla="val 1075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1572768"/>
            <a:ext cx="64008" cy="4251960"/>
          </a:xfrm>
          <a:prstGeom prst="rect">
            <a:avLst/>
          </a:prstGeom>
          <a:solidFill>
            <a:srgbClr val="405D78"/>
          </a:solidFill>
          <a:ln w="12700">
            <a:solidFill>
              <a:srgbClr val="405D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1783080"/>
            <a:ext cx="4809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个人使用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60120" y="2295144"/>
            <a:ext cx="4791456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结果不好，可以继续追问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自己补背景、手工修改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自己判断哪些内容可信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偶尔成功，也可能有帮助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99632" y="1572768"/>
            <a:ext cx="5285232" cy="4251960"/>
          </a:xfrm>
          <a:prstGeom prst="roundRect">
            <a:avLst>
              <a:gd name="adj" fmla="val 1075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99632" y="1572768"/>
            <a:ext cx="64008" cy="425196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1783080"/>
            <a:ext cx="4809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产品交付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46520" y="2295144"/>
            <a:ext cx="4791456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不同用户稳定完成同类任务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产品主动收集必要信息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高风险内容有证据和确认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结果可验收并进入后续流程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571500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训练目标：让专业要求被重复执行。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10896"/>
          </a:xfrm>
          <a:prstGeom prst="roundRect">
            <a:avLst>
              <a:gd name="adj" fmla="val 29412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30936" y="342900"/>
            <a:ext cx="4389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spc="105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大模型怎样生成答案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大模型生成答案，不是简单找到一条现成答案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766560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 大模型怎样生成答案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58368" y="1627632"/>
            <a:ext cx="3480816" cy="2971800"/>
          </a:xfrm>
          <a:prstGeom prst="roundRect">
            <a:avLst>
              <a:gd name="adj" fmla="val 153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1627632"/>
            <a:ext cx="64008" cy="2971800"/>
          </a:xfrm>
          <a:prstGeom prst="rect">
            <a:avLst/>
          </a:prstGeom>
          <a:solidFill>
            <a:srgbClr val="405D78"/>
          </a:solidFill>
          <a:ln w="12700">
            <a:solidFill>
              <a:srgbClr val="405D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05256" y="1837944"/>
            <a:ext cx="3005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搜索引擎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05256" y="2350008"/>
            <a:ext cx="2987040" cy="2039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找到相关内容或页面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4358640" y="1627632"/>
            <a:ext cx="3480816" cy="2971800"/>
          </a:xfrm>
          <a:prstGeom prst="roundRect">
            <a:avLst>
              <a:gd name="adj" fmla="val 153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58640" y="1627632"/>
            <a:ext cx="64008" cy="297180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05528" y="1837944"/>
            <a:ext cx="3005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数据库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605528" y="2350008"/>
            <a:ext cx="2987040" cy="2039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按明确条件返回已有记录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8058912" y="1627632"/>
            <a:ext cx="3480816" cy="2971800"/>
          </a:xfrm>
          <a:prstGeom prst="roundRect">
            <a:avLst>
              <a:gd name="adj" fmla="val 153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58912" y="1627632"/>
            <a:ext cx="64008" cy="297180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05800" y="1837944"/>
            <a:ext cx="3005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大模型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305800" y="2350008"/>
            <a:ext cx="2987040" cy="2039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依据当前上下文，逐步生成后续内容</a:t>
            </a:r>
            <a:endParaRPr lang="en-US" sz="1120" dirty="0"/>
          </a:p>
        </p:txBody>
      </p:sp>
      <p:sp>
        <p:nvSpPr>
          <p:cNvPr id="22" name="Text 20"/>
          <p:cNvSpPr/>
          <p:nvPr/>
        </p:nvSpPr>
        <p:spPr>
          <a:xfrm>
            <a:off x="914400" y="498348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不简单等同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53712" y="498348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不简单等同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183880" y="498348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最低必要心智模型｜不是完整技术原理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10896"/>
          </a:xfrm>
          <a:prstGeom prst="roundRect">
            <a:avLst>
              <a:gd name="adj" fmla="val 29412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30936" y="342900"/>
            <a:ext cx="4389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spc="105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大模型怎样生成答案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给定当前上下文，模型下一步会做什么？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766560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 大模型怎样生成答案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822960" y="1627632"/>
            <a:ext cx="4800600" cy="4114800"/>
          </a:xfrm>
          <a:prstGeom prst="roundRect">
            <a:avLst>
              <a:gd name="adj" fmla="val 1111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22960" y="1627632"/>
            <a:ext cx="64008" cy="4114800"/>
          </a:xfrm>
          <a:prstGeom prst="rect">
            <a:avLst/>
          </a:prstGeom>
          <a:solidFill>
            <a:srgbClr val="405D78"/>
          </a:solidFill>
          <a:ln w="12700">
            <a:solidFill>
              <a:srgbClr val="405D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9848" y="1837944"/>
            <a:ext cx="4325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当前上下文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069848" y="2350008"/>
            <a:ext cx="4306824" cy="3182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用户输入</a:t>
            </a:r>
            <a:endParaRPr lang="en-US" sz="2300" dirty="0"/>
          </a:p>
          <a:p>
            <a:pPr algn="ctr" indent="0" marL="0">
              <a:buNone/>
            </a:pPr>
            <a:r>
              <a:rPr lang="en-US" sz="2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＋</a:t>
            </a:r>
            <a:endParaRPr lang="en-US" sz="2300" dirty="0"/>
          </a:p>
          <a:p>
            <a:pPr algn="ctr" indent="0" marL="0">
              <a:buNone/>
            </a:pPr>
            <a:r>
              <a:rPr lang="en-US" sz="2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已经生成的内容</a:t>
            </a:r>
            <a:endParaRPr lang="en-US" sz="2300" dirty="0"/>
          </a:p>
        </p:txBody>
      </p:sp>
      <p:sp>
        <p:nvSpPr>
          <p:cNvPr id="14" name="Shape 12"/>
          <p:cNvSpPr/>
          <p:nvPr/>
        </p:nvSpPr>
        <p:spPr>
          <a:xfrm>
            <a:off x="5897880" y="1627632"/>
            <a:ext cx="5440680" cy="4114800"/>
          </a:xfrm>
          <a:prstGeom prst="roundRect">
            <a:avLst>
              <a:gd name="adj" fmla="val 1111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897880" y="1627632"/>
            <a:ext cx="64008" cy="411480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44768" y="1837944"/>
            <a:ext cx="4965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请先猜一猜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144768" y="2350008"/>
            <a:ext cx="4946904" cy="3182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直接生成完整答案？</a:t>
            </a:r>
            <a:endParaRPr lang="en-US" sz="1800" dirty="0"/>
          </a:p>
          <a:p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查找固定答案？</a:t>
            </a:r>
            <a:endParaRPr lang="en-US" sz="1800" dirty="0"/>
          </a:p>
          <a:p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还是先判断下一个Token？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162288" y="749808"/>
            <a:ext cx="1828800" cy="310896"/>
          </a:xfrm>
          <a:prstGeom prst="roundRect">
            <a:avLst>
              <a:gd name="adj" fmla="val 29412"/>
            </a:avLst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26296" y="818388"/>
            <a:ext cx="17007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先提问，再翻页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10896"/>
          </a:xfrm>
          <a:prstGeom prst="roundRect">
            <a:avLst>
              <a:gd name="adj" fmla="val 29412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30936" y="342900"/>
            <a:ext cx="4389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spc="105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大模型怎样生成答案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大模型怎样一步一步生成答案？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766560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 大模型怎样生成答案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11480" y="1664208"/>
            <a:ext cx="2110435" cy="1554480"/>
          </a:xfrm>
          <a:prstGeom prst="roundRect">
            <a:avLst>
              <a:gd name="adj" fmla="val 2941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" y="1837944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05D7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2231136"/>
            <a:ext cx="18361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当前上下文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566928" y="2697480"/>
            <a:ext cx="17995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已有输入与已生成内容</a:t>
            </a:r>
            <a:endParaRPr lang="en-US" sz="970" dirty="0"/>
          </a:p>
        </p:txBody>
      </p:sp>
      <p:sp>
        <p:nvSpPr>
          <p:cNvPr id="14" name="Shape 12"/>
          <p:cNvSpPr/>
          <p:nvPr/>
        </p:nvSpPr>
        <p:spPr>
          <a:xfrm>
            <a:off x="2723083" y="1664208"/>
            <a:ext cx="2110435" cy="1554480"/>
          </a:xfrm>
          <a:prstGeom prst="roundRect">
            <a:avLst>
              <a:gd name="adj" fmla="val 2941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87675" y="1837944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87B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860243" y="2231136"/>
            <a:ext cx="18361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候选Token</a:t>
            </a:r>
            <a:endParaRPr lang="en-US" sz="1320" dirty="0"/>
          </a:p>
        </p:txBody>
      </p:sp>
      <p:sp>
        <p:nvSpPr>
          <p:cNvPr id="17" name="Text 15"/>
          <p:cNvSpPr/>
          <p:nvPr/>
        </p:nvSpPr>
        <p:spPr>
          <a:xfrm>
            <a:off x="2878531" y="2697480"/>
            <a:ext cx="17995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计算后续可能性</a:t>
            </a:r>
            <a:endParaRPr lang="en-US" sz="970" dirty="0"/>
          </a:p>
        </p:txBody>
      </p:sp>
      <p:sp>
        <p:nvSpPr>
          <p:cNvPr id="18" name="Shape 16"/>
          <p:cNvSpPr/>
          <p:nvPr/>
        </p:nvSpPr>
        <p:spPr>
          <a:xfrm>
            <a:off x="5034686" y="1664208"/>
            <a:ext cx="2110435" cy="1554480"/>
          </a:xfrm>
          <a:prstGeom prst="roundRect">
            <a:avLst>
              <a:gd name="adj" fmla="val 2941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99278" y="1837944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18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171846" y="2231136"/>
            <a:ext cx="18361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选择一个</a:t>
            </a:r>
            <a:endParaRPr lang="en-US" sz="1320" dirty="0"/>
          </a:p>
        </p:txBody>
      </p:sp>
      <p:sp>
        <p:nvSpPr>
          <p:cNvPr id="21" name="Text 19"/>
          <p:cNvSpPr/>
          <p:nvPr/>
        </p:nvSpPr>
        <p:spPr>
          <a:xfrm>
            <a:off x="5190134" y="2697480"/>
            <a:ext cx="17995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按生成策略选择</a:t>
            </a:r>
            <a:endParaRPr lang="en-US" sz="970" dirty="0"/>
          </a:p>
        </p:txBody>
      </p:sp>
      <p:sp>
        <p:nvSpPr>
          <p:cNvPr id="22" name="Shape 20"/>
          <p:cNvSpPr/>
          <p:nvPr/>
        </p:nvSpPr>
        <p:spPr>
          <a:xfrm>
            <a:off x="7346290" y="1664208"/>
            <a:ext cx="2110435" cy="1554480"/>
          </a:xfrm>
          <a:prstGeom prst="roundRect">
            <a:avLst>
              <a:gd name="adj" fmla="val 2941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10882" y="1837944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4546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483450" y="2231136"/>
            <a:ext cx="18361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加入上下文</a:t>
            </a:r>
            <a:endParaRPr lang="en-US" sz="1320" dirty="0"/>
          </a:p>
        </p:txBody>
      </p:sp>
      <p:sp>
        <p:nvSpPr>
          <p:cNvPr id="25" name="Text 23"/>
          <p:cNvSpPr/>
          <p:nvPr/>
        </p:nvSpPr>
        <p:spPr>
          <a:xfrm>
            <a:off x="7501738" y="2697480"/>
            <a:ext cx="17995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形成新的前文</a:t>
            </a:r>
            <a:endParaRPr lang="en-US" sz="970" dirty="0"/>
          </a:p>
        </p:txBody>
      </p:sp>
      <p:sp>
        <p:nvSpPr>
          <p:cNvPr id="26" name="Shape 24"/>
          <p:cNvSpPr/>
          <p:nvPr/>
        </p:nvSpPr>
        <p:spPr>
          <a:xfrm>
            <a:off x="9657893" y="1664208"/>
            <a:ext cx="2110435" cy="1554480"/>
          </a:xfrm>
          <a:prstGeom prst="roundRect">
            <a:avLst>
              <a:gd name="adj" fmla="val 2941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822485" y="1837944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2755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795053" y="2231136"/>
            <a:ext cx="18361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继续生成</a:t>
            </a:r>
            <a:endParaRPr lang="en-US" sz="1320" dirty="0"/>
          </a:p>
        </p:txBody>
      </p:sp>
      <p:sp>
        <p:nvSpPr>
          <p:cNvPr id="29" name="Text 27"/>
          <p:cNvSpPr/>
          <p:nvPr/>
        </p:nvSpPr>
        <p:spPr>
          <a:xfrm>
            <a:off x="9813341" y="2697480"/>
            <a:ext cx="17995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直到结束</a:t>
            </a:r>
            <a:endParaRPr lang="en-US" sz="970" dirty="0"/>
          </a:p>
        </p:txBody>
      </p:sp>
      <p:sp>
        <p:nvSpPr>
          <p:cNvPr id="30" name="Shape 28"/>
          <p:cNvSpPr/>
          <p:nvPr/>
        </p:nvSpPr>
        <p:spPr>
          <a:xfrm>
            <a:off x="1005840" y="4050792"/>
            <a:ext cx="73152" cy="749808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325880" y="4142232"/>
            <a:ext cx="9646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每生成一步，后续判断的上下文也随之变化。</a:t>
            </a:r>
            <a:endParaRPr lang="en-US" sz="1900" dirty="0"/>
          </a:p>
        </p:txBody>
      </p:sp>
      <p:sp>
        <p:nvSpPr>
          <p:cNvPr id="32" name="Text 30"/>
          <p:cNvSpPr/>
          <p:nvPr/>
        </p:nvSpPr>
        <p:spPr>
          <a:xfrm>
            <a:off x="914400" y="5257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候选短语仅为可读化教学示意，可能包含一个或多个Token。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10896"/>
          </a:xfrm>
          <a:prstGeom prst="roundRect">
            <a:avLst>
              <a:gd name="adj" fmla="val 29412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30936" y="342900"/>
            <a:ext cx="4389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spc="105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大模型怎样生成答案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只增加一句背景，后续为什么会变化？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766560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 大模型怎样生成答案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09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13232" y="1600200"/>
            <a:ext cx="5285232" cy="3566160"/>
          </a:xfrm>
          <a:prstGeom prst="roundRect">
            <a:avLst>
              <a:gd name="adj" fmla="val 1282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1600200"/>
            <a:ext cx="64008" cy="3566160"/>
          </a:xfrm>
          <a:prstGeom prst="rect">
            <a:avLst/>
          </a:prstGeom>
          <a:solidFill>
            <a:srgbClr val="405D78"/>
          </a:solidFill>
          <a:ln w="12700">
            <a:solidFill>
              <a:srgbClr val="405D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1810512"/>
            <a:ext cx="4809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下班后，我准备去公园……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60120" y="2322576"/>
            <a:ext cx="4791456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可能续写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散步｜跑步｜看花｜见朋友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99632" y="1600200"/>
            <a:ext cx="5285232" cy="3566160"/>
          </a:xfrm>
          <a:prstGeom prst="roundRect">
            <a:avLst>
              <a:gd name="adj" fmla="val 1282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99632" y="1600200"/>
            <a:ext cx="64008" cy="356616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1810512"/>
            <a:ext cx="4809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为了备战周末马拉松……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46520" y="2322576"/>
            <a:ext cx="4791456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可能续写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跑步｜训练｜完成五公里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5413248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上下文会改变后续候选的可能性；错误或冲突背景也可能误导结果。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10896"/>
          </a:xfrm>
          <a:prstGeom prst="roundRect">
            <a:avLst>
              <a:gd name="adj" fmla="val 29412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30936" y="342900"/>
            <a:ext cx="4389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spc="105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大模型怎样生成答案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一个位置，通常不只有一个合理后续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766560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 大模型怎样生成答案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13232" y="1600200"/>
            <a:ext cx="3657600" cy="4160520"/>
          </a:xfrm>
          <a:prstGeom prst="roundRect">
            <a:avLst>
              <a:gd name="adj" fmla="val 1250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1600200"/>
            <a:ext cx="64008" cy="4160520"/>
          </a:xfrm>
          <a:prstGeom prst="rect">
            <a:avLst/>
          </a:prstGeom>
          <a:solidFill>
            <a:srgbClr val="405D78"/>
          </a:solidFill>
          <a:ln w="12700">
            <a:solidFill>
              <a:srgbClr val="405D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1810512"/>
            <a:ext cx="3182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当前上下文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60120" y="2322576"/>
            <a:ext cx="3163824" cy="3227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“下班后，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我准备去公园……”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773168" y="171907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散步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870448" y="1664208"/>
            <a:ext cx="4937760" cy="329184"/>
          </a:xfrm>
          <a:prstGeom prst="roundRect">
            <a:avLst>
              <a:gd name="adj" fmla="val 13889"/>
            </a:avLst>
          </a:prstGeom>
          <a:solidFill>
            <a:srgbClr val="ECE7DE"/>
          </a:solidFill>
          <a:ln w="12700">
            <a:solidFill>
              <a:srgbClr val="ECE7D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70448" y="1664208"/>
            <a:ext cx="4937760" cy="329184"/>
          </a:xfrm>
          <a:prstGeom prst="roundRect">
            <a:avLst>
              <a:gd name="adj" fmla="val 13889"/>
            </a:avLst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27080" y="1714500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87B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34%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73168" y="24231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跑步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870448" y="2368296"/>
            <a:ext cx="4937760" cy="329184"/>
          </a:xfrm>
          <a:prstGeom prst="roundRect">
            <a:avLst>
              <a:gd name="adj" fmla="val 13889"/>
            </a:avLst>
          </a:prstGeom>
          <a:solidFill>
            <a:srgbClr val="ECE7DE"/>
          </a:solidFill>
          <a:ln w="12700">
            <a:solidFill>
              <a:srgbClr val="ECE7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870448" y="2368296"/>
            <a:ext cx="4211619" cy="329184"/>
          </a:xfrm>
          <a:prstGeom prst="roundRect">
            <a:avLst>
              <a:gd name="adj" fmla="val 13889"/>
            </a:avLst>
          </a:prstGeom>
          <a:solidFill>
            <a:srgbClr val="405D78"/>
          </a:solidFill>
          <a:ln w="12700">
            <a:solidFill>
              <a:srgbClr val="405D7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27080" y="241858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05D7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29%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73168" y="312724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见朋友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870448" y="3072384"/>
            <a:ext cx="4937760" cy="329184"/>
          </a:xfrm>
          <a:prstGeom prst="roundRect">
            <a:avLst>
              <a:gd name="adj" fmla="val 13889"/>
            </a:avLst>
          </a:prstGeom>
          <a:solidFill>
            <a:srgbClr val="ECE7DE"/>
          </a:solidFill>
          <a:ln w="12700">
            <a:solidFill>
              <a:srgbClr val="ECE7D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870448" y="3072384"/>
            <a:ext cx="2614108" cy="329184"/>
          </a:xfrm>
          <a:prstGeom prst="roundRect">
            <a:avLst>
              <a:gd name="adj" fmla="val 13889"/>
            </a:avLst>
          </a:prstGeom>
          <a:solidFill>
            <a:srgbClr val="74546A"/>
          </a:solidFill>
          <a:ln w="12700">
            <a:solidFill>
              <a:srgbClr val="74546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927080" y="3122676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4546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18%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73168" y="383133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拍照片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870448" y="3776472"/>
            <a:ext cx="4937760" cy="329184"/>
          </a:xfrm>
          <a:prstGeom prst="roundRect">
            <a:avLst>
              <a:gd name="adj" fmla="val 13889"/>
            </a:avLst>
          </a:prstGeom>
          <a:solidFill>
            <a:srgbClr val="ECE7DE"/>
          </a:solidFill>
          <a:ln w="12700">
            <a:solidFill>
              <a:srgbClr val="ECE7D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870448" y="3776472"/>
            <a:ext cx="1597511" cy="329184"/>
          </a:xfrm>
          <a:prstGeom prst="roundRect">
            <a:avLst>
              <a:gd name="adj" fmla="val 13889"/>
            </a:avLst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927080" y="3826764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18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11%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773168" y="453542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其他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870448" y="4480560"/>
            <a:ext cx="4937760" cy="329184"/>
          </a:xfrm>
          <a:prstGeom prst="roundRect">
            <a:avLst>
              <a:gd name="adj" fmla="val 13889"/>
            </a:avLst>
          </a:prstGeom>
          <a:solidFill>
            <a:srgbClr val="ECE7DE"/>
          </a:solidFill>
          <a:ln w="12700">
            <a:solidFill>
              <a:srgbClr val="ECE7D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70448" y="4480560"/>
            <a:ext cx="1161826" cy="329184"/>
          </a:xfrm>
          <a:prstGeom prst="roundRect">
            <a:avLst>
              <a:gd name="adj" fmla="val 13889"/>
            </a:avLst>
          </a:prstGeom>
          <a:solidFill>
            <a:srgbClr val="527553"/>
          </a:solidFill>
          <a:ln w="12700">
            <a:solidFill>
              <a:srgbClr val="52755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927080" y="4530852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2755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8%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754880" y="534924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候选短语和数字仅为教学示意，不是模型真实Token切分或内部概率。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10896"/>
          </a:xfrm>
          <a:prstGeom prst="roundRect">
            <a:avLst>
              <a:gd name="adj" fmla="val 29412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30936" y="342900"/>
            <a:ext cx="4389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spc="105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大模型怎样生成答案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Temperature影响发散程度，不是“正确率按钮”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766560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 大模型怎样生成答案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11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41248" y="17007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05D7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较低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442448" y="17007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18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较高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508760" y="1755648"/>
            <a:ext cx="9098280" cy="256032"/>
          </a:xfrm>
          <a:prstGeom prst="roundRect">
            <a:avLst>
              <a:gd name="adj" fmla="val 17857"/>
            </a:avLst>
          </a:prstGeom>
          <a:solidFill>
            <a:srgbClr val="DDE5EB"/>
          </a:solidFill>
          <a:ln w="12700">
            <a:solidFill>
              <a:srgbClr val="DDE5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257800" y="1572768"/>
            <a:ext cx="603504" cy="603504"/>
          </a:xfrm>
          <a:prstGeom prst="ellipse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230428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05D7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更集中、更保守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0" y="230428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18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更多样、更发散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58368" y="2971800"/>
            <a:ext cx="2555748" cy="1371600"/>
          </a:xfrm>
          <a:prstGeom prst="roundRect">
            <a:avLst>
              <a:gd name="adj" fmla="val 3333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" y="2971800"/>
            <a:ext cx="64008" cy="137160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5256" y="3182112"/>
            <a:ext cx="20802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≠ 越低越正确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433572" y="2971800"/>
            <a:ext cx="2555748" cy="1371600"/>
          </a:xfrm>
          <a:prstGeom prst="roundRect">
            <a:avLst>
              <a:gd name="adj" fmla="val 3333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33572" y="2971800"/>
            <a:ext cx="64008" cy="137160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80460" y="3182112"/>
            <a:ext cx="20802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≠ 设为0后绝对一致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208776" y="2971800"/>
            <a:ext cx="2555748" cy="1371600"/>
          </a:xfrm>
          <a:prstGeom prst="roundRect">
            <a:avLst>
              <a:gd name="adj" fmla="val 3333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08776" y="2971800"/>
            <a:ext cx="64008" cy="1371600"/>
          </a:xfrm>
          <a:prstGeom prst="rect">
            <a:avLst/>
          </a:prstGeom>
          <a:solidFill>
            <a:srgbClr val="74546A"/>
          </a:solidFill>
          <a:ln w="12700">
            <a:solidFill>
              <a:srgbClr val="7454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55664" y="3182112"/>
            <a:ext cx="20802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不能补充缺失知识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8983980" y="2971800"/>
            <a:ext cx="2555748" cy="1371600"/>
          </a:xfrm>
          <a:prstGeom prst="roundRect">
            <a:avLst>
              <a:gd name="adj" fmla="val 3333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983980" y="2971800"/>
            <a:ext cx="64008" cy="137160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30868" y="3182112"/>
            <a:ext cx="20802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不能替代任务与规则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10896"/>
          </a:xfrm>
          <a:prstGeom prst="roundRect">
            <a:avLst>
              <a:gd name="adj" fmla="val 29412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30936" y="342900"/>
            <a:ext cx="4389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spc="105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大模型怎样生成答案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结果不同，与结果错误，是两件事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766560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 大模型怎样生成答案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12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13232" y="1572768"/>
            <a:ext cx="5285232" cy="4251960"/>
          </a:xfrm>
          <a:prstGeom prst="roundRect">
            <a:avLst>
              <a:gd name="adj" fmla="val 1075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1572768"/>
            <a:ext cx="64008" cy="425196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1783080"/>
            <a:ext cx="4809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合理差异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60120" y="2295144"/>
            <a:ext cx="4791456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A｜拜访结束，关键信息自动成稿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B｜让每次客户沟通，都留下可跟进的记录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表达不同，但都可能合理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99632" y="1572768"/>
            <a:ext cx="5285232" cy="4251960"/>
          </a:xfrm>
          <a:prstGeom prst="roundRect">
            <a:avLst>
              <a:gd name="adj" fmla="val 1075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99632" y="1572768"/>
            <a:ext cx="64008" cy="425196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1783080"/>
            <a:ext cx="4809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更需要警惕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46520" y="2295144"/>
            <a:ext cx="4791456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编造材料中不存在的事实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把未知内容说成确定事实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与给定材料发生冲突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生成无法验证的数据或承诺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5742432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不同 ≠ 错误｜先检查是否与任务和证据冲突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10896"/>
          </a:xfrm>
          <a:prstGeom prst="roundRect">
            <a:avLst>
              <a:gd name="adj" fmla="val 29412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30936" y="342900"/>
            <a:ext cx="4389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spc="105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大模型怎样生成答案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一次Demo成功，只能证明“这一次可以”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766560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 大模型怎样生成答案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13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13232" y="1572768"/>
            <a:ext cx="3749040" cy="4251960"/>
          </a:xfrm>
          <a:prstGeom prst="roundRect">
            <a:avLst>
              <a:gd name="adj" fmla="val 1220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1572768"/>
            <a:ext cx="64008" cy="425196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1783080"/>
            <a:ext cx="3273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一次成功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60120" y="2295144"/>
            <a:ext cx="3255264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一次输入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一次运行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一条满意结果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只能说明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这一次得到可接受输出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800600" y="1572768"/>
            <a:ext cx="1993392" cy="1325880"/>
          </a:xfrm>
          <a:prstGeom prst="roundRect">
            <a:avLst>
              <a:gd name="adj" fmla="val 344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00600" y="1572768"/>
            <a:ext cx="64008" cy="132588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47488" y="1783080"/>
            <a:ext cx="1517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用户表达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47488" y="2295144"/>
            <a:ext cx="14996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是否变化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967728" y="1572768"/>
            <a:ext cx="1993392" cy="1325880"/>
          </a:xfrm>
          <a:prstGeom prst="roundRect">
            <a:avLst>
              <a:gd name="adj" fmla="val 344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967728" y="1572768"/>
            <a:ext cx="64008" cy="132588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14616" y="1783080"/>
            <a:ext cx="1517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材料质量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214616" y="2295144"/>
            <a:ext cx="14996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是否完整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134856" y="1572768"/>
            <a:ext cx="1993392" cy="1325880"/>
          </a:xfrm>
          <a:prstGeom prst="roundRect">
            <a:avLst>
              <a:gd name="adj" fmla="val 344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134856" y="1572768"/>
            <a:ext cx="64008" cy="1325880"/>
          </a:xfrm>
          <a:prstGeom prst="rect">
            <a:avLst/>
          </a:prstGeom>
          <a:solidFill>
            <a:srgbClr val="74546A"/>
          </a:solidFill>
          <a:ln w="12700">
            <a:solidFill>
              <a:srgbClr val="7454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81744" y="1783080"/>
            <a:ext cx="1517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多次运行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381744" y="2295144"/>
            <a:ext cx="14996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是否稳定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00600" y="3127248"/>
            <a:ext cx="3154680" cy="1325880"/>
          </a:xfrm>
          <a:prstGeom prst="roundRect">
            <a:avLst>
              <a:gd name="adj" fmla="val 344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00600" y="3127248"/>
            <a:ext cx="64008" cy="132588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47488" y="3337560"/>
            <a:ext cx="2679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高风险字段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047488" y="3849624"/>
            <a:ext cx="266090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是否可信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129016" y="3127248"/>
            <a:ext cx="2999232" cy="1325880"/>
          </a:xfrm>
          <a:prstGeom prst="roundRect">
            <a:avLst>
              <a:gd name="adj" fmla="val 344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129016" y="3127248"/>
            <a:ext cx="64008" cy="1325880"/>
          </a:xfrm>
          <a:prstGeom prst="rect">
            <a:avLst/>
          </a:prstGeom>
          <a:solidFill>
            <a:srgbClr val="527553"/>
          </a:solidFill>
          <a:ln w="12700">
            <a:solidFill>
              <a:srgbClr val="52755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75904" y="3337560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失败处理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375904" y="3849624"/>
            <a:ext cx="25054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是否可恢复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800600" y="4983480"/>
            <a:ext cx="6327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Prompt可以降低部分错误，但不能把生成模型变成绝对规则系统。</a:t>
            </a:r>
            <a:endParaRPr lang="en-US" sz="15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10896"/>
          </a:xfrm>
          <a:prstGeom prst="roundRect">
            <a:avLst>
              <a:gd name="adj" fmla="val 29412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30936" y="342900"/>
            <a:ext cx="4389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spc="105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Token与上下文窗口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Token：模型处理和生成信息的基本单位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766560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 Token与上下文窗口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14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31520" y="1691640"/>
            <a:ext cx="1677924" cy="1554480"/>
          </a:xfrm>
          <a:prstGeom prst="roundRect">
            <a:avLst>
              <a:gd name="adj" fmla="val 2941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1865376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05D7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68680" y="2258568"/>
            <a:ext cx="14036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自然语言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2610612" y="1691640"/>
            <a:ext cx="1677924" cy="1554480"/>
          </a:xfrm>
          <a:prstGeom prst="roundRect">
            <a:avLst>
              <a:gd name="adj" fmla="val 2941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75204" y="1865376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87B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747772" y="2258568"/>
            <a:ext cx="14036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Tokenizer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2766060" y="2724912"/>
            <a:ext cx="13670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切分规则</a:t>
            </a:r>
            <a:endParaRPr lang="en-US" sz="970" dirty="0"/>
          </a:p>
        </p:txBody>
      </p:sp>
      <p:sp>
        <p:nvSpPr>
          <p:cNvPr id="17" name="Shape 15"/>
          <p:cNvSpPr/>
          <p:nvPr/>
        </p:nvSpPr>
        <p:spPr>
          <a:xfrm>
            <a:off x="4489704" y="1691640"/>
            <a:ext cx="1677924" cy="1554480"/>
          </a:xfrm>
          <a:prstGeom prst="roundRect">
            <a:avLst>
              <a:gd name="adj" fmla="val 2941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54296" y="1865376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4546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26864" y="2258568"/>
            <a:ext cx="14036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Token序列</a:t>
            </a:r>
            <a:endParaRPr lang="en-US" sz="1320" dirty="0"/>
          </a:p>
        </p:txBody>
      </p:sp>
      <p:sp>
        <p:nvSpPr>
          <p:cNvPr id="20" name="Shape 18"/>
          <p:cNvSpPr/>
          <p:nvPr/>
        </p:nvSpPr>
        <p:spPr>
          <a:xfrm>
            <a:off x="6368796" y="1691640"/>
            <a:ext cx="1677924" cy="1554480"/>
          </a:xfrm>
          <a:prstGeom prst="roundRect">
            <a:avLst>
              <a:gd name="adj" fmla="val 2941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33388" y="1865376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2755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505956" y="2258568"/>
            <a:ext cx="14036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模型处理</a:t>
            </a:r>
            <a:endParaRPr lang="en-US" sz="1320" dirty="0"/>
          </a:p>
        </p:txBody>
      </p:sp>
      <p:sp>
        <p:nvSpPr>
          <p:cNvPr id="23" name="Shape 21"/>
          <p:cNvSpPr/>
          <p:nvPr/>
        </p:nvSpPr>
        <p:spPr>
          <a:xfrm>
            <a:off x="8366760" y="1600200"/>
            <a:ext cx="2880360" cy="3840480"/>
          </a:xfrm>
          <a:prstGeom prst="roundRect">
            <a:avLst>
              <a:gd name="adj" fmla="val 158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366760" y="1600200"/>
            <a:ext cx="64008" cy="384048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13648" y="1810512"/>
            <a:ext cx="2404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Token不固定等于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613648" y="2322576"/>
            <a:ext cx="2386584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× 一个汉字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× 一个中文词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× 一个英文单词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× 固定长度字符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不同模型可能不同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14400" y="5230368"/>
            <a:ext cx="7040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若展示真实切分，必须标明模型或Tokenizer。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10896"/>
          </a:xfrm>
          <a:prstGeom prst="roundRect">
            <a:avLst>
              <a:gd name="adj" fmla="val 29412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30936" y="342900"/>
            <a:ext cx="4389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spc="105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Token与上下文窗口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用户只输入一句话，不代表模型只看到一句话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766560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 Token与上下文窗口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15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703320" y="1572768"/>
            <a:ext cx="4800600" cy="4114800"/>
          </a:xfrm>
          <a:prstGeom prst="roundRect">
            <a:avLst>
              <a:gd name="adj" fmla="val 1333"/>
            </a:avLst>
          </a:prstGeom>
          <a:solidFill>
            <a:srgbClr val="FBF9F4"/>
          </a:solidFill>
          <a:ln w="25400">
            <a:solidFill>
              <a:srgbClr val="387B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77640" y="1810512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87B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本次上下文工作区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85800" y="1645920"/>
            <a:ext cx="1234440" cy="347472"/>
          </a:xfrm>
          <a:prstGeom prst="roundRect">
            <a:avLst>
              <a:gd name="adj" fmla="val 21053"/>
            </a:avLst>
          </a:prstGeom>
          <a:solidFill>
            <a:srgbClr val="F2E2DB"/>
          </a:solidFill>
          <a:ln w="12700">
            <a:solidFill>
              <a:srgbClr val="F2E2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8952" y="1728216"/>
            <a:ext cx="10881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内部指令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103120" y="1645920"/>
            <a:ext cx="1234440" cy="347472"/>
          </a:xfrm>
          <a:prstGeom prst="roundRect">
            <a:avLst>
              <a:gd name="adj" fmla="val 21053"/>
            </a:avLst>
          </a:prstGeom>
          <a:solidFill>
            <a:srgbClr val="DDE5EB"/>
          </a:solidFill>
          <a:ln w="12700">
            <a:solidFill>
              <a:srgbClr val="DDE5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76272" y="1728216"/>
            <a:ext cx="10881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05D7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用户输入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85800" y="2670048"/>
            <a:ext cx="1234440" cy="347472"/>
          </a:xfrm>
          <a:prstGeom prst="roundRect">
            <a:avLst>
              <a:gd name="adj" fmla="val 21053"/>
            </a:avLst>
          </a:prstGeom>
          <a:solidFill>
            <a:srgbClr val="E8E0E7"/>
          </a:solidFill>
          <a:ln w="12700">
            <a:solidFill>
              <a:srgbClr val="E8E0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2752344"/>
            <a:ext cx="10881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4546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历史对话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103120" y="2670048"/>
            <a:ext cx="1234440" cy="347472"/>
          </a:xfrm>
          <a:prstGeom prst="roundRect">
            <a:avLst>
              <a:gd name="adj" fmla="val 21053"/>
            </a:avLst>
          </a:prstGeom>
          <a:solidFill>
            <a:srgbClr val="F2E7D5"/>
          </a:solidFill>
          <a:ln w="12700">
            <a:solidFill>
              <a:srgbClr val="F2E7D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76272" y="2752344"/>
            <a:ext cx="10881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18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上传文档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85800" y="3694176"/>
            <a:ext cx="1234440" cy="347472"/>
          </a:xfrm>
          <a:prstGeom prst="roundRect">
            <a:avLst>
              <a:gd name="adj" fmla="val 21053"/>
            </a:avLst>
          </a:prstGeom>
          <a:solidFill>
            <a:srgbClr val="E2E9DE"/>
          </a:solidFill>
          <a:ln w="12700">
            <a:solidFill>
              <a:srgbClr val="E2E9D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3776472"/>
            <a:ext cx="10881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2755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业务材料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103120" y="3694176"/>
            <a:ext cx="1234440" cy="347472"/>
          </a:xfrm>
          <a:prstGeom prst="roundRect">
            <a:avLst>
              <a:gd name="adj" fmla="val 21053"/>
            </a:avLst>
          </a:prstGeom>
          <a:solidFill>
            <a:srgbClr val="DDEBE8"/>
          </a:solidFill>
          <a:ln w="12700">
            <a:solidFill>
              <a:srgbClr val="DDEB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76272" y="3776472"/>
            <a:ext cx="10881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87B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知识片段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069080" y="2423160"/>
            <a:ext cx="1737360" cy="347472"/>
          </a:xfrm>
          <a:prstGeom prst="roundRect">
            <a:avLst>
              <a:gd name="adj" fmla="val 21053"/>
            </a:avLst>
          </a:prstGeom>
          <a:solidFill>
            <a:srgbClr val="F2E2DB"/>
          </a:solidFill>
          <a:ln w="12700">
            <a:solidFill>
              <a:srgbClr val="F2E2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42232" y="2505456"/>
            <a:ext cx="15910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内部指令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080760" y="2423160"/>
            <a:ext cx="1737360" cy="347472"/>
          </a:xfrm>
          <a:prstGeom prst="roundRect">
            <a:avLst>
              <a:gd name="adj" fmla="val 21053"/>
            </a:avLst>
          </a:prstGeom>
          <a:solidFill>
            <a:srgbClr val="DDE5EB"/>
          </a:solidFill>
          <a:ln w="12700">
            <a:solidFill>
              <a:srgbClr val="DDE5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53912" y="2505456"/>
            <a:ext cx="15910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05D7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用户输入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069080" y="3209544"/>
            <a:ext cx="1737360" cy="347472"/>
          </a:xfrm>
          <a:prstGeom prst="roundRect">
            <a:avLst>
              <a:gd name="adj" fmla="val 21053"/>
            </a:avLst>
          </a:prstGeom>
          <a:solidFill>
            <a:srgbClr val="E8E0E7"/>
          </a:solidFill>
          <a:ln w="12700">
            <a:solidFill>
              <a:srgbClr val="E8E0E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42232" y="3291840"/>
            <a:ext cx="15910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4546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历史对话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080760" y="3209544"/>
            <a:ext cx="1737360" cy="347472"/>
          </a:xfrm>
          <a:prstGeom prst="roundRect">
            <a:avLst>
              <a:gd name="adj" fmla="val 21053"/>
            </a:avLst>
          </a:prstGeom>
          <a:solidFill>
            <a:srgbClr val="F2E7D5"/>
          </a:solidFill>
          <a:ln w="12700">
            <a:solidFill>
              <a:srgbClr val="F2E7D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53912" y="3291840"/>
            <a:ext cx="15910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18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上传文档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069080" y="3995928"/>
            <a:ext cx="1737360" cy="347472"/>
          </a:xfrm>
          <a:prstGeom prst="roundRect">
            <a:avLst>
              <a:gd name="adj" fmla="val 21053"/>
            </a:avLst>
          </a:prstGeom>
          <a:solidFill>
            <a:srgbClr val="E2E9DE"/>
          </a:solidFill>
          <a:ln w="12700">
            <a:solidFill>
              <a:srgbClr val="E2E9D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42232" y="4078224"/>
            <a:ext cx="15910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2755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业务材料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080760" y="3995928"/>
            <a:ext cx="1737360" cy="347472"/>
          </a:xfrm>
          <a:prstGeom prst="roundRect">
            <a:avLst>
              <a:gd name="adj" fmla="val 21053"/>
            </a:avLst>
          </a:prstGeom>
          <a:solidFill>
            <a:srgbClr val="DDEBE8"/>
          </a:solidFill>
          <a:ln w="12700">
            <a:solidFill>
              <a:srgbClr val="DDEB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53912" y="4078224"/>
            <a:ext cx="15910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87B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知识片段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8887968" y="1572768"/>
            <a:ext cx="2331720" cy="4114800"/>
          </a:xfrm>
          <a:prstGeom prst="roundRect">
            <a:avLst>
              <a:gd name="adj" fmla="val 1961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7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887968" y="1572768"/>
            <a:ext cx="64008" cy="411480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34856" y="1783080"/>
            <a:ext cx="1856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输出预算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9134856" y="2295144"/>
            <a:ext cx="1837944" cy="3182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需要为本次生成结果预留空间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具体计算与接口行为依模型而异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14400" y="580644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界面看不到的内容，也可能占用本次Token空间。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10896"/>
          </a:xfrm>
          <a:prstGeom prst="roundRect">
            <a:avLst>
              <a:gd name="adj" fmla="val 29412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30936" y="342900"/>
            <a:ext cx="4389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spc="105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Token与上下文窗口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上下文窗口：一次调用可使用的有限Token空间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766560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 Token与上下文窗口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16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58368" y="1481328"/>
            <a:ext cx="3480816" cy="1572768"/>
          </a:xfrm>
          <a:prstGeom prst="roundRect">
            <a:avLst>
              <a:gd name="adj" fmla="val 290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1481328"/>
            <a:ext cx="64008" cy="1572768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05256" y="1691640"/>
            <a:ext cx="3005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上下文窗口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05256" y="2203704"/>
            <a:ext cx="298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一次调用可容纳输入与输出Token的有限空间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4358640" y="1481328"/>
            <a:ext cx="3480816" cy="1572768"/>
          </a:xfrm>
          <a:prstGeom prst="roundRect">
            <a:avLst>
              <a:gd name="adj" fmla="val 290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58640" y="1481328"/>
            <a:ext cx="64008" cy="1572768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05528" y="1691640"/>
            <a:ext cx="3005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实际上下文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605528" y="2203704"/>
            <a:ext cx="298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本次真正放进去的指令、输入和材料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8058912" y="1481328"/>
            <a:ext cx="3480816" cy="1572768"/>
          </a:xfrm>
          <a:prstGeom prst="roundRect">
            <a:avLst>
              <a:gd name="adj" fmla="val 290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58912" y="1481328"/>
            <a:ext cx="64008" cy="1572768"/>
          </a:xfrm>
          <a:prstGeom prst="rect">
            <a:avLst/>
          </a:prstGeom>
          <a:solidFill>
            <a:srgbClr val="74546A"/>
          </a:solidFill>
          <a:ln w="12700">
            <a:solidFill>
              <a:srgbClr val="74546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05800" y="1691640"/>
            <a:ext cx="3005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永久记忆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305800" y="2203704"/>
            <a:ext cx="298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产品是否保存并在未来重新提供</a:t>
            </a:r>
            <a:endParaRPr lang="en-US" sz="1120" dirty="0"/>
          </a:p>
        </p:txBody>
      </p:sp>
      <p:sp>
        <p:nvSpPr>
          <p:cNvPr id="22" name="Shape 20"/>
          <p:cNvSpPr/>
          <p:nvPr/>
        </p:nvSpPr>
        <p:spPr>
          <a:xfrm>
            <a:off x="658368" y="3273552"/>
            <a:ext cx="3480816" cy="1572768"/>
          </a:xfrm>
          <a:prstGeom prst="roundRect">
            <a:avLst>
              <a:gd name="adj" fmla="val 290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8368" y="3273552"/>
            <a:ext cx="64008" cy="1572768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05256" y="3483864"/>
            <a:ext cx="3005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模型已有知识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05256" y="3995928"/>
            <a:ext cx="298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训练中学到的能力，不等于本次材料</a:t>
            </a:r>
            <a:endParaRPr lang="en-US" sz="1120" dirty="0"/>
          </a:p>
        </p:txBody>
      </p:sp>
      <p:sp>
        <p:nvSpPr>
          <p:cNvPr id="26" name="Shape 24"/>
          <p:cNvSpPr/>
          <p:nvPr/>
        </p:nvSpPr>
        <p:spPr>
          <a:xfrm>
            <a:off x="4358640" y="3273552"/>
            <a:ext cx="3480816" cy="1572768"/>
          </a:xfrm>
          <a:prstGeom prst="roundRect">
            <a:avLst>
              <a:gd name="adj" fmla="val 290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58640" y="3273552"/>
            <a:ext cx="64008" cy="1572768"/>
          </a:xfrm>
          <a:prstGeom prst="rect">
            <a:avLst/>
          </a:prstGeom>
          <a:solidFill>
            <a:srgbClr val="405D78"/>
          </a:solidFill>
          <a:ln w="12700">
            <a:solidFill>
              <a:srgbClr val="405D7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05528" y="3483864"/>
            <a:ext cx="3005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产品数据库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605528" y="3995928"/>
            <a:ext cx="298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数据存在系统里，不代表已经给模型</a:t>
            </a:r>
            <a:endParaRPr lang="en-US" sz="1120" dirty="0"/>
          </a:p>
        </p:txBody>
      </p:sp>
      <p:sp>
        <p:nvSpPr>
          <p:cNvPr id="30" name="Text 28"/>
          <p:cNvSpPr/>
          <p:nvPr/>
        </p:nvSpPr>
        <p:spPr>
          <a:xfrm>
            <a:off x="914400" y="5413248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系统里有  ≠  模型这一次看到了</a:t>
            </a:r>
            <a:endParaRPr lang="en-US" sz="2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10896"/>
          </a:xfrm>
          <a:prstGeom prst="roundRect">
            <a:avLst>
              <a:gd name="adj" fmla="val 29412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30936" y="342900"/>
            <a:ext cx="4389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spc="105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Token与上下文窗口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上下文问题有两类：容量不够，和信息不好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766560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 Token与上下文窗口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17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13232" y="1572768"/>
            <a:ext cx="5285232" cy="4160520"/>
          </a:xfrm>
          <a:prstGeom prst="roundRect">
            <a:avLst>
              <a:gd name="adj" fmla="val 1099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1572768"/>
            <a:ext cx="64008" cy="416052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1783080"/>
            <a:ext cx="4809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容量问题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60120" y="2295144"/>
            <a:ext cx="4791456" cy="3227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无法提交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内容被截断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早期信息被移除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输出空间不足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系统先摘要或压缩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99632" y="1572768"/>
            <a:ext cx="5285232" cy="4160520"/>
          </a:xfrm>
          <a:prstGeom prst="roundRect">
            <a:avLst>
              <a:gd name="adj" fmla="val 1099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99632" y="1572768"/>
            <a:ext cx="64008" cy="416052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1783080"/>
            <a:ext cx="4809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质量问题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46520" y="2295144"/>
            <a:ext cx="4791456" cy="3227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无关信息太多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多个版本冲突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重要事实埋得太深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材料没有来源和时间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任务本身过于复杂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5705856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窗口回答“最多能装多少”｜设计回答“当前应该装什么”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10896"/>
          </a:xfrm>
          <a:prstGeom prst="roundRect">
            <a:avLst>
              <a:gd name="adj" fmla="val 29412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30936" y="342900"/>
            <a:ext cx="4389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spc="105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Token与上下文窗口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课堂练习：这五类材料，本次应该怎样提供？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766560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 Token与上下文窗口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18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58368" y="1572768"/>
            <a:ext cx="2000707" cy="2331720"/>
          </a:xfrm>
          <a:prstGeom prst="roundRect">
            <a:avLst>
              <a:gd name="adj" fmla="val 2285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1572768"/>
            <a:ext cx="64008" cy="233172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05256" y="1783080"/>
            <a:ext cx="15252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本次拜访转写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05256" y="2295144"/>
            <a:ext cx="1506931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含说话人标签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2878531" y="1572768"/>
            <a:ext cx="2000707" cy="2331720"/>
          </a:xfrm>
          <a:prstGeom prst="roundRect">
            <a:avLst>
              <a:gd name="adj" fmla="val 2285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878531" y="1572768"/>
            <a:ext cx="64008" cy="2331720"/>
          </a:xfrm>
          <a:prstGeom prst="rect">
            <a:avLst/>
          </a:prstGeom>
          <a:solidFill>
            <a:srgbClr val="405D78"/>
          </a:solidFill>
          <a:ln w="12700">
            <a:solidFill>
              <a:srgbClr val="405D7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25419" y="1783080"/>
            <a:ext cx="15252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客户基本资料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125419" y="2295144"/>
            <a:ext cx="1506931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当前商机阶段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5098694" y="1572768"/>
            <a:ext cx="2000707" cy="2331720"/>
          </a:xfrm>
          <a:prstGeom prst="roundRect">
            <a:avLst>
              <a:gd name="adj" fmla="val 2285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98694" y="1572768"/>
            <a:ext cx="64008" cy="2331720"/>
          </a:xfrm>
          <a:prstGeom prst="rect">
            <a:avLst/>
          </a:prstGeom>
          <a:solidFill>
            <a:srgbClr val="74546A"/>
          </a:solidFill>
          <a:ln w="12700">
            <a:solidFill>
              <a:srgbClr val="74546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45582" y="1783080"/>
            <a:ext cx="15252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产品方案说明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345582" y="2295144"/>
            <a:ext cx="1506931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本次讨论版本</a:t>
            </a:r>
            <a:endParaRPr lang="en-US" sz="1120" dirty="0"/>
          </a:p>
        </p:txBody>
      </p:sp>
      <p:sp>
        <p:nvSpPr>
          <p:cNvPr id="22" name="Shape 20"/>
          <p:cNvSpPr/>
          <p:nvPr/>
        </p:nvSpPr>
        <p:spPr>
          <a:xfrm>
            <a:off x="7318858" y="1572768"/>
            <a:ext cx="2000707" cy="2331720"/>
          </a:xfrm>
          <a:prstGeom prst="roundRect">
            <a:avLst>
              <a:gd name="adj" fmla="val 2285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18858" y="1572768"/>
            <a:ext cx="64008" cy="233172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65746" y="1783080"/>
            <a:ext cx="15252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全部CRM记录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565746" y="2295144"/>
            <a:ext cx="1506931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过去三年</a:t>
            </a:r>
            <a:endParaRPr lang="en-US" sz="1120" dirty="0"/>
          </a:p>
        </p:txBody>
      </p:sp>
      <p:sp>
        <p:nvSpPr>
          <p:cNvPr id="26" name="Shape 24"/>
          <p:cNvSpPr/>
          <p:nvPr/>
        </p:nvSpPr>
        <p:spPr>
          <a:xfrm>
            <a:off x="9539021" y="1572768"/>
            <a:ext cx="2000707" cy="2331720"/>
          </a:xfrm>
          <a:prstGeom prst="roundRect">
            <a:avLst>
              <a:gd name="adj" fmla="val 2285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539021" y="1572768"/>
            <a:ext cx="64008" cy="233172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785909" y="1783080"/>
            <a:ext cx="15252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公司所有资料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785909" y="2295144"/>
            <a:ext cx="1506931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产品、制度、培训</a:t>
            </a:r>
            <a:endParaRPr lang="en-US" sz="1120" dirty="0"/>
          </a:p>
        </p:txBody>
      </p:sp>
      <p:sp>
        <p:nvSpPr>
          <p:cNvPr id="30" name="Shape 28"/>
          <p:cNvSpPr/>
          <p:nvPr/>
        </p:nvSpPr>
        <p:spPr>
          <a:xfrm>
            <a:off x="2148840" y="4160520"/>
            <a:ext cx="2502408" cy="1554480"/>
          </a:xfrm>
          <a:prstGeom prst="roundRect">
            <a:avLst>
              <a:gd name="adj" fmla="val 2941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13432" y="4334256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87B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286000" y="4727448"/>
            <a:ext cx="2228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必须提供</a:t>
            </a:r>
            <a:endParaRPr lang="en-US" sz="1320" dirty="0"/>
          </a:p>
        </p:txBody>
      </p:sp>
      <p:sp>
        <p:nvSpPr>
          <p:cNvPr id="33" name="Shape 31"/>
          <p:cNvSpPr/>
          <p:nvPr/>
        </p:nvSpPr>
        <p:spPr>
          <a:xfrm>
            <a:off x="4852416" y="4160520"/>
            <a:ext cx="2502408" cy="1554480"/>
          </a:xfrm>
          <a:prstGeom prst="roundRect">
            <a:avLst>
              <a:gd name="adj" fmla="val 2941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17008" y="4334256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18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989576" y="4727448"/>
            <a:ext cx="2228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按需提供</a:t>
            </a:r>
            <a:endParaRPr lang="en-US" sz="1320" dirty="0"/>
          </a:p>
        </p:txBody>
      </p:sp>
      <p:sp>
        <p:nvSpPr>
          <p:cNvPr id="36" name="Shape 34"/>
          <p:cNvSpPr/>
          <p:nvPr/>
        </p:nvSpPr>
        <p:spPr>
          <a:xfrm>
            <a:off x="7555992" y="4160520"/>
            <a:ext cx="2502408" cy="1554480"/>
          </a:xfrm>
          <a:prstGeom prst="roundRect">
            <a:avLst>
              <a:gd name="adj" fmla="val 2941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20584" y="4334256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693152" y="4727448"/>
            <a:ext cx="2228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暂不需要</a:t>
            </a:r>
            <a:endParaRPr lang="en-US" sz="1320" dirty="0"/>
          </a:p>
        </p:txBody>
      </p:sp>
      <p:sp>
        <p:nvSpPr>
          <p:cNvPr id="39" name="Text 37"/>
          <p:cNvSpPr/>
          <p:nvPr/>
        </p:nvSpPr>
        <p:spPr>
          <a:xfrm>
            <a:off x="914400" y="580644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判断提示：删除这项信息，哪一项目标输出会明显变差？｜时间 3分钟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10896"/>
          </a:xfrm>
          <a:prstGeom prst="roundRect">
            <a:avLst>
              <a:gd name="adj" fmla="val 29412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30936" y="342900"/>
            <a:ext cx="4389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spc="105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从目标输出反推上下文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Prompt写得很长，为什么还是不能验收？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766560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 从目标输出反推上下文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19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13232" y="1572768"/>
            <a:ext cx="6720840" cy="4160520"/>
          </a:xfrm>
          <a:prstGeom prst="roundRect">
            <a:avLst>
              <a:gd name="adj" fmla="val 1099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1572768"/>
            <a:ext cx="64008" cy="4160520"/>
          </a:xfrm>
          <a:prstGeom prst="rect">
            <a:avLst/>
          </a:prstGeom>
          <a:solidFill>
            <a:srgbClr val="74546A"/>
          </a:solidFill>
          <a:ln w="12700">
            <a:solidFill>
              <a:srgbClr val="7454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1783080"/>
            <a:ext cx="6245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看起来很专业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60120" y="2295144"/>
            <a:ext cx="6227064" cy="3227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你是一位非常资深、非常专业、逻辑严密、洞察敏锐、表达清晰的销售专家。请认真、全面、深入地分析下面的内容，输出一份高质量、专业、有价值、让人满意的销售拜访总结。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58368" y="1572768"/>
            <a:ext cx="10881360" cy="1143000"/>
          </a:xfrm>
          <a:prstGeom prst="roundRect">
            <a:avLst>
              <a:gd name="adj" fmla="val 4000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8368" y="1572768"/>
            <a:ext cx="64008" cy="114300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5256" y="1783080"/>
            <a:ext cx="10405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给谁使用？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58368" y="2935224"/>
            <a:ext cx="10881360" cy="1143000"/>
          </a:xfrm>
          <a:prstGeom prst="roundRect">
            <a:avLst>
              <a:gd name="adj" fmla="val 4000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" y="2935224"/>
            <a:ext cx="64008" cy="114300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5256" y="3145536"/>
            <a:ext cx="10405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交付什么？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58368" y="4297680"/>
            <a:ext cx="10881360" cy="1143000"/>
          </a:xfrm>
          <a:prstGeom prst="roundRect">
            <a:avLst>
              <a:gd name="adj" fmla="val 4000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8368" y="4297680"/>
            <a:ext cx="64008" cy="114300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5256" y="4507992"/>
            <a:ext cx="10405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怎样判断可用？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14400" y="577900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“专业、深入、高质量”是形容词，不是可检查的产品要求。</a:t>
            </a:r>
            <a:endParaRPr lang="en-US" sz="15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10896"/>
          </a:xfrm>
          <a:prstGeom prst="roundRect">
            <a:avLst>
              <a:gd name="adj" fmla="val 29412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30936" y="342900"/>
            <a:ext cx="4389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spc="105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从目标输出反推上下文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写Prompt之前，先按这个顺序思考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766560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 从目标输出反推上下文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11480" y="1691640"/>
            <a:ext cx="2110435" cy="1554480"/>
          </a:xfrm>
          <a:prstGeom prst="roundRect">
            <a:avLst>
              <a:gd name="adj" fmla="val 2941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" y="1865376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2258568"/>
            <a:ext cx="18361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用户与时点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566928" y="2724912"/>
            <a:ext cx="17995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谁在何时用</a:t>
            </a:r>
            <a:endParaRPr lang="en-US" sz="970" dirty="0"/>
          </a:p>
        </p:txBody>
      </p:sp>
      <p:sp>
        <p:nvSpPr>
          <p:cNvPr id="14" name="Shape 12"/>
          <p:cNvSpPr/>
          <p:nvPr/>
        </p:nvSpPr>
        <p:spPr>
          <a:xfrm>
            <a:off x="2723083" y="1691640"/>
            <a:ext cx="2110435" cy="1554480"/>
          </a:xfrm>
          <a:prstGeom prst="roundRect">
            <a:avLst>
              <a:gd name="adj" fmla="val 2941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87675" y="1865376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05D7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860243" y="2258568"/>
            <a:ext cx="18361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目标输出</a:t>
            </a:r>
            <a:endParaRPr lang="en-US" sz="1320" dirty="0"/>
          </a:p>
        </p:txBody>
      </p:sp>
      <p:sp>
        <p:nvSpPr>
          <p:cNvPr id="17" name="Text 15"/>
          <p:cNvSpPr/>
          <p:nvPr/>
        </p:nvSpPr>
        <p:spPr>
          <a:xfrm>
            <a:off x="2878531" y="2724912"/>
            <a:ext cx="17995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要交付什么</a:t>
            </a:r>
            <a:endParaRPr lang="en-US" sz="970" dirty="0"/>
          </a:p>
        </p:txBody>
      </p:sp>
      <p:sp>
        <p:nvSpPr>
          <p:cNvPr id="18" name="Shape 16"/>
          <p:cNvSpPr/>
          <p:nvPr/>
        </p:nvSpPr>
        <p:spPr>
          <a:xfrm>
            <a:off x="5034686" y="1691640"/>
            <a:ext cx="2110435" cy="1554480"/>
          </a:xfrm>
          <a:prstGeom prst="roundRect">
            <a:avLst>
              <a:gd name="adj" fmla="val 2941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99278" y="1865376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87B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171846" y="2258568"/>
            <a:ext cx="18361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验收标准</a:t>
            </a:r>
            <a:endParaRPr lang="en-US" sz="1320" dirty="0"/>
          </a:p>
        </p:txBody>
      </p:sp>
      <p:sp>
        <p:nvSpPr>
          <p:cNvPr id="21" name="Text 19"/>
          <p:cNvSpPr/>
          <p:nvPr/>
        </p:nvSpPr>
        <p:spPr>
          <a:xfrm>
            <a:off x="5190134" y="2724912"/>
            <a:ext cx="17995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怎样算可用</a:t>
            </a:r>
            <a:endParaRPr lang="en-US" sz="970" dirty="0"/>
          </a:p>
        </p:txBody>
      </p:sp>
      <p:sp>
        <p:nvSpPr>
          <p:cNvPr id="22" name="Shape 20"/>
          <p:cNvSpPr/>
          <p:nvPr/>
        </p:nvSpPr>
        <p:spPr>
          <a:xfrm>
            <a:off x="7346290" y="1691640"/>
            <a:ext cx="2110435" cy="1554480"/>
          </a:xfrm>
          <a:prstGeom prst="roundRect">
            <a:avLst>
              <a:gd name="adj" fmla="val 2941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10882" y="1865376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18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483450" y="2258568"/>
            <a:ext cx="18361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必要信息</a:t>
            </a:r>
            <a:endParaRPr lang="en-US" sz="1320" dirty="0"/>
          </a:p>
        </p:txBody>
      </p:sp>
      <p:sp>
        <p:nvSpPr>
          <p:cNvPr id="25" name="Text 23"/>
          <p:cNvSpPr/>
          <p:nvPr/>
        </p:nvSpPr>
        <p:spPr>
          <a:xfrm>
            <a:off x="7501738" y="2724912"/>
            <a:ext cx="17995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模型需要什么</a:t>
            </a:r>
            <a:endParaRPr lang="en-US" sz="970" dirty="0"/>
          </a:p>
        </p:txBody>
      </p:sp>
      <p:sp>
        <p:nvSpPr>
          <p:cNvPr id="26" name="Shape 24"/>
          <p:cNvSpPr/>
          <p:nvPr/>
        </p:nvSpPr>
        <p:spPr>
          <a:xfrm>
            <a:off x="9657893" y="1691640"/>
            <a:ext cx="2110435" cy="1554480"/>
          </a:xfrm>
          <a:prstGeom prst="roundRect">
            <a:avLst>
              <a:gd name="adj" fmla="val 2941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822485" y="1865376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4546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795053" y="2258568"/>
            <a:ext cx="18361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Prompt与流程</a:t>
            </a:r>
            <a:endParaRPr lang="en-US" sz="1320" dirty="0"/>
          </a:p>
        </p:txBody>
      </p:sp>
      <p:sp>
        <p:nvSpPr>
          <p:cNvPr id="29" name="Text 27"/>
          <p:cNvSpPr/>
          <p:nvPr/>
        </p:nvSpPr>
        <p:spPr>
          <a:xfrm>
            <a:off x="9813341" y="2724912"/>
            <a:ext cx="17995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最后组织处理</a:t>
            </a:r>
            <a:endParaRPr lang="en-US" sz="970" dirty="0"/>
          </a:p>
        </p:txBody>
      </p:sp>
      <p:sp>
        <p:nvSpPr>
          <p:cNvPr id="30" name="Shape 28"/>
          <p:cNvSpPr/>
          <p:nvPr/>
        </p:nvSpPr>
        <p:spPr>
          <a:xfrm>
            <a:off x="1005840" y="4069080"/>
            <a:ext cx="73152" cy="749808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325880" y="4160520"/>
            <a:ext cx="9646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这是产品设计顺序，不是系统运行顺序。</a:t>
            </a:r>
            <a:endParaRPr lang="en-US" sz="1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10896"/>
          </a:xfrm>
          <a:prstGeom prst="roundRect">
            <a:avLst>
              <a:gd name="adj" fmla="val 29412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30936" y="342900"/>
            <a:ext cx="4389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spc="105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从目标输出反推上下文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同一段拜访录音，给不同人，目标输出会不同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766560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 从目标输出反推上下文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21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58368" y="1572768"/>
            <a:ext cx="2555748" cy="2286000"/>
          </a:xfrm>
          <a:prstGeom prst="roundRect">
            <a:avLst>
              <a:gd name="adj" fmla="val 2000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1572768"/>
            <a:ext cx="64008" cy="228600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05256" y="1783080"/>
            <a:ext cx="20802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一线销售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05256" y="2295144"/>
            <a:ext cx="2061972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诉求、异议、行动项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3433572" y="1572768"/>
            <a:ext cx="2555748" cy="2286000"/>
          </a:xfrm>
          <a:prstGeom prst="roundRect">
            <a:avLst>
              <a:gd name="adj" fmla="val 2000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33572" y="1572768"/>
            <a:ext cx="64008" cy="228600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80460" y="1783080"/>
            <a:ext cx="20802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销售主管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680460" y="2295144"/>
            <a:ext cx="2061972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阶段、缺口、风险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6208776" y="1572768"/>
            <a:ext cx="2555748" cy="2286000"/>
          </a:xfrm>
          <a:prstGeom prst="roundRect">
            <a:avLst>
              <a:gd name="adj" fmla="val 2000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08776" y="1572768"/>
            <a:ext cx="64008" cy="228600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55664" y="1783080"/>
            <a:ext cx="20802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客户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55664" y="2295144"/>
            <a:ext cx="2061972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结论、双方行动和时间</a:t>
            </a:r>
            <a:endParaRPr lang="en-US" sz="1120" dirty="0"/>
          </a:p>
        </p:txBody>
      </p:sp>
      <p:sp>
        <p:nvSpPr>
          <p:cNvPr id="22" name="Shape 20"/>
          <p:cNvSpPr/>
          <p:nvPr/>
        </p:nvSpPr>
        <p:spPr>
          <a:xfrm>
            <a:off x="8983980" y="1572768"/>
            <a:ext cx="2555748" cy="2286000"/>
          </a:xfrm>
          <a:prstGeom prst="roundRect">
            <a:avLst>
              <a:gd name="adj" fmla="val 2000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983980" y="1572768"/>
            <a:ext cx="64008" cy="2286000"/>
          </a:xfrm>
          <a:prstGeom prst="rect">
            <a:avLst/>
          </a:prstGeom>
          <a:solidFill>
            <a:srgbClr val="405D78"/>
          </a:solidFill>
          <a:ln w="12700">
            <a:solidFill>
              <a:srgbClr val="405D7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30868" y="1783080"/>
            <a:ext cx="20802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CRM系统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230868" y="2295144"/>
            <a:ext cx="2061972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字段、状态和证据</a:t>
            </a:r>
            <a:endParaRPr lang="en-US" sz="1120" dirty="0"/>
          </a:p>
        </p:txBody>
      </p:sp>
      <p:sp>
        <p:nvSpPr>
          <p:cNvPr id="26" name="Shape 24"/>
          <p:cNvSpPr/>
          <p:nvPr/>
        </p:nvSpPr>
        <p:spPr>
          <a:xfrm>
            <a:off x="914400" y="4315968"/>
            <a:ext cx="73152" cy="91440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34440" y="4407408"/>
            <a:ext cx="9738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本课统一假设｜一线销售在拜访后10分钟内检查AI草稿、录入CRM并准备跟进。</a:t>
            </a:r>
            <a:endParaRPr lang="en-US" sz="17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10896"/>
          </a:xfrm>
          <a:prstGeom prst="roundRect">
            <a:avLst>
              <a:gd name="adj" fmla="val 29412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30936" y="342900"/>
            <a:ext cx="4389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spc="105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从目标输出反推上下文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“要什么、怎么放、怎样算合格”是三个问题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766560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 从目标输出反推上下文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22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58368" y="1572768"/>
            <a:ext cx="3480816" cy="3246120"/>
          </a:xfrm>
          <a:prstGeom prst="roundRect">
            <a:avLst>
              <a:gd name="adj" fmla="val 14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1572768"/>
            <a:ext cx="64008" cy="324612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05256" y="1783080"/>
            <a:ext cx="3005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目标输出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05256" y="2295144"/>
            <a:ext cx="2987040" cy="2313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AI要交付什么？</a:t>
            </a: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下一步行动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4358640" y="1572768"/>
            <a:ext cx="3480816" cy="3246120"/>
          </a:xfrm>
          <a:prstGeom prst="roundRect">
            <a:avLst>
              <a:gd name="adj" fmla="val 14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58640" y="1572768"/>
            <a:ext cx="64008" cy="3246120"/>
          </a:xfrm>
          <a:prstGeom prst="rect">
            <a:avLst/>
          </a:prstGeom>
          <a:solidFill>
            <a:srgbClr val="405D78"/>
          </a:solidFill>
          <a:ln w="12700">
            <a:solidFill>
              <a:srgbClr val="405D7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05528" y="1783080"/>
            <a:ext cx="3005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输出格式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605528" y="2295144"/>
            <a:ext cx="2987040" cy="2313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结果怎样呈现？</a:t>
            </a: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CRM字段或表格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8058912" y="1572768"/>
            <a:ext cx="3480816" cy="3246120"/>
          </a:xfrm>
          <a:prstGeom prst="roundRect">
            <a:avLst>
              <a:gd name="adj" fmla="val 14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58912" y="1572768"/>
            <a:ext cx="64008" cy="324612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05800" y="1783080"/>
            <a:ext cx="3005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验收标准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305800" y="2295144"/>
            <a:ext cx="2987040" cy="2313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怎样判断可用？</a:t>
            </a: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人、事、时间、状态齐全</a:t>
            </a:r>
            <a:endParaRPr lang="en-US" sz="1120" dirty="0"/>
          </a:p>
        </p:txBody>
      </p:sp>
      <p:sp>
        <p:nvSpPr>
          <p:cNvPr id="22" name="Text 20"/>
          <p:cNvSpPr/>
          <p:nvPr/>
        </p:nvSpPr>
        <p:spPr>
          <a:xfrm>
            <a:off x="914400" y="528523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“用表格输出”只能规定形式，不能保证表格里的事实正确。</a:t>
            </a:r>
            <a:endParaRPr lang="en-US" sz="17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10896"/>
          </a:xfrm>
          <a:prstGeom prst="roundRect">
            <a:avLst>
              <a:gd name="adj" fmla="val 29412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30936" y="342900"/>
            <a:ext cx="4389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spc="105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从目标输出反推上下文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课堂练习：从目标输出反推必要上下文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766560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 从目标输出反推上下文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23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85800" y="1508760"/>
            <a:ext cx="4892040" cy="4434840"/>
          </a:xfrm>
          <a:prstGeom prst="roundRect">
            <a:avLst>
              <a:gd name="adj" fmla="val 1031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85800" y="1508760"/>
            <a:ext cx="64008" cy="443484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719072"/>
            <a:ext cx="4416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已给定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32688" y="2231136"/>
            <a:ext cx="4398264" cy="3502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7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用户｜一线销售</a:t>
            </a:r>
            <a:endParaRPr lang="en-US" sz="1270" dirty="0"/>
          </a:p>
          <a:p>
            <a:pPr algn="l" indent="0" marL="0">
              <a:buNone/>
            </a:pPr>
            <a:r>
              <a:rPr lang="en-US" sz="127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时点｜拜访后10分钟内</a:t>
            </a:r>
            <a:endParaRPr lang="en-US" sz="1270" dirty="0"/>
          </a:p>
          <a:p>
            <a:pPr algn="l" indent="0" marL="0">
              <a:buNone/>
            </a:pPr>
            <a:r>
              <a:rPr lang="en-US" sz="127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示例输出｜客户核心诉求</a:t>
            </a:r>
            <a:endParaRPr lang="en-US" sz="1270" dirty="0"/>
          </a:p>
          <a:p>
            <a:pPr algn="l" indent="0" marL="0">
              <a:buNone/>
            </a:pPr>
            <a:endParaRPr lang="en-US" sz="1270" dirty="0"/>
          </a:p>
          <a:p>
            <a:pPr algn="l" indent="0" marL="0">
              <a:buNone/>
            </a:pPr>
            <a:r>
              <a:rPr lang="en-US" sz="127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请完成</a:t>
            </a:r>
            <a:endParaRPr lang="en-US" sz="1270" dirty="0"/>
          </a:p>
          <a:p>
            <a:pPr algn="l" indent="0" marL="0">
              <a:buNone/>
            </a:pPr>
            <a:r>
              <a:rPr lang="en-US" sz="127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① 再补1项目标输出＋验收</a:t>
            </a:r>
            <a:endParaRPr lang="en-US" sz="1270" dirty="0"/>
          </a:p>
          <a:p>
            <a:pPr algn="l" indent="0" marL="0">
              <a:buNone/>
            </a:pPr>
            <a:r>
              <a:rPr lang="en-US" sz="127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② 选择至少3项上下文</a:t>
            </a:r>
            <a:endParaRPr lang="en-US" sz="1270" dirty="0"/>
          </a:p>
          <a:p>
            <a:pPr algn="l" indent="0" marL="0">
              <a:buNone/>
            </a:pPr>
            <a:r>
              <a:rPr lang="en-US" sz="127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③ 标记事实／背景／规则</a:t>
            </a:r>
            <a:endParaRPr lang="en-US" sz="1270" dirty="0"/>
          </a:p>
          <a:p>
            <a:pPr algn="l" indent="0" marL="0">
              <a:buNone/>
            </a:pPr>
            <a:r>
              <a:rPr lang="en-US" sz="127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④ 写清支持哪项目标输出</a:t>
            </a:r>
            <a:endParaRPr lang="en-US" sz="1270" dirty="0"/>
          </a:p>
        </p:txBody>
      </p:sp>
      <p:sp>
        <p:nvSpPr>
          <p:cNvPr id="14" name="Shape 12"/>
          <p:cNvSpPr/>
          <p:nvPr/>
        </p:nvSpPr>
        <p:spPr>
          <a:xfrm>
            <a:off x="5806440" y="1508760"/>
            <a:ext cx="1682496" cy="1133856"/>
          </a:xfrm>
          <a:prstGeom prst="roundRect">
            <a:avLst>
              <a:gd name="adj" fmla="val 4032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806440" y="1508760"/>
            <a:ext cx="64008" cy="1133856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53328" y="1719072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拜访转写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653528" y="1508760"/>
            <a:ext cx="1682496" cy="1133856"/>
          </a:xfrm>
          <a:prstGeom prst="roundRect">
            <a:avLst>
              <a:gd name="adj" fmla="val 4032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653528" y="1508760"/>
            <a:ext cx="64008" cy="1133856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00416" y="1719072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说话人标签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500616" y="1508760"/>
            <a:ext cx="1682496" cy="1133856"/>
          </a:xfrm>
          <a:prstGeom prst="roundRect">
            <a:avLst>
              <a:gd name="adj" fmla="val 4032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500616" y="1508760"/>
            <a:ext cx="64008" cy="1133856"/>
          </a:xfrm>
          <a:prstGeom prst="rect">
            <a:avLst/>
          </a:prstGeom>
          <a:solidFill>
            <a:srgbClr val="405D78"/>
          </a:solidFill>
          <a:ln w="12700">
            <a:solidFill>
              <a:srgbClr val="405D7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47504" y="1719072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客户资料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806440" y="2898648"/>
            <a:ext cx="1682496" cy="1133856"/>
          </a:xfrm>
          <a:prstGeom prst="roundRect">
            <a:avLst>
              <a:gd name="adj" fmla="val 4032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806440" y="2898648"/>
            <a:ext cx="64008" cy="1133856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53328" y="3108960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商机阶段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653528" y="2898648"/>
            <a:ext cx="1682496" cy="1133856"/>
          </a:xfrm>
          <a:prstGeom prst="roundRect">
            <a:avLst>
              <a:gd name="adj" fmla="val 4032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653528" y="2898648"/>
            <a:ext cx="64008" cy="1133856"/>
          </a:xfrm>
          <a:prstGeom prst="rect">
            <a:avLst/>
          </a:prstGeom>
          <a:solidFill>
            <a:srgbClr val="74546A"/>
          </a:solidFill>
          <a:ln w="12700">
            <a:solidFill>
              <a:srgbClr val="74546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900416" y="3108960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CRM字段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9500616" y="2898648"/>
            <a:ext cx="1682496" cy="1133856"/>
          </a:xfrm>
          <a:prstGeom prst="roundRect">
            <a:avLst>
              <a:gd name="adj" fmla="val 4032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500616" y="2898648"/>
            <a:ext cx="64008" cy="1133856"/>
          </a:xfrm>
          <a:prstGeom prst="rect">
            <a:avLst/>
          </a:prstGeom>
          <a:solidFill>
            <a:srgbClr val="527553"/>
          </a:solidFill>
          <a:ln w="12700">
            <a:solidFill>
              <a:srgbClr val="52755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747504" y="3108960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缺失处理规则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806440" y="4288536"/>
            <a:ext cx="1682496" cy="1133856"/>
          </a:xfrm>
          <a:prstGeom prst="roundRect">
            <a:avLst>
              <a:gd name="adj" fmla="val 4032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7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806440" y="4288536"/>
            <a:ext cx="64008" cy="1133856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53328" y="4498848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全部历史资料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7653528" y="4288536"/>
            <a:ext cx="1682496" cy="1133856"/>
          </a:xfrm>
          <a:prstGeom prst="roundRect">
            <a:avLst>
              <a:gd name="adj" fmla="val 4032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7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653528" y="4288536"/>
            <a:ext cx="64008" cy="1133856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900416" y="4498848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无关聊天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9500616" y="4288536"/>
            <a:ext cx="1682496" cy="1133856"/>
          </a:xfrm>
          <a:prstGeom prst="roundRect">
            <a:avLst>
              <a:gd name="adj" fmla="val 4032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7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9500616" y="4288536"/>
            <a:ext cx="64008" cy="1133856"/>
          </a:xfrm>
          <a:prstGeom prst="rect">
            <a:avLst/>
          </a:prstGeom>
          <a:solidFill>
            <a:srgbClr val="405D78"/>
          </a:solidFill>
          <a:ln w="12700">
            <a:solidFill>
              <a:srgbClr val="405D7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747504" y="4498848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产品方案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10195560" y="749808"/>
            <a:ext cx="978408" cy="310896"/>
          </a:xfrm>
          <a:prstGeom prst="roundRect">
            <a:avLst>
              <a:gd name="adj" fmla="val 29412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259568" y="818388"/>
            <a:ext cx="8503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04:00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10896"/>
          </a:xfrm>
          <a:prstGeom prst="roundRect">
            <a:avLst>
              <a:gd name="adj" fmla="val 29412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30936" y="342900"/>
            <a:ext cx="4389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spc="105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结构化Prompt六要素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六要素：检查任务说明有没有漏掉重要信息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766560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 结构化Prompt六要素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24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58368" y="1481328"/>
            <a:ext cx="3480816" cy="1682496"/>
          </a:xfrm>
          <a:prstGeom prst="roundRect">
            <a:avLst>
              <a:gd name="adj" fmla="val 271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1481328"/>
            <a:ext cx="64008" cy="1682496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05256" y="1691640"/>
            <a:ext cx="3005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 角色与能力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05256" y="2203704"/>
            <a:ext cx="2987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承担什么职责？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4358640" y="1481328"/>
            <a:ext cx="3480816" cy="1682496"/>
          </a:xfrm>
          <a:prstGeom prst="roundRect">
            <a:avLst>
              <a:gd name="adj" fmla="val 271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58640" y="1481328"/>
            <a:ext cx="64008" cy="1682496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05528" y="1691640"/>
            <a:ext cx="3005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 任务目标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605528" y="2203704"/>
            <a:ext cx="2987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这次必须完成什么？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8058912" y="1481328"/>
            <a:ext cx="3480816" cy="1682496"/>
          </a:xfrm>
          <a:prstGeom prst="roundRect">
            <a:avLst>
              <a:gd name="adj" fmla="val 271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58912" y="1481328"/>
            <a:ext cx="64008" cy="1682496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05800" y="1691640"/>
            <a:ext cx="3005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 背景与输入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305800" y="2203704"/>
            <a:ext cx="2987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依据哪些事实？</a:t>
            </a:r>
            <a:endParaRPr lang="en-US" sz="1120" dirty="0"/>
          </a:p>
        </p:txBody>
      </p:sp>
      <p:sp>
        <p:nvSpPr>
          <p:cNvPr id="22" name="Shape 20"/>
          <p:cNvSpPr/>
          <p:nvPr/>
        </p:nvSpPr>
        <p:spPr>
          <a:xfrm>
            <a:off x="658368" y="3383280"/>
            <a:ext cx="3480816" cy="1682496"/>
          </a:xfrm>
          <a:prstGeom prst="roundRect">
            <a:avLst>
              <a:gd name="adj" fmla="val 271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8368" y="3383280"/>
            <a:ext cx="64008" cy="1682496"/>
          </a:xfrm>
          <a:prstGeom prst="rect">
            <a:avLst/>
          </a:prstGeom>
          <a:solidFill>
            <a:srgbClr val="74546A"/>
          </a:solidFill>
          <a:ln w="12700">
            <a:solidFill>
              <a:srgbClr val="7454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05256" y="3593592"/>
            <a:ext cx="3005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 规则与约束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05256" y="4105656"/>
            <a:ext cx="2987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哪些边界必须遵守？</a:t>
            </a:r>
            <a:endParaRPr lang="en-US" sz="1120" dirty="0"/>
          </a:p>
        </p:txBody>
      </p:sp>
      <p:sp>
        <p:nvSpPr>
          <p:cNvPr id="26" name="Shape 24"/>
          <p:cNvSpPr/>
          <p:nvPr/>
        </p:nvSpPr>
        <p:spPr>
          <a:xfrm>
            <a:off x="4358640" y="3383280"/>
            <a:ext cx="3480816" cy="1682496"/>
          </a:xfrm>
          <a:prstGeom prst="roundRect">
            <a:avLst>
              <a:gd name="adj" fmla="val 271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58640" y="3383280"/>
            <a:ext cx="64008" cy="1682496"/>
          </a:xfrm>
          <a:prstGeom prst="rect">
            <a:avLst/>
          </a:prstGeom>
          <a:solidFill>
            <a:srgbClr val="405D78"/>
          </a:solidFill>
          <a:ln w="12700">
            <a:solidFill>
              <a:srgbClr val="405D7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05528" y="3593592"/>
            <a:ext cx="3005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 输出与验收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605528" y="4105656"/>
            <a:ext cx="2987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怎样组织、怎样算可用？</a:t>
            </a:r>
            <a:endParaRPr lang="en-US" sz="1120" dirty="0"/>
          </a:p>
        </p:txBody>
      </p:sp>
      <p:sp>
        <p:nvSpPr>
          <p:cNvPr id="30" name="Shape 28"/>
          <p:cNvSpPr/>
          <p:nvPr/>
        </p:nvSpPr>
        <p:spPr>
          <a:xfrm>
            <a:off x="8058912" y="3383280"/>
            <a:ext cx="3480816" cy="1682496"/>
          </a:xfrm>
          <a:prstGeom prst="roundRect">
            <a:avLst>
              <a:gd name="adj" fmla="val 271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058912" y="3383280"/>
            <a:ext cx="64008" cy="1682496"/>
          </a:xfrm>
          <a:prstGeom prst="rect">
            <a:avLst/>
          </a:prstGeom>
          <a:solidFill>
            <a:srgbClr val="527553"/>
          </a:solidFill>
          <a:ln w="12700">
            <a:solidFill>
              <a:srgbClr val="52755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05800" y="3593592"/>
            <a:ext cx="3005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 示例与迭代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305800" y="4105656"/>
            <a:ext cx="2987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是否需要示例、检查或补问？</a:t>
            </a:r>
            <a:endParaRPr lang="en-US" sz="1120" dirty="0"/>
          </a:p>
        </p:txBody>
      </p:sp>
      <p:sp>
        <p:nvSpPr>
          <p:cNvPr id="34" name="Text 32"/>
          <p:cNvSpPr/>
          <p:nvPr/>
        </p:nvSpPr>
        <p:spPr>
          <a:xfrm>
            <a:off x="914400" y="5321808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本课程基于参考框架重新整理｜不是固定语法｜不要求全部写满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10896"/>
          </a:xfrm>
          <a:prstGeom prst="roundRect">
            <a:avLst>
              <a:gd name="adj" fmla="val 29412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30936" y="342900"/>
            <a:ext cx="4389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spc="105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结构化Prompt六要素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角色不能替代任务，形容词不能替代责任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766560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 结构化Prompt六要素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25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13232" y="1572768"/>
            <a:ext cx="5285232" cy="4251960"/>
          </a:xfrm>
          <a:prstGeom prst="roundRect">
            <a:avLst>
              <a:gd name="adj" fmla="val 1075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1572768"/>
            <a:ext cx="64008" cy="425196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1783080"/>
            <a:ext cx="4809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角色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60120" y="2295144"/>
            <a:ext cx="4791456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不建议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“全世界最顶级的销售专家”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更具体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“依据材料生成供销售检查的CRM草稿”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99632" y="1572768"/>
            <a:ext cx="5285232" cy="4251960"/>
          </a:xfrm>
          <a:prstGeom prst="roundRect">
            <a:avLst>
              <a:gd name="adj" fmla="val 1075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99632" y="1572768"/>
            <a:ext cx="64008" cy="425196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1783080"/>
            <a:ext cx="4809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任务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46520" y="2295144"/>
            <a:ext cx="4791456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不够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“请专业地分析一下”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更具体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“整理诉求、异议、行动项和待确认信息”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571500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角色回答“承担什么职责”｜任务回答“完成什么、用于什么”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10896"/>
          </a:xfrm>
          <a:prstGeom prst="roundRect">
            <a:avLst>
              <a:gd name="adj" fmla="val 29412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30936" y="342900"/>
            <a:ext cx="4389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spc="105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结构化Prompt六要素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输入材料告诉模型“依据什么”，规则告诉模型“不能越过什么”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766560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 结构化Prompt六要素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26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13232" y="1572768"/>
            <a:ext cx="5285232" cy="4251960"/>
          </a:xfrm>
          <a:prstGeom prst="roundRect">
            <a:avLst>
              <a:gd name="adj" fmla="val 1075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1572768"/>
            <a:ext cx="64008" cy="4251960"/>
          </a:xfrm>
          <a:prstGeom prst="rect">
            <a:avLst/>
          </a:prstGeom>
          <a:solidFill>
            <a:srgbClr val="405D78"/>
          </a:solidFill>
          <a:ln w="12700">
            <a:solidFill>
              <a:srgbClr val="405D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1783080"/>
            <a:ext cx="4809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业务背景与输入材料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60120" y="2295144"/>
            <a:ext cx="4791456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客户与商机信息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本次拜访转写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CRM字段说明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当前产品方案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特殊备注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99632" y="1572768"/>
            <a:ext cx="5285232" cy="4251960"/>
          </a:xfrm>
          <a:prstGeom prst="roundRect">
            <a:avLst>
              <a:gd name="adj" fmla="val 1075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99632" y="1572768"/>
            <a:ext cx="64008" cy="425196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1783080"/>
            <a:ext cx="4809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规则与约束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46520" y="2295144"/>
            <a:ext cx="4791456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只依据提供材料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不把推测写成事实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缺失标记待确认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高风险结论附证据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不生成成交概率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571500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广义上下文可以包含规则；为了检查，本课把规则单独列出。</a:t>
            </a:r>
            <a:endParaRPr lang="en-US" sz="14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10896"/>
          </a:xfrm>
          <a:prstGeom prst="roundRect">
            <a:avLst>
              <a:gd name="adj" fmla="val 29412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30936" y="342900"/>
            <a:ext cx="4389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spc="105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结构化Prompt六要素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结果“长什么样”和“能不能用”，要分别定义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766560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 结构化Prompt六要素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27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85800" y="1572768"/>
            <a:ext cx="3429000" cy="4251960"/>
          </a:xfrm>
          <a:prstGeom prst="roundRect">
            <a:avLst>
              <a:gd name="adj" fmla="val 1333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85800" y="1572768"/>
            <a:ext cx="64008" cy="4251960"/>
          </a:xfrm>
          <a:prstGeom prst="rect">
            <a:avLst/>
          </a:prstGeom>
          <a:solidFill>
            <a:srgbClr val="405D78"/>
          </a:solidFill>
          <a:ln w="12700">
            <a:solidFill>
              <a:srgbClr val="405D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783080"/>
            <a:ext cx="2953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输出格式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32688" y="2295144"/>
            <a:ext cx="2935224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表格或CRM字段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固定字段顺序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确定性状态标签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370832" y="1572768"/>
            <a:ext cx="3429000" cy="4251960"/>
          </a:xfrm>
          <a:prstGeom prst="roundRect">
            <a:avLst>
              <a:gd name="adj" fmla="val 1333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70832" y="1572768"/>
            <a:ext cx="64008" cy="425196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7720" y="1783080"/>
            <a:ext cx="2953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验收标准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617720" y="2295144"/>
            <a:ext cx="2935224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关键事实有证据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缺失信息明确标记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行动项包含人、事、时间、状态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046720" y="1572768"/>
            <a:ext cx="3429000" cy="4251960"/>
          </a:xfrm>
          <a:prstGeom prst="roundRect">
            <a:avLst>
              <a:gd name="adj" fmla="val 1333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046720" y="1572768"/>
            <a:ext cx="64008" cy="425196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93608" y="1783080"/>
            <a:ext cx="2953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示例与边界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293608" y="2295144"/>
            <a:ext cx="2935224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已确认｜明确同意小范围验证</a:t>
            </a:r>
            <a:endParaRPr lang="en-US" sz="1280" dirty="0"/>
          </a:p>
          <a:p>
            <a:pPr algn="l" indent="0" marL="0">
              <a:buNone/>
            </a:pPr>
            <a:r>
              <a:rPr lang="en-US" sz="128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待确认｜是否扩大仍需讨论</a:t>
            </a:r>
            <a:endParaRPr lang="en-US" sz="1280" dirty="0"/>
          </a:p>
          <a:p>
            <a:pPr algn="l" indent="0" marL="0">
              <a:buNone/>
            </a:pPr>
            <a:endParaRPr lang="en-US" sz="1280" dirty="0"/>
          </a:p>
          <a:p>
            <a:pPr algn="l" indent="0" marL="0">
              <a:buNone/>
            </a:pPr>
            <a:r>
              <a:rPr lang="en-US" sz="128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示例帮助理解，但不能替代测试</a:t>
            </a:r>
            <a:endParaRPr lang="en-US" sz="128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10896"/>
          </a:xfrm>
          <a:prstGeom prst="roundRect">
            <a:avLst>
              <a:gd name="adj" fmla="val 29412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30936" y="342900"/>
            <a:ext cx="4389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spc="105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结构化Prompt六要素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Prompt变好，不是因为更长，而是每次修改解决一个问题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766560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 结构化Prompt六要素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28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66928" y="1645920"/>
            <a:ext cx="2592324" cy="1554480"/>
          </a:xfrm>
          <a:prstGeom prst="roundRect">
            <a:avLst>
              <a:gd name="adj" fmla="val 2941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819656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04088" y="2212848"/>
            <a:ext cx="23180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V0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722376" y="2679192"/>
            <a:ext cx="22814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整理一下</a:t>
            </a:r>
            <a:endParaRPr lang="en-US" sz="970" dirty="0"/>
          </a:p>
          <a:p>
            <a:pPr algn="ctr" indent="0" marL="0">
              <a:buNone/>
            </a:pPr>
            <a:r>
              <a:rPr lang="en-US" sz="97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全部不清楚</a:t>
            </a:r>
            <a:endParaRPr lang="en-US" sz="970" dirty="0"/>
          </a:p>
        </p:txBody>
      </p:sp>
      <p:sp>
        <p:nvSpPr>
          <p:cNvPr id="14" name="Shape 12"/>
          <p:cNvSpPr/>
          <p:nvPr/>
        </p:nvSpPr>
        <p:spPr>
          <a:xfrm>
            <a:off x="3360420" y="1645920"/>
            <a:ext cx="2592324" cy="1554480"/>
          </a:xfrm>
          <a:prstGeom prst="roundRect">
            <a:avLst>
              <a:gd name="adj" fmla="val 2941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25012" y="1819656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18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97580" y="2212848"/>
            <a:ext cx="23180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V1</a:t>
            </a:r>
            <a:endParaRPr lang="en-US" sz="1320" dirty="0"/>
          </a:p>
        </p:txBody>
      </p:sp>
      <p:sp>
        <p:nvSpPr>
          <p:cNvPr id="17" name="Text 15"/>
          <p:cNvSpPr/>
          <p:nvPr/>
        </p:nvSpPr>
        <p:spPr>
          <a:xfrm>
            <a:off x="3515868" y="2679192"/>
            <a:ext cx="22814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明确提取内容</a:t>
            </a:r>
            <a:endParaRPr lang="en-US" sz="970" dirty="0"/>
          </a:p>
          <a:p>
            <a:pPr algn="ctr" indent="0" marL="0">
              <a:buNone/>
            </a:pPr>
            <a:r>
              <a:rPr lang="en-US" sz="97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补任务</a:t>
            </a:r>
            <a:endParaRPr lang="en-US" sz="970" dirty="0"/>
          </a:p>
        </p:txBody>
      </p:sp>
      <p:sp>
        <p:nvSpPr>
          <p:cNvPr id="18" name="Shape 16"/>
          <p:cNvSpPr/>
          <p:nvPr/>
        </p:nvSpPr>
        <p:spPr>
          <a:xfrm>
            <a:off x="6153912" y="1645920"/>
            <a:ext cx="2592324" cy="1554480"/>
          </a:xfrm>
          <a:prstGeom prst="roundRect">
            <a:avLst>
              <a:gd name="adj" fmla="val 2941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18504" y="1819656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87B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291072" y="2212848"/>
            <a:ext cx="23180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V2</a:t>
            </a:r>
            <a:endParaRPr lang="en-US" sz="1320" dirty="0"/>
          </a:p>
        </p:txBody>
      </p:sp>
      <p:sp>
        <p:nvSpPr>
          <p:cNvPr id="21" name="Text 19"/>
          <p:cNvSpPr/>
          <p:nvPr/>
        </p:nvSpPr>
        <p:spPr>
          <a:xfrm>
            <a:off x="6309360" y="2679192"/>
            <a:ext cx="22814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依据＋事实边界</a:t>
            </a:r>
            <a:endParaRPr lang="en-US" sz="970" dirty="0"/>
          </a:p>
          <a:p>
            <a:pPr algn="ctr" indent="0" marL="0">
              <a:buNone/>
            </a:pPr>
            <a:r>
              <a:rPr lang="en-US" sz="97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补输入和规则</a:t>
            </a:r>
            <a:endParaRPr lang="en-US" sz="970" dirty="0"/>
          </a:p>
        </p:txBody>
      </p:sp>
      <p:sp>
        <p:nvSpPr>
          <p:cNvPr id="22" name="Shape 20"/>
          <p:cNvSpPr/>
          <p:nvPr/>
        </p:nvSpPr>
        <p:spPr>
          <a:xfrm>
            <a:off x="8947404" y="1645920"/>
            <a:ext cx="2592324" cy="1554480"/>
          </a:xfrm>
          <a:prstGeom prst="roundRect">
            <a:avLst>
              <a:gd name="adj" fmla="val 2941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11996" y="1819656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2755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084564" y="2212848"/>
            <a:ext cx="23180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V3</a:t>
            </a:r>
            <a:endParaRPr lang="en-US" sz="1320" dirty="0"/>
          </a:p>
        </p:txBody>
      </p:sp>
      <p:sp>
        <p:nvSpPr>
          <p:cNvPr id="25" name="Text 23"/>
          <p:cNvSpPr/>
          <p:nvPr/>
        </p:nvSpPr>
        <p:spPr>
          <a:xfrm>
            <a:off x="9102852" y="2679192"/>
            <a:ext cx="22814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证据＋完整行动项</a:t>
            </a:r>
            <a:endParaRPr lang="en-US" sz="970" dirty="0"/>
          </a:p>
          <a:p>
            <a:pPr algn="ctr" indent="0" marL="0">
              <a:buNone/>
            </a:pPr>
            <a:r>
              <a:rPr lang="en-US" sz="97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补验收</a:t>
            </a:r>
            <a:endParaRPr lang="en-US" sz="970" dirty="0"/>
          </a:p>
        </p:txBody>
      </p:sp>
      <p:sp>
        <p:nvSpPr>
          <p:cNvPr id="26" name="Text 24"/>
          <p:cNvSpPr/>
          <p:nvPr/>
        </p:nvSpPr>
        <p:spPr>
          <a:xfrm>
            <a:off x="914400" y="461772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每一项新增要求，都应该对应一个具体问题。</a:t>
            </a:r>
            <a:endParaRPr lang="en-US" sz="1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10896"/>
          </a:xfrm>
          <a:prstGeom prst="roundRect">
            <a:avLst>
              <a:gd name="adj" fmla="val 29412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30936" y="342900"/>
            <a:ext cx="4389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spc="105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结构化Prompt六要素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课堂练习：补全结构化Prompt关键骨架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766560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 结构化Prompt六要素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29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58368" y="1572768"/>
            <a:ext cx="3480816" cy="2926080"/>
          </a:xfrm>
          <a:prstGeom prst="roundRect">
            <a:avLst>
              <a:gd name="adj" fmla="val 1563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1572768"/>
            <a:ext cx="64008" cy="292608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05256" y="1783080"/>
            <a:ext cx="3005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任务目标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05256" y="2295144"/>
            <a:ext cx="2987040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这次完成什么？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4358640" y="1572768"/>
            <a:ext cx="3480816" cy="2926080"/>
          </a:xfrm>
          <a:prstGeom prst="roundRect">
            <a:avLst>
              <a:gd name="adj" fmla="val 1563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58640" y="1572768"/>
            <a:ext cx="64008" cy="292608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05528" y="1783080"/>
            <a:ext cx="3005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关键规则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605528" y="2295144"/>
            <a:ext cx="2987040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先写最重要的一条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8058912" y="1572768"/>
            <a:ext cx="3480816" cy="2926080"/>
          </a:xfrm>
          <a:prstGeom prst="roundRect">
            <a:avLst>
              <a:gd name="adj" fmla="val 1563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58912" y="1572768"/>
            <a:ext cx="64008" cy="292608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05800" y="1783080"/>
            <a:ext cx="3005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输出验收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305800" y="2295144"/>
            <a:ext cx="2987040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怎样判断可用？</a:t>
            </a:r>
            <a:endParaRPr lang="en-US" sz="1120" dirty="0"/>
          </a:p>
        </p:txBody>
      </p:sp>
      <p:sp>
        <p:nvSpPr>
          <p:cNvPr id="22" name="Text 20"/>
          <p:cNvSpPr/>
          <p:nvPr/>
        </p:nvSpPr>
        <p:spPr>
          <a:xfrm>
            <a:off x="914400" y="489204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同伴只检查一处最重要缺口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14400" y="5413248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基准版：V0.2关键骨架｜充分互动版：补齐完整骨架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0195560" y="749808"/>
            <a:ext cx="978408" cy="310896"/>
          </a:xfrm>
          <a:prstGeom prst="roundRect">
            <a:avLst>
              <a:gd name="adj" fmla="val 29412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259568" y="818388"/>
            <a:ext cx="8503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04:00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D1E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" y="841248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休息 5 分钟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86384" y="16916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D9D4C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回来后：把Prompt变成产品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001000" y="82296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5500" b="1" dirty="0">
                <a:solidFill>
                  <a:srgbClr val="E09A7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05:00</a:t>
            </a:r>
            <a:endParaRPr lang="en-US" sz="5500" dirty="0"/>
          </a:p>
        </p:txBody>
      </p:sp>
      <p:sp>
        <p:nvSpPr>
          <p:cNvPr id="5" name="Shape 3"/>
          <p:cNvSpPr/>
          <p:nvPr/>
        </p:nvSpPr>
        <p:spPr>
          <a:xfrm>
            <a:off x="777240" y="2788920"/>
            <a:ext cx="10424160" cy="0"/>
          </a:xfrm>
          <a:prstGeom prst="line">
            <a:avLst/>
          </a:prstGeom>
          <a:noFill/>
          <a:ln w="12700">
            <a:solidFill>
              <a:srgbClr val="4A4B4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299923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09A7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554480" y="2944368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保存V0.2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3822192" y="2962656"/>
            <a:ext cx="7086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C7C4B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保留刚才的关键骨架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777240" y="3721608"/>
            <a:ext cx="10424160" cy="0"/>
          </a:xfrm>
          <a:prstGeom prst="line">
            <a:avLst/>
          </a:prstGeom>
          <a:noFill/>
          <a:ln w="12700">
            <a:solidFill>
              <a:srgbClr val="4A4B4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393192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09A7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554480" y="3877056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打开课堂设计单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3822192" y="3895344"/>
            <a:ext cx="7086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C7C4B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06_课堂练习与作业材料 / 01_Prompt产品化设计单_课堂版.md</a:t>
            </a:r>
            <a:endParaRPr lang="en-US" sz="1040" dirty="0"/>
          </a:p>
        </p:txBody>
      </p:sp>
      <p:sp>
        <p:nvSpPr>
          <p:cNvPr id="13" name="Shape 11"/>
          <p:cNvSpPr/>
          <p:nvPr/>
        </p:nvSpPr>
        <p:spPr>
          <a:xfrm>
            <a:off x="777240" y="4654296"/>
            <a:ext cx="10424160" cy="0"/>
          </a:xfrm>
          <a:prstGeom prst="line">
            <a:avLst/>
          </a:prstGeom>
          <a:noFill/>
          <a:ln w="12700">
            <a:solidFill>
              <a:srgbClr val="4A4B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486460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09A7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554480" y="4809744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打开案例转写</a:t>
            </a:r>
            <a:endParaRPr lang="en-US" sz="1420" dirty="0"/>
          </a:p>
        </p:txBody>
      </p:sp>
      <p:sp>
        <p:nvSpPr>
          <p:cNvPr id="16" name="Text 14"/>
          <p:cNvSpPr/>
          <p:nvPr/>
        </p:nvSpPr>
        <p:spPr>
          <a:xfrm>
            <a:off x="3822192" y="4828032"/>
            <a:ext cx="7086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C7C4B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06_课堂练习与作业材料 / 03_销售案例背景与转写_学员版.md</a:t>
            </a:r>
            <a:endParaRPr lang="en-US" sz="104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10896"/>
          </a:xfrm>
          <a:prstGeom prst="roundRect">
            <a:avLst>
              <a:gd name="adj" fmla="val 29412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30936" y="342900"/>
            <a:ext cx="4389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spc="105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从Prompt到产品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如果每位销售都要自己补完整Prompt，产品解决了什么？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766560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 从Prompt到产品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31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13232" y="1572768"/>
            <a:ext cx="3840480" cy="4251960"/>
          </a:xfrm>
          <a:prstGeom prst="roundRect">
            <a:avLst>
              <a:gd name="adj" fmla="val 1190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1572768"/>
            <a:ext cx="64008" cy="4251960"/>
          </a:xfrm>
          <a:prstGeom prst="rect">
            <a:avLst/>
          </a:prstGeom>
          <a:solidFill>
            <a:srgbClr val="74546A"/>
          </a:solidFill>
          <a:ln w="12700">
            <a:solidFill>
              <a:srgbClr val="7454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1783080"/>
            <a:ext cx="3364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一段很长的Prompt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60120" y="2295144"/>
            <a:ext cx="3346704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角色＋任务＋输入＋规则＋输出＋示例……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846320" y="1572768"/>
            <a:ext cx="3017520" cy="1078992"/>
          </a:xfrm>
          <a:prstGeom prst="roundRect">
            <a:avLst>
              <a:gd name="adj" fmla="val 423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46320" y="1572768"/>
            <a:ext cx="64008" cy="1078992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93208" y="1783080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理解框架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110728" y="1572768"/>
            <a:ext cx="3017520" cy="1078992"/>
          </a:xfrm>
          <a:prstGeom prst="roundRect">
            <a:avLst>
              <a:gd name="adj" fmla="val 423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110728" y="1572768"/>
            <a:ext cx="64008" cy="1078992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57616" y="1783080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寻找资料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46320" y="2871216"/>
            <a:ext cx="3017520" cy="1078992"/>
          </a:xfrm>
          <a:prstGeom prst="roundRect">
            <a:avLst>
              <a:gd name="adj" fmla="val 423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2871216"/>
            <a:ext cx="64008" cy="1078992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93208" y="3081528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记住规则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110728" y="2871216"/>
            <a:ext cx="3017520" cy="1078992"/>
          </a:xfrm>
          <a:prstGeom prst="roundRect">
            <a:avLst>
              <a:gd name="adj" fmla="val 423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110728" y="2871216"/>
            <a:ext cx="64008" cy="1078992"/>
          </a:xfrm>
          <a:prstGeom prst="rect">
            <a:avLst/>
          </a:prstGeom>
          <a:solidFill>
            <a:srgbClr val="74546A"/>
          </a:solidFill>
          <a:ln w="12700">
            <a:solidFill>
              <a:srgbClr val="74546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57616" y="3081528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重复输入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846320" y="4169664"/>
            <a:ext cx="3017520" cy="1078992"/>
          </a:xfrm>
          <a:prstGeom prst="roundRect">
            <a:avLst>
              <a:gd name="adj" fmla="val 423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46320" y="4169664"/>
            <a:ext cx="64008" cy="1078992"/>
          </a:xfrm>
          <a:prstGeom prst="rect">
            <a:avLst/>
          </a:prstGeom>
          <a:solidFill>
            <a:srgbClr val="527553"/>
          </a:solidFill>
          <a:ln w="12700">
            <a:solidFill>
              <a:srgbClr val="52755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93208" y="4379976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发现缺失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110728" y="4169664"/>
            <a:ext cx="3017520" cy="1078992"/>
          </a:xfrm>
          <a:prstGeom prst="roundRect">
            <a:avLst>
              <a:gd name="adj" fmla="val 423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110728" y="4169664"/>
            <a:ext cx="64008" cy="1078992"/>
          </a:xfrm>
          <a:prstGeom prst="rect">
            <a:avLst/>
          </a:prstGeom>
          <a:solidFill>
            <a:srgbClr val="405D78"/>
          </a:solidFill>
          <a:ln w="12700">
            <a:solidFill>
              <a:srgbClr val="405D7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57616" y="4379976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判断风险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846320" y="5532120"/>
            <a:ext cx="6281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好Prompt是产品内部能力的原材料，不是最终用户界面。</a:t>
            </a:r>
            <a:endParaRPr lang="en-US" sz="15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10896"/>
          </a:xfrm>
          <a:prstGeom prst="roundRect">
            <a:avLst>
              <a:gd name="adj" fmla="val 29412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30936" y="342900"/>
            <a:ext cx="4389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spc="105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从Prompt到产品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产品化需要回答两个不同问题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766560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 从Prompt到产品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32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13232" y="1572768"/>
            <a:ext cx="5285232" cy="4251960"/>
          </a:xfrm>
          <a:prstGeom prst="roundRect">
            <a:avLst>
              <a:gd name="adj" fmla="val 1075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1572768"/>
            <a:ext cx="64008" cy="4251960"/>
          </a:xfrm>
          <a:prstGeom prst="rect">
            <a:avLst/>
          </a:prstGeom>
          <a:solidFill>
            <a:srgbClr val="405D78"/>
          </a:solidFill>
          <a:ln w="12700">
            <a:solidFill>
              <a:srgbClr val="405D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1783080"/>
            <a:ext cx="4809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维度一｜信息怎样进入？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960120" y="2295144"/>
            <a:ext cx="4791456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产品固定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用户提供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系统获取</a:t>
            </a:r>
            <a:endParaRPr lang="en-US" sz="2000" dirty="0"/>
          </a:p>
          <a:p>
            <a:pPr algn="ctr" indent="0" marL="0">
              <a:buNone/>
            </a:pP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使用蓝色系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199632" y="1572768"/>
            <a:ext cx="5285232" cy="4251960"/>
          </a:xfrm>
          <a:prstGeom prst="roundRect">
            <a:avLst>
              <a:gd name="adj" fmla="val 1075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99632" y="1572768"/>
            <a:ext cx="64008" cy="425196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1783080"/>
            <a:ext cx="4809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维度二｜结果怎样处理风险？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446520" y="2295144"/>
            <a:ext cx="4791456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普通展示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建议检查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必须确认</a:t>
            </a:r>
            <a:endParaRPr lang="en-US" sz="2000" dirty="0"/>
          </a:p>
          <a:p>
            <a:pPr algn="ctr" indent="0" marL="0">
              <a:buNone/>
            </a:pP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使用橙色系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14400" y="5742432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两个维度可以同时成立，不是“四选一”。</a:t>
            </a:r>
            <a:endParaRPr lang="en-US" sz="16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10896"/>
          </a:xfrm>
          <a:prstGeom prst="roundRect">
            <a:avLst>
              <a:gd name="adj" fmla="val 29412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30936" y="342900"/>
            <a:ext cx="4389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spc="105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从Prompt到产品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维度一：产品固定、用户提供、系统获取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766560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 从Prompt到产品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33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58368" y="1572768"/>
            <a:ext cx="3480816" cy="3429000"/>
          </a:xfrm>
          <a:prstGeom prst="roundRect">
            <a:avLst>
              <a:gd name="adj" fmla="val 1333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1572768"/>
            <a:ext cx="64008" cy="3429000"/>
          </a:xfrm>
          <a:prstGeom prst="rect">
            <a:avLst/>
          </a:prstGeom>
          <a:solidFill>
            <a:srgbClr val="405D78"/>
          </a:solidFill>
          <a:ln w="12700">
            <a:solidFill>
              <a:srgbClr val="405D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05256" y="1783080"/>
            <a:ext cx="3005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产品固定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05256" y="2295144"/>
            <a:ext cx="2987040" cy="2496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长期稳定？</a:t>
            </a: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角色、字段、事实规则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4358640" y="1572768"/>
            <a:ext cx="3480816" cy="3429000"/>
          </a:xfrm>
          <a:prstGeom prst="roundRect">
            <a:avLst>
              <a:gd name="adj" fmla="val 1333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58640" y="1572768"/>
            <a:ext cx="64008" cy="342900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05528" y="1783080"/>
            <a:ext cx="3005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用户提供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605528" y="2295144"/>
            <a:ext cx="2987040" cy="2496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只有用户知道或必须选择？</a:t>
            </a: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本次重点、特殊备注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8058912" y="1572768"/>
            <a:ext cx="3480816" cy="3429000"/>
          </a:xfrm>
          <a:prstGeom prst="roundRect">
            <a:avLst>
              <a:gd name="adj" fmla="val 1333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58912" y="1572768"/>
            <a:ext cx="64008" cy="3429000"/>
          </a:xfrm>
          <a:prstGeom prst="rect">
            <a:avLst/>
          </a:prstGeom>
          <a:solidFill>
            <a:srgbClr val="74546A"/>
          </a:solidFill>
          <a:ln w="12700">
            <a:solidFill>
              <a:srgbClr val="74546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05800" y="1783080"/>
            <a:ext cx="3005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系统获取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305800" y="2295144"/>
            <a:ext cx="2987040" cy="2496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系统已有且有权使用？</a:t>
            </a: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转写、客户资料、商机阶段</a:t>
            </a:r>
            <a:endParaRPr lang="en-US" sz="1120" dirty="0"/>
          </a:p>
        </p:txBody>
      </p:sp>
      <p:sp>
        <p:nvSpPr>
          <p:cNvPr id="22" name="Text 20"/>
          <p:cNvSpPr/>
          <p:nvPr/>
        </p:nvSpPr>
        <p:spPr>
          <a:xfrm>
            <a:off x="914400" y="534924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每次变化 ≠ 必须手填｜系统获取 ≠ 默认获取全部数据</a:t>
            </a:r>
            <a:endParaRPr lang="en-US" sz="16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10896"/>
          </a:xfrm>
          <a:prstGeom prst="roundRect">
            <a:avLst>
              <a:gd name="adj" fmla="val 29412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30936" y="342900"/>
            <a:ext cx="4389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spc="105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从Prompt到产品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维度二：普通展示、建议检查、必须确认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766560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 从Prompt到产品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34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58368" y="1572768"/>
            <a:ext cx="3480816" cy="3154680"/>
          </a:xfrm>
          <a:prstGeom prst="roundRect">
            <a:avLst>
              <a:gd name="adj" fmla="val 1449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1572768"/>
            <a:ext cx="64008" cy="3154680"/>
          </a:xfrm>
          <a:prstGeom prst="rect">
            <a:avLst/>
          </a:prstGeom>
          <a:solidFill>
            <a:srgbClr val="527553"/>
          </a:solidFill>
          <a:ln w="12700">
            <a:solidFill>
              <a:srgbClr val="52755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05256" y="1783080"/>
            <a:ext cx="3005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普通展示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05256" y="2295144"/>
            <a:ext cx="2987040" cy="2221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错误影响低</a:t>
            </a: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直接查看或编辑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4358640" y="1572768"/>
            <a:ext cx="3480816" cy="3154680"/>
          </a:xfrm>
          <a:prstGeom prst="roundRect">
            <a:avLst>
              <a:gd name="adj" fmla="val 1449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58640" y="1572768"/>
            <a:ext cx="64008" cy="315468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05528" y="1783080"/>
            <a:ext cx="3005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建议检查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605528" y="2295144"/>
            <a:ext cx="2987040" cy="2221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可能影响判断</a:t>
            </a: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显示证据、状态和修改入口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8058912" y="1572768"/>
            <a:ext cx="3480816" cy="3154680"/>
          </a:xfrm>
          <a:prstGeom prst="roundRect">
            <a:avLst>
              <a:gd name="adj" fmla="val 1449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58912" y="1572768"/>
            <a:ext cx="64008" cy="315468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05800" y="1783080"/>
            <a:ext cx="3005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必须确认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305800" y="2295144"/>
            <a:ext cx="2987040" cy="2221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高风险结论或外部动作</a:t>
            </a: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有权限用户确认后执行</a:t>
            </a:r>
            <a:endParaRPr lang="en-US" sz="1120" dirty="0"/>
          </a:p>
        </p:txBody>
      </p:sp>
      <p:sp>
        <p:nvSpPr>
          <p:cNvPr id="22" name="Shape 20"/>
          <p:cNvSpPr/>
          <p:nvPr/>
        </p:nvSpPr>
        <p:spPr>
          <a:xfrm>
            <a:off x="1143000" y="5074920"/>
            <a:ext cx="1097280" cy="347472"/>
          </a:xfrm>
          <a:prstGeom prst="roundRect">
            <a:avLst>
              <a:gd name="adj" fmla="val 21053"/>
            </a:avLst>
          </a:prstGeom>
          <a:solidFill>
            <a:srgbClr val="F2E7D5"/>
          </a:solidFill>
          <a:ln w="12700">
            <a:solidFill>
              <a:srgbClr val="F2E7D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16152" y="5157216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18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日期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514600" y="5074920"/>
            <a:ext cx="1097280" cy="347472"/>
          </a:xfrm>
          <a:prstGeom prst="roundRect">
            <a:avLst>
              <a:gd name="adj" fmla="val 21053"/>
            </a:avLst>
          </a:prstGeom>
          <a:solidFill>
            <a:srgbClr val="F2E7D5"/>
          </a:solidFill>
          <a:ln w="12700">
            <a:solidFill>
              <a:srgbClr val="F2E7D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87752" y="5157216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18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金额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886200" y="5074920"/>
            <a:ext cx="1234440" cy="347472"/>
          </a:xfrm>
          <a:prstGeom prst="roundRect">
            <a:avLst>
              <a:gd name="adj" fmla="val 21053"/>
            </a:avLst>
          </a:prstGeom>
          <a:solidFill>
            <a:srgbClr val="F2E7D5"/>
          </a:solidFill>
          <a:ln w="12700">
            <a:solidFill>
              <a:srgbClr val="F2E7D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959352" y="5157216"/>
            <a:ext cx="10881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18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责任人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394960" y="5074920"/>
            <a:ext cx="1417320" cy="347472"/>
          </a:xfrm>
          <a:prstGeom prst="roundRect">
            <a:avLst>
              <a:gd name="adj" fmla="val 21053"/>
            </a:avLst>
          </a:prstGeom>
          <a:solidFill>
            <a:srgbClr val="F2E2DB"/>
          </a:solidFill>
          <a:ln w="12700">
            <a:solidFill>
              <a:srgbClr val="F2E2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68112" y="5157216"/>
            <a:ext cx="12710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客户承诺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086600" y="5074920"/>
            <a:ext cx="1417320" cy="347472"/>
          </a:xfrm>
          <a:prstGeom prst="roundRect">
            <a:avLst>
              <a:gd name="adj" fmla="val 21053"/>
            </a:avLst>
          </a:prstGeom>
          <a:solidFill>
            <a:srgbClr val="F2E2DB"/>
          </a:solidFill>
          <a:ln w="12700">
            <a:solidFill>
              <a:srgbClr val="F2E2D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59752" y="5157216"/>
            <a:ext cx="12710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写入CRM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778240" y="5074920"/>
            <a:ext cx="1417320" cy="347472"/>
          </a:xfrm>
          <a:prstGeom prst="roundRect">
            <a:avLst>
              <a:gd name="adj" fmla="val 21053"/>
            </a:avLst>
          </a:prstGeom>
          <a:solidFill>
            <a:srgbClr val="F2E2DB"/>
          </a:solidFill>
          <a:ln w="12700">
            <a:solidFill>
              <a:srgbClr val="F2E2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851392" y="5157216"/>
            <a:ext cx="12710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发送消息</a:t>
            </a:r>
            <a:endParaRPr lang="en-US" sz="9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10896"/>
          </a:xfrm>
          <a:prstGeom prst="roundRect">
            <a:avLst>
              <a:gd name="adj" fmla="val 29412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30936" y="342900"/>
            <a:ext cx="4389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spc="105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从Prompt到产品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课堂练习：把两个维度变成产品交互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766560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 从Prompt到产品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35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13232" y="1572768"/>
            <a:ext cx="5285232" cy="4251960"/>
          </a:xfrm>
          <a:prstGeom prst="roundRect">
            <a:avLst>
              <a:gd name="adj" fmla="val 1075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1572768"/>
            <a:ext cx="64008" cy="4251960"/>
          </a:xfrm>
          <a:prstGeom prst="rect">
            <a:avLst/>
          </a:prstGeom>
          <a:solidFill>
            <a:srgbClr val="405D78"/>
          </a:solidFill>
          <a:ln w="12700">
            <a:solidFill>
              <a:srgbClr val="405D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1783080"/>
            <a:ext cx="4809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 信息供给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960120" y="2295144"/>
            <a:ext cx="4791456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至少2项产品固定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至少1项用户提供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至少2项系统获取</a:t>
            </a:r>
            <a:endParaRPr lang="en-US" sz="1700" dirty="0"/>
          </a:p>
          <a:p>
            <a:pPr algn="ctr" indent="0" marL="0">
              <a:buNone/>
            </a:pP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删除1项无意义手填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199632" y="1572768"/>
            <a:ext cx="5285232" cy="4251960"/>
          </a:xfrm>
          <a:prstGeom prst="roundRect">
            <a:avLst>
              <a:gd name="adj" fmla="val 1075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99632" y="1572768"/>
            <a:ext cx="64008" cy="425196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1783080"/>
            <a:ext cx="4809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 风险处理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446520" y="2295144"/>
            <a:ext cx="4791456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至少1项执行前必须确认</a:t>
            </a:r>
            <a:endParaRPr lang="en-US" sz="1500" dirty="0"/>
          </a:p>
          <a:p>
            <a:pPr algn="ctr" indent="0" marL="0">
              <a:buNone/>
            </a:pP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确认什么？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依据什么？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谁确认？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确认后发生什么？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0195560" y="749808"/>
            <a:ext cx="978408" cy="310896"/>
          </a:xfrm>
          <a:prstGeom prst="roundRect">
            <a:avLst>
              <a:gd name="adj" fmla="val 29412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259568" y="818388"/>
            <a:ext cx="8503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03:00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10896"/>
          </a:xfrm>
          <a:prstGeom prst="roundRect">
            <a:avLst>
              <a:gd name="adj" fmla="val 29412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30936" y="342900"/>
            <a:ext cx="4389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spc="105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销售拜访记录助手案例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同一个案例，两节课训练目标不同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766560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 销售拜访记录助手案例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36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13232" y="1572768"/>
            <a:ext cx="5285232" cy="3657600"/>
          </a:xfrm>
          <a:prstGeom prst="roundRect">
            <a:avLst>
              <a:gd name="adj" fmla="val 1250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1572768"/>
            <a:ext cx="64008" cy="3657600"/>
          </a:xfrm>
          <a:prstGeom prst="rect">
            <a:avLst/>
          </a:prstGeom>
          <a:solidFill>
            <a:srgbClr val="405D78"/>
          </a:solidFill>
          <a:ln w="12700">
            <a:solidFill>
              <a:srgbClr val="405D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1783080"/>
            <a:ext cx="4809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第0课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60120" y="2295144"/>
            <a:ext cx="4791456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场景是否值得做？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AI可以承担哪些环节？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人与AI怎样初步分工？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99632" y="1572768"/>
            <a:ext cx="5285232" cy="3657600"/>
          </a:xfrm>
          <a:prstGeom prst="roundRect">
            <a:avLst>
              <a:gd name="adj" fmla="val 1250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99632" y="1572768"/>
            <a:ext cx="64008" cy="365760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1783080"/>
            <a:ext cx="4809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第2课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46520" y="2295144"/>
            <a:ext cx="4791456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需要哪些上下文和规则？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怎样找错并最小修改？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怎样设计信息供给和风险处理？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097280" y="4617720"/>
            <a:ext cx="1832458" cy="1554480"/>
          </a:xfrm>
          <a:prstGeom prst="roundRect">
            <a:avLst>
              <a:gd name="adj" fmla="val 2941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61872" y="4791456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234440" y="5184648"/>
            <a:ext cx="15581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基线结果</a:t>
            </a:r>
            <a:endParaRPr lang="en-US" sz="1320" dirty="0"/>
          </a:p>
        </p:txBody>
      </p:sp>
      <p:sp>
        <p:nvSpPr>
          <p:cNvPr id="21" name="Shape 19"/>
          <p:cNvSpPr/>
          <p:nvPr/>
        </p:nvSpPr>
        <p:spPr>
          <a:xfrm>
            <a:off x="3130906" y="4617720"/>
            <a:ext cx="1832458" cy="1554480"/>
          </a:xfrm>
          <a:prstGeom prst="roundRect">
            <a:avLst>
              <a:gd name="adj" fmla="val 2941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5498" y="4791456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18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68066" y="5184648"/>
            <a:ext cx="15581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证据找错</a:t>
            </a:r>
            <a:endParaRPr lang="en-US" sz="1320" dirty="0"/>
          </a:p>
        </p:txBody>
      </p:sp>
      <p:sp>
        <p:nvSpPr>
          <p:cNvPr id="24" name="Shape 22"/>
          <p:cNvSpPr/>
          <p:nvPr/>
        </p:nvSpPr>
        <p:spPr>
          <a:xfrm>
            <a:off x="5164531" y="4617720"/>
            <a:ext cx="1832458" cy="1554480"/>
          </a:xfrm>
          <a:prstGeom prst="roundRect">
            <a:avLst>
              <a:gd name="adj" fmla="val 2941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29123" y="4791456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87B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301691" y="5184648"/>
            <a:ext cx="15581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最小修改</a:t>
            </a:r>
            <a:endParaRPr lang="en-US" sz="1320" dirty="0"/>
          </a:p>
        </p:txBody>
      </p:sp>
      <p:sp>
        <p:nvSpPr>
          <p:cNvPr id="27" name="Shape 25"/>
          <p:cNvSpPr/>
          <p:nvPr/>
        </p:nvSpPr>
        <p:spPr>
          <a:xfrm>
            <a:off x="7198157" y="4617720"/>
            <a:ext cx="1832458" cy="1554480"/>
          </a:xfrm>
          <a:prstGeom prst="roundRect">
            <a:avLst>
              <a:gd name="adj" fmla="val 2941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62749" y="4791456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4546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335317" y="5184648"/>
            <a:ext cx="15581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二次验收</a:t>
            </a:r>
            <a:endParaRPr lang="en-US" sz="1320" dirty="0"/>
          </a:p>
        </p:txBody>
      </p:sp>
      <p:sp>
        <p:nvSpPr>
          <p:cNvPr id="30" name="Shape 28"/>
          <p:cNvSpPr/>
          <p:nvPr/>
        </p:nvSpPr>
        <p:spPr>
          <a:xfrm>
            <a:off x="9231782" y="4617720"/>
            <a:ext cx="1832458" cy="1554480"/>
          </a:xfrm>
          <a:prstGeom prst="roundRect">
            <a:avLst>
              <a:gd name="adj" fmla="val 2941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396374" y="4791456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2755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368942" y="5184648"/>
            <a:ext cx="15581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修正流程</a:t>
            </a:r>
            <a:endParaRPr lang="en-US" sz="132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10896"/>
          </a:xfrm>
          <a:prstGeom prst="roundRect">
            <a:avLst>
              <a:gd name="adj" fmla="val 29412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30936" y="342900"/>
            <a:ext cx="4389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spc="105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销售拜访记录助手案例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销售要检查的不是漂亮纪要，而是可进入CRM的草稿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766560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 销售拜访记录助手案例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37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9555480" y="749808"/>
            <a:ext cx="1627632" cy="310896"/>
          </a:xfrm>
          <a:prstGeom prst="roundRect">
            <a:avLst>
              <a:gd name="adj" fmla="val 29412"/>
            </a:avLst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19488" y="818388"/>
            <a:ext cx="14996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教学虚构案例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85800" y="1536192"/>
            <a:ext cx="4754880" cy="4343400"/>
          </a:xfrm>
          <a:prstGeom prst="roundRect">
            <a:avLst>
              <a:gd name="adj" fmla="val 1053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85800" y="1536192"/>
            <a:ext cx="64008" cy="434340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" y="1746504"/>
            <a:ext cx="4279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项目背景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32688" y="2258568"/>
            <a:ext cx="4261104" cy="3410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供应商｜北辰云科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客户｜禾味餐饮，48家直营门店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阶段｜初次演示后，讨论试点与技术可行性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用户｜一线销售林然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时点｜拜访结束后10分钟内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下一步｜检查事实、录入CRM、推进评审</a:t>
            </a:r>
            <a:endParaRPr lang="en-US" sz="1320" dirty="0"/>
          </a:p>
        </p:txBody>
      </p:sp>
      <p:sp>
        <p:nvSpPr>
          <p:cNvPr id="16" name="Shape 14"/>
          <p:cNvSpPr/>
          <p:nvPr/>
        </p:nvSpPr>
        <p:spPr>
          <a:xfrm>
            <a:off x="5715000" y="1536192"/>
            <a:ext cx="2651760" cy="4343400"/>
          </a:xfrm>
          <a:prstGeom prst="roundRect">
            <a:avLst>
              <a:gd name="adj" fmla="val 1724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715000" y="1536192"/>
            <a:ext cx="64008" cy="4343400"/>
          </a:xfrm>
          <a:prstGeom prst="rect">
            <a:avLst/>
          </a:prstGeom>
          <a:solidFill>
            <a:srgbClr val="405D78"/>
          </a:solidFill>
          <a:ln w="12700">
            <a:solidFill>
              <a:srgbClr val="405D7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61888" y="1746504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本次只整理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961888" y="2258568"/>
            <a:ext cx="2157984" cy="3410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客户诉求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异议与风险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试点状态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行动项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待确认信息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641080" y="1536192"/>
            <a:ext cx="2651760" cy="4343400"/>
          </a:xfrm>
          <a:prstGeom prst="roundRect">
            <a:avLst>
              <a:gd name="adj" fmla="val 1724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641080" y="1536192"/>
            <a:ext cx="64008" cy="434340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87968" y="1746504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本次不做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887968" y="2258568"/>
            <a:ext cx="2157984" cy="3410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成交预测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自动报价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完整方案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自动写入CRM</a:t>
            </a:r>
            <a:endParaRPr lang="en-US" sz="14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10896"/>
          </a:xfrm>
          <a:prstGeom prst="roundRect">
            <a:avLst>
              <a:gd name="adj" fmla="val 29412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30936" y="342900"/>
            <a:ext cx="4389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spc="105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销售拜访记录助手案例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先扫描高风险证据，不从头逐字朗读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766560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 销售拜访记录助手案例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38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13232" y="1572768"/>
            <a:ext cx="5074920" cy="4251960"/>
          </a:xfrm>
          <a:prstGeom prst="roundRect">
            <a:avLst>
              <a:gd name="adj" fmla="val 1075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1572768"/>
            <a:ext cx="64008" cy="425196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1783080"/>
            <a:ext cx="4599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重点圈出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960120" y="2295144"/>
            <a:ext cx="4581144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① 数字、日期和人名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② 确认、可能、暂定、不承诺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③ 客户主动纠正的语句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④ 负责人和下一步行动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080760" y="1572768"/>
            <a:ext cx="5257800" cy="4251960"/>
          </a:xfrm>
          <a:prstGeom prst="roundRect">
            <a:avLst>
              <a:gd name="adj" fmla="val 1075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80760" y="1572768"/>
            <a:ext cx="64008" cy="425196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27648" y="1783080"/>
            <a:ext cx="4782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扫描标记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327648" y="2295144"/>
            <a:ext cx="4764024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  事实或明确确认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U  不确定、待确认或附带条件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  行动项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  风险或限制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不要在PPT上找答案，请打开完整转写。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0195560" y="749808"/>
            <a:ext cx="978408" cy="310896"/>
          </a:xfrm>
          <a:prstGeom prst="roundRect">
            <a:avLst>
              <a:gd name="adj" fmla="val 29412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259568" y="818388"/>
            <a:ext cx="8503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90秒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10896"/>
          </a:xfrm>
          <a:prstGeom prst="roundRect">
            <a:avLst>
              <a:gd name="adj" fmla="val 29412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30936" y="342900"/>
            <a:ext cx="4389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spc="105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销售拜访记录助手案例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第一轮基线结果：读起来顺，但能直接使用吗？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766560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 销售拜访记录助手案例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39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909560" y="749808"/>
            <a:ext cx="3273552" cy="310896"/>
          </a:xfrm>
          <a:prstGeom prst="roundRect">
            <a:avLst>
              <a:gd name="adj" fmla="val 29412"/>
            </a:avLst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73568" y="818388"/>
            <a:ext cx="31455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教学构造的错误样例｜不代表任何特定模型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13232" y="1481328"/>
            <a:ext cx="10561320" cy="4526280"/>
          </a:xfrm>
          <a:prstGeom prst="roundRect">
            <a:avLst>
              <a:gd name="adj" fmla="val 1010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13232" y="1481328"/>
            <a:ext cx="64008" cy="452628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1691640"/>
            <a:ext cx="10085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第一轮结果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60120" y="2203704"/>
            <a:ext cx="10067544" cy="3593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6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禾味餐饮拥有48家门店，目前数据分散、人工整理效率较低，希望通过FlowSight实现经营数据自动汇总和整改闭环。</a:t>
            </a:r>
            <a:endParaRPr lang="en-US" sz="1360" dirty="0"/>
          </a:p>
          <a:p>
            <a:pPr algn="l" indent="0" marL="0">
              <a:buNone/>
            </a:pPr>
            <a:endParaRPr lang="en-US" sz="1360" dirty="0"/>
          </a:p>
          <a:p>
            <a:pPr algn="l" indent="0" marL="0">
              <a:buNone/>
            </a:pPr>
            <a:r>
              <a:rPr lang="en-US" sz="136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客户认可产品方案，计划先在8家门店试点，试点成功后采购并推广到全部门店。客户预算虽然紧张，但不是主要问题，预计6月底上线。技术上需要对接POS、会员和巡检系统，预计两周完成。</a:t>
            </a:r>
            <a:endParaRPr lang="en-US" sz="1360" dirty="0"/>
          </a:p>
          <a:p>
            <a:pPr algn="l" indent="0" marL="0">
              <a:buNone/>
            </a:pPr>
            <a:endParaRPr lang="en-US" sz="1360" dirty="0"/>
          </a:p>
          <a:p>
            <a:pPr algn="l" indent="0" marL="0">
              <a:buNone/>
            </a:pPr>
            <a:r>
              <a:rPr lang="en-US" sz="136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下一步：北辰云科提供试点和技术方案，禾味餐饮提供数据，双方安排技术会议。</a:t>
            </a:r>
            <a:endParaRPr lang="en-US" sz="1360" dirty="0"/>
          </a:p>
        </p:txBody>
      </p:sp>
      <p:sp>
        <p:nvSpPr>
          <p:cNvPr id="16" name="Text 14"/>
          <p:cNvSpPr/>
          <p:nvPr/>
        </p:nvSpPr>
        <p:spPr>
          <a:xfrm>
            <a:off x="914400" y="577900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你能指出至少3个“有证据的具体问题”吗？</a:t>
            </a:r>
            <a:endParaRPr lang="en-US" sz="16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10896"/>
          </a:xfrm>
          <a:prstGeom prst="roundRect">
            <a:avLst>
              <a:gd name="adj" fmla="val 29412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30936" y="342900"/>
            <a:ext cx="4389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spc="105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销售拜访记录助手案例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“感觉不准确”不够，必须写清四件事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766560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 销售拜访记录助手案例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40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66928" y="1600200"/>
            <a:ext cx="2592324" cy="1554480"/>
          </a:xfrm>
          <a:prstGeom prst="roundRect">
            <a:avLst>
              <a:gd name="adj" fmla="val 2941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773936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04088" y="2167128"/>
            <a:ext cx="23180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结果写了什么？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3360420" y="1600200"/>
            <a:ext cx="2592324" cy="1554480"/>
          </a:xfrm>
          <a:prstGeom prst="roundRect">
            <a:avLst>
              <a:gd name="adj" fmla="val 2941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25012" y="1773936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18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97580" y="2167128"/>
            <a:ext cx="23180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具体问题？</a:t>
            </a:r>
            <a:endParaRPr lang="en-US" sz="1320" dirty="0"/>
          </a:p>
        </p:txBody>
      </p:sp>
      <p:sp>
        <p:nvSpPr>
          <p:cNvPr id="16" name="Shape 14"/>
          <p:cNvSpPr/>
          <p:nvPr/>
        </p:nvSpPr>
        <p:spPr>
          <a:xfrm>
            <a:off x="6153912" y="1600200"/>
            <a:ext cx="2592324" cy="1554480"/>
          </a:xfrm>
          <a:prstGeom prst="roundRect">
            <a:avLst>
              <a:gd name="adj" fmla="val 2941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18504" y="1773936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87B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91072" y="2167128"/>
            <a:ext cx="23180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原文证据？</a:t>
            </a:r>
            <a:endParaRPr lang="en-US" sz="1320" dirty="0"/>
          </a:p>
        </p:txBody>
      </p:sp>
      <p:sp>
        <p:nvSpPr>
          <p:cNvPr id="19" name="Shape 17"/>
          <p:cNvSpPr/>
          <p:nvPr/>
        </p:nvSpPr>
        <p:spPr>
          <a:xfrm>
            <a:off x="8947404" y="1600200"/>
            <a:ext cx="2592324" cy="1554480"/>
          </a:xfrm>
          <a:prstGeom prst="roundRect">
            <a:avLst>
              <a:gd name="adj" fmla="val 2941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11996" y="1773936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4546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084564" y="2167128"/>
            <a:ext cx="23180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违反哪条验收？</a:t>
            </a:r>
            <a:endParaRPr lang="en-US" sz="1320" dirty="0"/>
          </a:p>
        </p:txBody>
      </p:sp>
      <p:sp>
        <p:nvSpPr>
          <p:cNvPr id="22" name="Shape 20"/>
          <p:cNvSpPr/>
          <p:nvPr/>
        </p:nvSpPr>
        <p:spPr>
          <a:xfrm>
            <a:off x="804672" y="3794760"/>
            <a:ext cx="3886200" cy="1417320"/>
          </a:xfrm>
          <a:prstGeom prst="roundRect">
            <a:avLst>
              <a:gd name="adj" fmla="val 3226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" y="3794760"/>
            <a:ext cx="64008" cy="141732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51560" y="4005072"/>
            <a:ext cx="3410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不合格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51560" y="4517136"/>
            <a:ext cx="339242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“太笼统、不够专业、感觉有问题”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983480" y="3794760"/>
            <a:ext cx="6263640" cy="1417320"/>
          </a:xfrm>
          <a:prstGeom prst="roundRect">
            <a:avLst>
              <a:gd name="adj" fmla="val 3226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983480" y="3794760"/>
            <a:ext cx="64008" cy="141732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30368" y="4005072"/>
            <a:ext cx="5788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合格表达示例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230368" y="4517136"/>
            <a:ext cx="576986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结果遗漏了材料中明确的截止时间；原文包含具体日期；违反“行动项必须包含截止时间”。</a:t>
            </a:r>
            <a:endParaRPr lang="en-US" sz="1120" dirty="0"/>
          </a:p>
        </p:txBody>
      </p:sp>
      <p:sp>
        <p:nvSpPr>
          <p:cNvPr id="30" name="Shape 28"/>
          <p:cNvSpPr/>
          <p:nvPr/>
        </p:nvSpPr>
        <p:spPr>
          <a:xfrm>
            <a:off x="10195560" y="749808"/>
            <a:ext cx="978408" cy="310896"/>
          </a:xfrm>
          <a:prstGeom prst="roundRect">
            <a:avLst>
              <a:gd name="adj" fmla="val 29412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259568" y="818388"/>
            <a:ext cx="8503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03:00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10896"/>
          </a:xfrm>
          <a:prstGeom prst="roundRect">
            <a:avLst>
              <a:gd name="adj" fmla="val 29412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30936" y="342900"/>
            <a:ext cx="4389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spc="105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销售拜访记录助手案例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语言通顺，仍然可能发生这些业务错误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766560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 销售拜访记录助手案例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41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58368" y="1444752"/>
            <a:ext cx="2555748" cy="1874520"/>
          </a:xfrm>
          <a:prstGeom prst="roundRect">
            <a:avLst>
              <a:gd name="adj" fmla="val 2439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1444752"/>
            <a:ext cx="64008" cy="187452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05256" y="1655064"/>
            <a:ext cx="20802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8家试点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05256" y="2167128"/>
            <a:ext cx="206197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可能方案写成确定事实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3433572" y="1444752"/>
            <a:ext cx="2555748" cy="1874520"/>
          </a:xfrm>
          <a:prstGeom prst="roundRect">
            <a:avLst>
              <a:gd name="adj" fmla="val 2439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33572" y="1444752"/>
            <a:ext cx="64008" cy="187452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80460" y="1655064"/>
            <a:ext cx="20802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采购推广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680460" y="2167128"/>
            <a:ext cx="206197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销售推测写成客户承诺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6208776" y="1444752"/>
            <a:ext cx="2555748" cy="1874520"/>
          </a:xfrm>
          <a:prstGeom prst="roundRect">
            <a:avLst>
              <a:gd name="adj" fmla="val 2439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08776" y="1444752"/>
            <a:ext cx="64008" cy="1874520"/>
          </a:xfrm>
          <a:prstGeom prst="rect">
            <a:avLst/>
          </a:prstGeom>
          <a:solidFill>
            <a:srgbClr val="74546A"/>
          </a:solidFill>
          <a:ln w="12700">
            <a:solidFill>
              <a:srgbClr val="74546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55664" y="1655064"/>
            <a:ext cx="20802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6月底上线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55664" y="2167128"/>
            <a:ext cx="206197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希望写成确定计划</a:t>
            </a:r>
            <a:endParaRPr lang="en-US" sz="1120" dirty="0"/>
          </a:p>
        </p:txBody>
      </p:sp>
      <p:sp>
        <p:nvSpPr>
          <p:cNvPr id="22" name="Shape 20"/>
          <p:cNvSpPr/>
          <p:nvPr/>
        </p:nvSpPr>
        <p:spPr>
          <a:xfrm>
            <a:off x="8983980" y="1444752"/>
            <a:ext cx="2555748" cy="1874520"/>
          </a:xfrm>
          <a:prstGeom prst="roundRect">
            <a:avLst>
              <a:gd name="adj" fmla="val 2439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983980" y="1444752"/>
            <a:ext cx="64008" cy="1874520"/>
          </a:xfrm>
          <a:prstGeom prst="rect">
            <a:avLst/>
          </a:prstGeom>
          <a:solidFill>
            <a:srgbClr val="405D78"/>
          </a:solidFill>
          <a:ln w="12700">
            <a:solidFill>
              <a:srgbClr val="405D7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30868" y="1655064"/>
            <a:ext cx="20802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两周对接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230868" y="2167128"/>
            <a:ext cx="206197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条件估计写成正式工期</a:t>
            </a:r>
            <a:endParaRPr lang="en-US" sz="1120" dirty="0"/>
          </a:p>
        </p:txBody>
      </p:sp>
      <p:sp>
        <p:nvSpPr>
          <p:cNvPr id="26" name="Shape 24"/>
          <p:cNvSpPr/>
          <p:nvPr/>
        </p:nvSpPr>
        <p:spPr>
          <a:xfrm>
            <a:off x="658368" y="3538728"/>
            <a:ext cx="2555748" cy="1874520"/>
          </a:xfrm>
          <a:prstGeom prst="roundRect">
            <a:avLst>
              <a:gd name="adj" fmla="val 2439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8368" y="3538728"/>
            <a:ext cx="64008" cy="187452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05256" y="3749040"/>
            <a:ext cx="20802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预算不重要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05256" y="4261104"/>
            <a:ext cx="206197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自行弱化商务风险</a:t>
            </a:r>
            <a:endParaRPr lang="en-US" sz="1120" dirty="0"/>
          </a:p>
        </p:txBody>
      </p:sp>
      <p:sp>
        <p:nvSpPr>
          <p:cNvPr id="30" name="Shape 28"/>
          <p:cNvSpPr/>
          <p:nvPr/>
        </p:nvSpPr>
        <p:spPr>
          <a:xfrm>
            <a:off x="3433572" y="3538728"/>
            <a:ext cx="2555748" cy="1874520"/>
          </a:xfrm>
          <a:prstGeom prst="roundRect">
            <a:avLst>
              <a:gd name="adj" fmla="val 2439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433572" y="3538728"/>
            <a:ext cx="64008" cy="1874520"/>
          </a:xfrm>
          <a:prstGeom prst="rect">
            <a:avLst/>
          </a:prstGeom>
          <a:solidFill>
            <a:srgbClr val="527553"/>
          </a:solidFill>
          <a:ln w="12700">
            <a:solidFill>
              <a:srgbClr val="52755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80460" y="3749040"/>
            <a:ext cx="20802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行动项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3680460" y="4261104"/>
            <a:ext cx="206197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缺负责人和日期</a:t>
            </a:r>
            <a:endParaRPr lang="en-US" sz="1120" dirty="0"/>
          </a:p>
        </p:txBody>
      </p:sp>
      <p:sp>
        <p:nvSpPr>
          <p:cNvPr id="34" name="Shape 32"/>
          <p:cNvSpPr/>
          <p:nvPr/>
        </p:nvSpPr>
        <p:spPr>
          <a:xfrm>
            <a:off x="6208776" y="3538728"/>
            <a:ext cx="2555748" cy="1874520"/>
          </a:xfrm>
          <a:prstGeom prst="roundRect">
            <a:avLst>
              <a:gd name="adj" fmla="val 2439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08776" y="3538728"/>
            <a:ext cx="64008" cy="187452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55664" y="3749040"/>
            <a:ext cx="20802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安全风险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6455664" y="4261104"/>
            <a:ext cx="206197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遗漏关键异议</a:t>
            </a:r>
            <a:endParaRPr lang="en-US" sz="1120" dirty="0"/>
          </a:p>
        </p:txBody>
      </p:sp>
      <p:sp>
        <p:nvSpPr>
          <p:cNvPr id="38" name="Shape 36"/>
          <p:cNvSpPr/>
          <p:nvPr/>
        </p:nvSpPr>
        <p:spPr>
          <a:xfrm>
            <a:off x="8983980" y="3538728"/>
            <a:ext cx="2555748" cy="1874520"/>
          </a:xfrm>
          <a:prstGeom prst="roundRect">
            <a:avLst>
              <a:gd name="adj" fmla="val 2439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983980" y="3538728"/>
            <a:ext cx="64008" cy="187452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230868" y="3749040"/>
            <a:ext cx="20802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待确认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9230868" y="4261104"/>
            <a:ext cx="206197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预算、决策人、时间未列出</a:t>
            </a:r>
            <a:endParaRPr lang="en-US" sz="1120" dirty="0"/>
          </a:p>
        </p:txBody>
      </p:sp>
      <p:sp>
        <p:nvSpPr>
          <p:cNvPr id="42" name="Text 40"/>
          <p:cNvSpPr/>
          <p:nvPr/>
        </p:nvSpPr>
        <p:spPr>
          <a:xfrm>
            <a:off x="914400" y="5559552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AI产品验收不能只看“读起来像不像好答案”。</a:t>
            </a:r>
            <a:endParaRPr lang="en-US" sz="16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10896"/>
          </a:xfrm>
          <a:prstGeom prst="roundRect">
            <a:avLst>
              <a:gd name="adj" fmla="val 29412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30936" y="342900"/>
            <a:ext cx="4389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spc="105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销售拜访记录助手案例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根据Bad Case做最小修改，不从头重写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766560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 销售拜访记录助手案例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42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143000" y="1664208"/>
            <a:ext cx="3157728" cy="1554480"/>
          </a:xfrm>
          <a:prstGeom prst="roundRect">
            <a:avLst>
              <a:gd name="adj" fmla="val 2941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07592" y="1837944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280160" y="2231136"/>
            <a:ext cx="2883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选择问题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1298448" y="2697480"/>
            <a:ext cx="2846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最重要1—3条</a:t>
            </a:r>
            <a:endParaRPr lang="en-US" sz="970" dirty="0"/>
          </a:p>
        </p:txBody>
      </p:sp>
      <p:sp>
        <p:nvSpPr>
          <p:cNvPr id="14" name="Shape 12"/>
          <p:cNvSpPr/>
          <p:nvPr/>
        </p:nvSpPr>
        <p:spPr>
          <a:xfrm>
            <a:off x="4501896" y="1664208"/>
            <a:ext cx="3157728" cy="1554480"/>
          </a:xfrm>
          <a:prstGeom prst="roundRect">
            <a:avLst>
              <a:gd name="adj" fmla="val 2941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6488" y="1837944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18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39056" y="2231136"/>
            <a:ext cx="2883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定位Prompt</a:t>
            </a:r>
            <a:endParaRPr lang="en-US" sz="1320" dirty="0"/>
          </a:p>
        </p:txBody>
      </p:sp>
      <p:sp>
        <p:nvSpPr>
          <p:cNvPr id="17" name="Text 15"/>
          <p:cNvSpPr/>
          <p:nvPr/>
        </p:nvSpPr>
        <p:spPr>
          <a:xfrm>
            <a:off x="4657344" y="2697480"/>
            <a:ext cx="2846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任务／输入／规则／输出</a:t>
            </a:r>
            <a:endParaRPr lang="en-US" sz="970" dirty="0"/>
          </a:p>
        </p:txBody>
      </p:sp>
      <p:sp>
        <p:nvSpPr>
          <p:cNvPr id="18" name="Shape 16"/>
          <p:cNvSpPr/>
          <p:nvPr/>
        </p:nvSpPr>
        <p:spPr>
          <a:xfrm>
            <a:off x="7860792" y="1664208"/>
            <a:ext cx="3157728" cy="1554480"/>
          </a:xfrm>
          <a:prstGeom prst="roundRect">
            <a:avLst>
              <a:gd name="adj" fmla="val 2941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25384" y="1837944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87B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997952" y="2231136"/>
            <a:ext cx="2883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写通用修改</a:t>
            </a:r>
            <a:endParaRPr lang="en-US" sz="1320" dirty="0"/>
          </a:p>
        </p:txBody>
      </p:sp>
      <p:sp>
        <p:nvSpPr>
          <p:cNvPr id="21" name="Text 19"/>
          <p:cNvSpPr/>
          <p:nvPr/>
        </p:nvSpPr>
        <p:spPr>
          <a:xfrm>
            <a:off x="8016240" y="2697480"/>
            <a:ext cx="2846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能迁移到其他样例</a:t>
            </a:r>
            <a:endParaRPr lang="en-US" sz="970" dirty="0"/>
          </a:p>
        </p:txBody>
      </p:sp>
      <p:sp>
        <p:nvSpPr>
          <p:cNvPr id="22" name="Shape 20"/>
          <p:cNvSpPr/>
          <p:nvPr/>
        </p:nvSpPr>
        <p:spPr>
          <a:xfrm>
            <a:off x="713232" y="3794760"/>
            <a:ext cx="5285232" cy="1417320"/>
          </a:xfrm>
          <a:prstGeom prst="roundRect">
            <a:avLst>
              <a:gd name="adj" fmla="val 3226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13232" y="3794760"/>
            <a:ext cx="64008" cy="141732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" y="4005072"/>
            <a:ext cx="4809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不建议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60120" y="4517136"/>
            <a:ext cx="479145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必须输出5家试点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199632" y="3794760"/>
            <a:ext cx="5285232" cy="1417320"/>
          </a:xfrm>
          <a:prstGeom prst="roundRect">
            <a:avLst>
              <a:gd name="adj" fmla="val 3226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99632" y="3794760"/>
            <a:ext cx="64008" cy="141732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46520" y="4005072"/>
            <a:ext cx="4809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更通用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446520" y="4517136"/>
            <a:ext cx="479145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区分已确认、讨论中和待确认；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可能方案不能改写为确定事实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10195560" y="749808"/>
            <a:ext cx="978408" cy="310896"/>
          </a:xfrm>
          <a:prstGeom prst="roundRect">
            <a:avLst>
              <a:gd name="adj" fmla="val 29412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259568" y="818388"/>
            <a:ext cx="8503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03:00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10896"/>
          </a:xfrm>
          <a:prstGeom prst="roundRect">
            <a:avLst>
              <a:gd name="adj" fmla="val 29412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30936" y="342900"/>
            <a:ext cx="4389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spc="105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销售拜访记录助手案例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第二轮真实输出：改完以后，发生了什么？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766560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 销售拜访记录助手案例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43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13232" y="1536192"/>
            <a:ext cx="3246120" cy="4343400"/>
          </a:xfrm>
          <a:prstGeom prst="roundRect">
            <a:avLst>
              <a:gd name="adj" fmla="val 14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1536192"/>
            <a:ext cx="64008" cy="434340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1746504"/>
            <a:ext cx="2770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本轮修改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60120" y="2258568"/>
            <a:ext cx="2752344" cy="3410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填写课堂最终采用的1—3条通用修改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完整Prompt放在课堂材料或演讲者备注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251960" y="1536192"/>
            <a:ext cx="7059168" cy="4343400"/>
          </a:xfrm>
          <a:prstGeom prst="roundRect">
            <a:avLst>
              <a:gd name="adj" fmla="val 1053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251960" y="1536192"/>
            <a:ext cx="64008" cy="434340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98848" y="1746504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【课前替换】真实第二轮输出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498848" y="2258568"/>
            <a:ext cx="6565392" cy="3410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模型：________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生成日期：________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可见设置：________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输出是否节选：是／否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改善了什么？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仍然有什么问题？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是否出现新的Bad Case？</a:t>
            </a:r>
            <a:endParaRPr lang="en-US" sz="14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10896"/>
          </a:xfrm>
          <a:prstGeom prst="roundRect">
            <a:avLst>
              <a:gd name="adj" fmla="val 29412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30936" y="342900"/>
            <a:ext cx="4389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spc="105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销售拜访记录助手案例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一次改善之后，还要完成验收和产品流程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766560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 销售拜访记录助手案例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44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13232" y="1536192"/>
            <a:ext cx="5257800" cy="4389120"/>
          </a:xfrm>
          <a:prstGeom prst="roundRect">
            <a:avLst>
              <a:gd name="adj" fmla="val 1042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1536192"/>
            <a:ext cx="64008" cy="438912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1746504"/>
            <a:ext cx="4782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第二轮验收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60120" y="2258568"/>
            <a:ext cx="4764024" cy="3456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□ 确定性状态正确</a:t>
            </a:r>
            <a:endParaRPr lang="en-US" sz="1420" dirty="0"/>
          </a:p>
          <a:p>
            <a:pPr algn="l" indent="0" marL="0">
              <a:buNone/>
            </a:pPr>
            <a:r>
              <a:rPr lang="en-US" sz="142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□ 未把讨论或估计写成承诺</a:t>
            </a:r>
            <a:endParaRPr lang="en-US" sz="1420" dirty="0"/>
          </a:p>
          <a:p>
            <a:pPr algn="l" indent="0" marL="0">
              <a:buNone/>
            </a:pPr>
            <a:r>
              <a:rPr lang="en-US" sz="142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□ 关键事实完整且可核对</a:t>
            </a:r>
            <a:endParaRPr lang="en-US" sz="1420" dirty="0"/>
          </a:p>
          <a:p>
            <a:pPr algn="l" indent="0" marL="0">
              <a:buNone/>
            </a:pPr>
            <a:r>
              <a:rPr lang="en-US" sz="142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□ 行动项支持后续执行</a:t>
            </a:r>
            <a:endParaRPr lang="en-US" sz="1420" dirty="0"/>
          </a:p>
          <a:p>
            <a:pPr algn="l" indent="0" marL="0">
              <a:buNone/>
            </a:pPr>
            <a:r>
              <a:rPr lang="en-US" sz="142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□ 缺失信息明确处理</a:t>
            </a:r>
            <a:endParaRPr lang="en-US" sz="1420" dirty="0"/>
          </a:p>
          <a:p>
            <a:pPr algn="l" indent="0" marL="0">
              <a:buNone/>
            </a:pPr>
            <a:r>
              <a:rPr lang="en-US" sz="142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□ 高风险内容进入确认流程</a:t>
            </a:r>
            <a:endParaRPr lang="en-US" sz="1420" dirty="0"/>
          </a:p>
        </p:txBody>
      </p:sp>
      <p:sp>
        <p:nvSpPr>
          <p:cNvPr id="14" name="Shape 12"/>
          <p:cNvSpPr/>
          <p:nvPr/>
        </p:nvSpPr>
        <p:spPr>
          <a:xfrm>
            <a:off x="6217920" y="1536192"/>
            <a:ext cx="5074920" cy="4389120"/>
          </a:xfrm>
          <a:prstGeom prst="roundRect">
            <a:avLst>
              <a:gd name="adj" fmla="val 1042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536192"/>
            <a:ext cx="64008" cy="438912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64808" y="1746504"/>
            <a:ext cx="4599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产品流程三句话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64808" y="2258568"/>
            <a:ext cx="4581144" cy="3456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 系统已经准备________</a:t>
            </a:r>
            <a:endParaRPr lang="en-US" sz="1450" dirty="0"/>
          </a:p>
          <a:p>
            <a:pPr algn="l" indent="0" marL="0">
              <a:buNone/>
            </a:pP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 用户仍需填写、选择或确认________</a:t>
            </a:r>
            <a:endParaRPr lang="en-US" sz="1450" dirty="0"/>
          </a:p>
          <a:p>
            <a:pPr algn="l" indent="0" marL="0">
              <a:buNone/>
            </a:pP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 必须确认后才能写入CRM的是________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914400" y="580644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一次结果改善 ≠ 系统已经稳定 ≠ 可以取消人工确认</a:t>
            </a:r>
            <a:endParaRPr lang="en-US" sz="15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10896"/>
          </a:xfrm>
          <a:prstGeom prst="roundRect">
            <a:avLst>
              <a:gd name="adj" fmla="val 29412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30936" y="342900"/>
            <a:ext cx="4389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spc="105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Bad Case与Prompt边界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Bad Case先别急着改Prompt：问题首先在哪里？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766560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 Bad Case与Prompt边界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45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58368" y="1481328"/>
            <a:ext cx="5330952" cy="1874520"/>
          </a:xfrm>
          <a:prstGeom prst="roundRect">
            <a:avLst>
              <a:gd name="adj" fmla="val 2439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1481328"/>
            <a:ext cx="64008" cy="187452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05256" y="1691640"/>
            <a:ext cx="4855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任务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05256" y="2203704"/>
            <a:ext cx="4837176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服务谁、完成什么？</a:t>
            </a: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“整理一下”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6208776" y="1481328"/>
            <a:ext cx="5330952" cy="1874520"/>
          </a:xfrm>
          <a:prstGeom prst="roundRect">
            <a:avLst>
              <a:gd name="adj" fmla="val 2439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08776" y="1481328"/>
            <a:ext cx="64008" cy="1874520"/>
          </a:xfrm>
          <a:prstGeom prst="rect">
            <a:avLst/>
          </a:prstGeom>
          <a:solidFill>
            <a:srgbClr val="405D78"/>
          </a:solidFill>
          <a:ln w="12700">
            <a:solidFill>
              <a:srgbClr val="405D7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55664" y="1691640"/>
            <a:ext cx="4855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上下文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55664" y="2203704"/>
            <a:ext cx="4837176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事实足够、可靠吗？</a:t>
            </a: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缺材料、版本冲突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658368" y="3575304"/>
            <a:ext cx="5330952" cy="1874520"/>
          </a:xfrm>
          <a:prstGeom prst="roundRect">
            <a:avLst>
              <a:gd name="adj" fmla="val 2439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3575304"/>
            <a:ext cx="64008" cy="187452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5256" y="3785616"/>
            <a:ext cx="4855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规则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05256" y="4297680"/>
            <a:ext cx="4837176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推测和缺失怎样处理？</a:t>
            </a: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可能写成确定</a:t>
            </a:r>
            <a:endParaRPr lang="en-US" sz="1120" dirty="0"/>
          </a:p>
        </p:txBody>
      </p:sp>
      <p:sp>
        <p:nvSpPr>
          <p:cNvPr id="22" name="Shape 20"/>
          <p:cNvSpPr/>
          <p:nvPr/>
        </p:nvSpPr>
        <p:spPr>
          <a:xfrm>
            <a:off x="6208776" y="3575304"/>
            <a:ext cx="5330952" cy="1874520"/>
          </a:xfrm>
          <a:prstGeom prst="roundRect">
            <a:avLst>
              <a:gd name="adj" fmla="val 2439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08776" y="3575304"/>
            <a:ext cx="64008" cy="187452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55664" y="3785616"/>
            <a:ext cx="4855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输出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455664" y="4297680"/>
            <a:ext cx="4837176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能否检查并进入下一步？</a:t>
            </a: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缺字段、时间或状态</a:t>
            </a:r>
            <a:endParaRPr lang="en-US" sz="1120" dirty="0"/>
          </a:p>
        </p:txBody>
      </p:sp>
      <p:sp>
        <p:nvSpPr>
          <p:cNvPr id="26" name="Shape 24"/>
          <p:cNvSpPr/>
          <p:nvPr/>
        </p:nvSpPr>
        <p:spPr>
          <a:xfrm>
            <a:off x="914400" y="5413248"/>
            <a:ext cx="73152" cy="59436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34440" y="5504688"/>
            <a:ext cx="9738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“可能8家”被写成“确定8家”｜优先检查：规则与约束</a:t>
            </a:r>
            <a:endParaRPr lang="en-US" sz="16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10896"/>
          </a:xfrm>
          <a:prstGeom prst="roundRect">
            <a:avLst>
              <a:gd name="adj" fmla="val 29412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30936" y="342900"/>
            <a:ext cx="4389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spc="105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Bad Case与Prompt边界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出现这些信号时，不要继续无限堆Prompt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766560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 Bad Case与Prompt边界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46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13232" y="1508760"/>
            <a:ext cx="5486400" cy="4480560"/>
          </a:xfrm>
          <a:prstGeom prst="roundRect">
            <a:avLst>
              <a:gd name="adj" fmla="val 1020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1508760"/>
            <a:ext cx="64008" cy="448056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1719072"/>
            <a:ext cx="5010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五个边界信号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60120" y="2231136"/>
            <a:ext cx="4992624" cy="354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① 缺少企业私有、最新或大量知识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② 多个稳定步骤、条件分支和中间检查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③ 需要查询、写入、发送或创建任务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④ 原始录音、转写或上游数据已经错误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⑤ 任务等已说清，多条样本仍持续不达标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473952" y="1508760"/>
            <a:ext cx="4800600" cy="4480560"/>
          </a:xfrm>
          <a:prstGeom prst="roundRect">
            <a:avLst>
              <a:gd name="adj" fmla="val 1020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73952" y="1508760"/>
            <a:ext cx="64008" cy="448056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20840" y="1719072"/>
            <a:ext cx="4325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统一判断句式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720840" y="2231136"/>
            <a:ext cx="4306824" cy="354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这条问题首先属于________</a:t>
            </a:r>
            <a:endParaRPr lang="en-US" sz="1500" dirty="0"/>
          </a:p>
          <a:p>
            <a:pPr algn="ctr" indent="0" marL="0">
              <a:buNone/>
            </a:pP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我会先验证________</a:t>
            </a:r>
            <a:endParaRPr lang="en-US" sz="1500" dirty="0"/>
          </a:p>
          <a:p>
            <a:pPr algn="ctr" indent="0" marL="0">
              <a:buNone/>
            </a:pP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如果仍不能解决，再考虑________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14400" y="5797296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技术名词不是升级路线，问题类型才是下一步方案的起点。</a:t>
            </a:r>
            <a:endParaRPr lang="en-US" sz="15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10896"/>
          </a:xfrm>
          <a:prstGeom prst="roundRect">
            <a:avLst>
              <a:gd name="adj" fmla="val 29412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30936" y="342900"/>
            <a:ext cx="4389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spc="105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总结与课后作业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今天只带走四个结论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766560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09 总结与课后作业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47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58368" y="1572768"/>
            <a:ext cx="2578608" cy="3703320"/>
          </a:xfrm>
          <a:prstGeom prst="roundRect">
            <a:avLst>
              <a:gd name="adj" fmla="val 1773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8368" y="1572768"/>
            <a:ext cx="64008" cy="370332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05256" y="178308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生成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905256" y="2295144"/>
            <a:ext cx="2084832" cy="2770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不是固定查询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一次Demo不能证明稳定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474720" y="1572768"/>
            <a:ext cx="2578608" cy="3703320"/>
          </a:xfrm>
          <a:prstGeom prst="roundRect">
            <a:avLst>
              <a:gd name="adj" fmla="val 1773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74720" y="1572768"/>
            <a:ext cx="64008" cy="370332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21608" y="178308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上下文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3721608" y="2295144"/>
            <a:ext cx="2084832" cy="2770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有限工作区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信息要必要、可靠、清楚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291072" y="1572768"/>
            <a:ext cx="2578608" cy="3703320"/>
          </a:xfrm>
          <a:prstGeom prst="roundRect">
            <a:avLst>
              <a:gd name="adj" fmla="val 1773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91072" y="1572768"/>
            <a:ext cx="64008" cy="3703320"/>
          </a:xfrm>
          <a:prstGeom prst="rect">
            <a:avLst/>
          </a:prstGeom>
          <a:solidFill>
            <a:srgbClr val="74546A"/>
          </a:solidFill>
          <a:ln w="12700">
            <a:solidFill>
              <a:srgbClr val="74546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37960" y="178308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Prompt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6537960" y="2295144"/>
            <a:ext cx="2084832" cy="2770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先定义用户、输出和验收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107424" y="1572768"/>
            <a:ext cx="2578608" cy="3703320"/>
          </a:xfrm>
          <a:prstGeom prst="roundRect">
            <a:avLst>
              <a:gd name="adj" fmla="val 1773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107424" y="1572768"/>
            <a:ext cx="64008" cy="370332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54312" y="178308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产品化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9354312" y="2295144"/>
            <a:ext cx="2084832" cy="2770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产品承担重复输入与风险处理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14400" y="5650992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V0.1 输出与上下文 → V0.2关键骨架 → V0.3产品化 → 案例验证</a:t>
            </a:r>
            <a:endParaRPr lang="en-US" sz="14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10896"/>
          </a:xfrm>
          <a:prstGeom prst="roundRect">
            <a:avLst>
              <a:gd name="adj" fmla="val 29412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30936" y="342900"/>
            <a:ext cx="4389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spc="105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总结与课后作业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课后完成V1.0：先交必做版，进阶版自选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766560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09 总结与课后作业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48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85800" y="1481328"/>
            <a:ext cx="6995160" cy="4553712"/>
          </a:xfrm>
          <a:prstGeom prst="roundRect">
            <a:avLst>
              <a:gd name="adj" fmla="val 1004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85800" y="1481328"/>
            <a:ext cx="64008" cy="4553712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91640"/>
            <a:ext cx="6519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必做版｜完成即合格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932688" y="2203704"/>
            <a:ext cx="6501384" cy="3621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□ 场景：谁在什么时点完成什么任务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□ 输出：至少2项结果＋可检查标准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□ 设计：必要上下文＋Prompt关键骨架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□ 产品化：信息供给＋至少1项高风险处理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□ 验证：运行1条样例＋1条Bad Case＋最小修改</a:t>
            </a:r>
            <a:endParaRPr lang="en-US" sz="1520" dirty="0"/>
          </a:p>
        </p:txBody>
      </p:sp>
      <p:sp>
        <p:nvSpPr>
          <p:cNvPr id="14" name="Shape 12"/>
          <p:cNvSpPr/>
          <p:nvPr/>
        </p:nvSpPr>
        <p:spPr>
          <a:xfrm>
            <a:off x="7955280" y="1481328"/>
            <a:ext cx="3337560" cy="4553712"/>
          </a:xfrm>
          <a:prstGeom prst="roundRect">
            <a:avLst>
              <a:gd name="adj" fmla="val 1370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955280" y="1481328"/>
            <a:ext cx="64008" cy="4553712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02168" y="1691640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进阶版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202168" y="2203704"/>
            <a:ext cx="2843784" cy="3621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再补2—3条样例</a:t>
            </a:r>
            <a:endParaRPr lang="en-US" sz="1420" dirty="0"/>
          </a:p>
          <a:p>
            <a:pPr algn="l" indent="0" marL="0">
              <a:buNone/>
            </a:pPr>
            <a:r>
              <a:rPr lang="en-US" sz="142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保留每轮原始记录</a:t>
            </a:r>
            <a:endParaRPr lang="en-US" sz="1420" dirty="0"/>
          </a:p>
          <a:p>
            <a:pPr algn="l" indent="0" marL="0">
              <a:buNone/>
            </a:pPr>
            <a:r>
              <a:rPr lang="en-US" sz="142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补齐证据、权限与确认</a:t>
            </a:r>
            <a:endParaRPr lang="en-US" sz="1420" dirty="0"/>
          </a:p>
          <a:p>
            <a:pPr algn="l" indent="0" marL="0">
              <a:buNone/>
            </a:pPr>
            <a:r>
              <a:rPr lang="en-US" sz="142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画产品流程</a:t>
            </a:r>
            <a:endParaRPr lang="en-US" sz="1420" dirty="0"/>
          </a:p>
        </p:txBody>
      </p:sp>
      <p:sp>
        <p:nvSpPr>
          <p:cNvPr id="18" name="Text 16"/>
          <p:cNvSpPr/>
          <p:nvPr/>
        </p:nvSpPr>
        <p:spPr>
          <a:xfrm>
            <a:off x="914400" y="5852160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没有工作场景可使用公开或虚构材料｜禁止提交敏感数据、隐私或公司机密</a:t>
            </a:r>
            <a:endParaRPr lang="en-US" sz="10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005840"/>
            <a:ext cx="9875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从一次好回答，</a:t>
            </a:r>
            <a:endParaRPr lang="en-US" sz="3500" dirty="0"/>
          </a:p>
          <a:p>
            <a:pPr algn="l" indent="0" marL="0">
              <a:buNone/>
            </a:pPr>
            <a:r>
              <a:rPr lang="en-US" sz="3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走向可重复交付。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841248" y="2606040"/>
            <a:ext cx="2743200" cy="0"/>
          </a:xfrm>
          <a:prstGeom prst="line">
            <a:avLst/>
          </a:prstGeom>
          <a:noFill/>
          <a:ln w="38100">
            <a:solidFill>
              <a:srgbClr val="C3533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31546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不要先追求“万能AI产品”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41248" y="3657600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92A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先让一个具体任务被定义、被验证、被稳定交付。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498080" y="31272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100" b="1" spc="12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下一课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0" y="3584448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场景判断与</a:t>
            </a:r>
            <a:endParaRPr lang="en-US" sz="2200" dirty="0"/>
          </a:p>
          <a:p>
            <a:pPr algn="r" indent="0" marL="0">
              <a:buNone/>
            </a:pPr>
            <a:r>
              <a:rPr lang="en-US" sz="22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AI产品形态选择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315200" y="5870448"/>
            <a:ext cx="3657600" cy="310896"/>
          </a:xfrm>
          <a:prstGeom prst="roundRect">
            <a:avLst>
              <a:gd name="adj" fmla="val 29412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79208" y="5939028"/>
            <a:ext cx="35295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117—120分钟：集中答疑／确认作业选题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41248" y="608076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52</Slides>
  <Notes>52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</vt:vector>
  </TitlesOfParts>
  <Company>AI 产品经理系统课程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大模型基础、上下文与Prompt产品化设计</dc:title>
  <dc:subject>第02课：大模型基础、上下文与Prompt产品化设计</dc:subject>
  <dc:creator>AI 产品经理系统课程</dc:creator>
  <cp:lastModifiedBy>AI 产品经理系统课程</cp:lastModifiedBy>
  <cp:revision>1</cp:revision>
  <dcterms:created xsi:type="dcterms:W3CDTF">2026-07-18T08:42:09Z</dcterms:created>
  <dcterms:modified xsi:type="dcterms:W3CDTF">2026-07-18T08:42:09Z</dcterms:modified>
</cp:coreProperties>
</file>