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56" r:id="rId2"/>
    <p:sldId id="257" r:id="rId3"/>
    <p:sldId id="308" r:id="rId4"/>
    <p:sldId id="309" r:id="rId5"/>
    <p:sldId id="310" r:id="rId6"/>
    <p:sldId id="311" r:id="rId7"/>
    <p:sldId id="313" r:id="rId8"/>
    <p:sldId id="314" r:id="rId9"/>
    <p:sldId id="258" r:id="rId10"/>
    <p:sldId id="315" r:id="rId11"/>
    <p:sldId id="316" r:id="rId12"/>
    <p:sldId id="317"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318" r:id="rId27"/>
    <p:sldId id="272" r:id="rId28"/>
    <p:sldId id="273" r:id="rId29"/>
    <p:sldId id="274" r:id="rId30"/>
    <p:sldId id="275" r:id="rId31"/>
    <p:sldId id="276" r:id="rId32"/>
    <p:sldId id="319" r:id="rId33"/>
    <p:sldId id="277" r:id="rId34"/>
    <p:sldId id="278" r:id="rId35"/>
    <p:sldId id="279" r:id="rId36"/>
    <p:sldId id="280" r:id="rId37"/>
    <p:sldId id="281" r:id="rId38"/>
    <p:sldId id="320" r:id="rId39"/>
    <p:sldId id="282" r:id="rId40"/>
    <p:sldId id="283" r:id="rId41"/>
    <p:sldId id="284" r:id="rId42"/>
    <p:sldId id="285" r:id="rId43"/>
    <p:sldId id="321" r:id="rId44"/>
    <p:sldId id="288" r:id="rId45"/>
    <p:sldId id="322" r:id="rId46"/>
    <p:sldId id="289" r:id="rId47"/>
    <p:sldId id="323" r:id="rId48"/>
    <p:sldId id="324" r:id="rId49"/>
    <p:sldId id="325" r:id="rId50"/>
    <p:sldId id="295" r:id="rId51"/>
    <p:sldId id="326" r:id="rId52"/>
    <p:sldId id="297" r:id="rId53"/>
    <p:sldId id="301" r:id="rId54"/>
    <p:sldId id="302" r:id="rId55"/>
    <p:sldId id="327" r:id="rId56"/>
    <p:sldId id="328" r:id="rId57"/>
    <p:sldId id="306" r:id="rId58"/>
    <p:sldId id="307" r:id="rId5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0E8"/>
    <a:srgbClr val="C35331"/>
    <a:srgbClr val="FCF9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76156"/>
  </p:normalViewPr>
  <p:slideViewPr>
    <p:cSldViewPr snapToGrid="0" snapToObjects="1">
      <p:cViewPr varScale="1">
        <p:scale>
          <a:sx n="90" d="100"/>
          <a:sy n="90" d="100"/>
        </p:scale>
        <p:origin x="15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3616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第2页｜课程任务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32F0B-B07F-0511-D7BA-B35A9E467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0CFF9-5D0D-C828-F9A0-1C61F4600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A15D22-6DA5-E8F2-7AD3-0B4F9A1D32FB}"/>
              </a:ext>
            </a:extLst>
          </p:cNvPr>
          <p:cNvSpPr>
            <a:spLocks noGrp="1"/>
          </p:cNvSpPr>
          <p:nvPr>
            <p:ph type="body" idx="1"/>
          </p:nvPr>
        </p:nvSpPr>
        <p:spPr/>
        <p:txBody>
          <a:bodyPr/>
          <a:lstStyle/>
          <a:p>
            <a:r>
              <a:rPr lang="zh-CN" altLang="zh-CN" dirty="0"/>
              <a:t>参数可以理解为模型内部大量可调整的“旋钮”。</a:t>
            </a:r>
          </a:p>
          <a:p>
            <a:r>
              <a:rPr lang="zh-CN" altLang="zh-CN" dirty="0"/>
              <a:t>训练模型的过程，就是不断调整这些旋钮，让模型学会：</a:t>
            </a:r>
          </a:p>
          <a:p>
            <a:pPr lvl="0"/>
            <a:r>
              <a:rPr lang="zh-CN" altLang="zh-CN" dirty="0"/>
              <a:t>哪些词经常一起出现 </a:t>
            </a:r>
          </a:p>
          <a:p>
            <a:pPr lvl="0"/>
            <a:r>
              <a:rPr lang="zh-CN" altLang="zh-CN" dirty="0"/>
              <a:t>一句话表达了什么意图 </a:t>
            </a:r>
          </a:p>
          <a:p>
            <a:pPr lvl="0"/>
            <a:r>
              <a:rPr lang="zh-CN" altLang="zh-CN" dirty="0"/>
              <a:t>不同知识之间有什么联系 </a:t>
            </a:r>
          </a:p>
          <a:p>
            <a:pPr lvl="0"/>
            <a:r>
              <a:rPr lang="zh-CN" altLang="zh-CN" dirty="0"/>
              <a:t>不同任务应该怎么回答 </a:t>
            </a:r>
          </a:p>
          <a:p>
            <a:pPr lvl="0"/>
            <a:r>
              <a:rPr lang="zh-CN" altLang="zh-CN" dirty="0"/>
              <a:t>什么样的内容更符合人类要求 </a:t>
            </a:r>
          </a:p>
          <a:p>
            <a:r>
              <a:rPr lang="zh-CN" altLang="zh-CN" dirty="0"/>
              <a:t>参数越多，模型内部可以表达的规律通常越复杂。</a:t>
            </a:r>
          </a:p>
          <a:p>
            <a:r>
              <a:rPr lang="zh-CN" altLang="zh-CN" dirty="0"/>
              <a:t>可以把它类比成一个组织：</a:t>
            </a:r>
          </a:p>
          <a:p>
            <a:pPr lvl="0"/>
            <a:r>
              <a:rPr lang="zh-CN" altLang="zh-CN" dirty="0"/>
              <a:t>参数少，相当于只有几十个员工 </a:t>
            </a:r>
          </a:p>
          <a:p>
            <a:pPr lvl="0"/>
            <a:r>
              <a:rPr lang="zh-CN" altLang="zh-CN" dirty="0"/>
              <a:t>参数多，相当于有几万、几十万个员工 </a:t>
            </a:r>
          </a:p>
          <a:p>
            <a:pPr lvl="0"/>
            <a:r>
              <a:rPr lang="zh-CN" altLang="zh-CN" dirty="0"/>
              <a:t>每个员工只负责非常小的一部分判断 </a:t>
            </a:r>
          </a:p>
          <a:p>
            <a:pPr lvl="0"/>
            <a:r>
              <a:rPr lang="zh-CN" altLang="zh-CN" dirty="0"/>
              <a:t>大量员工协同后，才能处理复杂问题 </a:t>
            </a:r>
          </a:p>
          <a:p>
            <a:r>
              <a:rPr lang="zh-CN" altLang="zh-CN" dirty="0"/>
              <a:t>但这里要注意：</a:t>
            </a:r>
          </a:p>
          <a:p>
            <a:r>
              <a:rPr lang="zh-CN" altLang="zh-CN" b="1" dirty="0"/>
              <a:t>参数量代表的是潜在容量，不直接等于聪明程度。</a:t>
            </a:r>
            <a:endParaRPr lang="zh-CN" altLang="zh-CN" dirty="0"/>
          </a:p>
          <a:p>
            <a:r>
              <a:rPr lang="zh-CN" altLang="zh-CN" dirty="0"/>
              <a:t>就像：</a:t>
            </a:r>
          </a:p>
          <a:p>
            <a:pPr lvl="0"/>
            <a:r>
              <a:rPr lang="zh-CN" altLang="zh-CN" dirty="0"/>
              <a:t>大脑更大，不一定更聪明 </a:t>
            </a:r>
          </a:p>
          <a:p>
            <a:pPr lvl="0"/>
            <a:r>
              <a:rPr lang="zh-CN" altLang="zh-CN" dirty="0"/>
              <a:t>公司员工更多，不一定效率更高 </a:t>
            </a:r>
          </a:p>
          <a:p>
            <a:pPr lvl="0"/>
            <a:r>
              <a:rPr lang="zh-CN" altLang="zh-CN" dirty="0"/>
              <a:t>硬盘更大，不代表里面的内容更有价值 </a:t>
            </a:r>
          </a:p>
          <a:p>
            <a:pPr lvl="0"/>
            <a:r>
              <a:rPr lang="zh-CN" altLang="zh-CN" dirty="0"/>
              <a:t>学生看过的书更多，也不代表真正理解得更好 </a:t>
            </a:r>
          </a:p>
          <a:p>
            <a:r>
              <a:rPr lang="zh-CN" altLang="zh-CN" dirty="0"/>
              <a:t>参数多，只是说明模型有更大的空间去容纳复杂规律。</a:t>
            </a:r>
          </a:p>
        </p:txBody>
      </p:sp>
      <p:sp>
        <p:nvSpPr>
          <p:cNvPr id="4" name="Slide Number Placeholder 3">
            <a:extLst>
              <a:ext uri="{FF2B5EF4-FFF2-40B4-BE49-F238E27FC236}">
                <a16:creationId xmlns:a16="http://schemas.microsoft.com/office/drawing/2014/main" id="{65923EF1-D5EF-6816-06B2-6F42D6266F9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577936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D32A0-25FA-DD90-93D1-23F27E01D5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E4AE8-F547-DD7F-39DB-6BF3E05CE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7D132-5AF9-AB7A-7E69-49B899C148DA}"/>
              </a:ext>
            </a:extLst>
          </p:cNvPr>
          <p:cNvSpPr>
            <a:spLocks noGrp="1"/>
          </p:cNvSpPr>
          <p:nvPr>
            <p:ph type="body" idx="1"/>
          </p:nvPr>
        </p:nvSpPr>
        <p:spPr/>
        <p:txBody>
          <a:bodyPr/>
          <a:lstStyle/>
          <a:p>
            <a:r>
              <a:rPr lang="zh-CN" altLang="zh-CN" dirty="0"/>
              <a:t>传统AI通常是“一个模型，一个任务”。</a:t>
            </a:r>
          </a:p>
          <a:p>
            <a:r>
              <a:rPr lang="zh-CN" altLang="zh-CN" dirty="0"/>
              <a:t>例如：</a:t>
            </a:r>
          </a:p>
          <a:p>
            <a:pPr lvl="0"/>
            <a:r>
              <a:rPr lang="zh-CN" altLang="zh-CN" dirty="0"/>
              <a:t>推荐模型负责推荐 </a:t>
            </a:r>
          </a:p>
          <a:p>
            <a:pPr lvl="0"/>
            <a:r>
              <a:rPr lang="zh-CN" altLang="zh-CN" dirty="0"/>
              <a:t>风控模型负责判断风险 </a:t>
            </a:r>
          </a:p>
          <a:p>
            <a:pPr lvl="0"/>
            <a:r>
              <a:rPr lang="zh-CN" altLang="zh-CN" dirty="0"/>
              <a:t>OCR模型负责识别文字 </a:t>
            </a:r>
          </a:p>
          <a:p>
            <a:pPr lvl="0"/>
            <a:r>
              <a:rPr lang="zh-CN" altLang="zh-CN" dirty="0"/>
              <a:t>情感模型负责判断正负面 </a:t>
            </a:r>
          </a:p>
          <a:p>
            <a:pPr lvl="0"/>
            <a:r>
              <a:rPr lang="zh-CN" altLang="zh-CN" dirty="0"/>
              <a:t>翻译模型负责翻译 </a:t>
            </a:r>
          </a:p>
          <a:p>
            <a:r>
              <a:rPr lang="zh-CN" altLang="zh-CN" dirty="0"/>
              <a:t>大模型最大的变化是：</a:t>
            </a:r>
          </a:p>
          <a:p>
            <a:r>
              <a:rPr lang="zh-CN" altLang="zh-CN" b="1" dirty="0"/>
              <a:t>同一个模型，可以通过不同指令完成很多不同任务。</a:t>
            </a:r>
            <a:endParaRPr lang="zh-CN" altLang="zh-CN" dirty="0"/>
          </a:p>
          <a:p>
            <a:r>
              <a:rPr lang="zh-CN" altLang="zh-CN" dirty="0"/>
              <a:t>例如，同一个大模型可以：</a:t>
            </a:r>
          </a:p>
          <a:p>
            <a:pPr lvl="0"/>
            <a:r>
              <a:rPr lang="zh-CN" altLang="zh-CN" dirty="0"/>
              <a:t>总结文章 </a:t>
            </a:r>
          </a:p>
          <a:p>
            <a:pPr lvl="0"/>
            <a:r>
              <a:rPr lang="zh-CN" altLang="zh-CN" dirty="0"/>
              <a:t>撰写文案 </a:t>
            </a:r>
          </a:p>
          <a:p>
            <a:pPr lvl="0"/>
            <a:r>
              <a:rPr lang="zh-CN" altLang="zh-CN" dirty="0"/>
              <a:t>翻译内容 </a:t>
            </a:r>
          </a:p>
          <a:p>
            <a:pPr lvl="0"/>
            <a:r>
              <a:rPr lang="zh-CN" altLang="zh-CN" dirty="0"/>
              <a:t>分类投诉 </a:t>
            </a:r>
          </a:p>
          <a:p>
            <a:pPr lvl="0"/>
            <a:r>
              <a:rPr lang="zh-CN" altLang="zh-CN" dirty="0"/>
              <a:t>提取信息 </a:t>
            </a:r>
          </a:p>
          <a:p>
            <a:pPr lvl="0"/>
            <a:r>
              <a:rPr lang="zh-CN" altLang="zh-CN" dirty="0"/>
              <a:t>编写代码 </a:t>
            </a:r>
          </a:p>
          <a:p>
            <a:pPr lvl="0"/>
            <a:r>
              <a:rPr lang="zh-CN" altLang="zh-CN" dirty="0"/>
              <a:t>分析原因 </a:t>
            </a:r>
          </a:p>
          <a:p>
            <a:pPr lvl="0"/>
            <a:r>
              <a:rPr lang="zh-CN" altLang="zh-CN" dirty="0"/>
              <a:t>模拟客服 </a:t>
            </a:r>
          </a:p>
          <a:p>
            <a:pPr lvl="0"/>
            <a:r>
              <a:rPr lang="zh-CN" altLang="zh-CN" dirty="0"/>
              <a:t>设计方案 </a:t>
            </a:r>
          </a:p>
          <a:p>
            <a:pPr lvl="0"/>
            <a:r>
              <a:rPr lang="zh-CN" altLang="zh-CN" dirty="0"/>
              <a:t>解释概念 </a:t>
            </a:r>
          </a:p>
          <a:p>
            <a:r>
              <a:rPr lang="zh-CN" altLang="zh-CN" dirty="0"/>
              <a:t>这意味着，“大”不仅是模型本身大，也是它能够覆盖的</a:t>
            </a:r>
            <a:r>
              <a:rPr lang="zh-CN" altLang="zh-CN" b="1" dirty="0"/>
              <a:t>任务空间大</a:t>
            </a:r>
            <a:r>
              <a:rPr lang="zh-CN" altLang="zh-CN" dirty="0"/>
              <a:t>。</a:t>
            </a:r>
          </a:p>
          <a:p>
            <a:r>
              <a:rPr lang="zh-CN" altLang="zh-CN" dirty="0"/>
              <a:t>从产品经理的角度看，这是最重要的一层：</a:t>
            </a:r>
          </a:p>
          <a:p>
            <a:r>
              <a:rPr lang="zh-CN" altLang="zh-CN" dirty="0"/>
              <a:t>大模型不是一个具体功能，而是一个可以承载大量功能的通用能力底座。</a:t>
            </a:r>
          </a:p>
          <a:p>
            <a:endParaRPr lang="zh-CN" altLang="zh-CN" dirty="0"/>
          </a:p>
        </p:txBody>
      </p:sp>
      <p:sp>
        <p:nvSpPr>
          <p:cNvPr id="4" name="Slide Number Placeholder 3">
            <a:extLst>
              <a:ext uri="{FF2B5EF4-FFF2-40B4-BE49-F238E27FC236}">
                <a16:creationId xmlns:a16="http://schemas.microsoft.com/office/drawing/2014/main" id="{B2D3D56D-CCF6-E896-4ACF-F22C5AB9D128}"/>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192333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A6215-9A75-FCCF-6ABC-0C9617F1D8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E0EFEC-831A-E9F4-DBDA-DC0625EA2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2262E-0E27-2417-1793-49D8C010C3AE}"/>
              </a:ext>
            </a:extLst>
          </p:cNvPr>
          <p:cNvSpPr>
            <a:spLocks noGrp="1"/>
          </p:cNvSpPr>
          <p:nvPr>
            <p:ph type="body" idx="1"/>
          </p:nvPr>
        </p:nvSpPr>
        <p:spPr/>
        <p:txBody>
          <a:bodyPr/>
          <a:lstStyle/>
          <a:p>
            <a:r>
              <a:rPr lang="zh-CN" altLang="zh-CN" dirty="0"/>
              <a:t>这类似于：</a:t>
            </a:r>
          </a:p>
          <a:p>
            <a:pPr lvl="0"/>
            <a:r>
              <a:rPr lang="zh-CN" altLang="zh-CN" dirty="0"/>
              <a:t>一只蚂蚁只能完成简单行为 </a:t>
            </a:r>
          </a:p>
          <a:p>
            <a:pPr lvl="0"/>
            <a:r>
              <a:rPr lang="zh-CN" altLang="zh-CN" dirty="0"/>
              <a:t>大量蚂蚁组成蚁群后，可以筑巢、觅食和协作 </a:t>
            </a:r>
          </a:p>
          <a:p>
            <a:pPr lvl="0"/>
            <a:r>
              <a:rPr lang="zh-CN" altLang="zh-CN" dirty="0"/>
              <a:t>单个神经元能力非常有限 </a:t>
            </a:r>
          </a:p>
          <a:p>
            <a:pPr lvl="0"/>
            <a:r>
              <a:rPr lang="zh-CN" altLang="zh-CN" dirty="0"/>
              <a:t>大量神经元连接后，形成复杂认知能力 </a:t>
            </a:r>
          </a:p>
          <a:p>
            <a:r>
              <a:rPr lang="zh-CN" altLang="zh-CN" dirty="0"/>
              <a:t>单个参数并不“聪明”。</a:t>
            </a:r>
          </a:p>
          <a:p>
            <a:r>
              <a:rPr lang="zh-CN" altLang="zh-CN" dirty="0"/>
              <a:t>甚至十亿个参数中的某一个参数，也没有明确的知识含义。</a:t>
            </a:r>
          </a:p>
          <a:p>
            <a:r>
              <a:rPr lang="zh-CN" altLang="zh-CN" dirty="0"/>
              <a:t>真正的能力来自：</a:t>
            </a:r>
          </a:p>
          <a:p>
            <a:r>
              <a:rPr lang="zh-CN" altLang="zh-CN" b="1" dirty="0"/>
              <a:t>大量参数之间形成的复杂协同关系。</a:t>
            </a:r>
            <a:endParaRPr lang="zh-CN" altLang="zh-CN" dirty="0"/>
          </a:p>
          <a:p>
            <a:r>
              <a:rPr lang="zh-CN" altLang="zh-CN" dirty="0"/>
              <a:t>所以，“大模型的智能”不是存放在某一个位置，而是分布在整个网络结构中。</a:t>
            </a:r>
            <a:endParaRPr lang="en-US" altLang="zh-CN" dirty="0"/>
          </a:p>
          <a:p>
            <a:endParaRPr lang="en-US" altLang="zh-CN" dirty="0"/>
          </a:p>
          <a:p>
            <a:endParaRPr lang="en-US" altLang="zh-CN" dirty="0"/>
          </a:p>
          <a:p>
            <a:endParaRPr lang="en-US" altLang="zh-CN" dirty="0"/>
          </a:p>
          <a:p>
            <a:r>
              <a:rPr lang="zh-CN" altLang="zh-CN" dirty="0"/>
              <a:t>小模型或传统规则系统，往往是把一个问题拆得非常明确：</a:t>
            </a:r>
          </a:p>
          <a:p>
            <a:pPr lvl="0"/>
            <a:r>
              <a:rPr lang="zh-CN" altLang="zh-CN" dirty="0"/>
              <a:t>输入是什么 </a:t>
            </a:r>
          </a:p>
          <a:p>
            <a:pPr lvl="0"/>
            <a:r>
              <a:rPr lang="zh-CN" altLang="zh-CN" dirty="0"/>
              <a:t>判断条件是什么 </a:t>
            </a:r>
          </a:p>
          <a:p>
            <a:pPr lvl="0"/>
            <a:r>
              <a:rPr lang="zh-CN" altLang="zh-CN" dirty="0"/>
              <a:t>输出是什么 </a:t>
            </a:r>
          </a:p>
          <a:p>
            <a:r>
              <a:rPr lang="zh-CN" altLang="zh-CN" dirty="0"/>
              <a:t>例如：</a:t>
            </a:r>
          </a:p>
          <a:p>
            <a:pPr rtl="0"/>
            <a:r>
              <a:rPr lang="zh-CN" altLang="zh-CN" sz="1200" kern="1200" dirty="0">
                <a:solidFill>
                  <a:schemeClr val="tx1"/>
                </a:solidFill>
                <a:latin typeface="+mn-lt"/>
                <a:ea typeface="+mn-ea"/>
                <a:cs typeface="+mn-cs"/>
              </a:rPr>
              <a:t>投诉中出现“人身安全” → 紧急</a:t>
            </a:r>
          </a:p>
          <a:p>
            <a:pPr rtl="0"/>
            <a:r>
              <a:rPr lang="zh-CN" altLang="zh-CN" sz="1200" kern="1200" dirty="0">
                <a:solidFill>
                  <a:schemeClr val="tx1"/>
                </a:solidFill>
                <a:latin typeface="+mn-lt"/>
                <a:ea typeface="+mn-ea"/>
                <a:cs typeface="+mn-cs"/>
              </a:rPr>
              <a:t>投诉中出现“退款” → 售后类</a:t>
            </a:r>
          </a:p>
          <a:p>
            <a:pPr rtl="0"/>
            <a:r>
              <a:rPr lang="zh-CN" altLang="zh-CN" sz="1200" kern="1200" dirty="0">
                <a:solidFill>
                  <a:schemeClr val="tx1"/>
                </a:solidFill>
                <a:latin typeface="+mn-lt"/>
                <a:ea typeface="+mn-ea"/>
                <a:cs typeface="+mn-cs"/>
              </a:rPr>
              <a:t>订单金额超过1万元 → 人工审核</a:t>
            </a:r>
          </a:p>
          <a:p>
            <a:r>
              <a:rPr lang="zh-CN" altLang="zh-CN" dirty="0"/>
              <a:t>这种方式依赖人为提前定义规则。</a:t>
            </a:r>
          </a:p>
          <a:p>
            <a:r>
              <a:rPr lang="zh-CN" altLang="zh-CN" dirty="0"/>
              <a:t>但现实语言非常复杂。</a:t>
            </a:r>
          </a:p>
          <a:p>
            <a:r>
              <a:rPr lang="zh-CN" altLang="zh-CN" dirty="0"/>
              <a:t>例如，用户可能不会直接说“我遇到人身安全问题”，而是说：</a:t>
            </a:r>
          </a:p>
          <a:p>
            <a:r>
              <a:rPr lang="zh-CN" altLang="zh-CN" dirty="0"/>
              <a:t>司机一直跟着我，已经到小区门口了，我现在不敢下车。</a:t>
            </a:r>
          </a:p>
          <a:p>
            <a:r>
              <a:rPr lang="zh-CN" altLang="zh-CN" dirty="0"/>
              <a:t>规则系统可能识别不到，但大模型可以根据上下文理解：这是一个高风险安全问题。</a:t>
            </a:r>
          </a:p>
          <a:p>
            <a:r>
              <a:rPr lang="zh-CN" altLang="zh-CN" dirty="0"/>
              <a:t>这是因为大模型学到的不是简单的关键词对应，而是更复杂的语义关系。</a:t>
            </a:r>
          </a:p>
          <a:p>
            <a:r>
              <a:rPr lang="zh-CN" altLang="zh-CN" dirty="0"/>
              <a:t>因此可以这样理解：</a:t>
            </a:r>
          </a:p>
          <a:p>
            <a:r>
              <a:rPr lang="zh-CN" altLang="zh-CN" dirty="0"/>
              <a:t>小模型更像记住一些题型和解法，大模型开始形成一种处理陌生题目的能力。</a:t>
            </a:r>
            <a:endParaRPr lang="en-US" altLang="zh-CN" dirty="0"/>
          </a:p>
          <a:p>
            <a:endParaRPr lang="en-US" altLang="zh-CN" dirty="0"/>
          </a:p>
          <a:p>
            <a:endParaRPr lang="en-US" altLang="zh-CN" dirty="0"/>
          </a:p>
          <a:p>
            <a:r>
              <a:rPr lang="zh-CN" altLang="zh-CN" dirty="0"/>
              <a:t>大模型的“大”，表面上指参数多、数据多、算力大；更深层的含义是，规模扩大让模型拥有了足够大的知识和能力容量，能够从一个只完成单一任务的专用模型，变成可以理解语言、处理多种任务和适应新问题的通用能力底座。因此，“大”不是简单地把模型做得更大，而是通过规模让模型的能力发生质变。</a:t>
            </a:r>
          </a:p>
          <a:p>
            <a:endParaRPr lang="en-US" altLang="zh-CN" dirty="0"/>
          </a:p>
          <a:p>
            <a:endParaRPr lang="zh-CN" altLang="zh-CN" dirty="0"/>
          </a:p>
        </p:txBody>
      </p:sp>
      <p:sp>
        <p:nvSpPr>
          <p:cNvPr id="4" name="Slide Number Placeholder 3">
            <a:extLst>
              <a:ext uri="{FF2B5EF4-FFF2-40B4-BE49-F238E27FC236}">
                <a16:creationId xmlns:a16="http://schemas.microsoft.com/office/drawing/2014/main" id="{461305B2-F527-A9CF-BB11-E8008053356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47150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B7831-1219-DB72-2672-94960678E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882EC-A35D-2221-C82B-B393C0043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C0198-B482-8005-993C-6BA921863CB1}"/>
              </a:ext>
            </a:extLst>
          </p:cNvPr>
          <p:cNvSpPr>
            <a:spLocks noGrp="1"/>
          </p:cNvSpPr>
          <p:nvPr>
            <p:ph type="body" idx="1"/>
          </p:nvPr>
        </p:nvSpPr>
        <p:spPr/>
        <p:txBody>
          <a:bodyPr/>
          <a:lstStyle/>
          <a:p>
            <a:endParaRPr lang="zh-CN" altLang="zh-CN" dirty="0"/>
          </a:p>
        </p:txBody>
      </p:sp>
      <p:sp>
        <p:nvSpPr>
          <p:cNvPr id="4" name="Slide Number Placeholder 3">
            <a:extLst>
              <a:ext uri="{FF2B5EF4-FFF2-40B4-BE49-F238E27FC236}">
                <a16:creationId xmlns:a16="http://schemas.microsoft.com/office/drawing/2014/main" id="{E93EB78B-5C32-F6AE-2CED-F62B62414493}"/>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6110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Transformer是一种通过“注意力机制”，让每个词都能结合上下文中其他词的信息，形成新的理解结果的模型架构。</a:t>
            </a:r>
            <a:endParaRPr lang="en-US" altLang="zh-CN" dirty="0"/>
          </a:p>
          <a:p>
            <a:endParaRPr lang="en-US" dirty="0"/>
          </a:p>
          <a:p>
            <a:endParaRPr lang="en-US" dirty="0"/>
          </a:p>
          <a:p>
            <a:r>
              <a:rPr lang="zh-CN" altLang="zh-CN" b="1" dirty="0"/>
              <a:t>先讲Transformer解决了什么问题</a:t>
            </a:r>
          </a:p>
          <a:p>
            <a:r>
              <a:rPr lang="zh-CN" altLang="zh-CN" dirty="0"/>
              <a:t>Transformer出现之前，语言模型常用RNN、LSTM等架构。</a:t>
            </a:r>
          </a:p>
          <a:p>
            <a:r>
              <a:rPr lang="zh-CN" altLang="zh-CN" dirty="0"/>
              <a:t>这些模型处理一句话，通常更像人逐字阅读：</a:t>
            </a:r>
          </a:p>
          <a:p>
            <a:pPr rtl="0"/>
            <a:r>
              <a:rPr lang="zh-CN" altLang="zh-CN" sz="1200" kern="1200" dirty="0">
                <a:solidFill>
                  <a:schemeClr val="tx1"/>
                </a:solidFill>
                <a:latin typeface="+mn-lt"/>
                <a:ea typeface="+mn-ea"/>
                <a:cs typeface="+mn-cs"/>
              </a:rPr>
              <a:t>我 → 喜欢 → 使用 → 人工 → 智能</a:t>
            </a:r>
          </a:p>
          <a:p>
            <a:r>
              <a:rPr lang="zh-CN" altLang="zh-CN" dirty="0"/>
              <a:t>前一个词处理完，才能继续处理下一个词。</a:t>
            </a:r>
          </a:p>
          <a:p>
            <a:r>
              <a:rPr lang="zh-CN" altLang="zh-CN" dirty="0"/>
              <a:t>这会带来两个问题。</a:t>
            </a:r>
          </a:p>
          <a:p>
            <a:r>
              <a:rPr lang="zh-CN" altLang="zh-CN" b="1" dirty="0"/>
              <a:t>1. 处理速度慢</a:t>
            </a:r>
          </a:p>
          <a:p>
            <a:r>
              <a:rPr lang="zh-CN" altLang="zh-CN" dirty="0"/>
              <a:t>必须按顺序计算，难以同时处理整段文本。</a:t>
            </a:r>
          </a:p>
          <a:p>
            <a:r>
              <a:rPr lang="zh-CN" altLang="zh-CN" dirty="0"/>
              <a:t>句子越长，训练速度越慢。</a:t>
            </a:r>
          </a:p>
          <a:p>
            <a:r>
              <a:rPr lang="zh-CN" altLang="zh-CN" b="1" dirty="0"/>
              <a:t>2. 长距离信息容易丢失</a:t>
            </a:r>
          </a:p>
          <a:p>
            <a:r>
              <a:rPr lang="zh-CN" altLang="zh-CN" dirty="0"/>
              <a:t>例如：</a:t>
            </a:r>
          </a:p>
          <a:p>
            <a:r>
              <a:rPr lang="zh-CN" altLang="zh-CN" dirty="0"/>
              <a:t>我去年在北京认识的、后来去上海工作并参与了多个人工智能项目的那个朋友，今天给我打了电话。</a:t>
            </a:r>
          </a:p>
          <a:p>
            <a:r>
              <a:rPr lang="zh-CN" altLang="zh-CN" dirty="0"/>
              <a:t>模型读到“朋友”或“打电话”时，需要记住很前面的“我去年在北京认识的”这部分内容。</a:t>
            </a:r>
          </a:p>
          <a:p>
            <a:r>
              <a:rPr lang="zh-CN" altLang="zh-CN" dirty="0"/>
              <a:t>传统模型传递距离越长，前面的信息越容易衰减。</a:t>
            </a:r>
          </a:p>
          <a:p>
            <a:r>
              <a:rPr lang="zh-CN" altLang="zh-CN" dirty="0"/>
              <a:t>Transformer的解决办法是：</a:t>
            </a:r>
          </a:p>
          <a:p>
            <a:r>
              <a:rPr lang="zh-CN" altLang="zh-CN" b="1" dirty="0"/>
              <a:t>不再让信息只能一个词接一个词地传递，而是让句子中的每个词直接查看其他所有词。</a:t>
            </a:r>
            <a:endParaRPr lang="en-US" altLang="zh-CN" b="1" dirty="0"/>
          </a:p>
          <a:p>
            <a:endParaRPr lang="en-US" altLang="zh-CN" b="1" dirty="0"/>
          </a:p>
          <a:p>
            <a:endParaRPr lang="en-US" altLang="zh-CN" b="1" dirty="0"/>
          </a:p>
          <a:p>
            <a:endParaRPr lang="en-US" altLang="zh-CN" b="1" dirty="0"/>
          </a:p>
          <a:p>
            <a:r>
              <a:rPr lang="zh-CN" altLang="zh-CN" b="1" dirty="0"/>
              <a:t>既然同时处理，怎么知道词语顺序</a:t>
            </a:r>
          </a:p>
          <a:p>
            <a:r>
              <a:rPr lang="zh-CN" altLang="zh-CN" dirty="0"/>
              <a:t>Transformer同时处理多个Token，本身并不知道谁在前、谁在后。</a:t>
            </a:r>
          </a:p>
          <a:p>
            <a:r>
              <a:rPr lang="zh-CN" altLang="zh-CN" dirty="0"/>
              <a:t>但词序会改变含义：</a:t>
            </a:r>
          </a:p>
          <a:p>
            <a:r>
              <a:rPr lang="zh-CN" altLang="zh-CN" dirty="0"/>
              <a:t>我喜欢你。</a:t>
            </a:r>
          </a:p>
          <a:p>
            <a:r>
              <a:rPr lang="zh-CN" altLang="zh-CN" dirty="0"/>
              <a:t>和：</a:t>
            </a:r>
          </a:p>
          <a:p>
            <a:r>
              <a:rPr lang="zh-CN" altLang="zh-CN" dirty="0"/>
              <a:t>你喜欢我。</a:t>
            </a:r>
          </a:p>
          <a:p>
            <a:r>
              <a:rPr lang="zh-CN" altLang="zh-CN" dirty="0"/>
              <a:t>词完全一样，顺序不同，意思也不同。</a:t>
            </a:r>
          </a:p>
          <a:p>
            <a:r>
              <a:rPr lang="zh-CN" altLang="zh-CN" dirty="0"/>
              <a:t>所以模型需要加入</a:t>
            </a:r>
            <a:r>
              <a:rPr lang="zh-CN" altLang="zh-CN" b="1" dirty="0"/>
              <a:t>位置编码</a:t>
            </a:r>
            <a:r>
              <a:rPr lang="zh-CN" altLang="zh-CN" dirty="0"/>
              <a:t>，告诉它：</a:t>
            </a:r>
          </a:p>
          <a:p>
            <a:pPr lvl="0"/>
            <a:r>
              <a:rPr lang="zh-CN" altLang="zh-CN" dirty="0"/>
              <a:t>这是第一个Token </a:t>
            </a:r>
          </a:p>
          <a:p>
            <a:pPr lvl="0"/>
            <a:r>
              <a:rPr lang="zh-CN" altLang="zh-CN" dirty="0"/>
              <a:t>这是第二个Token </a:t>
            </a:r>
          </a:p>
          <a:p>
            <a:pPr lvl="0"/>
            <a:r>
              <a:rPr lang="zh-CN" altLang="zh-CN" dirty="0"/>
              <a:t>两个Token相隔多远 </a:t>
            </a:r>
          </a:p>
          <a:p>
            <a:r>
              <a:rPr lang="zh-CN" altLang="zh-CN" dirty="0"/>
              <a:t>可以理解为给每个词加上座位号。</a:t>
            </a:r>
          </a:p>
          <a:p>
            <a:r>
              <a:rPr lang="zh-CN" altLang="zh-CN" dirty="0"/>
              <a:t>Token Embedding告诉模型“这个词是什么”，位置编码告诉模型“这个词在哪里”。</a:t>
            </a:r>
          </a:p>
          <a:p>
            <a:r>
              <a:rPr lang="zh-CN" altLang="zh-CN" dirty="0"/>
              <a:t>两者合在一起，模型才能同时理解词义与顺序。</a:t>
            </a:r>
          </a:p>
          <a:p>
            <a:endParaRPr lang="zh-CN" altLang="zh-CN"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b="1" dirty="0"/>
              <a:t>Transformer最核心的机制：Self-Attention</a:t>
            </a:r>
          </a:p>
          <a:p>
            <a:r>
              <a:rPr lang="zh-CN" altLang="zh-CN" dirty="0"/>
              <a:t>Self-Attention翻译为</a:t>
            </a:r>
            <a:r>
              <a:rPr lang="zh-CN" altLang="zh-CN" b="1" dirty="0"/>
              <a:t>自注意力机制</a:t>
            </a:r>
            <a:r>
              <a:rPr lang="zh-CN" altLang="zh-CN" dirty="0"/>
              <a:t>。</a:t>
            </a:r>
          </a:p>
          <a:p>
            <a:r>
              <a:rPr lang="zh-CN" altLang="zh-CN" dirty="0"/>
              <a:t>“自”表示一句话内部的信息相互关注。</a:t>
            </a:r>
          </a:p>
          <a:p>
            <a:r>
              <a:rPr lang="zh-CN" altLang="zh-CN" dirty="0"/>
              <a:t>例如：</a:t>
            </a:r>
          </a:p>
          <a:p>
            <a:r>
              <a:rPr lang="zh-CN" altLang="zh-CN" dirty="0"/>
              <a:t>苹果发布了新款手机，它的价格比上一代更高。</a:t>
            </a:r>
          </a:p>
          <a:p>
            <a:r>
              <a:rPr lang="zh-CN" altLang="zh-CN" dirty="0"/>
              <a:t>模型处理“它”时，会计算“它”与其他词之间的关联程度：</a:t>
            </a:r>
          </a:p>
          <a:p>
            <a:r>
              <a:rPr lang="zh-CN" altLang="zh-CN" dirty="0"/>
              <a:t>词语</a:t>
            </a:r>
          </a:p>
          <a:p>
            <a:r>
              <a:rPr lang="zh-CN" altLang="zh-CN" dirty="0"/>
              <a:t>与“它”的关系</a:t>
            </a:r>
          </a:p>
          <a:p>
            <a:r>
              <a:rPr lang="zh-CN" altLang="zh-CN" dirty="0"/>
              <a:t>苹果较强</a:t>
            </a:r>
          </a:p>
          <a:p>
            <a:r>
              <a:rPr lang="zh-CN" altLang="zh-CN" dirty="0"/>
              <a:t>发布一般</a:t>
            </a:r>
          </a:p>
          <a:p>
            <a:r>
              <a:rPr lang="zh-CN" altLang="zh-CN" dirty="0"/>
              <a:t>新款手机很强</a:t>
            </a:r>
          </a:p>
          <a:p>
            <a:r>
              <a:rPr lang="zh-CN" altLang="zh-CN" dirty="0"/>
              <a:t>价格较强</a:t>
            </a:r>
          </a:p>
          <a:p>
            <a:r>
              <a:rPr lang="zh-CN" altLang="zh-CN" dirty="0"/>
              <a:t>上一代一般</a:t>
            </a:r>
          </a:p>
          <a:p>
            <a:r>
              <a:rPr lang="zh-CN" altLang="zh-CN" dirty="0"/>
              <a:t>然后，模型把与“它”关系更强的信息组合起来，形成对“它”的上下文理解。</a:t>
            </a:r>
          </a:p>
          <a:p>
            <a:r>
              <a:rPr lang="zh-CN" altLang="zh-CN" dirty="0"/>
              <a:t>因此，模型理解的并不是孤立的“它”，而是：</a:t>
            </a:r>
          </a:p>
          <a:p>
            <a:r>
              <a:rPr lang="zh-CN" altLang="zh-CN" dirty="0"/>
              <a:t>与“苹果”“手机”“价格”等信息建立联系之后的“它”。</a:t>
            </a:r>
          </a:p>
          <a:p>
            <a:r>
              <a:rPr lang="zh-CN" altLang="zh-CN" dirty="0"/>
              <a:t>这就是注意力。</a:t>
            </a:r>
          </a:p>
          <a:p>
            <a:br>
              <a:rPr lang="zh-CN" altLang="zh-CN" dirty="0"/>
            </a:br>
            <a:endParaRPr lang="zh-CN" altLang="zh-CN" dirty="0"/>
          </a:p>
          <a:p>
            <a:r>
              <a:rPr lang="zh-CN" altLang="zh-CN" b="1" dirty="0"/>
              <a:t>为什么叫“注意力”</a:t>
            </a:r>
          </a:p>
          <a:p>
            <a:r>
              <a:rPr lang="zh-CN" altLang="zh-CN" dirty="0"/>
              <a:t>可以类比人在开会。</a:t>
            </a:r>
          </a:p>
          <a:p>
            <a:r>
              <a:rPr lang="zh-CN" altLang="zh-CN" dirty="0"/>
              <a:t>会议上有很多人同时发言，但当讨论“用户退款问题”时，你不会平均关注所有信息，而会重点关注：</a:t>
            </a:r>
          </a:p>
          <a:p>
            <a:pPr lvl="0"/>
            <a:r>
              <a:rPr lang="zh-CN" altLang="zh-CN" dirty="0"/>
              <a:t>用户为什么退款 </a:t>
            </a:r>
          </a:p>
          <a:p>
            <a:pPr lvl="0"/>
            <a:r>
              <a:rPr lang="zh-CN" altLang="zh-CN" dirty="0"/>
              <a:t>订单发生了什么 </a:t>
            </a:r>
          </a:p>
          <a:p>
            <a:pPr lvl="0"/>
            <a:r>
              <a:rPr lang="zh-CN" altLang="zh-CN" dirty="0"/>
              <a:t>退款规则是什么 </a:t>
            </a:r>
          </a:p>
          <a:p>
            <a:pPr lvl="0"/>
            <a:r>
              <a:rPr lang="zh-CN" altLang="zh-CN" dirty="0"/>
              <a:t>哪个部门负责 </a:t>
            </a:r>
          </a:p>
          <a:p>
            <a:r>
              <a:rPr lang="zh-CN" altLang="zh-CN" dirty="0"/>
              <a:t>Transformer也是一样。</a:t>
            </a:r>
          </a:p>
          <a:p>
            <a:r>
              <a:rPr lang="zh-CN" altLang="zh-CN" dirty="0"/>
              <a:t>它不会平等地处理上下文中的每个词，而是根据当前任务，为不同信息分配不同的注意力权重。</a:t>
            </a:r>
          </a:p>
          <a:p>
            <a:r>
              <a:rPr lang="zh-CN" altLang="zh-CN" dirty="0"/>
              <a:t>因此，注意力并不意味着模型真的像人一样集中精神，而是一种数学上的信息加权机制。</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b="1" dirty="0"/>
              <a:t>Q、K、V到底是什么</a:t>
            </a:r>
          </a:p>
          <a:p>
            <a:r>
              <a:rPr lang="zh-CN" altLang="zh-CN" dirty="0"/>
              <a:t>产品经理课程不必讲公式，但可以用“搜索资料”来解释。</a:t>
            </a:r>
          </a:p>
          <a:p>
            <a:r>
              <a:rPr lang="zh-CN" altLang="zh-CN" dirty="0"/>
              <a:t>Transformer处理每个词时，会生成三份信息：</a:t>
            </a:r>
          </a:p>
          <a:p>
            <a:pPr lvl="0"/>
            <a:r>
              <a:rPr lang="zh-CN" altLang="zh-CN" b="1" dirty="0"/>
              <a:t>Query</a:t>
            </a:r>
            <a:r>
              <a:rPr lang="zh-CN" altLang="zh-CN" dirty="0"/>
              <a:t>：我现在想找什么 </a:t>
            </a:r>
          </a:p>
          <a:p>
            <a:pPr lvl="0"/>
            <a:r>
              <a:rPr lang="zh-CN" altLang="zh-CN" b="1" dirty="0"/>
              <a:t>Key</a:t>
            </a:r>
            <a:r>
              <a:rPr lang="zh-CN" altLang="zh-CN" dirty="0"/>
              <a:t>：我这里有什么特征 </a:t>
            </a:r>
          </a:p>
          <a:p>
            <a:pPr lvl="0"/>
            <a:r>
              <a:rPr lang="zh-CN" altLang="zh-CN" b="1" dirty="0"/>
              <a:t>Value</a:t>
            </a:r>
            <a:r>
              <a:rPr lang="zh-CN" altLang="zh-CN" dirty="0"/>
              <a:t>：如果我与你相关，你可以从我这里取走什么信息 </a:t>
            </a:r>
          </a:p>
          <a:p>
            <a:r>
              <a:rPr lang="zh-CN" altLang="zh-CN" dirty="0"/>
              <a:t>可以类比为在公司通讯录里找人。</a:t>
            </a:r>
          </a:p>
          <a:p>
            <a:r>
              <a:rPr lang="zh-CN" altLang="zh-CN" dirty="0"/>
              <a:t>你需要找：</a:t>
            </a:r>
          </a:p>
          <a:p>
            <a:r>
              <a:rPr lang="zh-CN" altLang="zh-CN" dirty="0"/>
              <a:t>谁负责支付退款？</a:t>
            </a:r>
          </a:p>
          <a:p>
            <a:r>
              <a:rPr lang="zh-CN" altLang="zh-CN" dirty="0"/>
              <a:t>这是Query。</a:t>
            </a:r>
          </a:p>
          <a:p>
            <a:r>
              <a:rPr lang="zh-CN" altLang="zh-CN" dirty="0"/>
              <a:t>每个人的岗位标签：</a:t>
            </a:r>
          </a:p>
          <a:p>
            <a:pPr lvl="0"/>
            <a:r>
              <a:rPr lang="zh-CN" altLang="zh-CN" dirty="0"/>
              <a:t>张三：支付产品 </a:t>
            </a:r>
          </a:p>
          <a:p>
            <a:pPr lvl="0"/>
            <a:r>
              <a:rPr lang="zh-CN" altLang="zh-CN" dirty="0"/>
              <a:t>李四：客服运营 </a:t>
            </a:r>
          </a:p>
          <a:p>
            <a:pPr lvl="0"/>
            <a:r>
              <a:rPr lang="zh-CN" altLang="zh-CN" dirty="0"/>
              <a:t>王五：推荐算法 </a:t>
            </a:r>
          </a:p>
          <a:p>
            <a:r>
              <a:rPr lang="zh-CN" altLang="zh-CN" dirty="0"/>
              <a:t>这些是Key。</a:t>
            </a:r>
          </a:p>
          <a:p>
            <a:r>
              <a:rPr lang="zh-CN" altLang="zh-CN" dirty="0"/>
              <a:t>每个人真正掌握的专业信息，是Value。</a:t>
            </a:r>
          </a:p>
          <a:p>
            <a:r>
              <a:rPr lang="zh-CN" altLang="zh-CN" dirty="0"/>
              <a:t>系统会先比较Query和Key：</a:t>
            </a:r>
          </a:p>
          <a:p>
            <a:r>
              <a:rPr lang="zh-CN" altLang="zh-CN" dirty="0"/>
              <a:t>“支付退款”与谁最匹配？</a:t>
            </a:r>
          </a:p>
          <a:p>
            <a:r>
              <a:rPr lang="zh-CN" altLang="zh-CN" dirty="0"/>
              <a:t>发现张三匹配度最高，就更多地读取张三提供的Value。</a:t>
            </a:r>
          </a:p>
          <a:p>
            <a:r>
              <a:rPr lang="zh-CN" altLang="zh-CN" dirty="0"/>
              <a:t>所以注意力机制可以概括为：</a:t>
            </a:r>
          </a:p>
          <a:p>
            <a:r>
              <a:rPr lang="zh-CN" altLang="zh-CN" b="1" dirty="0"/>
              <a:t>用Query寻找相关信息，通过Key计算相关程度，再按照相关程度提取Value。</a:t>
            </a:r>
            <a:endParaRPr lang="zh-CN" altLang="zh-CN" dirty="0"/>
          </a:p>
          <a:p>
            <a:br>
              <a:rPr lang="zh-CN" altLang="zh-CN" dirty="0"/>
            </a:br>
            <a:endParaRPr lang="zh-CN" altLang="zh-CN" dirty="0"/>
          </a:p>
          <a:p>
            <a:r>
              <a:rPr lang="zh-CN" altLang="zh-CN" b="1" dirty="0"/>
              <a:t>为什么要叫Self-Attention</a:t>
            </a:r>
          </a:p>
          <a:p>
            <a:r>
              <a:rPr lang="zh-CN" altLang="zh-CN" dirty="0"/>
              <a:t>因为Q、K、V都来自同一段输入。</a:t>
            </a:r>
          </a:p>
          <a:p>
            <a:r>
              <a:rPr lang="zh-CN" altLang="zh-CN" dirty="0"/>
              <a:t>比如一句话中的每个词，都可以：</a:t>
            </a:r>
          </a:p>
          <a:p>
            <a:pPr lvl="0"/>
            <a:r>
              <a:rPr lang="zh-CN" altLang="zh-CN" dirty="0"/>
              <a:t>发出自己的Query </a:t>
            </a:r>
          </a:p>
          <a:p>
            <a:pPr lvl="0"/>
            <a:r>
              <a:rPr lang="zh-CN" altLang="zh-CN" dirty="0"/>
              <a:t>提供自己的Key </a:t>
            </a:r>
          </a:p>
          <a:p>
            <a:pPr lvl="0"/>
            <a:r>
              <a:rPr lang="zh-CN" altLang="zh-CN" dirty="0"/>
              <a:t>携带自己的Value </a:t>
            </a:r>
          </a:p>
          <a:p>
            <a:r>
              <a:rPr lang="zh-CN" altLang="zh-CN" dirty="0"/>
              <a:t>然后与其他词相互匹配。</a:t>
            </a:r>
          </a:p>
          <a:p>
            <a:r>
              <a:rPr lang="zh-CN" altLang="zh-CN" dirty="0"/>
              <a:t>因此，一句话中的每个词都会经历：</a:t>
            </a:r>
          </a:p>
          <a:p>
            <a:r>
              <a:rPr lang="zh-CN" altLang="zh-CN" dirty="0"/>
              <a:t>我现在是谁？</a:t>
            </a:r>
            <a:br>
              <a:rPr lang="zh-CN" altLang="zh-CN" dirty="0"/>
            </a:br>
            <a:r>
              <a:rPr lang="zh-CN" altLang="zh-CN" dirty="0"/>
              <a:t>哪些词和我相关？</a:t>
            </a:r>
            <a:br>
              <a:rPr lang="zh-CN" altLang="zh-CN" dirty="0"/>
            </a:br>
            <a:r>
              <a:rPr lang="zh-CN" altLang="zh-CN" dirty="0"/>
              <a:t>我应该从它们那里吸收多少信息？</a:t>
            </a:r>
          </a:p>
          <a:p>
            <a:r>
              <a:rPr lang="zh-CN" altLang="zh-CN" dirty="0"/>
              <a:t>处理之后，每个词的表示都会发生变化。</a:t>
            </a:r>
          </a:p>
          <a:p>
            <a:r>
              <a:rPr lang="zh-CN" altLang="zh-CN" dirty="0"/>
              <a:t>例如，“苹果”这个词原本可能表示水果，也可能表示公司。</a:t>
            </a:r>
          </a:p>
          <a:p>
            <a:r>
              <a:rPr lang="zh-CN" altLang="zh-CN" dirty="0"/>
              <a:t>在不同句子中：</a:t>
            </a:r>
          </a:p>
          <a:p>
            <a:r>
              <a:rPr lang="zh-CN" altLang="zh-CN" dirty="0"/>
              <a:t>苹果富含维生素。</a:t>
            </a:r>
          </a:p>
          <a:p>
            <a:r>
              <a:rPr lang="zh-CN" altLang="zh-CN" dirty="0"/>
              <a:t>经过Self-Attention后，它会更接近“水果”的含义。</a:t>
            </a:r>
          </a:p>
          <a:p>
            <a:r>
              <a:rPr lang="zh-CN" altLang="zh-CN" dirty="0"/>
              <a:t>苹果发布了新款手机。</a:t>
            </a:r>
          </a:p>
          <a:p>
            <a:r>
              <a:rPr lang="zh-CN" altLang="zh-CN" dirty="0"/>
              <a:t>经过Self-Attention后，它会更接近“科技公司”的含义。</a:t>
            </a:r>
          </a:p>
          <a:p>
            <a:r>
              <a:rPr lang="zh-CN" altLang="zh-CN" dirty="0"/>
              <a:t>所以Transformer不是给每个词一个固定解释，而是：</a:t>
            </a:r>
          </a:p>
          <a:p>
            <a:r>
              <a:rPr lang="zh-CN" altLang="zh-CN" b="1" dirty="0"/>
              <a:t>根据上下文，动态生成这个词在当前语境中的含义。</a:t>
            </a:r>
            <a:endParaRPr lang="zh-CN" altLang="zh-CN"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b="1" dirty="0"/>
              <a:t>为什么需要多头注意力</a:t>
            </a:r>
          </a:p>
          <a:p>
            <a:r>
              <a:rPr lang="zh-CN" altLang="zh-CN" dirty="0"/>
              <a:t>一个词与其他词之间，可能存在多种关系。</a:t>
            </a:r>
          </a:p>
          <a:p>
            <a:r>
              <a:rPr lang="zh-CN" altLang="zh-CN" dirty="0"/>
              <a:t>例如：</a:t>
            </a:r>
          </a:p>
          <a:p>
            <a:r>
              <a:rPr lang="zh-CN" altLang="zh-CN" dirty="0"/>
              <a:t>小王昨天在上海买了一台电脑。</a:t>
            </a:r>
          </a:p>
          <a:p>
            <a:r>
              <a:rPr lang="zh-CN" altLang="zh-CN" dirty="0"/>
              <a:t>模型可能需要同时关注：</a:t>
            </a:r>
          </a:p>
          <a:p>
            <a:pPr lvl="0"/>
            <a:r>
              <a:rPr lang="zh-CN" altLang="zh-CN" dirty="0"/>
              <a:t>谁买的：小王 </a:t>
            </a:r>
          </a:p>
          <a:p>
            <a:pPr lvl="0"/>
            <a:r>
              <a:rPr lang="zh-CN" altLang="zh-CN" dirty="0"/>
              <a:t>什么时候买的：昨天 </a:t>
            </a:r>
          </a:p>
          <a:p>
            <a:pPr lvl="0"/>
            <a:r>
              <a:rPr lang="zh-CN" altLang="zh-CN" dirty="0"/>
              <a:t>在哪里买的：上海 </a:t>
            </a:r>
          </a:p>
          <a:p>
            <a:pPr lvl="0"/>
            <a:r>
              <a:rPr lang="zh-CN" altLang="zh-CN" dirty="0"/>
              <a:t>买了什么：电脑 </a:t>
            </a:r>
          </a:p>
          <a:p>
            <a:pPr lvl="0"/>
            <a:r>
              <a:rPr lang="zh-CN" altLang="zh-CN" dirty="0"/>
              <a:t>动作是什么：买 </a:t>
            </a:r>
          </a:p>
          <a:p>
            <a:r>
              <a:rPr lang="zh-CN" altLang="zh-CN" dirty="0"/>
              <a:t>单一的注意力可能只擅长捕捉一种关系。</a:t>
            </a:r>
          </a:p>
          <a:p>
            <a:r>
              <a:rPr lang="zh-CN" altLang="zh-CN" dirty="0"/>
              <a:t>因此Transformer会使用多个“注意力头”，分别学习不同关系：</a:t>
            </a:r>
          </a:p>
          <a:p>
            <a:pPr lvl="0"/>
            <a:r>
              <a:rPr lang="zh-CN" altLang="zh-CN" dirty="0"/>
              <a:t>有的关注主谓关系 </a:t>
            </a:r>
          </a:p>
          <a:p>
            <a:pPr lvl="0"/>
            <a:r>
              <a:rPr lang="zh-CN" altLang="zh-CN" dirty="0"/>
              <a:t>有的关注时间 </a:t>
            </a:r>
          </a:p>
          <a:p>
            <a:pPr lvl="0"/>
            <a:r>
              <a:rPr lang="zh-CN" altLang="zh-CN" dirty="0"/>
              <a:t>有的关注地点 </a:t>
            </a:r>
          </a:p>
          <a:p>
            <a:pPr lvl="0"/>
            <a:r>
              <a:rPr lang="zh-CN" altLang="zh-CN" dirty="0"/>
              <a:t>有的关注指代 </a:t>
            </a:r>
          </a:p>
          <a:p>
            <a:pPr lvl="0"/>
            <a:r>
              <a:rPr lang="zh-CN" altLang="zh-CN" dirty="0"/>
              <a:t>有的关注因果关系 </a:t>
            </a:r>
          </a:p>
          <a:p>
            <a:pPr lvl="0"/>
            <a:r>
              <a:rPr lang="zh-CN" altLang="zh-CN" dirty="0"/>
              <a:t>有的关注语义相似性 </a:t>
            </a:r>
          </a:p>
          <a:p>
            <a:r>
              <a:rPr lang="zh-CN" altLang="zh-CN" dirty="0"/>
              <a:t>最后再将多个头得到的信息组合起来。</a:t>
            </a:r>
          </a:p>
          <a:p>
            <a:r>
              <a:rPr lang="zh-CN" altLang="zh-CN" dirty="0"/>
              <a:t>可以类比为：</a:t>
            </a:r>
          </a:p>
          <a:p>
            <a:r>
              <a:rPr lang="zh-CN" altLang="zh-CN" dirty="0"/>
              <a:t>同一个项目，让产品、研发、运营和风控分别分析，最后汇总成一个更完整的判断。</a:t>
            </a:r>
          </a:p>
          <a:p>
            <a:r>
              <a:rPr lang="zh-CN" altLang="zh-CN" dirty="0"/>
              <a:t>这就是Multi-Head Attention，多头注意力。</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b="1" dirty="0"/>
              <a:t>1. 上下文理解</a:t>
            </a:r>
          </a:p>
          <a:p>
            <a:r>
              <a:rPr lang="zh-CN" altLang="zh-CN" dirty="0"/>
              <a:t>模型能够根据上下文动态理解词语，而不是只匹配关键词。</a:t>
            </a:r>
          </a:p>
          <a:p>
            <a:r>
              <a:rPr lang="zh-CN" altLang="zh-CN" dirty="0"/>
              <a:t>所以它可以完成：</a:t>
            </a:r>
          </a:p>
          <a:p>
            <a:pPr lvl="0"/>
            <a:r>
              <a:rPr lang="zh-CN" altLang="zh-CN" dirty="0"/>
              <a:t>意图识别 </a:t>
            </a:r>
          </a:p>
          <a:p>
            <a:pPr lvl="0"/>
            <a:r>
              <a:rPr lang="zh-CN" altLang="zh-CN" dirty="0"/>
              <a:t>信息提取 </a:t>
            </a:r>
          </a:p>
          <a:p>
            <a:pPr lvl="0"/>
            <a:r>
              <a:rPr lang="zh-CN" altLang="zh-CN" dirty="0"/>
              <a:t>内容总结 </a:t>
            </a:r>
          </a:p>
          <a:p>
            <a:pPr lvl="0"/>
            <a:r>
              <a:rPr lang="zh-CN" altLang="zh-CN" dirty="0"/>
              <a:t>投诉分类 </a:t>
            </a:r>
          </a:p>
          <a:p>
            <a:pPr lvl="0"/>
            <a:r>
              <a:rPr lang="zh-CN" altLang="zh-CN" dirty="0"/>
              <a:t>语义搜索 </a:t>
            </a:r>
          </a:p>
          <a:p>
            <a:r>
              <a:rPr lang="zh-CN" altLang="zh-CN" b="1" dirty="0"/>
              <a:t>2. 通用任务能力</a:t>
            </a:r>
          </a:p>
          <a:p>
            <a:r>
              <a:rPr lang="zh-CN" altLang="zh-CN" dirty="0"/>
              <a:t>同一套架构能够处理不同形式的语言任务，不必为每个任务单独设计模型。</a:t>
            </a:r>
          </a:p>
          <a:p>
            <a:r>
              <a:rPr lang="zh-CN" altLang="zh-CN" b="1" dirty="0"/>
              <a:t>3. 可规模化</a:t>
            </a:r>
          </a:p>
          <a:p>
            <a:r>
              <a:rPr lang="zh-CN" altLang="zh-CN" dirty="0"/>
              <a:t>Transformer支持并行训练，可以配合更大的参数、更多的数据和更强的算力。</a:t>
            </a:r>
          </a:p>
          <a:p>
            <a:r>
              <a:rPr lang="zh-CN" altLang="zh-CN" dirty="0"/>
              <a:t>所以可以说：</a:t>
            </a:r>
          </a:p>
          <a:p>
            <a:r>
              <a:rPr lang="zh-CN" altLang="zh-CN" dirty="0"/>
              <a:t>Attention让模型更懂上下文，并行计算让模型有机会变得足够大。</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第5页｜01 会聊天不等于会做产品
逐页内容：课程生产/第一阶段/第02课_大模型基础、上下文与Prompt产品化设计_重做工作区/09_PPT结构与逐页内容
老师讲解：课程生产/第一阶段/第02课_大模型基础、上下文与Prompt产品化设计_重做工作区/05_老师版讲义
分步揭示第1页：只展示模糊任务，至少收集3项学员答案。</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第5页｜01 会聊天不等于会做产品
逐页内容：课程生产/第一阶段/第02课_大模型基础、上下文与Prompt产品化设计_重做工作区/09_PPT结构与逐页内容
老师讲解：课程生产/第一阶段/第02课_大模型基础、上下文与Prompt产品化设计_重做工作区/05_老师版讲义
互动：先收答案，后揭示五个问题。</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第6页｜01 会聊天不等于会做产品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第7页｜02 大模型怎样生成答案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第8页｜02 大模型怎样生成答案
逐页内容：课程生产/第一阶段/第02课_大模型基础、上下文与Prompt产品化设计_重做工作区/09_PPT结构与逐页内容
老师讲解：课程生产/第一阶段/第02课_大模型基础、上下文与Prompt产品化设计_重做工作区/05_老师版讲义
分步揭示第1页：让学员先预测生成过程，再展示完整流程。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第8页｜02 大模型怎样生成答案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第9页｜02 大模型怎样生成答案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第10页｜02 大模型怎样生成答案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第11页｜02 大模型怎样生成答案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第12页｜02 大模型怎样生成答案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第13页｜02 大模型怎样生成答案
逐页内容：课程生产/第一阶段/第02课_大模型基础、上下文与Prompt产品化设计_重做工作区/09_PPT结构与逐页内容
老师讲解：课程生产/第一阶段/第02课_大模型基础、上下文与Prompt产品化设计_重做工作区/05_老师版讲义
本课只建立测试意识，完整评测留到后续课程。</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A4D6F-0856-5739-4192-DA83B989E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56AF7-4475-B2AA-E32E-04EF34D3D0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34B80F-E77A-EFFD-F486-7E198E93BCDB}"/>
              </a:ext>
            </a:extLst>
          </p:cNvPr>
          <p:cNvSpPr>
            <a:spLocks noGrp="1"/>
          </p:cNvSpPr>
          <p:nvPr>
            <p:ph type="body" idx="1"/>
          </p:nvPr>
        </p:nvSpPr>
        <p:spPr/>
        <p:txBody>
          <a:bodyPr/>
          <a:lstStyle/>
          <a:p>
            <a:r>
              <a:rPr lang="en-US" dirty="0"/>
              <a:t>第1页｜课程任务
逐页内容：课程生产/第一阶段/第02课_大模型基础、上下文与Prompt产品化设计_重做工作区/09_PPT结构与逐页内容
老师讲解：课程生产/第一阶段/第02课_大模型基础、上下文与Prompt产品化设计_重做工作区/05_老师版讲义
开场只说课程定位，不展开技术名词。</a:t>
            </a:r>
          </a:p>
        </p:txBody>
      </p:sp>
      <p:sp>
        <p:nvSpPr>
          <p:cNvPr id="4" name="Slide Number Placeholder 3">
            <a:extLst>
              <a:ext uri="{FF2B5EF4-FFF2-40B4-BE49-F238E27FC236}">
                <a16:creationId xmlns:a16="http://schemas.microsoft.com/office/drawing/2014/main" id="{F344B230-A907-F209-0765-98D6F65CD57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5979289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第14页｜03 Token与上下文窗口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第15页｜03 Token与上下文窗口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第16页｜03 Token与上下文窗口
逐页内容：课程生产/第一阶段/第02课_大模型基础、上下文与Prompt产品化设计_重做工作区/09_PPT结构与逐页内容
老师讲解：课程生产/第一阶段/第02课_大模型基础、上下文与Prompt产品化设计_重做工作区/05_老师版讲义
具体窗口上限依模型和接口而异。</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第17页｜03 Token与上下文窗口
逐页内容：课程生产/第一阶段/第02课_大模型基础、上下文与Prompt产品化设计_重做工作区/09_PPT结构与逐页内容
老师讲解：课程生产/第一阶段/第02课_大模型基础、上下文与Prompt产品化设计_重做工作区/05_老师版讲义
截断与报错行为依产品实现而异。</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第18页｜03 Token与上下文窗口
逐页内容：课程生产/第一阶段/第02课_大模型基础、上下文与Prompt产品化设计_重做工作区/09_PPT结构与逐页内容
老师讲解：课程生产/第一阶段/第02课_大模型基础、上下文与Prompt产品化设计_重做工作区/05_老师版讲义
先练习，不在屏幕显示老师答案。</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B9012-3CFF-AD63-E432-9BBCCF6ACD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C091C-9062-A1DA-05AB-F555E40F5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0AFE66-68C7-9B41-EEAD-1847C55587C6}"/>
              </a:ext>
            </a:extLst>
          </p:cNvPr>
          <p:cNvSpPr>
            <a:spLocks noGrp="1"/>
          </p:cNvSpPr>
          <p:nvPr>
            <p:ph type="body" idx="1"/>
          </p:nvPr>
        </p:nvSpPr>
        <p:spPr/>
        <p:txBody>
          <a:bodyPr/>
          <a:lstStyle/>
          <a:p>
            <a:r>
              <a:rPr lang="en-US" dirty="0"/>
              <a:t>第1页｜课程任务
逐页内容：课程生产/第一阶段/第02课_大模型基础、上下文与Prompt产品化设计_重做工作区/09_PPT结构与逐页内容
老师讲解：课程生产/第一阶段/第02课_大模型基础、上下文与Prompt产品化设计_重做工作区/05_老师版讲义
开场只说课程定位，不展开技术名词。</a:t>
            </a:r>
          </a:p>
        </p:txBody>
      </p:sp>
      <p:sp>
        <p:nvSpPr>
          <p:cNvPr id="4" name="Slide Number Placeholder 3">
            <a:extLst>
              <a:ext uri="{FF2B5EF4-FFF2-40B4-BE49-F238E27FC236}">
                <a16:creationId xmlns:a16="http://schemas.microsoft.com/office/drawing/2014/main" id="{1282E6A1-3637-4FE0-1617-56000CCF0697}"/>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1336629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zh-CN" altLang="zh-CN" sz="1200" b="0" i="0" kern="1200" dirty="0">
                <a:solidFill>
                  <a:schemeClr val="tx1"/>
                </a:solidFill>
                <a:effectLst/>
                <a:latin typeface="+mn-lt"/>
                <a:ea typeface="+mn-ea"/>
                <a:cs typeface="+mn-cs"/>
              </a:rPr>
              <a:t>谁使用结果；</a:t>
            </a:r>
          </a:p>
          <a:p>
            <a:pPr lvl="0"/>
            <a:r>
              <a:rPr lang="zh-CN" altLang="zh-CN" sz="1200" b="0" i="0" kern="1200" dirty="0">
                <a:solidFill>
                  <a:schemeClr val="tx1"/>
                </a:solidFill>
                <a:effectLst/>
                <a:latin typeface="+mn-lt"/>
                <a:ea typeface="+mn-ea"/>
                <a:cs typeface="+mn-cs"/>
              </a:rPr>
              <a:t>在什么场景使用；</a:t>
            </a:r>
          </a:p>
          <a:p>
            <a:pPr lvl="0"/>
            <a:r>
              <a:rPr lang="zh-CN" altLang="zh-CN" sz="1200" b="0" i="0" kern="1200" dirty="0">
                <a:solidFill>
                  <a:schemeClr val="tx1"/>
                </a:solidFill>
                <a:effectLst/>
                <a:latin typeface="+mn-lt"/>
                <a:ea typeface="+mn-ea"/>
                <a:cs typeface="+mn-cs"/>
              </a:rPr>
              <a:t>要输出什么字段；</a:t>
            </a:r>
          </a:p>
          <a:p>
            <a:pPr lvl="0"/>
            <a:r>
              <a:rPr lang="zh-CN" altLang="zh-CN" sz="1200" b="0" i="0" kern="1200" dirty="0">
                <a:solidFill>
                  <a:schemeClr val="tx1"/>
                </a:solidFill>
                <a:effectLst/>
                <a:latin typeface="+mn-lt"/>
                <a:ea typeface="+mn-ea"/>
                <a:cs typeface="+mn-cs"/>
              </a:rPr>
              <a:t>什么叫“高质量”；</a:t>
            </a:r>
          </a:p>
          <a:p>
            <a:pPr lvl="0"/>
            <a:r>
              <a:rPr lang="zh-CN" altLang="zh-CN" sz="1200" b="0" i="0" kern="1200" dirty="0">
                <a:solidFill>
                  <a:schemeClr val="tx1"/>
                </a:solidFill>
                <a:effectLst/>
                <a:latin typeface="+mn-lt"/>
                <a:ea typeface="+mn-ea"/>
                <a:cs typeface="+mn-cs"/>
              </a:rPr>
              <a:t>依据哪些材料；</a:t>
            </a:r>
          </a:p>
          <a:p>
            <a:pPr lvl="0"/>
            <a:r>
              <a:rPr lang="zh-CN" altLang="zh-CN" sz="1200" b="0" i="0" kern="1200" dirty="0">
                <a:solidFill>
                  <a:schemeClr val="tx1"/>
                </a:solidFill>
                <a:effectLst/>
                <a:latin typeface="+mn-lt"/>
                <a:ea typeface="+mn-ea"/>
                <a:cs typeface="+mn-cs"/>
              </a:rPr>
              <a:t>哪些内容不得推测；</a:t>
            </a:r>
          </a:p>
          <a:p>
            <a:pPr lvl="0"/>
            <a:r>
              <a:rPr lang="zh-CN" altLang="zh-CN" sz="1200" b="0" i="0" kern="1200" dirty="0">
                <a:solidFill>
                  <a:schemeClr val="tx1"/>
                </a:solidFill>
                <a:effectLst/>
                <a:latin typeface="+mn-lt"/>
                <a:ea typeface="+mn-ea"/>
                <a:cs typeface="+mn-cs"/>
              </a:rPr>
              <a:t>缺失信息怎么办。</a:t>
            </a:r>
          </a:p>
          <a:p>
            <a:pPr fontAlgn="auto"/>
            <a:r>
              <a:rPr lang="zh-CN" altLang="zh-CN" sz="1200" b="0" i="0" kern="1200" dirty="0">
                <a:solidFill>
                  <a:schemeClr val="tx1"/>
                </a:solidFill>
                <a:effectLst/>
                <a:latin typeface="+mn-lt"/>
                <a:ea typeface="+mn-ea"/>
                <a:cs typeface="+mn-cs"/>
              </a:rPr>
              <a:t>结论</a:t>
            </a:r>
          </a:p>
          <a:p>
            <a:r>
              <a:rPr lang="zh-CN" altLang="zh-CN" sz="1200" b="0" i="0" kern="1200" dirty="0">
                <a:solidFill>
                  <a:schemeClr val="tx1"/>
                </a:solidFill>
                <a:effectLst/>
                <a:latin typeface="+mn-lt"/>
                <a:ea typeface="+mn-ea"/>
                <a:cs typeface="+mn-cs"/>
              </a:rPr>
              <a:t>形容词多，不代表任务定义清楚；角色写得长，也不能替代输出、输入和规则设计。</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r>
              <a:rPr lang="zh-CN" altLang="zh-CN" sz="1200" b="0" i="0" kern="1200" dirty="0">
                <a:solidFill>
                  <a:schemeClr val="tx1"/>
                </a:solidFill>
                <a:effectLst/>
                <a:latin typeface="+mn-lt"/>
                <a:ea typeface="+mn-ea"/>
                <a:cs typeface="+mn-cs"/>
              </a:rPr>
              <a:t>第一步：定义使用结果的人和时点</a:t>
            </a:r>
          </a:p>
          <a:p>
            <a:r>
              <a:rPr lang="zh-CN" altLang="zh-CN" sz="1200" b="0" i="0" kern="1200" dirty="0">
                <a:solidFill>
                  <a:schemeClr val="tx1"/>
                </a:solidFill>
                <a:effectLst/>
                <a:latin typeface="+mn-lt"/>
                <a:ea typeface="+mn-ea"/>
                <a:cs typeface="+mn-cs"/>
              </a:rPr>
              <a:t>不是抽象问“用户是谁”，而是问：</a:t>
            </a:r>
          </a:p>
          <a:p>
            <a:pPr lvl="0"/>
            <a:r>
              <a:rPr lang="zh-CN" altLang="zh-CN" sz="1200" b="0" i="0" kern="1200" dirty="0">
                <a:solidFill>
                  <a:schemeClr val="tx1"/>
                </a:solidFill>
                <a:effectLst/>
                <a:latin typeface="+mn-lt"/>
                <a:ea typeface="+mn-ea"/>
                <a:cs typeface="+mn-cs"/>
              </a:rPr>
              <a:t>哪个角色；</a:t>
            </a:r>
          </a:p>
          <a:p>
            <a:pPr lvl="0"/>
            <a:r>
              <a:rPr lang="zh-CN" altLang="zh-CN" sz="1200" b="0" i="0" kern="1200" dirty="0">
                <a:solidFill>
                  <a:schemeClr val="tx1"/>
                </a:solidFill>
                <a:effectLst/>
                <a:latin typeface="+mn-lt"/>
                <a:ea typeface="+mn-ea"/>
                <a:cs typeface="+mn-cs"/>
              </a:rPr>
              <a:t>在完成什么工作时；</a:t>
            </a:r>
          </a:p>
          <a:p>
            <a:pPr lvl="0"/>
            <a:r>
              <a:rPr lang="zh-CN" altLang="zh-CN" sz="1200" b="0" i="0" kern="1200" dirty="0">
                <a:solidFill>
                  <a:schemeClr val="tx1"/>
                </a:solidFill>
                <a:effectLst/>
                <a:latin typeface="+mn-lt"/>
                <a:ea typeface="+mn-ea"/>
                <a:cs typeface="+mn-cs"/>
              </a:rPr>
              <a:t>为什么需要这份结果；</a:t>
            </a:r>
          </a:p>
          <a:p>
            <a:pPr lvl="0"/>
            <a:r>
              <a:rPr lang="zh-CN" altLang="zh-CN" sz="1200" b="0" i="0" kern="1200" dirty="0">
                <a:solidFill>
                  <a:schemeClr val="tx1"/>
                </a:solidFill>
                <a:effectLst/>
                <a:latin typeface="+mn-lt"/>
                <a:ea typeface="+mn-ea"/>
                <a:cs typeface="+mn-cs"/>
              </a:rPr>
              <a:t>结果之后还要做什么。</a:t>
            </a:r>
          </a:p>
          <a:p>
            <a:pPr fontAlgn="auto"/>
            <a:r>
              <a:rPr lang="zh-CN" altLang="zh-CN" sz="1200" b="0" i="0" kern="1200" dirty="0">
                <a:solidFill>
                  <a:schemeClr val="tx1"/>
                </a:solidFill>
                <a:effectLst/>
                <a:latin typeface="+mn-lt"/>
                <a:ea typeface="+mn-ea"/>
                <a:cs typeface="+mn-cs"/>
              </a:rPr>
              <a:t>第二步：定义目标输出</a:t>
            </a:r>
          </a:p>
          <a:p>
            <a:r>
              <a:rPr lang="zh-CN" altLang="zh-CN" sz="1200" b="0" i="0" kern="1200" dirty="0">
                <a:solidFill>
                  <a:schemeClr val="tx1"/>
                </a:solidFill>
                <a:effectLst/>
                <a:latin typeface="+mn-lt"/>
                <a:ea typeface="+mn-ea"/>
                <a:cs typeface="+mn-cs"/>
              </a:rPr>
              <a:t>明确最终需要交付的内容、字段、结构和去向。</a:t>
            </a:r>
          </a:p>
          <a:p>
            <a:pPr fontAlgn="auto"/>
            <a:r>
              <a:rPr lang="zh-CN" altLang="zh-CN" sz="1200" b="0" i="0" kern="1200" dirty="0">
                <a:solidFill>
                  <a:schemeClr val="tx1"/>
                </a:solidFill>
                <a:effectLst/>
                <a:latin typeface="+mn-lt"/>
                <a:ea typeface="+mn-ea"/>
                <a:cs typeface="+mn-cs"/>
              </a:rPr>
              <a:t>第三步：定义验收标准</a:t>
            </a:r>
          </a:p>
          <a:p>
            <a:r>
              <a:rPr lang="zh-CN" altLang="zh-CN" sz="1200" b="0" i="0" kern="1200" dirty="0">
                <a:solidFill>
                  <a:schemeClr val="tx1"/>
                </a:solidFill>
                <a:effectLst/>
                <a:latin typeface="+mn-lt"/>
                <a:ea typeface="+mn-ea"/>
                <a:cs typeface="+mn-cs"/>
              </a:rPr>
              <a:t>明确怎样判断结果可以继续使用，而不只是“看起来不错”。</a:t>
            </a:r>
          </a:p>
          <a:p>
            <a:pPr fontAlgn="auto"/>
            <a:r>
              <a:rPr lang="zh-CN" altLang="zh-CN" sz="1200" b="0" i="0" kern="1200" dirty="0">
                <a:solidFill>
                  <a:schemeClr val="tx1"/>
                </a:solidFill>
                <a:effectLst/>
                <a:latin typeface="+mn-lt"/>
                <a:ea typeface="+mn-ea"/>
                <a:cs typeface="+mn-cs"/>
              </a:rPr>
              <a:t>第四步：反推必要输入和上下文</a:t>
            </a:r>
          </a:p>
          <a:p>
            <a:r>
              <a:rPr lang="zh-CN" altLang="zh-CN" sz="1200" b="0" i="0" kern="1200" dirty="0">
                <a:solidFill>
                  <a:schemeClr val="tx1"/>
                </a:solidFill>
                <a:effectLst/>
                <a:latin typeface="+mn-lt"/>
                <a:ea typeface="+mn-ea"/>
                <a:cs typeface="+mn-cs"/>
              </a:rPr>
              <a:t>每项信息都要回答：如果没有它，哪项输出或判断无法完成？</a:t>
            </a:r>
          </a:p>
          <a:p>
            <a:pPr fontAlgn="auto"/>
            <a:r>
              <a:rPr lang="zh-CN" altLang="zh-CN" sz="1200" b="0" i="0" kern="1200" dirty="0">
                <a:solidFill>
                  <a:schemeClr val="tx1"/>
                </a:solidFill>
                <a:effectLst/>
                <a:latin typeface="+mn-lt"/>
                <a:ea typeface="+mn-ea"/>
                <a:cs typeface="+mn-cs"/>
              </a:rPr>
              <a:t>第五步：再设计模型处理</a:t>
            </a:r>
          </a:p>
          <a:p>
            <a:r>
              <a:rPr lang="zh-CN" altLang="zh-CN" sz="1200" b="0" i="0" kern="1200" dirty="0">
                <a:solidFill>
                  <a:schemeClr val="tx1"/>
                </a:solidFill>
                <a:effectLst/>
                <a:latin typeface="+mn-lt"/>
                <a:ea typeface="+mn-ea"/>
                <a:cs typeface="+mn-cs"/>
              </a:rPr>
              <a:t>包括结构化Prompt，以及后续课程中的Workflow、RAG、工具调用等。当前只进入Prompt。</a:t>
            </a:r>
          </a:p>
          <a:p>
            <a:pPr fontAlgn="auto"/>
            <a:r>
              <a:rPr lang="zh-CN" altLang="zh-CN" sz="1200" b="0" i="0" kern="1200" dirty="0">
                <a:solidFill>
                  <a:schemeClr val="tx1"/>
                </a:solidFill>
                <a:effectLst/>
                <a:latin typeface="+mn-lt"/>
                <a:ea typeface="+mn-ea"/>
                <a:cs typeface="+mn-cs"/>
              </a:rPr>
              <a:t>教师强调</a:t>
            </a:r>
          </a:p>
          <a:p>
            <a:r>
              <a:rPr lang="zh-CN" altLang="zh-CN" sz="1200" b="0" i="0" kern="1200" dirty="0">
                <a:solidFill>
                  <a:schemeClr val="tx1"/>
                </a:solidFill>
                <a:effectLst/>
                <a:latin typeface="+mn-lt"/>
                <a:ea typeface="+mn-ea"/>
                <a:cs typeface="+mn-cs"/>
              </a:rPr>
              <a:t>“输出—输入—处理”是产品设计顺序，不代表真实系统运行时输出先于输入发生。</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首要用户是一线销售，但输出需要兼顾“可写入CRM”。这样既有真实业务要求，又不会在本课展开主管分析、客户邮件和自动写入等多个任务。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第22页｜04 从目标输出反推上下文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第23页｜04 从目标输出反推上下文
逐页内容：课程生产/第一阶段/第02课_大模型基础、上下文与Prompt产品化设计_重做工作区/09_PPT结构与逐页内容
老师讲解：课程生产/第一阶段/第02课_大模型基础、上下文与Prompt产品化设计_重做工作区/05_老师版讲义
基准版不要求写完整Prompt。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00E8A-DC01-7A23-D2D0-F44EEF7444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12400-5546-D582-0150-C69B318CB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0AEAA9-310C-D094-30DF-E223D8E0FC67}"/>
              </a:ext>
            </a:extLst>
          </p:cNvPr>
          <p:cNvSpPr>
            <a:spLocks noGrp="1"/>
          </p:cNvSpPr>
          <p:nvPr>
            <p:ph type="body" idx="1"/>
          </p:nvPr>
        </p:nvSpPr>
        <p:spPr/>
        <p:txBody>
          <a:bodyPr/>
          <a:lstStyle/>
          <a:p>
            <a:r>
              <a:rPr lang="zh-CN" altLang="zh-CN" sz="1200" b="0" i="0" kern="1200" dirty="0">
                <a:solidFill>
                  <a:schemeClr val="tx1"/>
                </a:solidFill>
                <a:effectLst/>
                <a:latin typeface="+mn-lt"/>
                <a:ea typeface="+mn-ea"/>
                <a:cs typeface="+mn-cs"/>
              </a:rPr>
              <a:t>现在我们已经知道要什么结果、需要什么信息。下一步才是把这些要求组织成模型更容易执行、团队也更容易维护的结构化Prompt。</a:t>
            </a:r>
            <a:endParaRPr lang="en-US" dirty="0"/>
          </a:p>
        </p:txBody>
      </p:sp>
      <p:sp>
        <p:nvSpPr>
          <p:cNvPr id="4" name="Slide Number Placeholder 3">
            <a:extLst>
              <a:ext uri="{FF2B5EF4-FFF2-40B4-BE49-F238E27FC236}">
                <a16:creationId xmlns:a16="http://schemas.microsoft.com/office/drawing/2014/main" id="{C1D92BD9-D44F-76F2-35CE-8168682E2F9F}"/>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785698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第24页｜05 结构化Prompt六要素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r>
              <a:rPr lang="zh-CN" altLang="zh-CN" sz="1200" b="0" i="0" kern="1200" dirty="0">
                <a:solidFill>
                  <a:schemeClr val="tx1"/>
                </a:solidFill>
                <a:effectLst/>
                <a:latin typeface="+mn-lt"/>
                <a:ea typeface="+mn-ea"/>
                <a:cs typeface="+mn-cs"/>
              </a:rPr>
              <a:t>4.1 角色与能力</a:t>
            </a:r>
          </a:p>
          <a:p>
            <a:pPr fontAlgn="auto"/>
            <a:r>
              <a:rPr lang="zh-CN" altLang="zh-CN" sz="1200" b="0" i="0" kern="1200" dirty="0">
                <a:solidFill>
                  <a:schemeClr val="tx1"/>
                </a:solidFill>
                <a:effectLst/>
                <a:latin typeface="+mn-lt"/>
                <a:ea typeface="+mn-ea"/>
                <a:cs typeface="+mn-cs"/>
              </a:rPr>
              <a:t>回答的问题</a:t>
            </a:r>
          </a:p>
          <a:p>
            <a:r>
              <a:rPr lang="zh-CN" altLang="zh-CN" sz="1200" b="0" i="0" kern="1200" dirty="0">
                <a:solidFill>
                  <a:schemeClr val="tx1"/>
                </a:solidFill>
                <a:effectLst/>
                <a:latin typeface="+mn-lt"/>
                <a:ea typeface="+mn-ea"/>
                <a:cs typeface="+mn-cs"/>
              </a:rPr>
              <a:t>希望模型以什么专业视角、能力边界和工作责任处理任务？</a:t>
            </a:r>
          </a:p>
          <a:p>
            <a:pPr fontAlgn="auto"/>
            <a:r>
              <a:rPr lang="zh-CN" altLang="zh-CN" sz="1200" b="0" i="0" kern="1200" dirty="0">
                <a:solidFill>
                  <a:schemeClr val="tx1"/>
                </a:solidFill>
                <a:effectLst/>
                <a:latin typeface="+mn-lt"/>
                <a:ea typeface="+mn-ea"/>
                <a:cs typeface="+mn-cs"/>
              </a:rPr>
              <a:t>销售拜访助手示例</a:t>
            </a:r>
          </a:p>
          <a:p>
            <a:r>
              <a:rPr lang="zh-CN" altLang="zh-CN" sz="1200" b="0" i="0" kern="1200" dirty="0">
                <a:solidFill>
                  <a:schemeClr val="tx1"/>
                </a:solidFill>
                <a:effectLst/>
                <a:latin typeface="+mn-lt"/>
                <a:ea typeface="+mn-ea"/>
                <a:cs typeface="+mn-cs"/>
              </a:rPr>
              <a:t>你是销售拜访记录整理助手，负责根据给定材料提取客户明确表达的信息，</a:t>
            </a:r>
          </a:p>
          <a:p>
            <a:r>
              <a:rPr lang="zh-CN" altLang="zh-CN" sz="1200" b="0" i="0" kern="1200" dirty="0">
                <a:solidFill>
                  <a:schemeClr val="tx1"/>
                </a:solidFill>
                <a:effectLst/>
                <a:latin typeface="+mn-lt"/>
                <a:ea typeface="+mn-ea"/>
                <a:cs typeface="+mn-cs"/>
              </a:rPr>
              <a:t>并整理为便于销售检查和录入CRM的结构化结果。</a:t>
            </a:r>
          </a:p>
          <a:p>
            <a:pPr fontAlgn="auto"/>
            <a:r>
              <a:rPr lang="zh-CN" altLang="zh-CN" sz="1200" b="0" i="0" kern="1200" dirty="0">
                <a:solidFill>
                  <a:schemeClr val="tx1"/>
                </a:solidFill>
                <a:effectLst/>
                <a:latin typeface="+mn-lt"/>
                <a:ea typeface="+mn-ea"/>
                <a:cs typeface="+mn-cs"/>
              </a:rPr>
              <a:t>作用</a:t>
            </a:r>
          </a:p>
          <a:p>
            <a:pPr lvl="0"/>
            <a:r>
              <a:rPr lang="zh-CN" altLang="zh-CN" sz="1200" b="0" i="0" kern="1200" dirty="0">
                <a:solidFill>
                  <a:schemeClr val="tx1"/>
                </a:solidFill>
                <a:effectLst/>
                <a:latin typeface="+mn-lt"/>
                <a:ea typeface="+mn-ea"/>
                <a:cs typeface="+mn-cs"/>
              </a:rPr>
              <a:t>指定处理视角；</a:t>
            </a:r>
          </a:p>
          <a:p>
            <a:pPr lvl="0"/>
            <a:r>
              <a:rPr lang="zh-CN" altLang="zh-CN" sz="1200" b="0" i="0" kern="1200" dirty="0">
                <a:solidFill>
                  <a:schemeClr val="tx1"/>
                </a:solidFill>
                <a:effectLst/>
                <a:latin typeface="+mn-lt"/>
                <a:ea typeface="+mn-ea"/>
                <a:cs typeface="+mn-cs"/>
              </a:rPr>
              <a:t>明确主要责任；</a:t>
            </a:r>
          </a:p>
          <a:p>
            <a:pPr lvl="0"/>
            <a:r>
              <a:rPr lang="zh-CN" altLang="zh-CN" sz="1200" b="0" i="0" kern="1200" dirty="0">
                <a:solidFill>
                  <a:schemeClr val="tx1"/>
                </a:solidFill>
                <a:effectLst/>
                <a:latin typeface="+mn-lt"/>
                <a:ea typeface="+mn-ea"/>
                <a:cs typeface="+mn-cs"/>
              </a:rPr>
              <a:t>限制任务范围。</a:t>
            </a:r>
          </a:p>
          <a:p>
            <a:pPr fontAlgn="auto"/>
            <a:r>
              <a:rPr lang="zh-CN" altLang="zh-CN" sz="1200" b="0" i="0" kern="1200" dirty="0">
                <a:solidFill>
                  <a:schemeClr val="tx1"/>
                </a:solidFill>
                <a:effectLst/>
                <a:latin typeface="+mn-lt"/>
                <a:ea typeface="+mn-ea"/>
                <a:cs typeface="+mn-cs"/>
              </a:rPr>
              <a:t>常见错误</a:t>
            </a:r>
          </a:p>
          <a:p>
            <a:r>
              <a:rPr lang="zh-CN" altLang="zh-CN" sz="1200" b="0" i="0" kern="1200" dirty="0">
                <a:solidFill>
                  <a:schemeClr val="tx1"/>
                </a:solidFill>
                <a:effectLst/>
                <a:latin typeface="+mn-lt"/>
                <a:ea typeface="+mn-ea"/>
                <a:cs typeface="+mn-cs"/>
              </a:rPr>
              <a:t>你是世界顶级、经验丰富、洞察一切、极度专业的销售大师……</a:t>
            </a:r>
          </a:p>
          <a:p>
            <a:r>
              <a:rPr lang="zh-CN" altLang="zh-CN" sz="1200" b="0" i="0" kern="1200" dirty="0">
                <a:solidFill>
                  <a:schemeClr val="tx1"/>
                </a:solidFill>
                <a:effectLst/>
                <a:latin typeface="+mn-lt"/>
                <a:ea typeface="+mn-ea"/>
                <a:cs typeface="+mn-cs"/>
              </a:rPr>
              <a:t>问题：堆叠形容词，但没有说明具体任务、信息依据和责任边界。</a:t>
            </a:r>
          </a:p>
          <a:p>
            <a:pPr fontAlgn="auto"/>
            <a:r>
              <a:rPr lang="zh-CN" altLang="zh-CN" sz="1200" b="0" i="0" kern="1200" dirty="0">
                <a:solidFill>
                  <a:schemeClr val="tx1"/>
                </a:solidFill>
                <a:effectLst/>
                <a:latin typeface="+mn-lt"/>
                <a:ea typeface="+mn-ea"/>
                <a:cs typeface="+mn-cs"/>
              </a:rPr>
              <a:t>教师提醒</a:t>
            </a:r>
          </a:p>
          <a:p>
            <a:r>
              <a:rPr lang="zh-CN" altLang="zh-CN" sz="1200" b="0" i="0" kern="1200" dirty="0">
                <a:solidFill>
                  <a:schemeClr val="tx1"/>
                </a:solidFill>
                <a:effectLst/>
                <a:latin typeface="+mn-lt"/>
                <a:ea typeface="+mn-ea"/>
                <a:cs typeface="+mn-cs"/>
              </a:rPr>
              <a:t>角色不是所有Prompt中最重要的部分，也不是越资深越好。对于明确的提取任务，任务、输入、规则和输出通常比夸张角色更重要。</a:t>
            </a:r>
          </a:p>
          <a:p>
            <a:pPr fontAlgn="auto"/>
            <a:r>
              <a:rPr lang="zh-CN" altLang="zh-CN" sz="1200" b="0" i="0" kern="1200" dirty="0">
                <a:solidFill>
                  <a:schemeClr val="tx1"/>
                </a:solidFill>
                <a:effectLst/>
                <a:latin typeface="+mn-lt"/>
                <a:ea typeface="+mn-ea"/>
                <a:cs typeface="+mn-cs"/>
              </a:rPr>
              <a:t>4.2 任务目标</a:t>
            </a:r>
          </a:p>
          <a:p>
            <a:pPr fontAlgn="auto"/>
            <a:r>
              <a:rPr lang="zh-CN" altLang="zh-CN" sz="1200" b="0" i="0" kern="1200" dirty="0">
                <a:solidFill>
                  <a:schemeClr val="tx1"/>
                </a:solidFill>
                <a:effectLst/>
                <a:latin typeface="+mn-lt"/>
                <a:ea typeface="+mn-ea"/>
                <a:cs typeface="+mn-cs"/>
              </a:rPr>
              <a:t>回答的问题</a:t>
            </a:r>
          </a:p>
          <a:p>
            <a:r>
              <a:rPr lang="zh-CN" altLang="zh-CN" sz="1200" b="0" i="0" kern="1200" dirty="0">
                <a:solidFill>
                  <a:schemeClr val="tx1"/>
                </a:solidFill>
                <a:effectLst/>
                <a:latin typeface="+mn-lt"/>
                <a:ea typeface="+mn-ea"/>
                <a:cs typeface="+mn-cs"/>
              </a:rPr>
              <a:t>模型这一次必须完成什么，交付给谁，用于什么后续动作？</a:t>
            </a:r>
          </a:p>
          <a:p>
            <a:pPr fontAlgn="auto"/>
            <a:r>
              <a:rPr lang="zh-CN" altLang="zh-CN" sz="1200" b="0" i="0" kern="1200" dirty="0">
                <a:solidFill>
                  <a:schemeClr val="tx1"/>
                </a:solidFill>
                <a:effectLst/>
                <a:latin typeface="+mn-lt"/>
                <a:ea typeface="+mn-ea"/>
                <a:cs typeface="+mn-cs"/>
              </a:rPr>
              <a:t>示例</a:t>
            </a:r>
          </a:p>
          <a:p>
            <a:r>
              <a:rPr lang="zh-CN" altLang="zh-CN" sz="1200" b="0" i="0" kern="1200" dirty="0">
                <a:solidFill>
                  <a:schemeClr val="tx1"/>
                </a:solidFill>
                <a:effectLst/>
                <a:latin typeface="+mn-lt"/>
                <a:ea typeface="+mn-ea"/>
                <a:cs typeface="+mn-cs"/>
              </a:rPr>
              <a:t>请根据本次拜访转写，提取客户核心诉求、明确异议和双方确认的下一步行动，</a:t>
            </a:r>
          </a:p>
          <a:p>
            <a:r>
              <a:rPr lang="zh-CN" altLang="zh-CN" sz="1200" b="0" i="0" kern="1200" dirty="0">
                <a:solidFill>
                  <a:schemeClr val="tx1"/>
                </a:solidFill>
                <a:effectLst/>
                <a:latin typeface="+mn-lt"/>
                <a:ea typeface="+mn-ea"/>
                <a:cs typeface="+mn-cs"/>
              </a:rPr>
              <a:t>供销售本人检查后录入CRM。</a:t>
            </a:r>
          </a:p>
          <a:p>
            <a:pPr fontAlgn="auto"/>
            <a:r>
              <a:rPr lang="zh-CN" altLang="zh-CN" sz="1200" b="0" i="0" kern="1200" dirty="0">
                <a:solidFill>
                  <a:schemeClr val="tx1"/>
                </a:solidFill>
                <a:effectLst/>
                <a:latin typeface="+mn-lt"/>
                <a:ea typeface="+mn-ea"/>
                <a:cs typeface="+mn-cs"/>
              </a:rPr>
              <a:t>作用</a:t>
            </a:r>
          </a:p>
          <a:p>
            <a:pPr lvl="0"/>
            <a:r>
              <a:rPr lang="zh-CN" altLang="zh-CN" sz="1200" b="0" i="0" kern="1200" dirty="0">
                <a:solidFill>
                  <a:schemeClr val="tx1"/>
                </a:solidFill>
                <a:effectLst/>
                <a:latin typeface="+mn-lt"/>
                <a:ea typeface="+mn-ea"/>
                <a:cs typeface="+mn-cs"/>
              </a:rPr>
              <a:t>限制任务范围；</a:t>
            </a:r>
          </a:p>
          <a:p>
            <a:pPr lvl="0"/>
            <a:r>
              <a:rPr lang="zh-CN" altLang="zh-CN" sz="1200" b="0" i="0" kern="1200" dirty="0">
                <a:solidFill>
                  <a:schemeClr val="tx1"/>
                </a:solidFill>
                <a:effectLst/>
                <a:latin typeface="+mn-lt"/>
                <a:ea typeface="+mn-ea"/>
                <a:cs typeface="+mn-cs"/>
              </a:rPr>
              <a:t>避免模型自由发挥成泛泛总结；</a:t>
            </a:r>
          </a:p>
          <a:p>
            <a:pPr lvl="0"/>
            <a:r>
              <a:rPr lang="zh-CN" altLang="zh-CN" sz="1200" b="0" i="0" kern="1200" dirty="0">
                <a:solidFill>
                  <a:schemeClr val="tx1"/>
                </a:solidFill>
                <a:effectLst/>
                <a:latin typeface="+mn-lt"/>
                <a:ea typeface="+mn-ea"/>
                <a:cs typeface="+mn-cs"/>
              </a:rPr>
              <a:t>把输出连接到真实使用场景。</a:t>
            </a:r>
          </a:p>
          <a:p>
            <a:pPr fontAlgn="auto"/>
            <a:r>
              <a:rPr lang="zh-CN" altLang="zh-CN" sz="1200" b="0" i="0" kern="1200" dirty="0">
                <a:solidFill>
                  <a:schemeClr val="tx1"/>
                </a:solidFill>
                <a:effectLst/>
                <a:latin typeface="+mn-lt"/>
                <a:ea typeface="+mn-ea"/>
                <a:cs typeface="+mn-cs"/>
              </a:rPr>
              <a:t>常见错误</a:t>
            </a:r>
          </a:p>
          <a:p>
            <a:pPr lvl="0"/>
            <a:r>
              <a:rPr lang="zh-CN" altLang="zh-CN" sz="1200" b="0" i="0" kern="1200" dirty="0">
                <a:solidFill>
                  <a:schemeClr val="tx1"/>
                </a:solidFill>
                <a:effectLst/>
                <a:latin typeface="+mn-lt"/>
                <a:ea typeface="+mn-ea"/>
                <a:cs typeface="+mn-cs"/>
              </a:rPr>
              <a:t>“全面深入分析”；</a:t>
            </a:r>
          </a:p>
          <a:p>
            <a:pPr lvl="0"/>
            <a:r>
              <a:rPr lang="zh-CN" altLang="zh-CN" sz="1200" b="0" i="0" kern="1200" dirty="0">
                <a:solidFill>
                  <a:schemeClr val="tx1"/>
                </a:solidFill>
                <a:effectLst/>
                <a:latin typeface="+mn-lt"/>
                <a:ea typeface="+mn-ea"/>
                <a:cs typeface="+mn-cs"/>
              </a:rPr>
              <a:t>“整理得专业一些”；</a:t>
            </a:r>
          </a:p>
          <a:p>
            <a:pPr lvl="0"/>
            <a:r>
              <a:rPr lang="zh-CN" altLang="zh-CN" sz="1200" b="0" i="0" kern="1200" dirty="0">
                <a:solidFill>
                  <a:schemeClr val="tx1"/>
                </a:solidFill>
                <a:effectLst/>
                <a:latin typeface="+mn-lt"/>
                <a:ea typeface="+mn-ea"/>
                <a:cs typeface="+mn-cs"/>
              </a:rPr>
              <a:t>同时要求摘要、商机预测、主管辅导、客户邮件和报价建议。</a:t>
            </a:r>
          </a:p>
          <a:p>
            <a:r>
              <a:rPr lang="zh-CN" altLang="zh-CN" sz="1200" b="0" i="0" kern="1200" dirty="0">
                <a:solidFill>
                  <a:schemeClr val="tx1"/>
                </a:solidFill>
                <a:effectLst/>
                <a:latin typeface="+mn-lt"/>
                <a:ea typeface="+mn-ea"/>
                <a:cs typeface="+mn-cs"/>
              </a:rPr>
              <a:t>修正原则：一段Prompt优先完成一个清晰任务闭环。</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r>
              <a:rPr lang="zh-CN" altLang="zh-CN" sz="1200" b="0" i="0" kern="1200" dirty="0">
                <a:solidFill>
                  <a:schemeClr val="tx1"/>
                </a:solidFill>
                <a:effectLst/>
                <a:latin typeface="+mn-lt"/>
                <a:ea typeface="+mn-ea"/>
                <a:cs typeface="+mn-cs"/>
              </a:rPr>
              <a:t>4.3 业务背景与输入材料</a:t>
            </a:r>
          </a:p>
          <a:p>
            <a:pPr fontAlgn="auto"/>
            <a:r>
              <a:rPr lang="zh-CN" altLang="zh-CN" sz="1200" b="0" i="0" kern="1200" dirty="0">
                <a:solidFill>
                  <a:schemeClr val="tx1"/>
                </a:solidFill>
                <a:effectLst/>
                <a:latin typeface="+mn-lt"/>
                <a:ea typeface="+mn-ea"/>
                <a:cs typeface="+mn-cs"/>
              </a:rPr>
              <a:t>回答的问题</a:t>
            </a:r>
          </a:p>
          <a:p>
            <a:r>
              <a:rPr lang="zh-CN" altLang="zh-CN" sz="1200" b="0" i="0" kern="1200" dirty="0">
                <a:solidFill>
                  <a:schemeClr val="tx1"/>
                </a:solidFill>
                <a:effectLst/>
                <a:latin typeface="+mn-lt"/>
                <a:ea typeface="+mn-ea"/>
                <a:cs typeface="+mn-cs"/>
              </a:rPr>
              <a:t>模型需要依据哪些事实、背景和变量完成任务？</a:t>
            </a:r>
          </a:p>
          <a:p>
            <a:pPr fontAlgn="auto"/>
            <a:r>
              <a:rPr lang="zh-CN" altLang="zh-CN" sz="1200" b="0" i="0" kern="1200" dirty="0">
                <a:solidFill>
                  <a:schemeClr val="tx1"/>
                </a:solidFill>
                <a:effectLst/>
                <a:latin typeface="+mn-lt"/>
                <a:ea typeface="+mn-ea"/>
                <a:cs typeface="+mn-cs"/>
              </a:rPr>
              <a:t>示例结构</a:t>
            </a:r>
          </a:p>
          <a:p>
            <a:r>
              <a:rPr lang="zh-CN" altLang="zh-CN" sz="1200" b="0" i="0" kern="1200" dirty="0">
                <a:solidFill>
                  <a:schemeClr val="tx1"/>
                </a:solidFill>
                <a:effectLst/>
                <a:latin typeface="+mn-lt"/>
                <a:ea typeface="+mn-ea"/>
                <a:cs typeface="+mn-cs"/>
              </a:rPr>
              <a:t>【业务背景】</a:t>
            </a:r>
          </a:p>
          <a:p>
            <a:r>
              <a:rPr lang="zh-CN" altLang="zh-CN" sz="1200" b="0" i="0" kern="1200" dirty="0">
                <a:solidFill>
                  <a:schemeClr val="tx1"/>
                </a:solidFill>
                <a:effectLst/>
                <a:latin typeface="+mn-lt"/>
                <a:ea typeface="+mn-ea"/>
                <a:cs typeface="+mn-cs"/>
              </a:rPr>
              <a:t>当前处于方案沟通阶段。本次输出由一线销售在拜访结束后检查。</a:t>
            </a:r>
          </a:p>
          <a:p>
            <a:endParaRPr lang="zh-CN"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【客户与商机信息】</a:t>
            </a:r>
          </a:p>
          <a:p>
            <a:r>
              <a:rPr lang="zh-CN" altLang="zh-CN" sz="1200" b="0" i="0" kern="1200" dirty="0">
                <a:solidFill>
                  <a:schemeClr val="tx1"/>
                </a:solidFill>
                <a:effectLst/>
                <a:latin typeface="+mn-lt"/>
                <a:ea typeface="+mn-ea"/>
                <a:cs typeface="+mn-cs"/>
              </a:rPr>
              <a:t>{{customer_profile}}</a:t>
            </a:r>
          </a:p>
          <a:p>
            <a:r>
              <a:rPr lang="zh-CN" altLang="zh-CN" sz="1200" b="0" i="0" kern="1200" dirty="0">
                <a:solidFill>
                  <a:schemeClr val="tx1"/>
                </a:solidFill>
                <a:effectLst/>
                <a:latin typeface="+mn-lt"/>
                <a:ea typeface="+mn-ea"/>
                <a:cs typeface="+mn-cs"/>
              </a:rPr>
              <a:t>{{opportunity_stage}}</a:t>
            </a:r>
          </a:p>
          <a:p>
            <a:endParaRPr lang="zh-CN"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【本次拜访转写】</a:t>
            </a:r>
          </a:p>
          <a:p>
            <a:r>
              <a:rPr lang="zh-CN" altLang="zh-CN" sz="1200" b="0" i="0" kern="1200" dirty="0">
                <a:solidFill>
                  <a:schemeClr val="tx1"/>
                </a:solidFill>
                <a:effectLst/>
                <a:latin typeface="+mn-lt"/>
                <a:ea typeface="+mn-ea"/>
                <a:cs typeface="+mn-cs"/>
              </a:rPr>
              <a:t>{{visit_transcript}}</a:t>
            </a:r>
          </a:p>
          <a:p>
            <a:pPr fontAlgn="auto"/>
            <a:r>
              <a:rPr lang="zh-CN" altLang="zh-CN" sz="1200" b="0" i="0" kern="1200" dirty="0">
                <a:solidFill>
                  <a:schemeClr val="tx1"/>
                </a:solidFill>
                <a:effectLst/>
                <a:latin typeface="+mn-lt"/>
                <a:ea typeface="+mn-ea"/>
                <a:cs typeface="+mn-cs"/>
              </a:rPr>
              <a:t>作用</a:t>
            </a:r>
          </a:p>
          <a:p>
            <a:pPr lvl="0"/>
            <a:r>
              <a:rPr lang="zh-CN" altLang="zh-CN" sz="1200" b="0" i="0" kern="1200" dirty="0">
                <a:solidFill>
                  <a:schemeClr val="tx1"/>
                </a:solidFill>
                <a:effectLst/>
                <a:latin typeface="+mn-lt"/>
                <a:ea typeface="+mn-ea"/>
                <a:cs typeface="+mn-cs"/>
              </a:rPr>
              <a:t>让模型知道材料属于什么场景；</a:t>
            </a:r>
          </a:p>
          <a:p>
            <a:pPr lvl="0"/>
            <a:r>
              <a:rPr lang="zh-CN" altLang="zh-CN" sz="1200" b="0" i="0" kern="1200" dirty="0">
                <a:solidFill>
                  <a:schemeClr val="tx1"/>
                </a:solidFill>
                <a:effectLst/>
                <a:latin typeface="+mn-lt"/>
                <a:ea typeface="+mn-ea"/>
                <a:cs typeface="+mn-cs"/>
              </a:rPr>
              <a:t>明确事实依据；</a:t>
            </a:r>
          </a:p>
          <a:p>
            <a:pPr lvl="0"/>
            <a:r>
              <a:rPr lang="zh-CN" altLang="zh-CN" sz="1200" b="0" i="0" kern="1200" dirty="0">
                <a:solidFill>
                  <a:schemeClr val="tx1"/>
                </a:solidFill>
                <a:effectLst/>
                <a:latin typeface="+mn-lt"/>
                <a:ea typeface="+mn-ea"/>
                <a:cs typeface="+mn-cs"/>
              </a:rPr>
              <a:t>为后续参数化留下清楚变量。</a:t>
            </a:r>
          </a:p>
          <a:p>
            <a:pPr fontAlgn="auto"/>
            <a:r>
              <a:rPr lang="zh-CN" altLang="zh-CN" sz="1200" b="0" i="0" kern="1200" dirty="0">
                <a:solidFill>
                  <a:schemeClr val="tx1"/>
                </a:solidFill>
                <a:effectLst/>
                <a:latin typeface="+mn-lt"/>
                <a:ea typeface="+mn-ea"/>
                <a:cs typeface="+mn-cs"/>
              </a:rPr>
              <a:t>常见错误</a:t>
            </a:r>
          </a:p>
          <a:p>
            <a:pPr lvl="0"/>
            <a:r>
              <a:rPr lang="zh-CN" altLang="zh-CN" sz="1200" b="0" i="0" kern="1200" dirty="0">
                <a:solidFill>
                  <a:schemeClr val="tx1"/>
                </a:solidFill>
                <a:effectLst/>
                <a:latin typeface="+mn-lt"/>
                <a:ea typeface="+mn-ea"/>
                <a:cs typeface="+mn-cs"/>
              </a:rPr>
              <a:t>把所有历史资料全部放入；</a:t>
            </a:r>
          </a:p>
          <a:p>
            <a:pPr lvl="0"/>
            <a:r>
              <a:rPr lang="zh-CN" altLang="zh-CN" sz="1200" b="0" i="0" kern="1200" dirty="0">
                <a:solidFill>
                  <a:schemeClr val="tx1"/>
                </a:solidFill>
                <a:effectLst/>
                <a:latin typeface="+mn-lt"/>
                <a:ea typeface="+mn-ea"/>
                <a:cs typeface="+mn-cs"/>
              </a:rPr>
              <a:t>不标明材料类型和边界；</a:t>
            </a:r>
          </a:p>
          <a:p>
            <a:pPr lvl="0"/>
            <a:r>
              <a:rPr lang="zh-CN" altLang="zh-CN" sz="1200" b="0" i="0" kern="1200" dirty="0">
                <a:solidFill>
                  <a:schemeClr val="tx1"/>
                </a:solidFill>
                <a:effectLst/>
                <a:latin typeface="+mn-lt"/>
                <a:ea typeface="+mn-ea"/>
                <a:cs typeface="+mn-cs"/>
              </a:rPr>
              <a:t>把教师写的示例内容误当作真实输入；</a:t>
            </a:r>
          </a:p>
          <a:p>
            <a:pPr lvl="0"/>
            <a:r>
              <a:rPr lang="zh-CN" altLang="zh-CN" sz="1200" b="0" i="0" kern="1200" dirty="0">
                <a:solidFill>
                  <a:schemeClr val="tx1"/>
                </a:solidFill>
                <a:effectLst/>
                <a:latin typeface="+mn-lt"/>
                <a:ea typeface="+mn-ea"/>
                <a:cs typeface="+mn-cs"/>
              </a:rPr>
              <a:t>没有区分销售发言与客户发言。</a:t>
            </a:r>
          </a:p>
          <a:p>
            <a:pPr fontAlgn="auto"/>
            <a:r>
              <a:rPr lang="zh-CN" altLang="zh-CN" sz="1200" b="0" i="0" kern="1200" dirty="0">
                <a:solidFill>
                  <a:schemeClr val="tx1"/>
                </a:solidFill>
                <a:effectLst/>
                <a:latin typeface="+mn-lt"/>
                <a:ea typeface="+mn-ea"/>
                <a:cs typeface="+mn-cs"/>
              </a:rPr>
              <a:t>教师提醒</a:t>
            </a:r>
          </a:p>
          <a:p>
            <a:r>
              <a:rPr lang="zh-CN" altLang="zh-CN" sz="1200" b="0" i="0" kern="1200" dirty="0">
                <a:solidFill>
                  <a:schemeClr val="tx1"/>
                </a:solidFill>
                <a:effectLst/>
                <a:latin typeface="+mn-lt"/>
                <a:ea typeface="+mn-ea"/>
                <a:cs typeface="+mn-cs"/>
              </a:rPr>
              <a:t>上下文不是只有用户输入。系统带入的客户资料、商机阶段和业务规则也属于模型本次处理所依据的信息。</a:t>
            </a:r>
          </a:p>
          <a:p>
            <a:pPr fontAlgn="auto"/>
            <a:r>
              <a:rPr lang="zh-CN" altLang="zh-CN" sz="1200" b="0" i="0" kern="1200" dirty="0">
                <a:solidFill>
                  <a:schemeClr val="tx1"/>
                </a:solidFill>
                <a:effectLst/>
                <a:latin typeface="+mn-lt"/>
                <a:ea typeface="+mn-ea"/>
                <a:cs typeface="+mn-cs"/>
              </a:rPr>
              <a:t>4.4 规则与约束</a:t>
            </a:r>
          </a:p>
          <a:p>
            <a:pPr fontAlgn="auto"/>
            <a:r>
              <a:rPr lang="zh-CN" altLang="zh-CN" sz="1200" b="0" i="0" kern="1200" dirty="0">
                <a:solidFill>
                  <a:schemeClr val="tx1"/>
                </a:solidFill>
                <a:effectLst/>
                <a:latin typeface="+mn-lt"/>
                <a:ea typeface="+mn-ea"/>
                <a:cs typeface="+mn-cs"/>
              </a:rPr>
              <a:t>回答的问题</a:t>
            </a:r>
          </a:p>
          <a:p>
            <a:r>
              <a:rPr lang="zh-CN" altLang="zh-CN" sz="1200" b="0" i="0" kern="1200" dirty="0">
                <a:solidFill>
                  <a:schemeClr val="tx1"/>
                </a:solidFill>
                <a:effectLst/>
                <a:latin typeface="+mn-lt"/>
                <a:ea typeface="+mn-ea"/>
                <a:cs typeface="+mn-cs"/>
              </a:rPr>
              <a:t>有哪些必须遵循的业务规则、风险边界和缺失信息处理方式？</a:t>
            </a:r>
          </a:p>
          <a:p>
            <a:pPr fontAlgn="auto"/>
            <a:r>
              <a:rPr lang="zh-CN" altLang="zh-CN" sz="1200" b="0" i="0" kern="1200" dirty="0">
                <a:solidFill>
                  <a:schemeClr val="tx1"/>
                </a:solidFill>
                <a:effectLst/>
                <a:latin typeface="+mn-lt"/>
                <a:ea typeface="+mn-ea"/>
                <a:cs typeface="+mn-cs"/>
              </a:rPr>
              <a:t>示例</a:t>
            </a:r>
          </a:p>
          <a:p>
            <a:r>
              <a:rPr lang="zh-CN" altLang="zh-CN" sz="1200" b="0" i="0" kern="1200" dirty="0">
                <a:solidFill>
                  <a:schemeClr val="tx1"/>
                </a:solidFill>
                <a:effectLst/>
                <a:latin typeface="+mn-lt"/>
                <a:ea typeface="+mn-ea"/>
                <a:cs typeface="+mn-cs"/>
              </a:rPr>
              <a:t>1. 只依据提供的材料整理，不把推测写成客户事实；</a:t>
            </a:r>
          </a:p>
          <a:p>
            <a:r>
              <a:rPr lang="zh-CN" altLang="zh-CN" sz="1200" b="0" i="0" kern="1200" dirty="0">
                <a:solidFill>
                  <a:schemeClr val="tx1"/>
                </a:solidFill>
                <a:effectLst/>
                <a:latin typeface="+mn-lt"/>
                <a:ea typeface="+mn-ea"/>
                <a:cs typeface="+mn-cs"/>
              </a:rPr>
              <a:t>2. 客户诉求和异议尽量附对应原话或证据片段；</a:t>
            </a:r>
          </a:p>
          <a:p>
            <a:r>
              <a:rPr lang="zh-CN" altLang="zh-CN" sz="1200" b="0" i="0" kern="1200" dirty="0">
                <a:solidFill>
                  <a:schemeClr val="tx1"/>
                </a:solidFill>
                <a:effectLst/>
                <a:latin typeface="+mn-lt"/>
                <a:ea typeface="+mn-ea"/>
                <a:cs typeface="+mn-cs"/>
              </a:rPr>
              <a:t>3. 没有明确负责人或时间时填写“待确认”，不得自行补充；</a:t>
            </a:r>
          </a:p>
          <a:p>
            <a:r>
              <a:rPr lang="zh-CN" altLang="zh-CN" sz="1200" b="0" i="0" kern="1200" dirty="0">
                <a:solidFill>
                  <a:schemeClr val="tx1"/>
                </a:solidFill>
                <a:effectLst/>
                <a:latin typeface="+mn-lt"/>
                <a:ea typeface="+mn-ea"/>
                <a:cs typeface="+mn-cs"/>
              </a:rPr>
              <a:t>4. 区分客户明确表达、销售判断和AI建议；</a:t>
            </a:r>
          </a:p>
          <a:p>
            <a:r>
              <a:rPr lang="zh-CN" altLang="zh-CN" sz="1200" b="0" i="0" kern="1200" dirty="0">
                <a:solidFill>
                  <a:schemeClr val="tx1"/>
                </a:solidFill>
                <a:effectLst/>
                <a:latin typeface="+mn-lt"/>
                <a:ea typeface="+mn-ea"/>
                <a:cs typeface="+mn-cs"/>
              </a:rPr>
              <a:t>5. 忽略与当前任务无关的寒暄内容。</a:t>
            </a:r>
          </a:p>
          <a:p>
            <a:pPr fontAlgn="auto"/>
            <a:r>
              <a:rPr lang="zh-CN" altLang="zh-CN" sz="1200" b="0" i="0" kern="1200" dirty="0">
                <a:solidFill>
                  <a:schemeClr val="tx1"/>
                </a:solidFill>
                <a:effectLst/>
                <a:latin typeface="+mn-lt"/>
                <a:ea typeface="+mn-ea"/>
                <a:cs typeface="+mn-cs"/>
              </a:rPr>
              <a:t>作用</a:t>
            </a:r>
          </a:p>
          <a:p>
            <a:pPr lvl="0"/>
            <a:r>
              <a:rPr lang="zh-CN" altLang="zh-CN" sz="1200" b="0" i="0" kern="1200" dirty="0">
                <a:solidFill>
                  <a:schemeClr val="tx1"/>
                </a:solidFill>
                <a:effectLst/>
                <a:latin typeface="+mn-lt"/>
                <a:ea typeface="+mn-ea"/>
                <a:cs typeface="+mn-cs"/>
              </a:rPr>
              <a:t>把业务风险转成模型行为要求；</a:t>
            </a:r>
          </a:p>
          <a:p>
            <a:pPr lvl="0"/>
            <a:r>
              <a:rPr lang="zh-CN" altLang="zh-CN" sz="1200" b="0" i="0" kern="1200" dirty="0">
                <a:solidFill>
                  <a:schemeClr val="tx1"/>
                </a:solidFill>
                <a:effectLst/>
                <a:latin typeface="+mn-lt"/>
                <a:ea typeface="+mn-ea"/>
                <a:cs typeface="+mn-cs"/>
              </a:rPr>
              <a:t>明确什么不能做；</a:t>
            </a:r>
          </a:p>
          <a:p>
            <a:pPr lvl="0"/>
            <a:r>
              <a:rPr lang="zh-CN" altLang="zh-CN" sz="1200" b="0" i="0" kern="1200" dirty="0">
                <a:solidFill>
                  <a:schemeClr val="tx1"/>
                </a:solidFill>
                <a:effectLst/>
                <a:latin typeface="+mn-lt"/>
                <a:ea typeface="+mn-ea"/>
                <a:cs typeface="+mn-cs"/>
              </a:rPr>
              <a:t>规定信息缺失时如何处理。</a:t>
            </a:r>
          </a:p>
          <a:p>
            <a:pPr fontAlgn="auto"/>
            <a:r>
              <a:rPr lang="zh-CN" altLang="zh-CN" sz="1200" b="0" i="0" kern="1200" dirty="0">
                <a:solidFill>
                  <a:schemeClr val="tx1"/>
                </a:solidFill>
                <a:effectLst/>
                <a:latin typeface="+mn-lt"/>
                <a:ea typeface="+mn-ea"/>
                <a:cs typeface="+mn-cs"/>
              </a:rPr>
              <a:t>常见错误</a:t>
            </a:r>
          </a:p>
          <a:p>
            <a:pPr lvl="0"/>
            <a:r>
              <a:rPr lang="zh-CN" altLang="zh-CN" sz="1200" b="0" i="0" kern="1200" dirty="0">
                <a:solidFill>
                  <a:schemeClr val="tx1"/>
                </a:solidFill>
                <a:effectLst/>
                <a:latin typeface="+mn-lt"/>
                <a:ea typeface="+mn-ea"/>
                <a:cs typeface="+mn-cs"/>
              </a:rPr>
              <a:t>使用“保证100%准确”“绝对不能出错”等无法执行和验证的口号；</a:t>
            </a:r>
          </a:p>
          <a:p>
            <a:pPr lvl="0"/>
            <a:r>
              <a:rPr lang="zh-CN" altLang="zh-CN" sz="1200" b="0" i="0" kern="1200" dirty="0">
                <a:solidFill>
                  <a:schemeClr val="tx1"/>
                </a:solidFill>
                <a:effectLst/>
                <a:latin typeface="+mn-lt"/>
                <a:ea typeface="+mn-ea"/>
                <a:cs typeface="+mn-cs"/>
              </a:rPr>
              <a:t>规则之间互相冲突；</a:t>
            </a:r>
          </a:p>
          <a:p>
            <a:pPr lvl="0"/>
            <a:r>
              <a:rPr lang="zh-CN" altLang="zh-CN" sz="1200" b="0" i="0" kern="1200" dirty="0">
                <a:solidFill>
                  <a:schemeClr val="tx1"/>
                </a:solidFill>
                <a:effectLst/>
                <a:latin typeface="+mn-lt"/>
                <a:ea typeface="+mn-ea"/>
                <a:cs typeface="+mn-cs"/>
              </a:rPr>
              <a:t>为了显得严谨，增加大量与当前任务无关的限制；</a:t>
            </a:r>
          </a:p>
          <a:p>
            <a:pPr lvl="0"/>
            <a:r>
              <a:rPr lang="zh-CN" altLang="zh-CN" sz="1200" b="0" i="0" kern="1200" dirty="0">
                <a:solidFill>
                  <a:schemeClr val="tx1"/>
                </a:solidFill>
                <a:effectLst/>
                <a:latin typeface="+mn-lt"/>
                <a:ea typeface="+mn-ea"/>
                <a:cs typeface="+mn-cs"/>
              </a:rPr>
              <a:t>只说“不要幻觉”，没有说明事实依据和缺失处理。</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r>
              <a:rPr lang="zh-CN" altLang="zh-CN" sz="1200" b="0" i="0" kern="1200" dirty="0">
                <a:solidFill>
                  <a:schemeClr val="tx1"/>
                </a:solidFill>
                <a:effectLst/>
                <a:latin typeface="+mn-lt"/>
                <a:ea typeface="+mn-ea"/>
                <a:cs typeface="+mn-cs"/>
              </a:rPr>
              <a:t>4.5 输出格式与验收标准</a:t>
            </a:r>
          </a:p>
          <a:p>
            <a:pPr fontAlgn="auto"/>
            <a:r>
              <a:rPr lang="zh-CN" altLang="zh-CN" sz="1200" b="0" i="0" kern="1200" dirty="0">
                <a:solidFill>
                  <a:schemeClr val="tx1"/>
                </a:solidFill>
                <a:effectLst/>
                <a:latin typeface="+mn-lt"/>
                <a:ea typeface="+mn-ea"/>
                <a:cs typeface="+mn-cs"/>
              </a:rPr>
              <a:t>回答的问题</a:t>
            </a:r>
          </a:p>
          <a:p>
            <a:r>
              <a:rPr lang="zh-CN" altLang="zh-CN" sz="1200" b="0" i="0" kern="1200" dirty="0">
                <a:solidFill>
                  <a:schemeClr val="tx1"/>
                </a:solidFill>
                <a:effectLst/>
                <a:latin typeface="+mn-lt"/>
                <a:ea typeface="+mn-ea"/>
                <a:cs typeface="+mn-cs"/>
              </a:rPr>
              <a:t>最终结果必须长什么样，包含什么，怎样判断可继续使用？</a:t>
            </a:r>
          </a:p>
          <a:p>
            <a:pPr fontAlgn="auto"/>
            <a:r>
              <a:rPr lang="zh-CN" altLang="zh-CN" sz="1200" b="0" i="0" kern="1200" dirty="0">
                <a:solidFill>
                  <a:schemeClr val="tx1"/>
                </a:solidFill>
                <a:effectLst/>
                <a:latin typeface="+mn-lt"/>
                <a:ea typeface="+mn-ea"/>
                <a:cs typeface="+mn-cs"/>
              </a:rPr>
              <a:t>示例</a:t>
            </a:r>
          </a:p>
          <a:p>
            <a:r>
              <a:rPr lang="zh-CN" altLang="zh-CN" sz="1200" b="0" i="0" kern="1200" dirty="0">
                <a:solidFill>
                  <a:schemeClr val="tx1"/>
                </a:solidFill>
                <a:effectLst/>
                <a:latin typeface="+mn-lt"/>
                <a:ea typeface="+mn-ea"/>
                <a:cs typeface="+mn-cs"/>
              </a:rPr>
              <a:t>请按以下结构输出：</a:t>
            </a:r>
          </a:p>
          <a:p>
            <a:endParaRPr lang="zh-CN"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1. 客户核心诉求</a:t>
            </a:r>
          </a:p>
          <a:p>
            <a:r>
              <a:rPr lang="zh-CN" altLang="zh-CN" sz="1200" b="0" i="0" kern="1200" dirty="0">
                <a:solidFill>
                  <a:schemeClr val="tx1"/>
                </a:solidFill>
                <a:effectLst/>
                <a:latin typeface="+mn-lt"/>
                <a:ea typeface="+mn-ea"/>
                <a:cs typeface="+mn-cs"/>
              </a:rPr>
              <a:t>   - 诉求：</a:t>
            </a:r>
          </a:p>
          <a:p>
            <a:r>
              <a:rPr lang="zh-CN" altLang="zh-CN" sz="1200" b="0" i="0" kern="1200" dirty="0">
                <a:solidFill>
                  <a:schemeClr val="tx1"/>
                </a:solidFill>
                <a:effectLst/>
                <a:latin typeface="+mn-lt"/>
                <a:ea typeface="+mn-ea"/>
                <a:cs typeface="+mn-cs"/>
              </a:rPr>
              <a:t>   - 证据原话：</a:t>
            </a:r>
          </a:p>
          <a:p>
            <a:r>
              <a:rPr lang="zh-CN" altLang="zh-CN" sz="1200" b="0" i="0" kern="1200" dirty="0">
                <a:solidFill>
                  <a:schemeClr val="tx1"/>
                </a:solidFill>
                <a:effectLst/>
                <a:latin typeface="+mn-lt"/>
                <a:ea typeface="+mn-ea"/>
                <a:cs typeface="+mn-cs"/>
              </a:rPr>
              <a:t>   - 状态：明确 / 待确认</a:t>
            </a:r>
          </a:p>
          <a:p>
            <a:endParaRPr lang="zh-CN"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2. 客户异议</a:t>
            </a:r>
          </a:p>
          <a:p>
            <a:r>
              <a:rPr lang="zh-CN" altLang="zh-CN" sz="1200" b="0" i="0" kern="1200" dirty="0">
                <a:solidFill>
                  <a:schemeClr val="tx1"/>
                </a:solidFill>
                <a:effectLst/>
                <a:latin typeface="+mn-lt"/>
                <a:ea typeface="+mn-ea"/>
                <a:cs typeface="+mn-cs"/>
              </a:rPr>
              <a:t>   - 异议：</a:t>
            </a:r>
          </a:p>
          <a:p>
            <a:r>
              <a:rPr lang="zh-CN" altLang="zh-CN" sz="1200" b="0" i="0" kern="1200" dirty="0">
                <a:solidFill>
                  <a:schemeClr val="tx1"/>
                </a:solidFill>
                <a:effectLst/>
                <a:latin typeface="+mn-lt"/>
                <a:ea typeface="+mn-ea"/>
                <a:cs typeface="+mn-cs"/>
              </a:rPr>
              <a:t>   - 针对对象：</a:t>
            </a:r>
          </a:p>
          <a:p>
            <a:r>
              <a:rPr lang="zh-CN" altLang="zh-CN" sz="1200" b="0" i="0" kern="1200" dirty="0">
                <a:solidFill>
                  <a:schemeClr val="tx1"/>
                </a:solidFill>
                <a:effectLst/>
                <a:latin typeface="+mn-lt"/>
                <a:ea typeface="+mn-ea"/>
                <a:cs typeface="+mn-cs"/>
              </a:rPr>
              <a:t>   - 证据原话：</a:t>
            </a:r>
          </a:p>
          <a:p>
            <a:endParaRPr lang="zh-CN"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3. 下一步行动</a:t>
            </a:r>
          </a:p>
          <a:p>
            <a:r>
              <a:rPr lang="zh-CN" altLang="zh-CN" sz="1200" b="0" i="0" kern="1200" dirty="0">
                <a:solidFill>
                  <a:schemeClr val="tx1"/>
                </a:solidFill>
                <a:effectLst/>
                <a:latin typeface="+mn-lt"/>
                <a:ea typeface="+mn-ea"/>
                <a:cs typeface="+mn-cs"/>
              </a:rPr>
              <a:t>   - 事项：</a:t>
            </a:r>
          </a:p>
          <a:p>
            <a:r>
              <a:rPr lang="zh-CN" altLang="zh-CN" sz="1200" b="0" i="0" kern="1200" dirty="0">
                <a:solidFill>
                  <a:schemeClr val="tx1"/>
                </a:solidFill>
                <a:effectLst/>
                <a:latin typeface="+mn-lt"/>
                <a:ea typeface="+mn-ea"/>
                <a:cs typeface="+mn-cs"/>
              </a:rPr>
              <a:t>   - 责任人：</a:t>
            </a:r>
          </a:p>
          <a:p>
            <a:r>
              <a:rPr lang="zh-CN" altLang="zh-CN" sz="1200" b="0" i="0" kern="1200" dirty="0">
                <a:solidFill>
                  <a:schemeClr val="tx1"/>
                </a:solidFill>
                <a:effectLst/>
                <a:latin typeface="+mn-lt"/>
                <a:ea typeface="+mn-ea"/>
                <a:cs typeface="+mn-cs"/>
              </a:rPr>
              <a:t>   - 截止时间：</a:t>
            </a:r>
          </a:p>
          <a:p>
            <a:r>
              <a:rPr lang="zh-CN" altLang="zh-CN" sz="1200" b="0" i="0" kern="1200" dirty="0">
                <a:solidFill>
                  <a:schemeClr val="tx1"/>
                </a:solidFill>
                <a:effectLst/>
                <a:latin typeface="+mn-lt"/>
                <a:ea typeface="+mn-ea"/>
                <a:cs typeface="+mn-cs"/>
              </a:rPr>
              <a:t>   - 状态：已确认 / 待确认</a:t>
            </a:r>
          </a:p>
          <a:p>
            <a:pPr fontAlgn="auto"/>
            <a:r>
              <a:rPr lang="zh-CN" altLang="zh-CN" sz="1200" b="0" i="0" kern="1200" dirty="0">
                <a:solidFill>
                  <a:schemeClr val="tx1"/>
                </a:solidFill>
                <a:effectLst/>
                <a:latin typeface="+mn-lt"/>
                <a:ea typeface="+mn-ea"/>
                <a:cs typeface="+mn-cs"/>
              </a:rPr>
              <a:t>作用</a:t>
            </a:r>
          </a:p>
          <a:p>
            <a:pPr lvl="0"/>
            <a:r>
              <a:rPr lang="zh-CN" altLang="zh-CN" sz="1200" b="0" i="0" kern="1200" dirty="0">
                <a:solidFill>
                  <a:schemeClr val="tx1"/>
                </a:solidFill>
                <a:effectLst/>
                <a:latin typeface="+mn-lt"/>
                <a:ea typeface="+mn-ea"/>
                <a:cs typeface="+mn-cs"/>
              </a:rPr>
              <a:t>降低结果结构波动；</a:t>
            </a:r>
          </a:p>
          <a:p>
            <a:pPr lvl="0"/>
            <a:r>
              <a:rPr lang="zh-CN" altLang="zh-CN" sz="1200" b="0" i="0" kern="1200" dirty="0">
                <a:solidFill>
                  <a:schemeClr val="tx1"/>
                </a:solidFill>
                <a:effectLst/>
                <a:latin typeface="+mn-lt"/>
                <a:ea typeface="+mn-ea"/>
                <a:cs typeface="+mn-cs"/>
              </a:rPr>
              <a:t>方便人工检查；</a:t>
            </a:r>
          </a:p>
          <a:p>
            <a:pPr lvl="0"/>
            <a:r>
              <a:rPr lang="zh-CN" altLang="zh-CN" sz="1200" b="0" i="0" kern="1200" dirty="0">
                <a:solidFill>
                  <a:schemeClr val="tx1"/>
                </a:solidFill>
                <a:effectLst/>
                <a:latin typeface="+mn-lt"/>
                <a:ea typeface="+mn-ea"/>
                <a:cs typeface="+mn-cs"/>
              </a:rPr>
              <a:t>为后续写入系统或继续处理打基础。</a:t>
            </a:r>
          </a:p>
          <a:p>
            <a:pPr fontAlgn="auto"/>
            <a:r>
              <a:rPr lang="zh-CN" altLang="zh-CN" sz="1200" b="0" i="0" kern="1200" dirty="0">
                <a:solidFill>
                  <a:schemeClr val="tx1"/>
                </a:solidFill>
                <a:effectLst/>
                <a:latin typeface="+mn-lt"/>
                <a:ea typeface="+mn-ea"/>
                <a:cs typeface="+mn-cs"/>
              </a:rPr>
              <a:t>常见错误</a:t>
            </a:r>
          </a:p>
          <a:p>
            <a:pPr lvl="0"/>
            <a:r>
              <a:rPr lang="zh-CN" altLang="zh-CN" sz="1200" b="0" i="0" kern="1200" dirty="0">
                <a:solidFill>
                  <a:schemeClr val="tx1"/>
                </a:solidFill>
                <a:effectLst/>
                <a:latin typeface="+mn-lt"/>
                <a:ea typeface="+mn-ea"/>
                <a:cs typeface="+mn-cs"/>
              </a:rPr>
              <a:t>只规定Markdown或JSON，没有规定字段含义；</a:t>
            </a:r>
          </a:p>
          <a:p>
            <a:pPr lvl="0"/>
            <a:r>
              <a:rPr lang="zh-CN" altLang="zh-CN" sz="1200" b="0" i="0" kern="1200" dirty="0">
                <a:solidFill>
                  <a:schemeClr val="tx1"/>
                </a:solidFill>
                <a:effectLst/>
                <a:latin typeface="+mn-lt"/>
                <a:ea typeface="+mn-ea"/>
                <a:cs typeface="+mn-cs"/>
              </a:rPr>
              <a:t>字段很多，但没有业务用途；</a:t>
            </a:r>
          </a:p>
          <a:p>
            <a:pPr lvl="0"/>
            <a:r>
              <a:rPr lang="zh-CN" altLang="zh-CN" sz="1200" b="0" i="0" kern="1200" dirty="0">
                <a:solidFill>
                  <a:schemeClr val="tx1"/>
                </a:solidFill>
                <a:effectLst/>
                <a:latin typeface="+mn-lt"/>
                <a:ea typeface="+mn-ea"/>
                <a:cs typeface="+mn-cs"/>
              </a:rPr>
              <a:t>强行要求JSON，却没有后续系统解析需求；</a:t>
            </a:r>
          </a:p>
          <a:p>
            <a:pPr lvl="0"/>
            <a:r>
              <a:rPr lang="zh-CN" altLang="zh-CN" sz="1200" b="0" i="0" kern="1200" dirty="0">
                <a:solidFill>
                  <a:schemeClr val="tx1"/>
                </a:solidFill>
                <a:effectLst/>
                <a:latin typeface="+mn-lt"/>
                <a:ea typeface="+mn-ea"/>
                <a:cs typeface="+mn-cs"/>
              </a:rPr>
              <a:t>规定格式却不说明内容准确性要求。</a:t>
            </a:r>
          </a:p>
          <a:p>
            <a:pPr fontAlgn="auto"/>
            <a:r>
              <a:rPr lang="zh-CN" altLang="zh-CN" sz="1200" b="0" i="0" kern="1200" dirty="0">
                <a:solidFill>
                  <a:schemeClr val="tx1"/>
                </a:solidFill>
                <a:effectLst/>
                <a:latin typeface="+mn-lt"/>
                <a:ea typeface="+mn-ea"/>
                <a:cs typeface="+mn-cs"/>
              </a:rPr>
              <a:t>教师提醒</a:t>
            </a:r>
          </a:p>
          <a:p>
            <a:r>
              <a:rPr lang="zh-CN" altLang="zh-CN" sz="1200" b="0" i="0" kern="1200" dirty="0">
                <a:solidFill>
                  <a:schemeClr val="tx1"/>
                </a:solidFill>
                <a:effectLst/>
                <a:latin typeface="+mn-lt"/>
                <a:ea typeface="+mn-ea"/>
                <a:cs typeface="+mn-cs"/>
              </a:rPr>
              <a:t>格式不是越技术化越专业。选择表格、列表、Markdown或JSON，要看结果的后续使用方式。</a:t>
            </a:r>
          </a:p>
          <a:p>
            <a:pPr fontAlgn="auto"/>
            <a:r>
              <a:rPr lang="zh-CN" altLang="zh-CN" sz="1200" b="0" i="0" kern="1200" dirty="0">
                <a:solidFill>
                  <a:schemeClr val="tx1"/>
                </a:solidFill>
                <a:effectLst/>
                <a:latin typeface="+mn-lt"/>
                <a:ea typeface="+mn-ea"/>
                <a:cs typeface="+mn-cs"/>
              </a:rPr>
              <a:t>4.6 示例与迭代要求</a:t>
            </a:r>
          </a:p>
          <a:p>
            <a:pPr fontAlgn="auto"/>
            <a:r>
              <a:rPr lang="zh-CN" altLang="zh-CN" sz="1200" b="0" i="0" kern="1200" dirty="0">
                <a:solidFill>
                  <a:schemeClr val="tx1"/>
                </a:solidFill>
                <a:effectLst/>
                <a:latin typeface="+mn-lt"/>
                <a:ea typeface="+mn-ea"/>
                <a:cs typeface="+mn-cs"/>
              </a:rPr>
              <a:t>回答的问题</a:t>
            </a:r>
          </a:p>
          <a:p>
            <a:r>
              <a:rPr lang="zh-CN" altLang="zh-CN" sz="1200" b="0" i="0" kern="1200" dirty="0">
                <a:solidFill>
                  <a:schemeClr val="tx1"/>
                </a:solidFill>
                <a:effectLst/>
                <a:latin typeface="+mn-lt"/>
                <a:ea typeface="+mn-ea"/>
                <a:cs typeface="+mn-cs"/>
              </a:rPr>
              <a:t>模型需要通过什么样例理解边界？输出前后是否需要检查或补问？</a:t>
            </a:r>
          </a:p>
          <a:p>
            <a:pPr fontAlgn="auto"/>
            <a:r>
              <a:rPr lang="zh-CN" altLang="zh-CN" sz="1200" b="0" i="0" kern="1200" dirty="0">
                <a:solidFill>
                  <a:schemeClr val="tx1"/>
                </a:solidFill>
                <a:effectLst/>
                <a:latin typeface="+mn-lt"/>
                <a:ea typeface="+mn-ea"/>
                <a:cs typeface="+mn-cs"/>
              </a:rPr>
              <a:t>可以包含的内容</a:t>
            </a:r>
          </a:p>
          <a:p>
            <a:pPr lvl="0"/>
            <a:r>
              <a:rPr lang="zh-CN" altLang="zh-CN" sz="1200" b="0" i="0" kern="1200" dirty="0">
                <a:solidFill>
                  <a:schemeClr val="tx1"/>
                </a:solidFill>
                <a:effectLst/>
                <a:latin typeface="+mn-lt"/>
                <a:ea typeface="+mn-ea"/>
                <a:cs typeface="+mn-cs"/>
              </a:rPr>
              <a:t>一条合格输出示例；</a:t>
            </a:r>
          </a:p>
          <a:p>
            <a:pPr lvl="0"/>
            <a:r>
              <a:rPr lang="zh-CN" altLang="zh-CN" sz="1200" b="0" i="0" kern="1200" dirty="0">
                <a:solidFill>
                  <a:schemeClr val="tx1"/>
                </a:solidFill>
                <a:effectLst/>
                <a:latin typeface="+mn-lt"/>
                <a:ea typeface="+mn-ea"/>
                <a:cs typeface="+mn-cs"/>
              </a:rPr>
              <a:t>一条不可接受的反例；</a:t>
            </a:r>
          </a:p>
          <a:p>
            <a:pPr lvl="0"/>
            <a:r>
              <a:rPr lang="zh-CN" altLang="zh-CN" sz="1200" b="0" i="0" kern="1200" dirty="0">
                <a:solidFill>
                  <a:schemeClr val="tx1"/>
                </a:solidFill>
                <a:effectLst/>
                <a:latin typeface="+mn-lt"/>
                <a:ea typeface="+mn-ea"/>
                <a:cs typeface="+mn-cs"/>
              </a:rPr>
              <a:t>字段映射示例；</a:t>
            </a:r>
          </a:p>
          <a:p>
            <a:pPr lvl="0"/>
            <a:r>
              <a:rPr lang="zh-CN" altLang="zh-CN" sz="1200" b="0" i="0" kern="1200" dirty="0">
                <a:solidFill>
                  <a:schemeClr val="tx1"/>
                </a:solidFill>
                <a:effectLst/>
                <a:latin typeface="+mn-lt"/>
                <a:ea typeface="+mn-ea"/>
                <a:cs typeface="+mn-cs"/>
              </a:rPr>
              <a:t>信息不足时先列出待确认项；</a:t>
            </a:r>
          </a:p>
          <a:p>
            <a:pPr lvl="0"/>
            <a:r>
              <a:rPr lang="zh-CN" altLang="zh-CN" sz="1200" b="0" i="0" kern="1200" dirty="0">
                <a:solidFill>
                  <a:schemeClr val="tx1"/>
                </a:solidFill>
                <a:effectLst/>
                <a:latin typeface="+mn-lt"/>
                <a:ea typeface="+mn-ea"/>
                <a:cs typeface="+mn-cs"/>
              </a:rPr>
              <a:t>输出前检查事实是否有依据；</a:t>
            </a:r>
          </a:p>
          <a:p>
            <a:pPr lvl="0"/>
            <a:r>
              <a:rPr lang="zh-CN" altLang="zh-CN" sz="1200" b="0" i="0" kern="1200" dirty="0">
                <a:solidFill>
                  <a:schemeClr val="tx1"/>
                </a:solidFill>
                <a:effectLst/>
                <a:latin typeface="+mn-lt"/>
                <a:ea typeface="+mn-ea"/>
                <a:cs typeface="+mn-cs"/>
              </a:rPr>
              <a:t>对高风险任务先返回草稿供人工确认。</a:t>
            </a:r>
          </a:p>
          <a:p>
            <a:pPr fontAlgn="auto"/>
            <a:r>
              <a:rPr lang="zh-CN" altLang="zh-CN" sz="1200" b="0" i="0" kern="1200" dirty="0">
                <a:solidFill>
                  <a:schemeClr val="tx1"/>
                </a:solidFill>
                <a:effectLst/>
                <a:latin typeface="+mn-lt"/>
                <a:ea typeface="+mn-ea"/>
                <a:cs typeface="+mn-cs"/>
              </a:rPr>
              <a:t>销售案例的轻量示例</a:t>
            </a:r>
          </a:p>
          <a:p>
            <a:r>
              <a:rPr lang="zh-CN" altLang="zh-CN" sz="1200" b="0" i="0" kern="1200" dirty="0">
                <a:solidFill>
                  <a:schemeClr val="tx1"/>
                </a:solidFill>
                <a:effectLst/>
                <a:latin typeface="+mn-lt"/>
                <a:ea typeface="+mn-ea"/>
                <a:cs typeface="+mn-cs"/>
              </a:rPr>
              <a:t>如果转写中只出现“后续再约技术同学聊一下”，但没有责任人和时间，</a:t>
            </a:r>
          </a:p>
          <a:p>
            <a:r>
              <a:rPr lang="zh-CN" altLang="zh-CN" sz="1200" b="0" i="0" kern="1200" dirty="0">
                <a:solidFill>
                  <a:schemeClr val="tx1"/>
                </a:solidFill>
                <a:effectLst/>
                <a:latin typeface="+mn-lt"/>
                <a:ea typeface="+mn-ea"/>
                <a:cs typeface="+mn-cs"/>
              </a:rPr>
              <a:t>应输出：</a:t>
            </a:r>
          </a:p>
          <a:p>
            <a:r>
              <a:rPr lang="zh-CN" altLang="zh-CN" sz="1200" b="0" i="0" kern="1200" dirty="0">
                <a:solidFill>
                  <a:schemeClr val="tx1"/>
                </a:solidFill>
                <a:effectLst/>
                <a:latin typeface="+mn-lt"/>
                <a:ea typeface="+mn-ea"/>
                <a:cs typeface="+mn-cs"/>
              </a:rPr>
              <a:t>事项：安排技术沟通</a:t>
            </a:r>
          </a:p>
          <a:p>
            <a:r>
              <a:rPr lang="zh-CN" altLang="zh-CN" sz="1200" b="0" i="0" kern="1200" dirty="0">
                <a:solidFill>
                  <a:schemeClr val="tx1"/>
                </a:solidFill>
                <a:effectLst/>
                <a:latin typeface="+mn-lt"/>
                <a:ea typeface="+mn-ea"/>
                <a:cs typeface="+mn-cs"/>
              </a:rPr>
              <a:t>责任人：待确认</a:t>
            </a:r>
          </a:p>
          <a:p>
            <a:r>
              <a:rPr lang="zh-CN" altLang="zh-CN" sz="1200" b="0" i="0" kern="1200" dirty="0">
                <a:solidFill>
                  <a:schemeClr val="tx1"/>
                </a:solidFill>
                <a:effectLst/>
                <a:latin typeface="+mn-lt"/>
                <a:ea typeface="+mn-ea"/>
                <a:cs typeface="+mn-cs"/>
              </a:rPr>
              <a:t>截止时间：待确认</a:t>
            </a:r>
          </a:p>
          <a:p>
            <a:pPr fontAlgn="auto"/>
            <a:r>
              <a:rPr lang="zh-CN" altLang="zh-CN" sz="1200" b="0" i="0" kern="1200" dirty="0">
                <a:solidFill>
                  <a:schemeClr val="tx1"/>
                </a:solidFill>
                <a:effectLst/>
                <a:latin typeface="+mn-lt"/>
                <a:ea typeface="+mn-ea"/>
                <a:cs typeface="+mn-cs"/>
              </a:rPr>
              <a:t>常见错误</a:t>
            </a:r>
          </a:p>
          <a:p>
            <a:pPr lvl="0"/>
            <a:r>
              <a:rPr lang="zh-CN" altLang="zh-CN" sz="1200" b="0" i="0" kern="1200" dirty="0">
                <a:solidFill>
                  <a:schemeClr val="tx1"/>
                </a:solidFill>
                <a:effectLst/>
                <a:latin typeface="+mn-lt"/>
                <a:ea typeface="+mn-ea"/>
                <a:cs typeface="+mn-cs"/>
              </a:rPr>
              <a:t>示例与规则冲突；</a:t>
            </a:r>
          </a:p>
          <a:p>
            <a:pPr lvl="0"/>
            <a:r>
              <a:rPr lang="zh-CN" altLang="zh-CN" sz="1200" b="0" i="0" kern="1200" dirty="0">
                <a:solidFill>
                  <a:schemeClr val="tx1"/>
                </a:solidFill>
                <a:effectLst/>
                <a:latin typeface="+mn-lt"/>
                <a:ea typeface="+mn-ea"/>
                <a:cs typeface="+mn-cs"/>
              </a:rPr>
              <a:t>给了一个例子后，误以为模型会自动覆盖所有边界；</a:t>
            </a:r>
          </a:p>
          <a:p>
            <a:pPr lvl="0"/>
            <a:r>
              <a:rPr lang="zh-CN" altLang="zh-CN" sz="1200" b="0" i="0" kern="1200" dirty="0">
                <a:solidFill>
                  <a:schemeClr val="tx1"/>
                </a:solidFill>
                <a:effectLst/>
                <a:latin typeface="+mn-lt"/>
                <a:ea typeface="+mn-ea"/>
                <a:cs typeface="+mn-cs"/>
              </a:rPr>
              <a:t>要求模型无限自我反思、保证正确；</a:t>
            </a:r>
          </a:p>
          <a:p>
            <a:pPr lvl="0"/>
            <a:r>
              <a:rPr lang="zh-CN" altLang="zh-CN" sz="1200" b="0" i="0" kern="1200" dirty="0">
                <a:solidFill>
                  <a:schemeClr val="tx1"/>
                </a:solidFill>
                <a:effectLst/>
                <a:latin typeface="+mn-lt"/>
                <a:ea typeface="+mn-ea"/>
                <a:cs typeface="+mn-cs"/>
              </a:rPr>
              <a:t>把多个独立任务塞进“迭代要求”。</a:t>
            </a:r>
          </a:p>
          <a:p>
            <a:pPr fontAlgn="auto"/>
            <a:r>
              <a:rPr lang="zh-CN" altLang="zh-CN" sz="1200" b="0" i="0" kern="1200" dirty="0">
                <a:solidFill>
                  <a:schemeClr val="tx1"/>
                </a:solidFill>
                <a:effectLst/>
                <a:latin typeface="+mn-lt"/>
                <a:ea typeface="+mn-ea"/>
                <a:cs typeface="+mn-cs"/>
              </a:rPr>
              <a:t>教师提醒</a:t>
            </a:r>
          </a:p>
          <a:p>
            <a:r>
              <a:rPr lang="zh-CN" altLang="zh-CN" sz="1200" b="0" i="0" kern="1200" dirty="0">
                <a:solidFill>
                  <a:schemeClr val="tx1"/>
                </a:solidFill>
                <a:effectLst/>
                <a:latin typeface="+mn-lt"/>
                <a:ea typeface="+mn-ea"/>
                <a:cs typeface="+mn-cs"/>
              </a:rPr>
              <a:t>简单任务可以不提供示例。示例主要用于容易歧义、格式严格或边界难以只用规则说明的任务。</a:t>
            </a:r>
          </a:p>
          <a:p>
            <a:pPr fontAlgn="auto"/>
            <a:endParaRPr lang="zh-CN" altLang="zh-CN"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9210C-CCB4-7787-CDE6-B8C545DBC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FDDFE-D0AF-FBB3-CE89-D4A2A7C9A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F0C793-285C-CFE9-881F-9CB9EF6899F6}"/>
              </a:ext>
            </a:extLst>
          </p:cNvPr>
          <p:cNvSpPr>
            <a:spLocks noGrp="1"/>
          </p:cNvSpPr>
          <p:nvPr>
            <p:ph type="body" idx="1"/>
          </p:nvPr>
        </p:nvSpPr>
        <p:spPr/>
        <p:txBody>
          <a:bodyPr/>
          <a:lstStyle/>
          <a:p>
            <a:pPr fontAlgn="auto"/>
            <a:r>
              <a:rPr lang="zh-CN" altLang="zh-CN" sz="1200" b="0" i="0" kern="1200" dirty="0">
                <a:solidFill>
                  <a:schemeClr val="tx1"/>
                </a:solidFill>
                <a:effectLst/>
                <a:latin typeface="+mn-lt"/>
                <a:ea typeface="+mn-ea"/>
                <a:cs typeface="+mn-cs"/>
              </a:rPr>
              <a:t>4.5 输出格式与验收标准</a:t>
            </a:r>
          </a:p>
          <a:p>
            <a:pPr fontAlgn="auto"/>
            <a:r>
              <a:rPr lang="zh-CN" altLang="zh-CN" sz="1200" b="0" i="0" kern="1200" dirty="0">
                <a:solidFill>
                  <a:schemeClr val="tx1"/>
                </a:solidFill>
                <a:effectLst/>
                <a:latin typeface="+mn-lt"/>
                <a:ea typeface="+mn-ea"/>
                <a:cs typeface="+mn-cs"/>
              </a:rPr>
              <a:t>回答的问题</a:t>
            </a:r>
          </a:p>
          <a:p>
            <a:r>
              <a:rPr lang="zh-CN" altLang="zh-CN" sz="1200" b="0" i="0" kern="1200" dirty="0">
                <a:solidFill>
                  <a:schemeClr val="tx1"/>
                </a:solidFill>
                <a:effectLst/>
                <a:latin typeface="+mn-lt"/>
                <a:ea typeface="+mn-ea"/>
                <a:cs typeface="+mn-cs"/>
              </a:rPr>
              <a:t>最终结果必须长什么样，包含什么，怎样判断可继续使用？</a:t>
            </a:r>
          </a:p>
          <a:p>
            <a:pPr fontAlgn="auto"/>
            <a:r>
              <a:rPr lang="zh-CN" altLang="zh-CN" sz="1200" b="0" i="0" kern="1200" dirty="0">
                <a:solidFill>
                  <a:schemeClr val="tx1"/>
                </a:solidFill>
                <a:effectLst/>
                <a:latin typeface="+mn-lt"/>
                <a:ea typeface="+mn-ea"/>
                <a:cs typeface="+mn-cs"/>
              </a:rPr>
              <a:t>示例</a:t>
            </a:r>
          </a:p>
          <a:p>
            <a:r>
              <a:rPr lang="zh-CN" altLang="zh-CN" sz="1200" b="0" i="0" kern="1200" dirty="0">
                <a:solidFill>
                  <a:schemeClr val="tx1"/>
                </a:solidFill>
                <a:effectLst/>
                <a:latin typeface="+mn-lt"/>
                <a:ea typeface="+mn-ea"/>
                <a:cs typeface="+mn-cs"/>
              </a:rPr>
              <a:t>请按以下结构输出：</a:t>
            </a:r>
          </a:p>
          <a:p>
            <a:endParaRPr lang="zh-CN"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1. 客户核心诉求</a:t>
            </a:r>
          </a:p>
          <a:p>
            <a:r>
              <a:rPr lang="zh-CN" altLang="zh-CN" sz="1200" b="0" i="0" kern="1200" dirty="0">
                <a:solidFill>
                  <a:schemeClr val="tx1"/>
                </a:solidFill>
                <a:effectLst/>
                <a:latin typeface="+mn-lt"/>
                <a:ea typeface="+mn-ea"/>
                <a:cs typeface="+mn-cs"/>
              </a:rPr>
              <a:t>   - 诉求：</a:t>
            </a:r>
          </a:p>
          <a:p>
            <a:r>
              <a:rPr lang="zh-CN" altLang="zh-CN" sz="1200" b="0" i="0" kern="1200" dirty="0">
                <a:solidFill>
                  <a:schemeClr val="tx1"/>
                </a:solidFill>
                <a:effectLst/>
                <a:latin typeface="+mn-lt"/>
                <a:ea typeface="+mn-ea"/>
                <a:cs typeface="+mn-cs"/>
              </a:rPr>
              <a:t>   - 证据原话：</a:t>
            </a:r>
          </a:p>
          <a:p>
            <a:r>
              <a:rPr lang="zh-CN" altLang="zh-CN" sz="1200" b="0" i="0" kern="1200" dirty="0">
                <a:solidFill>
                  <a:schemeClr val="tx1"/>
                </a:solidFill>
                <a:effectLst/>
                <a:latin typeface="+mn-lt"/>
                <a:ea typeface="+mn-ea"/>
                <a:cs typeface="+mn-cs"/>
              </a:rPr>
              <a:t>   - 状态：明确 / 待确认</a:t>
            </a:r>
          </a:p>
          <a:p>
            <a:endParaRPr lang="zh-CN"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2. 客户异议</a:t>
            </a:r>
          </a:p>
          <a:p>
            <a:r>
              <a:rPr lang="zh-CN" altLang="zh-CN" sz="1200" b="0" i="0" kern="1200" dirty="0">
                <a:solidFill>
                  <a:schemeClr val="tx1"/>
                </a:solidFill>
                <a:effectLst/>
                <a:latin typeface="+mn-lt"/>
                <a:ea typeface="+mn-ea"/>
                <a:cs typeface="+mn-cs"/>
              </a:rPr>
              <a:t>   - 异议：</a:t>
            </a:r>
          </a:p>
          <a:p>
            <a:r>
              <a:rPr lang="zh-CN" altLang="zh-CN" sz="1200" b="0" i="0" kern="1200" dirty="0">
                <a:solidFill>
                  <a:schemeClr val="tx1"/>
                </a:solidFill>
                <a:effectLst/>
                <a:latin typeface="+mn-lt"/>
                <a:ea typeface="+mn-ea"/>
                <a:cs typeface="+mn-cs"/>
              </a:rPr>
              <a:t>   - 针对对象：</a:t>
            </a:r>
          </a:p>
          <a:p>
            <a:r>
              <a:rPr lang="zh-CN" altLang="zh-CN" sz="1200" b="0" i="0" kern="1200" dirty="0">
                <a:solidFill>
                  <a:schemeClr val="tx1"/>
                </a:solidFill>
                <a:effectLst/>
                <a:latin typeface="+mn-lt"/>
                <a:ea typeface="+mn-ea"/>
                <a:cs typeface="+mn-cs"/>
              </a:rPr>
              <a:t>   - 证据原话：</a:t>
            </a:r>
          </a:p>
          <a:p>
            <a:endParaRPr lang="zh-CN"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3. 下一步行动</a:t>
            </a:r>
          </a:p>
          <a:p>
            <a:r>
              <a:rPr lang="zh-CN" altLang="zh-CN" sz="1200" b="0" i="0" kern="1200" dirty="0">
                <a:solidFill>
                  <a:schemeClr val="tx1"/>
                </a:solidFill>
                <a:effectLst/>
                <a:latin typeface="+mn-lt"/>
                <a:ea typeface="+mn-ea"/>
                <a:cs typeface="+mn-cs"/>
              </a:rPr>
              <a:t>   - 事项：</a:t>
            </a:r>
          </a:p>
          <a:p>
            <a:r>
              <a:rPr lang="zh-CN" altLang="zh-CN" sz="1200" b="0" i="0" kern="1200" dirty="0">
                <a:solidFill>
                  <a:schemeClr val="tx1"/>
                </a:solidFill>
                <a:effectLst/>
                <a:latin typeface="+mn-lt"/>
                <a:ea typeface="+mn-ea"/>
                <a:cs typeface="+mn-cs"/>
              </a:rPr>
              <a:t>   - 责任人：</a:t>
            </a:r>
          </a:p>
          <a:p>
            <a:r>
              <a:rPr lang="zh-CN" altLang="zh-CN" sz="1200" b="0" i="0" kern="1200" dirty="0">
                <a:solidFill>
                  <a:schemeClr val="tx1"/>
                </a:solidFill>
                <a:effectLst/>
                <a:latin typeface="+mn-lt"/>
                <a:ea typeface="+mn-ea"/>
                <a:cs typeface="+mn-cs"/>
              </a:rPr>
              <a:t>   - 截止时间：</a:t>
            </a:r>
          </a:p>
          <a:p>
            <a:r>
              <a:rPr lang="zh-CN" altLang="zh-CN" sz="1200" b="0" i="0" kern="1200" dirty="0">
                <a:solidFill>
                  <a:schemeClr val="tx1"/>
                </a:solidFill>
                <a:effectLst/>
                <a:latin typeface="+mn-lt"/>
                <a:ea typeface="+mn-ea"/>
                <a:cs typeface="+mn-cs"/>
              </a:rPr>
              <a:t>   - 状态：已确认 / 待确认</a:t>
            </a:r>
          </a:p>
          <a:p>
            <a:pPr fontAlgn="auto"/>
            <a:r>
              <a:rPr lang="zh-CN" altLang="zh-CN" sz="1200" b="0" i="0" kern="1200" dirty="0">
                <a:solidFill>
                  <a:schemeClr val="tx1"/>
                </a:solidFill>
                <a:effectLst/>
                <a:latin typeface="+mn-lt"/>
                <a:ea typeface="+mn-ea"/>
                <a:cs typeface="+mn-cs"/>
              </a:rPr>
              <a:t>作用</a:t>
            </a:r>
          </a:p>
          <a:p>
            <a:pPr lvl="0"/>
            <a:r>
              <a:rPr lang="zh-CN" altLang="zh-CN" sz="1200" b="0" i="0" kern="1200" dirty="0">
                <a:solidFill>
                  <a:schemeClr val="tx1"/>
                </a:solidFill>
                <a:effectLst/>
                <a:latin typeface="+mn-lt"/>
                <a:ea typeface="+mn-ea"/>
                <a:cs typeface="+mn-cs"/>
              </a:rPr>
              <a:t>降低结果结构波动；</a:t>
            </a:r>
          </a:p>
          <a:p>
            <a:pPr lvl="0"/>
            <a:r>
              <a:rPr lang="zh-CN" altLang="zh-CN" sz="1200" b="0" i="0" kern="1200" dirty="0">
                <a:solidFill>
                  <a:schemeClr val="tx1"/>
                </a:solidFill>
                <a:effectLst/>
                <a:latin typeface="+mn-lt"/>
                <a:ea typeface="+mn-ea"/>
                <a:cs typeface="+mn-cs"/>
              </a:rPr>
              <a:t>方便人工检查；</a:t>
            </a:r>
          </a:p>
          <a:p>
            <a:pPr lvl="0"/>
            <a:r>
              <a:rPr lang="zh-CN" altLang="zh-CN" sz="1200" b="0" i="0" kern="1200" dirty="0">
                <a:solidFill>
                  <a:schemeClr val="tx1"/>
                </a:solidFill>
                <a:effectLst/>
                <a:latin typeface="+mn-lt"/>
                <a:ea typeface="+mn-ea"/>
                <a:cs typeface="+mn-cs"/>
              </a:rPr>
              <a:t>为后续写入系统或继续处理打基础。</a:t>
            </a:r>
          </a:p>
          <a:p>
            <a:pPr fontAlgn="auto"/>
            <a:r>
              <a:rPr lang="zh-CN" altLang="zh-CN" sz="1200" b="0" i="0" kern="1200" dirty="0">
                <a:solidFill>
                  <a:schemeClr val="tx1"/>
                </a:solidFill>
                <a:effectLst/>
                <a:latin typeface="+mn-lt"/>
                <a:ea typeface="+mn-ea"/>
                <a:cs typeface="+mn-cs"/>
              </a:rPr>
              <a:t>常见错误</a:t>
            </a:r>
          </a:p>
          <a:p>
            <a:pPr lvl="0"/>
            <a:r>
              <a:rPr lang="zh-CN" altLang="zh-CN" sz="1200" b="0" i="0" kern="1200" dirty="0">
                <a:solidFill>
                  <a:schemeClr val="tx1"/>
                </a:solidFill>
                <a:effectLst/>
                <a:latin typeface="+mn-lt"/>
                <a:ea typeface="+mn-ea"/>
                <a:cs typeface="+mn-cs"/>
              </a:rPr>
              <a:t>只规定Markdown或JSON，没有规定字段含义；</a:t>
            </a:r>
          </a:p>
          <a:p>
            <a:pPr lvl="0"/>
            <a:r>
              <a:rPr lang="zh-CN" altLang="zh-CN" sz="1200" b="0" i="0" kern="1200" dirty="0">
                <a:solidFill>
                  <a:schemeClr val="tx1"/>
                </a:solidFill>
                <a:effectLst/>
                <a:latin typeface="+mn-lt"/>
                <a:ea typeface="+mn-ea"/>
                <a:cs typeface="+mn-cs"/>
              </a:rPr>
              <a:t>字段很多，但没有业务用途；</a:t>
            </a:r>
          </a:p>
          <a:p>
            <a:pPr lvl="0"/>
            <a:r>
              <a:rPr lang="zh-CN" altLang="zh-CN" sz="1200" b="0" i="0" kern="1200" dirty="0">
                <a:solidFill>
                  <a:schemeClr val="tx1"/>
                </a:solidFill>
                <a:effectLst/>
                <a:latin typeface="+mn-lt"/>
                <a:ea typeface="+mn-ea"/>
                <a:cs typeface="+mn-cs"/>
              </a:rPr>
              <a:t>强行要求JSON，却没有后续系统解析需求；</a:t>
            </a:r>
          </a:p>
          <a:p>
            <a:pPr lvl="0"/>
            <a:r>
              <a:rPr lang="zh-CN" altLang="zh-CN" sz="1200" b="0" i="0" kern="1200" dirty="0">
                <a:solidFill>
                  <a:schemeClr val="tx1"/>
                </a:solidFill>
                <a:effectLst/>
                <a:latin typeface="+mn-lt"/>
                <a:ea typeface="+mn-ea"/>
                <a:cs typeface="+mn-cs"/>
              </a:rPr>
              <a:t>规定格式却不说明内容准确性要求。</a:t>
            </a:r>
          </a:p>
          <a:p>
            <a:pPr fontAlgn="auto"/>
            <a:r>
              <a:rPr lang="zh-CN" altLang="zh-CN" sz="1200" b="0" i="0" kern="1200" dirty="0">
                <a:solidFill>
                  <a:schemeClr val="tx1"/>
                </a:solidFill>
                <a:effectLst/>
                <a:latin typeface="+mn-lt"/>
                <a:ea typeface="+mn-ea"/>
                <a:cs typeface="+mn-cs"/>
              </a:rPr>
              <a:t>教师提醒</a:t>
            </a:r>
          </a:p>
          <a:p>
            <a:r>
              <a:rPr lang="zh-CN" altLang="zh-CN" sz="1200" b="0" i="0" kern="1200" dirty="0">
                <a:solidFill>
                  <a:schemeClr val="tx1"/>
                </a:solidFill>
                <a:effectLst/>
                <a:latin typeface="+mn-lt"/>
                <a:ea typeface="+mn-ea"/>
                <a:cs typeface="+mn-cs"/>
              </a:rPr>
              <a:t>格式不是越技术化越专业。选择表格、列表、Markdown或JSON，要看结果的后续使用方式。</a:t>
            </a:r>
          </a:p>
          <a:p>
            <a:pPr fontAlgn="auto"/>
            <a:r>
              <a:rPr lang="zh-CN" altLang="zh-CN" sz="1200" b="0" i="0" kern="1200" dirty="0">
                <a:solidFill>
                  <a:schemeClr val="tx1"/>
                </a:solidFill>
                <a:effectLst/>
                <a:latin typeface="+mn-lt"/>
                <a:ea typeface="+mn-ea"/>
                <a:cs typeface="+mn-cs"/>
              </a:rPr>
              <a:t>4.6 示例与迭代要求</a:t>
            </a:r>
          </a:p>
          <a:p>
            <a:pPr fontAlgn="auto"/>
            <a:r>
              <a:rPr lang="zh-CN" altLang="zh-CN" sz="1200" b="0" i="0" kern="1200" dirty="0">
                <a:solidFill>
                  <a:schemeClr val="tx1"/>
                </a:solidFill>
                <a:effectLst/>
                <a:latin typeface="+mn-lt"/>
                <a:ea typeface="+mn-ea"/>
                <a:cs typeface="+mn-cs"/>
              </a:rPr>
              <a:t>回答的问题</a:t>
            </a:r>
          </a:p>
          <a:p>
            <a:r>
              <a:rPr lang="zh-CN" altLang="zh-CN" sz="1200" b="0" i="0" kern="1200" dirty="0">
                <a:solidFill>
                  <a:schemeClr val="tx1"/>
                </a:solidFill>
                <a:effectLst/>
                <a:latin typeface="+mn-lt"/>
                <a:ea typeface="+mn-ea"/>
                <a:cs typeface="+mn-cs"/>
              </a:rPr>
              <a:t>模型需要通过什么样例理解边界？输出前后是否需要检查或补问？</a:t>
            </a:r>
          </a:p>
          <a:p>
            <a:pPr fontAlgn="auto"/>
            <a:r>
              <a:rPr lang="zh-CN" altLang="zh-CN" sz="1200" b="0" i="0" kern="1200" dirty="0">
                <a:solidFill>
                  <a:schemeClr val="tx1"/>
                </a:solidFill>
                <a:effectLst/>
                <a:latin typeface="+mn-lt"/>
                <a:ea typeface="+mn-ea"/>
                <a:cs typeface="+mn-cs"/>
              </a:rPr>
              <a:t>可以包含的内容</a:t>
            </a:r>
          </a:p>
          <a:p>
            <a:pPr lvl="0"/>
            <a:r>
              <a:rPr lang="zh-CN" altLang="zh-CN" sz="1200" b="0" i="0" kern="1200" dirty="0">
                <a:solidFill>
                  <a:schemeClr val="tx1"/>
                </a:solidFill>
                <a:effectLst/>
                <a:latin typeface="+mn-lt"/>
                <a:ea typeface="+mn-ea"/>
                <a:cs typeface="+mn-cs"/>
              </a:rPr>
              <a:t>一条合格输出示例；</a:t>
            </a:r>
          </a:p>
          <a:p>
            <a:pPr lvl="0"/>
            <a:r>
              <a:rPr lang="zh-CN" altLang="zh-CN" sz="1200" b="0" i="0" kern="1200" dirty="0">
                <a:solidFill>
                  <a:schemeClr val="tx1"/>
                </a:solidFill>
                <a:effectLst/>
                <a:latin typeface="+mn-lt"/>
                <a:ea typeface="+mn-ea"/>
                <a:cs typeface="+mn-cs"/>
              </a:rPr>
              <a:t>一条不可接受的反例；</a:t>
            </a:r>
          </a:p>
          <a:p>
            <a:pPr lvl="0"/>
            <a:r>
              <a:rPr lang="zh-CN" altLang="zh-CN" sz="1200" b="0" i="0" kern="1200" dirty="0">
                <a:solidFill>
                  <a:schemeClr val="tx1"/>
                </a:solidFill>
                <a:effectLst/>
                <a:latin typeface="+mn-lt"/>
                <a:ea typeface="+mn-ea"/>
                <a:cs typeface="+mn-cs"/>
              </a:rPr>
              <a:t>字段映射示例；</a:t>
            </a:r>
          </a:p>
          <a:p>
            <a:pPr lvl="0"/>
            <a:r>
              <a:rPr lang="zh-CN" altLang="zh-CN" sz="1200" b="0" i="0" kern="1200" dirty="0">
                <a:solidFill>
                  <a:schemeClr val="tx1"/>
                </a:solidFill>
                <a:effectLst/>
                <a:latin typeface="+mn-lt"/>
                <a:ea typeface="+mn-ea"/>
                <a:cs typeface="+mn-cs"/>
              </a:rPr>
              <a:t>信息不足时先列出待确认项；</a:t>
            </a:r>
          </a:p>
          <a:p>
            <a:pPr lvl="0"/>
            <a:r>
              <a:rPr lang="zh-CN" altLang="zh-CN" sz="1200" b="0" i="0" kern="1200" dirty="0">
                <a:solidFill>
                  <a:schemeClr val="tx1"/>
                </a:solidFill>
                <a:effectLst/>
                <a:latin typeface="+mn-lt"/>
                <a:ea typeface="+mn-ea"/>
                <a:cs typeface="+mn-cs"/>
              </a:rPr>
              <a:t>输出前检查事实是否有依据；</a:t>
            </a:r>
          </a:p>
          <a:p>
            <a:pPr lvl="0"/>
            <a:r>
              <a:rPr lang="zh-CN" altLang="zh-CN" sz="1200" b="0" i="0" kern="1200" dirty="0">
                <a:solidFill>
                  <a:schemeClr val="tx1"/>
                </a:solidFill>
                <a:effectLst/>
                <a:latin typeface="+mn-lt"/>
                <a:ea typeface="+mn-ea"/>
                <a:cs typeface="+mn-cs"/>
              </a:rPr>
              <a:t>对高风险任务先返回草稿供人工确认。</a:t>
            </a:r>
          </a:p>
          <a:p>
            <a:pPr fontAlgn="auto"/>
            <a:r>
              <a:rPr lang="zh-CN" altLang="zh-CN" sz="1200" b="0" i="0" kern="1200" dirty="0">
                <a:solidFill>
                  <a:schemeClr val="tx1"/>
                </a:solidFill>
                <a:effectLst/>
                <a:latin typeface="+mn-lt"/>
                <a:ea typeface="+mn-ea"/>
                <a:cs typeface="+mn-cs"/>
              </a:rPr>
              <a:t>销售案例的轻量示例</a:t>
            </a:r>
          </a:p>
          <a:p>
            <a:r>
              <a:rPr lang="zh-CN" altLang="zh-CN" sz="1200" b="0" i="0" kern="1200" dirty="0">
                <a:solidFill>
                  <a:schemeClr val="tx1"/>
                </a:solidFill>
                <a:effectLst/>
                <a:latin typeface="+mn-lt"/>
                <a:ea typeface="+mn-ea"/>
                <a:cs typeface="+mn-cs"/>
              </a:rPr>
              <a:t>如果转写中只出现“后续再约技术同学聊一下”，但没有责任人和时间，</a:t>
            </a:r>
          </a:p>
          <a:p>
            <a:r>
              <a:rPr lang="zh-CN" altLang="zh-CN" sz="1200" b="0" i="0" kern="1200" dirty="0">
                <a:solidFill>
                  <a:schemeClr val="tx1"/>
                </a:solidFill>
                <a:effectLst/>
                <a:latin typeface="+mn-lt"/>
                <a:ea typeface="+mn-ea"/>
                <a:cs typeface="+mn-cs"/>
              </a:rPr>
              <a:t>应输出：</a:t>
            </a:r>
          </a:p>
          <a:p>
            <a:r>
              <a:rPr lang="zh-CN" altLang="zh-CN" sz="1200" b="0" i="0" kern="1200" dirty="0">
                <a:solidFill>
                  <a:schemeClr val="tx1"/>
                </a:solidFill>
                <a:effectLst/>
                <a:latin typeface="+mn-lt"/>
                <a:ea typeface="+mn-ea"/>
                <a:cs typeface="+mn-cs"/>
              </a:rPr>
              <a:t>事项：安排技术沟通</a:t>
            </a:r>
          </a:p>
          <a:p>
            <a:r>
              <a:rPr lang="zh-CN" altLang="zh-CN" sz="1200" b="0" i="0" kern="1200" dirty="0">
                <a:solidFill>
                  <a:schemeClr val="tx1"/>
                </a:solidFill>
                <a:effectLst/>
                <a:latin typeface="+mn-lt"/>
                <a:ea typeface="+mn-ea"/>
                <a:cs typeface="+mn-cs"/>
              </a:rPr>
              <a:t>责任人：待确认</a:t>
            </a:r>
          </a:p>
          <a:p>
            <a:r>
              <a:rPr lang="zh-CN" altLang="zh-CN" sz="1200" b="0" i="0" kern="1200" dirty="0">
                <a:solidFill>
                  <a:schemeClr val="tx1"/>
                </a:solidFill>
                <a:effectLst/>
                <a:latin typeface="+mn-lt"/>
                <a:ea typeface="+mn-ea"/>
                <a:cs typeface="+mn-cs"/>
              </a:rPr>
              <a:t>截止时间：待确认</a:t>
            </a:r>
          </a:p>
          <a:p>
            <a:pPr fontAlgn="auto"/>
            <a:r>
              <a:rPr lang="zh-CN" altLang="zh-CN" sz="1200" b="0" i="0" kern="1200" dirty="0">
                <a:solidFill>
                  <a:schemeClr val="tx1"/>
                </a:solidFill>
                <a:effectLst/>
                <a:latin typeface="+mn-lt"/>
                <a:ea typeface="+mn-ea"/>
                <a:cs typeface="+mn-cs"/>
              </a:rPr>
              <a:t>常见错误</a:t>
            </a:r>
          </a:p>
          <a:p>
            <a:pPr lvl="0"/>
            <a:r>
              <a:rPr lang="zh-CN" altLang="zh-CN" sz="1200" b="0" i="0" kern="1200" dirty="0">
                <a:solidFill>
                  <a:schemeClr val="tx1"/>
                </a:solidFill>
                <a:effectLst/>
                <a:latin typeface="+mn-lt"/>
                <a:ea typeface="+mn-ea"/>
                <a:cs typeface="+mn-cs"/>
              </a:rPr>
              <a:t>示例与规则冲突；</a:t>
            </a:r>
          </a:p>
          <a:p>
            <a:pPr lvl="0"/>
            <a:r>
              <a:rPr lang="zh-CN" altLang="zh-CN" sz="1200" b="0" i="0" kern="1200" dirty="0">
                <a:solidFill>
                  <a:schemeClr val="tx1"/>
                </a:solidFill>
                <a:effectLst/>
                <a:latin typeface="+mn-lt"/>
                <a:ea typeface="+mn-ea"/>
                <a:cs typeface="+mn-cs"/>
              </a:rPr>
              <a:t>给了一个例子后，误以为模型会自动覆盖所有边界；</a:t>
            </a:r>
          </a:p>
          <a:p>
            <a:pPr lvl="0"/>
            <a:r>
              <a:rPr lang="zh-CN" altLang="zh-CN" sz="1200" b="0" i="0" kern="1200" dirty="0">
                <a:solidFill>
                  <a:schemeClr val="tx1"/>
                </a:solidFill>
                <a:effectLst/>
                <a:latin typeface="+mn-lt"/>
                <a:ea typeface="+mn-ea"/>
                <a:cs typeface="+mn-cs"/>
              </a:rPr>
              <a:t>要求模型无限自我反思、保证正确；</a:t>
            </a:r>
          </a:p>
          <a:p>
            <a:pPr lvl="0"/>
            <a:r>
              <a:rPr lang="zh-CN" altLang="zh-CN" sz="1200" b="0" i="0" kern="1200" dirty="0">
                <a:solidFill>
                  <a:schemeClr val="tx1"/>
                </a:solidFill>
                <a:effectLst/>
                <a:latin typeface="+mn-lt"/>
                <a:ea typeface="+mn-ea"/>
                <a:cs typeface="+mn-cs"/>
              </a:rPr>
              <a:t>把多个独立任务塞进“迭代要求”。</a:t>
            </a:r>
          </a:p>
          <a:p>
            <a:pPr fontAlgn="auto"/>
            <a:r>
              <a:rPr lang="zh-CN" altLang="zh-CN" sz="1200" b="0" i="0" kern="1200" dirty="0">
                <a:solidFill>
                  <a:schemeClr val="tx1"/>
                </a:solidFill>
                <a:effectLst/>
                <a:latin typeface="+mn-lt"/>
                <a:ea typeface="+mn-ea"/>
                <a:cs typeface="+mn-cs"/>
              </a:rPr>
              <a:t>教师提醒</a:t>
            </a:r>
          </a:p>
          <a:p>
            <a:r>
              <a:rPr lang="zh-CN" altLang="zh-CN" sz="1200" b="0" i="0" kern="1200" dirty="0">
                <a:solidFill>
                  <a:schemeClr val="tx1"/>
                </a:solidFill>
                <a:effectLst/>
                <a:latin typeface="+mn-lt"/>
                <a:ea typeface="+mn-ea"/>
                <a:cs typeface="+mn-cs"/>
              </a:rPr>
              <a:t>简单任务可以不提供示例。示例主要用于容易歧义、格式严格或边界难以只用规则说明的任务。</a:t>
            </a:r>
          </a:p>
          <a:p>
            <a:pPr fontAlgn="auto"/>
            <a:endParaRPr lang="zh-CN" altLang="zh-CN"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08444F1-57CE-F1E7-7A8F-24D8D6FCD36F}"/>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1712780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第30页｜短休息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59205-B6AF-23D8-282E-739860622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C82F52-F361-3993-306B-A79214913F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D1D312-2FC7-5DEA-7AF0-C7BF105D2B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44EEEC-853C-E70B-5182-14AF23A1CFC6}"/>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9338209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b="0" i="0" kern="1200" dirty="0">
                <a:solidFill>
                  <a:schemeClr val="tx1"/>
                </a:solidFill>
                <a:effectLst/>
                <a:latin typeface="+mn-lt"/>
                <a:ea typeface="+mn-ea"/>
                <a:cs typeface="+mn-cs"/>
              </a:rPr>
              <a:t>如果产品首页只放一个大文本框，然后要求销售把这段Prompt补完整，产品解决了什么问题？</a:t>
            </a:r>
          </a:p>
          <a:p>
            <a:pPr fontAlgn="auto"/>
            <a:r>
              <a:rPr lang="zh-CN" altLang="zh-CN" sz="1200" b="0" i="0" kern="1200" dirty="0">
                <a:solidFill>
                  <a:schemeClr val="tx1"/>
                </a:solidFill>
                <a:effectLst/>
                <a:latin typeface="+mn-lt"/>
                <a:ea typeface="+mn-ea"/>
                <a:cs typeface="+mn-cs"/>
              </a:rPr>
              <a:t>用户仍需承担的成本</a:t>
            </a:r>
          </a:p>
          <a:p>
            <a:pPr lvl="0"/>
            <a:r>
              <a:rPr lang="zh-CN" altLang="zh-CN" sz="1200" b="0" i="0" kern="1200" dirty="0">
                <a:solidFill>
                  <a:schemeClr val="tx1"/>
                </a:solidFill>
                <a:effectLst/>
                <a:latin typeface="+mn-lt"/>
                <a:ea typeface="+mn-ea"/>
                <a:cs typeface="+mn-cs"/>
              </a:rPr>
              <a:t>理解专业框架；</a:t>
            </a:r>
          </a:p>
          <a:p>
            <a:pPr lvl="0"/>
            <a:r>
              <a:rPr lang="zh-CN" altLang="zh-CN" sz="1200" b="0" i="0" kern="1200" dirty="0">
                <a:solidFill>
                  <a:schemeClr val="tx1"/>
                </a:solidFill>
                <a:effectLst/>
                <a:latin typeface="+mn-lt"/>
                <a:ea typeface="+mn-ea"/>
                <a:cs typeface="+mn-cs"/>
              </a:rPr>
              <a:t>判断需要哪些业务规则；</a:t>
            </a:r>
          </a:p>
          <a:p>
            <a:pPr lvl="0"/>
            <a:r>
              <a:rPr lang="zh-CN" altLang="zh-CN" sz="1200" b="0" i="0" kern="1200" dirty="0">
                <a:solidFill>
                  <a:schemeClr val="tx1"/>
                </a:solidFill>
                <a:effectLst/>
                <a:latin typeface="+mn-lt"/>
                <a:ea typeface="+mn-ea"/>
                <a:cs typeface="+mn-cs"/>
              </a:rPr>
              <a:t>寻找并复制多类资料；</a:t>
            </a:r>
          </a:p>
          <a:p>
            <a:pPr lvl="0"/>
            <a:r>
              <a:rPr lang="zh-CN" altLang="zh-CN" sz="1200" b="0" i="0" kern="1200" dirty="0">
                <a:solidFill>
                  <a:schemeClr val="tx1"/>
                </a:solidFill>
                <a:effectLst/>
                <a:latin typeface="+mn-lt"/>
                <a:ea typeface="+mn-ea"/>
                <a:cs typeface="+mn-cs"/>
              </a:rPr>
              <a:t>保证字段名称正确；</a:t>
            </a:r>
          </a:p>
          <a:p>
            <a:pPr lvl="0"/>
            <a:r>
              <a:rPr lang="zh-CN" altLang="zh-CN" sz="1200" b="0" i="0" kern="1200" dirty="0">
                <a:solidFill>
                  <a:schemeClr val="tx1"/>
                </a:solidFill>
                <a:effectLst/>
                <a:latin typeface="+mn-lt"/>
                <a:ea typeface="+mn-ea"/>
                <a:cs typeface="+mn-cs"/>
              </a:rPr>
              <a:t>每次重复填写固定内容；</a:t>
            </a:r>
          </a:p>
          <a:p>
            <a:pPr lvl="0"/>
            <a:r>
              <a:rPr lang="zh-CN" altLang="zh-CN" sz="1200" b="0" i="0" kern="1200" dirty="0">
                <a:solidFill>
                  <a:schemeClr val="tx1"/>
                </a:solidFill>
                <a:effectLst/>
                <a:latin typeface="+mn-lt"/>
                <a:ea typeface="+mn-ea"/>
                <a:cs typeface="+mn-cs"/>
              </a:rPr>
              <a:t>自己发现缺失和冲突。</a:t>
            </a:r>
          </a:p>
          <a:p>
            <a:pPr fontAlgn="auto"/>
            <a:r>
              <a:rPr lang="zh-CN" altLang="zh-CN" sz="1200" b="0" i="0" kern="1200" dirty="0">
                <a:solidFill>
                  <a:schemeClr val="tx1"/>
                </a:solidFill>
                <a:effectLst/>
                <a:latin typeface="+mn-lt"/>
                <a:ea typeface="+mn-ea"/>
                <a:cs typeface="+mn-cs"/>
              </a:rPr>
              <a:t>关键结论</a:t>
            </a:r>
          </a:p>
          <a:p>
            <a:r>
              <a:rPr lang="zh-CN" altLang="zh-CN" sz="1200" b="0" i="0" kern="1200" dirty="0">
                <a:solidFill>
                  <a:schemeClr val="tx1"/>
                </a:solidFill>
                <a:effectLst/>
                <a:latin typeface="+mn-lt"/>
                <a:ea typeface="+mn-ea"/>
                <a:cs typeface="+mn-cs"/>
              </a:rPr>
              <a:t>好Prompt是产品内部能力的原材料，不应该天然成为用户操作说明书。</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r>
              <a:rPr lang="zh-CN" altLang="zh-CN" sz="1200" b="0" i="0" kern="1200" dirty="0">
                <a:solidFill>
                  <a:schemeClr val="tx1"/>
                </a:solidFill>
                <a:effectLst/>
                <a:latin typeface="+mn-lt"/>
                <a:ea typeface="+mn-ea"/>
                <a:cs typeface="+mn-cs"/>
              </a:rPr>
              <a:t>4.2 System Prompt与User Prompt的产品层分工（74分30秒—76分30秒）</a:t>
            </a:r>
          </a:p>
          <a:p>
            <a:pPr fontAlgn="auto"/>
            <a:r>
              <a:rPr lang="zh-CN" altLang="zh-CN" sz="1200" b="0" i="0" kern="1200" dirty="0">
                <a:solidFill>
                  <a:schemeClr val="tx1"/>
                </a:solidFill>
                <a:effectLst/>
                <a:latin typeface="+mn-lt"/>
                <a:ea typeface="+mn-ea"/>
                <a:cs typeface="+mn-cs"/>
              </a:rPr>
              <a:t>简化定义</a:t>
            </a:r>
          </a:p>
          <a:p>
            <a:pPr lvl="0"/>
            <a:r>
              <a:rPr lang="zh-CN" altLang="zh-CN" sz="1200" b="1" i="0" kern="1200" dirty="0">
                <a:solidFill>
                  <a:schemeClr val="tx1"/>
                </a:solidFill>
                <a:effectLst/>
                <a:latin typeface="+mn-lt"/>
                <a:ea typeface="+mn-ea"/>
                <a:cs typeface="+mn-cs"/>
              </a:rPr>
              <a:t>产品内部指令</a:t>
            </a:r>
            <a:r>
              <a:rPr lang="zh-CN" altLang="zh-CN" sz="1200" b="0" i="0" kern="1200" dirty="0">
                <a:solidFill>
                  <a:schemeClr val="tx1"/>
                </a:solidFill>
                <a:effectLst/>
                <a:latin typeface="+mn-lt"/>
                <a:ea typeface="+mn-ea"/>
                <a:cs typeface="+mn-cs"/>
              </a:rPr>
              <a:t>：产品长期提供的角色、任务边界、业务规则和输出要求；</a:t>
            </a:r>
          </a:p>
          <a:p>
            <a:pPr lvl="0"/>
            <a:r>
              <a:rPr lang="zh-CN" altLang="zh-CN" sz="1200" b="1" i="0" kern="1200" dirty="0">
                <a:solidFill>
                  <a:schemeClr val="tx1"/>
                </a:solidFill>
                <a:effectLst/>
                <a:latin typeface="+mn-lt"/>
                <a:ea typeface="+mn-ea"/>
                <a:cs typeface="+mn-cs"/>
              </a:rPr>
              <a:t>用户本次输入</a:t>
            </a:r>
            <a:r>
              <a:rPr lang="zh-CN" altLang="zh-CN" sz="1200" b="0" i="0" kern="1200" dirty="0">
                <a:solidFill>
                  <a:schemeClr val="tx1"/>
                </a:solidFill>
                <a:effectLst/>
                <a:latin typeface="+mn-lt"/>
                <a:ea typeface="+mn-ea"/>
                <a:cs typeface="+mn-cs"/>
              </a:rPr>
              <a:t>：本次任务中特有的目标、材料、选择和补充说明。</a:t>
            </a:r>
          </a:p>
          <a:p>
            <a:r>
              <a:rPr lang="zh-CN" altLang="zh-CN" sz="1200" b="0" i="0" kern="1200" dirty="0">
                <a:solidFill>
                  <a:schemeClr val="tx1"/>
                </a:solidFill>
                <a:effectLst/>
                <a:latin typeface="+mn-lt"/>
                <a:ea typeface="+mn-ea"/>
                <a:cs typeface="+mn-cs"/>
              </a:rPr>
              <a:t>为了连接行业术语，可以说明：产品内部指令常通过System Prompt或其他内部消息、模板和流程承载；用户本次输入常进入User Prompt。但真实API还可能存在developer message、工具结果等角色，本课不展开协议。</a:t>
            </a:r>
          </a:p>
          <a:p>
            <a:pPr fontAlgn="auto"/>
            <a:r>
              <a:rPr lang="zh-CN" altLang="zh-CN" sz="1200" b="0" i="0" kern="1200" dirty="0">
                <a:solidFill>
                  <a:schemeClr val="tx1"/>
                </a:solidFill>
                <a:effectLst/>
                <a:latin typeface="+mn-lt"/>
                <a:ea typeface="+mn-ea"/>
                <a:cs typeface="+mn-cs"/>
              </a:rPr>
              <a:t>核心关系</a:t>
            </a:r>
          </a:p>
          <a:p>
            <a:r>
              <a:rPr lang="zh-CN" altLang="zh-CN" sz="1200" b="0" i="0" kern="1200" dirty="0">
                <a:solidFill>
                  <a:schemeClr val="tx1"/>
                </a:solidFill>
                <a:effectLst/>
                <a:latin typeface="+mn-lt"/>
                <a:ea typeface="+mn-ea"/>
                <a:cs typeface="+mn-cs"/>
              </a:rPr>
              <a:t>产品内部定义越完整、数据连接越充分，用户通常越不需要理解和重复输入完整Prompt。</a:t>
            </a:r>
          </a:p>
          <a:p>
            <a:pPr fontAlgn="auto"/>
            <a:r>
              <a:rPr lang="zh-CN" altLang="zh-CN" sz="1200" b="0" i="0" kern="1200" dirty="0">
                <a:solidFill>
                  <a:schemeClr val="tx1"/>
                </a:solidFill>
                <a:effectLst/>
                <a:latin typeface="+mn-lt"/>
                <a:ea typeface="+mn-ea"/>
                <a:cs typeface="+mn-cs"/>
              </a:rPr>
              <a:t>不应讲成绝对规则</a:t>
            </a:r>
          </a:p>
          <a:p>
            <a:pPr lvl="0"/>
            <a:r>
              <a:rPr lang="zh-CN" altLang="zh-CN" sz="1200" b="0" i="0" kern="1200" dirty="0">
                <a:solidFill>
                  <a:schemeClr val="tx1"/>
                </a:solidFill>
                <a:effectLst/>
                <a:latin typeface="+mn-lt"/>
                <a:ea typeface="+mn-ea"/>
                <a:cs typeface="+mn-cs"/>
              </a:rPr>
              <a:t>不是所有固定信息都只能写在System Prompt中；</a:t>
            </a:r>
          </a:p>
          <a:p>
            <a:pPr lvl="0"/>
            <a:r>
              <a:rPr lang="zh-CN" altLang="zh-CN" sz="1200" b="0" i="0" kern="1200" dirty="0">
                <a:solidFill>
                  <a:schemeClr val="tx1"/>
                </a:solidFill>
                <a:effectLst/>
                <a:latin typeface="+mn-lt"/>
                <a:ea typeface="+mn-ea"/>
                <a:cs typeface="+mn-cs"/>
              </a:rPr>
              <a:t>不是用户输入优先级永远最低；</a:t>
            </a:r>
          </a:p>
          <a:p>
            <a:pPr lvl="0"/>
            <a:r>
              <a:rPr lang="zh-CN" altLang="zh-CN" sz="1200" b="0" i="0" kern="1200" dirty="0">
                <a:solidFill>
                  <a:schemeClr val="tx1"/>
                </a:solidFill>
                <a:effectLst/>
                <a:latin typeface="+mn-lt"/>
                <a:ea typeface="+mn-ea"/>
                <a:cs typeface="+mn-cs"/>
              </a:rPr>
              <a:t>不是把Prompt隐藏起来就自动安全或稳定；</a:t>
            </a:r>
          </a:p>
          <a:p>
            <a:pPr lvl="0"/>
            <a:r>
              <a:rPr lang="zh-CN" altLang="zh-CN" sz="1200" b="0" i="0" kern="1200" dirty="0">
                <a:solidFill>
                  <a:schemeClr val="tx1"/>
                </a:solidFill>
                <a:effectLst/>
                <a:latin typeface="+mn-lt"/>
                <a:ea typeface="+mn-ea"/>
                <a:cs typeface="+mn-cs"/>
              </a:rPr>
              <a:t>不同模型平台的消息角色和优先级存在差异。</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r>
              <a:rPr lang="zh-CN" altLang="zh-CN" sz="1200" b="0" i="0" kern="1200" dirty="0">
                <a:solidFill>
                  <a:schemeClr val="tx1"/>
                </a:solidFill>
                <a:effectLst/>
                <a:latin typeface="+mn-lt"/>
                <a:ea typeface="+mn-ea"/>
                <a:cs typeface="+mn-cs"/>
              </a:rPr>
              <a:t>销售拜访助手示例</a:t>
            </a:r>
          </a:p>
          <a:p>
            <a:pPr lvl="0"/>
            <a:r>
              <a:rPr lang="zh-CN" altLang="zh-CN" sz="1200" b="0" i="0" kern="1200" dirty="0">
                <a:solidFill>
                  <a:schemeClr val="tx1"/>
                </a:solidFill>
                <a:effectLst/>
                <a:latin typeface="+mn-lt"/>
                <a:ea typeface="+mn-ea"/>
                <a:cs typeface="+mn-cs"/>
              </a:rPr>
              <a:t>助手角色和任务边界；</a:t>
            </a:r>
          </a:p>
          <a:p>
            <a:pPr lvl="0"/>
            <a:r>
              <a:rPr lang="zh-CN" altLang="zh-CN" sz="1200" b="0" i="0" kern="1200" dirty="0">
                <a:solidFill>
                  <a:schemeClr val="tx1"/>
                </a:solidFill>
                <a:effectLst/>
                <a:latin typeface="+mn-lt"/>
                <a:ea typeface="+mn-ea"/>
                <a:cs typeface="+mn-cs"/>
              </a:rPr>
              <a:t>“只依据提供材料”的事实规则；</a:t>
            </a:r>
          </a:p>
          <a:p>
            <a:pPr lvl="0"/>
            <a:r>
              <a:rPr lang="zh-CN" altLang="zh-CN" sz="1200" b="0" i="0" kern="1200" dirty="0">
                <a:solidFill>
                  <a:schemeClr val="tx1"/>
                </a:solidFill>
                <a:effectLst/>
                <a:latin typeface="+mn-lt"/>
                <a:ea typeface="+mn-ea"/>
                <a:cs typeface="+mn-cs"/>
              </a:rPr>
              <a:t>客户诉求、异议、行动项的字段定义；</a:t>
            </a:r>
          </a:p>
          <a:p>
            <a:pPr lvl="0"/>
            <a:r>
              <a:rPr lang="zh-CN" altLang="zh-CN" sz="1200" b="0" i="0" kern="1200" dirty="0">
                <a:solidFill>
                  <a:schemeClr val="tx1"/>
                </a:solidFill>
                <a:effectLst/>
                <a:latin typeface="+mn-lt"/>
                <a:ea typeface="+mn-ea"/>
                <a:cs typeface="+mn-cs"/>
              </a:rPr>
              <a:t>不得把推测写成客户事实；</a:t>
            </a:r>
          </a:p>
          <a:p>
            <a:pPr lvl="0"/>
            <a:r>
              <a:rPr lang="zh-CN" altLang="zh-CN" sz="1200" b="0" i="0" kern="1200" dirty="0">
                <a:solidFill>
                  <a:schemeClr val="tx1"/>
                </a:solidFill>
                <a:effectLst/>
                <a:latin typeface="+mn-lt"/>
                <a:ea typeface="+mn-ea"/>
                <a:cs typeface="+mn-cs"/>
              </a:rPr>
              <a:t>缺失负责人或时间时标记待确认；</a:t>
            </a:r>
          </a:p>
          <a:p>
            <a:pPr lvl="0"/>
            <a:r>
              <a:rPr lang="zh-CN" altLang="zh-CN" sz="1200" b="0" i="0" kern="1200" dirty="0">
                <a:solidFill>
                  <a:schemeClr val="tx1"/>
                </a:solidFill>
                <a:effectLst/>
                <a:latin typeface="+mn-lt"/>
                <a:ea typeface="+mn-ea"/>
                <a:cs typeface="+mn-cs"/>
              </a:rPr>
              <a:t>统一输出结构。</a:t>
            </a:r>
          </a:p>
          <a:p>
            <a:pPr fontAlgn="auto"/>
            <a:r>
              <a:rPr lang="zh-CN" altLang="zh-CN" sz="1200" b="0" i="0" kern="1200" dirty="0">
                <a:solidFill>
                  <a:schemeClr val="tx1"/>
                </a:solidFill>
                <a:effectLst/>
                <a:latin typeface="+mn-lt"/>
                <a:ea typeface="+mn-ea"/>
                <a:cs typeface="+mn-cs"/>
              </a:rPr>
              <a:t>承载方式</a:t>
            </a:r>
          </a:p>
          <a:p>
            <a:pPr lvl="0"/>
            <a:r>
              <a:rPr lang="zh-CN" altLang="zh-CN" sz="1200" b="0" i="0" kern="1200" dirty="0">
                <a:solidFill>
                  <a:schemeClr val="tx1"/>
                </a:solidFill>
                <a:effectLst/>
                <a:latin typeface="+mn-lt"/>
                <a:ea typeface="+mn-ea"/>
                <a:cs typeface="+mn-cs"/>
              </a:rPr>
              <a:t>产品内部Prompt模板；</a:t>
            </a:r>
          </a:p>
          <a:p>
            <a:pPr lvl="0"/>
            <a:r>
              <a:rPr lang="zh-CN" altLang="zh-CN" sz="1200" b="0" i="0" kern="1200" dirty="0">
                <a:solidFill>
                  <a:schemeClr val="tx1"/>
                </a:solidFill>
                <a:effectLst/>
                <a:latin typeface="+mn-lt"/>
                <a:ea typeface="+mn-ea"/>
                <a:cs typeface="+mn-cs"/>
              </a:rPr>
              <a:t>业务规则配置；</a:t>
            </a:r>
          </a:p>
          <a:p>
            <a:pPr lvl="0"/>
            <a:r>
              <a:rPr lang="zh-CN" altLang="zh-CN" sz="1200" b="0" i="0" kern="1200" dirty="0">
                <a:solidFill>
                  <a:schemeClr val="tx1"/>
                </a:solidFill>
                <a:effectLst/>
                <a:latin typeface="+mn-lt"/>
                <a:ea typeface="+mn-ea"/>
                <a:cs typeface="+mn-cs"/>
              </a:rPr>
              <a:t>输出Schema；</a:t>
            </a:r>
          </a:p>
          <a:p>
            <a:pPr lvl="0"/>
            <a:r>
              <a:rPr lang="zh-CN" altLang="zh-CN" sz="1200" b="0" i="0" kern="1200" dirty="0">
                <a:solidFill>
                  <a:schemeClr val="tx1"/>
                </a:solidFill>
                <a:effectLst/>
                <a:latin typeface="+mn-lt"/>
                <a:ea typeface="+mn-ea"/>
                <a:cs typeface="+mn-cs"/>
              </a:rPr>
              <a:t>校验逻辑；</a:t>
            </a:r>
          </a:p>
          <a:p>
            <a:pPr lvl="0"/>
            <a:r>
              <a:rPr lang="zh-CN" altLang="zh-CN" sz="1200" b="0" i="0" kern="1200" dirty="0">
                <a:solidFill>
                  <a:schemeClr val="tx1"/>
                </a:solidFill>
                <a:effectLst/>
                <a:latin typeface="+mn-lt"/>
                <a:ea typeface="+mn-ea"/>
                <a:cs typeface="+mn-cs"/>
              </a:rPr>
              <a:t>后台配置项。</a:t>
            </a:r>
          </a:p>
          <a:p>
            <a:r>
              <a:rPr lang="zh-CN" altLang="zh-CN" sz="1200" b="0" i="0" kern="1200" dirty="0">
                <a:solidFill>
                  <a:schemeClr val="tx1"/>
                </a:solidFill>
                <a:effectLst/>
                <a:latin typeface="+mn-lt"/>
                <a:ea typeface="+mn-ea"/>
                <a:cs typeface="+mn-cs"/>
              </a:rPr>
              <a:t>本课不展开具体技术实现。</a:t>
            </a:r>
          </a:p>
          <a:p>
            <a:pPr fontAlgn="auto"/>
            <a:r>
              <a:rPr lang="zh-CN" altLang="zh-CN" sz="1200" b="0" i="0" kern="1200" dirty="0">
                <a:solidFill>
                  <a:schemeClr val="tx1"/>
                </a:solidFill>
                <a:effectLst/>
                <a:latin typeface="+mn-lt"/>
                <a:ea typeface="+mn-ea"/>
                <a:cs typeface="+mn-cs"/>
              </a:rPr>
              <a:t>第二类：用户变量项</a:t>
            </a:r>
          </a:p>
          <a:p>
            <a:pPr fontAlgn="auto"/>
            <a:r>
              <a:rPr lang="zh-CN" altLang="zh-CN" sz="1200" b="0" i="0" kern="1200" dirty="0">
                <a:solidFill>
                  <a:schemeClr val="tx1"/>
                </a:solidFill>
                <a:effectLst/>
                <a:latin typeface="+mn-lt"/>
                <a:ea typeface="+mn-ea"/>
                <a:cs typeface="+mn-cs"/>
              </a:rPr>
              <a:t>定义</a:t>
            </a:r>
          </a:p>
          <a:p>
            <a:r>
              <a:rPr lang="zh-CN" altLang="zh-CN" sz="1200" b="0" i="0" kern="1200" dirty="0">
                <a:solidFill>
                  <a:schemeClr val="tx1"/>
                </a:solidFill>
                <a:effectLst/>
                <a:latin typeface="+mn-lt"/>
                <a:ea typeface="+mn-ea"/>
                <a:cs typeface="+mn-cs"/>
              </a:rPr>
              <a:t>每次任务可能变化，且只有用户知道或需要用户主动选择、确认的内容。</a:t>
            </a:r>
          </a:p>
          <a:p>
            <a:pPr fontAlgn="auto"/>
            <a:r>
              <a:rPr lang="zh-CN" altLang="zh-CN" sz="1200" b="0" i="0" kern="1200" dirty="0">
                <a:solidFill>
                  <a:schemeClr val="tx1"/>
                </a:solidFill>
                <a:effectLst/>
                <a:latin typeface="+mn-lt"/>
                <a:ea typeface="+mn-ea"/>
                <a:cs typeface="+mn-cs"/>
              </a:rPr>
              <a:t>示例</a:t>
            </a:r>
          </a:p>
          <a:p>
            <a:pPr lvl="0"/>
            <a:r>
              <a:rPr lang="zh-CN" altLang="zh-CN" sz="1200" b="0" i="0" kern="1200" dirty="0">
                <a:solidFill>
                  <a:schemeClr val="tx1"/>
                </a:solidFill>
                <a:effectLst/>
                <a:latin typeface="+mn-lt"/>
                <a:ea typeface="+mn-ea"/>
                <a:cs typeface="+mn-cs"/>
              </a:rPr>
              <a:t>本次希望重点关注“客户异议”还是“下一步行动”；</a:t>
            </a:r>
          </a:p>
          <a:p>
            <a:pPr lvl="0"/>
            <a:r>
              <a:rPr lang="zh-CN" altLang="zh-CN" sz="1200" b="0" i="0" kern="1200" dirty="0">
                <a:solidFill>
                  <a:schemeClr val="tx1"/>
                </a:solidFill>
                <a:effectLst/>
                <a:latin typeface="+mn-lt"/>
                <a:ea typeface="+mn-ea"/>
                <a:cs typeface="+mn-cs"/>
              </a:rPr>
              <a:t>是否需要同时生成跟进邮件草稿；</a:t>
            </a:r>
          </a:p>
          <a:p>
            <a:pPr lvl="0"/>
            <a:r>
              <a:rPr lang="zh-CN" altLang="zh-CN" sz="1200" b="0" i="0" kern="1200" dirty="0">
                <a:solidFill>
                  <a:schemeClr val="tx1"/>
                </a:solidFill>
                <a:effectLst/>
                <a:latin typeface="+mn-lt"/>
                <a:ea typeface="+mn-ea"/>
                <a:cs typeface="+mn-cs"/>
              </a:rPr>
              <a:t>本次拜访的特殊说明；</a:t>
            </a:r>
          </a:p>
          <a:p>
            <a:pPr lvl="0"/>
            <a:r>
              <a:rPr lang="zh-CN" altLang="zh-CN" sz="1200" b="0" i="0" kern="1200" dirty="0">
                <a:solidFill>
                  <a:schemeClr val="tx1"/>
                </a:solidFill>
                <a:effectLst/>
                <a:latin typeface="+mn-lt"/>
                <a:ea typeface="+mn-ea"/>
                <a:cs typeface="+mn-cs"/>
              </a:rPr>
              <a:t>系统无法判断的客户身份或会议类型；</a:t>
            </a:r>
          </a:p>
          <a:p>
            <a:pPr lvl="0"/>
            <a:r>
              <a:rPr lang="zh-CN" altLang="zh-CN" sz="1200" b="0" i="0" kern="1200" dirty="0">
                <a:solidFill>
                  <a:schemeClr val="tx1"/>
                </a:solidFill>
                <a:effectLst/>
                <a:latin typeface="+mn-lt"/>
                <a:ea typeface="+mn-ea"/>
                <a:cs typeface="+mn-cs"/>
              </a:rPr>
              <a:t>对自动带入资料的修正。</a:t>
            </a:r>
          </a:p>
          <a:p>
            <a:pPr fontAlgn="auto"/>
            <a:r>
              <a:rPr lang="zh-CN" altLang="zh-CN" sz="1200" b="0" i="0" kern="1200" dirty="0">
                <a:solidFill>
                  <a:schemeClr val="tx1"/>
                </a:solidFill>
                <a:effectLst/>
                <a:latin typeface="+mn-lt"/>
                <a:ea typeface="+mn-ea"/>
                <a:cs typeface="+mn-cs"/>
              </a:rPr>
              <a:t>承载方式</a:t>
            </a:r>
          </a:p>
          <a:p>
            <a:pPr lvl="0"/>
            <a:r>
              <a:rPr lang="zh-CN" altLang="zh-CN" sz="1200" b="0" i="0" kern="1200" dirty="0">
                <a:solidFill>
                  <a:schemeClr val="tx1"/>
                </a:solidFill>
                <a:effectLst/>
                <a:latin typeface="+mn-lt"/>
                <a:ea typeface="+mn-ea"/>
                <a:cs typeface="+mn-cs"/>
              </a:rPr>
              <a:t>单选或多选；</a:t>
            </a:r>
          </a:p>
          <a:p>
            <a:pPr lvl="0"/>
            <a:r>
              <a:rPr lang="zh-CN" altLang="zh-CN" sz="1200" b="0" i="0" kern="1200" dirty="0">
                <a:solidFill>
                  <a:schemeClr val="tx1"/>
                </a:solidFill>
                <a:effectLst/>
                <a:latin typeface="+mn-lt"/>
                <a:ea typeface="+mn-ea"/>
                <a:cs typeface="+mn-cs"/>
              </a:rPr>
              <a:t>短文本补充；</a:t>
            </a:r>
          </a:p>
          <a:p>
            <a:pPr lvl="0"/>
            <a:r>
              <a:rPr lang="zh-CN" altLang="zh-CN" sz="1200" b="0" i="0" kern="1200" dirty="0">
                <a:solidFill>
                  <a:schemeClr val="tx1"/>
                </a:solidFill>
                <a:effectLst/>
                <a:latin typeface="+mn-lt"/>
                <a:ea typeface="+mn-ea"/>
                <a:cs typeface="+mn-cs"/>
              </a:rPr>
              <a:t>开关；</a:t>
            </a:r>
          </a:p>
          <a:p>
            <a:pPr lvl="0"/>
            <a:r>
              <a:rPr lang="zh-CN" altLang="zh-CN" sz="1200" b="0" i="0" kern="1200" dirty="0">
                <a:solidFill>
                  <a:schemeClr val="tx1"/>
                </a:solidFill>
                <a:effectLst/>
                <a:latin typeface="+mn-lt"/>
                <a:ea typeface="+mn-ea"/>
                <a:cs typeface="+mn-cs"/>
              </a:rPr>
              <a:t>确认弹窗；</a:t>
            </a:r>
          </a:p>
          <a:p>
            <a:pPr lvl="0"/>
            <a:r>
              <a:rPr lang="zh-CN" altLang="zh-CN" sz="1200" b="0" i="0" kern="1200" dirty="0">
                <a:solidFill>
                  <a:schemeClr val="tx1"/>
                </a:solidFill>
                <a:effectLst/>
                <a:latin typeface="+mn-lt"/>
                <a:ea typeface="+mn-ea"/>
                <a:cs typeface="+mn-cs"/>
              </a:rPr>
              <a:t>编辑已自动填充的内容。</a:t>
            </a:r>
          </a:p>
          <a:p>
            <a:pPr fontAlgn="auto"/>
            <a:r>
              <a:rPr lang="zh-CN" altLang="zh-CN" sz="1200" b="0" i="0" kern="1200" dirty="0">
                <a:solidFill>
                  <a:schemeClr val="tx1"/>
                </a:solidFill>
                <a:effectLst/>
                <a:latin typeface="+mn-lt"/>
                <a:ea typeface="+mn-ea"/>
                <a:cs typeface="+mn-cs"/>
              </a:rPr>
              <a:t>判断原则</a:t>
            </a:r>
          </a:p>
          <a:p>
            <a:r>
              <a:rPr lang="zh-CN" altLang="zh-CN" sz="1200" b="0" i="0" kern="1200" dirty="0">
                <a:solidFill>
                  <a:schemeClr val="tx1"/>
                </a:solidFill>
                <a:effectLst/>
                <a:latin typeface="+mn-lt"/>
                <a:ea typeface="+mn-ea"/>
                <a:cs typeface="+mn-cs"/>
              </a:rPr>
              <a:t>如果系统已经知道，就不要要求用户重复填写；如果只有用户知道，系统应提供最小必要输入方式。</a:t>
            </a:r>
          </a:p>
          <a:p>
            <a:pPr fontAlgn="auto"/>
            <a:r>
              <a:rPr lang="zh-CN" altLang="zh-CN" sz="1200" b="0" i="0" kern="1200" dirty="0">
                <a:solidFill>
                  <a:schemeClr val="tx1"/>
                </a:solidFill>
                <a:effectLst/>
                <a:latin typeface="+mn-lt"/>
                <a:ea typeface="+mn-ea"/>
                <a:cs typeface="+mn-cs"/>
              </a:rPr>
              <a:t>第三类：系统自动获取项</a:t>
            </a:r>
          </a:p>
          <a:p>
            <a:pPr fontAlgn="auto"/>
            <a:r>
              <a:rPr lang="zh-CN" altLang="zh-CN" sz="1200" b="0" i="0" kern="1200" dirty="0">
                <a:solidFill>
                  <a:schemeClr val="tx1"/>
                </a:solidFill>
                <a:effectLst/>
                <a:latin typeface="+mn-lt"/>
                <a:ea typeface="+mn-ea"/>
                <a:cs typeface="+mn-cs"/>
              </a:rPr>
              <a:t>定义</a:t>
            </a:r>
          </a:p>
          <a:p>
            <a:r>
              <a:rPr lang="zh-CN" altLang="zh-CN" sz="1200" b="0" i="0" kern="1200" dirty="0">
                <a:solidFill>
                  <a:schemeClr val="tx1"/>
                </a:solidFill>
                <a:effectLst/>
                <a:latin typeface="+mn-lt"/>
                <a:ea typeface="+mn-ea"/>
                <a:cs typeface="+mn-cs"/>
              </a:rPr>
              <a:t>每次任务会变化，但产品能够从当前业务系统、文件或流程中获取的内容。</a:t>
            </a:r>
          </a:p>
          <a:p>
            <a:pPr fontAlgn="auto"/>
            <a:r>
              <a:rPr lang="zh-CN" altLang="zh-CN" sz="1200" b="0" i="0" kern="1200" dirty="0">
                <a:solidFill>
                  <a:schemeClr val="tx1"/>
                </a:solidFill>
                <a:effectLst/>
                <a:latin typeface="+mn-lt"/>
                <a:ea typeface="+mn-ea"/>
                <a:cs typeface="+mn-cs"/>
              </a:rPr>
              <a:t>示例</a:t>
            </a:r>
          </a:p>
          <a:p>
            <a:pPr lvl="0"/>
            <a:r>
              <a:rPr lang="zh-CN" altLang="zh-CN" sz="1200" b="0" i="0" kern="1200" dirty="0">
                <a:solidFill>
                  <a:schemeClr val="tx1"/>
                </a:solidFill>
                <a:effectLst/>
                <a:latin typeface="+mn-lt"/>
                <a:ea typeface="+mn-ea"/>
                <a:cs typeface="+mn-cs"/>
              </a:rPr>
              <a:t>本次拜访录音与转写；</a:t>
            </a:r>
          </a:p>
          <a:p>
            <a:pPr lvl="0"/>
            <a:r>
              <a:rPr lang="zh-CN" altLang="zh-CN" sz="1200" b="0" i="0" kern="1200" dirty="0">
                <a:solidFill>
                  <a:schemeClr val="tx1"/>
                </a:solidFill>
                <a:effectLst/>
                <a:latin typeface="+mn-lt"/>
                <a:ea typeface="+mn-ea"/>
                <a:cs typeface="+mn-cs"/>
              </a:rPr>
              <a:t>客户名称和基本资料；</a:t>
            </a:r>
          </a:p>
          <a:p>
            <a:pPr lvl="0"/>
            <a:r>
              <a:rPr lang="zh-CN" altLang="zh-CN" sz="1200" b="0" i="0" kern="1200" dirty="0">
                <a:solidFill>
                  <a:schemeClr val="tx1"/>
                </a:solidFill>
                <a:effectLst/>
                <a:latin typeface="+mn-lt"/>
                <a:ea typeface="+mn-ea"/>
                <a:cs typeface="+mn-cs"/>
              </a:rPr>
              <a:t>当前商机阶段；</a:t>
            </a:r>
          </a:p>
          <a:p>
            <a:pPr lvl="0"/>
            <a:r>
              <a:rPr lang="zh-CN" altLang="zh-CN" sz="1200" b="0" i="0" kern="1200" dirty="0">
                <a:solidFill>
                  <a:schemeClr val="tx1"/>
                </a:solidFill>
                <a:effectLst/>
                <a:latin typeface="+mn-lt"/>
                <a:ea typeface="+mn-ea"/>
                <a:cs typeface="+mn-cs"/>
              </a:rPr>
              <a:t>参会人员；</a:t>
            </a:r>
          </a:p>
          <a:p>
            <a:pPr lvl="0"/>
            <a:r>
              <a:rPr lang="zh-CN" altLang="zh-CN" sz="1200" b="0" i="0" kern="1200" dirty="0">
                <a:solidFill>
                  <a:schemeClr val="tx1"/>
                </a:solidFill>
                <a:effectLst/>
                <a:latin typeface="+mn-lt"/>
                <a:ea typeface="+mn-ea"/>
                <a:cs typeface="+mn-cs"/>
              </a:rPr>
              <a:t>与本次商机相关的产品和报价信息；</a:t>
            </a:r>
          </a:p>
          <a:p>
            <a:pPr lvl="0"/>
            <a:r>
              <a:rPr lang="zh-CN" altLang="zh-CN" sz="1200" b="0" i="0" kern="1200" dirty="0">
                <a:solidFill>
                  <a:schemeClr val="tx1"/>
                </a:solidFill>
                <a:effectLst/>
                <a:latin typeface="+mn-lt"/>
                <a:ea typeface="+mn-ea"/>
                <a:cs typeface="+mn-cs"/>
              </a:rPr>
              <a:t>当前销售人员与拜访时间。</a:t>
            </a:r>
          </a:p>
          <a:p>
            <a:pPr fontAlgn="auto"/>
            <a:r>
              <a:rPr lang="zh-CN" altLang="zh-CN" sz="1200" b="0" i="0" kern="1200" dirty="0">
                <a:solidFill>
                  <a:schemeClr val="tx1"/>
                </a:solidFill>
                <a:effectLst/>
                <a:latin typeface="+mn-lt"/>
                <a:ea typeface="+mn-ea"/>
                <a:cs typeface="+mn-cs"/>
              </a:rPr>
              <a:t>承载方式</a:t>
            </a:r>
          </a:p>
          <a:p>
            <a:pPr lvl="0"/>
            <a:r>
              <a:rPr lang="zh-CN" altLang="zh-CN" sz="1200" b="0" i="0" kern="1200" dirty="0">
                <a:solidFill>
                  <a:schemeClr val="tx1"/>
                </a:solidFill>
                <a:effectLst/>
                <a:latin typeface="+mn-lt"/>
                <a:ea typeface="+mn-ea"/>
                <a:cs typeface="+mn-cs"/>
              </a:rPr>
              <a:t>业务系统带入；</a:t>
            </a:r>
          </a:p>
          <a:p>
            <a:pPr lvl="0"/>
            <a:r>
              <a:rPr lang="zh-CN" altLang="zh-CN" sz="1200" b="0" i="0" kern="1200" dirty="0">
                <a:solidFill>
                  <a:schemeClr val="tx1"/>
                </a:solidFill>
                <a:effectLst/>
                <a:latin typeface="+mn-lt"/>
                <a:ea typeface="+mn-ea"/>
                <a:cs typeface="+mn-cs"/>
              </a:rPr>
              <a:t>用户授权后读取；</a:t>
            </a:r>
          </a:p>
          <a:p>
            <a:pPr lvl="0"/>
            <a:r>
              <a:rPr lang="zh-CN" altLang="zh-CN" sz="1200" b="0" i="0" kern="1200" dirty="0">
                <a:solidFill>
                  <a:schemeClr val="tx1"/>
                </a:solidFill>
                <a:effectLst/>
                <a:latin typeface="+mn-lt"/>
                <a:ea typeface="+mn-ea"/>
                <a:cs typeface="+mn-cs"/>
              </a:rPr>
              <a:t>文件解析；</a:t>
            </a:r>
          </a:p>
          <a:p>
            <a:pPr lvl="0"/>
            <a:r>
              <a:rPr lang="zh-CN" altLang="zh-CN" sz="1200" b="0" i="0" kern="1200" dirty="0">
                <a:solidFill>
                  <a:schemeClr val="tx1"/>
                </a:solidFill>
                <a:effectLst/>
                <a:latin typeface="+mn-lt"/>
                <a:ea typeface="+mn-ea"/>
                <a:cs typeface="+mn-cs"/>
              </a:rPr>
              <a:t>接口查询；</a:t>
            </a:r>
          </a:p>
          <a:p>
            <a:pPr lvl="0"/>
            <a:r>
              <a:rPr lang="zh-CN" altLang="zh-CN" sz="1200" b="0" i="0" kern="1200" dirty="0">
                <a:solidFill>
                  <a:schemeClr val="tx1"/>
                </a:solidFill>
                <a:effectLst/>
                <a:latin typeface="+mn-lt"/>
                <a:ea typeface="+mn-ea"/>
                <a:cs typeface="+mn-cs"/>
              </a:rPr>
              <a:t>从当前页面上下文获得。</a:t>
            </a:r>
          </a:p>
          <a:p>
            <a:pPr fontAlgn="auto"/>
            <a:r>
              <a:rPr lang="zh-CN" altLang="zh-CN" sz="1200" b="0" i="0" kern="1200" dirty="0">
                <a:solidFill>
                  <a:schemeClr val="tx1"/>
                </a:solidFill>
                <a:effectLst/>
                <a:latin typeface="+mn-lt"/>
                <a:ea typeface="+mn-ea"/>
                <a:cs typeface="+mn-cs"/>
              </a:rPr>
              <a:t>教师提醒</a:t>
            </a:r>
          </a:p>
          <a:p>
            <a:r>
              <a:rPr lang="zh-CN" altLang="zh-CN" sz="1200" b="0" i="0" kern="1200" dirty="0">
                <a:solidFill>
                  <a:schemeClr val="tx1"/>
                </a:solidFill>
                <a:effectLst/>
                <a:latin typeface="+mn-lt"/>
                <a:ea typeface="+mn-ea"/>
                <a:cs typeface="+mn-cs"/>
              </a:rPr>
              <a:t>“可以自动获取”不代表“应该默认全部获取”。仍需考虑任务必要性、权限、隐私、数据新鲜度和用户知情。</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0917E-DBAD-A2B7-2819-014BC40A1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671A11-8D82-9F87-B3DF-139B60BF38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B9D8FE-6BAF-7DB2-6C22-BD125B789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19C4BC-DA5A-DB59-9374-F9F578E319C5}"/>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39473178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第37页｜07 销售拜访记录助手案例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8A173-85AB-EF6E-39B2-175AB589B6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12953-FBB7-2EE8-DCFB-A333CC43E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0BF62-774E-194C-8901-32B016E03099}"/>
              </a:ext>
            </a:extLst>
          </p:cNvPr>
          <p:cNvSpPr>
            <a:spLocks noGrp="1"/>
          </p:cNvSpPr>
          <p:nvPr>
            <p:ph type="body" idx="1"/>
          </p:nvPr>
        </p:nvSpPr>
        <p:spPr/>
        <p:txBody>
          <a:bodyPr/>
          <a:lstStyle/>
          <a:p>
            <a:r>
              <a:rPr lang="en-US" dirty="0"/>
              <a:t>第37页｜07 销售拜访记录助手案例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a:extLst>
              <a:ext uri="{FF2B5EF4-FFF2-40B4-BE49-F238E27FC236}">
                <a16:creationId xmlns:a16="http://schemas.microsoft.com/office/drawing/2014/main" id="{4C544DDC-36A9-F27F-7640-9B71A08329DD}"/>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920513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示意结果</a:t>
            </a:r>
          </a:p>
          <a:p>
            <a:r>
              <a:rPr lang="zh-CN" altLang="zh-CN" dirty="0"/>
              <a:t>问题</a:t>
            </a:r>
          </a:p>
          <a:p>
            <a:r>
              <a:rPr lang="zh-CN" altLang="zh-CN" dirty="0"/>
              <a:t>原文依据</a:t>
            </a:r>
          </a:p>
          <a:p>
            <a:r>
              <a:rPr lang="zh-CN" altLang="zh-CN" dirty="0"/>
              <a:t>计划先在8家门店试点把可能方案写成确定事实客户只确认按5家准备，8家需内部协调</a:t>
            </a:r>
          </a:p>
          <a:p>
            <a:r>
              <a:rPr lang="zh-CN" altLang="zh-CN" dirty="0"/>
              <a:t>试点成功后采购并全量推广把销售推测写成客户承诺客户明确纠正“试点通过不等于承诺采购”</a:t>
            </a:r>
          </a:p>
          <a:p>
            <a:r>
              <a:rPr lang="zh-CN" altLang="zh-CN" dirty="0"/>
              <a:t>预计6月底上线把希望和提问改成计划客户明确表示今天不能承诺启动时间</a:t>
            </a:r>
          </a:p>
          <a:p>
            <a:r>
              <a:rPr lang="zh-CN" altLang="zh-CN" dirty="0"/>
              <a:t>技术对接预计两周完成把条件估计写成正式工期方案顾问明确说未看接口，不是承诺</a:t>
            </a:r>
          </a:p>
          <a:p>
            <a:r>
              <a:rPr lang="zh-CN" altLang="zh-CN" dirty="0"/>
              <a:t>客户预算不是主要问题淡化预算未确认事实客户说今年预算紧，目前没有确认金额</a:t>
            </a:r>
          </a:p>
          <a:p>
            <a:r>
              <a:rPr lang="zh-CN" altLang="zh-CN" dirty="0"/>
              <a:t>下一步行动无负责人和日期无法进入CRM和创建任务原文给出了具体负责人和截止时间</a:t>
            </a:r>
          </a:p>
          <a:p>
            <a:r>
              <a:rPr lang="zh-CN" altLang="zh-CN" dirty="0"/>
              <a:t>未体现数据和隐私风险漏掉关键异议客户要求部署方式、权限日志和安全评审</a:t>
            </a:r>
          </a:p>
          <a:p>
            <a:r>
              <a:rPr lang="zh-CN" altLang="zh-CN" dirty="0"/>
              <a:t>未标记决策人等缺失信息看起来完整但实际关键信息缺失原文未确认预算、决策人和采购时间</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第43页｜07 销售拜访记录助手案例
逐页内容：课程生产/第一阶段/第02课_大模型基础、上下文与Prompt产品化设计_重做工作区/09_PPT结构与逐页内容
老师讲解：课程生产/第一阶段/第02课_大模型基础、上下文与Prompt产品化设计_重做工作区/05_老师版讲义
必须使用真实原始输出；裁剪时标注“节选”；不允许润色后冒充。</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第44页｜07 销售拜访记录助手案例
逐页内容：课程生产/第一阶段/第02课_大模型基础、上下文与Prompt产品化设计_重做工作区/09_PPT结构与逐页内容
老师讲解：课程生产/第一阶段/第02课_大模型基础、上下文与Prompt产品化设计_重做工作区/05_老师版讲义
补入第43页真实结果后，更新本轮通过项、剩余问题和新问题。</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0C54F-C0BA-DC42-DE91-DBEA7CE2AD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08EBB-0FAD-0BBD-AC4C-4868B6E81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117C6-BB9D-D4C7-445E-A37DB8C3D36B}"/>
              </a:ext>
            </a:extLst>
          </p:cNvPr>
          <p:cNvSpPr>
            <a:spLocks noGrp="1"/>
          </p:cNvSpPr>
          <p:nvPr>
            <p:ph type="body" idx="1"/>
          </p:nvPr>
        </p:nvSpPr>
        <p:spPr/>
        <p:txBody>
          <a:bodyPr/>
          <a:lstStyle/>
          <a:p>
            <a:r>
              <a:rPr lang="en-US" dirty="0"/>
              <a:t>第44页｜07 销售拜访记录助手案例
逐页内容：课程生产/第一阶段/第02课_大模型基础、上下文与Prompt产品化设计_重做工作区/09_PPT结构与逐页内容
老师讲解：课程生产/第一阶段/第02课_大模型基础、上下文与Prompt产品化设计_重做工作区/05_老师版讲义
补入第43页真实结果后，更新本轮通过项、剩余问题和新问题。</a:t>
            </a:r>
          </a:p>
        </p:txBody>
      </p:sp>
      <p:sp>
        <p:nvSpPr>
          <p:cNvPr id="4" name="Slide Number Placeholder 3">
            <a:extLst>
              <a:ext uri="{FF2B5EF4-FFF2-40B4-BE49-F238E27FC236}">
                <a16:creationId xmlns:a16="http://schemas.microsoft.com/office/drawing/2014/main" id="{151F0791-B22A-E45A-A2EF-1CE7888051A7}"/>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42661297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3433A-FAFE-5D2C-F489-007252376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6D4B9-6F83-6D3A-5B4D-E87B8B7066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E433B2-70C7-5406-D268-5DFAED5D05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F9FFB7-D927-31FF-3F7C-BAAFAEA067B4}"/>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35959660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第48页｜09 总结与课后作业
逐页内容：课程生产/第一阶段/第02课_大模型基础、上下文与Prompt产品化设计_重做工作区/09_PPT结构与逐页内容
老师讲解：课程生产/第一阶段/第02课_大模型基础、上下文与Prompt产品化设计_重做工作区/05_老师版讲义
详细字段见课后作业模板；不要逐条朗读。</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第49页｜09 总结与课后作业
逐页内容：课程生产/第一阶段/第02课_大模型基础、上下文与Prompt产品化设计_重做工作区/09_PPT结构与逐页内容
老师讲解：课程生产/第一阶段/第02课_大模型基础、上下文与Prompt产品化设计_重做工作区/05_老师版讲义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C35331"/>
          </a:solidFill>
          <a:ln w="12700">
            <a:solidFill>
              <a:srgbClr val="C35331"/>
            </a:solidFill>
            <a:prstDash val="solid"/>
          </a:ln>
        </p:spPr>
      </p:sp>
      <p:sp>
        <p:nvSpPr>
          <p:cNvPr id="3" name="Text 1"/>
          <p:cNvSpPr/>
          <p:nvPr/>
        </p:nvSpPr>
        <p:spPr>
          <a:xfrm>
            <a:off x="804672" y="658368"/>
            <a:ext cx="1005840" cy="603504"/>
          </a:xfrm>
          <a:prstGeom prst="rect">
            <a:avLst/>
          </a:prstGeom>
          <a:noFill/>
          <a:ln/>
        </p:spPr>
        <p:txBody>
          <a:bodyPr wrap="square" lIns="0" tIns="0" rIns="0" bIns="0" rtlCol="0" anchor="t">
            <a:normAutofit/>
          </a:bodyPr>
          <a:lstStyle/>
          <a:p>
            <a:pPr marL="0" indent="0" algn="l">
              <a:buNone/>
            </a:pPr>
            <a:r>
              <a:rPr lang="en-US" sz="3500" b="1" dirty="0">
                <a:solidFill>
                  <a:srgbClr val="C35331"/>
                </a:solidFill>
                <a:latin typeface="PingFang SC" pitchFamily="34" charset="0"/>
                <a:ea typeface="PingFang SC" pitchFamily="34" charset="-122"/>
                <a:cs typeface="PingFang SC" pitchFamily="34" charset="-120"/>
              </a:rPr>
              <a:t>02</a:t>
            </a:r>
            <a:endParaRPr lang="en-US" sz="3500" dirty="0"/>
          </a:p>
        </p:txBody>
      </p:sp>
      <p:sp>
        <p:nvSpPr>
          <p:cNvPr id="4" name="Text 2"/>
          <p:cNvSpPr/>
          <p:nvPr/>
        </p:nvSpPr>
        <p:spPr>
          <a:xfrm>
            <a:off x="804672" y="1463040"/>
            <a:ext cx="7863840" cy="1417320"/>
          </a:xfrm>
          <a:prstGeom prst="rect">
            <a:avLst/>
          </a:prstGeom>
          <a:noFill/>
          <a:ln/>
        </p:spPr>
        <p:txBody>
          <a:bodyPr wrap="square" lIns="0" tIns="0" rIns="0" bIns="0" rtlCol="0" anchor="t">
            <a:normAutofit/>
          </a:bodyPr>
          <a:lstStyle/>
          <a:p>
            <a:pPr marL="0" indent="0" algn="l">
              <a:buNone/>
            </a:pPr>
            <a:r>
              <a:rPr lang="en-US" sz="3600" b="1" dirty="0">
                <a:solidFill>
                  <a:srgbClr val="20211F"/>
                </a:solidFill>
                <a:latin typeface="PingFang SC" pitchFamily="34" charset="0"/>
                <a:ea typeface="PingFang SC" pitchFamily="34" charset="-122"/>
                <a:cs typeface="PingFang SC" pitchFamily="34" charset="-120"/>
              </a:rPr>
              <a:t>大模型基础、上下文与</a:t>
            </a:r>
            <a:endParaRPr lang="en-US" sz="3600" dirty="0"/>
          </a:p>
          <a:p>
            <a:pPr marL="0" indent="0" algn="l">
              <a:buNone/>
            </a:pPr>
            <a:r>
              <a:rPr lang="en-US" sz="3600" b="1" dirty="0">
                <a:solidFill>
                  <a:srgbClr val="20211F"/>
                </a:solidFill>
                <a:latin typeface="PingFang SC" pitchFamily="34" charset="0"/>
                <a:ea typeface="PingFang SC" pitchFamily="34" charset="-122"/>
                <a:cs typeface="PingFang SC" pitchFamily="34" charset="-120"/>
              </a:rPr>
              <a:t>Prompt产品化设计</a:t>
            </a:r>
            <a:endParaRPr lang="en-US" sz="3600" dirty="0"/>
          </a:p>
        </p:txBody>
      </p:sp>
      <p:sp>
        <p:nvSpPr>
          <p:cNvPr id="5" name="Text 3"/>
          <p:cNvSpPr/>
          <p:nvPr/>
        </p:nvSpPr>
        <p:spPr>
          <a:xfrm>
            <a:off x="841248" y="3227832"/>
            <a:ext cx="7589520" cy="384048"/>
          </a:xfrm>
          <a:prstGeom prst="rect">
            <a:avLst/>
          </a:prstGeom>
          <a:noFill/>
          <a:ln/>
        </p:spPr>
        <p:txBody>
          <a:bodyPr wrap="square" lIns="0" tIns="0" rIns="0" bIns="0" rtlCol="0" anchor="t">
            <a:normAutofit/>
          </a:bodyPr>
          <a:lstStyle/>
          <a:p>
            <a:pPr marL="0" indent="0" algn="l">
              <a:buNone/>
            </a:pPr>
            <a:r>
              <a:rPr lang="en-US" sz="1700" dirty="0">
                <a:solidFill>
                  <a:srgbClr val="77766F"/>
                </a:solidFill>
                <a:latin typeface="PingFang SC" pitchFamily="34" charset="0"/>
                <a:ea typeface="PingFang SC" pitchFamily="34" charset="-122"/>
                <a:cs typeface="PingFang SC" pitchFamily="34" charset="-120"/>
              </a:rPr>
              <a:t>从一次好回答，到可重复交付的AI产品</a:t>
            </a:r>
            <a:endParaRPr lang="en-US" sz="1700" dirty="0"/>
          </a:p>
        </p:txBody>
      </p:sp>
      <p:sp>
        <p:nvSpPr>
          <p:cNvPr id="6" name="Shape 4"/>
          <p:cNvSpPr/>
          <p:nvPr/>
        </p:nvSpPr>
        <p:spPr>
          <a:xfrm>
            <a:off x="841248" y="3822192"/>
            <a:ext cx="2743200" cy="0"/>
          </a:xfrm>
          <a:prstGeom prst="line">
            <a:avLst/>
          </a:prstGeom>
          <a:noFill/>
          <a:ln w="38100">
            <a:solidFill>
              <a:srgbClr val="C35331"/>
            </a:solidFill>
            <a:prstDash val="solid"/>
          </a:ln>
        </p:spPr>
      </p:sp>
      <p:sp>
        <p:nvSpPr>
          <p:cNvPr id="7" name="Shape 5"/>
          <p:cNvSpPr/>
          <p:nvPr/>
        </p:nvSpPr>
        <p:spPr>
          <a:xfrm>
            <a:off x="7498080" y="1188720"/>
            <a:ext cx="1234440" cy="347472"/>
          </a:xfrm>
          <a:prstGeom prst="roundRect">
            <a:avLst>
              <a:gd name="adj" fmla="val 21053"/>
            </a:avLst>
          </a:prstGeom>
          <a:solidFill>
            <a:srgbClr val="F2E2DB"/>
          </a:solidFill>
          <a:ln w="12700">
            <a:solidFill>
              <a:srgbClr val="F2E2DB"/>
            </a:solidFill>
            <a:prstDash val="solid"/>
          </a:ln>
        </p:spPr>
      </p:sp>
      <p:sp>
        <p:nvSpPr>
          <p:cNvPr id="8" name="Text 6"/>
          <p:cNvSpPr/>
          <p:nvPr/>
        </p:nvSpPr>
        <p:spPr>
          <a:xfrm>
            <a:off x="7571232" y="1271016"/>
            <a:ext cx="1088136" cy="155448"/>
          </a:xfrm>
          <a:prstGeom prst="rect">
            <a:avLst/>
          </a:prstGeom>
          <a:noFill/>
          <a:ln/>
        </p:spPr>
        <p:txBody>
          <a:bodyPr wrap="square" lIns="0" tIns="0" rIns="0" bIns="0" rtlCol="0" anchor="t">
            <a:normAutofit/>
          </a:bodyPr>
          <a:lstStyle/>
          <a:p>
            <a:pPr marL="0" indent="0" algn="ctr">
              <a:buNone/>
            </a:pPr>
            <a:r>
              <a:rPr lang="en-US" sz="950" b="1" dirty="0">
                <a:solidFill>
                  <a:srgbClr val="C35331"/>
                </a:solidFill>
                <a:latin typeface="PingFang SC" pitchFamily="34" charset="0"/>
                <a:ea typeface="PingFang SC" pitchFamily="34" charset="-122"/>
                <a:cs typeface="PingFang SC" pitchFamily="34" charset="-120"/>
              </a:rPr>
              <a:t>输入</a:t>
            </a:r>
            <a:endParaRPr lang="en-US" sz="950" dirty="0"/>
          </a:p>
        </p:txBody>
      </p:sp>
      <p:sp>
        <p:nvSpPr>
          <p:cNvPr id="9" name="Shape 7"/>
          <p:cNvSpPr/>
          <p:nvPr/>
        </p:nvSpPr>
        <p:spPr>
          <a:xfrm>
            <a:off x="7909560" y="1664208"/>
            <a:ext cx="320040" cy="420624"/>
          </a:xfrm>
          <a:prstGeom prst="chevron">
            <a:avLst/>
          </a:prstGeom>
          <a:solidFill>
            <a:srgbClr val="D8D0C2"/>
          </a:solidFill>
          <a:ln w="12700">
            <a:solidFill>
              <a:srgbClr val="D8D0C2"/>
            </a:solidFill>
            <a:prstDash val="solid"/>
          </a:ln>
        </p:spPr>
      </p:sp>
      <p:sp>
        <p:nvSpPr>
          <p:cNvPr id="10" name="Shape 8"/>
          <p:cNvSpPr/>
          <p:nvPr/>
        </p:nvSpPr>
        <p:spPr>
          <a:xfrm>
            <a:off x="8394192" y="1755648"/>
            <a:ext cx="1234440" cy="347472"/>
          </a:xfrm>
          <a:prstGeom prst="roundRect">
            <a:avLst>
              <a:gd name="adj" fmla="val 21053"/>
            </a:avLst>
          </a:prstGeom>
          <a:solidFill>
            <a:srgbClr val="DDEBE8"/>
          </a:solidFill>
          <a:ln w="12700">
            <a:solidFill>
              <a:srgbClr val="DDEBE8"/>
            </a:solidFill>
            <a:prstDash val="solid"/>
          </a:ln>
        </p:spPr>
      </p:sp>
      <p:sp>
        <p:nvSpPr>
          <p:cNvPr id="11" name="Text 9"/>
          <p:cNvSpPr/>
          <p:nvPr/>
        </p:nvSpPr>
        <p:spPr>
          <a:xfrm>
            <a:off x="8467344" y="1837944"/>
            <a:ext cx="1088136" cy="155448"/>
          </a:xfrm>
          <a:prstGeom prst="rect">
            <a:avLst/>
          </a:prstGeom>
          <a:noFill/>
          <a:ln/>
        </p:spPr>
        <p:txBody>
          <a:bodyPr wrap="square" lIns="0" tIns="0" rIns="0" bIns="0" rtlCol="0" anchor="t">
            <a:normAutofit/>
          </a:bodyPr>
          <a:lstStyle/>
          <a:p>
            <a:pPr marL="0" indent="0" algn="ctr">
              <a:buNone/>
            </a:pPr>
            <a:r>
              <a:rPr lang="en-US" sz="950" b="1" dirty="0">
                <a:solidFill>
                  <a:srgbClr val="387B77"/>
                </a:solidFill>
                <a:latin typeface="PingFang SC" pitchFamily="34" charset="0"/>
                <a:ea typeface="PingFang SC" pitchFamily="34" charset="-122"/>
                <a:cs typeface="PingFang SC" pitchFamily="34" charset="-120"/>
              </a:rPr>
              <a:t>上下文</a:t>
            </a:r>
            <a:endParaRPr lang="en-US" sz="950" dirty="0"/>
          </a:p>
        </p:txBody>
      </p:sp>
      <p:sp>
        <p:nvSpPr>
          <p:cNvPr id="12" name="Shape 10"/>
          <p:cNvSpPr/>
          <p:nvPr/>
        </p:nvSpPr>
        <p:spPr>
          <a:xfrm>
            <a:off x="8805672" y="2231136"/>
            <a:ext cx="320040" cy="420624"/>
          </a:xfrm>
          <a:prstGeom prst="chevron">
            <a:avLst/>
          </a:prstGeom>
          <a:solidFill>
            <a:srgbClr val="D8D0C2"/>
          </a:solidFill>
          <a:ln w="12700">
            <a:solidFill>
              <a:srgbClr val="D8D0C2"/>
            </a:solidFill>
            <a:prstDash val="solid"/>
          </a:ln>
        </p:spPr>
      </p:sp>
      <p:sp>
        <p:nvSpPr>
          <p:cNvPr id="13" name="Shape 11"/>
          <p:cNvSpPr/>
          <p:nvPr/>
        </p:nvSpPr>
        <p:spPr>
          <a:xfrm>
            <a:off x="9290304" y="2322576"/>
            <a:ext cx="1234440" cy="347472"/>
          </a:xfrm>
          <a:prstGeom prst="roundRect">
            <a:avLst>
              <a:gd name="adj" fmla="val 21053"/>
            </a:avLst>
          </a:prstGeom>
          <a:solidFill>
            <a:srgbClr val="E8E0E7"/>
          </a:solidFill>
          <a:ln w="12700">
            <a:solidFill>
              <a:srgbClr val="E8E0E7"/>
            </a:solidFill>
            <a:prstDash val="solid"/>
          </a:ln>
        </p:spPr>
      </p:sp>
      <p:sp>
        <p:nvSpPr>
          <p:cNvPr id="14" name="Text 12"/>
          <p:cNvSpPr/>
          <p:nvPr/>
        </p:nvSpPr>
        <p:spPr>
          <a:xfrm>
            <a:off x="9363456" y="2404872"/>
            <a:ext cx="1088136" cy="155448"/>
          </a:xfrm>
          <a:prstGeom prst="rect">
            <a:avLst/>
          </a:prstGeom>
          <a:noFill/>
          <a:ln/>
        </p:spPr>
        <p:txBody>
          <a:bodyPr wrap="square" lIns="0" tIns="0" rIns="0" bIns="0" rtlCol="0" anchor="t">
            <a:normAutofit/>
          </a:bodyPr>
          <a:lstStyle/>
          <a:p>
            <a:pPr marL="0" indent="0" algn="ctr">
              <a:buNone/>
            </a:pPr>
            <a:r>
              <a:rPr lang="en-US" sz="950" b="1" dirty="0">
                <a:solidFill>
                  <a:srgbClr val="74546A"/>
                </a:solidFill>
                <a:latin typeface="PingFang SC" pitchFamily="34" charset="0"/>
                <a:ea typeface="PingFang SC" pitchFamily="34" charset="-122"/>
                <a:cs typeface="PingFang SC" pitchFamily="34" charset="-120"/>
              </a:rPr>
              <a:t>生成</a:t>
            </a:r>
            <a:endParaRPr lang="en-US" sz="950" dirty="0"/>
          </a:p>
        </p:txBody>
      </p:sp>
      <p:sp>
        <p:nvSpPr>
          <p:cNvPr id="15" name="Shape 13"/>
          <p:cNvSpPr/>
          <p:nvPr/>
        </p:nvSpPr>
        <p:spPr>
          <a:xfrm>
            <a:off x="9701784" y="2798064"/>
            <a:ext cx="320040" cy="420624"/>
          </a:xfrm>
          <a:prstGeom prst="chevron">
            <a:avLst/>
          </a:prstGeom>
          <a:solidFill>
            <a:srgbClr val="D8D0C2"/>
          </a:solidFill>
          <a:ln w="12700">
            <a:solidFill>
              <a:srgbClr val="D8D0C2"/>
            </a:solidFill>
            <a:prstDash val="solid"/>
          </a:ln>
        </p:spPr>
      </p:sp>
      <p:sp>
        <p:nvSpPr>
          <p:cNvPr id="16" name="Shape 14"/>
          <p:cNvSpPr/>
          <p:nvPr/>
        </p:nvSpPr>
        <p:spPr>
          <a:xfrm>
            <a:off x="10186416" y="2889504"/>
            <a:ext cx="1234440" cy="347472"/>
          </a:xfrm>
          <a:prstGeom prst="roundRect">
            <a:avLst>
              <a:gd name="adj" fmla="val 21053"/>
            </a:avLst>
          </a:prstGeom>
          <a:solidFill>
            <a:srgbClr val="F2E7D5"/>
          </a:solidFill>
          <a:ln w="12700">
            <a:solidFill>
              <a:srgbClr val="F2E7D5"/>
            </a:solidFill>
            <a:prstDash val="solid"/>
          </a:ln>
        </p:spPr>
      </p:sp>
      <p:sp>
        <p:nvSpPr>
          <p:cNvPr id="17" name="Text 15"/>
          <p:cNvSpPr/>
          <p:nvPr/>
        </p:nvSpPr>
        <p:spPr>
          <a:xfrm>
            <a:off x="10259568" y="2971800"/>
            <a:ext cx="1088136" cy="155448"/>
          </a:xfrm>
          <a:prstGeom prst="rect">
            <a:avLst/>
          </a:prstGeom>
          <a:noFill/>
          <a:ln/>
        </p:spPr>
        <p:txBody>
          <a:bodyPr wrap="square" lIns="0" tIns="0" rIns="0" bIns="0" rtlCol="0" anchor="t">
            <a:normAutofit/>
          </a:bodyPr>
          <a:lstStyle/>
          <a:p>
            <a:pPr marL="0" indent="0" algn="ctr">
              <a:buNone/>
            </a:pPr>
            <a:r>
              <a:rPr lang="en-US" sz="950" b="1" dirty="0">
                <a:solidFill>
                  <a:srgbClr val="D18A38"/>
                </a:solidFill>
                <a:latin typeface="PingFang SC" pitchFamily="34" charset="0"/>
                <a:ea typeface="PingFang SC" pitchFamily="34" charset="-122"/>
                <a:cs typeface="PingFang SC" pitchFamily="34" charset="-120"/>
              </a:rPr>
              <a:t>产品</a:t>
            </a:r>
            <a:endParaRPr lang="en-US" sz="950" dirty="0"/>
          </a:p>
        </p:txBody>
      </p:sp>
      <p:sp>
        <p:nvSpPr>
          <p:cNvPr id="18" name="Shape 16"/>
          <p:cNvSpPr/>
          <p:nvPr/>
        </p:nvSpPr>
        <p:spPr>
          <a:xfrm>
            <a:off x="8833104" y="5879592"/>
            <a:ext cx="2331720" cy="310896"/>
          </a:xfrm>
          <a:prstGeom prst="roundRect">
            <a:avLst>
              <a:gd name="adj" fmla="val 29412"/>
            </a:avLst>
          </a:prstGeom>
          <a:solidFill>
            <a:srgbClr val="C35331"/>
          </a:solidFill>
          <a:ln w="12700">
            <a:solidFill>
              <a:srgbClr val="C35331"/>
            </a:solidFill>
            <a:prstDash val="solid"/>
          </a:ln>
        </p:spPr>
      </p:sp>
      <p:sp>
        <p:nvSpPr>
          <p:cNvPr id="19" name="Text 17"/>
          <p:cNvSpPr/>
          <p:nvPr/>
        </p:nvSpPr>
        <p:spPr>
          <a:xfrm>
            <a:off x="8897112" y="5948172"/>
            <a:ext cx="2203704"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第一阶段 · 第02课</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02</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课程任务</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今天回答四个问题</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课程任务</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02</a:t>
            </a:r>
            <a:endParaRPr lang="en-US" sz="850" dirty="0"/>
          </a:p>
        </p:txBody>
      </p:sp>
      <p:sp>
        <p:nvSpPr>
          <p:cNvPr id="10" name="Shape 8"/>
          <p:cNvSpPr/>
          <p:nvPr/>
        </p:nvSpPr>
        <p:spPr>
          <a:xfrm>
            <a:off x="566928" y="1737360"/>
            <a:ext cx="2592324" cy="1554480"/>
          </a:xfrm>
          <a:prstGeom prst="roundRect">
            <a:avLst>
              <a:gd name="adj" fmla="val 2941"/>
            </a:avLst>
          </a:prstGeom>
          <a:solidFill>
            <a:srgbClr val="FBF9F4"/>
          </a:solidFill>
          <a:ln w="12700">
            <a:solidFill>
              <a:srgbClr val="D8D0C2"/>
            </a:solidFill>
            <a:prstDash val="solid"/>
          </a:ln>
        </p:spPr>
      </p:sp>
      <p:sp>
        <p:nvSpPr>
          <p:cNvPr id="11" name="Text 9"/>
          <p:cNvSpPr/>
          <p:nvPr/>
        </p:nvSpPr>
        <p:spPr>
          <a:xfrm>
            <a:off x="731520" y="191109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C35331"/>
                </a:solidFill>
                <a:latin typeface="PingFang SC" pitchFamily="34" charset="0"/>
                <a:ea typeface="PingFang SC" pitchFamily="34" charset="-122"/>
                <a:cs typeface="PingFang SC" pitchFamily="34" charset="-120"/>
              </a:rPr>
              <a:t>01</a:t>
            </a:r>
            <a:endParaRPr lang="en-US" sz="1000" dirty="0"/>
          </a:p>
        </p:txBody>
      </p:sp>
      <p:sp>
        <p:nvSpPr>
          <p:cNvPr id="12" name="Text 10"/>
          <p:cNvSpPr/>
          <p:nvPr/>
        </p:nvSpPr>
        <p:spPr>
          <a:xfrm>
            <a:off x="704088" y="2304288"/>
            <a:ext cx="2318004"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怎样生成？</a:t>
            </a:r>
            <a:endParaRPr lang="en-US" sz="1320" dirty="0"/>
          </a:p>
        </p:txBody>
      </p:sp>
      <p:sp>
        <p:nvSpPr>
          <p:cNvPr id="13" name="Text 11"/>
          <p:cNvSpPr/>
          <p:nvPr/>
        </p:nvSpPr>
        <p:spPr>
          <a:xfrm>
            <a:off x="722376" y="2770632"/>
            <a:ext cx="2281428"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逐步生成</a:t>
            </a:r>
            <a:endParaRPr lang="en-US" sz="970" dirty="0"/>
          </a:p>
        </p:txBody>
      </p:sp>
      <p:sp>
        <p:nvSpPr>
          <p:cNvPr id="14" name="Shape 12"/>
          <p:cNvSpPr/>
          <p:nvPr/>
        </p:nvSpPr>
        <p:spPr>
          <a:xfrm>
            <a:off x="3360420" y="1737360"/>
            <a:ext cx="2592324" cy="1554480"/>
          </a:xfrm>
          <a:prstGeom prst="roundRect">
            <a:avLst>
              <a:gd name="adj" fmla="val 2941"/>
            </a:avLst>
          </a:prstGeom>
          <a:solidFill>
            <a:srgbClr val="FBF9F4"/>
          </a:solidFill>
          <a:ln w="12700">
            <a:solidFill>
              <a:srgbClr val="D8D0C2"/>
            </a:solidFill>
            <a:prstDash val="solid"/>
          </a:ln>
        </p:spPr>
      </p:sp>
      <p:sp>
        <p:nvSpPr>
          <p:cNvPr id="15" name="Text 13"/>
          <p:cNvSpPr/>
          <p:nvPr/>
        </p:nvSpPr>
        <p:spPr>
          <a:xfrm>
            <a:off x="3525012" y="191109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387B77"/>
                </a:solidFill>
                <a:latin typeface="PingFang SC" pitchFamily="34" charset="0"/>
                <a:ea typeface="PingFang SC" pitchFamily="34" charset="-122"/>
                <a:cs typeface="PingFang SC" pitchFamily="34" charset="-120"/>
              </a:rPr>
              <a:t>02</a:t>
            </a:r>
            <a:endParaRPr lang="en-US" sz="1000" dirty="0"/>
          </a:p>
        </p:txBody>
      </p:sp>
      <p:sp>
        <p:nvSpPr>
          <p:cNvPr id="16" name="Text 14"/>
          <p:cNvSpPr/>
          <p:nvPr/>
        </p:nvSpPr>
        <p:spPr>
          <a:xfrm>
            <a:off x="3497580" y="2304288"/>
            <a:ext cx="2318004"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能看到什么？</a:t>
            </a:r>
            <a:endParaRPr lang="en-US" sz="1320" dirty="0"/>
          </a:p>
        </p:txBody>
      </p:sp>
      <p:sp>
        <p:nvSpPr>
          <p:cNvPr id="17" name="Text 15"/>
          <p:cNvSpPr/>
          <p:nvPr/>
        </p:nvSpPr>
        <p:spPr>
          <a:xfrm>
            <a:off x="3515868" y="2770632"/>
            <a:ext cx="2281428"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上下文窗口</a:t>
            </a:r>
            <a:endParaRPr lang="en-US" sz="970" dirty="0"/>
          </a:p>
        </p:txBody>
      </p:sp>
      <p:sp>
        <p:nvSpPr>
          <p:cNvPr id="18" name="Shape 16"/>
          <p:cNvSpPr/>
          <p:nvPr/>
        </p:nvSpPr>
        <p:spPr>
          <a:xfrm>
            <a:off x="6153912" y="1737360"/>
            <a:ext cx="2592324" cy="1554480"/>
          </a:xfrm>
          <a:prstGeom prst="roundRect">
            <a:avLst>
              <a:gd name="adj" fmla="val 2941"/>
            </a:avLst>
          </a:prstGeom>
          <a:solidFill>
            <a:srgbClr val="FBF9F4"/>
          </a:solidFill>
          <a:ln w="12700">
            <a:solidFill>
              <a:srgbClr val="D8D0C2"/>
            </a:solidFill>
            <a:prstDash val="solid"/>
          </a:ln>
        </p:spPr>
      </p:sp>
      <p:sp>
        <p:nvSpPr>
          <p:cNvPr id="19" name="Text 17"/>
          <p:cNvSpPr/>
          <p:nvPr/>
        </p:nvSpPr>
        <p:spPr>
          <a:xfrm>
            <a:off x="6318504" y="191109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74546A"/>
                </a:solidFill>
                <a:latin typeface="PingFang SC" pitchFamily="34" charset="0"/>
                <a:ea typeface="PingFang SC" pitchFamily="34" charset="-122"/>
                <a:cs typeface="PingFang SC" pitchFamily="34" charset="-120"/>
              </a:rPr>
              <a:t>03</a:t>
            </a:r>
            <a:endParaRPr lang="en-US" sz="1000" dirty="0"/>
          </a:p>
        </p:txBody>
      </p:sp>
      <p:sp>
        <p:nvSpPr>
          <p:cNvPr id="20" name="Text 18"/>
          <p:cNvSpPr/>
          <p:nvPr/>
        </p:nvSpPr>
        <p:spPr>
          <a:xfrm>
            <a:off x="6291072" y="2304288"/>
            <a:ext cx="2318004"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Prompt怎样写？</a:t>
            </a:r>
            <a:endParaRPr lang="en-US" sz="1320" dirty="0"/>
          </a:p>
        </p:txBody>
      </p:sp>
      <p:sp>
        <p:nvSpPr>
          <p:cNvPr id="21" name="Text 19"/>
          <p:cNvSpPr/>
          <p:nvPr/>
        </p:nvSpPr>
        <p:spPr>
          <a:xfrm>
            <a:off x="6309360" y="2770632"/>
            <a:ext cx="2281428"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产品定义</a:t>
            </a:r>
            <a:endParaRPr lang="en-US" sz="970" dirty="0"/>
          </a:p>
        </p:txBody>
      </p:sp>
      <p:sp>
        <p:nvSpPr>
          <p:cNvPr id="22" name="Shape 20"/>
          <p:cNvSpPr/>
          <p:nvPr/>
        </p:nvSpPr>
        <p:spPr>
          <a:xfrm>
            <a:off x="8947404" y="1737360"/>
            <a:ext cx="2592324" cy="1554480"/>
          </a:xfrm>
          <a:prstGeom prst="roundRect">
            <a:avLst>
              <a:gd name="adj" fmla="val 2941"/>
            </a:avLst>
          </a:prstGeom>
          <a:solidFill>
            <a:srgbClr val="FBF9F4"/>
          </a:solidFill>
          <a:ln w="12700">
            <a:solidFill>
              <a:srgbClr val="D8D0C2"/>
            </a:solidFill>
            <a:prstDash val="solid"/>
          </a:ln>
        </p:spPr>
      </p:sp>
      <p:sp>
        <p:nvSpPr>
          <p:cNvPr id="23" name="Text 21"/>
          <p:cNvSpPr/>
          <p:nvPr/>
        </p:nvSpPr>
        <p:spPr>
          <a:xfrm>
            <a:off x="9111996" y="191109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D18A38"/>
                </a:solidFill>
                <a:latin typeface="PingFang SC" pitchFamily="34" charset="0"/>
                <a:ea typeface="PingFang SC" pitchFamily="34" charset="-122"/>
                <a:cs typeface="PingFang SC" pitchFamily="34" charset="-120"/>
              </a:rPr>
              <a:t>04</a:t>
            </a:r>
            <a:endParaRPr lang="en-US" sz="1000" dirty="0"/>
          </a:p>
        </p:txBody>
      </p:sp>
      <p:sp>
        <p:nvSpPr>
          <p:cNvPr id="24" name="Text 22"/>
          <p:cNvSpPr/>
          <p:nvPr/>
        </p:nvSpPr>
        <p:spPr>
          <a:xfrm>
            <a:off x="9084564" y="2304288"/>
            <a:ext cx="2318004"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怎样变成产品？</a:t>
            </a:r>
            <a:endParaRPr lang="en-US" sz="1320" dirty="0"/>
          </a:p>
        </p:txBody>
      </p:sp>
      <p:sp>
        <p:nvSpPr>
          <p:cNvPr id="25" name="Text 23"/>
          <p:cNvSpPr/>
          <p:nvPr/>
        </p:nvSpPr>
        <p:spPr>
          <a:xfrm>
            <a:off x="9102852" y="2770632"/>
            <a:ext cx="2281428"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交互与风险</a:t>
            </a:r>
            <a:endParaRPr lang="en-US" sz="970" dirty="0"/>
          </a:p>
        </p:txBody>
      </p:sp>
      <p:sp>
        <p:nvSpPr>
          <p:cNvPr id="26" name="Text 24"/>
          <p:cNvSpPr/>
          <p:nvPr/>
        </p:nvSpPr>
        <p:spPr>
          <a:xfrm>
            <a:off x="1005840" y="4709160"/>
            <a:ext cx="10149840" cy="411480"/>
          </a:xfrm>
          <a:prstGeom prst="rect">
            <a:avLst/>
          </a:prstGeom>
          <a:noFill/>
          <a:ln/>
        </p:spPr>
        <p:txBody>
          <a:bodyPr wrap="square" lIns="0" tIns="0" rIns="0" bIns="0" rtlCol="0" anchor="t">
            <a:normAutofit/>
          </a:bodyPr>
          <a:lstStyle/>
          <a:p>
            <a:pPr marL="0" indent="0" algn="ctr">
              <a:buNone/>
            </a:pPr>
            <a:r>
              <a:rPr lang="en-US" sz="1900" b="1" dirty="0">
                <a:solidFill>
                  <a:srgbClr val="C35331"/>
                </a:solidFill>
                <a:latin typeface="PingFang SC" pitchFamily="34" charset="0"/>
                <a:ea typeface="PingFang SC" pitchFamily="34" charset="-122"/>
                <a:cs typeface="PingFang SC" pitchFamily="34" charset="-120"/>
              </a:rPr>
              <a:t>生成  →  上下文  →  结构化Prompt  →  产品化</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2377132F-8C65-D79B-3604-6FE04FC8025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9DEB82A-E9B5-6E2A-D88D-897CAEB7FD01}"/>
              </a:ext>
            </a:extLst>
          </p:cNvPr>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a:extLst>
              <a:ext uri="{FF2B5EF4-FFF2-40B4-BE49-F238E27FC236}">
                <a16:creationId xmlns:a16="http://schemas.microsoft.com/office/drawing/2014/main" id="{BB1AA78F-C29E-4D8B-CA3D-9E63FDE63AA0}"/>
              </a:ext>
            </a:extLst>
          </p:cNvPr>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02</a:t>
            </a:r>
            <a:endParaRPr lang="en-US" sz="900" dirty="0"/>
          </a:p>
        </p:txBody>
      </p:sp>
      <p:sp>
        <p:nvSpPr>
          <p:cNvPr id="4" name="Text 2">
            <a:extLst>
              <a:ext uri="{FF2B5EF4-FFF2-40B4-BE49-F238E27FC236}">
                <a16:creationId xmlns:a16="http://schemas.microsoft.com/office/drawing/2014/main" id="{2C622F8C-F63A-B7F2-B33E-7195D855BE01}"/>
              </a:ext>
            </a:extLst>
          </p:cNvPr>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课程任务</a:t>
            </a:r>
            <a:endParaRPr lang="en-US" sz="950" dirty="0"/>
          </a:p>
        </p:txBody>
      </p:sp>
      <p:sp>
        <p:nvSpPr>
          <p:cNvPr id="5" name="Text 3">
            <a:extLst>
              <a:ext uri="{FF2B5EF4-FFF2-40B4-BE49-F238E27FC236}">
                <a16:creationId xmlns:a16="http://schemas.microsoft.com/office/drawing/2014/main" id="{FF5443AA-0857-8637-C286-E9A5455C590A}"/>
              </a:ext>
            </a:extLst>
          </p:cNvPr>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大模型的</a:t>
            </a:r>
            <a:r>
              <a:rPr lang="zh-CN" altLang="en-US" sz="2500" b="1" dirty="0">
                <a:solidFill>
                  <a:srgbClr val="20211F"/>
                </a:solidFill>
                <a:latin typeface="PingFang SC" pitchFamily="34" charset="0"/>
                <a:ea typeface="PingFang SC" pitchFamily="34" charset="-122"/>
                <a:cs typeface="PingFang SC" pitchFamily="34" charset="-120"/>
              </a:rPr>
              <a:t>“大 ” 体现在哪里？</a:t>
            </a:r>
            <a:endParaRPr lang="en-US" sz="2500" dirty="0"/>
          </a:p>
        </p:txBody>
      </p:sp>
      <p:sp>
        <p:nvSpPr>
          <p:cNvPr id="6" name="Shape 4">
            <a:extLst>
              <a:ext uri="{FF2B5EF4-FFF2-40B4-BE49-F238E27FC236}">
                <a16:creationId xmlns:a16="http://schemas.microsoft.com/office/drawing/2014/main" id="{BC4A58D1-9EF7-641B-17D3-7FF4880A72E1}"/>
              </a:ext>
            </a:extLst>
          </p:cNvPr>
          <p:cNvSpPr/>
          <p:nvPr/>
        </p:nvSpPr>
        <p:spPr>
          <a:xfrm>
            <a:off x="566928" y="1321357"/>
            <a:ext cx="11018520" cy="0"/>
          </a:xfrm>
          <a:prstGeom prst="line">
            <a:avLst/>
          </a:prstGeom>
          <a:noFill/>
          <a:ln w="12700">
            <a:solidFill>
              <a:srgbClr val="D8D0C2"/>
            </a:solidFill>
            <a:prstDash val="solid"/>
          </a:ln>
        </p:spPr>
      </p:sp>
      <p:sp>
        <p:nvSpPr>
          <p:cNvPr id="7" name="Text 5">
            <a:extLst>
              <a:ext uri="{FF2B5EF4-FFF2-40B4-BE49-F238E27FC236}">
                <a16:creationId xmlns:a16="http://schemas.microsoft.com/office/drawing/2014/main" id="{8E309C7C-B7F6-706C-ADD4-71157B74379C}"/>
              </a:ext>
            </a:extLst>
          </p:cNvPr>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a:extLst>
              <a:ext uri="{FF2B5EF4-FFF2-40B4-BE49-F238E27FC236}">
                <a16:creationId xmlns:a16="http://schemas.microsoft.com/office/drawing/2014/main" id="{6906EDD2-0461-4C8B-7B21-D34E2E22AE85}"/>
              </a:ext>
            </a:extLst>
          </p:cNvPr>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课程任务</a:t>
            </a:r>
            <a:endParaRPr lang="en-US" sz="800" dirty="0"/>
          </a:p>
        </p:txBody>
      </p:sp>
      <p:sp>
        <p:nvSpPr>
          <p:cNvPr id="9" name="Text 7">
            <a:extLst>
              <a:ext uri="{FF2B5EF4-FFF2-40B4-BE49-F238E27FC236}">
                <a16:creationId xmlns:a16="http://schemas.microsoft.com/office/drawing/2014/main" id="{AE97F876-A8BE-0286-7C37-6CF9D817355C}"/>
              </a:ext>
            </a:extLst>
          </p:cNvPr>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02</a:t>
            </a:r>
            <a:endParaRPr lang="en-US" sz="850" dirty="0"/>
          </a:p>
        </p:txBody>
      </p:sp>
      <p:sp>
        <p:nvSpPr>
          <p:cNvPr id="10" name="Shape 8">
            <a:extLst>
              <a:ext uri="{FF2B5EF4-FFF2-40B4-BE49-F238E27FC236}">
                <a16:creationId xmlns:a16="http://schemas.microsoft.com/office/drawing/2014/main" id="{00E7B5CF-3EEA-85F0-3E2F-1B2FE6CDA365}"/>
              </a:ext>
            </a:extLst>
          </p:cNvPr>
          <p:cNvSpPr/>
          <p:nvPr/>
        </p:nvSpPr>
        <p:spPr>
          <a:xfrm>
            <a:off x="850392" y="2566116"/>
            <a:ext cx="2179887" cy="1844639"/>
          </a:xfrm>
          <a:prstGeom prst="roundRect">
            <a:avLst>
              <a:gd name="adj" fmla="val 2941"/>
            </a:avLst>
          </a:prstGeom>
          <a:solidFill>
            <a:srgbClr val="FBF9F4"/>
          </a:solidFill>
          <a:ln w="12700">
            <a:solidFill>
              <a:srgbClr val="D8D0C2"/>
            </a:solidFill>
            <a:prstDash val="solid"/>
          </a:ln>
        </p:spPr>
      </p:sp>
      <p:sp>
        <p:nvSpPr>
          <p:cNvPr id="27" name="Text 24">
            <a:extLst>
              <a:ext uri="{FF2B5EF4-FFF2-40B4-BE49-F238E27FC236}">
                <a16:creationId xmlns:a16="http://schemas.microsoft.com/office/drawing/2014/main" id="{62845428-B7B1-64FA-85DC-5DB9DA22B84F}"/>
              </a:ext>
            </a:extLst>
          </p:cNvPr>
          <p:cNvSpPr/>
          <p:nvPr/>
        </p:nvSpPr>
        <p:spPr>
          <a:xfrm>
            <a:off x="850392" y="1935178"/>
            <a:ext cx="2455908" cy="374906"/>
          </a:xfrm>
          <a:prstGeom prst="rect">
            <a:avLst/>
          </a:prstGeom>
          <a:noFill/>
          <a:ln/>
        </p:spPr>
        <p:txBody>
          <a:bodyPr wrap="square" lIns="0" tIns="0" rIns="0" bIns="0" rtlCol="0" anchor="t">
            <a:normAutofit/>
          </a:bodyPr>
          <a:lstStyle/>
          <a:p>
            <a:pPr marL="0" indent="0">
              <a:buNone/>
            </a:pPr>
            <a:r>
              <a:rPr lang="en-US" sz="1900" b="1" dirty="0" err="1">
                <a:solidFill>
                  <a:srgbClr val="C35331"/>
                </a:solidFill>
                <a:latin typeface="PingFang SC" pitchFamily="34" charset="0"/>
                <a:ea typeface="PingFang SC" pitchFamily="34" charset="-122"/>
                <a:cs typeface="PingFang SC" pitchFamily="34" charset="-120"/>
              </a:rPr>
              <a:t>参数量大</a:t>
            </a:r>
            <a:endParaRPr lang="en-US" sz="1900" dirty="0"/>
          </a:p>
        </p:txBody>
      </p:sp>
      <p:sp>
        <p:nvSpPr>
          <p:cNvPr id="29" name="Text 10">
            <a:extLst>
              <a:ext uri="{FF2B5EF4-FFF2-40B4-BE49-F238E27FC236}">
                <a16:creationId xmlns:a16="http://schemas.microsoft.com/office/drawing/2014/main" id="{DD4AB60D-24EA-8912-C2E7-32738AD0C72D}"/>
              </a:ext>
            </a:extLst>
          </p:cNvPr>
          <p:cNvSpPr/>
          <p:nvPr/>
        </p:nvSpPr>
        <p:spPr>
          <a:xfrm>
            <a:off x="1095845" y="2738038"/>
            <a:ext cx="1698870" cy="329184"/>
          </a:xfrm>
          <a:prstGeom prst="rect">
            <a:avLst/>
          </a:prstGeom>
          <a:noFill/>
          <a:ln/>
        </p:spPr>
        <p:txBody>
          <a:bodyPr wrap="square" lIns="0" tIns="0" rIns="0" bIns="0" rtlCol="0" anchor="t">
            <a:normAutofit/>
          </a:bodyPr>
          <a:lstStyle/>
          <a:p>
            <a:pPr marL="0" indent="0" algn="ctr">
              <a:buNone/>
            </a:pPr>
            <a:r>
              <a:rPr lang="en-US" sz="1320" b="1" dirty="0" err="1">
                <a:solidFill>
                  <a:srgbClr val="20211F"/>
                </a:solidFill>
                <a:latin typeface="PingFang SC" pitchFamily="34" charset="0"/>
                <a:ea typeface="PingFang SC" pitchFamily="34" charset="-122"/>
                <a:cs typeface="PingFang SC" pitchFamily="34" charset="-120"/>
              </a:rPr>
              <a:t>参数量小</a:t>
            </a:r>
            <a:endParaRPr lang="en-US" sz="1320" dirty="0"/>
          </a:p>
        </p:txBody>
      </p:sp>
      <p:sp>
        <p:nvSpPr>
          <p:cNvPr id="31" name="文本框 30">
            <a:extLst>
              <a:ext uri="{FF2B5EF4-FFF2-40B4-BE49-F238E27FC236}">
                <a16:creationId xmlns:a16="http://schemas.microsoft.com/office/drawing/2014/main" id="{0F70DFF1-ECB7-F3AF-C0DC-37E58A186B02}"/>
              </a:ext>
            </a:extLst>
          </p:cNvPr>
          <p:cNvSpPr txBox="1"/>
          <p:nvPr/>
        </p:nvSpPr>
        <p:spPr>
          <a:xfrm>
            <a:off x="1388080" y="3349935"/>
            <a:ext cx="1104510" cy="276999"/>
          </a:xfrm>
          <a:prstGeom prst="rect">
            <a:avLst/>
          </a:prstGeom>
          <a:noFill/>
        </p:spPr>
        <p:txBody>
          <a:bodyPr wrap="square">
            <a:spAutoFit/>
          </a:bodyPr>
          <a:lstStyle/>
          <a:p>
            <a:r>
              <a:rPr lang="zh-CN" altLang="zh-CN" sz="1200" dirty="0"/>
              <a:t>苹果 → 水果</a:t>
            </a:r>
            <a:endParaRPr lang="zh-CN" altLang="en-US" sz="1200" dirty="0"/>
          </a:p>
        </p:txBody>
      </p:sp>
      <p:sp>
        <p:nvSpPr>
          <p:cNvPr id="32" name="Shape 8">
            <a:extLst>
              <a:ext uri="{FF2B5EF4-FFF2-40B4-BE49-F238E27FC236}">
                <a16:creationId xmlns:a16="http://schemas.microsoft.com/office/drawing/2014/main" id="{560E3189-B497-7F16-027B-1EF55F95687E}"/>
              </a:ext>
            </a:extLst>
          </p:cNvPr>
          <p:cNvSpPr/>
          <p:nvPr/>
        </p:nvSpPr>
        <p:spPr>
          <a:xfrm>
            <a:off x="3603480" y="2566116"/>
            <a:ext cx="2834427" cy="1844638"/>
          </a:xfrm>
          <a:prstGeom prst="roundRect">
            <a:avLst>
              <a:gd name="adj" fmla="val 2941"/>
            </a:avLst>
          </a:prstGeom>
          <a:solidFill>
            <a:srgbClr val="FBF9F4"/>
          </a:solidFill>
          <a:ln w="12700">
            <a:solidFill>
              <a:srgbClr val="D8D0C2"/>
            </a:solidFill>
            <a:prstDash val="solid"/>
          </a:ln>
        </p:spPr>
      </p:sp>
      <p:sp>
        <p:nvSpPr>
          <p:cNvPr id="33" name="Text 10">
            <a:extLst>
              <a:ext uri="{FF2B5EF4-FFF2-40B4-BE49-F238E27FC236}">
                <a16:creationId xmlns:a16="http://schemas.microsoft.com/office/drawing/2014/main" id="{F8615A9E-27BE-9BB4-87A7-EA5CDFAA43D0}"/>
              </a:ext>
            </a:extLst>
          </p:cNvPr>
          <p:cNvSpPr/>
          <p:nvPr/>
        </p:nvSpPr>
        <p:spPr>
          <a:xfrm>
            <a:off x="4252597" y="2631346"/>
            <a:ext cx="1698870" cy="329184"/>
          </a:xfrm>
          <a:prstGeom prst="rect">
            <a:avLst/>
          </a:prstGeom>
          <a:noFill/>
          <a:ln/>
        </p:spPr>
        <p:txBody>
          <a:bodyPr wrap="square" lIns="0" tIns="0" rIns="0" bIns="0" rtlCol="0" anchor="t">
            <a:normAutofit/>
          </a:bodyPr>
          <a:lstStyle/>
          <a:p>
            <a:pPr marL="0" indent="0" algn="ctr">
              <a:buNone/>
            </a:pPr>
            <a:r>
              <a:rPr lang="en-US" sz="1320" b="1" dirty="0" err="1">
                <a:solidFill>
                  <a:srgbClr val="20211F"/>
                </a:solidFill>
                <a:latin typeface="PingFang SC" pitchFamily="34" charset="0"/>
                <a:ea typeface="PingFang SC" pitchFamily="34" charset="-122"/>
                <a:cs typeface="PingFang SC" pitchFamily="34" charset="-120"/>
              </a:rPr>
              <a:t>参数量大</a:t>
            </a:r>
            <a:endParaRPr lang="en-US" sz="1320" dirty="0"/>
          </a:p>
        </p:txBody>
      </p:sp>
      <p:sp>
        <p:nvSpPr>
          <p:cNvPr id="34" name="文本框 33">
            <a:extLst>
              <a:ext uri="{FF2B5EF4-FFF2-40B4-BE49-F238E27FC236}">
                <a16:creationId xmlns:a16="http://schemas.microsoft.com/office/drawing/2014/main" id="{DF9361E3-A14C-463C-52F5-8F363BA3FBA5}"/>
              </a:ext>
            </a:extLst>
          </p:cNvPr>
          <p:cNvSpPr txBox="1"/>
          <p:nvPr/>
        </p:nvSpPr>
        <p:spPr>
          <a:xfrm>
            <a:off x="3684819" y="2967759"/>
            <a:ext cx="2834427" cy="1384995"/>
          </a:xfrm>
          <a:prstGeom prst="rect">
            <a:avLst/>
          </a:prstGeom>
          <a:noFill/>
        </p:spPr>
        <p:txBody>
          <a:bodyPr wrap="square">
            <a:spAutoFit/>
          </a:bodyPr>
          <a:lstStyle/>
          <a:p>
            <a:r>
              <a:rPr lang="zh-CN" altLang="zh-CN" sz="1200" dirty="0"/>
              <a:t>苹果 → 水果 </a:t>
            </a:r>
            <a:endParaRPr lang="en-US" altLang="zh-CN" sz="1200" dirty="0"/>
          </a:p>
          <a:p>
            <a:r>
              <a:rPr lang="zh-CN" altLang="zh-CN" sz="1200" dirty="0"/>
              <a:t>苹果 → 红色或绿色 </a:t>
            </a:r>
            <a:endParaRPr lang="en-US" altLang="zh-CN" sz="1200" dirty="0"/>
          </a:p>
          <a:p>
            <a:r>
              <a:rPr lang="zh-CN" altLang="zh-CN" sz="1200" dirty="0"/>
              <a:t>苹果 → 可以食用 </a:t>
            </a:r>
            <a:endParaRPr lang="en-US" altLang="zh-CN" sz="1200" dirty="0"/>
          </a:p>
          <a:p>
            <a:r>
              <a:rPr lang="zh-CN" altLang="zh-CN" sz="1200" dirty="0"/>
              <a:t>苹果 → Apple公司 </a:t>
            </a:r>
            <a:endParaRPr lang="en-US" altLang="zh-CN" sz="1200" dirty="0"/>
          </a:p>
          <a:p>
            <a:r>
              <a:rPr lang="zh-CN" altLang="zh-CN" sz="1200" dirty="0"/>
              <a:t>苹果 → 手机品牌 </a:t>
            </a:r>
            <a:endParaRPr lang="en-US" altLang="zh-CN" sz="1200" dirty="0"/>
          </a:p>
          <a:p>
            <a:r>
              <a:rPr lang="zh-CN" altLang="zh-CN" sz="1200" dirty="0"/>
              <a:t>苹果 → 不同上下文中含义不同 </a:t>
            </a:r>
            <a:endParaRPr lang="en-US" altLang="zh-CN" sz="1200" dirty="0"/>
          </a:p>
          <a:p>
            <a:r>
              <a:rPr lang="zh-CN" altLang="zh-CN" sz="1200" dirty="0"/>
              <a:t>苹果 → 与乔布斯、iPhone、Mac有关</a:t>
            </a:r>
            <a:endParaRPr lang="zh-CN" altLang="en-US" sz="1200" dirty="0"/>
          </a:p>
        </p:txBody>
      </p:sp>
      <p:sp>
        <p:nvSpPr>
          <p:cNvPr id="35" name="右箭头 34">
            <a:extLst>
              <a:ext uri="{FF2B5EF4-FFF2-40B4-BE49-F238E27FC236}">
                <a16:creationId xmlns:a16="http://schemas.microsoft.com/office/drawing/2014/main" id="{85F4F410-A2CA-670F-8A59-9B2CF02FF217}"/>
              </a:ext>
            </a:extLst>
          </p:cNvPr>
          <p:cNvSpPr/>
          <p:nvPr/>
        </p:nvSpPr>
        <p:spPr>
          <a:xfrm>
            <a:off x="3211033" y="3349935"/>
            <a:ext cx="255181" cy="276999"/>
          </a:xfrm>
          <a:prstGeom prst="rightArrow">
            <a:avLst/>
          </a:prstGeom>
          <a:solidFill>
            <a:srgbClr val="FCF9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文本框 36">
            <a:extLst>
              <a:ext uri="{FF2B5EF4-FFF2-40B4-BE49-F238E27FC236}">
                <a16:creationId xmlns:a16="http://schemas.microsoft.com/office/drawing/2014/main" id="{5B2C0C98-11CD-C271-A82E-084916C5E315}"/>
              </a:ext>
            </a:extLst>
          </p:cNvPr>
          <p:cNvSpPr txBox="1"/>
          <p:nvPr/>
        </p:nvSpPr>
        <p:spPr>
          <a:xfrm>
            <a:off x="6766560" y="2566116"/>
            <a:ext cx="4907989" cy="954107"/>
          </a:xfrm>
          <a:prstGeom prst="rect">
            <a:avLst/>
          </a:prstGeom>
          <a:noFill/>
        </p:spPr>
        <p:txBody>
          <a:bodyPr wrap="square">
            <a:spAutoFit/>
          </a:bodyPr>
          <a:lstStyle/>
          <a:p>
            <a:pPr marL="285750" indent="-285750">
              <a:buFont typeface="Arial" panose="020B0604020202020204" pitchFamily="34" charset="0"/>
              <a:buChar char="•"/>
            </a:pPr>
            <a:r>
              <a:rPr lang="zh-CN" altLang="zh-CN" sz="1400" dirty="0"/>
              <a:t>参数越多，模型内部可以表达的规律通常越复杂。</a:t>
            </a:r>
            <a:endParaRPr lang="en-US" altLang="zh-CN" sz="1400" dirty="0"/>
          </a:p>
          <a:p>
            <a:pPr marL="285750" indent="-285750">
              <a:buFont typeface="Arial" panose="020B0604020202020204" pitchFamily="34" charset="0"/>
              <a:buChar char="•"/>
            </a:pPr>
            <a:r>
              <a:rPr lang="zh-CN" altLang="zh-CN" sz="1400" dirty="0"/>
              <a:t>它面对复杂问题时，不容易只依赖一个简单规律。</a:t>
            </a:r>
            <a:endParaRPr lang="en-US" altLang="zh-CN" sz="1400" dirty="0"/>
          </a:p>
          <a:p>
            <a:pPr marL="285750" indent="-285750">
              <a:buFont typeface="Arial" panose="020B0604020202020204" pitchFamily="34" charset="0"/>
              <a:buChar char="•"/>
            </a:pPr>
            <a:r>
              <a:rPr lang="zh-CN" altLang="en-US" sz="1400" dirty="0"/>
              <a:t>可以把参数类比成组织里面的员工数。</a:t>
            </a:r>
            <a:endParaRPr lang="en-US" altLang="zh-CN" sz="1400" dirty="0"/>
          </a:p>
          <a:p>
            <a:pPr marL="285750" indent="-285750">
              <a:buFont typeface="Arial" panose="020B0604020202020204" pitchFamily="34" charset="0"/>
              <a:buChar char="•"/>
            </a:pPr>
            <a:r>
              <a:rPr lang="en-US" altLang="zh-CN" sz="1400" dirty="0"/>
              <a:t>Claude</a:t>
            </a:r>
            <a:r>
              <a:rPr lang="zh-CN" altLang="en-US" sz="1400" dirty="0"/>
              <a:t> </a:t>
            </a:r>
            <a:r>
              <a:rPr lang="en-US" altLang="zh-CN" sz="1400" dirty="0"/>
              <a:t>Fable</a:t>
            </a:r>
            <a:r>
              <a:rPr lang="zh-CN" altLang="en-US" sz="1400" dirty="0"/>
              <a:t> 的</a:t>
            </a:r>
            <a:r>
              <a:rPr lang="en-US" altLang="zh-CN" sz="1400" dirty="0"/>
              <a:t>6T</a:t>
            </a:r>
            <a:r>
              <a:rPr lang="zh-CN" altLang="en-US" sz="1400" dirty="0"/>
              <a:t>就是指的参数量。</a:t>
            </a:r>
          </a:p>
        </p:txBody>
      </p:sp>
      <p:sp>
        <p:nvSpPr>
          <p:cNvPr id="39" name="文本框 38">
            <a:extLst>
              <a:ext uri="{FF2B5EF4-FFF2-40B4-BE49-F238E27FC236}">
                <a16:creationId xmlns:a16="http://schemas.microsoft.com/office/drawing/2014/main" id="{6885DE79-0142-C3C1-0E27-98C41DD2092A}"/>
              </a:ext>
            </a:extLst>
          </p:cNvPr>
          <p:cNvSpPr txBox="1"/>
          <p:nvPr/>
        </p:nvSpPr>
        <p:spPr>
          <a:xfrm>
            <a:off x="3005328" y="5559552"/>
            <a:ext cx="6096000" cy="369332"/>
          </a:xfrm>
          <a:prstGeom prst="rect">
            <a:avLst/>
          </a:prstGeom>
          <a:noFill/>
        </p:spPr>
        <p:txBody>
          <a:bodyPr wrap="square">
            <a:spAutoFit/>
          </a:bodyPr>
          <a:lstStyle/>
          <a:p>
            <a:r>
              <a:rPr lang="zh-CN" altLang="zh-CN" b="1" dirty="0"/>
              <a:t>参数量代表的是潜在容量，不直接等于聪明程度。</a:t>
            </a:r>
            <a:endParaRPr lang="zh-CN" altLang="en-US" b="1" dirty="0"/>
          </a:p>
        </p:txBody>
      </p:sp>
    </p:spTree>
    <p:extLst>
      <p:ext uri="{BB962C8B-B14F-4D97-AF65-F5344CB8AC3E}">
        <p14:creationId xmlns:p14="http://schemas.microsoft.com/office/powerpoint/2010/main" val="3131330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4F4308F3-BCC0-1D80-175D-FF614B09568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19A90C-6521-32F9-9777-AEA51E117693}"/>
              </a:ext>
            </a:extLst>
          </p:cNvPr>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a:extLst>
              <a:ext uri="{FF2B5EF4-FFF2-40B4-BE49-F238E27FC236}">
                <a16:creationId xmlns:a16="http://schemas.microsoft.com/office/drawing/2014/main" id="{3F419C88-E2C1-1A5C-8E86-2B13BF63DF3D}"/>
              </a:ext>
            </a:extLst>
          </p:cNvPr>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02</a:t>
            </a:r>
            <a:endParaRPr lang="en-US" sz="900" dirty="0"/>
          </a:p>
        </p:txBody>
      </p:sp>
      <p:sp>
        <p:nvSpPr>
          <p:cNvPr id="4" name="Text 2">
            <a:extLst>
              <a:ext uri="{FF2B5EF4-FFF2-40B4-BE49-F238E27FC236}">
                <a16:creationId xmlns:a16="http://schemas.microsoft.com/office/drawing/2014/main" id="{2FD77048-11EE-8309-8167-27EC07EC9A8F}"/>
              </a:ext>
            </a:extLst>
          </p:cNvPr>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课程任务</a:t>
            </a:r>
            <a:endParaRPr lang="en-US" sz="950" dirty="0"/>
          </a:p>
        </p:txBody>
      </p:sp>
      <p:sp>
        <p:nvSpPr>
          <p:cNvPr id="5" name="Text 3">
            <a:extLst>
              <a:ext uri="{FF2B5EF4-FFF2-40B4-BE49-F238E27FC236}">
                <a16:creationId xmlns:a16="http://schemas.microsoft.com/office/drawing/2014/main" id="{AB481B52-DC5B-9549-F098-BF06BA614FC8}"/>
              </a:ext>
            </a:extLst>
          </p:cNvPr>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大模型的</a:t>
            </a:r>
            <a:r>
              <a:rPr lang="zh-CN" altLang="en-US" sz="2500" b="1" dirty="0">
                <a:solidFill>
                  <a:srgbClr val="20211F"/>
                </a:solidFill>
                <a:latin typeface="PingFang SC" pitchFamily="34" charset="0"/>
                <a:ea typeface="PingFang SC" pitchFamily="34" charset="-122"/>
                <a:cs typeface="PingFang SC" pitchFamily="34" charset="-120"/>
              </a:rPr>
              <a:t>“大 ” 体现在哪里？</a:t>
            </a:r>
            <a:endParaRPr lang="en-US" sz="2500" dirty="0"/>
          </a:p>
        </p:txBody>
      </p:sp>
      <p:sp>
        <p:nvSpPr>
          <p:cNvPr id="6" name="Shape 4">
            <a:extLst>
              <a:ext uri="{FF2B5EF4-FFF2-40B4-BE49-F238E27FC236}">
                <a16:creationId xmlns:a16="http://schemas.microsoft.com/office/drawing/2014/main" id="{8C7E2EDE-7C51-21E7-0668-161E695205B4}"/>
              </a:ext>
            </a:extLst>
          </p:cNvPr>
          <p:cNvSpPr/>
          <p:nvPr/>
        </p:nvSpPr>
        <p:spPr>
          <a:xfrm>
            <a:off x="548640" y="1391695"/>
            <a:ext cx="11018520" cy="0"/>
          </a:xfrm>
          <a:prstGeom prst="line">
            <a:avLst/>
          </a:prstGeom>
          <a:noFill/>
          <a:ln w="12700">
            <a:solidFill>
              <a:srgbClr val="D8D0C2"/>
            </a:solidFill>
            <a:prstDash val="solid"/>
          </a:ln>
        </p:spPr>
      </p:sp>
      <p:sp>
        <p:nvSpPr>
          <p:cNvPr id="7" name="Text 5">
            <a:extLst>
              <a:ext uri="{FF2B5EF4-FFF2-40B4-BE49-F238E27FC236}">
                <a16:creationId xmlns:a16="http://schemas.microsoft.com/office/drawing/2014/main" id="{34FBD455-E366-8118-AF85-51A3112CE919}"/>
              </a:ext>
            </a:extLst>
          </p:cNvPr>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a:extLst>
              <a:ext uri="{FF2B5EF4-FFF2-40B4-BE49-F238E27FC236}">
                <a16:creationId xmlns:a16="http://schemas.microsoft.com/office/drawing/2014/main" id="{D9467F4C-7620-2705-6CFD-CB46251904E5}"/>
              </a:ext>
            </a:extLst>
          </p:cNvPr>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课程任务</a:t>
            </a:r>
            <a:endParaRPr lang="en-US" sz="800" dirty="0"/>
          </a:p>
        </p:txBody>
      </p:sp>
      <p:sp>
        <p:nvSpPr>
          <p:cNvPr id="9" name="Text 7">
            <a:extLst>
              <a:ext uri="{FF2B5EF4-FFF2-40B4-BE49-F238E27FC236}">
                <a16:creationId xmlns:a16="http://schemas.microsoft.com/office/drawing/2014/main" id="{63F91740-D052-3B7A-C902-CF01BBE6D4D4}"/>
              </a:ext>
            </a:extLst>
          </p:cNvPr>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02</a:t>
            </a:r>
            <a:endParaRPr lang="en-US" sz="850" dirty="0"/>
          </a:p>
        </p:txBody>
      </p:sp>
      <p:sp>
        <p:nvSpPr>
          <p:cNvPr id="10" name="Shape 8">
            <a:extLst>
              <a:ext uri="{FF2B5EF4-FFF2-40B4-BE49-F238E27FC236}">
                <a16:creationId xmlns:a16="http://schemas.microsoft.com/office/drawing/2014/main" id="{EEBF0FEA-7A59-164F-4110-7A88FB347516}"/>
              </a:ext>
            </a:extLst>
          </p:cNvPr>
          <p:cNvSpPr/>
          <p:nvPr/>
        </p:nvSpPr>
        <p:spPr>
          <a:xfrm>
            <a:off x="850392" y="2134320"/>
            <a:ext cx="10403762" cy="1047371"/>
          </a:xfrm>
          <a:prstGeom prst="roundRect">
            <a:avLst>
              <a:gd name="adj" fmla="val 2941"/>
            </a:avLst>
          </a:prstGeom>
          <a:solidFill>
            <a:srgbClr val="FBF9F4"/>
          </a:solidFill>
          <a:ln w="12700">
            <a:solidFill>
              <a:srgbClr val="D8D0C2"/>
            </a:solidFill>
            <a:prstDash val="solid"/>
          </a:ln>
        </p:spPr>
      </p:sp>
      <p:sp>
        <p:nvSpPr>
          <p:cNvPr id="27" name="Text 24">
            <a:extLst>
              <a:ext uri="{FF2B5EF4-FFF2-40B4-BE49-F238E27FC236}">
                <a16:creationId xmlns:a16="http://schemas.microsoft.com/office/drawing/2014/main" id="{BB689C26-941C-92B0-A4AE-693152D906C3}"/>
              </a:ext>
            </a:extLst>
          </p:cNvPr>
          <p:cNvSpPr/>
          <p:nvPr/>
        </p:nvSpPr>
        <p:spPr>
          <a:xfrm>
            <a:off x="850392" y="1705899"/>
            <a:ext cx="2455908" cy="374906"/>
          </a:xfrm>
          <a:prstGeom prst="rect">
            <a:avLst/>
          </a:prstGeom>
          <a:noFill/>
          <a:ln/>
        </p:spPr>
        <p:txBody>
          <a:bodyPr wrap="square" lIns="0" tIns="0" rIns="0" bIns="0" rtlCol="0" anchor="t">
            <a:normAutofit/>
          </a:bodyPr>
          <a:lstStyle/>
          <a:p>
            <a:pPr marL="0" indent="0">
              <a:buNone/>
            </a:pPr>
            <a:r>
              <a:rPr lang="en-US" sz="1900" b="1" dirty="0" err="1">
                <a:solidFill>
                  <a:srgbClr val="C35331"/>
                </a:solidFill>
                <a:latin typeface="PingFang SC" pitchFamily="34" charset="0"/>
                <a:ea typeface="PingFang SC" pitchFamily="34" charset="-122"/>
                <a:cs typeface="PingFang SC" pitchFamily="34" charset="-120"/>
              </a:rPr>
              <a:t>训练数据量大</a:t>
            </a:r>
            <a:endParaRPr lang="en-US" sz="1900" dirty="0"/>
          </a:p>
        </p:txBody>
      </p:sp>
      <p:sp>
        <p:nvSpPr>
          <p:cNvPr id="37" name="文本框 36">
            <a:extLst>
              <a:ext uri="{FF2B5EF4-FFF2-40B4-BE49-F238E27FC236}">
                <a16:creationId xmlns:a16="http://schemas.microsoft.com/office/drawing/2014/main" id="{7880935F-452B-C14A-E3A4-1F626C83AFE5}"/>
              </a:ext>
            </a:extLst>
          </p:cNvPr>
          <p:cNvSpPr txBox="1"/>
          <p:nvPr/>
        </p:nvSpPr>
        <p:spPr>
          <a:xfrm>
            <a:off x="1133856" y="2279449"/>
            <a:ext cx="9627929" cy="738664"/>
          </a:xfrm>
          <a:prstGeom prst="rect">
            <a:avLst/>
          </a:prstGeom>
          <a:noFill/>
        </p:spPr>
        <p:txBody>
          <a:bodyPr wrap="square">
            <a:spAutoFit/>
          </a:bodyPr>
          <a:lstStyle/>
          <a:p>
            <a:pPr marL="285750" indent="-285750">
              <a:buFont typeface="Arial" panose="020B0604020202020204" pitchFamily="34" charset="0"/>
              <a:buChar char="•"/>
            </a:pPr>
            <a:r>
              <a:rPr lang="zh-CN" altLang="zh-CN" sz="1400" dirty="0"/>
              <a:t>传统AI模型通常只学习某一个领域的数据</a:t>
            </a:r>
            <a:r>
              <a:rPr lang="zh-CN" altLang="en-US" sz="1400" dirty="0"/>
              <a:t>，但大模型训练的数据非常广泛，很可能是大模型公司能获取到的人类所有已知知识。</a:t>
            </a:r>
            <a:endParaRPr lang="en-US" altLang="zh-CN" sz="1400" dirty="0"/>
          </a:p>
          <a:p>
            <a:pPr marL="285750" indent="-285750">
              <a:buFont typeface="Arial" panose="020B0604020202020204" pitchFamily="34" charset="0"/>
              <a:buChar char="•"/>
            </a:pPr>
            <a:r>
              <a:rPr lang="zh-CN" altLang="zh-CN" sz="1400" dirty="0"/>
              <a:t>模型不是把所有资料原封不动地存进数据库，而是从大量数据中学习规律和关联。</a:t>
            </a:r>
            <a:endParaRPr lang="zh-CN" altLang="en-US" sz="1400" dirty="0"/>
          </a:p>
        </p:txBody>
      </p:sp>
      <p:sp>
        <p:nvSpPr>
          <p:cNvPr id="11" name="Text 24">
            <a:extLst>
              <a:ext uri="{FF2B5EF4-FFF2-40B4-BE49-F238E27FC236}">
                <a16:creationId xmlns:a16="http://schemas.microsoft.com/office/drawing/2014/main" id="{32517F36-2E26-0C11-CA79-F53DBDF5F57A}"/>
              </a:ext>
            </a:extLst>
          </p:cNvPr>
          <p:cNvSpPr/>
          <p:nvPr/>
        </p:nvSpPr>
        <p:spPr>
          <a:xfrm>
            <a:off x="850392" y="3584868"/>
            <a:ext cx="2455908" cy="374906"/>
          </a:xfrm>
          <a:prstGeom prst="rect">
            <a:avLst/>
          </a:prstGeom>
          <a:noFill/>
          <a:ln/>
        </p:spPr>
        <p:txBody>
          <a:bodyPr wrap="square" lIns="0" tIns="0" rIns="0" bIns="0" rtlCol="0" anchor="t">
            <a:normAutofit/>
          </a:bodyPr>
          <a:lstStyle/>
          <a:p>
            <a:pPr marL="0" indent="0">
              <a:buNone/>
            </a:pPr>
            <a:r>
              <a:rPr lang="en-US" sz="1900" b="1" dirty="0" err="1">
                <a:solidFill>
                  <a:srgbClr val="C35331"/>
                </a:solidFill>
                <a:latin typeface="PingFang SC" pitchFamily="34" charset="0"/>
                <a:ea typeface="PingFang SC" pitchFamily="34" charset="-122"/>
              </a:rPr>
              <a:t>能力范围大</a:t>
            </a:r>
            <a:endParaRPr lang="en-US" sz="1900" dirty="0"/>
          </a:p>
        </p:txBody>
      </p:sp>
      <p:sp>
        <p:nvSpPr>
          <p:cNvPr id="12" name="Shape 8">
            <a:extLst>
              <a:ext uri="{FF2B5EF4-FFF2-40B4-BE49-F238E27FC236}">
                <a16:creationId xmlns:a16="http://schemas.microsoft.com/office/drawing/2014/main" id="{607B0E02-EDEB-8C06-B8F8-ABCC5DC84A9B}"/>
              </a:ext>
            </a:extLst>
          </p:cNvPr>
          <p:cNvSpPr/>
          <p:nvPr/>
        </p:nvSpPr>
        <p:spPr>
          <a:xfrm>
            <a:off x="850392" y="4062234"/>
            <a:ext cx="10403762" cy="1047371"/>
          </a:xfrm>
          <a:prstGeom prst="roundRect">
            <a:avLst>
              <a:gd name="adj" fmla="val 2941"/>
            </a:avLst>
          </a:prstGeom>
          <a:solidFill>
            <a:srgbClr val="FBF9F4"/>
          </a:solidFill>
          <a:ln w="12700">
            <a:solidFill>
              <a:srgbClr val="D8D0C2"/>
            </a:solidFill>
            <a:prstDash val="solid"/>
          </a:ln>
        </p:spPr>
      </p:sp>
      <p:sp>
        <p:nvSpPr>
          <p:cNvPr id="13" name="文本框 12">
            <a:extLst>
              <a:ext uri="{FF2B5EF4-FFF2-40B4-BE49-F238E27FC236}">
                <a16:creationId xmlns:a16="http://schemas.microsoft.com/office/drawing/2014/main" id="{30F99646-7475-FB88-29C3-469A3540368C}"/>
              </a:ext>
            </a:extLst>
          </p:cNvPr>
          <p:cNvSpPr txBox="1"/>
          <p:nvPr/>
        </p:nvSpPr>
        <p:spPr>
          <a:xfrm>
            <a:off x="1133856" y="4207363"/>
            <a:ext cx="9627929" cy="738664"/>
          </a:xfrm>
          <a:prstGeom prst="rect">
            <a:avLst/>
          </a:prstGeom>
          <a:noFill/>
        </p:spPr>
        <p:txBody>
          <a:bodyPr wrap="square">
            <a:spAutoFit/>
          </a:bodyPr>
          <a:lstStyle/>
          <a:p>
            <a:pPr marL="285750" indent="-285750">
              <a:buFont typeface="Arial" panose="020B0604020202020204" pitchFamily="34" charset="0"/>
              <a:buChar char="•"/>
            </a:pPr>
            <a:r>
              <a:rPr lang="zh-CN" altLang="zh-CN" sz="1400" dirty="0"/>
              <a:t>传统AI通常是“一个模型，一个任务”。</a:t>
            </a:r>
            <a:r>
              <a:rPr lang="zh-CN" altLang="en-US" sz="1400" dirty="0"/>
              <a:t>比如</a:t>
            </a:r>
            <a:r>
              <a:rPr lang="zh-CN" altLang="zh-CN" sz="1400" dirty="0"/>
              <a:t>推荐模型</a:t>
            </a:r>
            <a:r>
              <a:rPr lang="zh-CN" altLang="en-US" sz="1400" dirty="0"/>
              <a:t>、</a:t>
            </a:r>
            <a:r>
              <a:rPr lang="zh-CN" altLang="zh-CN" sz="1400" dirty="0"/>
              <a:t>风控模型</a:t>
            </a:r>
            <a:r>
              <a:rPr lang="zh-CN" altLang="en-US" sz="1400" dirty="0"/>
              <a:t>、</a:t>
            </a:r>
            <a:r>
              <a:rPr lang="zh-CN" altLang="zh-CN" sz="1400" dirty="0"/>
              <a:t>OCR模型</a:t>
            </a:r>
            <a:r>
              <a:rPr lang="zh-CN" altLang="en-US" sz="1400" dirty="0"/>
              <a:t>、</a:t>
            </a:r>
            <a:r>
              <a:rPr lang="zh-CN" altLang="zh-CN" sz="1400" dirty="0"/>
              <a:t>情感模型</a:t>
            </a:r>
            <a:r>
              <a:rPr lang="zh-CN" altLang="en-US" sz="1400" dirty="0"/>
              <a:t>。</a:t>
            </a:r>
            <a:endParaRPr lang="en-US" altLang="zh-CN" sz="1400" dirty="0"/>
          </a:p>
          <a:p>
            <a:pPr marL="285750" lvl="0" indent="-285750">
              <a:buFont typeface="Arial" panose="020B0604020202020204" pitchFamily="34" charset="0"/>
              <a:buChar char="•"/>
            </a:pPr>
            <a:r>
              <a:rPr lang="zh-CN" altLang="en-US" sz="1400" dirty="0"/>
              <a:t>大模型</a:t>
            </a:r>
            <a:r>
              <a:rPr lang="zh-CN" altLang="zh-CN" sz="1400" dirty="0"/>
              <a:t>可以通过不同指令完成很多不同任务</a:t>
            </a:r>
            <a:r>
              <a:rPr lang="zh-CN" altLang="en-US" sz="1400" dirty="0"/>
              <a:t>，如</a:t>
            </a:r>
            <a:r>
              <a:rPr lang="zh-CN" altLang="zh-CN" sz="1400" dirty="0"/>
              <a:t>总结文章 </a:t>
            </a:r>
            <a:r>
              <a:rPr lang="zh-CN" altLang="en-US" sz="1400" dirty="0"/>
              <a:t>、</a:t>
            </a:r>
            <a:r>
              <a:rPr lang="zh-CN" altLang="zh-CN" sz="1400" dirty="0"/>
              <a:t>撰写文案 </a:t>
            </a:r>
            <a:r>
              <a:rPr lang="zh-CN" altLang="en-US" sz="1400" dirty="0"/>
              <a:t>、</a:t>
            </a:r>
            <a:r>
              <a:rPr lang="zh-CN" altLang="zh-CN" sz="1400" dirty="0"/>
              <a:t>翻译内容</a:t>
            </a:r>
            <a:r>
              <a:rPr lang="zh-CN" altLang="en-US" sz="1400" dirty="0"/>
              <a:t>、</a:t>
            </a:r>
            <a:r>
              <a:rPr lang="zh-CN" altLang="zh-CN" sz="1400" dirty="0"/>
              <a:t>分类投诉 </a:t>
            </a:r>
            <a:r>
              <a:rPr lang="zh-CN" altLang="en-US" sz="1400" dirty="0"/>
              <a:t>、</a:t>
            </a:r>
            <a:r>
              <a:rPr lang="zh-CN" altLang="zh-CN" sz="1400" dirty="0"/>
              <a:t>提取信息</a:t>
            </a:r>
            <a:r>
              <a:rPr lang="zh-CN" altLang="en-US" sz="1400" dirty="0"/>
              <a:t>。</a:t>
            </a:r>
            <a:endParaRPr lang="en-US" altLang="zh-CN" sz="1400" dirty="0"/>
          </a:p>
          <a:p>
            <a:pPr marL="285750" lvl="0" indent="-285750">
              <a:buFont typeface="Arial" panose="020B0604020202020204" pitchFamily="34" charset="0"/>
              <a:buChar char="•"/>
            </a:pPr>
            <a:r>
              <a:rPr lang="zh-CN" altLang="zh-CN" sz="1400" dirty="0"/>
              <a:t>大模型不是一个具体功能，而是一个可以承载大量功能的通用能力底座。</a:t>
            </a:r>
          </a:p>
        </p:txBody>
      </p:sp>
    </p:spTree>
    <p:extLst>
      <p:ext uri="{BB962C8B-B14F-4D97-AF65-F5344CB8AC3E}">
        <p14:creationId xmlns:p14="http://schemas.microsoft.com/office/powerpoint/2010/main" val="3735422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3AC35F88-100C-A7B6-C961-EDED87E7BED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51F840B-17BD-B673-9178-878E5029DDAE}"/>
              </a:ext>
            </a:extLst>
          </p:cNvPr>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a:extLst>
              <a:ext uri="{FF2B5EF4-FFF2-40B4-BE49-F238E27FC236}">
                <a16:creationId xmlns:a16="http://schemas.microsoft.com/office/drawing/2014/main" id="{30F4392E-DF60-2CCF-A383-998E60F4D1A4}"/>
              </a:ext>
            </a:extLst>
          </p:cNvPr>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02</a:t>
            </a:r>
            <a:endParaRPr lang="en-US" sz="900" dirty="0"/>
          </a:p>
        </p:txBody>
      </p:sp>
      <p:sp>
        <p:nvSpPr>
          <p:cNvPr id="4" name="Text 2">
            <a:extLst>
              <a:ext uri="{FF2B5EF4-FFF2-40B4-BE49-F238E27FC236}">
                <a16:creationId xmlns:a16="http://schemas.microsoft.com/office/drawing/2014/main" id="{DCF6DE31-A319-1D76-27E6-A317576BA25C}"/>
              </a:ext>
            </a:extLst>
          </p:cNvPr>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课程任务</a:t>
            </a:r>
            <a:endParaRPr lang="en-US" sz="950" dirty="0"/>
          </a:p>
        </p:txBody>
      </p:sp>
      <p:sp>
        <p:nvSpPr>
          <p:cNvPr id="5" name="Text 3">
            <a:extLst>
              <a:ext uri="{FF2B5EF4-FFF2-40B4-BE49-F238E27FC236}">
                <a16:creationId xmlns:a16="http://schemas.microsoft.com/office/drawing/2014/main" id="{C2A07E5F-0B27-E5D3-A77E-F2215582B6F2}"/>
              </a:ext>
            </a:extLst>
          </p:cNvPr>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大模型的</a:t>
            </a:r>
            <a:r>
              <a:rPr lang="zh-CN" altLang="en-US" sz="2500" b="1" dirty="0">
                <a:solidFill>
                  <a:srgbClr val="20211F"/>
                </a:solidFill>
                <a:latin typeface="PingFang SC" pitchFamily="34" charset="0"/>
                <a:ea typeface="PingFang SC" pitchFamily="34" charset="-122"/>
                <a:cs typeface="PingFang SC" pitchFamily="34" charset="-120"/>
              </a:rPr>
              <a:t>“大 ” 体现在哪里？</a:t>
            </a:r>
            <a:endParaRPr lang="en-US" sz="2500" dirty="0"/>
          </a:p>
        </p:txBody>
      </p:sp>
      <p:sp>
        <p:nvSpPr>
          <p:cNvPr id="6" name="Shape 4">
            <a:extLst>
              <a:ext uri="{FF2B5EF4-FFF2-40B4-BE49-F238E27FC236}">
                <a16:creationId xmlns:a16="http://schemas.microsoft.com/office/drawing/2014/main" id="{47017D36-2EC5-5C51-382E-C040252977E1}"/>
              </a:ext>
            </a:extLst>
          </p:cNvPr>
          <p:cNvSpPr/>
          <p:nvPr/>
        </p:nvSpPr>
        <p:spPr>
          <a:xfrm>
            <a:off x="548640" y="1391695"/>
            <a:ext cx="11018520" cy="0"/>
          </a:xfrm>
          <a:prstGeom prst="line">
            <a:avLst/>
          </a:prstGeom>
          <a:noFill/>
          <a:ln w="12700">
            <a:solidFill>
              <a:srgbClr val="D8D0C2"/>
            </a:solidFill>
            <a:prstDash val="solid"/>
          </a:ln>
        </p:spPr>
      </p:sp>
      <p:sp>
        <p:nvSpPr>
          <p:cNvPr id="7" name="Text 5">
            <a:extLst>
              <a:ext uri="{FF2B5EF4-FFF2-40B4-BE49-F238E27FC236}">
                <a16:creationId xmlns:a16="http://schemas.microsoft.com/office/drawing/2014/main" id="{E5BA2A07-8257-8C2B-CE4B-1C9B0DE43322}"/>
              </a:ext>
            </a:extLst>
          </p:cNvPr>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a:extLst>
              <a:ext uri="{FF2B5EF4-FFF2-40B4-BE49-F238E27FC236}">
                <a16:creationId xmlns:a16="http://schemas.microsoft.com/office/drawing/2014/main" id="{6364333C-537C-AF37-A67F-A8E10DE4EEE1}"/>
              </a:ext>
            </a:extLst>
          </p:cNvPr>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课程任务</a:t>
            </a:r>
            <a:endParaRPr lang="en-US" sz="800" dirty="0"/>
          </a:p>
        </p:txBody>
      </p:sp>
      <p:sp>
        <p:nvSpPr>
          <p:cNvPr id="9" name="Text 7">
            <a:extLst>
              <a:ext uri="{FF2B5EF4-FFF2-40B4-BE49-F238E27FC236}">
                <a16:creationId xmlns:a16="http://schemas.microsoft.com/office/drawing/2014/main" id="{750BD535-80C4-280A-C5A8-F2E84687A1C8}"/>
              </a:ext>
            </a:extLst>
          </p:cNvPr>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02</a:t>
            </a:r>
            <a:endParaRPr lang="en-US" sz="850" dirty="0"/>
          </a:p>
        </p:txBody>
      </p:sp>
      <p:sp>
        <p:nvSpPr>
          <p:cNvPr id="27" name="Text 24">
            <a:extLst>
              <a:ext uri="{FF2B5EF4-FFF2-40B4-BE49-F238E27FC236}">
                <a16:creationId xmlns:a16="http://schemas.microsoft.com/office/drawing/2014/main" id="{89BC4FFE-C8C3-E88E-D554-810ED46E459F}"/>
              </a:ext>
            </a:extLst>
          </p:cNvPr>
          <p:cNvSpPr/>
          <p:nvPr/>
        </p:nvSpPr>
        <p:spPr>
          <a:xfrm>
            <a:off x="850391" y="1823269"/>
            <a:ext cx="8844593" cy="374906"/>
          </a:xfrm>
          <a:prstGeom prst="rect">
            <a:avLst/>
          </a:prstGeom>
          <a:noFill/>
          <a:ln/>
        </p:spPr>
        <p:txBody>
          <a:bodyPr wrap="square" lIns="0" tIns="0" rIns="0" bIns="0" rtlCol="0" anchor="t">
            <a:normAutofit/>
          </a:bodyPr>
          <a:lstStyle/>
          <a:p>
            <a:pPr marL="342900" indent="-342900">
              <a:buFont typeface="Arial" panose="020B0604020202020204" pitchFamily="34" charset="0"/>
              <a:buChar char="•"/>
            </a:pPr>
            <a:r>
              <a:rPr lang="en-US" b="1" dirty="0" err="1">
                <a:solidFill>
                  <a:srgbClr val="C35331"/>
                </a:solidFill>
                <a:latin typeface="+mn-ea"/>
              </a:rPr>
              <a:t>量变引起质变</a:t>
            </a:r>
            <a:r>
              <a:rPr lang="zh-CN" altLang="en-US" b="1" dirty="0">
                <a:solidFill>
                  <a:srgbClr val="C35331"/>
                </a:solidFill>
                <a:latin typeface="+mn-ea"/>
              </a:rPr>
              <a:t>：</a:t>
            </a:r>
            <a:r>
              <a:rPr lang="zh-CN" altLang="zh-CN" dirty="0"/>
              <a:t>规模扩大后，模型出现了过去小模型不明显具备的能力</a:t>
            </a:r>
            <a:endParaRPr lang="en-US" altLang="zh-CN" dirty="0"/>
          </a:p>
        </p:txBody>
      </p:sp>
      <p:sp>
        <p:nvSpPr>
          <p:cNvPr id="14" name="Text 24">
            <a:extLst>
              <a:ext uri="{FF2B5EF4-FFF2-40B4-BE49-F238E27FC236}">
                <a16:creationId xmlns:a16="http://schemas.microsoft.com/office/drawing/2014/main" id="{652F0F82-55C3-AD6B-02BB-D75B77FC834A}"/>
              </a:ext>
            </a:extLst>
          </p:cNvPr>
          <p:cNvSpPr/>
          <p:nvPr/>
        </p:nvSpPr>
        <p:spPr>
          <a:xfrm>
            <a:off x="850391" y="2442295"/>
            <a:ext cx="9676932" cy="374906"/>
          </a:xfrm>
          <a:prstGeom prst="rect">
            <a:avLst/>
          </a:prstGeom>
          <a:noFill/>
          <a:ln/>
        </p:spPr>
        <p:txBody>
          <a:bodyPr wrap="square" lIns="0" tIns="0" rIns="0" bIns="0" rtlCol="0" anchor="t">
            <a:noAutofit/>
          </a:bodyPr>
          <a:lstStyle/>
          <a:p>
            <a:pPr marL="342900" indent="-342900">
              <a:buFont typeface="Arial" panose="020B0604020202020204" pitchFamily="34" charset="0"/>
              <a:buChar char="•"/>
            </a:pPr>
            <a:r>
              <a:rPr lang="zh-CN" altLang="zh-CN" b="1" dirty="0">
                <a:solidFill>
                  <a:srgbClr val="C35331"/>
                </a:solidFill>
              </a:rPr>
              <a:t>学习的是规律，而不是固定答案</a:t>
            </a:r>
            <a:r>
              <a:rPr lang="zh-CN" altLang="en-US" b="1" dirty="0">
                <a:solidFill>
                  <a:srgbClr val="C35331"/>
                </a:solidFill>
              </a:rPr>
              <a:t>：</a:t>
            </a:r>
            <a:r>
              <a:rPr lang="zh-CN" altLang="zh-CN" dirty="0"/>
              <a:t>小模型更像记住一些题型和解法，大模型开始形成一种处理陌生题目的能力。</a:t>
            </a:r>
            <a:endParaRPr lang="en-US" altLang="zh-CN" dirty="0"/>
          </a:p>
        </p:txBody>
      </p:sp>
      <p:sp>
        <p:nvSpPr>
          <p:cNvPr id="18" name="文本框 17">
            <a:extLst>
              <a:ext uri="{FF2B5EF4-FFF2-40B4-BE49-F238E27FC236}">
                <a16:creationId xmlns:a16="http://schemas.microsoft.com/office/drawing/2014/main" id="{7551B535-CE36-DCC1-375F-29EE216F9AAB}"/>
              </a:ext>
            </a:extLst>
          </p:cNvPr>
          <p:cNvSpPr txBox="1"/>
          <p:nvPr/>
        </p:nvSpPr>
        <p:spPr>
          <a:xfrm>
            <a:off x="3048000" y="5030159"/>
            <a:ext cx="6096000" cy="369332"/>
          </a:xfrm>
          <a:prstGeom prst="rect">
            <a:avLst/>
          </a:prstGeom>
          <a:noFill/>
        </p:spPr>
        <p:txBody>
          <a:bodyPr wrap="square">
            <a:spAutoFit/>
          </a:bodyPr>
          <a:lstStyle/>
          <a:p>
            <a:pPr algn="ctr"/>
            <a:r>
              <a:rPr lang="zh-CN" altLang="zh-CN" b="1" dirty="0"/>
              <a:t>为什么参数多不一定更聪明</a:t>
            </a:r>
            <a:r>
              <a:rPr lang="zh-CN" altLang="en-US" b="1" dirty="0"/>
              <a:t>？</a:t>
            </a:r>
          </a:p>
        </p:txBody>
      </p:sp>
    </p:spTree>
    <p:extLst>
      <p:ext uri="{BB962C8B-B14F-4D97-AF65-F5344CB8AC3E}">
        <p14:creationId xmlns:p14="http://schemas.microsoft.com/office/powerpoint/2010/main" val="388753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1B3AD85D-B617-618B-9584-DB5A7089CCE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5E4E540-3F2E-F100-C364-2C40267D7709}"/>
              </a:ext>
            </a:extLst>
          </p:cNvPr>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a:extLst>
              <a:ext uri="{FF2B5EF4-FFF2-40B4-BE49-F238E27FC236}">
                <a16:creationId xmlns:a16="http://schemas.microsoft.com/office/drawing/2014/main" id="{1FF51581-C118-CE6E-9597-55A7A799038B}"/>
              </a:ext>
            </a:extLst>
          </p:cNvPr>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02</a:t>
            </a:r>
            <a:endParaRPr lang="en-US" sz="900" dirty="0"/>
          </a:p>
        </p:txBody>
      </p:sp>
      <p:sp>
        <p:nvSpPr>
          <p:cNvPr id="4" name="Text 2">
            <a:extLst>
              <a:ext uri="{FF2B5EF4-FFF2-40B4-BE49-F238E27FC236}">
                <a16:creationId xmlns:a16="http://schemas.microsoft.com/office/drawing/2014/main" id="{41018338-6802-9FCD-A7D8-0FB5343DA627}"/>
              </a:ext>
            </a:extLst>
          </p:cNvPr>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课程任务</a:t>
            </a:r>
            <a:endParaRPr lang="en-US" sz="950" dirty="0"/>
          </a:p>
        </p:txBody>
      </p:sp>
      <p:sp>
        <p:nvSpPr>
          <p:cNvPr id="5" name="Text 3">
            <a:extLst>
              <a:ext uri="{FF2B5EF4-FFF2-40B4-BE49-F238E27FC236}">
                <a16:creationId xmlns:a16="http://schemas.microsoft.com/office/drawing/2014/main" id="{8179E758-4672-BF02-3197-7C17DB050E27}"/>
              </a:ext>
            </a:extLst>
          </p:cNvPr>
          <p:cNvSpPr/>
          <p:nvPr/>
        </p:nvSpPr>
        <p:spPr>
          <a:xfrm>
            <a:off x="566928" y="713232"/>
            <a:ext cx="10972800" cy="475488"/>
          </a:xfrm>
          <a:prstGeom prst="rect">
            <a:avLst/>
          </a:prstGeom>
          <a:noFill/>
          <a:ln/>
        </p:spPr>
        <p:txBody>
          <a:bodyPr wrap="square" lIns="0" tIns="0" rIns="0" bIns="0" rtlCol="0" anchor="t">
            <a:normAutofit/>
          </a:bodyPr>
          <a:lstStyle/>
          <a:p>
            <a:r>
              <a:rPr lang="en-US" altLang="zh-CN" sz="2500" b="1" dirty="0" err="1">
                <a:solidFill>
                  <a:srgbClr val="1D1D1F"/>
                </a:solidFill>
                <a:latin typeface="+mn-ea"/>
                <a:cs typeface="Noto Sans CJK SC" pitchFamily="34" charset="-120"/>
              </a:rPr>
              <a:t>大模型的训练过程：从“会续写”到“会回答</a:t>
            </a:r>
            <a:r>
              <a:rPr lang="en-US" altLang="zh-CN" sz="2500" b="1" dirty="0">
                <a:solidFill>
                  <a:srgbClr val="1D1D1F"/>
                </a:solidFill>
                <a:latin typeface="+mn-ea"/>
                <a:cs typeface="Noto Sans CJK SC" pitchFamily="34" charset="-120"/>
              </a:rPr>
              <a:t>”</a:t>
            </a:r>
            <a:endParaRPr lang="en-US" altLang="zh-CN" sz="2500" b="1" dirty="0">
              <a:latin typeface="+mn-ea"/>
            </a:endParaRPr>
          </a:p>
        </p:txBody>
      </p:sp>
      <p:sp>
        <p:nvSpPr>
          <p:cNvPr id="6" name="Shape 4">
            <a:extLst>
              <a:ext uri="{FF2B5EF4-FFF2-40B4-BE49-F238E27FC236}">
                <a16:creationId xmlns:a16="http://schemas.microsoft.com/office/drawing/2014/main" id="{09F3431B-C828-D927-336A-EF9A56D6A830}"/>
              </a:ext>
            </a:extLst>
          </p:cNvPr>
          <p:cNvSpPr/>
          <p:nvPr/>
        </p:nvSpPr>
        <p:spPr>
          <a:xfrm>
            <a:off x="548640" y="1391695"/>
            <a:ext cx="11018520" cy="0"/>
          </a:xfrm>
          <a:prstGeom prst="line">
            <a:avLst/>
          </a:prstGeom>
          <a:noFill/>
          <a:ln w="12700">
            <a:solidFill>
              <a:srgbClr val="D8D0C2"/>
            </a:solidFill>
            <a:prstDash val="solid"/>
          </a:ln>
        </p:spPr>
      </p:sp>
      <p:sp>
        <p:nvSpPr>
          <p:cNvPr id="7" name="Text 5">
            <a:extLst>
              <a:ext uri="{FF2B5EF4-FFF2-40B4-BE49-F238E27FC236}">
                <a16:creationId xmlns:a16="http://schemas.microsoft.com/office/drawing/2014/main" id="{BAE4F938-0243-6EBE-548F-804A8786F7BE}"/>
              </a:ext>
            </a:extLst>
          </p:cNvPr>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a:extLst>
              <a:ext uri="{FF2B5EF4-FFF2-40B4-BE49-F238E27FC236}">
                <a16:creationId xmlns:a16="http://schemas.microsoft.com/office/drawing/2014/main" id="{B1ACACCF-EB82-0621-8260-15FBCFFC955F}"/>
              </a:ext>
            </a:extLst>
          </p:cNvPr>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课程任务</a:t>
            </a:r>
            <a:endParaRPr lang="en-US" sz="800" dirty="0"/>
          </a:p>
        </p:txBody>
      </p:sp>
      <p:sp>
        <p:nvSpPr>
          <p:cNvPr id="9" name="Text 7">
            <a:extLst>
              <a:ext uri="{FF2B5EF4-FFF2-40B4-BE49-F238E27FC236}">
                <a16:creationId xmlns:a16="http://schemas.microsoft.com/office/drawing/2014/main" id="{C9AADAF2-FC76-96CB-EA56-76D52BF5C14E}"/>
              </a:ext>
            </a:extLst>
          </p:cNvPr>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02</a:t>
            </a:r>
            <a:endParaRPr lang="en-US" sz="850" dirty="0"/>
          </a:p>
        </p:txBody>
      </p:sp>
      <p:sp>
        <p:nvSpPr>
          <p:cNvPr id="10" name="Text 5">
            <a:extLst>
              <a:ext uri="{FF2B5EF4-FFF2-40B4-BE49-F238E27FC236}">
                <a16:creationId xmlns:a16="http://schemas.microsoft.com/office/drawing/2014/main" id="{E217174F-42A5-B0E6-4FFA-D615B8AFBD92}"/>
              </a:ext>
            </a:extLst>
          </p:cNvPr>
          <p:cNvSpPr/>
          <p:nvPr/>
        </p:nvSpPr>
        <p:spPr>
          <a:xfrm>
            <a:off x="731520" y="1897380"/>
            <a:ext cx="109728" cy="201168"/>
          </a:xfrm>
          <a:prstGeom prst="rect">
            <a:avLst/>
          </a:prstGeom>
          <a:noFill/>
          <a:ln/>
        </p:spPr>
        <p:txBody>
          <a:bodyPr wrap="square" lIns="0" tIns="0" rIns="0" bIns="0" rtlCol="0" anchor="ctr"/>
          <a:lstStyle/>
          <a:p>
            <a:pPr marL="0" indent="0">
              <a:buNone/>
            </a:pPr>
            <a:r>
              <a:rPr lang="en-US" sz="1600" b="1" dirty="0">
                <a:solidFill>
                  <a:srgbClr val="C94F2C"/>
                </a:solidFill>
                <a:latin typeface="Noto Sans CJK SC" pitchFamily="34" charset="0"/>
                <a:ea typeface="Noto Sans CJK SC" pitchFamily="34" charset="-122"/>
                <a:cs typeface="Noto Sans CJK SC" pitchFamily="34" charset="-120"/>
              </a:rPr>
              <a:t>•</a:t>
            </a:r>
            <a:endParaRPr lang="en-US" sz="1600" dirty="0"/>
          </a:p>
        </p:txBody>
      </p:sp>
      <p:sp>
        <p:nvSpPr>
          <p:cNvPr id="11" name="Text 6">
            <a:extLst>
              <a:ext uri="{FF2B5EF4-FFF2-40B4-BE49-F238E27FC236}">
                <a16:creationId xmlns:a16="http://schemas.microsoft.com/office/drawing/2014/main" id="{0A83D3C1-A599-3869-76CC-09EAA3E8283B}"/>
              </a:ext>
            </a:extLst>
          </p:cNvPr>
          <p:cNvSpPr/>
          <p:nvPr/>
        </p:nvSpPr>
        <p:spPr>
          <a:xfrm>
            <a:off x="1143000" y="1886712"/>
            <a:ext cx="9738360" cy="713232"/>
          </a:xfrm>
          <a:prstGeom prst="rect">
            <a:avLst/>
          </a:prstGeom>
          <a:noFill/>
          <a:ln/>
        </p:spPr>
        <p:txBody>
          <a:bodyPr wrap="square" lIns="0" tIns="0" rIns="0" bIns="0" rtlCol="0" anchor="t">
            <a:normAutofit/>
          </a:bodyPr>
          <a:lstStyle/>
          <a:p>
            <a:pPr marL="0" indent="0">
              <a:buNone/>
            </a:pPr>
            <a:r>
              <a:rPr lang="en-US" sz="1800" b="1" dirty="0">
                <a:solidFill>
                  <a:srgbClr val="C94F2C"/>
                </a:solidFill>
                <a:latin typeface="Noto Sans CJK SC" pitchFamily="34" charset="0"/>
                <a:ea typeface="Noto Sans CJK SC" pitchFamily="34" charset="-122"/>
                <a:cs typeface="Noto Sans CJK SC" pitchFamily="34" charset="-120"/>
              </a:rPr>
              <a:t>大量阅读，建立基础能力：</a:t>
            </a:r>
            <a:r>
              <a:rPr lang="en-US" sz="1800" dirty="0">
                <a:solidFill>
                  <a:srgbClr val="1D1D1F"/>
                </a:solidFill>
                <a:latin typeface="Noto Sans CJK SC" pitchFamily="34" charset="0"/>
                <a:ea typeface="Noto Sans CJK SC" pitchFamily="34" charset="-122"/>
                <a:cs typeface="Noto Sans CJK SC" pitchFamily="34" charset="-120"/>
              </a:rPr>
              <a:t>预训练让模型在海量文本、代码等数据中，通过预测下一个Token学习语言规律、知识关联、代码和基础推理能力。</a:t>
            </a:r>
            <a:endParaRPr lang="en-US" sz="1800" dirty="0"/>
          </a:p>
        </p:txBody>
      </p:sp>
      <p:sp>
        <p:nvSpPr>
          <p:cNvPr id="12" name="Text 7">
            <a:extLst>
              <a:ext uri="{FF2B5EF4-FFF2-40B4-BE49-F238E27FC236}">
                <a16:creationId xmlns:a16="http://schemas.microsoft.com/office/drawing/2014/main" id="{0110BDFB-F50C-C6BD-65CB-DA91AF0B02BA}"/>
              </a:ext>
            </a:extLst>
          </p:cNvPr>
          <p:cNvSpPr/>
          <p:nvPr/>
        </p:nvSpPr>
        <p:spPr>
          <a:xfrm>
            <a:off x="731520" y="2839212"/>
            <a:ext cx="109728" cy="201168"/>
          </a:xfrm>
          <a:prstGeom prst="rect">
            <a:avLst/>
          </a:prstGeom>
          <a:noFill/>
          <a:ln/>
        </p:spPr>
        <p:txBody>
          <a:bodyPr wrap="square" lIns="0" tIns="0" rIns="0" bIns="0" rtlCol="0" anchor="ctr"/>
          <a:lstStyle/>
          <a:p>
            <a:pPr marL="0" indent="0">
              <a:buNone/>
            </a:pPr>
            <a:r>
              <a:rPr lang="en-US" sz="1600" b="1" dirty="0">
                <a:solidFill>
                  <a:srgbClr val="C94F2C"/>
                </a:solidFill>
                <a:latin typeface="Noto Sans CJK SC" pitchFamily="34" charset="0"/>
                <a:ea typeface="Noto Sans CJK SC" pitchFamily="34" charset="-122"/>
                <a:cs typeface="Noto Sans CJK SC" pitchFamily="34" charset="-120"/>
              </a:rPr>
              <a:t>•</a:t>
            </a:r>
            <a:endParaRPr lang="en-US" sz="1600" dirty="0"/>
          </a:p>
        </p:txBody>
      </p:sp>
      <p:sp>
        <p:nvSpPr>
          <p:cNvPr id="13" name="Text 8">
            <a:extLst>
              <a:ext uri="{FF2B5EF4-FFF2-40B4-BE49-F238E27FC236}">
                <a16:creationId xmlns:a16="http://schemas.microsoft.com/office/drawing/2014/main" id="{CEEEFF09-92F6-62F5-0E7C-55E898C2E278}"/>
              </a:ext>
            </a:extLst>
          </p:cNvPr>
          <p:cNvSpPr/>
          <p:nvPr/>
        </p:nvSpPr>
        <p:spPr>
          <a:xfrm>
            <a:off x="1143000" y="2828544"/>
            <a:ext cx="9738360" cy="786384"/>
          </a:xfrm>
          <a:prstGeom prst="rect">
            <a:avLst/>
          </a:prstGeom>
          <a:noFill/>
          <a:ln/>
        </p:spPr>
        <p:txBody>
          <a:bodyPr wrap="square" lIns="0" tIns="0" rIns="0" bIns="0" rtlCol="0" anchor="t">
            <a:normAutofit/>
          </a:bodyPr>
          <a:lstStyle/>
          <a:p>
            <a:pPr marL="0" indent="0">
              <a:buNone/>
            </a:pPr>
            <a:r>
              <a:rPr lang="en-US" sz="1800" b="1" dirty="0">
                <a:solidFill>
                  <a:srgbClr val="C94F2C"/>
                </a:solidFill>
                <a:latin typeface="Noto Sans CJK SC" pitchFamily="34" charset="0"/>
                <a:ea typeface="Noto Sans CJK SC" pitchFamily="34" charset="-122"/>
                <a:cs typeface="Noto Sans CJK SC" pitchFamily="34" charset="-120"/>
              </a:rPr>
              <a:t>老师示范，学会按要求回答：</a:t>
            </a:r>
            <a:r>
              <a:rPr lang="en-US" sz="1800" dirty="0">
                <a:solidFill>
                  <a:srgbClr val="1D1D1F"/>
                </a:solidFill>
                <a:latin typeface="Noto Sans CJK SC" pitchFamily="34" charset="0"/>
                <a:ea typeface="Noto Sans CJK SC" pitchFamily="34" charset="-122"/>
                <a:cs typeface="Noto Sans CJK SC" pitchFamily="34" charset="-120"/>
              </a:rPr>
              <a:t>有监督指令微调用大量“用户指令＋优秀回答”样本，教模型理解任务，并按要求完成总结、翻译、分析、写作等。</a:t>
            </a:r>
            <a:endParaRPr lang="en-US" sz="1800" dirty="0"/>
          </a:p>
        </p:txBody>
      </p:sp>
      <p:sp>
        <p:nvSpPr>
          <p:cNvPr id="15" name="Text 9">
            <a:extLst>
              <a:ext uri="{FF2B5EF4-FFF2-40B4-BE49-F238E27FC236}">
                <a16:creationId xmlns:a16="http://schemas.microsoft.com/office/drawing/2014/main" id="{024A919C-AD7E-149E-E764-465BD00EABA2}"/>
              </a:ext>
            </a:extLst>
          </p:cNvPr>
          <p:cNvSpPr/>
          <p:nvPr/>
        </p:nvSpPr>
        <p:spPr>
          <a:xfrm>
            <a:off x="731520" y="3863340"/>
            <a:ext cx="109728" cy="201168"/>
          </a:xfrm>
          <a:prstGeom prst="rect">
            <a:avLst/>
          </a:prstGeom>
          <a:noFill/>
          <a:ln/>
        </p:spPr>
        <p:txBody>
          <a:bodyPr wrap="square" lIns="0" tIns="0" rIns="0" bIns="0" rtlCol="0" anchor="ctr"/>
          <a:lstStyle/>
          <a:p>
            <a:pPr marL="0" indent="0">
              <a:buNone/>
            </a:pPr>
            <a:r>
              <a:rPr lang="en-US" sz="1600" b="1" dirty="0">
                <a:solidFill>
                  <a:srgbClr val="C94F2C"/>
                </a:solidFill>
                <a:latin typeface="Noto Sans CJK SC" pitchFamily="34" charset="0"/>
                <a:ea typeface="Noto Sans CJK SC" pitchFamily="34" charset="-122"/>
                <a:cs typeface="Noto Sans CJK SC" pitchFamily="34" charset="-120"/>
              </a:rPr>
              <a:t>•</a:t>
            </a:r>
            <a:endParaRPr lang="en-US" sz="1600" dirty="0"/>
          </a:p>
        </p:txBody>
      </p:sp>
      <p:sp>
        <p:nvSpPr>
          <p:cNvPr id="16" name="Text 10">
            <a:extLst>
              <a:ext uri="{FF2B5EF4-FFF2-40B4-BE49-F238E27FC236}">
                <a16:creationId xmlns:a16="http://schemas.microsoft.com/office/drawing/2014/main" id="{8744ABA4-7A5B-CF39-D861-D32C36F77B09}"/>
              </a:ext>
            </a:extLst>
          </p:cNvPr>
          <p:cNvSpPr/>
          <p:nvPr/>
        </p:nvSpPr>
        <p:spPr>
          <a:xfrm>
            <a:off x="1143000" y="3852672"/>
            <a:ext cx="9738360" cy="804672"/>
          </a:xfrm>
          <a:prstGeom prst="rect">
            <a:avLst/>
          </a:prstGeom>
          <a:noFill/>
          <a:ln/>
        </p:spPr>
        <p:txBody>
          <a:bodyPr wrap="square" lIns="0" tIns="0" rIns="0" bIns="0" rtlCol="0" anchor="t">
            <a:normAutofit/>
          </a:bodyPr>
          <a:lstStyle/>
          <a:p>
            <a:pPr marL="0" indent="0">
              <a:buNone/>
            </a:pPr>
            <a:r>
              <a:rPr lang="en-US" sz="1800" b="1" dirty="0">
                <a:solidFill>
                  <a:srgbClr val="C94F2C"/>
                </a:solidFill>
                <a:latin typeface="Noto Sans CJK SC" pitchFamily="34" charset="0"/>
                <a:ea typeface="Noto Sans CJK SC" pitchFamily="34" charset="-122"/>
                <a:cs typeface="Noto Sans CJK SC" pitchFamily="34" charset="-120"/>
              </a:rPr>
              <a:t>批改反馈，学会什么是好答案：</a:t>
            </a:r>
            <a:r>
              <a:rPr lang="en-US" sz="1800" dirty="0">
                <a:solidFill>
                  <a:srgbClr val="1D1D1F"/>
                </a:solidFill>
                <a:latin typeface="Noto Sans CJK SC" pitchFamily="34" charset="0"/>
                <a:ea typeface="Noto Sans CJK SC" pitchFamily="34" charset="-122"/>
                <a:cs typeface="Noto Sans CJK SC" pitchFamily="34" charset="-120"/>
              </a:rPr>
              <a:t>偏好对齐让模型比较多个回答的好坏，变得更有帮助、清晰、安全；但它不能保证事实准确，也不能彻底消除幻觉。</a:t>
            </a:r>
            <a:endParaRPr lang="en-US" sz="1800" dirty="0"/>
          </a:p>
        </p:txBody>
      </p:sp>
      <p:sp>
        <p:nvSpPr>
          <p:cNvPr id="17" name="Text 11">
            <a:extLst>
              <a:ext uri="{FF2B5EF4-FFF2-40B4-BE49-F238E27FC236}">
                <a16:creationId xmlns:a16="http://schemas.microsoft.com/office/drawing/2014/main" id="{A630E047-8003-6F95-B175-5BC0A400AE7E}"/>
              </a:ext>
            </a:extLst>
          </p:cNvPr>
          <p:cNvSpPr/>
          <p:nvPr/>
        </p:nvSpPr>
        <p:spPr>
          <a:xfrm>
            <a:off x="1243584" y="5285232"/>
            <a:ext cx="9692640" cy="384048"/>
          </a:xfrm>
          <a:prstGeom prst="rect">
            <a:avLst/>
          </a:prstGeom>
          <a:noFill/>
          <a:ln/>
        </p:spPr>
        <p:txBody>
          <a:bodyPr wrap="square" lIns="0" tIns="0" rIns="0" bIns="0" rtlCol="0" anchor="ctr">
            <a:normAutofit/>
          </a:bodyPr>
          <a:lstStyle/>
          <a:p>
            <a:pPr marL="0" indent="0" algn="ctr">
              <a:buNone/>
            </a:pPr>
            <a:r>
              <a:rPr lang="en-US" sz="1620" b="1" dirty="0">
                <a:solidFill>
                  <a:srgbClr val="1D1D1F"/>
                </a:solidFill>
                <a:latin typeface="Noto Sans CJK SC" pitchFamily="34" charset="0"/>
                <a:ea typeface="Noto Sans CJK SC" pitchFamily="34" charset="-122"/>
                <a:cs typeface="Noto Sans CJK SC" pitchFamily="34" charset="-120"/>
              </a:rPr>
              <a:t>预训练解决“懂不懂”，指令微调解决“会不会做”，偏好对齐解决“做得好不好”。</a:t>
            </a:r>
            <a:endParaRPr lang="en-US" sz="1620" dirty="0"/>
          </a:p>
        </p:txBody>
      </p:sp>
    </p:spTree>
    <p:extLst>
      <p:ext uri="{BB962C8B-B14F-4D97-AF65-F5344CB8AC3E}">
        <p14:creationId xmlns:p14="http://schemas.microsoft.com/office/powerpoint/2010/main" val="1209520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457200" y="164592"/>
            <a:ext cx="585216" cy="329184"/>
          </a:xfrm>
          <a:prstGeom prst="roundRect">
            <a:avLst>
              <a:gd name="adj" fmla="val 22222"/>
            </a:avLst>
          </a:prstGeom>
          <a:solidFill>
            <a:srgbClr val="C9512D"/>
          </a:solidFill>
          <a:ln w="12700">
            <a:solidFill>
              <a:srgbClr val="C9512D"/>
            </a:solidFill>
            <a:prstDash val="solid"/>
          </a:ln>
        </p:spPr>
      </p:sp>
      <p:sp>
        <p:nvSpPr>
          <p:cNvPr id="3" name="Text 1"/>
          <p:cNvSpPr/>
          <p:nvPr/>
        </p:nvSpPr>
        <p:spPr>
          <a:xfrm>
            <a:off x="457200" y="228600"/>
            <a:ext cx="585216" cy="146304"/>
          </a:xfrm>
          <a:prstGeom prst="rect">
            <a:avLst/>
          </a:prstGeom>
          <a:noFill/>
          <a:ln/>
        </p:spPr>
        <p:txBody>
          <a:bodyPr wrap="square" rtlCol="0" anchor="ct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03</a:t>
            </a:r>
            <a:endParaRPr lang="en-US" sz="900" dirty="0"/>
          </a:p>
        </p:txBody>
      </p:sp>
      <p:sp>
        <p:nvSpPr>
          <p:cNvPr id="4" name="Text 2"/>
          <p:cNvSpPr/>
          <p:nvPr/>
        </p:nvSpPr>
        <p:spPr>
          <a:xfrm>
            <a:off x="1207008" y="228600"/>
            <a:ext cx="1097280" cy="182880"/>
          </a:xfrm>
          <a:prstGeom prst="rect">
            <a:avLst/>
          </a:prstGeom>
          <a:noFill/>
          <a:ln/>
        </p:spPr>
        <p:txBody>
          <a:bodyPr wrap="square" rtlCol="0" anchor="ctr"/>
          <a:lstStyle/>
          <a:p>
            <a:pPr marL="0" indent="0">
              <a:buNone/>
            </a:pPr>
            <a:r>
              <a:rPr lang="en-US" sz="1200" b="1" dirty="0">
                <a:solidFill>
                  <a:srgbClr val="716D66"/>
                </a:solidFill>
                <a:latin typeface="Microsoft YaHei" pitchFamily="34" charset="0"/>
                <a:ea typeface="Microsoft YaHei" pitchFamily="34" charset="-122"/>
                <a:cs typeface="Microsoft YaHei" pitchFamily="34" charset="-120"/>
              </a:rPr>
              <a:t>核心概念</a:t>
            </a:r>
            <a:endParaRPr lang="en-US" sz="1200" dirty="0"/>
          </a:p>
        </p:txBody>
      </p:sp>
      <p:sp>
        <p:nvSpPr>
          <p:cNvPr id="5" name="Text 3"/>
          <p:cNvSpPr/>
          <p:nvPr/>
        </p:nvSpPr>
        <p:spPr>
          <a:xfrm>
            <a:off x="457200" y="6510528"/>
            <a:ext cx="2194560" cy="146304"/>
          </a:xfrm>
          <a:prstGeom prst="rect">
            <a:avLst/>
          </a:prstGeom>
          <a:noFill/>
          <a:ln/>
        </p:spPr>
        <p:txBody>
          <a:bodyPr wrap="square" lIns="0" tIns="0" rIns="0" bIns="0" rtlCol="0" anchor="ctr"/>
          <a:lstStyle/>
          <a:p>
            <a:pPr marL="0" indent="0">
              <a:buNone/>
            </a:pPr>
            <a:r>
              <a:rPr lang="en-US" sz="780" dirty="0">
                <a:solidFill>
                  <a:srgbClr val="716D66"/>
                </a:solidFill>
                <a:latin typeface="Microsoft YaHei" pitchFamily="34" charset="0"/>
                <a:ea typeface="Microsoft YaHei" pitchFamily="34" charset="-122"/>
                <a:cs typeface="Microsoft YaHei" pitchFamily="34" charset="-120"/>
              </a:rPr>
              <a:t>AI产品经理系统课程 · 第一阶段</a:t>
            </a:r>
            <a:endParaRPr lang="en-US" sz="780" dirty="0"/>
          </a:p>
        </p:txBody>
      </p:sp>
      <p:sp>
        <p:nvSpPr>
          <p:cNvPr id="6" name="Text 4"/>
          <p:cNvSpPr/>
          <p:nvPr/>
        </p:nvSpPr>
        <p:spPr>
          <a:xfrm>
            <a:off x="9765792" y="6510528"/>
            <a:ext cx="73152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核心概念</a:t>
            </a:r>
            <a:endParaRPr lang="en-US" sz="780" dirty="0"/>
          </a:p>
        </p:txBody>
      </p:sp>
      <p:sp>
        <p:nvSpPr>
          <p:cNvPr id="7" name="Text 5"/>
          <p:cNvSpPr/>
          <p:nvPr/>
        </p:nvSpPr>
        <p:spPr>
          <a:xfrm>
            <a:off x="11503152" y="6510528"/>
            <a:ext cx="22860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01</a:t>
            </a:r>
            <a:endParaRPr lang="en-US" sz="780" dirty="0"/>
          </a:p>
        </p:txBody>
      </p:sp>
      <p:sp>
        <p:nvSpPr>
          <p:cNvPr id="8" name="Text 6"/>
          <p:cNvSpPr/>
          <p:nvPr/>
        </p:nvSpPr>
        <p:spPr>
          <a:xfrm>
            <a:off x="493776" y="932688"/>
            <a:ext cx="4754880" cy="548640"/>
          </a:xfrm>
          <a:prstGeom prst="rect">
            <a:avLst/>
          </a:prstGeom>
          <a:noFill/>
          <a:ln/>
        </p:spPr>
        <p:txBody>
          <a:bodyPr wrap="square" lIns="0" tIns="0" rIns="0" bIns="0" rtlCol="0" anchor="ctr"/>
          <a:lstStyle/>
          <a:p>
            <a:pPr marL="0" indent="0">
              <a:buNone/>
            </a:pPr>
            <a:r>
              <a:rPr lang="en-US" sz="4000" b="1" dirty="0">
                <a:solidFill>
                  <a:srgbClr val="1F1F1D"/>
                </a:solidFill>
                <a:latin typeface="Aptos Display" pitchFamily="34" charset="0"/>
                <a:ea typeface="Aptos Display" pitchFamily="34" charset="-122"/>
                <a:cs typeface="Aptos Display" pitchFamily="34" charset="-120"/>
              </a:rPr>
              <a:t>Transformer</a:t>
            </a:r>
            <a:endParaRPr lang="en-US" sz="4000" dirty="0"/>
          </a:p>
        </p:txBody>
      </p:sp>
      <p:sp>
        <p:nvSpPr>
          <p:cNvPr id="9" name="Text 7"/>
          <p:cNvSpPr/>
          <p:nvPr/>
        </p:nvSpPr>
        <p:spPr>
          <a:xfrm>
            <a:off x="502920" y="1536192"/>
            <a:ext cx="5120640" cy="420624"/>
          </a:xfrm>
          <a:prstGeom prst="rect">
            <a:avLst/>
          </a:prstGeom>
          <a:noFill/>
          <a:ln/>
        </p:spPr>
        <p:txBody>
          <a:bodyPr wrap="square" lIns="0" tIns="0" rIns="0" bIns="0" rtlCol="0" anchor="ctr"/>
          <a:lstStyle/>
          <a:p>
            <a:pPr marL="0" indent="0">
              <a:buNone/>
            </a:pPr>
            <a:r>
              <a:rPr lang="en-US" sz="2500" b="1" dirty="0">
                <a:solidFill>
                  <a:srgbClr val="1F1F1D"/>
                </a:solidFill>
                <a:latin typeface="Microsoft YaHei" pitchFamily="34" charset="0"/>
                <a:ea typeface="Microsoft YaHei" pitchFamily="34" charset="-122"/>
                <a:cs typeface="Microsoft YaHei" pitchFamily="34" charset="-120"/>
              </a:rPr>
              <a:t>大模型理解上下文的底层架构</a:t>
            </a:r>
            <a:endParaRPr lang="en-US" sz="2500" dirty="0"/>
          </a:p>
        </p:txBody>
      </p:sp>
      <p:sp>
        <p:nvSpPr>
          <p:cNvPr id="10" name="Shape 8"/>
          <p:cNvSpPr/>
          <p:nvPr/>
        </p:nvSpPr>
        <p:spPr>
          <a:xfrm>
            <a:off x="502920" y="2148840"/>
            <a:ext cx="4937760" cy="0"/>
          </a:xfrm>
          <a:prstGeom prst="line">
            <a:avLst/>
          </a:prstGeom>
          <a:noFill/>
          <a:ln w="15240">
            <a:solidFill>
              <a:srgbClr val="D8CDBD"/>
            </a:solidFill>
            <a:prstDash val="solid"/>
          </a:ln>
        </p:spPr>
      </p:sp>
      <p:sp>
        <p:nvSpPr>
          <p:cNvPr id="11" name="Text 9"/>
          <p:cNvSpPr/>
          <p:nvPr/>
        </p:nvSpPr>
        <p:spPr>
          <a:xfrm>
            <a:off x="530352" y="2514600"/>
            <a:ext cx="4617720" cy="786384"/>
          </a:xfrm>
          <a:prstGeom prst="rect">
            <a:avLst/>
          </a:prstGeom>
          <a:noFill/>
          <a:ln/>
        </p:spPr>
        <p:txBody>
          <a:bodyPr wrap="square" lIns="0" tIns="0" rIns="0" bIns="0" rtlCol="0" anchor="ctr">
            <a:normAutofit/>
          </a:bodyPr>
          <a:lstStyle/>
          <a:p>
            <a:pPr marL="0" indent="0">
              <a:buNone/>
            </a:pPr>
            <a:r>
              <a:rPr lang="en-US" sz="1650" dirty="0">
                <a:solidFill>
                  <a:srgbClr val="1F1F1D"/>
                </a:solidFill>
                <a:latin typeface="Microsoft YaHei" pitchFamily="34" charset="0"/>
                <a:ea typeface="Microsoft YaHei" pitchFamily="34" charset="-122"/>
                <a:cs typeface="Microsoft YaHei" pitchFamily="34" charset="-120"/>
              </a:rPr>
              <a:t>不是一个产品名，而是一种让模型高效处理「词与词关系」的神经网络架构。</a:t>
            </a:r>
            <a:endParaRPr lang="en-US" sz="1650" dirty="0"/>
          </a:p>
        </p:txBody>
      </p:sp>
      <p:sp>
        <p:nvSpPr>
          <p:cNvPr id="12" name="Shape 10"/>
          <p:cNvSpPr/>
          <p:nvPr/>
        </p:nvSpPr>
        <p:spPr>
          <a:xfrm>
            <a:off x="502920" y="3840480"/>
            <a:ext cx="3794760" cy="530352"/>
          </a:xfrm>
          <a:prstGeom prst="roundRect">
            <a:avLst>
              <a:gd name="adj" fmla="val 17241"/>
            </a:avLst>
          </a:prstGeom>
          <a:solidFill>
            <a:srgbClr val="FCE1C5"/>
          </a:solidFill>
          <a:ln w="12700">
            <a:solidFill>
              <a:srgbClr val="FCE1C5"/>
            </a:solidFill>
            <a:prstDash val="solid"/>
          </a:ln>
        </p:spPr>
      </p:sp>
      <p:sp>
        <p:nvSpPr>
          <p:cNvPr id="13" name="Text 11"/>
          <p:cNvSpPr/>
          <p:nvPr/>
        </p:nvSpPr>
        <p:spPr>
          <a:xfrm>
            <a:off x="694944" y="4005072"/>
            <a:ext cx="3429000" cy="201168"/>
          </a:xfrm>
          <a:prstGeom prst="rect">
            <a:avLst/>
          </a:prstGeom>
          <a:noFill/>
          <a:ln/>
        </p:spPr>
        <p:txBody>
          <a:bodyPr wrap="square" lIns="254" tIns="254" rIns="254" bIns="254" rtlCol="0" anchor="ctr">
            <a:normAutofit fontScale="92500" lnSpcReduction="10000"/>
          </a:bodyPr>
          <a:lstStyle/>
          <a:p>
            <a:pPr marL="0" indent="0" algn="ctr">
              <a:buNone/>
            </a:pPr>
            <a:r>
              <a:rPr lang="en-US" sz="1500" b="1" dirty="0">
                <a:solidFill>
                  <a:srgbClr val="C9512D"/>
                </a:solidFill>
                <a:latin typeface="Microsoft YaHei" pitchFamily="34" charset="0"/>
                <a:ea typeface="Microsoft YaHei" pitchFamily="34" charset="-122"/>
                <a:cs typeface="Microsoft YaHei" pitchFamily="34" charset="-120"/>
              </a:rPr>
              <a:t>核心问题：模型如何理解上下文？</a:t>
            </a:r>
            <a:endParaRPr lang="en-US" sz="1500" dirty="0"/>
          </a:p>
        </p:txBody>
      </p:sp>
      <p:pic>
        <p:nvPicPr>
          <p:cNvPr id="14" name="Image 0" descr="/mnt/data/wide_clean_vector_illustration_style_tech_concept_batch_1.png"/>
          <p:cNvPicPr>
            <a:picLocks noChangeAspect="1"/>
          </p:cNvPicPr>
          <p:nvPr/>
        </p:nvPicPr>
        <p:blipFill>
          <a:blip r:embed="rId3"/>
          <a:srcRect l="8441" r="8441"/>
          <a:stretch/>
        </p:blipFill>
        <p:spPr>
          <a:xfrm>
            <a:off x="5806440" y="749808"/>
            <a:ext cx="5897880" cy="53218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457200" y="164592"/>
            <a:ext cx="585216" cy="329184"/>
          </a:xfrm>
          <a:prstGeom prst="roundRect">
            <a:avLst>
              <a:gd name="adj" fmla="val 22222"/>
            </a:avLst>
          </a:prstGeom>
          <a:solidFill>
            <a:srgbClr val="C9512D"/>
          </a:solidFill>
          <a:ln w="12700">
            <a:solidFill>
              <a:srgbClr val="C9512D"/>
            </a:solidFill>
            <a:prstDash val="solid"/>
          </a:ln>
        </p:spPr>
      </p:sp>
      <p:sp>
        <p:nvSpPr>
          <p:cNvPr id="3" name="Text 1"/>
          <p:cNvSpPr/>
          <p:nvPr/>
        </p:nvSpPr>
        <p:spPr>
          <a:xfrm>
            <a:off x="457200" y="228600"/>
            <a:ext cx="585216" cy="146304"/>
          </a:xfrm>
          <a:prstGeom prst="rect">
            <a:avLst/>
          </a:prstGeom>
          <a:noFill/>
          <a:ln/>
        </p:spPr>
        <p:txBody>
          <a:bodyPr wrap="square" rtlCol="0" anchor="ct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03</a:t>
            </a:r>
            <a:endParaRPr lang="en-US" sz="900" dirty="0"/>
          </a:p>
        </p:txBody>
      </p:sp>
      <p:sp>
        <p:nvSpPr>
          <p:cNvPr id="4" name="Text 2"/>
          <p:cNvSpPr/>
          <p:nvPr/>
        </p:nvSpPr>
        <p:spPr>
          <a:xfrm>
            <a:off x="1207008" y="228600"/>
            <a:ext cx="1097280" cy="182880"/>
          </a:xfrm>
          <a:prstGeom prst="rect">
            <a:avLst/>
          </a:prstGeom>
          <a:noFill/>
          <a:ln/>
        </p:spPr>
        <p:txBody>
          <a:bodyPr wrap="square" rtlCol="0" anchor="ctr"/>
          <a:lstStyle/>
          <a:p>
            <a:pPr marL="0" indent="0">
              <a:buNone/>
            </a:pPr>
            <a:r>
              <a:rPr lang="en-US" sz="1200" b="1" dirty="0">
                <a:solidFill>
                  <a:srgbClr val="716D66"/>
                </a:solidFill>
                <a:latin typeface="Microsoft YaHei" pitchFamily="34" charset="0"/>
                <a:ea typeface="Microsoft YaHei" pitchFamily="34" charset="-122"/>
                <a:cs typeface="Microsoft YaHei" pitchFamily="34" charset="-120"/>
              </a:rPr>
              <a:t>核心概念</a:t>
            </a:r>
            <a:endParaRPr lang="en-US" sz="1200" dirty="0"/>
          </a:p>
        </p:txBody>
      </p:sp>
      <p:sp>
        <p:nvSpPr>
          <p:cNvPr id="5" name="Text 3"/>
          <p:cNvSpPr/>
          <p:nvPr/>
        </p:nvSpPr>
        <p:spPr>
          <a:xfrm>
            <a:off x="457200" y="713232"/>
            <a:ext cx="8961120" cy="438912"/>
          </a:xfrm>
          <a:prstGeom prst="rect">
            <a:avLst/>
          </a:prstGeom>
          <a:noFill/>
          <a:ln/>
        </p:spPr>
        <p:txBody>
          <a:bodyPr wrap="square" lIns="0" tIns="0" rIns="0" bIns="0" rtlCol="0" anchor="ctr"/>
          <a:lstStyle/>
          <a:p>
            <a:pPr marL="0" indent="0">
              <a:buNone/>
            </a:pPr>
            <a:r>
              <a:rPr lang="en-US" sz="3000" b="1" dirty="0">
                <a:solidFill>
                  <a:srgbClr val="1F1F1D"/>
                </a:solidFill>
                <a:latin typeface="Microsoft YaHei" pitchFamily="34" charset="0"/>
                <a:ea typeface="Microsoft YaHei" pitchFamily="34" charset="-122"/>
                <a:cs typeface="Microsoft YaHei" pitchFamily="34" charset="-120"/>
              </a:rPr>
              <a:t>Transformer</a:t>
            </a:r>
            <a:r>
              <a:rPr lang="zh-CN" altLang="en-US" sz="3000" b="1" dirty="0">
                <a:solidFill>
                  <a:srgbClr val="1F1F1D"/>
                </a:solidFill>
                <a:latin typeface="Microsoft YaHei" pitchFamily="34" charset="0"/>
                <a:ea typeface="Microsoft YaHei" pitchFamily="34" charset="-122"/>
                <a:cs typeface="Microsoft YaHei" pitchFamily="34" charset="-120"/>
              </a:rPr>
              <a:t> </a:t>
            </a:r>
            <a:r>
              <a:rPr lang="en-US" sz="3000" b="1" dirty="0" err="1">
                <a:solidFill>
                  <a:srgbClr val="1F1F1D"/>
                </a:solidFill>
                <a:latin typeface="Microsoft YaHei" pitchFamily="34" charset="0"/>
                <a:ea typeface="Microsoft YaHei" pitchFamily="34" charset="-122"/>
                <a:cs typeface="Microsoft YaHei" pitchFamily="34" charset="-120"/>
              </a:rPr>
              <a:t>解决了什么问题</a:t>
            </a:r>
            <a:r>
              <a:rPr lang="en-US" sz="3000" b="1" dirty="0">
                <a:solidFill>
                  <a:srgbClr val="1F1F1D"/>
                </a:solidFill>
                <a:latin typeface="Microsoft YaHei" pitchFamily="34" charset="0"/>
                <a:ea typeface="Microsoft YaHei" pitchFamily="34" charset="-122"/>
                <a:cs typeface="Microsoft YaHei" pitchFamily="34" charset="-120"/>
              </a:rPr>
              <a:t>？</a:t>
            </a:r>
            <a:endParaRPr lang="en-US" sz="3000" dirty="0"/>
          </a:p>
        </p:txBody>
      </p:sp>
      <p:sp>
        <p:nvSpPr>
          <p:cNvPr id="6" name="Shape 4"/>
          <p:cNvSpPr/>
          <p:nvPr/>
        </p:nvSpPr>
        <p:spPr>
          <a:xfrm>
            <a:off x="457200" y="1353312"/>
            <a:ext cx="11292840" cy="0"/>
          </a:xfrm>
          <a:prstGeom prst="line">
            <a:avLst/>
          </a:prstGeom>
          <a:noFill/>
          <a:ln w="13970">
            <a:solidFill>
              <a:srgbClr val="D8CDBD"/>
            </a:solidFill>
            <a:prstDash val="solid"/>
          </a:ln>
        </p:spPr>
      </p:sp>
      <p:sp>
        <p:nvSpPr>
          <p:cNvPr id="7" name="Text 5"/>
          <p:cNvSpPr/>
          <p:nvPr/>
        </p:nvSpPr>
        <p:spPr>
          <a:xfrm>
            <a:off x="457200" y="6510528"/>
            <a:ext cx="2194560" cy="146304"/>
          </a:xfrm>
          <a:prstGeom prst="rect">
            <a:avLst/>
          </a:prstGeom>
          <a:noFill/>
          <a:ln/>
        </p:spPr>
        <p:txBody>
          <a:bodyPr wrap="square" lIns="0" tIns="0" rIns="0" bIns="0" rtlCol="0" anchor="ctr"/>
          <a:lstStyle/>
          <a:p>
            <a:pPr marL="0" indent="0">
              <a:buNone/>
            </a:pPr>
            <a:r>
              <a:rPr lang="en-US" sz="780" dirty="0">
                <a:solidFill>
                  <a:srgbClr val="716D66"/>
                </a:solidFill>
                <a:latin typeface="Microsoft YaHei" pitchFamily="34" charset="0"/>
                <a:ea typeface="Microsoft YaHei" pitchFamily="34" charset="-122"/>
                <a:cs typeface="Microsoft YaHei" pitchFamily="34" charset="-120"/>
              </a:rPr>
              <a:t>AI产品经理系统课程 · 第一阶段</a:t>
            </a:r>
            <a:endParaRPr lang="en-US" sz="780" dirty="0"/>
          </a:p>
        </p:txBody>
      </p:sp>
      <p:sp>
        <p:nvSpPr>
          <p:cNvPr id="8" name="Text 6"/>
          <p:cNvSpPr/>
          <p:nvPr/>
        </p:nvSpPr>
        <p:spPr>
          <a:xfrm>
            <a:off x="9765792" y="6510528"/>
            <a:ext cx="73152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核心概念</a:t>
            </a:r>
            <a:endParaRPr lang="en-US" sz="780" dirty="0"/>
          </a:p>
        </p:txBody>
      </p:sp>
      <p:sp>
        <p:nvSpPr>
          <p:cNvPr id="9" name="Text 7"/>
          <p:cNvSpPr/>
          <p:nvPr/>
        </p:nvSpPr>
        <p:spPr>
          <a:xfrm>
            <a:off x="11503152" y="6510528"/>
            <a:ext cx="22860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02</a:t>
            </a:r>
            <a:endParaRPr lang="en-US" sz="780" dirty="0"/>
          </a:p>
        </p:txBody>
      </p:sp>
      <p:sp>
        <p:nvSpPr>
          <p:cNvPr id="10" name="Text 8"/>
          <p:cNvSpPr/>
          <p:nvPr/>
        </p:nvSpPr>
        <p:spPr>
          <a:xfrm>
            <a:off x="731520" y="1883664"/>
            <a:ext cx="228600" cy="182880"/>
          </a:xfrm>
          <a:prstGeom prst="rect">
            <a:avLst/>
          </a:prstGeom>
          <a:noFill/>
          <a:ln/>
        </p:spPr>
        <p:txBody>
          <a:bodyPr wrap="square" lIns="0" tIns="0" rIns="0" bIns="0" rtlCol="0" anchor="ct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a:t>
            </a:r>
            <a:endParaRPr lang="en-US" sz="1600" dirty="0"/>
          </a:p>
        </p:txBody>
      </p:sp>
      <p:sp>
        <p:nvSpPr>
          <p:cNvPr id="11" name="Text 9"/>
          <p:cNvSpPr/>
          <p:nvPr/>
        </p:nvSpPr>
        <p:spPr>
          <a:xfrm>
            <a:off x="1115568" y="1874520"/>
            <a:ext cx="4526280" cy="713232"/>
          </a:xfrm>
          <a:prstGeom prst="rect">
            <a:avLst/>
          </a:prstGeom>
          <a:noFill/>
          <a:ln/>
        </p:spPr>
        <p:txBody>
          <a:bodyPr wrap="square" lIns="0" tIns="0" rIns="0" bIns="0" rtlCol="0" anchor="t">
            <a:normAutofit/>
          </a:bodyP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传统序列模型：</a:t>
            </a:r>
            <a:r>
              <a:rPr lang="en-US" sz="1600" dirty="0">
                <a:solidFill>
                  <a:srgbClr val="1F1F1D"/>
                </a:solidFill>
                <a:latin typeface="Microsoft YaHei" pitchFamily="34" charset="0"/>
                <a:ea typeface="Microsoft YaHei" pitchFamily="34" charset="-122"/>
                <a:cs typeface="Microsoft YaHei" pitchFamily="34" charset="-120"/>
              </a:rPr>
              <a:t>像逐字传话，前面的信息要一层层传到后面；文本越长，关系越容易衰减。</a:t>
            </a:r>
            <a:endParaRPr lang="en-US" sz="1600" dirty="0"/>
          </a:p>
        </p:txBody>
      </p:sp>
      <p:sp>
        <p:nvSpPr>
          <p:cNvPr id="12" name="Text 10"/>
          <p:cNvSpPr/>
          <p:nvPr/>
        </p:nvSpPr>
        <p:spPr>
          <a:xfrm>
            <a:off x="731520" y="2843784"/>
            <a:ext cx="228600" cy="182880"/>
          </a:xfrm>
          <a:prstGeom prst="rect">
            <a:avLst/>
          </a:prstGeom>
          <a:noFill/>
          <a:ln/>
        </p:spPr>
        <p:txBody>
          <a:bodyPr wrap="square" lIns="0" tIns="0" rIns="0" bIns="0" rtlCol="0" anchor="ct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a:t>
            </a:r>
            <a:endParaRPr lang="en-US" sz="1600" dirty="0"/>
          </a:p>
        </p:txBody>
      </p:sp>
      <p:sp>
        <p:nvSpPr>
          <p:cNvPr id="13" name="Text 11"/>
          <p:cNvSpPr/>
          <p:nvPr/>
        </p:nvSpPr>
        <p:spPr>
          <a:xfrm>
            <a:off x="1115568" y="2834640"/>
            <a:ext cx="4526280" cy="658368"/>
          </a:xfrm>
          <a:prstGeom prst="rect">
            <a:avLst/>
          </a:prstGeom>
          <a:noFill/>
          <a:ln/>
        </p:spPr>
        <p:txBody>
          <a:bodyPr wrap="square" lIns="0" tIns="0" rIns="0" bIns="0" rtlCol="0" anchor="t">
            <a:normAutofit/>
          </a:bodyP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Transformer的变化：</a:t>
            </a:r>
            <a:r>
              <a:rPr lang="en-US" sz="1600" dirty="0">
                <a:solidFill>
                  <a:srgbClr val="1F1F1D"/>
                </a:solidFill>
                <a:latin typeface="Microsoft YaHei" pitchFamily="34" charset="0"/>
                <a:ea typeface="Microsoft YaHei" pitchFamily="34" charset="-122"/>
                <a:cs typeface="Microsoft YaHei" pitchFamily="34" charset="-120"/>
              </a:rPr>
              <a:t>让每个Token都能直接查看上下文中的其他Token，建立全局关系。</a:t>
            </a:r>
            <a:endParaRPr lang="en-US" sz="1600" dirty="0"/>
          </a:p>
        </p:txBody>
      </p:sp>
      <p:sp>
        <p:nvSpPr>
          <p:cNvPr id="14" name="Text 12"/>
          <p:cNvSpPr/>
          <p:nvPr/>
        </p:nvSpPr>
        <p:spPr>
          <a:xfrm>
            <a:off x="731520" y="3758184"/>
            <a:ext cx="228600" cy="182880"/>
          </a:xfrm>
          <a:prstGeom prst="rect">
            <a:avLst/>
          </a:prstGeom>
          <a:noFill/>
          <a:ln/>
        </p:spPr>
        <p:txBody>
          <a:bodyPr wrap="square" lIns="0" tIns="0" rIns="0" bIns="0" rtlCol="0" anchor="ct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a:t>
            </a:r>
            <a:endParaRPr lang="en-US" sz="1600" dirty="0"/>
          </a:p>
        </p:txBody>
      </p:sp>
      <p:sp>
        <p:nvSpPr>
          <p:cNvPr id="15" name="Text 13"/>
          <p:cNvSpPr/>
          <p:nvPr/>
        </p:nvSpPr>
        <p:spPr>
          <a:xfrm>
            <a:off x="1115568" y="3749040"/>
            <a:ext cx="4526280" cy="658368"/>
          </a:xfrm>
          <a:prstGeom prst="rect">
            <a:avLst/>
          </a:prstGeom>
          <a:noFill/>
          <a:ln/>
        </p:spPr>
        <p:txBody>
          <a:bodyPr wrap="square" lIns="0" tIns="0" rIns="0" bIns="0" rtlCol="0" anchor="t">
            <a:normAutofit/>
          </a:bodyP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关键价值：</a:t>
            </a:r>
            <a:r>
              <a:rPr lang="en-US" sz="1600" dirty="0">
                <a:solidFill>
                  <a:srgbClr val="1F1F1D"/>
                </a:solidFill>
                <a:latin typeface="Microsoft YaHei" pitchFamily="34" charset="0"/>
                <a:ea typeface="Microsoft YaHei" pitchFamily="34" charset="-122"/>
                <a:cs typeface="Microsoft YaHei" pitchFamily="34" charset="-120"/>
              </a:rPr>
              <a:t>既提升长距离关系建模，也让训练可以更好地并行化，从而更容易做大。</a:t>
            </a:r>
            <a:endParaRPr lang="en-US" sz="1600" dirty="0"/>
          </a:p>
        </p:txBody>
      </p:sp>
      <p:pic>
        <p:nvPicPr>
          <p:cNvPr id="16" name="Image 0" descr="/mnt/data/wide_minimalist_infographic_illustration_on_a_warm_batch_2.png"/>
          <p:cNvPicPr>
            <a:picLocks noChangeAspect="1"/>
          </p:cNvPicPr>
          <p:nvPr/>
        </p:nvPicPr>
        <p:blipFill>
          <a:blip r:embed="rId3"/>
          <a:srcRect t="11823" b="11823"/>
          <a:stretch/>
        </p:blipFill>
        <p:spPr>
          <a:xfrm>
            <a:off x="5989320" y="1691640"/>
            <a:ext cx="5349240" cy="3063240"/>
          </a:xfrm>
          <a:prstGeom prst="rect">
            <a:avLst/>
          </a:prstGeom>
        </p:spPr>
      </p:pic>
      <p:sp>
        <p:nvSpPr>
          <p:cNvPr id="17" name="Text 14"/>
          <p:cNvSpPr/>
          <p:nvPr/>
        </p:nvSpPr>
        <p:spPr>
          <a:xfrm>
            <a:off x="2148840" y="5532120"/>
            <a:ext cx="7863840" cy="292608"/>
          </a:xfrm>
          <a:prstGeom prst="rect">
            <a:avLst/>
          </a:prstGeom>
          <a:noFill/>
          <a:ln/>
        </p:spPr>
        <p:txBody>
          <a:bodyPr wrap="square" lIns="0" tIns="0" rIns="0" bIns="0" rtlCol="0" anchor="ctr"/>
          <a:lstStyle/>
          <a:p>
            <a:pPr marL="0" indent="0" algn="ctr">
              <a:buNone/>
            </a:pPr>
            <a:r>
              <a:rPr lang="en-US" sz="1700" b="1" dirty="0">
                <a:solidFill>
                  <a:srgbClr val="1F1F1D"/>
                </a:solidFill>
                <a:latin typeface="Microsoft YaHei" pitchFamily="34" charset="0"/>
                <a:ea typeface="Microsoft YaHei" pitchFamily="34" charset="-122"/>
                <a:cs typeface="Microsoft YaHei" pitchFamily="34" charset="-120"/>
              </a:rPr>
              <a:t>核心变化：从“顺序传递” → “全局关系建模”</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457200" y="164592"/>
            <a:ext cx="585216" cy="329184"/>
          </a:xfrm>
          <a:prstGeom prst="roundRect">
            <a:avLst>
              <a:gd name="adj" fmla="val 22222"/>
            </a:avLst>
          </a:prstGeom>
          <a:solidFill>
            <a:srgbClr val="C9512D"/>
          </a:solidFill>
          <a:ln w="12700">
            <a:solidFill>
              <a:srgbClr val="C9512D"/>
            </a:solidFill>
            <a:prstDash val="solid"/>
          </a:ln>
        </p:spPr>
      </p:sp>
      <p:sp>
        <p:nvSpPr>
          <p:cNvPr id="3" name="Text 1"/>
          <p:cNvSpPr/>
          <p:nvPr/>
        </p:nvSpPr>
        <p:spPr>
          <a:xfrm>
            <a:off x="457200" y="228600"/>
            <a:ext cx="585216" cy="146304"/>
          </a:xfrm>
          <a:prstGeom prst="rect">
            <a:avLst/>
          </a:prstGeom>
          <a:noFill/>
          <a:ln/>
        </p:spPr>
        <p:txBody>
          <a:bodyPr wrap="square" rtlCol="0" anchor="ct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03</a:t>
            </a:r>
            <a:endParaRPr lang="en-US" sz="900" dirty="0"/>
          </a:p>
        </p:txBody>
      </p:sp>
      <p:sp>
        <p:nvSpPr>
          <p:cNvPr id="4" name="Text 2"/>
          <p:cNvSpPr/>
          <p:nvPr/>
        </p:nvSpPr>
        <p:spPr>
          <a:xfrm>
            <a:off x="1207008" y="228600"/>
            <a:ext cx="1097280" cy="182880"/>
          </a:xfrm>
          <a:prstGeom prst="rect">
            <a:avLst/>
          </a:prstGeom>
          <a:noFill/>
          <a:ln/>
        </p:spPr>
        <p:txBody>
          <a:bodyPr wrap="square" rtlCol="0" anchor="ctr"/>
          <a:lstStyle/>
          <a:p>
            <a:pPr marL="0" indent="0">
              <a:buNone/>
            </a:pPr>
            <a:r>
              <a:rPr lang="en-US" sz="1200" b="1" dirty="0">
                <a:solidFill>
                  <a:srgbClr val="716D66"/>
                </a:solidFill>
                <a:latin typeface="Microsoft YaHei" pitchFamily="34" charset="0"/>
                <a:ea typeface="Microsoft YaHei" pitchFamily="34" charset="-122"/>
                <a:cs typeface="Microsoft YaHei" pitchFamily="34" charset="-120"/>
              </a:rPr>
              <a:t>核心概念</a:t>
            </a:r>
            <a:endParaRPr lang="en-US" sz="1200" dirty="0"/>
          </a:p>
        </p:txBody>
      </p:sp>
      <p:sp>
        <p:nvSpPr>
          <p:cNvPr id="5" name="Text 3"/>
          <p:cNvSpPr/>
          <p:nvPr/>
        </p:nvSpPr>
        <p:spPr>
          <a:xfrm>
            <a:off x="457200" y="713232"/>
            <a:ext cx="8961120" cy="438912"/>
          </a:xfrm>
          <a:prstGeom prst="rect">
            <a:avLst/>
          </a:prstGeom>
          <a:noFill/>
          <a:ln/>
        </p:spPr>
        <p:txBody>
          <a:bodyPr wrap="square" lIns="0" tIns="0" rIns="0" bIns="0" rtlCol="0" anchor="ctr"/>
          <a:lstStyle/>
          <a:p>
            <a:pPr marL="0" indent="0">
              <a:buNone/>
            </a:pPr>
            <a:r>
              <a:rPr lang="en-US" sz="3000" b="1" dirty="0">
                <a:solidFill>
                  <a:srgbClr val="1F1F1D"/>
                </a:solidFill>
                <a:latin typeface="Microsoft YaHei" pitchFamily="34" charset="0"/>
                <a:ea typeface="Microsoft YaHei" pitchFamily="34" charset="-122"/>
                <a:cs typeface="Microsoft YaHei" pitchFamily="34" charset="-120"/>
              </a:rPr>
              <a:t>Self-Attention：每个词都在找相关信息</a:t>
            </a:r>
            <a:endParaRPr lang="en-US" sz="3000" dirty="0"/>
          </a:p>
        </p:txBody>
      </p:sp>
      <p:sp>
        <p:nvSpPr>
          <p:cNvPr id="6" name="Shape 4"/>
          <p:cNvSpPr/>
          <p:nvPr/>
        </p:nvSpPr>
        <p:spPr>
          <a:xfrm>
            <a:off x="457200" y="1353312"/>
            <a:ext cx="11292840" cy="0"/>
          </a:xfrm>
          <a:prstGeom prst="line">
            <a:avLst/>
          </a:prstGeom>
          <a:noFill/>
          <a:ln w="13970">
            <a:solidFill>
              <a:srgbClr val="D8CDBD"/>
            </a:solidFill>
            <a:prstDash val="solid"/>
          </a:ln>
        </p:spPr>
      </p:sp>
      <p:sp>
        <p:nvSpPr>
          <p:cNvPr id="7" name="Text 5"/>
          <p:cNvSpPr/>
          <p:nvPr/>
        </p:nvSpPr>
        <p:spPr>
          <a:xfrm>
            <a:off x="457200" y="6510528"/>
            <a:ext cx="2194560" cy="146304"/>
          </a:xfrm>
          <a:prstGeom prst="rect">
            <a:avLst/>
          </a:prstGeom>
          <a:noFill/>
          <a:ln/>
        </p:spPr>
        <p:txBody>
          <a:bodyPr wrap="square" lIns="0" tIns="0" rIns="0" bIns="0" rtlCol="0" anchor="ctr"/>
          <a:lstStyle/>
          <a:p>
            <a:pPr marL="0" indent="0">
              <a:buNone/>
            </a:pPr>
            <a:r>
              <a:rPr lang="en-US" sz="780" dirty="0">
                <a:solidFill>
                  <a:srgbClr val="716D66"/>
                </a:solidFill>
                <a:latin typeface="Microsoft YaHei" pitchFamily="34" charset="0"/>
                <a:ea typeface="Microsoft YaHei" pitchFamily="34" charset="-122"/>
                <a:cs typeface="Microsoft YaHei" pitchFamily="34" charset="-120"/>
              </a:rPr>
              <a:t>AI产品经理系统课程 · 第一阶段</a:t>
            </a:r>
            <a:endParaRPr lang="en-US" sz="780" dirty="0"/>
          </a:p>
        </p:txBody>
      </p:sp>
      <p:sp>
        <p:nvSpPr>
          <p:cNvPr id="8" name="Text 6"/>
          <p:cNvSpPr/>
          <p:nvPr/>
        </p:nvSpPr>
        <p:spPr>
          <a:xfrm>
            <a:off x="9765792" y="6510528"/>
            <a:ext cx="73152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核心概念</a:t>
            </a:r>
            <a:endParaRPr lang="en-US" sz="780" dirty="0"/>
          </a:p>
        </p:txBody>
      </p:sp>
      <p:sp>
        <p:nvSpPr>
          <p:cNvPr id="9" name="Text 7"/>
          <p:cNvSpPr/>
          <p:nvPr/>
        </p:nvSpPr>
        <p:spPr>
          <a:xfrm>
            <a:off x="11503152" y="6510528"/>
            <a:ext cx="22860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03</a:t>
            </a:r>
            <a:endParaRPr lang="en-US" sz="780" dirty="0"/>
          </a:p>
        </p:txBody>
      </p:sp>
      <p:sp>
        <p:nvSpPr>
          <p:cNvPr id="10" name="Shape 8"/>
          <p:cNvSpPr/>
          <p:nvPr/>
        </p:nvSpPr>
        <p:spPr>
          <a:xfrm>
            <a:off x="749808" y="1783080"/>
            <a:ext cx="5212080" cy="713230"/>
          </a:xfrm>
          <a:prstGeom prst="roundRect">
            <a:avLst>
              <a:gd name="adj" fmla="val 8000"/>
            </a:avLst>
          </a:prstGeom>
          <a:solidFill>
            <a:srgbClr val="FFF9F0"/>
          </a:solidFill>
          <a:ln w="12700">
            <a:solidFill>
              <a:srgbClr val="E9D4BD"/>
            </a:solidFill>
            <a:prstDash val="solid"/>
          </a:ln>
        </p:spPr>
      </p:sp>
      <p:sp>
        <p:nvSpPr>
          <p:cNvPr id="11" name="Text 9"/>
          <p:cNvSpPr/>
          <p:nvPr/>
        </p:nvSpPr>
        <p:spPr>
          <a:xfrm>
            <a:off x="969264" y="2039112"/>
            <a:ext cx="4754880" cy="256032"/>
          </a:xfrm>
          <a:prstGeom prst="rect">
            <a:avLst/>
          </a:prstGeom>
          <a:noFill/>
          <a:ln/>
        </p:spPr>
        <p:txBody>
          <a:bodyPr wrap="square" lIns="0" tIns="0" rIns="0" bIns="0" rtlCol="0" anchor="ctr">
            <a:normAutofit lnSpcReduction="10000"/>
          </a:bodyPr>
          <a:lstStyle/>
          <a:p>
            <a:pPr marL="0" indent="0">
              <a:buNone/>
            </a:pPr>
            <a:r>
              <a:rPr lang="en-US" sz="1700" dirty="0">
                <a:solidFill>
                  <a:srgbClr val="1F1F1D"/>
                </a:solidFill>
                <a:latin typeface="Microsoft YaHei" pitchFamily="34" charset="0"/>
                <a:ea typeface="Microsoft YaHei" pitchFamily="34" charset="-122"/>
                <a:cs typeface="Microsoft YaHei" pitchFamily="34" charset="-120"/>
              </a:rPr>
              <a:t>苹果发布了新款手机，</a:t>
            </a:r>
            <a:r>
              <a:rPr lang="en-US" sz="1700" b="1" dirty="0">
                <a:solidFill>
                  <a:srgbClr val="C9512D"/>
                </a:solidFill>
                <a:latin typeface="Microsoft YaHei" pitchFamily="34" charset="0"/>
                <a:ea typeface="Microsoft YaHei" pitchFamily="34" charset="-122"/>
                <a:cs typeface="Microsoft YaHei" pitchFamily="34" charset="-120"/>
              </a:rPr>
              <a:t>它</a:t>
            </a:r>
            <a:r>
              <a:rPr lang="en-US" sz="1700" dirty="0">
                <a:solidFill>
                  <a:srgbClr val="1F1F1D"/>
                </a:solidFill>
                <a:latin typeface="Microsoft YaHei" pitchFamily="34" charset="0"/>
                <a:ea typeface="Microsoft YaHei" pitchFamily="34" charset="-122"/>
                <a:cs typeface="Microsoft YaHei" pitchFamily="34" charset="-120"/>
              </a:rPr>
              <a:t>的价格比上一代更高。</a:t>
            </a:r>
            <a:endParaRPr lang="en-US" sz="1700" dirty="0"/>
          </a:p>
        </p:txBody>
      </p:sp>
      <p:sp>
        <p:nvSpPr>
          <p:cNvPr id="12" name="Text 10"/>
          <p:cNvSpPr/>
          <p:nvPr/>
        </p:nvSpPr>
        <p:spPr>
          <a:xfrm>
            <a:off x="804672" y="2907792"/>
            <a:ext cx="5212080" cy="438912"/>
          </a:xfrm>
          <a:prstGeom prst="rect">
            <a:avLst/>
          </a:prstGeom>
          <a:noFill/>
          <a:ln/>
        </p:spPr>
        <p:txBody>
          <a:bodyPr wrap="square" lIns="0" tIns="0" rIns="0" bIns="0" rtlCol="0" anchor="ctr">
            <a:normAutofit lnSpcReduction="10000"/>
          </a:bodyPr>
          <a:lstStyle/>
          <a:p>
            <a:pPr marL="0" indent="0">
              <a:buNone/>
            </a:pPr>
            <a:r>
              <a:rPr lang="en-US" sz="1520" dirty="0">
                <a:solidFill>
                  <a:srgbClr val="1F1F1D"/>
                </a:solidFill>
                <a:latin typeface="Microsoft YaHei" pitchFamily="34" charset="0"/>
                <a:ea typeface="Microsoft YaHei" pitchFamily="34" charset="-122"/>
                <a:cs typeface="Microsoft YaHei" pitchFamily="34" charset="-120"/>
              </a:rPr>
              <a:t>模型处理“它”时，需要判断：它更应该关注“苹果”、还是“新款手机”？</a:t>
            </a:r>
            <a:endParaRPr lang="en-US" sz="1520" dirty="0"/>
          </a:p>
        </p:txBody>
      </p:sp>
      <p:sp>
        <p:nvSpPr>
          <p:cNvPr id="13" name="Text 11"/>
          <p:cNvSpPr/>
          <p:nvPr/>
        </p:nvSpPr>
        <p:spPr>
          <a:xfrm>
            <a:off x="731520" y="3739896"/>
            <a:ext cx="228600" cy="182880"/>
          </a:xfrm>
          <a:prstGeom prst="rect">
            <a:avLst/>
          </a:prstGeom>
          <a:noFill/>
          <a:ln/>
        </p:spPr>
        <p:txBody>
          <a:bodyPr wrap="square" lIns="0" tIns="0" rIns="0" bIns="0" rtlCol="0" anchor="ctr"/>
          <a:lstStyle/>
          <a:p>
            <a:pPr marL="0" indent="0">
              <a:buNone/>
            </a:pPr>
            <a:r>
              <a:rPr lang="en-US" sz="1550" b="1" dirty="0">
                <a:solidFill>
                  <a:srgbClr val="C9512D"/>
                </a:solidFill>
                <a:latin typeface="Microsoft YaHei" pitchFamily="34" charset="0"/>
                <a:ea typeface="Microsoft YaHei" pitchFamily="34" charset="-122"/>
                <a:cs typeface="Microsoft YaHei" pitchFamily="34" charset="-120"/>
              </a:rPr>
              <a:t>•</a:t>
            </a:r>
            <a:endParaRPr lang="en-US" sz="1550" dirty="0"/>
          </a:p>
        </p:txBody>
      </p:sp>
      <p:sp>
        <p:nvSpPr>
          <p:cNvPr id="14" name="Text 12"/>
          <p:cNvSpPr/>
          <p:nvPr/>
        </p:nvSpPr>
        <p:spPr>
          <a:xfrm>
            <a:off x="1115568" y="3730752"/>
            <a:ext cx="5074920" cy="384048"/>
          </a:xfrm>
          <a:prstGeom prst="rect">
            <a:avLst/>
          </a:prstGeom>
          <a:noFill/>
          <a:ln/>
        </p:spPr>
        <p:txBody>
          <a:bodyPr wrap="square" lIns="0" tIns="0" rIns="0" bIns="0" rtlCol="0" anchor="t">
            <a:normAutofit fontScale="92500"/>
          </a:bodyPr>
          <a:lstStyle/>
          <a:p>
            <a:pPr marL="0" indent="0">
              <a:buNone/>
            </a:pPr>
            <a:r>
              <a:rPr lang="en-US" sz="1550" b="1" dirty="0">
                <a:solidFill>
                  <a:srgbClr val="C9512D"/>
                </a:solidFill>
                <a:latin typeface="Microsoft YaHei" pitchFamily="34" charset="0"/>
                <a:ea typeface="Microsoft YaHei" pitchFamily="34" charset="-122"/>
                <a:cs typeface="Microsoft YaHei" pitchFamily="34" charset="-120"/>
              </a:rPr>
              <a:t>注意力不是平均看所有词：</a:t>
            </a:r>
            <a:r>
              <a:rPr lang="en-US" sz="1550" dirty="0">
                <a:solidFill>
                  <a:srgbClr val="1F1F1D"/>
                </a:solidFill>
                <a:latin typeface="Microsoft YaHei" pitchFamily="34" charset="0"/>
                <a:ea typeface="Microsoft YaHei" pitchFamily="34" charset="-122"/>
                <a:cs typeface="Microsoft YaHei" pitchFamily="34" charset="-120"/>
              </a:rPr>
              <a:t>而是给不同Token分配不同权重。</a:t>
            </a:r>
            <a:endParaRPr lang="en-US" sz="1550" dirty="0"/>
          </a:p>
        </p:txBody>
      </p:sp>
      <p:sp>
        <p:nvSpPr>
          <p:cNvPr id="15" name="Text 13"/>
          <p:cNvSpPr/>
          <p:nvPr/>
        </p:nvSpPr>
        <p:spPr>
          <a:xfrm>
            <a:off x="731520" y="4416552"/>
            <a:ext cx="228600" cy="182880"/>
          </a:xfrm>
          <a:prstGeom prst="rect">
            <a:avLst/>
          </a:prstGeom>
          <a:noFill/>
          <a:ln/>
        </p:spPr>
        <p:txBody>
          <a:bodyPr wrap="square" lIns="0" tIns="0" rIns="0" bIns="0" rtlCol="0" anchor="ctr"/>
          <a:lstStyle/>
          <a:p>
            <a:pPr marL="0" indent="0">
              <a:buNone/>
            </a:pPr>
            <a:r>
              <a:rPr lang="en-US" sz="1550" b="1" dirty="0">
                <a:solidFill>
                  <a:srgbClr val="C9512D"/>
                </a:solidFill>
                <a:latin typeface="Microsoft YaHei" pitchFamily="34" charset="0"/>
                <a:ea typeface="Microsoft YaHei" pitchFamily="34" charset="-122"/>
                <a:cs typeface="Microsoft YaHei" pitchFamily="34" charset="-120"/>
              </a:rPr>
              <a:t>•</a:t>
            </a:r>
            <a:endParaRPr lang="en-US" sz="1550" dirty="0"/>
          </a:p>
        </p:txBody>
      </p:sp>
      <p:sp>
        <p:nvSpPr>
          <p:cNvPr id="16" name="Text 14"/>
          <p:cNvSpPr/>
          <p:nvPr/>
        </p:nvSpPr>
        <p:spPr>
          <a:xfrm>
            <a:off x="1115568" y="4407408"/>
            <a:ext cx="5074920" cy="384048"/>
          </a:xfrm>
          <a:prstGeom prst="rect">
            <a:avLst/>
          </a:prstGeom>
          <a:noFill/>
          <a:ln/>
        </p:spPr>
        <p:txBody>
          <a:bodyPr wrap="square" lIns="0" tIns="0" rIns="0" bIns="0" rtlCol="0" anchor="t">
            <a:normAutofit fontScale="92500" lnSpcReduction="10000"/>
          </a:bodyPr>
          <a:lstStyle/>
          <a:p>
            <a:pPr marL="0" indent="0">
              <a:buNone/>
            </a:pPr>
            <a:r>
              <a:rPr lang="en-US" sz="1550" b="1" dirty="0">
                <a:solidFill>
                  <a:srgbClr val="C9512D"/>
                </a:solidFill>
                <a:latin typeface="Microsoft YaHei" pitchFamily="34" charset="0"/>
                <a:ea typeface="Microsoft YaHei" pitchFamily="34" charset="-122"/>
                <a:cs typeface="Microsoft YaHei" pitchFamily="34" charset="-120"/>
              </a:rPr>
              <a:t>上下文会改变词义：</a:t>
            </a:r>
            <a:r>
              <a:rPr lang="en-US" sz="1550" dirty="0">
                <a:solidFill>
                  <a:srgbClr val="1F1F1D"/>
                </a:solidFill>
                <a:latin typeface="Microsoft YaHei" pitchFamily="34" charset="0"/>
                <a:ea typeface="Microsoft YaHei" pitchFamily="34" charset="-122"/>
                <a:cs typeface="Microsoft YaHei" pitchFamily="34" charset="-120"/>
              </a:rPr>
              <a:t>“苹果”在水果、公司、手机语境中含义不同。</a:t>
            </a:r>
            <a:endParaRPr lang="en-US" sz="1550" dirty="0"/>
          </a:p>
        </p:txBody>
      </p:sp>
      <p:pic>
        <p:nvPicPr>
          <p:cNvPr id="17" name="Image 0" descr="/mnt/data/a_clean_flat_vector_illustration_style_diagram_on_batch_3.png"/>
          <p:cNvPicPr>
            <a:picLocks noChangeAspect="1"/>
          </p:cNvPicPr>
          <p:nvPr/>
        </p:nvPicPr>
        <p:blipFill>
          <a:blip r:embed="rId3"/>
          <a:srcRect l="893" r="893"/>
          <a:stretch/>
        </p:blipFill>
        <p:spPr>
          <a:xfrm>
            <a:off x="6254496" y="1600200"/>
            <a:ext cx="4526280" cy="3456432"/>
          </a:xfrm>
          <a:prstGeom prst="rect">
            <a:avLst/>
          </a:prstGeom>
        </p:spPr>
      </p:pic>
      <p:sp>
        <p:nvSpPr>
          <p:cNvPr id="18" name="Text 15"/>
          <p:cNvSpPr/>
          <p:nvPr/>
        </p:nvSpPr>
        <p:spPr>
          <a:xfrm>
            <a:off x="2148840" y="5596128"/>
            <a:ext cx="7863840" cy="292608"/>
          </a:xfrm>
          <a:prstGeom prst="rect">
            <a:avLst/>
          </a:prstGeom>
          <a:noFill/>
          <a:ln/>
        </p:spPr>
        <p:txBody>
          <a:bodyPr wrap="square" lIns="0" tIns="0" rIns="0" bIns="0" rtlCol="0" anchor="ctr"/>
          <a:lstStyle/>
          <a:p>
            <a:pPr marL="0" indent="0" algn="ctr">
              <a:buNone/>
            </a:pPr>
            <a:r>
              <a:rPr lang="en-US" sz="1700" b="1" dirty="0">
                <a:solidFill>
                  <a:srgbClr val="1F1F1D"/>
                </a:solidFill>
                <a:latin typeface="Microsoft YaHei" pitchFamily="34" charset="0"/>
                <a:ea typeface="Microsoft YaHei" pitchFamily="34" charset="-122"/>
                <a:cs typeface="Microsoft YaHei" pitchFamily="34" charset="-120"/>
              </a:rPr>
              <a:t>Self-Attention = 让一个词按需吸收上下文信息</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457200" y="164592"/>
            <a:ext cx="585216" cy="329184"/>
          </a:xfrm>
          <a:prstGeom prst="roundRect">
            <a:avLst>
              <a:gd name="adj" fmla="val 22222"/>
            </a:avLst>
          </a:prstGeom>
          <a:solidFill>
            <a:srgbClr val="C9512D"/>
          </a:solidFill>
          <a:ln w="12700">
            <a:solidFill>
              <a:srgbClr val="C9512D"/>
            </a:solidFill>
            <a:prstDash val="solid"/>
          </a:ln>
        </p:spPr>
      </p:sp>
      <p:sp>
        <p:nvSpPr>
          <p:cNvPr id="3" name="Text 1"/>
          <p:cNvSpPr/>
          <p:nvPr/>
        </p:nvSpPr>
        <p:spPr>
          <a:xfrm>
            <a:off x="457200" y="228600"/>
            <a:ext cx="585216" cy="146304"/>
          </a:xfrm>
          <a:prstGeom prst="rect">
            <a:avLst/>
          </a:prstGeom>
          <a:noFill/>
          <a:ln/>
        </p:spPr>
        <p:txBody>
          <a:bodyPr wrap="square" rtlCol="0" anchor="ct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03</a:t>
            </a:r>
            <a:endParaRPr lang="en-US" sz="900" dirty="0"/>
          </a:p>
        </p:txBody>
      </p:sp>
      <p:sp>
        <p:nvSpPr>
          <p:cNvPr id="4" name="Text 2"/>
          <p:cNvSpPr/>
          <p:nvPr/>
        </p:nvSpPr>
        <p:spPr>
          <a:xfrm>
            <a:off x="1207008" y="228600"/>
            <a:ext cx="1097280" cy="182880"/>
          </a:xfrm>
          <a:prstGeom prst="rect">
            <a:avLst/>
          </a:prstGeom>
          <a:noFill/>
          <a:ln/>
        </p:spPr>
        <p:txBody>
          <a:bodyPr wrap="square" rtlCol="0" anchor="ctr"/>
          <a:lstStyle/>
          <a:p>
            <a:pPr marL="0" indent="0">
              <a:buNone/>
            </a:pPr>
            <a:r>
              <a:rPr lang="en-US" sz="1200" b="1" dirty="0">
                <a:solidFill>
                  <a:srgbClr val="716D66"/>
                </a:solidFill>
                <a:latin typeface="Microsoft YaHei" pitchFamily="34" charset="0"/>
                <a:ea typeface="Microsoft YaHei" pitchFamily="34" charset="-122"/>
                <a:cs typeface="Microsoft YaHei" pitchFamily="34" charset="-120"/>
              </a:rPr>
              <a:t>核心概念</a:t>
            </a:r>
            <a:endParaRPr lang="en-US" sz="1200" dirty="0"/>
          </a:p>
        </p:txBody>
      </p:sp>
      <p:sp>
        <p:nvSpPr>
          <p:cNvPr id="5" name="Text 3"/>
          <p:cNvSpPr/>
          <p:nvPr/>
        </p:nvSpPr>
        <p:spPr>
          <a:xfrm>
            <a:off x="457200" y="713232"/>
            <a:ext cx="8961120" cy="438912"/>
          </a:xfrm>
          <a:prstGeom prst="rect">
            <a:avLst/>
          </a:prstGeom>
          <a:noFill/>
          <a:ln/>
        </p:spPr>
        <p:txBody>
          <a:bodyPr wrap="square" lIns="0" tIns="0" rIns="0" bIns="0" rtlCol="0" anchor="ctr"/>
          <a:lstStyle/>
          <a:p>
            <a:pPr marL="0" indent="0">
              <a:buNone/>
            </a:pPr>
            <a:r>
              <a:rPr lang="en-US" sz="3000" b="1" dirty="0">
                <a:solidFill>
                  <a:srgbClr val="1F1F1D"/>
                </a:solidFill>
                <a:latin typeface="Microsoft YaHei" pitchFamily="34" charset="0"/>
                <a:ea typeface="Microsoft YaHei" pitchFamily="34" charset="-122"/>
                <a:cs typeface="Microsoft YaHei" pitchFamily="34" charset="-120"/>
              </a:rPr>
              <a:t>Q、K、V：注意力机制的三个角色</a:t>
            </a:r>
            <a:endParaRPr lang="en-US" sz="3000" dirty="0"/>
          </a:p>
        </p:txBody>
      </p:sp>
      <p:sp>
        <p:nvSpPr>
          <p:cNvPr id="6" name="Shape 4"/>
          <p:cNvSpPr/>
          <p:nvPr/>
        </p:nvSpPr>
        <p:spPr>
          <a:xfrm>
            <a:off x="457200" y="1353312"/>
            <a:ext cx="11292840" cy="0"/>
          </a:xfrm>
          <a:prstGeom prst="line">
            <a:avLst/>
          </a:prstGeom>
          <a:noFill/>
          <a:ln w="13970">
            <a:solidFill>
              <a:srgbClr val="D8CDBD"/>
            </a:solidFill>
            <a:prstDash val="solid"/>
          </a:ln>
        </p:spPr>
      </p:sp>
      <p:sp>
        <p:nvSpPr>
          <p:cNvPr id="7" name="Text 5"/>
          <p:cNvSpPr/>
          <p:nvPr/>
        </p:nvSpPr>
        <p:spPr>
          <a:xfrm>
            <a:off x="457200" y="6510528"/>
            <a:ext cx="2194560" cy="146304"/>
          </a:xfrm>
          <a:prstGeom prst="rect">
            <a:avLst/>
          </a:prstGeom>
          <a:noFill/>
          <a:ln/>
        </p:spPr>
        <p:txBody>
          <a:bodyPr wrap="square" lIns="0" tIns="0" rIns="0" bIns="0" rtlCol="0" anchor="ctr"/>
          <a:lstStyle/>
          <a:p>
            <a:pPr marL="0" indent="0">
              <a:buNone/>
            </a:pPr>
            <a:r>
              <a:rPr lang="en-US" sz="780" dirty="0">
                <a:solidFill>
                  <a:srgbClr val="716D66"/>
                </a:solidFill>
                <a:latin typeface="Microsoft YaHei" pitchFamily="34" charset="0"/>
                <a:ea typeface="Microsoft YaHei" pitchFamily="34" charset="-122"/>
                <a:cs typeface="Microsoft YaHei" pitchFamily="34" charset="-120"/>
              </a:rPr>
              <a:t>AI产品经理系统课程 · 第一阶段</a:t>
            </a:r>
            <a:endParaRPr lang="en-US" sz="780" dirty="0"/>
          </a:p>
        </p:txBody>
      </p:sp>
      <p:sp>
        <p:nvSpPr>
          <p:cNvPr id="8" name="Text 6"/>
          <p:cNvSpPr/>
          <p:nvPr/>
        </p:nvSpPr>
        <p:spPr>
          <a:xfrm>
            <a:off x="9765792" y="6510528"/>
            <a:ext cx="73152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核心概念</a:t>
            </a:r>
            <a:endParaRPr lang="en-US" sz="780" dirty="0"/>
          </a:p>
        </p:txBody>
      </p:sp>
      <p:sp>
        <p:nvSpPr>
          <p:cNvPr id="9" name="Text 7"/>
          <p:cNvSpPr/>
          <p:nvPr/>
        </p:nvSpPr>
        <p:spPr>
          <a:xfrm>
            <a:off x="11503152" y="6510528"/>
            <a:ext cx="22860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04</a:t>
            </a:r>
            <a:endParaRPr lang="en-US" sz="780" dirty="0"/>
          </a:p>
        </p:txBody>
      </p:sp>
      <p:sp>
        <p:nvSpPr>
          <p:cNvPr id="10" name="Text 8"/>
          <p:cNvSpPr/>
          <p:nvPr/>
        </p:nvSpPr>
        <p:spPr>
          <a:xfrm>
            <a:off x="786384" y="1700784"/>
            <a:ext cx="7040880" cy="256032"/>
          </a:xfrm>
          <a:prstGeom prst="rect">
            <a:avLst/>
          </a:prstGeom>
          <a:noFill/>
          <a:ln/>
        </p:spPr>
        <p:txBody>
          <a:bodyPr wrap="square" lIns="0" tIns="0" rIns="0" bIns="0" rtlCol="0" anchor="ctr"/>
          <a:lstStyle/>
          <a:p>
            <a:pPr marL="0" indent="0">
              <a:buNone/>
            </a:pPr>
            <a:r>
              <a:rPr lang="en-US" sz="1600" b="1" dirty="0">
                <a:solidFill>
                  <a:srgbClr val="1F1F1D"/>
                </a:solidFill>
                <a:latin typeface="Microsoft YaHei" pitchFamily="34" charset="0"/>
                <a:ea typeface="Microsoft YaHei" pitchFamily="34" charset="-122"/>
                <a:cs typeface="Microsoft YaHei" pitchFamily="34" charset="-120"/>
              </a:rPr>
              <a:t>可以把它理解成一次“在公司里找资料”的过程：</a:t>
            </a:r>
            <a:endParaRPr lang="en-US" sz="1600" dirty="0"/>
          </a:p>
        </p:txBody>
      </p:sp>
      <p:sp>
        <p:nvSpPr>
          <p:cNvPr id="11" name="Shape 9"/>
          <p:cNvSpPr/>
          <p:nvPr/>
        </p:nvSpPr>
        <p:spPr>
          <a:xfrm>
            <a:off x="786384" y="2331720"/>
            <a:ext cx="2788920" cy="1938528"/>
          </a:xfrm>
          <a:prstGeom prst="roundRect">
            <a:avLst>
              <a:gd name="adj" fmla="val 3774"/>
            </a:avLst>
          </a:prstGeom>
          <a:solidFill>
            <a:srgbClr val="FFF9F0"/>
          </a:solidFill>
          <a:ln w="12700">
            <a:solidFill>
              <a:srgbClr val="E7D2BA"/>
            </a:solidFill>
            <a:prstDash val="solid"/>
          </a:ln>
        </p:spPr>
      </p:sp>
      <p:sp>
        <p:nvSpPr>
          <p:cNvPr id="12" name="Shape 10"/>
          <p:cNvSpPr/>
          <p:nvPr/>
        </p:nvSpPr>
        <p:spPr>
          <a:xfrm>
            <a:off x="996696" y="2542032"/>
            <a:ext cx="786384" cy="329184"/>
          </a:xfrm>
          <a:prstGeom prst="roundRect">
            <a:avLst>
              <a:gd name="adj" fmla="val 22222"/>
            </a:avLst>
          </a:prstGeom>
          <a:solidFill>
            <a:srgbClr val="C9512D"/>
          </a:solidFill>
          <a:ln w="12700">
            <a:solidFill>
              <a:srgbClr val="C9512D"/>
            </a:solidFill>
            <a:prstDash val="solid"/>
          </a:ln>
        </p:spPr>
      </p:sp>
      <p:sp>
        <p:nvSpPr>
          <p:cNvPr id="13" name="Text 11"/>
          <p:cNvSpPr/>
          <p:nvPr/>
        </p:nvSpPr>
        <p:spPr>
          <a:xfrm>
            <a:off x="996696" y="2624328"/>
            <a:ext cx="786384" cy="118872"/>
          </a:xfrm>
          <a:prstGeom prst="rect">
            <a:avLst/>
          </a:prstGeom>
          <a:noFill/>
          <a:ln/>
        </p:spPr>
        <p:txBody>
          <a:bodyPr wrap="square" lIns="254" tIns="254" rIns="254" bIns="254" rtlCol="0" anchor="ctr">
            <a:normAutofit fontScale="85000" lnSpcReduction="20000"/>
          </a:bodyPr>
          <a:lstStyle/>
          <a:p>
            <a:pPr marL="0" indent="0" algn="ctr">
              <a:buNone/>
            </a:pPr>
            <a:r>
              <a:rPr lang="en-US" sz="1050" b="1" dirty="0">
                <a:solidFill>
                  <a:srgbClr val="FFFFFF"/>
                </a:solidFill>
                <a:latin typeface="Microsoft YaHei" pitchFamily="34" charset="0"/>
                <a:ea typeface="Microsoft YaHei" pitchFamily="34" charset="-122"/>
                <a:cs typeface="Microsoft YaHei" pitchFamily="34" charset="-120"/>
              </a:rPr>
              <a:t>Query</a:t>
            </a:r>
            <a:endParaRPr lang="en-US" sz="1050" dirty="0"/>
          </a:p>
        </p:txBody>
      </p:sp>
      <p:sp>
        <p:nvSpPr>
          <p:cNvPr id="14" name="Text 12"/>
          <p:cNvSpPr/>
          <p:nvPr/>
        </p:nvSpPr>
        <p:spPr>
          <a:xfrm>
            <a:off x="1024128" y="3118104"/>
            <a:ext cx="2331720" cy="256032"/>
          </a:xfrm>
          <a:prstGeom prst="rect">
            <a:avLst/>
          </a:prstGeom>
          <a:noFill/>
          <a:ln/>
        </p:spPr>
        <p:txBody>
          <a:bodyPr wrap="square" lIns="254" tIns="254" rIns="254" bIns="254" rtlCol="0" anchor="ctr">
            <a:normAutofit lnSpcReduction="10000"/>
          </a:bodyPr>
          <a:lstStyle/>
          <a:p>
            <a:pPr marL="0" indent="0" algn="l">
              <a:buNone/>
            </a:pPr>
            <a:r>
              <a:rPr lang="en-US" sz="1700" b="1" dirty="0">
                <a:solidFill>
                  <a:srgbClr val="1F1F1D"/>
                </a:solidFill>
                <a:latin typeface="Microsoft YaHei" pitchFamily="34" charset="0"/>
                <a:ea typeface="Microsoft YaHei" pitchFamily="34" charset="-122"/>
                <a:cs typeface="Microsoft YaHei" pitchFamily="34" charset="-120"/>
              </a:rPr>
              <a:t>我现在想找什么？</a:t>
            </a:r>
            <a:endParaRPr lang="en-US" sz="1700" dirty="0"/>
          </a:p>
        </p:txBody>
      </p:sp>
      <p:sp>
        <p:nvSpPr>
          <p:cNvPr id="15" name="Text 13"/>
          <p:cNvSpPr/>
          <p:nvPr/>
        </p:nvSpPr>
        <p:spPr>
          <a:xfrm>
            <a:off x="1024128" y="3639312"/>
            <a:ext cx="2331720" cy="301752"/>
          </a:xfrm>
          <a:prstGeom prst="rect">
            <a:avLst/>
          </a:prstGeom>
          <a:noFill/>
          <a:ln/>
        </p:spPr>
        <p:txBody>
          <a:bodyPr wrap="square" lIns="254" tIns="254" rIns="254" bIns="254" rtlCol="0" anchor="ctr">
            <a:normAutofit/>
          </a:bodyPr>
          <a:lstStyle/>
          <a:p>
            <a:pPr marL="0" indent="0" algn="l">
              <a:buNone/>
            </a:pPr>
            <a:r>
              <a:rPr lang="en-US" sz="1320" dirty="0">
                <a:solidFill>
                  <a:srgbClr val="716D66"/>
                </a:solidFill>
                <a:latin typeface="Microsoft YaHei" pitchFamily="34" charset="0"/>
                <a:ea typeface="Microsoft YaHei" pitchFamily="34" charset="-122"/>
                <a:cs typeface="Microsoft YaHei" pitchFamily="34" charset="-120"/>
              </a:rPr>
              <a:t>例如：谁负责退款规则？</a:t>
            </a:r>
            <a:endParaRPr lang="en-US" sz="1320" dirty="0"/>
          </a:p>
        </p:txBody>
      </p:sp>
      <p:sp>
        <p:nvSpPr>
          <p:cNvPr id="16" name="Shape 14"/>
          <p:cNvSpPr/>
          <p:nvPr/>
        </p:nvSpPr>
        <p:spPr>
          <a:xfrm>
            <a:off x="4270248" y="2331720"/>
            <a:ext cx="2788920" cy="1938528"/>
          </a:xfrm>
          <a:prstGeom prst="roundRect">
            <a:avLst>
              <a:gd name="adj" fmla="val 3774"/>
            </a:avLst>
          </a:prstGeom>
          <a:solidFill>
            <a:srgbClr val="FFF9F0"/>
          </a:solidFill>
          <a:ln w="12700">
            <a:solidFill>
              <a:srgbClr val="E7D2BA"/>
            </a:solidFill>
            <a:prstDash val="solid"/>
          </a:ln>
        </p:spPr>
      </p:sp>
      <p:sp>
        <p:nvSpPr>
          <p:cNvPr id="17" name="Shape 15"/>
          <p:cNvSpPr/>
          <p:nvPr/>
        </p:nvSpPr>
        <p:spPr>
          <a:xfrm>
            <a:off x="4480560" y="2542032"/>
            <a:ext cx="786384" cy="329184"/>
          </a:xfrm>
          <a:prstGeom prst="roundRect">
            <a:avLst>
              <a:gd name="adj" fmla="val 22222"/>
            </a:avLst>
          </a:prstGeom>
          <a:solidFill>
            <a:srgbClr val="C9512D"/>
          </a:solidFill>
          <a:ln w="12700">
            <a:solidFill>
              <a:srgbClr val="C9512D"/>
            </a:solidFill>
            <a:prstDash val="solid"/>
          </a:ln>
        </p:spPr>
      </p:sp>
      <p:sp>
        <p:nvSpPr>
          <p:cNvPr id="18" name="Text 16"/>
          <p:cNvSpPr/>
          <p:nvPr/>
        </p:nvSpPr>
        <p:spPr>
          <a:xfrm>
            <a:off x="4480560" y="2624328"/>
            <a:ext cx="786384" cy="118872"/>
          </a:xfrm>
          <a:prstGeom prst="rect">
            <a:avLst/>
          </a:prstGeom>
          <a:noFill/>
          <a:ln/>
        </p:spPr>
        <p:txBody>
          <a:bodyPr wrap="square" lIns="254" tIns="254" rIns="254" bIns="254" rtlCol="0" anchor="ctr">
            <a:normAutofit fontScale="85000" lnSpcReduction="20000"/>
          </a:bodyPr>
          <a:lstStyle/>
          <a:p>
            <a:pPr marL="0" indent="0" algn="ctr">
              <a:buNone/>
            </a:pPr>
            <a:r>
              <a:rPr lang="en-US" sz="1050" b="1" dirty="0">
                <a:solidFill>
                  <a:srgbClr val="FFFFFF"/>
                </a:solidFill>
                <a:latin typeface="Microsoft YaHei" pitchFamily="34" charset="0"/>
                <a:ea typeface="Microsoft YaHei" pitchFamily="34" charset="-122"/>
                <a:cs typeface="Microsoft YaHei" pitchFamily="34" charset="-120"/>
              </a:rPr>
              <a:t>Key</a:t>
            </a:r>
            <a:endParaRPr lang="en-US" sz="1050" dirty="0"/>
          </a:p>
        </p:txBody>
      </p:sp>
      <p:sp>
        <p:nvSpPr>
          <p:cNvPr id="19" name="Text 17"/>
          <p:cNvSpPr/>
          <p:nvPr/>
        </p:nvSpPr>
        <p:spPr>
          <a:xfrm>
            <a:off x="4507992" y="3118104"/>
            <a:ext cx="2331720" cy="256032"/>
          </a:xfrm>
          <a:prstGeom prst="rect">
            <a:avLst/>
          </a:prstGeom>
          <a:noFill/>
          <a:ln/>
        </p:spPr>
        <p:txBody>
          <a:bodyPr wrap="square" lIns="254" tIns="254" rIns="254" bIns="254" rtlCol="0" anchor="ctr">
            <a:normAutofit lnSpcReduction="10000"/>
          </a:bodyPr>
          <a:lstStyle/>
          <a:p>
            <a:pPr marL="0" indent="0" algn="l">
              <a:buNone/>
            </a:pPr>
            <a:r>
              <a:rPr lang="en-US" sz="1700" b="1" dirty="0">
                <a:solidFill>
                  <a:srgbClr val="1F1F1D"/>
                </a:solidFill>
                <a:latin typeface="Microsoft YaHei" pitchFamily="34" charset="0"/>
                <a:ea typeface="Microsoft YaHei" pitchFamily="34" charset="-122"/>
                <a:cs typeface="Microsoft YaHei" pitchFamily="34" charset="-120"/>
              </a:rPr>
              <a:t>我这里有什么标签？</a:t>
            </a:r>
            <a:endParaRPr lang="en-US" sz="1700" dirty="0"/>
          </a:p>
        </p:txBody>
      </p:sp>
      <p:sp>
        <p:nvSpPr>
          <p:cNvPr id="20" name="Text 18"/>
          <p:cNvSpPr/>
          <p:nvPr/>
        </p:nvSpPr>
        <p:spPr>
          <a:xfrm>
            <a:off x="4507992" y="3639312"/>
            <a:ext cx="2331720" cy="301752"/>
          </a:xfrm>
          <a:prstGeom prst="rect">
            <a:avLst/>
          </a:prstGeom>
          <a:noFill/>
          <a:ln/>
        </p:spPr>
        <p:txBody>
          <a:bodyPr wrap="square" lIns="254" tIns="254" rIns="254" bIns="254" rtlCol="0" anchor="ctr">
            <a:normAutofit/>
          </a:bodyPr>
          <a:lstStyle/>
          <a:p>
            <a:pPr marL="0" indent="0" algn="l">
              <a:buNone/>
            </a:pPr>
            <a:r>
              <a:rPr lang="en-US" sz="1320" dirty="0">
                <a:solidFill>
                  <a:srgbClr val="716D66"/>
                </a:solidFill>
                <a:latin typeface="Microsoft YaHei" pitchFamily="34" charset="0"/>
                <a:ea typeface="Microsoft YaHei" pitchFamily="34" charset="-122"/>
                <a:cs typeface="Microsoft YaHei" pitchFamily="34" charset="-120"/>
              </a:rPr>
              <a:t>例如：支付、客服、风控</a:t>
            </a:r>
            <a:endParaRPr lang="en-US" sz="1320" dirty="0"/>
          </a:p>
        </p:txBody>
      </p:sp>
      <p:sp>
        <p:nvSpPr>
          <p:cNvPr id="21" name="Shape 19"/>
          <p:cNvSpPr/>
          <p:nvPr/>
        </p:nvSpPr>
        <p:spPr>
          <a:xfrm>
            <a:off x="7754112" y="2331720"/>
            <a:ext cx="2788920" cy="1938528"/>
          </a:xfrm>
          <a:prstGeom prst="roundRect">
            <a:avLst>
              <a:gd name="adj" fmla="val 3774"/>
            </a:avLst>
          </a:prstGeom>
          <a:solidFill>
            <a:srgbClr val="FFF9F0"/>
          </a:solidFill>
          <a:ln w="12700">
            <a:solidFill>
              <a:srgbClr val="E7D2BA"/>
            </a:solidFill>
            <a:prstDash val="solid"/>
          </a:ln>
        </p:spPr>
      </p:sp>
      <p:sp>
        <p:nvSpPr>
          <p:cNvPr id="22" name="Shape 20"/>
          <p:cNvSpPr/>
          <p:nvPr/>
        </p:nvSpPr>
        <p:spPr>
          <a:xfrm>
            <a:off x="7964424" y="2542032"/>
            <a:ext cx="786384" cy="329184"/>
          </a:xfrm>
          <a:prstGeom prst="roundRect">
            <a:avLst>
              <a:gd name="adj" fmla="val 22222"/>
            </a:avLst>
          </a:prstGeom>
          <a:solidFill>
            <a:srgbClr val="C9512D"/>
          </a:solidFill>
          <a:ln w="12700">
            <a:solidFill>
              <a:srgbClr val="C9512D"/>
            </a:solidFill>
            <a:prstDash val="solid"/>
          </a:ln>
        </p:spPr>
      </p:sp>
      <p:sp>
        <p:nvSpPr>
          <p:cNvPr id="23" name="Text 21"/>
          <p:cNvSpPr/>
          <p:nvPr/>
        </p:nvSpPr>
        <p:spPr>
          <a:xfrm>
            <a:off x="7964424" y="2624328"/>
            <a:ext cx="786384" cy="118872"/>
          </a:xfrm>
          <a:prstGeom prst="rect">
            <a:avLst/>
          </a:prstGeom>
          <a:noFill/>
          <a:ln/>
        </p:spPr>
        <p:txBody>
          <a:bodyPr wrap="square" lIns="254" tIns="254" rIns="254" bIns="254" rtlCol="0" anchor="ctr">
            <a:normAutofit fontScale="85000" lnSpcReduction="20000"/>
          </a:bodyPr>
          <a:lstStyle/>
          <a:p>
            <a:pPr marL="0" indent="0" algn="ctr">
              <a:buNone/>
            </a:pPr>
            <a:r>
              <a:rPr lang="en-US" sz="1050" b="1" dirty="0">
                <a:solidFill>
                  <a:srgbClr val="FFFFFF"/>
                </a:solidFill>
                <a:latin typeface="Microsoft YaHei" pitchFamily="34" charset="0"/>
                <a:ea typeface="Microsoft YaHei" pitchFamily="34" charset="-122"/>
                <a:cs typeface="Microsoft YaHei" pitchFamily="34" charset="-120"/>
              </a:rPr>
              <a:t>Value</a:t>
            </a:r>
            <a:endParaRPr lang="en-US" sz="1050" dirty="0"/>
          </a:p>
        </p:txBody>
      </p:sp>
      <p:sp>
        <p:nvSpPr>
          <p:cNvPr id="24" name="Text 22"/>
          <p:cNvSpPr/>
          <p:nvPr/>
        </p:nvSpPr>
        <p:spPr>
          <a:xfrm>
            <a:off x="7991856" y="3118104"/>
            <a:ext cx="2331720" cy="256032"/>
          </a:xfrm>
          <a:prstGeom prst="rect">
            <a:avLst/>
          </a:prstGeom>
          <a:noFill/>
          <a:ln/>
        </p:spPr>
        <p:txBody>
          <a:bodyPr wrap="square" lIns="254" tIns="254" rIns="254" bIns="254" rtlCol="0" anchor="ctr">
            <a:normAutofit lnSpcReduction="10000"/>
          </a:bodyPr>
          <a:lstStyle/>
          <a:p>
            <a:pPr marL="0" indent="0" algn="l">
              <a:buNone/>
            </a:pPr>
            <a:r>
              <a:rPr lang="en-US" sz="1700" b="1" dirty="0">
                <a:solidFill>
                  <a:srgbClr val="1F1F1D"/>
                </a:solidFill>
                <a:latin typeface="Microsoft YaHei" pitchFamily="34" charset="0"/>
                <a:ea typeface="Microsoft YaHei" pitchFamily="34" charset="-122"/>
                <a:cs typeface="Microsoft YaHei" pitchFamily="34" charset="-120"/>
              </a:rPr>
              <a:t>真正能提供的信息</a:t>
            </a:r>
            <a:endParaRPr lang="en-US" sz="1700" dirty="0"/>
          </a:p>
        </p:txBody>
      </p:sp>
      <p:sp>
        <p:nvSpPr>
          <p:cNvPr id="25" name="Text 23"/>
          <p:cNvSpPr/>
          <p:nvPr/>
        </p:nvSpPr>
        <p:spPr>
          <a:xfrm>
            <a:off x="7991856" y="3639312"/>
            <a:ext cx="2331720" cy="301752"/>
          </a:xfrm>
          <a:prstGeom prst="rect">
            <a:avLst/>
          </a:prstGeom>
          <a:noFill/>
          <a:ln/>
        </p:spPr>
        <p:txBody>
          <a:bodyPr wrap="square" lIns="254" tIns="254" rIns="254" bIns="254" rtlCol="0" anchor="ctr">
            <a:normAutofit/>
          </a:bodyPr>
          <a:lstStyle/>
          <a:p>
            <a:pPr marL="0" indent="0" algn="l">
              <a:buNone/>
            </a:pPr>
            <a:r>
              <a:rPr lang="en-US" sz="1320" dirty="0">
                <a:solidFill>
                  <a:srgbClr val="716D66"/>
                </a:solidFill>
                <a:latin typeface="Microsoft YaHei" pitchFamily="34" charset="0"/>
                <a:ea typeface="Microsoft YaHei" pitchFamily="34" charset="-122"/>
                <a:cs typeface="Microsoft YaHei" pitchFamily="34" charset="-120"/>
              </a:rPr>
              <a:t>例如：规则细节与处理建议</a:t>
            </a:r>
            <a:endParaRPr lang="en-US" sz="1320" dirty="0"/>
          </a:p>
        </p:txBody>
      </p:sp>
      <p:sp>
        <p:nvSpPr>
          <p:cNvPr id="26" name="Shape 24"/>
          <p:cNvSpPr/>
          <p:nvPr/>
        </p:nvSpPr>
        <p:spPr>
          <a:xfrm>
            <a:off x="3639312" y="3310128"/>
            <a:ext cx="438912" cy="0"/>
          </a:xfrm>
          <a:prstGeom prst="line">
            <a:avLst/>
          </a:prstGeom>
          <a:noFill/>
          <a:ln w="25400">
            <a:solidFill>
              <a:srgbClr val="C9512D"/>
            </a:solidFill>
            <a:prstDash val="solid"/>
            <a:headEnd type="none"/>
            <a:tailEnd type="triangle"/>
          </a:ln>
        </p:spPr>
      </p:sp>
      <p:sp>
        <p:nvSpPr>
          <p:cNvPr id="27" name="Shape 25"/>
          <p:cNvSpPr/>
          <p:nvPr/>
        </p:nvSpPr>
        <p:spPr>
          <a:xfrm>
            <a:off x="7123176" y="3310128"/>
            <a:ext cx="438912" cy="0"/>
          </a:xfrm>
          <a:prstGeom prst="line">
            <a:avLst/>
          </a:prstGeom>
          <a:noFill/>
          <a:ln w="25400">
            <a:solidFill>
              <a:srgbClr val="C9512D"/>
            </a:solidFill>
            <a:prstDash val="solid"/>
            <a:headEnd type="none"/>
            <a:tailEnd type="triangle"/>
          </a:ln>
        </p:spPr>
      </p:sp>
      <p:sp>
        <p:nvSpPr>
          <p:cNvPr id="28" name="Shape 26"/>
          <p:cNvSpPr/>
          <p:nvPr/>
        </p:nvSpPr>
        <p:spPr>
          <a:xfrm>
            <a:off x="2423160" y="4791456"/>
            <a:ext cx="7406640" cy="530352"/>
          </a:xfrm>
          <a:prstGeom prst="roundRect">
            <a:avLst>
              <a:gd name="adj" fmla="val 13793"/>
            </a:avLst>
          </a:prstGeom>
          <a:solidFill>
            <a:srgbClr val="FCE6D2"/>
          </a:solidFill>
          <a:ln w="12700">
            <a:solidFill>
              <a:srgbClr val="FCE6D2"/>
            </a:solidFill>
            <a:prstDash val="solid"/>
          </a:ln>
        </p:spPr>
      </p:sp>
      <p:sp>
        <p:nvSpPr>
          <p:cNvPr id="29" name="Text 27"/>
          <p:cNvSpPr/>
          <p:nvPr/>
        </p:nvSpPr>
        <p:spPr>
          <a:xfrm>
            <a:off x="2606040" y="4956048"/>
            <a:ext cx="7040880" cy="164592"/>
          </a:xfrm>
          <a:prstGeom prst="rect">
            <a:avLst/>
          </a:prstGeom>
          <a:noFill/>
          <a:ln/>
        </p:spPr>
        <p:txBody>
          <a:bodyPr wrap="square" lIns="0" tIns="0" rIns="0" bIns="0" rtlCol="0" anchor="ctr">
            <a:normAutofit fontScale="77500" lnSpcReduction="20000"/>
          </a:bodyPr>
          <a:lstStyle/>
          <a:p>
            <a:pPr marL="0" indent="0" algn="ctr">
              <a:buNone/>
            </a:pPr>
            <a:r>
              <a:rPr lang="en-US" sz="1600" b="1" dirty="0">
                <a:solidFill>
                  <a:srgbClr val="C9512D"/>
                </a:solidFill>
                <a:latin typeface="Microsoft YaHei" pitchFamily="34" charset="0"/>
                <a:ea typeface="Microsoft YaHei" pitchFamily="34" charset="-122"/>
                <a:cs typeface="Microsoft YaHei" pitchFamily="34" charset="-120"/>
              </a:rPr>
              <a:t>一句话：</a:t>
            </a:r>
            <a:r>
              <a:rPr lang="en-US" sz="1600" b="1" dirty="0">
                <a:solidFill>
                  <a:srgbClr val="1F1F1D"/>
                </a:solidFill>
                <a:latin typeface="Microsoft YaHei" pitchFamily="34" charset="0"/>
                <a:ea typeface="Microsoft YaHei" pitchFamily="34" charset="-122"/>
                <a:cs typeface="Microsoft YaHei" pitchFamily="34" charset="-120"/>
              </a:rPr>
              <a:t>用 Query 去匹配 Key，按相关程度读取 Value。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457200" y="164592"/>
            <a:ext cx="585216" cy="329184"/>
          </a:xfrm>
          <a:prstGeom prst="roundRect">
            <a:avLst>
              <a:gd name="adj" fmla="val 22222"/>
            </a:avLst>
          </a:prstGeom>
          <a:solidFill>
            <a:srgbClr val="C9512D"/>
          </a:solidFill>
          <a:ln w="12700">
            <a:solidFill>
              <a:srgbClr val="C9512D"/>
            </a:solidFill>
            <a:prstDash val="solid"/>
          </a:ln>
        </p:spPr>
      </p:sp>
      <p:sp>
        <p:nvSpPr>
          <p:cNvPr id="3" name="Text 1"/>
          <p:cNvSpPr/>
          <p:nvPr/>
        </p:nvSpPr>
        <p:spPr>
          <a:xfrm>
            <a:off x="457200" y="228600"/>
            <a:ext cx="585216" cy="146304"/>
          </a:xfrm>
          <a:prstGeom prst="rect">
            <a:avLst/>
          </a:prstGeom>
          <a:noFill/>
          <a:ln/>
        </p:spPr>
        <p:txBody>
          <a:bodyPr wrap="square" rtlCol="0" anchor="ct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03</a:t>
            </a:r>
            <a:endParaRPr lang="en-US" sz="900" dirty="0"/>
          </a:p>
        </p:txBody>
      </p:sp>
      <p:sp>
        <p:nvSpPr>
          <p:cNvPr id="4" name="Text 2"/>
          <p:cNvSpPr/>
          <p:nvPr/>
        </p:nvSpPr>
        <p:spPr>
          <a:xfrm>
            <a:off x="1207008" y="228600"/>
            <a:ext cx="1097280" cy="182880"/>
          </a:xfrm>
          <a:prstGeom prst="rect">
            <a:avLst/>
          </a:prstGeom>
          <a:noFill/>
          <a:ln/>
        </p:spPr>
        <p:txBody>
          <a:bodyPr wrap="square" rtlCol="0" anchor="ctr"/>
          <a:lstStyle/>
          <a:p>
            <a:pPr marL="0" indent="0">
              <a:buNone/>
            </a:pPr>
            <a:r>
              <a:rPr lang="en-US" sz="1200" b="1" dirty="0">
                <a:solidFill>
                  <a:srgbClr val="716D66"/>
                </a:solidFill>
                <a:latin typeface="Microsoft YaHei" pitchFamily="34" charset="0"/>
                <a:ea typeface="Microsoft YaHei" pitchFamily="34" charset="-122"/>
                <a:cs typeface="Microsoft YaHei" pitchFamily="34" charset="-120"/>
              </a:rPr>
              <a:t>核心概念</a:t>
            </a:r>
            <a:endParaRPr lang="en-US" sz="1200" dirty="0"/>
          </a:p>
        </p:txBody>
      </p:sp>
      <p:sp>
        <p:nvSpPr>
          <p:cNvPr id="5" name="Text 3"/>
          <p:cNvSpPr/>
          <p:nvPr/>
        </p:nvSpPr>
        <p:spPr>
          <a:xfrm>
            <a:off x="457200" y="713232"/>
            <a:ext cx="8961120" cy="438912"/>
          </a:xfrm>
          <a:prstGeom prst="rect">
            <a:avLst/>
          </a:prstGeom>
          <a:noFill/>
          <a:ln/>
        </p:spPr>
        <p:txBody>
          <a:bodyPr wrap="square" lIns="0" tIns="0" rIns="0" bIns="0" rtlCol="0" anchor="ctr"/>
          <a:lstStyle/>
          <a:p>
            <a:pPr marL="0" indent="0">
              <a:buNone/>
            </a:pPr>
            <a:r>
              <a:rPr lang="en-US" sz="3000" b="1" dirty="0">
                <a:solidFill>
                  <a:srgbClr val="1F1F1D"/>
                </a:solidFill>
                <a:latin typeface="Microsoft YaHei" pitchFamily="34" charset="0"/>
                <a:ea typeface="Microsoft YaHei" pitchFamily="34" charset="-122"/>
                <a:cs typeface="Microsoft YaHei" pitchFamily="34" charset="-120"/>
              </a:rPr>
              <a:t>Multi-Head Attention：多个视角同时看关系</a:t>
            </a:r>
            <a:endParaRPr lang="en-US" sz="3000" dirty="0"/>
          </a:p>
        </p:txBody>
      </p:sp>
      <p:sp>
        <p:nvSpPr>
          <p:cNvPr id="6" name="Shape 4"/>
          <p:cNvSpPr/>
          <p:nvPr/>
        </p:nvSpPr>
        <p:spPr>
          <a:xfrm>
            <a:off x="457200" y="1353312"/>
            <a:ext cx="11292840" cy="0"/>
          </a:xfrm>
          <a:prstGeom prst="line">
            <a:avLst/>
          </a:prstGeom>
          <a:noFill/>
          <a:ln w="13970">
            <a:solidFill>
              <a:srgbClr val="D8CDBD"/>
            </a:solidFill>
            <a:prstDash val="solid"/>
          </a:ln>
        </p:spPr>
      </p:sp>
      <p:sp>
        <p:nvSpPr>
          <p:cNvPr id="7" name="Text 5"/>
          <p:cNvSpPr/>
          <p:nvPr/>
        </p:nvSpPr>
        <p:spPr>
          <a:xfrm>
            <a:off x="457200" y="6510528"/>
            <a:ext cx="2194560" cy="146304"/>
          </a:xfrm>
          <a:prstGeom prst="rect">
            <a:avLst/>
          </a:prstGeom>
          <a:noFill/>
          <a:ln/>
        </p:spPr>
        <p:txBody>
          <a:bodyPr wrap="square" lIns="0" tIns="0" rIns="0" bIns="0" rtlCol="0" anchor="ctr"/>
          <a:lstStyle/>
          <a:p>
            <a:pPr marL="0" indent="0">
              <a:buNone/>
            </a:pPr>
            <a:r>
              <a:rPr lang="en-US" sz="780" dirty="0">
                <a:solidFill>
                  <a:srgbClr val="716D66"/>
                </a:solidFill>
                <a:latin typeface="Microsoft YaHei" pitchFamily="34" charset="0"/>
                <a:ea typeface="Microsoft YaHei" pitchFamily="34" charset="-122"/>
                <a:cs typeface="Microsoft YaHei" pitchFamily="34" charset="-120"/>
              </a:rPr>
              <a:t>AI产品经理系统课程 · 第一阶段</a:t>
            </a:r>
            <a:endParaRPr lang="en-US" sz="780" dirty="0"/>
          </a:p>
        </p:txBody>
      </p:sp>
      <p:sp>
        <p:nvSpPr>
          <p:cNvPr id="8" name="Text 6"/>
          <p:cNvSpPr/>
          <p:nvPr/>
        </p:nvSpPr>
        <p:spPr>
          <a:xfrm>
            <a:off x="9765792" y="6510528"/>
            <a:ext cx="73152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核心概念</a:t>
            </a:r>
            <a:endParaRPr lang="en-US" sz="780" dirty="0"/>
          </a:p>
        </p:txBody>
      </p:sp>
      <p:sp>
        <p:nvSpPr>
          <p:cNvPr id="9" name="Text 7"/>
          <p:cNvSpPr/>
          <p:nvPr/>
        </p:nvSpPr>
        <p:spPr>
          <a:xfrm>
            <a:off x="11503152" y="6510528"/>
            <a:ext cx="22860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05</a:t>
            </a:r>
            <a:endParaRPr lang="en-US" sz="780" dirty="0"/>
          </a:p>
        </p:txBody>
      </p:sp>
      <p:sp>
        <p:nvSpPr>
          <p:cNvPr id="10" name="Text 8"/>
          <p:cNvSpPr/>
          <p:nvPr/>
        </p:nvSpPr>
        <p:spPr>
          <a:xfrm>
            <a:off x="731520" y="1892808"/>
            <a:ext cx="228600" cy="182880"/>
          </a:xfrm>
          <a:prstGeom prst="rect">
            <a:avLst/>
          </a:prstGeom>
          <a:noFill/>
          <a:ln/>
        </p:spPr>
        <p:txBody>
          <a:bodyPr wrap="square" lIns="0" tIns="0" rIns="0" bIns="0" rtlCol="0" anchor="ct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a:t>
            </a:r>
            <a:endParaRPr lang="en-US" sz="1600" dirty="0"/>
          </a:p>
        </p:txBody>
      </p:sp>
      <p:sp>
        <p:nvSpPr>
          <p:cNvPr id="11" name="Text 9"/>
          <p:cNvSpPr/>
          <p:nvPr/>
        </p:nvSpPr>
        <p:spPr>
          <a:xfrm>
            <a:off x="1115568" y="1883664"/>
            <a:ext cx="5029200" cy="438912"/>
          </a:xfrm>
          <a:prstGeom prst="rect">
            <a:avLst/>
          </a:prstGeom>
          <a:noFill/>
          <a:ln/>
        </p:spPr>
        <p:txBody>
          <a:bodyPr wrap="square" lIns="0" tIns="0" rIns="0" bIns="0" rtlCol="0" anchor="t">
            <a:normAutofit lnSpcReduction="10000"/>
          </a:bodyP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一个词可能有多种关系：</a:t>
            </a:r>
            <a:r>
              <a:rPr lang="en-US" sz="1600" dirty="0">
                <a:solidFill>
                  <a:srgbClr val="1F1F1D"/>
                </a:solidFill>
                <a:latin typeface="Microsoft YaHei" pitchFamily="34" charset="0"/>
                <a:ea typeface="Microsoft YaHei" pitchFamily="34" charset="-122"/>
                <a:cs typeface="Microsoft YaHei" pitchFamily="34" charset="-120"/>
              </a:rPr>
              <a:t>谁做的、在哪里、什么时候、为什么、指代谁。</a:t>
            </a:r>
            <a:endParaRPr lang="en-US" sz="1600" dirty="0"/>
          </a:p>
        </p:txBody>
      </p:sp>
      <p:sp>
        <p:nvSpPr>
          <p:cNvPr id="12" name="Text 10"/>
          <p:cNvSpPr/>
          <p:nvPr/>
        </p:nvSpPr>
        <p:spPr>
          <a:xfrm>
            <a:off x="731520" y="2770632"/>
            <a:ext cx="228600" cy="182880"/>
          </a:xfrm>
          <a:prstGeom prst="rect">
            <a:avLst/>
          </a:prstGeom>
          <a:noFill/>
          <a:ln/>
        </p:spPr>
        <p:txBody>
          <a:bodyPr wrap="square" lIns="0" tIns="0" rIns="0" bIns="0" rtlCol="0" anchor="ct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a:t>
            </a:r>
            <a:endParaRPr lang="en-US" sz="1600" dirty="0"/>
          </a:p>
        </p:txBody>
      </p:sp>
      <p:sp>
        <p:nvSpPr>
          <p:cNvPr id="13" name="Text 11"/>
          <p:cNvSpPr/>
          <p:nvPr/>
        </p:nvSpPr>
        <p:spPr>
          <a:xfrm>
            <a:off x="1115568" y="2761488"/>
            <a:ext cx="5029200" cy="438912"/>
          </a:xfrm>
          <a:prstGeom prst="rect">
            <a:avLst/>
          </a:prstGeom>
          <a:noFill/>
          <a:ln/>
        </p:spPr>
        <p:txBody>
          <a:bodyPr wrap="square" lIns="0" tIns="0" rIns="0" bIns="0" rtlCol="0" anchor="t">
            <a:normAutofit lnSpcReduction="10000"/>
          </a:bodyP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多头注意力：</a:t>
            </a:r>
            <a:r>
              <a:rPr lang="en-US" sz="1600" dirty="0">
                <a:solidFill>
                  <a:srgbClr val="1F1F1D"/>
                </a:solidFill>
                <a:latin typeface="Microsoft YaHei" pitchFamily="34" charset="0"/>
                <a:ea typeface="Microsoft YaHei" pitchFamily="34" charset="-122"/>
                <a:cs typeface="Microsoft YaHei" pitchFamily="34" charset="-120"/>
              </a:rPr>
              <a:t>让不同“头”从不同角度看同一段文本，再把结果汇总。</a:t>
            </a:r>
            <a:endParaRPr lang="en-US" sz="1600" dirty="0"/>
          </a:p>
        </p:txBody>
      </p:sp>
      <p:sp>
        <p:nvSpPr>
          <p:cNvPr id="14" name="Text 12"/>
          <p:cNvSpPr/>
          <p:nvPr/>
        </p:nvSpPr>
        <p:spPr>
          <a:xfrm>
            <a:off x="731520" y="3648456"/>
            <a:ext cx="228600" cy="182880"/>
          </a:xfrm>
          <a:prstGeom prst="rect">
            <a:avLst/>
          </a:prstGeom>
          <a:noFill/>
          <a:ln/>
        </p:spPr>
        <p:txBody>
          <a:bodyPr wrap="square" lIns="0" tIns="0" rIns="0" bIns="0" rtlCol="0" anchor="ct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a:t>
            </a:r>
            <a:endParaRPr lang="en-US" sz="1600" dirty="0"/>
          </a:p>
        </p:txBody>
      </p:sp>
      <p:sp>
        <p:nvSpPr>
          <p:cNvPr id="15" name="Text 13"/>
          <p:cNvSpPr/>
          <p:nvPr/>
        </p:nvSpPr>
        <p:spPr>
          <a:xfrm>
            <a:off x="1115568" y="3639312"/>
            <a:ext cx="5029200" cy="438912"/>
          </a:xfrm>
          <a:prstGeom prst="rect">
            <a:avLst/>
          </a:prstGeom>
          <a:noFill/>
          <a:ln/>
        </p:spPr>
        <p:txBody>
          <a:bodyPr wrap="square" lIns="0" tIns="0" rIns="0" bIns="0" rtlCol="0" anchor="t">
            <a:normAutofit lnSpcReduction="10000"/>
          </a:bodyPr>
          <a:lstStyle/>
          <a:p>
            <a:pPr marL="0" indent="0">
              <a:buNone/>
            </a:pPr>
            <a:r>
              <a:rPr lang="en-US" sz="1600" b="1" dirty="0">
                <a:solidFill>
                  <a:srgbClr val="C9512D"/>
                </a:solidFill>
                <a:latin typeface="Microsoft YaHei" pitchFamily="34" charset="0"/>
                <a:ea typeface="Microsoft YaHei" pitchFamily="34" charset="-122"/>
                <a:cs typeface="Microsoft YaHei" pitchFamily="34" charset="-120"/>
              </a:rPr>
              <a:t>多层堆叠：</a:t>
            </a:r>
            <a:r>
              <a:rPr lang="en-US" sz="1600" dirty="0">
                <a:solidFill>
                  <a:srgbClr val="1F1F1D"/>
                </a:solidFill>
                <a:latin typeface="Microsoft YaHei" pitchFamily="34" charset="0"/>
                <a:ea typeface="Microsoft YaHei" pitchFamily="34" charset="-122"/>
                <a:cs typeface="Microsoft YaHei" pitchFamily="34" charset="-120"/>
              </a:rPr>
              <a:t>底层看词和局部关系，高层组合语义、知识和任务目标。</a:t>
            </a:r>
            <a:endParaRPr lang="en-US" sz="1600" dirty="0"/>
          </a:p>
        </p:txBody>
      </p:sp>
      <p:sp>
        <p:nvSpPr>
          <p:cNvPr id="16" name="Shape 14"/>
          <p:cNvSpPr/>
          <p:nvPr/>
        </p:nvSpPr>
        <p:spPr>
          <a:xfrm>
            <a:off x="868680" y="4663440"/>
            <a:ext cx="640080" cy="292608"/>
          </a:xfrm>
          <a:prstGeom prst="roundRect">
            <a:avLst>
              <a:gd name="adj" fmla="val 25000"/>
            </a:avLst>
          </a:prstGeom>
          <a:solidFill>
            <a:srgbClr val="FDF0E2"/>
          </a:solidFill>
          <a:ln w="12700">
            <a:solidFill>
              <a:srgbClr val="E9D4BD"/>
            </a:solidFill>
            <a:prstDash val="solid"/>
          </a:ln>
        </p:spPr>
      </p:sp>
      <p:sp>
        <p:nvSpPr>
          <p:cNvPr id="17" name="Text 15"/>
          <p:cNvSpPr/>
          <p:nvPr/>
        </p:nvSpPr>
        <p:spPr>
          <a:xfrm>
            <a:off x="868680" y="4754880"/>
            <a:ext cx="640080" cy="91440"/>
          </a:xfrm>
          <a:prstGeom prst="rect">
            <a:avLst/>
          </a:prstGeom>
          <a:noFill/>
          <a:ln/>
        </p:spPr>
        <p:txBody>
          <a:bodyPr wrap="square" lIns="254" tIns="254" rIns="254" bIns="254" rtlCol="0" anchor="ctr">
            <a:normAutofit fontScale="70000" lnSpcReduction="20000"/>
          </a:bodyPr>
          <a:lstStyle/>
          <a:p>
            <a:pPr marL="0" indent="0" algn="ctr">
              <a:buNone/>
            </a:pPr>
            <a:r>
              <a:rPr lang="en-US" sz="1000" b="1" dirty="0">
                <a:solidFill>
                  <a:srgbClr val="C9512D"/>
                </a:solidFill>
                <a:latin typeface="Microsoft YaHei" pitchFamily="34" charset="0"/>
                <a:ea typeface="Microsoft YaHei" pitchFamily="34" charset="-122"/>
                <a:cs typeface="Microsoft YaHei" pitchFamily="34" charset="-120"/>
              </a:rPr>
              <a:t>指代</a:t>
            </a:r>
            <a:endParaRPr lang="en-US" sz="1000" dirty="0"/>
          </a:p>
        </p:txBody>
      </p:sp>
      <p:sp>
        <p:nvSpPr>
          <p:cNvPr id="18" name="Shape 16"/>
          <p:cNvSpPr/>
          <p:nvPr/>
        </p:nvSpPr>
        <p:spPr>
          <a:xfrm>
            <a:off x="1737360" y="4663440"/>
            <a:ext cx="640080" cy="292608"/>
          </a:xfrm>
          <a:prstGeom prst="roundRect">
            <a:avLst>
              <a:gd name="adj" fmla="val 25000"/>
            </a:avLst>
          </a:prstGeom>
          <a:solidFill>
            <a:srgbClr val="FCE1C5"/>
          </a:solidFill>
          <a:ln w="12700">
            <a:solidFill>
              <a:srgbClr val="E9D4BD"/>
            </a:solidFill>
            <a:prstDash val="solid"/>
          </a:ln>
        </p:spPr>
      </p:sp>
      <p:sp>
        <p:nvSpPr>
          <p:cNvPr id="19" name="Text 17"/>
          <p:cNvSpPr/>
          <p:nvPr/>
        </p:nvSpPr>
        <p:spPr>
          <a:xfrm>
            <a:off x="1737360" y="4754880"/>
            <a:ext cx="640080" cy="91440"/>
          </a:xfrm>
          <a:prstGeom prst="rect">
            <a:avLst/>
          </a:prstGeom>
          <a:noFill/>
          <a:ln/>
        </p:spPr>
        <p:txBody>
          <a:bodyPr wrap="square" lIns="254" tIns="254" rIns="254" bIns="254" rtlCol="0" anchor="ctr">
            <a:normAutofit fontScale="70000" lnSpcReduction="20000"/>
          </a:bodyPr>
          <a:lstStyle/>
          <a:p>
            <a:pPr marL="0" indent="0" algn="ctr">
              <a:buNone/>
            </a:pPr>
            <a:r>
              <a:rPr lang="en-US" sz="1000" b="1" dirty="0">
                <a:solidFill>
                  <a:srgbClr val="C9512D"/>
                </a:solidFill>
                <a:latin typeface="Microsoft YaHei" pitchFamily="34" charset="0"/>
                <a:ea typeface="Microsoft YaHei" pitchFamily="34" charset="-122"/>
                <a:cs typeface="Microsoft YaHei" pitchFamily="34" charset="-120"/>
              </a:rPr>
              <a:t>时间</a:t>
            </a:r>
            <a:endParaRPr lang="en-US" sz="1000" dirty="0"/>
          </a:p>
        </p:txBody>
      </p:sp>
      <p:sp>
        <p:nvSpPr>
          <p:cNvPr id="20" name="Shape 18"/>
          <p:cNvSpPr/>
          <p:nvPr/>
        </p:nvSpPr>
        <p:spPr>
          <a:xfrm>
            <a:off x="2606040" y="4663440"/>
            <a:ext cx="640080" cy="292608"/>
          </a:xfrm>
          <a:prstGeom prst="roundRect">
            <a:avLst>
              <a:gd name="adj" fmla="val 25000"/>
            </a:avLst>
          </a:prstGeom>
          <a:solidFill>
            <a:srgbClr val="FDF0E2"/>
          </a:solidFill>
          <a:ln w="12700">
            <a:solidFill>
              <a:srgbClr val="E9D4BD"/>
            </a:solidFill>
            <a:prstDash val="solid"/>
          </a:ln>
        </p:spPr>
      </p:sp>
      <p:sp>
        <p:nvSpPr>
          <p:cNvPr id="21" name="Text 19"/>
          <p:cNvSpPr/>
          <p:nvPr/>
        </p:nvSpPr>
        <p:spPr>
          <a:xfrm>
            <a:off x="2606040" y="4754880"/>
            <a:ext cx="640080" cy="91440"/>
          </a:xfrm>
          <a:prstGeom prst="rect">
            <a:avLst/>
          </a:prstGeom>
          <a:noFill/>
          <a:ln/>
        </p:spPr>
        <p:txBody>
          <a:bodyPr wrap="square" lIns="254" tIns="254" rIns="254" bIns="254" rtlCol="0" anchor="ctr">
            <a:normAutofit fontScale="70000" lnSpcReduction="20000"/>
          </a:bodyPr>
          <a:lstStyle/>
          <a:p>
            <a:pPr marL="0" indent="0" algn="ctr">
              <a:buNone/>
            </a:pPr>
            <a:r>
              <a:rPr lang="en-US" sz="1000" b="1" dirty="0">
                <a:solidFill>
                  <a:srgbClr val="C9512D"/>
                </a:solidFill>
                <a:latin typeface="Microsoft YaHei" pitchFamily="34" charset="0"/>
                <a:ea typeface="Microsoft YaHei" pitchFamily="34" charset="-122"/>
                <a:cs typeface="Microsoft YaHei" pitchFamily="34" charset="-120"/>
              </a:rPr>
              <a:t>地点</a:t>
            </a:r>
            <a:endParaRPr lang="en-US" sz="1000" dirty="0"/>
          </a:p>
        </p:txBody>
      </p:sp>
      <p:sp>
        <p:nvSpPr>
          <p:cNvPr id="22" name="Shape 20"/>
          <p:cNvSpPr/>
          <p:nvPr/>
        </p:nvSpPr>
        <p:spPr>
          <a:xfrm>
            <a:off x="3474720" y="4663440"/>
            <a:ext cx="640080" cy="292608"/>
          </a:xfrm>
          <a:prstGeom prst="roundRect">
            <a:avLst>
              <a:gd name="adj" fmla="val 25000"/>
            </a:avLst>
          </a:prstGeom>
          <a:solidFill>
            <a:srgbClr val="FCE1C5"/>
          </a:solidFill>
          <a:ln w="12700">
            <a:solidFill>
              <a:srgbClr val="E9D4BD"/>
            </a:solidFill>
            <a:prstDash val="solid"/>
          </a:ln>
        </p:spPr>
      </p:sp>
      <p:sp>
        <p:nvSpPr>
          <p:cNvPr id="23" name="Text 21"/>
          <p:cNvSpPr/>
          <p:nvPr/>
        </p:nvSpPr>
        <p:spPr>
          <a:xfrm>
            <a:off x="3474720" y="4754880"/>
            <a:ext cx="640080" cy="91440"/>
          </a:xfrm>
          <a:prstGeom prst="rect">
            <a:avLst/>
          </a:prstGeom>
          <a:noFill/>
          <a:ln/>
        </p:spPr>
        <p:txBody>
          <a:bodyPr wrap="square" lIns="254" tIns="254" rIns="254" bIns="254" rtlCol="0" anchor="ctr">
            <a:normAutofit fontScale="70000" lnSpcReduction="20000"/>
          </a:bodyPr>
          <a:lstStyle/>
          <a:p>
            <a:pPr marL="0" indent="0" algn="ctr">
              <a:buNone/>
            </a:pPr>
            <a:r>
              <a:rPr lang="en-US" sz="1000" b="1" dirty="0">
                <a:solidFill>
                  <a:srgbClr val="C9512D"/>
                </a:solidFill>
                <a:latin typeface="Microsoft YaHei" pitchFamily="34" charset="0"/>
                <a:ea typeface="Microsoft YaHei" pitchFamily="34" charset="-122"/>
                <a:cs typeface="Microsoft YaHei" pitchFamily="34" charset="-120"/>
              </a:rPr>
              <a:t>因果</a:t>
            </a:r>
            <a:endParaRPr lang="en-US" sz="1000" dirty="0"/>
          </a:p>
        </p:txBody>
      </p:sp>
      <p:sp>
        <p:nvSpPr>
          <p:cNvPr id="24" name="Shape 22"/>
          <p:cNvSpPr/>
          <p:nvPr/>
        </p:nvSpPr>
        <p:spPr>
          <a:xfrm>
            <a:off x="4343400" y="4663440"/>
            <a:ext cx="640080" cy="292608"/>
          </a:xfrm>
          <a:prstGeom prst="roundRect">
            <a:avLst>
              <a:gd name="adj" fmla="val 25000"/>
            </a:avLst>
          </a:prstGeom>
          <a:solidFill>
            <a:srgbClr val="FDF0E2"/>
          </a:solidFill>
          <a:ln w="12700">
            <a:solidFill>
              <a:srgbClr val="E9D4BD"/>
            </a:solidFill>
            <a:prstDash val="solid"/>
          </a:ln>
        </p:spPr>
      </p:sp>
      <p:sp>
        <p:nvSpPr>
          <p:cNvPr id="25" name="Text 23"/>
          <p:cNvSpPr/>
          <p:nvPr/>
        </p:nvSpPr>
        <p:spPr>
          <a:xfrm>
            <a:off x="4343400" y="4754880"/>
            <a:ext cx="640080" cy="91440"/>
          </a:xfrm>
          <a:prstGeom prst="rect">
            <a:avLst/>
          </a:prstGeom>
          <a:noFill/>
          <a:ln/>
        </p:spPr>
        <p:txBody>
          <a:bodyPr wrap="square" lIns="254" tIns="254" rIns="254" bIns="254" rtlCol="0" anchor="ctr">
            <a:normAutofit fontScale="70000" lnSpcReduction="20000"/>
          </a:bodyPr>
          <a:lstStyle/>
          <a:p>
            <a:pPr marL="0" indent="0" algn="ctr">
              <a:buNone/>
            </a:pPr>
            <a:r>
              <a:rPr lang="en-US" sz="1000" b="1" dirty="0">
                <a:solidFill>
                  <a:srgbClr val="C9512D"/>
                </a:solidFill>
                <a:latin typeface="Microsoft YaHei" pitchFamily="34" charset="0"/>
                <a:ea typeface="Microsoft YaHei" pitchFamily="34" charset="-122"/>
                <a:cs typeface="Microsoft YaHei" pitchFamily="34" charset="-120"/>
              </a:rPr>
              <a:t>语义</a:t>
            </a:r>
            <a:endParaRPr lang="en-US" sz="1000" dirty="0"/>
          </a:p>
        </p:txBody>
      </p:sp>
      <p:pic>
        <p:nvPicPr>
          <p:cNvPr id="26" name="Image 0" descr="/mnt/data/a_clean_vector_flat_illustration_style_scene_over_batch_4.png"/>
          <p:cNvPicPr>
            <a:picLocks noChangeAspect="1"/>
          </p:cNvPicPr>
          <p:nvPr/>
        </p:nvPicPr>
        <p:blipFill>
          <a:blip r:embed="rId3"/>
          <a:srcRect t="3271" b="3271"/>
          <a:stretch/>
        </p:blipFill>
        <p:spPr>
          <a:xfrm>
            <a:off x="6144768" y="1664208"/>
            <a:ext cx="4892040" cy="3429000"/>
          </a:xfrm>
          <a:prstGeom prst="rect">
            <a:avLst/>
          </a:prstGeom>
        </p:spPr>
      </p:pic>
      <p:sp>
        <p:nvSpPr>
          <p:cNvPr id="27" name="Text 24"/>
          <p:cNvSpPr/>
          <p:nvPr/>
        </p:nvSpPr>
        <p:spPr>
          <a:xfrm>
            <a:off x="2148840" y="5577840"/>
            <a:ext cx="7863840" cy="292608"/>
          </a:xfrm>
          <a:prstGeom prst="rect">
            <a:avLst/>
          </a:prstGeom>
          <a:noFill/>
          <a:ln/>
        </p:spPr>
        <p:txBody>
          <a:bodyPr wrap="square" lIns="0" tIns="0" rIns="0" bIns="0" rtlCol="0" anchor="ctr"/>
          <a:lstStyle/>
          <a:p>
            <a:pPr marL="0" indent="0" algn="ctr">
              <a:buNone/>
            </a:pPr>
            <a:r>
              <a:rPr lang="en-US" sz="1700" b="1" dirty="0">
                <a:solidFill>
                  <a:srgbClr val="1F1F1D"/>
                </a:solidFill>
                <a:latin typeface="Microsoft YaHei" pitchFamily="34" charset="0"/>
                <a:ea typeface="Microsoft YaHei" pitchFamily="34" charset="-122"/>
                <a:cs typeface="Microsoft YaHei" pitchFamily="34" charset="-120"/>
              </a:rPr>
              <a:t>像一个项目会，同时让产品、研发、运营、风控从不同角度分析</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457200" y="164592"/>
            <a:ext cx="585216" cy="329184"/>
          </a:xfrm>
          <a:prstGeom prst="roundRect">
            <a:avLst>
              <a:gd name="adj" fmla="val 22222"/>
            </a:avLst>
          </a:prstGeom>
          <a:solidFill>
            <a:srgbClr val="C9512D"/>
          </a:solidFill>
          <a:ln w="12700">
            <a:solidFill>
              <a:srgbClr val="C9512D"/>
            </a:solidFill>
            <a:prstDash val="solid"/>
          </a:ln>
        </p:spPr>
      </p:sp>
      <p:sp>
        <p:nvSpPr>
          <p:cNvPr id="3" name="Text 1"/>
          <p:cNvSpPr/>
          <p:nvPr/>
        </p:nvSpPr>
        <p:spPr>
          <a:xfrm>
            <a:off x="457200" y="228600"/>
            <a:ext cx="585216" cy="146304"/>
          </a:xfrm>
          <a:prstGeom prst="rect">
            <a:avLst/>
          </a:prstGeom>
          <a:noFill/>
          <a:ln/>
        </p:spPr>
        <p:txBody>
          <a:bodyPr wrap="square" rtlCol="0" anchor="ct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03</a:t>
            </a:r>
            <a:endParaRPr lang="en-US" sz="900" dirty="0"/>
          </a:p>
        </p:txBody>
      </p:sp>
      <p:sp>
        <p:nvSpPr>
          <p:cNvPr id="4" name="Text 2"/>
          <p:cNvSpPr/>
          <p:nvPr/>
        </p:nvSpPr>
        <p:spPr>
          <a:xfrm>
            <a:off x="1207008" y="228600"/>
            <a:ext cx="1097280" cy="182880"/>
          </a:xfrm>
          <a:prstGeom prst="rect">
            <a:avLst/>
          </a:prstGeom>
          <a:noFill/>
          <a:ln/>
        </p:spPr>
        <p:txBody>
          <a:bodyPr wrap="square" rtlCol="0" anchor="ctr"/>
          <a:lstStyle/>
          <a:p>
            <a:pPr marL="0" indent="0">
              <a:buNone/>
            </a:pPr>
            <a:r>
              <a:rPr lang="en-US" sz="1200" b="1" dirty="0">
                <a:solidFill>
                  <a:srgbClr val="716D66"/>
                </a:solidFill>
                <a:latin typeface="Microsoft YaHei" pitchFamily="34" charset="0"/>
                <a:ea typeface="Microsoft YaHei" pitchFamily="34" charset="-122"/>
                <a:cs typeface="Microsoft YaHei" pitchFamily="34" charset="-120"/>
              </a:rPr>
              <a:t>核心概念</a:t>
            </a:r>
            <a:endParaRPr lang="en-US" sz="1200" dirty="0"/>
          </a:p>
        </p:txBody>
      </p:sp>
      <p:sp>
        <p:nvSpPr>
          <p:cNvPr id="5" name="Text 3"/>
          <p:cNvSpPr/>
          <p:nvPr/>
        </p:nvSpPr>
        <p:spPr>
          <a:xfrm>
            <a:off x="457200" y="713232"/>
            <a:ext cx="8961120" cy="438912"/>
          </a:xfrm>
          <a:prstGeom prst="rect">
            <a:avLst/>
          </a:prstGeom>
          <a:noFill/>
          <a:ln/>
        </p:spPr>
        <p:txBody>
          <a:bodyPr wrap="square" lIns="0" tIns="0" rIns="0" bIns="0" rtlCol="0" anchor="ctr"/>
          <a:lstStyle/>
          <a:p>
            <a:pPr marL="0" indent="0">
              <a:buNone/>
            </a:pPr>
            <a:r>
              <a:rPr lang="en-US" sz="3000" b="1" dirty="0">
                <a:solidFill>
                  <a:srgbClr val="1F1F1D"/>
                </a:solidFill>
                <a:latin typeface="Microsoft YaHei" pitchFamily="34" charset="0"/>
                <a:ea typeface="Microsoft YaHei" pitchFamily="34" charset="-122"/>
                <a:cs typeface="Microsoft YaHei" pitchFamily="34" charset="-120"/>
              </a:rPr>
              <a:t>为什么Transformer让大模型成为可能？</a:t>
            </a:r>
            <a:endParaRPr lang="en-US" sz="3000" dirty="0"/>
          </a:p>
        </p:txBody>
      </p:sp>
      <p:sp>
        <p:nvSpPr>
          <p:cNvPr id="6" name="Shape 4"/>
          <p:cNvSpPr/>
          <p:nvPr/>
        </p:nvSpPr>
        <p:spPr>
          <a:xfrm>
            <a:off x="457200" y="1353312"/>
            <a:ext cx="11292840" cy="0"/>
          </a:xfrm>
          <a:prstGeom prst="line">
            <a:avLst/>
          </a:prstGeom>
          <a:noFill/>
          <a:ln w="13970">
            <a:solidFill>
              <a:srgbClr val="D8CDBD"/>
            </a:solidFill>
            <a:prstDash val="solid"/>
          </a:ln>
        </p:spPr>
      </p:sp>
      <p:sp>
        <p:nvSpPr>
          <p:cNvPr id="7" name="Text 5"/>
          <p:cNvSpPr/>
          <p:nvPr/>
        </p:nvSpPr>
        <p:spPr>
          <a:xfrm>
            <a:off x="457200" y="6510528"/>
            <a:ext cx="2194560" cy="146304"/>
          </a:xfrm>
          <a:prstGeom prst="rect">
            <a:avLst/>
          </a:prstGeom>
          <a:noFill/>
          <a:ln/>
        </p:spPr>
        <p:txBody>
          <a:bodyPr wrap="square" lIns="0" tIns="0" rIns="0" bIns="0" rtlCol="0" anchor="ctr"/>
          <a:lstStyle/>
          <a:p>
            <a:pPr marL="0" indent="0">
              <a:buNone/>
            </a:pPr>
            <a:r>
              <a:rPr lang="en-US" sz="780" dirty="0">
                <a:solidFill>
                  <a:srgbClr val="716D66"/>
                </a:solidFill>
                <a:latin typeface="Microsoft YaHei" pitchFamily="34" charset="0"/>
                <a:ea typeface="Microsoft YaHei" pitchFamily="34" charset="-122"/>
                <a:cs typeface="Microsoft YaHei" pitchFamily="34" charset="-120"/>
              </a:rPr>
              <a:t>AI产品经理系统课程 · 第一阶段</a:t>
            </a:r>
            <a:endParaRPr lang="en-US" sz="780" dirty="0"/>
          </a:p>
        </p:txBody>
      </p:sp>
      <p:sp>
        <p:nvSpPr>
          <p:cNvPr id="8" name="Text 6"/>
          <p:cNvSpPr/>
          <p:nvPr/>
        </p:nvSpPr>
        <p:spPr>
          <a:xfrm>
            <a:off x="9765792" y="6510528"/>
            <a:ext cx="73152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核心概念</a:t>
            </a:r>
            <a:endParaRPr lang="en-US" sz="780" dirty="0"/>
          </a:p>
        </p:txBody>
      </p:sp>
      <p:sp>
        <p:nvSpPr>
          <p:cNvPr id="9" name="Text 7"/>
          <p:cNvSpPr/>
          <p:nvPr/>
        </p:nvSpPr>
        <p:spPr>
          <a:xfrm>
            <a:off x="11503152" y="6510528"/>
            <a:ext cx="228600" cy="146304"/>
          </a:xfrm>
          <a:prstGeom prst="rect">
            <a:avLst/>
          </a:prstGeom>
          <a:noFill/>
          <a:ln/>
        </p:spPr>
        <p:txBody>
          <a:bodyPr wrap="square" lIns="0" tIns="0" rIns="0" bIns="0" rtlCol="0" anchor="ctr"/>
          <a:lstStyle/>
          <a:p>
            <a:pPr marL="0" indent="0" algn="r">
              <a:buNone/>
            </a:pPr>
            <a:r>
              <a:rPr lang="en-US" sz="780" dirty="0">
                <a:solidFill>
                  <a:srgbClr val="716D66"/>
                </a:solidFill>
                <a:latin typeface="Microsoft YaHei" pitchFamily="34" charset="0"/>
                <a:ea typeface="Microsoft YaHei" pitchFamily="34" charset="-122"/>
                <a:cs typeface="Microsoft YaHei" pitchFamily="34" charset="-120"/>
              </a:rPr>
              <a:t>06</a:t>
            </a:r>
            <a:endParaRPr lang="en-US" sz="780" dirty="0"/>
          </a:p>
        </p:txBody>
      </p:sp>
      <p:sp>
        <p:nvSpPr>
          <p:cNvPr id="10" name="Shape 8"/>
          <p:cNvSpPr/>
          <p:nvPr/>
        </p:nvSpPr>
        <p:spPr>
          <a:xfrm>
            <a:off x="859536" y="1874520"/>
            <a:ext cx="347472" cy="347472"/>
          </a:xfrm>
          <a:prstGeom prst="ellipse">
            <a:avLst/>
          </a:prstGeom>
          <a:solidFill>
            <a:srgbClr val="C9512D"/>
          </a:solidFill>
          <a:ln w="12700">
            <a:solidFill>
              <a:srgbClr val="C9512D"/>
            </a:solidFill>
            <a:prstDash val="solid"/>
          </a:ln>
        </p:spPr>
      </p:sp>
      <p:sp>
        <p:nvSpPr>
          <p:cNvPr id="11" name="Text 9"/>
          <p:cNvSpPr/>
          <p:nvPr/>
        </p:nvSpPr>
        <p:spPr>
          <a:xfrm>
            <a:off x="859536" y="1975104"/>
            <a:ext cx="347472" cy="73152"/>
          </a:xfrm>
          <a:prstGeom prst="rect">
            <a:avLst/>
          </a:prstGeom>
          <a:noFill/>
          <a:ln/>
        </p:spPr>
        <p:txBody>
          <a:bodyPr wrap="square" lIns="254" tIns="254" rIns="254" bIns="254" rtlCol="0" anchor="ctr">
            <a:normAutofit fontScale="55000" lnSpcReduction="20000"/>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1</a:t>
            </a:r>
            <a:endParaRPr lang="en-US" sz="900" dirty="0"/>
          </a:p>
        </p:txBody>
      </p:sp>
      <p:sp>
        <p:nvSpPr>
          <p:cNvPr id="12" name="Text 10"/>
          <p:cNvSpPr/>
          <p:nvPr/>
        </p:nvSpPr>
        <p:spPr>
          <a:xfrm>
            <a:off x="1417320" y="1856232"/>
            <a:ext cx="1920240" cy="274320"/>
          </a:xfrm>
          <a:prstGeom prst="rect">
            <a:avLst/>
          </a:prstGeom>
          <a:noFill/>
          <a:ln/>
        </p:spPr>
        <p:txBody>
          <a:bodyPr wrap="square" lIns="0" tIns="0" rIns="0" bIns="0" rtlCol="0" anchor="ctr"/>
          <a:lstStyle/>
          <a:p>
            <a:pPr marL="0" indent="0">
              <a:buNone/>
            </a:pPr>
            <a:r>
              <a:rPr lang="en-US" sz="1800" b="1" dirty="0">
                <a:solidFill>
                  <a:srgbClr val="C9512D"/>
                </a:solidFill>
                <a:latin typeface="Microsoft YaHei" pitchFamily="34" charset="0"/>
                <a:ea typeface="Microsoft YaHei" pitchFamily="34" charset="-122"/>
                <a:cs typeface="Microsoft YaHei" pitchFamily="34" charset="-120"/>
              </a:rPr>
              <a:t>上下文理解</a:t>
            </a:r>
            <a:endParaRPr lang="en-US" sz="1800" dirty="0"/>
          </a:p>
        </p:txBody>
      </p:sp>
      <p:sp>
        <p:nvSpPr>
          <p:cNvPr id="13" name="Text 11"/>
          <p:cNvSpPr/>
          <p:nvPr/>
        </p:nvSpPr>
        <p:spPr>
          <a:xfrm>
            <a:off x="3456432" y="1856232"/>
            <a:ext cx="3749040" cy="320040"/>
          </a:xfrm>
          <a:prstGeom prst="rect">
            <a:avLst/>
          </a:prstGeom>
          <a:noFill/>
          <a:ln/>
        </p:spPr>
        <p:txBody>
          <a:bodyPr wrap="square" lIns="0" tIns="0" rIns="0" bIns="0" rtlCol="0" anchor="ctr">
            <a:normAutofit fontScale="92500" lnSpcReduction="20000"/>
          </a:bodyPr>
          <a:lstStyle/>
          <a:p>
            <a:pPr marL="0" indent="0">
              <a:buNone/>
            </a:pPr>
            <a:r>
              <a:rPr lang="en-US" sz="1450" dirty="0">
                <a:solidFill>
                  <a:srgbClr val="1F1F1D"/>
                </a:solidFill>
                <a:latin typeface="Microsoft YaHei" pitchFamily="34" charset="0"/>
                <a:ea typeface="Microsoft YaHei" pitchFamily="34" charset="-122"/>
                <a:cs typeface="Microsoft YaHei" pitchFamily="34" charset="-120"/>
              </a:rPr>
              <a:t>每个Token都能根据任务需要，直接吸收相关上下文信息。</a:t>
            </a:r>
            <a:endParaRPr lang="en-US" sz="1450" dirty="0"/>
          </a:p>
        </p:txBody>
      </p:sp>
      <p:sp>
        <p:nvSpPr>
          <p:cNvPr id="14" name="Shape 12"/>
          <p:cNvSpPr/>
          <p:nvPr/>
        </p:nvSpPr>
        <p:spPr>
          <a:xfrm>
            <a:off x="859536" y="3017520"/>
            <a:ext cx="347472" cy="347472"/>
          </a:xfrm>
          <a:prstGeom prst="ellipse">
            <a:avLst/>
          </a:prstGeom>
          <a:solidFill>
            <a:srgbClr val="C9512D"/>
          </a:solidFill>
          <a:ln w="12700">
            <a:solidFill>
              <a:srgbClr val="C9512D"/>
            </a:solidFill>
            <a:prstDash val="solid"/>
          </a:ln>
        </p:spPr>
      </p:sp>
      <p:sp>
        <p:nvSpPr>
          <p:cNvPr id="15" name="Text 13"/>
          <p:cNvSpPr/>
          <p:nvPr/>
        </p:nvSpPr>
        <p:spPr>
          <a:xfrm>
            <a:off x="859536" y="3118104"/>
            <a:ext cx="347472" cy="73152"/>
          </a:xfrm>
          <a:prstGeom prst="rect">
            <a:avLst/>
          </a:prstGeom>
          <a:noFill/>
          <a:ln/>
        </p:spPr>
        <p:txBody>
          <a:bodyPr wrap="square" lIns="254" tIns="254" rIns="254" bIns="254" rtlCol="0" anchor="ctr">
            <a:normAutofit fontScale="55000" lnSpcReduction="20000"/>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2</a:t>
            </a:r>
            <a:endParaRPr lang="en-US" sz="900" dirty="0"/>
          </a:p>
        </p:txBody>
      </p:sp>
      <p:sp>
        <p:nvSpPr>
          <p:cNvPr id="16" name="Text 14"/>
          <p:cNvSpPr/>
          <p:nvPr/>
        </p:nvSpPr>
        <p:spPr>
          <a:xfrm>
            <a:off x="1417320" y="2999232"/>
            <a:ext cx="1920240" cy="274320"/>
          </a:xfrm>
          <a:prstGeom prst="rect">
            <a:avLst/>
          </a:prstGeom>
          <a:noFill/>
          <a:ln/>
        </p:spPr>
        <p:txBody>
          <a:bodyPr wrap="square" lIns="0" tIns="0" rIns="0" bIns="0" rtlCol="0" anchor="ctr"/>
          <a:lstStyle/>
          <a:p>
            <a:pPr marL="0" indent="0">
              <a:buNone/>
            </a:pPr>
            <a:r>
              <a:rPr lang="en-US" sz="1800" b="1" dirty="0">
                <a:solidFill>
                  <a:srgbClr val="C9512D"/>
                </a:solidFill>
                <a:latin typeface="Microsoft YaHei" pitchFamily="34" charset="0"/>
                <a:ea typeface="Microsoft YaHei" pitchFamily="34" charset="-122"/>
                <a:cs typeface="Microsoft YaHei" pitchFamily="34" charset="-120"/>
              </a:rPr>
              <a:t>并行训练</a:t>
            </a:r>
            <a:endParaRPr lang="en-US" sz="1800" dirty="0"/>
          </a:p>
        </p:txBody>
      </p:sp>
      <p:sp>
        <p:nvSpPr>
          <p:cNvPr id="17" name="Text 15"/>
          <p:cNvSpPr/>
          <p:nvPr/>
        </p:nvSpPr>
        <p:spPr>
          <a:xfrm>
            <a:off x="3456432" y="2999232"/>
            <a:ext cx="3749040" cy="320040"/>
          </a:xfrm>
          <a:prstGeom prst="rect">
            <a:avLst/>
          </a:prstGeom>
          <a:noFill/>
          <a:ln/>
        </p:spPr>
        <p:txBody>
          <a:bodyPr wrap="square" lIns="0" tIns="0" rIns="0" bIns="0" rtlCol="0" anchor="ctr">
            <a:normAutofit fontScale="92500"/>
          </a:bodyPr>
          <a:lstStyle/>
          <a:p>
            <a:pPr marL="0" indent="0">
              <a:buNone/>
            </a:pPr>
            <a:r>
              <a:rPr lang="en-US" sz="1450" dirty="0">
                <a:solidFill>
                  <a:srgbClr val="1F1F1D"/>
                </a:solidFill>
                <a:latin typeface="Microsoft YaHei" pitchFamily="34" charset="0"/>
                <a:ea typeface="Microsoft YaHei" pitchFamily="34" charset="-122"/>
                <a:cs typeface="Microsoft YaHei" pitchFamily="34" charset="-120"/>
              </a:rPr>
              <a:t>不必完全逐字顺序处理，更适合GPU大规模计算。</a:t>
            </a:r>
            <a:endParaRPr lang="en-US" sz="1450" dirty="0"/>
          </a:p>
        </p:txBody>
      </p:sp>
      <p:sp>
        <p:nvSpPr>
          <p:cNvPr id="18" name="Shape 16"/>
          <p:cNvSpPr/>
          <p:nvPr/>
        </p:nvSpPr>
        <p:spPr>
          <a:xfrm>
            <a:off x="859536" y="4160520"/>
            <a:ext cx="347472" cy="347472"/>
          </a:xfrm>
          <a:prstGeom prst="ellipse">
            <a:avLst/>
          </a:prstGeom>
          <a:solidFill>
            <a:srgbClr val="C9512D"/>
          </a:solidFill>
          <a:ln w="12700">
            <a:solidFill>
              <a:srgbClr val="C9512D"/>
            </a:solidFill>
            <a:prstDash val="solid"/>
          </a:ln>
        </p:spPr>
      </p:sp>
      <p:sp>
        <p:nvSpPr>
          <p:cNvPr id="19" name="Text 17"/>
          <p:cNvSpPr/>
          <p:nvPr/>
        </p:nvSpPr>
        <p:spPr>
          <a:xfrm>
            <a:off x="859536" y="4261104"/>
            <a:ext cx="347472" cy="73152"/>
          </a:xfrm>
          <a:prstGeom prst="rect">
            <a:avLst/>
          </a:prstGeom>
          <a:noFill/>
          <a:ln/>
        </p:spPr>
        <p:txBody>
          <a:bodyPr wrap="square" lIns="254" tIns="254" rIns="254" bIns="254" rtlCol="0" anchor="ctr">
            <a:normAutofit fontScale="55000" lnSpcReduction="20000"/>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3</a:t>
            </a:r>
            <a:endParaRPr lang="en-US" sz="900" dirty="0"/>
          </a:p>
        </p:txBody>
      </p:sp>
      <p:sp>
        <p:nvSpPr>
          <p:cNvPr id="20" name="Text 18"/>
          <p:cNvSpPr/>
          <p:nvPr/>
        </p:nvSpPr>
        <p:spPr>
          <a:xfrm>
            <a:off x="1417320" y="4142232"/>
            <a:ext cx="1920240" cy="274320"/>
          </a:xfrm>
          <a:prstGeom prst="rect">
            <a:avLst/>
          </a:prstGeom>
          <a:noFill/>
          <a:ln/>
        </p:spPr>
        <p:txBody>
          <a:bodyPr wrap="square" lIns="0" tIns="0" rIns="0" bIns="0" rtlCol="0" anchor="ctr"/>
          <a:lstStyle/>
          <a:p>
            <a:pPr marL="0" indent="0">
              <a:buNone/>
            </a:pPr>
            <a:r>
              <a:rPr lang="en-US" sz="1800" b="1" dirty="0">
                <a:solidFill>
                  <a:srgbClr val="C9512D"/>
                </a:solidFill>
                <a:latin typeface="Microsoft YaHei" pitchFamily="34" charset="0"/>
                <a:ea typeface="Microsoft YaHei" pitchFamily="34" charset="-122"/>
                <a:cs typeface="Microsoft YaHei" pitchFamily="34" charset="-120"/>
              </a:rPr>
              <a:t>可堆叠扩展</a:t>
            </a:r>
            <a:endParaRPr lang="en-US" sz="1800" dirty="0"/>
          </a:p>
        </p:txBody>
      </p:sp>
      <p:sp>
        <p:nvSpPr>
          <p:cNvPr id="21" name="Text 19"/>
          <p:cNvSpPr/>
          <p:nvPr/>
        </p:nvSpPr>
        <p:spPr>
          <a:xfrm>
            <a:off x="3456432" y="4142232"/>
            <a:ext cx="3749040" cy="320040"/>
          </a:xfrm>
          <a:prstGeom prst="rect">
            <a:avLst/>
          </a:prstGeom>
          <a:noFill/>
          <a:ln/>
        </p:spPr>
        <p:txBody>
          <a:bodyPr wrap="square" lIns="0" tIns="0" rIns="0" bIns="0" rtlCol="0" anchor="ctr">
            <a:normAutofit fontScale="92500"/>
          </a:bodyPr>
          <a:lstStyle/>
          <a:p>
            <a:pPr marL="0" indent="0">
              <a:buNone/>
            </a:pPr>
            <a:r>
              <a:rPr lang="en-US" sz="1450" dirty="0">
                <a:solidFill>
                  <a:srgbClr val="1F1F1D"/>
                </a:solidFill>
                <a:latin typeface="Microsoft YaHei" pitchFamily="34" charset="0"/>
                <a:ea typeface="Microsoft YaHei" pitchFamily="34" charset="-122"/>
                <a:cs typeface="Microsoft YaHei" pitchFamily="34" charset="-120"/>
              </a:rPr>
              <a:t>多层、多头、更多参数，可以持续扩大能力上限。</a:t>
            </a:r>
            <a:endParaRPr lang="en-US" sz="1450" dirty="0"/>
          </a:p>
        </p:txBody>
      </p:sp>
      <p:pic>
        <p:nvPicPr>
          <p:cNvPr id="22" name="Image 0" descr="/mnt/data/wide_clean_vector_illustration_style_tech_concept_batch_1.png"/>
          <p:cNvPicPr>
            <a:picLocks noChangeAspect="1"/>
          </p:cNvPicPr>
          <p:nvPr/>
        </p:nvPicPr>
        <p:blipFill>
          <a:blip r:embed="rId3"/>
          <a:srcRect l="10915" r="10915"/>
          <a:stretch/>
        </p:blipFill>
        <p:spPr>
          <a:xfrm>
            <a:off x="7699248" y="1673352"/>
            <a:ext cx="3383280" cy="3246120"/>
          </a:xfrm>
          <a:prstGeom prst="rect">
            <a:avLst/>
          </a:prstGeom>
        </p:spPr>
      </p:pic>
      <p:sp>
        <p:nvSpPr>
          <p:cNvPr id="23" name="Shape 20"/>
          <p:cNvSpPr/>
          <p:nvPr/>
        </p:nvSpPr>
        <p:spPr>
          <a:xfrm>
            <a:off x="1874520" y="5559552"/>
            <a:ext cx="8503920" cy="493776"/>
          </a:xfrm>
          <a:prstGeom prst="roundRect">
            <a:avLst>
              <a:gd name="adj" fmla="val 18519"/>
            </a:avLst>
          </a:prstGeom>
          <a:solidFill>
            <a:srgbClr val="FCE6D2"/>
          </a:solidFill>
          <a:ln w="12700">
            <a:solidFill>
              <a:srgbClr val="FCE6D2"/>
            </a:solidFill>
            <a:prstDash val="solid"/>
          </a:ln>
        </p:spPr>
      </p:sp>
      <p:sp>
        <p:nvSpPr>
          <p:cNvPr id="24" name="Text 21"/>
          <p:cNvSpPr/>
          <p:nvPr/>
        </p:nvSpPr>
        <p:spPr>
          <a:xfrm>
            <a:off x="2103120" y="5715000"/>
            <a:ext cx="8046720" cy="146304"/>
          </a:xfrm>
          <a:prstGeom prst="rect">
            <a:avLst/>
          </a:prstGeom>
          <a:noFill/>
          <a:ln/>
        </p:spPr>
        <p:txBody>
          <a:bodyPr wrap="square" lIns="0" tIns="0" rIns="0" bIns="0" rtlCol="0" anchor="ctr">
            <a:normAutofit fontScale="70000" lnSpcReduction="20000"/>
          </a:bodyPr>
          <a:lstStyle/>
          <a:p>
            <a:pPr marL="0" indent="0" algn="ctr">
              <a:buNone/>
            </a:pPr>
            <a:r>
              <a:rPr lang="en-US" sz="1580" b="1" dirty="0">
                <a:solidFill>
                  <a:srgbClr val="1F1F1D"/>
                </a:solidFill>
                <a:latin typeface="Microsoft YaHei" pitchFamily="34" charset="0"/>
                <a:ea typeface="Microsoft YaHei" pitchFamily="34" charset="-122"/>
                <a:cs typeface="Microsoft YaHei" pitchFamily="34" charset="-120"/>
              </a:rPr>
              <a:t>一句话：Attention让模型会看关系，并行计算让模型能做大。</a:t>
            </a:r>
            <a:endParaRPr lang="en-US" sz="15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04</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会聊天不等于会做产品</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同一句话，运行两次，结果会一样吗？</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01 会聊天不等于会做产品</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04</a:t>
            </a:r>
            <a:endParaRPr lang="en-US" sz="850" dirty="0"/>
          </a:p>
        </p:txBody>
      </p:sp>
      <p:sp>
        <p:nvSpPr>
          <p:cNvPr id="10" name="Shape 8"/>
          <p:cNvSpPr/>
          <p:nvPr/>
        </p:nvSpPr>
        <p:spPr>
          <a:xfrm>
            <a:off x="713232" y="1536192"/>
            <a:ext cx="4572000" cy="4343400"/>
          </a:xfrm>
          <a:prstGeom prst="roundRect">
            <a:avLst>
              <a:gd name="adj" fmla="val 1053"/>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536192"/>
            <a:ext cx="64008" cy="4343400"/>
          </a:xfrm>
          <a:prstGeom prst="rect">
            <a:avLst/>
          </a:prstGeom>
          <a:solidFill>
            <a:srgbClr val="C35331"/>
          </a:solidFill>
          <a:ln w="12700">
            <a:solidFill>
              <a:srgbClr val="C35331"/>
            </a:solidFill>
            <a:prstDash val="solid"/>
          </a:ln>
        </p:spPr>
      </p:sp>
      <p:sp>
        <p:nvSpPr>
          <p:cNvPr id="12" name="Text 10"/>
          <p:cNvSpPr/>
          <p:nvPr/>
        </p:nvSpPr>
        <p:spPr>
          <a:xfrm>
            <a:off x="960120" y="1746504"/>
            <a:ext cx="4096512"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输入完全相同</a:t>
            </a:r>
            <a:endParaRPr lang="en-US" sz="1800" dirty="0"/>
          </a:p>
        </p:txBody>
      </p:sp>
      <p:sp>
        <p:nvSpPr>
          <p:cNvPr id="13" name="Text 11"/>
          <p:cNvSpPr/>
          <p:nvPr/>
        </p:nvSpPr>
        <p:spPr>
          <a:xfrm>
            <a:off x="960120" y="2258568"/>
            <a:ext cx="4078224" cy="3410712"/>
          </a:xfrm>
          <a:prstGeom prst="rect">
            <a:avLst/>
          </a:prstGeom>
          <a:noFill/>
          <a:ln/>
        </p:spPr>
        <p:txBody>
          <a:bodyPr wrap="square" lIns="0" tIns="0" rIns="0" bIns="0" rtlCol="0" anchor="ctr">
            <a:normAutofit/>
          </a:bodyPr>
          <a:lstStyle/>
          <a:p>
            <a:pPr marL="0" indent="0" algn="ctr">
              <a:buNone/>
            </a:pPr>
            <a:r>
              <a:rPr lang="en-US" sz="1900" dirty="0">
                <a:solidFill>
                  <a:srgbClr val="77766F"/>
                </a:solidFill>
                <a:latin typeface="PingFang SC" pitchFamily="34" charset="0"/>
                <a:ea typeface="PingFang SC" pitchFamily="34" charset="-122"/>
                <a:cs typeface="PingFang SC" pitchFamily="34" charset="-120"/>
              </a:rPr>
              <a:t>请为一款「销售拜访记录助手」</a:t>
            </a:r>
            <a:endParaRPr lang="en-US" sz="1900" dirty="0"/>
          </a:p>
          <a:p>
            <a:pPr marL="0" indent="0" algn="ctr">
              <a:buNone/>
            </a:pPr>
            <a:r>
              <a:rPr lang="en-US" sz="1900" dirty="0">
                <a:solidFill>
                  <a:srgbClr val="77766F"/>
                </a:solidFill>
                <a:latin typeface="PingFang SC" pitchFamily="34" charset="0"/>
                <a:ea typeface="PingFang SC" pitchFamily="34" charset="-122"/>
                <a:cs typeface="PingFang SC" pitchFamily="34" charset="-120"/>
              </a:rPr>
              <a:t>写一句15字以内的产品介绍。</a:t>
            </a:r>
            <a:endParaRPr lang="en-US" sz="1900" dirty="0"/>
          </a:p>
        </p:txBody>
      </p:sp>
      <p:sp>
        <p:nvSpPr>
          <p:cNvPr id="14" name="Shape 12"/>
          <p:cNvSpPr/>
          <p:nvPr/>
        </p:nvSpPr>
        <p:spPr>
          <a:xfrm>
            <a:off x="5559552" y="1536192"/>
            <a:ext cx="5760720" cy="4343400"/>
          </a:xfrm>
          <a:prstGeom prst="roundRect">
            <a:avLst>
              <a:gd name="adj" fmla="val 1053"/>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5559552" y="1536192"/>
            <a:ext cx="64008" cy="4343400"/>
          </a:xfrm>
          <a:prstGeom prst="rect">
            <a:avLst/>
          </a:prstGeom>
          <a:solidFill>
            <a:srgbClr val="387B77"/>
          </a:solidFill>
          <a:ln w="12700">
            <a:solidFill>
              <a:srgbClr val="387B77"/>
            </a:solidFill>
            <a:prstDash val="solid"/>
          </a:ln>
        </p:spPr>
      </p:sp>
      <p:sp>
        <p:nvSpPr>
          <p:cNvPr id="16" name="Text 14"/>
          <p:cNvSpPr/>
          <p:nvPr/>
        </p:nvSpPr>
        <p:spPr>
          <a:xfrm>
            <a:off x="5806440" y="1746504"/>
            <a:ext cx="5285232"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请先投票</a:t>
            </a:r>
            <a:endParaRPr lang="en-US" sz="1800" dirty="0"/>
          </a:p>
        </p:txBody>
      </p:sp>
      <p:sp>
        <p:nvSpPr>
          <p:cNvPr id="17" name="Text 15"/>
          <p:cNvSpPr/>
          <p:nvPr/>
        </p:nvSpPr>
        <p:spPr>
          <a:xfrm>
            <a:off x="5806440" y="2258568"/>
            <a:ext cx="5266944" cy="3410712"/>
          </a:xfrm>
          <a:prstGeom prst="rect">
            <a:avLst/>
          </a:prstGeom>
          <a:noFill/>
          <a:ln/>
        </p:spPr>
        <p:txBody>
          <a:bodyPr wrap="square" lIns="0" tIns="0" rIns="0" bIns="0" rtlCol="0" anchor="t">
            <a:normAutofit/>
          </a:bodyPr>
          <a:lstStyle/>
          <a:p>
            <a:pPr marL="0" indent="0" algn="ctr">
              <a:buNone/>
            </a:pPr>
            <a:r>
              <a:rPr lang="en-US" sz="1800" dirty="0">
                <a:solidFill>
                  <a:srgbClr val="77766F"/>
                </a:solidFill>
                <a:latin typeface="PingFang SC" pitchFamily="34" charset="0"/>
                <a:ea typeface="PingFang SC" pitchFamily="34" charset="-122"/>
                <a:cs typeface="PingFang SC" pitchFamily="34" charset="-120"/>
              </a:rPr>
              <a:t>A  完全一样</a:t>
            </a:r>
            <a:endParaRPr lang="en-US" sz="1800" dirty="0"/>
          </a:p>
          <a:p>
            <a:pPr marL="0" indent="0" algn="ctr">
              <a:buNone/>
            </a:pPr>
            <a:endParaRPr lang="en-US" sz="1800" dirty="0"/>
          </a:p>
          <a:p>
            <a:pPr marL="0" indent="0" algn="ctr">
              <a:buNone/>
            </a:pPr>
            <a:r>
              <a:rPr lang="en-US" sz="1800" dirty="0">
                <a:solidFill>
                  <a:srgbClr val="77766F"/>
                </a:solidFill>
                <a:latin typeface="PingFang SC" pitchFamily="34" charset="0"/>
                <a:ea typeface="PingFang SC" pitchFamily="34" charset="-122"/>
                <a:cs typeface="PingFang SC" pitchFamily="34" charset="-120"/>
              </a:rPr>
              <a:t>B  基本一样</a:t>
            </a:r>
            <a:endParaRPr lang="en-US" sz="1800" dirty="0"/>
          </a:p>
          <a:p>
            <a:pPr marL="0" indent="0" algn="ctr">
              <a:buNone/>
            </a:pPr>
            <a:endParaRPr lang="en-US" sz="1800" dirty="0"/>
          </a:p>
          <a:p>
            <a:pPr marL="0" indent="0" algn="ctr">
              <a:buNone/>
            </a:pPr>
            <a:r>
              <a:rPr lang="en-US" sz="1800" dirty="0">
                <a:solidFill>
                  <a:srgbClr val="77766F"/>
                </a:solidFill>
                <a:latin typeface="PingFang SC" pitchFamily="34" charset="0"/>
                <a:ea typeface="PingFang SC" pitchFamily="34" charset="-122"/>
                <a:cs typeface="PingFang SC" pitchFamily="34" charset="-120"/>
              </a:rPr>
              <a:t>C  可能明显不同</a:t>
            </a:r>
            <a:endParaRPr lang="en-US" sz="1800" dirty="0"/>
          </a:p>
          <a:p>
            <a:pPr marL="0" indent="0" algn="ctr">
              <a:buNone/>
            </a:pPr>
            <a:endParaRPr lang="en-US" sz="1800" dirty="0"/>
          </a:p>
          <a:p>
            <a:pPr marL="0" indent="0" algn="ctr">
              <a:buNone/>
            </a:pPr>
            <a:r>
              <a:rPr lang="en-US" sz="1800" dirty="0">
                <a:solidFill>
                  <a:srgbClr val="77766F"/>
                </a:solidFill>
                <a:latin typeface="PingFang SC" pitchFamily="34" charset="0"/>
                <a:ea typeface="PingFang SC" pitchFamily="34" charset="-122"/>
                <a:cs typeface="PingFang SC" pitchFamily="34" charset="-120"/>
              </a:rPr>
              <a:t>D  不确定</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04</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会聊天不等于会做产品</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投票之后：查看两次真实运行结果</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01 会聊天不等于会做产品</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04</a:t>
            </a:r>
            <a:endParaRPr lang="en-US" sz="850" dirty="0"/>
          </a:p>
        </p:txBody>
      </p:sp>
      <p:sp>
        <p:nvSpPr>
          <p:cNvPr id="10" name="Shape 8"/>
          <p:cNvSpPr/>
          <p:nvPr/>
        </p:nvSpPr>
        <p:spPr>
          <a:xfrm>
            <a:off x="713232" y="1536192"/>
            <a:ext cx="3291840" cy="4343400"/>
          </a:xfrm>
          <a:prstGeom prst="roundRect">
            <a:avLst>
              <a:gd name="adj" fmla="val 1389"/>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536192"/>
            <a:ext cx="64008" cy="4343400"/>
          </a:xfrm>
          <a:prstGeom prst="rect">
            <a:avLst/>
          </a:prstGeom>
          <a:solidFill>
            <a:srgbClr val="C35331"/>
          </a:solidFill>
          <a:ln w="12700">
            <a:solidFill>
              <a:srgbClr val="C35331"/>
            </a:solidFill>
            <a:prstDash val="solid"/>
          </a:ln>
        </p:spPr>
      </p:sp>
      <p:sp>
        <p:nvSpPr>
          <p:cNvPr id="12" name="Text 10"/>
          <p:cNvSpPr/>
          <p:nvPr/>
        </p:nvSpPr>
        <p:spPr>
          <a:xfrm>
            <a:off x="960120" y="1746504"/>
            <a:ext cx="2816352" cy="347472"/>
          </a:xfrm>
          <a:prstGeom prst="rect">
            <a:avLst/>
          </a:prstGeom>
          <a:noFill/>
          <a:ln/>
        </p:spPr>
        <p:txBody>
          <a:bodyPr wrap="square" lIns="0" tIns="0" rIns="0" bIns="0" rtlCol="0" anchor="t">
            <a:normAutofit/>
          </a:bodyPr>
          <a:lstStyle/>
          <a:p>
            <a:pPr marL="0" indent="0" algn="l">
              <a:buNone/>
            </a:pPr>
            <a:r>
              <a:rPr lang="en-US" sz="1700" b="1" dirty="0">
                <a:solidFill>
                  <a:srgbClr val="20211F"/>
                </a:solidFill>
                <a:latin typeface="PingFang SC" pitchFamily="34" charset="0"/>
                <a:ea typeface="PingFang SC" pitchFamily="34" charset="-122"/>
                <a:cs typeface="PingFang SC" pitchFamily="34" charset="-120"/>
              </a:rPr>
              <a:t>输入完全相同</a:t>
            </a:r>
            <a:endParaRPr lang="en-US" sz="1700" dirty="0"/>
          </a:p>
        </p:txBody>
      </p:sp>
      <p:sp>
        <p:nvSpPr>
          <p:cNvPr id="13" name="Text 11"/>
          <p:cNvSpPr/>
          <p:nvPr/>
        </p:nvSpPr>
        <p:spPr>
          <a:xfrm>
            <a:off x="960120" y="2258568"/>
            <a:ext cx="2798064" cy="3410712"/>
          </a:xfrm>
          <a:prstGeom prst="rect">
            <a:avLst/>
          </a:prstGeom>
          <a:noFill/>
          <a:ln/>
        </p:spPr>
        <p:txBody>
          <a:bodyPr wrap="square" lIns="0" tIns="0" rIns="0" bIns="0" rtlCol="0" anchor="t">
            <a:normAutofit/>
          </a:bodyPr>
          <a:lstStyle/>
          <a:p>
            <a:pPr marL="0" indent="0" algn="l">
              <a:buNone/>
            </a:pPr>
            <a:r>
              <a:rPr lang="en-US" sz="1400" dirty="0">
                <a:solidFill>
                  <a:srgbClr val="77766F"/>
                </a:solidFill>
                <a:latin typeface="PingFang SC" pitchFamily="34" charset="0"/>
                <a:ea typeface="PingFang SC" pitchFamily="34" charset="-122"/>
                <a:cs typeface="PingFang SC" pitchFamily="34" charset="-120"/>
              </a:rPr>
              <a:t>请为一款「销售拜访记录助手」</a:t>
            </a:r>
            <a:endParaRPr lang="en-US" sz="1400" dirty="0"/>
          </a:p>
          <a:p>
            <a:pPr marL="0" indent="0" algn="l">
              <a:buNone/>
            </a:pPr>
            <a:r>
              <a:rPr lang="en-US" sz="1400" dirty="0">
                <a:solidFill>
                  <a:srgbClr val="77766F"/>
                </a:solidFill>
                <a:latin typeface="PingFang SC" pitchFamily="34" charset="0"/>
                <a:ea typeface="PingFang SC" pitchFamily="34" charset="-122"/>
                <a:cs typeface="PingFang SC" pitchFamily="34" charset="-120"/>
              </a:rPr>
              <a:t>写一句15字以内的产品介绍。</a:t>
            </a:r>
            <a:endParaRPr lang="en-US" sz="1400" dirty="0"/>
          </a:p>
          <a:p>
            <a:pPr marL="0" indent="0" algn="l">
              <a:buNone/>
            </a:pPr>
            <a:endParaRPr lang="en-US" sz="1400" dirty="0"/>
          </a:p>
          <a:p>
            <a:pPr marL="0" indent="0" algn="l">
              <a:buNone/>
            </a:pPr>
            <a:r>
              <a:rPr lang="en-US" sz="1400" dirty="0">
                <a:solidFill>
                  <a:srgbClr val="77766F"/>
                </a:solidFill>
                <a:latin typeface="PingFang SC" pitchFamily="34" charset="0"/>
                <a:ea typeface="PingFang SC" pitchFamily="34" charset="-122"/>
                <a:cs typeface="PingFang SC" pitchFamily="34" charset="-120"/>
              </a:rPr>
              <a:t>A 完全一样</a:t>
            </a:r>
            <a:endParaRPr lang="en-US" sz="1400" dirty="0"/>
          </a:p>
          <a:p>
            <a:pPr marL="0" indent="0" algn="l">
              <a:buNone/>
            </a:pPr>
            <a:r>
              <a:rPr lang="en-US" sz="1400" dirty="0">
                <a:solidFill>
                  <a:srgbClr val="77766F"/>
                </a:solidFill>
                <a:latin typeface="PingFang SC" pitchFamily="34" charset="0"/>
                <a:ea typeface="PingFang SC" pitchFamily="34" charset="-122"/>
                <a:cs typeface="PingFang SC" pitchFamily="34" charset="-120"/>
              </a:rPr>
              <a:t>B 基本一样</a:t>
            </a:r>
            <a:endParaRPr lang="en-US" sz="1400" dirty="0"/>
          </a:p>
          <a:p>
            <a:pPr marL="0" indent="0" algn="l">
              <a:buNone/>
            </a:pPr>
            <a:r>
              <a:rPr lang="en-US" sz="1400" dirty="0">
                <a:solidFill>
                  <a:srgbClr val="77766F"/>
                </a:solidFill>
                <a:latin typeface="PingFang SC" pitchFamily="34" charset="0"/>
                <a:ea typeface="PingFang SC" pitchFamily="34" charset="-122"/>
                <a:cs typeface="PingFang SC" pitchFamily="34" charset="-120"/>
              </a:rPr>
              <a:t>C 可能明显不同</a:t>
            </a:r>
            <a:endParaRPr lang="en-US" sz="1400" dirty="0"/>
          </a:p>
          <a:p>
            <a:pPr marL="0" indent="0" algn="l">
              <a:buNone/>
            </a:pPr>
            <a:r>
              <a:rPr lang="en-US" sz="1400" dirty="0">
                <a:solidFill>
                  <a:srgbClr val="77766F"/>
                </a:solidFill>
                <a:latin typeface="PingFang SC" pitchFamily="34" charset="0"/>
                <a:ea typeface="PingFang SC" pitchFamily="34" charset="-122"/>
                <a:cs typeface="PingFang SC" pitchFamily="34" charset="-120"/>
              </a:rPr>
              <a:t>D 不确定</a:t>
            </a:r>
            <a:endParaRPr lang="en-US" sz="1400" dirty="0"/>
          </a:p>
        </p:txBody>
      </p:sp>
      <p:sp>
        <p:nvSpPr>
          <p:cNvPr id="14" name="Shape 12"/>
          <p:cNvSpPr/>
          <p:nvPr/>
        </p:nvSpPr>
        <p:spPr>
          <a:xfrm>
            <a:off x="4297680" y="1536192"/>
            <a:ext cx="3401568" cy="3246120"/>
          </a:xfrm>
          <a:prstGeom prst="roundRect">
            <a:avLst>
              <a:gd name="adj" fmla="val 1408"/>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4297680" y="1536192"/>
            <a:ext cx="64008" cy="3246120"/>
          </a:xfrm>
          <a:prstGeom prst="rect">
            <a:avLst/>
          </a:prstGeom>
          <a:solidFill>
            <a:srgbClr val="387B77"/>
          </a:solidFill>
          <a:ln w="12700">
            <a:solidFill>
              <a:srgbClr val="387B77"/>
            </a:solidFill>
            <a:prstDash val="solid"/>
          </a:ln>
        </p:spPr>
      </p:sp>
      <p:sp>
        <p:nvSpPr>
          <p:cNvPr id="16" name="Text 14"/>
          <p:cNvSpPr/>
          <p:nvPr/>
        </p:nvSpPr>
        <p:spPr>
          <a:xfrm>
            <a:off x="4544568" y="1746504"/>
            <a:ext cx="2926080" cy="347472"/>
          </a:xfrm>
          <a:prstGeom prst="rect">
            <a:avLst/>
          </a:prstGeom>
          <a:noFill/>
          <a:ln/>
        </p:spPr>
        <p:txBody>
          <a:bodyPr wrap="square" lIns="0" tIns="0" rIns="0" bIns="0" rtlCol="0" anchor="t">
            <a:normAutofit/>
          </a:bodyPr>
          <a:lstStyle/>
          <a:p>
            <a:pPr marL="0" indent="0" algn="l">
              <a:buNone/>
            </a:pPr>
            <a:r>
              <a:rPr lang="en-US" sz="1700" b="1" dirty="0">
                <a:solidFill>
                  <a:srgbClr val="20211F"/>
                </a:solidFill>
                <a:latin typeface="PingFang SC" pitchFamily="34" charset="0"/>
                <a:ea typeface="PingFang SC" pitchFamily="34" charset="-122"/>
                <a:cs typeface="PingFang SC" pitchFamily="34" charset="-120"/>
              </a:rPr>
              <a:t>第1次</a:t>
            </a:r>
            <a:endParaRPr lang="en-US" sz="1700" dirty="0"/>
          </a:p>
        </p:txBody>
      </p:sp>
      <p:sp>
        <p:nvSpPr>
          <p:cNvPr id="17" name="Text 15"/>
          <p:cNvSpPr/>
          <p:nvPr/>
        </p:nvSpPr>
        <p:spPr>
          <a:xfrm>
            <a:off x="4544568" y="2258568"/>
            <a:ext cx="2907792" cy="2313432"/>
          </a:xfrm>
          <a:prstGeom prst="rect">
            <a:avLst/>
          </a:prstGeom>
          <a:noFill/>
          <a:ln/>
        </p:spPr>
        <p:txBody>
          <a:bodyPr wrap="square" lIns="0" tIns="0" rIns="0" bIns="0" rtlCol="0" anchor="ctr">
            <a:normAutofit/>
          </a:bodyPr>
          <a:lstStyle/>
          <a:p>
            <a:pPr algn="ctr"/>
            <a:r>
              <a:rPr lang="zh-CN" altLang="zh-CN" sz="1600" dirty="0"/>
              <a:t>拜访即记录，助销售轻松成单。</a:t>
            </a:r>
            <a:endParaRPr lang="en-US" sz="1700" dirty="0"/>
          </a:p>
        </p:txBody>
      </p:sp>
      <p:sp>
        <p:nvSpPr>
          <p:cNvPr id="18" name="Shape 16"/>
          <p:cNvSpPr/>
          <p:nvPr/>
        </p:nvSpPr>
        <p:spPr>
          <a:xfrm>
            <a:off x="7955280" y="1536192"/>
            <a:ext cx="3401568" cy="3246120"/>
          </a:xfrm>
          <a:prstGeom prst="roundRect">
            <a:avLst>
              <a:gd name="adj" fmla="val 1408"/>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9" name="Shape 17"/>
          <p:cNvSpPr/>
          <p:nvPr/>
        </p:nvSpPr>
        <p:spPr>
          <a:xfrm>
            <a:off x="7955280" y="1536192"/>
            <a:ext cx="64008" cy="3246120"/>
          </a:xfrm>
          <a:prstGeom prst="rect">
            <a:avLst/>
          </a:prstGeom>
          <a:solidFill>
            <a:srgbClr val="74546A"/>
          </a:solidFill>
          <a:ln w="12700">
            <a:solidFill>
              <a:srgbClr val="74546A"/>
            </a:solidFill>
            <a:prstDash val="solid"/>
          </a:ln>
        </p:spPr>
      </p:sp>
      <p:sp>
        <p:nvSpPr>
          <p:cNvPr id="20" name="Text 18"/>
          <p:cNvSpPr/>
          <p:nvPr/>
        </p:nvSpPr>
        <p:spPr>
          <a:xfrm>
            <a:off x="8202168" y="1746504"/>
            <a:ext cx="2926080" cy="347472"/>
          </a:xfrm>
          <a:prstGeom prst="rect">
            <a:avLst/>
          </a:prstGeom>
          <a:noFill/>
          <a:ln/>
        </p:spPr>
        <p:txBody>
          <a:bodyPr wrap="square" lIns="0" tIns="0" rIns="0" bIns="0" rtlCol="0" anchor="t">
            <a:normAutofit/>
          </a:bodyPr>
          <a:lstStyle/>
          <a:p>
            <a:pPr marL="0" indent="0" algn="l">
              <a:buNone/>
            </a:pPr>
            <a:r>
              <a:rPr lang="en-US" sz="1700" b="1" dirty="0">
                <a:solidFill>
                  <a:srgbClr val="20211F"/>
                </a:solidFill>
                <a:latin typeface="PingFang SC" pitchFamily="34" charset="0"/>
                <a:ea typeface="PingFang SC" pitchFamily="34" charset="-122"/>
                <a:cs typeface="PingFang SC" pitchFamily="34" charset="-120"/>
              </a:rPr>
              <a:t>第2次</a:t>
            </a:r>
            <a:endParaRPr lang="en-US" sz="1700" dirty="0"/>
          </a:p>
        </p:txBody>
      </p:sp>
      <p:sp>
        <p:nvSpPr>
          <p:cNvPr id="21" name="Text 19"/>
          <p:cNvSpPr/>
          <p:nvPr/>
        </p:nvSpPr>
        <p:spPr>
          <a:xfrm>
            <a:off x="8202168" y="2258568"/>
            <a:ext cx="2907792" cy="2313432"/>
          </a:xfrm>
          <a:prstGeom prst="rect">
            <a:avLst/>
          </a:prstGeom>
          <a:noFill/>
          <a:ln/>
        </p:spPr>
        <p:txBody>
          <a:bodyPr wrap="square" lIns="0" tIns="0" rIns="0" bIns="0" rtlCol="0" anchor="ctr">
            <a:normAutofit/>
          </a:bodyPr>
          <a:lstStyle/>
          <a:p>
            <a:pPr algn="ctr"/>
            <a:r>
              <a:rPr lang="zh-CN" altLang="zh-CN" sz="1600" dirty="0"/>
              <a:t>智能记录拜访，销售轻松成单。</a:t>
            </a:r>
            <a:endParaRPr lang="en-US" sz="1700" dirty="0"/>
          </a:p>
        </p:txBody>
      </p:sp>
      <p:sp>
        <p:nvSpPr>
          <p:cNvPr id="23" name="Text 21"/>
          <p:cNvSpPr/>
          <p:nvPr/>
        </p:nvSpPr>
        <p:spPr>
          <a:xfrm>
            <a:off x="4315968" y="5504688"/>
            <a:ext cx="7040880" cy="347472"/>
          </a:xfrm>
          <a:prstGeom prst="rect">
            <a:avLst/>
          </a:prstGeom>
          <a:noFill/>
          <a:ln/>
        </p:spPr>
        <p:txBody>
          <a:bodyPr wrap="square" lIns="0" tIns="0" rIns="0" bIns="0" rtlCol="0" anchor="t">
            <a:normAutofit/>
          </a:bodyPr>
          <a:lstStyle/>
          <a:p>
            <a:pPr marL="0" indent="0" algn="ctr">
              <a:buNone/>
            </a:pPr>
            <a:r>
              <a:rPr lang="en-US" sz="1550" b="1" dirty="0">
                <a:solidFill>
                  <a:srgbClr val="C35331"/>
                </a:solidFill>
                <a:latin typeface="PingFang SC" pitchFamily="34" charset="0"/>
                <a:ea typeface="PingFang SC" pitchFamily="34" charset="-122"/>
                <a:cs typeface="PingFang SC" pitchFamily="34" charset="-120"/>
              </a:rPr>
              <a:t>同一输入，结果可能不同；也可能相同或接近。</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05</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会聊天不等于会做产品</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“帮我整理一下这次销售拜访”，还缺什么？</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01 会聊天不等于会做产品</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05</a:t>
            </a:r>
            <a:endParaRPr lang="en-US" sz="850" dirty="0"/>
          </a:p>
        </p:txBody>
      </p:sp>
      <p:sp>
        <p:nvSpPr>
          <p:cNvPr id="11" name="Text 9"/>
          <p:cNvSpPr/>
          <p:nvPr/>
        </p:nvSpPr>
        <p:spPr>
          <a:xfrm>
            <a:off x="1234440" y="1783080"/>
            <a:ext cx="9921240" cy="1143000"/>
          </a:xfrm>
          <a:prstGeom prst="rect">
            <a:avLst/>
          </a:prstGeom>
          <a:noFill/>
          <a:ln/>
        </p:spPr>
        <p:txBody>
          <a:bodyPr wrap="square" lIns="0" tIns="0" rIns="0" bIns="0" rtlCol="0" anchor="ctr">
            <a:normAutofit/>
          </a:bodyPr>
          <a:lstStyle/>
          <a:p>
            <a:pPr marL="0" indent="0" algn="ctr">
              <a:buNone/>
            </a:pPr>
            <a:r>
              <a:rPr lang="en-US" sz="2800" b="1" dirty="0">
                <a:solidFill>
                  <a:srgbClr val="20211F"/>
                </a:solidFill>
                <a:latin typeface="PingFang SC" pitchFamily="34" charset="0"/>
                <a:ea typeface="PingFang SC" pitchFamily="34" charset="-122"/>
                <a:cs typeface="PingFang SC" pitchFamily="34" charset="-120"/>
              </a:rPr>
              <a:t>帮我整理一下这次销售拜访。</a:t>
            </a:r>
            <a:endParaRPr lang="en-US" sz="2800" dirty="0"/>
          </a:p>
        </p:txBody>
      </p:sp>
      <p:sp>
        <p:nvSpPr>
          <p:cNvPr id="12" name="Text 10"/>
          <p:cNvSpPr/>
          <p:nvPr/>
        </p:nvSpPr>
        <p:spPr>
          <a:xfrm>
            <a:off x="914400" y="3886200"/>
            <a:ext cx="10241280" cy="457200"/>
          </a:xfrm>
          <a:prstGeom prst="rect">
            <a:avLst/>
          </a:prstGeom>
          <a:noFill/>
          <a:ln/>
        </p:spPr>
        <p:txBody>
          <a:bodyPr wrap="square" lIns="0" tIns="0" rIns="0" bIns="0" rtlCol="0" anchor="t">
            <a:normAutofit/>
          </a:bodyPr>
          <a:lstStyle/>
          <a:p>
            <a:pPr marL="0" indent="0" algn="ctr">
              <a:buNone/>
            </a:pPr>
            <a:r>
              <a:rPr lang="en-US" sz="2000" b="1" dirty="0">
                <a:solidFill>
                  <a:srgbClr val="C35331"/>
                </a:solidFill>
                <a:latin typeface="PingFang SC" pitchFamily="34" charset="0"/>
                <a:ea typeface="PingFang SC" pitchFamily="34" charset="-122"/>
                <a:cs typeface="PingFang SC" pitchFamily="34" charset="-120"/>
              </a:rPr>
              <a:t>请先独立想30秒，再说出至少3项缺失信息。</a:t>
            </a:r>
            <a:endParaRPr lang="en-US" sz="2000" dirty="0"/>
          </a:p>
        </p:txBody>
      </p:sp>
      <p:sp>
        <p:nvSpPr>
          <p:cNvPr id="13" name="Text 11"/>
          <p:cNvSpPr/>
          <p:nvPr/>
        </p:nvSpPr>
        <p:spPr>
          <a:xfrm>
            <a:off x="914400" y="4754880"/>
            <a:ext cx="10241280" cy="320040"/>
          </a:xfrm>
          <a:prstGeom prst="rect">
            <a:avLst/>
          </a:prstGeom>
          <a:noFill/>
          <a:ln/>
        </p:spPr>
        <p:txBody>
          <a:bodyPr wrap="square" lIns="0" tIns="0" rIns="0" bIns="0" rtlCol="0" anchor="t">
            <a:normAutofit/>
          </a:bodyPr>
          <a:lstStyle/>
          <a:p>
            <a:pPr marL="0" indent="0" algn="ctr">
              <a:buNone/>
            </a:pPr>
            <a:r>
              <a:rPr lang="en-US" sz="1300" dirty="0">
                <a:solidFill>
                  <a:srgbClr val="77766F"/>
                </a:solidFill>
                <a:latin typeface="PingFang SC" pitchFamily="34" charset="0"/>
                <a:ea typeface="PingFang SC" pitchFamily="34" charset="-122"/>
                <a:cs typeface="PingFang SC" pitchFamily="34" charset="-120"/>
              </a:rPr>
              <a:t>提示：不要急着写Prompt，先判断这个任务为什么无法验收。</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05</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会聊天不等于会做产品</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收答案后：至少检查这五类信息</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01 会聊天不等于会做产品</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05</a:t>
            </a:r>
            <a:endParaRPr lang="en-US" sz="850" dirty="0"/>
          </a:p>
        </p:txBody>
      </p:sp>
      <p:sp>
        <p:nvSpPr>
          <p:cNvPr id="10" name="Shape 8"/>
          <p:cNvSpPr/>
          <p:nvPr/>
        </p:nvSpPr>
        <p:spPr>
          <a:xfrm>
            <a:off x="804672" y="1572768"/>
            <a:ext cx="73152" cy="1143000"/>
          </a:xfrm>
          <a:prstGeom prst="rect">
            <a:avLst/>
          </a:prstGeom>
          <a:solidFill>
            <a:srgbClr val="C35331"/>
          </a:solidFill>
          <a:ln w="12700">
            <a:solidFill>
              <a:srgbClr val="C35331"/>
            </a:solidFill>
            <a:prstDash val="solid"/>
          </a:ln>
        </p:spPr>
      </p:sp>
      <p:sp>
        <p:nvSpPr>
          <p:cNvPr id="11" name="Text 9"/>
          <p:cNvSpPr/>
          <p:nvPr/>
        </p:nvSpPr>
        <p:spPr>
          <a:xfrm>
            <a:off x="1124712" y="1664208"/>
            <a:ext cx="4434840" cy="960120"/>
          </a:xfrm>
          <a:prstGeom prst="rect">
            <a:avLst/>
          </a:prstGeom>
          <a:noFill/>
          <a:ln/>
        </p:spPr>
        <p:txBody>
          <a:bodyPr wrap="square" lIns="0" tIns="0" rIns="0" bIns="0" rtlCol="0" anchor="ctr">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帮我整理一下这次销售拜访。</a:t>
            </a:r>
            <a:endParaRPr lang="en-US" sz="2500" dirty="0"/>
          </a:p>
        </p:txBody>
      </p:sp>
      <p:sp>
        <p:nvSpPr>
          <p:cNvPr id="12" name="Shape 10"/>
          <p:cNvSpPr/>
          <p:nvPr/>
        </p:nvSpPr>
        <p:spPr>
          <a:xfrm>
            <a:off x="5897880" y="1572768"/>
            <a:ext cx="2240280" cy="347472"/>
          </a:xfrm>
          <a:prstGeom prst="roundRect">
            <a:avLst>
              <a:gd name="adj" fmla="val 21053"/>
            </a:avLst>
          </a:prstGeom>
          <a:solidFill>
            <a:srgbClr val="F2E2DB"/>
          </a:solidFill>
          <a:ln w="12700">
            <a:solidFill>
              <a:srgbClr val="F2E2DB"/>
            </a:solidFill>
            <a:prstDash val="solid"/>
          </a:ln>
        </p:spPr>
      </p:sp>
      <p:sp>
        <p:nvSpPr>
          <p:cNvPr id="13" name="Text 11"/>
          <p:cNvSpPr/>
          <p:nvPr/>
        </p:nvSpPr>
        <p:spPr>
          <a:xfrm>
            <a:off x="5971032" y="1655064"/>
            <a:ext cx="2093976" cy="155448"/>
          </a:xfrm>
          <a:prstGeom prst="rect">
            <a:avLst/>
          </a:prstGeom>
          <a:noFill/>
          <a:ln/>
        </p:spPr>
        <p:txBody>
          <a:bodyPr wrap="square" lIns="0" tIns="0" rIns="0" bIns="0" rtlCol="0" anchor="t">
            <a:normAutofit/>
          </a:bodyPr>
          <a:lstStyle/>
          <a:p>
            <a:pPr marL="0" indent="0" algn="ctr">
              <a:buNone/>
            </a:pPr>
            <a:r>
              <a:rPr lang="en-US" sz="950" b="1" dirty="0">
                <a:solidFill>
                  <a:srgbClr val="C35331"/>
                </a:solidFill>
                <a:latin typeface="PingFang SC" pitchFamily="34" charset="0"/>
                <a:ea typeface="PingFang SC" pitchFamily="34" charset="-122"/>
                <a:cs typeface="PingFang SC" pitchFamily="34" charset="-120"/>
              </a:rPr>
              <a:t>给谁使用？</a:t>
            </a:r>
            <a:endParaRPr lang="en-US" sz="950" dirty="0"/>
          </a:p>
        </p:txBody>
      </p:sp>
      <p:sp>
        <p:nvSpPr>
          <p:cNvPr id="14" name="Shape 12"/>
          <p:cNvSpPr/>
          <p:nvPr/>
        </p:nvSpPr>
        <p:spPr>
          <a:xfrm>
            <a:off x="8412480" y="1572768"/>
            <a:ext cx="2240280" cy="347472"/>
          </a:xfrm>
          <a:prstGeom prst="roundRect">
            <a:avLst>
              <a:gd name="adj" fmla="val 21053"/>
            </a:avLst>
          </a:prstGeom>
          <a:solidFill>
            <a:srgbClr val="DDEBE8"/>
          </a:solidFill>
          <a:ln w="12700">
            <a:solidFill>
              <a:srgbClr val="DDEBE8"/>
            </a:solidFill>
            <a:prstDash val="solid"/>
          </a:ln>
        </p:spPr>
      </p:sp>
      <p:sp>
        <p:nvSpPr>
          <p:cNvPr id="15" name="Text 13"/>
          <p:cNvSpPr/>
          <p:nvPr/>
        </p:nvSpPr>
        <p:spPr>
          <a:xfrm>
            <a:off x="8485632" y="1655064"/>
            <a:ext cx="2093976" cy="155448"/>
          </a:xfrm>
          <a:prstGeom prst="rect">
            <a:avLst/>
          </a:prstGeom>
          <a:noFill/>
          <a:ln/>
        </p:spPr>
        <p:txBody>
          <a:bodyPr wrap="square" lIns="0" tIns="0" rIns="0" bIns="0" rtlCol="0" anchor="t">
            <a:normAutofit/>
          </a:bodyPr>
          <a:lstStyle/>
          <a:p>
            <a:pPr marL="0" indent="0" algn="ctr">
              <a:buNone/>
            </a:pPr>
            <a:r>
              <a:rPr lang="en-US" sz="950" b="1" dirty="0">
                <a:solidFill>
                  <a:srgbClr val="387B77"/>
                </a:solidFill>
                <a:latin typeface="PingFang SC" pitchFamily="34" charset="0"/>
                <a:ea typeface="PingFang SC" pitchFamily="34" charset="-122"/>
                <a:cs typeface="PingFang SC" pitchFamily="34" charset="-120"/>
              </a:rPr>
              <a:t>具体要什么？</a:t>
            </a:r>
            <a:endParaRPr lang="en-US" sz="950" dirty="0"/>
          </a:p>
        </p:txBody>
      </p:sp>
      <p:sp>
        <p:nvSpPr>
          <p:cNvPr id="16" name="Shape 14"/>
          <p:cNvSpPr/>
          <p:nvPr/>
        </p:nvSpPr>
        <p:spPr>
          <a:xfrm>
            <a:off x="5897880" y="2651760"/>
            <a:ext cx="2240280" cy="347472"/>
          </a:xfrm>
          <a:prstGeom prst="roundRect">
            <a:avLst>
              <a:gd name="adj" fmla="val 21053"/>
            </a:avLst>
          </a:prstGeom>
          <a:solidFill>
            <a:srgbClr val="F2E7D5"/>
          </a:solidFill>
          <a:ln w="12700">
            <a:solidFill>
              <a:srgbClr val="F2E7D5"/>
            </a:solidFill>
            <a:prstDash val="solid"/>
          </a:ln>
        </p:spPr>
      </p:sp>
      <p:sp>
        <p:nvSpPr>
          <p:cNvPr id="17" name="Text 15"/>
          <p:cNvSpPr/>
          <p:nvPr/>
        </p:nvSpPr>
        <p:spPr>
          <a:xfrm>
            <a:off x="5971032" y="2734056"/>
            <a:ext cx="2093976" cy="155448"/>
          </a:xfrm>
          <a:prstGeom prst="rect">
            <a:avLst/>
          </a:prstGeom>
          <a:noFill/>
          <a:ln/>
        </p:spPr>
        <p:txBody>
          <a:bodyPr wrap="square" lIns="0" tIns="0" rIns="0" bIns="0" rtlCol="0" anchor="t">
            <a:normAutofit/>
          </a:bodyPr>
          <a:lstStyle/>
          <a:p>
            <a:pPr marL="0" indent="0" algn="ctr">
              <a:buNone/>
            </a:pPr>
            <a:r>
              <a:rPr lang="en-US" sz="950" b="1" dirty="0">
                <a:solidFill>
                  <a:srgbClr val="D18A38"/>
                </a:solidFill>
                <a:latin typeface="PingFang SC" pitchFamily="34" charset="0"/>
                <a:ea typeface="PingFang SC" pitchFamily="34" charset="-122"/>
                <a:cs typeface="PingFang SC" pitchFamily="34" charset="-120"/>
              </a:rPr>
              <a:t>哪些不能推测？</a:t>
            </a:r>
            <a:endParaRPr lang="en-US" sz="950" dirty="0"/>
          </a:p>
        </p:txBody>
      </p:sp>
      <p:sp>
        <p:nvSpPr>
          <p:cNvPr id="18" name="Shape 16"/>
          <p:cNvSpPr/>
          <p:nvPr/>
        </p:nvSpPr>
        <p:spPr>
          <a:xfrm>
            <a:off x="8412480" y="2651760"/>
            <a:ext cx="2240280" cy="347472"/>
          </a:xfrm>
          <a:prstGeom prst="roundRect">
            <a:avLst>
              <a:gd name="adj" fmla="val 21053"/>
            </a:avLst>
          </a:prstGeom>
          <a:solidFill>
            <a:srgbClr val="E8E0E7"/>
          </a:solidFill>
          <a:ln w="12700">
            <a:solidFill>
              <a:srgbClr val="E8E0E7"/>
            </a:solidFill>
            <a:prstDash val="solid"/>
          </a:ln>
        </p:spPr>
      </p:sp>
      <p:sp>
        <p:nvSpPr>
          <p:cNvPr id="19" name="Text 17"/>
          <p:cNvSpPr/>
          <p:nvPr/>
        </p:nvSpPr>
        <p:spPr>
          <a:xfrm>
            <a:off x="8485632" y="2734056"/>
            <a:ext cx="2093976" cy="155448"/>
          </a:xfrm>
          <a:prstGeom prst="rect">
            <a:avLst/>
          </a:prstGeom>
          <a:noFill/>
          <a:ln/>
        </p:spPr>
        <p:txBody>
          <a:bodyPr wrap="square" lIns="0" tIns="0" rIns="0" bIns="0" rtlCol="0" anchor="t">
            <a:normAutofit/>
          </a:bodyPr>
          <a:lstStyle/>
          <a:p>
            <a:pPr marL="0" indent="0" algn="ctr">
              <a:buNone/>
            </a:pPr>
            <a:r>
              <a:rPr lang="en-US" sz="950" b="1" dirty="0">
                <a:solidFill>
                  <a:srgbClr val="74546A"/>
                </a:solidFill>
                <a:latin typeface="PingFang SC" pitchFamily="34" charset="0"/>
                <a:ea typeface="PingFang SC" pitchFamily="34" charset="-122"/>
                <a:cs typeface="PingFang SC" pitchFamily="34" charset="-120"/>
              </a:rPr>
              <a:t>怎样算合格？</a:t>
            </a:r>
            <a:endParaRPr lang="en-US" sz="950" dirty="0"/>
          </a:p>
        </p:txBody>
      </p:sp>
      <p:sp>
        <p:nvSpPr>
          <p:cNvPr id="20" name="Shape 18"/>
          <p:cNvSpPr/>
          <p:nvPr/>
        </p:nvSpPr>
        <p:spPr>
          <a:xfrm>
            <a:off x="5897880" y="3730752"/>
            <a:ext cx="4663440" cy="347472"/>
          </a:xfrm>
          <a:prstGeom prst="roundRect">
            <a:avLst>
              <a:gd name="adj" fmla="val 21053"/>
            </a:avLst>
          </a:prstGeom>
          <a:solidFill>
            <a:srgbClr val="E2E9DE"/>
          </a:solidFill>
          <a:ln w="12700">
            <a:solidFill>
              <a:srgbClr val="E2E9DE"/>
            </a:solidFill>
            <a:prstDash val="solid"/>
          </a:ln>
        </p:spPr>
      </p:sp>
      <p:sp>
        <p:nvSpPr>
          <p:cNvPr id="21" name="Text 19"/>
          <p:cNvSpPr/>
          <p:nvPr/>
        </p:nvSpPr>
        <p:spPr>
          <a:xfrm>
            <a:off x="5971032" y="3813048"/>
            <a:ext cx="4517136" cy="155448"/>
          </a:xfrm>
          <a:prstGeom prst="rect">
            <a:avLst/>
          </a:prstGeom>
          <a:noFill/>
          <a:ln/>
        </p:spPr>
        <p:txBody>
          <a:bodyPr wrap="square" lIns="0" tIns="0" rIns="0" bIns="0" rtlCol="0" anchor="t">
            <a:normAutofit/>
          </a:bodyPr>
          <a:lstStyle/>
          <a:p>
            <a:pPr marL="0" indent="0" algn="ctr">
              <a:buNone/>
            </a:pPr>
            <a:r>
              <a:rPr lang="en-US" sz="950" b="1" dirty="0">
                <a:solidFill>
                  <a:srgbClr val="527553"/>
                </a:solidFill>
                <a:latin typeface="PingFang SC" pitchFamily="34" charset="0"/>
                <a:ea typeface="PingFang SC" pitchFamily="34" charset="-122"/>
                <a:cs typeface="PingFang SC" pitchFamily="34" charset="-120"/>
              </a:rPr>
              <a:t>结果进入什么动作？</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06</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会聊天不等于会做产品</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mn-ea"/>
                <a:cs typeface="PingFang SC" pitchFamily="34" charset="-120"/>
              </a:rPr>
              <a:t>会使用聊天工具，不等于已经完成AI产品设计</a:t>
            </a:r>
            <a:endParaRPr lang="en-US" sz="2500" dirty="0">
              <a:latin typeface="+mn-ea"/>
            </a:endParaRPr>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01 会聊天不等于会做产品</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06</a:t>
            </a:r>
            <a:endParaRPr lang="en-US" sz="850" dirty="0"/>
          </a:p>
        </p:txBody>
      </p:sp>
      <p:sp>
        <p:nvSpPr>
          <p:cNvPr id="10" name="Shape 8"/>
          <p:cNvSpPr/>
          <p:nvPr/>
        </p:nvSpPr>
        <p:spPr>
          <a:xfrm>
            <a:off x="713232" y="1572769"/>
            <a:ext cx="5285232" cy="3767323"/>
          </a:xfrm>
          <a:prstGeom prst="roundRect">
            <a:avLst>
              <a:gd name="adj" fmla="val 1075"/>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572769"/>
            <a:ext cx="45719" cy="3767322"/>
          </a:xfrm>
          <a:prstGeom prst="rect">
            <a:avLst/>
          </a:prstGeom>
          <a:solidFill>
            <a:srgbClr val="405D78"/>
          </a:solidFill>
          <a:ln w="12700">
            <a:solidFill>
              <a:srgbClr val="405D78"/>
            </a:solidFill>
            <a:prstDash val="solid"/>
          </a:ln>
        </p:spPr>
      </p:sp>
      <p:sp>
        <p:nvSpPr>
          <p:cNvPr id="12" name="Text 10"/>
          <p:cNvSpPr/>
          <p:nvPr/>
        </p:nvSpPr>
        <p:spPr>
          <a:xfrm>
            <a:off x="960120" y="1783080"/>
            <a:ext cx="4809744"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个人使用</a:t>
            </a:r>
            <a:endParaRPr lang="en-US" sz="1800" dirty="0"/>
          </a:p>
        </p:txBody>
      </p:sp>
      <p:sp>
        <p:nvSpPr>
          <p:cNvPr id="13" name="Text 11"/>
          <p:cNvSpPr/>
          <p:nvPr/>
        </p:nvSpPr>
        <p:spPr>
          <a:xfrm>
            <a:off x="960120" y="2295144"/>
            <a:ext cx="4791456" cy="3319272"/>
          </a:xfrm>
          <a:prstGeom prst="rect">
            <a:avLst/>
          </a:prstGeom>
          <a:noFill/>
          <a:ln/>
        </p:spPr>
        <p:txBody>
          <a:bodyPr wrap="square" lIns="0" tIns="0" rIns="0" bIns="0" rtlCol="0" anchor="t">
            <a:normAutofit/>
          </a:bodyPr>
          <a:lstStyle/>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结果不好，可以继续追问</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自己补背景、手工修改</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自己判断哪些内容可信</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偶尔成功，也可能有帮助</a:t>
            </a:r>
            <a:endParaRPr lang="en-US" sz="1300" dirty="0"/>
          </a:p>
        </p:txBody>
      </p:sp>
      <p:sp>
        <p:nvSpPr>
          <p:cNvPr id="14" name="Shape 12"/>
          <p:cNvSpPr/>
          <p:nvPr/>
        </p:nvSpPr>
        <p:spPr>
          <a:xfrm>
            <a:off x="6199632" y="1572768"/>
            <a:ext cx="5285232" cy="3767326"/>
          </a:xfrm>
          <a:prstGeom prst="roundRect">
            <a:avLst>
              <a:gd name="adj" fmla="val 1075"/>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6199632" y="1572768"/>
            <a:ext cx="64008" cy="3767326"/>
          </a:xfrm>
          <a:prstGeom prst="rect">
            <a:avLst/>
          </a:prstGeom>
          <a:solidFill>
            <a:srgbClr val="C35331"/>
          </a:solidFill>
          <a:ln w="12700">
            <a:solidFill>
              <a:srgbClr val="C35331"/>
            </a:solidFill>
            <a:prstDash val="solid"/>
          </a:ln>
        </p:spPr>
      </p:sp>
      <p:sp>
        <p:nvSpPr>
          <p:cNvPr id="16" name="Text 14"/>
          <p:cNvSpPr/>
          <p:nvPr/>
        </p:nvSpPr>
        <p:spPr>
          <a:xfrm>
            <a:off x="6446520" y="1783080"/>
            <a:ext cx="4809744"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产品交付</a:t>
            </a:r>
            <a:endParaRPr lang="en-US" sz="1800" dirty="0"/>
          </a:p>
        </p:txBody>
      </p:sp>
      <p:sp>
        <p:nvSpPr>
          <p:cNvPr id="17" name="Text 15"/>
          <p:cNvSpPr/>
          <p:nvPr/>
        </p:nvSpPr>
        <p:spPr>
          <a:xfrm>
            <a:off x="6446520" y="2295144"/>
            <a:ext cx="4791456" cy="3319272"/>
          </a:xfrm>
          <a:prstGeom prst="rect">
            <a:avLst/>
          </a:prstGeom>
          <a:noFill/>
          <a:ln/>
        </p:spPr>
        <p:txBody>
          <a:bodyPr wrap="square" lIns="0" tIns="0" rIns="0" bIns="0" rtlCol="0" anchor="t">
            <a:normAutofit/>
          </a:bodyPr>
          <a:lstStyle/>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不同用户稳定完成同类任务</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产品主动收集必要信息</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高风险内容有证据和确认</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结果可验收并进入后续流程</a:t>
            </a:r>
            <a:endParaRPr lang="en-US" sz="1300" dirty="0"/>
          </a:p>
        </p:txBody>
      </p:sp>
      <p:sp>
        <p:nvSpPr>
          <p:cNvPr id="18" name="Text 16"/>
          <p:cNvSpPr/>
          <p:nvPr/>
        </p:nvSpPr>
        <p:spPr>
          <a:xfrm>
            <a:off x="914400" y="5715000"/>
            <a:ext cx="10241280" cy="365760"/>
          </a:xfrm>
          <a:prstGeom prst="rect">
            <a:avLst/>
          </a:prstGeom>
          <a:noFill/>
          <a:ln/>
        </p:spPr>
        <p:txBody>
          <a:bodyPr wrap="square" lIns="0" tIns="0" rIns="0" bIns="0" rtlCol="0" anchor="t">
            <a:normAutofit/>
          </a:bodyPr>
          <a:lstStyle/>
          <a:p>
            <a:pPr marL="0" indent="0" algn="ctr">
              <a:buNone/>
            </a:pPr>
            <a:r>
              <a:rPr lang="en-US" sz="1800" b="1" dirty="0">
                <a:solidFill>
                  <a:srgbClr val="C35331"/>
                </a:solidFill>
                <a:latin typeface="PingFang SC" pitchFamily="34" charset="0"/>
                <a:ea typeface="PingFang SC" pitchFamily="34" charset="-122"/>
                <a:cs typeface="PingFang SC" pitchFamily="34" charset="-120"/>
              </a:rPr>
              <a:t>训练目标：让专业要求被重复执行。</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07</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大模型怎样生成答案</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大模型生成答案，不是简单找到一条现成答案</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02 大模型怎样生成答案</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07</a:t>
            </a:r>
            <a:endParaRPr lang="en-US" sz="850" dirty="0"/>
          </a:p>
        </p:txBody>
      </p:sp>
      <p:sp>
        <p:nvSpPr>
          <p:cNvPr id="10" name="Shape 8"/>
          <p:cNvSpPr/>
          <p:nvPr/>
        </p:nvSpPr>
        <p:spPr>
          <a:xfrm>
            <a:off x="658368" y="1627632"/>
            <a:ext cx="3480816" cy="2971800"/>
          </a:xfrm>
          <a:prstGeom prst="roundRect">
            <a:avLst>
              <a:gd name="adj" fmla="val 1538"/>
            </a:avLst>
          </a:prstGeom>
          <a:solidFill>
            <a:srgbClr val="FBF9F4"/>
          </a:solidFill>
          <a:ln w="12700">
            <a:solidFill>
              <a:srgbClr val="D8D0C2"/>
            </a:solidFill>
            <a:prstDash val="solid"/>
          </a:ln>
        </p:spPr>
      </p:sp>
      <p:sp>
        <p:nvSpPr>
          <p:cNvPr id="11" name="Shape 9"/>
          <p:cNvSpPr/>
          <p:nvPr/>
        </p:nvSpPr>
        <p:spPr>
          <a:xfrm>
            <a:off x="658368" y="1627632"/>
            <a:ext cx="64008" cy="2971800"/>
          </a:xfrm>
          <a:prstGeom prst="rect">
            <a:avLst/>
          </a:prstGeom>
          <a:solidFill>
            <a:srgbClr val="405D78"/>
          </a:solidFill>
          <a:ln w="12700">
            <a:solidFill>
              <a:srgbClr val="405D78"/>
            </a:solidFill>
            <a:prstDash val="solid"/>
          </a:ln>
        </p:spPr>
      </p:sp>
      <p:sp>
        <p:nvSpPr>
          <p:cNvPr id="12" name="Text 10"/>
          <p:cNvSpPr/>
          <p:nvPr/>
        </p:nvSpPr>
        <p:spPr>
          <a:xfrm>
            <a:off x="905256" y="1837944"/>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搜索引擎</a:t>
            </a:r>
            <a:endParaRPr lang="en-US" sz="1500" dirty="0"/>
          </a:p>
        </p:txBody>
      </p:sp>
      <p:sp>
        <p:nvSpPr>
          <p:cNvPr id="13" name="Text 11"/>
          <p:cNvSpPr/>
          <p:nvPr/>
        </p:nvSpPr>
        <p:spPr>
          <a:xfrm>
            <a:off x="905256" y="2350008"/>
            <a:ext cx="2987040" cy="2039112"/>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找到相关内容或页面</a:t>
            </a:r>
            <a:endParaRPr lang="en-US" sz="1120" dirty="0"/>
          </a:p>
        </p:txBody>
      </p:sp>
      <p:sp>
        <p:nvSpPr>
          <p:cNvPr id="14" name="Shape 12"/>
          <p:cNvSpPr/>
          <p:nvPr/>
        </p:nvSpPr>
        <p:spPr>
          <a:xfrm>
            <a:off x="4358640" y="1627632"/>
            <a:ext cx="3480816" cy="2971800"/>
          </a:xfrm>
          <a:prstGeom prst="roundRect">
            <a:avLst>
              <a:gd name="adj" fmla="val 1538"/>
            </a:avLst>
          </a:prstGeom>
          <a:solidFill>
            <a:srgbClr val="FBF9F4"/>
          </a:solidFill>
          <a:ln w="12700">
            <a:solidFill>
              <a:srgbClr val="D8D0C2"/>
            </a:solidFill>
            <a:prstDash val="solid"/>
          </a:ln>
        </p:spPr>
      </p:sp>
      <p:sp>
        <p:nvSpPr>
          <p:cNvPr id="15" name="Shape 13"/>
          <p:cNvSpPr/>
          <p:nvPr/>
        </p:nvSpPr>
        <p:spPr>
          <a:xfrm>
            <a:off x="4358640" y="1627632"/>
            <a:ext cx="64008" cy="2971800"/>
          </a:xfrm>
          <a:prstGeom prst="rect">
            <a:avLst/>
          </a:prstGeom>
          <a:solidFill>
            <a:srgbClr val="387B77"/>
          </a:solidFill>
          <a:ln w="12700">
            <a:solidFill>
              <a:srgbClr val="387B77"/>
            </a:solidFill>
            <a:prstDash val="solid"/>
          </a:ln>
        </p:spPr>
      </p:sp>
      <p:sp>
        <p:nvSpPr>
          <p:cNvPr id="16" name="Text 14"/>
          <p:cNvSpPr/>
          <p:nvPr/>
        </p:nvSpPr>
        <p:spPr>
          <a:xfrm>
            <a:off x="4605528" y="1837944"/>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数据库</a:t>
            </a:r>
            <a:endParaRPr lang="en-US" sz="1500" dirty="0"/>
          </a:p>
        </p:txBody>
      </p:sp>
      <p:sp>
        <p:nvSpPr>
          <p:cNvPr id="17" name="Text 15"/>
          <p:cNvSpPr/>
          <p:nvPr/>
        </p:nvSpPr>
        <p:spPr>
          <a:xfrm>
            <a:off x="4605528" y="2350008"/>
            <a:ext cx="2987040" cy="2039112"/>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按明确条件返回已有记录</a:t>
            </a:r>
            <a:endParaRPr lang="en-US" sz="1120" dirty="0"/>
          </a:p>
        </p:txBody>
      </p:sp>
      <p:sp>
        <p:nvSpPr>
          <p:cNvPr id="18" name="Shape 16"/>
          <p:cNvSpPr/>
          <p:nvPr/>
        </p:nvSpPr>
        <p:spPr>
          <a:xfrm>
            <a:off x="8058912" y="1627632"/>
            <a:ext cx="3480816" cy="2971800"/>
          </a:xfrm>
          <a:prstGeom prst="roundRect">
            <a:avLst>
              <a:gd name="adj" fmla="val 1538"/>
            </a:avLst>
          </a:prstGeom>
          <a:solidFill>
            <a:srgbClr val="FBF9F4"/>
          </a:solidFill>
          <a:ln w="12700">
            <a:solidFill>
              <a:srgbClr val="D8D0C2"/>
            </a:solidFill>
            <a:prstDash val="solid"/>
          </a:ln>
        </p:spPr>
      </p:sp>
      <p:sp>
        <p:nvSpPr>
          <p:cNvPr id="19" name="Shape 17"/>
          <p:cNvSpPr/>
          <p:nvPr/>
        </p:nvSpPr>
        <p:spPr>
          <a:xfrm>
            <a:off x="8058912" y="1627632"/>
            <a:ext cx="64008" cy="2971800"/>
          </a:xfrm>
          <a:prstGeom prst="rect">
            <a:avLst/>
          </a:prstGeom>
          <a:solidFill>
            <a:srgbClr val="C35331"/>
          </a:solidFill>
          <a:ln w="12700">
            <a:solidFill>
              <a:srgbClr val="C35331"/>
            </a:solidFill>
            <a:prstDash val="solid"/>
          </a:ln>
        </p:spPr>
      </p:sp>
      <p:sp>
        <p:nvSpPr>
          <p:cNvPr id="20" name="Text 18"/>
          <p:cNvSpPr/>
          <p:nvPr/>
        </p:nvSpPr>
        <p:spPr>
          <a:xfrm>
            <a:off x="8305800" y="1837944"/>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大模型</a:t>
            </a:r>
            <a:endParaRPr lang="en-US" sz="1500" dirty="0"/>
          </a:p>
        </p:txBody>
      </p:sp>
      <p:sp>
        <p:nvSpPr>
          <p:cNvPr id="21" name="Text 19"/>
          <p:cNvSpPr/>
          <p:nvPr/>
        </p:nvSpPr>
        <p:spPr>
          <a:xfrm>
            <a:off x="8305800" y="2350008"/>
            <a:ext cx="2987040" cy="2039112"/>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依据当前上下文，逐步生成后续内容</a:t>
            </a:r>
            <a:endParaRPr lang="en-US" sz="1120" dirty="0"/>
          </a:p>
        </p:txBody>
      </p:sp>
      <p:sp>
        <p:nvSpPr>
          <p:cNvPr id="22" name="Text 20"/>
          <p:cNvSpPr/>
          <p:nvPr/>
        </p:nvSpPr>
        <p:spPr>
          <a:xfrm>
            <a:off x="914400" y="4983480"/>
            <a:ext cx="3154680" cy="274320"/>
          </a:xfrm>
          <a:prstGeom prst="rect">
            <a:avLst/>
          </a:prstGeom>
          <a:noFill/>
          <a:ln/>
        </p:spPr>
        <p:txBody>
          <a:bodyPr wrap="square" lIns="0" tIns="0" rIns="0" bIns="0" rtlCol="0" anchor="t">
            <a:normAutofit/>
          </a:bodyPr>
          <a:lstStyle/>
          <a:p>
            <a:pPr marL="0" indent="0" algn="ctr">
              <a:buNone/>
            </a:pPr>
            <a:r>
              <a:rPr lang="en-US" sz="1300" b="1" dirty="0">
                <a:solidFill>
                  <a:srgbClr val="77766F"/>
                </a:solidFill>
                <a:latin typeface="PingFang SC" pitchFamily="34" charset="0"/>
                <a:ea typeface="PingFang SC" pitchFamily="34" charset="-122"/>
                <a:cs typeface="PingFang SC" pitchFamily="34" charset="-120"/>
              </a:rPr>
              <a:t>不简单等同</a:t>
            </a:r>
            <a:endParaRPr lang="en-US" sz="1300" dirty="0"/>
          </a:p>
        </p:txBody>
      </p:sp>
      <p:sp>
        <p:nvSpPr>
          <p:cNvPr id="23" name="Text 21"/>
          <p:cNvSpPr/>
          <p:nvPr/>
        </p:nvSpPr>
        <p:spPr>
          <a:xfrm>
            <a:off x="4553712" y="4983480"/>
            <a:ext cx="3154680" cy="274320"/>
          </a:xfrm>
          <a:prstGeom prst="rect">
            <a:avLst/>
          </a:prstGeom>
          <a:noFill/>
          <a:ln/>
        </p:spPr>
        <p:txBody>
          <a:bodyPr wrap="square" lIns="0" tIns="0" rIns="0" bIns="0" rtlCol="0" anchor="t">
            <a:normAutofit/>
          </a:bodyPr>
          <a:lstStyle/>
          <a:p>
            <a:pPr marL="0" indent="0" algn="ctr">
              <a:buNone/>
            </a:pPr>
            <a:r>
              <a:rPr lang="en-US" sz="1300" b="1" dirty="0">
                <a:solidFill>
                  <a:srgbClr val="77766F"/>
                </a:solidFill>
                <a:latin typeface="PingFang SC" pitchFamily="34" charset="0"/>
                <a:ea typeface="PingFang SC" pitchFamily="34" charset="-122"/>
                <a:cs typeface="PingFang SC" pitchFamily="34" charset="-120"/>
              </a:rPr>
              <a:t>不简单等同</a:t>
            </a:r>
            <a:endParaRPr lang="en-US" sz="1300" dirty="0"/>
          </a:p>
        </p:txBody>
      </p:sp>
      <p:sp>
        <p:nvSpPr>
          <p:cNvPr id="24" name="Text 22"/>
          <p:cNvSpPr/>
          <p:nvPr/>
        </p:nvSpPr>
        <p:spPr>
          <a:xfrm>
            <a:off x="8183880" y="4983480"/>
            <a:ext cx="3154680" cy="274320"/>
          </a:xfrm>
          <a:prstGeom prst="rect">
            <a:avLst/>
          </a:prstGeom>
          <a:noFill/>
          <a:ln/>
        </p:spPr>
        <p:txBody>
          <a:bodyPr wrap="square" lIns="0" tIns="0" rIns="0" bIns="0" rtlCol="0" anchor="t">
            <a:normAutofit/>
          </a:bodyPr>
          <a:lstStyle/>
          <a:p>
            <a:pPr marL="0" indent="0" algn="ctr">
              <a:buNone/>
            </a:pPr>
            <a:r>
              <a:rPr lang="en-US" sz="1200" b="1" dirty="0">
                <a:solidFill>
                  <a:srgbClr val="C35331"/>
                </a:solidFill>
                <a:latin typeface="PingFang SC" pitchFamily="34" charset="0"/>
                <a:ea typeface="PingFang SC" pitchFamily="34" charset="-122"/>
                <a:cs typeface="PingFang SC" pitchFamily="34" charset="-120"/>
              </a:rPr>
              <a:t>最低必要心智模型｜不是完整技术原理</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08</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大模型怎样生成答案</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给定当前上下文，模型下一步会做什么？</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02 大模型怎样生成答案</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08</a:t>
            </a:r>
            <a:endParaRPr lang="en-US" sz="850" dirty="0"/>
          </a:p>
        </p:txBody>
      </p:sp>
      <p:sp>
        <p:nvSpPr>
          <p:cNvPr id="10" name="Shape 8"/>
          <p:cNvSpPr/>
          <p:nvPr/>
        </p:nvSpPr>
        <p:spPr>
          <a:xfrm>
            <a:off x="822960" y="1627632"/>
            <a:ext cx="4800600" cy="4114800"/>
          </a:xfrm>
          <a:prstGeom prst="roundRect">
            <a:avLst>
              <a:gd name="adj" fmla="val 1111"/>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822960" y="1627632"/>
            <a:ext cx="64008" cy="4114800"/>
          </a:xfrm>
          <a:prstGeom prst="rect">
            <a:avLst/>
          </a:prstGeom>
          <a:solidFill>
            <a:srgbClr val="405D78"/>
          </a:solidFill>
          <a:ln w="12700">
            <a:solidFill>
              <a:srgbClr val="405D78"/>
            </a:solidFill>
            <a:prstDash val="solid"/>
          </a:ln>
        </p:spPr>
      </p:sp>
      <p:sp>
        <p:nvSpPr>
          <p:cNvPr id="12" name="Text 10"/>
          <p:cNvSpPr/>
          <p:nvPr/>
        </p:nvSpPr>
        <p:spPr>
          <a:xfrm>
            <a:off x="1069848" y="1837944"/>
            <a:ext cx="4325112" cy="347472"/>
          </a:xfrm>
          <a:prstGeom prst="rect">
            <a:avLst/>
          </a:prstGeom>
          <a:noFill/>
          <a:ln/>
        </p:spPr>
        <p:txBody>
          <a:bodyPr wrap="square" lIns="0" tIns="0" rIns="0" bIns="0" rtlCol="0" anchor="t">
            <a:normAutofit/>
          </a:bodyPr>
          <a:lstStyle/>
          <a:p>
            <a:pPr marL="0" indent="0" algn="l">
              <a:buNone/>
            </a:pPr>
            <a:r>
              <a:rPr lang="en-US" sz="1900" b="1" dirty="0">
                <a:solidFill>
                  <a:srgbClr val="20211F"/>
                </a:solidFill>
                <a:latin typeface="PingFang SC" pitchFamily="34" charset="0"/>
                <a:ea typeface="PingFang SC" pitchFamily="34" charset="-122"/>
                <a:cs typeface="PingFang SC" pitchFamily="34" charset="-120"/>
              </a:rPr>
              <a:t>当前上下文</a:t>
            </a:r>
            <a:endParaRPr lang="en-US" sz="1900" dirty="0"/>
          </a:p>
        </p:txBody>
      </p:sp>
      <p:sp>
        <p:nvSpPr>
          <p:cNvPr id="13" name="Text 11"/>
          <p:cNvSpPr/>
          <p:nvPr/>
        </p:nvSpPr>
        <p:spPr>
          <a:xfrm>
            <a:off x="1069848" y="2350008"/>
            <a:ext cx="4306824" cy="3182112"/>
          </a:xfrm>
          <a:prstGeom prst="rect">
            <a:avLst/>
          </a:prstGeom>
          <a:noFill/>
          <a:ln/>
        </p:spPr>
        <p:txBody>
          <a:bodyPr wrap="square" lIns="0" tIns="0" rIns="0" bIns="0" rtlCol="0" anchor="ctr">
            <a:normAutofit/>
          </a:bodyPr>
          <a:lstStyle/>
          <a:p>
            <a:pPr marL="0" indent="0" algn="ctr">
              <a:buNone/>
            </a:pPr>
            <a:r>
              <a:rPr lang="en-US" sz="2300" dirty="0">
                <a:solidFill>
                  <a:srgbClr val="77766F"/>
                </a:solidFill>
                <a:latin typeface="PingFang SC" pitchFamily="34" charset="0"/>
                <a:ea typeface="PingFang SC" pitchFamily="34" charset="-122"/>
                <a:cs typeface="PingFang SC" pitchFamily="34" charset="-120"/>
              </a:rPr>
              <a:t>用户输入</a:t>
            </a:r>
            <a:endParaRPr lang="en-US" sz="2300" dirty="0"/>
          </a:p>
          <a:p>
            <a:pPr marL="0" indent="0" algn="ctr">
              <a:buNone/>
            </a:pPr>
            <a:r>
              <a:rPr lang="en-US" sz="2300" dirty="0">
                <a:solidFill>
                  <a:srgbClr val="77766F"/>
                </a:solidFill>
                <a:latin typeface="PingFang SC" pitchFamily="34" charset="0"/>
                <a:ea typeface="PingFang SC" pitchFamily="34" charset="-122"/>
                <a:cs typeface="PingFang SC" pitchFamily="34" charset="-120"/>
              </a:rPr>
              <a:t>＋</a:t>
            </a:r>
            <a:endParaRPr lang="en-US" sz="2300" dirty="0"/>
          </a:p>
          <a:p>
            <a:pPr marL="0" indent="0" algn="ctr">
              <a:buNone/>
            </a:pPr>
            <a:r>
              <a:rPr lang="en-US" sz="2300" dirty="0">
                <a:solidFill>
                  <a:srgbClr val="77766F"/>
                </a:solidFill>
                <a:latin typeface="PingFang SC" pitchFamily="34" charset="0"/>
                <a:ea typeface="PingFang SC" pitchFamily="34" charset="-122"/>
                <a:cs typeface="PingFang SC" pitchFamily="34" charset="-120"/>
              </a:rPr>
              <a:t>已经生成的内容</a:t>
            </a:r>
            <a:endParaRPr lang="en-US" sz="2300" dirty="0"/>
          </a:p>
        </p:txBody>
      </p:sp>
      <p:sp>
        <p:nvSpPr>
          <p:cNvPr id="14" name="Shape 12"/>
          <p:cNvSpPr/>
          <p:nvPr/>
        </p:nvSpPr>
        <p:spPr>
          <a:xfrm>
            <a:off x="5897880" y="1627632"/>
            <a:ext cx="5440680" cy="4114800"/>
          </a:xfrm>
          <a:prstGeom prst="roundRect">
            <a:avLst>
              <a:gd name="adj" fmla="val 1111"/>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5897880" y="1627632"/>
            <a:ext cx="64008" cy="4114800"/>
          </a:xfrm>
          <a:prstGeom prst="rect">
            <a:avLst/>
          </a:prstGeom>
          <a:solidFill>
            <a:srgbClr val="D18A38"/>
          </a:solidFill>
          <a:ln w="12700">
            <a:solidFill>
              <a:srgbClr val="D18A38"/>
            </a:solidFill>
            <a:prstDash val="solid"/>
          </a:ln>
        </p:spPr>
      </p:sp>
      <p:sp>
        <p:nvSpPr>
          <p:cNvPr id="16" name="Text 14"/>
          <p:cNvSpPr/>
          <p:nvPr/>
        </p:nvSpPr>
        <p:spPr>
          <a:xfrm>
            <a:off x="6144768" y="1837944"/>
            <a:ext cx="4965192" cy="347472"/>
          </a:xfrm>
          <a:prstGeom prst="rect">
            <a:avLst/>
          </a:prstGeom>
          <a:noFill/>
          <a:ln/>
        </p:spPr>
        <p:txBody>
          <a:bodyPr wrap="square" lIns="0" tIns="0" rIns="0" bIns="0" rtlCol="0" anchor="t">
            <a:normAutofit/>
          </a:bodyPr>
          <a:lstStyle/>
          <a:p>
            <a:pPr marL="0" indent="0" algn="l">
              <a:buNone/>
            </a:pPr>
            <a:r>
              <a:rPr lang="en-US" sz="1900" b="1" dirty="0">
                <a:solidFill>
                  <a:srgbClr val="20211F"/>
                </a:solidFill>
                <a:latin typeface="PingFang SC" pitchFamily="34" charset="0"/>
                <a:ea typeface="PingFang SC" pitchFamily="34" charset="-122"/>
                <a:cs typeface="PingFang SC" pitchFamily="34" charset="-120"/>
              </a:rPr>
              <a:t>请先猜一猜</a:t>
            </a:r>
            <a:endParaRPr lang="en-US" sz="1900" dirty="0"/>
          </a:p>
        </p:txBody>
      </p:sp>
      <p:sp>
        <p:nvSpPr>
          <p:cNvPr id="17" name="Text 15"/>
          <p:cNvSpPr/>
          <p:nvPr/>
        </p:nvSpPr>
        <p:spPr>
          <a:xfrm>
            <a:off x="6144768" y="2350008"/>
            <a:ext cx="4946904" cy="3182112"/>
          </a:xfrm>
          <a:prstGeom prst="rect">
            <a:avLst/>
          </a:prstGeom>
          <a:noFill/>
          <a:ln/>
        </p:spPr>
        <p:txBody>
          <a:bodyPr wrap="square" lIns="0" tIns="0" rIns="0" bIns="0" rtlCol="0" anchor="ctr">
            <a:normAutofit/>
          </a:bodyPr>
          <a:lstStyle/>
          <a:p>
            <a:pPr marL="0" indent="0" algn="ctr">
              <a:buNone/>
            </a:pPr>
            <a:r>
              <a:rPr lang="en-US" sz="1800" dirty="0">
                <a:solidFill>
                  <a:srgbClr val="77766F"/>
                </a:solidFill>
                <a:latin typeface="PingFang SC" pitchFamily="34" charset="0"/>
                <a:ea typeface="PingFang SC" pitchFamily="34" charset="-122"/>
                <a:cs typeface="PingFang SC" pitchFamily="34" charset="-120"/>
              </a:rPr>
              <a:t>直接生成完整答案？</a:t>
            </a:r>
            <a:endParaRPr lang="en-US" sz="1800" dirty="0"/>
          </a:p>
          <a:p>
            <a:pPr marL="0" indent="0" algn="ctr">
              <a:buNone/>
            </a:pPr>
            <a:endParaRPr lang="en-US" sz="1800" dirty="0"/>
          </a:p>
          <a:p>
            <a:pPr marL="0" indent="0" algn="ctr">
              <a:buNone/>
            </a:pPr>
            <a:r>
              <a:rPr lang="en-US" sz="1800" dirty="0">
                <a:solidFill>
                  <a:srgbClr val="77766F"/>
                </a:solidFill>
                <a:latin typeface="PingFang SC" pitchFamily="34" charset="0"/>
                <a:ea typeface="PingFang SC" pitchFamily="34" charset="-122"/>
                <a:cs typeface="PingFang SC" pitchFamily="34" charset="-120"/>
              </a:rPr>
              <a:t>查找固定答案？</a:t>
            </a:r>
            <a:endParaRPr lang="en-US" sz="1800" dirty="0"/>
          </a:p>
          <a:p>
            <a:pPr marL="0" indent="0" algn="ctr">
              <a:buNone/>
            </a:pPr>
            <a:endParaRPr lang="en-US" sz="1800" dirty="0"/>
          </a:p>
          <a:p>
            <a:pPr marL="0" indent="0" algn="ctr">
              <a:buNone/>
            </a:pPr>
            <a:r>
              <a:rPr lang="en-US" sz="1800" dirty="0">
                <a:solidFill>
                  <a:srgbClr val="77766F"/>
                </a:solidFill>
                <a:latin typeface="PingFang SC" pitchFamily="34" charset="0"/>
                <a:ea typeface="PingFang SC" pitchFamily="34" charset="-122"/>
                <a:cs typeface="PingFang SC" pitchFamily="34" charset="-120"/>
              </a:rPr>
              <a:t>还是先判断下一个Token？</a:t>
            </a:r>
            <a:endParaRPr lang="en-US" sz="1800" dirty="0"/>
          </a:p>
        </p:txBody>
      </p:sp>
      <p:sp>
        <p:nvSpPr>
          <p:cNvPr id="18" name="Shape 16"/>
          <p:cNvSpPr/>
          <p:nvPr/>
        </p:nvSpPr>
        <p:spPr>
          <a:xfrm>
            <a:off x="9162288" y="749808"/>
            <a:ext cx="1828800" cy="310896"/>
          </a:xfrm>
          <a:prstGeom prst="roundRect">
            <a:avLst>
              <a:gd name="adj" fmla="val 29412"/>
            </a:avLst>
          </a:prstGeom>
          <a:solidFill>
            <a:srgbClr val="D18A38"/>
          </a:solidFill>
          <a:ln w="12700">
            <a:solidFill>
              <a:srgbClr val="D18A38"/>
            </a:solidFill>
            <a:prstDash val="solid"/>
          </a:ln>
        </p:spPr>
      </p:sp>
      <p:sp>
        <p:nvSpPr>
          <p:cNvPr id="19" name="Text 17"/>
          <p:cNvSpPr/>
          <p:nvPr/>
        </p:nvSpPr>
        <p:spPr>
          <a:xfrm>
            <a:off x="9226296" y="818388"/>
            <a:ext cx="1700784"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先提问，再翻页</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08</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大模型怎样生成答案</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大模型怎样一步一步生成答案？</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02 大模型怎样生成答案</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08</a:t>
            </a:r>
            <a:endParaRPr lang="en-US" sz="850" dirty="0"/>
          </a:p>
        </p:txBody>
      </p:sp>
      <p:sp>
        <p:nvSpPr>
          <p:cNvPr id="10" name="Shape 8"/>
          <p:cNvSpPr/>
          <p:nvPr/>
        </p:nvSpPr>
        <p:spPr>
          <a:xfrm>
            <a:off x="411480" y="1664208"/>
            <a:ext cx="2110435" cy="1554480"/>
          </a:xfrm>
          <a:prstGeom prst="roundRect">
            <a:avLst>
              <a:gd name="adj" fmla="val 2941"/>
            </a:avLst>
          </a:prstGeom>
          <a:solidFill>
            <a:srgbClr val="FBF9F4"/>
          </a:solidFill>
          <a:ln w="12700">
            <a:solidFill>
              <a:srgbClr val="D8D0C2"/>
            </a:solidFill>
            <a:prstDash val="solid"/>
          </a:ln>
        </p:spPr>
      </p:sp>
      <p:sp>
        <p:nvSpPr>
          <p:cNvPr id="11" name="Text 9"/>
          <p:cNvSpPr/>
          <p:nvPr/>
        </p:nvSpPr>
        <p:spPr>
          <a:xfrm>
            <a:off x="576072" y="1837944"/>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405D78"/>
                </a:solidFill>
                <a:latin typeface="PingFang SC" pitchFamily="34" charset="0"/>
                <a:ea typeface="PingFang SC" pitchFamily="34" charset="-122"/>
                <a:cs typeface="PingFang SC" pitchFamily="34" charset="-120"/>
              </a:rPr>
              <a:t>01</a:t>
            </a:r>
            <a:endParaRPr lang="en-US" sz="1000" dirty="0"/>
          </a:p>
        </p:txBody>
      </p:sp>
      <p:sp>
        <p:nvSpPr>
          <p:cNvPr id="12" name="Text 10"/>
          <p:cNvSpPr/>
          <p:nvPr/>
        </p:nvSpPr>
        <p:spPr>
          <a:xfrm>
            <a:off x="548640" y="2231136"/>
            <a:ext cx="1836115"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当前上下文</a:t>
            </a:r>
            <a:endParaRPr lang="en-US" sz="1320" dirty="0"/>
          </a:p>
        </p:txBody>
      </p:sp>
      <p:sp>
        <p:nvSpPr>
          <p:cNvPr id="13" name="Text 11"/>
          <p:cNvSpPr/>
          <p:nvPr/>
        </p:nvSpPr>
        <p:spPr>
          <a:xfrm>
            <a:off x="566928" y="2697480"/>
            <a:ext cx="1799539"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已有输入与已生成内容</a:t>
            </a:r>
            <a:endParaRPr lang="en-US" sz="970" dirty="0"/>
          </a:p>
        </p:txBody>
      </p:sp>
      <p:sp>
        <p:nvSpPr>
          <p:cNvPr id="14" name="Shape 12"/>
          <p:cNvSpPr/>
          <p:nvPr/>
        </p:nvSpPr>
        <p:spPr>
          <a:xfrm>
            <a:off x="2723083" y="1664208"/>
            <a:ext cx="2110435" cy="1554480"/>
          </a:xfrm>
          <a:prstGeom prst="roundRect">
            <a:avLst>
              <a:gd name="adj" fmla="val 2941"/>
            </a:avLst>
          </a:prstGeom>
          <a:solidFill>
            <a:srgbClr val="FBF9F4"/>
          </a:solidFill>
          <a:ln w="12700">
            <a:solidFill>
              <a:srgbClr val="D8D0C2"/>
            </a:solidFill>
            <a:prstDash val="solid"/>
          </a:ln>
        </p:spPr>
      </p:sp>
      <p:sp>
        <p:nvSpPr>
          <p:cNvPr id="15" name="Text 13"/>
          <p:cNvSpPr/>
          <p:nvPr/>
        </p:nvSpPr>
        <p:spPr>
          <a:xfrm>
            <a:off x="2887675" y="1837944"/>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387B77"/>
                </a:solidFill>
                <a:latin typeface="PingFang SC" pitchFamily="34" charset="0"/>
                <a:ea typeface="PingFang SC" pitchFamily="34" charset="-122"/>
                <a:cs typeface="PingFang SC" pitchFamily="34" charset="-120"/>
              </a:rPr>
              <a:t>02</a:t>
            </a:r>
            <a:endParaRPr lang="en-US" sz="1000" dirty="0"/>
          </a:p>
        </p:txBody>
      </p:sp>
      <p:sp>
        <p:nvSpPr>
          <p:cNvPr id="16" name="Text 14"/>
          <p:cNvSpPr/>
          <p:nvPr/>
        </p:nvSpPr>
        <p:spPr>
          <a:xfrm>
            <a:off x="2860243" y="2231136"/>
            <a:ext cx="1836115"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候选Token</a:t>
            </a:r>
            <a:endParaRPr lang="en-US" sz="1320" dirty="0"/>
          </a:p>
        </p:txBody>
      </p:sp>
      <p:sp>
        <p:nvSpPr>
          <p:cNvPr id="17" name="Text 15"/>
          <p:cNvSpPr/>
          <p:nvPr/>
        </p:nvSpPr>
        <p:spPr>
          <a:xfrm>
            <a:off x="2878531" y="2697480"/>
            <a:ext cx="1799539"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计算后续可能性</a:t>
            </a:r>
            <a:endParaRPr lang="en-US" sz="970" dirty="0"/>
          </a:p>
        </p:txBody>
      </p:sp>
      <p:sp>
        <p:nvSpPr>
          <p:cNvPr id="18" name="Shape 16"/>
          <p:cNvSpPr/>
          <p:nvPr/>
        </p:nvSpPr>
        <p:spPr>
          <a:xfrm>
            <a:off x="5034686" y="1664208"/>
            <a:ext cx="2110435" cy="1554480"/>
          </a:xfrm>
          <a:prstGeom prst="roundRect">
            <a:avLst>
              <a:gd name="adj" fmla="val 2941"/>
            </a:avLst>
          </a:prstGeom>
          <a:solidFill>
            <a:srgbClr val="FBF9F4"/>
          </a:solidFill>
          <a:ln w="12700">
            <a:solidFill>
              <a:srgbClr val="D8D0C2"/>
            </a:solidFill>
            <a:prstDash val="solid"/>
          </a:ln>
        </p:spPr>
      </p:sp>
      <p:sp>
        <p:nvSpPr>
          <p:cNvPr id="19" name="Text 17"/>
          <p:cNvSpPr/>
          <p:nvPr/>
        </p:nvSpPr>
        <p:spPr>
          <a:xfrm>
            <a:off x="5199278" y="1837944"/>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D18A38"/>
                </a:solidFill>
                <a:latin typeface="PingFang SC" pitchFamily="34" charset="0"/>
                <a:ea typeface="PingFang SC" pitchFamily="34" charset="-122"/>
                <a:cs typeface="PingFang SC" pitchFamily="34" charset="-120"/>
              </a:rPr>
              <a:t>03</a:t>
            </a:r>
            <a:endParaRPr lang="en-US" sz="1000" dirty="0"/>
          </a:p>
        </p:txBody>
      </p:sp>
      <p:sp>
        <p:nvSpPr>
          <p:cNvPr id="20" name="Text 18"/>
          <p:cNvSpPr/>
          <p:nvPr/>
        </p:nvSpPr>
        <p:spPr>
          <a:xfrm>
            <a:off x="5171846" y="2231136"/>
            <a:ext cx="1836115"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选择一个</a:t>
            </a:r>
            <a:endParaRPr lang="en-US" sz="1320" dirty="0"/>
          </a:p>
        </p:txBody>
      </p:sp>
      <p:sp>
        <p:nvSpPr>
          <p:cNvPr id="21" name="Text 19"/>
          <p:cNvSpPr/>
          <p:nvPr/>
        </p:nvSpPr>
        <p:spPr>
          <a:xfrm>
            <a:off x="5190134" y="2697480"/>
            <a:ext cx="1799539"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按生成策略选择</a:t>
            </a:r>
            <a:endParaRPr lang="en-US" sz="970" dirty="0"/>
          </a:p>
        </p:txBody>
      </p:sp>
      <p:sp>
        <p:nvSpPr>
          <p:cNvPr id="22" name="Shape 20"/>
          <p:cNvSpPr/>
          <p:nvPr/>
        </p:nvSpPr>
        <p:spPr>
          <a:xfrm>
            <a:off x="7346290" y="1664208"/>
            <a:ext cx="2110435" cy="1554480"/>
          </a:xfrm>
          <a:prstGeom prst="roundRect">
            <a:avLst>
              <a:gd name="adj" fmla="val 2941"/>
            </a:avLst>
          </a:prstGeom>
          <a:solidFill>
            <a:srgbClr val="FBF9F4"/>
          </a:solidFill>
          <a:ln w="12700">
            <a:solidFill>
              <a:srgbClr val="D8D0C2"/>
            </a:solidFill>
            <a:prstDash val="solid"/>
          </a:ln>
        </p:spPr>
      </p:sp>
      <p:sp>
        <p:nvSpPr>
          <p:cNvPr id="23" name="Text 21"/>
          <p:cNvSpPr/>
          <p:nvPr/>
        </p:nvSpPr>
        <p:spPr>
          <a:xfrm>
            <a:off x="7510882" y="1837944"/>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74546A"/>
                </a:solidFill>
                <a:latin typeface="PingFang SC" pitchFamily="34" charset="0"/>
                <a:ea typeface="PingFang SC" pitchFamily="34" charset="-122"/>
                <a:cs typeface="PingFang SC" pitchFamily="34" charset="-120"/>
              </a:rPr>
              <a:t>04</a:t>
            </a:r>
            <a:endParaRPr lang="en-US" sz="1000" dirty="0"/>
          </a:p>
        </p:txBody>
      </p:sp>
      <p:sp>
        <p:nvSpPr>
          <p:cNvPr id="24" name="Text 22"/>
          <p:cNvSpPr/>
          <p:nvPr/>
        </p:nvSpPr>
        <p:spPr>
          <a:xfrm>
            <a:off x="7483450" y="2231136"/>
            <a:ext cx="1836115"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加入上下文</a:t>
            </a:r>
            <a:endParaRPr lang="en-US" sz="1320" dirty="0"/>
          </a:p>
        </p:txBody>
      </p:sp>
      <p:sp>
        <p:nvSpPr>
          <p:cNvPr id="25" name="Text 23"/>
          <p:cNvSpPr/>
          <p:nvPr/>
        </p:nvSpPr>
        <p:spPr>
          <a:xfrm>
            <a:off x="7501738" y="2697480"/>
            <a:ext cx="1799539"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形成新的前文</a:t>
            </a:r>
            <a:endParaRPr lang="en-US" sz="970" dirty="0"/>
          </a:p>
        </p:txBody>
      </p:sp>
      <p:sp>
        <p:nvSpPr>
          <p:cNvPr id="26" name="Shape 24"/>
          <p:cNvSpPr/>
          <p:nvPr/>
        </p:nvSpPr>
        <p:spPr>
          <a:xfrm>
            <a:off x="9657893" y="1664208"/>
            <a:ext cx="2110435" cy="1554480"/>
          </a:xfrm>
          <a:prstGeom prst="roundRect">
            <a:avLst>
              <a:gd name="adj" fmla="val 2941"/>
            </a:avLst>
          </a:prstGeom>
          <a:solidFill>
            <a:srgbClr val="FBF9F4"/>
          </a:solidFill>
          <a:ln w="12700">
            <a:solidFill>
              <a:srgbClr val="D8D0C2"/>
            </a:solidFill>
            <a:prstDash val="solid"/>
          </a:ln>
        </p:spPr>
      </p:sp>
      <p:sp>
        <p:nvSpPr>
          <p:cNvPr id="27" name="Text 25"/>
          <p:cNvSpPr/>
          <p:nvPr/>
        </p:nvSpPr>
        <p:spPr>
          <a:xfrm>
            <a:off x="9822485" y="1837944"/>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527553"/>
                </a:solidFill>
                <a:latin typeface="PingFang SC" pitchFamily="34" charset="0"/>
                <a:ea typeface="PingFang SC" pitchFamily="34" charset="-122"/>
                <a:cs typeface="PingFang SC" pitchFamily="34" charset="-120"/>
              </a:rPr>
              <a:t>05</a:t>
            </a:r>
            <a:endParaRPr lang="en-US" sz="1000" dirty="0"/>
          </a:p>
        </p:txBody>
      </p:sp>
      <p:sp>
        <p:nvSpPr>
          <p:cNvPr id="28" name="Text 26"/>
          <p:cNvSpPr/>
          <p:nvPr/>
        </p:nvSpPr>
        <p:spPr>
          <a:xfrm>
            <a:off x="9795053" y="2231136"/>
            <a:ext cx="1836115"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继续生成</a:t>
            </a:r>
            <a:endParaRPr lang="en-US" sz="1320" dirty="0"/>
          </a:p>
        </p:txBody>
      </p:sp>
      <p:sp>
        <p:nvSpPr>
          <p:cNvPr id="29" name="Text 27"/>
          <p:cNvSpPr/>
          <p:nvPr/>
        </p:nvSpPr>
        <p:spPr>
          <a:xfrm>
            <a:off x="9813341" y="2697480"/>
            <a:ext cx="1799539"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直到结束</a:t>
            </a:r>
            <a:endParaRPr lang="en-US" sz="970" dirty="0"/>
          </a:p>
        </p:txBody>
      </p:sp>
      <p:sp>
        <p:nvSpPr>
          <p:cNvPr id="30" name="Shape 28"/>
          <p:cNvSpPr/>
          <p:nvPr/>
        </p:nvSpPr>
        <p:spPr>
          <a:xfrm>
            <a:off x="1005840" y="4050792"/>
            <a:ext cx="73152" cy="749808"/>
          </a:xfrm>
          <a:prstGeom prst="rect">
            <a:avLst/>
          </a:prstGeom>
          <a:solidFill>
            <a:srgbClr val="C35331"/>
          </a:solidFill>
          <a:ln w="12700">
            <a:solidFill>
              <a:srgbClr val="C35331"/>
            </a:solidFill>
            <a:prstDash val="solid"/>
          </a:ln>
        </p:spPr>
      </p:sp>
      <p:sp>
        <p:nvSpPr>
          <p:cNvPr id="31" name="Text 29"/>
          <p:cNvSpPr/>
          <p:nvPr/>
        </p:nvSpPr>
        <p:spPr>
          <a:xfrm>
            <a:off x="1325880" y="4142232"/>
            <a:ext cx="9646920" cy="566928"/>
          </a:xfrm>
          <a:prstGeom prst="rect">
            <a:avLst/>
          </a:prstGeom>
          <a:noFill/>
          <a:ln/>
        </p:spPr>
        <p:txBody>
          <a:bodyPr wrap="square" lIns="0" tIns="0" rIns="0" bIns="0" rtlCol="0" anchor="ctr">
            <a:normAutofit/>
          </a:bodyPr>
          <a:lstStyle/>
          <a:p>
            <a:pPr marL="0" indent="0" algn="ctr">
              <a:buNone/>
            </a:pPr>
            <a:r>
              <a:rPr lang="en-US" sz="1900" b="1" dirty="0">
                <a:solidFill>
                  <a:srgbClr val="20211F"/>
                </a:solidFill>
                <a:latin typeface="PingFang SC" pitchFamily="34" charset="0"/>
                <a:ea typeface="PingFang SC" pitchFamily="34" charset="-122"/>
                <a:cs typeface="PingFang SC" pitchFamily="34" charset="-120"/>
              </a:rPr>
              <a:t>每生成一步，后续判断的上下文也随之变化。</a:t>
            </a:r>
            <a:endParaRPr lang="en-US" sz="1900" dirty="0"/>
          </a:p>
        </p:txBody>
      </p:sp>
      <p:sp>
        <p:nvSpPr>
          <p:cNvPr id="32" name="Text 30"/>
          <p:cNvSpPr/>
          <p:nvPr/>
        </p:nvSpPr>
        <p:spPr>
          <a:xfrm>
            <a:off x="914400" y="5257800"/>
            <a:ext cx="10241280" cy="292608"/>
          </a:xfrm>
          <a:prstGeom prst="rect">
            <a:avLst/>
          </a:prstGeom>
          <a:noFill/>
          <a:ln/>
        </p:spPr>
        <p:txBody>
          <a:bodyPr wrap="square" lIns="0" tIns="0" rIns="0" bIns="0" rtlCol="0" anchor="t">
            <a:normAutofit/>
          </a:bodyPr>
          <a:lstStyle/>
          <a:p>
            <a:pPr marL="0" indent="0" algn="ctr">
              <a:buNone/>
            </a:pPr>
            <a:r>
              <a:rPr lang="en-US" sz="1100" dirty="0">
                <a:solidFill>
                  <a:srgbClr val="77766F"/>
                </a:solidFill>
                <a:latin typeface="PingFang SC" pitchFamily="34" charset="0"/>
                <a:ea typeface="PingFang SC" pitchFamily="34" charset="-122"/>
                <a:cs typeface="PingFang SC" pitchFamily="34" charset="-120"/>
              </a:rPr>
              <a:t>候选短语仅为可读化教学示意，可能包含一个或多个Token。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09</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大模型怎样生成答案</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只增加一句背景，后续为什么会变化？</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02 大模型怎样生成答案</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09</a:t>
            </a:r>
            <a:endParaRPr lang="en-US" sz="850" dirty="0"/>
          </a:p>
        </p:txBody>
      </p:sp>
      <p:sp>
        <p:nvSpPr>
          <p:cNvPr id="10" name="Shape 8"/>
          <p:cNvSpPr/>
          <p:nvPr/>
        </p:nvSpPr>
        <p:spPr>
          <a:xfrm>
            <a:off x="713232" y="1600200"/>
            <a:ext cx="5285232" cy="3566160"/>
          </a:xfrm>
          <a:prstGeom prst="roundRect">
            <a:avLst>
              <a:gd name="adj" fmla="val 1282"/>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600200"/>
            <a:ext cx="64008" cy="3566160"/>
          </a:xfrm>
          <a:prstGeom prst="rect">
            <a:avLst/>
          </a:prstGeom>
          <a:solidFill>
            <a:srgbClr val="405D78"/>
          </a:solidFill>
          <a:ln w="12700">
            <a:solidFill>
              <a:srgbClr val="405D78"/>
            </a:solidFill>
            <a:prstDash val="solid"/>
          </a:ln>
        </p:spPr>
      </p:sp>
      <p:sp>
        <p:nvSpPr>
          <p:cNvPr id="12" name="Text 10"/>
          <p:cNvSpPr/>
          <p:nvPr/>
        </p:nvSpPr>
        <p:spPr>
          <a:xfrm>
            <a:off x="960120" y="1810512"/>
            <a:ext cx="4809744"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下班后，我准备去公园……</a:t>
            </a:r>
            <a:endParaRPr lang="en-US" sz="1800" dirty="0"/>
          </a:p>
        </p:txBody>
      </p:sp>
      <p:sp>
        <p:nvSpPr>
          <p:cNvPr id="13" name="Text 11"/>
          <p:cNvSpPr/>
          <p:nvPr/>
        </p:nvSpPr>
        <p:spPr>
          <a:xfrm>
            <a:off x="960120" y="2322576"/>
            <a:ext cx="4791456" cy="2633472"/>
          </a:xfrm>
          <a:prstGeom prst="rect">
            <a:avLst/>
          </a:prstGeom>
          <a:noFill/>
          <a:ln/>
        </p:spPr>
        <p:txBody>
          <a:bodyPr wrap="square" lIns="0" tIns="0" rIns="0" bIns="0" rtlCol="0" anchor="t">
            <a:normAutofit/>
          </a:bodyPr>
          <a:lstStyle/>
          <a:p>
            <a:pPr marL="0" indent="0" algn="l">
              <a:buNone/>
            </a:pPr>
            <a:r>
              <a:rPr lang="en-US" sz="1300" dirty="0">
                <a:solidFill>
                  <a:srgbClr val="77766F"/>
                </a:solidFill>
                <a:latin typeface="PingFang SC" pitchFamily="34" charset="0"/>
                <a:ea typeface="PingFang SC" pitchFamily="34" charset="-122"/>
                <a:cs typeface="PingFang SC" pitchFamily="34" charset="-120"/>
              </a:rPr>
              <a:t>可能续写</a:t>
            </a:r>
            <a:endParaRPr lang="en-US" sz="1300" dirty="0"/>
          </a:p>
          <a:p>
            <a:pPr marL="0" indent="0" algn="l">
              <a:buNone/>
            </a:pPr>
            <a:endParaRPr lang="en-US" sz="1300" dirty="0"/>
          </a:p>
          <a:p>
            <a:pPr marL="0" indent="0" algn="l">
              <a:buNone/>
            </a:pPr>
            <a:r>
              <a:rPr lang="en-US" sz="1300" dirty="0">
                <a:solidFill>
                  <a:srgbClr val="77766F"/>
                </a:solidFill>
                <a:latin typeface="PingFang SC" pitchFamily="34" charset="0"/>
                <a:ea typeface="PingFang SC" pitchFamily="34" charset="-122"/>
                <a:cs typeface="PingFang SC" pitchFamily="34" charset="-120"/>
              </a:rPr>
              <a:t>散步｜跑步｜看花｜见朋友</a:t>
            </a:r>
            <a:endParaRPr lang="en-US" sz="1300" dirty="0"/>
          </a:p>
        </p:txBody>
      </p:sp>
      <p:sp>
        <p:nvSpPr>
          <p:cNvPr id="14" name="Shape 12"/>
          <p:cNvSpPr/>
          <p:nvPr/>
        </p:nvSpPr>
        <p:spPr>
          <a:xfrm>
            <a:off x="6199632" y="1600200"/>
            <a:ext cx="5285232" cy="3566160"/>
          </a:xfrm>
          <a:prstGeom prst="roundRect">
            <a:avLst>
              <a:gd name="adj" fmla="val 1282"/>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6199632" y="1600200"/>
            <a:ext cx="64008" cy="3566160"/>
          </a:xfrm>
          <a:prstGeom prst="rect">
            <a:avLst/>
          </a:prstGeom>
          <a:solidFill>
            <a:srgbClr val="387B77"/>
          </a:solidFill>
          <a:ln w="12700">
            <a:solidFill>
              <a:srgbClr val="387B77"/>
            </a:solidFill>
            <a:prstDash val="solid"/>
          </a:ln>
        </p:spPr>
      </p:sp>
      <p:sp>
        <p:nvSpPr>
          <p:cNvPr id="16" name="Text 14"/>
          <p:cNvSpPr/>
          <p:nvPr/>
        </p:nvSpPr>
        <p:spPr>
          <a:xfrm>
            <a:off x="6446520" y="1810512"/>
            <a:ext cx="4809744" cy="347472"/>
          </a:xfrm>
          <a:prstGeom prst="rect">
            <a:avLst/>
          </a:prstGeom>
          <a:noFill/>
          <a:ln/>
        </p:spPr>
        <p:txBody>
          <a:bodyPr wrap="square" lIns="0" tIns="0" rIns="0" bIns="0" rtlCol="0" anchor="t">
            <a:normAutofit/>
          </a:bodyPr>
          <a:lstStyle/>
          <a:p>
            <a:pPr marL="0" indent="0" algn="l">
              <a:buNone/>
            </a:pPr>
            <a:r>
              <a:rPr lang="en-US" sz="1800" b="1" dirty="0" err="1">
                <a:solidFill>
                  <a:srgbClr val="20211F"/>
                </a:solidFill>
                <a:latin typeface="PingFang SC" pitchFamily="34" charset="0"/>
                <a:ea typeface="PingFang SC" pitchFamily="34" charset="-122"/>
                <a:cs typeface="PingFang SC" pitchFamily="34" charset="-120"/>
              </a:rPr>
              <a:t>为了备战周末马拉松</a:t>
            </a:r>
            <a:r>
              <a:rPr lang="zh-CN" altLang="en-US" sz="1800" b="1" dirty="0">
                <a:solidFill>
                  <a:srgbClr val="20211F"/>
                </a:solidFill>
                <a:latin typeface="PingFang SC" pitchFamily="34" charset="0"/>
                <a:ea typeface="PingFang SC" pitchFamily="34" charset="-122"/>
                <a:cs typeface="PingFang SC" pitchFamily="34" charset="-120"/>
              </a:rPr>
              <a:t>，我准备去公园</a:t>
            </a:r>
            <a:r>
              <a:rPr lang="en-US" sz="1800" b="1" dirty="0">
                <a:solidFill>
                  <a:srgbClr val="20211F"/>
                </a:solidFill>
                <a:latin typeface="PingFang SC" pitchFamily="34" charset="0"/>
                <a:ea typeface="PingFang SC" pitchFamily="34" charset="-122"/>
                <a:cs typeface="PingFang SC" pitchFamily="34" charset="-120"/>
              </a:rPr>
              <a:t>……</a:t>
            </a:r>
            <a:endParaRPr lang="en-US" sz="1800" dirty="0"/>
          </a:p>
        </p:txBody>
      </p:sp>
      <p:sp>
        <p:nvSpPr>
          <p:cNvPr id="17" name="Text 15"/>
          <p:cNvSpPr/>
          <p:nvPr/>
        </p:nvSpPr>
        <p:spPr>
          <a:xfrm>
            <a:off x="6446520" y="2322576"/>
            <a:ext cx="4791456" cy="2633472"/>
          </a:xfrm>
          <a:prstGeom prst="rect">
            <a:avLst/>
          </a:prstGeom>
          <a:noFill/>
          <a:ln/>
        </p:spPr>
        <p:txBody>
          <a:bodyPr wrap="square" lIns="0" tIns="0" rIns="0" bIns="0" rtlCol="0" anchor="t">
            <a:normAutofit/>
          </a:bodyPr>
          <a:lstStyle/>
          <a:p>
            <a:pPr marL="0" indent="0" algn="l">
              <a:buNone/>
            </a:pPr>
            <a:r>
              <a:rPr lang="en-US" sz="1300" dirty="0">
                <a:solidFill>
                  <a:srgbClr val="77766F"/>
                </a:solidFill>
                <a:latin typeface="PingFang SC" pitchFamily="34" charset="0"/>
                <a:ea typeface="PingFang SC" pitchFamily="34" charset="-122"/>
                <a:cs typeface="PingFang SC" pitchFamily="34" charset="-120"/>
              </a:rPr>
              <a:t>可能续写</a:t>
            </a:r>
            <a:endParaRPr lang="en-US" sz="1300" dirty="0"/>
          </a:p>
          <a:p>
            <a:pPr marL="0" indent="0" algn="l">
              <a:buNone/>
            </a:pPr>
            <a:endParaRPr lang="en-US" sz="1300" dirty="0"/>
          </a:p>
          <a:p>
            <a:pPr marL="0" indent="0" algn="l">
              <a:buNone/>
            </a:pPr>
            <a:r>
              <a:rPr lang="en-US" sz="1300" dirty="0">
                <a:solidFill>
                  <a:srgbClr val="77766F"/>
                </a:solidFill>
                <a:latin typeface="PingFang SC" pitchFamily="34" charset="0"/>
                <a:ea typeface="PingFang SC" pitchFamily="34" charset="-122"/>
                <a:cs typeface="PingFang SC" pitchFamily="34" charset="-120"/>
              </a:rPr>
              <a:t>跑步｜训练｜完成五公里</a:t>
            </a:r>
            <a:endParaRPr lang="en-US" sz="1300" dirty="0"/>
          </a:p>
        </p:txBody>
      </p:sp>
      <p:sp>
        <p:nvSpPr>
          <p:cNvPr id="18" name="Text 16"/>
          <p:cNvSpPr/>
          <p:nvPr/>
        </p:nvSpPr>
        <p:spPr>
          <a:xfrm>
            <a:off x="914400" y="5413248"/>
            <a:ext cx="10241280" cy="411480"/>
          </a:xfrm>
          <a:prstGeom prst="rect">
            <a:avLst/>
          </a:prstGeom>
          <a:noFill/>
          <a:ln/>
        </p:spPr>
        <p:txBody>
          <a:bodyPr wrap="square" lIns="0" tIns="0" rIns="0" bIns="0" rtlCol="0" anchor="t">
            <a:normAutofit/>
          </a:bodyPr>
          <a:lstStyle/>
          <a:p>
            <a:pPr marL="0" indent="0" algn="ctr">
              <a:buNone/>
            </a:pPr>
            <a:r>
              <a:rPr lang="en-US" sz="1600" b="1" dirty="0">
                <a:solidFill>
                  <a:srgbClr val="C35331"/>
                </a:solidFill>
                <a:latin typeface="PingFang SC" pitchFamily="34" charset="0"/>
                <a:ea typeface="PingFang SC" pitchFamily="34" charset="-122"/>
                <a:cs typeface="PingFang SC" pitchFamily="34" charset="-120"/>
              </a:rPr>
              <a:t>上下文会改变后续候选的可能性；错误或冲突背景也可能误导结果。</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10</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大模型怎样生成答案</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一个位置，通常不只有一个合理后续</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02 大模型怎样生成答案</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10</a:t>
            </a:r>
            <a:endParaRPr lang="en-US" sz="850" dirty="0"/>
          </a:p>
        </p:txBody>
      </p:sp>
      <p:sp>
        <p:nvSpPr>
          <p:cNvPr id="10" name="Shape 8"/>
          <p:cNvSpPr/>
          <p:nvPr/>
        </p:nvSpPr>
        <p:spPr>
          <a:xfrm>
            <a:off x="713232" y="1600200"/>
            <a:ext cx="3657600" cy="4160520"/>
          </a:xfrm>
          <a:prstGeom prst="roundRect">
            <a:avLst>
              <a:gd name="adj" fmla="val 1250"/>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600200"/>
            <a:ext cx="64008" cy="4160520"/>
          </a:xfrm>
          <a:prstGeom prst="rect">
            <a:avLst/>
          </a:prstGeom>
          <a:solidFill>
            <a:srgbClr val="405D78"/>
          </a:solidFill>
          <a:ln w="12700">
            <a:solidFill>
              <a:srgbClr val="405D78"/>
            </a:solidFill>
            <a:prstDash val="solid"/>
          </a:ln>
        </p:spPr>
      </p:sp>
      <p:sp>
        <p:nvSpPr>
          <p:cNvPr id="12" name="Text 10"/>
          <p:cNvSpPr/>
          <p:nvPr/>
        </p:nvSpPr>
        <p:spPr>
          <a:xfrm>
            <a:off x="960120" y="1810512"/>
            <a:ext cx="3182112" cy="347472"/>
          </a:xfrm>
          <a:prstGeom prst="rect">
            <a:avLst/>
          </a:prstGeom>
          <a:noFill/>
          <a:ln/>
        </p:spPr>
        <p:txBody>
          <a:bodyPr wrap="square" lIns="0" tIns="0" rIns="0" bIns="0" rtlCol="0" anchor="t">
            <a:normAutofit/>
          </a:bodyPr>
          <a:lstStyle/>
          <a:p>
            <a:pPr marL="0" indent="0" algn="l">
              <a:buNone/>
            </a:pPr>
            <a:r>
              <a:rPr lang="en-US" sz="1700" b="1" dirty="0">
                <a:solidFill>
                  <a:srgbClr val="20211F"/>
                </a:solidFill>
                <a:latin typeface="PingFang SC" pitchFamily="34" charset="0"/>
                <a:ea typeface="PingFang SC" pitchFamily="34" charset="-122"/>
                <a:cs typeface="PingFang SC" pitchFamily="34" charset="-120"/>
              </a:rPr>
              <a:t>当前上下文</a:t>
            </a:r>
            <a:endParaRPr lang="en-US" sz="1700" dirty="0"/>
          </a:p>
        </p:txBody>
      </p:sp>
      <p:sp>
        <p:nvSpPr>
          <p:cNvPr id="13" name="Text 11"/>
          <p:cNvSpPr/>
          <p:nvPr/>
        </p:nvSpPr>
        <p:spPr>
          <a:xfrm>
            <a:off x="960120" y="2322576"/>
            <a:ext cx="3163824" cy="3227832"/>
          </a:xfrm>
          <a:prstGeom prst="rect">
            <a:avLst/>
          </a:prstGeom>
          <a:noFill/>
          <a:ln/>
        </p:spPr>
        <p:txBody>
          <a:bodyPr wrap="square" lIns="0" tIns="0" rIns="0" bIns="0" rtlCol="0" anchor="ctr">
            <a:normAutofit/>
          </a:bodyPr>
          <a:lstStyle/>
          <a:p>
            <a:pPr marL="0" indent="0" algn="ctr">
              <a:buNone/>
            </a:pPr>
            <a:r>
              <a:rPr lang="en-US" sz="2400" dirty="0">
                <a:solidFill>
                  <a:srgbClr val="77766F"/>
                </a:solidFill>
                <a:latin typeface="PingFang SC" pitchFamily="34" charset="0"/>
                <a:ea typeface="PingFang SC" pitchFamily="34" charset="-122"/>
                <a:cs typeface="PingFang SC" pitchFamily="34" charset="-120"/>
              </a:rPr>
              <a:t>“下班后，</a:t>
            </a:r>
            <a:endParaRPr lang="en-US" sz="2400" dirty="0"/>
          </a:p>
          <a:p>
            <a:pPr marL="0" indent="0" algn="ctr">
              <a:buNone/>
            </a:pPr>
            <a:r>
              <a:rPr lang="en-US" sz="2400" dirty="0">
                <a:solidFill>
                  <a:srgbClr val="77766F"/>
                </a:solidFill>
                <a:latin typeface="PingFang SC" pitchFamily="34" charset="0"/>
                <a:ea typeface="PingFang SC" pitchFamily="34" charset="-122"/>
                <a:cs typeface="PingFang SC" pitchFamily="34" charset="-120"/>
              </a:rPr>
              <a:t>我准备去公园……”</a:t>
            </a:r>
            <a:endParaRPr lang="en-US" sz="2400" dirty="0"/>
          </a:p>
        </p:txBody>
      </p:sp>
      <p:sp>
        <p:nvSpPr>
          <p:cNvPr id="14" name="Text 12"/>
          <p:cNvSpPr/>
          <p:nvPr/>
        </p:nvSpPr>
        <p:spPr>
          <a:xfrm>
            <a:off x="4773168" y="1719072"/>
            <a:ext cx="1097280" cy="228600"/>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散步</a:t>
            </a:r>
            <a:endParaRPr lang="en-US" sz="1150" dirty="0"/>
          </a:p>
        </p:txBody>
      </p:sp>
      <p:sp>
        <p:nvSpPr>
          <p:cNvPr id="15" name="Shape 13"/>
          <p:cNvSpPr/>
          <p:nvPr/>
        </p:nvSpPr>
        <p:spPr>
          <a:xfrm>
            <a:off x="5870448" y="1664208"/>
            <a:ext cx="4937760" cy="329184"/>
          </a:xfrm>
          <a:prstGeom prst="roundRect">
            <a:avLst>
              <a:gd name="adj" fmla="val 13889"/>
            </a:avLst>
          </a:prstGeom>
          <a:solidFill>
            <a:srgbClr val="ECE7DE"/>
          </a:solidFill>
          <a:ln w="12700">
            <a:solidFill>
              <a:srgbClr val="ECE7DE"/>
            </a:solidFill>
            <a:prstDash val="solid"/>
          </a:ln>
        </p:spPr>
      </p:sp>
      <p:sp>
        <p:nvSpPr>
          <p:cNvPr id="16" name="Shape 14"/>
          <p:cNvSpPr/>
          <p:nvPr/>
        </p:nvSpPr>
        <p:spPr>
          <a:xfrm>
            <a:off x="5870448" y="1664208"/>
            <a:ext cx="4937760" cy="329184"/>
          </a:xfrm>
          <a:prstGeom prst="roundRect">
            <a:avLst>
              <a:gd name="adj" fmla="val 13889"/>
            </a:avLst>
          </a:prstGeom>
          <a:solidFill>
            <a:srgbClr val="387B77"/>
          </a:solidFill>
          <a:ln w="12700">
            <a:solidFill>
              <a:srgbClr val="387B77"/>
            </a:solidFill>
            <a:prstDash val="solid"/>
          </a:ln>
        </p:spPr>
      </p:sp>
      <p:sp>
        <p:nvSpPr>
          <p:cNvPr id="17" name="Text 15"/>
          <p:cNvSpPr/>
          <p:nvPr/>
        </p:nvSpPr>
        <p:spPr>
          <a:xfrm>
            <a:off x="10927080" y="1714500"/>
            <a:ext cx="438912" cy="210312"/>
          </a:xfrm>
          <a:prstGeom prst="rect">
            <a:avLst/>
          </a:prstGeom>
          <a:noFill/>
          <a:ln/>
        </p:spPr>
        <p:txBody>
          <a:bodyPr wrap="square" lIns="0" tIns="0" rIns="0" bIns="0" rtlCol="0" anchor="t">
            <a:normAutofit/>
          </a:bodyPr>
          <a:lstStyle/>
          <a:p>
            <a:pPr marL="0" indent="0" algn="r">
              <a:buNone/>
            </a:pPr>
            <a:r>
              <a:rPr lang="en-US" sz="1000" b="1" dirty="0">
                <a:solidFill>
                  <a:srgbClr val="387B77"/>
                </a:solidFill>
                <a:latin typeface="PingFang SC" pitchFamily="34" charset="0"/>
                <a:ea typeface="PingFang SC" pitchFamily="34" charset="-122"/>
                <a:cs typeface="PingFang SC" pitchFamily="34" charset="-120"/>
              </a:rPr>
              <a:t>34%</a:t>
            </a:r>
            <a:endParaRPr lang="en-US" sz="1000" dirty="0"/>
          </a:p>
        </p:txBody>
      </p:sp>
      <p:sp>
        <p:nvSpPr>
          <p:cNvPr id="18" name="Text 16"/>
          <p:cNvSpPr/>
          <p:nvPr/>
        </p:nvSpPr>
        <p:spPr>
          <a:xfrm>
            <a:off x="4773168" y="2423160"/>
            <a:ext cx="1097280" cy="228600"/>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跑步</a:t>
            </a:r>
            <a:endParaRPr lang="en-US" sz="1150" dirty="0"/>
          </a:p>
        </p:txBody>
      </p:sp>
      <p:sp>
        <p:nvSpPr>
          <p:cNvPr id="19" name="Shape 17"/>
          <p:cNvSpPr/>
          <p:nvPr/>
        </p:nvSpPr>
        <p:spPr>
          <a:xfrm>
            <a:off x="5870448" y="2368296"/>
            <a:ext cx="4937760" cy="329184"/>
          </a:xfrm>
          <a:prstGeom prst="roundRect">
            <a:avLst>
              <a:gd name="adj" fmla="val 13889"/>
            </a:avLst>
          </a:prstGeom>
          <a:solidFill>
            <a:srgbClr val="ECE7DE"/>
          </a:solidFill>
          <a:ln w="12700">
            <a:solidFill>
              <a:srgbClr val="ECE7DE"/>
            </a:solidFill>
            <a:prstDash val="solid"/>
          </a:ln>
        </p:spPr>
      </p:sp>
      <p:sp>
        <p:nvSpPr>
          <p:cNvPr id="20" name="Shape 18"/>
          <p:cNvSpPr/>
          <p:nvPr/>
        </p:nvSpPr>
        <p:spPr>
          <a:xfrm>
            <a:off x="5870448" y="2368296"/>
            <a:ext cx="4211619" cy="329184"/>
          </a:xfrm>
          <a:prstGeom prst="roundRect">
            <a:avLst>
              <a:gd name="adj" fmla="val 13889"/>
            </a:avLst>
          </a:prstGeom>
          <a:solidFill>
            <a:srgbClr val="405D78"/>
          </a:solidFill>
          <a:ln w="12700">
            <a:solidFill>
              <a:srgbClr val="405D78"/>
            </a:solidFill>
            <a:prstDash val="solid"/>
          </a:ln>
        </p:spPr>
      </p:sp>
      <p:sp>
        <p:nvSpPr>
          <p:cNvPr id="21" name="Text 19"/>
          <p:cNvSpPr/>
          <p:nvPr/>
        </p:nvSpPr>
        <p:spPr>
          <a:xfrm>
            <a:off x="10927080" y="2418588"/>
            <a:ext cx="438912" cy="210312"/>
          </a:xfrm>
          <a:prstGeom prst="rect">
            <a:avLst/>
          </a:prstGeom>
          <a:noFill/>
          <a:ln/>
        </p:spPr>
        <p:txBody>
          <a:bodyPr wrap="square" lIns="0" tIns="0" rIns="0" bIns="0" rtlCol="0" anchor="t">
            <a:normAutofit/>
          </a:bodyPr>
          <a:lstStyle/>
          <a:p>
            <a:pPr marL="0" indent="0" algn="r">
              <a:buNone/>
            </a:pPr>
            <a:r>
              <a:rPr lang="en-US" sz="1000" b="1" dirty="0">
                <a:solidFill>
                  <a:srgbClr val="405D78"/>
                </a:solidFill>
                <a:latin typeface="PingFang SC" pitchFamily="34" charset="0"/>
                <a:ea typeface="PingFang SC" pitchFamily="34" charset="-122"/>
                <a:cs typeface="PingFang SC" pitchFamily="34" charset="-120"/>
              </a:rPr>
              <a:t>29%</a:t>
            </a:r>
            <a:endParaRPr lang="en-US" sz="1000" dirty="0"/>
          </a:p>
        </p:txBody>
      </p:sp>
      <p:sp>
        <p:nvSpPr>
          <p:cNvPr id="22" name="Text 20"/>
          <p:cNvSpPr/>
          <p:nvPr/>
        </p:nvSpPr>
        <p:spPr>
          <a:xfrm>
            <a:off x="4773168" y="3127248"/>
            <a:ext cx="1097280" cy="228600"/>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见朋友</a:t>
            </a:r>
            <a:endParaRPr lang="en-US" sz="1150" dirty="0"/>
          </a:p>
        </p:txBody>
      </p:sp>
      <p:sp>
        <p:nvSpPr>
          <p:cNvPr id="23" name="Shape 21"/>
          <p:cNvSpPr/>
          <p:nvPr/>
        </p:nvSpPr>
        <p:spPr>
          <a:xfrm>
            <a:off x="5870448" y="3072384"/>
            <a:ext cx="4937760" cy="329184"/>
          </a:xfrm>
          <a:prstGeom prst="roundRect">
            <a:avLst>
              <a:gd name="adj" fmla="val 13889"/>
            </a:avLst>
          </a:prstGeom>
          <a:solidFill>
            <a:srgbClr val="ECE7DE"/>
          </a:solidFill>
          <a:ln w="12700">
            <a:solidFill>
              <a:srgbClr val="ECE7DE"/>
            </a:solidFill>
            <a:prstDash val="solid"/>
          </a:ln>
        </p:spPr>
      </p:sp>
      <p:sp>
        <p:nvSpPr>
          <p:cNvPr id="24" name="Shape 22"/>
          <p:cNvSpPr/>
          <p:nvPr/>
        </p:nvSpPr>
        <p:spPr>
          <a:xfrm>
            <a:off x="5870448" y="3072384"/>
            <a:ext cx="2614108" cy="329184"/>
          </a:xfrm>
          <a:prstGeom prst="roundRect">
            <a:avLst>
              <a:gd name="adj" fmla="val 13889"/>
            </a:avLst>
          </a:prstGeom>
          <a:solidFill>
            <a:srgbClr val="74546A"/>
          </a:solidFill>
          <a:ln w="12700">
            <a:solidFill>
              <a:srgbClr val="74546A"/>
            </a:solidFill>
            <a:prstDash val="solid"/>
          </a:ln>
        </p:spPr>
      </p:sp>
      <p:sp>
        <p:nvSpPr>
          <p:cNvPr id="25" name="Text 23"/>
          <p:cNvSpPr/>
          <p:nvPr/>
        </p:nvSpPr>
        <p:spPr>
          <a:xfrm>
            <a:off x="10927080" y="3122676"/>
            <a:ext cx="438912" cy="210312"/>
          </a:xfrm>
          <a:prstGeom prst="rect">
            <a:avLst/>
          </a:prstGeom>
          <a:noFill/>
          <a:ln/>
        </p:spPr>
        <p:txBody>
          <a:bodyPr wrap="square" lIns="0" tIns="0" rIns="0" bIns="0" rtlCol="0" anchor="t">
            <a:normAutofit/>
          </a:bodyPr>
          <a:lstStyle/>
          <a:p>
            <a:pPr marL="0" indent="0" algn="r">
              <a:buNone/>
            </a:pPr>
            <a:r>
              <a:rPr lang="en-US" sz="1000" b="1" dirty="0">
                <a:solidFill>
                  <a:srgbClr val="74546A"/>
                </a:solidFill>
                <a:latin typeface="PingFang SC" pitchFamily="34" charset="0"/>
                <a:ea typeface="PingFang SC" pitchFamily="34" charset="-122"/>
                <a:cs typeface="PingFang SC" pitchFamily="34" charset="-120"/>
              </a:rPr>
              <a:t>18%</a:t>
            </a:r>
            <a:endParaRPr lang="en-US" sz="1000" dirty="0"/>
          </a:p>
        </p:txBody>
      </p:sp>
      <p:sp>
        <p:nvSpPr>
          <p:cNvPr id="26" name="Text 24"/>
          <p:cNvSpPr/>
          <p:nvPr/>
        </p:nvSpPr>
        <p:spPr>
          <a:xfrm>
            <a:off x="4773168" y="3831336"/>
            <a:ext cx="1097280" cy="228600"/>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拍照片</a:t>
            </a:r>
            <a:endParaRPr lang="en-US" sz="1150" dirty="0"/>
          </a:p>
        </p:txBody>
      </p:sp>
      <p:sp>
        <p:nvSpPr>
          <p:cNvPr id="27" name="Shape 25"/>
          <p:cNvSpPr/>
          <p:nvPr/>
        </p:nvSpPr>
        <p:spPr>
          <a:xfrm>
            <a:off x="5870448" y="3776472"/>
            <a:ext cx="4937760" cy="329184"/>
          </a:xfrm>
          <a:prstGeom prst="roundRect">
            <a:avLst>
              <a:gd name="adj" fmla="val 13889"/>
            </a:avLst>
          </a:prstGeom>
          <a:solidFill>
            <a:srgbClr val="ECE7DE"/>
          </a:solidFill>
          <a:ln w="12700">
            <a:solidFill>
              <a:srgbClr val="ECE7DE"/>
            </a:solidFill>
            <a:prstDash val="solid"/>
          </a:ln>
        </p:spPr>
      </p:sp>
      <p:sp>
        <p:nvSpPr>
          <p:cNvPr id="28" name="Shape 26"/>
          <p:cNvSpPr/>
          <p:nvPr/>
        </p:nvSpPr>
        <p:spPr>
          <a:xfrm>
            <a:off x="5870448" y="3776472"/>
            <a:ext cx="1597511" cy="329184"/>
          </a:xfrm>
          <a:prstGeom prst="roundRect">
            <a:avLst>
              <a:gd name="adj" fmla="val 13889"/>
            </a:avLst>
          </a:prstGeom>
          <a:solidFill>
            <a:srgbClr val="D18A38"/>
          </a:solidFill>
          <a:ln w="12700">
            <a:solidFill>
              <a:srgbClr val="D18A38"/>
            </a:solidFill>
            <a:prstDash val="solid"/>
          </a:ln>
        </p:spPr>
      </p:sp>
      <p:sp>
        <p:nvSpPr>
          <p:cNvPr id="29" name="Text 27"/>
          <p:cNvSpPr/>
          <p:nvPr/>
        </p:nvSpPr>
        <p:spPr>
          <a:xfrm>
            <a:off x="10927080" y="3826764"/>
            <a:ext cx="438912" cy="210312"/>
          </a:xfrm>
          <a:prstGeom prst="rect">
            <a:avLst/>
          </a:prstGeom>
          <a:noFill/>
          <a:ln/>
        </p:spPr>
        <p:txBody>
          <a:bodyPr wrap="square" lIns="0" tIns="0" rIns="0" bIns="0" rtlCol="0" anchor="t">
            <a:normAutofit/>
          </a:bodyPr>
          <a:lstStyle/>
          <a:p>
            <a:pPr marL="0" indent="0" algn="r">
              <a:buNone/>
            </a:pPr>
            <a:r>
              <a:rPr lang="en-US" sz="1000" b="1" dirty="0">
                <a:solidFill>
                  <a:srgbClr val="D18A38"/>
                </a:solidFill>
                <a:latin typeface="PingFang SC" pitchFamily="34" charset="0"/>
                <a:ea typeface="PingFang SC" pitchFamily="34" charset="-122"/>
                <a:cs typeface="PingFang SC" pitchFamily="34" charset="-120"/>
              </a:rPr>
              <a:t>11%</a:t>
            </a:r>
            <a:endParaRPr lang="en-US" sz="1000" dirty="0"/>
          </a:p>
        </p:txBody>
      </p:sp>
      <p:sp>
        <p:nvSpPr>
          <p:cNvPr id="30" name="Text 28"/>
          <p:cNvSpPr/>
          <p:nvPr/>
        </p:nvSpPr>
        <p:spPr>
          <a:xfrm>
            <a:off x="4773168" y="4535424"/>
            <a:ext cx="1097280" cy="228600"/>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其他</a:t>
            </a:r>
            <a:endParaRPr lang="en-US" sz="1150" dirty="0"/>
          </a:p>
        </p:txBody>
      </p:sp>
      <p:sp>
        <p:nvSpPr>
          <p:cNvPr id="31" name="Shape 29"/>
          <p:cNvSpPr/>
          <p:nvPr/>
        </p:nvSpPr>
        <p:spPr>
          <a:xfrm>
            <a:off x="5870448" y="4480560"/>
            <a:ext cx="4937760" cy="329184"/>
          </a:xfrm>
          <a:prstGeom prst="roundRect">
            <a:avLst>
              <a:gd name="adj" fmla="val 13889"/>
            </a:avLst>
          </a:prstGeom>
          <a:solidFill>
            <a:srgbClr val="ECE7DE"/>
          </a:solidFill>
          <a:ln w="12700">
            <a:solidFill>
              <a:srgbClr val="ECE7DE"/>
            </a:solidFill>
            <a:prstDash val="solid"/>
          </a:ln>
        </p:spPr>
      </p:sp>
      <p:sp>
        <p:nvSpPr>
          <p:cNvPr id="32" name="Shape 30"/>
          <p:cNvSpPr/>
          <p:nvPr/>
        </p:nvSpPr>
        <p:spPr>
          <a:xfrm>
            <a:off x="5870448" y="4480560"/>
            <a:ext cx="1161826" cy="329184"/>
          </a:xfrm>
          <a:prstGeom prst="roundRect">
            <a:avLst>
              <a:gd name="adj" fmla="val 13889"/>
            </a:avLst>
          </a:prstGeom>
          <a:solidFill>
            <a:srgbClr val="527553"/>
          </a:solidFill>
          <a:ln w="12700">
            <a:solidFill>
              <a:srgbClr val="527553"/>
            </a:solidFill>
            <a:prstDash val="solid"/>
          </a:ln>
        </p:spPr>
      </p:sp>
      <p:sp>
        <p:nvSpPr>
          <p:cNvPr id="33" name="Text 31"/>
          <p:cNvSpPr/>
          <p:nvPr/>
        </p:nvSpPr>
        <p:spPr>
          <a:xfrm>
            <a:off x="10927080" y="4530852"/>
            <a:ext cx="438912" cy="210312"/>
          </a:xfrm>
          <a:prstGeom prst="rect">
            <a:avLst/>
          </a:prstGeom>
          <a:noFill/>
          <a:ln/>
        </p:spPr>
        <p:txBody>
          <a:bodyPr wrap="square" lIns="0" tIns="0" rIns="0" bIns="0" rtlCol="0" anchor="t">
            <a:normAutofit/>
          </a:bodyPr>
          <a:lstStyle/>
          <a:p>
            <a:pPr marL="0" indent="0" algn="r">
              <a:buNone/>
            </a:pPr>
            <a:r>
              <a:rPr lang="en-US" sz="1000" b="1" dirty="0">
                <a:solidFill>
                  <a:srgbClr val="527553"/>
                </a:solidFill>
                <a:latin typeface="PingFang SC" pitchFamily="34" charset="0"/>
                <a:ea typeface="PingFang SC" pitchFamily="34" charset="-122"/>
                <a:cs typeface="PingFang SC" pitchFamily="34" charset="-120"/>
              </a:rPr>
              <a:t>8%</a:t>
            </a:r>
            <a:endParaRPr lang="en-US" sz="1000" dirty="0"/>
          </a:p>
        </p:txBody>
      </p:sp>
      <p:sp>
        <p:nvSpPr>
          <p:cNvPr id="34" name="Text 32"/>
          <p:cNvSpPr/>
          <p:nvPr/>
        </p:nvSpPr>
        <p:spPr>
          <a:xfrm>
            <a:off x="4754880" y="5349240"/>
            <a:ext cx="6583680" cy="320040"/>
          </a:xfrm>
          <a:prstGeom prst="rect">
            <a:avLst/>
          </a:prstGeom>
          <a:noFill/>
          <a:ln/>
        </p:spPr>
        <p:txBody>
          <a:bodyPr wrap="square" lIns="0" tIns="0" rIns="0" bIns="0" rtlCol="0" anchor="t">
            <a:normAutofit/>
          </a:bodyPr>
          <a:lstStyle/>
          <a:p>
            <a:pPr marL="0" indent="0" algn="ctr">
              <a:buNone/>
            </a:pPr>
            <a:r>
              <a:rPr lang="en-US" sz="1000" dirty="0">
                <a:solidFill>
                  <a:srgbClr val="77766F"/>
                </a:solidFill>
                <a:latin typeface="PingFang SC" pitchFamily="34" charset="0"/>
                <a:ea typeface="PingFang SC" pitchFamily="34" charset="-122"/>
                <a:cs typeface="PingFang SC" pitchFamily="34" charset="-120"/>
              </a:rPr>
              <a:t>候选短语和数字仅为教学示意，不是模型真实Token切分或内部概率。</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11</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大模型怎样生成答案</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Temperature影响发散程度，不是“正确率按钮”</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02 大模型怎样生成答案</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11</a:t>
            </a:r>
            <a:endParaRPr lang="en-US" sz="850" dirty="0"/>
          </a:p>
        </p:txBody>
      </p:sp>
      <p:sp>
        <p:nvSpPr>
          <p:cNvPr id="10" name="Text 8"/>
          <p:cNvSpPr/>
          <p:nvPr/>
        </p:nvSpPr>
        <p:spPr>
          <a:xfrm>
            <a:off x="841248" y="1700784"/>
            <a:ext cx="914400" cy="274320"/>
          </a:xfrm>
          <a:prstGeom prst="rect">
            <a:avLst/>
          </a:prstGeom>
          <a:noFill/>
          <a:ln/>
        </p:spPr>
        <p:txBody>
          <a:bodyPr wrap="square" lIns="0" tIns="0" rIns="0" bIns="0" rtlCol="0" anchor="t">
            <a:normAutofit/>
          </a:bodyPr>
          <a:lstStyle/>
          <a:p>
            <a:pPr marL="0" indent="0" algn="l">
              <a:buNone/>
            </a:pPr>
            <a:r>
              <a:rPr lang="en-US" sz="1400" b="1" dirty="0">
                <a:solidFill>
                  <a:srgbClr val="405D78"/>
                </a:solidFill>
                <a:latin typeface="PingFang SC" pitchFamily="34" charset="0"/>
                <a:ea typeface="PingFang SC" pitchFamily="34" charset="-122"/>
                <a:cs typeface="PingFang SC" pitchFamily="34" charset="-120"/>
              </a:rPr>
              <a:t>较低</a:t>
            </a:r>
            <a:endParaRPr lang="en-US" sz="1400" dirty="0"/>
          </a:p>
        </p:txBody>
      </p:sp>
      <p:sp>
        <p:nvSpPr>
          <p:cNvPr id="11" name="Text 9"/>
          <p:cNvSpPr/>
          <p:nvPr/>
        </p:nvSpPr>
        <p:spPr>
          <a:xfrm>
            <a:off x="10442448" y="1700784"/>
            <a:ext cx="914400" cy="274320"/>
          </a:xfrm>
          <a:prstGeom prst="rect">
            <a:avLst/>
          </a:prstGeom>
          <a:noFill/>
          <a:ln/>
        </p:spPr>
        <p:txBody>
          <a:bodyPr wrap="square" lIns="0" tIns="0" rIns="0" bIns="0" rtlCol="0" anchor="t">
            <a:normAutofit/>
          </a:bodyPr>
          <a:lstStyle/>
          <a:p>
            <a:pPr marL="0" indent="0" algn="r">
              <a:buNone/>
            </a:pPr>
            <a:r>
              <a:rPr lang="en-US" sz="1400" b="1" dirty="0">
                <a:solidFill>
                  <a:srgbClr val="D18A38"/>
                </a:solidFill>
                <a:latin typeface="PingFang SC" pitchFamily="34" charset="0"/>
                <a:ea typeface="PingFang SC" pitchFamily="34" charset="-122"/>
                <a:cs typeface="PingFang SC" pitchFamily="34" charset="-120"/>
              </a:rPr>
              <a:t>较高</a:t>
            </a:r>
            <a:endParaRPr lang="en-US" sz="1400" dirty="0"/>
          </a:p>
        </p:txBody>
      </p:sp>
      <p:sp>
        <p:nvSpPr>
          <p:cNvPr id="12" name="Shape 10"/>
          <p:cNvSpPr/>
          <p:nvPr/>
        </p:nvSpPr>
        <p:spPr>
          <a:xfrm>
            <a:off x="1508760" y="1755648"/>
            <a:ext cx="9098280" cy="256032"/>
          </a:xfrm>
          <a:prstGeom prst="roundRect">
            <a:avLst>
              <a:gd name="adj" fmla="val 17857"/>
            </a:avLst>
          </a:prstGeom>
          <a:solidFill>
            <a:srgbClr val="DDE5EB"/>
          </a:solidFill>
          <a:ln w="12700">
            <a:solidFill>
              <a:srgbClr val="DDE5EB"/>
            </a:solidFill>
            <a:prstDash val="solid"/>
          </a:ln>
        </p:spPr>
      </p:sp>
      <p:sp>
        <p:nvSpPr>
          <p:cNvPr id="13" name="Shape 11"/>
          <p:cNvSpPr/>
          <p:nvPr/>
        </p:nvSpPr>
        <p:spPr>
          <a:xfrm>
            <a:off x="5257800" y="1572768"/>
            <a:ext cx="603504" cy="603504"/>
          </a:xfrm>
          <a:prstGeom prst="ellipse">
            <a:avLst/>
          </a:prstGeom>
          <a:solidFill>
            <a:srgbClr val="C35331"/>
          </a:solidFill>
          <a:ln w="12700">
            <a:solidFill>
              <a:srgbClr val="C35331"/>
            </a:solidFill>
            <a:prstDash val="solid"/>
          </a:ln>
        </p:spPr>
      </p:sp>
      <p:sp>
        <p:nvSpPr>
          <p:cNvPr id="14" name="Text 12"/>
          <p:cNvSpPr/>
          <p:nvPr/>
        </p:nvSpPr>
        <p:spPr>
          <a:xfrm>
            <a:off x="841248" y="2304288"/>
            <a:ext cx="2926080" cy="292608"/>
          </a:xfrm>
          <a:prstGeom prst="rect">
            <a:avLst/>
          </a:prstGeom>
          <a:noFill/>
          <a:ln/>
        </p:spPr>
        <p:txBody>
          <a:bodyPr wrap="square" lIns="0" tIns="0" rIns="0" bIns="0" rtlCol="0" anchor="t">
            <a:normAutofit/>
          </a:bodyPr>
          <a:lstStyle/>
          <a:p>
            <a:pPr marL="0" indent="0" algn="l">
              <a:buNone/>
            </a:pPr>
            <a:r>
              <a:rPr lang="en-US" sz="1400" b="1" dirty="0">
                <a:solidFill>
                  <a:srgbClr val="405D78"/>
                </a:solidFill>
                <a:latin typeface="PingFang SC" pitchFamily="34" charset="0"/>
                <a:ea typeface="PingFang SC" pitchFamily="34" charset="-122"/>
                <a:cs typeface="PingFang SC" pitchFamily="34" charset="-120"/>
              </a:rPr>
              <a:t>更集中、更保守</a:t>
            </a:r>
            <a:endParaRPr lang="en-US" sz="1400" dirty="0"/>
          </a:p>
        </p:txBody>
      </p:sp>
      <p:sp>
        <p:nvSpPr>
          <p:cNvPr id="15" name="Text 13"/>
          <p:cNvSpPr/>
          <p:nvPr/>
        </p:nvSpPr>
        <p:spPr>
          <a:xfrm>
            <a:off x="8412480" y="2304288"/>
            <a:ext cx="2926080" cy="292608"/>
          </a:xfrm>
          <a:prstGeom prst="rect">
            <a:avLst/>
          </a:prstGeom>
          <a:noFill/>
          <a:ln/>
        </p:spPr>
        <p:txBody>
          <a:bodyPr wrap="square" lIns="0" tIns="0" rIns="0" bIns="0" rtlCol="0" anchor="t">
            <a:normAutofit/>
          </a:bodyPr>
          <a:lstStyle/>
          <a:p>
            <a:pPr marL="0" indent="0" algn="r">
              <a:buNone/>
            </a:pPr>
            <a:r>
              <a:rPr lang="en-US" sz="1400" b="1" dirty="0">
                <a:solidFill>
                  <a:srgbClr val="D18A38"/>
                </a:solidFill>
                <a:latin typeface="PingFang SC" pitchFamily="34" charset="0"/>
                <a:ea typeface="PingFang SC" pitchFamily="34" charset="-122"/>
                <a:cs typeface="PingFang SC" pitchFamily="34" charset="-120"/>
              </a:rPr>
              <a:t>更多样、更发散</a:t>
            </a:r>
            <a:endParaRPr lang="en-US" sz="1400" dirty="0"/>
          </a:p>
        </p:txBody>
      </p:sp>
      <p:sp>
        <p:nvSpPr>
          <p:cNvPr id="16" name="Shape 14"/>
          <p:cNvSpPr/>
          <p:nvPr/>
        </p:nvSpPr>
        <p:spPr>
          <a:xfrm>
            <a:off x="658368" y="2971800"/>
            <a:ext cx="2555748" cy="1371600"/>
          </a:xfrm>
          <a:prstGeom prst="roundRect">
            <a:avLst>
              <a:gd name="adj" fmla="val 3333"/>
            </a:avLst>
          </a:prstGeom>
          <a:solidFill>
            <a:srgbClr val="FBF9F4"/>
          </a:solidFill>
          <a:ln w="12700">
            <a:solidFill>
              <a:srgbClr val="D8D0C2"/>
            </a:solidFill>
            <a:prstDash val="solid"/>
          </a:ln>
        </p:spPr>
      </p:sp>
      <p:sp>
        <p:nvSpPr>
          <p:cNvPr id="17" name="Shape 15"/>
          <p:cNvSpPr/>
          <p:nvPr/>
        </p:nvSpPr>
        <p:spPr>
          <a:xfrm>
            <a:off x="658368" y="2971800"/>
            <a:ext cx="64008" cy="1371600"/>
          </a:xfrm>
          <a:prstGeom prst="rect">
            <a:avLst/>
          </a:prstGeom>
          <a:solidFill>
            <a:srgbClr val="C35331"/>
          </a:solidFill>
          <a:ln w="12700">
            <a:solidFill>
              <a:srgbClr val="C35331"/>
            </a:solidFill>
            <a:prstDash val="solid"/>
          </a:ln>
        </p:spPr>
      </p:sp>
      <p:sp>
        <p:nvSpPr>
          <p:cNvPr id="18" name="Text 16"/>
          <p:cNvSpPr/>
          <p:nvPr/>
        </p:nvSpPr>
        <p:spPr>
          <a:xfrm>
            <a:off x="905256" y="3182112"/>
            <a:ext cx="2080260"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 越低越正确</a:t>
            </a:r>
            <a:endParaRPr lang="en-US" sz="1500" dirty="0"/>
          </a:p>
        </p:txBody>
      </p:sp>
      <p:sp>
        <p:nvSpPr>
          <p:cNvPr id="19" name="Shape 17"/>
          <p:cNvSpPr/>
          <p:nvPr/>
        </p:nvSpPr>
        <p:spPr>
          <a:xfrm>
            <a:off x="3433572" y="2971800"/>
            <a:ext cx="2555748" cy="1371600"/>
          </a:xfrm>
          <a:prstGeom prst="roundRect">
            <a:avLst>
              <a:gd name="adj" fmla="val 3333"/>
            </a:avLst>
          </a:prstGeom>
          <a:solidFill>
            <a:srgbClr val="FBF9F4"/>
          </a:solidFill>
          <a:ln w="12700">
            <a:solidFill>
              <a:srgbClr val="D8D0C2"/>
            </a:solidFill>
            <a:prstDash val="solid"/>
          </a:ln>
        </p:spPr>
      </p:sp>
      <p:sp>
        <p:nvSpPr>
          <p:cNvPr id="20" name="Shape 18"/>
          <p:cNvSpPr/>
          <p:nvPr/>
        </p:nvSpPr>
        <p:spPr>
          <a:xfrm>
            <a:off x="3433572" y="2971800"/>
            <a:ext cx="64008" cy="1371600"/>
          </a:xfrm>
          <a:prstGeom prst="rect">
            <a:avLst/>
          </a:prstGeom>
          <a:solidFill>
            <a:srgbClr val="D18A38"/>
          </a:solidFill>
          <a:ln w="12700">
            <a:solidFill>
              <a:srgbClr val="D18A38"/>
            </a:solidFill>
            <a:prstDash val="solid"/>
          </a:ln>
        </p:spPr>
      </p:sp>
      <p:sp>
        <p:nvSpPr>
          <p:cNvPr id="21" name="Text 19"/>
          <p:cNvSpPr/>
          <p:nvPr/>
        </p:nvSpPr>
        <p:spPr>
          <a:xfrm>
            <a:off x="3680460" y="3182112"/>
            <a:ext cx="2080260"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 设为0后绝对一致</a:t>
            </a:r>
            <a:endParaRPr lang="en-US" sz="1500" dirty="0"/>
          </a:p>
        </p:txBody>
      </p:sp>
      <p:sp>
        <p:nvSpPr>
          <p:cNvPr id="22" name="Shape 20"/>
          <p:cNvSpPr/>
          <p:nvPr/>
        </p:nvSpPr>
        <p:spPr>
          <a:xfrm>
            <a:off x="6208776" y="2971800"/>
            <a:ext cx="2555748" cy="1371600"/>
          </a:xfrm>
          <a:prstGeom prst="roundRect">
            <a:avLst>
              <a:gd name="adj" fmla="val 3333"/>
            </a:avLst>
          </a:prstGeom>
          <a:solidFill>
            <a:srgbClr val="FBF9F4"/>
          </a:solidFill>
          <a:ln w="12700">
            <a:solidFill>
              <a:srgbClr val="D8D0C2"/>
            </a:solidFill>
            <a:prstDash val="solid"/>
          </a:ln>
        </p:spPr>
      </p:sp>
      <p:sp>
        <p:nvSpPr>
          <p:cNvPr id="23" name="Shape 21"/>
          <p:cNvSpPr/>
          <p:nvPr/>
        </p:nvSpPr>
        <p:spPr>
          <a:xfrm>
            <a:off x="6208776" y="2971800"/>
            <a:ext cx="64008" cy="1371600"/>
          </a:xfrm>
          <a:prstGeom prst="rect">
            <a:avLst/>
          </a:prstGeom>
          <a:solidFill>
            <a:srgbClr val="74546A"/>
          </a:solidFill>
          <a:ln w="12700">
            <a:solidFill>
              <a:srgbClr val="74546A"/>
            </a:solidFill>
            <a:prstDash val="solid"/>
          </a:ln>
        </p:spPr>
      </p:sp>
      <p:sp>
        <p:nvSpPr>
          <p:cNvPr id="24" name="Text 22"/>
          <p:cNvSpPr/>
          <p:nvPr/>
        </p:nvSpPr>
        <p:spPr>
          <a:xfrm>
            <a:off x="6455664" y="3182112"/>
            <a:ext cx="2080260"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不能补充缺失知识</a:t>
            </a:r>
            <a:endParaRPr lang="en-US" sz="1500" dirty="0"/>
          </a:p>
        </p:txBody>
      </p:sp>
      <p:sp>
        <p:nvSpPr>
          <p:cNvPr id="25" name="Shape 23"/>
          <p:cNvSpPr/>
          <p:nvPr/>
        </p:nvSpPr>
        <p:spPr>
          <a:xfrm>
            <a:off x="8983980" y="2971800"/>
            <a:ext cx="2555748" cy="1371600"/>
          </a:xfrm>
          <a:prstGeom prst="roundRect">
            <a:avLst>
              <a:gd name="adj" fmla="val 3333"/>
            </a:avLst>
          </a:prstGeom>
          <a:solidFill>
            <a:srgbClr val="FBF9F4"/>
          </a:solidFill>
          <a:ln w="12700">
            <a:solidFill>
              <a:srgbClr val="D8D0C2"/>
            </a:solidFill>
            <a:prstDash val="solid"/>
          </a:ln>
        </p:spPr>
      </p:sp>
      <p:sp>
        <p:nvSpPr>
          <p:cNvPr id="26" name="Shape 24"/>
          <p:cNvSpPr/>
          <p:nvPr/>
        </p:nvSpPr>
        <p:spPr>
          <a:xfrm>
            <a:off x="8983980" y="2971800"/>
            <a:ext cx="64008" cy="1371600"/>
          </a:xfrm>
          <a:prstGeom prst="rect">
            <a:avLst/>
          </a:prstGeom>
          <a:solidFill>
            <a:srgbClr val="387B77"/>
          </a:solidFill>
          <a:ln w="12700">
            <a:solidFill>
              <a:srgbClr val="387B77"/>
            </a:solidFill>
            <a:prstDash val="solid"/>
          </a:ln>
        </p:spPr>
      </p:sp>
      <p:sp>
        <p:nvSpPr>
          <p:cNvPr id="27" name="Text 25"/>
          <p:cNvSpPr/>
          <p:nvPr/>
        </p:nvSpPr>
        <p:spPr>
          <a:xfrm>
            <a:off x="9230868" y="3182112"/>
            <a:ext cx="2080260"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不能替代任务与规则</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12</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大模型怎样生成答案</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结果不同，与结果错误，是两件事</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02 大模型怎样生成答案</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12</a:t>
            </a:r>
            <a:endParaRPr lang="en-US" sz="850" dirty="0"/>
          </a:p>
        </p:txBody>
      </p:sp>
      <p:sp>
        <p:nvSpPr>
          <p:cNvPr id="10" name="Shape 8"/>
          <p:cNvSpPr/>
          <p:nvPr/>
        </p:nvSpPr>
        <p:spPr>
          <a:xfrm>
            <a:off x="713232" y="1572768"/>
            <a:ext cx="5285232" cy="3483839"/>
          </a:xfrm>
          <a:prstGeom prst="roundRect">
            <a:avLst>
              <a:gd name="adj" fmla="val 1075"/>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572768"/>
            <a:ext cx="64008" cy="3483839"/>
          </a:xfrm>
          <a:prstGeom prst="rect">
            <a:avLst/>
          </a:prstGeom>
          <a:solidFill>
            <a:srgbClr val="387B77"/>
          </a:solidFill>
          <a:ln w="12700">
            <a:solidFill>
              <a:srgbClr val="387B77"/>
            </a:solidFill>
            <a:prstDash val="solid"/>
          </a:ln>
        </p:spPr>
      </p:sp>
      <p:sp>
        <p:nvSpPr>
          <p:cNvPr id="12" name="Text 10"/>
          <p:cNvSpPr/>
          <p:nvPr/>
        </p:nvSpPr>
        <p:spPr>
          <a:xfrm>
            <a:off x="960120" y="1783080"/>
            <a:ext cx="4809744"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合理差异</a:t>
            </a:r>
            <a:endParaRPr lang="en-US" sz="1800" dirty="0"/>
          </a:p>
        </p:txBody>
      </p:sp>
      <p:sp>
        <p:nvSpPr>
          <p:cNvPr id="13" name="Text 11"/>
          <p:cNvSpPr/>
          <p:nvPr/>
        </p:nvSpPr>
        <p:spPr>
          <a:xfrm>
            <a:off x="960120" y="2295144"/>
            <a:ext cx="4791456" cy="3319272"/>
          </a:xfrm>
          <a:prstGeom prst="rect">
            <a:avLst/>
          </a:prstGeom>
          <a:noFill/>
          <a:ln/>
        </p:spPr>
        <p:txBody>
          <a:bodyPr wrap="square" lIns="0" tIns="0" rIns="0" bIns="0" rtlCol="0" anchor="t">
            <a:normAutofit/>
          </a:bodyPr>
          <a:lstStyle/>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A｜拜访结束，关键信息自动成稿</a:t>
            </a:r>
            <a:endParaRPr lang="en-US" sz="1300" dirty="0"/>
          </a:p>
          <a:p>
            <a:pPr marL="285750" indent="-285750" algn="l">
              <a:buFont typeface="Arial" panose="020B0604020202020204" pitchFamily="34" charset="0"/>
              <a:buChar char="•"/>
            </a:pP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B｜让每次客户沟通，都留下可跟进的记录</a:t>
            </a:r>
            <a:endParaRPr lang="en-US" sz="1300" dirty="0"/>
          </a:p>
          <a:p>
            <a:pPr marL="285750" indent="-285750" algn="l">
              <a:buFont typeface="Arial" panose="020B0604020202020204" pitchFamily="34" charset="0"/>
              <a:buChar char="•"/>
            </a:pP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表达不同，但都可能合理</a:t>
            </a:r>
            <a:endParaRPr lang="en-US" sz="1300" dirty="0"/>
          </a:p>
        </p:txBody>
      </p:sp>
      <p:sp>
        <p:nvSpPr>
          <p:cNvPr id="14" name="Shape 12"/>
          <p:cNvSpPr/>
          <p:nvPr/>
        </p:nvSpPr>
        <p:spPr>
          <a:xfrm>
            <a:off x="6199632" y="1572768"/>
            <a:ext cx="5285232" cy="3483837"/>
          </a:xfrm>
          <a:prstGeom prst="roundRect">
            <a:avLst>
              <a:gd name="adj" fmla="val 1075"/>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6199632" y="1572768"/>
            <a:ext cx="64008" cy="3483837"/>
          </a:xfrm>
          <a:prstGeom prst="rect">
            <a:avLst/>
          </a:prstGeom>
          <a:solidFill>
            <a:srgbClr val="C35331"/>
          </a:solidFill>
          <a:ln w="12700">
            <a:solidFill>
              <a:srgbClr val="C35331"/>
            </a:solidFill>
            <a:prstDash val="solid"/>
          </a:ln>
        </p:spPr>
      </p:sp>
      <p:sp>
        <p:nvSpPr>
          <p:cNvPr id="16" name="Text 14"/>
          <p:cNvSpPr/>
          <p:nvPr/>
        </p:nvSpPr>
        <p:spPr>
          <a:xfrm>
            <a:off x="6446520" y="1783080"/>
            <a:ext cx="4809744"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更需要警惕</a:t>
            </a:r>
            <a:endParaRPr lang="en-US" sz="1800" dirty="0"/>
          </a:p>
        </p:txBody>
      </p:sp>
      <p:sp>
        <p:nvSpPr>
          <p:cNvPr id="17" name="Text 15"/>
          <p:cNvSpPr/>
          <p:nvPr/>
        </p:nvSpPr>
        <p:spPr>
          <a:xfrm>
            <a:off x="6446520" y="2295144"/>
            <a:ext cx="4791456" cy="3319272"/>
          </a:xfrm>
          <a:prstGeom prst="rect">
            <a:avLst/>
          </a:prstGeom>
          <a:noFill/>
          <a:ln/>
        </p:spPr>
        <p:txBody>
          <a:bodyPr wrap="square" lIns="0" tIns="0" rIns="0" bIns="0" rtlCol="0" anchor="t">
            <a:normAutofit/>
          </a:bodyPr>
          <a:lstStyle/>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编造材料中不存在的事实</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把未知内容说成确定事实</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与给定材料发生冲突</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生成无法验证的数据或承诺</a:t>
            </a:r>
            <a:endParaRPr lang="en-US" sz="1300" dirty="0"/>
          </a:p>
        </p:txBody>
      </p:sp>
      <p:sp>
        <p:nvSpPr>
          <p:cNvPr id="18" name="Text 16"/>
          <p:cNvSpPr/>
          <p:nvPr/>
        </p:nvSpPr>
        <p:spPr>
          <a:xfrm>
            <a:off x="914400" y="5742432"/>
            <a:ext cx="10241280" cy="320040"/>
          </a:xfrm>
          <a:prstGeom prst="rect">
            <a:avLst/>
          </a:prstGeom>
          <a:noFill/>
          <a:ln/>
        </p:spPr>
        <p:txBody>
          <a:bodyPr wrap="square" lIns="0" tIns="0" rIns="0" bIns="0" rtlCol="0" anchor="t">
            <a:normAutofit/>
          </a:bodyPr>
          <a:lstStyle/>
          <a:p>
            <a:pPr marL="0" indent="0" algn="ctr">
              <a:buNone/>
            </a:pPr>
            <a:r>
              <a:rPr lang="en-US" sz="1600" b="1" dirty="0">
                <a:solidFill>
                  <a:srgbClr val="C35331"/>
                </a:solidFill>
                <a:latin typeface="PingFang SC" pitchFamily="34" charset="0"/>
                <a:ea typeface="PingFang SC" pitchFamily="34" charset="-122"/>
                <a:cs typeface="PingFang SC" pitchFamily="34" charset="-120"/>
              </a:rPr>
              <a:t>不同 ≠ 错误｜先检查是否与任务和证据冲突</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13</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大模型怎样生成答案</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一次Demo成功，只能证明“这一次可以”</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02 大模型怎样生成答案</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13</a:t>
            </a:r>
            <a:endParaRPr lang="en-US" sz="850" dirty="0"/>
          </a:p>
        </p:txBody>
      </p:sp>
      <p:sp>
        <p:nvSpPr>
          <p:cNvPr id="10" name="Shape 8"/>
          <p:cNvSpPr/>
          <p:nvPr/>
        </p:nvSpPr>
        <p:spPr>
          <a:xfrm>
            <a:off x="713232" y="1572768"/>
            <a:ext cx="3749040" cy="4251960"/>
          </a:xfrm>
          <a:prstGeom prst="roundRect">
            <a:avLst>
              <a:gd name="adj" fmla="val 1220"/>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572768"/>
            <a:ext cx="64008" cy="4251960"/>
          </a:xfrm>
          <a:prstGeom prst="rect">
            <a:avLst/>
          </a:prstGeom>
          <a:solidFill>
            <a:srgbClr val="D18A38"/>
          </a:solidFill>
          <a:ln w="12700">
            <a:solidFill>
              <a:srgbClr val="D18A38"/>
            </a:solidFill>
            <a:prstDash val="solid"/>
          </a:ln>
        </p:spPr>
      </p:sp>
      <p:sp>
        <p:nvSpPr>
          <p:cNvPr id="12" name="Text 10"/>
          <p:cNvSpPr/>
          <p:nvPr/>
        </p:nvSpPr>
        <p:spPr>
          <a:xfrm>
            <a:off x="960120" y="1783080"/>
            <a:ext cx="3273552"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一次成功</a:t>
            </a:r>
            <a:endParaRPr lang="en-US" sz="1800" dirty="0"/>
          </a:p>
        </p:txBody>
      </p:sp>
      <p:sp>
        <p:nvSpPr>
          <p:cNvPr id="13" name="Text 11"/>
          <p:cNvSpPr/>
          <p:nvPr/>
        </p:nvSpPr>
        <p:spPr>
          <a:xfrm>
            <a:off x="960120" y="2295144"/>
            <a:ext cx="3255264" cy="3319272"/>
          </a:xfrm>
          <a:prstGeom prst="rect">
            <a:avLst/>
          </a:prstGeom>
          <a:noFill/>
          <a:ln/>
        </p:spPr>
        <p:txBody>
          <a:bodyPr wrap="square" lIns="0" tIns="0" rIns="0" bIns="0" rtlCol="0" anchor="t">
            <a:normAutofit/>
          </a:bodyPr>
          <a:lstStyle/>
          <a:p>
            <a:pPr marL="0" indent="0" algn="ctr">
              <a:buNone/>
            </a:pPr>
            <a:r>
              <a:rPr lang="en-US" sz="1600" dirty="0">
                <a:solidFill>
                  <a:srgbClr val="77766F"/>
                </a:solidFill>
                <a:latin typeface="PingFang SC" pitchFamily="34" charset="0"/>
                <a:ea typeface="PingFang SC" pitchFamily="34" charset="-122"/>
                <a:cs typeface="PingFang SC" pitchFamily="34" charset="-120"/>
              </a:rPr>
              <a:t>一次输入</a:t>
            </a:r>
            <a:endParaRPr lang="en-US" sz="1600" dirty="0"/>
          </a:p>
          <a:p>
            <a:pPr marL="0" indent="0" algn="ctr">
              <a:buNone/>
            </a:pPr>
            <a:r>
              <a:rPr lang="en-US" sz="1600" dirty="0">
                <a:solidFill>
                  <a:srgbClr val="77766F"/>
                </a:solidFill>
                <a:latin typeface="PingFang SC" pitchFamily="34" charset="0"/>
                <a:ea typeface="PingFang SC" pitchFamily="34" charset="-122"/>
                <a:cs typeface="PingFang SC" pitchFamily="34" charset="-120"/>
              </a:rPr>
              <a:t>一次运行</a:t>
            </a:r>
            <a:endParaRPr lang="en-US" sz="1600" dirty="0"/>
          </a:p>
          <a:p>
            <a:pPr marL="0" indent="0" algn="ctr">
              <a:buNone/>
            </a:pPr>
            <a:r>
              <a:rPr lang="en-US" sz="1600" dirty="0">
                <a:solidFill>
                  <a:srgbClr val="77766F"/>
                </a:solidFill>
                <a:latin typeface="PingFang SC" pitchFamily="34" charset="0"/>
                <a:ea typeface="PingFang SC" pitchFamily="34" charset="-122"/>
                <a:cs typeface="PingFang SC" pitchFamily="34" charset="-120"/>
              </a:rPr>
              <a:t>一条满意结果</a:t>
            </a:r>
            <a:endParaRPr lang="en-US" sz="1600" dirty="0"/>
          </a:p>
          <a:p>
            <a:pPr marL="0" indent="0" algn="ctr">
              <a:buNone/>
            </a:pPr>
            <a:endParaRPr lang="en-US" sz="1600" dirty="0"/>
          </a:p>
          <a:p>
            <a:pPr marL="0" indent="0" algn="ctr">
              <a:buNone/>
            </a:pPr>
            <a:r>
              <a:rPr lang="en-US" sz="1600" dirty="0">
                <a:solidFill>
                  <a:srgbClr val="77766F"/>
                </a:solidFill>
                <a:latin typeface="PingFang SC" pitchFamily="34" charset="0"/>
                <a:ea typeface="PingFang SC" pitchFamily="34" charset="-122"/>
                <a:cs typeface="PingFang SC" pitchFamily="34" charset="-120"/>
              </a:rPr>
              <a:t>只能说明</a:t>
            </a:r>
            <a:endParaRPr lang="en-US" sz="1600" dirty="0"/>
          </a:p>
          <a:p>
            <a:pPr marL="0" indent="0" algn="ctr">
              <a:buNone/>
            </a:pPr>
            <a:r>
              <a:rPr lang="en-US" sz="1600" dirty="0">
                <a:solidFill>
                  <a:srgbClr val="77766F"/>
                </a:solidFill>
                <a:latin typeface="PingFang SC" pitchFamily="34" charset="0"/>
                <a:ea typeface="PingFang SC" pitchFamily="34" charset="-122"/>
                <a:cs typeface="PingFang SC" pitchFamily="34" charset="-120"/>
              </a:rPr>
              <a:t>这一次得到可接受输出</a:t>
            </a:r>
            <a:endParaRPr lang="en-US" sz="1600" dirty="0"/>
          </a:p>
        </p:txBody>
      </p:sp>
      <p:sp>
        <p:nvSpPr>
          <p:cNvPr id="14" name="Shape 12"/>
          <p:cNvSpPr/>
          <p:nvPr/>
        </p:nvSpPr>
        <p:spPr>
          <a:xfrm>
            <a:off x="4800600" y="1572768"/>
            <a:ext cx="1993392" cy="1325880"/>
          </a:xfrm>
          <a:prstGeom prst="roundRect">
            <a:avLst>
              <a:gd name="adj" fmla="val 3448"/>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4800600" y="1572768"/>
            <a:ext cx="64008" cy="1325880"/>
          </a:xfrm>
          <a:prstGeom prst="rect">
            <a:avLst/>
          </a:prstGeom>
          <a:solidFill>
            <a:srgbClr val="C35331"/>
          </a:solidFill>
          <a:ln w="12700">
            <a:solidFill>
              <a:srgbClr val="C35331"/>
            </a:solidFill>
            <a:prstDash val="solid"/>
          </a:ln>
        </p:spPr>
      </p:sp>
      <p:sp>
        <p:nvSpPr>
          <p:cNvPr id="16" name="Text 14"/>
          <p:cNvSpPr/>
          <p:nvPr/>
        </p:nvSpPr>
        <p:spPr>
          <a:xfrm>
            <a:off x="5047488" y="1783080"/>
            <a:ext cx="1517904" cy="347472"/>
          </a:xfrm>
          <a:prstGeom prst="rect">
            <a:avLst/>
          </a:prstGeom>
          <a:noFill/>
          <a:ln/>
        </p:spPr>
        <p:txBody>
          <a:bodyPr wrap="square" lIns="0" tIns="0" rIns="0" bIns="0" rtlCol="0" anchor="t">
            <a:normAutofit/>
          </a:bodyPr>
          <a:lstStyle/>
          <a:p>
            <a:pPr marL="0" indent="0" algn="l">
              <a:buNone/>
            </a:pPr>
            <a:r>
              <a:rPr lang="en-US" sz="1400" b="1" dirty="0">
                <a:solidFill>
                  <a:srgbClr val="20211F"/>
                </a:solidFill>
                <a:latin typeface="PingFang SC" pitchFamily="34" charset="0"/>
                <a:ea typeface="PingFang SC" pitchFamily="34" charset="-122"/>
                <a:cs typeface="PingFang SC" pitchFamily="34" charset="-120"/>
              </a:rPr>
              <a:t>用户表达</a:t>
            </a:r>
            <a:endParaRPr lang="en-US" sz="1400" dirty="0"/>
          </a:p>
        </p:txBody>
      </p:sp>
      <p:sp>
        <p:nvSpPr>
          <p:cNvPr id="17" name="Text 15"/>
          <p:cNvSpPr/>
          <p:nvPr/>
        </p:nvSpPr>
        <p:spPr>
          <a:xfrm>
            <a:off x="5047488" y="2295144"/>
            <a:ext cx="1499616" cy="393192"/>
          </a:xfrm>
          <a:prstGeom prst="rect">
            <a:avLst/>
          </a:prstGeom>
          <a:noFill/>
          <a:ln/>
        </p:spPr>
        <p:txBody>
          <a:bodyPr wrap="square" lIns="0" tIns="0" rIns="0" bIns="0" rtlCol="0" anchor="t">
            <a:normAutofit/>
          </a:bodyPr>
          <a:lstStyle/>
          <a:p>
            <a:pPr marL="0" indent="0" algn="ctr">
              <a:buNone/>
            </a:pPr>
            <a:r>
              <a:rPr lang="en-US" sz="1200" dirty="0">
                <a:solidFill>
                  <a:srgbClr val="77766F"/>
                </a:solidFill>
                <a:latin typeface="PingFang SC" pitchFamily="34" charset="0"/>
                <a:ea typeface="PingFang SC" pitchFamily="34" charset="-122"/>
                <a:cs typeface="PingFang SC" pitchFamily="34" charset="-120"/>
              </a:rPr>
              <a:t>是否变化</a:t>
            </a:r>
            <a:endParaRPr lang="en-US" sz="1200" dirty="0"/>
          </a:p>
        </p:txBody>
      </p:sp>
      <p:sp>
        <p:nvSpPr>
          <p:cNvPr id="18" name="Shape 16"/>
          <p:cNvSpPr/>
          <p:nvPr/>
        </p:nvSpPr>
        <p:spPr>
          <a:xfrm>
            <a:off x="6967728" y="1572768"/>
            <a:ext cx="1993392" cy="1325880"/>
          </a:xfrm>
          <a:prstGeom prst="roundRect">
            <a:avLst>
              <a:gd name="adj" fmla="val 3448"/>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9" name="Shape 17"/>
          <p:cNvSpPr/>
          <p:nvPr/>
        </p:nvSpPr>
        <p:spPr>
          <a:xfrm>
            <a:off x="6967728" y="1572768"/>
            <a:ext cx="64008" cy="1325880"/>
          </a:xfrm>
          <a:prstGeom prst="rect">
            <a:avLst/>
          </a:prstGeom>
          <a:solidFill>
            <a:srgbClr val="387B77"/>
          </a:solidFill>
          <a:ln w="12700">
            <a:solidFill>
              <a:srgbClr val="387B77"/>
            </a:solidFill>
            <a:prstDash val="solid"/>
          </a:ln>
        </p:spPr>
      </p:sp>
      <p:sp>
        <p:nvSpPr>
          <p:cNvPr id="20" name="Text 18"/>
          <p:cNvSpPr/>
          <p:nvPr/>
        </p:nvSpPr>
        <p:spPr>
          <a:xfrm>
            <a:off x="7214616" y="1783080"/>
            <a:ext cx="1517904" cy="347472"/>
          </a:xfrm>
          <a:prstGeom prst="rect">
            <a:avLst/>
          </a:prstGeom>
          <a:noFill/>
          <a:ln/>
        </p:spPr>
        <p:txBody>
          <a:bodyPr wrap="square" lIns="0" tIns="0" rIns="0" bIns="0" rtlCol="0" anchor="t">
            <a:normAutofit/>
          </a:bodyPr>
          <a:lstStyle/>
          <a:p>
            <a:pPr marL="0" indent="0" algn="l">
              <a:buNone/>
            </a:pPr>
            <a:r>
              <a:rPr lang="en-US" sz="1400" b="1" dirty="0">
                <a:solidFill>
                  <a:srgbClr val="20211F"/>
                </a:solidFill>
                <a:latin typeface="PingFang SC" pitchFamily="34" charset="0"/>
                <a:ea typeface="PingFang SC" pitchFamily="34" charset="-122"/>
                <a:cs typeface="PingFang SC" pitchFamily="34" charset="-120"/>
              </a:rPr>
              <a:t>材料质量</a:t>
            </a:r>
            <a:endParaRPr lang="en-US" sz="1400" dirty="0"/>
          </a:p>
        </p:txBody>
      </p:sp>
      <p:sp>
        <p:nvSpPr>
          <p:cNvPr id="21" name="Text 19"/>
          <p:cNvSpPr/>
          <p:nvPr/>
        </p:nvSpPr>
        <p:spPr>
          <a:xfrm>
            <a:off x="7214616" y="2295144"/>
            <a:ext cx="1499616" cy="393192"/>
          </a:xfrm>
          <a:prstGeom prst="rect">
            <a:avLst/>
          </a:prstGeom>
          <a:noFill/>
          <a:ln/>
        </p:spPr>
        <p:txBody>
          <a:bodyPr wrap="square" lIns="0" tIns="0" rIns="0" bIns="0" rtlCol="0" anchor="t">
            <a:normAutofit/>
          </a:bodyPr>
          <a:lstStyle/>
          <a:p>
            <a:pPr marL="0" indent="0" algn="ctr">
              <a:buNone/>
            </a:pPr>
            <a:r>
              <a:rPr lang="en-US" sz="1200" dirty="0">
                <a:solidFill>
                  <a:srgbClr val="77766F"/>
                </a:solidFill>
                <a:latin typeface="PingFang SC" pitchFamily="34" charset="0"/>
                <a:ea typeface="PingFang SC" pitchFamily="34" charset="-122"/>
                <a:cs typeface="PingFang SC" pitchFamily="34" charset="-120"/>
              </a:rPr>
              <a:t>是否完整</a:t>
            </a:r>
            <a:endParaRPr lang="en-US" sz="1200" dirty="0"/>
          </a:p>
        </p:txBody>
      </p:sp>
      <p:sp>
        <p:nvSpPr>
          <p:cNvPr id="22" name="Shape 20"/>
          <p:cNvSpPr/>
          <p:nvPr/>
        </p:nvSpPr>
        <p:spPr>
          <a:xfrm>
            <a:off x="9134856" y="1572768"/>
            <a:ext cx="1993392" cy="1325880"/>
          </a:xfrm>
          <a:prstGeom prst="roundRect">
            <a:avLst>
              <a:gd name="adj" fmla="val 3448"/>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23" name="Shape 21"/>
          <p:cNvSpPr/>
          <p:nvPr/>
        </p:nvSpPr>
        <p:spPr>
          <a:xfrm>
            <a:off x="9134856" y="1572768"/>
            <a:ext cx="64008" cy="1325880"/>
          </a:xfrm>
          <a:prstGeom prst="rect">
            <a:avLst/>
          </a:prstGeom>
          <a:solidFill>
            <a:srgbClr val="74546A"/>
          </a:solidFill>
          <a:ln w="12700">
            <a:solidFill>
              <a:srgbClr val="74546A"/>
            </a:solidFill>
            <a:prstDash val="solid"/>
          </a:ln>
        </p:spPr>
      </p:sp>
      <p:sp>
        <p:nvSpPr>
          <p:cNvPr id="24" name="Text 22"/>
          <p:cNvSpPr/>
          <p:nvPr/>
        </p:nvSpPr>
        <p:spPr>
          <a:xfrm>
            <a:off x="9381744" y="1783080"/>
            <a:ext cx="1517904" cy="347472"/>
          </a:xfrm>
          <a:prstGeom prst="rect">
            <a:avLst/>
          </a:prstGeom>
          <a:noFill/>
          <a:ln/>
        </p:spPr>
        <p:txBody>
          <a:bodyPr wrap="square" lIns="0" tIns="0" rIns="0" bIns="0" rtlCol="0" anchor="t">
            <a:normAutofit/>
          </a:bodyPr>
          <a:lstStyle/>
          <a:p>
            <a:pPr marL="0" indent="0" algn="l">
              <a:buNone/>
            </a:pPr>
            <a:r>
              <a:rPr lang="en-US" sz="1400" b="1" dirty="0">
                <a:solidFill>
                  <a:srgbClr val="20211F"/>
                </a:solidFill>
                <a:latin typeface="PingFang SC" pitchFamily="34" charset="0"/>
                <a:ea typeface="PingFang SC" pitchFamily="34" charset="-122"/>
                <a:cs typeface="PingFang SC" pitchFamily="34" charset="-120"/>
              </a:rPr>
              <a:t>多次运行</a:t>
            </a:r>
            <a:endParaRPr lang="en-US" sz="1400" dirty="0"/>
          </a:p>
        </p:txBody>
      </p:sp>
      <p:sp>
        <p:nvSpPr>
          <p:cNvPr id="25" name="Text 23"/>
          <p:cNvSpPr/>
          <p:nvPr/>
        </p:nvSpPr>
        <p:spPr>
          <a:xfrm>
            <a:off x="9381744" y="2295144"/>
            <a:ext cx="1499616" cy="393192"/>
          </a:xfrm>
          <a:prstGeom prst="rect">
            <a:avLst/>
          </a:prstGeom>
          <a:noFill/>
          <a:ln/>
        </p:spPr>
        <p:txBody>
          <a:bodyPr wrap="square" lIns="0" tIns="0" rIns="0" bIns="0" rtlCol="0" anchor="t">
            <a:normAutofit/>
          </a:bodyPr>
          <a:lstStyle/>
          <a:p>
            <a:pPr marL="0" indent="0" algn="ctr">
              <a:buNone/>
            </a:pPr>
            <a:r>
              <a:rPr lang="en-US" sz="1200" dirty="0">
                <a:solidFill>
                  <a:srgbClr val="77766F"/>
                </a:solidFill>
                <a:latin typeface="PingFang SC" pitchFamily="34" charset="0"/>
                <a:ea typeface="PingFang SC" pitchFamily="34" charset="-122"/>
                <a:cs typeface="PingFang SC" pitchFamily="34" charset="-120"/>
              </a:rPr>
              <a:t>是否稳定</a:t>
            </a:r>
            <a:endParaRPr lang="en-US" sz="1200" dirty="0"/>
          </a:p>
        </p:txBody>
      </p:sp>
      <p:sp>
        <p:nvSpPr>
          <p:cNvPr id="26" name="Shape 24"/>
          <p:cNvSpPr/>
          <p:nvPr/>
        </p:nvSpPr>
        <p:spPr>
          <a:xfrm>
            <a:off x="4800600" y="3127248"/>
            <a:ext cx="3154680" cy="1325880"/>
          </a:xfrm>
          <a:prstGeom prst="roundRect">
            <a:avLst>
              <a:gd name="adj" fmla="val 3448"/>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27" name="Shape 25"/>
          <p:cNvSpPr/>
          <p:nvPr/>
        </p:nvSpPr>
        <p:spPr>
          <a:xfrm>
            <a:off x="4800600" y="3127248"/>
            <a:ext cx="64008" cy="1325880"/>
          </a:xfrm>
          <a:prstGeom prst="rect">
            <a:avLst/>
          </a:prstGeom>
          <a:solidFill>
            <a:srgbClr val="D18A38"/>
          </a:solidFill>
          <a:ln w="12700">
            <a:solidFill>
              <a:srgbClr val="D18A38"/>
            </a:solidFill>
            <a:prstDash val="solid"/>
          </a:ln>
        </p:spPr>
      </p:sp>
      <p:sp>
        <p:nvSpPr>
          <p:cNvPr id="28" name="Text 26"/>
          <p:cNvSpPr/>
          <p:nvPr/>
        </p:nvSpPr>
        <p:spPr>
          <a:xfrm>
            <a:off x="5047488" y="3337560"/>
            <a:ext cx="2679192" cy="347472"/>
          </a:xfrm>
          <a:prstGeom prst="rect">
            <a:avLst/>
          </a:prstGeom>
          <a:noFill/>
          <a:ln/>
        </p:spPr>
        <p:txBody>
          <a:bodyPr wrap="square" lIns="0" tIns="0" rIns="0" bIns="0" rtlCol="0" anchor="t">
            <a:normAutofit/>
          </a:bodyPr>
          <a:lstStyle/>
          <a:p>
            <a:pPr marL="0" indent="0" algn="l">
              <a:buNone/>
            </a:pPr>
            <a:r>
              <a:rPr lang="en-US" sz="1400" b="1" dirty="0">
                <a:solidFill>
                  <a:srgbClr val="20211F"/>
                </a:solidFill>
                <a:latin typeface="PingFang SC" pitchFamily="34" charset="0"/>
                <a:ea typeface="PingFang SC" pitchFamily="34" charset="-122"/>
                <a:cs typeface="PingFang SC" pitchFamily="34" charset="-120"/>
              </a:rPr>
              <a:t>高风险字段</a:t>
            </a:r>
            <a:endParaRPr lang="en-US" sz="1400" dirty="0"/>
          </a:p>
        </p:txBody>
      </p:sp>
      <p:sp>
        <p:nvSpPr>
          <p:cNvPr id="29" name="Text 27"/>
          <p:cNvSpPr/>
          <p:nvPr/>
        </p:nvSpPr>
        <p:spPr>
          <a:xfrm>
            <a:off x="5047488" y="3849624"/>
            <a:ext cx="2660904" cy="393192"/>
          </a:xfrm>
          <a:prstGeom prst="rect">
            <a:avLst/>
          </a:prstGeom>
          <a:noFill/>
          <a:ln/>
        </p:spPr>
        <p:txBody>
          <a:bodyPr wrap="square" lIns="0" tIns="0" rIns="0" bIns="0" rtlCol="0" anchor="t">
            <a:normAutofit/>
          </a:bodyPr>
          <a:lstStyle/>
          <a:p>
            <a:pPr marL="0" indent="0" algn="ctr">
              <a:buNone/>
            </a:pPr>
            <a:r>
              <a:rPr lang="en-US" sz="1200" dirty="0">
                <a:solidFill>
                  <a:srgbClr val="77766F"/>
                </a:solidFill>
                <a:latin typeface="PingFang SC" pitchFamily="34" charset="0"/>
                <a:ea typeface="PingFang SC" pitchFamily="34" charset="-122"/>
                <a:cs typeface="PingFang SC" pitchFamily="34" charset="-120"/>
              </a:rPr>
              <a:t>是否可信</a:t>
            </a:r>
            <a:endParaRPr lang="en-US" sz="1200" dirty="0"/>
          </a:p>
        </p:txBody>
      </p:sp>
      <p:sp>
        <p:nvSpPr>
          <p:cNvPr id="30" name="Shape 28"/>
          <p:cNvSpPr/>
          <p:nvPr/>
        </p:nvSpPr>
        <p:spPr>
          <a:xfrm>
            <a:off x="8129016" y="3127248"/>
            <a:ext cx="2999232" cy="1325880"/>
          </a:xfrm>
          <a:prstGeom prst="roundRect">
            <a:avLst>
              <a:gd name="adj" fmla="val 3448"/>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31" name="Shape 29"/>
          <p:cNvSpPr/>
          <p:nvPr/>
        </p:nvSpPr>
        <p:spPr>
          <a:xfrm>
            <a:off x="8129016" y="3127248"/>
            <a:ext cx="64008" cy="1325880"/>
          </a:xfrm>
          <a:prstGeom prst="rect">
            <a:avLst/>
          </a:prstGeom>
          <a:solidFill>
            <a:srgbClr val="527553"/>
          </a:solidFill>
          <a:ln w="12700">
            <a:solidFill>
              <a:srgbClr val="527553"/>
            </a:solidFill>
            <a:prstDash val="solid"/>
          </a:ln>
        </p:spPr>
      </p:sp>
      <p:sp>
        <p:nvSpPr>
          <p:cNvPr id="32" name="Text 30"/>
          <p:cNvSpPr/>
          <p:nvPr/>
        </p:nvSpPr>
        <p:spPr>
          <a:xfrm>
            <a:off x="8375904" y="3337560"/>
            <a:ext cx="2523744" cy="347472"/>
          </a:xfrm>
          <a:prstGeom prst="rect">
            <a:avLst/>
          </a:prstGeom>
          <a:noFill/>
          <a:ln/>
        </p:spPr>
        <p:txBody>
          <a:bodyPr wrap="square" lIns="0" tIns="0" rIns="0" bIns="0" rtlCol="0" anchor="t">
            <a:normAutofit/>
          </a:bodyPr>
          <a:lstStyle/>
          <a:p>
            <a:pPr marL="0" indent="0" algn="l">
              <a:buNone/>
            </a:pPr>
            <a:r>
              <a:rPr lang="en-US" sz="1400" b="1" dirty="0">
                <a:solidFill>
                  <a:srgbClr val="20211F"/>
                </a:solidFill>
                <a:latin typeface="PingFang SC" pitchFamily="34" charset="0"/>
                <a:ea typeface="PingFang SC" pitchFamily="34" charset="-122"/>
                <a:cs typeface="PingFang SC" pitchFamily="34" charset="-120"/>
              </a:rPr>
              <a:t>失败处理</a:t>
            </a:r>
            <a:endParaRPr lang="en-US" sz="1400" dirty="0"/>
          </a:p>
        </p:txBody>
      </p:sp>
      <p:sp>
        <p:nvSpPr>
          <p:cNvPr id="33" name="Text 31"/>
          <p:cNvSpPr/>
          <p:nvPr/>
        </p:nvSpPr>
        <p:spPr>
          <a:xfrm>
            <a:off x="8375904" y="3849624"/>
            <a:ext cx="2505456" cy="393192"/>
          </a:xfrm>
          <a:prstGeom prst="rect">
            <a:avLst/>
          </a:prstGeom>
          <a:noFill/>
          <a:ln/>
        </p:spPr>
        <p:txBody>
          <a:bodyPr wrap="square" lIns="0" tIns="0" rIns="0" bIns="0" rtlCol="0" anchor="t">
            <a:normAutofit/>
          </a:bodyPr>
          <a:lstStyle/>
          <a:p>
            <a:pPr marL="0" indent="0" algn="ctr">
              <a:buNone/>
            </a:pPr>
            <a:r>
              <a:rPr lang="en-US" sz="1200" dirty="0">
                <a:solidFill>
                  <a:srgbClr val="77766F"/>
                </a:solidFill>
                <a:latin typeface="PingFang SC" pitchFamily="34" charset="0"/>
                <a:ea typeface="PingFang SC" pitchFamily="34" charset="-122"/>
                <a:cs typeface="PingFang SC" pitchFamily="34" charset="-120"/>
              </a:rPr>
              <a:t>是否可恢复</a:t>
            </a:r>
            <a:endParaRPr lang="en-US" sz="1200" dirty="0"/>
          </a:p>
        </p:txBody>
      </p:sp>
      <p:sp>
        <p:nvSpPr>
          <p:cNvPr id="34" name="Text 32"/>
          <p:cNvSpPr/>
          <p:nvPr/>
        </p:nvSpPr>
        <p:spPr>
          <a:xfrm>
            <a:off x="4800600" y="4983480"/>
            <a:ext cx="6327648" cy="566928"/>
          </a:xfrm>
          <a:prstGeom prst="rect">
            <a:avLst/>
          </a:prstGeom>
          <a:noFill/>
          <a:ln/>
        </p:spPr>
        <p:txBody>
          <a:bodyPr wrap="square" lIns="0" tIns="0" rIns="0" bIns="0" rtlCol="0" anchor="ctr">
            <a:normAutofit/>
          </a:bodyPr>
          <a:lstStyle/>
          <a:p>
            <a:pPr marL="0" indent="0" algn="ctr">
              <a:buNone/>
            </a:pPr>
            <a:r>
              <a:rPr lang="en-US" sz="1550" b="1" dirty="0">
                <a:solidFill>
                  <a:srgbClr val="C35331"/>
                </a:solidFill>
                <a:latin typeface="PingFang SC" pitchFamily="34" charset="0"/>
                <a:ea typeface="PingFang SC" pitchFamily="34" charset="-122"/>
                <a:cs typeface="PingFang SC" pitchFamily="34" charset="-120"/>
              </a:rPr>
              <a:t>Prompt可以降低部分错误，但不能把生成模型变成绝对规则系统。</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5C49E61A-FD16-AC2B-17DC-A30A7058859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2EB644-7FA9-DAB7-03C6-E13F3EBDCF73}"/>
              </a:ext>
            </a:extLst>
          </p:cNvPr>
          <p:cNvSpPr/>
          <p:nvPr/>
        </p:nvSpPr>
        <p:spPr>
          <a:xfrm>
            <a:off x="0" y="0"/>
            <a:ext cx="201168" cy="6858000"/>
          </a:xfrm>
          <a:prstGeom prst="rect">
            <a:avLst/>
          </a:prstGeom>
          <a:solidFill>
            <a:srgbClr val="C35331"/>
          </a:solidFill>
          <a:ln w="12700">
            <a:solidFill>
              <a:srgbClr val="C35331"/>
            </a:solidFill>
            <a:prstDash val="solid"/>
          </a:ln>
        </p:spPr>
      </p:sp>
      <p:sp>
        <p:nvSpPr>
          <p:cNvPr id="4" name="Text 2">
            <a:extLst>
              <a:ext uri="{FF2B5EF4-FFF2-40B4-BE49-F238E27FC236}">
                <a16:creationId xmlns:a16="http://schemas.microsoft.com/office/drawing/2014/main" id="{5D7E6FEC-772A-3E97-187C-9618A97FAE42}"/>
              </a:ext>
            </a:extLst>
          </p:cNvPr>
          <p:cNvSpPr/>
          <p:nvPr/>
        </p:nvSpPr>
        <p:spPr>
          <a:xfrm>
            <a:off x="795528" y="3113532"/>
            <a:ext cx="7863840" cy="621792"/>
          </a:xfrm>
          <a:prstGeom prst="rect">
            <a:avLst/>
          </a:prstGeom>
          <a:noFill/>
          <a:ln/>
        </p:spPr>
        <p:txBody>
          <a:bodyPr wrap="square" lIns="0" tIns="0" rIns="0" bIns="0" rtlCol="0" anchor="t">
            <a:normAutofit/>
          </a:bodyPr>
          <a:lstStyle/>
          <a:p>
            <a:pPr marL="0" indent="0" algn="l">
              <a:buNone/>
            </a:pPr>
            <a:r>
              <a:rPr lang="en-US" sz="3600" b="1" dirty="0" err="1">
                <a:solidFill>
                  <a:srgbClr val="20211F"/>
                </a:solidFill>
                <a:latin typeface="+mn-ea"/>
                <a:cs typeface="PingFang SC" pitchFamily="34" charset="-120"/>
              </a:rPr>
              <a:t>Token和上下文</a:t>
            </a:r>
            <a:endParaRPr lang="en-US" sz="3600" dirty="0">
              <a:latin typeface="+mn-ea"/>
            </a:endParaRPr>
          </a:p>
        </p:txBody>
      </p:sp>
      <p:sp>
        <p:nvSpPr>
          <p:cNvPr id="6" name="Shape 4">
            <a:extLst>
              <a:ext uri="{FF2B5EF4-FFF2-40B4-BE49-F238E27FC236}">
                <a16:creationId xmlns:a16="http://schemas.microsoft.com/office/drawing/2014/main" id="{4EFE3F55-4575-80A0-EB9A-6AFCA6B07F4E}"/>
              </a:ext>
            </a:extLst>
          </p:cNvPr>
          <p:cNvSpPr/>
          <p:nvPr/>
        </p:nvSpPr>
        <p:spPr>
          <a:xfrm>
            <a:off x="841248" y="3822192"/>
            <a:ext cx="2743200" cy="0"/>
          </a:xfrm>
          <a:prstGeom prst="line">
            <a:avLst/>
          </a:prstGeom>
          <a:noFill/>
          <a:ln w="38100">
            <a:solidFill>
              <a:srgbClr val="C35331"/>
            </a:solidFill>
            <a:prstDash val="solid"/>
          </a:ln>
        </p:spPr>
      </p:sp>
    </p:spTree>
    <p:extLst>
      <p:ext uri="{BB962C8B-B14F-4D97-AF65-F5344CB8AC3E}">
        <p14:creationId xmlns:p14="http://schemas.microsoft.com/office/powerpoint/2010/main" val="4085964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14</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Token与上下文窗口</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Token：模型处理和生成信息的基本单位</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03 Token与上下文窗口</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14</a:t>
            </a:r>
            <a:endParaRPr lang="en-US" sz="850" dirty="0"/>
          </a:p>
        </p:txBody>
      </p:sp>
      <p:sp>
        <p:nvSpPr>
          <p:cNvPr id="10" name="Shape 8"/>
          <p:cNvSpPr/>
          <p:nvPr/>
        </p:nvSpPr>
        <p:spPr>
          <a:xfrm>
            <a:off x="731520" y="1691640"/>
            <a:ext cx="1677924" cy="1554480"/>
          </a:xfrm>
          <a:prstGeom prst="roundRect">
            <a:avLst>
              <a:gd name="adj" fmla="val 2941"/>
            </a:avLst>
          </a:prstGeom>
          <a:solidFill>
            <a:srgbClr val="FBF9F4"/>
          </a:solidFill>
          <a:ln w="12700">
            <a:solidFill>
              <a:srgbClr val="D8D0C2"/>
            </a:solidFill>
            <a:prstDash val="solid"/>
          </a:ln>
        </p:spPr>
      </p:sp>
      <p:sp>
        <p:nvSpPr>
          <p:cNvPr id="11" name="Text 9"/>
          <p:cNvSpPr/>
          <p:nvPr/>
        </p:nvSpPr>
        <p:spPr>
          <a:xfrm>
            <a:off x="896112" y="186537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405D78"/>
                </a:solidFill>
                <a:latin typeface="PingFang SC" pitchFamily="34" charset="0"/>
                <a:ea typeface="PingFang SC" pitchFamily="34" charset="-122"/>
                <a:cs typeface="PingFang SC" pitchFamily="34" charset="-120"/>
              </a:rPr>
              <a:t>01</a:t>
            </a:r>
            <a:endParaRPr lang="en-US" sz="1000" dirty="0"/>
          </a:p>
        </p:txBody>
      </p:sp>
      <p:sp>
        <p:nvSpPr>
          <p:cNvPr id="12" name="Text 10"/>
          <p:cNvSpPr/>
          <p:nvPr/>
        </p:nvSpPr>
        <p:spPr>
          <a:xfrm>
            <a:off x="868680" y="2258568"/>
            <a:ext cx="1403604"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自然语言</a:t>
            </a:r>
            <a:endParaRPr lang="en-US" sz="1320" dirty="0"/>
          </a:p>
        </p:txBody>
      </p:sp>
      <p:sp>
        <p:nvSpPr>
          <p:cNvPr id="13" name="Shape 11"/>
          <p:cNvSpPr/>
          <p:nvPr/>
        </p:nvSpPr>
        <p:spPr>
          <a:xfrm>
            <a:off x="2610612" y="1691640"/>
            <a:ext cx="1677924" cy="1554480"/>
          </a:xfrm>
          <a:prstGeom prst="roundRect">
            <a:avLst>
              <a:gd name="adj" fmla="val 2941"/>
            </a:avLst>
          </a:prstGeom>
          <a:solidFill>
            <a:srgbClr val="FBF9F4"/>
          </a:solidFill>
          <a:ln w="12700">
            <a:solidFill>
              <a:srgbClr val="D8D0C2"/>
            </a:solidFill>
            <a:prstDash val="solid"/>
          </a:ln>
        </p:spPr>
      </p:sp>
      <p:sp>
        <p:nvSpPr>
          <p:cNvPr id="14" name="Text 12"/>
          <p:cNvSpPr/>
          <p:nvPr/>
        </p:nvSpPr>
        <p:spPr>
          <a:xfrm>
            <a:off x="2775204" y="186537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387B77"/>
                </a:solidFill>
                <a:latin typeface="PingFang SC" pitchFamily="34" charset="0"/>
                <a:ea typeface="PingFang SC" pitchFamily="34" charset="-122"/>
                <a:cs typeface="PingFang SC" pitchFamily="34" charset="-120"/>
              </a:rPr>
              <a:t>02</a:t>
            </a:r>
            <a:endParaRPr lang="en-US" sz="1000" dirty="0"/>
          </a:p>
        </p:txBody>
      </p:sp>
      <p:sp>
        <p:nvSpPr>
          <p:cNvPr id="15" name="Text 13"/>
          <p:cNvSpPr/>
          <p:nvPr/>
        </p:nvSpPr>
        <p:spPr>
          <a:xfrm>
            <a:off x="2747772" y="2258568"/>
            <a:ext cx="1403604"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Tokenizer</a:t>
            </a:r>
            <a:endParaRPr lang="en-US" sz="1320" dirty="0"/>
          </a:p>
        </p:txBody>
      </p:sp>
      <p:sp>
        <p:nvSpPr>
          <p:cNvPr id="16" name="Text 14"/>
          <p:cNvSpPr/>
          <p:nvPr/>
        </p:nvSpPr>
        <p:spPr>
          <a:xfrm>
            <a:off x="2766060" y="2724912"/>
            <a:ext cx="1367028"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切分规则</a:t>
            </a:r>
            <a:endParaRPr lang="en-US" sz="970" dirty="0"/>
          </a:p>
        </p:txBody>
      </p:sp>
      <p:sp>
        <p:nvSpPr>
          <p:cNvPr id="17" name="Shape 15"/>
          <p:cNvSpPr/>
          <p:nvPr/>
        </p:nvSpPr>
        <p:spPr>
          <a:xfrm>
            <a:off x="4489704" y="1691640"/>
            <a:ext cx="1677924" cy="1554480"/>
          </a:xfrm>
          <a:prstGeom prst="roundRect">
            <a:avLst>
              <a:gd name="adj" fmla="val 2941"/>
            </a:avLst>
          </a:prstGeom>
          <a:solidFill>
            <a:srgbClr val="FBF9F4"/>
          </a:solidFill>
          <a:ln w="12700">
            <a:solidFill>
              <a:srgbClr val="D8D0C2"/>
            </a:solidFill>
            <a:prstDash val="solid"/>
          </a:ln>
        </p:spPr>
      </p:sp>
      <p:sp>
        <p:nvSpPr>
          <p:cNvPr id="18" name="Text 16"/>
          <p:cNvSpPr/>
          <p:nvPr/>
        </p:nvSpPr>
        <p:spPr>
          <a:xfrm>
            <a:off x="4654296" y="186537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74546A"/>
                </a:solidFill>
                <a:latin typeface="PingFang SC" pitchFamily="34" charset="0"/>
                <a:ea typeface="PingFang SC" pitchFamily="34" charset="-122"/>
                <a:cs typeface="PingFang SC" pitchFamily="34" charset="-120"/>
              </a:rPr>
              <a:t>03</a:t>
            </a:r>
            <a:endParaRPr lang="en-US" sz="1000" dirty="0"/>
          </a:p>
        </p:txBody>
      </p:sp>
      <p:sp>
        <p:nvSpPr>
          <p:cNvPr id="19" name="Text 17"/>
          <p:cNvSpPr/>
          <p:nvPr/>
        </p:nvSpPr>
        <p:spPr>
          <a:xfrm>
            <a:off x="4626864" y="2258568"/>
            <a:ext cx="1403604"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Token序列</a:t>
            </a:r>
            <a:endParaRPr lang="en-US" sz="1320" dirty="0"/>
          </a:p>
        </p:txBody>
      </p:sp>
      <p:sp>
        <p:nvSpPr>
          <p:cNvPr id="20" name="Shape 18"/>
          <p:cNvSpPr/>
          <p:nvPr/>
        </p:nvSpPr>
        <p:spPr>
          <a:xfrm>
            <a:off x="6368796" y="1691640"/>
            <a:ext cx="1677924" cy="1554480"/>
          </a:xfrm>
          <a:prstGeom prst="roundRect">
            <a:avLst>
              <a:gd name="adj" fmla="val 2941"/>
            </a:avLst>
          </a:prstGeom>
          <a:solidFill>
            <a:srgbClr val="FBF9F4"/>
          </a:solidFill>
          <a:ln w="12700">
            <a:solidFill>
              <a:srgbClr val="D8D0C2"/>
            </a:solidFill>
            <a:prstDash val="solid"/>
          </a:ln>
        </p:spPr>
      </p:sp>
      <p:sp>
        <p:nvSpPr>
          <p:cNvPr id="21" name="Text 19"/>
          <p:cNvSpPr/>
          <p:nvPr/>
        </p:nvSpPr>
        <p:spPr>
          <a:xfrm>
            <a:off x="6533388" y="186537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527553"/>
                </a:solidFill>
                <a:latin typeface="PingFang SC" pitchFamily="34" charset="0"/>
                <a:ea typeface="PingFang SC" pitchFamily="34" charset="-122"/>
                <a:cs typeface="PingFang SC" pitchFamily="34" charset="-120"/>
              </a:rPr>
              <a:t>04</a:t>
            </a:r>
            <a:endParaRPr lang="en-US" sz="1000" dirty="0"/>
          </a:p>
        </p:txBody>
      </p:sp>
      <p:sp>
        <p:nvSpPr>
          <p:cNvPr id="22" name="Text 20"/>
          <p:cNvSpPr/>
          <p:nvPr/>
        </p:nvSpPr>
        <p:spPr>
          <a:xfrm>
            <a:off x="6505956" y="2258568"/>
            <a:ext cx="1403604"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模型处理</a:t>
            </a:r>
            <a:endParaRPr lang="en-US" sz="1320" dirty="0"/>
          </a:p>
        </p:txBody>
      </p:sp>
      <p:sp>
        <p:nvSpPr>
          <p:cNvPr id="23" name="Shape 21"/>
          <p:cNvSpPr/>
          <p:nvPr/>
        </p:nvSpPr>
        <p:spPr>
          <a:xfrm>
            <a:off x="8366760" y="1600200"/>
            <a:ext cx="2880360" cy="3840480"/>
          </a:xfrm>
          <a:prstGeom prst="roundRect">
            <a:avLst>
              <a:gd name="adj" fmla="val 1587"/>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24" name="Shape 22"/>
          <p:cNvSpPr/>
          <p:nvPr/>
        </p:nvSpPr>
        <p:spPr>
          <a:xfrm>
            <a:off x="8366760" y="1600200"/>
            <a:ext cx="64008" cy="3840480"/>
          </a:xfrm>
          <a:prstGeom prst="rect">
            <a:avLst/>
          </a:prstGeom>
          <a:solidFill>
            <a:srgbClr val="C35331"/>
          </a:solidFill>
          <a:ln w="12700">
            <a:solidFill>
              <a:srgbClr val="C35331"/>
            </a:solidFill>
            <a:prstDash val="solid"/>
          </a:ln>
        </p:spPr>
      </p:sp>
      <p:sp>
        <p:nvSpPr>
          <p:cNvPr id="25" name="Text 23"/>
          <p:cNvSpPr/>
          <p:nvPr/>
        </p:nvSpPr>
        <p:spPr>
          <a:xfrm>
            <a:off x="8613648" y="1810512"/>
            <a:ext cx="2404872" cy="347472"/>
          </a:xfrm>
          <a:prstGeom prst="rect">
            <a:avLst/>
          </a:prstGeom>
          <a:noFill/>
          <a:ln/>
        </p:spPr>
        <p:txBody>
          <a:bodyPr wrap="square" lIns="0" tIns="0" rIns="0" bIns="0" rtlCol="0" anchor="t">
            <a:normAutofit/>
          </a:bodyPr>
          <a:lstStyle/>
          <a:p>
            <a:pPr marL="0" indent="0" algn="l">
              <a:buNone/>
            </a:pPr>
            <a:r>
              <a:rPr lang="en-US" sz="1600" b="1" dirty="0">
                <a:solidFill>
                  <a:srgbClr val="20211F"/>
                </a:solidFill>
                <a:latin typeface="PingFang SC" pitchFamily="34" charset="0"/>
                <a:ea typeface="PingFang SC" pitchFamily="34" charset="-122"/>
                <a:cs typeface="PingFang SC" pitchFamily="34" charset="-120"/>
              </a:rPr>
              <a:t>Token不固定等于</a:t>
            </a:r>
            <a:endParaRPr lang="en-US" sz="1600" dirty="0"/>
          </a:p>
        </p:txBody>
      </p:sp>
      <p:sp>
        <p:nvSpPr>
          <p:cNvPr id="26" name="Text 24"/>
          <p:cNvSpPr/>
          <p:nvPr/>
        </p:nvSpPr>
        <p:spPr>
          <a:xfrm>
            <a:off x="8613648" y="2322576"/>
            <a:ext cx="2386584" cy="2907792"/>
          </a:xfrm>
          <a:prstGeom prst="rect">
            <a:avLst/>
          </a:prstGeom>
          <a:noFill/>
          <a:ln/>
        </p:spPr>
        <p:txBody>
          <a:bodyPr wrap="square" lIns="0" tIns="0" rIns="0" bIns="0" rtlCol="0" anchor="t">
            <a:normAutofit/>
          </a:bodyPr>
          <a:lstStyle/>
          <a:p>
            <a:pPr marL="0" indent="0" algn="l">
              <a:buNone/>
            </a:pPr>
            <a:r>
              <a:rPr lang="en-US" sz="1300" dirty="0">
                <a:solidFill>
                  <a:srgbClr val="77766F"/>
                </a:solidFill>
                <a:latin typeface="PingFang SC" pitchFamily="34" charset="0"/>
                <a:ea typeface="PingFang SC" pitchFamily="34" charset="-122"/>
                <a:cs typeface="PingFang SC" pitchFamily="34" charset="-120"/>
              </a:rPr>
              <a:t>× 一个汉字</a:t>
            </a:r>
            <a:endParaRPr lang="en-US" sz="1300" dirty="0"/>
          </a:p>
          <a:p>
            <a:pPr marL="0" indent="0" algn="l">
              <a:buNone/>
            </a:pPr>
            <a:r>
              <a:rPr lang="en-US" sz="1300" dirty="0">
                <a:solidFill>
                  <a:srgbClr val="77766F"/>
                </a:solidFill>
                <a:latin typeface="PingFang SC" pitchFamily="34" charset="0"/>
                <a:ea typeface="PingFang SC" pitchFamily="34" charset="-122"/>
                <a:cs typeface="PingFang SC" pitchFamily="34" charset="-120"/>
              </a:rPr>
              <a:t>× 一个中文词</a:t>
            </a:r>
            <a:endParaRPr lang="en-US" sz="1300" dirty="0"/>
          </a:p>
          <a:p>
            <a:pPr marL="0" indent="0" algn="l">
              <a:buNone/>
            </a:pPr>
            <a:r>
              <a:rPr lang="en-US" sz="1300" dirty="0">
                <a:solidFill>
                  <a:srgbClr val="77766F"/>
                </a:solidFill>
                <a:latin typeface="PingFang SC" pitchFamily="34" charset="0"/>
                <a:ea typeface="PingFang SC" pitchFamily="34" charset="-122"/>
                <a:cs typeface="PingFang SC" pitchFamily="34" charset="-120"/>
              </a:rPr>
              <a:t>× 一个英文单词</a:t>
            </a:r>
            <a:endParaRPr lang="en-US" sz="1300" dirty="0"/>
          </a:p>
          <a:p>
            <a:pPr marL="0" indent="0" algn="l">
              <a:buNone/>
            </a:pPr>
            <a:r>
              <a:rPr lang="en-US" sz="1300" dirty="0">
                <a:solidFill>
                  <a:srgbClr val="77766F"/>
                </a:solidFill>
                <a:latin typeface="PingFang SC" pitchFamily="34" charset="0"/>
                <a:ea typeface="PingFang SC" pitchFamily="34" charset="-122"/>
                <a:cs typeface="PingFang SC" pitchFamily="34" charset="-120"/>
              </a:rPr>
              <a:t>× 固定长度字符</a:t>
            </a:r>
            <a:endParaRPr lang="en-US" sz="1300" dirty="0"/>
          </a:p>
          <a:p>
            <a:pPr marL="0" indent="0" algn="l">
              <a:buNone/>
            </a:pPr>
            <a:endParaRPr lang="en-US" sz="1300" dirty="0"/>
          </a:p>
          <a:p>
            <a:pPr marL="0" indent="0" algn="l">
              <a:buNone/>
            </a:pPr>
            <a:r>
              <a:rPr lang="en-US" sz="1300" dirty="0">
                <a:solidFill>
                  <a:srgbClr val="77766F"/>
                </a:solidFill>
                <a:latin typeface="PingFang SC" pitchFamily="34" charset="0"/>
                <a:ea typeface="PingFang SC" pitchFamily="34" charset="-122"/>
                <a:cs typeface="PingFang SC" pitchFamily="34" charset="-120"/>
              </a:rPr>
              <a:t>不同模型可能不同</a:t>
            </a:r>
            <a:endParaRPr lang="en-US" sz="1300" dirty="0"/>
          </a:p>
        </p:txBody>
      </p:sp>
      <p:sp>
        <p:nvSpPr>
          <p:cNvPr id="27" name="Text 25"/>
          <p:cNvSpPr/>
          <p:nvPr/>
        </p:nvSpPr>
        <p:spPr>
          <a:xfrm>
            <a:off x="914400" y="5230368"/>
            <a:ext cx="7040880" cy="329184"/>
          </a:xfrm>
          <a:prstGeom prst="rect">
            <a:avLst/>
          </a:prstGeom>
          <a:noFill/>
          <a:ln/>
        </p:spPr>
        <p:txBody>
          <a:bodyPr wrap="square" lIns="0" tIns="0" rIns="0" bIns="0" rtlCol="0" anchor="t">
            <a:normAutofit/>
          </a:bodyPr>
          <a:lstStyle/>
          <a:p>
            <a:pPr marL="0" indent="0" algn="ctr">
              <a:buNone/>
            </a:pPr>
            <a:r>
              <a:rPr lang="en-US" sz="1200" dirty="0">
                <a:solidFill>
                  <a:srgbClr val="77766F"/>
                </a:solidFill>
                <a:latin typeface="PingFang SC" pitchFamily="34" charset="0"/>
                <a:ea typeface="PingFang SC" pitchFamily="34" charset="-122"/>
                <a:cs typeface="PingFang SC" pitchFamily="34" charset="-120"/>
              </a:rPr>
              <a:t>若展示真实切分，必须标明模型或Tokenizer。</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15</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Token与上下文窗口</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用户只输入一句话，不代表模型只看到一句话</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03 Token与上下文窗口</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15</a:t>
            </a:r>
            <a:endParaRPr lang="en-US" sz="850" dirty="0"/>
          </a:p>
        </p:txBody>
      </p:sp>
      <p:sp>
        <p:nvSpPr>
          <p:cNvPr id="10" name="Shape 8"/>
          <p:cNvSpPr/>
          <p:nvPr/>
        </p:nvSpPr>
        <p:spPr>
          <a:xfrm>
            <a:off x="3703320" y="1572768"/>
            <a:ext cx="4800600" cy="4114800"/>
          </a:xfrm>
          <a:prstGeom prst="roundRect">
            <a:avLst>
              <a:gd name="adj" fmla="val 1333"/>
            </a:avLst>
          </a:prstGeom>
          <a:solidFill>
            <a:srgbClr val="FBF9F4"/>
          </a:solidFill>
          <a:ln w="25400">
            <a:solidFill>
              <a:srgbClr val="387B77"/>
            </a:solidFill>
            <a:prstDash val="solid"/>
          </a:ln>
        </p:spPr>
      </p:sp>
      <p:sp>
        <p:nvSpPr>
          <p:cNvPr id="11" name="Text 9"/>
          <p:cNvSpPr/>
          <p:nvPr/>
        </p:nvSpPr>
        <p:spPr>
          <a:xfrm>
            <a:off x="3977640" y="1810512"/>
            <a:ext cx="4251960" cy="320040"/>
          </a:xfrm>
          <a:prstGeom prst="rect">
            <a:avLst/>
          </a:prstGeom>
          <a:noFill/>
          <a:ln/>
        </p:spPr>
        <p:txBody>
          <a:bodyPr wrap="square" lIns="0" tIns="0" rIns="0" bIns="0" rtlCol="0" anchor="t">
            <a:normAutofit/>
          </a:bodyPr>
          <a:lstStyle/>
          <a:p>
            <a:pPr marL="0" indent="0" algn="ctr">
              <a:buNone/>
            </a:pPr>
            <a:r>
              <a:rPr lang="en-US" sz="1700" b="1" dirty="0">
                <a:solidFill>
                  <a:srgbClr val="387B77"/>
                </a:solidFill>
                <a:latin typeface="PingFang SC" pitchFamily="34" charset="0"/>
                <a:ea typeface="PingFang SC" pitchFamily="34" charset="-122"/>
                <a:cs typeface="PingFang SC" pitchFamily="34" charset="-120"/>
              </a:rPr>
              <a:t>本次上下文工作区</a:t>
            </a:r>
            <a:endParaRPr lang="en-US" sz="1700" dirty="0"/>
          </a:p>
        </p:txBody>
      </p:sp>
      <p:sp>
        <p:nvSpPr>
          <p:cNvPr id="24" name="Shape 22"/>
          <p:cNvSpPr/>
          <p:nvPr/>
        </p:nvSpPr>
        <p:spPr>
          <a:xfrm>
            <a:off x="4069080" y="2423160"/>
            <a:ext cx="1737360" cy="347472"/>
          </a:xfrm>
          <a:prstGeom prst="roundRect">
            <a:avLst>
              <a:gd name="adj" fmla="val 21053"/>
            </a:avLst>
          </a:prstGeom>
          <a:solidFill>
            <a:srgbClr val="F2E2DB"/>
          </a:solidFill>
          <a:ln w="12700">
            <a:solidFill>
              <a:srgbClr val="F2E2DB"/>
            </a:solidFill>
            <a:prstDash val="solid"/>
          </a:ln>
        </p:spPr>
      </p:sp>
      <p:sp>
        <p:nvSpPr>
          <p:cNvPr id="25" name="Text 23"/>
          <p:cNvSpPr/>
          <p:nvPr/>
        </p:nvSpPr>
        <p:spPr>
          <a:xfrm>
            <a:off x="4142232" y="2505456"/>
            <a:ext cx="1591056" cy="155448"/>
          </a:xfrm>
          <a:prstGeom prst="rect">
            <a:avLst/>
          </a:prstGeom>
          <a:noFill/>
          <a:ln/>
        </p:spPr>
        <p:txBody>
          <a:bodyPr wrap="square" lIns="0" tIns="0" rIns="0" bIns="0" rtlCol="0" anchor="t">
            <a:normAutofit/>
          </a:bodyPr>
          <a:lstStyle/>
          <a:p>
            <a:pPr marL="0" indent="0" algn="ctr">
              <a:buNone/>
            </a:pPr>
            <a:r>
              <a:rPr lang="en-US" sz="950" b="1" dirty="0">
                <a:solidFill>
                  <a:srgbClr val="C35331"/>
                </a:solidFill>
                <a:latin typeface="PingFang SC" pitchFamily="34" charset="0"/>
                <a:ea typeface="PingFang SC" pitchFamily="34" charset="-122"/>
                <a:cs typeface="PingFang SC" pitchFamily="34" charset="-120"/>
              </a:rPr>
              <a:t>内部指令</a:t>
            </a:r>
            <a:endParaRPr lang="en-US" sz="950" dirty="0"/>
          </a:p>
        </p:txBody>
      </p:sp>
      <p:sp>
        <p:nvSpPr>
          <p:cNvPr id="26" name="Shape 24"/>
          <p:cNvSpPr/>
          <p:nvPr/>
        </p:nvSpPr>
        <p:spPr>
          <a:xfrm>
            <a:off x="6080760" y="2423160"/>
            <a:ext cx="1737360" cy="347472"/>
          </a:xfrm>
          <a:prstGeom prst="roundRect">
            <a:avLst>
              <a:gd name="adj" fmla="val 21053"/>
            </a:avLst>
          </a:prstGeom>
          <a:solidFill>
            <a:srgbClr val="DDE5EB"/>
          </a:solidFill>
          <a:ln w="12700">
            <a:solidFill>
              <a:srgbClr val="DDE5EB"/>
            </a:solidFill>
            <a:prstDash val="solid"/>
          </a:ln>
        </p:spPr>
      </p:sp>
      <p:sp>
        <p:nvSpPr>
          <p:cNvPr id="27" name="Text 25"/>
          <p:cNvSpPr/>
          <p:nvPr/>
        </p:nvSpPr>
        <p:spPr>
          <a:xfrm>
            <a:off x="6153912" y="2505456"/>
            <a:ext cx="1591056" cy="155448"/>
          </a:xfrm>
          <a:prstGeom prst="rect">
            <a:avLst/>
          </a:prstGeom>
          <a:noFill/>
          <a:ln/>
        </p:spPr>
        <p:txBody>
          <a:bodyPr wrap="square" lIns="0" tIns="0" rIns="0" bIns="0" rtlCol="0" anchor="t">
            <a:normAutofit/>
          </a:bodyPr>
          <a:lstStyle/>
          <a:p>
            <a:pPr marL="0" indent="0" algn="ctr">
              <a:buNone/>
            </a:pPr>
            <a:r>
              <a:rPr lang="en-US" sz="950" b="1" dirty="0">
                <a:solidFill>
                  <a:srgbClr val="405D78"/>
                </a:solidFill>
                <a:latin typeface="PingFang SC" pitchFamily="34" charset="0"/>
                <a:ea typeface="PingFang SC" pitchFamily="34" charset="-122"/>
                <a:cs typeface="PingFang SC" pitchFamily="34" charset="-120"/>
              </a:rPr>
              <a:t>用户输入</a:t>
            </a:r>
            <a:endParaRPr lang="en-US" sz="950" dirty="0"/>
          </a:p>
        </p:txBody>
      </p:sp>
      <p:sp>
        <p:nvSpPr>
          <p:cNvPr id="28" name="Shape 26"/>
          <p:cNvSpPr/>
          <p:nvPr/>
        </p:nvSpPr>
        <p:spPr>
          <a:xfrm>
            <a:off x="4069080" y="3209544"/>
            <a:ext cx="1737360" cy="347472"/>
          </a:xfrm>
          <a:prstGeom prst="roundRect">
            <a:avLst>
              <a:gd name="adj" fmla="val 21053"/>
            </a:avLst>
          </a:prstGeom>
          <a:solidFill>
            <a:srgbClr val="E8E0E7"/>
          </a:solidFill>
          <a:ln w="12700">
            <a:solidFill>
              <a:srgbClr val="E8E0E7"/>
            </a:solidFill>
            <a:prstDash val="solid"/>
          </a:ln>
        </p:spPr>
      </p:sp>
      <p:sp>
        <p:nvSpPr>
          <p:cNvPr id="29" name="Text 27"/>
          <p:cNvSpPr/>
          <p:nvPr/>
        </p:nvSpPr>
        <p:spPr>
          <a:xfrm>
            <a:off x="4142232" y="3291840"/>
            <a:ext cx="1591056" cy="155448"/>
          </a:xfrm>
          <a:prstGeom prst="rect">
            <a:avLst/>
          </a:prstGeom>
          <a:noFill/>
          <a:ln/>
        </p:spPr>
        <p:txBody>
          <a:bodyPr wrap="square" lIns="0" tIns="0" rIns="0" bIns="0" rtlCol="0" anchor="t">
            <a:normAutofit/>
          </a:bodyPr>
          <a:lstStyle/>
          <a:p>
            <a:pPr marL="0" indent="0" algn="ctr">
              <a:buNone/>
            </a:pPr>
            <a:r>
              <a:rPr lang="en-US" sz="950" b="1" dirty="0">
                <a:solidFill>
                  <a:srgbClr val="74546A"/>
                </a:solidFill>
                <a:latin typeface="PingFang SC" pitchFamily="34" charset="0"/>
                <a:ea typeface="PingFang SC" pitchFamily="34" charset="-122"/>
                <a:cs typeface="PingFang SC" pitchFamily="34" charset="-120"/>
              </a:rPr>
              <a:t>历史对话</a:t>
            </a:r>
            <a:endParaRPr lang="en-US" sz="950" dirty="0"/>
          </a:p>
        </p:txBody>
      </p:sp>
      <p:sp>
        <p:nvSpPr>
          <p:cNvPr id="30" name="Shape 28"/>
          <p:cNvSpPr/>
          <p:nvPr/>
        </p:nvSpPr>
        <p:spPr>
          <a:xfrm>
            <a:off x="6080760" y="3209544"/>
            <a:ext cx="1737360" cy="347472"/>
          </a:xfrm>
          <a:prstGeom prst="roundRect">
            <a:avLst>
              <a:gd name="adj" fmla="val 21053"/>
            </a:avLst>
          </a:prstGeom>
          <a:solidFill>
            <a:srgbClr val="F2E7D5"/>
          </a:solidFill>
          <a:ln w="12700">
            <a:solidFill>
              <a:srgbClr val="F2E7D5"/>
            </a:solidFill>
            <a:prstDash val="solid"/>
          </a:ln>
        </p:spPr>
      </p:sp>
      <p:sp>
        <p:nvSpPr>
          <p:cNvPr id="31" name="Text 29"/>
          <p:cNvSpPr/>
          <p:nvPr/>
        </p:nvSpPr>
        <p:spPr>
          <a:xfrm>
            <a:off x="6153912" y="3291840"/>
            <a:ext cx="1591056" cy="155448"/>
          </a:xfrm>
          <a:prstGeom prst="rect">
            <a:avLst/>
          </a:prstGeom>
          <a:noFill/>
          <a:ln/>
        </p:spPr>
        <p:txBody>
          <a:bodyPr wrap="square" lIns="0" tIns="0" rIns="0" bIns="0" rtlCol="0" anchor="t">
            <a:normAutofit/>
          </a:bodyPr>
          <a:lstStyle/>
          <a:p>
            <a:pPr marL="0" indent="0" algn="ctr">
              <a:buNone/>
            </a:pPr>
            <a:r>
              <a:rPr lang="en-US" sz="950" b="1" dirty="0">
                <a:solidFill>
                  <a:srgbClr val="D18A38"/>
                </a:solidFill>
                <a:latin typeface="PingFang SC" pitchFamily="34" charset="0"/>
                <a:ea typeface="PingFang SC" pitchFamily="34" charset="-122"/>
                <a:cs typeface="PingFang SC" pitchFamily="34" charset="-120"/>
              </a:rPr>
              <a:t>上传文档</a:t>
            </a:r>
            <a:endParaRPr lang="en-US" sz="950" dirty="0"/>
          </a:p>
        </p:txBody>
      </p:sp>
      <p:sp>
        <p:nvSpPr>
          <p:cNvPr id="32" name="Shape 30"/>
          <p:cNvSpPr/>
          <p:nvPr/>
        </p:nvSpPr>
        <p:spPr>
          <a:xfrm>
            <a:off x="4069080" y="3995928"/>
            <a:ext cx="1737360" cy="347472"/>
          </a:xfrm>
          <a:prstGeom prst="roundRect">
            <a:avLst>
              <a:gd name="adj" fmla="val 21053"/>
            </a:avLst>
          </a:prstGeom>
          <a:solidFill>
            <a:srgbClr val="E2E9DE"/>
          </a:solidFill>
          <a:ln w="12700">
            <a:solidFill>
              <a:srgbClr val="E2E9DE"/>
            </a:solidFill>
            <a:prstDash val="solid"/>
          </a:ln>
        </p:spPr>
      </p:sp>
      <p:sp>
        <p:nvSpPr>
          <p:cNvPr id="33" name="Text 31"/>
          <p:cNvSpPr/>
          <p:nvPr/>
        </p:nvSpPr>
        <p:spPr>
          <a:xfrm>
            <a:off x="4142232" y="4078224"/>
            <a:ext cx="1591056" cy="155448"/>
          </a:xfrm>
          <a:prstGeom prst="rect">
            <a:avLst/>
          </a:prstGeom>
          <a:noFill/>
          <a:ln/>
        </p:spPr>
        <p:txBody>
          <a:bodyPr wrap="square" lIns="0" tIns="0" rIns="0" bIns="0" rtlCol="0" anchor="t">
            <a:normAutofit/>
          </a:bodyPr>
          <a:lstStyle/>
          <a:p>
            <a:pPr marL="0" indent="0" algn="ctr">
              <a:buNone/>
            </a:pPr>
            <a:r>
              <a:rPr lang="en-US" sz="950" b="1" dirty="0">
                <a:solidFill>
                  <a:srgbClr val="527553"/>
                </a:solidFill>
                <a:latin typeface="PingFang SC" pitchFamily="34" charset="0"/>
                <a:ea typeface="PingFang SC" pitchFamily="34" charset="-122"/>
                <a:cs typeface="PingFang SC" pitchFamily="34" charset="-120"/>
              </a:rPr>
              <a:t>业务材料</a:t>
            </a:r>
            <a:endParaRPr lang="en-US" sz="950" dirty="0"/>
          </a:p>
        </p:txBody>
      </p:sp>
      <p:sp>
        <p:nvSpPr>
          <p:cNvPr id="34" name="Shape 32"/>
          <p:cNvSpPr/>
          <p:nvPr/>
        </p:nvSpPr>
        <p:spPr>
          <a:xfrm>
            <a:off x="6080760" y="3995928"/>
            <a:ext cx="1737360" cy="347472"/>
          </a:xfrm>
          <a:prstGeom prst="roundRect">
            <a:avLst>
              <a:gd name="adj" fmla="val 21053"/>
            </a:avLst>
          </a:prstGeom>
          <a:solidFill>
            <a:srgbClr val="DDEBE8"/>
          </a:solidFill>
          <a:ln w="12700">
            <a:solidFill>
              <a:srgbClr val="DDEBE8"/>
            </a:solidFill>
            <a:prstDash val="solid"/>
          </a:ln>
        </p:spPr>
      </p:sp>
      <p:sp>
        <p:nvSpPr>
          <p:cNvPr id="35" name="Text 33"/>
          <p:cNvSpPr/>
          <p:nvPr/>
        </p:nvSpPr>
        <p:spPr>
          <a:xfrm>
            <a:off x="6153912" y="4078224"/>
            <a:ext cx="1591056" cy="155448"/>
          </a:xfrm>
          <a:prstGeom prst="rect">
            <a:avLst/>
          </a:prstGeom>
          <a:noFill/>
          <a:ln/>
        </p:spPr>
        <p:txBody>
          <a:bodyPr wrap="square" lIns="0" tIns="0" rIns="0" bIns="0" rtlCol="0" anchor="t">
            <a:normAutofit/>
          </a:bodyPr>
          <a:lstStyle/>
          <a:p>
            <a:pPr marL="0" indent="0" algn="ctr">
              <a:buNone/>
            </a:pPr>
            <a:r>
              <a:rPr lang="en-US" sz="950" b="1" dirty="0">
                <a:solidFill>
                  <a:srgbClr val="387B77"/>
                </a:solidFill>
                <a:latin typeface="PingFang SC" pitchFamily="34" charset="0"/>
                <a:ea typeface="PingFang SC" pitchFamily="34" charset="-122"/>
                <a:cs typeface="PingFang SC" pitchFamily="34" charset="-120"/>
              </a:rPr>
              <a:t>知识片段</a:t>
            </a:r>
            <a:endParaRPr lang="en-US" sz="950" dirty="0"/>
          </a:p>
        </p:txBody>
      </p:sp>
      <p:sp>
        <p:nvSpPr>
          <p:cNvPr id="36" name="Shape 34"/>
          <p:cNvSpPr/>
          <p:nvPr/>
        </p:nvSpPr>
        <p:spPr>
          <a:xfrm>
            <a:off x="8887968" y="1572768"/>
            <a:ext cx="2331720" cy="4114800"/>
          </a:xfrm>
          <a:prstGeom prst="roundRect">
            <a:avLst>
              <a:gd name="adj" fmla="val 1961"/>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37" name="Shape 35"/>
          <p:cNvSpPr/>
          <p:nvPr/>
        </p:nvSpPr>
        <p:spPr>
          <a:xfrm>
            <a:off x="8887968" y="1572768"/>
            <a:ext cx="64008" cy="4114800"/>
          </a:xfrm>
          <a:prstGeom prst="rect">
            <a:avLst/>
          </a:prstGeom>
          <a:solidFill>
            <a:srgbClr val="D18A38"/>
          </a:solidFill>
          <a:ln w="12700">
            <a:solidFill>
              <a:srgbClr val="D18A38"/>
            </a:solidFill>
            <a:prstDash val="solid"/>
          </a:ln>
        </p:spPr>
      </p:sp>
      <p:sp>
        <p:nvSpPr>
          <p:cNvPr id="38" name="Text 36"/>
          <p:cNvSpPr/>
          <p:nvPr/>
        </p:nvSpPr>
        <p:spPr>
          <a:xfrm>
            <a:off x="9134856" y="1783080"/>
            <a:ext cx="1856232" cy="347472"/>
          </a:xfrm>
          <a:prstGeom prst="rect">
            <a:avLst/>
          </a:prstGeom>
          <a:noFill/>
          <a:ln/>
        </p:spPr>
        <p:txBody>
          <a:bodyPr wrap="square" lIns="0" tIns="0" rIns="0" bIns="0" rtlCol="0" anchor="t">
            <a:normAutofit/>
          </a:bodyPr>
          <a:lstStyle/>
          <a:p>
            <a:pPr marL="0" indent="0" algn="l">
              <a:buNone/>
            </a:pPr>
            <a:r>
              <a:rPr lang="en-US" sz="1600" b="1" dirty="0">
                <a:solidFill>
                  <a:srgbClr val="20211F"/>
                </a:solidFill>
                <a:latin typeface="PingFang SC" pitchFamily="34" charset="0"/>
                <a:ea typeface="PingFang SC" pitchFamily="34" charset="-122"/>
                <a:cs typeface="PingFang SC" pitchFamily="34" charset="-120"/>
              </a:rPr>
              <a:t>输出预算</a:t>
            </a:r>
            <a:endParaRPr lang="en-US" sz="1600" dirty="0"/>
          </a:p>
        </p:txBody>
      </p:sp>
      <p:sp>
        <p:nvSpPr>
          <p:cNvPr id="39" name="Text 37"/>
          <p:cNvSpPr/>
          <p:nvPr/>
        </p:nvSpPr>
        <p:spPr>
          <a:xfrm>
            <a:off x="9134856" y="2295144"/>
            <a:ext cx="1837944" cy="3182112"/>
          </a:xfrm>
          <a:prstGeom prst="rect">
            <a:avLst/>
          </a:prstGeom>
          <a:noFill/>
          <a:ln/>
        </p:spPr>
        <p:txBody>
          <a:bodyPr wrap="square" lIns="0" tIns="0" rIns="0" bIns="0" rtlCol="0" anchor="t">
            <a:normAutofit/>
          </a:bodyPr>
          <a:lstStyle/>
          <a:p>
            <a:pPr marL="0" indent="0" algn="ctr">
              <a:buNone/>
            </a:pPr>
            <a:r>
              <a:rPr lang="en-US" sz="1200" dirty="0">
                <a:solidFill>
                  <a:srgbClr val="77766F"/>
                </a:solidFill>
                <a:latin typeface="PingFang SC" pitchFamily="34" charset="0"/>
                <a:ea typeface="PingFang SC" pitchFamily="34" charset="-122"/>
                <a:cs typeface="PingFang SC" pitchFamily="34" charset="-120"/>
              </a:rPr>
              <a:t>需要为本次生成结果预留空间</a:t>
            </a:r>
            <a:endParaRPr lang="en-US" sz="1200" dirty="0"/>
          </a:p>
          <a:p>
            <a:pPr marL="0" indent="0" algn="ctr">
              <a:buNone/>
            </a:pPr>
            <a:endParaRPr lang="en-US" sz="1200" dirty="0"/>
          </a:p>
          <a:p>
            <a:pPr marL="0" indent="0" algn="ctr">
              <a:buNone/>
            </a:pPr>
            <a:r>
              <a:rPr lang="en-US" sz="1200" dirty="0">
                <a:solidFill>
                  <a:srgbClr val="77766F"/>
                </a:solidFill>
                <a:latin typeface="PingFang SC" pitchFamily="34" charset="0"/>
                <a:ea typeface="PingFang SC" pitchFamily="34" charset="-122"/>
                <a:cs typeface="PingFang SC" pitchFamily="34" charset="-120"/>
              </a:rPr>
              <a:t>具体计算与接口行为依模型而异</a:t>
            </a:r>
            <a:endParaRPr lang="en-US" sz="1200" dirty="0"/>
          </a:p>
        </p:txBody>
      </p:sp>
      <p:sp>
        <p:nvSpPr>
          <p:cNvPr id="40" name="Text 38"/>
          <p:cNvSpPr/>
          <p:nvPr/>
        </p:nvSpPr>
        <p:spPr>
          <a:xfrm>
            <a:off x="914400" y="5806440"/>
            <a:ext cx="10241280" cy="320040"/>
          </a:xfrm>
          <a:prstGeom prst="rect">
            <a:avLst/>
          </a:prstGeom>
          <a:noFill/>
          <a:ln/>
        </p:spPr>
        <p:txBody>
          <a:bodyPr wrap="square" lIns="0" tIns="0" rIns="0" bIns="0" rtlCol="0" anchor="t">
            <a:normAutofit/>
          </a:bodyPr>
          <a:lstStyle/>
          <a:p>
            <a:pPr marL="0" indent="0" algn="ctr">
              <a:buNone/>
            </a:pPr>
            <a:r>
              <a:rPr lang="en-US" sz="1500" b="1" dirty="0">
                <a:solidFill>
                  <a:srgbClr val="C35331"/>
                </a:solidFill>
                <a:latin typeface="PingFang SC" pitchFamily="34" charset="0"/>
                <a:ea typeface="PingFang SC" pitchFamily="34" charset="-122"/>
                <a:cs typeface="PingFang SC" pitchFamily="34" charset="-120"/>
              </a:rPr>
              <a:t>界面看不到的内容，也可能占用本次Token空间。</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16</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Token与上下文窗口</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上下文窗口：一次调用可使用的有限Token空间</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03 Token与上下文窗口</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16</a:t>
            </a:r>
            <a:endParaRPr lang="en-US" sz="850" dirty="0"/>
          </a:p>
        </p:txBody>
      </p:sp>
      <p:sp>
        <p:nvSpPr>
          <p:cNvPr id="10" name="Shape 8"/>
          <p:cNvSpPr/>
          <p:nvPr/>
        </p:nvSpPr>
        <p:spPr>
          <a:xfrm>
            <a:off x="658368" y="1481328"/>
            <a:ext cx="3480816" cy="1572768"/>
          </a:xfrm>
          <a:prstGeom prst="roundRect">
            <a:avLst>
              <a:gd name="adj" fmla="val 2907"/>
            </a:avLst>
          </a:prstGeom>
          <a:solidFill>
            <a:srgbClr val="FBF9F4"/>
          </a:solidFill>
          <a:ln w="12700">
            <a:solidFill>
              <a:srgbClr val="D8D0C2"/>
            </a:solidFill>
            <a:prstDash val="solid"/>
          </a:ln>
        </p:spPr>
      </p:sp>
      <p:sp>
        <p:nvSpPr>
          <p:cNvPr id="11" name="Shape 9"/>
          <p:cNvSpPr/>
          <p:nvPr/>
        </p:nvSpPr>
        <p:spPr>
          <a:xfrm>
            <a:off x="658368" y="1481328"/>
            <a:ext cx="64008" cy="1572768"/>
          </a:xfrm>
          <a:prstGeom prst="rect">
            <a:avLst/>
          </a:prstGeom>
          <a:solidFill>
            <a:srgbClr val="C35331"/>
          </a:solidFill>
          <a:ln w="12700">
            <a:solidFill>
              <a:srgbClr val="C35331"/>
            </a:solidFill>
            <a:prstDash val="solid"/>
          </a:ln>
        </p:spPr>
      </p:sp>
      <p:sp>
        <p:nvSpPr>
          <p:cNvPr id="12" name="Text 10"/>
          <p:cNvSpPr/>
          <p:nvPr/>
        </p:nvSpPr>
        <p:spPr>
          <a:xfrm>
            <a:off x="905256" y="1691640"/>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上下文窗口</a:t>
            </a:r>
            <a:endParaRPr lang="en-US" sz="1500" dirty="0"/>
          </a:p>
        </p:txBody>
      </p:sp>
      <p:sp>
        <p:nvSpPr>
          <p:cNvPr id="13" name="Text 11"/>
          <p:cNvSpPr/>
          <p:nvPr/>
        </p:nvSpPr>
        <p:spPr>
          <a:xfrm>
            <a:off x="905256" y="2203704"/>
            <a:ext cx="2987040" cy="640080"/>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一次调用可容纳输入与输出Token的有限空间</a:t>
            </a:r>
            <a:endParaRPr lang="en-US" sz="1120" dirty="0"/>
          </a:p>
        </p:txBody>
      </p:sp>
      <p:sp>
        <p:nvSpPr>
          <p:cNvPr id="14" name="Shape 12"/>
          <p:cNvSpPr/>
          <p:nvPr/>
        </p:nvSpPr>
        <p:spPr>
          <a:xfrm>
            <a:off x="4358640" y="1481328"/>
            <a:ext cx="3480816" cy="1572768"/>
          </a:xfrm>
          <a:prstGeom prst="roundRect">
            <a:avLst>
              <a:gd name="adj" fmla="val 2907"/>
            </a:avLst>
          </a:prstGeom>
          <a:solidFill>
            <a:srgbClr val="FBF9F4"/>
          </a:solidFill>
          <a:ln w="12700">
            <a:solidFill>
              <a:srgbClr val="D8D0C2"/>
            </a:solidFill>
            <a:prstDash val="solid"/>
          </a:ln>
        </p:spPr>
      </p:sp>
      <p:sp>
        <p:nvSpPr>
          <p:cNvPr id="15" name="Shape 13"/>
          <p:cNvSpPr/>
          <p:nvPr/>
        </p:nvSpPr>
        <p:spPr>
          <a:xfrm>
            <a:off x="4358640" y="1481328"/>
            <a:ext cx="64008" cy="1572768"/>
          </a:xfrm>
          <a:prstGeom prst="rect">
            <a:avLst/>
          </a:prstGeom>
          <a:solidFill>
            <a:srgbClr val="387B77"/>
          </a:solidFill>
          <a:ln w="12700">
            <a:solidFill>
              <a:srgbClr val="387B77"/>
            </a:solidFill>
            <a:prstDash val="solid"/>
          </a:ln>
        </p:spPr>
      </p:sp>
      <p:sp>
        <p:nvSpPr>
          <p:cNvPr id="16" name="Text 14"/>
          <p:cNvSpPr/>
          <p:nvPr/>
        </p:nvSpPr>
        <p:spPr>
          <a:xfrm>
            <a:off x="4605528" y="1691640"/>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实际上下文</a:t>
            </a:r>
            <a:endParaRPr lang="en-US" sz="1500" dirty="0"/>
          </a:p>
        </p:txBody>
      </p:sp>
      <p:sp>
        <p:nvSpPr>
          <p:cNvPr id="17" name="Text 15"/>
          <p:cNvSpPr/>
          <p:nvPr/>
        </p:nvSpPr>
        <p:spPr>
          <a:xfrm>
            <a:off x="4605528" y="2203704"/>
            <a:ext cx="2987040" cy="640080"/>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本次真正放进去的指令、输入和材料</a:t>
            </a:r>
            <a:endParaRPr lang="en-US" sz="1120" dirty="0"/>
          </a:p>
        </p:txBody>
      </p:sp>
      <p:sp>
        <p:nvSpPr>
          <p:cNvPr id="18" name="Shape 16"/>
          <p:cNvSpPr/>
          <p:nvPr/>
        </p:nvSpPr>
        <p:spPr>
          <a:xfrm>
            <a:off x="8058912" y="1481328"/>
            <a:ext cx="3480816" cy="1572768"/>
          </a:xfrm>
          <a:prstGeom prst="roundRect">
            <a:avLst>
              <a:gd name="adj" fmla="val 2907"/>
            </a:avLst>
          </a:prstGeom>
          <a:solidFill>
            <a:srgbClr val="FBF9F4"/>
          </a:solidFill>
          <a:ln w="12700">
            <a:solidFill>
              <a:srgbClr val="D8D0C2"/>
            </a:solidFill>
            <a:prstDash val="solid"/>
          </a:ln>
        </p:spPr>
      </p:sp>
      <p:sp>
        <p:nvSpPr>
          <p:cNvPr id="19" name="Shape 17"/>
          <p:cNvSpPr/>
          <p:nvPr/>
        </p:nvSpPr>
        <p:spPr>
          <a:xfrm>
            <a:off x="8058912" y="1481328"/>
            <a:ext cx="64008" cy="1572768"/>
          </a:xfrm>
          <a:prstGeom prst="rect">
            <a:avLst/>
          </a:prstGeom>
          <a:solidFill>
            <a:srgbClr val="74546A"/>
          </a:solidFill>
          <a:ln w="12700">
            <a:solidFill>
              <a:srgbClr val="74546A"/>
            </a:solidFill>
            <a:prstDash val="solid"/>
          </a:ln>
        </p:spPr>
      </p:sp>
      <p:sp>
        <p:nvSpPr>
          <p:cNvPr id="20" name="Text 18"/>
          <p:cNvSpPr/>
          <p:nvPr/>
        </p:nvSpPr>
        <p:spPr>
          <a:xfrm>
            <a:off x="8305800" y="1691640"/>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永久记忆</a:t>
            </a:r>
            <a:endParaRPr lang="en-US" sz="1500" dirty="0"/>
          </a:p>
        </p:txBody>
      </p:sp>
      <p:sp>
        <p:nvSpPr>
          <p:cNvPr id="21" name="Text 19"/>
          <p:cNvSpPr/>
          <p:nvPr/>
        </p:nvSpPr>
        <p:spPr>
          <a:xfrm>
            <a:off x="8305800" y="2203704"/>
            <a:ext cx="2987040" cy="640080"/>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产品是否保存并在未来重新提供</a:t>
            </a:r>
            <a:endParaRPr lang="en-US" sz="1120" dirty="0"/>
          </a:p>
        </p:txBody>
      </p:sp>
      <p:sp>
        <p:nvSpPr>
          <p:cNvPr id="22" name="Shape 20"/>
          <p:cNvSpPr/>
          <p:nvPr/>
        </p:nvSpPr>
        <p:spPr>
          <a:xfrm>
            <a:off x="658368" y="3273552"/>
            <a:ext cx="3480816" cy="1572768"/>
          </a:xfrm>
          <a:prstGeom prst="roundRect">
            <a:avLst>
              <a:gd name="adj" fmla="val 2907"/>
            </a:avLst>
          </a:prstGeom>
          <a:solidFill>
            <a:srgbClr val="FBF9F4"/>
          </a:solidFill>
          <a:ln w="12700">
            <a:solidFill>
              <a:srgbClr val="D8D0C2"/>
            </a:solidFill>
            <a:prstDash val="solid"/>
          </a:ln>
        </p:spPr>
      </p:sp>
      <p:sp>
        <p:nvSpPr>
          <p:cNvPr id="23" name="Shape 21"/>
          <p:cNvSpPr/>
          <p:nvPr/>
        </p:nvSpPr>
        <p:spPr>
          <a:xfrm>
            <a:off x="658368" y="3273552"/>
            <a:ext cx="64008" cy="1572768"/>
          </a:xfrm>
          <a:prstGeom prst="rect">
            <a:avLst/>
          </a:prstGeom>
          <a:solidFill>
            <a:srgbClr val="D18A38"/>
          </a:solidFill>
          <a:ln w="12700">
            <a:solidFill>
              <a:srgbClr val="D18A38"/>
            </a:solidFill>
            <a:prstDash val="solid"/>
          </a:ln>
        </p:spPr>
      </p:sp>
      <p:sp>
        <p:nvSpPr>
          <p:cNvPr id="24" name="Text 22"/>
          <p:cNvSpPr/>
          <p:nvPr/>
        </p:nvSpPr>
        <p:spPr>
          <a:xfrm>
            <a:off x="905256" y="3483864"/>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模型已有知识</a:t>
            </a:r>
            <a:endParaRPr lang="en-US" sz="1500" dirty="0"/>
          </a:p>
        </p:txBody>
      </p:sp>
      <p:sp>
        <p:nvSpPr>
          <p:cNvPr id="25" name="Text 23"/>
          <p:cNvSpPr/>
          <p:nvPr/>
        </p:nvSpPr>
        <p:spPr>
          <a:xfrm>
            <a:off x="905256" y="3995928"/>
            <a:ext cx="2987040" cy="640080"/>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训练中学到的能力，不等于本次材料</a:t>
            </a:r>
            <a:endParaRPr lang="en-US" sz="1120" dirty="0"/>
          </a:p>
        </p:txBody>
      </p:sp>
      <p:sp>
        <p:nvSpPr>
          <p:cNvPr id="26" name="Shape 24"/>
          <p:cNvSpPr/>
          <p:nvPr/>
        </p:nvSpPr>
        <p:spPr>
          <a:xfrm>
            <a:off x="4358640" y="3273552"/>
            <a:ext cx="3480816" cy="1572768"/>
          </a:xfrm>
          <a:prstGeom prst="roundRect">
            <a:avLst>
              <a:gd name="adj" fmla="val 2907"/>
            </a:avLst>
          </a:prstGeom>
          <a:solidFill>
            <a:srgbClr val="FBF9F4"/>
          </a:solidFill>
          <a:ln w="12700">
            <a:solidFill>
              <a:srgbClr val="D8D0C2"/>
            </a:solidFill>
            <a:prstDash val="solid"/>
          </a:ln>
        </p:spPr>
      </p:sp>
      <p:sp>
        <p:nvSpPr>
          <p:cNvPr id="27" name="Shape 25"/>
          <p:cNvSpPr/>
          <p:nvPr/>
        </p:nvSpPr>
        <p:spPr>
          <a:xfrm>
            <a:off x="4358640" y="3273552"/>
            <a:ext cx="64008" cy="1572768"/>
          </a:xfrm>
          <a:prstGeom prst="rect">
            <a:avLst/>
          </a:prstGeom>
          <a:solidFill>
            <a:srgbClr val="405D78"/>
          </a:solidFill>
          <a:ln w="12700">
            <a:solidFill>
              <a:srgbClr val="405D78"/>
            </a:solidFill>
            <a:prstDash val="solid"/>
          </a:ln>
        </p:spPr>
      </p:sp>
      <p:sp>
        <p:nvSpPr>
          <p:cNvPr id="28" name="Text 26"/>
          <p:cNvSpPr/>
          <p:nvPr/>
        </p:nvSpPr>
        <p:spPr>
          <a:xfrm>
            <a:off x="4605528" y="3483864"/>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产品数据库</a:t>
            </a:r>
            <a:endParaRPr lang="en-US" sz="1500" dirty="0"/>
          </a:p>
        </p:txBody>
      </p:sp>
      <p:sp>
        <p:nvSpPr>
          <p:cNvPr id="29" name="Text 27"/>
          <p:cNvSpPr/>
          <p:nvPr/>
        </p:nvSpPr>
        <p:spPr>
          <a:xfrm>
            <a:off x="4605528" y="3995928"/>
            <a:ext cx="2987040" cy="640080"/>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数据存在系统里，不代表已经给模型</a:t>
            </a:r>
            <a:endParaRPr lang="en-US" sz="1120" dirty="0"/>
          </a:p>
        </p:txBody>
      </p:sp>
      <p:sp>
        <p:nvSpPr>
          <p:cNvPr id="30" name="Text 28"/>
          <p:cNvSpPr/>
          <p:nvPr/>
        </p:nvSpPr>
        <p:spPr>
          <a:xfrm>
            <a:off x="914400" y="5413248"/>
            <a:ext cx="10241280" cy="411480"/>
          </a:xfrm>
          <a:prstGeom prst="rect">
            <a:avLst/>
          </a:prstGeom>
          <a:noFill/>
          <a:ln/>
        </p:spPr>
        <p:txBody>
          <a:bodyPr wrap="square" lIns="0" tIns="0" rIns="0" bIns="0" rtlCol="0" anchor="t">
            <a:normAutofit/>
          </a:bodyPr>
          <a:lstStyle/>
          <a:p>
            <a:pPr marL="0" indent="0" algn="ctr">
              <a:buNone/>
            </a:pPr>
            <a:r>
              <a:rPr lang="en-US" sz="2000" b="1" dirty="0">
                <a:solidFill>
                  <a:srgbClr val="C35331"/>
                </a:solidFill>
                <a:latin typeface="PingFang SC" pitchFamily="34" charset="0"/>
                <a:ea typeface="PingFang SC" pitchFamily="34" charset="-122"/>
                <a:cs typeface="PingFang SC" pitchFamily="34" charset="-120"/>
              </a:rPr>
              <a:t>系统里有  ≠  模型这一次看到了</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17</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Token与上下文窗口</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超出上下文窗口后会造成什么</a:t>
            </a:r>
            <a:r>
              <a:rPr lang="zh-CN" altLang="en-US" sz="2500" b="1" dirty="0">
                <a:solidFill>
                  <a:srgbClr val="20211F"/>
                </a:solidFill>
                <a:latin typeface="PingFang SC" pitchFamily="34" charset="0"/>
                <a:ea typeface="PingFang SC" pitchFamily="34" charset="-122"/>
                <a:cs typeface="PingFang SC" pitchFamily="34" charset="-120"/>
              </a:rPr>
              <a:t>？</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03 Token与上下文窗口</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17</a:t>
            </a:r>
            <a:endParaRPr lang="en-US" sz="850" dirty="0"/>
          </a:p>
        </p:txBody>
      </p:sp>
      <p:sp>
        <p:nvSpPr>
          <p:cNvPr id="10" name="Shape 8"/>
          <p:cNvSpPr/>
          <p:nvPr/>
        </p:nvSpPr>
        <p:spPr>
          <a:xfrm>
            <a:off x="713232" y="1572768"/>
            <a:ext cx="5285232" cy="3300980"/>
          </a:xfrm>
          <a:prstGeom prst="roundRect">
            <a:avLst>
              <a:gd name="adj" fmla="val 1099"/>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572768"/>
            <a:ext cx="64008" cy="3300980"/>
          </a:xfrm>
          <a:prstGeom prst="rect">
            <a:avLst/>
          </a:prstGeom>
          <a:solidFill>
            <a:srgbClr val="D18A38"/>
          </a:solidFill>
          <a:ln w="12700">
            <a:solidFill>
              <a:srgbClr val="D18A38"/>
            </a:solidFill>
            <a:prstDash val="solid"/>
          </a:ln>
        </p:spPr>
      </p:sp>
      <p:sp>
        <p:nvSpPr>
          <p:cNvPr id="12" name="Text 10"/>
          <p:cNvSpPr/>
          <p:nvPr/>
        </p:nvSpPr>
        <p:spPr>
          <a:xfrm>
            <a:off x="960120" y="1783080"/>
            <a:ext cx="4809744"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容量问题</a:t>
            </a:r>
            <a:endParaRPr lang="en-US" sz="1800" dirty="0"/>
          </a:p>
        </p:txBody>
      </p:sp>
      <p:sp>
        <p:nvSpPr>
          <p:cNvPr id="13" name="Text 11"/>
          <p:cNvSpPr/>
          <p:nvPr/>
        </p:nvSpPr>
        <p:spPr>
          <a:xfrm>
            <a:off x="960120" y="2295144"/>
            <a:ext cx="4791456" cy="3227832"/>
          </a:xfrm>
          <a:prstGeom prst="rect">
            <a:avLst/>
          </a:prstGeom>
          <a:noFill/>
          <a:ln/>
        </p:spPr>
        <p:txBody>
          <a:bodyPr wrap="square" lIns="0" tIns="0" rIns="0" bIns="0" rtlCol="0" anchor="t">
            <a:normAutofit/>
          </a:bodyPr>
          <a:lstStyle/>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无法提交</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内容被截断</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早期信息被移除</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输出空间不足</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系统先摘要或压缩</a:t>
            </a:r>
            <a:endParaRPr lang="en-US" sz="1300" dirty="0"/>
          </a:p>
        </p:txBody>
      </p:sp>
      <p:sp>
        <p:nvSpPr>
          <p:cNvPr id="14" name="Shape 12"/>
          <p:cNvSpPr/>
          <p:nvPr/>
        </p:nvSpPr>
        <p:spPr>
          <a:xfrm>
            <a:off x="6199632" y="1572768"/>
            <a:ext cx="5285232" cy="3300979"/>
          </a:xfrm>
          <a:prstGeom prst="roundRect">
            <a:avLst>
              <a:gd name="adj" fmla="val 1099"/>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6199632" y="1572768"/>
            <a:ext cx="64008" cy="3300979"/>
          </a:xfrm>
          <a:prstGeom prst="rect">
            <a:avLst/>
          </a:prstGeom>
          <a:solidFill>
            <a:srgbClr val="C35331"/>
          </a:solidFill>
          <a:ln w="12700">
            <a:solidFill>
              <a:srgbClr val="C35331"/>
            </a:solidFill>
            <a:prstDash val="solid"/>
          </a:ln>
        </p:spPr>
      </p:sp>
      <p:sp>
        <p:nvSpPr>
          <p:cNvPr id="16" name="Text 14"/>
          <p:cNvSpPr/>
          <p:nvPr/>
        </p:nvSpPr>
        <p:spPr>
          <a:xfrm>
            <a:off x="6446520" y="1783080"/>
            <a:ext cx="4809744"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质量问题</a:t>
            </a:r>
            <a:endParaRPr lang="en-US" sz="1800" dirty="0"/>
          </a:p>
        </p:txBody>
      </p:sp>
      <p:sp>
        <p:nvSpPr>
          <p:cNvPr id="17" name="Text 15"/>
          <p:cNvSpPr/>
          <p:nvPr/>
        </p:nvSpPr>
        <p:spPr>
          <a:xfrm>
            <a:off x="6446520" y="2295144"/>
            <a:ext cx="4791456" cy="3227832"/>
          </a:xfrm>
          <a:prstGeom prst="rect">
            <a:avLst/>
          </a:prstGeom>
          <a:noFill/>
          <a:ln/>
        </p:spPr>
        <p:txBody>
          <a:bodyPr wrap="square" lIns="0" tIns="0" rIns="0" bIns="0" rtlCol="0" anchor="t">
            <a:normAutofit/>
          </a:bodyPr>
          <a:lstStyle/>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无关信息太多</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多个版本冲突</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重要事实埋得太深</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材料没有来源和时间</a:t>
            </a:r>
            <a:endParaRPr lang="en-US" sz="1300" dirty="0"/>
          </a:p>
          <a:p>
            <a:pPr marL="285750" indent="-285750" algn="l">
              <a:buFont typeface="Arial" panose="020B0604020202020204" pitchFamily="34" charset="0"/>
              <a:buChar char="•"/>
            </a:pPr>
            <a:r>
              <a:rPr lang="en-US" sz="1300" dirty="0">
                <a:solidFill>
                  <a:srgbClr val="77766F"/>
                </a:solidFill>
                <a:latin typeface="PingFang SC" pitchFamily="34" charset="0"/>
                <a:ea typeface="PingFang SC" pitchFamily="34" charset="-122"/>
                <a:cs typeface="PingFang SC" pitchFamily="34" charset="-120"/>
              </a:rPr>
              <a:t>任务本身过于复杂</a:t>
            </a:r>
            <a:endParaRPr lang="en-US" sz="1300" dirty="0"/>
          </a:p>
        </p:txBody>
      </p:sp>
      <p:sp>
        <p:nvSpPr>
          <p:cNvPr id="18" name="Text 16"/>
          <p:cNvSpPr/>
          <p:nvPr/>
        </p:nvSpPr>
        <p:spPr>
          <a:xfrm>
            <a:off x="914400" y="5705856"/>
            <a:ext cx="10241280" cy="365760"/>
          </a:xfrm>
          <a:prstGeom prst="rect">
            <a:avLst/>
          </a:prstGeom>
          <a:noFill/>
          <a:ln/>
        </p:spPr>
        <p:txBody>
          <a:bodyPr wrap="square" lIns="0" tIns="0" rIns="0" bIns="0" rtlCol="0" anchor="t">
            <a:normAutofit/>
          </a:bodyPr>
          <a:lstStyle/>
          <a:p>
            <a:pPr marL="0" indent="0" algn="ctr">
              <a:buNone/>
            </a:pPr>
            <a:r>
              <a:rPr lang="en-US" sz="1600" b="1" dirty="0">
                <a:solidFill>
                  <a:srgbClr val="C35331"/>
                </a:solidFill>
                <a:latin typeface="PingFang SC" pitchFamily="34" charset="0"/>
                <a:ea typeface="PingFang SC" pitchFamily="34" charset="-122"/>
                <a:cs typeface="PingFang SC" pitchFamily="34" charset="-120"/>
              </a:rPr>
              <a:t>窗口回答“最多能装多少”｜设计回答“当前应该装什么”</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18</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Token与上下文窗口</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这五类材料，本次应该怎样提供</a:t>
            </a:r>
            <a:r>
              <a:rPr lang="en-US" sz="2500" b="1" dirty="0">
                <a:solidFill>
                  <a:srgbClr val="20211F"/>
                </a:solidFill>
                <a:latin typeface="PingFang SC" pitchFamily="34" charset="0"/>
                <a:ea typeface="PingFang SC" pitchFamily="34" charset="-122"/>
                <a:cs typeface="PingFang SC" pitchFamily="34" charset="-120"/>
              </a:rPr>
              <a:t>？</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03 Token与上下文窗口</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18</a:t>
            </a:r>
            <a:endParaRPr lang="en-US" sz="850" dirty="0"/>
          </a:p>
        </p:txBody>
      </p:sp>
      <p:sp>
        <p:nvSpPr>
          <p:cNvPr id="10" name="Shape 8"/>
          <p:cNvSpPr/>
          <p:nvPr/>
        </p:nvSpPr>
        <p:spPr>
          <a:xfrm>
            <a:off x="658368" y="1572768"/>
            <a:ext cx="2000707" cy="2331720"/>
          </a:xfrm>
          <a:prstGeom prst="roundRect">
            <a:avLst>
              <a:gd name="adj" fmla="val 2285"/>
            </a:avLst>
          </a:prstGeom>
          <a:solidFill>
            <a:srgbClr val="FBF9F4"/>
          </a:solidFill>
          <a:ln w="12700">
            <a:solidFill>
              <a:srgbClr val="D8D0C2"/>
            </a:solidFill>
            <a:prstDash val="solid"/>
          </a:ln>
        </p:spPr>
      </p:sp>
      <p:sp>
        <p:nvSpPr>
          <p:cNvPr id="11" name="Shape 9"/>
          <p:cNvSpPr/>
          <p:nvPr/>
        </p:nvSpPr>
        <p:spPr>
          <a:xfrm>
            <a:off x="658368" y="1572768"/>
            <a:ext cx="64008" cy="2331720"/>
          </a:xfrm>
          <a:prstGeom prst="rect">
            <a:avLst/>
          </a:prstGeom>
          <a:solidFill>
            <a:srgbClr val="387B77"/>
          </a:solidFill>
          <a:ln w="12700">
            <a:solidFill>
              <a:srgbClr val="387B77"/>
            </a:solidFill>
            <a:prstDash val="solid"/>
          </a:ln>
        </p:spPr>
      </p:sp>
      <p:sp>
        <p:nvSpPr>
          <p:cNvPr id="12" name="Text 10"/>
          <p:cNvSpPr/>
          <p:nvPr/>
        </p:nvSpPr>
        <p:spPr>
          <a:xfrm>
            <a:off x="905256" y="1783080"/>
            <a:ext cx="1525219"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本次拜访转写</a:t>
            </a:r>
            <a:endParaRPr lang="en-US" sz="1500" dirty="0"/>
          </a:p>
        </p:txBody>
      </p:sp>
      <p:sp>
        <p:nvSpPr>
          <p:cNvPr id="13" name="Text 11"/>
          <p:cNvSpPr/>
          <p:nvPr/>
        </p:nvSpPr>
        <p:spPr>
          <a:xfrm>
            <a:off x="905256" y="2295144"/>
            <a:ext cx="1506931" cy="1399032"/>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含说话人标签</a:t>
            </a:r>
            <a:endParaRPr lang="en-US" sz="1120" dirty="0"/>
          </a:p>
        </p:txBody>
      </p:sp>
      <p:sp>
        <p:nvSpPr>
          <p:cNvPr id="14" name="Shape 12"/>
          <p:cNvSpPr/>
          <p:nvPr/>
        </p:nvSpPr>
        <p:spPr>
          <a:xfrm>
            <a:off x="2878531" y="1572768"/>
            <a:ext cx="2000707" cy="2331720"/>
          </a:xfrm>
          <a:prstGeom prst="roundRect">
            <a:avLst>
              <a:gd name="adj" fmla="val 2285"/>
            </a:avLst>
          </a:prstGeom>
          <a:solidFill>
            <a:srgbClr val="FBF9F4"/>
          </a:solidFill>
          <a:ln w="12700">
            <a:solidFill>
              <a:srgbClr val="D8D0C2"/>
            </a:solidFill>
            <a:prstDash val="solid"/>
          </a:ln>
        </p:spPr>
      </p:sp>
      <p:sp>
        <p:nvSpPr>
          <p:cNvPr id="15" name="Shape 13"/>
          <p:cNvSpPr/>
          <p:nvPr/>
        </p:nvSpPr>
        <p:spPr>
          <a:xfrm>
            <a:off x="2878531" y="1572768"/>
            <a:ext cx="64008" cy="2331720"/>
          </a:xfrm>
          <a:prstGeom prst="rect">
            <a:avLst/>
          </a:prstGeom>
          <a:solidFill>
            <a:srgbClr val="405D78"/>
          </a:solidFill>
          <a:ln w="12700">
            <a:solidFill>
              <a:srgbClr val="405D78"/>
            </a:solidFill>
            <a:prstDash val="solid"/>
          </a:ln>
        </p:spPr>
      </p:sp>
      <p:sp>
        <p:nvSpPr>
          <p:cNvPr id="16" name="Text 14"/>
          <p:cNvSpPr/>
          <p:nvPr/>
        </p:nvSpPr>
        <p:spPr>
          <a:xfrm>
            <a:off x="3125419" y="1783080"/>
            <a:ext cx="1525219"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客户基本资料</a:t>
            </a:r>
            <a:endParaRPr lang="en-US" sz="1500" dirty="0"/>
          </a:p>
        </p:txBody>
      </p:sp>
      <p:sp>
        <p:nvSpPr>
          <p:cNvPr id="17" name="Text 15"/>
          <p:cNvSpPr/>
          <p:nvPr/>
        </p:nvSpPr>
        <p:spPr>
          <a:xfrm>
            <a:off x="3125419" y="2295144"/>
            <a:ext cx="1506931" cy="1399032"/>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当前商机阶段</a:t>
            </a:r>
            <a:endParaRPr lang="en-US" sz="1120" dirty="0"/>
          </a:p>
        </p:txBody>
      </p:sp>
      <p:sp>
        <p:nvSpPr>
          <p:cNvPr id="18" name="Shape 16"/>
          <p:cNvSpPr/>
          <p:nvPr/>
        </p:nvSpPr>
        <p:spPr>
          <a:xfrm>
            <a:off x="5098694" y="1572768"/>
            <a:ext cx="2000707" cy="2331720"/>
          </a:xfrm>
          <a:prstGeom prst="roundRect">
            <a:avLst>
              <a:gd name="adj" fmla="val 2285"/>
            </a:avLst>
          </a:prstGeom>
          <a:solidFill>
            <a:srgbClr val="FBF9F4"/>
          </a:solidFill>
          <a:ln w="12700">
            <a:solidFill>
              <a:srgbClr val="D8D0C2"/>
            </a:solidFill>
            <a:prstDash val="solid"/>
          </a:ln>
        </p:spPr>
      </p:sp>
      <p:sp>
        <p:nvSpPr>
          <p:cNvPr id="19" name="Shape 17"/>
          <p:cNvSpPr/>
          <p:nvPr/>
        </p:nvSpPr>
        <p:spPr>
          <a:xfrm>
            <a:off x="5098694" y="1572768"/>
            <a:ext cx="64008" cy="2331720"/>
          </a:xfrm>
          <a:prstGeom prst="rect">
            <a:avLst/>
          </a:prstGeom>
          <a:solidFill>
            <a:srgbClr val="74546A"/>
          </a:solidFill>
          <a:ln w="12700">
            <a:solidFill>
              <a:srgbClr val="74546A"/>
            </a:solidFill>
            <a:prstDash val="solid"/>
          </a:ln>
        </p:spPr>
      </p:sp>
      <p:sp>
        <p:nvSpPr>
          <p:cNvPr id="20" name="Text 18"/>
          <p:cNvSpPr/>
          <p:nvPr/>
        </p:nvSpPr>
        <p:spPr>
          <a:xfrm>
            <a:off x="5345582" y="1783080"/>
            <a:ext cx="1525219"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产品方案说明</a:t>
            </a:r>
            <a:endParaRPr lang="en-US" sz="1500" dirty="0"/>
          </a:p>
        </p:txBody>
      </p:sp>
      <p:sp>
        <p:nvSpPr>
          <p:cNvPr id="21" name="Text 19"/>
          <p:cNvSpPr/>
          <p:nvPr/>
        </p:nvSpPr>
        <p:spPr>
          <a:xfrm>
            <a:off x="5345582" y="2295144"/>
            <a:ext cx="1506931" cy="1399032"/>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本次讨论版本</a:t>
            </a:r>
            <a:endParaRPr lang="en-US" sz="1120" dirty="0"/>
          </a:p>
        </p:txBody>
      </p:sp>
      <p:sp>
        <p:nvSpPr>
          <p:cNvPr id="22" name="Shape 20"/>
          <p:cNvSpPr/>
          <p:nvPr/>
        </p:nvSpPr>
        <p:spPr>
          <a:xfrm>
            <a:off x="7318858" y="1572768"/>
            <a:ext cx="2000707" cy="2331720"/>
          </a:xfrm>
          <a:prstGeom prst="roundRect">
            <a:avLst>
              <a:gd name="adj" fmla="val 2285"/>
            </a:avLst>
          </a:prstGeom>
          <a:solidFill>
            <a:srgbClr val="FBF9F4"/>
          </a:solidFill>
          <a:ln w="12700">
            <a:solidFill>
              <a:srgbClr val="D8D0C2"/>
            </a:solidFill>
            <a:prstDash val="solid"/>
          </a:ln>
        </p:spPr>
      </p:sp>
      <p:sp>
        <p:nvSpPr>
          <p:cNvPr id="23" name="Shape 21"/>
          <p:cNvSpPr/>
          <p:nvPr/>
        </p:nvSpPr>
        <p:spPr>
          <a:xfrm>
            <a:off x="7318858" y="1572768"/>
            <a:ext cx="64008" cy="2331720"/>
          </a:xfrm>
          <a:prstGeom prst="rect">
            <a:avLst/>
          </a:prstGeom>
          <a:solidFill>
            <a:srgbClr val="D18A38"/>
          </a:solidFill>
          <a:ln w="12700">
            <a:solidFill>
              <a:srgbClr val="D18A38"/>
            </a:solidFill>
            <a:prstDash val="solid"/>
          </a:ln>
        </p:spPr>
      </p:sp>
      <p:sp>
        <p:nvSpPr>
          <p:cNvPr id="24" name="Text 22"/>
          <p:cNvSpPr/>
          <p:nvPr/>
        </p:nvSpPr>
        <p:spPr>
          <a:xfrm>
            <a:off x="7565746" y="1783080"/>
            <a:ext cx="1525219"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全部CRM记录</a:t>
            </a:r>
            <a:endParaRPr lang="en-US" sz="1500" dirty="0"/>
          </a:p>
        </p:txBody>
      </p:sp>
      <p:sp>
        <p:nvSpPr>
          <p:cNvPr id="25" name="Text 23"/>
          <p:cNvSpPr/>
          <p:nvPr/>
        </p:nvSpPr>
        <p:spPr>
          <a:xfrm>
            <a:off x="7565746" y="2295144"/>
            <a:ext cx="1506931" cy="1399032"/>
          </a:xfrm>
          <a:prstGeom prst="rect">
            <a:avLst/>
          </a:prstGeom>
          <a:noFill/>
          <a:ln/>
        </p:spPr>
        <p:txBody>
          <a:bodyPr wrap="square" lIns="0" tIns="0" rIns="0" bIns="0" rtlCol="0" anchor="t">
            <a:normAutofit/>
          </a:bodyPr>
          <a:lstStyle/>
          <a:p>
            <a:pPr marL="0" indent="0" algn="l">
              <a:buNone/>
            </a:pPr>
            <a:r>
              <a:rPr lang="en-US" sz="1120" dirty="0" err="1">
                <a:solidFill>
                  <a:srgbClr val="77766F"/>
                </a:solidFill>
                <a:latin typeface="PingFang SC" pitchFamily="34" charset="0"/>
                <a:ea typeface="PingFang SC" pitchFamily="34" charset="-122"/>
                <a:cs typeface="PingFang SC" pitchFamily="34" charset="-120"/>
              </a:rPr>
              <a:t>过去三年的crm记录</a:t>
            </a:r>
            <a:endParaRPr lang="en-US" sz="1120" dirty="0"/>
          </a:p>
        </p:txBody>
      </p:sp>
      <p:sp>
        <p:nvSpPr>
          <p:cNvPr id="26" name="Shape 24"/>
          <p:cNvSpPr/>
          <p:nvPr/>
        </p:nvSpPr>
        <p:spPr>
          <a:xfrm>
            <a:off x="9539021" y="1572768"/>
            <a:ext cx="2000707" cy="2331720"/>
          </a:xfrm>
          <a:prstGeom prst="roundRect">
            <a:avLst>
              <a:gd name="adj" fmla="val 2285"/>
            </a:avLst>
          </a:prstGeom>
          <a:solidFill>
            <a:srgbClr val="FBF9F4"/>
          </a:solidFill>
          <a:ln w="12700">
            <a:solidFill>
              <a:srgbClr val="D8D0C2"/>
            </a:solidFill>
            <a:prstDash val="solid"/>
          </a:ln>
        </p:spPr>
      </p:sp>
      <p:sp>
        <p:nvSpPr>
          <p:cNvPr id="27" name="Shape 25"/>
          <p:cNvSpPr/>
          <p:nvPr/>
        </p:nvSpPr>
        <p:spPr>
          <a:xfrm>
            <a:off x="9539021" y="1572768"/>
            <a:ext cx="64008" cy="2331720"/>
          </a:xfrm>
          <a:prstGeom prst="rect">
            <a:avLst/>
          </a:prstGeom>
          <a:solidFill>
            <a:srgbClr val="C35331"/>
          </a:solidFill>
          <a:ln w="12700">
            <a:solidFill>
              <a:srgbClr val="C35331"/>
            </a:solidFill>
            <a:prstDash val="solid"/>
          </a:ln>
        </p:spPr>
      </p:sp>
      <p:sp>
        <p:nvSpPr>
          <p:cNvPr id="28" name="Text 26"/>
          <p:cNvSpPr/>
          <p:nvPr/>
        </p:nvSpPr>
        <p:spPr>
          <a:xfrm>
            <a:off x="9785909" y="1783080"/>
            <a:ext cx="1525219"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公司所有资料</a:t>
            </a:r>
            <a:endParaRPr lang="en-US" sz="1500" dirty="0"/>
          </a:p>
        </p:txBody>
      </p:sp>
      <p:sp>
        <p:nvSpPr>
          <p:cNvPr id="29" name="Text 27"/>
          <p:cNvSpPr/>
          <p:nvPr/>
        </p:nvSpPr>
        <p:spPr>
          <a:xfrm>
            <a:off x="9785909" y="2295144"/>
            <a:ext cx="1506931" cy="1399032"/>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产品、制度、培训</a:t>
            </a:r>
            <a:endParaRPr lang="en-US" sz="1120" dirty="0"/>
          </a:p>
        </p:txBody>
      </p:sp>
      <p:sp>
        <p:nvSpPr>
          <p:cNvPr id="30" name="Shape 28"/>
          <p:cNvSpPr/>
          <p:nvPr/>
        </p:nvSpPr>
        <p:spPr>
          <a:xfrm>
            <a:off x="2148840" y="4160520"/>
            <a:ext cx="2502408" cy="1124703"/>
          </a:xfrm>
          <a:prstGeom prst="roundRect">
            <a:avLst>
              <a:gd name="adj" fmla="val 2941"/>
            </a:avLst>
          </a:prstGeom>
          <a:solidFill>
            <a:srgbClr val="FBF9F4"/>
          </a:solidFill>
          <a:ln w="12700">
            <a:solidFill>
              <a:srgbClr val="D8D0C2"/>
            </a:solidFill>
            <a:prstDash val="solid"/>
          </a:ln>
        </p:spPr>
      </p:sp>
      <p:sp>
        <p:nvSpPr>
          <p:cNvPr id="31" name="Text 29"/>
          <p:cNvSpPr/>
          <p:nvPr/>
        </p:nvSpPr>
        <p:spPr>
          <a:xfrm>
            <a:off x="2313432" y="433425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387B77"/>
                </a:solidFill>
                <a:latin typeface="PingFang SC" pitchFamily="34" charset="0"/>
                <a:ea typeface="PingFang SC" pitchFamily="34" charset="-122"/>
                <a:cs typeface="PingFang SC" pitchFamily="34" charset="-120"/>
              </a:rPr>
              <a:t>01</a:t>
            </a:r>
            <a:endParaRPr lang="en-US" sz="1000" dirty="0"/>
          </a:p>
        </p:txBody>
      </p:sp>
      <p:sp>
        <p:nvSpPr>
          <p:cNvPr id="32" name="Text 30"/>
          <p:cNvSpPr/>
          <p:nvPr/>
        </p:nvSpPr>
        <p:spPr>
          <a:xfrm>
            <a:off x="2286000" y="4727448"/>
            <a:ext cx="2228088"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必须提供</a:t>
            </a:r>
            <a:endParaRPr lang="en-US" sz="1320" dirty="0"/>
          </a:p>
        </p:txBody>
      </p:sp>
      <p:sp>
        <p:nvSpPr>
          <p:cNvPr id="33" name="Shape 31"/>
          <p:cNvSpPr/>
          <p:nvPr/>
        </p:nvSpPr>
        <p:spPr>
          <a:xfrm>
            <a:off x="4852416" y="4160520"/>
            <a:ext cx="2502408" cy="1124699"/>
          </a:xfrm>
          <a:prstGeom prst="roundRect">
            <a:avLst>
              <a:gd name="adj" fmla="val 2941"/>
            </a:avLst>
          </a:prstGeom>
          <a:solidFill>
            <a:srgbClr val="FBF9F4"/>
          </a:solidFill>
          <a:ln w="12700">
            <a:solidFill>
              <a:srgbClr val="D8D0C2"/>
            </a:solidFill>
            <a:prstDash val="solid"/>
          </a:ln>
        </p:spPr>
      </p:sp>
      <p:sp>
        <p:nvSpPr>
          <p:cNvPr id="34" name="Text 32"/>
          <p:cNvSpPr/>
          <p:nvPr/>
        </p:nvSpPr>
        <p:spPr>
          <a:xfrm>
            <a:off x="5017008" y="433425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D18A38"/>
                </a:solidFill>
                <a:latin typeface="PingFang SC" pitchFamily="34" charset="0"/>
                <a:ea typeface="PingFang SC" pitchFamily="34" charset="-122"/>
                <a:cs typeface="PingFang SC" pitchFamily="34" charset="-120"/>
              </a:rPr>
              <a:t>02</a:t>
            </a:r>
            <a:endParaRPr lang="en-US" sz="1000" dirty="0"/>
          </a:p>
        </p:txBody>
      </p:sp>
      <p:sp>
        <p:nvSpPr>
          <p:cNvPr id="35" name="Text 33"/>
          <p:cNvSpPr/>
          <p:nvPr/>
        </p:nvSpPr>
        <p:spPr>
          <a:xfrm>
            <a:off x="4989576" y="4727448"/>
            <a:ext cx="2228088"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按需提供</a:t>
            </a:r>
            <a:endParaRPr lang="en-US" sz="1320" dirty="0"/>
          </a:p>
        </p:txBody>
      </p:sp>
      <p:sp>
        <p:nvSpPr>
          <p:cNvPr id="36" name="Shape 34"/>
          <p:cNvSpPr/>
          <p:nvPr/>
        </p:nvSpPr>
        <p:spPr>
          <a:xfrm>
            <a:off x="7555992" y="4160520"/>
            <a:ext cx="2502408" cy="1124696"/>
          </a:xfrm>
          <a:prstGeom prst="roundRect">
            <a:avLst>
              <a:gd name="adj" fmla="val 2941"/>
            </a:avLst>
          </a:prstGeom>
          <a:solidFill>
            <a:srgbClr val="FBF9F4"/>
          </a:solidFill>
          <a:ln w="12700">
            <a:solidFill>
              <a:srgbClr val="D8D0C2"/>
            </a:solidFill>
            <a:prstDash val="solid"/>
          </a:ln>
        </p:spPr>
      </p:sp>
      <p:sp>
        <p:nvSpPr>
          <p:cNvPr id="37" name="Text 35"/>
          <p:cNvSpPr/>
          <p:nvPr/>
        </p:nvSpPr>
        <p:spPr>
          <a:xfrm>
            <a:off x="7720584" y="433425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C35331"/>
                </a:solidFill>
                <a:latin typeface="PingFang SC" pitchFamily="34" charset="0"/>
                <a:ea typeface="PingFang SC" pitchFamily="34" charset="-122"/>
                <a:cs typeface="PingFang SC" pitchFamily="34" charset="-120"/>
              </a:rPr>
              <a:t>03</a:t>
            </a:r>
            <a:endParaRPr lang="en-US" sz="1000" dirty="0"/>
          </a:p>
        </p:txBody>
      </p:sp>
      <p:sp>
        <p:nvSpPr>
          <p:cNvPr id="38" name="Text 36"/>
          <p:cNvSpPr/>
          <p:nvPr/>
        </p:nvSpPr>
        <p:spPr>
          <a:xfrm>
            <a:off x="7693152" y="4727448"/>
            <a:ext cx="2228088"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暂不需要</a:t>
            </a:r>
            <a:endParaRPr lang="en-US" sz="1320" dirty="0"/>
          </a:p>
        </p:txBody>
      </p:sp>
      <p:sp>
        <p:nvSpPr>
          <p:cNvPr id="39" name="Text 37"/>
          <p:cNvSpPr/>
          <p:nvPr/>
        </p:nvSpPr>
        <p:spPr>
          <a:xfrm>
            <a:off x="914400" y="5806440"/>
            <a:ext cx="10241280" cy="320040"/>
          </a:xfrm>
          <a:prstGeom prst="rect">
            <a:avLst/>
          </a:prstGeom>
          <a:noFill/>
          <a:ln/>
        </p:spPr>
        <p:txBody>
          <a:bodyPr wrap="square" lIns="0" tIns="0" rIns="0" bIns="0" rtlCol="0" anchor="t">
            <a:normAutofit/>
          </a:bodyPr>
          <a:lstStyle/>
          <a:p>
            <a:pPr marL="0" indent="0" algn="ctr">
              <a:buNone/>
            </a:pPr>
            <a:r>
              <a:rPr lang="en-US" sz="1400" b="1" dirty="0">
                <a:solidFill>
                  <a:srgbClr val="C35331"/>
                </a:solidFill>
                <a:latin typeface="PingFang SC" pitchFamily="34" charset="0"/>
                <a:ea typeface="PingFang SC" pitchFamily="34" charset="-122"/>
                <a:cs typeface="PingFang SC" pitchFamily="34" charset="-120"/>
              </a:rPr>
              <a:t>判断提示：删除这项信息，哪一项目标输出会明显变差？｜时间 3分钟</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3E43EBB6-6F18-BC54-72C7-BD02D047177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CB11C48-3999-52B4-DAC2-5471B7E254AC}"/>
              </a:ext>
            </a:extLst>
          </p:cNvPr>
          <p:cNvSpPr/>
          <p:nvPr/>
        </p:nvSpPr>
        <p:spPr>
          <a:xfrm>
            <a:off x="0" y="0"/>
            <a:ext cx="201168" cy="6858000"/>
          </a:xfrm>
          <a:prstGeom prst="rect">
            <a:avLst/>
          </a:prstGeom>
          <a:solidFill>
            <a:srgbClr val="C35331"/>
          </a:solidFill>
          <a:ln w="12700">
            <a:solidFill>
              <a:srgbClr val="C35331"/>
            </a:solidFill>
            <a:prstDash val="solid"/>
          </a:ln>
        </p:spPr>
      </p:sp>
      <p:sp>
        <p:nvSpPr>
          <p:cNvPr id="4" name="Text 2">
            <a:extLst>
              <a:ext uri="{FF2B5EF4-FFF2-40B4-BE49-F238E27FC236}">
                <a16:creationId xmlns:a16="http://schemas.microsoft.com/office/drawing/2014/main" id="{439E0E1B-E671-834F-2B8A-1D1D4BF8198C}"/>
              </a:ext>
            </a:extLst>
          </p:cNvPr>
          <p:cNvSpPr/>
          <p:nvPr/>
        </p:nvSpPr>
        <p:spPr>
          <a:xfrm>
            <a:off x="795528" y="3113532"/>
            <a:ext cx="7863840" cy="621792"/>
          </a:xfrm>
          <a:prstGeom prst="rect">
            <a:avLst/>
          </a:prstGeom>
          <a:noFill/>
          <a:ln/>
        </p:spPr>
        <p:txBody>
          <a:bodyPr wrap="square" lIns="0" tIns="0" rIns="0" bIns="0" rtlCol="0" anchor="t">
            <a:normAutofit/>
          </a:bodyPr>
          <a:lstStyle/>
          <a:p>
            <a:pPr marL="0" indent="0" algn="l">
              <a:buNone/>
            </a:pPr>
            <a:r>
              <a:rPr lang="en-US" sz="3600" b="1" dirty="0" err="1">
                <a:solidFill>
                  <a:srgbClr val="20211F"/>
                </a:solidFill>
                <a:latin typeface="+mn-ea"/>
              </a:rPr>
              <a:t>从目标开始</a:t>
            </a:r>
            <a:endParaRPr lang="en-US" sz="3600" dirty="0">
              <a:latin typeface="+mn-ea"/>
            </a:endParaRPr>
          </a:p>
        </p:txBody>
      </p:sp>
      <p:sp>
        <p:nvSpPr>
          <p:cNvPr id="6" name="Shape 4">
            <a:extLst>
              <a:ext uri="{FF2B5EF4-FFF2-40B4-BE49-F238E27FC236}">
                <a16:creationId xmlns:a16="http://schemas.microsoft.com/office/drawing/2014/main" id="{943782BB-00E9-DEB2-6ECA-5AD39C8B069B}"/>
              </a:ext>
            </a:extLst>
          </p:cNvPr>
          <p:cNvSpPr/>
          <p:nvPr/>
        </p:nvSpPr>
        <p:spPr>
          <a:xfrm>
            <a:off x="841248" y="3822192"/>
            <a:ext cx="2743200" cy="0"/>
          </a:xfrm>
          <a:prstGeom prst="line">
            <a:avLst/>
          </a:prstGeom>
          <a:noFill/>
          <a:ln w="38100">
            <a:solidFill>
              <a:srgbClr val="C35331"/>
            </a:solidFill>
            <a:prstDash val="solid"/>
          </a:ln>
        </p:spPr>
      </p:sp>
    </p:spTree>
    <p:extLst>
      <p:ext uri="{BB962C8B-B14F-4D97-AF65-F5344CB8AC3E}">
        <p14:creationId xmlns:p14="http://schemas.microsoft.com/office/powerpoint/2010/main" val="15890011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2">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19</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从目标输出反推上下文</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dirty="0" err="1"/>
              <a:t>这段prompt写的好么</a:t>
            </a:r>
            <a:r>
              <a:rPr lang="zh-CN" altLang="en-US" sz="2500" dirty="0"/>
              <a:t>？</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04 从目标输出反推上下文</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19</a:t>
            </a:r>
            <a:endParaRPr lang="en-US" sz="850" dirty="0"/>
          </a:p>
        </p:txBody>
      </p:sp>
      <p:sp>
        <p:nvSpPr>
          <p:cNvPr id="10" name="Shape 8"/>
          <p:cNvSpPr/>
          <p:nvPr/>
        </p:nvSpPr>
        <p:spPr>
          <a:xfrm>
            <a:off x="630935" y="1583576"/>
            <a:ext cx="10175609" cy="2332950"/>
          </a:xfrm>
          <a:prstGeom prst="roundRect">
            <a:avLst>
              <a:gd name="adj" fmla="val 1099"/>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630936" y="1583576"/>
            <a:ext cx="64008" cy="2332950"/>
          </a:xfrm>
          <a:prstGeom prst="rect">
            <a:avLst/>
          </a:prstGeom>
          <a:solidFill>
            <a:srgbClr val="74546A"/>
          </a:solidFill>
          <a:ln w="12700">
            <a:solidFill>
              <a:srgbClr val="74546A"/>
            </a:solidFill>
            <a:prstDash val="solid"/>
          </a:ln>
        </p:spPr>
      </p:sp>
      <p:sp>
        <p:nvSpPr>
          <p:cNvPr id="13" name="Text 11"/>
          <p:cNvSpPr/>
          <p:nvPr/>
        </p:nvSpPr>
        <p:spPr>
          <a:xfrm>
            <a:off x="850392" y="2203871"/>
            <a:ext cx="9530126" cy="1260642"/>
          </a:xfrm>
          <a:prstGeom prst="rect">
            <a:avLst/>
          </a:prstGeom>
          <a:noFill/>
          <a:ln/>
        </p:spPr>
        <p:txBody>
          <a:bodyPr wrap="square" lIns="0" tIns="0" rIns="0" bIns="0" rtlCol="0" anchor="ctr">
            <a:normAutofit/>
          </a:bodyPr>
          <a:lstStyle/>
          <a:p>
            <a:pPr marL="0" indent="0" algn="l">
              <a:buNone/>
            </a:pPr>
            <a:r>
              <a:rPr lang="en-US" sz="1600" dirty="0">
                <a:solidFill>
                  <a:srgbClr val="77766F"/>
                </a:solidFill>
                <a:latin typeface="PingFang SC" pitchFamily="34" charset="0"/>
                <a:ea typeface="PingFang SC" pitchFamily="34" charset="-122"/>
                <a:cs typeface="PingFang SC" pitchFamily="34" charset="-120"/>
              </a:rPr>
              <a:t>你是一位非常资深、非常专业、逻辑严密、洞察敏锐、表达清晰的销售专家。请认真、全面、深入地分析下面的内容，输出一份高质量、专业、有价值、让人满意的销售拜访总结。</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3">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20</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从目标输出反推上下文</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fontAlgn="auto"/>
            <a:r>
              <a:rPr lang="zh-CN" altLang="zh-CN" sz="2400" b="1" dirty="0"/>
              <a:t>建立“输出—输入—处理”的顺序</a:t>
            </a:r>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04 从目标输出反推上下文</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20</a:t>
            </a:r>
            <a:endParaRPr lang="en-US" sz="850" dirty="0"/>
          </a:p>
        </p:txBody>
      </p:sp>
      <p:sp>
        <p:nvSpPr>
          <p:cNvPr id="10" name="Shape 8"/>
          <p:cNvSpPr/>
          <p:nvPr/>
        </p:nvSpPr>
        <p:spPr>
          <a:xfrm>
            <a:off x="411480" y="1691640"/>
            <a:ext cx="2110435" cy="1554480"/>
          </a:xfrm>
          <a:prstGeom prst="roundRect">
            <a:avLst>
              <a:gd name="adj" fmla="val 2941"/>
            </a:avLst>
          </a:prstGeom>
          <a:solidFill>
            <a:srgbClr val="FBF9F4"/>
          </a:solidFill>
          <a:ln w="12700">
            <a:solidFill>
              <a:srgbClr val="D8D0C2"/>
            </a:solidFill>
            <a:prstDash val="solid"/>
          </a:ln>
        </p:spPr>
      </p:sp>
      <p:sp>
        <p:nvSpPr>
          <p:cNvPr id="11" name="Text 9"/>
          <p:cNvSpPr/>
          <p:nvPr/>
        </p:nvSpPr>
        <p:spPr>
          <a:xfrm>
            <a:off x="576072" y="186537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C35331"/>
                </a:solidFill>
                <a:latin typeface="PingFang SC" pitchFamily="34" charset="0"/>
                <a:ea typeface="PingFang SC" pitchFamily="34" charset="-122"/>
                <a:cs typeface="PingFang SC" pitchFamily="34" charset="-120"/>
              </a:rPr>
              <a:t>01</a:t>
            </a:r>
            <a:endParaRPr lang="en-US" sz="1000" dirty="0"/>
          </a:p>
        </p:txBody>
      </p:sp>
      <p:sp>
        <p:nvSpPr>
          <p:cNvPr id="12" name="Text 10"/>
          <p:cNvSpPr/>
          <p:nvPr/>
        </p:nvSpPr>
        <p:spPr>
          <a:xfrm>
            <a:off x="548640" y="2258568"/>
            <a:ext cx="1836115"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用户与时点</a:t>
            </a:r>
            <a:endParaRPr lang="en-US" sz="1320" dirty="0"/>
          </a:p>
        </p:txBody>
      </p:sp>
      <p:sp>
        <p:nvSpPr>
          <p:cNvPr id="13" name="Text 11"/>
          <p:cNvSpPr/>
          <p:nvPr/>
        </p:nvSpPr>
        <p:spPr>
          <a:xfrm>
            <a:off x="566928" y="2724912"/>
            <a:ext cx="1799539"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谁在何时用</a:t>
            </a:r>
            <a:endParaRPr lang="en-US" sz="970" dirty="0"/>
          </a:p>
        </p:txBody>
      </p:sp>
      <p:sp>
        <p:nvSpPr>
          <p:cNvPr id="14" name="Shape 12"/>
          <p:cNvSpPr/>
          <p:nvPr/>
        </p:nvSpPr>
        <p:spPr>
          <a:xfrm>
            <a:off x="2723083" y="1691640"/>
            <a:ext cx="2110435" cy="1554480"/>
          </a:xfrm>
          <a:prstGeom prst="roundRect">
            <a:avLst>
              <a:gd name="adj" fmla="val 2941"/>
            </a:avLst>
          </a:prstGeom>
          <a:solidFill>
            <a:srgbClr val="FBF9F4"/>
          </a:solidFill>
          <a:ln w="12700">
            <a:solidFill>
              <a:srgbClr val="D8D0C2"/>
            </a:solidFill>
            <a:prstDash val="solid"/>
          </a:ln>
        </p:spPr>
      </p:sp>
      <p:sp>
        <p:nvSpPr>
          <p:cNvPr id="15" name="Text 13"/>
          <p:cNvSpPr/>
          <p:nvPr/>
        </p:nvSpPr>
        <p:spPr>
          <a:xfrm>
            <a:off x="2887675" y="186537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405D78"/>
                </a:solidFill>
                <a:latin typeface="PingFang SC" pitchFamily="34" charset="0"/>
                <a:ea typeface="PingFang SC" pitchFamily="34" charset="-122"/>
                <a:cs typeface="PingFang SC" pitchFamily="34" charset="-120"/>
              </a:rPr>
              <a:t>02</a:t>
            </a:r>
            <a:endParaRPr lang="en-US" sz="1000" dirty="0"/>
          </a:p>
        </p:txBody>
      </p:sp>
      <p:sp>
        <p:nvSpPr>
          <p:cNvPr id="16" name="Text 14"/>
          <p:cNvSpPr/>
          <p:nvPr/>
        </p:nvSpPr>
        <p:spPr>
          <a:xfrm>
            <a:off x="2860243" y="2258568"/>
            <a:ext cx="1836115"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目标输出</a:t>
            </a:r>
            <a:endParaRPr lang="en-US" sz="1320" dirty="0"/>
          </a:p>
        </p:txBody>
      </p:sp>
      <p:sp>
        <p:nvSpPr>
          <p:cNvPr id="17" name="Text 15"/>
          <p:cNvSpPr/>
          <p:nvPr/>
        </p:nvSpPr>
        <p:spPr>
          <a:xfrm>
            <a:off x="2878531" y="2724912"/>
            <a:ext cx="1799539"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要交付什么</a:t>
            </a:r>
            <a:endParaRPr lang="en-US" sz="970" dirty="0"/>
          </a:p>
        </p:txBody>
      </p:sp>
      <p:sp>
        <p:nvSpPr>
          <p:cNvPr id="18" name="Shape 16"/>
          <p:cNvSpPr/>
          <p:nvPr/>
        </p:nvSpPr>
        <p:spPr>
          <a:xfrm>
            <a:off x="5034686" y="1691640"/>
            <a:ext cx="2110435" cy="1554480"/>
          </a:xfrm>
          <a:prstGeom prst="roundRect">
            <a:avLst>
              <a:gd name="adj" fmla="val 2941"/>
            </a:avLst>
          </a:prstGeom>
          <a:solidFill>
            <a:srgbClr val="FBF9F4"/>
          </a:solidFill>
          <a:ln w="12700">
            <a:solidFill>
              <a:srgbClr val="D8D0C2"/>
            </a:solidFill>
            <a:prstDash val="solid"/>
          </a:ln>
        </p:spPr>
      </p:sp>
      <p:sp>
        <p:nvSpPr>
          <p:cNvPr id="19" name="Text 17"/>
          <p:cNvSpPr/>
          <p:nvPr/>
        </p:nvSpPr>
        <p:spPr>
          <a:xfrm>
            <a:off x="5199278" y="186537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387B77"/>
                </a:solidFill>
                <a:latin typeface="PingFang SC" pitchFamily="34" charset="0"/>
                <a:ea typeface="PingFang SC" pitchFamily="34" charset="-122"/>
                <a:cs typeface="PingFang SC" pitchFamily="34" charset="-120"/>
              </a:rPr>
              <a:t>03</a:t>
            </a:r>
            <a:endParaRPr lang="en-US" sz="1000" dirty="0"/>
          </a:p>
        </p:txBody>
      </p:sp>
      <p:sp>
        <p:nvSpPr>
          <p:cNvPr id="20" name="Text 18"/>
          <p:cNvSpPr/>
          <p:nvPr/>
        </p:nvSpPr>
        <p:spPr>
          <a:xfrm>
            <a:off x="5171846" y="2258568"/>
            <a:ext cx="1836115"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验收标准</a:t>
            </a:r>
            <a:endParaRPr lang="en-US" sz="1320" dirty="0"/>
          </a:p>
        </p:txBody>
      </p:sp>
      <p:sp>
        <p:nvSpPr>
          <p:cNvPr id="21" name="Text 19"/>
          <p:cNvSpPr/>
          <p:nvPr/>
        </p:nvSpPr>
        <p:spPr>
          <a:xfrm>
            <a:off x="5190134" y="2724912"/>
            <a:ext cx="1799539"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怎样算可用</a:t>
            </a:r>
            <a:endParaRPr lang="en-US" sz="970" dirty="0"/>
          </a:p>
        </p:txBody>
      </p:sp>
      <p:sp>
        <p:nvSpPr>
          <p:cNvPr id="22" name="Shape 20"/>
          <p:cNvSpPr/>
          <p:nvPr/>
        </p:nvSpPr>
        <p:spPr>
          <a:xfrm>
            <a:off x="7346290" y="1691640"/>
            <a:ext cx="2110435" cy="1554480"/>
          </a:xfrm>
          <a:prstGeom prst="roundRect">
            <a:avLst>
              <a:gd name="adj" fmla="val 2941"/>
            </a:avLst>
          </a:prstGeom>
          <a:solidFill>
            <a:srgbClr val="FBF9F4"/>
          </a:solidFill>
          <a:ln w="12700">
            <a:solidFill>
              <a:srgbClr val="D8D0C2"/>
            </a:solidFill>
            <a:prstDash val="solid"/>
          </a:ln>
        </p:spPr>
      </p:sp>
      <p:sp>
        <p:nvSpPr>
          <p:cNvPr id="23" name="Text 21"/>
          <p:cNvSpPr/>
          <p:nvPr/>
        </p:nvSpPr>
        <p:spPr>
          <a:xfrm>
            <a:off x="7510882" y="186537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D18A38"/>
                </a:solidFill>
                <a:latin typeface="PingFang SC" pitchFamily="34" charset="0"/>
                <a:ea typeface="PingFang SC" pitchFamily="34" charset="-122"/>
                <a:cs typeface="PingFang SC" pitchFamily="34" charset="-120"/>
              </a:rPr>
              <a:t>04</a:t>
            </a:r>
            <a:endParaRPr lang="en-US" sz="1000" dirty="0"/>
          </a:p>
        </p:txBody>
      </p:sp>
      <p:sp>
        <p:nvSpPr>
          <p:cNvPr id="24" name="Text 22"/>
          <p:cNvSpPr/>
          <p:nvPr/>
        </p:nvSpPr>
        <p:spPr>
          <a:xfrm>
            <a:off x="7483450" y="2258568"/>
            <a:ext cx="1836115"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必要信息</a:t>
            </a:r>
            <a:endParaRPr lang="en-US" sz="1320" dirty="0"/>
          </a:p>
        </p:txBody>
      </p:sp>
      <p:sp>
        <p:nvSpPr>
          <p:cNvPr id="25" name="Text 23"/>
          <p:cNvSpPr/>
          <p:nvPr/>
        </p:nvSpPr>
        <p:spPr>
          <a:xfrm>
            <a:off x="7501738" y="2724912"/>
            <a:ext cx="1799539"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模型需要什么</a:t>
            </a:r>
            <a:endParaRPr lang="en-US" sz="970" dirty="0"/>
          </a:p>
        </p:txBody>
      </p:sp>
      <p:sp>
        <p:nvSpPr>
          <p:cNvPr id="26" name="Shape 24"/>
          <p:cNvSpPr/>
          <p:nvPr/>
        </p:nvSpPr>
        <p:spPr>
          <a:xfrm>
            <a:off x="9657893" y="1691640"/>
            <a:ext cx="2110435" cy="1554480"/>
          </a:xfrm>
          <a:prstGeom prst="roundRect">
            <a:avLst>
              <a:gd name="adj" fmla="val 2941"/>
            </a:avLst>
          </a:prstGeom>
          <a:solidFill>
            <a:srgbClr val="FBF9F4"/>
          </a:solidFill>
          <a:ln w="12700">
            <a:solidFill>
              <a:srgbClr val="D8D0C2"/>
            </a:solidFill>
            <a:prstDash val="solid"/>
          </a:ln>
        </p:spPr>
      </p:sp>
      <p:sp>
        <p:nvSpPr>
          <p:cNvPr id="27" name="Text 25"/>
          <p:cNvSpPr/>
          <p:nvPr/>
        </p:nvSpPr>
        <p:spPr>
          <a:xfrm>
            <a:off x="9822485" y="1865376"/>
            <a:ext cx="438912" cy="182880"/>
          </a:xfrm>
          <a:prstGeom prst="rect">
            <a:avLst/>
          </a:prstGeom>
          <a:noFill/>
          <a:ln/>
        </p:spPr>
        <p:txBody>
          <a:bodyPr wrap="square" lIns="0" tIns="0" rIns="0" bIns="0" rtlCol="0" anchor="t">
            <a:normAutofit/>
          </a:bodyPr>
          <a:lstStyle/>
          <a:p>
            <a:pPr marL="0" indent="0" algn="l">
              <a:buNone/>
            </a:pPr>
            <a:r>
              <a:rPr lang="en-US" sz="1000" b="1" dirty="0">
                <a:solidFill>
                  <a:srgbClr val="74546A"/>
                </a:solidFill>
                <a:latin typeface="PingFang SC" pitchFamily="34" charset="0"/>
                <a:ea typeface="PingFang SC" pitchFamily="34" charset="-122"/>
                <a:cs typeface="PingFang SC" pitchFamily="34" charset="-120"/>
              </a:rPr>
              <a:t>05</a:t>
            </a:r>
            <a:endParaRPr lang="en-US" sz="1000" dirty="0"/>
          </a:p>
        </p:txBody>
      </p:sp>
      <p:sp>
        <p:nvSpPr>
          <p:cNvPr id="28" name="Text 26"/>
          <p:cNvSpPr/>
          <p:nvPr/>
        </p:nvSpPr>
        <p:spPr>
          <a:xfrm>
            <a:off x="9795053" y="2258568"/>
            <a:ext cx="1836115" cy="329184"/>
          </a:xfrm>
          <a:prstGeom prst="rect">
            <a:avLst/>
          </a:prstGeom>
          <a:noFill/>
          <a:ln/>
        </p:spPr>
        <p:txBody>
          <a:bodyPr wrap="square" lIns="0" tIns="0" rIns="0" bIns="0" rtlCol="0" anchor="t">
            <a:normAutofit/>
          </a:bodyPr>
          <a:lstStyle/>
          <a:p>
            <a:pPr marL="0" indent="0" algn="ctr">
              <a:buNone/>
            </a:pPr>
            <a:r>
              <a:rPr lang="en-US" sz="1320" b="1" dirty="0">
                <a:solidFill>
                  <a:srgbClr val="20211F"/>
                </a:solidFill>
                <a:latin typeface="PingFang SC" pitchFamily="34" charset="0"/>
                <a:ea typeface="PingFang SC" pitchFamily="34" charset="-122"/>
                <a:cs typeface="PingFang SC" pitchFamily="34" charset="-120"/>
              </a:rPr>
              <a:t>Prompt与流程</a:t>
            </a:r>
            <a:endParaRPr lang="en-US" sz="1320" dirty="0"/>
          </a:p>
        </p:txBody>
      </p:sp>
      <p:sp>
        <p:nvSpPr>
          <p:cNvPr id="29" name="Text 27"/>
          <p:cNvSpPr/>
          <p:nvPr/>
        </p:nvSpPr>
        <p:spPr>
          <a:xfrm>
            <a:off x="9813341" y="2724912"/>
            <a:ext cx="1799539" cy="274320"/>
          </a:xfrm>
          <a:prstGeom prst="rect">
            <a:avLst/>
          </a:prstGeom>
          <a:noFill/>
          <a:ln/>
        </p:spPr>
        <p:txBody>
          <a:bodyPr wrap="square" lIns="0" tIns="0" rIns="0" bIns="0" rtlCol="0" anchor="t">
            <a:normAutofit/>
          </a:bodyPr>
          <a:lstStyle/>
          <a:p>
            <a:pPr marL="0" indent="0" algn="ctr">
              <a:buNone/>
            </a:pPr>
            <a:r>
              <a:rPr lang="en-US" sz="970" dirty="0">
                <a:solidFill>
                  <a:srgbClr val="77766F"/>
                </a:solidFill>
                <a:latin typeface="PingFang SC" pitchFamily="34" charset="0"/>
                <a:ea typeface="PingFang SC" pitchFamily="34" charset="-122"/>
                <a:cs typeface="PingFang SC" pitchFamily="34" charset="-120"/>
              </a:rPr>
              <a:t>最后组织处理</a:t>
            </a:r>
            <a:endParaRPr lang="en-US" sz="970" dirty="0"/>
          </a:p>
        </p:txBody>
      </p:sp>
      <p:sp>
        <p:nvSpPr>
          <p:cNvPr id="31" name="Text 29"/>
          <p:cNvSpPr/>
          <p:nvPr/>
        </p:nvSpPr>
        <p:spPr>
          <a:xfrm>
            <a:off x="1325880" y="4160520"/>
            <a:ext cx="9646920" cy="566928"/>
          </a:xfrm>
          <a:prstGeom prst="rect">
            <a:avLst/>
          </a:prstGeom>
          <a:noFill/>
          <a:ln/>
        </p:spPr>
        <p:txBody>
          <a:bodyPr wrap="square" lIns="0" tIns="0" rIns="0" bIns="0" rtlCol="0" anchor="ctr">
            <a:normAutofit/>
          </a:bodyPr>
          <a:lstStyle/>
          <a:p>
            <a:pPr marL="0" indent="0" algn="ctr">
              <a:buNone/>
            </a:pPr>
            <a:r>
              <a:rPr lang="en-US" sz="1900" b="1" dirty="0">
                <a:solidFill>
                  <a:srgbClr val="20211F"/>
                </a:solidFill>
                <a:latin typeface="PingFang SC" pitchFamily="34" charset="0"/>
                <a:ea typeface="PingFang SC" pitchFamily="34" charset="-122"/>
                <a:cs typeface="PingFang SC" pitchFamily="34" charset="-120"/>
              </a:rPr>
              <a:t>这是产品设计顺序，不是系统运行顺序。</a:t>
            </a:r>
            <a:endParaRPr lang="en-US" sz="1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4">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21</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从目标输出反推上下文</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用户与使用时点</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04 从目标输出反推上下文</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21</a:t>
            </a:r>
            <a:endParaRPr lang="en-US" sz="850" dirty="0"/>
          </a:p>
        </p:txBody>
      </p:sp>
      <p:sp>
        <p:nvSpPr>
          <p:cNvPr id="10" name="Shape 8"/>
          <p:cNvSpPr/>
          <p:nvPr/>
        </p:nvSpPr>
        <p:spPr>
          <a:xfrm>
            <a:off x="658368" y="1572768"/>
            <a:ext cx="2555748" cy="2286000"/>
          </a:xfrm>
          <a:prstGeom prst="roundRect">
            <a:avLst>
              <a:gd name="adj" fmla="val 2000"/>
            </a:avLst>
          </a:prstGeom>
          <a:solidFill>
            <a:srgbClr val="FBF9F4"/>
          </a:solidFill>
          <a:ln w="12700">
            <a:solidFill>
              <a:srgbClr val="D8D0C2"/>
            </a:solidFill>
            <a:prstDash val="solid"/>
          </a:ln>
        </p:spPr>
      </p:sp>
      <p:sp>
        <p:nvSpPr>
          <p:cNvPr id="11" name="Shape 9"/>
          <p:cNvSpPr/>
          <p:nvPr/>
        </p:nvSpPr>
        <p:spPr>
          <a:xfrm>
            <a:off x="658368" y="1572768"/>
            <a:ext cx="64008" cy="2286000"/>
          </a:xfrm>
          <a:prstGeom prst="rect">
            <a:avLst/>
          </a:prstGeom>
          <a:solidFill>
            <a:srgbClr val="C35331"/>
          </a:solidFill>
          <a:ln w="12700">
            <a:solidFill>
              <a:srgbClr val="C35331"/>
            </a:solidFill>
            <a:prstDash val="solid"/>
          </a:ln>
        </p:spPr>
      </p:sp>
      <p:sp>
        <p:nvSpPr>
          <p:cNvPr id="12" name="Text 10"/>
          <p:cNvSpPr/>
          <p:nvPr/>
        </p:nvSpPr>
        <p:spPr>
          <a:xfrm>
            <a:off x="905256" y="1783080"/>
            <a:ext cx="2080260"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一线销售</a:t>
            </a:r>
            <a:endParaRPr lang="en-US" sz="1500" dirty="0"/>
          </a:p>
        </p:txBody>
      </p:sp>
      <p:sp>
        <p:nvSpPr>
          <p:cNvPr id="13" name="Text 11"/>
          <p:cNvSpPr/>
          <p:nvPr/>
        </p:nvSpPr>
        <p:spPr>
          <a:xfrm>
            <a:off x="905256" y="2295144"/>
            <a:ext cx="2061972" cy="1353312"/>
          </a:xfrm>
          <a:prstGeom prst="rect">
            <a:avLst/>
          </a:prstGeom>
          <a:noFill/>
          <a:ln/>
        </p:spPr>
        <p:txBody>
          <a:bodyPr wrap="square" lIns="0" tIns="0" rIns="0" bIns="0" rtlCol="0" anchor="t">
            <a:normAutofit/>
          </a:bodyPr>
          <a:lstStyle/>
          <a:p>
            <a:pPr marL="285750" indent="-285750">
              <a:buFont typeface="Arial" panose="020B0604020202020204" pitchFamily="34" charset="0"/>
              <a:buChar char="•"/>
            </a:pPr>
            <a:r>
              <a:rPr lang="zh-CN" altLang="zh-CN" sz="1400" dirty="0">
                <a:solidFill>
                  <a:schemeClr val="tx1">
                    <a:lumMod val="65000"/>
                    <a:lumOff val="35000"/>
                  </a:schemeClr>
                </a:solidFill>
              </a:rPr>
              <a:t>回顾信息、完成记录、推进下一步</a:t>
            </a:r>
            <a:endParaRPr lang="en-US" altLang="zh-CN" sz="1400" dirty="0">
              <a:solidFill>
                <a:schemeClr val="tx1">
                  <a:lumMod val="65000"/>
                  <a:lumOff val="35000"/>
                </a:schemeClr>
              </a:solidFill>
            </a:endParaRPr>
          </a:p>
          <a:p>
            <a:pPr marL="285750" indent="-285750">
              <a:buFont typeface="Arial" panose="020B0604020202020204" pitchFamily="34" charset="0"/>
              <a:buChar char="•"/>
            </a:pPr>
            <a:r>
              <a:rPr lang="zh-CN" altLang="zh-CN" sz="1400" dirty="0">
                <a:solidFill>
                  <a:schemeClr val="tx1">
                    <a:lumMod val="65000"/>
                    <a:lumOff val="35000"/>
                  </a:schemeClr>
                </a:solidFill>
              </a:rPr>
              <a:t>客户诉求、异议、承诺、待办</a:t>
            </a:r>
            <a:endParaRPr lang="en-US" sz="1400" dirty="0">
              <a:solidFill>
                <a:schemeClr val="tx1">
                  <a:lumMod val="65000"/>
                  <a:lumOff val="35000"/>
                </a:schemeClr>
              </a:solidFill>
            </a:endParaRPr>
          </a:p>
        </p:txBody>
      </p:sp>
      <p:sp>
        <p:nvSpPr>
          <p:cNvPr id="14" name="Shape 12"/>
          <p:cNvSpPr/>
          <p:nvPr/>
        </p:nvSpPr>
        <p:spPr>
          <a:xfrm>
            <a:off x="3433572" y="1572768"/>
            <a:ext cx="2555748" cy="2286000"/>
          </a:xfrm>
          <a:prstGeom prst="roundRect">
            <a:avLst>
              <a:gd name="adj" fmla="val 2000"/>
            </a:avLst>
          </a:prstGeom>
          <a:solidFill>
            <a:srgbClr val="FBF9F4"/>
          </a:solidFill>
          <a:ln w="12700">
            <a:solidFill>
              <a:srgbClr val="D8D0C2"/>
            </a:solidFill>
            <a:prstDash val="solid"/>
          </a:ln>
        </p:spPr>
      </p:sp>
      <p:sp>
        <p:nvSpPr>
          <p:cNvPr id="15" name="Shape 13"/>
          <p:cNvSpPr/>
          <p:nvPr/>
        </p:nvSpPr>
        <p:spPr>
          <a:xfrm>
            <a:off x="3433572" y="1572768"/>
            <a:ext cx="64008" cy="2286000"/>
          </a:xfrm>
          <a:prstGeom prst="rect">
            <a:avLst/>
          </a:prstGeom>
          <a:solidFill>
            <a:srgbClr val="D18A38"/>
          </a:solidFill>
          <a:ln w="12700">
            <a:solidFill>
              <a:srgbClr val="D18A38"/>
            </a:solidFill>
            <a:prstDash val="solid"/>
          </a:ln>
        </p:spPr>
      </p:sp>
      <p:sp>
        <p:nvSpPr>
          <p:cNvPr id="16" name="Text 14"/>
          <p:cNvSpPr/>
          <p:nvPr/>
        </p:nvSpPr>
        <p:spPr>
          <a:xfrm>
            <a:off x="3680460" y="1783080"/>
            <a:ext cx="2080260"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销售主管</a:t>
            </a:r>
            <a:endParaRPr lang="en-US" sz="1500" dirty="0"/>
          </a:p>
        </p:txBody>
      </p:sp>
      <p:sp>
        <p:nvSpPr>
          <p:cNvPr id="17" name="Text 15"/>
          <p:cNvSpPr/>
          <p:nvPr/>
        </p:nvSpPr>
        <p:spPr>
          <a:xfrm>
            <a:off x="3680460" y="2295144"/>
            <a:ext cx="2061972" cy="1353312"/>
          </a:xfrm>
          <a:prstGeom prst="rect">
            <a:avLst/>
          </a:prstGeom>
          <a:noFill/>
          <a:ln/>
        </p:spPr>
        <p:txBody>
          <a:bodyPr wrap="square" lIns="0" tIns="0" rIns="0" bIns="0" rtlCol="0" anchor="t">
            <a:normAutofit/>
          </a:bodyPr>
          <a:lstStyle/>
          <a:p>
            <a:pPr marL="285750" indent="-285750">
              <a:buFont typeface="Arial" panose="020B0604020202020204" pitchFamily="34" charset="0"/>
              <a:buChar char="•"/>
            </a:pPr>
            <a:r>
              <a:rPr lang="zh-CN" altLang="zh-CN" sz="1400" dirty="0">
                <a:solidFill>
                  <a:schemeClr val="tx1">
                    <a:lumMod val="65000"/>
                    <a:lumOff val="35000"/>
                  </a:schemeClr>
                </a:solidFill>
              </a:rPr>
              <a:t>判断商机、发现风险、辅导销售</a:t>
            </a:r>
            <a:endParaRPr lang="en-US" altLang="zh-CN" sz="1400" dirty="0">
              <a:solidFill>
                <a:schemeClr val="tx1">
                  <a:lumMod val="65000"/>
                  <a:lumOff val="35000"/>
                </a:schemeClr>
              </a:solidFill>
            </a:endParaRPr>
          </a:p>
          <a:p>
            <a:pPr marL="285750" indent="-285750">
              <a:buFont typeface="Arial" panose="020B0604020202020204" pitchFamily="34" charset="0"/>
              <a:buChar char="•"/>
            </a:pPr>
            <a:r>
              <a:rPr lang="zh-CN" altLang="zh-CN" sz="1400" dirty="0">
                <a:solidFill>
                  <a:schemeClr val="tx1">
                    <a:lumMod val="65000"/>
                    <a:lumOff val="35000"/>
                  </a:schemeClr>
                </a:solidFill>
              </a:rPr>
              <a:t>阶段判断、风险、关键缺口、辅导建议</a:t>
            </a:r>
            <a:endParaRPr lang="en-US" sz="1400" dirty="0">
              <a:solidFill>
                <a:schemeClr val="tx1">
                  <a:lumMod val="65000"/>
                  <a:lumOff val="35000"/>
                </a:schemeClr>
              </a:solidFill>
            </a:endParaRPr>
          </a:p>
        </p:txBody>
      </p:sp>
      <p:sp>
        <p:nvSpPr>
          <p:cNvPr id="18" name="Shape 16"/>
          <p:cNvSpPr/>
          <p:nvPr/>
        </p:nvSpPr>
        <p:spPr>
          <a:xfrm>
            <a:off x="6208776" y="1572768"/>
            <a:ext cx="2555748" cy="2286000"/>
          </a:xfrm>
          <a:prstGeom prst="roundRect">
            <a:avLst>
              <a:gd name="adj" fmla="val 2000"/>
            </a:avLst>
          </a:prstGeom>
          <a:solidFill>
            <a:srgbClr val="FBF9F4"/>
          </a:solidFill>
          <a:ln w="12700">
            <a:solidFill>
              <a:srgbClr val="D8D0C2"/>
            </a:solidFill>
            <a:prstDash val="solid"/>
          </a:ln>
        </p:spPr>
      </p:sp>
      <p:sp>
        <p:nvSpPr>
          <p:cNvPr id="19" name="Shape 17"/>
          <p:cNvSpPr/>
          <p:nvPr/>
        </p:nvSpPr>
        <p:spPr>
          <a:xfrm>
            <a:off x="6208776" y="1572768"/>
            <a:ext cx="64008" cy="2286000"/>
          </a:xfrm>
          <a:prstGeom prst="rect">
            <a:avLst/>
          </a:prstGeom>
          <a:solidFill>
            <a:srgbClr val="387B77"/>
          </a:solidFill>
          <a:ln w="12700">
            <a:solidFill>
              <a:srgbClr val="387B77"/>
            </a:solidFill>
            <a:prstDash val="solid"/>
          </a:ln>
        </p:spPr>
      </p:sp>
      <p:sp>
        <p:nvSpPr>
          <p:cNvPr id="20" name="Text 18"/>
          <p:cNvSpPr/>
          <p:nvPr/>
        </p:nvSpPr>
        <p:spPr>
          <a:xfrm>
            <a:off x="6455664" y="1783080"/>
            <a:ext cx="2080260"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客户</a:t>
            </a:r>
            <a:endParaRPr lang="en-US" sz="1500" dirty="0"/>
          </a:p>
        </p:txBody>
      </p:sp>
      <p:sp>
        <p:nvSpPr>
          <p:cNvPr id="21" name="Text 19"/>
          <p:cNvSpPr/>
          <p:nvPr/>
        </p:nvSpPr>
        <p:spPr>
          <a:xfrm>
            <a:off x="6455664" y="2295144"/>
            <a:ext cx="2061972" cy="1353312"/>
          </a:xfrm>
          <a:prstGeom prst="rect">
            <a:avLst/>
          </a:prstGeom>
          <a:noFill/>
          <a:ln/>
        </p:spPr>
        <p:txBody>
          <a:bodyPr wrap="square" lIns="0" tIns="0" rIns="0" bIns="0" rtlCol="0" anchor="t">
            <a:normAutofit/>
          </a:bodyPr>
          <a:lstStyle/>
          <a:p>
            <a:pPr marL="285750" indent="-285750">
              <a:buFont typeface="Arial" panose="020B0604020202020204" pitchFamily="34" charset="0"/>
              <a:buChar char="•"/>
            </a:pPr>
            <a:r>
              <a:rPr lang="zh-CN" altLang="zh-CN" sz="1400" dirty="0">
                <a:solidFill>
                  <a:schemeClr val="tx1">
                    <a:lumMod val="65000"/>
                    <a:lumOff val="35000"/>
                  </a:schemeClr>
                </a:solidFill>
              </a:rPr>
              <a:t>确认双方共识</a:t>
            </a:r>
            <a:endParaRPr lang="en-US" altLang="zh-CN" sz="1400" dirty="0">
              <a:solidFill>
                <a:schemeClr val="tx1">
                  <a:lumMod val="65000"/>
                  <a:lumOff val="35000"/>
                </a:schemeClr>
              </a:solidFill>
            </a:endParaRPr>
          </a:p>
          <a:p>
            <a:pPr marL="285750" indent="-285750">
              <a:buFont typeface="Arial" panose="020B0604020202020204" pitchFamily="34" charset="0"/>
              <a:buChar char="•"/>
            </a:pPr>
            <a:r>
              <a:rPr lang="zh-CN" altLang="zh-CN" sz="1400" dirty="0">
                <a:solidFill>
                  <a:schemeClr val="tx1">
                    <a:lumMod val="65000"/>
                    <a:lumOff val="35000"/>
                  </a:schemeClr>
                </a:solidFill>
              </a:rPr>
              <a:t>会议结论、双方行动项、时间节点</a:t>
            </a:r>
            <a:endParaRPr lang="en-US" sz="1400" dirty="0">
              <a:solidFill>
                <a:schemeClr val="tx1">
                  <a:lumMod val="65000"/>
                  <a:lumOff val="35000"/>
                </a:schemeClr>
              </a:solidFill>
            </a:endParaRPr>
          </a:p>
        </p:txBody>
      </p:sp>
      <p:sp>
        <p:nvSpPr>
          <p:cNvPr id="22" name="Shape 20"/>
          <p:cNvSpPr/>
          <p:nvPr/>
        </p:nvSpPr>
        <p:spPr>
          <a:xfrm>
            <a:off x="8983980" y="1572768"/>
            <a:ext cx="2555748" cy="2286000"/>
          </a:xfrm>
          <a:prstGeom prst="roundRect">
            <a:avLst>
              <a:gd name="adj" fmla="val 2000"/>
            </a:avLst>
          </a:prstGeom>
          <a:solidFill>
            <a:srgbClr val="FBF9F4"/>
          </a:solidFill>
          <a:ln w="12700">
            <a:solidFill>
              <a:srgbClr val="D8D0C2"/>
            </a:solidFill>
            <a:prstDash val="solid"/>
          </a:ln>
        </p:spPr>
      </p:sp>
      <p:sp>
        <p:nvSpPr>
          <p:cNvPr id="23" name="Shape 21"/>
          <p:cNvSpPr/>
          <p:nvPr/>
        </p:nvSpPr>
        <p:spPr>
          <a:xfrm>
            <a:off x="8983980" y="1572768"/>
            <a:ext cx="64008" cy="2286000"/>
          </a:xfrm>
          <a:prstGeom prst="rect">
            <a:avLst/>
          </a:prstGeom>
          <a:solidFill>
            <a:srgbClr val="405D78"/>
          </a:solidFill>
          <a:ln w="12700">
            <a:solidFill>
              <a:srgbClr val="405D78"/>
            </a:solidFill>
            <a:prstDash val="solid"/>
          </a:ln>
        </p:spPr>
      </p:sp>
      <p:sp>
        <p:nvSpPr>
          <p:cNvPr id="24" name="Text 22"/>
          <p:cNvSpPr/>
          <p:nvPr/>
        </p:nvSpPr>
        <p:spPr>
          <a:xfrm>
            <a:off x="9230868" y="1783080"/>
            <a:ext cx="2080260"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CRM系统</a:t>
            </a:r>
            <a:endParaRPr lang="en-US" sz="1500" dirty="0"/>
          </a:p>
        </p:txBody>
      </p:sp>
      <p:sp>
        <p:nvSpPr>
          <p:cNvPr id="25" name="Text 23"/>
          <p:cNvSpPr/>
          <p:nvPr/>
        </p:nvSpPr>
        <p:spPr>
          <a:xfrm>
            <a:off x="9230868" y="2295144"/>
            <a:ext cx="2061972" cy="1353312"/>
          </a:xfrm>
          <a:prstGeom prst="rect">
            <a:avLst/>
          </a:prstGeom>
          <a:noFill/>
          <a:ln/>
        </p:spPr>
        <p:txBody>
          <a:bodyPr wrap="square" lIns="0" tIns="0" rIns="0" bIns="0" rtlCol="0" anchor="t">
            <a:normAutofit/>
          </a:bodyPr>
          <a:lstStyle/>
          <a:p>
            <a:pPr marL="285750" indent="-285750">
              <a:buFont typeface="Arial" panose="020B0604020202020204" pitchFamily="34" charset="0"/>
              <a:buChar char="•"/>
            </a:pPr>
            <a:r>
              <a:rPr lang="zh-CN" altLang="zh-CN" sz="1400" dirty="0">
                <a:solidFill>
                  <a:schemeClr val="tx1">
                    <a:lumMod val="65000"/>
                    <a:lumOff val="35000"/>
                  </a:schemeClr>
                </a:solidFill>
              </a:rPr>
              <a:t>形成结构化记录</a:t>
            </a:r>
            <a:endParaRPr lang="en-US" altLang="zh-CN" sz="1400" dirty="0">
              <a:solidFill>
                <a:schemeClr val="tx1">
                  <a:lumMod val="65000"/>
                  <a:lumOff val="35000"/>
                </a:schemeClr>
              </a:solidFill>
            </a:endParaRPr>
          </a:p>
          <a:p>
            <a:pPr marL="285750" indent="-285750">
              <a:buFont typeface="Arial" panose="020B0604020202020204" pitchFamily="34" charset="0"/>
              <a:buChar char="•"/>
            </a:pPr>
            <a:r>
              <a:rPr lang="zh-CN" altLang="zh-CN" sz="1400" dirty="0">
                <a:solidFill>
                  <a:schemeClr val="tx1">
                    <a:lumMod val="65000"/>
                    <a:lumOff val="35000"/>
                  </a:schemeClr>
                </a:solidFill>
              </a:rPr>
              <a:t>固定字段、格式、必填项、可追溯事</a:t>
            </a:r>
            <a:endParaRPr lang="en-US" sz="1400" dirty="0">
              <a:solidFill>
                <a:schemeClr val="tx1">
                  <a:lumMod val="65000"/>
                  <a:lumOff val="35000"/>
                </a:schemeClr>
              </a:solidFill>
            </a:endParaRPr>
          </a:p>
        </p:txBody>
      </p:sp>
      <p:sp>
        <p:nvSpPr>
          <p:cNvPr id="27" name="Text 25"/>
          <p:cNvSpPr/>
          <p:nvPr/>
        </p:nvSpPr>
        <p:spPr>
          <a:xfrm>
            <a:off x="1234440" y="4407408"/>
            <a:ext cx="9738360" cy="731520"/>
          </a:xfrm>
          <a:prstGeom prst="rect">
            <a:avLst/>
          </a:prstGeom>
          <a:noFill/>
          <a:ln/>
        </p:spPr>
        <p:txBody>
          <a:bodyPr wrap="square" lIns="0" tIns="0" rIns="0" bIns="0" rtlCol="0" anchor="ctr">
            <a:normAutofit/>
          </a:bodyPr>
          <a:lstStyle/>
          <a:p>
            <a:pPr marL="0" indent="0" algn="ctr">
              <a:buNone/>
            </a:pPr>
            <a:r>
              <a:rPr lang="en-US" sz="1700" b="1" dirty="0">
                <a:solidFill>
                  <a:srgbClr val="20211F"/>
                </a:solidFill>
                <a:latin typeface="PingFang SC" pitchFamily="34" charset="0"/>
                <a:ea typeface="PingFang SC" pitchFamily="34" charset="-122"/>
                <a:cs typeface="PingFang SC" pitchFamily="34" charset="-120"/>
              </a:rPr>
              <a:t>本课统一假设｜一线销售在拜访后10分钟内检查AI草稿、录入CRM并准备跟进。</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5">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22</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从目标输出反推上下文</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目标输出和验收标准</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04 从目标输出反推上下文</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22</a:t>
            </a:r>
            <a:endParaRPr lang="en-US" sz="850" dirty="0"/>
          </a:p>
        </p:txBody>
      </p:sp>
      <p:sp>
        <p:nvSpPr>
          <p:cNvPr id="10" name="Shape 8"/>
          <p:cNvSpPr/>
          <p:nvPr/>
        </p:nvSpPr>
        <p:spPr>
          <a:xfrm>
            <a:off x="1687068" y="1572768"/>
            <a:ext cx="3480816" cy="3246120"/>
          </a:xfrm>
          <a:prstGeom prst="roundRect">
            <a:avLst>
              <a:gd name="adj" fmla="val 1408"/>
            </a:avLst>
          </a:prstGeom>
          <a:solidFill>
            <a:srgbClr val="FBF9F4"/>
          </a:solidFill>
          <a:ln w="12700">
            <a:solidFill>
              <a:srgbClr val="D8D0C2"/>
            </a:solidFill>
            <a:prstDash val="solid"/>
          </a:ln>
        </p:spPr>
      </p:sp>
      <p:sp>
        <p:nvSpPr>
          <p:cNvPr id="11" name="Shape 9"/>
          <p:cNvSpPr/>
          <p:nvPr/>
        </p:nvSpPr>
        <p:spPr>
          <a:xfrm>
            <a:off x="1687068" y="1572768"/>
            <a:ext cx="64008" cy="3246120"/>
          </a:xfrm>
          <a:prstGeom prst="rect">
            <a:avLst/>
          </a:prstGeom>
          <a:solidFill>
            <a:srgbClr val="C35331"/>
          </a:solidFill>
          <a:ln w="12700">
            <a:solidFill>
              <a:srgbClr val="C35331"/>
            </a:solidFill>
            <a:prstDash val="solid"/>
          </a:ln>
        </p:spPr>
      </p:sp>
      <p:sp>
        <p:nvSpPr>
          <p:cNvPr id="12" name="Text 10"/>
          <p:cNvSpPr/>
          <p:nvPr/>
        </p:nvSpPr>
        <p:spPr>
          <a:xfrm>
            <a:off x="1933956" y="1783080"/>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目标输出</a:t>
            </a:r>
            <a:endParaRPr lang="en-US" sz="1500" dirty="0"/>
          </a:p>
        </p:txBody>
      </p:sp>
      <p:sp>
        <p:nvSpPr>
          <p:cNvPr id="13" name="Text 11"/>
          <p:cNvSpPr/>
          <p:nvPr/>
        </p:nvSpPr>
        <p:spPr>
          <a:xfrm>
            <a:off x="1933956" y="2295144"/>
            <a:ext cx="2987040" cy="2313432"/>
          </a:xfrm>
          <a:prstGeom prst="rect">
            <a:avLst/>
          </a:prstGeom>
          <a:noFill/>
          <a:ln/>
        </p:spPr>
        <p:txBody>
          <a:bodyPr wrap="square" lIns="0" tIns="0" rIns="0" bIns="0" rtlCol="0" anchor="t">
            <a:normAutofit/>
          </a:bodyPr>
          <a:lstStyle/>
          <a:p>
            <a:pPr marL="285750" lvl="0" indent="-285750">
              <a:buFont typeface="Arial" panose="020B0604020202020204" pitchFamily="34" charset="0"/>
              <a:buChar char="•"/>
            </a:pPr>
            <a:r>
              <a:rPr lang="zh-CN" altLang="zh-CN" sz="1400" dirty="0">
                <a:solidFill>
                  <a:schemeClr val="tx1">
                    <a:lumMod val="65000"/>
                    <a:lumOff val="35000"/>
                  </a:schemeClr>
                </a:solidFill>
              </a:rPr>
              <a:t>客户核心诉求；</a:t>
            </a:r>
          </a:p>
          <a:p>
            <a:pPr marL="285750" lvl="0" indent="-285750">
              <a:buFont typeface="Arial" panose="020B0604020202020204" pitchFamily="34" charset="0"/>
              <a:buChar char="•"/>
            </a:pPr>
            <a:r>
              <a:rPr lang="zh-CN" altLang="zh-CN" sz="1400" dirty="0">
                <a:solidFill>
                  <a:schemeClr val="tx1">
                    <a:lumMod val="65000"/>
                    <a:lumOff val="35000"/>
                  </a:schemeClr>
                </a:solidFill>
              </a:rPr>
              <a:t>客户明确表达的异议；</a:t>
            </a:r>
          </a:p>
          <a:p>
            <a:pPr marL="285750" lvl="0" indent="-285750">
              <a:buFont typeface="Arial" panose="020B0604020202020204" pitchFamily="34" charset="0"/>
              <a:buChar char="•"/>
            </a:pPr>
            <a:r>
              <a:rPr lang="zh-CN" altLang="zh-CN" sz="1400" dirty="0">
                <a:solidFill>
                  <a:schemeClr val="tx1">
                    <a:lumMod val="65000"/>
                    <a:lumOff val="35000"/>
                  </a:schemeClr>
                </a:solidFill>
              </a:rPr>
              <a:t>关键信息与客户原话；</a:t>
            </a:r>
          </a:p>
          <a:p>
            <a:pPr marL="285750" lvl="0" indent="-285750">
              <a:buFont typeface="Arial" panose="020B0604020202020204" pitchFamily="34" charset="0"/>
              <a:buChar char="•"/>
            </a:pPr>
            <a:r>
              <a:rPr lang="zh-CN" altLang="zh-CN" sz="1400" dirty="0">
                <a:solidFill>
                  <a:schemeClr val="tx1">
                    <a:lumMod val="65000"/>
                    <a:lumOff val="35000"/>
                  </a:schemeClr>
                </a:solidFill>
              </a:rPr>
              <a:t>双方确认的下一步行动；</a:t>
            </a:r>
          </a:p>
          <a:p>
            <a:pPr marL="285750" lvl="0" indent="-285750">
              <a:buFont typeface="Arial" panose="020B0604020202020204" pitchFamily="34" charset="0"/>
              <a:buChar char="•"/>
            </a:pPr>
            <a:r>
              <a:rPr lang="zh-CN" altLang="zh-CN" sz="1400" dirty="0">
                <a:solidFill>
                  <a:schemeClr val="tx1">
                    <a:lumMod val="65000"/>
                    <a:lumOff val="35000"/>
                  </a:schemeClr>
                </a:solidFill>
              </a:rPr>
              <a:t>负责人和时间；</a:t>
            </a:r>
          </a:p>
          <a:p>
            <a:pPr marL="285750" lvl="0" indent="-285750">
              <a:buFont typeface="Arial" panose="020B0604020202020204" pitchFamily="34" charset="0"/>
              <a:buChar char="•"/>
            </a:pPr>
            <a:r>
              <a:rPr lang="zh-CN" altLang="zh-CN" sz="1400" dirty="0">
                <a:solidFill>
                  <a:schemeClr val="tx1">
                    <a:lumMod val="65000"/>
                    <a:lumOff val="35000"/>
                  </a:schemeClr>
                </a:solidFill>
              </a:rPr>
              <a:t>待确认信息。</a:t>
            </a:r>
          </a:p>
        </p:txBody>
      </p:sp>
      <p:sp>
        <p:nvSpPr>
          <p:cNvPr id="18" name="Shape 16"/>
          <p:cNvSpPr/>
          <p:nvPr/>
        </p:nvSpPr>
        <p:spPr>
          <a:xfrm>
            <a:off x="6312410" y="1572768"/>
            <a:ext cx="3480816" cy="3246120"/>
          </a:xfrm>
          <a:prstGeom prst="roundRect">
            <a:avLst>
              <a:gd name="adj" fmla="val 1408"/>
            </a:avLst>
          </a:prstGeom>
          <a:solidFill>
            <a:srgbClr val="FBF9F4"/>
          </a:solidFill>
          <a:ln w="12700">
            <a:solidFill>
              <a:srgbClr val="D8D0C2"/>
            </a:solidFill>
            <a:prstDash val="solid"/>
          </a:ln>
        </p:spPr>
      </p:sp>
      <p:sp>
        <p:nvSpPr>
          <p:cNvPr id="19" name="Shape 17"/>
          <p:cNvSpPr/>
          <p:nvPr/>
        </p:nvSpPr>
        <p:spPr>
          <a:xfrm>
            <a:off x="6312410" y="1572768"/>
            <a:ext cx="64008" cy="3246120"/>
          </a:xfrm>
          <a:prstGeom prst="rect">
            <a:avLst/>
          </a:prstGeom>
          <a:solidFill>
            <a:srgbClr val="387B77"/>
          </a:solidFill>
          <a:ln w="12700">
            <a:solidFill>
              <a:srgbClr val="387B77"/>
            </a:solidFill>
            <a:prstDash val="solid"/>
          </a:ln>
        </p:spPr>
      </p:sp>
      <p:sp>
        <p:nvSpPr>
          <p:cNvPr id="20" name="Text 18"/>
          <p:cNvSpPr/>
          <p:nvPr/>
        </p:nvSpPr>
        <p:spPr>
          <a:xfrm>
            <a:off x="6559298" y="1783080"/>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验收标准</a:t>
            </a:r>
            <a:endParaRPr lang="en-US" sz="1500" dirty="0"/>
          </a:p>
        </p:txBody>
      </p:sp>
      <p:sp>
        <p:nvSpPr>
          <p:cNvPr id="21" name="Text 19"/>
          <p:cNvSpPr/>
          <p:nvPr/>
        </p:nvSpPr>
        <p:spPr>
          <a:xfrm>
            <a:off x="6559298" y="2295144"/>
            <a:ext cx="2987040" cy="2313432"/>
          </a:xfrm>
          <a:prstGeom prst="rect">
            <a:avLst/>
          </a:prstGeom>
          <a:noFill/>
          <a:ln/>
        </p:spPr>
        <p:txBody>
          <a:bodyPr wrap="square" lIns="0" tIns="0" rIns="0" bIns="0" rtlCol="0" anchor="t">
            <a:normAutofit/>
          </a:bodyPr>
          <a:lstStyle/>
          <a:p>
            <a:pPr marL="285750" lvl="0" indent="-285750">
              <a:buFont typeface="Arial" panose="020B0604020202020204" pitchFamily="34" charset="0"/>
              <a:buChar char="•"/>
            </a:pPr>
            <a:r>
              <a:rPr lang="zh-CN" altLang="zh-CN" sz="1400" dirty="0">
                <a:solidFill>
                  <a:schemeClr val="tx1">
                    <a:lumMod val="65000"/>
                    <a:lumOff val="35000"/>
                  </a:schemeClr>
                </a:solidFill>
              </a:rPr>
              <a:t>重要结论能够在转写中找到依据；</a:t>
            </a:r>
          </a:p>
          <a:p>
            <a:pPr marL="285750" lvl="0" indent="-285750">
              <a:buFont typeface="Arial" panose="020B0604020202020204" pitchFamily="34" charset="0"/>
              <a:buChar char="•"/>
            </a:pPr>
            <a:r>
              <a:rPr lang="zh-CN" altLang="zh-CN" sz="1400" dirty="0">
                <a:solidFill>
                  <a:schemeClr val="tx1">
                    <a:lumMod val="65000"/>
                    <a:lumOff val="35000"/>
                  </a:schemeClr>
                </a:solidFill>
              </a:rPr>
              <a:t>事实、销售判断和模型建议不能混为一谈；</a:t>
            </a:r>
          </a:p>
          <a:p>
            <a:pPr marL="285750" lvl="0" indent="-285750">
              <a:buFont typeface="Arial" panose="020B0604020202020204" pitchFamily="34" charset="0"/>
              <a:buChar char="•"/>
            </a:pPr>
            <a:r>
              <a:rPr lang="zh-CN" altLang="zh-CN" sz="1400" dirty="0">
                <a:solidFill>
                  <a:schemeClr val="tx1">
                    <a:lumMod val="65000"/>
                    <a:lumOff val="35000"/>
                  </a:schemeClr>
                </a:solidFill>
              </a:rPr>
              <a:t>没有明确责任人或时间时标记“待确认”；</a:t>
            </a:r>
          </a:p>
          <a:p>
            <a:pPr marL="285750" lvl="0" indent="-285750">
              <a:buFont typeface="Arial" panose="020B0604020202020204" pitchFamily="34" charset="0"/>
              <a:buChar char="•"/>
            </a:pPr>
            <a:r>
              <a:rPr lang="zh-CN" altLang="zh-CN" sz="1400" dirty="0">
                <a:solidFill>
                  <a:schemeClr val="tx1">
                    <a:lumMod val="65000"/>
                    <a:lumOff val="35000"/>
                  </a:schemeClr>
                </a:solidFill>
              </a:rPr>
              <a:t>不凭空补充客户预算、决策人和采购时间；</a:t>
            </a:r>
          </a:p>
          <a:p>
            <a:pPr marL="285750" lvl="0" indent="-285750">
              <a:buFont typeface="Arial" panose="020B0604020202020204" pitchFamily="34" charset="0"/>
              <a:buChar char="•"/>
            </a:pPr>
            <a:r>
              <a:rPr lang="zh-CN" altLang="zh-CN" sz="1400" dirty="0">
                <a:solidFill>
                  <a:schemeClr val="tx1">
                    <a:lumMod val="65000"/>
                    <a:lumOff val="35000"/>
                  </a:schemeClr>
                </a:solidFill>
              </a:rPr>
              <a:t>输出字段足以支持销售检查并录入CRM。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6">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23</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从目标输出反推上下文</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课堂练习：从目标输出反推必要上下文</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04 从目标输出反推上下文</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23</a:t>
            </a:r>
            <a:endParaRPr lang="en-US" sz="850" dirty="0"/>
          </a:p>
        </p:txBody>
      </p:sp>
      <p:sp>
        <p:nvSpPr>
          <p:cNvPr id="10" name="Shape 8"/>
          <p:cNvSpPr/>
          <p:nvPr/>
        </p:nvSpPr>
        <p:spPr>
          <a:xfrm>
            <a:off x="685800" y="1508760"/>
            <a:ext cx="4892040" cy="4434840"/>
          </a:xfrm>
          <a:prstGeom prst="roundRect">
            <a:avLst>
              <a:gd name="adj" fmla="val 1031"/>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685800" y="1508760"/>
            <a:ext cx="64008" cy="4434840"/>
          </a:xfrm>
          <a:prstGeom prst="rect">
            <a:avLst/>
          </a:prstGeom>
          <a:solidFill>
            <a:srgbClr val="387B77"/>
          </a:solidFill>
          <a:ln w="12700">
            <a:solidFill>
              <a:srgbClr val="387B77"/>
            </a:solidFill>
            <a:prstDash val="solid"/>
          </a:ln>
        </p:spPr>
      </p:sp>
      <p:sp>
        <p:nvSpPr>
          <p:cNvPr id="12" name="Text 10"/>
          <p:cNvSpPr/>
          <p:nvPr/>
        </p:nvSpPr>
        <p:spPr>
          <a:xfrm>
            <a:off x="932688" y="1719072"/>
            <a:ext cx="4416552" cy="347472"/>
          </a:xfrm>
          <a:prstGeom prst="rect">
            <a:avLst/>
          </a:prstGeom>
          <a:noFill/>
          <a:ln/>
        </p:spPr>
        <p:txBody>
          <a:bodyPr wrap="square" lIns="0" tIns="0" rIns="0" bIns="0" rtlCol="0" anchor="t">
            <a:normAutofit/>
          </a:bodyPr>
          <a:lstStyle/>
          <a:p>
            <a:pPr marL="0" indent="0" algn="l">
              <a:buNone/>
            </a:pPr>
            <a:r>
              <a:rPr lang="en-US" sz="1700" b="1" dirty="0">
                <a:solidFill>
                  <a:srgbClr val="20211F"/>
                </a:solidFill>
                <a:latin typeface="PingFang SC" pitchFamily="34" charset="0"/>
                <a:ea typeface="PingFang SC" pitchFamily="34" charset="-122"/>
                <a:cs typeface="PingFang SC" pitchFamily="34" charset="-120"/>
              </a:rPr>
              <a:t>已给定</a:t>
            </a:r>
            <a:endParaRPr lang="en-US" sz="1700" dirty="0"/>
          </a:p>
        </p:txBody>
      </p:sp>
      <p:sp>
        <p:nvSpPr>
          <p:cNvPr id="13" name="Text 11"/>
          <p:cNvSpPr/>
          <p:nvPr/>
        </p:nvSpPr>
        <p:spPr>
          <a:xfrm>
            <a:off x="932688" y="2231136"/>
            <a:ext cx="4398264" cy="3502152"/>
          </a:xfrm>
          <a:prstGeom prst="rect">
            <a:avLst/>
          </a:prstGeom>
          <a:noFill/>
          <a:ln/>
        </p:spPr>
        <p:txBody>
          <a:bodyPr wrap="square" lIns="0" tIns="0" rIns="0" bIns="0" rtlCol="0" anchor="t">
            <a:normAutofit/>
          </a:bodyPr>
          <a:lstStyle/>
          <a:p>
            <a:pPr marL="0" indent="0" algn="l">
              <a:buNone/>
            </a:pPr>
            <a:r>
              <a:rPr lang="en-US" sz="1270" dirty="0">
                <a:solidFill>
                  <a:srgbClr val="77766F"/>
                </a:solidFill>
                <a:latin typeface="PingFang SC" pitchFamily="34" charset="0"/>
                <a:ea typeface="PingFang SC" pitchFamily="34" charset="-122"/>
                <a:cs typeface="PingFang SC" pitchFamily="34" charset="-120"/>
              </a:rPr>
              <a:t>用户｜一线销售</a:t>
            </a:r>
            <a:endParaRPr lang="en-US" sz="1270" dirty="0"/>
          </a:p>
          <a:p>
            <a:pPr marL="0" indent="0" algn="l">
              <a:buNone/>
            </a:pPr>
            <a:r>
              <a:rPr lang="en-US" sz="1270" dirty="0">
                <a:solidFill>
                  <a:srgbClr val="77766F"/>
                </a:solidFill>
                <a:latin typeface="PingFang SC" pitchFamily="34" charset="0"/>
                <a:ea typeface="PingFang SC" pitchFamily="34" charset="-122"/>
                <a:cs typeface="PingFang SC" pitchFamily="34" charset="-120"/>
              </a:rPr>
              <a:t>时点｜拜访后10分钟内</a:t>
            </a:r>
            <a:endParaRPr lang="en-US" sz="1270" dirty="0"/>
          </a:p>
          <a:p>
            <a:pPr marL="0" indent="0" algn="l">
              <a:buNone/>
            </a:pPr>
            <a:r>
              <a:rPr lang="en-US" sz="1270" dirty="0">
                <a:solidFill>
                  <a:srgbClr val="77766F"/>
                </a:solidFill>
                <a:latin typeface="PingFang SC" pitchFamily="34" charset="0"/>
                <a:ea typeface="PingFang SC" pitchFamily="34" charset="-122"/>
                <a:cs typeface="PingFang SC" pitchFamily="34" charset="-120"/>
              </a:rPr>
              <a:t>示例输出｜客户核心诉求</a:t>
            </a:r>
            <a:endParaRPr lang="en-US" sz="1270" dirty="0"/>
          </a:p>
          <a:p>
            <a:pPr marL="0" indent="0" algn="l">
              <a:buNone/>
            </a:pPr>
            <a:endParaRPr lang="en-US" sz="1270" dirty="0"/>
          </a:p>
          <a:p>
            <a:pPr marL="0" indent="0" algn="l">
              <a:buNone/>
            </a:pPr>
            <a:r>
              <a:rPr lang="en-US" sz="1270" dirty="0">
                <a:solidFill>
                  <a:srgbClr val="77766F"/>
                </a:solidFill>
                <a:latin typeface="PingFang SC" pitchFamily="34" charset="0"/>
                <a:ea typeface="PingFang SC" pitchFamily="34" charset="-122"/>
                <a:cs typeface="PingFang SC" pitchFamily="34" charset="-120"/>
              </a:rPr>
              <a:t>请完成</a:t>
            </a:r>
            <a:endParaRPr lang="en-US" sz="1270" dirty="0"/>
          </a:p>
          <a:p>
            <a:pPr marL="0" indent="0" algn="l">
              <a:buNone/>
            </a:pPr>
            <a:r>
              <a:rPr lang="en-US" sz="1270" dirty="0">
                <a:solidFill>
                  <a:srgbClr val="77766F"/>
                </a:solidFill>
                <a:latin typeface="PingFang SC" pitchFamily="34" charset="0"/>
                <a:ea typeface="PingFang SC" pitchFamily="34" charset="-122"/>
                <a:cs typeface="PingFang SC" pitchFamily="34" charset="-120"/>
              </a:rPr>
              <a:t>① 再补1项目标输出＋验收</a:t>
            </a:r>
            <a:endParaRPr lang="en-US" sz="1270" dirty="0"/>
          </a:p>
          <a:p>
            <a:pPr marL="0" indent="0" algn="l">
              <a:buNone/>
            </a:pPr>
            <a:r>
              <a:rPr lang="en-US" sz="1270" dirty="0">
                <a:solidFill>
                  <a:srgbClr val="77766F"/>
                </a:solidFill>
                <a:latin typeface="PingFang SC" pitchFamily="34" charset="0"/>
                <a:ea typeface="PingFang SC" pitchFamily="34" charset="-122"/>
                <a:cs typeface="PingFang SC" pitchFamily="34" charset="-120"/>
              </a:rPr>
              <a:t>② 选择至少3项上下文</a:t>
            </a:r>
            <a:endParaRPr lang="en-US" sz="1270" dirty="0"/>
          </a:p>
          <a:p>
            <a:pPr marL="0" indent="0" algn="l">
              <a:buNone/>
            </a:pPr>
            <a:r>
              <a:rPr lang="en-US" sz="1270" dirty="0">
                <a:solidFill>
                  <a:srgbClr val="77766F"/>
                </a:solidFill>
                <a:latin typeface="PingFang SC" pitchFamily="34" charset="0"/>
                <a:ea typeface="PingFang SC" pitchFamily="34" charset="-122"/>
                <a:cs typeface="PingFang SC" pitchFamily="34" charset="-120"/>
              </a:rPr>
              <a:t>③ 标记事实／背景／规则</a:t>
            </a:r>
            <a:endParaRPr lang="en-US" sz="1270" dirty="0"/>
          </a:p>
          <a:p>
            <a:pPr marL="0" indent="0" algn="l">
              <a:buNone/>
            </a:pPr>
            <a:r>
              <a:rPr lang="en-US" sz="1270" dirty="0">
                <a:solidFill>
                  <a:srgbClr val="77766F"/>
                </a:solidFill>
                <a:latin typeface="PingFang SC" pitchFamily="34" charset="0"/>
                <a:ea typeface="PingFang SC" pitchFamily="34" charset="-122"/>
                <a:cs typeface="PingFang SC" pitchFamily="34" charset="-120"/>
              </a:rPr>
              <a:t>④ 写清支持哪项目标输出</a:t>
            </a:r>
            <a:endParaRPr lang="en-US" sz="1270" dirty="0"/>
          </a:p>
        </p:txBody>
      </p:sp>
      <p:sp>
        <p:nvSpPr>
          <p:cNvPr id="14" name="Shape 12"/>
          <p:cNvSpPr/>
          <p:nvPr/>
        </p:nvSpPr>
        <p:spPr>
          <a:xfrm>
            <a:off x="5806440" y="1508760"/>
            <a:ext cx="1682496" cy="1133856"/>
          </a:xfrm>
          <a:prstGeom prst="roundRect">
            <a:avLst>
              <a:gd name="adj" fmla="val 4032"/>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5806440" y="1508760"/>
            <a:ext cx="64008" cy="1133856"/>
          </a:xfrm>
          <a:prstGeom prst="rect">
            <a:avLst/>
          </a:prstGeom>
          <a:solidFill>
            <a:srgbClr val="C35331"/>
          </a:solidFill>
          <a:ln w="12700">
            <a:solidFill>
              <a:srgbClr val="C35331"/>
            </a:solidFill>
            <a:prstDash val="solid"/>
          </a:ln>
        </p:spPr>
      </p:sp>
      <p:sp>
        <p:nvSpPr>
          <p:cNvPr id="16" name="Text 14"/>
          <p:cNvSpPr/>
          <p:nvPr/>
        </p:nvSpPr>
        <p:spPr>
          <a:xfrm>
            <a:off x="6053328" y="1719072"/>
            <a:ext cx="1207008" cy="347472"/>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拜访转写</a:t>
            </a:r>
            <a:endParaRPr lang="en-US" sz="1150" dirty="0"/>
          </a:p>
        </p:txBody>
      </p:sp>
      <p:sp>
        <p:nvSpPr>
          <p:cNvPr id="17" name="Shape 15"/>
          <p:cNvSpPr/>
          <p:nvPr/>
        </p:nvSpPr>
        <p:spPr>
          <a:xfrm>
            <a:off x="7653528" y="1508760"/>
            <a:ext cx="1682496" cy="1133856"/>
          </a:xfrm>
          <a:prstGeom prst="roundRect">
            <a:avLst>
              <a:gd name="adj" fmla="val 4032"/>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8" name="Shape 16"/>
          <p:cNvSpPr/>
          <p:nvPr/>
        </p:nvSpPr>
        <p:spPr>
          <a:xfrm>
            <a:off x="7653528" y="1508760"/>
            <a:ext cx="64008" cy="1133856"/>
          </a:xfrm>
          <a:prstGeom prst="rect">
            <a:avLst/>
          </a:prstGeom>
          <a:solidFill>
            <a:srgbClr val="387B77"/>
          </a:solidFill>
          <a:ln w="12700">
            <a:solidFill>
              <a:srgbClr val="387B77"/>
            </a:solidFill>
            <a:prstDash val="solid"/>
          </a:ln>
        </p:spPr>
      </p:sp>
      <p:sp>
        <p:nvSpPr>
          <p:cNvPr id="19" name="Text 17"/>
          <p:cNvSpPr/>
          <p:nvPr/>
        </p:nvSpPr>
        <p:spPr>
          <a:xfrm>
            <a:off x="7900416" y="1719072"/>
            <a:ext cx="1207008" cy="347472"/>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说话人标签</a:t>
            </a:r>
            <a:endParaRPr lang="en-US" sz="1150" dirty="0"/>
          </a:p>
        </p:txBody>
      </p:sp>
      <p:sp>
        <p:nvSpPr>
          <p:cNvPr id="20" name="Shape 18"/>
          <p:cNvSpPr/>
          <p:nvPr/>
        </p:nvSpPr>
        <p:spPr>
          <a:xfrm>
            <a:off x="9500616" y="1508760"/>
            <a:ext cx="1682496" cy="1133856"/>
          </a:xfrm>
          <a:prstGeom prst="roundRect">
            <a:avLst>
              <a:gd name="adj" fmla="val 4032"/>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21" name="Shape 19"/>
          <p:cNvSpPr/>
          <p:nvPr/>
        </p:nvSpPr>
        <p:spPr>
          <a:xfrm>
            <a:off x="9500616" y="1508760"/>
            <a:ext cx="64008" cy="1133856"/>
          </a:xfrm>
          <a:prstGeom prst="rect">
            <a:avLst/>
          </a:prstGeom>
          <a:solidFill>
            <a:srgbClr val="405D78"/>
          </a:solidFill>
          <a:ln w="12700">
            <a:solidFill>
              <a:srgbClr val="405D78"/>
            </a:solidFill>
            <a:prstDash val="solid"/>
          </a:ln>
        </p:spPr>
      </p:sp>
      <p:sp>
        <p:nvSpPr>
          <p:cNvPr id="22" name="Text 20"/>
          <p:cNvSpPr/>
          <p:nvPr/>
        </p:nvSpPr>
        <p:spPr>
          <a:xfrm>
            <a:off x="9747504" y="1719072"/>
            <a:ext cx="1207008" cy="347472"/>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客户资料</a:t>
            </a:r>
            <a:endParaRPr lang="en-US" sz="1150" dirty="0"/>
          </a:p>
        </p:txBody>
      </p:sp>
      <p:sp>
        <p:nvSpPr>
          <p:cNvPr id="23" name="Shape 21"/>
          <p:cNvSpPr/>
          <p:nvPr/>
        </p:nvSpPr>
        <p:spPr>
          <a:xfrm>
            <a:off x="5806440" y="2898648"/>
            <a:ext cx="1682496" cy="1133856"/>
          </a:xfrm>
          <a:prstGeom prst="roundRect">
            <a:avLst>
              <a:gd name="adj" fmla="val 4032"/>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24" name="Shape 22"/>
          <p:cNvSpPr/>
          <p:nvPr/>
        </p:nvSpPr>
        <p:spPr>
          <a:xfrm>
            <a:off x="5806440" y="2898648"/>
            <a:ext cx="64008" cy="1133856"/>
          </a:xfrm>
          <a:prstGeom prst="rect">
            <a:avLst/>
          </a:prstGeom>
          <a:solidFill>
            <a:srgbClr val="D18A38"/>
          </a:solidFill>
          <a:ln w="12700">
            <a:solidFill>
              <a:srgbClr val="D18A38"/>
            </a:solidFill>
            <a:prstDash val="solid"/>
          </a:ln>
        </p:spPr>
      </p:sp>
      <p:sp>
        <p:nvSpPr>
          <p:cNvPr id="25" name="Text 23"/>
          <p:cNvSpPr/>
          <p:nvPr/>
        </p:nvSpPr>
        <p:spPr>
          <a:xfrm>
            <a:off x="6053328" y="3108960"/>
            <a:ext cx="1207008" cy="347472"/>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商机阶段</a:t>
            </a:r>
            <a:endParaRPr lang="en-US" sz="1150" dirty="0"/>
          </a:p>
        </p:txBody>
      </p:sp>
      <p:sp>
        <p:nvSpPr>
          <p:cNvPr id="26" name="Shape 24"/>
          <p:cNvSpPr/>
          <p:nvPr/>
        </p:nvSpPr>
        <p:spPr>
          <a:xfrm>
            <a:off x="7653528" y="2898648"/>
            <a:ext cx="1682496" cy="1133856"/>
          </a:xfrm>
          <a:prstGeom prst="roundRect">
            <a:avLst>
              <a:gd name="adj" fmla="val 4032"/>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27" name="Shape 25"/>
          <p:cNvSpPr/>
          <p:nvPr/>
        </p:nvSpPr>
        <p:spPr>
          <a:xfrm>
            <a:off x="7653528" y="2898648"/>
            <a:ext cx="64008" cy="1133856"/>
          </a:xfrm>
          <a:prstGeom prst="rect">
            <a:avLst/>
          </a:prstGeom>
          <a:solidFill>
            <a:srgbClr val="74546A"/>
          </a:solidFill>
          <a:ln w="12700">
            <a:solidFill>
              <a:srgbClr val="74546A"/>
            </a:solidFill>
            <a:prstDash val="solid"/>
          </a:ln>
        </p:spPr>
      </p:sp>
      <p:sp>
        <p:nvSpPr>
          <p:cNvPr id="28" name="Text 26"/>
          <p:cNvSpPr/>
          <p:nvPr/>
        </p:nvSpPr>
        <p:spPr>
          <a:xfrm>
            <a:off x="7900416" y="3108960"/>
            <a:ext cx="1207008" cy="347472"/>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CRM字段</a:t>
            </a:r>
            <a:endParaRPr lang="en-US" sz="1150" dirty="0"/>
          </a:p>
        </p:txBody>
      </p:sp>
      <p:sp>
        <p:nvSpPr>
          <p:cNvPr id="29" name="Shape 27"/>
          <p:cNvSpPr/>
          <p:nvPr/>
        </p:nvSpPr>
        <p:spPr>
          <a:xfrm>
            <a:off x="9500616" y="2898648"/>
            <a:ext cx="1682496" cy="1133856"/>
          </a:xfrm>
          <a:prstGeom prst="roundRect">
            <a:avLst>
              <a:gd name="adj" fmla="val 4032"/>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30" name="Shape 28"/>
          <p:cNvSpPr/>
          <p:nvPr/>
        </p:nvSpPr>
        <p:spPr>
          <a:xfrm>
            <a:off x="9500616" y="2898648"/>
            <a:ext cx="64008" cy="1133856"/>
          </a:xfrm>
          <a:prstGeom prst="rect">
            <a:avLst/>
          </a:prstGeom>
          <a:solidFill>
            <a:srgbClr val="527553"/>
          </a:solidFill>
          <a:ln w="12700">
            <a:solidFill>
              <a:srgbClr val="527553"/>
            </a:solidFill>
            <a:prstDash val="solid"/>
          </a:ln>
        </p:spPr>
      </p:sp>
      <p:sp>
        <p:nvSpPr>
          <p:cNvPr id="31" name="Text 29"/>
          <p:cNvSpPr/>
          <p:nvPr/>
        </p:nvSpPr>
        <p:spPr>
          <a:xfrm>
            <a:off x="9747504" y="3108960"/>
            <a:ext cx="1207008" cy="347472"/>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缺失处理规则</a:t>
            </a:r>
            <a:endParaRPr lang="en-US" sz="1150" dirty="0"/>
          </a:p>
        </p:txBody>
      </p:sp>
      <p:sp>
        <p:nvSpPr>
          <p:cNvPr id="32" name="Shape 30"/>
          <p:cNvSpPr/>
          <p:nvPr/>
        </p:nvSpPr>
        <p:spPr>
          <a:xfrm>
            <a:off x="5806440" y="4288536"/>
            <a:ext cx="1682496" cy="1133856"/>
          </a:xfrm>
          <a:prstGeom prst="roundRect">
            <a:avLst>
              <a:gd name="adj" fmla="val 4032"/>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33" name="Shape 31"/>
          <p:cNvSpPr/>
          <p:nvPr/>
        </p:nvSpPr>
        <p:spPr>
          <a:xfrm>
            <a:off x="5806440" y="4288536"/>
            <a:ext cx="64008" cy="1133856"/>
          </a:xfrm>
          <a:prstGeom prst="rect">
            <a:avLst/>
          </a:prstGeom>
          <a:solidFill>
            <a:srgbClr val="C35331"/>
          </a:solidFill>
          <a:ln w="12700">
            <a:solidFill>
              <a:srgbClr val="C35331"/>
            </a:solidFill>
            <a:prstDash val="solid"/>
          </a:ln>
        </p:spPr>
      </p:sp>
      <p:sp>
        <p:nvSpPr>
          <p:cNvPr id="34" name="Text 32"/>
          <p:cNvSpPr/>
          <p:nvPr/>
        </p:nvSpPr>
        <p:spPr>
          <a:xfrm>
            <a:off x="6053328" y="4498848"/>
            <a:ext cx="1207008" cy="347472"/>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全部历史资料</a:t>
            </a:r>
            <a:endParaRPr lang="en-US" sz="1150" dirty="0"/>
          </a:p>
        </p:txBody>
      </p:sp>
      <p:sp>
        <p:nvSpPr>
          <p:cNvPr id="35" name="Shape 33"/>
          <p:cNvSpPr/>
          <p:nvPr/>
        </p:nvSpPr>
        <p:spPr>
          <a:xfrm>
            <a:off x="7653528" y="4288536"/>
            <a:ext cx="1682496" cy="1133856"/>
          </a:xfrm>
          <a:prstGeom prst="roundRect">
            <a:avLst>
              <a:gd name="adj" fmla="val 4032"/>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36" name="Shape 34"/>
          <p:cNvSpPr/>
          <p:nvPr/>
        </p:nvSpPr>
        <p:spPr>
          <a:xfrm>
            <a:off x="7653528" y="4288536"/>
            <a:ext cx="64008" cy="1133856"/>
          </a:xfrm>
          <a:prstGeom prst="rect">
            <a:avLst/>
          </a:prstGeom>
          <a:solidFill>
            <a:srgbClr val="D18A38"/>
          </a:solidFill>
          <a:ln w="12700">
            <a:solidFill>
              <a:srgbClr val="D18A38"/>
            </a:solidFill>
            <a:prstDash val="solid"/>
          </a:ln>
        </p:spPr>
      </p:sp>
      <p:sp>
        <p:nvSpPr>
          <p:cNvPr id="37" name="Text 35"/>
          <p:cNvSpPr/>
          <p:nvPr/>
        </p:nvSpPr>
        <p:spPr>
          <a:xfrm>
            <a:off x="7900416" y="4498848"/>
            <a:ext cx="1207008" cy="347472"/>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无关聊天</a:t>
            </a:r>
            <a:endParaRPr lang="en-US" sz="1150" dirty="0"/>
          </a:p>
        </p:txBody>
      </p:sp>
      <p:sp>
        <p:nvSpPr>
          <p:cNvPr id="38" name="Shape 36"/>
          <p:cNvSpPr/>
          <p:nvPr/>
        </p:nvSpPr>
        <p:spPr>
          <a:xfrm>
            <a:off x="9500616" y="4288536"/>
            <a:ext cx="1682496" cy="1133856"/>
          </a:xfrm>
          <a:prstGeom prst="roundRect">
            <a:avLst>
              <a:gd name="adj" fmla="val 4032"/>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39" name="Shape 37"/>
          <p:cNvSpPr/>
          <p:nvPr/>
        </p:nvSpPr>
        <p:spPr>
          <a:xfrm>
            <a:off x="9500616" y="4288536"/>
            <a:ext cx="64008" cy="1133856"/>
          </a:xfrm>
          <a:prstGeom prst="rect">
            <a:avLst/>
          </a:prstGeom>
          <a:solidFill>
            <a:srgbClr val="405D78"/>
          </a:solidFill>
          <a:ln w="12700">
            <a:solidFill>
              <a:srgbClr val="405D78"/>
            </a:solidFill>
            <a:prstDash val="solid"/>
          </a:ln>
        </p:spPr>
      </p:sp>
      <p:sp>
        <p:nvSpPr>
          <p:cNvPr id="40" name="Text 38"/>
          <p:cNvSpPr/>
          <p:nvPr/>
        </p:nvSpPr>
        <p:spPr>
          <a:xfrm>
            <a:off x="9747504" y="4498848"/>
            <a:ext cx="1207008" cy="347472"/>
          </a:xfrm>
          <a:prstGeom prst="rect">
            <a:avLst/>
          </a:prstGeom>
          <a:noFill/>
          <a:ln/>
        </p:spPr>
        <p:txBody>
          <a:bodyPr wrap="square" lIns="0" tIns="0" rIns="0" bIns="0" rtlCol="0" anchor="t">
            <a:normAutofit/>
          </a:bodyPr>
          <a:lstStyle/>
          <a:p>
            <a:pPr marL="0" indent="0" algn="l">
              <a:buNone/>
            </a:pPr>
            <a:r>
              <a:rPr lang="en-US" sz="1150" b="1" dirty="0">
                <a:solidFill>
                  <a:srgbClr val="20211F"/>
                </a:solidFill>
                <a:latin typeface="PingFang SC" pitchFamily="34" charset="0"/>
                <a:ea typeface="PingFang SC" pitchFamily="34" charset="-122"/>
                <a:cs typeface="PingFang SC" pitchFamily="34" charset="-120"/>
              </a:rPr>
              <a:t>产品方案</a:t>
            </a:r>
            <a:endParaRPr lang="en-US" sz="1150" dirty="0"/>
          </a:p>
        </p:txBody>
      </p:sp>
      <p:sp>
        <p:nvSpPr>
          <p:cNvPr id="41" name="Shape 39"/>
          <p:cNvSpPr/>
          <p:nvPr/>
        </p:nvSpPr>
        <p:spPr>
          <a:xfrm>
            <a:off x="10195560" y="749808"/>
            <a:ext cx="978408" cy="310896"/>
          </a:xfrm>
          <a:prstGeom prst="roundRect">
            <a:avLst>
              <a:gd name="adj" fmla="val 29412"/>
            </a:avLst>
          </a:prstGeom>
          <a:solidFill>
            <a:srgbClr val="C35331"/>
          </a:solidFill>
          <a:ln w="12700">
            <a:solidFill>
              <a:srgbClr val="C35331"/>
            </a:solidFill>
            <a:prstDash val="solid"/>
          </a:ln>
        </p:spPr>
      </p:sp>
      <p:sp>
        <p:nvSpPr>
          <p:cNvPr id="42" name="Text 40"/>
          <p:cNvSpPr/>
          <p:nvPr/>
        </p:nvSpPr>
        <p:spPr>
          <a:xfrm>
            <a:off x="10259568" y="818388"/>
            <a:ext cx="85039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04:00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218C70BB-79FB-8124-6552-EA275BE2771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45D38AC-2A7D-6361-1EAD-5155604D7D41}"/>
              </a:ext>
            </a:extLst>
          </p:cNvPr>
          <p:cNvSpPr/>
          <p:nvPr/>
        </p:nvSpPr>
        <p:spPr>
          <a:xfrm>
            <a:off x="0" y="0"/>
            <a:ext cx="201168" cy="6858000"/>
          </a:xfrm>
          <a:prstGeom prst="rect">
            <a:avLst/>
          </a:prstGeom>
          <a:solidFill>
            <a:srgbClr val="C35331"/>
          </a:solidFill>
          <a:ln w="12700">
            <a:solidFill>
              <a:srgbClr val="C35331"/>
            </a:solidFill>
            <a:prstDash val="solid"/>
          </a:ln>
        </p:spPr>
      </p:sp>
      <p:sp>
        <p:nvSpPr>
          <p:cNvPr id="4" name="Text 2">
            <a:extLst>
              <a:ext uri="{FF2B5EF4-FFF2-40B4-BE49-F238E27FC236}">
                <a16:creationId xmlns:a16="http://schemas.microsoft.com/office/drawing/2014/main" id="{A88C6863-2E2A-ACB7-7629-1FB436F07289}"/>
              </a:ext>
            </a:extLst>
          </p:cNvPr>
          <p:cNvSpPr/>
          <p:nvPr/>
        </p:nvSpPr>
        <p:spPr>
          <a:xfrm>
            <a:off x="795528" y="3113532"/>
            <a:ext cx="7863840" cy="621792"/>
          </a:xfrm>
          <a:prstGeom prst="rect">
            <a:avLst/>
          </a:prstGeom>
          <a:noFill/>
          <a:ln/>
        </p:spPr>
        <p:txBody>
          <a:bodyPr wrap="square" lIns="0" tIns="0" rIns="0" bIns="0" rtlCol="0" anchor="t">
            <a:normAutofit/>
          </a:bodyPr>
          <a:lstStyle/>
          <a:p>
            <a:pPr fontAlgn="auto"/>
            <a:r>
              <a:rPr lang="zh-CN" altLang="zh-CN" sz="3600" b="1" dirty="0"/>
              <a:t>结构化Prompt</a:t>
            </a:r>
          </a:p>
        </p:txBody>
      </p:sp>
      <p:sp>
        <p:nvSpPr>
          <p:cNvPr id="6" name="Shape 4">
            <a:extLst>
              <a:ext uri="{FF2B5EF4-FFF2-40B4-BE49-F238E27FC236}">
                <a16:creationId xmlns:a16="http://schemas.microsoft.com/office/drawing/2014/main" id="{1C6AE450-6680-6625-F4B2-D2C7EE2E16C7}"/>
              </a:ext>
            </a:extLst>
          </p:cNvPr>
          <p:cNvSpPr/>
          <p:nvPr/>
        </p:nvSpPr>
        <p:spPr>
          <a:xfrm>
            <a:off x="841248" y="3822192"/>
            <a:ext cx="2743200" cy="0"/>
          </a:xfrm>
          <a:prstGeom prst="line">
            <a:avLst/>
          </a:prstGeom>
          <a:noFill/>
          <a:ln w="38100">
            <a:solidFill>
              <a:srgbClr val="C35331"/>
            </a:solidFill>
            <a:prstDash val="solid"/>
          </a:ln>
        </p:spPr>
      </p:sp>
    </p:spTree>
    <p:extLst>
      <p:ext uri="{BB962C8B-B14F-4D97-AF65-F5344CB8AC3E}">
        <p14:creationId xmlns:p14="http://schemas.microsoft.com/office/powerpoint/2010/main" val="36496990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7">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24</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结构化Prompt六要素</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六要素：检查任务说明有没有漏掉重要信息</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05 结构化Prompt六要素</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24</a:t>
            </a:r>
            <a:endParaRPr lang="en-US" sz="850" dirty="0"/>
          </a:p>
        </p:txBody>
      </p:sp>
      <p:sp>
        <p:nvSpPr>
          <p:cNvPr id="10" name="Shape 8"/>
          <p:cNvSpPr/>
          <p:nvPr/>
        </p:nvSpPr>
        <p:spPr>
          <a:xfrm>
            <a:off x="658368" y="1481328"/>
            <a:ext cx="3480816" cy="1682496"/>
          </a:xfrm>
          <a:prstGeom prst="roundRect">
            <a:avLst>
              <a:gd name="adj" fmla="val 2717"/>
            </a:avLst>
          </a:prstGeom>
          <a:solidFill>
            <a:srgbClr val="FBF9F4"/>
          </a:solidFill>
          <a:ln w="12700">
            <a:solidFill>
              <a:srgbClr val="D8D0C2"/>
            </a:solidFill>
            <a:prstDash val="solid"/>
          </a:ln>
        </p:spPr>
      </p:sp>
      <p:sp>
        <p:nvSpPr>
          <p:cNvPr id="11" name="Shape 9"/>
          <p:cNvSpPr/>
          <p:nvPr/>
        </p:nvSpPr>
        <p:spPr>
          <a:xfrm>
            <a:off x="658368" y="1481328"/>
            <a:ext cx="64008" cy="1682496"/>
          </a:xfrm>
          <a:prstGeom prst="rect">
            <a:avLst/>
          </a:prstGeom>
          <a:solidFill>
            <a:srgbClr val="C35331"/>
          </a:solidFill>
          <a:ln w="12700">
            <a:solidFill>
              <a:srgbClr val="C35331"/>
            </a:solidFill>
            <a:prstDash val="solid"/>
          </a:ln>
        </p:spPr>
      </p:sp>
      <p:sp>
        <p:nvSpPr>
          <p:cNvPr id="12" name="Text 10"/>
          <p:cNvSpPr/>
          <p:nvPr/>
        </p:nvSpPr>
        <p:spPr>
          <a:xfrm>
            <a:off x="905256" y="1691640"/>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01 角色与能力</a:t>
            </a:r>
            <a:endParaRPr lang="en-US" sz="1500" dirty="0"/>
          </a:p>
        </p:txBody>
      </p:sp>
      <p:sp>
        <p:nvSpPr>
          <p:cNvPr id="13" name="Text 11"/>
          <p:cNvSpPr/>
          <p:nvPr/>
        </p:nvSpPr>
        <p:spPr>
          <a:xfrm>
            <a:off x="905256" y="2203704"/>
            <a:ext cx="2987040" cy="749808"/>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承担什么职责？</a:t>
            </a:r>
            <a:endParaRPr lang="en-US" sz="1120" dirty="0"/>
          </a:p>
        </p:txBody>
      </p:sp>
      <p:sp>
        <p:nvSpPr>
          <p:cNvPr id="14" name="Shape 12"/>
          <p:cNvSpPr/>
          <p:nvPr/>
        </p:nvSpPr>
        <p:spPr>
          <a:xfrm>
            <a:off x="4358640" y="1481328"/>
            <a:ext cx="3480816" cy="1682496"/>
          </a:xfrm>
          <a:prstGeom prst="roundRect">
            <a:avLst>
              <a:gd name="adj" fmla="val 2717"/>
            </a:avLst>
          </a:prstGeom>
          <a:solidFill>
            <a:srgbClr val="FBF9F4"/>
          </a:solidFill>
          <a:ln w="12700">
            <a:solidFill>
              <a:srgbClr val="D8D0C2"/>
            </a:solidFill>
            <a:prstDash val="solid"/>
          </a:ln>
        </p:spPr>
      </p:sp>
      <p:sp>
        <p:nvSpPr>
          <p:cNvPr id="15" name="Shape 13"/>
          <p:cNvSpPr/>
          <p:nvPr/>
        </p:nvSpPr>
        <p:spPr>
          <a:xfrm>
            <a:off x="4358640" y="1481328"/>
            <a:ext cx="64008" cy="1682496"/>
          </a:xfrm>
          <a:prstGeom prst="rect">
            <a:avLst/>
          </a:prstGeom>
          <a:solidFill>
            <a:srgbClr val="D18A38"/>
          </a:solidFill>
          <a:ln w="12700">
            <a:solidFill>
              <a:srgbClr val="D18A38"/>
            </a:solidFill>
            <a:prstDash val="solid"/>
          </a:ln>
        </p:spPr>
      </p:sp>
      <p:sp>
        <p:nvSpPr>
          <p:cNvPr id="16" name="Text 14"/>
          <p:cNvSpPr/>
          <p:nvPr/>
        </p:nvSpPr>
        <p:spPr>
          <a:xfrm>
            <a:off x="4605528" y="1691640"/>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02 任务目标</a:t>
            </a:r>
            <a:endParaRPr lang="en-US" sz="1500" dirty="0"/>
          </a:p>
        </p:txBody>
      </p:sp>
      <p:sp>
        <p:nvSpPr>
          <p:cNvPr id="17" name="Text 15"/>
          <p:cNvSpPr/>
          <p:nvPr/>
        </p:nvSpPr>
        <p:spPr>
          <a:xfrm>
            <a:off x="4605528" y="2203704"/>
            <a:ext cx="2987040" cy="749808"/>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这次必须完成什么？</a:t>
            </a:r>
            <a:endParaRPr lang="en-US" sz="1120" dirty="0"/>
          </a:p>
        </p:txBody>
      </p:sp>
      <p:sp>
        <p:nvSpPr>
          <p:cNvPr id="18" name="Shape 16"/>
          <p:cNvSpPr/>
          <p:nvPr/>
        </p:nvSpPr>
        <p:spPr>
          <a:xfrm>
            <a:off x="8058912" y="1481328"/>
            <a:ext cx="3480816" cy="1682496"/>
          </a:xfrm>
          <a:prstGeom prst="roundRect">
            <a:avLst>
              <a:gd name="adj" fmla="val 2717"/>
            </a:avLst>
          </a:prstGeom>
          <a:solidFill>
            <a:srgbClr val="FBF9F4"/>
          </a:solidFill>
          <a:ln w="12700">
            <a:solidFill>
              <a:srgbClr val="D8D0C2"/>
            </a:solidFill>
            <a:prstDash val="solid"/>
          </a:ln>
        </p:spPr>
      </p:sp>
      <p:sp>
        <p:nvSpPr>
          <p:cNvPr id="19" name="Shape 17"/>
          <p:cNvSpPr/>
          <p:nvPr/>
        </p:nvSpPr>
        <p:spPr>
          <a:xfrm>
            <a:off x="8058912" y="1481328"/>
            <a:ext cx="64008" cy="1682496"/>
          </a:xfrm>
          <a:prstGeom prst="rect">
            <a:avLst/>
          </a:prstGeom>
          <a:solidFill>
            <a:srgbClr val="387B77"/>
          </a:solidFill>
          <a:ln w="12700">
            <a:solidFill>
              <a:srgbClr val="387B77"/>
            </a:solidFill>
            <a:prstDash val="solid"/>
          </a:ln>
        </p:spPr>
      </p:sp>
      <p:sp>
        <p:nvSpPr>
          <p:cNvPr id="20" name="Text 18"/>
          <p:cNvSpPr/>
          <p:nvPr/>
        </p:nvSpPr>
        <p:spPr>
          <a:xfrm>
            <a:off x="8305800" y="1691640"/>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03 背景与输入</a:t>
            </a:r>
            <a:endParaRPr lang="en-US" sz="1500" dirty="0"/>
          </a:p>
        </p:txBody>
      </p:sp>
      <p:sp>
        <p:nvSpPr>
          <p:cNvPr id="21" name="Text 19"/>
          <p:cNvSpPr/>
          <p:nvPr/>
        </p:nvSpPr>
        <p:spPr>
          <a:xfrm>
            <a:off x="8305800" y="2203704"/>
            <a:ext cx="2987040" cy="749808"/>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依据哪些事实？</a:t>
            </a:r>
            <a:endParaRPr lang="en-US" sz="1120" dirty="0"/>
          </a:p>
        </p:txBody>
      </p:sp>
      <p:sp>
        <p:nvSpPr>
          <p:cNvPr id="22" name="Shape 20"/>
          <p:cNvSpPr/>
          <p:nvPr/>
        </p:nvSpPr>
        <p:spPr>
          <a:xfrm>
            <a:off x="658368" y="3383280"/>
            <a:ext cx="3480816" cy="1682496"/>
          </a:xfrm>
          <a:prstGeom prst="roundRect">
            <a:avLst>
              <a:gd name="adj" fmla="val 2717"/>
            </a:avLst>
          </a:prstGeom>
          <a:solidFill>
            <a:srgbClr val="FBF9F4"/>
          </a:solidFill>
          <a:ln w="12700">
            <a:solidFill>
              <a:srgbClr val="D8D0C2"/>
            </a:solidFill>
            <a:prstDash val="solid"/>
          </a:ln>
        </p:spPr>
      </p:sp>
      <p:sp>
        <p:nvSpPr>
          <p:cNvPr id="23" name="Shape 21"/>
          <p:cNvSpPr/>
          <p:nvPr/>
        </p:nvSpPr>
        <p:spPr>
          <a:xfrm>
            <a:off x="658368" y="3383280"/>
            <a:ext cx="64008" cy="1682496"/>
          </a:xfrm>
          <a:prstGeom prst="rect">
            <a:avLst/>
          </a:prstGeom>
          <a:solidFill>
            <a:srgbClr val="74546A"/>
          </a:solidFill>
          <a:ln w="12700">
            <a:solidFill>
              <a:srgbClr val="74546A"/>
            </a:solidFill>
            <a:prstDash val="solid"/>
          </a:ln>
        </p:spPr>
      </p:sp>
      <p:sp>
        <p:nvSpPr>
          <p:cNvPr id="24" name="Text 22"/>
          <p:cNvSpPr/>
          <p:nvPr/>
        </p:nvSpPr>
        <p:spPr>
          <a:xfrm>
            <a:off x="905256" y="3593592"/>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04 规则与约束</a:t>
            </a:r>
            <a:endParaRPr lang="en-US" sz="1500" dirty="0"/>
          </a:p>
        </p:txBody>
      </p:sp>
      <p:sp>
        <p:nvSpPr>
          <p:cNvPr id="25" name="Text 23"/>
          <p:cNvSpPr/>
          <p:nvPr/>
        </p:nvSpPr>
        <p:spPr>
          <a:xfrm>
            <a:off x="905256" y="4105656"/>
            <a:ext cx="2987040" cy="749808"/>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哪些边界必须遵守？</a:t>
            </a:r>
            <a:endParaRPr lang="en-US" sz="1120" dirty="0"/>
          </a:p>
        </p:txBody>
      </p:sp>
      <p:sp>
        <p:nvSpPr>
          <p:cNvPr id="26" name="Shape 24"/>
          <p:cNvSpPr/>
          <p:nvPr/>
        </p:nvSpPr>
        <p:spPr>
          <a:xfrm>
            <a:off x="4358640" y="3383280"/>
            <a:ext cx="3480816" cy="1682496"/>
          </a:xfrm>
          <a:prstGeom prst="roundRect">
            <a:avLst>
              <a:gd name="adj" fmla="val 2717"/>
            </a:avLst>
          </a:prstGeom>
          <a:solidFill>
            <a:srgbClr val="FBF9F4"/>
          </a:solidFill>
          <a:ln w="12700">
            <a:solidFill>
              <a:srgbClr val="D8D0C2"/>
            </a:solidFill>
            <a:prstDash val="solid"/>
          </a:ln>
        </p:spPr>
      </p:sp>
      <p:sp>
        <p:nvSpPr>
          <p:cNvPr id="27" name="Shape 25"/>
          <p:cNvSpPr/>
          <p:nvPr/>
        </p:nvSpPr>
        <p:spPr>
          <a:xfrm>
            <a:off x="4358640" y="3383280"/>
            <a:ext cx="64008" cy="1682496"/>
          </a:xfrm>
          <a:prstGeom prst="rect">
            <a:avLst/>
          </a:prstGeom>
          <a:solidFill>
            <a:srgbClr val="405D78"/>
          </a:solidFill>
          <a:ln w="12700">
            <a:solidFill>
              <a:srgbClr val="405D78"/>
            </a:solidFill>
            <a:prstDash val="solid"/>
          </a:ln>
        </p:spPr>
      </p:sp>
      <p:sp>
        <p:nvSpPr>
          <p:cNvPr id="28" name="Text 26"/>
          <p:cNvSpPr/>
          <p:nvPr/>
        </p:nvSpPr>
        <p:spPr>
          <a:xfrm>
            <a:off x="4605528" y="3593592"/>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05 输出与验收</a:t>
            </a:r>
            <a:endParaRPr lang="en-US" sz="1500" dirty="0"/>
          </a:p>
        </p:txBody>
      </p:sp>
      <p:sp>
        <p:nvSpPr>
          <p:cNvPr id="29" name="Text 27"/>
          <p:cNvSpPr/>
          <p:nvPr/>
        </p:nvSpPr>
        <p:spPr>
          <a:xfrm>
            <a:off x="4605528" y="4105656"/>
            <a:ext cx="2987040" cy="749808"/>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怎样组织、怎样算可用？</a:t>
            </a:r>
            <a:endParaRPr lang="en-US" sz="1120" dirty="0"/>
          </a:p>
        </p:txBody>
      </p:sp>
      <p:sp>
        <p:nvSpPr>
          <p:cNvPr id="30" name="Shape 28"/>
          <p:cNvSpPr/>
          <p:nvPr/>
        </p:nvSpPr>
        <p:spPr>
          <a:xfrm>
            <a:off x="8058912" y="3383280"/>
            <a:ext cx="3480816" cy="1682496"/>
          </a:xfrm>
          <a:prstGeom prst="roundRect">
            <a:avLst>
              <a:gd name="adj" fmla="val 2717"/>
            </a:avLst>
          </a:prstGeom>
          <a:solidFill>
            <a:srgbClr val="FBF9F4"/>
          </a:solidFill>
          <a:ln w="12700">
            <a:solidFill>
              <a:srgbClr val="D8D0C2"/>
            </a:solidFill>
            <a:prstDash val="solid"/>
          </a:ln>
        </p:spPr>
      </p:sp>
      <p:sp>
        <p:nvSpPr>
          <p:cNvPr id="31" name="Shape 29"/>
          <p:cNvSpPr/>
          <p:nvPr/>
        </p:nvSpPr>
        <p:spPr>
          <a:xfrm>
            <a:off x="8058912" y="3383280"/>
            <a:ext cx="64008" cy="1682496"/>
          </a:xfrm>
          <a:prstGeom prst="rect">
            <a:avLst/>
          </a:prstGeom>
          <a:solidFill>
            <a:srgbClr val="527553"/>
          </a:solidFill>
          <a:ln w="12700">
            <a:solidFill>
              <a:srgbClr val="527553"/>
            </a:solidFill>
            <a:prstDash val="solid"/>
          </a:ln>
        </p:spPr>
      </p:sp>
      <p:sp>
        <p:nvSpPr>
          <p:cNvPr id="32" name="Text 30"/>
          <p:cNvSpPr/>
          <p:nvPr/>
        </p:nvSpPr>
        <p:spPr>
          <a:xfrm>
            <a:off x="8305800" y="3593592"/>
            <a:ext cx="3005328" cy="347472"/>
          </a:xfrm>
          <a:prstGeom prst="rect">
            <a:avLst/>
          </a:prstGeom>
          <a:noFill/>
          <a:ln/>
        </p:spPr>
        <p:txBody>
          <a:bodyPr wrap="square" lIns="0" tIns="0" rIns="0" bIns="0" rtlCol="0" anchor="t">
            <a:normAutofit/>
          </a:bodyPr>
          <a:lstStyle/>
          <a:p>
            <a:pPr marL="0" indent="0" algn="l">
              <a:buNone/>
            </a:pPr>
            <a:r>
              <a:rPr lang="en-US" sz="1500" b="1" dirty="0">
                <a:solidFill>
                  <a:srgbClr val="20211F"/>
                </a:solidFill>
                <a:latin typeface="PingFang SC" pitchFamily="34" charset="0"/>
                <a:ea typeface="PingFang SC" pitchFamily="34" charset="-122"/>
                <a:cs typeface="PingFang SC" pitchFamily="34" charset="-120"/>
              </a:rPr>
              <a:t>06 示例与迭代</a:t>
            </a:r>
            <a:endParaRPr lang="en-US" sz="1500" dirty="0"/>
          </a:p>
        </p:txBody>
      </p:sp>
      <p:sp>
        <p:nvSpPr>
          <p:cNvPr id="33" name="Text 31"/>
          <p:cNvSpPr/>
          <p:nvPr/>
        </p:nvSpPr>
        <p:spPr>
          <a:xfrm>
            <a:off x="8305800" y="4105656"/>
            <a:ext cx="2987040" cy="749808"/>
          </a:xfrm>
          <a:prstGeom prst="rect">
            <a:avLst/>
          </a:prstGeom>
          <a:noFill/>
          <a:ln/>
        </p:spPr>
        <p:txBody>
          <a:bodyPr wrap="square" lIns="0" tIns="0" rIns="0" bIns="0" rtlCol="0" anchor="t">
            <a:normAutofit/>
          </a:bodyPr>
          <a:lstStyle/>
          <a:p>
            <a:pPr marL="0" indent="0" algn="l">
              <a:buNone/>
            </a:pPr>
            <a:r>
              <a:rPr lang="en-US" sz="1120" dirty="0">
                <a:solidFill>
                  <a:srgbClr val="77766F"/>
                </a:solidFill>
                <a:latin typeface="PingFang SC" pitchFamily="34" charset="0"/>
                <a:ea typeface="PingFang SC" pitchFamily="34" charset="-122"/>
                <a:cs typeface="PingFang SC" pitchFamily="34" charset="-120"/>
              </a:rPr>
              <a:t>是否需要示例、检查或补问？</a:t>
            </a:r>
            <a:endParaRPr lang="en-US" sz="1120" dirty="0"/>
          </a:p>
        </p:txBody>
      </p:sp>
      <p:sp>
        <p:nvSpPr>
          <p:cNvPr id="34" name="Text 32"/>
          <p:cNvSpPr/>
          <p:nvPr/>
        </p:nvSpPr>
        <p:spPr>
          <a:xfrm>
            <a:off x="914400" y="5321808"/>
            <a:ext cx="10241280" cy="347472"/>
          </a:xfrm>
          <a:prstGeom prst="rect">
            <a:avLst/>
          </a:prstGeom>
          <a:noFill/>
          <a:ln/>
        </p:spPr>
        <p:txBody>
          <a:bodyPr wrap="square" lIns="0" tIns="0" rIns="0" bIns="0" rtlCol="0" anchor="t">
            <a:normAutofit/>
          </a:bodyPr>
          <a:lstStyle/>
          <a:p>
            <a:pPr marL="0" indent="0" algn="ctr">
              <a:buNone/>
            </a:pPr>
            <a:r>
              <a:rPr lang="en-US" sz="1400" b="1" dirty="0">
                <a:solidFill>
                  <a:srgbClr val="C35331"/>
                </a:solidFill>
                <a:latin typeface="PingFang SC" pitchFamily="34" charset="0"/>
                <a:ea typeface="PingFang SC" pitchFamily="34" charset="-122"/>
                <a:cs typeface="PingFang SC" pitchFamily="34" charset="-120"/>
              </a:rPr>
              <a:t>本课程基于参考框架重新整理｜不是固定语法｜不要求全部写满</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8">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25</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结构化Prompt六要素</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角色与任务</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05 结构化Prompt六要素</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25</a:t>
            </a:r>
            <a:endParaRPr lang="en-US" sz="850" dirty="0"/>
          </a:p>
        </p:txBody>
      </p:sp>
      <p:sp>
        <p:nvSpPr>
          <p:cNvPr id="10" name="Shape 8"/>
          <p:cNvSpPr/>
          <p:nvPr/>
        </p:nvSpPr>
        <p:spPr>
          <a:xfrm>
            <a:off x="713232" y="1572768"/>
            <a:ext cx="5285232" cy="3428984"/>
          </a:xfrm>
          <a:prstGeom prst="roundRect">
            <a:avLst>
              <a:gd name="adj" fmla="val 1075"/>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572768"/>
            <a:ext cx="64008" cy="3428984"/>
          </a:xfrm>
          <a:prstGeom prst="rect">
            <a:avLst/>
          </a:prstGeom>
          <a:solidFill>
            <a:srgbClr val="D18A38"/>
          </a:solidFill>
          <a:ln w="12700">
            <a:solidFill>
              <a:srgbClr val="D18A38"/>
            </a:solidFill>
            <a:prstDash val="solid"/>
          </a:ln>
        </p:spPr>
      </p:sp>
      <p:sp>
        <p:nvSpPr>
          <p:cNvPr id="12" name="Text 10"/>
          <p:cNvSpPr/>
          <p:nvPr/>
        </p:nvSpPr>
        <p:spPr>
          <a:xfrm>
            <a:off x="960120" y="1783080"/>
            <a:ext cx="4809744"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角色</a:t>
            </a:r>
            <a:endParaRPr lang="en-US" sz="1800" dirty="0"/>
          </a:p>
        </p:txBody>
      </p:sp>
      <p:sp>
        <p:nvSpPr>
          <p:cNvPr id="13" name="Text 11"/>
          <p:cNvSpPr/>
          <p:nvPr/>
        </p:nvSpPr>
        <p:spPr>
          <a:xfrm>
            <a:off x="960120" y="2295144"/>
            <a:ext cx="4791456" cy="3319272"/>
          </a:xfrm>
          <a:prstGeom prst="rect">
            <a:avLst/>
          </a:prstGeom>
          <a:noFill/>
          <a:ln/>
        </p:spPr>
        <p:txBody>
          <a:bodyPr wrap="square" lIns="0" tIns="0" rIns="0" bIns="0" rtlCol="0" anchor="t">
            <a:normAutofit/>
          </a:bodyPr>
          <a:lstStyle/>
          <a:p>
            <a:r>
              <a:rPr lang="zh-CN" altLang="zh-CN" sz="1400" dirty="0">
                <a:latin typeface="+mn-ea"/>
              </a:rPr>
              <a:t>希望模型以什么专业视角、能力边界和工作责任处理任务？</a:t>
            </a:r>
            <a:endParaRPr lang="en-US" sz="1400" dirty="0">
              <a:solidFill>
                <a:srgbClr val="77766F"/>
              </a:solidFill>
              <a:latin typeface="+mn-ea"/>
              <a:cs typeface="PingFang SC" pitchFamily="34" charset="-120"/>
            </a:endParaRPr>
          </a:p>
          <a:p>
            <a:pPr marL="0" indent="0" algn="l">
              <a:buNone/>
            </a:pPr>
            <a:endParaRPr lang="en-US" sz="1300" dirty="0">
              <a:solidFill>
                <a:srgbClr val="77766F"/>
              </a:solidFill>
              <a:latin typeface="PingFang SC" pitchFamily="34" charset="0"/>
              <a:ea typeface="PingFang SC" pitchFamily="34" charset="-122"/>
              <a:cs typeface="PingFang SC" pitchFamily="34" charset="-120"/>
            </a:endParaRPr>
          </a:p>
          <a:p>
            <a:pPr marL="0" indent="0" algn="l">
              <a:buNone/>
            </a:pPr>
            <a:endParaRPr lang="en-US" sz="1300" dirty="0">
              <a:solidFill>
                <a:srgbClr val="77766F"/>
              </a:solidFill>
              <a:latin typeface="+mn-ea"/>
              <a:cs typeface="PingFang SC" pitchFamily="34" charset="-120"/>
            </a:endParaRPr>
          </a:p>
          <a:p>
            <a:pPr marL="0" indent="0" algn="l">
              <a:buNone/>
            </a:pPr>
            <a:r>
              <a:rPr lang="en-US" sz="1300" dirty="0" err="1">
                <a:solidFill>
                  <a:srgbClr val="77766F"/>
                </a:solidFill>
                <a:latin typeface="+mn-ea"/>
                <a:cs typeface="PingFang SC" pitchFamily="34" charset="-120"/>
              </a:rPr>
              <a:t>不建议</a:t>
            </a:r>
            <a:r>
              <a:rPr lang="zh-CN" altLang="en-US" sz="1300" dirty="0">
                <a:solidFill>
                  <a:srgbClr val="77766F"/>
                </a:solidFill>
                <a:latin typeface="+mn-ea"/>
                <a:cs typeface="PingFang SC" pitchFamily="34" charset="-120"/>
              </a:rPr>
              <a:t>：</a:t>
            </a:r>
            <a:endParaRPr lang="en-US" altLang="zh-CN" sz="1300" dirty="0">
              <a:solidFill>
                <a:srgbClr val="77766F"/>
              </a:solidFill>
              <a:latin typeface="+mn-ea"/>
              <a:cs typeface="PingFang SC" pitchFamily="34" charset="-120"/>
            </a:endParaRPr>
          </a:p>
          <a:p>
            <a:pPr marL="0" indent="0" algn="l">
              <a:buNone/>
            </a:pPr>
            <a:r>
              <a:rPr lang="en-US" sz="1300" dirty="0">
                <a:solidFill>
                  <a:srgbClr val="77766F"/>
                </a:solidFill>
                <a:latin typeface="+mn-ea"/>
                <a:cs typeface="PingFang SC" pitchFamily="34" charset="-120"/>
              </a:rPr>
              <a:t>“全世界最顶级的销售专家”</a:t>
            </a:r>
            <a:endParaRPr lang="en-US" sz="1300" dirty="0">
              <a:latin typeface="+mn-ea"/>
            </a:endParaRPr>
          </a:p>
          <a:p>
            <a:pPr marL="0" indent="0" algn="l">
              <a:buNone/>
            </a:pPr>
            <a:endParaRPr lang="en-US" sz="1300" dirty="0">
              <a:latin typeface="+mn-ea"/>
            </a:endParaRPr>
          </a:p>
          <a:p>
            <a:r>
              <a:rPr lang="en-US" sz="1300" dirty="0" err="1">
                <a:solidFill>
                  <a:srgbClr val="77766F"/>
                </a:solidFill>
                <a:latin typeface="+mn-ea"/>
                <a:cs typeface="PingFang SC" pitchFamily="34" charset="-120"/>
              </a:rPr>
              <a:t>更具体</a:t>
            </a:r>
            <a:r>
              <a:rPr lang="zh-CN" altLang="en-US" sz="1300" dirty="0">
                <a:solidFill>
                  <a:srgbClr val="77766F"/>
                </a:solidFill>
                <a:latin typeface="+mn-ea"/>
                <a:cs typeface="PingFang SC" pitchFamily="34" charset="-120"/>
              </a:rPr>
              <a:t>：</a:t>
            </a:r>
            <a:endParaRPr lang="en-US" sz="1300" dirty="0">
              <a:solidFill>
                <a:srgbClr val="77766F"/>
              </a:solidFill>
              <a:latin typeface="+mn-ea"/>
            </a:endParaRPr>
          </a:p>
          <a:p>
            <a:r>
              <a:rPr lang="en-US" sz="1300" dirty="0">
                <a:solidFill>
                  <a:srgbClr val="77766F"/>
                </a:solidFill>
                <a:latin typeface="+mn-ea"/>
              </a:rPr>
              <a:t>“</a:t>
            </a:r>
            <a:r>
              <a:rPr lang="zh-CN" altLang="zh-CN" sz="1300" dirty="0">
                <a:solidFill>
                  <a:srgbClr val="77766F"/>
                </a:solidFill>
                <a:latin typeface="+mn-ea"/>
              </a:rPr>
              <a:t>你是销售拜访记录整理助手，负责根据给定材料提取客户明确表达的信息，</a:t>
            </a:r>
          </a:p>
          <a:p>
            <a:r>
              <a:rPr lang="zh-CN" altLang="zh-CN" sz="1300" dirty="0">
                <a:solidFill>
                  <a:srgbClr val="77766F"/>
                </a:solidFill>
                <a:latin typeface="+mn-ea"/>
              </a:rPr>
              <a:t>并整理为便于销售检查和录入CRM的结构化结果。</a:t>
            </a:r>
            <a:r>
              <a:rPr lang="en-US" sz="1300" dirty="0">
                <a:solidFill>
                  <a:srgbClr val="77766F"/>
                </a:solidFill>
                <a:latin typeface="+mn-ea"/>
              </a:rPr>
              <a:t>”</a:t>
            </a:r>
          </a:p>
        </p:txBody>
      </p:sp>
      <p:sp>
        <p:nvSpPr>
          <p:cNvPr id="14" name="Shape 12"/>
          <p:cNvSpPr/>
          <p:nvPr/>
        </p:nvSpPr>
        <p:spPr>
          <a:xfrm>
            <a:off x="6199632" y="1572768"/>
            <a:ext cx="5285232" cy="3428980"/>
          </a:xfrm>
          <a:prstGeom prst="roundRect">
            <a:avLst>
              <a:gd name="adj" fmla="val 1075"/>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6199632" y="1572768"/>
            <a:ext cx="64008" cy="3428980"/>
          </a:xfrm>
          <a:prstGeom prst="rect">
            <a:avLst/>
          </a:prstGeom>
          <a:solidFill>
            <a:srgbClr val="387B77"/>
          </a:solidFill>
          <a:ln w="12700">
            <a:solidFill>
              <a:srgbClr val="387B77"/>
            </a:solidFill>
            <a:prstDash val="solid"/>
          </a:ln>
        </p:spPr>
      </p:sp>
      <p:sp>
        <p:nvSpPr>
          <p:cNvPr id="16" name="Text 14"/>
          <p:cNvSpPr/>
          <p:nvPr/>
        </p:nvSpPr>
        <p:spPr>
          <a:xfrm>
            <a:off x="6446520" y="1783080"/>
            <a:ext cx="4809744"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任务</a:t>
            </a:r>
            <a:endParaRPr lang="en-US" sz="1800" dirty="0"/>
          </a:p>
        </p:txBody>
      </p:sp>
      <p:sp>
        <p:nvSpPr>
          <p:cNvPr id="17" name="Text 15"/>
          <p:cNvSpPr/>
          <p:nvPr/>
        </p:nvSpPr>
        <p:spPr>
          <a:xfrm>
            <a:off x="6446520" y="2295144"/>
            <a:ext cx="4791456" cy="3319272"/>
          </a:xfrm>
          <a:prstGeom prst="rect">
            <a:avLst/>
          </a:prstGeom>
          <a:noFill/>
          <a:ln/>
        </p:spPr>
        <p:txBody>
          <a:bodyPr wrap="square" lIns="0" tIns="0" rIns="0" bIns="0" rtlCol="0" anchor="t">
            <a:normAutofit/>
          </a:bodyPr>
          <a:lstStyle/>
          <a:p>
            <a:r>
              <a:rPr lang="zh-CN" altLang="zh-CN" sz="1400" dirty="0">
                <a:latin typeface="+mn-ea"/>
              </a:rPr>
              <a:t>模型这一次必须完成什么，交付给谁，用于什么后续动作？</a:t>
            </a:r>
            <a:endParaRPr lang="en-US" sz="1400" dirty="0">
              <a:solidFill>
                <a:srgbClr val="77766F"/>
              </a:solidFill>
              <a:latin typeface="+mn-ea"/>
              <a:cs typeface="PingFang SC" pitchFamily="34" charset="-120"/>
            </a:endParaRPr>
          </a:p>
          <a:p>
            <a:pPr marL="0" indent="0" algn="l">
              <a:buNone/>
            </a:pPr>
            <a:endParaRPr lang="en-US" sz="1300" dirty="0">
              <a:solidFill>
                <a:srgbClr val="77766F"/>
              </a:solidFill>
              <a:latin typeface="PingFang SC" pitchFamily="34" charset="0"/>
              <a:ea typeface="PingFang SC" pitchFamily="34" charset="-122"/>
              <a:cs typeface="PingFang SC" pitchFamily="34" charset="-120"/>
            </a:endParaRPr>
          </a:p>
          <a:p>
            <a:pPr marL="0" indent="0" algn="l">
              <a:buNone/>
            </a:pPr>
            <a:endParaRPr lang="en-US" sz="1300" dirty="0">
              <a:solidFill>
                <a:srgbClr val="77766F"/>
              </a:solidFill>
              <a:latin typeface="+mn-ea"/>
              <a:cs typeface="PingFang SC" pitchFamily="34" charset="-120"/>
            </a:endParaRPr>
          </a:p>
          <a:p>
            <a:pPr marL="0" indent="0" algn="l">
              <a:buNone/>
            </a:pPr>
            <a:r>
              <a:rPr lang="en-US" sz="1300" dirty="0" err="1">
                <a:solidFill>
                  <a:srgbClr val="77766F"/>
                </a:solidFill>
                <a:latin typeface="+mn-ea"/>
                <a:cs typeface="PingFang SC" pitchFamily="34" charset="-120"/>
              </a:rPr>
              <a:t>不够</a:t>
            </a:r>
            <a:endParaRPr lang="en-US" sz="1300" dirty="0">
              <a:latin typeface="+mn-ea"/>
            </a:endParaRPr>
          </a:p>
          <a:p>
            <a:pPr marL="0" indent="0" algn="l">
              <a:buNone/>
            </a:pPr>
            <a:r>
              <a:rPr lang="en-US" sz="1300" dirty="0">
                <a:solidFill>
                  <a:srgbClr val="77766F"/>
                </a:solidFill>
                <a:latin typeface="+mn-ea"/>
                <a:cs typeface="PingFang SC" pitchFamily="34" charset="-120"/>
              </a:rPr>
              <a:t>“请专业地分析一下”</a:t>
            </a:r>
            <a:endParaRPr lang="en-US" sz="1300" dirty="0">
              <a:latin typeface="+mn-ea"/>
            </a:endParaRPr>
          </a:p>
          <a:p>
            <a:pPr marL="0" indent="0" algn="l">
              <a:buNone/>
            </a:pPr>
            <a:endParaRPr lang="en-US" sz="1300" dirty="0">
              <a:latin typeface="+mn-ea"/>
            </a:endParaRPr>
          </a:p>
          <a:p>
            <a:pPr marL="0" indent="0" algn="l">
              <a:buNone/>
            </a:pPr>
            <a:r>
              <a:rPr lang="en-US" sz="1300" dirty="0" err="1">
                <a:solidFill>
                  <a:srgbClr val="77766F"/>
                </a:solidFill>
                <a:latin typeface="+mn-ea"/>
                <a:cs typeface="PingFang SC" pitchFamily="34" charset="-120"/>
              </a:rPr>
              <a:t>更具体</a:t>
            </a:r>
            <a:r>
              <a:rPr lang="zh-CN" altLang="en-US" sz="1300" dirty="0">
                <a:solidFill>
                  <a:srgbClr val="77766F"/>
                </a:solidFill>
                <a:latin typeface="+mn-ea"/>
                <a:cs typeface="PingFang SC" pitchFamily="34" charset="-120"/>
              </a:rPr>
              <a:t>：</a:t>
            </a:r>
            <a:endParaRPr lang="en-US" altLang="zh-CN" sz="1300" dirty="0">
              <a:latin typeface="+mn-ea"/>
              <a:cs typeface="PingFang SC" pitchFamily="34" charset="-120"/>
            </a:endParaRPr>
          </a:p>
          <a:p>
            <a:pPr marL="0" indent="0" algn="l">
              <a:buNone/>
            </a:pPr>
            <a:r>
              <a:rPr lang="zh-CN" altLang="en-US" sz="1300" dirty="0">
                <a:solidFill>
                  <a:srgbClr val="77766F"/>
                </a:solidFill>
                <a:latin typeface="+mn-ea"/>
              </a:rPr>
              <a:t>“</a:t>
            </a:r>
            <a:r>
              <a:rPr lang="zh-CN" altLang="zh-CN" sz="1300" dirty="0">
                <a:solidFill>
                  <a:srgbClr val="77766F"/>
                </a:solidFill>
                <a:latin typeface="+mn-ea"/>
              </a:rPr>
              <a:t>请根据本次拜访转写，提取客户核心诉求、明确异议和双方确认的下一步行动，</a:t>
            </a:r>
          </a:p>
          <a:p>
            <a:r>
              <a:rPr lang="zh-CN" altLang="zh-CN" sz="1300" dirty="0">
                <a:solidFill>
                  <a:srgbClr val="77766F"/>
                </a:solidFill>
                <a:latin typeface="+mn-ea"/>
              </a:rPr>
              <a:t>供销售本人检查后录入CRM。</a:t>
            </a:r>
            <a:r>
              <a:rPr lang="en-US" sz="1300" dirty="0">
                <a:solidFill>
                  <a:srgbClr val="77766F"/>
                </a:solidFill>
                <a:latin typeface="+mn-ea"/>
              </a:rPr>
              <a:t>”</a:t>
            </a:r>
          </a:p>
        </p:txBody>
      </p:sp>
      <p:sp>
        <p:nvSpPr>
          <p:cNvPr id="18" name="Text 16"/>
          <p:cNvSpPr/>
          <p:nvPr/>
        </p:nvSpPr>
        <p:spPr>
          <a:xfrm>
            <a:off x="914400" y="5715000"/>
            <a:ext cx="10241280" cy="320040"/>
          </a:xfrm>
          <a:prstGeom prst="rect">
            <a:avLst/>
          </a:prstGeom>
          <a:noFill/>
          <a:ln/>
        </p:spPr>
        <p:txBody>
          <a:bodyPr wrap="square" lIns="0" tIns="0" rIns="0" bIns="0" rtlCol="0" anchor="t">
            <a:normAutofit/>
          </a:bodyPr>
          <a:lstStyle/>
          <a:p>
            <a:pPr marL="0" indent="0" algn="ctr">
              <a:buNone/>
            </a:pPr>
            <a:r>
              <a:rPr lang="en-US" sz="1500" b="1" dirty="0">
                <a:solidFill>
                  <a:srgbClr val="C35331"/>
                </a:solidFill>
                <a:latin typeface="PingFang SC" pitchFamily="34" charset="0"/>
                <a:ea typeface="PingFang SC" pitchFamily="34" charset="-122"/>
                <a:cs typeface="PingFang SC" pitchFamily="34" charset="-120"/>
              </a:rPr>
              <a:t>角色回答“承担什么职责”｜任务回答“完成什么、用于什么”</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9">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26</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结构化Prompt六要素</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输入材料告诉模型“依据什么”，规则告诉模型“不能越过什么”</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05 结构化Prompt六要素</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26</a:t>
            </a:r>
            <a:endParaRPr lang="en-US" sz="850" dirty="0"/>
          </a:p>
        </p:txBody>
      </p:sp>
      <p:sp>
        <p:nvSpPr>
          <p:cNvPr id="10" name="Shape 8"/>
          <p:cNvSpPr/>
          <p:nvPr/>
        </p:nvSpPr>
        <p:spPr>
          <a:xfrm>
            <a:off x="713232" y="1572768"/>
            <a:ext cx="5285232" cy="3477212"/>
          </a:xfrm>
          <a:prstGeom prst="roundRect">
            <a:avLst>
              <a:gd name="adj" fmla="val 1075"/>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572768"/>
            <a:ext cx="64008" cy="3477212"/>
          </a:xfrm>
          <a:prstGeom prst="rect">
            <a:avLst/>
          </a:prstGeom>
          <a:solidFill>
            <a:srgbClr val="405D78"/>
          </a:solidFill>
          <a:ln w="12700">
            <a:solidFill>
              <a:srgbClr val="405D78"/>
            </a:solidFill>
            <a:prstDash val="solid"/>
          </a:ln>
        </p:spPr>
      </p:sp>
      <p:sp>
        <p:nvSpPr>
          <p:cNvPr id="12" name="Text 10"/>
          <p:cNvSpPr/>
          <p:nvPr/>
        </p:nvSpPr>
        <p:spPr>
          <a:xfrm>
            <a:off x="960120" y="1783080"/>
            <a:ext cx="4809744"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业务背景与输入材料</a:t>
            </a:r>
            <a:endParaRPr lang="en-US" sz="1800" dirty="0"/>
          </a:p>
        </p:txBody>
      </p:sp>
      <p:sp>
        <p:nvSpPr>
          <p:cNvPr id="13" name="Text 11"/>
          <p:cNvSpPr/>
          <p:nvPr/>
        </p:nvSpPr>
        <p:spPr>
          <a:xfrm>
            <a:off x="960120" y="2295144"/>
            <a:ext cx="4791456" cy="3319272"/>
          </a:xfrm>
          <a:prstGeom prst="rect">
            <a:avLst/>
          </a:prstGeom>
          <a:noFill/>
          <a:ln/>
        </p:spPr>
        <p:txBody>
          <a:bodyPr wrap="square" lIns="0" tIns="0" rIns="0" bIns="0" rtlCol="0" anchor="t">
            <a:normAutofit/>
          </a:bodyPr>
          <a:lstStyle/>
          <a:p>
            <a:r>
              <a:rPr lang="zh-CN" altLang="zh-CN" sz="1400" dirty="0">
                <a:latin typeface="+mn-ea"/>
              </a:rPr>
              <a:t>模型需要依据哪些事实、背景和变量完成任务？</a:t>
            </a:r>
            <a:endParaRPr lang="en-US" sz="1400" dirty="0">
              <a:solidFill>
                <a:srgbClr val="77766F"/>
              </a:solidFill>
              <a:latin typeface="+mn-ea"/>
              <a:cs typeface="PingFang SC" pitchFamily="34" charset="-120"/>
            </a:endParaRPr>
          </a:p>
          <a:p>
            <a:pPr marL="0" indent="0" algn="l">
              <a:buNone/>
            </a:pPr>
            <a:endParaRPr lang="en-US" sz="1300" dirty="0">
              <a:solidFill>
                <a:srgbClr val="77766F"/>
              </a:solidFill>
              <a:latin typeface="PingFang SC" pitchFamily="34" charset="0"/>
              <a:ea typeface="PingFang SC" pitchFamily="34" charset="-122"/>
              <a:cs typeface="PingFang SC" pitchFamily="34" charset="-120"/>
            </a:endParaRPr>
          </a:p>
          <a:p>
            <a:pPr marL="0" indent="0" algn="l">
              <a:buNone/>
            </a:pPr>
            <a:endParaRPr lang="en-US" sz="1300" dirty="0">
              <a:solidFill>
                <a:srgbClr val="77766F"/>
              </a:solidFill>
              <a:latin typeface="PingFang SC" pitchFamily="34" charset="0"/>
              <a:ea typeface="PingFang SC" pitchFamily="34" charset="-122"/>
              <a:cs typeface="PingFang SC" pitchFamily="34" charset="-120"/>
            </a:endParaRPr>
          </a:p>
          <a:p>
            <a:pPr marL="0" indent="0" algn="l">
              <a:buNone/>
            </a:pPr>
            <a:endParaRPr lang="en-US" sz="1300" dirty="0">
              <a:solidFill>
                <a:srgbClr val="77766F"/>
              </a:solidFill>
              <a:latin typeface="PingFang SC" pitchFamily="34" charset="0"/>
              <a:ea typeface="PingFang SC" pitchFamily="34" charset="-122"/>
              <a:cs typeface="PingFang SC" pitchFamily="34" charset="-120"/>
            </a:endParaRPr>
          </a:p>
          <a:p>
            <a:r>
              <a:rPr lang="zh-CN" altLang="zh-CN" sz="1200" dirty="0">
                <a:solidFill>
                  <a:schemeClr val="tx1">
                    <a:lumMod val="65000"/>
                    <a:lumOff val="35000"/>
                  </a:schemeClr>
                </a:solidFill>
              </a:rPr>
              <a:t>【业务背景】</a:t>
            </a:r>
          </a:p>
          <a:p>
            <a:r>
              <a:rPr lang="zh-CN" altLang="zh-CN" sz="1200" dirty="0">
                <a:solidFill>
                  <a:schemeClr val="tx1">
                    <a:lumMod val="65000"/>
                    <a:lumOff val="35000"/>
                  </a:schemeClr>
                </a:solidFill>
              </a:rPr>
              <a:t>当前处于方案沟通阶段。本次输出由一线销售在拜访结束后检查。</a:t>
            </a:r>
          </a:p>
          <a:p>
            <a:endParaRPr lang="zh-CN" altLang="zh-CN" sz="1200" dirty="0">
              <a:solidFill>
                <a:schemeClr val="tx1">
                  <a:lumMod val="65000"/>
                  <a:lumOff val="35000"/>
                </a:schemeClr>
              </a:solidFill>
            </a:endParaRPr>
          </a:p>
          <a:p>
            <a:r>
              <a:rPr lang="zh-CN" altLang="zh-CN" sz="1200" dirty="0">
                <a:solidFill>
                  <a:schemeClr val="tx1">
                    <a:lumMod val="65000"/>
                    <a:lumOff val="35000"/>
                  </a:schemeClr>
                </a:solidFill>
              </a:rPr>
              <a:t>【客户与商机信息】</a:t>
            </a:r>
          </a:p>
          <a:p>
            <a:r>
              <a:rPr lang="zh-CN" altLang="zh-CN" sz="1200" dirty="0">
                <a:solidFill>
                  <a:schemeClr val="tx1">
                    <a:lumMod val="65000"/>
                    <a:lumOff val="35000"/>
                  </a:schemeClr>
                </a:solidFill>
              </a:rPr>
              <a:t>{{customer_profile}}</a:t>
            </a:r>
          </a:p>
          <a:p>
            <a:r>
              <a:rPr lang="zh-CN" altLang="zh-CN" sz="1200" dirty="0">
                <a:solidFill>
                  <a:schemeClr val="tx1">
                    <a:lumMod val="65000"/>
                    <a:lumOff val="35000"/>
                  </a:schemeClr>
                </a:solidFill>
              </a:rPr>
              <a:t>{{opportunity_stage}}</a:t>
            </a:r>
          </a:p>
          <a:p>
            <a:endParaRPr lang="zh-CN" altLang="zh-CN" sz="1200" dirty="0">
              <a:solidFill>
                <a:schemeClr val="tx1">
                  <a:lumMod val="65000"/>
                  <a:lumOff val="35000"/>
                </a:schemeClr>
              </a:solidFill>
            </a:endParaRPr>
          </a:p>
          <a:p>
            <a:r>
              <a:rPr lang="zh-CN" altLang="zh-CN" sz="1200" dirty="0">
                <a:solidFill>
                  <a:schemeClr val="tx1">
                    <a:lumMod val="65000"/>
                    <a:lumOff val="35000"/>
                  </a:schemeClr>
                </a:solidFill>
              </a:rPr>
              <a:t>【本次拜访转写】</a:t>
            </a:r>
          </a:p>
          <a:p>
            <a:r>
              <a:rPr lang="zh-CN" altLang="zh-CN" sz="1200" dirty="0">
                <a:solidFill>
                  <a:schemeClr val="tx1">
                    <a:lumMod val="65000"/>
                    <a:lumOff val="35000"/>
                  </a:schemeClr>
                </a:solidFill>
              </a:rPr>
              <a:t>{{visit_transcript}}</a:t>
            </a:r>
          </a:p>
          <a:p>
            <a:pPr marL="0" indent="0" algn="l">
              <a:buNone/>
            </a:pPr>
            <a:endParaRPr lang="en-US" sz="1300" dirty="0">
              <a:latin typeface="+mn-ea"/>
            </a:endParaRPr>
          </a:p>
        </p:txBody>
      </p:sp>
      <p:sp>
        <p:nvSpPr>
          <p:cNvPr id="14" name="Shape 12"/>
          <p:cNvSpPr/>
          <p:nvPr/>
        </p:nvSpPr>
        <p:spPr>
          <a:xfrm>
            <a:off x="6199632" y="1572768"/>
            <a:ext cx="5285232" cy="3477212"/>
          </a:xfrm>
          <a:prstGeom prst="roundRect">
            <a:avLst>
              <a:gd name="adj" fmla="val 1075"/>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6199632" y="1572768"/>
            <a:ext cx="64008" cy="3477212"/>
          </a:xfrm>
          <a:prstGeom prst="rect">
            <a:avLst/>
          </a:prstGeom>
          <a:solidFill>
            <a:srgbClr val="C35331"/>
          </a:solidFill>
          <a:ln w="12700">
            <a:solidFill>
              <a:srgbClr val="C35331"/>
            </a:solidFill>
            <a:prstDash val="solid"/>
          </a:ln>
        </p:spPr>
      </p:sp>
      <p:sp>
        <p:nvSpPr>
          <p:cNvPr id="16" name="Text 14"/>
          <p:cNvSpPr/>
          <p:nvPr/>
        </p:nvSpPr>
        <p:spPr>
          <a:xfrm>
            <a:off x="6446520" y="1783080"/>
            <a:ext cx="4809744"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规则与约束</a:t>
            </a:r>
            <a:endParaRPr lang="en-US" sz="1800" dirty="0"/>
          </a:p>
        </p:txBody>
      </p:sp>
      <p:sp>
        <p:nvSpPr>
          <p:cNvPr id="17" name="Text 15"/>
          <p:cNvSpPr/>
          <p:nvPr/>
        </p:nvSpPr>
        <p:spPr>
          <a:xfrm>
            <a:off x="6446520" y="2295144"/>
            <a:ext cx="4791456" cy="3319272"/>
          </a:xfrm>
          <a:prstGeom prst="rect">
            <a:avLst/>
          </a:prstGeom>
          <a:noFill/>
          <a:ln/>
        </p:spPr>
        <p:txBody>
          <a:bodyPr wrap="square" lIns="0" tIns="0" rIns="0" bIns="0" rtlCol="0" anchor="t">
            <a:normAutofit/>
          </a:bodyPr>
          <a:lstStyle/>
          <a:p>
            <a:r>
              <a:rPr lang="zh-CN" altLang="zh-CN" sz="1400" dirty="0"/>
              <a:t>有哪些必须遵循的业务规则、风险边界和缺失信息处理方式？</a:t>
            </a:r>
            <a:endParaRPr lang="en-US" sz="1400" dirty="0">
              <a:solidFill>
                <a:srgbClr val="77766F"/>
              </a:solidFill>
              <a:latin typeface="+mn-ea"/>
              <a:cs typeface="PingFang SC" pitchFamily="34" charset="-120"/>
            </a:endParaRPr>
          </a:p>
          <a:p>
            <a:pPr marL="0" indent="0" algn="l">
              <a:buNone/>
            </a:pPr>
            <a:endParaRPr lang="en-US" sz="1300" dirty="0">
              <a:solidFill>
                <a:srgbClr val="77766F"/>
              </a:solidFill>
              <a:latin typeface="+mn-ea"/>
              <a:cs typeface="PingFang SC" pitchFamily="34" charset="-120"/>
            </a:endParaRPr>
          </a:p>
          <a:p>
            <a:pPr marL="0" indent="0" algn="l">
              <a:buNone/>
            </a:pPr>
            <a:endParaRPr lang="en-US" sz="1300" dirty="0">
              <a:solidFill>
                <a:srgbClr val="77766F"/>
              </a:solidFill>
              <a:latin typeface="+mn-ea"/>
              <a:cs typeface="PingFang SC" pitchFamily="34" charset="-120"/>
            </a:endParaRPr>
          </a:p>
          <a:p>
            <a:r>
              <a:rPr lang="zh-CN" altLang="zh-CN" sz="1200" dirty="0">
                <a:solidFill>
                  <a:schemeClr val="tx1">
                    <a:lumMod val="65000"/>
                    <a:lumOff val="35000"/>
                  </a:schemeClr>
                </a:solidFill>
              </a:rPr>
              <a:t>1. 只依据提供的材料整理，不把推测写成客户事实；</a:t>
            </a:r>
          </a:p>
          <a:p>
            <a:r>
              <a:rPr lang="zh-CN" altLang="zh-CN" sz="1200" dirty="0">
                <a:solidFill>
                  <a:schemeClr val="tx1">
                    <a:lumMod val="65000"/>
                    <a:lumOff val="35000"/>
                  </a:schemeClr>
                </a:solidFill>
              </a:rPr>
              <a:t>2. 客户诉求和异议尽量附对应原话或证据片段；</a:t>
            </a:r>
          </a:p>
          <a:p>
            <a:r>
              <a:rPr lang="zh-CN" altLang="zh-CN" sz="1200" dirty="0">
                <a:solidFill>
                  <a:schemeClr val="tx1">
                    <a:lumMod val="65000"/>
                    <a:lumOff val="35000"/>
                  </a:schemeClr>
                </a:solidFill>
              </a:rPr>
              <a:t>3. 没有明确负责人或时间时填写“待确认”，不得自行补充；</a:t>
            </a:r>
          </a:p>
          <a:p>
            <a:r>
              <a:rPr lang="zh-CN" altLang="zh-CN" sz="1200" dirty="0">
                <a:solidFill>
                  <a:schemeClr val="tx1">
                    <a:lumMod val="65000"/>
                    <a:lumOff val="35000"/>
                  </a:schemeClr>
                </a:solidFill>
              </a:rPr>
              <a:t>4. 区分客户明确表达、销售判断和AI建议；</a:t>
            </a:r>
          </a:p>
          <a:p>
            <a:r>
              <a:rPr lang="zh-CN" altLang="zh-CN" sz="1200" dirty="0">
                <a:solidFill>
                  <a:schemeClr val="tx1">
                    <a:lumMod val="65000"/>
                    <a:lumOff val="35000"/>
                  </a:schemeClr>
                </a:solidFill>
              </a:rPr>
              <a:t>5. 忽略与当前任务无关的寒暄内容。</a:t>
            </a:r>
          </a:p>
        </p:txBody>
      </p:sp>
      <p:sp>
        <p:nvSpPr>
          <p:cNvPr id="18" name="Text 16"/>
          <p:cNvSpPr/>
          <p:nvPr/>
        </p:nvSpPr>
        <p:spPr>
          <a:xfrm>
            <a:off x="914400" y="5715000"/>
            <a:ext cx="10241280" cy="320040"/>
          </a:xfrm>
          <a:prstGeom prst="rect">
            <a:avLst/>
          </a:prstGeom>
          <a:noFill/>
          <a:ln/>
        </p:spPr>
        <p:txBody>
          <a:bodyPr wrap="square" lIns="0" tIns="0" rIns="0" bIns="0" rtlCol="0" anchor="t">
            <a:normAutofit/>
          </a:bodyPr>
          <a:lstStyle/>
          <a:p>
            <a:pPr marL="0" indent="0" algn="ctr">
              <a:buNone/>
            </a:pPr>
            <a:r>
              <a:rPr lang="en-US" sz="1450" b="1" dirty="0">
                <a:solidFill>
                  <a:srgbClr val="C35331"/>
                </a:solidFill>
                <a:latin typeface="PingFang SC" pitchFamily="34" charset="0"/>
                <a:ea typeface="PingFang SC" pitchFamily="34" charset="-122"/>
                <a:cs typeface="PingFang SC" pitchFamily="34" charset="-120"/>
              </a:rPr>
              <a:t>广义上下文可以包含规则；为了检查，本课把规则单独列出。</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0">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27</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结构化Prompt六要素</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结果“长什么样”和“能不能用”，要分别定义</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05 结构化Prompt六要素</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27</a:t>
            </a:r>
            <a:endParaRPr lang="en-US" sz="850" dirty="0"/>
          </a:p>
        </p:txBody>
      </p:sp>
      <p:sp>
        <p:nvSpPr>
          <p:cNvPr id="10" name="Shape 8"/>
          <p:cNvSpPr/>
          <p:nvPr/>
        </p:nvSpPr>
        <p:spPr>
          <a:xfrm>
            <a:off x="1612900" y="1572768"/>
            <a:ext cx="3429000" cy="4251960"/>
          </a:xfrm>
          <a:prstGeom prst="roundRect">
            <a:avLst>
              <a:gd name="adj" fmla="val 1333"/>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1612900" y="1572768"/>
            <a:ext cx="64008" cy="4251960"/>
          </a:xfrm>
          <a:prstGeom prst="rect">
            <a:avLst/>
          </a:prstGeom>
          <a:solidFill>
            <a:srgbClr val="405D78"/>
          </a:solidFill>
          <a:ln w="12700">
            <a:solidFill>
              <a:srgbClr val="405D78"/>
            </a:solidFill>
            <a:prstDash val="solid"/>
          </a:ln>
        </p:spPr>
      </p:sp>
      <p:sp>
        <p:nvSpPr>
          <p:cNvPr id="12" name="Text 10"/>
          <p:cNvSpPr/>
          <p:nvPr/>
        </p:nvSpPr>
        <p:spPr>
          <a:xfrm>
            <a:off x="1859788" y="1783080"/>
            <a:ext cx="2953512"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输出格式</a:t>
            </a:r>
            <a:endParaRPr lang="en-US" sz="1800" dirty="0"/>
          </a:p>
        </p:txBody>
      </p:sp>
      <p:sp>
        <p:nvSpPr>
          <p:cNvPr id="13" name="Text 11"/>
          <p:cNvSpPr/>
          <p:nvPr/>
        </p:nvSpPr>
        <p:spPr>
          <a:xfrm>
            <a:off x="1859788" y="2295144"/>
            <a:ext cx="2935224" cy="3529584"/>
          </a:xfrm>
          <a:prstGeom prst="rect">
            <a:avLst/>
          </a:prstGeom>
          <a:noFill/>
          <a:ln/>
        </p:spPr>
        <p:txBody>
          <a:bodyPr wrap="square" lIns="0" tIns="0" rIns="0" bIns="0" rtlCol="0" anchor="t">
            <a:normAutofit fontScale="85000" lnSpcReduction="20000"/>
          </a:bodyPr>
          <a:lstStyle/>
          <a:p>
            <a:r>
              <a:rPr lang="zh-CN" altLang="zh-CN" dirty="0">
                <a:latin typeface="+mn-ea"/>
              </a:rPr>
              <a:t>最终结果必须长什么样，包含什么，怎样判断可继续使用？</a:t>
            </a:r>
            <a:endParaRPr lang="en-US" dirty="0">
              <a:solidFill>
                <a:srgbClr val="77766F"/>
              </a:solidFill>
              <a:latin typeface="+mn-ea"/>
              <a:cs typeface="PingFang SC" pitchFamily="34" charset="-120"/>
            </a:endParaRPr>
          </a:p>
          <a:p>
            <a:pPr marL="0" indent="0" algn="l">
              <a:buNone/>
            </a:pPr>
            <a:endParaRPr lang="en-US" sz="1500" dirty="0">
              <a:solidFill>
                <a:srgbClr val="77766F"/>
              </a:solidFill>
              <a:latin typeface="+mn-ea"/>
              <a:cs typeface="PingFang SC" pitchFamily="34" charset="-120"/>
            </a:endParaRPr>
          </a:p>
          <a:p>
            <a:pPr marL="0" indent="0" algn="l">
              <a:buNone/>
            </a:pPr>
            <a:endParaRPr lang="en-US" sz="1500" dirty="0">
              <a:solidFill>
                <a:srgbClr val="77766F"/>
              </a:solidFill>
              <a:latin typeface="+mn-ea"/>
              <a:cs typeface="PingFang SC" pitchFamily="34" charset="-120"/>
            </a:endParaRPr>
          </a:p>
          <a:p>
            <a:r>
              <a:rPr lang="zh-CN" altLang="zh-CN" sz="1500" dirty="0">
                <a:solidFill>
                  <a:schemeClr val="tx1">
                    <a:lumMod val="65000"/>
                    <a:lumOff val="35000"/>
                  </a:schemeClr>
                </a:solidFill>
              </a:rPr>
              <a:t>请按以下结构输出：</a:t>
            </a:r>
          </a:p>
          <a:p>
            <a:endParaRPr lang="zh-CN" altLang="zh-CN" sz="1500" dirty="0">
              <a:solidFill>
                <a:schemeClr val="tx1">
                  <a:lumMod val="65000"/>
                  <a:lumOff val="35000"/>
                </a:schemeClr>
              </a:solidFill>
            </a:endParaRPr>
          </a:p>
          <a:p>
            <a:r>
              <a:rPr lang="zh-CN" altLang="zh-CN" sz="1500" dirty="0">
                <a:solidFill>
                  <a:schemeClr val="tx1">
                    <a:lumMod val="65000"/>
                    <a:lumOff val="35000"/>
                  </a:schemeClr>
                </a:solidFill>
              </a:rPr>
              <a:t>1. 客户核心诉求</a:t>
            </a:r>
          </a:p>
          <a:p>
            <a:r>
              <a:rPr lang="zh-CN" altLang="zh-CN" sz="1500" dirty="0">
                <a:solidFill>
                  <a:schemeClr val="tx1">
                    <a:lumMod val="65000"/>
                    <a:lumOff val="35000"/>
                  </a:schemeClr>
                </a:solidFill>
              </a:rPr>
              <a:t>   - 诉求：</a:t>
            </a:r>
          </a:p>
          <a:p>
            <a:r>
              <a:rPr lang="zh-CN" altLang="zh-CN" sz="1500" dirty="0">
                <a:solidFill>
                  <a:schemeClr val="tx1">
                    <a:lumMod val="65000"/>
                    <a:lumOff val="35000"/>
                  </a:schemeClr>
                </a:solidFill>
              </a:rPr>
              <a:t>   - 证据原话：</a:t>
            </a:r>
          </a:p>
          <a:p>
            <a:r>
              <a:rPr lang="zh-CN" altLang="zh-CN" sz="1500" dirty="0">
                <a:solidFill>
                  <a:schemeClr val="tx1">
                    <a:lumMod val="65000"/>
                    <a:lumOff val="35000"/>
                  </a:schemeClr>
                </a:solidFill>
              </a:rPr>
              <a:t>   - 状态：明确 / 待确认</a:t>
            </a:r>
          </a:p>
          <a:p>
            <a:endParaRPr lang="zh-CN" altLang="zh-CN" sz="1500" dirty="0">
              <a:solidFill>
                <a:schemeClr val="tx1">
                  <a:lumMod val="65000"/>
                  <a:lumOff val="35000"/>
                </a:schemeClr>
              </a:solidFill>
            </a:endParaRPr>
          </a:p>
          <a:p>
            <a:r>
              <a:rPr lang="zh-CN" altLang="zh-CN" sz="1500" dirty="0">
                <a:solidFill>
                  <a:schemeClr val="tx1">
                    <a:lumMod val="65000"/>
                    <a:lumOff val="35000"/>
                  </a:schemeClr>
                </a:solidFill>
              </a:rPr>
              <a:t>2. 客户异议</a:t>
            </a:r>
          </a:p>
          <a:p>
            <a:r>
              <a:rPr lang="zh-CN" altLang="zh-CN" sz="1500" dirty="0">
                <a:solidFill>
                  <a:schemeClr val="tx1">
                    <a:lumMod val="65000"/>
                    <a:lumOff val="35000"/>
                  </a:schemeClr>
                </a:solidFill>
              </a:rPr>
              <a:t>   - 异议：</a:t>
            </a:r>
          </a:p>
          <a:p>
            <a:r>
              <a:rPr lang="zh-CN" altLang="zh-CN" sz="1500" dirty="0">
                <a:solidFill>
                  <a:schemeClr val="tx1">
                    <a:lumMod val="65000"/>
                    <a:lumOff val="35000"/>
                  </a:schemeClr>
                </a:solidFill>
              </a:rPr>
              <a:t>   - 针对对象：</a:t>
            </a:r>
          </a:p>
          <a:p>
            <a:r>
              <a:rPr lang="zh-CN" altLang="zh-CN" sz="1500" dirty="0">
                <a:solidFill>
                  <a:schemeClr val="tx1">
                    <a:lumMod val="65000"/>
                    <a:lumOff val="35000"/>
                  </a:schemeClr>
                </a:solidFill>
              </a:rPr>
              <a:t>   - 证据原话：</a:t>
            </a:r>
          </a:p>
          <a:p>
            <a:endParaRPr lang="zh-CN" altLang="zh-CN" sz="1500" dirty="0">
              <a:solidFill>
                <a:schemeClr val="tx1">
                  <a:lumMod val="65000"/>
                  <a:lumOff val="35000"/>
                </a:schemeClr>
              </a:solidFill>
            </a:endParaRPr>
          </a:p>
          <a:p>
            <a:r>
              <a:rPr lang="zh-CN" altLang="zh-CN" sz="1500" dirty="0">
                <a:solidFill>
                  <a:schemeClr val="tx1">
                    <a:lumMod val="65000"/>
                    <a:lumOff val="35000"/>
                  </a:schemeClr>
                </a:solidFill>
              </a:rPr>
              <a:t>3. 下一步行动</a:t>
            </a:r>
          </a:p>
          <a:p>
            <a:r>
              <a:rPr lang="zh-CN" altLang="zh-CN" sz="1500" dirty="0">
                <a:solidFill>
                  <a:schemeClr val="tx1">
                    <a:lumMod val="65000"/>
                    <a:lumOff val="35000"/>
                  </a:schemeClr>
                </a:solidFill>
              </a:rPr>
              <a:t>   - 事项：</a:t>
            </a:r>
          </a:p>
          <a:p>
            <a:r>
              <a:rPr lang="zh-CN" altLang="zh-CN" sz="1500" dirty="0">
                <a:solidFill>
                  <a:schemeClr val="tx1">
                    <a:lumMod val="65000"/>
                    <a:lumOff val="35000"/>
                  </a:schemeClr>
                </a:solidFill>
              </a:rPr>
              <a:t>   - 责任人：</a:t>
            </a:r>
          </a:p>
          <a:p>
            <a:r>
              <a:rPr lang="zh-CN" altLang="zh-CN" sz="1500" dirty="0">
                <a:solidFill>
                  <a:schemeClr val="tx1">
                    <a:lumMod val="65000"/>
                    <a:lumOff val="35000"/>
                  </a:schemeClr>
                </a:solidFill>
              </a:rPr>
              <a:t>   - 截止时间：</a:t>
            </a:r>
          </a:p>
          <a:p>
            <a:r>
              <a:rPr lang="zh-CN" altLang="zh-CN" sz="1500" dirty="0">
                <a:solidFill>
                  <a:schemeClr val="tx1">
                    <a:lumMod val="65000"/>
                    <a:lumOff val="35000"/>
                  </a:schemeClr>
                </a:solidFill>
              </a:rPr>
              <a:t>   - 状态：已确认 / 待确认</a:t>
            </a:r>
          </a:p>
        </p:txBody>
      </p:sp>
      <p:sp>
        <p:nvSpPr>
          <p:cNvPr id="18" name="Shape 16"/>
          <p:cNvSpPr/>
          <p:nvPr/>
        </p:nvSpPr>
        <p:spPr>
          <a:xfrm>
            <a:off x="6484620" y="1572768"/>
            <a:ext cx="3429000" cy="4251960"/>
          </a:xfrm>
          <a:prstGeom prst="roundRect">
            <a:avLst>
              <a:gd name="adj" fmla="val 1333"/>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txBody>
          <a:bodyPr/>
          <a:lstStyle/>
          <a:p>
            <a:endParaRPr lang="zh-CN" altLang="en-US" dirty="0"/>
          </a:p>
        </p:txBody>
      </p:sp>
      <p:sp>
        <p:nvSpPr>
          <p:cNvPr id="19" name="Shape 17"/>
          <p:cNvSpPr/>
          <p:nvPr/>
        </p:nvSpPr>
        <p:spPr>
          <a:xfrm>
            <a:off x="6484620" y="1572768"/>
            <a:ext cx="64008" cy="4251960"/>
          </a:xfrm>
          <a:prstGeom prst="rect">
            <a:avLst/>
          </a:prstGeom>
          <a:solidFill>
            <a:srgbClr val="D18A38"/>
          </a:solidFill>
          <a:ln w="12700">
            <a:solidFill>
              <a:srgbClr val="D18A38"/>
            </a:solidFill>
            <a:prstDash val="solid"/>
          </a:ln>
        </p:spPr>
      </p:sp>
      <p:sp>
        <p:nvSpPr>
          <p:cNvPr id="20" name="Text 18"/>
          <p:cNvSpPr/>
          <p:nvPr/>
        </p:nvSpPr>
        <p:spPr>
          <a:xfrm>
            <a:off x="6731508" y="1783080"/>
            <a:ext cx="2953512" cy="347472"/>
          </a:xfrm>
          <a:prstGeom prst="rect">
            <a:avLst/>
          </a:prstGeom>
          <a:noFill/>
          <a:ln/>
        </p:spPr>
        <p:txBody>
          <a:bodyPr wrap="square" lIns="0" tIns="0" rIns="0" bIns="0" rtlCol="0" anchor="t">
            <a:normAutofit/>
          </a:bodyPr>
          <a:lstStyle/>
          <a:p>
            <a:pPr marL="0" indent="0" algn="l">
              <a:buNone/>
            </a:pPr>
            <a:r>
              <a:rPr lang="en-US" sz="1800" b="1" dirty="0" err="1">
                <a:solidFill>
                  <a:srgbClr val="20211F"/>
                </a:solidFill>
                <a:latin typeface="PingFang SC" pitchFamily="34" charset="0"/>
                <a:ea typeface="PingFang SC" pitchFamily="34" charset="-122"/>
                <a:cs typeface="PingFang SC" pitchFamily="34" charset="-120"/>
              </a:rPr>
              <a:t>示例与迭代</a:t>
            </a:r>
            <a:endParaRPr lang="en-US" sz="1800" dirty="0"/>
          </a:p>
        </p:txBody>
      </p:sp>
      <p:sp>
        <p:nvSpPr>
          <p:cNvPr id="21" name="Text 19"/>
          <p:cNvSpPr/>
          <p:nvPr/>
        </p:nvSpPr>
        <p:spPr>
          <a:xfrm>
            <a:off x="6731508" y="2295144"/>
            <a:ext cx="2935224" cy="3319272"/>
          </a:xfrm>
          <a:prstGeom prst="rect">
            <a:avLst/>
          </a:prstGeom>
          <a:noFill/>
          <a:ln/>
        </p:spPr>
        <p:txBody>
          <a:bodyPr wrap="square" lIns="0" tIns="0" rIns="0" bIns="0" rtlCol="0" anchor="t">
            <a:normAutofit/>
          </a:bodyPr>
          <a:lstStyle/>
          <a:p>
            <a:r>
              <a:rPr lang="zh-CN" altLang="zh-CN" sz="1400" dirty="0">
                <a:latin typeface="+mn-ea"/>
              </a:rPr>
              <a:t>模型需要通过什么样例理解边界？输出前后是否需要检查或补问？</a:t>
            </a:r>
            <a:endParaRPr lang="en-US" altLang="zh-CN" sz="1400" dirty="0">
              <a:latin typeface="+mn-ea"/>
            </a:endParaRPr>
          </a:p>
          <a:p>
            <a:endParaRPr lang="en-US" sz="1400" dirty="0">
              <a:solidFill>
                <a:srgbClr val="77766F"/>
              </a:solidFill>
              <a:latin typeface="+mn-ea"/>
              <a:cs typeface="PingFang SC" pitchFamily="34" charset="-120"/>
            </a:endParaRPr>
          </a:p>
          <a:p>
            <a:endParaRPr lang="en-US" sz="1400" dirty="0">
              <a:solidFill>
                <a:srgbClr val="77766F"/>
              </a:solidFill>
              <a:latin typeface="+mn-ea"/>
              <a:cs typeface="PingFang SC" pitchFamily="34" charset="-120"/>
            </a:endParaRPr>
          </a:p>
          <a:p>
            <a:r>
              <a:rPr lang="zh-CN" altLang="zh-CN" sz="1200" dirty="0">
                <a:solidFill>
                  <a:schemeClr val="tx1">
                    <a:lumMod val="65000"/>
                    <a:lumOff val="35000"/>
                  </a:schemeClr>
                </a:solidFill>
              </a:rPr>
              <a:t>如果转写中只出现“后续再约技术同学聊一下”，但没有责任人和时间，</a:t>
            </a:r>
          </a:p>
          <a:p>
            <a:r>
              <a:rPr lang="zh-CN" altLang="zh-CN" sz="1200" dirty="0">
                <a:solidFill>
                  <a:schemeClr val="tx1">
                    <a:lumMod val="65000"/>
                    <a:lumOff val="35000"/>
                  </a:schemeClr>
                </a:solidFill>
              </a:rPr>
              <a:t>应输出：</a:t>
            </a:r>
          </a:p>
          <a:p>
            <a:r>
              <a:rPr lang="zh-CN" altLang="zh-CN" sz="1200" dirty="0">
                <a:solidFill>
                  <a:schemeClr val="tx1">
                    <a:lumMod val="65000"/>
                    <a:lumOff val="35000"/>
                  </a:schemeClr>
                </a:solidFill>
              </a:rPr>
              <a:t>事项：安排技术沟通</a:t>
            </a:r>
          </a:p>
          <a:p>
            <a:r>
              <a:rPr lang="zh-CN" altLang="zh-CN" sz="1200" dirty="0">
                <a:solidFill>
                  <a:schemeClr val="tx1">
                    <a:lumMod val="65000"/>
                    <a:lumOff val="35000"/>
                  </a:schemeClr>
                </a:solidFill>
              </a:rPr>
              <a:t>责任人：待确认</a:t>
            </a:r>
          </a:p>
          <a:p>
            <a:r>
              <a:rPr lang="zh-CN" altLang="zh-CN" sz="1200" dirty="0">
                <a:solidFill>
                  <a:schemeClr val="tx1">
                    <a:lumMod val="65000"/>
                    <a:lumOff val="35000"/>
                  </a:schemeClr>
                </a:solidFill>
              </a:rPr>
              <a:t>截止时间：待确认</a:t>
            </a:r>
          </a:p>
          <a:p>
            <a:endParaRPr lang="en-US" sz="1400" dirty="0">
              <a:solidFill>
                <a:srgbClr val="77766F"/>
              </a:solidFill>
              <a:latin typeface="+mn-ea"/>
              <a:cs typeface="PingFang SC" pitchFamily="34" charset="-120"/>
            </a:endParaRPr>
          </a:p>
          <a:p>
            <a:pPr marL="0" indent="0" algn="l">
              <a:buNone/>
            </a:pPr>
            <a:endParaRPr lang="en-US" sz="1280" dirty="0">
              <a:solidFill>
                <a:srgbClr val="77766F"/>
              </a:solidFill>
              <a:latin typeface="PingFang SC" pitchFamily="34" charset="0"/>
              <a:ea typeface="PingFang SC" pitchFamily="34" charset="-122"/>
              <a:cs typeface="PingFang SC" pitchFamily="34" charset="-12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68E5E7BE-356A-B62C-C5BB-D77D526E99B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0BEF7C-ECBA-C478-79C6-B338908B15FC}"/>
              </a:ext>
            </a:extLst>
          </p:cNvPr>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a:extLst>
              <a:ext uri="{FF2B5EF4-FFF2-40B4-BE49-F238E27FC236}">
                <a16:creationId xmlns:a16="http://schemas.microsoft.com/office/drawing/2014/main" id="{CF30D2CF-D1E9-CCCE-7622-938B5336696D}"/>
              </a:ext>
            </a:extLst>
          </p:cNvPr>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27</a:t>
            </a:r>
            <a:endParaRPr lang="en-US" sz="900" dirty="0"/>
          </a:p>
        </p:txBody>
      </p:sp>
      <p:sp>
        <p:nvSpPr>
          <p:cNvPr id="4" name="Text 2">
            <a:extLst>
              <a:ext uri="{FF2B5EF4-FFF2-40B4-BE49-F238E27FC236}">
                <a16:creationId xmlns:a16="http://schemas.microsoft.com/office/drawing/2014/main" id="{B514FD1D-5945-CEBC-C331-0C7B8FAF7644}"/>
              </a:ext>
            </a:extLst>
          </p:cNvPr>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结构化Prompt六要素</a:t>
            </a:r>
            <a:endParaRPr lang="en-US" sz="950" dirty="0"/>
          </a:p>
        </p:txBody>
      </p:sp>
      <p:sp>
        <p:nvSpPr>
          <p:cNvPr id="5" name="Text 3">
            <a:extLst>
              <a:ext uri="{FF2B5EF4-FFF2-40B4-BE49-F238E27FC236}">
                <a16:creationId xmlns:a16="http://schemas.microsoft.com/office/drawing/2014/main" id="{A12A071D-95FD-C612-9998-A995072757D4}"/>
              </a:ext>
            </a:extLst>
          </p:cNvPr>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参考</a:t>
            </a:r>
            <a:endParaRPr lang="en-US" sz="2500" dirty="0"/>
          </a:p>
        </p:txBody>
      </p:sp>
      <p:sp>
        <p:nvSpPr>
          <p:cNvPr id="6" name="Shape 4">
            <a:extLst>
              <a:ext uri="{FF2B5EF4-FFF2-40B4-BE49-F238E27FC236}">
                <a16:creationId xmlns:a16="http://schemas.microsoft.com/office/drawing/2014/main" id="{3523FBDD-46EB-4129-D754-4AD848915C52}"/>
              </a:ext>
            </a:extLst>
          </p:cNvPr>
          <p:cNvSpPr/>
          <p:nvPr/>
        </p:nvSpPr>
        <p:spPr>
          <a:xfrm>
            <a:off x="566928" y="1298448"/>
            <a:ext cx="11018520" cy="0"/>
          </a:xfrm>
          <a:prstGeom prst="line">
            <a:avLst/>
          </a:prstGeom>
          <a:noFill/>
          <a:ln w="12700">
            <a:solidFill>
              <a:srgbClr val="D8D0C2"/>
            </a:solidFill>
            <a:prstDash val="solid"/>
          </a:ln>
        </p:spPr>
      </p:sp>
      <p:sp>
        <p:nvSpPr>
          <p:cNvPr id="7" name="Text 5">
            <a:extLst>
              <a:ext uri="{FF2B5EF4-FFF2-40B4-BE49-F238E27FC236}">
                <a16:creationId xmlns:a16="http://schemas.microsoft.com/office/drawing/2014/main" id="{2EBCB934-F1ED-F00D-CA46-61257FD3B05E}"/>
              </a:ext>
            </a:extLst>
          </p:cNvPr>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a:extLst>
              <a:ext uri="{FF2B5EF4-FFF2-40B4-BE49-F238E27FC236}">
                <a16:creationId xmlns:a16="http://schemas.microsoft.com/office/drawing/2014/main" id="{CDDB9545-3653-EC95-0AC0-FB9AC4F5A9FB}"/>
              </a:ext>
            </a:extLst>
          </p:cNvPr>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05 结构化Prompt六要素</a:t>
            </a:r>
            <a:endParaRPr lang="en-US" sz="800" dirty="0"/>
          </a:p>
        </p:txBody>
      </p:sp>
      <p:sp>
        <p:nvSpPr>
          <p:cNvPr id="9" name="Text 7">
            <a:extLst>
              <a:ext uri="{FF2B5EF4-FFF2-40B4-BE49-F238E27FC236}">
                <a16:creationId xmlns:a16="http://schemas.microsoft.com/office/drawing/2014/main" id="{D31EE131-2E09-AD69-B479-440AC2F25F50}"/>
              </a:ext>
            </a:extLst>
          </p:cNvPr>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27</a:t>
            </a:r>
            <a:endParaRPr lang="en-US" sz="850" dirty="0"/>
          </a:p>
        </p:txBody>
      </p:sp>
      <p:sp>
        <p:nvSpPr>
          <p:cNvPr id="10" name="Shape 8">
            <a:extLst>
              <a:ext uri="{FF2B5EF4-FFF2-40B4-BE49-F238E27FC236}">
                <a16:creationId xmlns:a16="http://schemas.microsoft.com/office/drawing/2014/main" id="{DF33D6C0-76E3-E902-F12E-C5A1F8CA0306}"/>
              </a:ext>
            </a:extLst>
          </p:cNvPr>
          <p:cNvSpPr/>
          <p:nvPr/>
        </p:nvSpPr>
        <p:spPr>
          <a:xfrm>
            <a:off x="4271772" y="1417318"/>
            <a:ext cx="3648456" cy="4928601"/>
          </a:xfrm>
          <a:prstGeom prst="roundRect">
            <a:avLst>
              <a:gd name="adj" fmla="val 1333"/>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a:extLst>
              <a:ext uri="{FF2B5EF4-FFF2-40B4-BE49-F238E27FC236}">
                <a16:creationId xmlns:a16="http://schemas.microsoft.com/office/drawing/2014/main" id="{328A7B34-CDD9-C19D-96E2-4C8F39C1A795}"/>
              </a:ext>
            </a:extLst>
          </p:cNvPr>
          <p:cNvSpPr/>
          <p:nvPr/>
        </p:nvSpPr>
        <p:spPr>
          <a:xfrm>
            <a:off x="4271772" y="1417318"/>
            <a:ext cx="64008" cy="4928601"/>
          </a:xfrm>
          <a:prstGeom prst="rect">
            <a:avLst/>
          </a:prstGeom>
          <a:solidFill>
            <a:srgbClr val="405D78"/>
          </a:solidFill>
          <a:ln w="12700">
            <a:solidFill>
              <a:srgbClr val="405D78"/>
            </a:solidFill>
            <a:prstDash val="solid"/>
          </a:ln>
        </p:spPr>
      </p:sp>
      <p:sp>
        <p:nvSpPr>
          <p:cNvPr id="21" name="Text 19">
            <a:extLst>
              <a:ext uri="{FF2B5EF4-FFF2-40B4-BE49-F238E27FC236}">
                <a16:creationId xmlns:a16="http://schemas.microsoft.com/office/drawing/2014/main" id="{DB0C83B8-B861-1A31-51B5-2D0C633ACE9D}"/>
              </a:ext>
            </a:extLst>
          </p:cNvPr>
          <p:cNvSpPr/>
          <p:nvPr/>
        </p:nvSpPr>
        <p:spPr>
          <a:xfrm>
            <a:off x="4519676" y="1655066"/>
            <a:ext cx="3184144" cy="3799329"/>
          </a:xfrm>
          <a:prstGeom prst="rect">
            <a:avLst/>
          </a:prstGeom>
          <a:noFill/>
          <a:ln/>
        </p:spPr>
        <p:txBody>
          <a:bodyPr wrap="square" lIns="0" tIns="0" rIns="0" bIns="0" rtlCol="0" anchor="t">
            <a:noAutofit/>
          </a:bodyPr>
          <a:lstStyle/>
          <a:p>
            <a:r>
              <a:rPr lang="zh-CN" altLang="zh-CN" sz="1200" dirty="0"/>
              <a:t>【角色与能力】</a:t>
            </a:r>
          </a:p>
          <a:p>
            <a:r>
              <a:rPr lang="zh-CN" altLang="zh-CN" sz="1200" dirty="0"/>
              <a:t>你是________，负责________。</a:t>
            </a:r>
          </a:p>
          <a:p>
            <a:endParaRPr lang="zh-CN" altLang="zh-CN" sz="1200" dirty="0"/>
          </a:p>
          <a:p>
            <a:r>
              <a:rPr lang="zh-CN" altLang="zh-CN" sz="1200" dirty="0"/>
              <a:t>【任务目标】</a:t>
            </a:r>
          </a:p>
          <a:p>
            <a:r>
              <a:rPr lang="zh-CN" altLang="zh-CN" sz="1200" dirty="0"/>
              <a:t>请根据________，完成________，结果用于________。</a:t>
            </a:r>
          </a:p>
          <a:p>
            <a:endParaRPr lang="zh-CN" altLang="zh-CN" sz="1200" dirty="0"/>
          </a:p>
          <a:p>
            <a:r>
              <a:rPr lang="zh-CN" altLang="zh-CN" sz="1200" dirty="0"/>
              <a:t>【业务背景与输入材料】</a:t>
            </a:r>
          </a:p>
          <a:p>
            <a:r>
              <a:rPr lang="zh-CN" altLang="zh-CN" sz="1200" dirty="0"/>
              <a:t>业务背景：________</a:t>
            </a:r>
          </a:p>
          <a:p>
            <a:r>
              <a:rPr lang="zh-CN" altLang="zh-CN" sz="1200" dirty="0"/>
              <a:t>输入1：{{________}}</a:t>
            </a:r>
          </a:p>
          <a:p>
            <a:r>
              <a:rPr lang="zh-CN" altLang="zh-CN" sz="1200" dirty="0"/>
              <a:t>输入2：{{________}}</a:t>
            </a:r>
          </a:p>
          <a:p>
            <a:endParaRPr lang="zh-CN" altLang="zh-CN" sz="1200" dirty="0"/>
          </a:p>
          <a:p>
            <a:r>
              <a:rPr lang="zh-CN" altLang="zh-CN" sz="1200" dirty="0"/>
              <a:t>【规则与约束】</a:t>
            </a:r>
          </a:p>
          <a:p>
            <a:r>
              <a:rPr lang="zh-CN" altLang="zh-CN" sz="1200" dirty="0"/>
              <a:t>1. ________</a:t>
            </a:r>
          </a:p>
          <a:p>
            <a:r>
              <a:rPr lang="zh-CN" altLang="zh-CN" sz="1200" dirty="0"/>
              <a:t>2. ________</a:t>
            </a:r>
          </a:p>
          <a:p>
            <a:r>
              <a:rPr lang="zh-CN" altLang="zh-CN" sz="1200" dirty="0"/>
              <a:t>3. 信息不足时________</a:t>
            </a:r>
          </a:p>
          <a:p>
            <a:endParaRPr lang="zh-CN" altLang="zh-CN" sz="1200" dirty="0"/>
          </a:p>
          <a:p>
            <a:r>
              <a:rPr lang="zh-CN" altLang="zh-CN" sz="1200" dirty="0"/>
              <a:t>【输出格式与验收标准】</a:t>
            </a:r>
          </a:p>
          <a:p>
            <a:r>
              <a:rPr lang="zh-CN" altLang="zh-CN" sz="1200" dirty="0"/>
              <a:t>请输出________，至少包含________。</a:t>
            </a:r>
          </a:p>
          <a:p>
            <a:r>
              <a:rPr lang="zh-CN" altLang="zh-CN" sz="1200" dirty="0"/>
              <a:t>每项结果需要满足________。</a:t>
            </a:r>
          </a:p>
          <a:p>
            <a:endParaRPr lang="zh-CN" altLang="zh-CN" sz="1200" dirty="0"/>
          </a:p>
          <a:p>
            <a:r>
              <a:rPr lang="zh-CN" altLang="zh-CN" sz="1200" dirty="0"/>
              <a:t>【示例与迭代要求】</a:t>
            </a:r>
          </a:p>
          <a:p>
            <a:r>
              <a:rPr lang="zh-CN" altLang="zh-CN" sz="1200" dirty="0"/>
              <a:t>示例：________</a:t>
            </a:r>
          </a:p>
          <a:p>
            <a:r>
              <a:rPr lang="zh-CN" altLang="zh-CN" sz="1200" dirty="0"/>
              <a:t>输出前请检查：________</a:t>
            </a:r>
          </a:p>
        </p:txBody>
      </p:sp>
    </p:spTree>
    <p:extLst>
      <p:ext uri="{BB962C8B-B14F-4D97-AF65-F5344CB8AC3E}">
        <p14:creationId xmlns:p14="http://schemas.microsoft.com/office/powerpoint/2010/main" val="28335827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3">
    <p:bg>
      <p:bgPr>
        <a:solidFill>
          <a:srgbClr val="1D1E1C"/>
        </a:solidFill>
        <a:effectLst/>
      </p:bgPr>
    </p:bg>
    <p:spTree>
      <p:nvGrpSpPr>
        <p:cNvPr id="1" name=""/>
        <p:cNvGrpSpPr/>
        <p:nvPr/>
      </p:nvGrpSpPr>
      <p:grpSpPr>
        <a:xfrm>
          <a:off x="0" y="0"/>
          <a:ext cx="0" cy="0"/>
          <a:chOff x="0" y="0"/>
          <a:chExt cx="0" cy="0"/>
        </a:xfrm>
      </p:grpSpPr>
      <p:sp>
        <p:nvSpPr>
          <p:cNvPr id="2" name="Text 0"/>
          <p:cNvSpPr/>
          <p:nvPr/>
        </p:nvSpPr>
        <p:spPr>
          <a:xfrm>
            <a:off x="749808" y="841248"/>
            <a:ext cx="5029200" cy="594360"/>
          </a:xfrm>
          <a:prstGeom prst="rect">
            <a:avLst/>
          </a:prstGeom>
          <a:noFill/>
          <a:ln/>
        </p:spPr>
        <p:txBody>
          <a:bodyPr wrap="square" lIns="0" tIns="0" rIns="0" bIns="0" rtlCol="0" anchor="t">
            <a:normAutofit/>
          </a:bodyPr>
          <a:lstStyle/>
          <a:p>
            <a:pPr marL="0" indent="0" algn="l">
              <a:buNone/>
            </a:pPr>
            <a:r>
              <a:rPr lang="en-US" sz="3400" b="1" dirty="0">
                <a:solidFill>
                  <a:srgbClr val="FFFFFF"/>
                </a:solidFill>
                <a:latin typeface="PingFang SC" pitchFamily="34" charset="0"/>
                <a:ea typeface="PingFang SC" pitchFamily="34" charset="-122"/>
                <a:cs typeface="PingFang SC" pitchFamily="34" charset="-120"/>
              </a:rPr>
              <a:t>休息 5 分钟</a:t>
            </a:r>
            <a:endParaRPr lang="en-US" sz="3400" dirty="0"/>
          </a:p>
        </p:txBody>
      </p:sp>
      <p:sp>
        <p:nvSpPr>
          <p:cNvPr id="3" name="Text 1"/>
          <p:cNvSpPr/>
          <p:nvPr/>
        </p:nvSpPr>
        <p:spPr>
          <a:xfrm>
            <a:off x="786384" y="1691640"/>
            <a:ext cx="6858000" cy="365760"/>
          </a:xfrm>
          <a:prstGeom prst="rect">
            <a:avLst/>
          </a:prstGeom>
          <a:noFill/>
          <a:ln/>
        </p:spPr>
        <p:txBody>
          <a:bodyPr wrap="square" lIns="0" tIns="0" rIns="0" bIns="0" rtlCol="0" anchor="t">
            <a:normAutofit/>
          </a:bodyPr>
          <a:lstStyle/>
          <a:p>
            <a:pPr marL="0" indent="0" algn="l">
              <a:buNone/>
            </a:pPr>
            <a:r>
              <a:rPr lang="en-US" sz="1700" dirty="0">
                <a:solidFill>
                  <a:srgbClr val="D9D4CC"/>
                </a:solidFill>
                <a:latin typeface="PingFang SC" pitchFamily="34" charset="0"/>
                <a:ea typeface="PingFang SC" pitchFamily="34" charset="-122"/>
                <a:cs typeface="PingFang SC" pitchFamily="34" charset="-120"/>
              </a:rPr>
              <a:t>回来后：把Prompt变成产品</a:t>
            </a:r>
            <a:endParaRPr lang="en-US" sz="1700" dirty="0"/>
          </a:p>
        </p:txBody>
      </p:sp>
      <p:sp>
        <p:nvSpPr>
          <p:cNvPr id="4" name="Text 2"/>
          <p:cNvSpPr/>
          <p:nvPr/>
        </p:nvSpPr>
        <p:spPr>
          <a:xfrm>
            <a:off x="8001000" y="822960"/>
            <a:ext cx="3200400" cy="914400"/>
          </a:xfrm>
          <a:prstGeom prst="rect">
            <a:avLst/>
          </a:prstGeom>
          <a:noFill/>
          <a:ln/>
        </p:spPr>
        <p:txBody>
          <a:bodyPr wrap="square" lIns="0" tIns="0" rIns="0" bIns="0" rtlCol="0" anchor="t">
            <a:normAutofit/>
          </a:bodyPr>
          <a:lstStyle/>
          <a:p>
            <a:pPr marL="0" indent="0" algn="r">
              <a:buNone/>
            </a:pPr>
            <a:r>
              <a:rPr lang="en-US" sz="5500" b="1" dirty="0">
                <a:solidFill>
                  <a:srgbClr val="E09A78"/>
                </a:solidFill>
                <a:latin typeface="PingFang SC" pitchFamily="34" charset="0"/>
                <a:ea typeface="PingFang SC" pitchFamily="34" charset="-122"/>
                <a:cs typeface="PingFang SC" pitchFamily="34" charset="-120"/>
              </a:rPr>
              <a:t>05:00</a:t>
            </a:r>
            <a:endParaRPr lang="en-US" sz="5500" dirty="0"/>
          </a:p>
        </p:txBody>
      </p:sp>
      <p:sp>
        <p:nvSpPr>
          <p:cNvPr id="5" name="Shape 3"/>
          <p:cNvSpPr/>
          <p:nvPr/>
        </p:nvSpPr>
        <p:spPr>
          <a:xfrm>
            <a:off x="777240" y="2788920"/>
            <a:ext cx="10424160" cy="0"/>
          </a:xfrm>
          <a:prstGeom prst="line">
            <a:avLst/>
          </a:prstGeom>
          <a:noFill/>
          <a:ln w="12700">
            <a:solidFill>
              <a:srgbClr val="4A4B48"/>
            </a:solidFill>
            <a:prstDash val="solid"/>
          </a:ln>
        </p:spPr>
      </p:sp>
      <p:sp>
        <p:nvSpPr>
          <p:cNvPr id="6" name="Text 4"/>
          <p:cNvSpPr/>
          <p:nvPr/>
        </p:nvSpPr>
        <p:spPr>
          <a:xfrm>
            <a:off x="804672" y="2999232"/>
            <a:ext cx="502920" cy="201168"/>
          </a:xfrm>
          <a:prstGeom prst="rect">
            <a:avLst/>
          </a:prstGeom>
          <a:noFill/>
          <a:ln/>
        </p:spPr>
        <p:txBody>
          <a:bodyPr wrap="square" lIns="0" tIns="0" rIns="0" bIns="0" rtlCol="0" anchor="t">
            <a:normAutofit/>
          </a:bodyPr>
          <a:lstStyle/>
          <a:p>
            <a:pPr marL="0" indent="0" algn="l">
              <a:buNone/>
            </a:pPr>
            <a:r>
              <a:rPr lang="en-US" sz="1000" b="1" dirty="0">
                <a:solidFill>
                  <a:srgbClr val="E09A78"/>
                </a:solidFill>
                <a:latin typeface="PingFang SC" pitchFamily="34" charset="0"/>
                <a:ea typeface="PingFang SC" pitchFamily="34" charset="-122"/>
                <a:cs typeface="PingFang SC" pitchFamily="34" charset="-120"/>
              </a:rPr>
              <a:t>01</a:t>
            </a:r>
            <a:endParaRPr lang="en-US" sz="1000" dirty="0"/>
          </a:p>
        </p:txBody>
      </p:sp>
      <p:sp>
        <p:nvSpPr>
          <p:cNvPr id="7" name="Text 5"/>
          <p:cNvSpPr/>
          <p:nvPr/>
        </p:nvSpPr>
        <p:spPr>
          <a:xfrm>
            <a:off x="1554480" y="2944368"/>
            <a:ext cx="2057400" cy="292608"/>
          </a:xfrm>
          <a:prstGeom prst="rect">
            <a:avLst/>
          </a:prstGeom>
          <a:noFill/>
          <a:ln/>
        </p:spPr>
        <p:txBody>
          <a:bodyPr wrap="square" lIns="0" tIns="0" rIns="0" bIns="0" rtlCol="0" anchor="t">
            <a:normAutofit/>
          </a:bodyPr>
          <a:lstStyle/>
          <a:p>
            <a:pPr marL="0" indent="0" algn="l">
              <a:buNone/>
            </a:pPr>
            <a:r>
              <a:rPr lang="en-US" sz="1420" b="1" dirty="0">
                <a:solidFill>
                  <a:srgbClr val="FFFFFF"/>
                </a:solidFill>
                <a:latin typeface="PingFang SC" pitchFamily="34" charset="0"/>
                <a:ea typeface="PingFang SC" pitchFamily="34" charset="-122"/>
                <a:cs typeface="PingFang SC" pitchFamily="34" charset="-120"/>
              </a:rPr>
              <a:t>保存V0.2</a:t>
            </a:r>
            <a:endParaRPr lang="en-US" sz="1420" dirty="0"/>
          </a:p>
        </p:txBody>
      </p:sp>
      <p:sp>
        <p:nvSpPr>
          <p:cNvPr id="8" name="Text 6"/>
          <p:cNvSpPr/>
          <p:nvPr/>
        </p:nvSpPr>
        <p:spPr>
          <a:xfrm>
            <a:off x="3822192" y="2962656"/>
            <a:ext cx="7086600" cy="310896"/>
          </a:xfrm>
          <a:prstGeom prst="rect">
            <a:avLst/>
          </a:prstGeom>
          <a:noFill/>
          <a:ln/>
        </p:spPr>
        <p:txBody>
          <a:bodyPr wrap="square" lIns="0" tIns="0" rIns="0" bIns="0" rtlCol="0" anchor="t">
            <a:normAutofit/>
          </a:bodyPr>
          <a:lstStyle/>
          <a:p>
            <a:pPr marL="0" indent="0" algn="l">
              <a:buNone/>
            </a:pPr>
            <a:r>
              <a:rPr lang="en-US" sz="1220" dirty="0">
                <a:solidFill>
                  <a:srgbClr val="C7C4BE"/>
                </a:solidFill>
                <a:latin typeface="PingFang SC" pitchFamily="34" charset="0"/>
                <a:ea typeface="PingFang SC" pitchFamily="34" charset="-122"/>
                <a:cs typeface="PingFang SC" pitchFamily="34" charset="-120"/>
              </a:rPr>
              <a:t>保留刚才的关键骨架</a:t>
            </a:r>
            <a:endParaRPr lang="en-US" sz="1220" dirty="0"/>
          </a:p>
        </p:txBody>
      </p:sp>
      <p:sp>
        <p:nvSpPr>
          <p:cNvPr id="9" name="Shape 7"/>
          <p:cNvSpPr/>
          <p:nvPr/>
        </p:nvSpPr>
        <p:spPr>
          <a:xfrm>
            <a:off x="777240" y="3721608"/>
            <a:ext cx="10424160" cy="0"/>
          </a:xfrm>
          <a:prstGeom prst="line">
            <a:avLst/>
          </a:prstGeom>
          <a:noFill/>
          <a:ln w="12700">
            <a:solidFill>
              <a:srgbClr val="4A4B48"/>
            </a:solidFill>
            <a:prstDash val="solid"/>
          </a:ln>
        </p:spPr>
      </p:sp>
      <p:sp>
        <p:nvSpPr>
          <p:cNvPr id="10" name="Text 8"/>
          <p:cNvSpPr/>
          <p:nvPr/>
        </p:nvSpPr>
        <p:spPr>
          <a:xfrm>
            <a:off x="804672" y="3931920"/>
            <a:ext cx="502920" cy="201168"/>
          </a:xfrm>
          <a:prstGeom prst="rect">
            <a:avLst/>
          </a:prstGeom>
          <a:noFill/>
          <a:ln/>
        </p:spPr>
        <p:txBody>
          <a:bodyPr wrap="square" lIns="0" tIns="0" rIns="0" bIns="0" rtlCol="0" anchor="t">
            <a:normAutofit/>
          </a:bodyPr>
          <a:lstStyle/>
          <a:p>
            <a:pPr marL="0" indent="0" algn="l">
              <a:buNone/>
            </a:pPr>
            <a:r>
              <a:rPr lang="en-US" sz="1000" b="1" dirty="0">
                <a:solidFill>
                  <a:srgbClr val="E09A78"/>
                </a:solidFill>
                <a:latin typeface="PingFang SC" pitchFamily="34" charset="0"/>
                <a:ea typeface="PingFang SC" pitchFamily="34" charset="-122"/>
                <a:cs typeface="PingFang SC" pitchFamily="34" charset="-120"/>
              </a:rPr>
              <a:t>02</a:t>
            </a:r>
            <a:endParaRPr lang="en-US" sz="1000" dirty="0"/>
          </a:p>
        </p:txBody>
      </p:sp>
      <p:sp>
        <p:nvSpPr>
          <p:cNvPr id="11" name="Text 9"/>
          <p:cNvSpPr/>
          <p:nvPr/>
        </p:nvSpPr>
        <p:spPr>
          <a:xfrm>
            <a:off x="1554480" y="3877056"/>
            <a:ext cx="2057400" cy="292608"/>
          </a:xfrm>
          <a:prstGeom prst="rect">
            <a:avLst/>
          </a:prstGeom>
          <a:noFill/>
          <a:ln/>
        </p:spPr>
        <p:txBody>
          <a:bodyPr wrap="square" lIns="0" tIns="0" rIns="0" bIns="0" rtlCol="0" anchor="t">
            <a:normAutofit/>
          </a:bodyPr>
          <a:lstStyle/>
          <a:p>
            <a:pPr marL="0" indent="0" algn="l">
              <a:buNone/>
            </a:pPr>
            <a:r>
              <a:rPr lang="en-US" sz="1420" b="1" dirty="0">
                <a:solidFill>
                  <a:srgbClr val="FFFFFF"/>
                </a:solidFill>
                <a:latin typeface="PingFang SC" pitchFamily="34" charset="0"/>
                <a:ea typeface="PingFang SC" pitchFamily="34" charset="-122"/>
                <a:cs typeface="PingFang SC" pitchFamily="34" charset="-120"/>
              </a:rPr>
              <a:t>打开课堂设计单</a:t>
            </a:r>
            <a:endParaRPr lang="en-US" sz="1420" dirty="0"/>
          </a:p>
        </p:txBody>
      </p:sp>
      <p:sp>
        <p:nvSpPr>
          <p:cNvPr id="12" name="Text 10"/>
          <p:cNvSpPr/>
          <p:nvPr/>
        </p:nvSpPr>
        <p:spPr>
          <a:xfrm>
            <a:off x="3822192" y="3895344"/>
            <a:ext cx="7086600" cy="310896"/>
          </a:xfrm>
          <a:prstGeom prst="rect">
            <a:avLst/>
          </a:prstGeom>
          <a:noFill/>
          <a:ln/>
        </p:spPr>
        <p:txBody>
          <a:bodyPr wrap="square" lIns="0" tIns="0" rIns="0" bIns="0" rtlCol="0" anchor="t">
            <a:normAutofit/>
          </a:bodyPr>
          <a:lstStyle/>
          <a:p>
            <a:pPr marL="0" indent="0" algn="l">
              <a:buNone/>
            </a:pPr>
            <a:r>
              <a:rPr lang="en-US" sz="1040" dirty="0">
                <a:solidFill>
                  <a:srgbClr val="C7C4BE"/>
                </a:solidFill>
                <a:latin typeface="PingFang SC" pitchFamily="34" charset="0"/>
                <a:ea typeface="PingFang SC" pitchFamily="34" charset="-122"/>
                <a:cs typeface="PingFang SC" pitchFamily="34" charset="-120"/>
              </a:rPr>
              <a:t>06_课堂练习与作业材料 / 01_Prompt产品化设计单_课堂版.md</a:t>
            </a:r>
            <a:endParaRPr lang="en-US" sz="1040" dirty="0"/>
          </a:p>
        </p:txBody>
      </p:sp>
      <p:sp>
        <p:nvSpPr>
          <p:cNvPr id="13" name="Shape 11"/>
          <p:cNvSpPr/>
          <p:nvPr/>
        </p:nvSpPr>
        <p:spPr>
          <a:xfrm>
            <a:off x="777240" y="4654296"/>
            <a:ext cx="10424160" cy="0"/>
          </a:xfrm>
          <a:prstGeom prst="line">
            <a:avLst/>
          </a:prstGeom>
          <a:noFill/>
          <a:ln w="12700">
            <a:solidFill>
              <a:srgbClr val="4A4B48"/>
            </a:solidFill>
            <a:prstDash val="solid"/>
          </a:ln>
        </p:spPr>
      </p:sp>
      <p:sp>
        <p:nvSpPr>
          <p:cNvPr id="14" name="Text 12"/>
          <p:cNvSpPr/>
          <p:nvPr/>
        </p:nvSpPr>
        <p:spPr>
          <a:xfrm>
            <a:off x="804672" y="4864608"/>
            <a:ext cx="502920" cy="201168"/>
          </a:xfrm>
          <a:prstGeom prst="rect">
            <a:avLst/>
          </a:prstGeom>
          <a:noFill/>
          <a:ln/>
        </p:spPr>
        <p:txBody>
          <a:bodyPr wrap="square" lIns="0" tIns="0" rIns="0" bIns="0" rtlCol="0" anchor="t">
            <a:normAutofit/>
          </a:bodyPr>
          <a:lstStyle/>
          <a:p>
            <a:pPr marL="0" indent="0" algn="l">
              <a:buNone/>
            </a:pPr>
            <a:r>
              <a:rPr lang="en-US" sz="1000" b="1" dirty="0">
                <a:solidFill>
                  <a:srgbClr val="E09A78"/>
                </a:solidFill>
                <a:latin typeface="PingFang SC" pitchFamily="34" charset="0"/>
                <a:ea typeface="PingFang SC" pitchFamily="34" charset="-122"/>
                <a:cs typeface="PingFang SC" pitchFamily="34" charset="-120"/>
              </a:rPr>
              <a:t>03</a:t>
            </a:r>
            <a:endParaRPr lang="en-US" sz="1000" dirty="0"/>
          </a:p>
        </p:txBody>
      </p:sp>
      <p:sp>
        <p:nvSpPr>
          <p:cNvPr id="15" name="Text 13"/>
          <p:cNvSpPr/>
          <p:nvPr/>
        </p:nvSpPr>
        <p:spPr>
          <a:xfrm>
            <a:off x="1554480" y="4809744"/>
            <a:ext cx="2057400" cy="292608"/>
          </a:xfrm>
          <a:prstGeom prst="rect">
            <a:avLst/>
          </a:prstGeom>
          <a:noFill/>
          <a:ln/>
        </p:spPr>
        <p:txBody>
          <a:bodyPr wrap="square" lIns="0" tIns="0" rIns="0" bIns="0" rtlCol="0" anchor="t">
            <a:normAutofit/>
          </a:bodyPr>
          <a:lstStyle/>
          <a:p>
            <a:pPr marL="0" indent="0" algn="l">
              <a:buNone/>
            </a:pPr>
            <a:r>
              <a:rPr lang="en-US" sz="1420" b="1" dirty="0">
                <a:solidFill>
                  <a:srgbClr val="FFFFFF"/>
                </a:solidFill>
                <a:latin typeface="PingFang SC" pitchFamily="34" charset="0"/>
                <a:ea typeface="PingFang SC" pitchFamily="34" charset="-122"/>
                <a:cs typeface="PingFang SC" pitchFamily="34" charset="-120"/>
              </a:rPr>
              <a:t>打开案例转写</a:t>
            </a:r>
            <a:endParaRPr lang="en-US" sz="1420" dirty="0"/>
          </a:p>
        </p:txBody>
      </p:sp>
      <p:sp>
        <p:nvSpPr>
          <p:cNvPr id="16" name="Text 14"/>
          <p:cNvSpPr/>
          <p:nvPr/>
        </p:nvSpPr>
        <p:spPr>
          <a:xfrm>
            <a:off x="3822192" y="4828032"/>
            <a:ext cx="7086600" cy="310896"/>
          </a:xfrm>
          <a:prstGeom prst="rect">
            <a:avLst/>
          </a:prstGeom>
          <a:noFill/>
          <a:ln/>
        </p:spPr>
        <p:txBody>
          <a:bodyPr wrap="square" lIns="0" tIns="0" rIns="0" bIns="0" rtlCol="0" anchor="t">
            <a:normAutofit/>
          </a:bodyPr>
          <a:lstStyle/>
          <a:p>
            <a:pPr marL="0" indent="0" algn="l">
              <a:buNone/>
            </a:pPr>
            <a:r>
              <a:rPr lang="en-US" sz="1040" dirty="0">
                <a:solidFill>
                  <a:srgbClr val="C7C4BE"/>
                </a:solidFill>
                <a:latin typeface="PingFang SC" pitchFamily="34" charset="0"/>
                <a:ea typeface="PingFang SC" pitchFamily="34" charset="-122"/>
                <a:cs typeface="PingFang SC" pitchFamily="34" charset="-120"/>
              </a:rPr>
              <a:t>06_课堂练习与作业材料 / 03_销售案例背景与转写_学员版.md</a:t>
            </a:r>
            <a:endParaRPr lang="en-US" sz="104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1D7D4BBA-5614-BD8D-4D65-97FFF17EF0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F97F000-2E78-90C4-6030-9E234C5DDC7C}"/>
              </a:ext>
            </a:extLst>
          </p:cNvPr>
          <p:cNvSpPr/>
          <p:nvPr/>
        </p:nvSpPr>
        <p:spPr>
          <a:xfrm>
            <a:off x="0" y="0"/>
            <a:ext cx="201168" cy="6858000"/>
          </a:xfrm>
          <a:prstGeom prst="rect">
            <a:avLst/>
          </a:prstGeom>
          <a:solidFill>
            <a:srgbClr val="C35331"/>
          </a:solidFill>
          <a:ln w="12700">
            <a:solidFill>
              <a:srgbClr val="C35331"/>
            </a:solidFill>
            <a:prstDash val="solid"/>
          </a:ln>
        </p:spPr>
      </p:sp>
      <p:sp>
        <p:nvSpPr>
          <p:cNvPr id="4" name="Text 2">
            <a:extLst>
              <a:ext uri="{FF2B5EF4-FFF2-40B4-BE49-F238E27FC236}">
                <a16:creationId xmlns:a16="http://schemas.microsoft.com/office/drawing/2014/main" id="{3AB48D11-3F05-4FFC-988C-C12C40B5A2BC}"/>
              </a:ext>
            </a:extLst>
          </p:cNvPr>
          <p:cNvSpPr/>
          <p:nvPr/>
        </p:nvSpPr>
        <p:spPr>
          <a:xfrm>
            <a:off x="795528" y="3113532"/>
            <a:ext cx="7863840" cy="621792"/>
          </a:xfrm>
          <a:prstGeom prst="rect">
            <a:avLst/>
          </a:prstGeom>
          <a:noFill/>
          <a:ln/>
        </p:spPr>
        <p:txBody>
          <a:bodyPr wrap="square" lIns="0" tIns="0" rIns="0" bIns="0" rtlCol="0" anchor="t">
            <a:normAutofit/>
          </a:bodyPr>
          <a:lstStyle/>
          <a:p>
            <a:pPr fontAlgn="auto"/>
            <a:r>
              <a:rPr lang="zh-CN" altLang="en-US" sz="3600" b="1" dirty="0"/>
              <a:t>从</a:t>
            </a:r>
            <a:r>
              <a:rPr lang="zh-CN" altLang="zh-CN" sz="3600" b="1" dirty="0"/>
              <a:t>Prompt</a:t>
            </a:r>
            <a:r>
              <a:rPr lang="zh-CN" altLang="en-US" sz="3600" b="1" dirty="0"/>
              <a:t>到产品</a:t>
            </a:r>
            <a:endParaRPr lang="zh-CN" altLang="zh-CN" sz="3600" b="1" dirty="0"/>
          </a:p>
        </p:txBody>
      </p:sp>
      <p:sp>
        <p:nvSpPr>
          <p:cNvPr id="6" name="Shape 4">
            <a:extLst>
              <a:ext uri="{FF2B5EF4-FFF2-40B4-BE49-F238E27FC236}">
                <a16:creationId xmlns:a16="http://schemas.microsoft.com/office/drawing/2014/main" id="{35E11D06-734F-3D31-B410-EB5F39B6912E}"/>
              </a:ext>
            </a:extLst>
          </p:cNvPr>
          <p:cNvSpPr/>
          <p:nvPr/>
        </p:nvSpPr>
        <p:spPr>
          <a:xfrm>
            <a:off x="841248" y="3822192"/>
            <a:ext cx="2743200" cy="0"/>
          </a:xfrm>
          <a:prstGeom prst="line">
            <a:avLst/>
          </a:prstGeom>
          <a:noFill/>
          <a:ln w="38100">
            <a:solidFill>
              <a:srgbClr val="C35331"/>
            </a:solidFill>
            <a:prstDash val="solid"/>
          </a:ln>
        </p:spPr>
      </p:sp>
    </p:spTree>
    <p:extLst>
      <p:ext uri="{BB962C8B-B14F-4D97-AF65-F5344CB8AC3E}">
        <p14:creationId xmlns:p14="http://schemas.microsoft.com/office/powerpoint/2010/main" val="5914644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4">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31</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从Prompt到产品</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如果每位销售都要自己补完整Prompt，产品解决了什么？</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06 从Prompt到产品</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31</a:t>
            </a:r>
            <a:endParaRPr lang="en-US" sz="850" dirty="0"/>
          </a:p>
        </p:txBody>
      </p:sp>
      <p:sp>
        <p:nvSpPr>
          <p:cNvPr id="10" name="Shape 8"/>
          <p:cNvSpPr/>
          <p:nvPr/>
        </p:nvSpPr>
        <p:spPr>
          <a:xfrm>
            <a:off x="713232" y="1572768"/>
            <a:ext cx="3840480" cy="4251960"/>
          </a:xfrm>
          <a:prstGeom prst="roundRect">
            <a:avLst>
              <a:gd name="adj" fmla="val 1190"/>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572768"/>
            <a:ext cx="64008" cy="4251960"/>
          </a:xfrm>
          <a:prstGeom prst="rect">
            <a:avLst/>
          </a:prstGeom>
          <a:solidFill>
            <a:srgbClr val="74546A"/>
          </a:solidFill>
          <a:ln w="12700">
            <a:solidFill>
              <a:srgbClr val="74546A"/>
            </a:solidFill>
            <a:prstDash val="solid"/>
          </a:ln>
        </p:spPr>
      </p:sp>
      <p:sp>
        <p:nvSpPr>
          <p:cNvPr id="12" name="Text 10"/>
          <p:cNvSpPr/>
          <p:nvPr/>
        </p:nvSpPr>
        <p:spPr>
          <a:xfrm>
            <a:off x="960120" y="1783080"/>
            <a:ext cx="3364992"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一段很长的Prompt</a:t>
            </a:r>
            <a:endParaRPr lang="en-US" sz="1800" dirty="0"/>
          </a:p>
        </p:txBody>
      </p:sp>
      <p:sp>
        <p:nvSpPr>
          <p:cNvPr id="13" name="Text 11"/>
          <p:cNvSpPr/>
          <p:nvPr/>
        </p:nvSpPr>
        <p:spPr>
          <a:xfrm>
            <a:off x="960120" y="2295144"/>
            <a:ext cx="3346704" cy="3319272"/>
          </a:xfrm>
          <a:prstGeom prst="rect">
            <a:avLst/>
          </a:prstGeom>
          <a:noFill/>
          <a:ln/>
        </p:spPr>
        <p:txBody>
          <a:bodyPr wrap="square" lIns="0" tIns="0" rIns="0" bIns="0" rtlCol="0" anchor="ctr">
            <a:normAutofit/>
          </a:bodyPr>
          <a:lstStyle/>
          <a:p>
            <a:pPr marL="0" indent="0" algn="ctr">
              <a:buNone/>
            </a:pPr>
            <a:r>
              <a:rPr lang="en-US" sz="1800" dirty="0">
                <a:solidFill>
                  <a:srgbClr val="77766F"/>
                </a:solidFill>
                <a:latin typeface="PingFang SC" pitchFamily="34" charset="0"/>
                <a:ea typeface="PingFang SC" pitchFamily="34" charset="-122"/>
                <a:cs typeface="PingFang SC" pitchFamily="34" charset="-120"/>
              </a:rPr>
              <a:t>角色＋任务＋输入＋规则＋输出＋示例……</a:t>
            </a:r>
            <a:endParaRPr lang="en-US" sz="1800" dirty="0"/>
          </a:p>
        </p:txBody>
      </p:sp>
      <p:sp>
        <p:nvSpPr>
          <p:cNvPr id="14" name="Shape 12"/>
          <p:cNvSpPr/>
          <p:nvPr/>
        </p:nvSpPr>
        <p:spPr>
          <a:xfrm>
            <a:off x="4846320" y="1572768"/>
            <a:ext cx="3017520" cy="1078992"/>
          </a:xfrm>
          <a:prstGeom prst="roundRect">
            <a:avLst>
              <a:gd name="adj" fmla="val 4237"/>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4846320" y="1572768"/>
            <a:ext cx="64008" cy="1078992"/>
          </a:xfrm>
          <a:prstGeom prst="rect">
            <a:avLst/>
          </a:prstGeom>
          <a:solidFill>
            <a:srgbClr val="C35331"/>
          </a:solidFill>
          <a:ln w="12700">
            <a:solidFill>
              <a:srgbClr val="C35331"/>
            </a:solidFill>
            <a:prstDash val="solid"/>
          </a:ln>
        </p:spPr>
      </p:sp>
      <p:sp>
        <p:nvSpPr>
          <p:cNvPr id="16" name="Text 14"/>
          <p:cNvSpPr/>
          <p:nvPr/>
        </p:nvSpPr>
        <p:spPr>
          <a:xfrm>
            <a:off x="5093208" y="1783080"/>
            <a:ext cx="2542032" cy="347472"/>
          </a:xfrm>
          <a:prstGeom prst="rect">
            <a:avLst/>
          </a:prstGeom>
          <a:noFill/>
          <a:ln/>
        </p:spPr>
        <p:txBody>
          <a:bodyPr wrap="square" lIns="0" tIns="0" rIns="0" bIns="0" rtlCol="0" anchor="t">
            <a:normAutofit/>
          </a:bodyPr>
          <a:lstStyle/>
          <a:p>
            <a:pPr marL="0" indent="0" algn="l">
              <a:buNone/>
            </a:pPr>
            <a:r>
              <a:rPr lang="en-US" sz="1300" b="1" dirty="0">
                <a:solidFill>
                  <a:srgbClr val="20211F"/>
                </a:solidFill>
                <a:latin typeface="PingFang SC" pitchFamily="34" charset="0"/>
                <a:ea typeface="PingFang SC" pitchFamily="34" charset="-122"/>
                <a:cs typeface="PingFang SC" pitchFamily="34" charset="-120"/>
              </a:rPr>
              <a:t>理解框架</a:t>
            </a:r>
            <a:endParaRPr lang="en-US" sz="1300" dirty="0"/>
          </a:p>
        </p:txBody>
      </p:sp>
      <p:sp>
        <p:nvSpPr>
          <p:cNvPr id="17" name="Shape 15"/>
          <p:cNvSpPr/>
          <p:nvPr/>
        </p:nvSpPr>
        <p:spPr>
          <a:xfrm>
            <a:off x="8110728" y="1572768"/>
            <a:ext cx="3017520" cy="1078992"/>
          </a:xfrm>
          <a:prstGeom prst="roundRect">
            <a:avLst>
              <a:gd name="adj" fmla="val 4237"/>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8" name="Shape 16"/>
          <p:cNvSpPr/>
          <p:nvPr/>
        </p:nvSpPr>
        <p:spPr>
          <a:xfrm>
            <a:off x="8110728" y="1572768"/>
            <a:ext cx="64008" cy="1078992"/>
          </a:xfrm>
          <a:prstGeom prst="rect">
            <a:avLst/>
          </a:prstGeom>
          <a:solidFill>
            <a:srgbClr val="D18A38"/>
          </a:solidFill>
          <a:ln w="12700">
            <a:solidFill>
              <a:srgbClr val="D18A38"/>
            </a:solidFill>
            <a:prstDash val="solid"/>
          </a:ln>
        </p:spPr>
      </p:sp>
      <p:sp>
        <p:nvSpPr>
          <p:cNvPr id="19" name="Text 17"/>
          <p:cNvSpPr/>
          <p:nvPr/>
        </p:nvSpPr>
        <p:spPr>
          <a:xfrm>
            <a:off x="8357616" y="1783080"/>
            <a:ext cx="2542032" cy="347472"/>
          </a:xfrm>
          <a:prstGeom prst="rect">
            <a:avLst/>
          </a:prstGeom>
          <a:noFill/>
          <a:ln/>
        </p:spPr>
        <p:txBody>
          <a:bodyPr wrap="square" lIns="0" tIns="0" rIns="0" bIns="0" rtlCol="0" anchor="t">
            <a:normAutofit/>
          </a:bodyPr>
          <a:lstStyle/>
          <a:p>
            <a:pPr marL="0" indent="0" algn="l">
              <a:buNone/>
            </a:pPr>
            <a:r>
              <a:rPr lang="en-US" sz="1300" b="1" dirty="0">
                <a:solidFill>
                  <a:srgbClr val="20211F"/>
                </a:solidFill>
                <a:latin typeface="PingFang SC" pitchFamily="34" charset="0"/>
                <a:ea typeface="PingFang SC" pitchFamily="34" charset="-122"/>
                <a:cs typeface="PingFang SC" pitchFamily="34" charset="-120"/>
              </a:rPr>
              <a:t>寻找资料</a:t>
            </a:r>
            <a:endParaRPr lang="en-US" sz="1300" dirty="0"/>
          </a:p>
        </p:txBody>
      </p:sp>
      <p:sp>
        <p:nvSpPr>
          <p:cNvPr id="20" name="Shape 18"/>
          <p:cNvSpPr/>
          <p:nvPr/>
        </p:nvSpPr>
        <p:spPr>
          <a:xfrm>
            <a:off x="4846320" y="2871216"/>
            <a:ext cx="3017520" cy="1078992"/>
          </a:xfrm>
          <a:prstGeom prst="roundRect">
            <a:avLst>
              <a:gd name="adj" fmla="val 4237"/>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21" name="Shape 19"/>
          <p:cNvSpPr/>
          <p:nvPr/>
        </p:nvSpPr>
        <p:spPr>
          <a:xfrm>
            <a:off x="4846320" y="2871216"/>
            <a:ext cx="64008" cy="1078992"/>
          </a:xfrm>
          <a:prstGeom prst="rect">
            <a:avLst/>
          </a:prstGeom>
          <a:solidFill>
            <a:srgbClr val="387B77"/>
          </a:solidFill>
          <a:ln w="12700">
            <a:solidFill>
              <a:srgbClr val="387B77"/>
            </a:solidFill>
            <a:prstDash val="solid"/>
          </a:ln>
        </p:spPr>
      </p:sp>
      <p:sp>
        <p:nvSpPr>
          <p:cNvPr id="22" name="Text 20"/>
          <p:cNvSpPr/>
          <p:nvPr/>
        </p:nvSpPr>
        <p:spPr>
          <a:xfrm>
            <a:off x="5093208" y="3081528"/>
            <a:ext cx="2542032" cy="347472"/>
          </a:xfrm>
          <a:prstGeom prst="rect">
            <a:avLst/>
          </a:prstGeom>
          <a:noFill/>
          <a:ln/>
        </p:spPr>
        <p:txBody>
          <a:bodyPr wrap="square" lIns="0" tIns="0" rIns="0" bIns="0" rtlCol="0" anchor="t">
            <a:normAutofit/>
          </a:bodyPr>
          <a:lstStyle/>
          <a:p>
            <a:pPr marL="0" indent="0" algn="l">
              <a:buNone/>
            </a:pPr>
            <a:r>
              <a:rPr lang="en-US" sz="1300" b="1" dirty="0">
                <a:solidFill>
                  <a:srgbClr val="20211F"/>
                </a:solidFill>
                <a:latin typeface="PingFang SC" pitchFamily="34" charset="0"/>
                <a:ea typeface="PingFang SC" pitchFamily="34" charset="-122"/>
                <a:cs typeface="PingFang SC" pitchFamily="34" charset="-120"/>
              </a:rPr>
              <a:t>记住规则</a:t>
            </a:r>
            <a:endParaRPr lang="en-US" sz="1300" dirty="0"/>
          </a:p>
        </p:txBody>
      </p:sp>
      <p:sp>
        <p:nvSpPr>
          <p:cNvPr id="23" name="Shape 21"/>
          <p:cNvSpPr/>
          <p:nvPr/>
        </p:nvSpPr>
        <p:spPr>
          <a:xfrm>
            <a:off x="8110728" y="2871216"/>
            <a:ext cx="3017520" cy="1078992"/>
          </a:xfrm>
          <a:prstGeom prst="roundRect">
            <a:avLst>
              <a:gd name="adj" fmla="val 4237"/>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24" name="Shape 22"/>
          <p:cNvSpPr/>
          <p:nvPr/>
        </p:nvSpPr>
        <p:spPr>
          <a:xfrm>
            <a:off x="8110728" y="2871216"/>
            <a:ext cx="64008" cy="1078992"/>
          </a:xfrm>
          <a:prstGeom prst="rect">
            <a:avLst/>
          </a:prstGeom>
          <a:solidFill>
            <a:srgbClr val="74546A"/>
          </a:solidFill>
          <a:ln w="12700">
            <a:solidFill>
              <a:srgbClr val="74546A"/>
            </a:solidFill>
            <a:prstDash val="solid"/>
          </a:ln>
        </p:spPr>
      </p:sp>
      <p:sp>
        <p:nvSpPr>
          <p:cNvPr id="25" name="Text 23"/>
          <p:cNvSpPr/>
          <p:nvPr/>
        </p:nvSpPr>
        <p:spPr>
          <a:xfrm>
            <a:off x="8357616" y="3081528"/>
            <a:ext cx="2542032" cy="347472"/>
          </a:xfrm>
          <a:prstGeom prst="rect">
            <a:avLst/>
          </a:prstGeom>
          <a:noFill/>
          <a:ln/>
        </p:spPr>
        <p:txBody>
          <a:bodyPr wrap="square" lIns="0" tIns="0" rIns="0" bIns="0" rtlCol="0" anchor="t">
            <a:normAutofit/>
          </a:bodyPr>
          <a:lstStyle/>
          <a:p>
            <a:pPr marL="0" indent="0" algn="l">
              <a:buNone/>
            </a:pPr>
            <a:r>
              <a:rPr lang="en-US" sz="1300" b="1" dirty="0">
                <a:solidFill>
                  <a:srgbClr val="20211F"/>
                </a:solidFill>
                <a:latin typeface="PingFang SC" pitchFamily="34" charset="0"/>
                <a:ea typeface="PingFang SC" pitchFamily="34" charset="-122"/>
                <a:cs typeface="PingFang SC" pitchFamily="34" charset="-120"/>
              </a:rPr>
              <a:t>重复输入</a:t>
            </a:r>
            <a:endParaRPr lang="en-US" sz="1300" dirty="0"/>
          </a:p>
        </p:txBody>
      </p:sp>
      <p:sp>
        <p:nvSpPr>
          <p:cNvPr id="26" name="Shape 24"/>
          <p:cNvSpPr/>
          <p:nvPr/>
        </p:nvSpPr>
        <p:spPr>
          <a:xfrm>
            <a:off x="4846320" y="4169664"/>
            <a:ext cx="3017520" cy="1078992"/>
          </a:xfrm>
          <a:prstGeom prst="roundRect">
            <a:avLst>
              <a:gd name="adj" fmla="val 4237"/>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27" name="Shape 25"/>
          <p:cNvSpPr/>
          <p:nvPr/>
        </p:nvSpPr>
        <p:spPr>
          <a:xfrm>
            <a:off x="4846320" y="4169664"/>
            <a:ext cx="64008" cy="1078992"/>
          </a:xfrm>
          <a:prstGeom prst="rect">
            <a:avLst/>
          </a:prstGeom>
          <a:solidFill>
            <a:srgbClr val="527553"/>
          </a:solidFill>
          <a:ln w="12700">
            <a:solidFill>
              <a:srgbClr val="527553"/>
            </a:solidFill>
            <a:prstDash val="solid"/>
          </a:ln>
        </p:spPr>
      </p:sp>
      <p:sp>
        <p:nvSpPr>
          <p:cNvPr id="28" name="Text 26"/>
          <p:cNvSpPr/>
          <p:nvPr/>
        </p:nvSpPr>
        <p:spPr>
          <a:xfrm>
            <a:off x="5093208" y="4379976"/>
            <a:ext cx="2542032" cy="347472"/>
          </a:xfrm>
          <a:prstGeom prst="rect">
            <a:avLst/>
          </a:prstGeom>
          <a:noFill/>
          <a:ln/>
        </p:spPr>
        <p:txBody>
          <a:bodyPr wrap="square" lIns="0" tIns="0" rIns="0" bIns="0" rtlCol="0" anchor="t">
            <a:normAutofit/>
          </a:bodyPr>
          <a:lstStyle/>
          <a:p>
            <a:pPr marL="0" indent="0" algn="l">
              <a:buNone/>
            </a:pPr>
            <a:r>
              <a:rPr lang="en-US" sz="1300" b="1" dirty="0">
                <a:solidFill>
                  <a:srgbClr val="20211F"/>
                </a:solidFill>
                <a:latin typeface="PingFang SC" pitchFamily="34" charset="0"/>
                <a:ea typeface="PingFang SC" pitchFamily="34" charset="-122"/>
                <a:cs typeface="PingFang SC" pitchFamily="34" charset="-120"/>
              </a:rPr>
              <a:t>发现缺失</a:t>
            </a:r>
            <a:endParaRPr lang="en-US" sz="1300" dirty="0"/>
          </a:p>
        </p:txBody>
      </p:sp>
      <p:sp>
        <p:nvSpPr>
          <p:cNvPr id="29" name="Shape 27"/>
          <p:cNvSpPr/>
          <p:nvPr/>
        </p:nvSpPr>
        <p:spPr>
          <a:xfrm>
            <a:off x="8110728" y="4169664"/>
            <a:ext cx="3017520" cy="1078992"/>
          </a:xfrm>
          <a:prstGeom prst="roundRect">
            <a:avLst>
              <a:gd name="adj" fmla="val 4237"/>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30" name="Shape 28"/>
          <p:cNvSpPr/>
          <p:nvPr/>
        </p:nvSpPr>
        <p:spPr>
          <a:xfrm>
            <a:off x="8110728" y="4169664"/>
            <a:ext cx="64008" cy="1078992"/>
          </a:xfrm>
          <a:prstGeom prst="rect">
            <a:avLst/>
          </a:prstGeom>
          <a:solidFill>
            <a:srgbClr val="405D78"/>
          </a:solidFill>
          <a:ln w="12700">
            <a:solidFill>
              <a:srgbClr val="405D78"/>
            </a:solidFill>
            <a:prstDash val="solid"/>
          </a:ln>
        </p:spPr>
      </p:sp>
      <p:sp>
        <p:nvSpPr>
          <p:cNvPr id="31" name="Text 29"/>
          <p:cNvSpPr/>
          <p:nvPr/>
        </p:nvSpPr>
        <p:spPr>
          <a:xfrm>
            <a:off x="8357616" y="4379976"/>
            <a:ext cx="2542032" cy="347472"/>
          </a:xfrm>
          <a:prstGeom prst="rect">
            <a:avLst/>
          </a:prstGeom>
          <a:noFill/>
          <a:ln/>
        </p:spPr>
        <p:txBody>
          <a:bodyPr wrap="square" lIns="0" tIns="0" rIns="0" bIns="0" rtlCol="0" anchor="t">
            <a:normAutofit/>
          </a:bodyPr>
          <a:lstStyle/>
          <a:p>
            <a:pPr marL="0" indent="0" algn="l">
              <a:buNone/>
            </a:pPr>
            <a:r>
              <a:rPr lang="en-US" sz="1300" b="1" dirty="0">
                <a:solidFill>
                  <a:srgbClr val="20211F"/>
                </a:solidFill>
                <a:latin typeface="PingFang SC" pitchFamily="34" charset="0"/>
                <a:ea typeface="PingFang SC" pitchFamily="34" charset="-122"/>
                <a:cs typeface="PingFang SC" pitchFamily="34" charset="-120"/>
              </a:rPr>
              <a:t>判断风险</a:t>
            </a:r>
            <a:endParaRPr lang="en-US" sz="1300" dirty="0"/>
          </a:p>
        </p:txBody>
      </p:sp>
      <p:sp>
        <p:nvSpPr>
          <p:cNvPr id="32" name="Text 30"/>
          <p:cNvSpPr/>
          <p:nvPr/>
        </p:nvSpPr>
        <p:spPr>
          <a:xfrm>
            <a:off x="4846320" y="5532120"/>
            <a:ext cx="6281928" cy="384048"/>
          </a:xfrm>
          <a:prstGeom prst="rect">
            <a:avLst/>
          </a:prstGeom>
          <a:noFill/>
          <a:ln/>
        </p:spPr>
        <p:txBody>
          <a:bodyPr wrap="square" lIns="0" tIns="0" rIns="0" bIns="0" rtlCol="0" anchor="t">
            <a:normAutofit/>
          </a:bodyPr>
          <a:lstStyle/>
          <a:p>
            <a:pPr marL="0" indent="0" algn="ctr">
              <a:buNone/>
            </a:pPr>
            <a:r>
              <a:rPr lang="en-US" sz="1550" b="1" dirty="0">
                <a:solidFill>
                  <a:srgbClr val="C35331"/>
                </a:solidFill>
                <a:latin typeface="PingFang SC" pitchFamily="34" charset="0"/>
                <a:ea typeface="PingFang SC" pitchFamily="34" charset="-122"/>
                <a:cs typeface="PingFang SC" pitchFamily="34" charset="-120"/>
              </a:rPr>
              <a:t>好Prompt是产品内部能力的原材料，不是最终用户界面。</a:t>
            </a:r>
            <a:endParaRPr lang="en-US" sz="15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475488" y="182880"/>
            <a:ext cx="612648" cy="338328"/>
          </a:xfrm>
          <a:prstGeom prst="roundRect">
            <a:avLst>
              <a:gd name="adj" fmla="val 21622"/>
            </a:avLst>
          </a:prstGeom>
          <a:solidFill>
            <a:srgbClr val="C9532F"/>
          </a:solidFill>
          <a:ln w="12700">
            <a:solidFill>
              <a:srgbClr val="C9532F"/>
            </a:solidFill>
            <a:prstDash val="solid"/>
          </a:ln>
        </p:spPr>
      </p:sp>
      <p:sp>
        <p:nvSpPr>
          <p:cNvPr id="3" name="Text 1"/>
          <p:cNvSpPr/>
          <p:nvPr/>
        </p:nvSpPr>
        <p:spPr>
          <a:xfrm>
            <a:off x="475488" y="246888"/>
            <a:ext cx="612648"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PingFang SC" pitchFamily="34" charset="0"/>
                <a:ea typeface="PingFang SC" pitchFamily="34" charset="-122"/>
                <a:cs typeface="PingFang SC" pitchFamily="34" charset="-120"/>
              </a:rPr>
              <a:t>06</a:t>
            </a:r>
            <a:endParaRPr lang="en-US" sz="850" dirty="0"/>
          </a:p>
        </p:txBody>
      </p:sp>
      <p:sp>
        <p:nvSpPr>
          <p:cNvPr id="4" name="Text 2"/>
          <p:cNvSpPr/>
          <p:nvPr/>
        </p:nvSpPr>
        <p:spPr>
          <a:xfrm>
            <a:off x="1261872" y="246888"/>
            <a:ext cx="2011680" cy="228600"/>
          </a:xfrm>
          <a:prstGeom prst="rect">
            <a:avLst/>
          </a:prstGeom>
          <a:noFill/>
          <a:ln/>
        </p:spPr>
        <p:txBody>
          <a:bodyPr wrap="square" lIns="0" tIns="0" rIns="0" bIns="0" rtlCol="0" anchor="ctr"/>
          <a:lstStyle/>
          <a:p>
            <a:pPr marL="0" indent="0">
              <a:buNone/>
            </a:pPr>
            <a:r>
              <a:rPr lang="en-US" sz="1300" b="1" dirty="0">
                <a:solidFill>
                  <a:srgbClr val="6C6861"/>
                </a:solidFill>
                <a:latin typeface="PingFang SC" pitchFamily="34" charset="0"/>
                <a:ea typeface="PingFang SC" pitchFamily="34" charset="-122"/>
                <a:cs typeface="PingFang SC" pitchFamily="34" charset="-120"/>
              </a:rPr>
              <a:t>产品化</a:t>
            </a:r>
            <a:endParaRPr lang="en-US" sz="1300" dirty="0"/>
          </a:p>
        </p:txBody>
      </p:sp>
      <p:sp>
        <p:nvSpPr>
          <p:cNvPr id="5" name="Text 3"/>
          <p:cNvSpPr/>
          <p:nvPr/>
        </p:nvSpPr>
        <p:spPr>
          <a:xfrm>
            <a:off x="502920" y="6473952"/>
            <a:ext cx="3474720" cy="164592"/>
          </a:xfrm>
          <a:prstGeom prst="rect">
            <a:avLst/>
          </a:prstGeom>
          <a:noFill/>
          <a:ln/>
        </p:spPr>
        <p:txBody>
          <a:bodyPr wrap="square" lIns="0" tIns="0" rIns="0" bIns="0" rtlCol="0" anchor="ctr"/>
          <a:lstStyle/>
          <a:p>
            <a:pPr marL="0" indent="0">
              <a:buNone/>
            </a:pPr>
            <a:r>
              <a:rPr lang="en-US" sz="800" dirty="0">
                <a:solidFill>
                  <a:srgbClr val="6C6861"/>
                </a:solidFill>
                <a:latin typeface="PingFang SC" pitchFamily="34" charset="0"/>
                <a:ea typeface="PingFang SC" pitchFamily="34" charset="-122"/>
                <a:cs typeface="PingFang SC" pitchFamily="34" charset="-120"/>
              </a:rPr>
              <a:t>AI产品经理系统课程 · 第2课</a:t>
            </a:r>
            <a:endParaRPr lang="en-US" sz="800" dirty="0"/>
          </a:p>
        </p:txBody>
      </p:sp>
      <p:sp>
        <p:nvSpPr>
          <p:cNvPr id="6" name="Text 4"/>
          <p:cNvSpPr/>
          <p:nvPr/>
        </p:nvSpPr>
        <p:spPr>
          <a:xfrm>
            <a:off x="9966960" y="6473952"/>
            <a:ext cx="1097280" cy="164592"/>
          </a:xfrm>
          <a:prstGeom prst="rect">
            <a:avLst/>
          </a:prstGeom>
          <a:noFill/>
          <a:ln/>
        </p:spPr>
        <p:txBody>
          <a:bodyPr wrap="square" lIns="0" tIns="0" rIns="0" bIns="0" rtlCol="0" anchor="ctr"/>
          <a:lstStyle/>
          <a:p>
            <a:pPr marL="0" indent="0" algn="r">
              <a:buNone/>
            </a:pPr>
            <a:r>
              <a:rPr lang="en-US" sz="800" dirty="0">
                <a:solidFill>
                  <a:srgbClr val="6C6861"/>
                </a:solidFill>
                <a:latin typeface="PingFang SC" pitchFamily="34" charset="0"/>
                <a:ea typeface="PingFang SC" pitchFamily="34" charset="-122"/>
                <a:cs typeface="PingFang SC" pitchFamily="34" charset="-120"/>
              </a:rPr>
              <a:t>产品化</a:t>
            </a:r>
            <a:endParaRPr lang="en-US" sz="800" dirty="0"/>
          </a:p>
        </p:txBody>
      </p:sp>
      <p:sp>
        <p:nvSpPr>
          <p:cNvPr id="7" name="Text 5"/>
          <p:cNvSpPr/>
          <p:nvPr/>
        </p:nvSpPr>
        <p:spPr>
          <a:xfrm>
            <a:off x="11402568" y="6473952"/>
            <a:ext cx="320040" cy="164592"/>
          </a:xfrm>
          <a:prstGeom prst="rect">
            <a:avLst/>
          </a:prstGeom>
          <a:noFill/>
          <a:ln/>
        </p:spPr>
        <p:txBody>
          <a:bodyPr wrap="square" lIns="0" tIns="0" rIns="0" bIns="0" rtlCol="0" anchor="ctr"/>
          <a:lstStyle/>
          <a:p>
            <a:pPr marL="0" indent="0" algn="r">
              <a:buNone/>
            </a:pPr>
            <a:r>
              <a:rPr lang="en-US" sz="800" dirty="0">
                <a:solidFill>
                  <a:srgbClr val="6C6861"/>
                </a:solidFill>
                <a:latin typeface="PingFang SC" pitchFamily="34" charset="0"/>
                <a:ea typeface="PingFang SC" pitchFamily="34" charset="-122"/>
                <a:cs typeface="PingFang SC" pitchFamily="34" charset="-120"/>
              </a:rPr>
              <a:t>25</a:t>
            </a:r>
            <a:endParaRPr lang="en-US" sz="800" dirty="0"/>
          </a:p>
        </p:txBody>
      </p:sp>
      <p:sp>
        <p:nvSpPr>
          <p:cNvPr id="8" name="Text 6"/>
          <p:cNvSpPr/>
          <p:nvPr/>
        </p:nvSpPr>
        <p:spPr>
          <a:xfrm>
            <a:off x="502920" y="658368"/>
            <a:ext cx="11064240" cy="530352"/>
          </a:xfrm>
          <a:prstGeom prst="rect">
            <a:avLst/>
          </a:prstGeom>
          <a:noFill/>
          <a:ln/>
        </p:spPr>
        <p:txBody>
          <a:bodyPr wrap="square" lIns="0" tIns="0" rIns="0" bIns="0" rtlCol="0" anchor="ctr">
            <a:normAutofit/>
          </a:bodyPr>
          <a:lstStyle/>
          <a:p>
            <a:pPr marL="0" indent="0">
              <a:buNone/>
            </a:pPr>
            <a:r>
              <a:rPr lang="en-US" sz="2700" b="1" dirty="0">
                <a:solidFill>
                  <a:srgbClr val="222222"/>
                </a:solidFill>
                <a:latin typeface="PingFang SC" pitchFamily="34" charset="0"/>
                <a:ea typeface="PingFang SC" pitchFamily="34" charset="-122"/>
                <a:cs typeface="PingFang SC" pitchFamily="34" charset="-120"/>
              </a:rPr>
              <a:t>产品内部指令 vs 用户本次输入</a:t>
            </a:r>
            <a:endParaRPr lang="en-US" sz="2700" dirty="0"/>
          </a:p>
        </p:txBody>
      </p:sp>
      <p:sp>
        <p:nvSpPr>
          <p:cNvPr id="9" name="Text 7"/>
          <p:cNvSpPr/>
          <p:nvPr/>
        </p:nvSpPr>
        <p:spPr>
          <a:xfrm>
            <a:off x="521208" y="1225296"/>
            <a:ext cx="10789920" cy="347472"/>
          </a:xfrm>
          <a:prstGeom prst="rect">
            <a:avLst/>
          </a:prstGeom>
          <a:noFill/>
          <a:ln/>
        </p:spPr>
        <p:txBody>
          <a:bodyPr wrap="square" lIns="0" tIns="0" rIns="0" bIns="0" rtlCol="0" anchor="ctr">
            <a:normAutofit/>
          </a:bodyPr>
          <a:lstStyle/>
          <a:p>
            <a:pPr marL="0" indent="0">
              <a:buNone/>
            </a:pPr>
            <a:r>
              <a:rPr lang="en-US" sz="1350" dirty="0">
                <a:solidFill>
                  <a:srgbClr val="6C6861"/>
                </a:solidFill>
                <a:latin typeface="PingFang SC" pitchFamily="34" charset="0"/>
                <a:ea typeface="PingFang SC" pitchFamily="34" charset="-122"/>
                <a:cs typeface="PingFang SC" pitchFamily="34" charset="-120"/>
              </a:rPr>
              <a:t>先从产品分工理解，不急着背API消息协议</a:t>
            </a:r>
            <a:endParaRPr lang="en-US" sz="1350" dirty="0"/>
          </a:p>
        </p:txBody>
      </p:sp>
      <p:sp>
        <p:nvSpPr>
          <p:cNvPr id="10" name="Shape 8"/>
          <p:cNvSpPr/>
          <p:nvPr/>
        </p:nvSpPr>
        <p:spPr>
          <a:xfrm>
            <a:off x="502920" y="1417320"/>
            <a:ext cx="11201400" cy="0"/>
          </a:xfrm>
          <a:prstGeom prst="line">
            <a:avLst/>
          </a:prstGeom>
          <a:noFill/>
          <a:ln w="12700">
            <a:solidFill>
              <a:srgbClr val="D9CDBA"/>
            </a:solidFill>
            <a:prstDash val="solid"/>
          </a:ln>
        </p:spPr>
      </p:sp>
      <p:sp>
        <p:nvSpPr>
          <p:cNvPr id="11" name="Shape 9"/>
          <p:cNvSpPr/>
          <p:nvPr/>
        </p:nvSpPr>
        <p:spPr>
          <a:xfrm>
            <a:off x="914400" y="1828800"/>
            <a:ext cx="4754880" cy="2377440"/>
          </a:xfrm>
          <a:prstGeom prst="roundRect">
            <a:avLst>
              <a:gd name="adj" fmla="val 3077"/>
            </a:avLst>
          </a:prstGeom>
          <a:solidFill>
            <a:srgbClr val="FFF9EE"/>
          </a:solidFill>
          <a:ln w="12700">
            <a:solidFill>
              <a:srgbClr val="D9CDBA"/>
            </a:solidFill>
            <a:prstDash val="solid"/>
          </a:ln>
        </p:spPr>
      </p:sp>
      <p:sp>
        <p:nvSpPr>
          <p:cNvPr id="12" name="Text 10"/>
          <p:cNvSpPr/>
          <p:nvPr/>
        </p:nvSpPr>
        <p:spPr>
          <a:xfrm>
            <a:off x="1078992" y="1975104"/>
            <a:ext cx="4425696" cy="228600"/>
          </a:xfrm>
          <a:prstGeom prst="rect">
            <a:avLst/>
          </a:prstGeom>
          <a:noFill/>
          <a:ln/>
        </p:spPr>
        <p:txBody>
          <a:bodyPr wrap="square" lIns="0" tIns="0" rIns="0" bIns="0" rtlCol="0" anchor="ctr">
            <a:normAutofit/>
          </a:bodyPr>
          <a:lstStyle/>
          <a:p>
            <a:pPr marL="0" indent="0">
              <a:buNone/>
            </a:pPr>
            <a:r>
              <a:rPr lang="en-US" sz="1500" b="1" dirty="0">
                <a:solidFill>
                  <a:srgbClr val="C9532F"/>
                </a:solidFill>
                <a:latin typeface="PingFang SC" pitchFamily="34" charset="0"/>
                <a:ea typeface="PingFang SC" pitchFamily="34" charset="-122"/>
                <a:cs typeface="PingFang SC" pitchFamily="34" charset="-120"/>
              </a:rPr>
              <a:t>产品内部指令</a:t>
            </a:r>
            <a:endParaRPr lang="en-US" sz="1500" dirty="0"/>
          </a:p>
        </p:txBody>
      </p:sp>
      <p:sp>
        <p:nvSpPr>
          <p:cNvPr id="13" name="Text 11"/>
          <p:cNvSpPr/>
          <p:nvPr/>
        </p:nvSpPr>
        <p:spPr>
          <a:xfrm>
            <a:off x="1078992" y="2322576"/>
            <a:ext cx="4425696" cy="1737360"/>
          </a:xfrm>
          <a:prstGeom prst="rect">
            <a:avLst/>
          </a:prstGeom>
          <a:noFill/>
          <a:ln/>
        </p:spPr>
        <p:txBody>
          <a:bodyPr wrap="square" lIns="0" tIns="0" rIns="0" bIns="0" rtlCol="0" anchor="t">
            <a:normAutofit/>
          </a:bodyPr>
          <a:lstStyle/>
          <a:p>
            <a:pPr marL="0" indent="0">
              <a:buNone/>
            </a:pPr>
            <a:r>
              <a:rPr lang="en-US" sz="1300" dirty="0">
                <a:solidFill>
                  <a:srgbClr val="292929"/>
                </a:solidFill>
                <a:latin typeface="PingFang SC" pitchFamily="34" charset="0"/>
                <a:ea typeface="PingFang SC" pitchFamily="34" charset="-122"/>
                <a:cs typeface="PingFang SC" pitchFamily="34" charset="-120"/>
              </a:rPr>
              <a:t>长期稳定的角色、任务边界、业务规则和输出要求。</a:t>
            </a:r>
            <a:endParaRPr lang="en-US" sz="1300" dirty="0"/>
          </a:p>
          <a:p>
            <a:pPr marL="0" indent="0">
              <a:buNone/>
            </a:pPr>
            <a:endParaRPr lang="en-US" sz="1300" dirty="0"/>
          </a:p>
          <a:p>
            <a:pPr marL="0" indent="0">
              <a:buNone/>
            </a:pPr>
            <a:r>
              <a:rPr lang="en-US" sz="1300" dirty="0">
                <a:solidFill>
                  <a:srgbClr val="292929"/>
                </a:solidFill>
                <a:latin typeface="PingFang SC" pitchFamily="34" charset="0"/>
                <a:ea typeface="PingFang SC" pitchFamily="34" charset="-122"/>
                <a:cs typeface="PingFang SC" pitchFamily="34" charset="-120"/>
              </a:rPr>
              <a:t>例：不得把推测写成事实；没有时间标待确认；统一CRM字段。</a:t>
            </a:r>
            <a:endParaRPr lang="en-US" sz="1300" dirty="0"/>
          </a:p>
        </p:txBody>
      </p:sp>
      <p:sp>
        <p:nvSpPr>
          <p:cNvPr id="14" name="Shape 12"/>
          <p:cNvSpPr/>
          <p:nvPr/>
        </p:nvSpPr>
        <p:spPr>
          <a:xfrm>
            <a:off x="6492240" y="1828800"/>
            <a:ext cx="4754880" cy="2377440"/>
          </a:xfrm>
          <a:prstGeom prst="roundRect">
            <a:avLst>
              <a:gd name="adj" fmla="val 3077"/>
            </a:avLst>
          </a:prstGeom>
          <a:solidFill>
            <a:srgbClr val="FFF9EE"/>
          </a:solidFill>
          <a:ln w="12700">
            <a:solidFill>
              <a:srgbClr val="D9CDBA"/>
            </a:solidFill>
            <a:prstDash val="solid"/>
          </a:ln>
        </p:spPr>
      </p:sp>
      <p:sp>
        <p:nvSpPr>
          <p:cNvPr id="15" name="Text 13"/>
          <p:cNvSpPr/>
          <p:nvPr/>
        </p:nvSpPr>
        <p:spPr>
          <a:xfrm>
            <a:off x="6656832" y="1975104"/>
            <a:ext cx="4425696" cy="228600"/>
          </a:xfrm>
          <a:prstGeom prst="rect">
            <a:avLst/>
          </a:prstGeom>
          <a:noFill/>
          <a:ln/>
        </p:spPr>
        <p:txBody>
          <a:bodyPr wrap="square" lIns="0" tIns="0" rIns="0" bIns="0" rtlCol="0" anchor="ctr">
            <a:normAutofit/>
          </a:bodyPr>
          <a:lstStyle/>
          <a:p>
            <a:pPr marL="0" indent="0">
              <a:buNone/>
            </a:pPr>
            <a:r>
              <a:rPr lang="en-US" sz="1500" b="1" dirty="0">
                <a:solidFill>
                  <a:srgbClr val="C9532F"/>
                </a:solidFill>
                <a:latin typeface="PingFang SC" pitchFamily="34" charset="0"/>
                <a:ea typeface="PingFang SC" pitchFamily="34" charset="-122"/>
                <a:cs typeface="PingFang SC" pitchFamily="34" charset="-120"/>
              </a:rPr>
              <a:t>用户本次输入</a:t>
            </a:r>
            <a:endParaRPr lang="en-US" sz="1500" dirty="0"/>
          </a:p>
        </p:txBody>
      </p:sp>
      <p:sp>
        <p:nvSpPr>
          <p:cNvPr id="16" name="Text 14"/>
          <p:cNvSpPr/>
          <p:nvPr/>
        </p:nvSpPr>
        <p:spPr>
          <a:xfrm>
            <a:off x="6656832" y="2322576"/>
            <a:ext cx="4425696" cy="1737360"/>
          </a:xfrm>
          <a:prstGeom prst="rect">
            <a:avLst/>
          </a:prstGeom>
          <a:noFill/>
          <a:ln/>
        </p:spPr>
        <p:txBody>
          <a:bodyPr wrap="square" lIns="0" tIns="0" rIns="0" bIns="0" rtlCol="0" anchor="t">
            <a:normAutofit/>
          </a:bodyPr>
          <a:lstStyle/>
          <a:p>
            <a:pPr marL="0" indent="0">
              <a:buNone/>
            </a:pPr>
            <a:r>
              <a:rPr lang="en-US" sz="1300" dirty="0">
                <a:solidFill>
                  <a:srgbClr val="292929"/>
                </a:solidFill>
                <a:latin typeface="PingFang SC" pitchFamily="34" charset="0"/>
                <a:ea typeface="PingFang SC" pitchFamily="34" charset="-122"/>
                <a:cs typeface="PingFang SC" pitchFamily="34" charset="-120"/>
              </a:rPr>
              <a:t>本次变化的材料、选择和补充。</a:t>
            </a:r>
            <a:endParaRPr lang="en-US" sz="1300" dirty="0"/>
          </a:p>
          <a:p>
            <a:pPr marL="0" indent="0">
              <a:buNone/>
            </a:pPr>
            <a:endParaRPr lang="en-US" sz="1300" dirty="0"/>
          </a:p>
          <a:p>
            <a:pPr marL="0" indent="0">
              <a:buNone/>
            </a:pPr>
            <a:r>
              <a:rPr lang="en-US" sz="1300" dirty="0">
                <a:solidFill>
                  <a:srgbClr val="292929"/>
                </a:solidFill>
                <a:latin typeface="PingFang SC" pitchFamily="34" charset="0"/>
                <a:ea typeface="PingFang SC" pitchFamily="34" charset="-122"/>
                <a:cs typeface="PingFang SC" pitchFamily="34" charset="-120"/>
              </a:rPr>
              <a:t>例：本次拜访转写、本次重点关注、特殊备注、是否生成跟进邮件。</a:t>
            </a:r>
            <a:endParaRPr lang="en-US" sz="1300" dirty="0"/>
          </a:p>
        </p:txBody>
      </p:sp>
      <p:sp>
        <p:nvSpPr>
          <p:cNvPr id="17" name="Text 15"/>
          <p:cNvSpPr/>
          <p:nvPr/>
        </p:nvSpPr>
        <p:spPr>
          <a:xfrm>
            <a:off x="1097280" y="4892040"/>
            <a:ext cx="9875520" cy="365760"/>
          </a:xfrm>
          <a:prstGeom prst="rect">
            <a:avLst/>
          </a:prstGeom>
          <a:noFill/>
          <a:ln/>
        </p:spPr>
        <p:txBody>
          <a:bodyPr wrap="square" lIns="0" tIns="0" rIns="0" bIns="0" rtlCol="0" anchor="ctr"/>
          <a:lstStyle/>
          <a:p>
            <a:pPr marL="0" indent="0" algn="ctr">
              <a:buNone/>
            </a:pPr>
            <a:r>
              <a:rPr lang="en-US" sz="1800" b="1" dirty="0">
                <a:solidFill>
                  <a:srgbClr val="C9532F"/>
                </a:solidFill>
                <a:latin typeface="PingFang SC" pitchFamily="34" charset="0"/>
                <a:ea typeface="PingFang SC" pitchFamily="34" charset="-122"/>
                <a:cs typeface="PingFang SC" pitchFamily="34" charset="-120"/>
              </a:rPr>
              <a:t>产品内部定义越完整，用户越不需要每次重新写完整Prompt。</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475488" y="182880"/>
            <a:ext cx="612648" cy="338328"/>
          </a:xfrm>
          <a:prstGeom prst="roundRect">
            <a:avLst>
              <a:gd name="adj" fmla="val 21622"/>
            </a:avLst>
          </a:prstGeom>
          <a:solidFill>
            <a:srgbClr val="C9532F"/>
          </a:solidFill>
          <a:ln w="12700">
            <a:solidFill>
              <a:srgbClr val="C9532F"/>
            </a:solidFill>
            <a:prstDash val="solid"/>
          </a:ln>
        </p:spPr>
      </p:sp>
      <p:sp>
        <p:nvSpPr>
          <p:cNvPr id="3" name="Text 1"/>
          <p:cNvSpPr/>
          <p:nvPr/>
        </p:nvSpPr>
        <p:spPr>
          <a:xfrm>
            <a:off x="475488" y="246888"/>
            <a:ext cx="612648"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PingFang SC" pitchFamily="34" charset="0"/>
                <a:ea typeface="PingFang SC" pitchFamily="34" charset="-122"/>
                <a:cs typeface="PingFang SC" pitchFamily="34" charset="-120"/>
              </a:rPr>
              <a:t>06</a:t>
            </a:r>
            <a:endParaRPr lang="en-US" sz="850" dirty="0"/>
          </a:p>
        </p:txBody>
      </p:sp>
      <p:sp>
        <p:nvSpPr>
          <p:cNvPr id="4" name="Text 2"/>
          <p:cNvSpPr/>
          <p:nvPr/>
        </p:nvSpPr>
        <p:spPr>
          <a:xfrm>
            <a:off x="1261872" y="246888"/>
            <a:ext cx="2011680" cy="228600"/>
          </a:xfrm>
          <a:prstGeom prst="rect">
            <a:avLst/>
          </a:prstGeom>
          <a:noFill/>
          <a:ln/>
        </p:spPr>
        <p:txBody>
          <a:bodyPr wrap="square" lIns="0" tIns="0" rIns="0" bIns="0" rtlCol="0" anchor="ctr"/>
          <a:lstStyle/>
          <a:p>
            <a:pPr marL="0" indent="0">
              <a:buNone/>
            </a:pPr>
            <a:r>
              <a:rPr lang="en-US" sz="1300" b="1" dirty="0">
                <a:solidFill>
                  <a:srgbClr val="6C6861"/>
                </a:solidFill>
                <a:latin typeface="PingFang SC" pitchFamily="34" charset="0"/>
                <a:ea typeface="PingFang SC" pitchFamily="34" charset="-122"/>
                <a:cs typeface="PingFang SC" pitchFamily="34" charset="-120"/>
              </a:rPr>
              <a:t>产品化</a:t>
            </a:r>
            <a:endParaRPr lang="en-US" sz="1300" dirty="0"/>
          </a:p>
        </p:txBody>
      </p:sp>
      <p:sp>
        <p:nvSpPr>
          <p:cNvPr id="5" name="Text 3"/>
          <p:cNvSpPr/>
          <p:nvPr/>
        </p:nvSpPr>
        <p:spPr>
          <a:xfrm>
            <a:off x="502920" y="6473952"/>
            <a:ext cx="3474720" cy="164592"/>
          </a:xfrm>
          <a:prstGeom prst="rect">
            <a:avLst/>
          </a:prstGeom>
          <a:noFill/>
          <a:ln/>
        </p:spPr>
        <p:txBody>
          <a:bodyPr wrap="square" lIns="0" tIns="0" rIns="0" bIns="0" rtlCol="0" anchor="ctr"/>
          <a:lstStyle/>
          <a:p>
            <a:pPr marL="0" indent="0">
              <a:buNone/>
            </a:pPr>
            <a:r>
              <a:rPr lang="en-US" sz="800" dirty="0">
                <a:solidFill>
                  <a:srgbClr val="6C6861"/>
                </a:solidFill>
                <a:latin typeface="PingFang SC" pitchFamily="34" charset="0"/>
                <a:ea typeface="PingFang SC" pitchFamily="34" charset="-122"/>
                <a:cs typeface="PingFang SC" pitchFamily="34" charset="-120"/>
              </a:rPr>
              <a:t>AI产品经理系统课程 · 第2课</a:t>
            </a:r>
            <a:endParaRPr lang="en-US" sz="800" dirty="0"/>
          </a:p>
        </p:txBody>
      </p:sp>
      <p:sp>
        <p:nvSpPr>
          <p:cNvPr id="6" name="Text 4"/>
          <p:cNvSpPr/>
          <p:nvPr/>
        </p:nvSpPr>
        <p:spPr>
          <a:xfrm>
            <a:off x="9966960" y="6473952"/>
            <a:ext cx="1097280" cy="164592"/>
          </a:xfrm>
          <a:prstGeom prst="rect">
            <a:avLst/>
          </a:prstGeom>
          <a:noFill/>
          <a:ln/>
        </p:spPr>
        <p:txBody>
          <a:bodyPr wrap="square" lIns="0" tIns="0" rIns="0" bIns="0" rtlCol="0" anchor="ctr"/>
          <a:lstStyle/>
          <a:p>
            <a:pPr marL="0" indent="0" algn="r">
              <a:buNone/>
            </a:pPr>
            <a:r>
              <a:rPr lang="en-US" sz="800" dirty="0">
                <a:solidFill>
                  <a:srgbClr val="6C6861"/>
                </a:solidFill>
                <a:latin typeface="PingFang SC" pitchFamily="34" charset="0"/>
                <a:ea typeface="PingFang SC" pitchFamily="34" charset="-122"/>
                <a:cs typeface="PingFang SC" pitchFamily="34" charset="-120"/>
              </a:rPr>
              <a:t>产品化</a:t>
            </a:r>
            <a:endParaRPr lang="en-US" sz="800" dirty="0"/>
          </a:p>
        </p:txBody>
      </p:sp>
      <p:sp>
        <p:nvSpPr>
          <p:cNvPr id="7" name="Text 5"/>
          <p:cNvSpPr/>
          <p:nvPr/>
        </p:nvSpPr>
        <p:spPr>
          <a:xfrm>
            <a:off x="11402568" y="6473952"/>
            <a:ext cx="320040" cy="164592"/>
          </a:xfrm>
          <a:prstGeom prst="rect">
            <a:avLst/>
          </a:prstGeom>
          <a:noFill/>
          <a:ln/>
        </p:spPr>
        <p:txBody>
          <a:bodyPr wrap="square" lIns="0" tIns="0" rIns="0" bIns="0" rtlCol="0" anchor="ctr"/>
          <a:lstStyle/>
          <a:p>
            <a:pPr marL="0" indent="0" algn="r">
              <a:buNone/>
            </a:pPr>
            <a:r>
              <a:rPr lang="en-US" sz="800" dirty="0">
                <a:solidFill>
                  <a:srgbClr val="6C6861"/>
                </a:solidFill>
                <a:latin typeface="PingFang SC" pitchFamily="34" charset="0"/>
                <a:ea typeface="PingFang SC" pitchFamily="34" charset="-122"/>
                <a:cs typeface="PingFang SC" pitchFamily="34" charset="-120"/>
              </a:rPr>
              <a:t>26</a:t>
            </a:r>
            <a:endParaRPr lang="en-US" sz="800" dirty="0"/>
          </a:p>
        </p:txBody>
      </p:sp>
      <p:sp>
        <p:nvSpPr>
          <p:cNvPr id="8" name="Text 6"/>
          <p:cNvSpPr/>
          <p:nvPr/>
        </p:nvSpPr>
        <p:spPr>
          <a:xfrm>
            <a:off x="502920" y="658368"/>
            <a:ext cx="11064240" cy="530352"/>
          </a:xfrm>
          <a:prstGeom prst="rect">
            <a:avLst/>
          </a:prstGeom>
          <a:noFill/>
          <a:ln/>
        </p:spPr>
        <p:txBody>
          <a:bodyPr wrap="square" lIns="0" tIns="0" rIns="0" bIns="0" rtlCol="0" anchor="ctr">
            <a:normAutofit/>
          </a:bodyPr>
          <a:lstStyle/>
          <a:p>
            <a:pPr marL="0" indent="0">
              <a:buNone/>
            </a:pPr>
            <a:r>
              <a:rPr lang="en-US" sz="2700" b="1" dirty="0">
                <a:solidFill>
                  <a:srgbClr val="222222"/>
                </a:solidFill>
                <a:latin typeface="PingFang SC" pitchFamily="34" charset="0"/>
                <a:ea typeface="PingFang SC" pitchFamily="34" charset="-122"/>
                <a:cs typeface="PingFang SC" pitchFamily="34" charset="-120"/>
              </a:rPr>
              <a:t>三类信息供给：固定、用户、系统</a:t>
            </a:r>
            <a:endParaRPr lang="en-US" sz="2700" dirty="0"/>
          </a:p>
        </p:txBody>
      </p:sp>
      <p:sp>
        <p:nvSpPr>
          <p:cNvPr id="9" name="Text 7"/>
          <p:cNvSpPr/>
          <p:nvPr/>
        </p:nvSpPr>
        <p:spPr>
          <a:xfrm>
            <a:off x="521208" y="1225296"/>
            <a:ext cx="10789920" cy="347472"/>
          </a:xfrm>
          <a:prstGeom prst="rect">
            <a:avLst/>
          </a:prstGeom>
          <a:noFill/>
          <a:ln/>
        </p:spPr>
        <p:txBody>
          <a:bodyPr wrap="square" lIns="0" tIns="0" rIns="0" bIns="0" rtlCol="0" anchor="ctr">
            <a:normAutofit/>
          </a:bodyPr>
          <a:lstStyle/>
          <a:p>
            <a:pPr marL="0" indent="0">
              <a:buNone/>
            </a:pPr>
            <a:r>
              <a:rPr lang="en-US" sz="1350" dirty="0">
                <a:solidFill>
                  <a:srgbClr val="6C6861"/>
                </a:solidFill>
                <a:latin typeface="PingFang SC" pitchFamily="34" charset="0"/>
                <a:ea typeface="PingFang SC" pitchFamily="34" charset="-122"/>
                <a:cs typeface="PingFang SC" pitchFamily="34" charset="-120"/>
              </a:rPr>
              <a:t>同一个信息在不同任务中可能归类不同，先问它由谁最适合提供</a:t>
            </a:r>
            <a:endParaRPr lang="en-US" sz="1350" dirty="0"/>
          </a:p>
        </p:txBody>
      </p:sp>
      <p:sp>
        <p:nvSpPr>
          <p:cNvPr id="10" name="Shape 8"/>
          <p:cNvSpPr/>
          <p:nvPr/>
        </p:nvSpPr>
        <p:spPr>
          <a:xfrm>
            <a:off x="502920" y="1417320"/>
            <a:ext cx="11201400" cy="0"/>
          </a:xfrm>
          <a:prstGeom prst="line">
            <a:avLst/>
          </a:prstGeom>
          <a:noFill/>
          <a:ln w="12700">
            <a:solidFill>
              <a:srgbClr val="D9CDBA"/>
            </a:solidFill>
            <a:prstDash val="solid"/>
          </a:ln>
        </p:spPr>
      </p:sp>
      <p:sp>
        <p:nvSpPr>
          <p:cNvPr id="11" name="Shape 9"/>
          <p:cNvSpPr/>
          <p:nvPr/>
        </p:nvSpPr>
        <p:spPr>
          <a:xfrm>
            <a:off x="777240" y="1828800"/>
            <a:ext cx="3337560" cy="2194560"/>
          </a:xfrm>
          <a:prstGeom prst="roundRect">
            <a:avLst>
              <a:gd name="adj" fmla="val 3333"/>
            </a:avLst>
          </a:prstGeom>
          <a:solidFill>
            <a:srgbClr val="FFF9EE"/>
          </a:solidFill>
          <a:ln w="12700">
            <a:solidFill>
              <a:srgbClr val="D9CDBA"/>
            </a:solidFill>
            <a:prstDash val="solid"/>
          </a:ln>
        </p:spPr>
      </p:sp>
      <p:sp>
        <p:nvSpPr>
          <p:cNvPr id="12" name="Text 10"/>
          <p:cNvSpPr/>
          <p:nvPr/>
        </p:nvSpPr>
        <p:spPr>
          <a:xfrm>
            <a:off x="941832" y="1975104"/>
            <a:ext cx="3008376" cy="228600"/>
          </a:xfrm>
          <a:prstGeom prst="rect">
            <a:avLst/>
          </a:prstGeom>
          <a:noFill/>
          <a:ln/>
        </p:spPr>
        <p:txBody>
          <a:bodyPr wrap="square" lIns="0" tIns="0" rIns="0" bIns="0" rtlCol="0" anchor="ctr">
            <a:normAutofit/>
          </a:bodyPr>
          <a:lstStyle/>
          <a:p>
            <a:pPr marL="0" indent="0">
              <a:buNone/>
            </a:pPr>
            <a:r>
              <a:rPr lang="en-US" sz="1500" b="1" dirty="0">
                <a:solidFill>
                  <a:srgbClr val="C9532F"/>
                </a:solidFill>
                <a:latin typeface="PingFang SC" pitchFamily="34" charset="0"/>
                <a:ea typeface="PingFang SC" pitchFamily="34" charset="-122"/>
                <a:cs typeface="PingFang SC" pitchFamily="34" charset="-120"/>
              </a:rPr>
              <a:t>固定项</a:t>
            </a:r>
            <a:endParaRPr lang="en-US" sz="1500" dirty="0"/>
          </a:p>
        </p:txBody>
      </p:sp>
      <p:sp>
        <p:nvSpPr>
          <p:cNvPr id="13" name="Text 11"/>
          <p:cNvSpPr/>
          <p:nvPr/>
        </p:nvSpPr>
        <p:spPr>
          <a:xfrm>
            <a:off x="941832" y="2322576"/>
            <a:ext cx="3008376" cy="1554480"/>
          </a:xfrm>
          <a:prstGeom prst="rect">
            <a:avLst/>
          </a:prstGeom>
          <a:noFill/>
          <a:ln/>
        </p:spPr>
        <p:txBody>
          <a:bodyPr wrap="square" lIns="0" tIns="0" rIns="0" bIns="0" rtlCol="0" anchor="t">
            <a:normAutofit/>
          </a:bodyPr>
          <a:lstStyle/>
          <a:p>
            <a:pPr marL="0" indent="0">
              <a:buNone/>
            </a:pPr>
            <a:r>
              <a:rPr lang="en-US" sz="1250" dirty="0">
                <a:solidFill>
                  <a:srgbClr val="292929"/>
                </a:solidFill>
                <a:latin typeface="PingFang SC" pitchFamily="34" charset="0"/>
                <a:ea typeface="PingFang SC" pitchFamily="34" charset="-122"/>
                <a:cs typeface="PingFang SC" pitchFamily="34" charset="-120"/>
              </a:rPr>
              <a:t>同一产品任务中长期稳定，应该由产品统一维护。</a:t>
            </a:r>
            <a:endParaRPr lang="en-US" sz="1250" dirty="0"/>
          </a:p>
          <a:p>
            <a:pPr marL="0" indent="0">
              <a:buNone/>
            </a:pPr>
            <a:endParaRPr lang="en-US" sz="1250" dirty="0"/>
          </a:p>
          <a:p>
            <a:pPr marL="0" indent="0">
              <a:buNone/>
            </a:pPr>
            <a:r>
              <a:rPr lang="en-US" sz="1250" dirty="0">
                <a:solidFill>
                  <a:srgbClr val="292929"/>
                </a:solidFill>
                <a:latin typeface="PingFang SC" pitchFamily="34" charset="0"/>
                <a:ea typeface="PingFang SC" pitchFamily="34" charset="-122"/>
                <a:cs typeface="PingFang SC" pitchFamily="34" charset="-120"/>
              </a:rPr>
              <a:t>角色、字段、事实规则、统一输出结构。</a:t>
            </a:r>
            <a:endParaRPr lang="en-US" sz="1250" dirty="0"/>
          </a:p>
        </p:txBody>
      </p:sp>
      <p:sp>
        <p:nvSpPr>
          <p:cNvPr id="14" name="Shape 12"/>
          <p:cNvSpPr/>
          <p:nvPr/>
        </p:nvSpPr>
        <p:spPr>
          <a:xfrm>
            <a:off x="4434840" y="1828800"/>
            <a:ext cx="3337560" cy="2194560"/>
          </a:xfrm>
          <a:prstGeom prst="roundRect">
            <a:avLst>
              <a:gd name="adj" fmla="val 3333"/>
            </a:avLst>
          </a:prstGeom>
          <a:solidFill>
            <a:srgbClr val="FFF9EE"/>
          </a:solidFill>
          <a:ln w="12700">
            <a:solidFill>
              <a:srgbClr val="D9CDBA"/>
            </a:solidFill>
            <a:prstDash val="solid"/>
          </a:ln>
        </p:spPr>
      </p:sp>
      <p:sp>
        <p:nvSpPr>
          <p:cNvPr id="15" name="Text 13"/>
          <p:cNvSpPr/>
          <p:nvPr/>
        </p:nvSpPr>
        <p:spPr>
          <a:xfrm>
            <a:off x="4599432" y="1975104"/>
            <a:ext cx="3008376" cy="228600"/>
          </a:xfrm>
          <a:prstGeom prst="rect">
            <a:avLst/>
          </a:prstGeom>
          <a:noFill/>
          <a:ln/>
        </p:spPr>
        <p:txBody>
          <a:bodyPr wrap="square" lIns="0" tIns="0" rIns="0" bIns="0" rtlCol="0" anchor="ctr">
            <a:normAutofit/>
          </a:bodyPr>
          <a:lstStyle/>
          <a:p>
            <a:pPr marL="0" indent="0">
              <a:buNone/>
            </a:pPr>
            <a:r>
              <a:rPr lang="en-US" sz="1500" b="1" dirty="0">
                <a:solidFill>
                  <a:srgbClr val="C9532F"/>
                </a:solidFill>
                <a:latin typeface="PingFang SC" pitchFamily="34" charset="0"/>
                <a:ea typeface="PingFang SC" pitchFamily="34" charset="-122"/>
                <a:cs typeface="PingFang SC" pitchFamily="34" charset="-120"/>
              </a:rPr>
              <a:t>用户提供项</a:t>
            </a:r>
            <a:endParaRPr lang="en-US" sz="1500" dirty="0"/>
          </a:p>
        </p:txBody>
      </p:sp>
      <p:sp>
        <p:nvSpPr>
          <p:cNvPr id="16" name="Text 14"/>
          <p:cNvSpPr/>
          <p:nvPr/>
        </p:nvSpPr>
        <p:spPr>
          <a:xfrm>
            <a:off x="4599432" y="2322576"/>
            <a:ext cx="3008376" cy="1554480"/>
          </a:xfrm>
          <a:prstGeom prst="rect">
            <a:avLst/>
          </a:prstGeom>
          <a:noFill/>
          <a:ln/>
        </p:spPr>
        <p:txBody>
          <a:bodyPr wrap="square" lIns="0" tIns="0" rIns="0" bIns="0" rtlCol="0" anchor="t">
            <a:normAutofit/>
          </a:bodyPr>
          <a:lstStyle/>
          <a:p>
            <a:pPr marL="0" indent="0">
              <a:buNone/>
            </a:pPr>
            <a:r>
              <a:rPr lang="en-US" sz="1250" dirty="0">
                <a:solidFill>
                  <a:srgbClr val="292929"/>
                </a:solidFill>
                <a:latin typeface="PingFang SC" pitchFamily="34" charset="0"/>
                <a:ea typeface="PingFang SC" pitchFamily="34" charset="-122"/>
                <a:cs typeface="PingFang SC" pitchFamily="34" charset="-120"/>
              </a:rPr>
              <a:t>只有用户知道，或必须由用户主动选择。</a:t>
            </a:r>
            <a:endParaRPr lang="en-US" sz="1250" dirty="0"/>
          </a:p>
          <a:p>
            <a:pPr marL="0" indent="0">
              <a:buNone/>
            </a:pPr>
            <a:endParaRPr lang="en-US" sz="1250" dirty="0"/>
          </a:p>
          <a:p>
            <a:pPr marL="0" indent="0">
              <a:buNone/>
            </a:pPr>
            <a:r>
              <a:rPr lang="en-US" sz="1250" dirty="0">
                <a:solidFill>
                  <a:srgbClr val="292929"/>
                </a:solidFill>
                <a:latin typeface="PingFang SC" pitchFamily="34" charset="0"/>
                <a:ea typeface="PingFang SC" pitchFamily="34" charset="-122"/>
                <a:cs typeface="PingFang SC" pitchFamily="34" charset="-120"/>
              </a:rPr>
              <a:t>本次重点、特殊备注、额外输出选择。</a:t>
            </a:r>
            <a:endParaRPr lang="en-US" sz="1250" dirty="0"/>
          </a:p>
        </p:txBody>
      </p:sp>
      <p:sp>
        <p:nvSpPr>
          <p:cNvPr id="17" name="Shape 15"/>
          <p:cNvSpPr/>
          <p:nvPr/>
        </p:nvSpPr>
        <p:spPr>
          <a:xfrm>
            <a:off x="8092440" y="1828800"/>
            <a:ext cx="3337560" cy="2194560"/>
          </a:xfrm>
          <a:prstGeom prst="roundRect">
            <a:avLst>
              <a:gd name="adj" fmla="val 3333"/>
            </a:avLst>
          </a:prstGeom>
          <a:solidFill>
            <a:srgbClr val="FFF9EE"/>
          </a:solidFill>
          <a:ln w="12700">
            <a:solidFill>
              <a:srgbClr val="D9CDBA"/>
            </a:solidFill>
            <a:prstDash val="solid"/>
          </a:ln>
        </p:spPr>
      </p:sp>
      <p:sp>
        <p:nvSpPr>
          <p:cNvPr id="18" name="Text 16"/>
          <p:cNvSpPr/>
          <p:nvPr/>
        </p:nvSpPr>
        <p:spPr>
          <a:xfrm>
            <a:off x="8257032" y="1975104"/>
            <a:ext cx="3008376" cy="228600"/>
          </a:xfrm>
          <a:prstGeom prst="rect">
            <a:avLst/>
          </a:prstGeom>
          <a:noFill/>
          <a:ln/>
        </p:spPr>
        <p:txBody>
          <a:bodyPr wrap="square" lIns="0" tIns="0" rIns="0" bIns="0" rtlCol="0" anchor="ctr">
            <a:normAutofit/>
          </a:bodyPr>
          <a:lstStyle/>
          <a:p>
            <a:pPr marL="0" indent="0">
              <a:buNone/>
            </a:pPr>
            <a:r>
              <a:rPr lang="en-US" sz="1500" b="1" dirty="0">
                <a:solidFill>
                  <a:srgbClr val="C9532F"/>
                </a:solidFill>
                <a:latin typeface="PingFang SC" pitchFamily="34" charset="0"/>
                <a:ea typeface="PingFang SC" pitchFamily="34" charset="-122"/>
                <a:cs typeface="PingFang SC" pitchFamily="34" charset="-120"/>
              </a:rPr>
              <a:t>系统获取项</a:t>
            </a:r>
            <a:endParaRPr lang="en-US" sz="1500" dirty="0"/>
          </a:p>
        </p:txBody>
      </p:sp>
      <p:sp>
        <p:nvSpPr>
          <p:cNvPr id="19" name="Text 17"/>
          <p:cNvSpPr/>
          <p:nvPr/>
        </p:nvSpPr>
        <p:spPr>
          <a:xfrm>
            <a:off x="8257032" y="2322576"/>
            <a:ext cx="3008376" cy="1554480"/>
          </a:xfrm>
          <a:prstGeom prst="rect">
            <a:avLst/>
          </a:prstGeom>
          <a:noFill/>
          <a:ln/>
        </p:spPr>
        <p:txBody>
          <a:bodyPr wrap="square" lIns="0" tIns="0" rIns="0" bIns="0" rtlCol="0" anchor="t">
            <a:normAutofit/>
          </a:bodyPr>
          <a:lstStyle/>
          <a:p>
            <a:pPr marL="0" indent="0">
              <a:buNone/>
            </a:pPr>
            <a:r>
              <a:rPr lang="en-US" sz="1250" dirty="0">
                <a:solidFill>
                  <a:srgbClr val="292929"/>
                </a:solidFill>
                <a:latin typeface="PingFang SC" pitchFamily="34" charset="0"/>
                <a:ea typeface="PingFang SC" pitchFamily="34" charset="-122"/>
                <a:cs typeface="PingFang SC" pitchFamily="34" charset="-120"/>
              </a:rPr>
              <a:t>系统已有或授权后可获得。</a:t>
            </a:r>
            <a:endParaRPr lang="en-US" sz="1250" dirty="0"/>
          </a:p>
          <a:p>
            <a:pPr marL="0" indent="0">
              <a:buNone/>
            </a:pPr>
            <a:endParaRPr lang="en-US" sz="1250" dirty="0"/>
          </a:p>
          <a:p>
            <a:pPr marL="0" indent="0">
              <a:buNone/>
            </a:pPr>
            <a:r>
              <a:rPr lang="en-US" sz="1250" dirty="0">
                <a:solidFill>
                  <a:srgbClr val="292929"/>
                </a:solidFill>
                <a:latin typeface="PingFang SC" pitchFamily="34" charset="0"/>
                <a:ea typeface="PingFang SC" pitchFamily="34" charset="-122"/>
                <a:cs typeface="PingFang SC" pitchFamily="34" charset="-120"/>
              </a:rPr>
              <a:t>转写、客户资料、商机阶段、参会人、拜访时间。</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CBF75FCE-7FE7-402A-2ECD-23D71BE903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7A633C-C2CE-3E54-6570-640042867650}"/>
              </a:ext>
            </a:extLst>
          </p:cNvPr>
          <p:cNvSpPr/>
          <p:nvPr/>
        </p:nvSpPr>
        <p:spPr>
          <a:xfrm>
            <a:off x="0" y="0"/>
            <a:ext cx="201168" cy="6858000"/>
          </a:xfrm>
          <a:prstGeom prst="rect">
            <a:avLst/>
          </a:prstGeom>
          <a:solidFill>
            <a:srgbClr val="C35331"/>
          </a:solidFill>
          <a:ln w="12700">
            <a:solidFill>
              <a:srgbClr val="C35331"/>
            </a:solidFill>
            <a:prstDash val="solid"/>
          </a:ln>
        </p:spPr>
      </p:sp>
      <p:sp>
        <p:nvSpPr>
          <p:cNvPr id="4" name="Text 2">
            <a:extLst>
              <a:ext uri="{FF2B5EF4-FFF2-40B4-BE49-F238E27FC236}">
                <a16:creationId xmlns:a16="http://schemas.microsoft.com/office/drawing/2014/main" id="{3B8F4B80-F161-A165-E2CD-1E0DD7F8C2AB}"/>
              </a:ext>
            </a:extLst>
          </p:cNvPr>
          <p:cNvSpPr/>
          <p:nvPr/>
        </p:nvSpPr>
        <p:spPr>
          <a:xfrm>
            <a:off x="795528" y="3113532"/>
            <a:ext cx="7863840" cy="621792"/>
          </a:xfrm>
          <a:prstGeom prst="rect">
            <a:avLst/>
          </a:prstGeom>
          <a:noFill/>
          <a:ln/>
        </p:spPr>
        <p:txBody>
          <a:bodyPr wrap="square" lIns="0" tIns="0" rIns="0" bIns="0" rtlCol="0" anchor="t">
            <a:normAutofit/>
          </a:bodyPr>
          <a:lstStyle/>
          <a:p>
            <a:pPr fontAlgn="auto"/>
            <a:r>
              <a:rPr lang="zh-CN" altLang="en-US" sz="3600" b="1" dirty="0"/>
              <a:t>案例时间</a:t>
            </a:r>
            <a:endParaRPr lang="zh-CN" altLang="zh-CN" sz="3600" b="1" dirty="0"/>
          </a:p>
        </p:txBody>
      </p:sp>
      <p:sp>
        <p:nvSpPr>
          <p:cNvPr id="6" name="Shape 4">
            <a:extLst>
              <a:ext uri="{FF2B5EF4-FFF2-40B4-BE49-F238E27FC236}">
                <a16:creationId xmlns:a16="http://schemas.microsoft.com/office/drawing/2014/main" id="{9C5B1CAC-E800-0667-1A6E-B4D17CCA3F10}"/>
              </a:ext>
            </a:extLst>
          </p:cNvPr>
          <p:cNvSpPr/>
          <p:nvPr/>
        </p:nvSpPr>
        <p:spPr>
          <a:xfrm>
            <a:off x="841248" y="3822192"/>
            <a:ext cx="2743200" cy="0"/>
          </a:xfrm>
          <a:prstGeom prst="line">
            <a:avLst/>
          </a:prstGeom>
          <a:noFill/>
          <a:ln w="38100">
            <a:solidFill>
              <a:srgbClr val="C35331"/>
            </a:solidFill>
            <a:prstDash val="solid"/>
          </a:ln>
        </p:spPr>
      </p:sp>
    </p:spTree>
    <p:extLst>
      <p:ext uri="{BB962C8B-B14F-4D97-AF65-F5344CB8AC3E}">
        <p14:creationId xmlns:p14="http://schemas.microsoft.com/office/powerpoint/2010/main" val="13455357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0">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37</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销售拜访记录助手案例</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销售要检查的不是漂亮纪要，而是可进入CRM的草稿</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07 销售拜访记录助手案例</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37</a:t>
            </a:r>
            <a:endParaRPr lang="en-US" sz="850" dirty="0"/>
          </a:p>
        </p:txBody>
      </p:sp>
      <p:sp>
        <p:nvSpPr>
          <p:cNvPr id="10" name="Shape 8"/>
          <p:cNvSpPr/>
          <p:nvPr/>
        </p:nvSpPr>
        <p:spPr>
          <a:xfrm>
            <a:off x="9555480" y="749808"/>
            <a:ext cx="1627632" cy="310896"/>
          </a:xfrm>
          <a:prstGeom prst="roundRect">
            <a:avLst>
              <a:gd name="adj" fmla="val 29412"/>
            </a:avLst>
          </a:prstGeom>
          <a:solidFill>
            <a:srgbClr val="D18A38"/>
          </a:solidFill>
          <a:ln w="12700">
            <a:solidFill>
              <a:srgbClr val="D18A38"/>
            </a:solidFill>
            <a:prstDash val="solid"/>
          </a:ln>
        </p:spPr>
      </p:sp>
      <p:sp>
        <p:nvSpPr>
          <p:cNvPr id="11" name="Text 9"/>
          <p:cNvSpPr/>
          <p:nvPr/>
        </p:nvSpPr>
        <p:spPr>
          <a:xfrm>
            <a:off x="9619488" y="818388"/>
            <a:ext cx="1499616"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教学虚构案例</a:t>
            </a:r>
            <a:endParaRPr lang="en-US" sz="900" dirty="0"/>
          </a:p>
        </p:txBody>
      </p:sp>
      <p:sp>
        <p:nvSpPr>
          <p:cNvPr id="12" name="Shape 10"/>
          <p:cNvSpPr/>
          <p:nvPr/>
        </p:nvSpPr>
        <p:spPr>
          <a:xfrm>
            <a:off x="685800" y="1536192"/>
            <a:ext cx="4754880" cy="4343400"/>
          </a:xfrm>
          <a:prstGeom prst="roundRect">
            <a:avLst>
              <a:gd name="adj" fmla="val 1053"/>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3" name="Shape 11"/>
          <p:cNvSpPr/>
          <p:nvPr/>
        </p:nvSpPr>
        <p:spPr>
          <a:xfrm>
            <a:off x="685800" y="1536192"/>
            <a:ext cx="64008" cy="4343400"/>
          </a:xfrm>
          <a:prstGeom prst="rect">
            <a:avLst/>
          </a:prstGeom>
          <a:solidFill>
            <a:srgbClr val="387B77"/>
          </a:solidFill>
          <a:ln w="12700">
            <a:solidFill>
              <a:srgbClr val="387B77"/>
            </a:solidFill>
            <a:prstDash val="solid"/>
          </a:ln>
        </p:spPr>
      </p:sp>
      <p:sp>
        <p:nvSpPr>
          <p:cNvPr id="14" name="Text 12"/>
          <p:cNvSpPr/>
          <p:nvPr/>
        </p:nvSpPr>
        <p:spPr>
          <a:xfrm>
            <a:off x="932688" y="1746504"/>
            <a:ext cx="4279392"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项目背景</a:t>
            </a:r>
            <a:endParaRPr lang="en-US" sz="1800" dirty="0"/>
          </a:p>
        </p:txBody>
      </p:sp>
      <p:sp>
        <p:nvSpPr>
          <p:cNvPr id="15" name="Text 13"/>
          <p:cNvSpPr/>
          <p:nvPr/>
        </p:nvSpPr>
        <p:spPr>
          <a:xfrm>
            <a:off x="932688" y="2258568"/>
            <a:ext cx="4261104" cy="3410712"/>
          </a:xfrm>
          <a:prstGeom prst="rect">
            <a:avLst/>
          </a:prstGeom>
          <a:noFill/>
          <a:ln/>
        </p:spPr>
        <p:txBody>
          <a:bodyPr wrap="square" lIns="0" tIns="0" rIns="0" bIns="0" rtlCol="0" anchor="t">
            <a:normAutofit/>
          </a:bodyPr>
          <a:lstStyle/>
          <a:p>
            <a:pPr marL="0" indent="0" algn="l">
              <a:buNone/>
            </a:pPr>
            <a:r>
              <a:rPr lang="en-US" sz="1320" dirty="0">
                <a:solidFill>
                  <a:srgbClr val="77766F"/>
                </a:solidFill>
                <a:latin typeface="PingFang SC" pitchFamily="34" charset="0"/>
                <a:ea typeface="PingFang SC" pitchFamily="34" charset="-122"/>
                <a:cs typeface="PingFang SC" pitchFamily="34" charset="-120"/>
              </a:rPr>
              <a:t>供应商｜北辰云科</a:t>
            </a:r>
            <a:endParaRPr lang="en-US" sz="1320" dirty="0"/>
          </a:p>
          <a:p>
            <a:pPr marL="0" indent="0" algn="l">
              <a:buNone/>
            </a:pPr>
            <a:r>
              <a:rPr lang="en-US" sz="1320" dirty="0">
                <a:solidFill>
                  <a:srgbClr val="77766F"/>
                </a:solidFill>
                <a:latin typeface="PingFang SC" pitchFamily="34" charset="0"/>
                <a:ea typeface="PingFang SC" pitchFamily="34" charset="-122"/>
                <a:cs typeface="PingFang SC" pitchFamily="34" charset="-120"/>
              </a:rPr>
              <a:t>客户｜禾味餐饮，48家直营门店</a:t>
            </a:r>
            <a:endParaRPr lang="en-US" sz="1320" dirty="0"/>
          </a:p>
          <a:p>
            <a:pPr marL="0" indent="0" algn="l">
              <a:buNone/>
            </a:pPr>
            <a:r>
              <a:rPr lang="en-US" sz="1320" dirty="0">
                <a:solidFill>
                  <a:srgbClr val="77766F"/>
                </a:solidFill>
                <a:latin typeface="PingFang SC" pitchFamily="34" charset="0"/>
                <a:ea typeface="PingFang SC" pitchFamily="34" charset="-122"/>
                <a:cs typeface="PingFang SC" pitchFamily="34" charset="-120"/>
              </a:rPr>
              <a:t>阶段｜初次演示后，讨论试点与技术可行性</a:t>
            </a:r>
            <a:endParaRPr lang="en-US" sz="1320" dirty="0"/>
          </a:p>
          <a:p>
            <a:pPr marL="0" indent="0" algn="l">
              <a:buNone/>
            </a:pPr>
            <a:r>
              <a:rPr lang="en-US" sz="1320" dirty="0">
                <a:solidFill>
                  <a:srgbClr val="77766F"/>
                </a:solidFill>
                <a:latin typeface="PingFang SC" pitchFamily="34" charset="0"/>
                <a:ea typeface="PingFang SC" pitchFamily="34" charset="-122"/>
                <a:cs typeface="PingFang SC" pitchFamily="34" charset="-120"/>
              </a:rPr>
              <a:t>用户｜一线销售林然</a:t>
            </a:r>
            <a:endParaRPr lang="en-US" sz="1320" dirty="0"/>
          </a:p>
          <a:p>
            <a:pPr marL="0" indent="0" algn="l">
              <a:buNone/>
            </a:pPr>
            <a:r>
              <a:rPr lang="en-US" sz="1320" dirty="0">
                <a:solidFill>
                  <a:srgbClr val="77766F"/>
                </a:solidFill>
                <a:latin typeface="PingFang SC" pitchFamily="34" charset="0"/>
                <a:ea typeface="PingFang SC" pitchFamily="34" charset="-122"/>
                <a:cs typeface="PingFang SC" pitchFamily="34" charset="-120"/>
              </a:rPr>
              <a:t>时点｜拜访结束后10分钟内</a:t>
            </a:r>
            <a:endParaRPr lang="en-US" sz="1320" dirty="0"/>
          </a:p>
          <a:p>
            <a:pPr marL="0" indent="0" algn="l">
              <a:buNone/>
            </a:pPr>
            <a:r>
              <a:rPr lang="en-US" sz="1320" dirty="0">
                <a:solidFill>
                  <a:srgbClr val="77766F"/>
                </a:solidFill>
                <a:latin typeface="PingFang SC" pitchFamily="34" charset="0"/>
                <a:ea typeface="PingFang SC" pitchFamily="34" charset="-122"/>
                <a:cs typeface="PingFang SC" pitchFamily="34" charset="-120"/>
              </a:rPr>
              <a:t>下一步｜检查事实、录入CRM、推进评审</a:t>
            </a:r>
            <a:endParaRPr lang="en-US" sz="1320" dirty="0"/>
          </a:p>
        </p:txBody>
      </p:sp>
      <p:sp>
        <p:nvSpPr>
          <p:cNvPr id="16" name="Shape 14"/>
          <p:cNvSpPr/>
          <p:nvPr/>
        </p:nvSpPr>
        <p:spPr>
          <a:xfrm>
            <a:off x="5715000" y="1536192"/>
            <a:ext cx="2651760" cy="4343400"/>
          </a:xfrm>
          <a:prstGeom prst="roundRect">
            <a:avLst>
              <a:gd name="adj" fmla="val 1724"/>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7" name="Shape 15"/>
          <p:cNvSpPr/>
          <p:nvPr/>
        </p:nvSpPr>
        <p:spPr>
          <a:xfrm>
            <a:off x="5715000" y="1536192"/>
            <a:ext cx="64008" cy="4343400"/>
          </a:xfrm>
          <a:prstGeom prst="rect">
            <a:avLst/>
          </a:prstGeom>
          <a:solidFill>
            <a:srgbClr val="405D78"/>
          </a:solidFill>
          <a:ln w="12700">
            <a:solidFill>
              <a:srgbClr val="405D78"/>
            </a:solidFill>
            <a:prstDash val="solid"/>
          </a:ln>
        </p:spPr>
      </p:sp>
      <p:sp>
        <p:nvSpPr>
          <p:cNvPr id="18" name="Text 16"/>
          <p:cNvSpPr/>
          <p:nvPr/>
        </p:nvSpPr>
        <p:spPr>
          <a:xfrm>
            <a:off x="5961888" y="1746504"/>
            <a:ext cx="2176272" cy="347472"/>
          </a:xfrm>
          <a:prstGeom prst="rect">
            <a:avLst/>
          </a:prstGeom>
          <a:noFill/>
          <a:ln/>
        </p:spPr>
        <p:txBody>
          <a:bodyPr wrap="square" lIns="0" tIns="0" rIns="0" bIns="0" rtlCol="0" anchor="t">
            <a:normAutofit/>
          </a:bodyPr>
          <a:lstStyle/>
          <a:p>
            <a:pPr marL="0" indent="0" algn="l">
              <a:buNone/>
            </a:pPr>
            <a:r>
              <a:rPr lang="en-US" sz="1700" b="1" dirty="0">
                <a:solidFill>
                  <a:srgbClr val="20211F"/>
                </a:solidFill>
                <a:latin typeface="PingFang SC" pitchFamily="34" charset="0"/>
                <a:ea typeface="PingFang SC" pitchFamily="34" charset="-122"/>
                <a:cs typeface="PingFang SC" pitchFamily="34" charset="-120"/>
              </a:rPr>
              <a:t>本次只整理</a:t>
            </a:r>
            <a:endParaRPr lang="en-US" sz="1700" dirty="0"/>
          </a:p>
        </p:txBody>
      </p:sp>
      <p:sp>
        <p:nvSpPr>
          <p:cNvPr id="19" name="Text 17"/>
          <p:cNvSpPr/>
          <p:nvPr/>
        </p:nvSpPr>
        <p:spPr>
          <a:xfrm>
            <a:off x="5961888" y="2258568"/>
            <a:ext cx="2157984" cy="3410712"/>
          </a:xfrm>
          <a:prstGeom prst="rect">
            <a:avLst/>
          </a:prstGeom>
          <a:noFill/>
          <a:ln/>
        </p:spPr>
        <p:txBody>
          <a:bodyPr wrap="square" lIns="0" tIns="0" rIns="0" bIns="0" rtlCol="0" anchor="t">
            <a:normAutofit/>
          </a:bodyPr>
          <a:lstStyle/>
          <a:p>
            <a:pPr marL="0" indent="0" algn="ctr">
              <a:buNone/>
            </a:pPr>
            <a:r>
              <a:rPr lang="en-US" sz="1400" dirty="0">
                <a:solidFill>
                  <a:srgbClr val="77766F"/>
                </a:solidFill>
                <a:latin typeface="PingFang SC" pitchFamily="34" charset="0"/>
                <a:ea typeface="PingFang SC" pitchFamily="34" charset="-122"/>
                <a:cs typeface="PingFang SC" pitchFamily="34" charset="-120"/>
              </a:rPr>
              <a:t>客户诉求</a:t>
            </a:r>
            <a:endParaRPr lang="en-US" sz="1400" dirty="0"/>
          </a:p>
          <a:p>
            <a:pPr marL="0" indent="0" algn="ctr">
              <a:buNone/>
            </a:pPr>
            <a:r>
              <a:rPr lang="en-US" sz="1400" dirty="0">
                <a:solidFill>
                  <a:srgbClr val="77766F"/>
                </a:solidFill>
                <a:latin typeface="PingFang SC" pitchFamily="34" charset="0"/>
                <a:ea typeface="PingFang SC" pitchFamily="34" charset="-122"/>
                <a:cs typeface="PingFang SC" pitchFamily="34" charset="-120"/>
              </a:rPr>
              <a:t>异议与风险</a:t>
            </a:r>
            <a:endParaRPr lang="en-US" sz="1400" dirty="0"/>
          </a:p>
          <a:p>
            <a:pPr marL="0" indent="0" algn="ctr">
              <a:buNone/>
            </a:pPr>
            <a:r>
              <a:rPr lang="en-US" sz="1400" dirty="0">
                <a:solidFill>
                  <a:srgbClr val="77766F"/>
                </a:solidFill>
                <a:latin typeface="PingFang SC" pitchFamily="34" charset="0"/>
                <a:ea typeface="PingFang SC" pitchFamily="34" charset="-122"/>
                <a:cs typeface="PingFang SC" pitchFamily="34" charset="-120"/>
              </a:rPr>
              <a:t>试点状态</a:t>
            </a:r>
            <a:endParaRPr lang="en-US" sz="1400" dirty="0"/>
          </a:p>
          <a:p>
            <a:pPr marL="0" indent="0" algn="ctr">
              <a:buNone/>
            </a:pPr>
            <a:r>
              <a:rPr lang="en-US" sz="1400" dirty="0">
                <a:solidFill>
                  <a:srgbClr val="77766F"/>
                </a:solidFill>
                <a:latin typeface="PingFang SC" pitchFamily="34" charset="0"/>
                <a:ea typeface="PingFang SC" pitchFamily="34" charset="-122"/>
                <a:cs typeface="PingFang SC" pitchFamily="34" charset="-120"/>
              </a:rPr>
              <a:t>行动项</a:t>
            </a:r>
            <a:endParaRPr lang="en-US" sz="1400" dirty="0"/>
          </a:p>
          <a:p>
            <a:pPr marL="0" indent="0" algn="ctr">
              <a:buNone/>
            </a:pPr>
            <a:r>
              <a:rPr lang="en-US" sz="1400" dirty="0">
                <a:solidFill>
                  <a:srgbClr val="77766F"/>
                </a:solidFill>
                <a:latin typeface="PingFang SC" pitchFamily="34" charset="0"/>
                <a:ea typeface="PingFang SC" pitchFamily="34" charset="-122"/>
                <a:cs typeface="PingFang SC" pitchFamily="34" charset="-120"/>
              </a:rPr>
              <a:t>待确认信息</a:t>
            </a:r>
            <a:endParaRPr lang="en-US" sz="1400" dirty="0"/>
          </a:p>
        </p:txBody>
      </p:sp>
      <p:sp>
        <p:nvSpPr>
          <p:cNvPr id="20" name="Shape 18"/>
          <p:cNvSpPr/>
          <p:nvPr/>
        </p:nvSpPr>
        <p:spPr>
          <a:xfrm>
            <a:off x="8641080" y="1536192"/>
            <a:ext cx="2651760" cy="4343400"/>
          </a:xfrm>
          <a:prstGeom prst="roundRect">
            <a:avLst>
              <a:gd name="adj" fmla="val 1724"/>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21" name="Shape 19"/>
          <p:cNvSpPr/>
          <p:nvPr/>
        </p:nvSpPr>
        <p:spPr>
          <a:xfrm>
            <a:off x="8641080" y="1536192"/>
            <a:ext cx="64008" cy="4343400"/>
          </a:xfrm>
          <a:prstGeom prst="rect">
            <a:avLst/>
          </a:prstGeom>
          <a:solidFill>
            <a:srgbClr val="C35331"/>
          </a:solidFill>
          <a:ln w="12700">
            <a:solidFill>
              <a:srgbClr val="C35331"/>
            </a:solidFill>
            <a:prstDash val="solid"/>
          </a:ln>
        </p:spPr>
      </p:sp>
      <p:sp>
        <p:nvSpPr>
          <p:cNvPr id="22" name="Text 20"/>
          <p:cNvSpPr/>
          <p:nvPr/>
        </p:nvSpPr>
        <p:spPr>
          <a:xfrm>
            <a:off x="8887968" y="1746504"/>
            <a:ext cx="2176272" cy="347472"/>
          </a:xfrm>
          <a:prstGeom prst="rect">
            <a:avLst/>
          </a:prstGeom>
          <a:noFill/>
          <a:ln/>
        </p:spPr>
        <p:txBody>
          <a:bodyPr wrap="square" lIns="0" tIns="0" rIns="0" bIns="0" rtlCol="0" anchor="t">
            <a:normAutofit/>
          </a:bodyPr>
          <a:lstStyle/>
          <a:p>
            <a:pPr marL="0" indent="0" algn="l">
              <a:buNone/>
            </a:pPr>
            <a:r>
              <a:rPr lang="en-US" sz="1700" b="1" dirty="0">
                <a:solidFill>
                  <a:srgbClr val="20211F"/>
                </a:solidFill>
                <a:latin typeface="PingFang SC" pitchFamily="34" charset="0"/>
                <a:ea typeface="PingFang SC" pitchFamily="34" charset="-122"/>
                <a:cs typeface="PingFang SC" pitchFamily="34" charset="-120"/>
              </a:rPr>
              <a:t>本次不做</a:t>
            </a:r>
            <a:endParaRPr lang="en-US" sz="1700" dirty="0"/>
          </a:p>
        </p:txBody>
      </p:sp>
      <p:sp>
        <p:nvSpPr>
          <p:cNvPr id="23" name="Text 21"/>
          <p:cNvSpPr/>
          <p:nvPr/>
        </p:nvSpPr>
        <p:spPr>
          <a:xfrm>
            <a:off x="8887968" y="2258568"/>
            <a:ext cx="2157984" cy="3410712"/>
          </a:xfrm>
          <a:prstGeom prst="rect">
            <a:avLst/>
          </a:prstGeom>
          <a:noFill/>
          <a:ln/>
        </p:spPr>
        <p:txBody>
          <a:bodyPr wrap="square" lIns="0" tIns="0" rIns="0" bIns="0" rtlCol="0" anchor="t">
            <a:normAutofit/>
          </a:bodyPr>
          <a:lstStyle/>
          <a:p>
            <a:pPr marL="0" indent="0" algn="ctr">
              <a:buNone/>
            </a:pPr>
            <a:r>
              <a:rPr lang="en-US" sz="1400" dirty="0">
                <a:solidFill>
                  <a:srgbClr val="77766F"/>
                </a:solidFill>
                <a:latin typeface="PingFang SC" pitchFamily="34" charset="0"/>
                <a:ea typeface="PingFang SC" pitchFamily="34" charset="-122"/>
                <a:cs typeface="PingFang SC" pitchFamily="34" charset="-120"/>
              </a:rPr>
              <a:t>成交预测</a:t>
            </a:r>
            <a:endParaRPr lang="en-US" sz="1400" dirty="0"/>
          </a:p>
          <a:p>
            <a:pPr marL="0" indent="0" algn="ctr">
              <a:buNone/>
            </a:pPr>
            <a:r>
              <a:rPr lang="en-US" sz="1400" dirty="0">
                <a:solidFill>
                  <a:srgbClr val="77766F"/>
                </a:solidFill>
                <a:latin typeface="PingFang SC" pitchFamily="34" charset="0"/>
                <a:ea typeface="PingFang SC" pitchFamily="34" charset="-122"/>
                <a:cs typeface="PingFang SC" pitchFamily="34" charset="-120"/>
              </a:rPr>
              <a:t>自动报价</a:t>
            </a:r>
            <a:endParaRPr lang="en-US" sz="1400" dirty="0"/>
          </a:p>
          <a:p>
            <a:pPr marL="0" indent="0" algn="ctr">
              <a:buNone/>
            </a:pPr>
            <a:r>
              <a:rPr lang="en-US" sz="1400" dirty="0">
                <a:solidFill>
                  <a:srgbClr val="77766F"/>
                </a:solidFill>
                <a:latin typeface="PingFang SC" pitchFamily="34" charset="0"/>
                <a:ea typeface="PingFang SC" pitchFamily="34" charset="-122"/>
                <a:cs typeface="PingFang SC" pitchFamily="34" charset="-120"/>
              </a:rPr>
              <a:t>完整方案</a:t>
            </a:r>
            <a:endParaRPr lang="en-US" sz="1400" dirty="0"/>
          </a:p>
          <a:p>
            <a:pPr marL="0" indent="0" algn="ctr">
              <a:buNone/>
            </a:pPr>
            <a:r>
              <a:rPr lang="en-US" sz="1400" dirty="0">
                <a:solidFill>
                  <a:srgbClr val="77766F"/>
                </a:solidFill>
                <a:latin typeface="PingFang SC" pitchFamily="34" charset="0"/>
                <a:ea typeface="PingFang SC" pitchFamily="34" charset="-122"/>
                <a:cs typeface="PingFang SC" pitchFamily="34" charset="-120"/>
              </a:rPr>
              <a:t>自动写入CRM</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FEDFB048-3F66-02AB-5983-3906B4EEBD4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6E8453E-9D5C-07B6-6497-99950717AEBF}"/>
              </a:ext>
            </a:extLst>
          </p:cNvPr>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a:extLst>
              <a:ext uri="{FF2B5EF4-FFF2-40B4-BE49-F238E27FC236}">
                <a16:creationId xmlns:a16="http://schemas.microsoft.com/office/drawing/2014/main" id="{0E7C2591-035D-5A2C-28FC-A1A1A5786D9A}"/>
              </a:ext>
            </a:extLst>
          </p:cNvPr>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37</a:t>
            </a:r>
            <a:endParaRPr lang="en-US" sz="900" dirty="0"/>
          </a:p>
        </p:txBody>
      </p:sp>
      <p:sp>
        <p:nvSpPr>
          <p:cNvPr id="4" name="Text 2">
            <a:extLst>
              <a:ext uri="{FF2B5EF4-FFF2-40B4-BE49-F238E27FC236}">
                <a16:creationId xmlns:a16="http://schemas.microsoft.com/office/drawing/2014/main" id="{FD4D591F-6EEA-D0F2-DAC1-16F94BB360C9}"/>
              </a:ext>
            </a:extLst>
          </p:cNvPr>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销售拜访记录助手案例</a:t>
            </a:r>
            <a:endParaRPr lang="en-US" sz="950" dirty="0"/>
          </a:p>
        </p:txBody>
      </p:sp>
      <p:sp>
        <p:nvSpPr>
          <p:cNvPr id="5" name="Text 3">
            <a:extLst>
              <a:ext uri="{FF2B5EF4-FFF2-40B4-BE49-F238E27FC236}">
                <a16:creationId xmlns:a16="http://schemas.microsoft.com/office/drawing/2014/main" id="{9671DE0F-0766-23DA-CC14-DF2C7832706B}"/>
              </a:ext>
            </a:extLst>
          </p:cNvPr>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录音原文</a:t>
            </a:r>
            <a:endParaRPr lang="en-US" sz="2500" dirty="0"/>
          </a:p>
        </p:txBody>
      </p:sp>
      <p:sp>
        <p:nvSpPr>
          <p:cNvPr id="6" name="Shape 4">
            <a:extLst>
              <a:ext uri="{FF2B5EF4-FFF2-40B4-BE49-F238E27FC236}">
                <a16:creationId xmlns:a16="http://schemas.microsoft.com/office/drawing/2014/main" id="{6DA744E4-167B-CB9B-092A-0EBF475DEA9F}"/>
              </a:ext>
            </a:extLst>
          </p:cNvPr>
          <p:cNvSpPr/>
          <p:nvPr/>
        </p:nvSpPr>
        <p:spPr>
          <a:xfrm>
            <a:off x="566928" y="1298448"/>
            <a:ext cx="11018520" cy="0"/>
          </a:xfrm>
          <a:prstGeom prst="line">
            <a:avLst/>
          </a:prstGeom>
          <a:noFill/>
          <a:ln w="12700">
            <a:solidFill>
              <a:srgbClr val="D8D0C2"/>
            </a:solidFill>
            <a:prstDash val="solid"/>
          </a:ln>
        </p:spPr>
      </p:sp>
      <p:sp>
        <p:nvSpPr>
          <p:cNvPr id="7" name="Text 5">
            <a:extLst>
              <a:ext uri="{FF2B5EF4-FFF2-40B4-BE49-F238E27FC236}">
                <a16:creationId xmlns:a16="http://schemas.microsoft.com/office/drawing/2014/main" id="{BA9CB39E-ED08-1975-D480-76F6A4F1DF30}"/>
              </a:ext>
            </a:extLst>
          </p:cNvPr>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15" name="Text 13">
            <a:extLst>
              <a:ext uri="{FF2B5EF4-FFF2-40B4-BE49-F238E27FC236}">
                <a16:creationId xmlns:a16="http://schemas.microsoft.com/office/drawing/2014/main" id="{2699F546-F641-B05C-F98F-BC0BA1A2DD03}"/>
              </a:ext>
            </a:extLst>
          </p:cNvPr>
          <p:cNvSpPr/>
          <p:nvPr/>
        </p:nvSpPr>
        <p:spPr>
          <a:xfrm>
            <a:off x="215900" y="1408177"/>
            <a:ext cx="11760200" cy="4493768"/>
          </a:xfrm>
          <a:prstGeom prst="rect">
            <a:avLst/>
          </a:prstGeom>
          <a:noFill/>
          <a:ln/>
        </p:spPr>
        <p:txBody>
          <a:bodyPr wrap="square" lIns="0" tIns="0" rIns="0" bIns="0" rtlCol="0" anchor="t">
            <a:noAutofit/>
          </a:bodyPr>
          <a:lstStyle/>
          <a:p>
            <a:r>
              <a:rPr lang="zh-CN" altLang="zh-CN" sz="1200" dirty="0"/>
              <a:t>林然（客户经理）：今天主要想确认三件事：你们希望先解决的运营问题、试点范围，以及我们两边接下来要准备什么。如果有我理解不准确的地方，请你们直接纠正。</a:t>
            </a:r>
          </a:p>
          <a:p>
            <a:endParaRPr lang="zh-CN" altLang="zh-CN" sz="1200" dirty="0"/>
          </a:p>
          <a:p>
            <a:r>
              <a:rPr lang="zh-CN" altLang="zh-CN" sz="1200" dirty="0"/>
              <a:t>陈洁（客户运营负责人）：我们现在48家直营店，每天巡检照片、整改任务和销售数据散在三个群和几张Excel里。区域经理每周要花差不多半天汇总，最后还经常追不到门店有没有改。我们最想先解决的不是做一个更漂亮的报表，而是自动汇总异常、找到责任人，并且能看到整改有没有按时完成。</a:t>
            </a:r>
          </a:p>
          <a:p>
            <a:endParaRPr lang="zh-CN" altLang="zh-CN" sz="1200" dirty="0"/>
          </a:p>
          <a:p>
            <a:r>
              <a:rPr lang="zh-CN" altLang="zh-CN" sz="1200" dirty="0"/>
              <a:t>林然：我理解核心是经营数据汇总和任务闭环。如果试点效果可以，你们是不是就准备直接采购并铺到全部门店？</a:t>
            </a:r>
          </a:p>
          <a:p>
            <a:endParaRPr lang="zh-CN" altLang="zh-CN" sz="1200" dirty="0"/>
          </a:p>
          <a:p>
            <a:r>
              <a:rPr lang="zh-CN" altLang="zh-CN" sz="1200" dirty="0"/>
              <a:t>陈洁：这个先别这样写。试点通过不等于已经承诺采购，我们还要看数据接入、店长使用情况和内部预算。第一批可以先选5家店；如果内部协调顺利，也可能加到8家，但今天只能确认先按5家准备。</a:t>
            </a:r>
          </a:p>
          <a:p>
            <a:endParaRPr lang="zh-CN" altLang="zh-CN" sz="1200" dirty="0"/>
          </a:p>
          <a:p>
            <a:r>
              <a:rPr lang="zh-CN" altLang="zh-CN" sz="1200" dirty="0"/>
              <a:t>周凯（客户IT负责人）：数据接入是我最担心的。交易数据在现有POS里，会员数据是另一个系统，巡检照片又在企业协作工具里。你们要先给接口清单，我们才能判断哪些能开放。另外，员工照片和门店经营数据不能未经确认就传到外部环境，部署方式和权限日志要单独评审。</a:t>
            </a:r>
          </a:p>
          <a:p>
            <a:endParaRPr lang="zh-CN" altLang="zh-CN" sz="1200" dirty="0"/>
          </a:p>
          <a:p>
            <a:r>
              <a:rPr lang="zh-CN" altLang="zh-CN" sz="1200" dirty="0"/>
              <a:t>赵楠（解决方案顾问）：如果POS提供的是标准接口，交易数据接入通常两周左右能完成；但现在还没看过你们的接口文档，这不是正式工期承诺。照片和会员数据是否进入第一期，也建议技术评审后再定。我们可以提供公有云和专有部署的说明，具体方案要结合安全要求确认。</a:t>
            </a:r>
          </a:p>
          <a:p>
            <a:endParaRPr lang="zh-CN" altLang="zh-CN" sz="1200" dirty="0"/>
          </a:p>
          <a:p>
            <a:r>
              <a:rPr lang="zh-CN" altLang="zh-CN" sz="1200" dirty="0"/>
              <a:t>陈洁：预算不是唯一考虑，但今年确实比较紧，目前没有确认金额。我们希望先把5家店跑起来，看两周内能不能减少区域经理整理时间、提高整改任务按时完成率。有人刚才问能不能6月底上线，我只能说希望尽快，具体启动时间要等安全评审和内部排期，今天不能承诺。</a:t>
            </a:r>
          </a:p>
          <a:p>
            <a:endParaRPr lang="zh-CN" altLang="zh-CN" sz="1200" dirty="0"/>
          </a:p>
          <a:p>
            <a:r>
              <a:rPr lang="zh-CN" altLang="zh-CN" sz="1200" dirty="0"/>
              <a:t>林然：明白。那我们这边本周五，也就是6月19日18点前，发接口清单和5店试点方案。我负责试点方案，赵楠负责接口清单。你们这边能否下周二前给一份脱敏的样例数据和现有巡检字段？</a:t>
            </a:r>
          </a:p>
          <a:p>
            <a:endParaRPr lang="zh-CN" altLang="zh-CN" sz="1200" dirty="0"/>
          </a:p>
          <a:p>
            <a:r>
              <a:rPr lang="zh-CN" altLang="zh-CN" sz="1200" dirty="0"/>
              <a:t>周凯：可以，我负责，6月23日下班前给。如果脱敏审批卡住，我会提前说。</a:t>
            </a:r>
          </a:p>
          <a:p>
            <a:endParaRPr lang="zh-CN" altLang="zh-CN" sz="1200" dirty="0"/>
          </a:p>
          <a:p>
            <a:r>
              <a:rPr lang="zh-CN" altLang="zh-CN" sz="1200" dirty="0"/>
              <a:t>赵楠：技术评审暂定6月24日下午3点，参会人包括双方IT和方案团队。我会发会议邀请。评审之前我们不把两周接入时间写进正式计划。</a:t>
            </a:r>
          </a:p>
          <a:p>
            <a:endParaRPr lang="zh-CN" altLang="zh-CN" sz="1200" dirty="0"/>
          </a:p>
          <a:p>
            <a:r>
              <a:rPr lang="zh-CN" altLang="zh-CN" sz="1200" dirty="0"/>
              <a:t>陈洁：对。另外请在CRM里写清楚：目前确认的是5店试点准备，不是采购承诺，也没有确认全量上线时间。</a:t>
            </a:r>
          </a:p>
        </p:txBody>
      </p:sp>
    </p:spTree>
    <p:extLst>
      <p:ext uri="{BB962C8B-B14F-4D97-AF65-F5344CB8AC3E}">
        <p14:creationId xmlns:p14="http://schemas.microsoft.com/office/powerpoint/2010/main" val="24879745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2">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39</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销售拜访记录助手案例</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第一轮基线结果：读起来顺，但能直接使用吗？</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07 销售拜访记录助手案例</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39</a:t>
            </a:r>
            <a:endParaRPr lang="en-US" sz="850" dirty="0"/>
          </a:p>
        </p:txBody>
      </p:sp>
      <p:sp>
        <p:nvSpPr>
          <p:cNvPr id="10" name="Shape 8"/>
          <p:cNvSpPr/>
          <p:nvPr/>
        </p:nvSpPr>
        <p:spPr>
          <a:xfrm>
            <a:off x="7909560" y="749808"/>
            <a:ext cx="3273552" cy="310896"/>
          </a:xfrm>
          <a:prstGeom prst="roundRect">
            <a:avLst>
              <a:gd name="adj" fmla="val 29412"/>
            </a:avLst>
          </a:prstGeom>
          <a:solidFill>
            <a:srgbClr val="D18A38"/>
          </a:solidFill>
          <a:ln w="12700">
            <a:solidFill>
              <a:srgbClr val="D18A38"/>
            </a:solidFill>
            <a:prstDash val="solid"/>
          </a:ln>
        </p:spPr>
      </p:sp>
      <p:sp>
        <p:nvSpPr>
          <p:cNvPr id="11" name="Text 9"/>
          <p:cNvSpPr/>
          <p:nvPr/>
        </p:nvSpPr>
        <p:spPr>
          <a:xfrm>
            <a:off x="7973568" y="818388"/>
            <a:ext cx="3145536"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教学构造的错误样例｜不代表任何特定模型</a:t>
            </a:r>
            <a:endParaRPr lang="en-US" sz="900" dirty="0"/>
          </a:p>
        </p:txBody>
      </p:sp>
      <p:sp>
        <p:nvSpPr>
          <p:cNvPr id="12" name="Shape 10"/>
          <p:cNvSpPr/>
          <p:nvPr/>
        </p:nvSpPr>
        <p:spPr>
          <a:xfrm>
            <a:off x="713232" y="1481328"/>
            <a:ext cx="10561320" cy="4526280"/>
          </a:xfrm>
          <a:prstGeom prst="roundRect">
            <a:avLst>
              <a:gd name="adj" fmla="val 1010"/>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3" name="Shape 11"/>
          <p:cNvSpPr/>
          <p:nvPr/>
        </p:nvSpPr>
        <p:spPr>
          <a:xfrm>
            <a:off x="713232" y="1481328"/>
            <a:ext cx="64008" cy="4526280"/>
          </a:xfrm>
          <a:prstGeom prst="rect">
            <a:avLst/>
          </a:prstGeom>
          <a:solidFill>
            <a:srgbClr val="D18A38"/>
          </a:solidFill>
          <a:ln w="12700">
            <a:solidFill>
              <a:srgbClr val="D18A38"/>
            </a:solidFill>
            <a:prstDash val="solid"/>
          </a:ln>
        </p:spPr>
      </p:sp>
      <p:sp>
        <p:nvSpPr>
          <p:cNvPr id="14" name="Text 12"/>
          <p:cNvSpPr/>
          <p:nvPr/>
        </p:nvSpPr>
        <p:spPr>
          <a:xfrm>
            <a:off x="960120" y="3508249"/>
            <a:ext cx="10085832" cy="347472"/>
          </a:xfrm>
          <a:prstGeom prst="rect">
            <a:avLst/>
          </a:prstGeom>
          <a:noFill/>
          <a:ln/>
        </p:spPr>
        <p:txBody>
          <a:bodyPr wrap="square" lIns="0" tIns="0" rIns="0" bIns="0" rtlCol="0" anchor="t">
            <a:normAutofit/>
          </a:bodyPr>
          <a:lstStyle/>
          <a:p>
            <a:pPr marL="0" indent="0" algn="l">
              <a:buNone/>
            </a:pPr>
            <a:r>
              <a:rPr lang="en-US" sz="1700" b="1" dirty="0" err="1">
                <a:solidFill>
                  <a:srgbClr val="20211F"/>
                </a:solidFill>
                <a:latin typeface="PingFang SC" pitchFamily="34" charset="0"/>
                <a:ea typeface="PingFang SC" pitchFamily="34" charset="-122"/>
                <a:cs typeface="PingFang SC" pitchFamily="34" charset="-120"/>
              </a:rPr>
              <a:t>第一轮结果</a:t>
            </a:r>
            <a:endParaRPr lang="en-US" sz="1700" dirty="0"/>
          </a:p>
        </p:txBody>
      </p:sp>
      <p:sp>
        <p:nvSpPr>
          <p:cNvPr id="15" name="Text 13"/>
          <p:cNvSpPr/>
          <p:nvPr/>
        </p:nvSpPr>
        <p:spPr>
          <a:xfrm>
            <a:off x="960120" y="4015741"/>
            <a:ext cx="10067544" cy="1606296"/>
          </a:xfrm>
          <a:prstGeom prst="rect">
            <a:avLst/>
          </a:prstGeom>
          <a:noFill/>
          <a:ln/>
        </p:spPr>
        <p:txBody>
          <a:bodyPr wrap="square" lIns="0" tIns="0" rIns="0" bIns="0" rtlCol="0" anchor="t">
            <a:normAutofit/>
          </a:bodyPr>
          <a:lstStyle/>
          <a:p>
            <a:pPr marL="0" indent="0" algn="l">
              <a:buNone/>
            </a:pPr>
            <a:r>
              <a:rPr lang="en-US" sz="1360" dirty="0">
                <a:solidFill>
                  <a:srgbClr val="77766F"/>
                </a:solidFill>
                <a:latin typeface="PingFang SC" pitchFamily="34" charset="0"/>
                <a:ea typeface="PingFang SC" pitchFamily="34" charset="-122"/>
                <a:cs typeface="PingFang SC" pitchFamily="34" charset="-120"/>
              </a:rPr>
              <a:t>禾味餐饮拥有48家门店，目前数据分散、人工整理效率较低，希望通过FlowSight实现经营数据自动汇总和整改闭环。</a:t>
            </a:r>
            <a:endParaRPr lang="en-US" sz="1360" dirty="0"/>
          </a:p>
          <a:p>
            <a:pPr marL="0" indent="0" algn="l">
              <a:buNone/>
            </a:pPr>
            <a:endParaRPr lang="en-US" sz="1360" dirty="0"/>
          </a:p>
          <a:p>
            <a:pPr marL="0" indent="0" algn="l">
              <a:buNone/>
            </a:pPr>
            <a:r>
              <a:rPr lang="en-US" sz="1360" dirty="0">
                <a:solidFill>
                  <a:srgbClr val="77766F"/>
                </a:solidFill>
                <a:latin typeface="PingFang SC" pitchFamily="34" charset="0"/>
                <a:ea typeface="PingFang SC" pitchFamily="34" charset="-122"/>
                <a:cs typeface="PingFang SC" pitchFamily="34" charset="-120"/>
              </a:rPr>
              <a:t>客户认可产品方案，计划先在8家门店试点，试点成功后采购并推广到全部门店。客户预算虽然紧张，但不是主要问题，预计6月底上线。技术上需要对接POS、会员和巡检系统，预计两周完成。</a:t>
            </a:r>
            <a:endParaRPr lang="en-US" sz="1360" dirty="0"/>
          </a:p>
          <a:p>
            <a:pPr marL="0" indent="0" algn="l">
              <a:buNone/>
            </a:pPr>
            <a:endParaRPr lang="en-US" sz="1360" dirty="0"/>
          </a:p>
          <a:p>
            <a:pPr marL="0" indent="0" algn="l">
              <a:buNone/>
            </a:pPr>
            <a:r>
              <a:rPr lang="en-US" sz="1360" dirty="0">
                <a:solidFill>
                  <a:srgbClr val="77766F"/>
                </a:solidFill>
                <a:latin typeface="PingFang SC" pitchFamily="34" charset="0"/>
                <a:ea typeface="PingFang SC" pitchFamily="34" charset="-122"/>
                <a:cs typeface="PingFang SC" pitchFamily="34" charset="-120"/>
              </a:rPr>
              <a:t>下一步：北辰云科提供试点和技术方案，禾味餐饮提供数据，双方安排技术会议。</a:t>
            </a:r>
            <a:endParaRPr lang="en-US" sz="1360" dirty="0"/>
          </a:p>
        </p:txBody>
      </p:sp>
      <p:sp>
        <p:nvSpPr>
          <p:cNvPr id="18" name="文本框 17">
            <a:extLst>
              <a:ext uri="{FF2B5EF4-FFF2-40B4-BE49-F238E27FC236}">
                <a16:creationId xmlns:a16="http://schemas.microsoft.com/office/drawing/2014/main" id="{7482E2B6-1D42-5C3C-E646-157096A7A3B1}"/>
              </a:ext>
            </a:extLst>
          </p:cNvPr>
          <p:cNvSpPr txBox="1"/>
          <p:nvPr/>
        </p:nvSpPr>
        <p:spPr>
          <a:xfrm>
            <a:off x="917448" y="1820394"/>
            <a:ext cx="6096000" cy="369332"/>
          </a:xfrm>
          <a:prstGeom prst="rect">
            <a:avLst/>
          </a:prstGeom>
          <a:noFill/>
        </p:spPr>
        <p:txBody>
          <a:bodyPr wrap="square">
            <a:spAutoFit/>
          </a:bodyPr>
          <a:lstStyle/>
          <a:p>
            <a:pPr>
              <a:buNone/>
            </a:pPr>
            <a:r>
              <a:rPr lang="zh-CN" altLang="en-US" b="1" dirty="0">
                <a:latin typeface="+mn-ea"/>
              </a:rPr>
              <a:t>第一轮</a:t>
            </a:r>
            <a:r>
              <a:rPr lang="en-US" altLang="zh-CN" b="1" dirty="0">
                <a:latin typeface="+mn-ea"/>
              </a:rPr>
              <a:t>prompt</a:t>
            </a:r>
            <a:r>
              <a:rPr lang="zh-CN" altLang="en-US" dirty="0">
                <a:latin typeface="+mn-ea"/>
              </a:rPr>
              <a:t>：</a:t>
            </a:r>
            <a:r>
              <a:rPr lang="zh-CN" altLang="zh-CN" dirty="0">
                <a:latin typeface="+mn-ea"/>
              </a:rPr>
              <a:t>帮我整理一下这次销售拜访。</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6">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43</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销售拜访记录助手案例</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第二轮真实输出：改完以后，发生了什么？</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07 销售拜访记录助手案例</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43</a:t>
            </a:r>
            <a:endParaRPr lang="en-US" sz="850" dirty="0"/>
          </a:p>
        </p:txBody>
      </p:sp>
      <p:sp>
        <p:nvSpPr>
          <p:cNvPr id="10" name="Shape 8"/>
          <p:cNvSpPr/>
          <p:nvPr/>
        </p:nvSpPr>
        <p:spPr>
          <a:xfrm>
            <a:off x="713232" y="1316737"/>
            <a:ext cx="10518648" cy="5029190"/>
          </a:xfrm>
          <a:prstGeom prst="roundRect">
            <a:avLst>
              <a:gd name="adj" fmla="val 1408"/>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713232" y="1316737"/>
            <a:ext cx="64008" cy="5029190"/>
          </a:xfrm>
          <a:prstGeom prst="rect">
            <a:avLst/>
          </a:prstGeom>
          <a:solidFill>
            <a:srgbClr val="D18A38"/>
          </a:solidFill>
          <a:ln w="12700">
            <a:solidFill>
              <a:srgbClr val="D18A38"/>
            </a:solidFill>
            <a:prstDash val="solid"/>
          </a:ln>
        </p:spPr>
      </p:sp>
      <p:sp>
        <p:nvSpPr>
          <p:cNvPr id="13" name="Text 11"/>
          <p:cNvSpPr/>
          <p:nvPr/>
        </p:nvSpPr>
        <p:spPr>
          <a:xfrm>
            <a:off x="960120" y="1408177"/>
            <a:ext cx="8831580" cy="4736591"/>
          </a:xfrm>
          <a:prstGeom prst="rect">
            <a:avLst/>
          </a:prstGeom>
          <a:noFill/>
          <a:ln/>
        </p:spPr>
        <p:txBody>
          <a:bodyPr wrap="square" lIns="0" tIns="0" rIns="0" bIns="0" rtlCol="0" anchor="t">
            <a:normAutofit fontScale="62500" lnSpcReduction="20000"/>
          </a:bodyPr>
          <a:lstStyle/>
          <a:p>
            <a:r>
              <a:rPr lang="zh-CN" altLang="zh-CN" dirty="0"/>
              <a:t>【角色与能力】</a:t>
            </a:r>
          </a:p>
          <a:p>
            <a:r>
              <a:rPr lang="zh-CN" altLang="zh-CN" dirty="0"/>
              <a:t>你是销售拜访记录整理助手，负责依据给定材料生成便于销售检查和录入CRM的草稿。</a:t>
            </a:r>
          </a:p>
          <a:p>
            <a:endParaRPr lang="zh-CN" altLang="zh-CN" dirty="0"/>
          </a:p>
          <a:p>
            <a:r>
              <a:rPr lang="zh-CN" altLang="zh-CN" dirty="0"/>
              <a:t>【任务目标】</a:t>
            </a:r>
          </a:p>
          <a:p>
            <a:r>
              <a:rPr lang="zh-CN" altLang="zh-CN" dirty="0"/>
              <a:t>请根据客户背景、CRM字段说明和本次拜访转写，整理：</a:t>
            </a:r>
          </a:p>
          <a:p>
            <a:r>
              <a:rPr lang="zh-CN" altLang="zh-CN" dirty="0"/>
              <a:t>1. 客户核心诉求；</a:t>
            </a:r>
          </a:p>
          <a:p>
            <a:r>
              <a:rPr lang="zh-CN" altLang="zh-CN" dirty="0"/>
              <a:t>2. 试点范围与当前状态；</a:t>
            </a:r>
          </a:p>
          <a:p>
            <a:r>
              <a:rPr lang="zh-CN" altLang="zh-CN" dirty="0"/>
              <a:t>3. 主要异议与风险；</a:t>
            </a:r>
          </a:p>
          <a:p>
            <a:r>
              <a:rPr lang="zh-CN" altLang="zh-CN" dirty="0"/>
              <a:t>4. 合作意向；</a:t>
            </a:r>
          </a:p>
          <a:p>
            <a:r>
              <a:rPr lang="zh-CN" altLang="zh-CN" dirty="0"/>
              <a:t>5. 下一步行动；</a:t>
            </a:r>
          </a:p>
          <a:p>
            <a:r>
              <a:rPr lang="zh-CN" altLang="zh-CN" dirty="0"/>
              <a:t>6. 待确认信息。</a:t>
            </a:r>
          </a:p>
          <a:p>
            <a:endParaRPr lang="zh-CN" altLang="zh-CN" dirty="0"/>
          </a:p>
          <a:p>
            <a:r>
              <a:rPr lang="zh-CN" altLang="zh-CN" dirty="0"/>
              <a:t>【输入材料】</a:t>
            </a:r>
          </a:p>
          <a:p>
            <a:r>
              <a:rPr lang="zh-CN" altLang="zh-CN" dirty="0"/>
              <a:t>客户背景：{{customer_context}}</a:t>
            </a:r>
          </a:p>
          <a:p>
            <a:r>
              <a:rPr lang="zh-CN" altLang="zh-CN" dirty="0"/>
              <a:t>CRM字段说明：{{crm_schema}}</a:t>
            </a:r>
          </a:p>
          <a:p>
            <a:r>
              <a:rPr lang="zh-CN" altLang="zh-CN" dirty="0"/>
              <a:t>拜访转写：{{visit_transcript}}</a:t>
            </a:r>
          </a:p>
          <a:p>
            <a:endParaRPr lang="zh-CN" altLang="zh-CN" dirty="0"/>
          </a:p>
          <a:p>
            <a:r>
              <a:rPr lang="zh-CN" altLang="zh-CN" dirty="0"/>
              <a:t>【规则与约束】</a:t>
            </a:r>
          </a:p>
          <a:p>
            <a:r>
              <a:rPr lang="zh-CN" altLang="zh-CN" dirty="0"/>
              <a:t>1. 只依据输入材料，不把销售提问、推测或方案方估计写成客户承诺；</a:t>
            </a:r>
          </a:p>
          <a:p>
            <a:r>
              <a:rPr lang="zh-CN" altLang="zh-CN" dirty="0"/>
              <a:t>2. 区分“已确认”“讨论中”“待确认”；</a:t>
            </a:r>
          </a:p>
          <a:p>
            <a:r>
              <a:rPr lang="zh-CN" altLang="zh-CN" dirty="0"/>
              <a:t>3. 客户主动纠正的内容优先作为最终事实；</a:t>
            </a:r>
          </a:p>
          <a:p>
            <a:r>
              <a:rPr lang="zh-CN" altLang="zh-CN" dirty="0"/>
              <a:t>4. 关键结论附一段证据原话；</a:t>
            </a:r>
          </a:p>
          <a:p>
            <a:r>
              <a:rPr lang="zh-CN" altLang="zh-CN" dirty="0"/>
              <a:t>5. 未确认的预算、决策人、采购和启动时间必须标记“待确认”；</a:t>
            </a:r>
          </a:p>
          <a:p>
            <a:r>
              <a:rPr lang="zh-CN" altLang="zh-CN" dirty="0"/>
              <a:t>6. 行动项尽量包含事项、负责人、截止时间和状态；</a:t>
            </a:r>
          </a:p>
          <a:p>
            <a:r>
              <a:rPr lang="zh-CN" altLang="zh-CN" dirty="0"/>
              <a:t>7. 不生成成交概率和采购建议。</a:t>
            </a:r>
          </a:p>
          <a:p>
            <a:endParaRPr lang="zh-CN" altLang="zh-CN" dirty="0"/>
          </a:p>
          <a:p>
            <a:r>
              <a:rPr lang="zh-CN" altLang="zh-CN" dirty="0"/>
              <a:t>【输出格式与验收标准】</a:t>
            </a:r>
          </a:p>
          <a:p>
            <a:r>
              <a:rPr lang="zh-CN" altLang="zh-CN" dirty="0"/>
              <a:t>请按CRM字段表输出。每个结论包含“内容、状态、证据”。</a:t>
            </a:r>
          </a:p>
          <a:p>
            <a:r>
              <a:rPr lang="zh-CN" altLang="zh-CN" dirty="0"/>
              <a:t>行动项单独用表格输出。最后列出待确认问题。</a:t>
            </a:r>
          </a:p>
          <a:p>
            <a:endParaRPr lang="zh-CN" altLang="zh-CN" dirty="0"/>
          </a:p>
          <a:p>
            <a:r>
              <a:rPr lang="zh-CN" altLang="zh-CN" dirty="0"/>
              <a:t>【输出前检查】</a:t>
            </a:r>
          </a:p>
          <a:p>
            <a:r>
              <a:rPr lang="zh-CN" altLang="zh-CN" dirty="0"/>
              <a:t>检查是否把5店写成8店、把试点写成采购承诺、把两周估计写成正式工期、把希望6月底上线写成确定时间。如有，必须修正。</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7">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44</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销售拜访记录助手案例</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第二轮真实输出</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pic>
        <p:nvPicPr>
          <p:cNvPr id="19" name="图片 18">
            <a:extLst>
              <a:ext uri="{FF2B5EF4-FFF2-40B4-BE49-F238E27FC236}">
                <a16:creationId xmlns:a16="http://schemas.microsoft.com/office/drawing/2014/main" id="{AC84BE89-1065-B82A-FE30-897874DCCECC}"/>
              </a:ext>
            </a:extLst>
          </p:cNvPr>
          <p:cNvPicPr>
            <a:picLocks noChangeAspect="1"/>
          </p:cNvPicPr>
          <p:nvPr/>
        </p:nvPicPr>
        <p:blipFill>
          <a:blip r:embed="rId3"/>
          <a:stretch>
            <a:fillRect/>
          </a:stretch>
        </p:blipFill>
        <p:spPr>
          <a:xfrm>
            <a:off x="2006600" y="1529487"/>
            <a:ext cx="7772400" cy="1899512"/>
          </a:xfrm>
          <a:prstGeom prst="rect">
            <a:avLst/>
          </a:prstGeom>
        </p:spPr>
      </p:pic>
      <p:pic>
        <p:nvPicPr>
          <p:cNvPr id="20" name="图片 19">
            <a:extLst>
              <a:ext uri="{FF2B5EF4-FFF2-40B4-BE49-F238E27FC236}">
                <a16:creationId xmlns:a16="http://schemas.microsoft.com/office/drawing/2014/main" id="{13A262B1-BA08-0D0A-AD85-B5BD60646453}"/>
              </a:ext>
            </a:extLst>
          </p:cNvPr>
          <p:cNvPicPr>
            <a:picLocks noChangeAspect="1"/>
          </p:cNvPicPr>
          <p:nvPr/>
        </p:nvPicPr>
        <p:blipFill>
          <a:blip r:embed="rId4"/>
          <a:stretch>
            <a:fillRect/>
          </a:stretch>
        </p:blipFill>
        <p:spPr>
          <a:xfrm>
            <a:off x="2002028" y="3428999"/>
            <a:ext cx="7772400" cy="205959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FBC723CC-3E58-74D1-8E6E-FCDAC65F309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A2C7383-146C-87C7-68E8-1CD8C5618804}"/>
              </a:ext>
            </a:extLst>
          </p:cNvPr>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a:extLst>
              <a:ext uri="{FF2B5EF4-FFF2-40B4-BE49-F238E27FC236}">
                <a16:creationId xmlns:a16="http://schemas.microsoft.com/office/drawing/2014/main" id="{4C062043-055F-29DE-EDAB-BB61683E6D80}"/>
              </a:ext>
            </a:extLst>
          </p:cNvPr>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44</a:t>
            </a:r>
            <a:endParaRPr lang="en-US" sz="900" dirty="0"/>
          </a:p>
        </p:txBody>
      </p:sp>
      <p:sp>
        <p:nvSpPr>
          <p:cNvPr id="4" name="Text 2">
            <a:extLst>
              <a:ext uri="{FF2B5EF4-FFF2-40B4-BE49-F238E27FC236}">
                <a16:creationId xmlns:a16="http://schemas.microsoft.com/office/drawing/2014/main" id="{67B441F1-BAB5-0881-B9B3-A564B188AE82}"/>
              </a:ext>
            </a:extLst>
          </p:cNvPr>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销售拜访记录助手案例</a:t>
            </a:r>
            <a:endParaRPr lang="en-US" sz="950" dirty="0"/>
          </a:p>
        </p:txBody>
      </p:sp>
      <p:sp>
        <p:nvSpPr>
          <p:cNvPr id="5" name="Text 3">
            <a:extLst>
              <a:ext uri="{FF2B5EF4-FFF2-40B4-BE49-F238E27FC236}">
                <a16:creationId xmlns:a16="http://schemas.microsoft.com/office/drawing/2014/main" id="{82B2D215-3E38-4328-6278-EB78936AD3C4}"/>
              </a:ext>
            </a:extLst>
          </p:cNvPr>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第二轮真实输出</a:t>
            </a:r>
            <a:endParaRPr lang="en-US" sz="2500" dirty="0"/>
          </a:p>
        </p:txBody>
      </p:sp>
      <p:sp>
        <p:nvSpPr>
          <p:cNvPr id="6" name="Shape 4">
            <a:extLst>
              <a:ext uri="{FF2B5EF4-FFF2-40B4-BE49-F238E27FC236}">
                <a16:creationId xmlns:a16="http://schemas.microsoft.com/office/drawing/2014/main" id="{1F8D0E01-9FDF-323D-3901-194567D5BF35}"/>
              </a:ext>
            </a:extLst>
          </p:cNvPr>
          <p:cNvSpPr/>
          <p:nvPr/>
        </p:nvSpPr>
        <p:spPr>
          <a:xfrm>
            <a:off x="566928" y="1298448"/>
            <a:ext cx="11018520" cy="0"/>
          </a:xfrm>
          <a:prstGeom prst="line">
            <a:avLst/>
          </a:prstGeom>
          <a:noFill/>
          <a:ln w="12700">
            <a:solidFill>
              <a:srgbClr val="D8D0C2"/>
            </a:solidFill>
            <a:prstDash val="solid"/>
          </a:ln>
        </p:spPr>
      </p:sp>
      <p:pic>
        <p:nvPicPr>
          <p:cNvPr id="21" name="图片 20">
            <a:extLst>
              <a:ext uri="{FF2B5EF4-FFF2-40B4-BE49-F238E27FC236}">
                <a16:creationId xmlns:a16="http://schemas.microsoft.com/office/drawing/2014/main" id="{7791A7E6-ECCE-42D9-0B44-09D177D38BCA}"/>
              </a:ext>
            </a:extLst>
          </p:cNvPr>
          <p:cNvPicPr>
            <a:picLocks noChangeAspect="1"/>
          </p:cNvPicPr>
          <p:nvPr/>
        </p:nvPicPr>
        <p:blipFill>
          <a:blip r:embed="rId3"/>
          <a:stretch>
            <a:fillRect/>
          </a:stretch>
        </p:blipFill>
        <p:spPr>
          <a:xfrm>
            <a:off x="2717940" y="1538404"/>
            <a:ext cx="7036536" cy="4758764"/>
          </a:xfrm>
          <a:prstGeom prst="rect">
            <a:avLst/>
          </a:prstGeom>
        </p:spPr>
      </p:pic>
    </p:spTree>
    <p:extLst>
      <p:ext uri="{BB962C8B-B14F-4D97-AF65-F5344CB8AC3E}">
        <p14:creationId xmlns:p14="http://schemas.microsoft.com/office/powerpoint/2010/main" val="4819675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a:extLst>
            <a:ext uri="{FF2B5EF4-FFF2-40B4-BE49-F238E27FC236}">
              <a16:creationId xmlns:a16="http://schemas.microsoft.com/office/drawing/2014/main" id="{38D77950-4F60-366D-9393-21BEC2BC68B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6E24BEC-5B98-6E1D-4494-2A6A8C599050}"/>
              </a:ext>
            </a:extLst>
          </p:cNvPr>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a:extLst>
              <a:ext uri="{FF2B5EF4-FFF2-40B4-BE49-F238E27FC236}">
                <a16:creationId xmlns:a16="http://schemas.microsoft.com/office/drawing/2014/main" id="{845BE058-AA6C-7BEB-5695-44F01CF82F40}"/>
              </a:ext>
            </a:extLst>
          </p:cNvPr>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44</a:t>
            </a:r>
            <a:endParaRPr lang="en-US" sz="900" dirty="0"/>
          </a:p>
        </p:txBody>
      </p:sp>
      <p:sp>
        <p:nvSpPr>
          <p:cNvPr id="4" name="Text 2">
            <a:extLst>
              <a:ext uri="{FF2B5EF4-FFF2-40B4-BE49-F238E27FC236}">
                <a16:creationId xmlns:a16="http://schemas.microsoft.com/office/drawing/2014/main" id="{411714C2-719E-BE1D-B73F-A7BB69032E0B}"/>
              </a:ext>
            </a:extLst>
          </p:cNvPr>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销售拜访记录助手案例</a:t>
            </a:r>
            <a:endParaRPr lang="en-US" sz="950" dirty="0"/>
          </a:p>
        </p:txBody>
      </p:sp>
      <p:sp>
        <p:nvSpPr>
          <p:cNvPr id="5" name="Text 3">
            <a:extLst>
              <a:ext uri="{FF2B5EF4-FFF2-40B4-BE49-F238E27FC236}">
                <a16:creationId xmlns:a16="http://schemas.microsoft.com/office/drawing/2014/main" id="{9D29207C-5156-45FB-ECC2-1ABF2B746CCE}"/>
              </a:ext>
            </a:extLst>
          </p:cNvPr>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err="1">
                <a:solidFill>
                  <a:srgbClr val="20211F"/>
                </a:solidFill>
                <a:latin typeface="PingFang SC" pitchFamily="34" charset="0"/>
                <a:ea typeface="PingFang SC" pitchFamily="34" charset="-122"/>
                <a:cs typeface="PingFang SC" pitchFamily="34" charset="-120"/>
              </a:rPr>
              <a:t>第二轮产品化</a:t>
            </a:r>
            <a:endParaRPr lang="en-US" sz="2500" dirty="0"/>
          </a:p>
        </p:txBody>
      </p:sp>
      <p:sp>
        <p:nvSpPr>
          <p:cNvPr id="6" name="Shape 4">
            <a:extLst>
              <a:ext uri="{FF2B5EF4-FFF2-40B4-BE49-F238E27FC236}">
                <a16:creationId xmlns:a16="http://schemas.microsoft.com/office/drawing/2014/main" id="{0E0E7C93-3F75-FB8F-82BD-9F7F7DE10825}"/>
              </a:ext>
            </a:extLst>
          </p:cNvPr>
          <p:cNvSpPr/>
          <p:nvPr/>
        </p:nvSpPr>
        <p:spPr>
          <a:xfrm>
            <a:off x="566928" y="1298448"/>
            <a:ext cx="11018520" cy="0"/>
          </a:xfrm>
          <a:prstGeom prst="line">
            <a:avLst/>
          </a:prstGeom>
          <a:noFill/>
          <a:ln w="12700">
            <a:solidFill>
              <a:srgbClr val="D8D0C2"/>
            </a:solidFill>
            <a:prstDash val="solid"/>
          </a:ln>
        </p:spPr>
      </p:sp>
      <p:pic>
        <p:nvPicPr>
          <p:cNvPr id="7" name="图片 6">
            <a:extLst>
              <a:ext uri="{FF2B5EF4-FFF2-40B4-BE49-F238E27FC236}">
                <a16:creationId xmlns:a16="http://schemas.microsoft.com/office/drawing/2014/main" id="{DBC31BB5-25AA-5897-7137-1F1BC4A0317F}"/>
              </a:ext>
            </a:extLst>
          </p:cNvPr>
          <p:cNvPicPr>
            <a:picLocks noChangeAspect="1"/>
          </p:cNvPicPr>
          <p:nvPr/>
        </p:nvPicPr>
        <p:blipFill>
          <a:blip r:embed="rId3"/>
          <a:stretch>
            <a:fillRect/>
          </a:stretch>
        </p:blipFill>
        <p:spPr>
          <a:xfrm>
            <a:off x="2209800" y="1408177"/>
            <a:ext cx="7772400" cy="5316137"/>
          </a:xfrm>
          <a:prstGeom prst="rect">
            <a:avLst/>
          </a:prstGeom>
        </p:spPr>
      </p:pic>
    </p:spTree>
    <p:extLst>
      <p:ext uri="{BB962C8B-B14F-4D97-AF65-F5344CB8AC3E}">
        <p14:creationId xmlns:p14="http://schemas.microsoft.com/office/powerpoint/2010/main" val="28848634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1">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566928" y="274320"/>
            <a:ext cx="566928" cy="310896"/>
          </a:xfrm>
          <a:prstGeom prst="roundRect">
            <a:avLst>
              <a:gd name="adj" fmla="val 29412"/>
            </a:avLst>
          </a:prstGeom>
          <a:solidFill>
            <a:srgbClr val="C35331"/>
          </a:solidFill>
          <a:ln w="12700">
            <a:solidFill>
              <a:srgbClr val="C35331"/>
            </a:solidFill>
            <a:prstDash val="solid"/>
          </a:ln>
        </p:spPr>
      </p:sp>
      <p:sp>
        <p:nvSpPr>
          <p:cNvPr id="3" name="Text 1"/>
          <p:cNvSpPr/>
          <p:nvPr/>
        </p:nvSpPr>
        <p:spPr>
          <a:xfrm>
            <a:off x="630936" y="342900"/>
            <a:ext cx="438912"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48</a:t>
            </a:r>
            <a:endParaRPr lang="en-US" sz="900" dirty="0"/>
          </a:p>
        </p:txBody>
      </p:sp>
      <p:sp>
        <p:nvSpPr>
          <p:cNvPr id="4" name="Text 2"/>
          <p:cNvSpPr/>
          <p:nvPr/>
        </p:nvSpPr>
        <p:spPr>
          <a:xfrm>
            <a:off x="1298448" y="347472"/>
            <a:ext cx="4937760" cy="164592"/>
          </a:xfrm>
          <a:prstGeom prst="rect">
            <a:avLst/>
          </a:prstGeom>
          <a:noFill/>
          <a:ln/>
        </p:spPr>
        <p:txBody>
          <a:bodyPr wrap="square" lIns="0" tIns="0" rIns="0" bIns="0" rtlCol="0" anchor="t">
            <a:normAutofit/>
          </a:bodyPr>
          <a:lstStyle/>
          <a:p>
            <a:pPr marL="0" indent="0" algn="l">
              <a:buNone/>
            </a:pPr>
            <a:r>
              <a:rPr lang="en-US" sz="950" b="1" kern="0" spc="105" dirty="0">
                <a:solidFill>
                  <a:srgbClr val="77766F"/>
                </a:solidFill>
                <a:latin typeface="PingFang SC" pitchFamily="34" charset="0"/>
                <a:ea typeface="PingFang SC" pitchFamily="34" charset="-122"/>
                <a:cs typeface="PingFang SC" pitchFamily="34" charset="-120"/>
              </a:rPr>
              <a:t>总结与课后作业</a:t>
            </a:r>
            <a:endParaRPr lang="en-US" sz="950" dirty="0"/>
          </a:p>
        </p:txBody>
      </p:sp>
      <p:sp>
        <p:nvSpPr>
          <p:cNvPr id="5" name="Text 3"/>
          <p:cNvSpPr/>
          <p:nvPr/>
        </p:nvSpPr>
        <p:spPr>
          <a:xfrm>
            <a:off x="566928" y="713232"/>
            <a:ext cx="10972800" cy="475488"/>
          </a:xfrm>
          <a:prstGeom prst="rect">
            <a:avLst/>
          </a:prstGeom>
          <a:noFill/>
          <a:ln/>
        </p:spPr>
        <p:txBody>
          <a:bodyPr wrap="square" lIns="0" tIns="0" rIns="0" bIns="0" rtlCol="0" anchor="t">
            <a:normAutofit/>
          </a:bodyPr>
          <a:lstStyle/>
          <a:p>
            <a:pPr marL="0" indent="0" algn="l">
              <a:buNone/>
            </a:pPr>
            <a:r>
              <a:rPr lang="en-US" sz="2500" b="1" dirty="0">
                <a:solidFill>
                  <a:srgbClr val="20211F"/>
                </a:solidFill>
                <a:latin typeface="PingFang SC" pitchFamily="34" charset="0"/>
                <a:ea typeface="PingFang SC" pitchFamily="34" charset="-122"/>
                <a:cs typeface="PingFang SC" pitchFamily="34" charset="-120"/>
              </a:rPr>
              <a:t>课后完成V1.0：先交必做版，进阶版自选</a:t>
            </a:r>
            <a:endParaRPr lang="en-US" sz="2500" dirty="0"/>
          </a:p>
        </p:txBody>
      </p:sp>
      <p:sp>
        <p:nvSpPr>
          <p:cNvPr id="6" name="Shape 4"/>
          <p:cNvSpPr/>
          <p:nvPr/>
        </p:nvSpPr>
        <p:spPr>
          <a:xfrm>
            <a:off x="566928" y="1298448"/>
            <a:ext cx="11018520" cy="0"/>
          </a:xfrm>
          <a:prstGeom prst="line">
            <a:avLst/>
          </a:prstGeom>
          <a:noFill/>
          <a:ln w="12700">
            <a:solidFill>
              <a:srgbClr val="D8D0C2"/>
            </a:solidFill>
            <a:prstDash val="solid"/>
          </a:ln>
        </p:spPr>
      </p:sp>
      <p:sp>
        <p:nvSpPr>
          <p:cNvPr id="7" name="Text 5"/>
          <p:cNvSpPr/>
          <p:nvPr/>
        </p:nvSpPr>
        <p:spPr>
          <a:xfrm>
            <a:off x="566928" y="6455664"/>
            <a:ext cx="3931920" cy="146304"/>
          </a:xfrm>
          <a:prstGeom prst="rect">
            <a:avLst/>
          </a:prstGeom>
          <a:noFill/>
          <a:ln/>
        </p:spPr>
        <p:txBody>
          <a:bodyPr wrap="square" lIns="0" tIns="0" rIns="0" bIns="0" rtlCol="0" anchor="t">
            <a:normAutofit/>
          </a:bodyPr>
          <a:lstStyle/>
          <a:p>
            <a:pPr marL="0" indent="0" algn="l">
              <a:buNone/>
            </a:pPr>
            <a:r>
              <a:rPr lang="en-US" sz="800" dirty="0">
                <a:solidFill>
                  <a:srgbClr val="77766F"/>
                </a:solidFill>
                <a:latin typeface="PingFang SC" pitchFamily="34" charset="0"/>
                <a:ea typeface="PingFang SC" pitchFamily="34" charset="-122"/>
                <a:cs typeface="PingFang SC" pitchFamily="34" charset="-120"/>
              </a:rPr>
              <a:t>AI 产品经理系统课程 · 第一阶段</a:t>
            </a:r>
            <a:endParaRPr lang="en-US" sz="800" dirty="0"/>
          </a:p>
        </p:txBody>
      </p:sp>
      <p:sp>
        <p:nvSpPr>
          <p:cNvPr id="8" name="Text 6"/>
          <p:cNvSpPr/>
          <p:nvPr/>
        </p:nvSpPr>
        <p:spPr>
          <a:xfrm>
            <a:off x="6766560" y="6455664"/>
            <a:ext cx="4114800" cy="146304"/>
          </a:xfrm>
          <a:prstGeom prst="rect">
            <a:avLst/>
          </a:prstGeom>
          <a:noFill/>
          <a:ln/>
        </p:spPr>
        <p:txBody>
          <a:bodyPr wrap="square" lIns="0" tIns="0" rIns="0" bIns="0" rtlCol="0" anchor="t">
            <a:normAutofit/>
          </a:bodyPr>
          <a:lstStyle/>
          <a:p>
            <a:pPr marL="0" indent="0" algn="r">
              <a:buNone/>
            </a:pPr>
            <a:r>
              <a:rPr lang="en-US" sz="800" dirty="0">
                <a:solidFill>
                  <a:srgbClr val="77766F"/>
                </a:solidFill>
                <a:latin typeface="PingFang SC" pitchFamily="34" charset="0"/>
                <a:ea typeface="PingFang SC" pitchFamily="34" charset="-122"/>
                <a:cs typeface="PingFang SC" pitchFamily="34" charset="-120"/>
              </a:rPr>
              <a:t>09 总结与课后作业</a:t>
            </a:r>
            <a:endParaRPr lang="en-US" sz="800" dirty="0"/>
          </a:p>
        </p:txBody>
      </p:sp>
      <p:sp>
        <p:nvSpPr>
          <p:cNvPr id="9" name="Text 7"/>
          <p:cNvSpPr/>
          <p:nvPr/>
        </p:nvSpPr>
        <p:spPr>
          <a:xfrm>
            <a:off x="11064240" y="6437376"/>
            <a:ext cx="502920" cy="164592"/>
          </a:xfrm>
          <a:prstGeom prst="rect">
            <a:avLst/>
          </a:prstGeom>
          <a:noFill/>
          <a:ln/>
        </p:spPr>
        <p:txBody>
          <a:bodyPr wrap="square" lIns="0" tIns="0" rIns="0" bIns="0" rtlCol="0" anchor="t">
            <a:normAutofit/>
          </a:bodyPr>
          <a:lstStyle/>
          <a:p>
            <a:pPr marL="0" indent="0" algn="r">
              <a:buNone/>
            </a:pPr>
            <a:r>
              <a:rPr lang="en-US" sz="850" dirty="0">
                <a:solidFill>
                  <a:srgbClr val="77766F"/>
                </a:solidFill>
                <a:latin typeface="PingFang SC" pitchFamily="34" charset="0"/>
                <a:ea typeface="PingFang SC" pitchFamily="34" charset="-122"/>
                <a:cs typeface="PingFang SC" pitchFamily="34" charset="-120"/>
              </a:rPr>
              <a:t>48</a:t>
            </a:r>
            <a:endParaRPr lang="en-US" sz="850" dirty="0"/>
          </a:p>
        </p:txBody>
      </p:sp>
      <p:sp>
        <p:nvSpPr>
          <p:cNvPr id="10" name="Shape 8"/>
          <p:cNvSpPr/>
          <p:nvPr/>
        </p:nvSpPr>
        <p:spPr>
          <a:xfrm>
            <a:off x="685800" y="1481328"/>
            <a:ext cx="6995160" cy="4078216"/>
          </a:xfrm>
          <a:prstGeom prst="roundRect">
            <a:avLst>
              <a:gd name="adj" fmla="val 1004"/>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1" name="Shape 9"/>
          <p:cNvSpPr/>
          <p:nvPr/>
        </p:nvSpPr>
        <p:spPr>
          <a:xfrm>
            <a:off x="685800" y="1481328"/>
            <a:ext cx="64008" cy="4078216"/>
          </a:xfrm>
          <a:prstGeom prst="rect">
            <a:avLst/>
          </a:prstGeom>
          <a:solidFill>
            <a:srgbClr val="387B77"/>
          </a:solidFill>
          <a:ln w="12700">
            <a:solidFill>
              <a:srgbClr val="387B77"/>
            </a:solidFill>
            <a:prstDash val="solid"/>
          </a:ln>
        </p:spPr>
      </p:sp>
      <p:sp>
        <p:nvSpPr>
          <p:cNvPr id="12" name="Text 10"/>
          <p:cNvSpPr/>
          <p:nvPr/>
        </p:nvSpPr>
        <p:spPr>
          <a:xfrm>
            <a:off x="932688" y="1691640"/>
            <a:ext cx="6519672" cy="347472"/>
          </a:xfrm>
          <a:prstGeom prst="rect">
            <a:avLst/>
          </a:prstGeom>
          <a:noFill/>
          <a:ln/>
        </p:spPr>
        <p:txBody>
          <a:bodyPr wrap="square" lIns="0" tIns="0" rIns="0" bIns="0" rtlCol="0" anchor="t">
            <a:normAutofit/>
          </a:bodyPr>
          <a:lstStyle/>
          <a:p>
            <a:pPr marL="0" indent="0" algn="l">
              <a:buNone/>
            </a:pPr>
            <a:r>
              <a:rPr lang="en-US" sz="1900" b="1" dirty="0">
                <a:solidFill>
                  <a:srgbClr val="20211F"/>
                </a:solidFill>
                <a:latin typeface="PingFang SC" pitchFamily="34" charset="0"/>
                <a:ea typeface="PingFang SC" pitchFamily="34" charset="-122"/>
                <a:cs typeface="PingFang SC" pitchFamily="34" charset="-120"/>
              </a:rPr>
              <a:t>必做版｜完成即合格</a:t>
            </a:r>
            <a:endParaRPr lang="en-US" sz="1900" dirty="0"/>
          </a:p>
        </p:txBody>
      </p:sp>
      <p:sp>
        <p:nvSpPr>
          <p:cNvPr id="13" name="Text 11"/>
          <p:cNvSpPr/>
          <p:nvPr/>
        </p:nvSpPr>
        <p:spPr>
          <a:xfrm>
            <a:off x="932688" y="2203704"/>
            <a:ext cx="6501384" cy="3621024"/>
          </a:xfrm>
          <a:prstGeom prst="rect">
            <a:avLst/>
          </a:prstGeom>
          <a:noFill/>
          <a:ln/>
        </p:spPr>
        <p:txBody>
          <a:bodyPr wrap="square" lIns="0" tIns="0" rIns="0" bIns="0" rtlCol="0" anchor="t">
            <a:normAutofit/>
          </a:bodyPr>
          <a:lstStyle/>
          <a:p>
            <a:pPr marL="0" indent="0" algn="l">
              <a:buNone/>
            </a:pPr>
            <a:r>
              <a:rPr lang="en-US" sz="1520" dirty="0">
                <a:solidFill>
                  <a:srgbClr val="77766F"/>
                </a:solidFill>
                <a:latin typeface="PingFang SC" pitchFamily="34" charset="0"/>
                <a:ea typeface="PingFang SC" pitchFamily="34" charset="-122"/>
                <a:cs typeface="PingFang SC" pitchFamily="34" charset="-120"/>
              </a:rPr>
              <a:t>□ 场景：谁在什么时点完成什么任务</a:t>
            </a:r>
            <a:endParaRPr lang="en-US" sz="1520" dirty="0"/>
          </a:p>
          <a:p>
            <a:pPr marL="0" indent="0" algn="l">
              <a:buNone/>
            </a:pPr>
            <a:r>
              <a:rPr lang="en-US" sz="1520" dirty="0">
                <a:solidFill>
                  <a:srgbClr val="77766F"/>
                </a:solidFill>
                <a:latin typeface="PingFang SC" pitchFamily="34" charset="0"/>
                <a:ea typeface="PingFang SC" pitchFamily="34" charset="-122"/>
                <a:cs typeface="PingFang SC" pitchFamily="34" charset="-120"/>
              </a:rPr>
              <a:t>□ 输出：至少2项结果＋可检查标准</a:t>
            </a:r>
            <a:endParaRPr lang="en-US" sz="1520" dirty="0"/>
          </a:p>
          <a:p>
            <a:pPr marL="0" indent="0" algn="l">
              <a:buNone/>
            </a:pPr>
            <a:r>
              <a:rPr lang="en-US" sz="1520" dirty="0">
                <a:solidFill>
                  <a:srgbClr val="77766F"/>
                </a:solidFill>
                <a:latin typeface="PingFang SC" pitchFamily="34" charset="0"/>
                <a:ea typeface="PingFang SC" pitchFamily="34" charset="-122"/>
                <a:cs typeface="PingFang SC" pitchFamily="34" charset="-120"/>
              </a:rPr>
              <a:t>□ 设计：必要上下文＋Prompt关键骨架</a:t>
            </a:r>
            <a:endParaRPr lang="en-US" sz="1520" dirty="0"/>
          </a:p>
          <a:p>
            <a:pPr marL="0" indent="0" algn="l">
              <a:buNone/>
            </a:pPr>
            <a:r>
              <a:rPr lang="en-US" sz="1520" dirty="0">
                <a:solidFill>
                  <a:srgbClr val="77766F"/>
                </a:solidFill>
                <a:latin typeface="PingFang SC" pitchFamily="34" charset="0"/>
                <a:ea typeface="PingFang SC" pitchFamily="34" charset="-122"/>
                <a:cs typeface="PingFang SC" pitchFamily="34" charset="-120"/>
              </a:rPr>
              <a:t>□ 产品化：信息供给＋至少1项高风险处理</a:t>
            </a:r>
            <a:endParaRPr lang="en-US" sz="1520" dirty="0"/>
          </a:p>
          <a:p>
            <a:pPr marL="0" indent="0" algn="l">
              <a:buNone/>
            </a:pPr>
            <a:r>
              <a:rPr lang="en-US" sz="1520" dirty="0">
                <a:solidFill>
                  <a:srgbClr val="77766F"/>
                </a:solidFill>
                <a:latin typeface="PingFang SC" pitchFamily="34" charset="0"/>
                <a:ea typeface="PingFang SC" pitchFamily="34" charset="-122"/>
                <a:cs typeface="PingFang SC" pitchFamily="34" charset="-120"/>
              </a:rPr>
              <a:t>□ 验证：运行1条样例＋1条Bad Case＋最小修改</a:t>
            </a:r>
            <a:endParaRPr lang="en-US" sz="1520" dirty="0"/>
          </a:p>
        </p:txBody>
      </p:sp>
      <p:sp>
        <p:nvSpPr>
          <p:cNvPr id="14" name="Shape 12"/>
          <p:cNvSpPr/>
          <p:nvPr/>
        </p:nvSpPr>
        <p:spPr>
          <a:xfrm>
            <a:off x="7955280" y="1481328"/>
            <a:ext cx="3337560" cy="4041648"/>
          </a:xfrm>
          <a:prstGeom prst="roundRect">
            <a:avLst>
              <a:gd name="adj" fmla="val 1370"/>
            </a:avLst>
          </a:prstGeom>
          <a:solidFill>
            <a:srgbClr val="FBF9F4"/>
          </a:solidFill>
          <a:ln w="12700">
            <a:solidFill>
              <a:srgbClr val="D8D0C2"/>
            </a:solidFill>
            <a:prstDash val="solid"/>
          </a:ln>
          <a:effectLst>
            <a:outerShdw blurRad="12700" dist="50800" dir="2700000" algn="bl" rotWithShape="0">
              <a:srgbClr val="000000">
                <a:alpha val="7000"/>
              </a:srgbClr>
            </a:outerShdw>
          </a:effectLst>
        </p:spPr>
      </p:sp>
      <p:sp>
        <p:nvSpPr>
          <p:cNvPr id="15" name="Shape 13"/>
          <p:cNvSpPr/>
          <p:nvPr/>
        </p:nvSpPr>
        <p:spPr>
          <a:xfrm>
            <a:off x="7955280" y="1481328"/>
            <a:ext cx="64008" cy="4041648"/>
          </a:xfrm>
          <a:prstGeom prst="rect">
            <a:avLst/>
          </a:prstGeom>
          <a:solidFill>
            <a:srgbClr val="D18A38"/>
          </a:solidFill>
          <a:ln w="12700">
            <a:solidFill>
              <a:srgbClr val="D18A38"/>
            </a:solidFill>
            <a:prstDash val="solid"/>
          </a:ln>
        </p:spPr>
      </p:sp>
      <p:sp>
        <p:nvSpPr>
          <p:cNvPr id="16" name="Text 14"/>
          <p:cNvSpPr/>
          <p:nvPr/>
        </p:nvSpPr>
        <p:spPr>
          <a:xfrm>
            <a:off x="8202168" y="1691640"/>
            <a:ext cx="2862072" cy="347472"/>
          </a:xfrm>
          <a:prstGeom prst="rect">
            <a:avLst/>
          </a:prstGeom>
          <a:noFill/>
          <a:ln/>
        </p:spPr>
        <p:txBody>
          <a:bodyPr wrap="square" lIns="0" tIns="0" rIns="0" bIns="0" rtlCol="0" anchor="t">
            <a:normAutofit/>
          </a:bodyPr>
          <a:lstStyle/>
          <a:p>
            <a:pPr marL="0" indent="0" algn="l">
              <a:buNone/>
            </a:pPr>
            <a:r>
              <a:rPr lang="en-US" sz="1800" b="1" dirty="0">
                <a:solidFill>
                  <a:srgbClr val="20211F"/>
                </a:solidFill>
                <a:latin typeface="PingFang SC" pitchFamily="34" charset="0"/>
                <a:ea typeface="PingFang SC" pitchFamily="34" charset="-122"/>
                <a:cs typeface="PingFang SC" pitchFamily="34" charset="-120"/>
              </a:rPr>
              <a:t>进阶版</a:t>
            </a:r>
            <a:endParaRPr lang="en-US" sz="1800" dirty="0"/>
          </a:p>
        </p:txBody>
      </p:sp>
      <p:sp>
        <p:nvSpPr>
          <p:cNvPr id="17" name="Text 15"/>
          <p:cNvSpPr/>
          <p:nvPr/>
        </p:nvSpPr>
        <p:spPr>
          <a:xfrm>
            <a:off x="8202168" y="2203704"/>
            <a:ext cx="2843784" cy="3621024"/>
          </a:xfrm>
          <a:prstGeom prst="rect">
            <a:avLst/>
          </a:prstGeom>
          <a:noFill/>
          <a:ln/>
        </p:spPr>
        <p:txBody>
          <a:bodyPr wrap="square" lIns="0" tIns="0" rIns="0" bIns="0" rtlCol="0" anchor="t">
            <a:normAutofit/>
          </a:bodyPr>
          <a:lstStyle/>
          <a:p>
            <a:pPr marL="0" indent="0" algn="l">
              <a:buNone/>
            </a:pPr>
            <a:r>
              <a:rPr lang="en-US" sz="1420" dirty="0">
                <a:solidFill>
                  <a:srgbClr val="77766F"/>
                </a:solidFill>
                <a:latin typeface="PingFang SC" pitchFamily="34" charset="0"/>
                <a:ea typeface="PingFang SC" pitchFamily="34" charset="-122"/>
                <a:cs typeface="PingFang SC" pitchFamily="34" charset="-120"/>
              </a:rPr>
              <a:t>再补2—3条样例</a:t>
            </a:r>
            <a:endParaRPr lang="en-US" sz="1420" dirty="0"/>
          </a:p>
          <a:p>
            <a:pPr marL="0" indent="0" algn="l">
              <a:buNone/>
            </a:pPr>
            <a:r>
              <a:rPr lang="en-US" sz="1420" dirty="0">
                <a:solidFill>
                  <a:srgbClr val="77766F"/>
                </a:solidFill>
                <a:latin typeface="PingFang SC" pitchFamily="34" charset="0"/>
                <a:ea typeface="PingFang SC" pitchFamily="34" charset="-122"/>
                <a:cs typeface="PingFang SC" pitchFamily="34" charset="-120"/>
              </a:rPr>
              <a:t>保留每轮原始记录</a:t>
            </a:r>
            <a:endParaRPr lang="en-US" sz="1420" dirty="0"/>
          </a:p>
          <a:p>
            <a:pPr marL="0" indent="0" algn="l">
              <a:buNone/>
            </a:pPr>
            <a:r>
              <a:rPr lang="en-US" sz="1420" dirty="0">
                <a:solidFill>
                  <a:srgbClr val="77766F"/>
                </a:solidFill>
                <a:latin typeface="PingFang SC" pitchFamily="34" charset="0"/>
                <a:ea typeface="PingFang SC" pitchFamily="34" charset="-122"/>
                <a:cs typeface="PingFang SC" pitchFamily="34" charset="-120"/>
              </a:rPr>
              <a:t>补齐证据、权限与确认</a:t>
            </a:r>
            <a:endParaRPr lang="en-US" sz="1420" dirty="0"/>
          </a:p>
          <a:p>
            <a:pPr marL="0" indent="0" algn="l">
              <a:buNone/>
            </a:pPr>
            <a:r>
              <a:rPr lang="en-US" sz="1420" dirty="0">
                <a:solidFill>
                  <a:srgbClr val="77766F"/>
                </a:solidFill>
                <a:latin typeface="PingFang SC" pitchFamily="34" charset="0"/>
                <a:ea typeface="PingFang SC" pitchFamily="34" charset="-122"/>
                <a:cs typeface="PingFang SC" pitchFamily="34" charset="-120"/>
              </a:rPr>
              <a:t>画产品流程</a:t>
            </a:r>
            <a:endParaRPr lang="en-US" sz="142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2">
    <p:bg>
      <p:bgPr>
        <a:solidFill>
          <a:srgbClr val="F4F0E8"/>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C35331"/>
          </a:solidFill>
          <a:ln w="12700">
            <a:solidFill>
              <a:srgbClr val="C35331"/>
            </a:solidFill>
            <a:prstDash val="solid"/>
          </a:ln>
        </p:spPr>
      </p:sp>
      <p:sp>
        <p:nvSpPr>
          <p:cNvPr id="3" name="Text 1"/>
          <p:cNvSpPr/>
          <p:nvPr/>
        </p:nvSpPr>
        <p:spPr>
          <a:xfrm>
            <a:off x="822960" y="1005840"/>
            <a:ext cx="9875520" cy="1143000"/>
          </a:xfrm>
          <a:prstGeom prst="rect">
            <a:avLst/>
          </a:prstGeom>
          <a:noFill/>
          <a:ln/>
        </p:spPr>
        <p:txBody>
          <a:bodyPr wrap="square" lIns="0" tIns="0" rIns="0" bIns="0" rtlCol="0" anchor="t">
            <a:normAutofit/>
          </a:bodyPr>
          <a:lstStyle/>
          <a:p>
            <a:pPr marL="0" indent="0" algn="l">
              <a:buNone/>
            </a:pPr>
            <a:r>
              <a:rPr lang="en-US" sz="3500" b="1" dirty="0">
                <a:solidFill>
                  <a:srgbClr val="20211F"/>
                </a:solidFill>
                <a:latin typeface="PingFang SC" pitchFamily="34" charset="0"/>
                <a:ea typeface="PingFang SC" pitchFamily="34" charset="-122"/>
                <a:cs typeface="PingFang SC" pitchFamily="34" charset="-120"/>
              </a:rPr>
              <a:t>从一次好回答，</a:t>
            </a:r>
            <a:endParaRPr lang="en-US" sz="3500" dirty="0"/>
          </a:p>
          <a:p>
            <a:pPr marL="0" indent="0" algn="l">
              <a:buNone/>
            </a:pPr>
            <a:r>
              <a:rPr lang="en-US" sz="3500" b="1" dirty="0">
                <a:solidFill>
                  <a:srgbClr val="20211F"/>
                </a:solidFill>
                <a:latin typeface="PingFang SC" pitchFamily="34" charset="0"/>
                <a:ea typeface="PingFang SC" pitchFamily="34" charset="-122"/>
                <a:cs typeface="PingFang SC" pitchFamily="34" charset="-120"/>
              </a:rPr>
              <a:t>走向可重复交付。</a:t>
            </a:r>
            <a:endParaRPr lang="en-US" sz="3500" dirty="0"/>
          </a:p>
        </p:txBody>
      </p:sp>
      <p:sp>
        <p:nvSpPr>
          <p:cNvPr id="4" name="Shape 2"/>
          <p:cNvSpPr/>
          <p:nvPr/>
        </p:nvSpPr>
        <p:spPr>
          <a:xfrm>
            <a:off x="841248" y="2606040"/>
            <a:ext cx="2743200" cy="0"/>
          </a:xfrm>
          <a:prstGeom prst="line">
            <a:avLst/>
          </a:prstGeom>
          <a:noFill/>
          <a:ln w="38100">
            <a:solidFill>
              <a:srgbClr val="C35331"/>
            </a:solidFill>
            <a:prstDash val="solid"/>
          </a:ln>
        </p:spPr>
      </p:sp>
      <p:sp>
        <p:nvSpPr>
          <p:cNvPr id="5" name="Text 3"/>
          <p:cNvSpPr/>
          <p:nvPr/>
        </p:nvSpPr>
        <p:spPr>
          <a:xfrm>
            <a:off x="841248" y="3154680"/>
            <a:ext cx="4937760" cy="320040"/>
          </a:xfrm>
          <a:prstGeom prst="rect">
            <a:avLst/>
          </a:prstGeom>
          <a:noFill/>
          <a:ln/>
        </p:spPr>
        <p:txBody>
          <a:bodyPr wrap="square" lIns="0" tIns="0" rIns="0" bIns="0" rtlCol="0" anchor="t">
            <a:normAutofit/>
          </a:bodyPr>
          <a:lstStyle/>
          <a:p>
            <a:pPr marL="0" indent="0" algn="l">
              <a:buNone/>
            </a:pPr>
            <a:r>
              <a:rPr lang="en-US" sz="1800" b="1" dirty="0">
                <a:solidFill>
                  <a:srgbClr val="C35331"/>
                </a:solidFill>
                <a:latin typeface="PingFang SC" pitchFamily="34" charset="0"/>
                <a:ea typeface="PingFang SC" pitchFamily="34" charset="-122"/>
                <a:cs typeface="PingFang SC" pitchFamily="34" charset="-120"/>
              </a:rPr>
              <a:t>不要先追求“万能AI产品”</a:t>
            </a:r>
            <a:endParaRPr lang="en-US" sz="1800" dirty="0"/>
          </a:p>
        </p:txBody>
      </p:sp>
      <p:sp>
        <p:nvSpPr>
          <p:cNvPr id="6" name="Text 4"/>
          <p:cNvSpPr/>
          <p:nvPr/>
        </p:nvSpPr>
        <p:spPr>
          <a:xfrm>
            <a:off x="841248" y="3657600"/>
            <a:ext cx="6583680" cy="384048"/>
          </a:xfrm>
          <a:prstGeom prst="rect">
            <a:avLst/>
          </a:prstGeom>
          <a:noFill/>
          <a:ln/>
        </p:spPr>
        <p:txBody>
          <a:bodyPr wrap="square" lIns="0" tIns="0" rIns="0" bIns="0" rtlCol="0" anchor="t">
            <a:normAutofit/>
          </a:bodyPr>
          <a:lstStyle/>
          <a:p>
            <a:pPr marL="0" indent="0" algn="l">
              <a:buNone/>
            </a:pPr>
            <a:r>
              <a:rPr lang="en-US" sz="1500" dirty="0">
                <a:solidFill>
                  <a:srgbClr val="292A27"/>
                </a:solidFill>
                <a:latin typeface="PingFang SC" pitchFamily="34" charset="0"/>
                <a:ea typeface="PingFang SC" pitchFamily="34" charset="-122"/>
                <a:cs typeface="PingFang SC" pitchFamily="34" charset="-120"/>
              </a:rPr>
              <a:t>先让一个具体任务被定义、被验证、被稳定交付。</a:t>
            </a:r>
            <a:endParaRPr lang="en-US" sz="1500" dirty="0"/>
          </a:p>
        </p:txBody>
      </p:sp>
      <p:sp>
        <p:nvSpPr>
          <p:cNvPr id="7" name="Text 5"/>
          <p:cNvSpPr/>
          <p:nvPr/>
        </p:nvSpPr>
        <p:spPr>
          <a:xfrm>
            <a:off x="7498080" y="3127248"/>
            <a:ext cx="3474720" cy="274320"/>
          </a:xfrm>
          <a:prstGeom prst="rect">
            <a:avLst/>
          </a:prstGeom>
          <a:noFill/>
          <a:ln/>
        </p:spPr>
        <p:txBody>
          <a:bodyPr wrap="square" lIns="0" tIns="0" rIns="0" bIns="0" rtlCol="0" anchor="t">
            <a:normAutofit/>
          </a:bodyPr>
          <a:lstStyle/>
          <a:p>
            <a:pPr marL="0" indent="0" algn="r">
              <a:buNone/>
            </a:pPr>
            <a:r>
              <a:rPr lang="en-US" sz="1100" b="1" kern="0" spc="120" dirty="0">
                <a:solidFill>
                  <a:srgbClr val="77766F"/>
                </a:solidFill>
                <a:latin typeface="PingFang SC" pitchFamily="34" charset="0"/>
                <a:ea typeface="PingFang SC" pitchFamily="34" charset="-122"/>
                <a:cs typeface="PingFang SC" pitchFamily="34" charset="-120"/>
              </a:rPr>
              <a:t>下一课</a:t>
            </a:r>
            <a:endParaRPr lang="en-US" sz="1100" dirty="0"/>
          </a:p>
        </p:txBody>
      </p:sp>
      <p:sp>
        <p:nvSpPr>
          <p:cNvPr id="8" name="Text 6"/>
          <p:cNvSpPr/>
          <p:nvPr/>
        </p:nvSpPr>
        <p:spPr>
          <a:xfrm>
            <a:off x="6400800" y="3584448"/>
            <a:ext cx="4572000" cy="868680"/>
          </a:xfrm>
          <a:prstGeom prst="rect">
            <a:avLst/>
          </a:prstGeom>
          <a:noFill/>
          <a:ln/>
        </p:spPr>
        <p:txBody>
          <a:bodyPr wrap="square" lIns="0" tIns="0" rIns="0" bIns="0" rtlCol="0" anchor="t">
            <a:normAutofit/>
          </a:bodyPr>
          <a:lstStyle/>
          <a:p>
            <a:pPr marL="0" indent="0" algn="r">
              <a:buNone/>
            </a:pPr>
            <a:r>
              <a:rPr lang="en-US" sz="2200" b="1" dirty="0">
                <a:solidFill>
                  <a:srgbClr val="C35331"/>
                </a:solidFill>
                <a:latin typeface="PingFang SC" pitchFamily="34" charset="0"/>
                <a:ea typeface="PingFang SC" pitchFamily="34" charset="-122"/>
                <a:cs typeface="PingFang SC" pitchFamily="34" charset="-120"/>
              </a:rPr>
              <a:t>场景判断与</a:t>
            </a:r>
            <a:endParaRPr lang="en-US" sz="2200" dirty="0"/>
          </a:p>
          <a:p>
            <a:pPr marL="0" indent="0" algn="r">
              <a:buNone/>
            </a:pPr>
            <a:r>
              <a:rPr lang="en-US" sz="2200" b="1" dirty="0">
                <a:solidFill>
                  <a:srgbClr val="C35331"/>
                </a:solidFill>
                <a:latin typeface="PingFang SC" pitchFamily="34" charset="0"/>
                <a:ea typeface="PingFang SC" pitchFamily="34" charset="-122"/>
                <a:cs typeface="PingFang SC" pitchFamily="34" charset="-120"/>
              </a:rPr>
              <a:t>AI产品形态选择</a:t>
            </a:r>
            <a:endParaRPr lang="en-US" sz="2200" dirty="0"/>
          </a:p>
        </p:txBody>
      </p:sp>
      <p:sp>
        <p:nvSpPr>
          <p:cNvPr id="9" name="Shape 7"/>
          <p:cNvSpPr/>
          <p:nvPr/>
        </p:nvSpPr>
        <p:spPr>
          <a:xfrm>
            <a:off x="7315200" y="5870448"/>
            <a:ext cx="3657600" cy="310896"/>
          </a:xfrm>
          <a:prstGeom prst="roundRect">
            <a:avLst>
              <a:gd name="adj" fmla="val 29412"/>
            </a:avLst>
          </a:prstGeom>
          <a:solidFill>
            <a:srgbClr val="C35331"/>
          </a:solidFill>
          <a:ln w="12700">
            <a:solidFill>
              <a:srgbClr val="C35331"/>
            </a:solidFill>
            <a:prstDash val="solid"/>
          </a:ln>
        </p:spPr>
      </p:sp>
      <p:sp>
        <p:nvSpPr>
          <p:cNvPr id="10" name="Text 8"/>
          <p:cNvSpPr/>
          <p:nvPr/>
        </p:nvSpPr>
        <p:spPr>
          <a:xfrm>
            <a:off x="7379208" y="5939028"/>
            <a:ext cx="3529584" cy="15544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PingFang SC" pitchFamily="34" charset="0"/>
                <a:ea typeface="PingFang SC" pitchFamily="34" charset="-122"/>
                <a:cs typeface="PingFang SC" pitchFamily="34" charset="-120"/>
              </a:rPr>
              <a:t>117—120分钟：集中答疑／确认作业选题</a:t>
            </a:r>
            <a:endParaRPr lang="en-US" sz="900" dirty="0"/>
          </a:p>
        </p:txBody>
      </p:sp>
      <p:sp>
        <p:nvSpPr>
          <p:cNvPr id="11" name="Text 9"/>
          <p:cNvSpPr/>
          <p:nvPr/>
        </p:nvSpPr>
        <p:spPr>
          <a:xfrm>
            <a:off x="841248" y="6080760"/>
            <a:ext cx="3840480" cy="182880"/>
          </a:xfrm>
          <a:prstGeom prst="rect">
            <a:avLst/>
          </a:prstGeom>
          <a:noFill/>
          <a:ln/>
        </p:spPr>
        <p:txBody>
          <a:bodyPr wrap="square" lIns="0" tIns="0" rIns="0" bIns="0" rtlCol="0" anchor="t">
            <a:normAutofit/>
          </a:bodyPr>
          <a:lstStyle/>
          <a:p>
            <a:pPr marL="0" indent="0" algn="l">
              <a:buNone/>
            </a:pPr>
            <a:r>
              <a:rPr lang="en-US" sz="900" dirty="0">
                <a:solidFill>
                  <a:srgbClr val="77766F"/>
                </a:solidFill>
                <a:latin typeface="PingFang SC" pitchFamily="34" charset="0"/>
                <a:ea typeface="PingFang SC" pitchFamily="34" charset="-122"/>
                <a:cs typeface="PingFang SC" pitchFamily="34" charset="-120"/>
              </a:rPr>
              <a:t>AI 产品经理系统课程 · 第一阶段</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ingFang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ingFang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1262</TotalTime>
  <Words>9969</Words>
  <Application>Microsoft Macintosh PowerPoint</Application>
  <PresentationFormat>宽屏</PresentationFormat>
  <Paragraphs>1524</Paragraphs>
  <Slides>58</Slides>
  <Notes>58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58</vt:i4>
      </vt:variant>
    </vt:vector>
  </HeadingPairs>
  <TitlesOfParts>
    <vt:vector size="65" baseType="lpstr">
      <vt:lpstr>等线</vt:lpstr>
      <vt:lpstr>Microsoft YaHei</vt:lpstr>
      <vt:lpstr>Noto Sans CJK SC</vt:lpstr>
      <vt:lpstr>PingFang SC</vt:lpstr>
      <vt:lpstr>Aptos Display</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AI 产品经理系统课程</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大模型基础、上下文与Prompt产品化设计</dc:title>
  <dc:subject>第02课：大模型基础、上下文与Prompt产品化设计</dc:subject>
  <dc:creator>AI 产品经理系统课程</dc:creator>
  <cp:lastModifiedBy>didi</cp:lastModifiedBy>
  <cp:revision>6</cp:revision>
  <dcterms:created xsi:type="dcterms:W3CDTF">2026-07-18T08:42:09Z</dcterms:created>
  <dcterms:modified xsi:type="dcterms:W3CDTF">2026-07-20T14:33:52Z</dcterms:modified>
</cp:coreProperties>
</file>