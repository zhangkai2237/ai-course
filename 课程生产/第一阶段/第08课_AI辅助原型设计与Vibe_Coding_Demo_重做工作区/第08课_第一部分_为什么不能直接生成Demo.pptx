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20" r:id="rId22"/>
    <p:sldId id="277" r:id="rId23"/>
    <p:sldId id="278" r:id="rId24"/>
    <p:sldId id="279" r:id="rId25"/>
    <p:sldId id="281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Noto Sans CJK SC"/>
        <a:ea typeface="Noto Sans CJK SC"/>
        <a:cs typeface="Noto Sans CJK SC"/>
        <a:sym typeface="Noto Sans CJK S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Noto Sans CJK SC"/>
          <a:ea typeface="Noto Sans CJK SC"/>
          <a:cs typeface="Noto Sans CJK SC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Noto Sans CJK SC"/>
          <a:ea typeface="Noto Sans CJK SC"/>
          <a:cs typeface="Noto Sans CJK SC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2"/>
  </p:normalViewPr>
  <p:slideViewPr>
    <p:cSldViewPr snapToGrid="0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Shape 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开场：上一节已经完成PRD定稿，这一节开始把PRD变成原型和Demo</a:t>
            </a:r>
            <a:r>
              <a:rPr dirty="0"/>
              <a:t>。</a:t>
            </a:r>
          </a:p>
          <a:p>
            <a:r>
              <a:rPr dirty="0" err="1"/>
              <a:t>核心问题：有了完整PRD，能不能一步生成最终Demo</a:t>
            </a:r>
            <a:r>
              <a:rPr dirty="0"/>
              <a:t>？</a:t>
            </a:r>
          </a:p>
          <a:p>
            <a:r>
              <a:rPr dirty="0" err="1"/>
              <a:t>强调：本部分不是否定AI生成能力，而是建立正确预期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第八课第一部分讲义（课程内部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Shape 5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开场：上一节已经完成PRD定稿，这一节开始把PRD变成原型和Demo</a:t>
            </a:r>
            <a:r>
              <a:rPr dirty="0"/>
              <a:t>。</a:t>
            </a:r>
          </a:p>
          <a:p>
            <a:r>
              <a:rPr dirty="0" err="1"/>
              <a:t>核心问题：有了完整PRD，能不能一步生成最终Demo</a:t>
            </a:r>
            <a:r>
              <a:rPr dirty="0"/>
              <a:t>？</a:t>
            </a:r>
          </a:p>
          <a:p>
            <a:r>
              <a:rPr dirty="0" err="1"/>
              <a:t>强调：本部分不是否定AI生成能力，而是建立正确预期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第八课第一部分讲义（课程内部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展示课堂Prompt并切到提前准备好的AI初版Demo</a:t>
            </a:r>
            <a:r>
              <a:rPr dirty="0"/>
              <a:t>。</a:t>
            </a:r>
          </a:p>
          <a:p>
            <a:r>
              <a:rPr dirty="0" err="1"/>
              <a:t>先让学员说第一印象：页面快、完整、可以点击。不要马上揭晓错误</a:t>
            </a:r>
            <a:r>
              <a:rPr dirty="0"/>
              <a:t>。</a:t>
            </a:r>
          </a:p>
          <a:p>
            <a:r>
              <a:rPr dirty="0" err="1"/>
              <a:t>转折：我们检查的不是像不像产品，而是不是已经决定要做的产品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第一部分课堂演示Prompt（课程内部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把学员答案归纳为四类，不逐条讲完所有错误</a:t>
            </a:r>
            <a:r>
              <a:rPr dirty="0"/>
              <a:t>。</a:t>
            </a:r>
          </a:p>
          <a:p>
            <a:r>
              <a:rPr dirty="0"/>
              <a:t>重点举例：AI推荐属于范围扩大；第5个商品属于规则错误；缺失和下架属于状态遗漏；云端保存属于能力失真。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AI初版Demo问题清单</a:t>
            </a:r>
            <a:r>
              <a:rPr dirty="0"/>
              <a:t>—</a:t>
            </a:r>
            <a:r>
              <a:rPr dirty="0" err="1"/>
              <a:t>讲师答案（课程内部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快速讲清三类产物边界</a:t>
            </a:r>
            <a:r>
              <a:rPr dirty="0"/>
              <a:t>。</a:t>
            </a:r>
          </a:p>
          <a:p>
            <a:r>
              <a:rPr dirty="0" err="1"/>
              <a:t>PRD定义产品承诺；原型表达用户怎样经历这个承诺；Demo验证其中一部分能否运行</a:t>
            </a:r>
            <a:r>
              <a:rPr dirty="0"/>
              <a:t>。</a:t>
            </a:r>
          </a:p>
          <a:p>
            <a:r>
              <a:rPr dirty="0" err="1"/>
              <a:t>强调：Demo能运行不能证明用户价值或业务价值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第八课第一部分讲义（课程内部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收束：AI负责读取、生成、修改和检查；产品经理负责范围、交互决策、能力边界和验收</a:t>
            </a:r>
            <a:r>
              <a:rPr dirty="0"/>
              <a:t>。</a:t>
            </a:r>
          </a:p>
          <a:p>
            <a:r>
              <a:rPr dirty="0" err="1"/>
              <a:t>过渡：刚才的问题不是AI不会生成页面，而是任务、流程和不可修改规则还没有被显性化</a:t>
            </a:r>
            <a:r>
              <a:rPr dirty="0"/>
              <a:t>。</a:t>
            </a:r>
          </a:p>
          <a:p>
            <a:r>
              <a:rPr dirty="0" err="1"/>
              <a:t>下一部分先不写代码，从PRD提取用户任务、页面和流程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第八课第一部分讲义（课程内部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4" name="Shape 14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承接第一部分：问题不只是Prompt不够长，而是PRD到Demo之间缺少任务、页面和流程的转译</a:t>
            </a:r>
            <a:r>
              <a:rPr dirty="0"/>
              <a:t>。</a:t>
            </a:r>
          </a:p>
          <a:p>
            <a:r>
              <a:rPr dirty="0" err="1"/>
              <a:t>本部分先不生成HTML，也不讨论视觉风格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第八课第二部分讲义（课程内部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Shape 1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先讲三层关系：任务回答做什么，页面回答在哪里完成，流程回答怎样走完</a:t>
            </a:r>
            <a:r>
              <a:rPr dirty="0"/>
              <a:t>。</a:t>
            </a:r>
          </a:p>
          <a:p>
            <a:r>
              <a:rPr dirty="0" err="1"/>
              <a:t>强调这一步仍然属于产品设计判断，不属于代码实现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第八课第二部分讲义（课程内部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用核心目标统领七个子任务</a:t>
            </a:r>
            <a:r>
              <a:rPr dirty="0"/>
              <a:t>。</a:t>
            </a:r>
          </a:p>
          <a:p>
            <a:r>
              <a:rPr dirty="0" err="1"/>
              <a:t>提醒学员：浏览参数表只是行为；AI推荐不属于一期任务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第八课第二部分讲义（课程内部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5" name="Shape 2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解释三个核心界面的任务分工</a:t>
            </a:r>
            <a:r>
              <a:rPr dirty="0"/>
              <a:t>。</a:t>
            </a:r>
          </a:p>
          <a:p>
            <a:r>
              <a:rPr dirty="0" err="1"/>
              <a:t>超限提示、删除确认、参数反馈可以用弹窗或页面内提示完成，不必扩成完整页面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第八课第二部分讲义（课程内部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按入口、选择、管理、对比、查看、分支和返回依次讲解</a:t>
            </a:r>
            <a:r>
              <a:rPr dirty="0"/>
              <a:t>。</a:t>
            </a:r>
          </a:p>
          <a:p>
            <a:r>
              <a:rPr dirty="0" err="1"/>
              <a:t>重点点出数量不足、第五个商品、跨类目和返回保留四类情况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第八课第二部分讲义（课程内部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4" name="Shape 2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课堂输入完整Prompt，先让Codex只输出蓝图。完整Prompt见第二部分讲义</a:t>
            </a:r>
            <a:r>
              <a:rPr dirty="0"/>
              <a:t>。</a:t>
            </a:r>
          </a:p>
          <a:p>
            <a:r>
              <a:rPr dirty="0" err="1"/>
              <a:t>产品经理重点检查规则遗漏、范围扩张、页面依据和恢复路径</a:t>
            </a:r>
            <a:r>
              <a:rPr dirty="0"/>
              <a:t>。</a:t>
            </a:r>
          </a:p>
          <a:p>
            <a:r>
              <a:rPr dirty="0" err="1"/>
              <a:t>确认三项产出后，下一部分再进入页面信息架构和低保真结构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第八课第二部分讲义（课程内部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低保真阶段只验证结构，不追求完成度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第八课第三部分讲义（课程内部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4" name="Shape 3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通过控制视觉变量，让学员专注任务、信息和规则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第八课第三部分讲义（课程内部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3" name="Shape 3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左侧检查任务，右侧检查页面表达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第八课第三部分讲义（课程内部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4" name="Shape 3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用三栏讲清三个界面的职责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第八课第三部分讲义（课程内部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4" name="Shape 3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逐层讲解对比页，重点不是画面而是决策顺序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第八课第三部分讲义（课程内部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3" name="Shape 4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完整Prompt在讲义和配套资产中，现场强调先复述再生成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第八课第三部分讲义（课程内部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2" name="Shape 4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让异常可见、可理解、可恢复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第八课第四部分讲义（课程内部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1" name="Shape 45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每个状态都要形成完整反馈闭环</a:t>
            </a:r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第八课第四部分讲义（课程内部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收尾：不以PRD篇幅作为评分标准，而以决策清楚、规则明确、异常完整、可验收为标准。下一节原型课直接读取最终PRD。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页面状态表先覆盖一期高风险场景</a:t>
            </a:r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第八课第四部分讲义（课程内部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53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1" name="Shape 5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先生成状态表，再升级可演示界面</a:t>
            </a:r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第八课第四部分讲义（课程内部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0" name="Shape 5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按可验证切片实现，不一次生成整个产品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第八课第五部分讲义（课程内部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59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1" name="Shape 5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不要一次生成整个产品</a:t>
            </a:r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第八课第五部分讲义（课程内部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1" name="Shape 6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Demo能运行，不等于真实能力已经具备</a:t>
            </a:r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第八课第五部分讲义（课程内部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64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0" name="Shape 6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能运行只是开始，稳定验收才形成闭环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第八课第六部分讲义（课程内部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Shape 67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9" name="Shape 6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Demo验收不是“点几下没报错</a:t>
            </a:r>
            <a:r>
              <a:rPr dirty="0"/>
              <a:t>”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第八课第六部分讲义（课程内部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9" name="Shape 7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用稳定用例覆盖主流程、边界和异常</a:t>
            </a:r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第八课第六部分讲义（课程内部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第七课产品决策摘要（课程内部</a:t>
            </a:r>
            <a:r>
              <a:rPr dirty="0"/>
              <a:t>）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STER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502919" y="6473952"/>
            <a:ext cx="11201402" cy="1"/>
          </a:xfrm>
          <a:prstGeom prst="line">
            <a:avLst/>
          </a:prstGeom>
          <a:ln w="7620">
            <a:solidFill>
              <a:srgbClr val="D5E6FA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7376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8AA3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Noto Sans CJK SC"/>
          <a:ea typeface="Noto Sans CJK SC"/>
          <a:cs typeface="Noto Sans CJK SC"/>
          <a:sym typeface="Noto Sans CJK SC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CJK S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6355079" y="0"/>
            <a:ext cx="164593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Text 1"/>
          <p:cNvSpPr txBox="1"/>
          <p:nvPr/>
        </p:nvSpPr>
        <p:spPr>
          <a:xfrm>
            <a:off x="713232" y="664718"/>
            <a:ext cx="4754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8CC5FF"/>
                </a:solidFill>
              </a:defRPr>
            </a:lvl1pPr>
          </a:lstStyle>
          <a:p>
            <a:r>
              <a:t>AI辅助原型与Demo</a:t>
            </a:r>
          </a:p>
        </p:txBody>
      </p:sp>
      <p:sp>
        <p:nvSpPr>
          <p:cNvPr id="37" name="Text 2"/>
          <p:cNvSpPr txBox="1"/>
          <p:nvPr/>
        </p:nvSpPr>
        <p:spPr>
          <a:xfrm>
            <a:off x="713231" y="1801368"/>
            <a:ext cx="621366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t>第8课  从PRD到demo</a:t>
            </a:r>
          </a:p>
        </p:txBody>
      </p:sp>
      <p:sp>
        <p:nvSpPr>
          <p:cNvPr id="38" name="Shape 4"/>
          <p:cNvSpPr/>
          <p:nvPr/>
        </p:nvSpPr>
        <p:spPr>
          <a:xfrm>
            <a:off x="749807" y="3246120"/>
            <a:ext cx="4206242" cy="1"/>
          </a:xfrm>
          <a:prstGeom prst="line">
            <a:avLst/>
          </a:prstGeom>
          <a:ln w="15240">
            <a:solidFill>
              <a:srgbClr val="4DA3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" name="Text 5"/>
          <p:cNvSpPr txBox="1"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500">
                <a:solidFill>
                  <a:srgbClr val="BFD7F4"/>
                </a:solidFill>
              </a:defRPr>
            </a:lvl1pPr>
          </a:lstStyle>
          <a:p>
            <a:r>
              <a:t>生成得快，不等于产品正确。</a:t>
            </a:r>
          </a:p>
        </p:txBody>
      </p:sp>
      <p:sp>
        <p:nvSpPr>
          <p:cNvPr id="40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2" name="Image 0" descr="/mnt/data/comparison_title_right.png">
            <a:extLst>
              <a:ext uri="{FF2B5EF4-FFF2-40B4-BE49-F238E27FC236}">
                <a16:creationId xmlns:a16="http://schemas.microsoft.com/office/drawing/2014/main" id="{5DB4C2DB-1296-6B90-9819-D38FA0665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6355079" y="0"/>
            <a:ext cx="164593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" name="Text 1"/>
          <p:cNvSpPr txBox="1"/>
          <p:nvPr/>
        </p:nvSpPr>
        <p:spPr>
          <a:xfrm>
            <a:off x="713232" y="664718"/>
            <a:ext cx="4754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8CC5FF"/>
                </a:solidFill>
              </a:defRPr>
            </a:lvl1pPr>
          </a:lstStyle>
          <a:p>
            <a:r>
              <a:t>AI辅助原型与Demo · 第一部分</a:t>
            </a:r>
          </a:p>
        </p:txBody>
      </p:sp>
      <p:sp>
        <p:nvSpPr>
          <p:cNvPr id="46" name="Text 2"/>
          <p:cNvSpPr txBox="1"/>
          <p:nvPr/>
        </p:nvSpPr>
        <p:spPr>
          <a:xfrm>
            <a:off x="713231" y="1801368"/>
            <a:ext cx="621366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t>AI能直接生成最终Demo吗？</a:t>
            </a:r>
          </a:p>
        </p:txBody>
      </p:sp>
      <p:sp>
        <p:nvSpPr>
          <p:cNvPr id="47" name="Shape 4"/>
          <p:cNvSpPr/>
          <p:nvPr/>
        </p:nvSpPr>
        <p:spPr>
          <a:xfrm>
            <a:off x="749807" y="3246120"/>
            <a:ext cx="4206242" cy="1"/>
          </a:xfrm>
          <a:prstGeom prst="line">
            <a:avLst/>
          </a:prstGeom>
          <a:ln w="15240">
            <a:solidFill>
              <a:srgbClr val="4DA3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" name="Text 5"/>
          <p:cNvSpPr txBox="1"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500">
                <a:solidFill>
                  <a:srgbClr val="BFD7F4"/>
                </a:solidFill>
              </a:defRPr>
            </a:lvl1pPr>
          </a:lstStyle>
          <a:p>
            <a:r>
              <a:t>生成得快，不等于产品正确。</a:t>
            </a:r>
          </a:p>
        </p:txBody>
      </p:sp>
      <p:sp>
        <p:nvSpPr>
          <p:cNvPr id="49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1 / 一键生成实验</a:t>
            </a:r>
          </a:p>
        </p:txBody>
      </p:sp>
      <p:sp>
        <p:nvSpPr>
          <p:cNvPr id="54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PRD定稿后，直接生成Demo？</a:t>
            </a:r>
          </a:p>
        </p:txBody>
      </p:sp>
      <p:sp>
        <p:nvSpPr>
          <p:cNvPr id="55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先做一次看似合理的“一键生成”实验。</a:t>
            </a:r>
          </a:p>
        </p:txBody>
      </p:sp>
      <p:pic>
        <p:nvPicPr>
          <p:cNvPr id="56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10511"/>
            <a:ext cx="4160521" cy="2715769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Shape 3"/>
          <p:cNvSpPr/>
          <p:nvPr/>
        </p:nvSpPr>
        <p:spPr>
          <a:xfrm>
            <a:off x="822960" y="1901951"/>
            <a:ext cx="5166360" cy="100584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BFD7F4"/>
            </a:solidFill>
          </a:ln>
          <a:effectLst>
            <a:outerShdw blurRad="12700" dist="50800" dir="2700000" rotWithShape="0">
              <a:srgbClr val="B7C6D9">
                <a:alpha val="1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8" name="Text 4"/>
          <p:cNvSpPr txBox="1"/>
          <p:nvPr/>
        </p:nvSpPr>
        <p:spPr>
          <a:xfrm>
            <a:off x="1078991" y="2002535"/>
            <a:ext cx="466344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153000"/>
              </a:lnSpc>
              <a:defRPr sz="1638" b="1">
                <a:solidFill>
                  <a:srgbClr val="0B1F3A"/>
                </a:solidFill>
              </a:defRPr>
            </a:pPr>
            <a:r>
              <a:t>“请阅读商品对比工具PRD，</a:t>
            </a:r>
            <a:endParaRPr sz="1820"/>
          </a:p>
          <a:p>
            <a:pPr algn="ctr" defTabSz="832104">
              <a:lnSpc>
                <a:spcPct val="90000"/>
              </a:lnSpc>
              <a:defRPr sz="1638" b="1">
                <a:solidFill>
                  <a:srgbClr val="0B1F3A"/>
                </a:solidFill>
              </a:defRPr>
            </a:pPr>
            <a:r>
              <a:t>生成一个完整、专业的移动端Demo。”</a:t>
            </a:r>
          </a:p>
        </p:txBody>
      </p:sp>
      <p:sp>
        <p:nvSpPr>
          <p:cNvPr id="59" name="Shape 12"/>
          <p:cNvSpPr/>
          <p:nvPr/>
        </p:nvSpPr>
        <p:spPr>
          <a:xfrm>
            <a:off x="6720840" y="1783079"/>
            <a:ext cx="1" cy="388620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Text 14"/>
          <p:cNvSpPr txBox="1"/>
          <p:nvPr/>
        </p:nvSpPr>
        <p:spPr>
          <a:xfrm>
            <a:off x="7452359" y="5257799"/>
            <a:ext cx="3886201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86968">
              <a:defRPr sz="1455" b="1">
                <a:solidFill>
                  <a:srgbClr val="0B1F3A"/>
                </a:solidFill>
              </a:defRPr>
            </a:lvl1pPr>
          </a:lstStyle>
          <a:p>
            <a:r>
              <a:t>第一眼很完整。下一步，检查它是不是我们决定要做的产品。</a:t>
            </a:r>
          </a:p>
        </p:txBody>
      </p:sp>
      <p:sp>
        <p:nvSpPr>
          <p:cNvPr id="61" name="Text 15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观察重点：先看生成速度，再看范围、规则、状态和能力边界。</a:t>
            </a:r>
          </a:p>
        </p:txBody>
      </p:sp>
      <p:sp>
        <p:nvSpPr>
          <p:cNvPr id="6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3 / 四类核心风险</a:t>
            </a:r>
          </a:p>
        </p:txBody>
      </p:sp>
      <p:sp>
        <p:nvSpPr>
          <p:cNvPr id="67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直接生成Demo，最容易出现四类问题</a:t>
            </a:r>
          </a:p>
        </p:txBody>
      </p:sp>
      <p:sp>
        <p:nvSpPr>
          <p:cNvPr id="68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页面越像成品，越要回到正式决策检查。</a:t>
            </a:r>
          </a:p>
        </p:txBody>
      </p:sp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59" y="1783079"/>
            <a:ext cx="4389121" cy="2459737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hape 3"/>
          <p:cNvSpPr/>
          <p:nvPr/>
        </p:nvSpPr>
        <p:spPr>
          <a:xfrm>
            <a:off x="777240" y="2011679"/>
            <a:ext cx="2240280" cy="1188721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  <a:effectLst>
            <a:outerShdw blurRad="12700" dist="50800" dir="2700000" rotWithShape="0">
              <a:srgbClr val="94A3B8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71" name="Text 4"/>
          <p:cNvSpPr txBox="1"/>
          <p:nvPr/>
        </p:nvSpPr>
        <p:spPr>
          <a:xfrm>
            <a:off x="941832" y="2243327"/>
            <a:ext cx="191109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 b="1">
                <a:solidFill>
                  <a:srgbClr val="0B1F3A"/>
                </a:solidFill>
              </a:defRPr>
            </a:lvl1pPr>
          </a:lstStyle>
          <a:p>
            <a:r>
              <a:t>擅自加功能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2761488"/>
            <a:ext cx="1874522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r>
              <a:t>用常见模式扩大一期范围</a:t>
            </a:r>
          </a:p>
        </p:txBody>
      </p:sp>
      <p:sp>
        <p:nvSpPr>
          <p:cNvPr id="73" name="Shape 6"/>
          <p:cNvSpPr/>
          <p:nvPr/>
        </p:nvSpPr>
        <p:spPr>
          <a:xfrm>
            <a:off x="3566159" y="2011679"/>
            <a:ext cx="2240281" cy="1188721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FCD34D"/>
            </a:solidFill>
          </a:ln>
          <a:effectLst>
            <a:outerShdw blurRad="12700" dist="50800" dir="2700000" rotWithShape="0">
              <a:srgbClr val="94A3B8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74" name="Text 7"/>
          <p:cNvSpPr txBox="1"/>
          <p:nvPr/>
        </p:nvSpPr>
        <p:spPr>
          <a:xfrm>
            <a:off x="3730752" y="2243327"/>
            <a:ext cx="191109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 b="1">
                <a:solidFill>
                  <a:srgbClr val="0B1F3A"/>
                </a:solidFill>
              </a:defRPr>
            </a:lvl1pPr>
          </a:lstStyle>
          <a:p>
            <a:r>
              <a:t>规则做错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3749040" y="2761488"/>
            <a:ext cx="187452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r>
              <a:t>用漂亮页面表达错误方案</a:t>
            </a:r>
          </a:p>
        </p:txBody>
      </p:sp>
      <p:sp>
        <p:nvSpPr>
          <p:cNvPr id="76" name="Shape 9"/>
          <p:cNvSpPr/>
          <p:nvPr/>
        </p:nvSpPr>
        <p:spPr>
          <a:xfrm>
            <a:off x="777240" y="3794759"/>
            <a:ext cx="2240280" cy="1188721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67E8F9"/>
            </a:solidFill>
          </a:ln>
          <a:effectLst>
            <a:outerShdw blurRad="12700" dist="50800" dir="2700000" rotWithShape="0">
              <a:srgbClr val="94A3B8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Text 10"/>
          <p:cNvSpPr txBox="1"/>
          <p:nvPr/>
        </p:nvSpPr>
        <p:spPr>
          <a:xfrm>
            <a:off x="941832" y="4026407"/>
            <a:ext cx="191109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 b="1">
                <a:solidFill>
                  <a:srgbClr val="0B1F3A"/>
                </a:solidFill>
              </a:defRPr>
            </a:lvl1pPr>
          </a:lstStyle>
          <a:p>
            <a:r>
              <a:t>状态遗漏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960119" y="4544567"/>
            <a:ext cx="1874522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r>
              <a:t>只覆盖理想路径</a:t>
            </a:r>
          </a:p>
        </p:txBody>
      </p:sp>
      <p:sp>
        <p:nvSpPr>
          <p:cNvPr id="79" name="Shape 12"/>
          <p:cNvSpPr/>
          <p:nvPr/>
        </p:nvSpPr>
        <p:spPr>
          <a:xfrm>
            <a:off x="3566159" y="3794759"/>
            <a:ext cx="2240281" cy="1188721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86EFAC"/>
            </a:solidFill>
          </a:ln>
          <a:effectLst>
            <a:outerShdw blurRad="12700" dist="50800" dir="2700000" rotWithShape="0">
              <a:srgbClr val="94A3B8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Text 13"/>
          <p:cNvSpPr txBox="1"/>
          <p:nvPr/>
        </p:nvSpPr>
        <p:spPr>
          <a:xfrm>
            <a:off x="3730752" y="4026407"/>
            <a:ext cx="191109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 b="1">
                <a:solidFill>
                  <a:srgbClr val="0B1F3A"/>
                </a:solidFill>
              </a:defRPr>
            </a:lvl1pPr>
          </a:lstStyle>
          <a:p>
            <a:r>
              <a:t>能力失真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3749040" y="4544567"/>
            <a:ext cx="187452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r>
              <a:t>把模拟效果当真实能力</a:t>
            </a:r>
          </a:p>
        </p:txBody>
      </p:sp>
      <p:sp>
        <p:nvSpPr>
          <p:cNvPr id="82" name="Text 15"/>
          <p:cNvSpPr txBox="1"/>
          <p:nvPr/>
        </p:nvSpPr>
        <p:spPr>
          <a:xfrm>
            <a:off x="960119" y="5546344"/>
            <a:ext cx="102412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0B1F3A"/>
                </a:solidFill>
              </a:defRPr>
            </a:lvl1pPr>
          </a:lstStyle>
          <a:p>
            <a:r>
              <a:t>判断标准：不是“像不像产品”，而是“是不是我们决定要做的产品”。</a:t>
            </a:r>
          </a:p>
        </p:txBody>
      </p:sp>
      <p:sp>
        <p:nvSpPr>
          <p:cNvPr id="83" name="Text 16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AI辅助原型与Demo · 第一部分</a:t>
            </a:r>
          </a:p>
        </p:txBody>
      </p:sp>
      <p:sp>
        <p:nvSpPr>
          <p:cNvPr id="84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4 / 产物边界</a:t>
            </a:r>
          </a:p>
        </p:txBody>
      </p:sp>
      <p:sp>
        <p:nvSpPr>
          <p:cNvPr id="89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PRD、原型和Demo解决不同问题</a:t>
            </a:r>
          </a:p>
        </p:txBody>
      </p:sp>
      <p:sp>
        <p:nvSpPr>
          <p:cNvPr id="90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三者相互承接，但不会自动升级。</a:t>
            </a:r>
          </a:p>
        </p:txBody>
      </p:sp>
      <p:sp>
        <p:nvSpPr>
          <p:cNvPr id="91" name="Shape 3"/>
          <p:cNvSpPr/>
          <p:nvPr/>
        </p:nvSpPr>
        <p:spPr>
          <a:xfrm>
            <a:off x="2670048" y="3730752"/>
            <a:ext cx="1975105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2" name="Shape 4"/>
          <p:cNvSpPr/>
          <p:nvPr/>
        </p:nvSpPr>
        <p:spPr>
          <a:xfrm>
            <a:off x="6016752" y="3730752"/>
            <a:ext cx="2011680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3" name="Shape 5"/>
          <p:cNvSpPr/>
          <p:nvPr/>
        </p:nvSpPr>
        <p:spPr>
          <a:xfrm>
            <a:off x="768095" y="2103120"/>
            <a:ext cx="2788922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94" name="Text 6"/>
          <p:cNvSpPr txBox="1"/>
          <p:nvPr/>
        </p:nvSpPr>
        <p:spPr>
          <a:xfrm>
            <a:off x="1024127" y="2420620"/>
            <a:ext cx="2286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563EB"/>
                </a:solidFill>
              </a:defRPr>
            </a:lvl1pPr>
          </a:lstStyle>
          <a:p>
            <a:r>
              <a:t>PRD</a:t>
            </a:r>
          </a:p>
        </p:txBody>
      </p:sp>
      <p:sp>
        <p:nvSpPr>
          <p:cNvPr id="95" name="Text 7"/>
          <p:cNvSpPr txBox="1"/>
          <p:nvPr/>
        </p:nvSpPr>
        <p:spPr>
          <a:xfrm>
            <a:off x="1060703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产品做什么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目标、范围、规则与验收</a:t>
            </a:r>
          </a:p>
        </p:txBody>
      </p:sp>
      <p:sp>
        <p:nvSpPr>
          <p:cNvPr id="96" name="Shape 8"/>
          <p:cNvSpPr/>
          <p:nvPr/>
        </p:nvSpPr>
        <p:spPr>
          <a:xfrm>
            <a:off x="4160520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97" name="Text 9"/>
          <p:cNvSpPr txBox="1"/>
          <p:nvPr/>
        </p:nvSpPr>
        <p:spPr>
          <a:xfrm>
            <a:off x="4416552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59E0B"/>
                </a:solidFill>
              </a:defRPr>
            </a:lvl1pPr>
          </a:lstStyle>
          <a:p>
            <a:r>
              <a:t>原型</a:t>
            </a:r>
          </a:p>
        </p:txBody>
      </p:sp>
      <p:sp>
        <p:nvSpPr>
          <p:cNvPr id="98" name="Text 10"/>
          <p:cNvSpPr txBox="1"/>
          <p:nvPr/>
        </p:nvSpPr>
        <p:spPr>
          <a:xfrm>
            <a:off x="4453128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用户怎么完成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页面、流程、信息与状态</a:t>
            </a:r>
          </a:p>
        </p:txBody>
      </p:sp>
      <p:sp>
        <p:nvSpPr>
          <p:cNvPr id="99" name="Shape 11"/>
          <p:cNvSpPr/>
          <p:nvPr/>
        </p:nvSpPr>
        <p:spPr>
          <a:xfrm>
            <a:off x="7562088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14B8A6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0" name="Text 12"/>
          <p:cNvSpPr txBox="1"/>
          <p:nvPr/>
        </p:nvSpPr>
        <p:spPr>
          <a:xfrm>
            <a:off x="7818119" y="2420620"/>
            <a:ext cx="2286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B8A6"/>
                </a:solidFill>
              </a:defRPr>
            </a:lvl1pPr>
          </a:lstStyle>
          <a:p>
            <a:r>
              <a:t>Demo</a:t>
            </a:r>
          </a:p>
        </p:txBody>
      </p:sp>
      <p:sp>
        <p:nvSpPr>
          <p:cNvPr id="101" name="Text 13"/>
          <p:cNvSpPr txBox="1"/>
          <p:nvPr/>
        </p:nvSpPr>
        <p:spPr>
          <a:xfrm>
            <a:off x="7854695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核心路径能否运行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模拟边界、修改与检查</a:t>
            </a:r>
          </a:p>
        </p:txBody>
      </p:sp>
      <p:sp>
        <p:nvSpPr>
          <p:cNvPr id="102" name="Text 16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三个产物解决不同层次的问题。</a:t>
            </a:r>
          </a:p>
        </p:txBody>
      </p:sp>
      <p:sp>
        <p:nvSpPr>
          <p:cNvPr id="103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5 / 正确协作方式</a:t>
            </a:r>
          </a:p>
        </p:txBody>
      </p:sp>
      <p:sp>
        <p:nvSpPr>
          <p:cNvPr id="108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先拆解，再生成；先检查，再交付</a:t>
            </a:r>
          </a:p>
        </p:txBody>
      </p:sp>
      <p:sp>
        <p:nvSpPr>
          <p:cNvPr id="109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AI和产品经理各自负责什么？</a:t>
            </a:r>
          </a:p>
        </p:txBody>
      </p:sp>
      <p:pic>
        <p:nvPicPr>
          <p:cNvPr id="11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74520"/>
            <a:ext cx="3383280" cy="2542033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 3"/>
          <p:cNvSpPr txBox="1"/>
          <p:nvPr/>
        </p:nvSpPr>
        <p:spPr>
          <a:xfrm>
            <a:off x="896111" y="1852930"/>
            <a:ext cx="18288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563EB"/>
                </a:solidFill>
              </a:defRPr>
            </a:lvl1pPr>
          </a:lstStyle>
          <a:p>
            <a:r>
              <a:t>AI负责</a:t>
            </a:r>
          </a:p>
        </p:txBody>
      </p:sp>
      <p:sp>
        <p:nvSpPr>
          <p:cNvPr id="112" name="Text 4"/>
          <p:cNvSpPr txBox="1"/>
          <p:nvPr/>
        </p:nvSpPr>
        <p:spPr>
          <a:xfrm>
            <a:off x="3703320" y="185293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B8A6"/>
                </a:solidFill>
              </a:defRPr>
            </a:lvl1pPr>
          </a:lstStyle>
          <a:p>
            <a:r>
              <a:t>产品经理负责</a:t>
            </a:r>
          </a:p>
        </p:txBody>
      </p:sp>
      <p:sp>
        <p:nvSpPr>
          <p:cNvPr id="113" name="Shape 5"/>
          <p:cNvSpPr/>
          <p:nvPr/>
        </p:nvSpPr>
        <p:spPr>
          <a:xfrm>
            <a:off x="932688" y="253288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Text 6"/>
          <p:cNvSpPr txBox="1"/>
          <p:nvPr/>
        </p:nvSpPr>
        <p:spPr>
          <a:xfrm>
            <a:off x="1225296" y="2440686"/>
            <a:ext cx="21945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读取正式文件</a:t>
            </a:r>
          </a:p>
        </p:txBody>
      </p:sp>
      <p:sp>
        <p:nvSpPr>
          <p:cNvPr id="115" name="Shape 7"/>
          <p:cNvSpPr/>
          <p:nvPr/>
        </p:nvSpPr>
        <p:spPr>
          <a:xfrm>
            <a:off x="932688" y="303580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Text 8"/>
          <p:cNvSpPr txBox="1"/>
          <p:nvPr/>
        </p:nvSpPr>
        <p:spPr>
          <a:xfrm>
            <a:off x="1225296" y="2943605"/>
            <a:ext cx="21945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提取任务与状态</a:t>
            </a:r>
          </a:p>
        </p:txBody>
      </p:sp>
      <p:sp>
        <p:nvSpPr>
          <p:cNvPr id="117" name="Shape 9"/>
          <p:cNvSpPr/>
          <p:nvPr/>
        </p:nvSpPr>
        <p:spPr>
          <a:xfrm>
            <a:off x="932688" y="353872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8" name="Text 10"/>
          <p:cNvSpPr txBox="1"/>
          <p:nvPr/>
        </p:nvSpPr>
        <p:spPr>
          <a:xfrm>
            <a:off x="1225296" y="3446526"/>
            <a:ext cx="21945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生成页面与代码</a:t>
            </a:r>
          </a:p>
        </p:txBody>
      </p:sp>
      <p:sp>
        <p:nvSpPr>
          <p:cNvPr id="119" name="Shape 11"/>
          <p:cNvSpPr/>
          <p:nvPr/>
        </p:nvSpPr>
        <p:spPr>
          <a:xfrm>
            <a:off x="932688" y="404164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0" name="Text 12"/>
          <p:cNvSpPr txBox="1"/>
          <p:nvPr/>
        </p:nvSpPr>
        <p:spPr>
          <a:xfrm>
            <a:off x="1225296" y="3949446"/>
            <a:ext cx="21945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按要求修改检查</a:t>
            </a:r>
          </a:p>
        </p:txBody>
      </p:sp>
      <p:sp>
        <p:nvSpPr>
          <p:cNvPr id="121" name="Shape 13"/>
          <p:cNvSpPr/>
          <p:nvPr/>
        </p:nvSpPr>
        <p:spPr>
          <a:xfrm>
            <a:off x="3749040" y="253288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Text 14"/>
          <p:cNvSpPr txBox="1"/>
          <p:nvPr/>
        </p:nvSpPr>
        <p:spPr>
          <a:xfrm>
            <a:off x="4041647" y="2450592"/>
            <a:ext cx="25146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确认范围与规则</a:t>
            </a:r>
          </a:p>
        </p:txBody>
      </p:sp>
      <p:sp>
        <p:nvSpPr>
          <p:cNvPr id="123" name="Shape 15"/>
          <p:cNvSpPr/>
          <p:nvPr/>
        </p:nvSpPr>
        <p:spPr>
          <a:xfrm>
            <a:off x="3749040" y="303580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4" name="Text 16"/>
          <p:cNvSpPr txBox="1"/>
          <p:nvPr/>
        </p:nvSpPr>
        <p:spPr>
          <a:xfrm>
            <a:off x="4041647" y="2953511"/>
            <a:ext cx="25146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决定交互取舍</a:t>
            </a:r>
          </a:p>
        </p:txBody>
      </p:sp>
      <p:sp>
        <p:nvSpPr>
          <p:cNvPr id="125" name="Shape 17"/>
          <p:cNvSpPr/>
          <p:nvPr/>
        </p:nvSpPr>
        <p:spPr>
          <a:xfrm>
            <a:off x="3749040" y="353872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6" name="Text 18"/>
          <p:cNvSpPr txBox="1"/>
          <p:nvPr/>
        </p:nvSpPr>
        <p:spPr>
          <a:xfrm>
            <a:off x="4041647" y="3456432"/>
            <a:ext cx="25146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声明能力边界</a:t>
            </a:r>
          </a:p>
        </p:txBody>
      </p:sp>
      <p:sp>
        <p:nvSpPr>
          <p:cNvPr id="127" name="Shape 19"/>
          <p:cNvSpPr/>
          <p:nvPr/>
        </p:nvSpPr>
        <p:spPr>
          <a:xfrm>
            <a:off x="3749040" y="404164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8" name="Text 20"/>
          <p:cNvSpPr txBox="1"/>
          <p:nvPr/>
        </p:nvSpPr>
        <p:spPr>
          <a:xfrm>
            <a:off x="4041647" y="3959352"/>
            <a:ext cx="25146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对最终验收负责</a:t>
            </a:r>
          </a:p>
        </p:txBody>
      </p:sp>
      <p:sp>
        <p:nvSpPr>
          <p:cNvPr id="129" name="Shape 21"/>
          <p:cNvSpPr/>
          <p:nvPr/>
        </p:nvSpPr>
        <p:spPr>
          <a:xfrm>
            <a:off x="914400" y="5074920"/>
            <a:ext cx="5669280" cy="566929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Text 22"/>
          <p:cNvSpPr txBox="1"/>
          <p:nvPr/>
        </p:nvSpPr>
        <p:spPr>
          <a:xfrm>
            <a:off x="1078991" y="5266944"/>
            <a:ext cx="532181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0391">
              <a:lnSpc>
                <a:spcPct val="90000"/>
              </a:lnSpc>
              <a:defRPr sz="1023" b="1">
                <a:solidFill>
                  <a:srgbClr val="FFFFFF"/>
                </a:solidFill>
              </a:defRPr>
            </a:lvl1pPr>
          </a:lstStyle>
          <a:p>
            <a:r>
              <a:t>正式PRD → 用户任务与流程 → 页面与状态 → Demo → 修改验收</a:t>
            </a:r>
          </a:p>
        </p:txBody>
      </p:sp>
      <p:sp>
        <p:nvSpPr>
          <p:cNvPr id="131" name="Text 23"/>
          <p:cNvSpPr txBox="1"/>
          <p:nvPr/>
        </p:nvSpPr>
        <p:spPr>
          <a:xfrm>
            <a:off x="7635240" y="4709159"/>
            <a:ext cx="2834641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隐藏复杂性</a:t>
            </a:r>
            <a:endParaRPr sz="1547"/>
          </a:p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必须被显性化</a:t>
            </a:r>
          </a:p>
        </p:txBody>
      </p:sp>
      <p:sp>
        <p:nvSpPr>
          <p:cNvPr id="132" name="Text 24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下一部分：从PRD提取用户任务、页面和流程。</a:t>
            </a:r>
          </a:p>
        </p:txBody>
      </p:sp>
      <p:sp>
        <p:nvSpPr>
          <p:cNvPr id="133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6355079" y="0"/>
            <a:ext cx="164593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Text 1"/>
          <p:cNvSpPr txBox="1"/>
          <p:nvPr/>
        </p:nvSpPr>
        <p:spPr>
          <a:xfrm>
            <a:off x="713232" y="664718"/>
            <a:ext cx="4754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8CC5FF"/>
                </a:solidFill>
              </a:defRPr>
            </a:lvl1pPr>
          </a:lstStyle>
          <a:p>
            <a:r>
              <a:t>AI辅助原型与Demo · 第二部分</a:t>
            </a:r>
          </a:p>
        </p:txBody>
      </p:sp>
      <p:sp>
        <p:nvSpPr>
          <p:cNvPr id="139" name="Text 2"/>
          <p:cNvSpPr txBox="1"/>
          <p:nvPr/>
        </p:nvSpPr>
        <p:spPr>
          <a:xfrm>
            <a:off x="713231" y="1801368"/>
            <a:ext cx="621366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t>从PRD提取任务、页面与流程</a:t>
            </a:r>
          </a:p>
        </p:txBody>
      </p:sp>
      <p:sp>
        <p:nvSpPr>
          <p:cNvPr id="140" name="Shape 4"/>
          <p:cNvSpPr/>
          <p:nvPr/>
        </p:nvSpPr>
        <p:spPr>
          <a:xfrm>
            <a:off x="749807" y="3246120"/>
            <a:ext cx="4206242" cy="1"/>
          </a:xfrm>
          <a:prstGeom prst="line">
            <a:avLst/>
          </a:prstGeom>
          <a:ln w="15240">
            <a:solidFill>
              <a:srgbClr val="4DA3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1" name="Text 5"/>
          <p:cNvSpPr txBox="1"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500">
                <a:solidFill>
                  <a:srgbClr val="BFD7F4"/>
                </a:solidFill>
              </a:defRPr>
            </a:lvl1pPr>
          </a:lstStyle>
          <a:p>
            <a:r>
              <a:t>先形成Demo蓝图，再生成页面和代码。</a:t>
            </a:r>
          </a:p>
        </p:txBody>
      </p:sp>
      <p:sp>
        <p:nvSpPr>
          <p:cNvPr id="14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1 / 结构蓝图</a:t>
            </a:r>
          </a:p>
        </p:txBody>
      </p:sp>
      <p:sp>
        <p:nvSpPr>
          <p:cNvPr id="147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生成Demo前，先补齐三层结构</a:t>
            </a:r>
          </a:p>
        </p:txBody>
      </p:sp>
      <p:sp>
        <p:nvSpPr>
          <p:cNvPr id="148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不是把Prompt写得更长，而是把关键判断显性化。</a:t>
            </a:r>
          </a:p>
        </p:txBody>
      </p:sp>
      <p:sp>
        <p:nvSpPr>
          <p:cNvPr id="149" name="Shape 3"/>
          <p:cNvSpPr/>
          <p:nvPr/>
        </p:nvSpPr>
        <p:spPr>
          <a:xfrm>
            <a:off x="2670048" y="3730752"/>
            <a:ext cx="1975105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0" name="Shape 4"/>
          <p:cNvSpPr/>
          <p:nvPr/>
        </p:nvSpPr>
        <p:spPr>
          <a:xfrm>
            <a:off x="6016752" y="3730752"/>
            <a:ext cx="2011680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1" name="Shape 5"/>
          <p:cNvSpPr/>
          <p:nvPr/>
        </p:nvSpPr>
        <p:spPr>
          <a:xfrm>
            <a:off x="768095" y="2103120"/>
            <a:ext cx="2788922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2" name="Text 6"/>
          <p:cNvSpPr txBox="1"/>
          <p:nvPr/>
        </p:nvSpPr>
        <p:spPr>
          <a:xfrm>
            <a:off x="1024127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563EB"/>
                </a:solidFill>
              </a:defRPr>
            </a:lvl1pPr>
          </a:lstStyle>
          <a:p>
            <a:r>
              <a:t>用户流程</a:t>
            </a:r>
          </a:p>
        </p:txBody>
      </p:sp>
      <p:sp>
        <p:nvSpPr>
          <p:cNvPr id="153" name="Text 7"/>
          <p:cNvSpPr txBox="1"/>
          <p:nvPr/>
        </p:nvSpPr>
        <p:spPr>
          <a:xfrm>
            <a:off x="1060703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用户要完成什么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核心目标与子任务</a:t>
            </a:r>
          </a:p>
        </p:txBody>
      </p:sp>
      <p:sp>
        <p:nvSpPr>
          <p:cNvPr id="154" name="Shape 8"/>
          <p:cNvSpPr/>
          <p:nvPr/>
        </p:nvSpPr>
        <p:spPr>
          <a:xfrm>
            <a:off x="4160520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5" name="Text 9"/>
          <p:cNvSpPr txBox="1"/>
          <p:nvPr/>
        </p:nvSpPr>
        <p:spPr>
          <a:xfrm>
            <a:off x="4416552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59E0B"/>
                </a:solidFill>
              </a:defRPr>
            </a:lvl1pPr>
          </a:lstStyle>
          <a:p>
            <a:r>
              <a:t>页面载体</a:t>
            </a:r>
          </a:p>
        </p:txBody>
      </p:sp>
      <p:sp>
        <p:nvSpPr>
          <p:cNvPr id="156" name="Text 10"/>
          <p:cNvSpPr txBox="1"/>
          <p:nvPr/>
        </p:nvSpPr>
        <p:spPr>
          <a:xfrm>
            <a:off x="4453128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用户在哪里完成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入口、界面与信息</a:t>
            </a:r>
          </a:p>
        </p:txBody>
      </p:sp>
      <p:sp>
        <p:nvSpPr>
          <p:cNvPr id="157" name="Shape 11"/>
          <p:cNvSpPr/>
          <p:nvPr/>
        </p:nvSpPr>
        <p:spPr>
          <a:xfrm>
            <a:off x="7562088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14B8A6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8" name="Text 12"/>
          <p:cNvSpPr txBox="1"/>
          <p:nvPr/>
        </p:nvSpPr>
        <p:spPr>
          <a:xfrm>
            <a:off x="7818119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B8A6"/>
                </a:solidFill>
              </a:defRPr>
            </a:lvl1pPr>
          </a:lstStyle>
          <a:p>
            <a:r>
              <a:t>完整流程</a:t>
            </a:r>
          </a:p>
        </p:txBody>
      </p:sp>
      <p:sp>
        <p:nvSpPr>
          <p:cNvPr id="159" name="Text 13"/>
          <p:cNvSpPr txBox="1"/>
          <p:nvPr/>
        </p:nvSpPr>
        <p:spPr>
          <a:xfrm>
            <a:off x="7854695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用户怎样走完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主路径、分支与返回</a:t>
            </a:r>
          </a:p>
        </p:txBody>
      </p:sp>
      <p:sp>
        <p:nvSpPr>
          <p:cNvPr id="160" name="Shape 14"/>
          <p:cNvSpPr/>
          <p:nvPr/>
        </p:nvSpPr>
        <p:spPr>
          <a:xfrm>
            <a:off x="1371600" y="4892040"/>
            <a:ext cx="9418320" cy="640081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1" name="Text 15"/>
          <p:cNvSpPr txBox="1"/>
          <p:nvPr/>
        </p:nvSpPr>
        <p:spPr>
          <a:xfrm>
            <a:off x="1572768" y="5062474"/>
            <a:ext cx="896112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9A3412"/>
                </a:solidFill>
              </a:defRPr>
            </a:lvl1pPr>
          </a:lstStyle>
          <a:p>
            <a:r>
              <a:t>用户流程 → 页面载体 → 完整流程，是生成原型与Demo的结构蓝图。</a:t>
            </a:r>
          </a:p>
        </p:txBody>
      </p:sp>
      <p:sp>
        <p:nvSpPr>
          <p:cNvPr id="162" name="Text 16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PRD定义产品规则，Demo蓝图定义用户如何完成任务。</a:t>
            </a:r>
          </a:p>
        </p:txBody>
      </p:sp>
      <p:sp>
        <p:nvSpPr>
          <p:cNvPr id="163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2 / 核心用户任务</a:t>
            </a:r>
          </a:p>
        </p:txBody>
      </p:sp>
      <p:sp>
        <p:nvSpPr>
          <p:cNvPr id="168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先找用户流程，不要先列页面</a:t>
            </a:r>
          </a:p>
        </p:txBody>
      </p:sp>
      <p:sp>
        <p:nvSpPr>
          <p:cNvPr id="169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核心目标：快速识别2—4个候选手机的关键差异。</a:t>
            </a:r>
          </a:p>
        </p:txBody>
      </p:sp>
      <p:sp>
        <p:nvSpPr>
          <p:cNvPr id="170" name="Text 3"/>
          <p:cNvSpPr txBox="1"/>
          <p:nvPr/>
        </p:nvSpPr>
        <p:spPr>
          <a:xfrm>
            <a:off x="859535" y="18907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71" name="Shape 4"/>
          <p:cNvSpPr/>
          <p:nvPr/>
        </p:nvSpPr>
        <p:spPr>
          <a:xfrm>
            <a:off x="1636776" y="199339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2" name="Text 5"/>
          <p:cNvSpPr txBox="1"/>
          <p:nvPr/>
        </p:nvSpPr>
        <p:spPr>
          <a:xfrm>
            <a:off x="2167127" y="18562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选择具体SKU</a:t>
            </a:r>
          </a:p>
        </p:txBody>
      </p:sp>
      <p:sp>
        <p:nvSpPr>
          <p:cNvPr id="173" name="Text 6"/>
          <p:cNvSpPr txBox="1"/>
          <p:nvPr/>
        </p:nvSpPr>
        <p:spPr>
          <a:xfrm>
            <a:off x="859535" y="239369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74" name="Shape 7"/>
          <p:cNvSpPr/>
          <p:nvPr/>
        </p:nvSpPr>
        <p:spPr>
          <a:xfrm>
            <a:off x="1636776" y="24963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5" name="Text 8"/>
          <p:cNvSpPr txBox="1"/>
          <p:nvPr/>
        </p:nvSpPr>
        <p:spPr>
          <a:xfrm>
            <a:off x="2167127" y="235915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确认已选商品和数量</a:t>
            </a:r>
          </a:p>
        </p:txBody>
      </p:sp>
      <p:sp>
        <p:nvSpPr>
          <p:cNvPr id="176" name="Text 9"/>
          <p:cNvSpPr txBox="1"/>
          <p:nvPr/>
        </p:nvSpPr>
        <p:spPr>
          <a:xfrm>
            <a:off x="859535" y="289661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77" name="Shape 10"/>
          <p:cNvSpPr/>
          <p:nvPr/>
        </p:nvSpPr>
        <p:spPr>
          <a:xfrm>
            <a:off x="1636776" y="299923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Text 11"/>
          <p:cNvSpPr txBox="1"/>
          <p:nvPr/>
        </p:nvSpPr>
        <p:spPr>
          <a:xfrm>
            <a:off x="2167127" y="286207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进入商品对比</a:t>
            </a:r>
          </a:p>
        </p:txBody>
      </p:sp>
      <p:sp>
        <p:nvSpPr>
          <p:cNvPr id="179" name="Text 12"/>
          <p:cNvSpPr txBox="1"/>
          <p:nvPr/>
        </p:nvSpPr>
        <p:spPr>
          <a:xfrm>
            <a:off x="859535" y="339953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180" name="Shape 13"/>
          <p:cNvSpPr/>
          <p:nvPr/>
        </p:nvSpPr>
        <p:spPr>
          <a:xfrm>
            <a:off x="1636776" y="350215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1" name="Text 14"/>
          <p:cNvSpPr txBox="1"/>
          <p:nvPr/>
        </p:nvSpPr>
        <p:spPr>
          <a:xfrm>
            <a:off x="2167127" y="336499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查看核心参数差异</a:t>
            </a:r>
          </a:p>
        </p:txBody>
      </p:sp>
      <p:sp>
        <p:nvSpPr>
          <p:cNvPr id="182" name="Text 15"/>
          <p:cNvSpPr txBox="1"/>
          <p:nvPr/>
        </p:nvSpPr>
        <p:spPr>
          <a:xfrm>
            <a:off x="859535" y="390245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183" name="Shape 16"/>
          <p:cNvSpPr/>
          <p:nvPr/>
        </p:nvSpPr>
        <p:spPr>
          <a:xfrm>
            <a:off x="1636776" y="400507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4" name="Text 17"/>
          <p:cNvSpPr txBox="1"/>
          <p:nvPr/>
        </p:nvSpPr>
        <p:spPr>
          <a:xfrm>
            <a:off x="2167127" y="386791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切换只看差异或全部参数</a:t>
            </a:r>
          </a:p>
        </p:txBody>
      </p:sp>
      <p:sp>
        <p:nvSpPr>
          <p:cNvPr id="185" name="Text 18"/>
          <p:cNvSpPr txBox="1"/>
          <p:nvPr/>
        </p:nvSpPr>
        <p:spPr>
          <a:xfrm>
            <a:off x="859535" y="44053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186" name="Shape 19"/>
          <p:cNvSpPr/>
          <p:nvPr/>
        </p:nvSpPr>
        <p:spPr>
          <a:xfrm>
            <a:off x="1636776" y="450799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7" name="Text 20"/>
          <p:cNvSpPr txBox="1"/>
          <p:nvPr/>
        </p:nvSpPr>
        <p:spPr>
          <a:xfrm>
            <a:off x="2167127" y="43708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理解价格、缺失与冲突</a:t>
            </a:r>
          </a:p>
        </p:txBody>
      </p:sp>
      <p:sp>
        <p:nvSpPr>
          <p:cNvPr id="188" name="Text 21"/>
          <p:cNvSpPr txBox="1"/>
          <p:nvPr/>
        </p:nvSpPr>
        <p:spPr>
          <a:xfrm>
            <a:off x="859535" y="490829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189" name="Shape 22"/>
          <p:cNvSpPr/>
          <p:nvPr/>
        </p:nvSpPr>
        <p:spPr>
          <a:xfrm>
            <a:off x="1636776" y="50109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0" name="Text 23"/>
          <p:cNvSpPr txBox="1"/>
          <p:nvPr/>
        </p:nvSpPr>
        <p:spPr>
          <a:xfrm>
            <a:off x="2167127" y="487375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删除、替换并返回继续决策</a:t>
            </a:r>
          </a:p>
        </p:txBody>
      </p:sp>
      <p:sp>
        <p:nvSpPr>
          <p:cNvPr id="191" name="Text 35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检查：每个页面能否追溯到一个真实用户任务？</a:t>
            </a:r>
          </a:p>
        </p:txBody>
      </p:sp>
      <p:sp>
        <p:nvSpPr>
          <p:cNvPr id="19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160646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3 / 必要界面</a:t>
            </a:r>
          </a:p>
        </p:txBody>
      </p:sp>
      <p:sp>
        <p:nvSpPr>
          <p:cNvPr id="197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只保留支撑核心任务的界面</a:t>
            </a:r>
          </a:p>
        </p:txBody>
      </p:sp>
      <p:sp>
        <p:nvSpPr>
          <p:cNvPr id="198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课堂Demo不是完整电商App，页面范围要主动收敛。</a:t>
            </a:r>
          </a:p>
        </p:txBody>
      </p:sp>
      <p:sp>
        <p:nvSpPr>
          <p:cNvPr id="199" name="Shape 3"/>
          <p:cNvSpPr/>
          <p:nvPr/>
        </p:nvSpPr>
        <p:spPr>
          <a:xfrm>
            <a:off x="2670048" y="3730752"/>
            <a:ext cx="1975105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0" name="Shape 4"/>
          <p:cNvSpPr/>
          <p:nvPr/>
        </p:nvSpPr>
        <p:spPr>
          <a:xfrm>
            <a:off x="6016752" y="3730752"/>
            <a:ext cx="2011680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1" name="Shape 5"/>
          <p:cNvSpPr/>
          <p:nvPr/>
        </p:nvSpPr>
        <p:spPr>
          <a:xfrm>
            <a:off x="768095" y="2103120"/>
            <a:ext cx="2788922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Text 6"/>
          <p:cNvSpPr txBox="1"/>
          <p:nvPr/>
        </p:nvSpPr>
        <p:spPr>
          <a:xfrm>
            <a:off x="1024127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563EB"/>
                </a:solidFill>
              </a:defRPr>
            </a:lvl1pPr>
          </a:lstStyle>
          <a:p>
            <a:r>
              <a:t>商品选择页</a:t>
            </a:r>
          </a:p>
        </p:txBody>
      </p:sp>
      <p:sp>
        <p:nvSpPr>
          <p:cNvPr id="203" name="Text 7"/>
          <p:cNvSpPr txBox="1"/>
          <p:nvPr/>
        </p:nvSpPr>
        <p:spPr>
          <a:xfrm>
            <a:off x="1060703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选择具体SKU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加入对比</a:t>
            </a:r>
          </a:p>
        </p:txBody>
      </p:sp>
      <p:sp>
        <p:nvSpPr>
          <p:cNvPr id="204" name="Shape 8"/>
          <p:cNvSpPr/>
          <p:nvPr/>
        </p:nvSpPr>
        <p:spPr>
          <a:xfrm>
            <a:off x="4160520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5" name="Text 9"/>
          <p:cNvSpPr txBox="1"/>
          <p:nvPr/>
        </p:nvSpPr>
        <p:spPr>
          <a:xfrm>
            <a:off x="4416552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59E0B"/>
                </a:solidFill>
              </a:defRPr>
            </a:lvl1pPr>
          </a:lstStyle>
          <a:p>
            <a:r>
              <a:t>底部对比栏</a:t>
            </a:r>
          </a:p>
        </p:txBody>
      </p:sp>
      <p:sp>
        <p:nvSpPr>
          <p:cNvPr id="206" name="Text 10"/>
          <p:cNvSpPr txBox="1"/>
          <p:nvPr/>
        </p:nvSpPr>
        <p:spPr>
          <a:xfrm>
            <a:off x="4453128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确认已选商品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数量与进入条件</a:t>
            </a:r>
          </a:p>
        </p:txBody>
      </p:sp>
      <p:sp>
        <p:nvSpPr>
          <p:cNvPr id="207" name="Shape 11"/>
          <p:cNvSpPr/>
          <p:nvPr/>
        </p:nvSpPr>
        <p:spPr>
          <a:xfrm>
            <a:off x="7562088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14B8A6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Text 12"/>
          <p:cNvSpPr txBox="1"/>
          <p:nvPr/>
        </p:nvSpPr>
        <p:spPr>
          <a:xfrm>
            <a:off x="7818119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B8A6"/>
                </a:solidFill>
              </a:defRPr>
            </a:lvl1pPr>
          </a:lstStyle>
          <a:p>
            <a:r>
              <a:t>商品对比页</a:t>
            </a:r>
          </a:p>
        </p:txBody>
      </p:sp>
      <p:sp>
        <p:nvSpPr>
          <p:cNvPr id="209" name="Text 13"/>
          <p:cNvSpPr txBox="1"/>
          <p:nvPr/>
        </p:nvSpPr>
        <p:spPr>
          <a:xfrm>
            <a:off x="7854695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查看核心差异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价格、缺失与冲突</a:t>
            </a:r>
          </a:p>
        </p:txBody>
      </p:sp>
      <p:sp>
        <p:nvSpPr>
          <p:cNvPr id="210" name="Shape 14"/>
          <p:cNvSpPr/>
          <p:nvPr/>
        </p:nvSpPr>
        <p:spPr>
          <a:xfrm>
            <a:off x="1371600" y="4892040"/>
            <a:ext cx="9418320" cy="640081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1" name="Text 15"/>
          <p:cNvSpPr txBox="1"/>
          <p:nvPr/>
        </p:nvSpPr>
        <p:spPr>
          <a:xfrm>
            <a:off x="1572768" y="5062474"/>
            <a:ext cx="896112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9A3412"/>
                </a:solidFill>
              </a:defRPr>
            </a:lvl1pPr>
          </a:lstStyle>
          <a:p>
            <a:r>
              <a:t>页面必须能追溯到用户任务；没有任务依据的页面要重新检查。</a:t>
            </a:r>
          </a:p>
        </p:txBody>
      </p:sp>
      <p:sp>
        <p:nvSpPr>
          <p:cNvPr id="212" name="Text 16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反馈、确认和提示优先用页面内状态，不必都新增独立页面。</a:t>
            </a:r>
          </a:p>
        </p:txBody>
      </p:sp>
      <p:sp>
        <p:nvSpPr>
          <p:cNvPr id="213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4 / 完整用户流程</a:t>
            </a:r>
          </a:p>
        </p:txBody>
      </p:sp>
      <p:sp>
        <p:nvSpPr>
          <p:cNvPr id="218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把三个界面连成一条完整链路</a:t>
            </a:r>
          </a:p>
        </p:txBody>
      </p:sp>
      <p:sp>
        <p:nvSpPr>
          <p:cNvPr id="219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流程不只描述成功跳转，还要说明失败后怎样继续。</a:t>
            </a:r>
          </a:p>
        </p:txBody>
      </p:sp>
      <p:sp>
        <p:nvSpPr>
          <p:cNvPr id="220" name="Text 3"/>
          <p:cNvSpPr txBox="1"/>
          <p:nvPr/>
        </p:nvSpPr>
        <p:spPr>
          <a:xfrm>
            <a:off x="859535" y="1871726"/>
            <a:ext cx="777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入口</a:t>
            </a:r>
          </a:p>
        </p:txBody>
      </p:sp>
      <p:sp>
        <p:nvSpPr>
          <p:cNvPr id="221" name="Shape 4"/>
          <p:cNvSpPr/>
          <p:nvPr/>
        </p:nvSpPr>
        <p:spPr>
          <a:xfrm>
            <a:off x="1636776" y="199339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2" name="Text 5"/>
          <p:cNvSpPr txBox="1"/>
          <p:nvPr/>
        </p:nvSpPr>
        <p:spPr>
          <a:xfrm>
            <a:off x="2167127" y="18562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商品列表或详情页</a:t>
            </a:r>
          </a:p>
        </p:txBody>
      </p:sp>
      <p:sp>
        <p:nvSpPr>
          <p:cNvPr id="223" name="Text 6"/>
          <p:cNvSpPr txBox="1"/>
          <p:nvPr/>
        </p:nvSpPr>
        <p:spPr>
          <a:xfrm>
            <a:off x="859535" y="2374645"/>
            <a:ext cx="777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选择</a:t>
            </a:r>
          </a:p>
        </p:txBody>
      </p:sp>
      <p:sp>
        <p:nvSpPr>
          <p:cNvPr id="224" name="Shape 7"/>
          <p:cNvSpPr/>
          <p:nvPr/>
        </p:nvSpPr>
        <p:spPr>
          <a:xfrm>
            <a:off x="1636776" y="24963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5" name="Text 8"/>
          <p:cNvSpPr txBox="1"/>
          <p:nvPr/>
        </p:nvSpPr>
        <p:spPr>
          <a:xfrm>
            <a:off x="2167127" y="235915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选择具体SKU并加入对比</a:t>
            </a:r>
          </a:p>
        </p:txBody>
      </p:sp>
      <p:sp>
        <p:nvSpPr>
          <p:cNvPr id="226" name="Text 9"/>
          <p:cNvSpPr txBox="1"/>
          <p:nvPr/>
        </p:nvSpPr>
        <p:spPr>
          <a:xfrm>
            <a:off x="859535" y="2877566"/>
            <a:ext cx="777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管理</a:t>
            </a:r>
          </a:p>
        </p:txBody>
      </p:sp>
      <p:sp>
        <p:nvSpPr>
          <p:cNvPr id="227" name="Shape 10"/>
          <p:cNvSpPr/>
          <p:nvPr/>
        </p:nvSpPr>
        <p:spPr>
          <a:xfrm>
            <a:off x="1636776" y="299923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Text 11"/>
          <p:cNvSpPr txBox="1"/>
          <p:nvPr/>
        </p:nvSpPr>
        <p:spPr>
          <a:xfrm>
            <a:off x="2167127" y="286207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确认2—4个已选商品</a:t>
            </a:r>
          </a:p>
        </p:txBody>
      </p:sp>
      <p:sp>
        <p:nvSpPr>
          <p:cNvPr id="229" name="Text 12"/>
          <p:cNvSpPr txBox="1"/>
          <p:nvPr/>
        </p:nvSpPr>
        <p:spPr>
          <a:xfrm>
            <a:off x="859535" y="3380485"/>
            <a:ext cx="777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对比</a:t>
            </a:r>
          </a:p>
        </p:txBody>
      </p:sp>
      <p:sp>
        <p:nvSpPr>
          <p:cNvPr id="230" name="Shape 13"/>
          <p:cNvSpPr/>
          <p:nvPr/>
        </p:nvSpPr>
        <p:spPr>
          <a:xfrm>
            <a:off x="1636776" y="350215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1" name="Text 14"/>
          <p:cNvSpPr txBox="1"/>
          <p:nvPr/>
        </p:nvSpPr>
        <p:spPr>
          <a:xfrm>
            <a:off x="2167127" y="336499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进入商品对比页</a:t>
            </a:r>
          </a:p>
        </p:txBody>
      </p:sp>
      <p:sp>
        <p:nvSpPr>
          <p:cNvPr id="232" name="Text 15"/>
          <p:cNvSpPr txBox="1"/>
          <p:nvPr/>
        </p:nvSpPr>
        <p:spPr>
          <a:xfrm>
            <a:off x="859535" y="3883405"/>
            <a:ext cx="777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查看</a:t>
            </a:r>
          </a:p>
        </p:txBody>
      </p:sp>
      <p:sp>
        <p:nvSpPr>
          <p:cNvPr id="233" name="Shape 16"/>
          <p:cNvSpPr/>
          <p:nvPr/>
        </p:nvSpPr>
        <p:spPr>
          <a:xfrm>
            <a:off x="1636776" y="400507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4" name="Text 17"/>
          <p:cNvSpPr txBox="1"/>
          <p:nvPr/>
        </p:nvSpPr>
        <p:spPr>
          <a:xfrm>
            <a:off x="2167127" y="386791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切换只看差异或全部参数</a:t>
            </a:r>
          </a:p>
        </p:txBody>
      </p:sp>
      <p:sp>
        <p:nvSpPr>
          <p:cNvPr id="235" name="Text 18"/>
          <p:cNvSpPr txBox="1"/>
          <p:nvPr/>
        </p:nvSpPr>
        <p:spPr>
          <a:xfrm>
            <a:off x="859535" y="4386326"/>
            <a:ext cx="777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分支</a:t>
            </a:r>
          </a:p>
        </p:txBody>
      </p:sp>
      <p:sp>
        <p:nvSpPr>
          <p:cNvPr id="236" name="Shape 19"/>
          <p:cNvSpPr/>
          <p:nvPr/>
        </p:nvSpPr>
        <p:spPr>
          <a:xfrm>
            <a:off x="1636776" y="450799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Text 20"/>
          <p:cNvSpPr txBox="1"/>
          <p:nvPr/>
        </p:nvSpPr>
        <p:spPr>
          <a:xfrm>
            <a:off x="2167127" y="43708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不足、超限、跨类目时可恢复</a:t>
            </a:r>
          </a:p>
        </p:txBody>
      </p:sp>
      <p:sp>
        <p:nvSpPr>
          <p:cNvPr id="238" name="Text 21"/>
          <p:cNvSpPr txBox="1"/>
          <p:nvPr/>
        </p:nvSpPr>
        <p:spPr>
          <a:xfrm>
            <a:off x="859535" y="4889246"/>
            <a:ext cx="777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返回</a:t>
            </a:r>
          </a:p>
        </p:txBody>
      </p:sp>
      <p:sp>
        <p:nvSpPr>
          <p:cNvPr id="239" name="Shape 22"/>
          <p:cNvSpPr/>
          <p:nvPr/>
        </p:nvSpPr>
        <p:spPr>
          <a:xfrm>
            <a:off x="1636776" y="50109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Text 23"/>
          <p:cNvSpPr txBox="1"/>
          <p:nvPr/>
        </p:nvSpPr>
        <p:spPr>
          <a:xfrm>
            <a:off x="2167127" y="487375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删除、替换或返回继续浏览</a:t>
            </a:r>
          </a:p>
        </p:txBody>
      </p:sp>
      <p:sp>
        <p:nvSpPr>
          <p:cNvPr id="241" name="Text 34"/>
          <p:cNvSpPr txBox="1"/>
          <p:nvPr/>
        </p:nvSpPr>
        <p:spPr>
          <a:xfrm>
            <a:off x="6618248" y="2895091"/>
            <a:ext cx="4389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0B1F3A"/>
                </a:solidFill>
              </a:defRPr>
            </a:lvl1pPr>
          </a:lstStyle>
          <a:p>
            <a:r>
              <a:t>完整流程 = 主路径 + 关键分支 + 返回路径</a:t>
            </a:r>
          </a:p>
        </p:txBody>
      </p:sp>
      <p:sp>
        <p:nvSpPr>
          <p:cNvPr id="242" name="Text 35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检查：从哪里进入、如何完成、失败怎样恢复、返回后是否保留。</a:t>
            </a:r>
          </a:p>
        </p:txBody>
      </p:sp>
      <p:sp>
        <p:nvSpPr>
          <p:cNvPr id="243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09660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5 / Codex课堂实操</a:t>
            </a:r>
          </a:p>
        </p:txBody>
      </p:sp>
      <p:sp>
        <p:nvSpPr>
          <p:cNvPr id="248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先让Codex生成蓝图，不要生成代码</a:t>
            </a:r>
          </a:p>
        </p:txBody>
      </p:sp>
      <p:sp>
        <p:nvSpPr>
          <p:cNvPr id="249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输入正式依据，输出结构化结果，再由产品经理检查。</a:t>
            </a:r>
          </a:p>
        </p:txBody>
      </p:sp>
      <p:sp>
        <p:nvSpPr>
          <p:cNvPr id="250" name="Text 3"/>
          <p:cNvSpPr txBox="1"/>
          <p:nvPr/>
        </p:nvSpPr>
        <p:spPr>
          <a:xfrm>
            <a:off x="896111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563EB"/>
                </a:solidFill>
              </a:defRPr>
            </a:lvl1pPr>
          </a:lstStyle>
          <a:p>
            <a:r>
              <a:t>Codex输出</a:t>
            </a:r>
          </a:p>
        </p:txBody>
      </p:sp>
      <p:sp>
        <p:nvSpPr>
          <p:cNvPr id="251" name="Text 4"/>
          <p:cNvSpPr txBox="1"/>
          <p:nvPr/>
        </p:nvSpPr>
        <p:spPr>
          <a:xfrm>
            <a:off x="6446520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B8A6"/>
                </a:solidFill>
              </a:defRPr>
            </a:lvl1pPr>
          </a:lstStyle>
          <a:p>
            <a:r>
              <a:t>产品经理检查</a:t>
            </a:r>
          </a:p>
        </p:txBody>
      </p:sp>
      <p:sp>
        <p:nvSpPr>
          <p:cNvPr id="252" name="Shape 5"/>
          <p:cNvSpPr/>
          <p:nvPr/>
        </p:nvSpPr>
        <p:spPr>
          <a:xfrm>
            <a:off x="932688" y="253288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3" name="Text 6"/>
          <p:cNvSpPr txBox="1"/>
          <p:nvPr/>
        </p:nvSpPr>
        <p:spPr>
          <a:xfrm>
            <a:off x="1225296" y="244068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核心用户目标</a:t>
            </a:r>
          </a:p>
        </p:txBody>
      </p:sp>
      <p:sp>
        <p:nvSpPr>
          <p:cNvPr id="254" name="Shape 7"/>
          <p:cNvSpPr/>
          <p:nvPr/>
        </p:nvSpPr>
        <p:spPr>
          <a:xfrm>
            <a:off x="932688" y="303580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5" name="Text 8"/>
          <p:cNvSpPr txBox="1"/>
          <p:nvPr/>
        </p:nvSpPr>
        <p:spPr>
          <a:xfrm>
            <a:off x="1225296" y="2943605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用户流程</a:t>
            </a:r>
          </a:p>
        </p:txBody>
      </p:sp>
      <p:sp>
        <p:nvSpPr>
          <p:cNvPr id="256" name="Shape 9"/>
          <p:cNvSpPr/>
          <p:nvPr/>
        </p:nvSpPr>
        <p:spPr>
          <a:xfrm>
            <a:off x="932688" y="353872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7" name="Text 10"/>
          <p:cNvSpPr txBox="1"/>
          <p:nvPr/>
        </p:nvSpPr>
        <p:spPr>
          <a:xfrm>
            <a:off x="1225296" y="344652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任务—页面映射</a:t>
            </a:r>
          </a:p>
        </p:txBody>
      </p:sp>
      <p:sp>
        <p:nvSpPr>
          <p:cNvPr id="258" name="Shape 11"/>
          <p:cNvSpPr/>
          <p:nvPr/>
        </p:nvSpPr>
        <p:spPr>
          <a:xfrm>
            <a:off x="932688" y="404164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9" name="Text 12"/>
          <p:cNvSpPr txBox="1"/>
          <p:nvPr/>
        </p:nvSpPr>
        <p:spPr>
          <a:xfrm>
            <a:off x="1225296" y="394944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主流程与关键分支</a:t>
            </a:r>
          </a:p>
        </p:txBody>
      </p:sp>
      <p:sp>
        <p:nvSpPr>
          <p:cNvPr id="260" name="Shape 13"/>
          <p:cNvSpPr/>
          <p:nvPr/>
        </p:nvSpPr>
        <p:spPr>
          <a:xfrm>
            <a:off x="6483096" y="253288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1" name="Text 14"/>
          <p:cNvSpPr txBox="1"/>
          <p:nvPr/>
        </p:nvSpPr>
        <p:spPr>
          <a:xfrm>
            <a:off x="6775704" y="245059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是否遗漏正式规则</a:t>
            </a:r>
          </a:p>
        </p:txBody>
      </p:sp>
      <p:sp>
        <p:nvSpPr>
          <p:cNvPr id="262" name="Shape 15"/>
          <p:cNvSpPr/>
          <p:nvPr/>
        </p:nvSpPr>
        <p:spPr>
          <a:xfrm>
            <a:off x="6483096" y="303580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3" name="Text 16"/>
          <p:cNvSpPr txBox="1"/>
          <p:nvPr/>
        </p:nvSpPr>
        <p:spPr>
          <a:xfrm>
            <a:off x="6775704" y="2953511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是否擅自新增能力</a:t>
            </a:r>
          </a:p>
        </p:txBody>
      </p:sp>
      <p:sp>
        <p:nvSpPr>
          <p:cNvPr id="264" name="Shape 17"/>
          <p:cNvSpPr/>
          <p:nvPr/>
        </p:nvSpPr>
        <p:spPr>
          <a:xfrm>
            <a:off x="6483096" y="353872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Text 18"/>
          <p:cNvSpPr txBox="1"/>
          <p:nvPr/>
        </p:nvSpPr>
        <p:spPr>
          <a:xfrm>
            <a:off x="6775704" y="345643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页面能否追溯任务</a:t>
            </a:r>
          </a:p>
        </p:txBody>
      </p:sp>
      <p:sp>
        <p:nvSpPr>
          <p:cNvPr id="266" name="Shape 19"/>
          <p:cNvSpPr/>
          <p:nvPr/>
        </p:nvSpPr>
        <p:spPr>
          <a:xfrm>
            <a:off x="6483096" y="404164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7" name="Text 20"/>
          <p:cNvSpPr txBox="1"/>
          <p:nvPr/>
        </p:nvSpPr>
        <p:spPr>
          <a:xfrm>
            <a:off x="6775704" y="395935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是否有入口与恢复路径</a:t>
            </a:r>
          </a:p>
        </p:txBody>
      </p:sp>
      <p:sp>
        <p:nvSpPr>
          <p:cNvPr id="268" name="Shape 21"/>
          <p:cNvSpPr/>
          <p:nvPr/>
        </p:nvSpPr>
        <p:spPr>
          <a:xfrm>
            <a:off x="914400" y="5074920"/>
            <a:ext cx="5669280" cy="566929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Text 22"/>
          <p:cNvSpPr txBox="1"/>
          <p:nvPr/>
        </p:nvSpPr>
        <p:spPr>
          <a:xfrm>
            <a:off x="1078991" y="5266944"/>
            <a:ext cx="532181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0391">
              <a:lnSpc>
                <a:spcPct val="90000"/>
              </a:lnSpc>
              <a:defRPr sz="1023" b="1">
                <a:solidFill>
                  <a:srgbClr val="FFFFFF"/>
                </a:solidFill>
              </a:defRPr>
            </a:lvl1pPr>
          </a:lstStyle>
          <a:p>
            <a:r>
              <a:t>Prompt约束：不生成HTML｜不讨论视觉｜待确认项单独标记</a:t>
            </a:r>
          </a:p>
        </p:txBody>
      </p:sp>
      <p:sp>
        <p:nvSpPr>
          <p:cNvPr id="270" name="Text 23"/>
          <p:cNvSpPr txBox="1"/>
          <p:nvPr/>
        </p:nvSpPr>
        <p:spPr>
          <a:xfrm>
            <a:off x="8896350" y="4448174"/>
            <a:ext cx="2000250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完整Prompt</a:t>
            </a:r>
            <a:endParaRPr sz="1547"/>
          </a:p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见配套讲义</a:t>
            </a:r>
          </a:p>
        </p:txBody>
      </p:sp>
      <p:sp>
        <p:nvSpPr>
          <p:cNvPr id="271" name="Text 24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本部分产出：用户任务与页面清单 + 核心用户流程 + 待确认交互决策。</a:t>
            </a:r>
          </a:p>
        </p:txBody>
      </p:sp>
      <p:sp>
        <p:nvSpPr>
          <p:cNvPr id="27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6355079" y="0"/>
            <a:ext cx="164593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7" name="Text 1"/>
          <p:cNvSpPr txBox="1"/>
          <p:nvPr/>
        </p:nvSpPr>
        <p:spPr>
          <a:xfrm>
            <a:off x="713232" y="664718"/>
            <a:ext cx="4754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8CC5FF"/>
                </a:solidFill>
              </a:defRPr>
            </a:lvl1pPr>
          </a:lstStyle>
          <a:p>
            <a:r>
              <a:t>AI辅助原型与Demo · 第三部分</a:t>
            </a:r>
          </a:p>
        </p:txBody>
      </p:sp>
      <p:sp>
        <p:nvSpPr>
          <p:cNvPr id="278" name="Text 2"/>
          <p:cNvSpPr txBox="1"/>
          <p:nvPr/>
        </p:nvSpPr>
        <p:spPr>
          <a:xfrm>
            <a:off x="713231" y="1801368"/>
            <a:ext cx="621366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t>先用低保真验证页面结构</a:t>
            </a:r>
          </a:p>
        </p:txBody>
      </p:sp>
      <p:sp>
        <p:nvSpPr>
          <p:cNvPr id="279" name="Shape 4"/>
          <p:cNvSpPr/>
          <p:nvPr/>
        </p:nvSpPr>
        <p:spPr>
          <a:xfrm>
            <a:off x="749807" y="3246120"/>
            <a:ext cx="4206242" cy="1"/>
          </a:xfrm>
          <a:prstGeom prst="line">
            <a:avLst/>
          </a:prstGeom>
          <a:ln w="15240">
            <a:solidFill>
              <a:srgbClr val="4DA3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0" name="Text 5"/>
          <p:cNvSpPr txBox="1"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500">
                <a:solidFill>
                  <a:srgbClr val="BFD7F4"/>
                </a:solidFill>
              </a:defRPr>
            </a:lvl1pPr>
          </a:lstStyle>
          <a:p>
            <a:r>
              <a:t>先暴露结构问题，再增加视觉细节。</a:t>
            </a:r>
          </a:p>
        </p:txBody>
      </p:sp>
      <p:sp>
        <p:nvSpPr>
          <p:cNvPr id="281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1 / 低保真价值</a:t>
            </a:r>
          </a:p>
        </p:txBody>
      </p:sp>
      <p:sp>
        <p:nvSpPr>
          <p:cNvPr id="286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低保真来控制变量</a:t>
            </a:r>
          </a:p>
        </p:txBody>
      </p:sp>
      <p:sp>
        <p:nvSpPr>
          <p:cNvPr id="287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暂时拿掉视觉装饰，才能看清结构是否支持任务。</a:t>
            </a:r>
          </a:p>
        </p:txBody>
      </p:sp>
      <p:sp>
        <p:nvSpPr>
          <p:cNvPr id="288" name="Shape 3"/>
          <p:cNvSpPr/>
          <p:nvPr/>
        </p:nvSpPr>
        <p:spPr>
          <a:xfrm>
            <a:off x="2670048" y="3730752"/>
            <a:ext cx="1975105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9" name="Shape 4"/>
          <p:cNvSpPr/>
          <p:nvPr/>
        </p:nvSpPr>
        <p:spPr>
          <a:xfrm>
            <a:off x="6016752" y="3730752"/>
            <a:ext cx="2011680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0" name="Shape 5"/>
          <p:cNvSpPr/>
          <p:nvPr/>
        </p:nvSpPr>
        <p:spPr>
          <a:xfrm>
            <a:off x="768095" y="2103120"/>
            <a:ext cx="2788922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1" name="Text 6"/>
          <p:cNvSpPr txBox="1"/>
          <p:nvPr/>
        </p:nvSpPr>
        <p:spPr>
          <a:xfrm>
            <a:off x="1024127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563EB"/>
                </a:solidFill>
              </a:defRPr>
            </a:lvl1pPr>
          </a:lstStyle>
          <a:p>
            <a:r>
              <a:t>任务闭环</a:t>
            </a:r>
          </a:p>
        </p:txBody>
      </p:sp>
      <p:sp>
        <p:nvSpPr>
          <p:cNvPr id="292" name="Text 7"/>
          <p:cNvSpPr txBox="1"/>
          <p:nvPr/>
        </p:nvSpPr>
        <p:spPr>
          <a:xfrm>
            <a:off x="1060703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用户能否完成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核心目标</a:t>
            </a:r>
          </a:p>
        </p:txBody>
      </p:sp>
      <p:sp>
        <p:nvSpPr>
          <p:cNvPr id="293" name="Shape 8"/>
          <p:cNvSpPr/>
          <p:nvPr/>
        </p:nvSpPr>
        <p:spPr>
          <a:xfrm>
            <a:off x="4160520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Text 9"/>
          <p:cNvSpPr txBox="1"/>
          <p:nvPr/>
        </p:nvSpPr>
        <p:spPr>
          <a:xfrm>
            <a:off x="4416552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59E0B"/>
                </a:solidFill>
              </a:defRPr>
            </a:lvl1pPr>
          </a:lstStyle>
          <a:p>
            <a:r>
              <a:t>信息层级</a:t>
            </a:r>
          </a:p>
        </p:txBody>
      </p:sp>
      <p:sp>
        <p:nvSpPr>
          <p:cNvPr id="295" name="Text 10"/>
          <p:cNvSpPr txBox="1"/>
          <p:nvPr/>
        </p:nvSpPr>
        <p:spPr>
          <a:xfrm>
            <a:off x="4453128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用户先看什么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再做什么</a:t>
            </a:r>
          </a:p>
        </p:txBody>
      </p:sp>
      <p:sp>
        <p:nvSpPr>
          <p:cNvPr id="296" name="Shape 11"/>
          <p:cNvSpPr/>
          <p:nvPr/>
        </p:nvSpPr>
        <p:spPr>
          <a:xfrm>
            <a:off x="7562088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14B8A6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7" name="Text 12"/>
          <p:cNvSpPr txBox="1"/>
          <p:nvPr/>
        </p:nvSpPr>
        <p:spPr>
          <a:xfrm>
            <a:off x="7818119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B8A6"/>
                </a:solidFill>
              </a:defRPr>
            </a:lvl1pPr>
          </a:lstStyle>
          <a:p>
            <a:r>
              <a:t>规则证据</a:t>
            </a:r>
          </a:p>
        </p:txBody>
      </p:sp>
      <p:sp>
        <p:nvSpPr>
          <p:cNvPr id="298" name="Text 13"/>
          <p:cNvSpPr txBox="1"/>
          <p:nvPr/>
        </p:nvSpPr>
        <p:spPr>
          <a:xfrm>
            <a:off x="7854695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复杂规则能否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在页面被观察</a:t>
            </a:r>
          </a:p>
        </p:txBody>
      </p:sp>
      <p:sp>
        <p:nvSpPr>
          <p:cNvPr id="299" name="Shape 14"/>
          <p:cNvSpPr/>
          <p:nvPr/>
        </p:nvSpPr>
        <p:spPr>
          <a:xfrm>
            <a:off x="1371600" y="4892040"/>
            <a:ext cx="9418320" cy="640081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0" name="Text 15"/>
          <p:cNvSpPr txBox="1"/>
          <p:nvPr/>
        </p:nvSpPr>
        <p:spPr>
          <a:xfrm>
            <a:off x="1572768" y="5062474"/>
            <a:ext cx="896112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9A3412"/>
                </a:solidFill>
              </a:defRPr>
            </a:lvl1pPr>
          </a:lstStyle>
          <a:p>
            <a:r>
              <a:t>低保真只解决结构问题</a:t>
            </a:r>
          </a:p>
        </p:txBody>
      </p:sp>
      <p:sp>
        <p:nvSpPr>
          <p:cNvPr id="301" name="Text 16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结构正确之后，视觉才有放大的价值。</a:t>
            </a:r>
          </a:p>
        </p:txBody>
      </p:sp>
      <p:sp>
        <p:nvSpPr>
          <p:cNvPr id="30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2 / 四项结构检查</a:t>
            </a:r>
          </a:p>
        </p:txBody>
      </p:sp>
      <p:sp>
        <p:nvSpPr>
          <p:cNvPr id="307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低保真阶段，只检查四件事</a:t>
            </a:r>
          </a:p>
        </p:txBody>
      </p:sp>
      <p:sp>
        <p:nvSpPr>
          <p:cNvPr id="308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评审标准必须可观察，不用“感觉不错”作为结论。</a:t>
            </a:r>
          </a:p>
        </p:txBody>
      </p:sp>
      <p:sp>
        <p:nvSpPr>
          <p:cNvPr id="309" name="Text 3"/>
          <p:cNvSpPr txBox="1"/>
          <p:nvPr/>
        </p:nvSpPr>
        <p:spPr>
          <a:xfrm>
            <a:off x="896111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563EB"/>
                </a:solidFill>
              </a:defRPr>
            </a:lvl1pPr>
          </a:lstStyle>
          <a:p>
            <a:r>
              <a:t>用户能否完成</a:t>
            </a:r>
          </a:p>
        </p:txBody>
      </p:sp>
      <p:sp>
        <p:nvSpPr>
          <p:cNvPr id="310" name="Text 4"/>
          <p:cNvSpPr txBox="1"/>
          <p:nvPr/>
        </p:nvSpPr>
        <p:spPr>
          <a:xfrm>
            <a:off x="6446520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B8A6"/>
                </a:solidFill>
              </a:defRPr>
            </a:lvl1pPr>
          </a:lstStyle>
          <a:p>
            <a:r>
              <a:t>页面是否讲清</a:t>
            </a:r>
          </a:p>
        </p:txBody>
      </p:sp>
      <p:sp>
        <p:nvSpPr>
          <p:cNvPr id="311" name="Shape 5"/>
          <p:cNvSpPr/>
          <p:nvPr/>
        </p:nvSpPr>
        <p:spPr>
          <a:xfrm>
            <a:off x="932688" y="253288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2" name="Text 6"/>
          <p:cNvSpPr txBox="1"/>
          <p:nvPr/>
        </p:nvSpPr>
        <p:spPr>
          <a:xfrm>
            <a:off x="1225296" y="244068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核心任务形成闭环</a:t>
            </a:r>
          </a:p>
        </p:txBody>
      </p:sp>
      <p:sp>
        <p:nvSpPr>
          <p:cNvPr id="313" name="Shape 7"/>
          <p:cNvSpPr/>
          <p:nvPr/>
        </p:nvSpPr>
        <p:spPr>
          <a:xfrm>
            <a:off x="932688" y="303580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4" name="Text 8"/>
          <p:cNvSpPr txBox="1"/>
          <p:nvPr/>
        </p:nvSpPr>
        <p:spPr>
          <a:xfrm>
            <a:off x="1225296" y="2943605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入口与返回路径明确</a:t>
            </a:r>
          </a:p>
        </p:txBody>
      </p:sp>
      <p:sp>
        <p:nvSpPr>
          <p:cNvPr id="315" name="Shape 9"/>
          <p:cNvSpPr/>
          <p:nvPr/>
        </p:nvSpPr>
        <p:spPr>
          <a:xfrm>
            <a:off x="932688" y="353872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6" name="Text 10"/>
          <p:cNvSpPr txBox="1"/>
          <p:nvPr/>
        </p:nvSpPr>
        <p:spPr>
          <a:xfrm>
            <a:off x="1225296" y="344652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关键操作容易发现</a:t>
            </a:r>
          </a:p>
        </p:txBody>
      </p:sp>
      <p:sp>
        <p:nvSpPr>
          <p:cNvPr id="317" name="Shape 11"/>
          <p:cNvSpPr/>
          <p:nvPr/>
        </p:nvSpPr>
        <p:spPr>
          <a:xfrm>
            <a:off x="932688" y="404164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8" name="Text 12"/>
          <p:cNvSpPr txBox="1"/>
          <p:nvPr/>
        </p:nvSpPr>
        <p:spPr>
          <a:xfrm>
            <a:off x="1225296" y="394944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失败后可以继续</a:t>
            </a:r>
          </a:p>
        </p:txBody>
      </p:sp>
      <p:sp>
        <p:nvSpPr>
          <p:cNvPr id="319" name="Shape 13"/>
          <p:cNvSpPr/>
          <p:nvPr/>
        </p:nvSpPr>
        <p:spPr>
          <a:xfrm>
            <a:off x="6483096" y="253288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0" name="Text 14"/>
          <p:cNvSpPr txBox="1"/>
          <p:nvPr/>
        </p:nvSpPr>
        <p:spPr>
          <a:xfrm>
            <a:off x="6775704" y="245059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信息顺序符合决策</a:t>
            </a:r>
          </a:p>
        </p:txBody>
      </p:sp>
      <p:sp>
        <p:nvSpPr>
          <p:cNvPr id="321" name="Shape 15"/>
          <p:cNvSpPr/>
          <p:nvPr/>
        </p:nvSpPr>
        <p:spPr>
          <a:xfrm>
            <a:off x="6483096" y="303580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2" name="Text 16"/>
          <p:cNvSpPr txBox="1"/>
          <p:nvPr/>
        </p:nvSpPr>
        <p:spPr>
          <a:xfrm>
            <a:off x="6775704" y="2953511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2—4个规则有反馈</a:t>
            </a:r>
          </a:p>
        </p:txBody>
      </p:sp>
      <p:sp>
        <p:nvSpPr>
          <p:cNvPr id="323" name="Shape 17"/>
          <p:cNvSpPr/>
          <p:nvPr/>
        </p:nvSpPr>
        <p:spPr>
          <a:xfrm>
            <a:off x="6483096" y="353872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4" name="Text 18"/>
          <p:cNvSpPr txBox="1"/>
          <p:nvPr/>
        </p:nvSpPr>
        <p:spPr>
          <a:xfrm>
            <a:off x="6775704" y="345643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缺失与冲突有位置</a:t>
            </a:r>
          </a:p>
        </p:txBody>
      </p:sp>
      <p:sp>
        <p:nvSpPr>
          <p:cNvPr id="325" name="Shape 19"/>
          <p:cNvSpPr/>
          <p:nvPr/>
        </p:nvSpPr>
        <p:spPr>
          <a:xfrm>
            <a:off x="6483096" y="404164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6" name="Text 20"/>
          <p:cNvSpPr txBox="1"/>
          <p:nvPr/>
        </p:nvSpPr>
        <p:spPr>
          <a:xfrm>
            <a:off x="6775704" y="395935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价格条件没有被隐藏</a:t>
            </a:r>
          </a:p>
        </p:txBody>
      </p:sp>
      <p:sp>
        <p:nvSpPr>
          <p:cNvPr id="327" name="Shape 21"/>
          <p:cNvSpPr/>
          <p:nvPr/>
        </p:nvSpPr>
        <p:spPr>
          <a:xfrm>
            <a:off x="914400" y="5074920"/>
            <a:ext cx="5669280" cy="566929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8" name="Text 22"/>
          <p:cNvSpPr txBox="1"/>
          <p:nvPr/>
        </p:nvSpPr>
        <p:spPr>
          <a:xfrm>
            <a:off x="1078991" y="5266944"/>
            <a:ext cx="5321809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0391">
              <a:lnSpc>
                <a:spcPct val="90000"/>
              </a:lnSpc>
              <a:defRPr sz="1023" b="1">
                <a:solidFill>
                  <a:srgbClr val="FFFFFF"/>
                </a:solidFill>
              </a:defRPr>
            </a:lvl1pPr>
          </a:lstStyle>
          <a:p>
            <a:r>
              <a:t>完成任务｜理解信息｜发现操作｜看见规则</a:t>
            </a:r>
          </a:p>
        </p:txBody>
      </p:sp>
      <p:sp>
        <p:nvSpPr>
          <p:cNvPr id="329" name="Text 23"/>
          <p:cNvSpPr txBox="1"/>
          <p:nvPr/>
        </p:nvSpPr>
        <p:spPr>
          <a:xfrm>
            <a:off x="8896350" y="4448175"/>
            <a:ext cx="2000250" cy="47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不讨论</a:t>
            </a:r>
            <a:endParaRPr sz="1547"/>
          </a:p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颜色与动效</a:t>
            </a:r>
          </a:p>
        </p:txBody>
      </p:sp>
      <p:sp>
        <p:nvSpPr>
          <p:cNvPr id="330" name="Text 24"/>
          <p:cNvSpPr txBox="1"/>
          <p:nvPr/>
        </p:nvSpPr>
        <p:spPr>
          <a:xfrm>
            <a:off x="658368" y="6565899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低保真评审只判断结构是否成立。</a:t>
            </a:r>
          </a:p>
        </p:txBody>
      </p:sp>
      <p:sp>
        <p:nvSpPr>
          <p:cNvPr id="331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3 / 页面信息架构</a:t>
            </a:r>
          </a:p>
        </p:txBody>
      </p:sp>
      <p:sp>
        <p:nvSpPr>
          <p:cNvPr id="336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三个核心界面，各自承担一种任务</a:t>
            </a:r>
          </a:p>
        </p:txBody>
      </p:sp>
      <p:sp>
        <p:nvSpPr>
          <p:cNvPr id="337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页面数量不重要，任务分工清楚更重要。</a:t>
            </a:r>
          </a:p>
        </p:txBody>
      </p:sp>
      <p:sp>
        <p:nvSpPr>
          <p:cNvPr id="338" name="Shape 3"/>
          <p:cNvSpPr/>
          <p:nvPr/>
        </p:nvSpPr>
        <p:spPr>
          <a:xfrm>
            <a:off x="2670048" y="3730752"/>
            <a:ext cx="1975105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9" name="Shape 4"/>
          <p:cNvSpPr/>
          <p:nvPr/>
        </p:nvSpPr>
        <p:spPr>
          <a:xfrm>
            <a:off x="6016752" y="3730752"/>
            <a:ext cx="2011680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0" name="Shape 5"/>
          <p:cNvSpPr/>
          <p:nvPr/>
        </p:nvSpPr>
        <p:spPr>
          <a:xfrm>
            <a:off x="768095" y="2103120"/>
            <a:ext cx="2788922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1" name="Text 6"/>
          <p:cNvSpPr txBox="1"/>
          <p:nvPr/>
        </p:nvSpPr>
        <p:spPr>
          <a:xfrm>
            <a:off x="1024127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563EB"/>
                </a:solidFill>
              </a:defRPr>
            </a:lvl1pPr>
          </a:lstStyle>
          <a:p>
            <a:r>
              <a:t>商品选择页</a:t>
            </a:r>
          </a:p>
        </p:txBody>
      </p:sp>
      <p:sp>
        <p:nvSpPr>
          <p:cNvPr id="342" name="Text 7"/>
          <p:cNvSpPr txBox="1"/>
          <p:nvPr/>
        </p:nvSpPr>
        <p:spPr>
          <a:xfrm>
            <a:off x="1060703" y="2971800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选择具体SKU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表达加入状态</a:t>
            </a:r>
          </a:p>
        </p:txBody>
      </p:sp>
      <p:sp>
        <p:nvSpPr>
          <p:cNvPr id="343" name="Shape 8"/>
          <p:cNvSpPr/>
          <p:nvPr/>
        </p:nvSpPr>
        <p:spPr>
          <a:xfrm>
            <a:off x="4160520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4" name="Text 9"/>
          <p:cNvSpPr txBox="1"/>
          <p:nvPr/>
        </p:nvSpPr>
        <p:spPr>
          <a:xfrm>
            <a:off x="4416552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59E0B"/>
                </a:solidFill>
              </a:defRPr>
            </a:lvl1pPr>
          </a:lstStyle>
          <a:p>
            <a:r>
              <a:t>底部对比栏</a:t>
            </a:r>
          </a:p>
        </p:txBody>
      </p:sp>
      <p:sp>
        <p:nvSpPr>
          <p:cNvPr id="345" name="Text 10"/>
          <p:cNvSpPr txBox="1"/>
          <p:nvPr/>
        </p:nvSpPr>
        <p:spPr>
          <a:xfrm>
            <a:off x="4453128" y="2971800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管理已选商品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控制进入条件</a:t>
            </a:r>
          </a:p>
        </p:txBody>
      </p:sp>
      <p:sp>
        <p:nvSpPr>
          <p:cNvPr id="346" name="Shape 11"/>
          <p:cNvSpPr/>
          <p:nvPr/>
        </p:nvSpPr>
        <p:spPr>
          <a:xfrm>
            <a:off x="7562088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14B8A6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7" name="Text 12"/>
          <p:cNvSpPr txBox="1"/>
          <p:nvPr/>
        </p:nvSpPr>
        <p:spPr>
          <a:xfrm>
            <a:off x="7818119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B8A6"/>
                </a:solidFill>
              </a:defRPr>
            </a:lvl1pPr>
          </a:lstStyle>
          <a:p>
            <a:r>
              <a:t>商品对比页</a:t>
            </a:r>
          </a:p>
        </p:txBody>
      </p:sp>
      <p:sp>
        <p:nvSpPr>
          <p:cNvPr id="348" name="Text 13"/>
          <p:cNvSpPr txBox="1"/>
          <p:nvPr/>
        </p:nvSpPr>
        <p:spPr>
          <a:xfrm>
            <a:off x="7854695" y="2971800"/>
            <a:ext cx="22402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查看核心差异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理解特殊信息</a:t>
            </a:r>
          </a:p>
        </p:txBody>
      </p:sp>
      <p:sp>
        <p:nvSpPr>
          <p:cNvPr id="349" name="Shape 14"/>
          <p:cNvSpPr/>
          <p:nvPr/>
        </p:nvSpPr>
        <p:spPr>
          <a:xfrm>
            <a:off x="1371600" y="4892040"/>
            <a:ext cx="9418320" cy="640081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0" name="Text 15"/>
          <p:cNvSpPr txBox="1"/>
          <p:nvPr/>
        </p:nvSpPr>
        <p:spPr>
          <a:xfrm>
            <a:off x="1572768" y="5062473"/>
            <a:ext cx="896112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9A3412"/>
                </a:solidFill>
              </a:defRPr>
            </a:lvl1pPr>
          </a:lstStyle>
          <a:p>
            <a:r>
              <a:t>选择 → 管理 → 对比，三个界面共同形成核心闭环。</a:t>
            </a:r>
          </a:p>
        </p:txBody>
      </p:sp>
      <p:sp>
        <p:nvSpPr>
          <p:cNvPr id="351" name="Text 16"/>
          <p:cNvSpPr txBox="1"/>
          <p:nvPr/>
        </p:nvSpPr>
        <p:spPr>
          <a:xfrm>
            <a:off x="658368" y="6565899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提示和确认优先用页面内状态，不必都新增页面。</a:t>
            </a:r>
          </a:p>
        </p:txBody>
      </p:sp>
      <p:sp>
        <p:nvSpPr>
          <p:cNvPr id="35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4 / 对比页结构</a:t>
            </a:r>
          </a:p>
        </p:txBody>
      </p:sp>
      <p:sp>
        <p:nvSpPr>
          <p:cNvPr id="357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对比页的信息顺序，就是用户的决策顺序</a:t>
            </a:r>
          </a:p>
        </p:txBody>
      </p:sp>
      <p:sp>
        <p:nvSpPr>
          <p:cNvPr id="358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先确认对象，再看差异，最后处理复杂信息。</a:t>
            </a:r>
          </a:p>
        </p:txBody>
      </p:sp>
      <p:sp>
        <p:nvSpPr>
          <p:cNvPr id="359" name="Text 3"/>
          <p:cNvSpPr txBox="1"/>
          <p:nvPr/>
        </p:nvSpPr>
        <p:spPr>
          <a:xfrm>
            <a:off x="859536" y="1890776"/>
            <a:ext cx="777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360" name="Shape 4"/>
          <p:cNvSpPr/>
          <p:nvPr/>
        </p:nvSpPr>
        <p:spPr>
          <a:xfrm>
            <a:off x="1636776" y="199339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1" name="Text 5"/>
          <p:cNvSpPr txBox="1"/>
          <p:nvPr/>
        </p:nvSpPr>
        <p:spPr>
          <a:xfrm>
            <a:off x="2167127" y="18562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返回入口与页面标题</a:t>
            </a:r>
          </a:p>
        </p:txBody>
      </p:sp>
      <p:sp>
        <p:nvSpPr>
          <p:cNvPr id="362" name="Text 6"/>
          <p:cNvSpPr txBox="1"/>
          <p:nvPr/>
        </p:nvSpPr>
        <p:spPr>
          <a:xfrm>
            <a:off x="859536" y="2393695"/>
            <a:ext cx="777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363" name="Shape 7"/>
          <p:cNvSpPr/>
          <p:nvPr/>
        </p:nvSpPr>
        <p:spPr>
          <a:xfrm>
            <a:off x="1636776" y="24963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4" name="Text 8"/>
          <p:cNvSpPr txBox="1"/>
          <p:nvPr/>
        </p:nvSpPr>
        <p:spPr>
          <a:xfrm>
            <a:off x="2167127" y="235915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商品固定区</a:t>
            </a:r>
          </a:p>
        </p:txBody>
      </p:sp>
      <p:sp>
        <p:nvSpPr>
          <p:cNvPr id="365" name="Text 9"/>
          <p:cNvSpPr txBox="1"/>
          <p:nvPr/>
        </p:nvSpPr>
        <p:spPr>
          <a:xfrm>
            <a:off x="859536" y="2896616"/>
            <a:ext cx="777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366" name="Shape 10"/>
          <p:cNvSpPr/>
          <p:nvPr/>
        </p:nvSpPr>
        <p:spPr>
          <a:xfrm>
            <a:off x="1636776" y="299923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7" name="Text 11"/>
          <p:cNvSpPr txBox="1"/>
          <p:nvPr/>
        </p:nvSpPr>
        <p:spPr>
          <a:xfrm>
            <a:off x="2167127" y="286207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活动价与优惠条件</a:t>
            </a:r>
          </a:p>
        </p:txBody>
      </p:sp>
      <p:sp>
        <p:nvSpPr>
          <p:cNvPr id="368" name="Text 12"/>
          <p:cNvSpPr txBox="1"/>
          <p:nvPr/>
        </p:nvSpPr>
        <p:spPr>
          <a:xfrm>
            <a:off x="859536" y="3399535"/>
            <a:ext cx="777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369" name="Shape 13"/>
          <p:cNvSpPr/>
          <p:nvPr/>
        </p:nvSpPr>
        <p:spPr>
          <a:xfrm>
            <a:off x="1636776" y="350215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0" name="Text 14"/>
          <p:cNvSpPr txBox="1"/>
          <p:nvPr/>
        </p:nvSpPr>
        <p:spPr>
          <a:xfrm>
            <a:off x="2167127" y="336499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核心参数与只看差异</a:t>
            </a:r>
          </a:p>
        </p:txBody>
      </p:sp>
      <p:sp>
        <p:nvSpPr>
          <p:cNvPr id="371" name="Text 15"/>
          <p:cNvSpPr txBox="1"/>
          <p:nvPr/>
        </p:nvSpPr>
        <p:spPr>
          <a:xfrm>
            <a:off x="859536" y="3902455"/>
            <a:ext cx="777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372" name="Shape 16"/>
          <p:cNvSpPr/>
          <p:nvPr/>
        </p:nvSpPr>
        <p:spPr>
          <a:xfrm>
            <a:off x="1636776" y="400507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Text 17"/>
          <p:cNvSpPr txBox="1"/>
          <p:nvPr/>
        </p:nvSpPr>
        <p:spPr>
          <a:xfrm>
            <a:off x="2167127" y="386791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全部参数与参数分组</a:t>
            </a:r>
          </a:p>
        </p:txBody>
      </p:sp>
      <p:sp>
        <p:nvSpPr>
          <p:cNvPr id="374" name="Text 18"/>
          <p:cNvSpPr txBox="1"/>
          <p:nvPr/>
        </p:nvSpPr>
        <p:spPr>
          <a:xfrm>
            <a:off x="859536" y="4405376"/>
            <a:ext cx="777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375" name="Shape 19"/>
          <p:cNvSpPr/>
          <p:nvPr/>
        </p:nvSpPr>
        <p:spPr>
          <a:xfrm>
            <a:off x="1636776" y="450799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6" name="Text 20"/>
          <p:cNvSpPr txBox="1"/>
          <p:nvPr/>
        </p:nvSpPr>
        <p:spPr>
          <a:xfrm>
            <a:off x="2167127" y="43708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缺失、冲突与来源</a:t>
            </a:r>
          </a:p>
        </p:txBody>
      </p:sp>
      <p:sp>
        <p:nvSpPr>
          <p:cNvPr id="377" name="Text 21"/>
          <p:cNvSpPr txBox="1"/>
          <p:nvPr/>
        </p:nvSpPr>
        <p:spPr>
          <a:xfrm>
            <a:off x="859536" y="4908296"/>
            <a:ext cx="777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378" name="Shape 22"/>
          <p:cNvSpPr/>
          <p:nvPr/>
        </p:nvSpPr>
        <p:spPr>
          <a:xfrm>
            <a:off x="1636776" y="50109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9" name="Text 23"/>
          <p:cNvSpPr txBox="1"/>
          <p:nvPr/>
        </p:nvSpPr>
        <p:spPr>
          <a:xfrm>
            <a:off x="2167127" y="487375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删除、替换与反馈入口</a:t>
            </a:r>
          </a:p>
        </p:txBody>
      </p:sp>
      <p:sp>
        <p:nvSpPr>
          <p:cNvPr id="380" name="Text 34"/>
          <p:cNvSpPr txBox="1"/>
          <p:nvPr/>
        </p:nvSpPr>
        <p:spPr>
          <a:xfrm>
            <a:off x="6618248" y="2895091"/>
            <a:ext cx="4389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0B1F3A"/>
                </a:solidFill>
              </a:defRPr>
            </a:lvl1pPr>
          </a:lstStyle>
          <a:p>
            <a:r>
              <a:t>首屏不需要展示全部内容，但必须让下一步动作清楚。</a:t>
            </a:r>
          </a:p>
        </p:txBody>
      </p:sp>
      <p:sp>
        <p:nvSpPr>
          <p:cNvPr id="381" name="Text 35"/>
          <p:cNvSpPr txBox="1"/>
          <p:nvPr/>
        </p:nvSpPr>
        <p:spPr>
          <a:xfrm>
            <a:off x="658368" y="6565899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结构评审：信息有没有位置、顺序是否支持决策？</a:t>
            </a:r>
          </a:p>
        </p:txBody>
      </p:sp>
      <p:sp>
        <p:nvSpPr>
          <p:cNvPr id="382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5 / Codex课堂实操</a:t>
            </a:r>
          </a:p>
        </p:txBody>
      </p:sp>
      <p:sp>
        <p:nvSpPr>
          <p:cNvPr id="387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让Codex生成可点击的灰度结构原型</a:t>
            </a:r>
          </a:p>
        </p:txBody>
      </p:sp>
      <p:sp>
        <p:nvSpPr>
          <p:cNvPr id="388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先复述信息架构，确认后再生成low-fi.html。</a:t>
            </a:r>
          </a:p>
        </p:txBody>
      </p:sp>
      <p:sp>
        <p:nvSpPr>
          <p:cNvPr id="389" name="Text 3"/>
          <p:cNvSpPr txBox="1"/>
          <p:nvPr/>
        </p:nvSpPr>
        <p:spPr>
          <a:xfrm>
            <a:off x="896111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563EB"/>
                </a:solidFill>
              </a:defRPr>
            </a:lvl1pPr>
          </a:lstStyle>
          <a:p>
            <a:r>
              <a:t>Prompt输入</a:t>
            </a:r>
          </a:p>
        </p:txBody>
      </p:sp>
      <p:sp>
        <p:nvSpPr>
          <p:cNvPr id="390" name="Text 4"/>
          <p:cNvSpPr txBox="1"/>
          <p:nvPr/>
        </p:nvSpPr>
        <p:spPr>
          <a:xfrm>
            <a:off x="6446520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B8A6"/>
                </a:solidFill>
              </a:defRPr>
            </a:lvl1pPr>
          </a:lstStyle>
          <a:p>
            <a:r>
              <a:t>人工Review</a:t>
            </a:r>
          </a:p>
        </p:txBody>
      </p:sp>
      <p:sp>
        <p:nvSpPr>
          <p:cNvPr id="391" name="Shape 5"/>
          <p:cNvSpPr/>
          <p:nvPr/>
        </p:nvSpPr>
        <p:spPr>
          <a:xfrm>
            <a:off x="932688" y="253288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2" name="Text 6"/>
          <p:cNvSpPr txBox="1"/>
          <p:nvPr/>
        </p:nvSpPr>
        <p:spPr>
          <a:xfrm>
            <a:off x="1225296" y="244068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最终PRD与产品决策</a:t>
            </a:r>
          </a:p>
        </p:txBody>
      </p:sp>
      <p:sp>
        <p:nvSpPr>
          <p:cNvPr id="393" name="Shape 7"/>
          <p:cNvSpPr/>
          <p:nvPr/>
        </p:nvSpPr>
        <p:spPr>
          <a:xfrm>
            <a:off x="932688" y="303580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Text 8"/>
          <p:cNvSpPr txBox="1"/>
          <p:nvPr/>
        </p:nvSpPr>
        <p:spPr>
          <a:xfrm>
            <a:off x="1225296" y="2943605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用户任务与页面清单</a:t>
            </a:r>
          </a:p>
        </p:txBody>
      </p:sp>
      <p:sp>
        <p:nvSpPr>
          <p:cNvPr id="395" name="Shape 9"/>
          <p:cNvSpPr/>
          <p:nvPr/>
        </p:nvSpPr>
        <p:spPr>
          <a:xfrm>
            <a:off x="932688" y="353872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6" name="Text 10"/>
          <p:cNvSpPr txBox="1"/>
          <p:nvPr/>
        </p:nvSpPr>
        <p:spPr>
          <a:xfrm>
            <a:off x="1225296" y="344652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核心流程与待确认项</a:t>
            </a:r>
          </a:p>
        </p:txBody>
      </p:sp>
      <p:sp>
        <p:nvSpPr>
          <p:cNvPr id="397" name="Shape 11"/>
          <p:cNvSpPr/>
          <p:nvPr/>
        </p:nvSpPr>
        <p:spPr>
          <a:xfrm>
            <a:off x="932688" y="404164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8" name="Text 12"/>
          <p:cNvSpPr txBox="1"/>
          <p:nvPr/>
        </p:nvSpPr>
        <p:spPr>
          <a:xfrm>
            <a:off x="1225296" y="394944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明确灰度与三页范围</a:t>
            </a:r>
          </a:p>
        </p:txBody>
      </p:sp>
      <p:sp>
        <p:nvSpPr>
          <p:cNvPr id="399" name="Shape 13"/>
          <p:cNvSpPr/>
          <p:nvPr/>
        </p:nvSpPr>
        <p:spPr>
          <a:xfrm>
            <a:off x="6483096" y="253288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0" name="Text 14"/>
          <p:cNvSpPr txBox="1"/>
          <p:nvPr/>
        </p:nvSpPr>
        <p:spPr>
          <a:xfrm>
            <a:off x="6775704" y="245059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核心任务能否完成</a:t>
            </a:r>
          </a:p>
        </p:txBody>
      </p:sp>
      <p:sp>
        <p:nvSpPr>
          <p:cNvPr id="401" name="Shape 15"/>
          <p:cNvSpPr/>
          <p:nvPr/>
        </p:nvSpPr>
        <p:spPr>
          <a:xfrm>
            <a:off x="6483096" y="303580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Text 16"/>
          <p:cNvSpPr txBox="1"/>
          <p:nvPr/>
        </p:nvSpPr>
        <p:spPr>
          <a:xfrm>
            <a:off x="6775704" y="2953511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关键操作能否发现</a:t>
            </a:r>
          </a:p>
        </p:txBody>
      </p:sp>
      <p:sp>
        <p:nvSpPr>
          <p:cNvPr id="403" name="Shape 17"/>
          <p:cNvSpPr/>
          <p:nvPr/>
        </p:nvSpPr>
        <p:spPr>
          <a:xfrm>
            <a:off x="6483096" y="353872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4" name="Text 18"/>
          <p:cNvSpPr txBox="1"/>
          <p:nvPr/>
        </p:nvSpPr>
        <p:spPr>
          <a:xfrm>
            <a:off x="6775704" y="345643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产品规则是否有证据</a:t>
            </a:r>
          </a:p>
        </p:txBody>
      </p:sp>
      <p:sp>
        <p:nvSpPr>
          <p:cNvPr id="405" name="Shape 19"/>
          <p:cNvSpPr/>
          <p:nvPr/>
        </p:nvSpPr>
        <p:spPr>
          <a:xfrm>
            <a:off x="6483096" y="404164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6" name="Text 20"/>
          <p:cNvSpPr txBox="1"/>
          <p:nvPr/>
        </p:nvSpPr>
        <p:spPr>
          <a:xfrm>
            <a:off x="6775704" y="395935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失败与返回是否可恢复</a:t>
            </a:r>
          </a:p>
        </p:txBody>
      </p:sp>
      <p:sp>
        <p:nvSpPr>
          <p:cNvPr id="407" name="Shape 21"/>
          <p:cNvSpPr/>
          <p:nvPr/>
        </p:nvSpPr>
        <p:spPr>
          <a:xfrm>
            <a:off x="914400" y="5074920"/>
            <a:ext cx="5669280" cy="566929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Text 22"/>
          <p:cNvSpPr txBox="1"/>
          <p:nvPr/>
        </p:nvSpPr>
        <p:spPr>
          <a:xfrm>
            <a:off x="1078991" y="5266944"/>
            <a:ext cx="532181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0391">
              <a:lnSpc>
                <a:spcPct val="90000"/>
              </a:lnSpc>
              <a:defRPr sz="1023" b="1">
                <a:solidFill>
                  <a:srgbClr val="FFFFFF"/>
                </a:solidFill>
              </a:defRPr>
            </a:lvl1pPr>
          </a:lstStyle>
          <a:p>
            <a:r>
              <a:t>输出：prototype/low-fi.html｜无外部依赖｜不新增功能</a:t>
            </a:r>
          </a:p>
        </p:txBody>
      </p:sp>
      <p:sp>
        <p:nvSpPr>
          <p:cNvPr id="409" name="Text 23"/>
          <p:cNvSpPr txBox="1"/>
          <p:nvPr/>
        </p:nvSpPr>
        <p:spPr>
          <a:xfrm>
            <a:off x="8896350" y="4448174"/>
            <a:ext cx="2000250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完整Prompt</a:t>
            </a:r>
            <a:endParaRPr sz="1547"/>
          </a:p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见配套讲义</a:t>
            </a:r>
          </a:p>
        </p:txBody>
      </p:sp>
      <p:sp>
        <p:nvSpPr>
          <p:cNvPr id="410" name="Text 24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本部分产出：页面信息架构 + 低保真原型 + 结构评审记录。</a:t>
            </a:r>
          </a:p>
        </p:txBody>
      </p:sp>
      <p:sp>
        <p:nvSpPr>
          <p:cNvPr id="411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6355079" y="0"/>
            <a:ext cx="164593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6" name="Text 1"/>
          <p:cNvSpPr txBox="1"/>
          <p:nvPr/>
        </p:nvSpPr>
        <p:spPr>
          <a:xfrm>
            <a:off x="713232" y="664718"/>
            <a:ext cx="4754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8CC5FF"/>
                </a:solidFill>
              </a:defRPr>
            </a:lvl1pPr>
          </a:lstStyle>
          <a:p>
            <a:r>
              <a:t>AI辅助原型与Demo · 第四部分</a:t>
            </a:r>
          </a:p>
        </p:txBody>
      </p:sp>
      <p:sp>
        <p:nvSpPr>
          <p:cNvPr id="417" name="Text 2"/>
          <p:cNvSpPr txBox="1"/>
          <p:nvPr/>
        </p:nvSpPr>
        <p:spPr>
          <a:xfrm>
            <a:off x="713231" y="1801368"/>
            <a:ext cx="621366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dirty="0" err="1"/>
              <a:t>页面是一组状态</a:t>
            </a:r>
            <a:endParaRPr dirty="0"/>
          </a:p>
        </p:txBody>
      </p:sp>
      <p:sp>
        <p:nvSpPr>
          <p:cNvPr id="418" name="Shape 4"/>
          <p:cNvSpPr/>
          <p:nvPr/>
        </p:nvSpPr>
        <p:spPr>
          <a:xfrm>
            <a:off x="749807" y="3246120"/>
            <a:ext cx="4206241" cy="1"/>
          </a:xfrm>
          <a:prstGeom prst="line">
            <a:avLst/>
          </a:prstGeom>
          <a:ln w="15240">
            <a:solidFill>
              <a:srgbClr val="4DA3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9" name="Text 5"/>
          <p:cNvSpPr txBox="1"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500">
                <a:solidFill>
                  <a:srgbClr val="BFD7F4"/>
                </a:solidFill>
              </a:defRPr>
            </a:lvl1pPr>
          </a:lstStyle>
          <a:p>
            <a:r>
              <a:t>让异常可见、可理解、可恢复。</a:t>
            </a:r>
          </a:p>
        </p:txBody>
      </p:sp>
      <p:sp>
        <p:nvSpPr>
          <p:cNvPr id="420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1 / 状态设计</a:t>
            </a:r>
          </a:p>
        </p:txBody>
      </p:sp>
      <p:sp>
        <p:nvSpPr>
          <p:cNvPr id="425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每个状态都要形成完整反馈闭环</a:t>
            </a:r>
          </a:p>
        </p:txBody>
      </p:sp>
      <p:sp>
        <p:nvSpPr>
          <p:cNvPr id="426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只有提示文案，没有下一步动作，不算完整状态。</a:t>
            </a:r>
          </a:p>
        </p:txBody>
      </p:sp>
      <p:sp>
        <p:nvSpPr>
          <p:cNvPr id="427" name="Text 3"/>
          <p:cNvSpPr txBox="1"/>
          <p:nvPr/>
        </p:nvSpPr>
        <p:spPr>
          <a:xfrm>
            <a:off x="896111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563EB"/>
                </a:solidFill>
              </a:defRPr>
            </a:lvl1pPr>
          </a:lstStyle>
          <a:p>
            <a:r>
              <a:t>状态发生</a:t>
            </a:r>
          </a:p>
        </p:txBody>
      </p:sp>
      <p:sp>
        <p:nvSpPr>
          <p:cNvPr id="428" name="Text 4"/>
          <p:cNvSpPr txBox="1"/>
          <p:nvPr/>
        </p:nvSpPr>
        <p:spPr>
          <a:xfrm>
            <a:off x="6446520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B8A6"/>
                </a:solidFill>
              </a:defRPr>
            </a:lvl1pPr>
          </a:lstStyle>
          <a:p>
            <a:r>
              <a:t>用户继续</a:t>
            </a:r>
          </a:p>
        </p:txBody>
      </p:sp>
      <p:sp>
        <p:nvSpPr>
          <p:cNvPr id="429" name="Shape 5"/>
          <p:cNvSpPr/>
          <p:nvPr/>
        </p:nvSpPr>
        <p:spPr>
          <a:xfrm>
            <a:off x="932688" y="253288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Text 6"/>
          <p:cNvSpPr txBox="1"/>
          <p:nvPr/>
        </p:nvSpPr>
        <p:spPr>
          <a:xfrm>
            <a:off x="1225296" y="244068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明确触发条件</a:t>
            </a:r>
          </a:p>
        </p:txBody>
      </p:sp>
      <p:sp>
        <p:nvSpPr>
          <p:cNvPr id="431" name="Shape 7"/>
          <p:cNvSpPr/>
          <p:nvPr/>
        </p:nvSpPr>
        <p:spPr>
          <a:xfrm>
            <a:off x="932688" y="303580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2" name="Text 8"/>
          <p:cNvSpPr txBox="1"/>
          <p:nvPr/>
        </p:nvSpPr>
        <p:spPr>
          <a:xfrm>
            <a:off x="1225296" y="2943605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解释发生了什么</a:t>
            </a:r>
          </a:p>
        </p:txBody>
      </p:sp>
      <p:sp>
        <p:nvSpPr>
          <p:cNvPr id="433" name="Shape 9"/>
          <p:cNvSpPr/>
          <p:nvPr/>
        </p:nvSpPr>
        <p:spPr>
          <a:xfrm>
            <a:off x="932688" y="353872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Text 10"/>
          <p:cNvSpPr txBox="1"/>
          <p:nvPr/>
        </p:nvSpPr>
        <p:spPr>
          <a:xfrm>
            <a:off x="1225296" y="344652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展示当前页面变化</a:t>
            </a:r>
          </a:p>
        </p:txBody>
      </p:sp>
      <p:sp>
        <p:nvSpPr>
          <p:cNvPr id="435" name="Shape 11"/>
          <p:cNvSpPr/>
          <p:nvPr/>
        </p:nvSpPr>
        <p:spPr>
          <a:xfrm>
            <a:off x="932688" y="404164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6" name="Text 12"/>
          <p:cNvSpPr txBox="1"/>
          <p:nvPr/>
        </p:nvSpPr>
        <p:spPr>
          <a:xfrm>
            <a:off x="1225296" y="394944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保持必要上下文</a:t>
            </a:r>
          </a:p>
        </p:txBody>
      </p:sp>
      <p:sp>
        <p:nvSpPr>
          <p:cNvPr id="437" name="Shape 13"/>
          <p:cNvSpPr/>
          <p:nvPr/>
        </p:nvSpPr>
        <p:spPr>
          <a:xfrm>
            <a:off x="6483096" y="253288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8" name="Text 14"/>
          <p:cNvSpPr txBox="1"/>
          <p:nvPr/>
        </p:nvSpPr>
        <p:spPr>
          <a:xfrm>
            <a:off x="6775704" y="245059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给出可执行动作</a:t>
            </a:r>
          </a:p>
        </p:txBody>
      </p:sp>
      <p:sp>
        <p:nvSpPr>
          <p:cNvPr id="439" name="Shape 15"/>
          <p:cNvSpPr/>
          <p:nvPr/>
        </p:nvSpPr>
        <p:spPr>
          <a:xfrm>
            <a:off x="6483096" y="303580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0" name="Text 16"/>
          <p:cNvSpPr txBox="1"/>
          <p:nvPr/>
        </p:nvSpPr>
        <p:spPr>
          <a:xfrm>
            <a:off x="6775704" y="2953511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说明操作后结果</a:t>
            </a:r>
          </a:p>
        </p:txBody>
      </p:sp>
      <p:sp>
        <p:nvSpPr>
          <p:cNvPr id="441" name="Shape 17"/>
          <p:cNvSpPr/>
          <p:nvPr/>
        </p:nvSpPr>
        <p:spPr>
          <a:xfrm>
            <a:off x="6483096" y="353872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2" name="Text 18"/>
          <p:cNvSpPr txBox="1"/>
          <p:nvPr/>
        </p:nvSpPr>
        <p:spPr>
          <a:xfrm>
            <a:off x="6775704" y="345643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失败时允许恢复</a:t>
            </a:r>
          </a:p>
        </p:txBody>
      </p:sp>
      <p:sp>
        <p:nvSpPr>
          <p:cNvPr id="443" name="Shape 19"/>
          <p:cNvSpPr/>
          <p:nvPr/>
        </p:nvSpPr>
        <p:spPr>
          <a:xfrm>
            <a:off x="6483096" y="404164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4" name="Text 20"/>
          <p:cNvSpPr txBox="1"/>
          <p:nvPr/>
        </p:nvSpPr>
        <p:spPr>
          <a:xfrm>
            <a:off x="6775704" y="395935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返回后状态可预期</a:t>
            </a:r>
          </a:p>
        </p:txBody>
      </p:sp>
      <p:sp>
        <p:nvSpPr>
          <p:cNvPr id="445" name="Shape 21"/>
          <p:cNvSpPr/>
          <p:nvPr/>
        </p:nvSpPr>
        <p:spPr>
          <a:xfrm>
            <a:off x="914400" y="5074920"/>
            <a:ext cx="5669280" cy="566929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6" name="Text 22"/>
          <p:cNvSpPr txBox="1"/>
          <p:nvPr/>
        </p:nvSpPr>
        <p:spPr>
          <a:xfrm>
            <a:off x="1078991" y="5266944"/>
            <a:ext cx="532181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0391">
              <a:lnSpc>
                <a:spcPct val="90000"/>
              </a:lnSpc>
              <a:defRPr sz="1023" b="1">
                <a:solidFill>
                  <a:srgbClr val="FFFFFF"/>
                </a:solidFill>
              </a:defRPr>
            </a:lvl1pPr>
          </a:lstStyle>
          <a:p>
            <a:r>
              <a:t>触发条件 → 页面反馈 → 用户动作 → 系统结果</a:t>
            </a:r>
          </a:p>
        </p:txBody>
      </p:sp>
      <p:sp>
        <p:nvSpPr>
          <p:cNvPr id="447" name="Text 23"/>
          <p:cNvSpPr txBox="1"/>
          <p:nvPr/>
        </p:nvSpPr>
        <p:spPr>
          <a:xfrm>
            <a:off x="8896350" y="4448174"/>
            <a:ext cx="2000250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状态必须</a:t>
            </a:r>
            <a:endParaRPr sz="1547"/>
          </a:p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可观察</a:t>
            </a:r>
          </a:p>
        </p:txBody>
      </p:sp>
      <p:sp>
        <p:nvSpPr>
          <p:cNvPr id="448" name="Text 24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状态设计的目标是帮助用户继续完成任务。</a:t>
            </a:r>
          </a:p>
        </p:txBody>
      </p:sp>
      <p:sp>
        <p:nvSpPr>
          <p:cNvPr id="449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作业与衔接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1F3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作业</a:t>
            </a:r>
            <a:endParaRPr lang="en-US" sz="2200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057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0" y="6537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A0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10116312" cy="4297680"/>
          </a:xfrm>
          <a:prstGeom prst="roundRect">
            <a:avLst>
              <a:gd name="adj" fmla="val 17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7140" y="2456688"/>
            <a:ext cx="4617720" cy="1068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2400" dirty="0" err="1">
                <a:latin typeface="DengXian" panose="02010600030101010101" pitchFamily="2" charset="-122"/>
                <a:ea typeface="DengXian" panose="02010600030101010101" pitchFamily="2" charset="-122"/>
              </a:rPr>
              <a:t>将上节课的PRD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 推动到 </a:t>
            </a:r>
            <a:r>
              <a:rPr lang="en-US" altLang="zh-CN" sz="2400" dirty="0">
                <a:latin typeface="DengXian" panose="02010600030101010101" pitchFamily="2" charset="-122"/>
                <a:ea typeface="DengXian" panose="02010600030101010101" pitchFamily="2" charset="-122"/>
              </a:rPr>
              <a:t>demo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阶段</a:t>
            </a:r>
            <a:endParaRPr lang="en-US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3 / 状态覆盖</a:t>
            </a:r>
          </a:p>
        </p:txBody>
      </p:sp>
      <p:sp>
        <p:nvSpPr>
          <p:cNvPr id="475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页面状态表先覆盖高风险场景</a:t>
            </a:r>
          </a:p>
        </p:txBody>
      </p:sp>
      <p:sp>
        <p:nvSpPr>
          <p:cNvPr id="476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课堂重点实现四个，其他状态保留为后续检查项。</a:t>
            </a:r>
          </a:p>
        </p:txBody>
      </p:sp>
      <p:sp>
        <p:nvSpPr>
          <p:cNvPr id="477" name="Text 3"/>
          <p:cNvSpPr txBox="1"/>
          <p:nvPr/>
        </p:nvSpPr>
        <p:spPr>
          <a:xfrm>
            <a:off x="859535" y="18907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478" name="Shape 4"/>
          <p:cNvSpPr/>
          <p:nvPr/>
        </p:nvSpPr>
        <p:spPr>
          <a:xfrm>
            <a:off x="1636776" y="199339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Text 5"/>
          <p:cNvSpPr txBox="1"/>
          <p:nvPr/>
        </p:nvSpPr>
        <p:spPr>
          <a:xfrm>
            <a:off x="2167127" y="18562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少于2个商品</a:t>
            </a:r>
          </a:p>
        </p:txBody>
      </p:sp>
      <p:sp>
        <p:nvSpPr>
          <p:cNvPr id="480" name="Text 6"/>
          <p:cNvSpPr txBox="1"/>
          <p:nvPr/>
        </p:nvSpPr>
        <p:spPr>
          <a:xfrm>
            <a:off x="859535" y="239369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481" name="Shape 7"/>
          <p:cNvSpPr/>
          <p:nvPr/>
        </p:nvSpPr>
        <p:spPr>
          <a:xfrm>
            <a:off x="1636776" y="24963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Text 8"/>
          <p:cNvSpPr txBox="1"/>
          <p:nvPr/>
        </p:nvSpPr>
        <p:spPr>
          <a:xfrm>
            <a:off x="2167127" y="235915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达到4个商品上限</a:t>
            </a:r>
          </a:p>
        </p:txBody>
      </p:sp>
      <p:sp>
        <p:nvSpPr>
          <p:cNvPr id="483" name="Text 9"/>
          <p:cNvSpPr txBox="1"/>
          <p:nvPr/>
        </p:nvSpPr>
        <p:spPr>
          <a:xfrm>
            <a:off x="859535" y="289661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484" name="Shape 10"/>
          <p:cNvSpPr/>
          <p:nvPr/>
        </p:nvSpPr>
        <p:spPr>
          <a:xfrm>
            <a:off x="1636776" y="299923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Text 11"/>
          <p:cNvSpPr txBox="1"/>
          <p:nvPr/>
        </p:nvSpPr>
        <p:spPr>
          <a:xfrm>
            <a:off x="2167127" y="286207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跨三级类目</a:t>
            </a:r>
          </a:p>
        </p:txBody>
      </p:sp>
      <p:sp>
        <p:nvSpPr>
          <p:cNvPr id="486" name="Text 12"/>
          <p:cNvSpPr txBox="1"/>
          <p:nvPr/>
        </p:nvSpPr>
        <p:spPr>
          <a:xfrm>
            <a:off x="859535" y="339953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487" name="Shape 13"/>
          <p:cNvSpPr/>
          <p:nvPr/>
        </p:nvSpPr>
        <p:spPr>
          <a:xfrm>
            <a:off x="1636776" y="350215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Text 14"/>
          <p:cNvSpPr txBox="1"/>
          <p:nvPr/>
        </p:nvSpPr>
        <p:spPr>
          <a:xfrm>
            <a:off x="2167127" y="336499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参数缺失</a:t>
            </a:r>
          </a:p>
        </p:txBody>
      </p:sp>
      <p:sp>
        <p:nvSpPr>
          <p:cNvPr id="489" name="Text 15"/>
          <p:cNvSpPr txBox="1"/>
          <p:nvPr/>
        </p:nvSpPr>
        <p:spPr>
          <a:xfrm>
            <a:off x="859535" y="390245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490" name="Shape 16"/>
          <p:cNvSpPr/>
          <p:nvPr/>
        </p:nvSpPr>
        <p:spPr>
          <a:xfrm>
            <a:off x="1636776" y="400507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Text 17"/>
          <p:cNvSpPr txBox="1"/>
          <p:nvPr/>
        </p:nvSpPr>
        <p:spPr>
          <a:xfrm>
            <a:off x="2167127" y="386791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参数冲突</a:t>
            </a:r>
          </a:p>
        </p:txBody>
      </p:sp>
      <p:sp>
        <p:nvSpPr>
          <p:cNvPr id="492" name="Text 18"/>
          <p:cNvSpPr txBox="1"/>
          <p:nvPr/>
        </p:nvSpPr>
        <p:spPr>
          <a:xfrm>
            <a:off x="859535" y="44053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493" name="Shape 19"/>
          <p:cNvSpPr/>
          <p:nvPr/>
        </p:nvSpPr>
        <p:spPr>
          <a:xfrm>
            <a:off x="1636776" y="450799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Text 20"/>
          <p:cNvSpPr txBox="1"/>
          <p:nvPr/>
        </p:nvSpPr>
        <p:spPr>
          <a:xfrm>
            <a:off x="2167127" y="43708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商品失效或下架</a:t>
            </a:r>
          </a:p>
        </p:txBody>
      </p:sp>
      <p:sp>
        <p:nvSpPr>
          <p:cNvPr id="495" name="Text 21"/>
          <p:cNvSpPr txBox="1"/>
          <p:nvPr/>
        </p:nvSpPr>
        <p:spPr>
          <a:xfrm>
            <a:off x="859535" y="490829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496" name="Shape 22"/>
          <p:cNvSpPr/>
          <p:nvPr/>
        </p:nvSpPr>
        <p:spPr>
          <a:xfrm>
            <a:off x="1636776" y="50109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Text 23"/>
          <p:cNvSpPr txBox="1"/>
          <p:nvPr/>
        </p:nvSpPr>
        <p:spPr>
          <a:xfrm>
            <a:off x="2167127" y="487375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返回后恢复选择</a:t>
            </a:r>
          </a:p>
        </p:txBody>
      </p:sp>
      <p:sp>
        <p:nvSpPr>
          <p:cNvPr id="498" name="Text 34"/>
          <p:cNvSpPr txBox="1"/>
          <p:nvPr/>
        </p:nvSpPr>
        <p:spPr>
          <a:xfrm>
            <a:off x="6618248" y="2895091"/>
            <a:ext cx="4389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0B1F3A"/>
                </a:solidFill>
              </a:defRPr>
            </a:lvl1pPr>
          </a:lstStyle>
          <a:p>
            <a:r>
              <a:t>每个状态都写清：条件、反馈、动作与系统结果。</a:t>
            </a:r>
          </a:p>
        </p:txBody>
      </p:sp>
      <p:sp>
        <p:nvSpPr>
          <p:cNvPr id="499" name="Text 35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状态表是下一步生成Demo的验收依据。</a:t>
            </a:r>
          </a:p>
        </p:txBody>
      </p:sp>
      <p:sp>
        <p:nvSpPr>
          <p:cNvPr id="500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4 / Codex课堂实操</a:t>
            </a:r>
          </a:p>
        </p:txBody>
      </p:sp>
      <p:sp>
        <p:nvSpPr>
          <p:cNvPr id="505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先生成状态表，再升级可演示界面</a:t>
            </a:r>
          </a:p>
        </p:txBody>
      </p:sp>
      <p:sp>
        <p:nvSpPr>
          <p:cNvPr id="506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状态确认后再从low-fi.html生成core-ui.html。</a:t>
            </a:r>
          </a:p>
        </p:txBody>
      </p:sp>
      <p:sp>
        <p:nvSpPr>
          <p:cNvPr id="507" name="Text 3"/>
          <p:cNvSpPr txBox="1"/>
          <p:nvPr/>
        </p:nvSpPr>
        <p:spPr>
          <a:xfrm>
            <a:off x="896111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563EB"/>
                </a:solidFill>
              </a:defRPr>
            </a:lvl1pPr>
          </a:lstStyle>
          <a:p>
            <a:r>
              <a:t>Codex生成</a:t>
            </a:r>
          </a:p>
        </p:txBody>
      </p:sp>
      <p:sp>
        <p:nvSpPr>
          <p:cNvPr id="508" name="Text 4"/>
          <p:cNvSpPr txBox="1"/>
          <p:nvPr/>
        </p:nvSpPr>
        <p:spPr>
          <a:xfrm>
            <a:off x="6446520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B8A6"/>
                </a:solidFill>
              </a:defRPr>
            </a:lvl1pPr>
          </a:lstStyle>
          <a:p>
            <a:r>
              <a:t>产品经理Review</a:t>
            </a:r>
          </a:p>
        </p:txBody>
      </p:sp>
      <p:sp>
        <p:nvSpPr>
          <p:cNvPr id="509" name="Shape 5"/>
          <p:cNvSpPr/>
          <p:nvPr/>
        </p:nvSpPr>
        <p:spPr>
          <a:xfrm>
            <a:off x="932688" y="253288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Text 6"/>
          <p:cNvSpPr txBox="1"/>
          <p:nvPr/>
        </p:nvSpPr>
        <p:spPr>
          <a:xfrm>
            <a:off x="1225296" y="244068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页面与状态名称</a:t>
            </a:r>
          </a:p>
        </p:txBody>
      </p:sp>
      <p:sp>
        <p:nvSpPr>
          <p:cNvPr id="511" name="Shape 7"/>
          <p:cNvSpPr/>
          <p:nvPr/>
        </p:nvSpPr>
        <p:spPr>
          <a:xfrm>
            <a:off x="932688" y="303580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Text 8"/>
          <p:cNvSpPr txBox="1"/>
          <p:nvPr/>
        </p:nvSpPr>
        <p:spPr>
          <a:xfrm>
            <a:off x="1225296" y="2943605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触发条件与反馈</a:t>
            </a:r>
          </a:p>
        </p:txBody>
      </p:sp>
      <p:sp>
        <p:nvSpPr>
          <p:cNvPr id="513" name="Shape 9"/>
          <p:cNvSpPr/>
          <p:nvPr/>
        </p:nvSpPr>
        <p:spPr>
          <a:xfrm>
            <a:off x="932688" y="353872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Text 10"/>
          <p:cNvSpPr txBox="1"/>
          <p:nvPr/>
        </p:nvSpPr>
        <p:spPr>
          <a:xfrm>
            <a:off x="1225296" y="344652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用户动作与结果</a:t>
            </a:r>
          </a:p>
        </p:txBody>
      </p:sp>
      <p:sp>
        <p:nvSpPr>
          <p:cNvPr id="515" name="Shape 11"/>
          <p:cNvSpPr/>
          <p:nvPr/>
        </p:nvSpPr>
        <p:spPr>
          <a:xfrm>
            <a:off x="932688" y="404164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6" name="Text 12"/>
          <p:cNvSpPr txBox="1"/>
          <p:nvPr/>
        </p:nvSpPr>
        <p:spPr>
          <a:xfrm>
            <a:off x="1225296" y="394944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对应正式产品依据</a:t>
            </a:r>
          </a:p>
        </p:txBody>
      </p:sp>
      <p:sp>
        <p:nvSpPr>
          <p:cNvPr id="517" name="Shape 13"/>
          <p:cNvSpPr/>
          <p:nvPr/>
        </p:nvSpPr>
        <p:spPr>
          <a:xfrm>
            <a:off x="6483096" y="253288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8" name="Text 14"/>
          <p:cNvSpPr txBox="1"/>
          <p:nvPr/>
        </p:nvSpPr>
        <p:spPr>
          <a:xfrm>
            <a:off x="6775704" y="245059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是否解释发生什么</a:t>
            </a:r>
          </a:p>
        </p:txBody>
      </p:sp>
      <p:sp>
        <p:nvSpPr>
          <p:cNvPr id="519" name="Shape 15"/>
          <p:cNvSpPr/>
          <p:nvPr/>
        </p:nvSpPr>
        <p:spPr>
          <a:xfrm>
            <a:off x="6483096" y="303580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Text 16"/>
          <p:cNvSpPr txBox="1"/>
          <p:nvPr/>
        </p:nvSpPr>
        <p:spPr>
          <a:xfrm>
            <a:off x="6775704" y="2953511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用户能否继续操作</a:t>
            </a:r>
          </a:p>
        </p:txBody>
      </p:sp>
      <p:sp>
        <p:nvSpPr>
          <p:cNvPr id="521" name="Shape 17"/>
          <p:cNvSpPr/>
          <p:nvPr/>
        </p:nvSpPr>
        <p:spPr>
          <a:xfrm>
            <a:off x="6483096" y="353872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Text 18"/>
          <p:cNvSpPr txBox="1"/>
          <p:nvPr/>
        </p:nvSpPr>
        <p:spPr>
          <a:xfrm>
            <a:off x="6775704" y="345643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模拟能力是否说清</a:t>
            </a:r>
          </a:p>
        </p:txBody>
      </p:sp>
      <p:sp>
        <p:nvSpPr>
          <p:cNvPr id="523" name="Shape 19"/>
          <p:cNvSpPr/>
          <p:nvPr/>
        </p:nvSpPr>
        <p:spPr>
          <a:xfrm>
            <a:off x="6483096" y="404164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Text 20"/>
          <p:cNvSpPr txBox="1"/>
          <p:nvPr/>
        </p:nvSpPr>
        <p:spPr>
          <a:xfrm>
            <a:off x="6775704" y="395935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是否偷偷扩大范围</a:t>
            </a:r>
          </a:p>
        </p:txBody>
      </p:sp>
      <p:sp>
        <p:nvSpPr>
          <p:cNvPr id="525" name="Shape 21"/>
          <p:cNvSpPr/>
          <p:nvPr/>
        </p:nvSpPr>
        <p:spPr>
          <a:xfrm>
            <a:off x="914400" y="5074920"/>
            <a:ext cx="5669280" cy="566929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Text 22"/>
          <p:cNvSpPr txBox="1"/>
          <p:nvPr/>
        </p:nvSpPr>
        <p:spPr>
          <a:xfrm>
            <a:off x="1078991" y="5266944"/>
            <a:ext cx="532181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0391">
              <a:lnSpc>
                <a:spcPct val="90000"/>
              </a:lnSpc>
              <a:defRPr sz="1023" b="1">
                <a:solidFill>
                  <a:srgbClr val="FFFFFF"/>
                </a:solidFill>
              </a:defRPr>
            </a:lvl1pPr>
          </a:lstStyle>
          <a:p>
            <a:r>
              <a:t>输出：页面状态表 + prototype/core-ui.html</a:t>
            </a:r>
          </a:p>
        </p:txBody>
      </p:sp>
      <p:sp>
        <p:nvSpPr>
          <p:cNvPr id="527" name="Text 23"/>
          <p:cNvSpPr txBox="1"/>
          <p:nvPr/>
        </p:nvSpPr>
        <p:spPr>
          <a:xfrm>
            <a:off x="8896350" y="4448174"/>
            <a:ext cx="2000250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完整Prompt</a:t>
            </a:r>
            <a:endParaRPr sz="1547"/>
          </a:p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见配套讲义</a:t>
            </a:r>
          </a:p>
        </p:txBody>
      </p:sp>
      <p:sp>
        <p:nvSpPr>
          <p:cNvPr id="528" name="Text 24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本部分产出：页面状态表 + 可演示核心页面 + 评审记录。</a:t>
            </a:r>
          </a:p>
        </p:txBody>
      </p:sp>
      <p:sp>
        <p:nvSpPr>
          <p:cNvPr id="529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6355079" y="0"/>
            <a:ext cx="164593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Text 1"/>
          <p:cNvSpPr txBox="1"/>
          <p:nvPr/>
        </p:nvSpPr>
        <p:spPr>
          <a:xfrm>
            <a:off x="713232" y="664718"/>
            <a:ext cx="4754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8CC5FF"/>
                </a:solidFill>
              </a:defRPr>
            </a:lvl1pPr>
          </a:lstStyle>
          <a:p>
            <a:r>
              <a:t>AI辅助原型与Demo · 第五部分</a:t>
            </a:r>
          </a:p>
        </p:txBody>
      </p:sp>
      <p:sp>
        <p:nvSpPr>
          <p:cNvPr id="535" name="Text 2"/>
          <p:cNvSpPr txBox="1"/>
          <p:nvPr/>
        </p:nvSpPr>
        <p:spPr>
          <a:xfrm>
            <a:off x="713231" y="1801368"/>
            <a:ext cx="621366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t>用Vibe Coding生成可运行Demo</a:t>
            </a:r>
          </a:p>
        </p:txBody>
      </p:sp>
      <p:sp>
        <p:nvSpPr>
          <p:cNvPr id="536" name="Shape 4"/>
          <p:cNvSpPr/>
          <p:nvPr/>
        </p:nvSpPr>
        <p:spPr>
          <a:xfrm>
            <a:off x="749807" y="3246120"/>
            <a:ext cx="4206241" cy="1"/>
          </a:xfrm>
          <a:prstGeom prst="line">
            <a:avLst/>
          </a:prstGeom>
          <a:ln w="15240">
            <a:solidFill>
              <a:srgbClr val="4DA3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Text 5"/>
          <p:cNvSpPr txBox="1"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500">
                <a:solidFill>
                  <a:srgbClr val="BFD7F4"/>
                </a:solidFill>
              </a:defRPr>
            </a:lvl1pPr>
          </a:lstStyle>
          <a:p>
            <a:r>
              <a:t>按可验证切片实现，不一次生成整个产品。</a:t>
            </a:r>
          </a:p>
        </p:txBody>
      </p:sp>
      <p:sp>
        <p:nvSpPr>
          <p:cNvPr id="538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2 / 可验证切片</a:t>
            </a:r>
          </a:p>
        </p:txBody>
      </p:sp>
      <p:sp>
        <p:nvSpPr>
          <p:cNvPr id="564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不要一次生成整个产品</a:t>
            </a:r>
          </a:p>
        </p:txBody>
      </p:sp>
      <p:sp>
        <p:nvSpPr>
          <p:cNvPr id="565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每完成一个切片，就运行、检查并记录。</a:t>
            </a:r>
          </a:p>
        </p:txBody>
      </p:sp>
      <p:sp>
        <p:nvSpPr>
          <p:cNvPr id="566" name="Text 3"/>
          <p:cNvSpPr txBox="1"/>
          <p:nvPr/>
        </p:nvSpPr>
        <p:spPr>
          <a:xfrm>
            <a:off x="859535" y="18907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567" name="Shape 4"/>
          <p:cNvSpPr/>
          <p:nvPr/>
        </p:nvSpPr>
        <p:spPr>
          <a:xfrm>
            <a:off x="1636776" y="199339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8" name="Text 5"/>
          <p:cNvSpPr txBox="1"/>
          <p:nvPr/>
        </p:nvSpPr>
        <p:spPr>
          <a:xfrm>
            <a:off x="2167127" y="18562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商品数据与页面骨架</a:t>
            </a:r>
          </a:p>
        </p:txBody>
      </p:sp>
      <p:sp>
        <p:nvSpPr>
          <p:cNvPr id="569" name="Text 6"/>
          <p:cNvSpPr txBox="1"/>
          <p:nvPr/>
        </p:nvSpPr>
        <p:spPr>
          <a:xfrm>
            <a:off x="859535" y="239369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570" name="Shape 7"/>
          <p:cNvSpPr/>
          <p:nvPr/>
        </p:nvSpPr>
        <p:spPr>
          <a:xfrm>
            <a:off x="1636776" y="24963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1" name="Text 8"/>
          <p:cNvSpPr txBox="1"/>
          <p:nvPr/>
        </p:nvSpPr>
        <p:spPr>
          <a:xfrm>
            <a:off x="2167127" y="235915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加入对比与底部对比栏</a:t>
            </a:r>
          </a:p>
        </p:txBody>
      </p:sp>
      <p:sp>
        <p:nvSpPr>
          <p:cNvPr id="572" name="Text 9"/>
          <p:cNvSpPr txBox="1"/>
          <p:nvPr/>
        </p:nvSpPr>
        <p:spPr>
          <a:xfrm>
            <a:off x="859535" y="289661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573" name="Shape 10"/>
          <p:cNvSpPr/>
          <p:nvPr/>
        </p:nvSpPr>
        <p:spPr>
          <a:xfrm>
            <a:off x="1636776" y="299923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4" name="Text 11"/>
          <p:cNvSpPr txBox="1"/>
          <p:nvPr/>
        </p:nvSpPr>
        <p:spPr>
          <a:xfrm>
            <a:off x="2167127" y="286207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商品对比页</a:t>
            </a:r>
          </a:p>
        </p:txBody>
      </p:sp>
      <p:sp>
        <p:nvSpPr>
          <p:cNvPr id="575" name="Text 12"/>
          <p:cNvSpPr txBox="1"/>
          <p:nvPr/>
        </p:nvSpPr>
        <p:spPr>
          <a:xfrm>
            <a:off x="859535" y="339953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576" name="Shape 13"/>
          <p:cNvSpPr/>
          <p:nvPr/>
        </p:nvSpPr>
        <p:spPr>
          <a:xfrm>
            <a:off x="1636776" y="350215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7" name="Text 14"/>
          <p:cNvSpPr txBox="1"/>
          <p:nvPr/>
        </p:nvSpPr>
        <p:spPr>
          <a:xfrm>
            <a:off x="2167127" y="336499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只看差异与全部参数</a:t>
            </a:r>
          </a:p>
        </p:txBody>
      </p:sp>
      <p:sp>
        <p:nvSpPr>
          <p:cNvPr id="578" name="Text 15"/>
          <p:cNvSpPr txBox="1"/>
          <p:nvPr/>
        </p:nvSpPr>
        <p:spPr>
          <a:xfrm>
            <a:off x="859535" y="390245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579" name="Shape 16"/>
          <p:cNvSpPr/>
          <p:nvPr/>
        </p:nvSpPr>
        <p:spPr>
          <a:xfrm>
            <a:off x="1636776" y="400507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0" name="Text 17"/>
          <p:cNvSpPr txBox="1"/>
          <p:nvPr/>
        </p:nvSpPr>
        <p:spPr>
          <a:xfrm>
            <a:off x="2167127" y="386791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超限、跨类目、缺失与冲突</a:t>
            </a:r>
          </a:p>
        </p:txBody>
      </p:sp>
      <p:sp>
        <p:nvSpPr>
          <p:cNvPr id="581" name="Text 18"/>
          <p:cNvSpPr txBox="1"/>
          <p:nvPr/>
        </p:nvSpPr>
        <p:spPr>
          <a:xfrm>
            <a:off x="859535" y="44053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582" name="Shape 19"/>
          <p:cNvSpPr/>
          <p:nvPr/>
        </p:nvSpPr>
        <p:spPr>
          <a:xfrm>
            <a:off x="1636776" y="450799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3" name="Text 20"/>
          <p:cNvSpPr txBox="1"/>
          <p:nvPr/>
        </p:nvSpPr>
        <p:spPr>
          <a:xfrm>
            <a:off x="2167127" y="43708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移动端适配与演示数据</a:t>
            </a:r>
          </a:p>
        </p:txBody>
      </p:sp>
      <p:sp>
        <p:nvSpPr>
          <p:cNvPr id="584" name="Text 21"/>
          <p:cNvSpPr txBox="1"/>
          <p:nvPr/>
        </p:nvSpPr>
        <p:spPr>
          <a:xfrm>
            <a:off x="859535" y="490829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585" name="Shape 22"/>
          <p:cNvSpPr/>
          <p:nvPr/>
        </p:nvSpPr>
        <p:spPr>
          <a:xfrm>
            <a:off x="1636776" y="50109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6" name="Text 23"/>
          <p:cNvSpPr txBox="1"/>
          <p:nvPr/>
        </p:nvSpPr>
        <p:spPr>
          <a:xfrm>
            <a:off x="2167127" y="487375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运行验收清单并回归</a:t>
            </a:r>
          </a:p>
        </p:txBody>
      </p:sp>
      <p:sp>
        <p:nvSpPr>
          <p:cNvPr id="587" name="Text 34"/>
          <p:cNvSpPr txBox="1"/>
          <p:nvPr/>
        </p:nvSpPr>
        <p:spPr>
          <a:xfrm>
            <a:off x="6618248" y="2895091"/>
            <a:ext cx="4389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0B1F3A"/>
                </a:solidFill>
              </a:defRPr>
            </a:lvl1pPr>
          </a:lstStyle>
          <a:p>
            <a:r>
              <a:t>小步实现让问题可以定位，修改可以控制。</a:t>
            </a:r>
          </a:p>
        </p:txBody>
      </p:sp>
      <p:sp>
        <p:nvSpPr>
          <p:cNvPr id="588" name="Text 35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每轮：目标 → 依据 → 实现 → 检查 → 局部修改 → 回归。</a:t>
            </a:r>
          </a:p>
        </p:txBody>
      </p:sp>
      <p:sp>
        <p:nvSpPr>
          <p:cNvPr id="589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4 / Demo能力边界</a:t>
            </a:r>
          </a:p>
        </p:txBody>
      </p:sp>
      <p:sp>
        <p:nvSpPr>
          <p:cNvPr id="623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Demo能运行，不等于真实能力已经具备</a:t>
            </a:r>
          </a:p>
        </p:txBody>
      </p:sp>
      <p:sp>
        <p:nvSpPr>
          <p:cNvPr id="624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所有模拟、简化和未实现能力都要明确声明。</a:t>
            </a:r>
          </a:p>
        </p:txBody>
      </p:sp>
      <p:sp>
        <p:nvSpPr>
          <p:cNvPr id="625" name="Shape 3"/>
          <p:cNvSpPr/>
          <p:nvPr/>
        </p:nvSpPr>
        <p:spPr>
          <a:xfrm>
            <a:off x="2670048" y="3730752"/>
            <a:ext cx="1975105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6" name="Shape 4"/>
          <p:cNvSpPr/>
          <p:nvPr/>
        </p:nvSpPr>
        <p:spPr>
          <a:xfrm>
            <a:off x="6016752" y="3730752"/>
            <a:ext cx="2011680" cy="1"/>
          </a:xfrm>
          <a:prstGeom prst="line">
            <a:avLst/>
          </a:prstGeom>
          <a:ln w="19050">
            <a:solidFill>
              <a:srgbClr val="D6E4F5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7" name="Shape 5"/>
          <p:cNvSpPr/>
          <p:nvPr/>
        </p:nvSpPr>
        <p:spPr>
          <a:xfrm>
            <a:off x="768095" y="2103120"/>
            <a:ext cx="2788922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28" name="Text 6"/>
          <p:cNvSpPr txBox="1"/>
          <p:nvPr/>
        </p:nvSpPr>
        <p:spPr>
          <a:xfrm>
            <a:off x="1024127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563EB"/>
                </a:solidFill>
              </a:defRPr>
            </a:lvl1pPr>
          </a:lstStyle>
          <a:p>
            <a:r>
              <a:t>可以模拟</a:t>
            </a:r>
          </a:p>
        </p:txBody>
      </p:sp>
      <p:sp>
        <p:nvSpPr>
          <p:cNvPr id="629" name="Text 7"/>
          <p:cNvSpPr txBox="1"/>
          <p:nvPr/>
        </p:nvSpPr>
        <p:spPr>
          <a:xfrm>
            <a:off x="1060703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教学数据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本地临时状态</a:t>
            </a:r>
          </a:p>
        </p:txBody>
      </p:sp>
      <p:sp>
        <p:nvSpPr>
          <p:cNvPr id="630" name="Shape 8"/>
          <p:cNvSpPr/>
          <p:nvPr/>
        </p:nvSpPr>
        <p:spPr>
          <a:xfrm>
            <a:off x="4160520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1" name="Text 9"/>
          <p:cNvSpPr txBox="1"/>
          <p:nvPr/>
        </p:nvSpPr>
        <p:spPr>
          <a:xfrm>
            <a:off x="4416552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59E0B"/>
                </a:solidFill>
              </a:defRPr>
            </a:lvl1pPr>
          </a:lstStyle>
          <a:p>
            <a:r>
              <a:t>必须说明</a:t>
            </a:r>
          </a:p>
        </p:txBody>
      </p:sp>
      <p:sp>
        <p:nvSpPr>
          <p:cNvPr id="632" name="Text 10"/>
          <p:cNvSpPr txBox="1"/>
          <p:nvPr/>
        </p:nvSpPr>
        <p:spPr>
          <a:xfrm>
            <a:off x="4453128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页面范围简化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后端未接入</a:t>
            </a:r>
          </a:p>
        </p:txBody>
      </p:sp>
      <p:sp>
        <p:nvSpPr>
          <p:cNvPr id="633" name="Shape 11"/>
          <p:cNvSpPr/>
          <p:nvPr/>
        </p:nvSpPr>
        <p:spPr>
          <a:xfrm>
            <a:off x="7562088" y="2103120"/>
            <a:ext cx="2788921" cy="1874521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22860">
            <a:solidFill>
              <a:srgbClr val="14B8A6"/>
            </a:solidFill>
          </a:ln>
          <a:effectLst>
            <a:outerShdw blurRad="12700" dist="50800" dir="2700000" rotWithShape="0">
              <a:srgbClr val="B8C6D9">
                <a:alpha val="17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4" name="Text 12"/>
          <p:cNvSpPr txBox="1"/>
          <p:nvPr/>
        </p:nvSpPr>
        <p:spPr>
          <a:xfrm>
            <a:off x="7818119" y="2401570"/>
            <a:ext cx="2286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B8A6"/>
                </a:solidFill>
              </a:defRPr>
            </a:lvl1pPr>
          </a:lstStyle>
          <a:p>
            <a:r>
              <a:t>不能伪装</a:t>
            </a:r>
          </a:p>
        </p:txBody>
      </p:sp>
      <p:sp>
        <p:nvSpPr>
          <p:cNvPr id="635" name="Text 13"/>
          <p:cNvSpPr txBox="1"/>
          <p:nvPr/>
        </p:nvSpPr>
        <p:spPr>
          <a:xfrm>
            <a:off x="7854695" y="2971799"/>
            <a:ext cx="2240281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1200">
                <a:solidFill>
                  <a:srgbClr val="111827"/>
                </a:solidFill>
              </a:defRPr>
            </a:pPr>
            <a:r>
              <a:t>云端同步</a:t>
            </a:r>
          </a:p>
          <a:p>
            <a:pPr algn="ctr">
              <a:defRPr sz="1200">
                <a:solidFill>
                  <a:srgbClr val="111827"/>
                </a:solidFill>
              </a:defRPr>
            </a:pPr>
            <a:r>
              <a:t>真实到手价</a:t>
            </a:r>
          </a:p>
        </p:txBody>
      </p:sp>
      <p:sp>
        <p:nvSpPr>
          <p:cNvPr id="636" name="Shape 14"/>
          <p:cNvSpPr/>
          <p:nvPr/>
        </p:nvSpPr>
        <p:spPr>
          <a:xfrm>
            <a:off x="1371600" y="4892040"/>
            <a:ext cx="9418320" cy="640081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7" name="Text 15"/>
          <p:cNvSpPr txBox="1"/>
          <p:nvPr/>
        </p:nvSpPr>
        <p:spPr>
          <a:xfrm>
            <a:off x="1572768" y="5062474"/>
            <a:ext cx="896112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9A3412"/>
                </a:solidFill>
              </a:defRPr>
            </a:lvl1pPr>
          </a:lstStyle>
          <a:p>
            <a:r>
              <a:t>视觉完成度不能替代数据、系统和业务能力。</a:t>
            </a:r>
          </a:p>
        </p:txBody>
      </p:sp>
      <p:sp>
        <p:nvSpPr>
          <p:cNvPr id="638" name="Text 16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一期不做AI推荐，也不能用写死结果证明推荐有效。</a:t>
            </a:r>
          </a:p>
        </p:txBody>
      </p:sp>
      <p:sp>
        <p:nvSpPr>
          <p:cNvPr id="639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0"/>
          <p:cNvSpPr/>
          <p:nvPr/>
        </p:nvSpPr>
        <p:spPr>
          <a:xfrm>
            <a:off x="6355079" y="0"/>
            <a:ext cx="164593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4" name="Text 1"/>
          <p:cNvSpPr txBox="1"/>
          <p:nvPr/>
        </p:nvSpPr>
        <p:spPr>
          <a:xfrm>
            <a:off x="713232" y="664718"/>
            <a:ext cx="4754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8CC5FF"/>
                </a:solidFill>
              </a:defRPr>
            </a:lvl1pPr>
          </a:lstStyle>
          <a:p>
            <a:r>
              <a:t>AI辅助原型与Demo · 第六部分</a:t>
            </a:r>
          </a:p>
        </p:txBody>
      </p:sp>
      <p:sp>
        <p:nvSpPr>
          <p:cNvPr id="645" name="Text 2"/>
          <p:cNvSpPr txBox="1"/>
          <p:nvPr/>
        </p:nvSpPr>
        <p:spPr>
          <a:xfrm>
            <a:off x="713231" y="1801368"/>
            <a:ext cx="621366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t>验收Demo</a:t>
            </a:r>
          </a:p>
        </p:txBody>
      </p:sp>
      <p:sp>
        <p:nvSpPr>
          <p:cNvPr id="646" name="Shape 4"/>
          <p:cNvSpPr/>
          <p:nvPr/>
        </p:nvSpPr>
        <p:spPr>
          <a:xfrm>
            <a:off x="749807" y="3246120"/>
            <a:ext cx="4206241" cy="1"/>
          </a:xfrm>
          <a:prstGeom prst="line">
            <a:avLst/>
          </a:prstGeom>
          <a:ln w="15240">
            <a:solidFill>
              <a:srgbClr val="4DA3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7" name="Text 5"/>
          <p:cNvSpPr txBox="1"/>
          <p:nvPr/>
        </p:nvSpPr>
        <p:spPr>
          <a:xfrm>
            <a:off x="749808" y="3456432"/>
            <a:ext cx="47548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500">
                <a:solidFill>
                  <a:srgbClr val="BFD7F4"/>
                </a:solidFill>
              </a:defRPr>
            </a:lvl1pPr>
          </a:lstStyle>
          <a:p>
            <a:r>
              <a:t>能运行只是开始，稳定验收才形成闭环。</a:t>
            </a:r>
          </a:p>
        </p:txBody>
      </p:sp>
      <p:sp>
        <p:nvSpPr>
          <p:cNvPr id="648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1 / 五维验收</a:t>
            </a:r>
          </a:p>
        </p:txBody>
      </p:sp>
      <p:sp>
        <p:nvSpPr>
          <p:cNvPr id="653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Demo验收不是“点几下没报错”</a:t>
            </a:r>
          </a:p>
        </p:txBody>
      </p:sp>
      <p:sp>
        <p:nvSpPr>
          <p:cNvPr id="654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回到正式PRD、用户任务、规则和状态逐项检查。</a:t>
            </a:r>
          </a:p>
        </p:txBody>
      </p:sp>
      <p:sp>
        <p:nvSpPr>
          <p:cNvPr id="655" name="Text 3"/>
          <p:cNvSpPr txBox="1"/>
          <p:nvPr/>
        </p:nvSpPr>
        <p:spPr>
          <a:xfrm>
            <a:off x="896111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563EB"/>
                </a:solidFill>
              </a:defRPr>
            </a:lvl1pPr>
          </a:lstStyle>
          <a:p>
            <a:r>
              <a:t>产品是否正确</a:t>
            </a:r>
          </a:p>
        </p:txBody>
      </p:sp>
      <p:sp>
        <p:nvSpPr>
          <p:cNvPr id="656" name="Text 4"/>
          <p:cNvSpPr txBox="1"/>
          <p:nvPr/>
        </p:nvSpPr>
        <p:spPr>
          <a:xfrm>
            <a:off x="6446520" y="1852930"/>
            <a:ext cx="3429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B8A6"/>
                </a:solidFill>
              </a:defRPr>
            </a:lvl1pPr>
          </a:lstStyle>
          <a:p>
            <a:r>
              <a:t>运行是否稳定</a:t>
            </a:r>
          </a:p>
        </p:txBody>
      </p:sp>
      <p:sp>
        <p:nvSpPr>
          <p:cNvPr id="657" name="Shape 5"/>
          <p:cNvSpPr/>
          <p:nvPr/>
        </p:nvSpPr>
        <p:spPr>
          <a:xfrm>
            <a:off x="932688" y="253288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8" name="Text 6"/>
          <p:cNvSpPr txBox="1"/>
          <p:nvPr/>
        </p:nvSpPr>
        <p:spPr>
          <a:xfrm>
            <a:off x="1225296" y="244068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需求一致性</a:t>
            </a:r>
          </a:p>
        </p:txBody>
      </p:sp>
      <p:sp>
        <p:nvSpPr>
          <p:cNvPr id="659" name="Shape 7"/>
          <p:cNvSpPr/>
          <p:nvPr/>
        </p:nvSpPr>
        <p:spPr>
          <a:xfrm>
            <a:off x="932688" y="303580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0" name="Text 8"/>
          <p:cNvSpPr txBox="1"/>
          <p:nvPr/>
        </p:nvSpPr>
        <p:spPr>
          <a:xfrm>
            <a:off x="1225296" y="2943605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任务完整性</a:t>
            </a:r>
          </a:p>
        </p:txBody>
      </p:sp>
      <p:sp>
        <p:nvSpPr>
          <p:cNvPr id="661" name="Shape 9"/>
          <p:cNvSpPr/>
          <p:nvPr/>
        </p:nvSpPr>
        <p:spPr>
          <a:xfrm>
            <a:off x="932688" y="3538728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2" name="Text 10"/>
          <p:cNvSpPr txBox="1"/>
          <p:nvPr/>
        </p:nvSpPr>
        <p:spPr>
          <a:xfrm>
            <a:off x="1225296" y="344652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规则正确性</a:t>
            </a:r>
          </a:p>
        </p:txBody>
      </p:sp>
      <p:sp>
        <p:nvSpPr>
          <p:cNvPr id="663" name="Shape 11"/>
          <p:cNvSpPr/>
          <p:nvPr/>
        </p:nvSpPr>
        <p:spPr>
          <a:xfrm>
            <a:off x="932688" y="4041647"/>
            <a:ext cx="128017" cy="12801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4" name="Text 12"/>
          <p:cNvSpPr txBox="1"/>
          <p:nvPr/>
        </p:nvSpPr>
        <p:spPr>
          <a:xfrm>
            <a:off x="1225296" y="3949446"/>
            <a:ext cx="4000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827"/>
                </a:solidFill>
              </a:defRPr>
            </a:lvl1pPr>
          </a:lstStyle>
          <a:p>
            <a:r>
              <a:t>状态完整性</a:t>
            </a:r>
          </a:p>
        </p:txBody>
      </p:sp>
      <p:sp>
        <p:nvSpPr>
          <p:cNvPr id="665" name="Shape 13"/>
          <p:cNvSpPr/>
          <p:nvPr/>
        </p:nvSpPr>
        <p:spPr>
          <a:xfrm>
            <a:off x="6483096" y="253288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6" name="Text 14"/>
          <p:cNvSpPr txBox="1"/>
          <p:nvPr/>
        </p:nvSpPr>
        <p:spPr>
          <a:xfrm>
            <a:off x="6775704" y="245059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演示路径可重复</a:t>
            </a:r>
          </a:p>
        </p:txBody>
      </p:sp>
      <p:sp>
        <p:nvSpPr>
          <p:cNvPr id="667" name="Shape 15"/>
          <p:cNvSpPr/>
          <p:nvPr/>
        </p:nvSpPr>
        <p:spPr>
          <a:xfrm>
            <a:off x="6483096" y="303580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8" name="Text 16"/>
          <p:cNvSpPr txBox="1"/>
          <p:nvPr/>
        </p:nvSpPr>
        <p:spPr>
          <a:xfrm>
            <a:off x="6775704" y="2953511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模拟数据固定</a:t>
            </a:r>
          </a:p>
        </p:txBody>
      </p:sp>
      <p:sp>
        <p:nvSpPr>
          <p:cNvPr id="669" name="Shape 17"/>
          <p:cNvSpPr/>
          <p:nvPr/>
        </p:nvSpPr>
        <p:spPr>
          <a:xfrm>
            <a:off x="6483096" y="3538728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70" name="Text 18"/>
          <p:cNvSpPr txBox="1"/>
          <p:nvPr/>
        </p:nvSpPr>
        <p:spPr>
          <a:xfrm>
            <a:off x="6775704" y="345643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失败结果可解释</a:t>
            </a:r>
          </a:p>
        </p:txBody>
      </p:sp>
      <p:sp>
        <p:nvSpPr>
          <p:cNvPr id="671" name="Shape 19"/>
          <p:cNvSpPr/>
          <p:nvPr/>
        </p:nvSpPr>
        <p:spPr>
          <a:xfrm>
            <a:off x="6483096" y="4041647"/>
            <a:ext cx="128017" cy="1280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72" name="Text 20"/>
          <p:cNvSpPr txBox="1"/>
          <p:nvPr/>
        </p:nvSpPr>
        <p:spPr>
          <a:xfrm>
            <a:off x="6775704" y="3959352"/>
            <a:ext cx="4000501" cy="246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32104">
              <a:defRPr sz="1365">
                <a:solidFill>
                  <a:srgbClr val="111827"/>
                </a:solidFill>
              </a:defRPr>
            </a:lvl1pPr>
          </a:lstStyle>
          <a:p>
            <a:r>
              <a:t>已知限制已记录</a:t>
            </a:r>
          </a:p>
        </p:txBody>
      </p:sp>
      <p:sp>
        <p:nvSpPr>
          <p:cNvPr id="673" name="Shape 21"/>
          <p:cNvSpPr/>
          <p:nvPr/>
        </p:nvSpPr>
        <p:spPr>
          <a:xfrm>
            <a:off x="914400" y="5074920"/>
            <a:ext cx="5669280" cy="566929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74" name="Text 22"/>
          <p:cNvSpPr txBox="1"/>
          <p:nvPr/>
        </p:nvSpPr>
        <p:spPr>
          <a:xfrm>
            <a:off x="1078991" y="5266944"/>
            <a:ext cx="532181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850391">
              <a:lnSpc>
                <a:spcPct val="90000"/>
              </a:lnSpc>
              <a:defRPr sz="1023" b="1">
                <a:solidFill>
                  <a:srgbClr val="FFFFFF"/>
                </a:solidFill>
              </a:defRPr>
            </a:lvl1pPr>
          </a:lstStyle>
          <a:p>
            <a:r>
              <a:t>需求｜任务｜规则｜状态｜演示稳定性</a:t>
            </a:r>
          </a:p>
        </p:txBody>
      </p:sp>
      <p:sp>
        <p:nvSpPr>
          <p:cNvPr id="675" name="Text 23"/>
          <p:cNvSpPr txBox="1"/>
          <p:nvPr/>
        </p:nvSpPr>
        <p:spPr>
          <a:xfrm>
            <a:off x="8896350" y="4448174"/>
            <a:ext cx="2000250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通过验收</a:t>
            </a:r>
            <a:endParaRPr sz="1547"/>
          </a:p>
          <a:p>
            <a:pPr algn="ctr" defTabSz="832104">
              <a:lnSpc>
                <a:spcPct val="90000"/>
              </a:lnSpc>
              <a:defRPr sz="1365" b="1">
                <a:solidFill>
                  <a:srgbClr val="0B1F3A"/>
                </a:solidFill>
              </a:defRPr>
            </a:pPr>
            <a:r>
              <a:t>≠ 价值验证</a:t>
            </a:r>
          </a:p>
        </p:txBody>
      </p:sp>
      <p:sp>
        <p:nvSpPr>
          <p:cNvPr id="676" name="Text 24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验收只证明受控路径可以运行，不证明产品价值成立。</a:t>
            </a:r>
          </a:p>
        </p:txBody>
      </p:sp>
      <p:sp>
        <p:nvSpPr>
          <p:cNvPr id="677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ext 0"/>
          <p:cNvSpPr txBox="1"/>
          <p:nvPr/>
        </p:nvSpPr>
        <p:spPr>
          <a:xfrm>
            <a:off x="658368" y="372872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2563EB"/>
                </a:solidFill>
              </a:defRPr>
            </a:lvl1pPr>
          </a:lstStyle>
          <a:p>
            <a:r>
              <a:t>2 / 固定验收用例</a:t>
            </a:r>
          </a:p>
        </p:txBody>
      </p:sp>
      <p:sp>
        <p:nvSpPr>
          <p:cNvPr id="682" name="Text 1"/>
          <p:cNvSpPr txBox="1"/>
          <p:nvPr/>
        </p:nvSpPr>
        <p:spPr>
          <a:xfrm>
            <a:off x="658367" y="694944"/>
            <a:ext cx="65836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2600" b="1">
                <a:solidFill>
                  <a:srgbClr val="0B1F3A"/>
                </a:solidFill>
              </a:defRPr>
            </a:lvl1pPr>
          </a:lstStyle>
          <a:p>
            <a:r>
              <a:t>用稳定用例覆盖主流程、边界和异常</a:t>
            </a:r>
          </a:p>
        </p:txBody>
      </p:sp>
      <p:sp>
        <p:nvSpPr>
          <p:cNvPr id="683" name="Text 2"/>
          <p:cNvSpPr txBox="1"/>
          <p:nvPr/>
        </p:nvSpPr>
        <p:spPr>
          <a:xfrm>
            <a:off x="676655" y="1298447"/>
            <a:ext cx="640080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十条完整用例见验收清单，本页保留七类检查。</a:t>
            </a:r>
          </a:p>
        </p:txBody>
      </p:sp>
      <p:sp>
        <p:nvSpPr>
          <p:cNvPr id="684" name="Text 3"/>
          <p:cNvSpPr txBox="1"/>
          <p:nvPr/>
        </p:nvSpPr>
        <p:spPr>
          <a:xfrm>
            <a:off x="859535" y="18907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685" name="Shape 4"/>
          <p:cNvSpPr/>
          <p:nvPr/>
        </p:nvSpPr>
        <p:spPr>
          <a:xfrm>
            <a:off x="1636776" y="199339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86" name="Text 5"/>
          <p:cNvSpPr txBox="1"/>
          <p:nvPr/>
        </p:nvSpPr>
        <p:spPr>
          <a:xfrm>
            <a:off x="2167127" y="18562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两个同类SKU进入对比</a:t>
            </a:r>
          </a:p>
        </p:txBody>
      </p:sp>
      <p:sp>
        <p:nvSpPr>
          <p:cNvPr id="687" name="Text 6"/>
          <p:cNvSpPr txBox="1"/>
          <p:nvPr/>
        </p:nvSpPr>
        <p:spPr>
          <a:xfrm>
            <a:off x="859535" y="239369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688" name="Shape 7"/>
          <p:cNvSpPr/>
          <p:nvPr/>
        </p:nvSpPr>
        <p:spPr>
          <a:xfrm>
            <a:off x="1636776" y="24963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89" name="Text 8"/>
          <p:cNvSpPr txBox="1"/>
          <p:nvPr/>
        </p:nvSpPr>
        <p:spPr>
          <a:xfrm>
            <a:off x="2167127" y="235915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四个商品正常比较</a:t>
            </a:r>
          </a:p>
        </p:txBody>
      </p:sp>
      <p:sp>
        <p:nvSpPr>
          <p:cNvPr id="690" name="Text 9"/>
          <p:cNvSpPr txBox="1"/>
          <p:nvPr/>
        </p:nvSpPr>
        <p:spPr>
          <a:xfrm>
            <a:off x="859535" y="289661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691" name="Shape 10"/>
          <p:cNvSpPr/>
          <p:nvPr/>
        </p:nvSpPr>
        <p:spPr>
          <a:xfrm>
            <a:off x="1636776" y="299923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2" name="Text 11"/>
          <p:cNvSpPr txBox="1"/>
          <p:nvPr/>
        </p:nvSpPr>
        <p:spPr>
          <a:xfrm>
            <a:off x="2167127" y="286207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第5个商品被阻止</a:t>
            </a:r>
          </a:p>
        </p:txBody>
      </p:sp>
      <p:sp>
        <p:nvSpPr>
          <p:cNvPr id="693" name="Text 12"/>
          <p:cNvSpPr txBox="1"/>
          <p:nvPr/>
        </p:nvSpPr>
        <p:spPr>
          <a:xfrm>
            <a:off x="859535" y="3399535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694" name="Shape 13"/>
          <p:cNvSpPr/>
          <p:nvPr/>
        </p:nvSpPr>
        <p:spPr>
          <a:xfrm>
            <a:off x="1636776" y="3502152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5" name="Text 14"/>
          <p:cNvSpPr txBox="1"/>
          <p:nvPr/>
        </p:nvSpPr>
        <p:spPr>
          <a:xfrm>
            <a:off x="2167127" y="336499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跨类目商品被阻止</a:t>
            </a:r>
          </a:p>
        </p:txBody>
      </p:sp>
      <p:sp>
        <p:nvSpPr>
          <p:cNvPr id="696" name="Text 15"/>
          <p:cNvSpPr txBox="1"/>
          <p:nvPr/>
        </p:nvSpPr>
        <p:spPr>
          <a:xfrm>
            <a:off x="859535" y="390245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697" name="Shape 16"/>
          <p:cNvSpPr/>
          <p:nvPr/>
        </p:nvSpPr>
        <p:spPr>
          <a:xfrm>
            <a:off x="1636776" y="400507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8" name="Text 17"/>
          <p:cNvSpPr txBox="1"/>
          <p:nvPr/>
        </p:nvSpPr>
        <p:spPr>
          <a:xfrm>
            <a:off x="2167127" y="3867911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只看差异与全部参数</a:t>
            </a:r>
          </a:p>
        </p:txBody>
      </p:sp>
      <p:sp>
        <p:nvSpPr>
          <p:cNvPr id="699" name="Text 18"/>
          <p:cNvSpPr txBox="1"/>
          <p:nvPr/>
        </p:nvSpPr>
        <p:spPr>
          <a:xfrm>
            <a:off x="859535" y="440537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700" name="Shape 19"/>
          <p:cNvSpPr/>
          <p:nvPr/>
        </p:nvSpPr>
        <p:spPr>
          <a:xfrm>
            <a:off x="1636776" y="450799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01" name="Text 20"/>
          <p:cNvSpPr txBox="1"/>
          <p:nvPr/>
        </p:nvSpPr>
        <p:spPr>
          <a:xfrm>
            <a:off x="2167127" y="437083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参数缺失、冲突与来源</a:t>
            </a:r>
          </a:p>
        </p:txBody>
      </p:sp>
      <p:sp>
        <p:nvSpPr>
          <p:cNvPr id="702" name="Text 21"/>
          <p:cNvSpPr txBox="1"/>
          <p:nvPr/>
        </p:nvSpPr>
        <p:spPr>
          <a:xfrm>
            <a:off x="859535" y="4908296"/>
            <a:ext cx="777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2563EB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703" name="Shape 22"/>
          <p:cNvSpPr/>
          <p:nvPr/>
        </p:nvSpPr>
        <p:spPr>
          <a:xfrm>
            <a:off x="1636776" y="5010911"/>
            <a:ext cx="411481" cy="1"/>
          </a:xfrm>
          <a:prstGeom prst="line">
            <a:avLst/>
          </a:prstGeom>
          <a:ln w="12700">
            <a:solidFill>
              <a:srgbClr val="D6E4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04" name="Text 23"/>
          <p:cNvSpPr txBox="1"/>
          <p:nvPr/>
        </p:nvSpPr>
        <p:spPr>
          <a:xfrm>
            <a:off x="2167127" y="4873752"/>
            <a:ext cx="3657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defTabSz="804672">
              <a:lnSpc>
                <a:spcPct val="90000"/>
              </a:lnSpc>
              <a:defRPr sz="1320">
                <a:solidFill>
                  <a:srgbClr val="111827"/>
                </a:solidFill>
              </a:defRPr>
            </a:lvl1pPr>
          </a:lstStyle>
          <a:p>
            <a:r>
              <a:t>删除、替换与刷新恢复</a:t>
            </a:r>
          </a:p>
        </p:txBody>
      </p:sp>
      <p:sp>
        <p:nvSpPr>
          <p:cNvPr id="705" name="Text 34"/>
          <p:cNvSpPr txBox="1"/>
          <p:nvPr/>
        </p:nvSpPr>
        <p:spPr>
          <a:xfrm>
            <a:off x="6618248" y="2895091"/>
            <a:ext cx="438912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0B1F3A"/>
                </a:solidFill>
              </a:defRPr>
            </a:lvl1pPr>
          </a:lstStyle>
          <a:p>
            <a:r>
              <a:t>每条记录：前置条件、操作、预期、实际与结论。</a:t>
            </a:r>
          </a:p>
        </p:txBody>
      </p:sp>
      <p:sp>
        <p:nvSpPr>
          <p:cNvPr id="706" name="Text 35"/>
          <p:cNvSpPr txBox="1"/>
          <p:nvPr/>
        </p:nvSpPr>
        <p:spPr>
          <a:xfrm>
            <a:off x="658368" y="6565900"/>
            <a:ext cx="8686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8AA3BE"/>
                </a:solidFill>
              </a:defRPr>
            </a:lvl1pPr>
          </a:lstStyle>
          <a:p>
            <a:r>
              <a:t>失败时判断问题更可能来自需求、交互、数据、实现或边界。</a:t>
            </a:r>
          </a:p>
        </p:txBody>
      </p:sp>
      <p:sp>
        <p:nvSpPr>
          <p:cNvPr id="707" name="Slide Number Placeholder 0"/>
          <p:cNvSpPr txBox="1">
            <a:spLocks noGrp="1"/>
          </p:cNvSpPr>
          <p:nvPr>
            <p:ph type="sldNum" sz="quarter" idx="4294967295"/>
          </p:nvPr>
        </p:nvSpPr>
        <p:spPr>
          <a:xfrm>
            <a:off x="11155680" y="6537959"/>
            <a:ext cx="217151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7FAFE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Noto Sans CJK SC"/>
            <a:ea typeface="Noto Sans CJK SC"/>
            <a:cs typeface="Noto Sans CJK SC"/>
            <a:sym typeface="Noto Sans CJK S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Noto Sans CJK SC"/>
            <a:ea typeface="Noto Sans CJK SC"/>
            <a:cs typeface="Noto Sans CJK SC"/>
            <a:sym typeface="Noto Sans CJK S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Noto Sans CJK SC"/>
            <a:ea typeface="Noto Sans CJK SC"/>
            <a:cs typeface="Noto Sans CJK SC"/>
            <a:sym typeface="Noto Sans CJK S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Noto Sans CJK SC"/>
            <a:ea typeface="Noto Sans CJK SC"/>
            <a:cs typeface="Noto Sans CJK SC"/>
            <a:sym typeface="Noto Sans CJK S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1606</Words>
  <Application>Microsoft Macintosh PowerPoint</Application>
  <PresentationFormat>宽屏</PresentationFormat>
  <Paragraphs>515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DengXian</vt:lpstr>
      <vt:lpstr>Noto Sans CJK SC</vt:lpstr>
      <vt:lpstr>Arial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didi</cp:lastModifiedBy>
  <cp:revision>2</cp:revision>
  <dcterms:modified xsi:type="dcterms:W3CDTF">2026-08-13T05:59:06Z</dcterms:modified>
</cp:coreProperties>
</file>