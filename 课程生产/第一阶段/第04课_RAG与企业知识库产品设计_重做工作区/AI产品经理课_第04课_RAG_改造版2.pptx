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95" r:id="rId2"/>
    <p:sldId id="261" r:id="rId3"/>
    <p:sldId id="294" r:id="rId4"/>
    <p:sldId id="262" r:id="rId5"/>
    <p:sldId id="296" r:id="rId6"/>
    <p:sldId id="263" r:id="rId7"/>
    <p:sldId id="260" r:id="rId8"/>
    <p:sldId id="297" r:id="rId9"/>
    <p:sldId id="298" r:id="rId10"/>
    <p:sldId id="299" r:id="rId11"/>
    <p:sldId id="267" r:id="rId12"/>
    <p:sldId id="268" r:id="rId13"/>
    <p:sldId id="256" r:id="rId14"/>
    <p:sldId id="257" r:id="rId15"/>
    <p:sldId id="258" r:id="rId16"/>
    <p:sldId id="259" r:id="rId17"/>
    <p:sldId id="303" r:id="rId18"/>
    <p:sldId id="304" r:id="rId19"/>
    <p:sldId id="305" r:id="rId20"/>
    <p:sldId id="306" r:id="rId21"/>
    <p:sldId id="307" r:id="rId22"/>
    <p:sldId id="269" r:id="rId23"/>
    <p:sldId id="308" r:id="rId24"/>
    <p:sldId id="309" r:id="rId25"/>
    <p:sldId id="310" r:id="rId26"/>
    <p:sldId id="311" r:id="rId27"/>
    <p:sldId id="312" r:id="rId28"/>
    <p:sldId id="316" r:id="rId29"/>
    <p:sldId id="313" r:id="rId30"/>
    <p:sldId id="314" r:id="rId31"/>
    <p:sldId id="315" r:id="rId32"/>
    <p:sldId id="319" r:id="rId33"/>
    <p:sldId id="286" r:id="rId34"/>
    <p:sldId id="287" r:id="rId35"/>
    <p:sldId id="317" r:id="rId36"/>
    <p:sldId id="318" r:id="rId37"/>
    <p:sldId id="323" r:id="rId38"/>
    <p:sldId id="326" r:id="rId39"/>
    <p:sldId id="327" r:id="rId40"/>
    <p:sldId id="328" r:id="rId41"/>
    <p:sldId id="290" r:id="rId42"/>
    <p:sldId id="329" r:id="rId43"/>
    <p:sldId id="325" r:id="rId44"/>
    <p:sldId id="293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88724"/>
  </p:normalViewPr>
  <p:slideViewPr>
    <p:cSldViewPr snapToGrid="0" snapToObjects="1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12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老师动作：欢迎开场，说明本课从“会概念”走向“能设计、能评估、能排错”。
学员动作：打开电脑/纸笔，准备边听边画。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4779-AB81-97D4-BDBA-80E46D4E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7A3B-430F-4ABF-4F3B-B04200DD3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CC93D-40EE-879D-63E6-DF8F4428E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上下文过长，可能导致截断、注意力问题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非常费</a:t>
            </a:r>
            <a:r>
              <a:rPr lang="en-US" altLang="zh-CN" dirty="0"/>
              <a:t>Token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E50F0-6B78-C414-E2E2-747368A76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3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098F-9E20-1B3E-D6E0-E7E21D52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2C69A-6887-3093-EFE6-73AD5B487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B7EE4-CDBD-4515-6395-1364997CD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大模型回答问题会找原文是什么么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Rag</a:t>
            </a:r>
            <a:r>
              <a:rPr lang="zh-CN" altLang="en-US" dirty="0"/>
              <a:t>回答问题呢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896D3-0689-31D8-5657-8FB75C02B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8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老师动作：设定1分钟计时，巡视学员填写情况，不急于公布答案。
学员动作：完成《场景技术路线判断表》。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057F2-7F61-E882-0E3B-5BA9FFDA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804B6-8490-9790-A649-C41BBB9D7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6442B-7FD7-6A09-7DDA-C68099868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9696B-6AEA-7F76-EB0B-5C94D96DD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08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老师动作：公布答案，重点讲“查快递单号/补贴消耗”不是RAG。
学员动作：核对答案，修正对RAG适用场景的误判。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B2423-2573-DC7D-97BC-8F7EFCCE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FC435-C1BC-0872-5CAD-4FE9F0EE2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495CF-C7C2-55DF-984B-64AAB5AB8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9DD22-F8AE-EFF6-F2E5-CC2B95DB9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9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DOCX / HTML / XLSX → 直接读取原生结构 </a:t>
            </a:r>
            <a:endParaRPr lang="en-US" altLang="zh-CN" dirty="0"/>
          </a:p>
          <a:p>
            <a:r>
              <a:rPr lang="zh-CN" altLang="zh-CN" dirty="0"/>
              <a:t>普通电子 PDF → PDF文字与坐标解析＋布局模型 </a:t>
            </a:r>
            <a:endParaRPr lang="en-US" altLang="zh-CN" dirty="0"/>
          </a:p>
          <a:p>
            <a:r>
              <a:rPr lang="zh-CN" altLang="zh-CN" dirty="0"/>
              <a:t>扫描 PDF → OCR＋布局分析 </a:t>
            </a:r>
            <a:endParaRPr lang="en-US" altLang="zh-CN" dirty="0"/>
          </a:p>
          <a:p>
            <a:r>
              <a:rPr lang="zh-CN" altLang="zh-CN" dirty="0"/>
              <a:t>复杂图文页面 → 视觉大模型辅助或兜底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图片怎么处理？</a:t>
            </a:r>
            <a:endParaRPr lang="en-US" altLang="zh-CN" dirty="0"/>
          </a:p>
          <a:p>
            <a:r>
              <a:rPr lang="zh-CN" altLang="en-US" dirty="0"/>
              <a:t>向量数据库里真正存的是什么？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Ocr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文件解析 </a:t>
            </a:r>
            <a:r>
              <a:rPr lang="en-US" altLang="zh-CN" dirty="0"/>
              <a:t>+</a:t>
            </a:r>
            <a:r>
              <a:rPr lang="zh-CN" altLang="en-US" dirty="0"/>
              <a:t> 大模型识别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1. 让学员看到一个典型 PDF 解析后的问题：页眉页脚、页码、断行、断词、重复内容。
2. 清洗的目标不是把文案写得更优美，而是尽量恢复原文真实表达。
3. 可强调一个边界：不要让大模型在清洗阶段随意改写制度文本，否则可能引入错误。
4. 产品经理验收时可以重点看：有没有乱码、重复页眉页脚、数字日期是否被错识别、跨页段落是否断开。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1. 结构化是清洗后的下一层：不仅要文本干净，还要知道它是什么、属于哪里、与上下文是什么关系。
2. 举例：正文只有“通常在3—15个工作日内解除”，如果没有标题路径，检索出来后很难判断它是押金还是退款。
3. 表格不要简单拉平成一串文字，最好保留表头、行列关系，并生成面向检索的自然语言。
4. 图片本身保存在资产库，结构化结果里保留图片地址、图注、OCR和视觉描述。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1. 先强调元数据不是“备注”，而是知识可控性的核心。
2. 例子：同样是押金解除时效，北京规则与上海规则可能不同；2025版和2026版可能不同；客服可见和用户可见也可能不同。
3. 在线检索时，系统可能先用元数据过滤：只查用户有权限的文档、只查当前生效版本、只查某业务线。
4. 元数据来源有三类：上传时填写、解析时自动生成、业务系统同步/人工补充。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为什么要分块</a:t>
            </a:r>
            <a:r>
              <a:rPr lang="zh-CN" altLang="en-US" dirty="0"/>
              <a:t>？控制上下文长度和成本，减少无关信息干扰。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这一页只讲清</a:t>
            </a:r>
            <a:r>
              <a:rPr lang="en-US" dirty="0"/>
              <a:t> Chunk 的定位和核心矛盾，不展开所有算法。
承接上一部分：解析负责把文件读对，清洗与结构化负责把内容整理干净，元数据负责绑定来源/版本/权限；Chunk 则是把干净内容组织成可检索知识单元。
核心矛盾：Chunk 太小，召回可能很准，但上下文不完整；Chunk 太大，上下文完整但主题混杂，向量语义被稀释。
课堂金句：Chunk 不是把文档切短，而是定义一张“知识卡片”。判断标准不是固定字数，而是能否被找准、读懂、支撑完整回答。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讲解重点：这页给学员一个“怎么选切分方式”的框架，而不是要求他们记住全部细节。
固定长度：适合快速验证，但不是企业知识库的终局方案。
结构化切分：制度、手册、合同这类有标题层级的文档，优先按标题、段落、条款切。
语义切分：适合结构不明显但主题会变化的材料，如会议记录、文章、访谈稿。可以用 Embedding 或大模型辅助判断边界，但成本和稳定性要评估。
业务单元切分是产品经理最该关注的：FAQ 一问一答不能拆开；表格必须带表头；流程要保留完整步骤；制度条款最好包含适用条件、规则和例外。
可以补充父子 Chunk：小 Chunk 用于精准检索，大 Chunk 用于补充上下文。作为进阶能力提一句即可，不必在主页面展开。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这页把</a:t>
            </a:r>
            <a:r>
              <a:rPr lang="en-US" dirty="0"/>
              <a:t> Chunk 从“概念”落到“产品验收方法”。
不要先看大模型最终回答，因为模型可能把检索问题掩盖掉。先看 Top K 召回的 Chunk：正确证据有没有进来？内容是否完整？是否重复？是否有噪声？
常见调参方向：召回到的内容缺主语/条件，多半是 Chunk 太小或标题没带入；内容很杂，多半是 Chunk 太大或结构没切开；Top K 重复，多半是 overlap 过大或缺少去重。
注意：编号、政策名、型号搜不到，不一定是 Chunk 问题，可能要用关键词检索/倒排索引/混合检索。
建议准备 20-50 条真实问题作为小测试集，包括高频问题、同义表达、精确名词、复杂条件和历史 Bad Case。一次只调整一个变量，并记录配置版本。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讲解提示：这一页只讲清楚“向量化在做什么”，不要展开模型训练细节。
1. RAG 建库时，每个 Chunk 会经过 Embedding 模型，得到一个固定维度的向量。
2. 这个向量可以理解为该 Chunk 在语义空间中的坐标。用户问题也会被同样向量化，后续通过距离/相似度查找相关 Chunk。
3. 向量不是给大模型看的。检索命中后，真正交给大模型的是 Chunk 原文和必要元数据。
4. 建库和查询应使用同一套或兼容的 Embedding 模型；更换 Embedding 模型后，通常需要重新向量化知识库。
5. 向量维度高不等于效果一定更好，中文能力、行业术语、长文本表达能力、Chunk质量都会影响检索效果。
6. 图片若要参与检索，要么生成图片描述后做文本 Embedding，要么使用多模态 Embedding。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讲解提示：这一页用于收束离线建库。不要把向量数据库讲成只能存向量，它通常也能保存文本字段和元数据字段。
1. 一条 Chunk 记录通常包含：向量、原文、元数据。向量用于相似度检索；原文用于检索命中后交给大模型；元数据用于权限、版本、页码、业务线等过滤和追溯。
2. 向量索引不是另一个 Chunk 向量，而是数据库为了快速查找相近向量建立的数据结构。没有索引时，理论上要逐个比较所有向量；有索引后，可以更快定位候选结果。
3. 产品经理只需理解：索引参数会影响检索速度、召回率、内存占用和建库时间，不必展开 HNSW/IVF 的算法细节。
4. 倒排索引放在角落即可。它用于关键词、规则编号、专有名词等精确检索，通常与向量检索形成混合检索，但正式展开可以放到在线检索模块。
5. 严格来说，原始文档和图片通常存在对象存储或文件系统中，向量数据库记录里保存引用地址。
6. 离线建库的终点：把原始文档加工成可检索的 Chunk 记录，并建立索引；后续知识库治理负责更新同步、版本失效、权限变更和质量监控。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在线链路第一步不是查知识库，而是先把问题说清楚。用户原话常常有省略、指代、口语化和多意图。
2. Query 理解与改写只负责“为检索做准备”，不要在这里回答问题，否则没有经过知识库证据，很容易幻觉。
3. 典型例子：用户问“那信用卡的呢？”必须结合上一轮“微信押金多久到账”，改写为“信用卡预授权通常多久解除”。
4. 改写输出不只是一个新问题，也可能包括：检索关键词、子问题、元数据过滤条件，如地区、角色、版本、生效时间。
5. 产品验收看四件事：是否忠实保留原意，是否补全上下文，是否没有丢失限制条件，是否提升正确 Chunk 的召回率。
6. Bad Case：改写过度，如把“退款多久到”擅自改成“微信退款多久到”；丢失条件，如把“北京直营门店”丢掉；错误继承上下文，如用户已切换新话题但系统仍沿用上一轮。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这一页承接上一页 Query 理解与改写。改写只是把问题说清楚，路由与过滤才决定去哪里找。
2. “是否需要检索”相当于 RAG 开关，不是所有问题都必须查知识库。闲聊、润色、简单计算可以不走 RAG。
3. 知识库路由：企业内通常有多个知识库，比如客服规则库、HR 制度库、商家治理库、财务报销库。问题应被送到最相关的数据源，而不是默认全库搜索。
4. 检索方式选择：口语化、同义表达适合向量检索；规则编号、型号、专有名词适合关键词/倒排索引；多数企业问答适合混合检索。
5. 元数据过滤：地区、门店类型、生效状态、版本、权限等字段非常关键。很多规则文本相似，但适用范围不同。
6. 常见 Bad Case：退款问题被路由到发票库；用户问北京政策却召回上海规则；过滤过严导致正确答案被排除；权限过滤失效泄露内部内容；所有问题全库检索导致噪声和延迟增加。
7. 产品经理要关注：哪些字段必须作为过滤条件、条件不全时追问还是放宽、权限过滤是否前置、路由错误如何通过测试发现。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这里采用狭义“检索”的口径：在已经确定知识库、过滤条件和检索方式后，真正执行召回，找到候选 Chunk。
2. 向量召回按语义相似度查找，适合口语、同义表达、自然语言问题。例如用户说“押金什么时候回来”，文档写“信用卡预授权解除时间”，向量检索可能仍能召回。
3. 关键词召回依赖倒排索引/BM25，适合规则编号、产品型号、专有名词、人名地名、金额、日期和代码。例如 RULE-2026-017。
4. 企业知识库通常用混合检索：向量召回解决表达不一致，关键词召回保证精确词命中。
5. 召回阶段通常先取 Top 20、Top 50 这样的候选，不直接等于最终证据。召回目标是尽量别漏，重排目标才是把最相关结果放前面。
6. 结果融合需要处理重复 Chunk、分数标准不同、同一文档占据太多候选等问题。
7. 常见 Bad Case：只用向量导致编号搜不准；只用关键词导致换个说法搜不到；Top K 太小导致正确证据没进候选；Top K 太大导致噪声和延迟上升；Overlap 太大导致候选高度重复。
8. 产品经理验收时不要只看最终答案，要先看正确证据是否进入候选集合。正确证据没进候选，后面的重排和生成基本救不回来。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多路召回拿到的是候选 Chunk，不等于最终证据。候选通常有 Top 20、Top 50，重排后可能只保留 Top 3 或 Top 5。
2. 重排的核心是逐条判断“Query + Chunk”的匹配程度：它是否真正回答了问题？地区、对象、版本、权限、时效是否匹配？是否只提到了关键词但没有答案？
3. Reranker 常见做法是把用户问题和候选 Chunk 成对输入模型，输出相关性分数，然后重新排序。
4. 重排和过滤要分清：过滤是根据明确条件排除不符合的内容，比如无权限、非北京、非生效版本；重排是对候选内容判断谁更相关。可以用“过滤是能不能进，重排是排第几”来讲。
5. 重排不是万能的。如果正确 Chunk 没有被召回，重排无法凭空找回来。所以排查问题时，要先看候选集合里有没有正确证据，再看重排是否把它排到前面。
6. 常见 Bad Case：正确内容没进入候选；字面相似但条件不匹配的内容被排前；旧版本比新版本更相似而排前；Top N 太小导致缺上下文；Top N 太大又把噪声带给大模型；相似 Chunk 占满前几名。
7. 产品经理验收指标：正确 Chunk 是否进入候选集、是否进入重排前几名、最终证据是否完整、是否重复、是否遵守版本和权限、延迟和成本是否可接受。
8. 课堂核心结论：召回负责“不漏”，重排负责“排准”。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这一页把“上下文组装”和“大模型生成”合并成一个产品环节，避免在线链路拆得过碎。
2. 重排之后拿到的是 Top N 候选证据，但不能直接原样拼接给大模型。原因包括：Chunk 可能重复、顺序可能混乱、标题和元数据可能缺失、新旧规则可能冲突、证据太多会占用上下文窗口。
3. 证据组织主要做五件事：去重、补全标题和元数据、按逻辑排序、标注来源、控制长度。可以把它类比成“把资料整理成一份证据包”。
4. Prompt 里通常包含系统指令、用户问题、整理后的证据、输出格式要求。关键是约束模型只能基于证据回答，资料不足时明确说明，而不是自由发挥。
5. 答案交付不只是生成自然语言，还包括来源引用、格式化、风险提示、低置信兜底和必要时转人工。
6. 常见 Bad Case：新旧规则同时进入导致答案混合；只保留正文丢掉地区/版本/权限；证据顺序错误导致例外被当成常规；资料不足但模型编答案；没有来源无法追溯。
7. 产品经理验收时重点看：答案是否严格基于证据、引用是否能回到原文、冲突证据是否处理、无答案时是否兜底、输出格式是否满足业务场景。
8. 核心结论：重排选出证据，证据组织让模型用对证据，答案生成把证据转成可读、可引用、可兜底的答案。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A6FD-9D3A-93AD-C8E1-FF55CDA4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EB1FB-0004-DE12-B463-932169EE9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16282-93DD-2B0D-A75D-3608F990E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76F06-4DB5-FBD9-9BA2-0561F6E96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73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本页讲解要点：
1. 黑盒评估的出发点是站在用户侧看完整问答效果，而不是一开始就分析向量、召回、重排。
2. 评估对象是“输入问题 → 系统输出答案”的结果。先判断用户能不能用，再进入 Bad Case 定位。
3. 五个维度：正确性看结论；完整性看条件、例外、限制；忠实性看是否依据知识库；可用性看表达是否可落地；可追溯性看引用和来源。
4. 给学员强调：黑盒评估不是替代技术排查，而是建立一套稳定的问题发现机制。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本页讲解要点：
1. MVP 阶段不需要复杂指标体系，用 0/1/2 分已经足够做对比和回归。
2. 2分代表可直接使用；1分代表核心方向对但存在条件遗漏、引用弱、表达不稳定等问题；0分代表结论错误、编造、答非所问或应拒未拒。
3. 评分维度建议固定：结论正确、条件完整、有据可依、兜底合理。不要每次临时凭感觉判断。
4. 评分方式可以分层：精确数字、引用、格式可用规则校验；语义正确性和完整性可由大模型 Judge 初评；高风险题和争议题必须人工复核。
5. 大模型评分不能完全替代人工，因为它可能忽略业务条件，例如“北京直营网点”和“北京门店”在业务上可能不是一回事。
6. 重点提示一票否决项：知识库无答案却编造明确结论、引用不存在的政策、泄露无权限知识、使用过期规则、核心时间金额错误。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本页讲解要点：
1. 测试集构建方法不放在主页面，但课堂需要讲：测试集不是全靠大模型生成。来源包括三类：从知识文档反推、从真实用户问题抽取、人工主动设计边界/对抗题。大模型可以批量扩写标准问法、口语问法和边界问法，但正式测试集需要业务专家审核。
2. 测试集字段建议包括：问题ID、用户问题、问题类型、适用范围、标准答案要点、正确来源、是否应回答、预期引用、重要程度、测试结果、失败原因。最重要的是“标准答案要点”和“正确来源”。
3. MVP阶段不需要上来做几千题，先做 30–50 道核心题即可：高频标准题、口语改写题、多条件题、无答案题、冲突/权限/高风险题。上线后把真实 Bad Case 加回测试集。
4. 测试方法：批量运行同一批测试问题，保存实际答案、引用来源、召回片段、耗时。对照标准答案做评分，低分题、争议题和高风险题进入人工复核。
5. 评分可以采用规则 + 大模型 Judge + 人工抽检。规则适合检查数字、引用、格式；Judge适合判断语义正确性和完整性；人工负责高风险题与争议结果。
6. 评估结果要分题型看，不要只看整体通过率。例如标准题高但无答案拒答率低，说明系统容易编造；口语题低，可能是 Query 改写或语义检索问题；多条件题低，可能是过滤或元数据问题。
7. 闭环的关键不是“测一次”，而是每次调整 Prompt、Chunk、检索参数或知识库后，用同一套黄金测试集回归，判断是否真的改善，以及是否引入新的问题。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D998-14ED-C47E-2AF8-C2596016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937C2-9F46-2679-14D2-8AE7E2613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24D8B-FEE3-BDEE-8A3C-4F0FF8F6B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EAB43-4A7D-FFAC-B36F-447CAB2FE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522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19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578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黑盒评估只告诉我们“这道题没通过”，Bad Case 定位要回答“问题出在哪一层”。
2. 不要看到答案错了就先改 Prompt。很多错误来自知识缺失、元数据缺失、Chunk 切错、召回失败或重排失败。
3. 排查顺序建议从前往后：知识是否存在 → Query 是否被正确理解 → 正确 Chunk 是否进入候选集 → 是否排到前面 → Prompt 是否把证据组织清楚 → 模型是否基于证据生成。
4. 一个简单案例：用户问北京直营网点信用卡预授权多久解除。如果系统答成上海规则，先查北京规则是否入库、是否带 region 元数据；再看检索时是否过滤北京；再看正确 Chunk 是否召回和排前；最后才看生成。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这页要强调“问题层”和“动作层”的对应关系。不同层的问题，优化手段完全不同。
2. 知识问题：常见于企业知识库，表现为正确答案压根不存在、旧版和新版同时存在、没有地区/版本/权限等元数据。
3. Query问题：用户说法口语化、省略或多轮指代，导致改写或过滤条件错误。
4. 检索问题：正确知识存在但没有被召回，可能是Chunk切分、Embedding、关键词召回、Top K或过滤条件导致。
5. 重排问题：正确Chunk进入候选集但没有进最终上下文，常见于候选太多、重复Chunk太多、版本优先级不对。
6. 生成问题：证据已经给到模型，但模型没有忠实使用，例如遗漏关键条件、把例外当常规、引用错误、资料不足还编造。
7. 课堂可让学员做一个小练习：给出一个错误答案，先判断属于哪一层，再说优化动作。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A649-A256-12A2-5AB5-8D8E669F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15509-6B43-1B24-02FC-BA141B9B4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AB67A-D03B-14B7-B06C-BACA81380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D8EE7-05EE-5CC7-78E8-DFCCA1EDE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091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先抛出一个生活服务商家规则的例子：同一个“虚假宣传首次违规”，知识库里可能同时存在旧版规则、通用规则、重点商家专项规则。系统不是找不到规则，而是找到了多条规则，却不知道该用哪条。
2. 强调不要把所有问答错误都归因于模型。很多错误来自知识源头：旧文档未失效、规则互相冲突、适用范围没写清、没有责任人。
3. 可口述例子：普通商家首次虚假宣传可能限流，重点商家可能先整改观察；如果知识没有标注商家类型和规则状态，RAG 很容易混用。
4. 收口句：知识治理解决的不是“有没有文档”，而是“正确知识能否在正确条件下被系统使用”。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这一页不讲“六字段”，而是定义好知识库的目标状态。
2. 用生活服务商家规则举例：
   - 正确：正式规则不能和讨论稿混在一起；
   - 完整：处罚规则要包含违规类型、商家类型、违规次数、影响等级、处理动作；
   - 最新：2024 旧规则不能和 2026 生效规则一起参与正式问答；
   - 一致：专项规则和通用规则要有优先级；
   - 可检索：一条 Chunk 不能只有“限流7天”，必须带上是什么违规、适用对象；
   - 可追溯/可维护：答错后能追到来源文档和责任人。
3. 这里可以强调，好的 RAG 知识库不是“上传更多文档”，而是让每条知识具备被系统正确使用的条件。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
1. 第三页落到方法。不要把知识治理讲成后台字段管理，要讲成产品机制设计。
2. 标准化录入：每类商家规则尽量使用统一模板，例如违规类型、商家类型、违规次数、影响等级、处置动作、适用范围。
3. 审核与发布：不是任何人上传文档就可以进入正式问答，尤其处罚、赔付、合规类知识要有审核。
4. 版本管理：不要简单覆盖旧规则，旧规则要有失效时间和替代关系，历史场景可能还要追溯旧版本。
5. 巡检与反馈：定期检查过期、冲突、重复、缺责任人、解析失败、Chunk 质量差；Bad Case 要转成知识治理任务并加入回归测试。
6. 收口句：知识治理的目标是让正确的知识，在正确时间、正确条件下，被系统正确使用。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FCF4-9F36-FE5E-F60D-D64F09A8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4A5DF-D061-222B-BF40-410588C2E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80316-7E66-38E9-B8CD-47D3E4284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5C083-8888-D9F0-2FCF-3BE43A6D5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92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
1. 作业不建议统一限定为商家规则助手，因为这样学员容易照抄。更推荐半开放式：场景自己选，但交付模板统一。
2. 强调选题要小：不要做“公司全知识助手”，而要做“客服退款政策问答”“销售产品资料问答”“HR差旅制度问答”这样的MVP。
3. Coze操作口径：创建知识库→上传1–3份资料→创建Agent→绑定知识库→填写Prompt→用5–10道测试题调试。
4. 测试题至少覆盖：标准题、口语化题、多条件题、无答案题；有能力的同学增加版本冲突或错误前提题。
5. Bad Case分析要求沿链路定位：知识是否存在、Query是否理解正确、正确Chunk是否召回、是否被重排、Prompt是否正确使用证据。
6. 评分时看闭环质量：是否说明为什么适合RAG，知识和元数据设计是否合理，测试题是否覆盖边界，失败案例是否能定位并提出优化。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24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1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ARM">
    <p:bg>
      <p:bgPr>
        <a:solidFill>
          <a:srgbClr val="F8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21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90567" y="-495265"/>
            <a:ext cx="3383280" cy="3383280"/>
          </a:xfrm>
          <a:prstGeom prst="arc">
            <a:avLst/>
          </a:prstGeom>
          <a:solidFill>
            <a:srgbClr val="44372B">
              <a:alpha val="75000"/>
            </a:srgbClr>
          </a:solidFill>
          <a:ln w="12700">
            <a:solidFill>
              <a:srgbClr val="4437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RAG与企业知识库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产品设计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49808" y="3721608"/>
            <a:ext cx="2926080" cy="384048"/>
          </a:xfrm>
          <a:prstGeom prst="roundRect">
            <a:avLst>
              <a:gd name="adj" fmla="val 28571"/>
            </a:avLst>
          </a:prstGeom>
          <a:solidFill>
            <a:srgbClr val="E86F2A"/>
          </a:solidFill>
          <a:ln w="12700">
            <a:solidFill>
              <a:srgbClr val="E86F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38039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动态知识获取能力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75320" y="914400"/>
            <a:ext cx="960120" cy="594360"/>
          </a:xfrm>
          <a:prstGeom prst="roundRect">
            <a:avLst>
              <a:gd name="adj" fmla="val 12308"/>
            </a:avLst>
          </a:prstGeom>
          <a:solidFill>
            <a:srgbClr val="3A3129"/>
          </a:solidFill>
          <a:ln w="15240">
            <a:solidFill>
              <a:srgbClr val="6B51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8472" y="996696"/>
            <a:ext cx="813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29800" y="1645920"/>
            <a:ext cx="960120" cy="594360"/>
          </a:xfrm>
          <a:prstGeom prst="roundRect">
            <a:avLst>
              <a:gd name="adj" fmla="val 12308"/>
            </a:avLst>
          </a:prstGeom>
          <a:solidFill>
            <a:srgbClr val="3A3129"/>
          </a:solidFill>
          <a:ln w="15240">
            <a:solidFill>
              <a:srgbClr val="6B51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2952" y="1728216"/>
            <a:ext cx="813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2743200"/>
            <a:ext cx="960120" cy="594360"/>
          </a:xfrm>
          <a:prstGeom prst="roundRect">
            <a:avLst>
              <a:gd name="adj" fmla="val 12308"/>
            </a:avLst>
          </a:prstGeom>
          <a:solidFill>
            <a:srgbClr val="3A3129"/>
          </a:solidFill>
          <a:ln w="15240">
            <a:solidFill>
              <a:srgbClr val="6B51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2825496"/>
            <a:ext cx="813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0" y="3840480"/>
            <a:ext cx="960120" cy="594360"/>
          </a:xfrm>
          <a:prstGeom prst="roundRect">
            <a:avLst>
              <a:gd name="adj" fmla="val 12308"/>
            </a:avLst>
          </a:prstGeom>
          <a:solidFill>
            <a:srgbClr val="E86F2A"/>
          </a:solidFill>
          <a:ln w="15240">
            <a:solidFill>
              <a:srgbClr val="E86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31552" y="3922776"/>
            <a:ext cx="813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1207008"/>
            <a:ext cx="594360" cy="603504"/>
          </a:xfrm>
          <a:prstGeom prst="line">
            <a:avLst/>
          </a:prstGeom>
          <a:noFill/>
          <a:ln w="15240">
            <a:solidFill>
              <a:srgbClr val="A9825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287000" y="2231136"/>
            <a:ext cx="0" cy="667512"/>
          </a:xfrm>
          <a:prstGeom prst="line">
            <a:avLst/>
          </a:prstGeom>
          <a:noFill/>
          <a:ln w="15240">
            <a:solidFill>
              <a:srgbClr val="A9825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64040" y="3227832"/>
            <a:ext cx="594360" cy="841248"/>
          </a:xfrm>
          <a:prstGeom prst="line">
            <a:avLst/>
          </a:prstGeom>
          <a:noFill/>
          <a:ln w="15240">
            <a:solidFill>
              <a:srgbClr val="A9825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" y="6016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B5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讲师：安静的摸鱼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5623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r>
              <a:rPr lang="zh-CN" altLang="en-US" sz="34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34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解决什么，不解决什么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5668-BC30-9CEC-5D1A-A1A2F148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288E08-A56B-2410-CF1E-21C828D8B6F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C57C9E-B48C-DB56-FFC7-C1AC99AC229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9D1EB1-BAB0-4F63-0DC2-87A917643A4B}"/>
              </a:ext>
            </a:extLst>
          </p:cNvPr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为什么需要RAG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19B2E5-B0F3-00E6-54F8-D975C3271194}"/>
              </a:ext>
            </a:extLst>
          </p:cNvPr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17C7D-C7CC-080D-5209-F7B3CBE43685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22A7D8-40C0-2796-40C3-F94F76FE833A}"/>
              </a:ext>
            </a:extLst>
          </p:cNvPr>
          <p:cNvSpPr/>
          <p:nvPr/>
        </p:nvSpPr>
        <p:spPr>
          <a:xfrm>
            <a:off x="1222095" y="1325880"/>
            <a:ext cx="9893808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lvl="0"/>
            <a:r>
              <a:rPr lang="zh-CN" altLang="zh-CN" sz="2400" b="1" dirty="0">
                <a:solidFill>
                  <a:schemeClr val="accent2"/>
                </a:solidFill>
              </a:rPr>
              <a:t>企业私有知识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比如公司的退款规则、商家处罚标准、产品需求文档、客服 SOP，这些内容没有进入模型训练数据。 </a:t>
            </a:r>
          </a:p>
          <a:p>
            <a:pPr lvl="0"/>
            <a:r>
              <a:rPr lang="zh-CN" altLang="zh-CN" sz="2400" b="1" dirty="0">
                <a:solidFill>
                  <a:schemeClr val="accent2"/>
                </a:solidFill>
              </a:rPr>
              <a:t>知识可能过时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模型训练完成后，新的政策、价格、产品规则不会自动进入模型。 </a:t>
            </a:r>
          </a:p>
          <a:p>
            <a:pPr lvl="0"/>
            <a:r>
              <a:rPr lang="zh-CN" altLang="en-US" sz="2400" b="1" dirty="0">
                <a:solidFill>
                  <a:schemeClr val="accent2"/>
                </a:solidFill>
              </a:rPr>
              <a:t>产生幻觉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当模型不知道答案时，它可能根据语言规律生成一个“听起来合理”的答案，也就是幻觉。 </a:t>
            </a:r>
          </a:p>
          <a:p>
            <a:pPr lvl="0"/>
            <a:r>
              <a:rPr lang="zh-CN" altLang="zh-CN" sz="2400" b="1" dirty="0">
                <a:solidFill>
                  <a:schemeClr val="accent2"/>
                </a:solidFill>
              </a:rPr>
              <a:t>每次知识更新都重新训练，成本太高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企业规则每天都可能变化，不可能每改一份文档，就重新训练一次大模型。</a:t>
            </a: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98283D15-1816-5979-2261-F3B0DAFF5B05}"/>
              </a:ext>
            </a:extLst>
          </p:cNvPr>
          <p:cNvSpPr/>
          <p:nvPr/>
        </p:nvSpPr>
        <p:spPr>
          <a:xfrm>
            <a:off x="1148943" y="5577840"/>
            <a:ext cx="98938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lvl="0"/>
            <a:r>
              <a:rPr lang="zh-CN" altLang="en-US" sz="2400" b="1" dirty="0"/>
              <a:t>用</a:t>
            </a:r>
            <a:r>
              <a:rPr lang="en-US" altLang="zh-CN" sz="2400" b="1" dirty="0"/>
              <a:t>Prompt</a:t>
            </a:r>
            <a:r>
              <a:rPr lang="zh-CN" altLang="en-US" sz="2400" b="1" dirty="0"/>
              <a:t>来解决会有两个问题：（思考一下）</a:t>
            </a:r>
            <a:endParaRPr lang="en-US" altLang="zh-CN" sz="2400" b="1" dirty="0"/>
          </a:p>
          <a:p>
            <a:pPr lvl="0"/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72747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什么是RAG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996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216152" y="1645920"/>
            <a:ext cx="989380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收到用户问题后，先从指定知识源找相关内容，再把问题和内容一起交给大模型生成答案。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874520" y="4480560"/>
            <a:ext cx="91440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4480560"/>
            <a:ext cx="91440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46520" y="4480560"/>
            <a:ext cx="91440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32520" y="4480560"/>
            <a:ext cx="91440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4133088"/>
            <a:ext cx="100584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178808"/>
            <a:ext cx="85953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88920" y="4133088"/>
            <a:ext cx="1371600" cy="694944"/>
          </a:xfrm>
          <a:prstGeom prst="roundRect">
            <a:avLst/>
          </a:prstGeom>
          <a:solidFill>
            <a:srgbClr val="DDE9D6"/>
          </a:solidFill>
          <a:ln w="15240">
            <a:solidFill>
              <a:srgbClr val="6F8F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4178808"/>
            <a:ext cx="122529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检索知识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4133088"/>
            <a:ext cx="1371600" cy="694944"/>
          </a:xfrm>
          <a:prstGeom prst="roundRect">
            <a:avLst/>
          </a:prstGeom>
          <a:solidFill>
            <a:srgbClr val="FCEBD6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4178808"/>
            <a:ext cx="122529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增强Prompt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60920" y="4133088"/>
            <a:ext cx="1371600" cy="694944"/>
          </a:xfrm>
          <a:prstGeom prst="roundRect">
            <a:avLst/>
          </a:prstGeom>
          <a:solidFill>
            <a:srgbClr val="DCEAF5"/>
          </a:solidFill>
          <a:ln w="15240">
            <a:solidFill>
              <a:srgbClr val="5C7C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4178808"/>
            <a:ext cx="122529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模型生成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46920" y="4133088"/>
            <a:ext cx="13716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0072" y="4178808"/>
            <a:ext cx="122529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引用/拒答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C64D-BAA4-D64E-D2A8-ED38A831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240EB67-DE04-5126-3F56-40C8FCEF4C04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3B9281-43B6-71D8-3A0D-4EF5E5C95FE4}"/>
              </a:ext>
            </a:extLst>
          </p:cNvPr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什么是RAG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88FF1E-CAFE-7246-1E5B-A876E750E710}"/>
              </a:ext>
            </a:extLst>
          </p:cNvPr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D827D3-5E23-076F-66DD-32458689CFC3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FD2805-ADE8-9CF1-07EF-8CBB888B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5045"/>
            <a:ext cx="11171194" cy="443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5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RAG主要解决四类产品问题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这些问题的共同点：答案来自外部知识，而不是模型自身记忆。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502920" cy="502920"/>
          </a:xfrm>
          <a:prstGeom prst="roundRect">
            <a:avLst/>
          </a:prstGeom>
          <a:solidFill>
            <a:srgbClr val="D9782D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463040"/>
            <a:ext cx="35661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77818" y="1527048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内部知识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26658" y="1554480"/>
            <a:ext cx="6492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模型不知道公司制度、活动规则、产品手册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77818" y="2176272"/>
            <a:ext cx="8961120" cy="0"/>
          </a:xfrm>
          <a:prstGeom prst="line">
            <a:avLst/>
          </a:prstGeom>
          <a:noFill/>
          <a:ln w="10160">
            <a:solidFill>
              <a:srgbClr val="E4C7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441448"/>
            <a:ext cx="502920" cy="502920"/>
          </a:xfrm>
          <a:prstGeom prst="roundRect">
            <a:avLst/>
          </a:prstGeom>
          <a:solidFill>
            <a:srgbClr val="D9782D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487168"/>
            <a:ext cx="35661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77818" y="2551176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持续更新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26658" y="2578608"/>
            <a:ext cx="6492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规则经常变化，不适合每次重新训练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77818" y="3200400"/>
            <a:ext cx="8961120" cy="0"/>
          </a:xfrm>
          <a:prstGeom prst="line">
            <a:avLst/>
          </a:prstGeom>
          <a:noFill/>
          <a:ln w="10160">
            <a:solidFill>
              <a:srgbClr val="E4C7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465576"/>
            <a:ext cx="502920" cy="502920"/>
          </a:xfrm>
          <a:prstGeom prst="roundRect">
            <a:avLst/>
          </a:prstGeom>
          <a:solidFill>
            <a:srgbClr val="D9782D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511296"/>
            <a:ext cx="35661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77818" y="3575304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表达不统一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26658" y="3602736"/>
            <a:ext cx="6492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用户问法和文档写法不同，但意思相近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77818" y="4224528"/>
            <a:ext cx="8961120" cy="0"/>
          </a:xfrm>
          <a:prstGeom prst="line">
            <a:avLst/>
          </a:prstGeom>
          <a:noFill/>
          <a:ln w="10160">
            <a:solidFill>
              <a:srgbClr val="E4C7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489704"/>
            <a:ext cx="502920" cy="502920"/>
          </a:xfrm>
          <a:prstGeom prst="roundRect">
            <a:avLst/>
          </a:prstGeom>
          <a:solidFill>
            <a:srgbClr val="D9782D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535424"/>
            <a:ext cx="35661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77818" y="4599432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需要依据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26658" y="4626864"/>
            <a:ext cx="6492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答案必须能回到文档、版本和生效时间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677818" y="5248656"/>
            <a:ext cx="8961120" cy="0"/>
          </a:xfrm>
          <a:prstGeom prst="line">
            <a:avLst/>
          </a:prstGeom>
          <a:noFill/>
          <a:ln w="10160">
            <a:solidFill>
              <a:srgbClr val="E4C7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280160" y="5303520"/>
            <a:ext cx="2926080" cy="2926080"/>
          </a:xfrm>
          <a:prstGeom prst="arc">
            <a:avLst/>
          </a:prstGeom>
          <a:solidFill>
            <a:srgbClr val="E6C995">
              <a:alpha val="55000"/>
            </a:srgbClr>
          </a:solidFill>
          <a:ln w="12700">
            <a:solidFill>
              <a:srgbClr val="E6C99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模块1：能力边界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练习：技术路线判断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1173968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0" y="3840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6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请为每个场景填入技术路线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749040" cy="530352"/>
          </a:xfrm>
          <a:prstGeom prst="roundRect">
            <a:avLst>
              <a:gd name="adj" fmla="val 6897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901952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749040" cy="530352"/>
          </a:xfrm>
          <a:prstGeom prst="roundRect">
            <a:avLst>
              <a:gd name="adj" fmla="val 6897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1901952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核心诉求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383280" cy="530352"/>
          </a:xfrm>
          <a:prstGeom prst="roundRect">
            <a:avLst>
              <a:gd name="adj" fmla="val 6897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90195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你的判断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359152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423160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查某订单物流当前位置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34840" y="2359152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2423160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实时结构化数据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2359152"/>
            <a:ext cx="338328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423160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2889504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953512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查询公司年假规定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89504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2953512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内部制度文本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2889504"/>
            <a:ext cx="338328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295351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419856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83864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让客服回复更像品牌口吻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34840" y="3419856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3483864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固定表达风格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83880" y="3419856"/>
            <a:ext cx="338328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483864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3950208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014216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查询某门店当月补贴消耗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434840" y="3950208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4014216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实时经营数字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3950208"/>
            <a:ext cx="3383280" cy="530352"/>
          </a:xfrm>
          <a:prstGeom prst="roundRect">
            <a:avLst>
              <a:gd name="adj" fmla="val 5172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7888" y="4014216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5800" y="4480560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54456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查询新客立减活动规则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34840" y="4480560"/>
            <a:ext cx="374904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98848" y="454456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高频更新规则文本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83880" y="4480560"/>
            <a:ext cx="3383280" cy="530352"/>
          </a:xfrm>
          <a:prstGeom prst="roundRect">
            <a:avLst>
              <a:gd name="adj" fmla="val 5172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47888" y="4544568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7620">
            <a:solidFill>
              <a:srgbClr val="E4D8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8A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RAG与企业知识库产品设计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2DCE-C7A5-AEB3-7C8B-F0B1A912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4205DF5-3679-0D27-60C2-A12462B8E606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CE0B43-4204-62A1-4323-6B18485169B1}"/>
              </a:ext>
            </a:extLst>
          </p:cNvPr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什么是RAG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97ACD9-BF31-A697-94F6-06AACA68AE5D}"/>
              </a:ext>
            </a:extLst>
          </p:cNvPr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378B3F-7F1A-E3A2-C672-16113B2435AF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300AE1E-D7EA-03CD-3591-306A4929B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1206650"/>
            <a:ext cx="8869680" cy="49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9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280160" y="5303520"/>
            <a:ext cx="2926080" cy="2926080"/>
          </a:xfrm>
          <a:prstGeom prst="arc">
            <a:avLst/>
          </a:prstGeom>
          <a:solidFill>
            <a:srgbClr val="E6C995">
              <a:alpha val="55000"/>
            </a:srgbClr>
          </a:solidFill>
          <a:ln w="12700">
            <a:solidFill>
              <a:srgbClr val="E6C99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模块1：能力边界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1173968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0" y="38404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6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840480" cy="512064"/>
          </a:xfrm>
          <a:prstGeom prst="roundRect">
            <a:avLst>
              <a:gd name="adj" fmla="val 7143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49047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2286000" cy="512064"/>
          </a:xfrm>
          <a:prstGeom prst="roundRect">
            <a:avLst>
              <a:gd name="adj" fmla="val 7143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49047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推荐路线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417320"/>
            <a:ext cx="4754880" cy="512064"/>
          </a:xfrm>
          <a:prstGeom prst="roundRect">
            <a:avLst>
              <a:gd name="adj" fmla="val 7143"/>
            </a:avLst>
          </a:prstGeom>
          <a:solidFill>
            <a:srgbClr val="2B2118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49047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易错提醒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1929384"/>
            <a:ext cx="38404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93392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查某订单物流当前位置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526280" y="1929384"/>
            <a:ext cx="228600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99339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/ DB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12280" y="1929384"/>
            <a:ext cx="47548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99339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不是文本检索，必须精确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2441448"/>
            <a:ext cx="384048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50545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查询公司年假规定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526280" y="2441448"/>
            <a:ext cx="228600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505456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12280" y="2441448"/>
            <a:ext cx="475488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250545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模型不知道 + 需要依据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2953512"/>
            <a:ext cx="38404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01752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让客服回复更像品牌口吻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526280" y="2953512"/>
            <a:ext cx="228600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30175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微调 / Prompt规范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812280" y="2953512"/>
            <a:ext cx="47548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301752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核心是表达风格一致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85800" y="3465576"/>
            <a:ext cx="384048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529584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查询某门店当月补贴消耗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4526280" y="3465576"/>
            <a:ext cx="228600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0288" y="3529584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/ DB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812280" y="3465576"/>
            <a:ext cx="4754880" cy="512064"/>
          </a:xfrm>
          <a:prstGeom prst="roundRect">
            <a:avLst>
              <a:gd name="adj" fmla="val 5357"/>
            </a:avLst>
          </a:prstGeom>
          <a:solidFill>
            <a:srgbClr val="FFF2DE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52958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数字实时变化，不要向量模糊找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85800" y="3977640"/>
            <a:ext cx="38404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041648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查询新客立减活动规则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526280" y="3977640"/>
            <a:ext cx="228600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0288" y="404164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6812280" y="3977640"/>
            <a:ext cx="4754880" cy="512064"/>
          </a:xfrm>
          <a:prstGeom prst="roundRect">
            <a:avLst>
              <a:gd name="adj" fmla="val 5357"/>
            </a:avLst>
          </a:prstGeom>
          <a:solidFill>
            <a:srgbClr val="FFF9EF"/>
          </a:solidFill>
          <a:ln w="8890">
            <a:solidFill>
              <a:srgbClr val="F8F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404164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规则文本可更新、可追溯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914400" y="4956048"/>
            <a:ext cx="10378440" cy="685800"/>
          </a:xfrm>
          <a:prstGeom prst="roundRect">
            <a:avLst>
              <a:gd name="adj" fmla="val 13333"/>
            </a:avLst>
          </a:prstGeom>
          <a:solidFill>
            <a:srgbClr val="FFF1E5"/>
          </a:solidFill>
          <a:ln w="12700">
            <a:solidFill>
              <a:srgbClr val="F0B5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0432" y="51663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E86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RAG：模型不知道</a:t>
            </a:r>
            <a:r>
              <a:rPr lang="en-US" sz="1700" b="1" dirty="0">
                <a:solidFill>
                  <a:srgbClr val="E86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+ 需要依据 + 高频更新的文本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7620">
            <a:solidFill>
              <a:srgbClr val="E4D8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8A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RAG与企业知识库产品设计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B153-B593-BB98-FE72-EA9F99E5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47F2AE-07F9-C309-7C37-97A0C4C2BAE0}"/>
              </a:ext>
            </a:extLst>
          </p:cNvPr>
          <p:cNvSpPr/>
          <p:nvPr/>
        </p:nvSpPr>
        <p:spPr>
          <a:xfrm>
            <a:off x="0" y="297711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B474F6-EBDD-33F8-466F-A3654FC066D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244B58-08BD-0BB5-E9C1-C67031955B21}"/>
              </a:ext>
            </a:extLst>
          </p:cNvPr>
          <p:cNvSpPr/>
          <p:nvPr/>
        </p:nvSpPr>
        <p:spPr>
          <a:xfrm>
            <a:off x="1051560" y="1443331"/>
            <a:ext cx="9708589" cy="146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400" b="1" dirty="0" err="1">
                <a:solidFill>
                  <a:srgbClr val="3E2A1E"/>
                </a:solidFill>
                <a:latin typeface="SimHei" panose="02010609060101010101" pitchFamily="49" charset="-122"/>
                <a:ea typeface="SimHei" panose="02010609060101010101" pitchFamily="49" charset="-122"/>
                <a:cs typeface="Noto Sans CJK SC" pitchFamily="34" charset="-120"/>
              </a:rPr>
              <a:t>看懂RAG双链路：离线建库</a:t>
            </a:r>
            <a:r>
              <a:rPr lang="en-US" altLang="zh-CN" sz="3400" b="1" dirty="0">
                <a:solidFill>
                  <a:srgbClr val="3E2A1E"/>
                </a:solidFill>
                <a:latin typeface="SimHei" panose="02010609060101010101" pitchFamily="49" charset="-122"/>
                <a:ea typeface="SimHei" panose="02010609060101010101" pitchFamily="49" charset="-122"/>
                <a:cs typeface="Noto Sans CJK SC" pitchFamily="34" charset="-120"/>
              </a:rPr>
              <a:t>+</a:t>
            </a:r>
            <a:r>
              <a:rPr lang="zh-CN" altLang="en-US" sz="3400" b="1" dirty="0">
                <a:solidFill>
                  <a:srgbClr val="3E2A1E"/>
                </a:solidFill>
                <a:latin typeface="SimHei" panose="02010609060101010101" pitchFamily="49" charset="-122"/>
                <a:ea typeface="SimHei" panose="02010609060101010101" pitchFamily="49" charset="-122"/>
                <a:cs typeface="Noto Sans CJK SC" pitchFamily="34" charset="-120"/>
              </a:rPr>
              <a:t>在线问答</a:t>
            </a:r>
            <a:endParaRPr lang="en-US" altLang="zh-CN" sz="3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C6E5D0-8DCD-9AE9-353C-C4801FA2D6FF}"/>
              </a:ext>
            </a:extLst>
          </p:cNvPr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DF563E-123B-69B4-5DD3-BE0C2BBB8C5E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4627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7712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RAG不是一条线，而是两条在检索处汇合的链路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上半部分负责把文档变成可检索知识；下半部分负责把问题变成带依据回答。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E227F5D-F5B1-C174-F34B-EF49C807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964" y="1363601"/>
            <a:ext cx="9490733" cy="4753735"/>
          </a:xfrm>
          <a:prstGeom prst="rect">
            <a:avLst/>
          </a:prstGeom>
        </p:spPr>
      </p:pic>
      <p:sp>
        <p:nvSpPr>
          <p:cNvPr id="48" name="Text 2">
            <a:extLst>
              <a:ext uri="{FF2B5EF4-FFF2-40B4-BE49-F238E27FC236}">
                <a16:creationId xmlns:a16="http://schemas.microsoft.com/office/drawing/2014/main" id="{B9469BFF-AC82-11FC-5955-7679C633CF98}"/>
              </a:ext>
            </a:extLst>
          </p:cNvPr>
          <p:cNvSpPr/>
          <p:nvPr/>
        </p:nvSpPr>
        <p:spPr>
          <a:xfrm>
            <a:off x="772303" y="2438683"/>
            <a:ext cx="1426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离线建库</a:t>
            </a:r>
            <a:endParaRPr lang="en-US" sz="20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BA5D0EFB-F1F1-2EEE-00CE-11D7F96F4487}"/>
              </a:ext>
            </a:extLst>
          </p:cNvPr>
          <p:cNvSpPr/>
          <p:nvPr/>
        </p:nvSpPr>
        <p:spPr>
          <a:xfrm>
            <a:off x="772303" y="4748501"/>
            <a:ext cx="1426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在线问答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离线建库：文档不是上传成功就等于可用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产品经理要关注文档是否权威、解析是否正确、片段是否能独立回答问题。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FF75970-E03C-4C75-AB45-075B099E9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462440"/>
            <a:ext cx="10652760" cy="4765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256032"/>
            <a:ext cx="347472" cy="347472"/>
          </a:xfrm>
          <a:prstGeom prst="ellipse">
            <a:avLst/>
          </a:prstGeom>
          <a:solidFill>
            <a:srgbClr val="F1C28A">
              <a:alpha val="60000"/>
            </a:srgbClr>
          </a:solidFill>
          <a:ln w="12700">
            <a:solidFill>
              <a:srgbClr val="F1C2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236208"/>
            <a:ext cx="256032" cy="256032"/>
          </a:xfrm>
          <a:prstGeom prst="ellipse">
            <a:avLst/>
          </a:prstGeom>
          <a:solidFill>
            <a:srgbClr val="F0D5B5">
              <a:alpha val="65000"/>
            </a:srgbClr>
          </a:solidFill>
          <a:ln w="12700">
            <a:solidFill>
              <a:srgbClr val="F0D5B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8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RAG离线建库 · 文档解析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r>
              <a:rPr lang="zh-CN" altLang="en-US" sz="28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28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把“给人看的文件”，变成“机器可检索的知识原料”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3444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解析不是简单提字，而是尽可能恢复内容、结构、顺序与来源。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523744"/>
            <a:ext cx="502920" cy="0"/>
          </a:xfrm>
          <a:prstGeom prst="line">
            <a:avLst/>
          </a:prstGeom>
          <a:noFill/>
          <a:ln w="30480">
            <a:solidFill>
              <a:srgbClr val="E58A2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2523744"/>
            <a:ext cx="502920" cy="0"/>
          </a:xfrm>
          <a:prstGeom prst="line">
            <a:avLst/>
          </a:prstGeom>
          <a:noFill/>
          <a:ln w="30480">
            <a:solidFill>
              <a:srgbClr val="E58A2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46720" y="2523744"/>
            <a:ext cx="502920" cy="0"/>
          </a:xfrm>
          <a:prstGeom prst="line">
            <a:avLst/>
          </a:prstGeom>
          <a:noFill/>
          <a:ln w="30480">
            <a:solidFill>
              <a:srgbClr val="E58A2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874520"/>
            <a:ext cx="21488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5240">
            <a:solidFill>
              <a:srgbClr val="F2B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20824"/>
            <a:ext cx="1874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原始文件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17465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PPT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扫描件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148840" cy="1298448"/>
          </a:xfrm>
          <a:prstGeom prst="roundRect">
            <a:avLst>
              <a:gd name="adj" fmla="val 8451"/>
            </a:avLst>
          </a:prstGeom>
          <a:solidFill>
            <a:srgbClr val="FFE8CC"/>
          </a:solidFill>
          <a:ln w="15240">
            <a:solidFill>
              <a:srgbClr val="E58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020824"/>
            <a:ext cx="1874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8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7288" y="2377440"/>
            <a:ext cx="17465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识别元素、顺序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层级、表格、图片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97880" y="1874520"/>
            <a:ext cx="21488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5240">
            <a:solidFill>
              <a:srgbClr val="F2B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20824"/>
            <a:ext cx="1874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9048" y="2377440"/>
            <a:ext cx="17465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+ JSON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图片/附件地址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49640" y="1874520"/>
            <a:ext cx="2148840" cy="1298448"/>
          </a:xfrm>
          <a:prstGeom prst="roundRect">
            <a:avLst>
              <a:gd name="adj" fmla="val 8451"/>
            </a:avLst>
          </a:prstGeom>
          <a:solidFill>
            <a:srgbClr val="FFF2DE"/>
          </a:solidFill>
          <a:ln w="15240">
            <a:solidFill>
              <a:srgbClr val="F2B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020824"/>
            <a:ext cx="1874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进入切分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50808" y="2377440"/>
            <a:ext cx="17465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 才能切得准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检索才能找得准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29584" y="3364992"/>
            <a:ext cx="1600200" cy="320040"/>
          </a:xfrm>
          <a:prstGeom prst="roundRect">
            <a:avLst>
              <a:gd name="adj" fmla="val 25714"/>
            </a:avLst>
          </a:prstGeom>
          <a:solidFill>
            <a:srgbClr val="E58A2A"/>
          </a:solidFill>
          <a:ln w="12700">
            <a:solidFill>
              <a:srgbClr val="E58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3429000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本页只讲这一步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172968"/>
            <a:ext cx="0" cy="201168"/>
          </a:xfrm>
          <a:prstGeom prst="line">
            <a:avLst/>
          </a:prstGeom>
          <a:noFill/>
          <a:ln w="25400">
            <a:solidFill>
              <a:srgbClr val="E58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9776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0C9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224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解析步骤到底产出什么？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96112" y="4645152"/>
            <a:ext cx="164592" cy="164592"/>
          </a:xfrm>
          <a:prstGeom prst="ellipse">
            <a:avLst/>
          </a:prstGeom>
          <a:solidFill>
            <a:srgbClr val="E58A2A"/>
          </a:solidFill>
          <a:ln w="12700">
            <a:solidFill>
              <a:srgbClr val="E58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617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文件类型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130552" y="4617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DOCX / PDF / 扫描件，决定解析路线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6112" y="5056632"/>
            <a:ext cx="164592" cy="164592"/>
          </a:xfrm>
          <a:prstGeom prst="ellipse">
            <a:avLst/>
          </a:prstGeom>
          <a:solidFill>
            <a:srgbClr val="E58A2A"/>
          </a:solidFill>
          <a:ln w="12700">
            <a:solidFill>
              <a:srgbClr val="E58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50292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文档元素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130552" y="5029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标题、段落、列表、表格、图片、公式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6112" y="5468112"/>
            <a:ext cx="164592" cy="164592"/>
          </a:xfrm>
          <a:prstGeom prst="ellipse">
            <a:avLst/>
          </a:prstGeom>
          <a:solidFill>
            <a:srgbClr val="E58A2A"/>
          </a:solidFill>
          <a:ln w="12700">
            <a:solidFill>
              <a:srgbClr val="E58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54406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结构关系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130552" y="5440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阅读顺序、章节层级、页码、坐标、来源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46520" y="3977640"/>
            <a:ext cx="5138928" cy="1920240"/>
          </a:xfrm>
          <a:prstGeom prst="roundRect">
            <a:avLst>
              <a:gd name="adj" fmla="val 5714"/>
            </a:avLst>
          </a:prstGeom>
          <a:solidFill>
            <a:srgbClr val="FFF2DE"/>
          </a:solidFill>
          <a:ln w="12700">
            <a:solidFill>
              <a:srgbClr val="F0C9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2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不是只得到一个 MD 文件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84848" y="4626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7A4E2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document.md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66760" y="46268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逻辑结构：标题 / 正文 / 表格 / 图片引用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4974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7A4E2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document.json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8366760" y="49743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元数据：页码 / 坐标 / 章节 / 来源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84848" y="5321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7A4E2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images/*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366760" y="5321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原图资产：由 MD / JSON 中的地址引用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94360" y="6126480"/>
            <a:ext cx="10991088" cy="429768"/>
          </a:xfrm>
          <a:prstGeom prst="roundRect">
            <a:avLst>
              <a:gd name="adj" fmla="val 2127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6227064"/>
            <a:ext cx="1040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产品判断：解析错了，后面的 Chunk、向量化、检索、重排和生成都很难救回来。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清洗：把“读出来但不好用”的内容整理干净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1381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去掉噪声、修复错行与乱码，让后续 Chunk 不被污染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0" cy="0"/>
          </a:xfrm>
          <a:prstGeom prst="line">
            <a:avLst/>
          </a:prstGeom>
          <a:noFill/>
          <a:ln w="38100">
            <a:solidFill>
              <a:srgbClr val="C46A3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4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解析后的原始文本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840480" cy="2834640"/>
          </a:xfrm>
          <a:prstGeom prst="roundRect">
            <a:avLst>
              <a:gd name="adj" fmla="val 2581"/>
            </a:avLst>
          </a:prstGeom>
          <a:solidFill>
            <a:srgbClr val="FFF1E6"/>
          </a:solidFill>
          <a:ln w="12700">
            <a:solidFill>
              <a:srgbClr val="E0A1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30552"/>
            <a:ext cx="354787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XX内部资料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信用卡预授权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用户还车并完成车辆检查后，信用卡预授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权通常在3—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15个工作日内解除。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XX内部资料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3401568"/>
            <a:ext cx="196596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297180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304495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清洗处理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9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清洗后的标准文本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2011680"/>
            <a:ext cx="3886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DB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07224" y="2130552"/>
            <a:ext cx="359359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信用卡预授权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用户还车并完成车辆检查后，信用卡预授权通常在3—15个工作日内解除。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A55A3A"/>
                </a:solidFill>
                <a:latin typeface="Microsoft YaHei"/>
                <a:ea typeface="Microsoft YaHei"/>
                <a:cs typeface="Microsoft YaHe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结构化：把内容关系保留下来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1381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标题层级、阅读顺序、表格与图片关系，是后续切 Chunk 的依据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0" cy="0"/>
          </a:xfrm>
          <a:prstGeom prst="line">
            <a:avLst/>
          </a:prstGeom>
          <a:noFill/>
          <a:ln w="38100">
            <a:solidFill>
              <a:srgbClr val="C46A3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从“纯文本”变成“结构化元素”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856232"/>
            <a:ext cx="43434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A9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373075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标题：押金规则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├─ 二级标题：信用卡预授权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│  ├─ 正文：解除时效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│  └─ 图片：处理流程图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└─ 二级标题：微信押金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    └─ 正文：原路退款说明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 标题：发票规则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└─ 表格：开票条件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0352" cy="530352"/>
          </a:xfrm>
          <a:prstGeom prst="ellipse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0216" y="18379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标题路径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002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让短句拥有上下文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715768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28620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697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内容类型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026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正文/表格/图片分开处理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739896"/>
            <a:ext cx="530352" cy="530352"/>
          </a:xfrm>
          <a:prstGeom prst="ellipse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38862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阅读顺序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050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避免双栏、PPT元素串行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764024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49103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4745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资产引用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5074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保留图片与原文位置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5806440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核心：不是把文档变漂亮，而是保留“可被机器使用的结构”。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A55A3A"/>
                </a:solidFill>
                <a:latin typeface="Microsoft YaHei"/>
                <a:ea typeface="Microsoft YaHei"/>
                <a:cs typeface="Microsoft YaHe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元数据补全：给知识片段加上“使用边界”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1381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62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同一句话，只有带上来源、版本、权限，才知道什么时候能用、对谁能用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0" cy="0"/>
          </a:xfrm>
          <a:prstGeom prst="line">
            <a:avLst/>
          </a:prstGeom>
          <a:noFill/>
          <a:ln w="38100">
            <a:solidFill>
              <a:srgbClr val="C46A3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70020" y="2642510"/>
            <a:ext cx="4251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159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44340" y="288025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Chunk文本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44340" y="321858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信用卡预授权通常在还车后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3—15个工作日内解除。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367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来源文件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18836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退款规则V3.pdf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143000" y="42519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3799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80160" y="46268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第12页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074920" y="478231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49103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标题路径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0" y="51572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押金规则 &gt; 信用卡预授权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961120" y="15087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367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98280" y="18836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144000" y="425196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43799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生效时间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1160" y="46268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11430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1E6"/>
          </a:solidFill>
          <a:ln w="12700">
            <a:solidFill>
              <a:srgbClr val="EAC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2710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1517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客服可见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3017520" y="1883664"/>
            <a:ext cx="952500" cy="749808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246120" y="4059830"/>
            <a:ext cx="822960" cy="512170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5897880" y="4059830"/>
            <a:ext cx="0" cy="749702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8221980" y="2258568"/>
            <a:ext cx="739140" cy="429662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8221980" y="4096618"/>
            <a:ext cx="922020" cy="429662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22960" y="5897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2F2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产品结论：元数据不仅用于展示来源，更直接参与过滤、权限控制和版本选择。</a:t>
            </a:r>
            <a:endParaRPr lang="en-US" sz="168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A55A3A"/>
                </a:solidFill>
                <a:latin typeface="Microsoft YaHei"/>
                <a:ea typeface="Microsoft YaHei"/>
                <a:cs typeface="Microsoft YaHe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664200DB-1C15-A857-0C58-35B7DBE5647A}"/>
              </a:ext>
            </a:extLst>
          </p:cNvPr>
          <p:cNvSpPr/>
          <p:nvPr/>
        </p:nvSpPr>
        <p:spPr>
          <a:xfrm>
            <a:off x="6027420" y="1879145"/>
            <a:ext cx="0" cy="726577"/>
          </a:xfrm>
          <a:prstGeom prst="line">
            <a:avLst/>
          </a:prstGeom>
          <a:noFill/>
          <a:ln w="15240">
            <a:solidFill>
              <a:srgbClr val="D8A98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Chunk：把长文档拆成“可检索的知识单元”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144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解析/清洗把内容整理好，Chunk 决定系统之后能不能找准、找全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640080" y="1133856"/>
            <a:ext cx="1088136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2788920" cy="3886200"/>
          </a:xfrm>
          <a:prstGeom prst="roundRect">
            <a:avLst>
              <a:gd name="adj" fmla="val 3934"/>
            </a:avLst>
          </a:prstGeom>
          <a:solidFill>
            <a:srgbClr val="FFFDF9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企业制度.pdf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78992" y="2240280"/>
            <a:ext cx="2157984" cy="2148840"/>
          </a:xfrm>
          <a:prstGeom prst="rect">
            <a:avLst/>
          </a:prstGeom>
          <a:solidFill>
            <a:srgbClr val="FFF4E7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532888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734056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935224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3136392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3337560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3538728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3739896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941064"/>
            <a:ext cx="1664208" cy="0"/>
          </a:xfrm>
          <a:prstGeom prst="line">
            <a:avLst/>
          </a:prstGeom>
          <a:noFill/>
          <a:ln w="12700">
            <a:solidFill>
              <a:srgbClr val="DDBA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长文档：内容多、主题杂、答案分散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3977640" y="3063240"/>
            <a:ext cx="475488" cy="411480"/>
          </a:xfrm>
          <a:prstGeom prst="chevron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874520"/>
            <a:ext cx="1783080" cy="2697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213969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B65943"/>
          </a:solidFill>
          <a:ln w="12700">
            <a:solidFill>
              <a:srgbClr val="B659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211018"/>
            <a:ext cx="67665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过小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83480" y="2788920"/>
            <a:ext cx="1325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“通常在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3—15个工作日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内解除。”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缺主语/条件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903720" y="1874520"/>
            <a:ext cx="1783080" cy="2697480"/>
          </a:xfrm>
          <a:prstGeom prst="roundRect">
            <a:avLst>
              <a:gd name="adj" fmla="val 6154"/>
            </a:avLst>
          </a:prstGeom>
          <a:solidFill>
            <a:srgbClr val="FFF2E2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9208" y="213969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5E7D59"/>
          </a:solidFill>
          <a:ln w="12700">
            <a:solidFill>
              <a:srgbClr val="5E7D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211019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04888" y="2724912"/>
            <a:ext cx="138988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标题：押金规则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正文：预授权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3—15个工作日解除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08660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主题单一，证据完整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052560" y="1874520"/>
            <a:ext cx="1783080" cy="2697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8048" y="213969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B65943"/>
          </a:solidFill>
          <a:ln w="12700">
            <a:solidFill>
              <a:srgbClr val="B659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2211019"/>
            <a:ext cx="676656" cy="23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过大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272016" y="2798064"/>
            <a:ext cx="1325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 / 发票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 / 投诉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都在一起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3544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多个主题混在一起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60120" y="5650992"/>
            <a:ext cx="10287000" cy="475488"/>
          </a:xfrm>
          <a:prstGeom prst="roundRect">
            <a:avLst>
              <a:gd name="adj" fmla="val 23077"/>
            </a:avLst>
          </a:prstGeom>
          <a:solidFill>
            <a:srgbClr val="6B3E26"/>
          </a:solidFill>
          <a:ln w="12700">
            <a:solidFill>
              <a:srgbClr val="6B3E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5806440"/>
            <a:ext cx="97840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核心判断：一个 Chunk 能否独立支撑一类真实问题的回答？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常见切分方式：先按业务结构，再用长度兜底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144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不要全库统一 500 Token；不同知识形态要用不同切法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640080" y="1133856"/>
            <a:ext cx="1088136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160020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6B3E26"/>
          </a:solidFill>
          <a:ln w="12700">
            <a:solidFill>
              <a:srgbClr val="6B3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71523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54480" y="1609344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固定长度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34107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MVP、普通长文本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1554480" y="2011680"/>
            <a:ext cx="388620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221992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按字符/Token 数切；简单快，但容易切断语义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160020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6B3E26"/>
          </a:solidFill>
          <a:ln w="12700">
            <a:solidFill>
              <a:srgbClr val="6B3E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71523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1609344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结构化切分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88971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制度、手册、合同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388620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221992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按标题、段落、条款切；依赖解析质量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29184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" y="347472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6B3E26"/>
          </a:solidFill>
          <a:ln w="12700">
            <a:solidFill>
              <a:srgbClr val="6B3E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546043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54480" y="3483864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语义切分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3410712" y="351129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会议记录、长文章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1554480" y="3886200"/>
            <a:ext cx="388620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4096512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按主题变化切；更智能但成本更高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29184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2E2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096" y="347472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3546043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40880" y="3483864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业务单元切分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8897112" y="351129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FAQ、流程、规则、API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7040880" y="3886200"/>
            <a:ext cx="388620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096512"/>
            <a:ext cx="3886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按一问一答/完整步骤/一条规则切；产品价值最高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112" y="5138928"/>
            <a:ext cx="1463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知识形态示例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468880" y="513892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5210251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FAQ：问题＋答案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45152" y="513892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5E7D59"/>
          </a:solidFill>
          <a:ln w="12700">
            <a:solidFill>
              <a:srgbClr val="5E7D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5210251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表格：表头＋数据行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21424" y="513892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5210251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流程：任务＋完整步骤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997696" y="513892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5E7D59"/>
          </a:solidFill>
          <a:ln w="12700">
            <a:solidFill>
              <a:srgbClr val="5E7D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70848" y="5210251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图片：描述＋原图引用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14400" y="5806440"/>
            <a:ext cx="10241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原则：优先保留业务语义边界；实在过长，再按段落/句子/长度递归切。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怎么调整与验收：看召回结果，不先看最终答案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144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 调整不是凭感觉改参数，而是用真实问题定位 Bad Case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640080" y="1133856"/>
            <a:ext cx="1088136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063240" cy="379476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三个可调项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2356387"/>
            <a:ext cx="118872" cy="1188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5915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 Size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59152" y="2359152"/>
            <a:ext cx="11704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控制单块最大长度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1097280" y="3161059"/>
            <a:ext cx="118872" cy="1188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163824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59152" y="3163824"/>
            <a:ext cx="11704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防止边界信息丢失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097280" y="3965731"/>
            <a:ext cx="118872" cy="1188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968496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切分边界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59152" y="3968496"/>
            <a:ext cx="11704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0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标题→段落→句子→长度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2606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7B66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建议：一次只调一个变量，才能知道效果变化来自哪里。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160520" y="1417320"/>
            <a:ext cx="7269480" cy="3794760"/>
          </a:xfrm>
          <a:prstGeom prst="roundRect">
            <a:avLst>
              <a:gd name="adj" fmla="val 2892"/>
            </a:avLst>
          </a:prstGeom>
          <a:solidFill>
            <a:srgbClr val="FFFDF9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Case → 调整方向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249424"/>
            <a:ext cx="658368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340864"/>
            <a:ext cx="2331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答案缺条件/主语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315200" y="2340864"/>
            <a:ext cx="33375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增大 Chunk，带入标题路径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480560" y="2752344"/>
            <a:ext cx="6583680" cy="338328"/>
          </a:xfrm>
          <a:prstGeom prst="roundRect">
            <a:avLst>
              <a:gd name="adj" fmla="val 13514"/>
            </a:avLst>
          </a:prstGeom>
          <a:solidFill>
            <a:srgbClr val="FFF7EE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843784"/>
            <a:ext cx="2331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Chunk 主题太杂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315200" y="2843784"/>
            <a:ext cx="33375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减小 Chunk，按二级标题/条款细分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480560" y="3255264"/>
            <a:ext cx="658368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346704"/>
            <a:ext cx="2331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K 高度重复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315200" y="3346704"/>
            <a:ext cx="33375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减小 Overlap，做去重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480560" y="3758184"/>
            <a:ext cx="6583680" cy="338328"/>
          </a:xfrm>
          <a:prstGeom prst="roundRect">
            <a:avLst>
              <a:gd name="adj" fmla="val 13514"/>
            </a:avLst>
          </a:prstGeom>
          <a:solidFill>
            <a:srgbClr val="FFF7EE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3849624"/>
            <a:ext cx="2331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编号/专有名词搜不到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0" y="3849624"/>
            <a:ext cx="33375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保留编号，启用关键词/混合检索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480560" y="4261104"/>
            <a:ext cx="6583680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8D2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4352544"/>
            <a:ext cx="2331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32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表格数值无含义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15200" y="4352544"/>
            <a:ext cx="33375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表头与数据行绑定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1097280" y="5504688"/>
            <a:ext cx="9966960" cy="0"/>
          </a:xfrm>
          <a:prstGeom prst="line">
            <a:avLst/>
          </a:prstGeom>
          <a:noFill/>
          <a:ln w="12700">
            <a:solidFill>
              <a:srgbClr val="E8D2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5321808"/>
            <a:ext cx="347472" cy="3474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5422392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4088" y="574243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真实问题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5321808"/>
            <a:ext cx="347472" cy="3474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5422392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35808" y="574243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查看Top 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23560" y="5321808"/>
            <a:ext cx="347472" cy="3474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33288" y="5422392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67528" y="574243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归因问题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55280" y="5321808"/>
            <a:ext cx="347472" cy="3474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5422392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99248" y="574243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调整变量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287000" y="5321808"/>
            <a:ext cx="347472" cy="347472"/>
          </a:xfrm>
          <a:prstGeom prst="ellipse">
            <a:avLst/>
          </a:prstGeom>
          <a:solidFill>
            <a:srgbClr val="D9732C"/>
          </a:solidFill>
          <a:ln w="12700">
            <a:solidFill>
              <a:srgbClr val="D973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96728" y="5422392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030968" y="574243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3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复测记录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228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118"/>
                </a:solidFill>
              </a:rPr>
              <a:t>Embedding：把 Chunk 变成“语义坐标”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5A3A"/>
                </a:solidFill>
              </a:rPr>
              <a:t>离线建库中，Chunk 不会直接被检索；它会先被模型转换成可计算的向量。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9783A">
              <a:alpha val="97000"/>
            </a:srgbClr>
          </a:solidFill>
          <a:ln w="12700">
            <a:solidFill>
              <a:srgbClr val="E978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文本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938528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A3A"/>
                </a:solidFill>
              </a:rPr>
              <a:t>标题路径：押金规则 &gt; 信用卡预授权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633472"/>
            <a:ext cx="2697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</a:rPr>
              <a:t>信用卡预授权通常在还车并完成车辆检查后 3—15 个工作日内解除。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2880360"/>
            <a:ext cx="914400" cy="0"/>
          </a:xfrm>
          <a:prstGeom prst="line">
            <a:avLst/>
          </a:prstGeom>
          <a:noFill/>
          <a:ln w="20320">
            <a:solidFill>
              <a:srgbClr val="E9783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85232" y="150876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3A15E">
              <a:alpha val="97000"/>
            </a:srgbClr>
          </a:solidFill>
          <a:ln w="12700">
            <a:solidFill>
              <a:srgbClr val="F3A15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5636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Embedding 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2157984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0DD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578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118"/>
                </a:solidFill>
              </a:rPr>
              <a:t>把“文字意思”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2B2118"/>
                </a:solidFill>
              </a:rPr>
              <a:t>压缩成一串数字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0" y="2880360"/>
            <a:ext cx="914400" cy="0"/>
          </a:xfrm>
          <a:prstGeom prst="line">
            <a:avLst/>
          </a:prstGeom>
          <a:noFill/>
          <a:ln w="20320">
            <a:solidFill>
              <a:srgbClr val="E9783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66760" y="1508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3E7C59">
              <a:alpha val="97000"/>
            </a:srgbClr>
          </a:solidFill>
          <a:ln w="12700">
            <a:solidFill>
              <a:srgbClr val="3E7C5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636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向量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938528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E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[ 0.12, -0.35, 0.78,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E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0.04, ... , 0.26 ]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11312" y="33649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5A3A"/>
                </a:solidFill>
              </a:rPr>
              <a:t>向量用于“找相似”，不是直接给大模型阅读。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118"/>
                </a:solidFill>
              </a:rPr>
              <a:t>语义相近的位置更接近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80060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5184648"/>
            <a:ext cx="118872" cy="118872"/>
          </a:xfrm>
          <a:prstGeom prst="ellipse">
            <a:avLst/>
          </a:prstGeom>
          <a:solidFill>
            <a:srgbClr val="E9783A"/>
          </a:solidFill>
          <a:ln w="12700">
            <a:solidFill>
              <a:srgbClr val="E978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51114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押金多久退？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4983480"/>
            <a:ext cx="118872" cy="118872"/>
          </a:xfrm>
          <a:prstGeom prst="ellipse">
            <a:avLst/>
          </a:prstGeom>
          <a:solidFill>
            <a:srgbClr val="E9783A"/>
          </a:solidFill>
          <a:ln w="12700">
            <a:solidFill>
              <a:srgbClr val="E978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49103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预授权何时解除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5285232"/>
            <a:ext cx="118872" cy="118872"/>
          </a:xfrm>
          <a:prstGeom prst="ellipse">
            <a:avLst/>
          </a:prstGeom>
          <a:solidFill>
            <a:srgbClr val="E9783A"/>
          </a:solidFill>
          <a:ln w="12700">
            <a:solidFill>
              <a:srgbClr val="E978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退款多久到账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26680" y="5065776"/>
            <a:ext cx="118872" cy="118872"/>
          </a:xfrm>
          <a:prstGeom prst="ellipse">
            <a:avLst/>
          </a:prstGeom>
          <a:solidFill>
            <a:srgbClr val="4E769A"/>
          </a:solidFill>
          <a:ln w="12700">
            <a:solidFill>
              <a:srgbClr val="4E7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1272" y="4992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电子发票申请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418320" y="5349240"/>
            <a:ext cx="118872" cy="118872"/>
          </a:xfrm>
          <a:prstGeom prst="ellipse">
            <a:avLst/>
          </a:prstGeom>
          <a:solidFill>
            <a:srgbClr val="B98B63"/>
          </a:solidFill>
          <a:ln w="12700">
            <a:solidFill>
              <a:srgbClr val="B98B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2912" y="52760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年假怎么计算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6080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8"/>
                </a:solidFill>
              </a:rPr>
              <a:t>核心结论：Chunk 决定“拿什么内容表达”，Embedding 决定“系统如何计算它的语义”。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228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118"/>
                </a:solidFill>
              </a:rPr>
              <a:t>入库与索引：让知识可以被快速找到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5A3A"/>
                </a:solidFill>
              </a:rPr>
              <a:t>向量数据库通常保存 Chunk 向量、原文和元数据；索引用来加速检索。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FFFDF8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6420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E9783A">
              <a:alpha val="97000"/>
            </a:srgbClr>
          </a:solidFill>
          <a:ln w="12700">
            <a:solidFill>
              <a:srgbClr val="E978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19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一条 Chunk 记录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59"/>
                </a:solidFill>
              </a:rPr>
              <a:t>vector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7C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-0.35, 0.78, ...]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237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用于语义检索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1560" y="2788920"/>
            <a:ext cx="3611880" cy="0"/>
          </a:xfrm>
          <a:prstGeom prst="line">
            <a:avLst/>
          </a:prstGeom>
          <a:noFill/>
          <a:ln w="12700">
            <a:solidFill>
              <a:srgbClr val="E7CD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</a:rPr>
              <a:t>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2944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118"/>
                </a:solidFill>
              </a:rPr>
              <a:t>信用卡预授权通常在还车后 3—15 个工作日内解除。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4015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检索命中后交给大模型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3703320"/>
            <a:ext cx="3611880" cy="0"/>
          </a:xfrm>
          <a:prstGeom prst="line">
            <a:avLst/>
          </a:prstGeom>
          <a:noFill/>
          <a:ln w="12700">
            <a:solidFill>
              <a:srgbClr val="E7CD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69A"/>
                </a:solidFill>
              </a:rPr>
              <a:t>metadata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769A"/>
                </a:solidFill>
              </a:rPr>
              <a:t>document_id / page / version / permission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224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A3A"/>
                </a:solidFill>
              </a:rPr>
              <a:t>用于过滤、权限和追溯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3246120"/>
            <a:ext cx="777240" cy="0"/>
          </a:xfrm>
          <a:prstGeom prst="line">
            <a:avLst/>
          </a:prstGeom>
          <a:noFill/>
          <a:ln w="20320">
            <a:solidFill>
              <a:srgbClr val="E9783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1417320"/>
            <a:ext cx="4251960" cy="3840480"/>
          </a:xfrm>
          <a:prstGeom prst="roundRect">
            <a:avLst>
              <a:gd name="adj" fmla="val 1905"/>
            </a:avLst>
          </a:prstGeom>
          <a:solidFill>
            <a:srgbClr val="FFF0DD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6420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9783A">
              <a:alpha val="97000"/>
            </a:srgbClr>
          </a:solidFill>
          <a:ln w="12700">
            <a:solidFill>
              <a:srgbClr val="E978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7190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向量数据库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18"/>
                </a:solidFill>
              </a:rPr>
              <a:t>数据层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71232" y="224942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B2118"/>
                </a:solidFill>
              </a:rPr>
              <a:t>保存：向量 + Chunk 原文 + 元数据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537960" y="2697480"/>
            <a:ext cx="3520440" cy="0"/>
          </a:xfrm>
          <a:prstGeom prst="line">
            <a:avLst/>
          </a:prstGeom>
          <a:noFill/>
          <a:ln w="12700">
            <a:solidFill>
              <a:srgbClr val="E7CD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18"/>
                </a:solidFill>
              </a:rPr>
              <a:t>索引层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71232" y="3026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B2118"/>
                </a:solidFill>
              </a:rPr>
              <a:t>建立向量索引：快速找到相近向量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903720" y="3913632"/>
            <a:ext cx="128016" cy="128016"/>
          </a:xfrm>
          <a:prstGeom prst="ellipse">
            <a:avLst/>
          </a:prstGeom>
          <a:solidFill>
            <a:srgbClr val="E9783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3703320"/>
            <a:ext cx="128016" cy="128016"/>
          </a:xfrm>
          <a:prstGeom prst="ellipse">
            <a:avLst/>
          </a:prstGeom>
          <a:solidFill>
            <a:srgbClr val="E9783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3950208"/>
            <a:ext cx="128016" cy="128016"/>
          </a:xfrm>
          <a:prstGeom prst="ellipse">
            <a:avLst/>
          </a:prstGeom>
          <a:solidFill>
            <a:srgbClr val="E9783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3822192"/>
            <a:ext cx="128016" cy="128016"/>
          </a:xfrm>
          <a:prstGeom prst="ellipse">
            <a:avLst/>
          </a:prstGeom>
          <a:solidFill>
            <a:srgbClr val="3E7C5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89720" y="4096512"/>
            <a:ext cx="128016" cy="128016"/>
          </a:xfrm>
          <a:prstGeom prst="ellipse">
            <a:avLst/>
          </a:prstGeom>
          <a:solidFill>
            <a:srgbClr val="3E7C5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8048" y="3794760"/>
            <a:ext cx="128016" cy="128016"/>
          </a:xfrm>
          <a:prstGeom prst="ellipse">
            <a:avLst/>
          </a:prstGeom>
          <a:solidFill>
            <a:srgbClr val="3E7C5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3675888"/>
            <a:ext cx="132588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A15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9640" y="3675888"/>
            <a:ext cx="123444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E7C59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800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A3A"/>
                </a:solidFill>
              </a:rPr>
              <a:t>可以理解为“邻居关系图”或“语义分区导航”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43216" y="539038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AF3"/>
          </a:solidFill>
          <a:ln w="12700">
            <a:solidFill>
              <a:srgbClr val="E7CDB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98664" y="55366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4E769A"/>
                </a:solidFill>
              </a:rPr>
              <a:t>倒排索引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58018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7A5A3A"/>
                </a:solidFill>
              </a:rPr>
              <a:t>按关键词 / 编号 / 专有名词精确找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77240" y="614476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118"/>
                </a:solidFill>
              </a:rPr>
              <a:t>核心结论：向量负责“按语义找”，文本负责“给模型读”，元数据负责“过滤与追溯”。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在线问答：先找依据，再组织答案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RAG回答质量由两段共同决定：检索有没有找对，生成有没有忠实使用。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2221992"/>
            <a:ext cx="548640" cy="0"/>
          </a:xfrm>
          <a:prstGeom prst="line">
            <a:avLst/>
          </a:prstGeom>
          <a:noFill/>
          <a:ln w="22860">
            <a:solidFill>
              <a:srgbClr val="6F8F7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2221992"/>
            <a:ext cx="548640" cy="0"/>
          </a:xfrm>
          <a:prstGeom prst="line">
            <a:avLst/>
          </a:prstGeom>
          <a:noFill/>
          <a:ln w="22860">
            <a:solidFill>
              <a:srgbClr val="6F8F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92040" y="2221992"/>
            <a:ext cx="548640" cy="0"/>
          </a:xfrm>
          <a:prstGeom prst="line">
            <a:avLst/>
          </a:prstGeom>
          <a:noFill/>
          <a:ln w="22860">
            <a:solidFill>
              <a:srgbClr val="6F8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46520" y="2221992"/>
            <a:ext cx="5486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2221992"/>
            <a:ext cx="5486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555480" y="2221992"/>
            <a:ext cx="5486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1920240"/>
            <a:ext cx="98755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1920240"/>
            <a:ext cx="98755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</a:rPr>
              <a:t>Query理解与改写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1920240"/>
            <a:ext cx="98755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920240"/>
            <a:ext cx="987552" cy="603504"/>
          </a:xfrm>
          <a:prstGeom prst="roundRect">
            <a:avLst/>
          </a:prstGeom>
          <a:solidFill>
            <a:srgbClr val="FCEBD6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1920240"/>
            <a:ext cx="98755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49640" y="1920240"/>
            <a:ext cx="987552" cy="603504"/>
          </a:xfrm>
          <a:prstGeom prst="roundRect">
            <a:avLst/>
          </a:prstGeom>
          <a:solidFill>
            <a:srgbClr val="DCEAF5"/>
          </a:solidFill>
          <a:ln w="15240">
            <a:solidFill>
              <a:srgbClr val="5C7C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04120" y="1920240"/>
            <a:ext cx="98755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7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1965960"/>
            <a:ext cx="84124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</a:rPr>
              <a:t>后处理与引用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3063240"/>
            <a:ext cx="10424160" cy="0"/>
          </a:xfrm>
          <a:prstGeom prst="line">
            <a:avLst/>
          </a:prstGeom>
          <a:noFill/>
          <a:ln w="12700">
            <a:solidFill>
              <a:srgbClr val="E4C7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产品层需要定义：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069080"/>
            <a:ext cx="960120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哪些问题路由到哪个知识库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没有依据时是否拒答、追问或转人工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多个版本冲突时是否提示冲突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答案是否必须展示文档、版本和生效时间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在线问答链路 ① Query 理解与改写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把“用户怎么说”，转换成“知识库怎么找”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08376" y="2276856"/>
            <a:ext cx="201168" cy="274320"/>
          </a:xfrm>
          <a:prstGeom prst="chevron">
            <a:avLst/>
          </a:prstGeom>
          <a:solidFill>
            <a:srgbClr val="F5C16C"/>
          </a:solidFill>
          <a:ln w="12700">
            <a:solidFill>
              <a:srgbClr val="F5C16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6984" y="2276856"/>
            <a:ext cx="201168" cy="274320"/>
          </a:xfrm>
          <a:prstGeom prst="chevron">
            <a:avLst/>
          </a:prstGeom>
          <a:solidFill>
            <a:srgbClr val="F5C16C"/>
          </a:solidFill>
          <a:ln w="12700">
            <a:solidFill>
              <a:srgbClr val="F5C16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02168" y="2276856"/>
            <a:ext cx="201168" cy="274320"/>
          </a:xfrm>
          <a:prstGeom prst="chevron">
            <a:avLst/>
          </a:prstGeom>
          <a:solidFill>
            <a:srgbClr val="F5C16C"/>
          </a:solidFill>
          <a:ln w="12700">
            <a:solidFill>
              <a:srgbClr val="F5C16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20240"/>
            <a:ext cx="205740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14605">
            <a:solidFill>
              <a:srgbClr val="E2C9AA"/>
            </a:solidFill>
            <a:prstDash val="solid"/>
          </a:ln>
          <a:effectLst>
            <a:outerShdw blurRad="19050" dist="50800" dir="2700000" algn="bl" rotWithShape="0">
              <a:srgbClr val="D9B68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" y="20665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用户原话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32104" y="2386584"/>
            <a:ext cx="176479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“那信用卡的呢？”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01568" y="1920240"/>
            <a:ext cx="1920240" cy="1005840"/>
          </a:xfrm>
          <a:prstGeom prst="roundRect">
            <a:avLst>
              <a:gd name="adj" fmla="val 11818"/>
            </a:avLst>
          </a:prstGeom>
          <a:solidFill>
            <a:srgbClr val="FFF2DE"/>
          </a:solidFill>
          <a:ln w="14605">
            <a:solidFill>
              <a:srgbClr val="E2C9AA"/>
            </a:solidFill>
            <a:prstDash val="solid"/>
          </a:ln>
          <a:effectLst>
            <a:outerShdw blurRad="19050" dist="50800" dir="2700000" algn="bl" rotWithShape="0">
              <a:srgbClr val="D9B68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20665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补全上下文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547872" y="238658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结合上一轮：押金退款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16752" y="1920240"/>
            <a:ext cx="1920240" cy="100584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14605">
            <a:solidFill>
              <a:srgbClr val="E2C9AA"/>
            </a:solidFill>
            <a:prstDash val="solid"/>
          </a:ln>
          <a:effectLst>
            <a:outerShdw blurRad="19050" dist="50800" dir="2700000" algn="bl" rotWithShape="0">
              <a:srgbClr val="D9B68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63056" y="20665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 Query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163056" y="238658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信用卡预授权多久解除？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31936" y="1920240"/>
            <a:ext cx="2468880" cy="1005840"/>
          </a:xfrm>
          <a:prstGeom prst="roundRect">
            <a:avLst>
              <a:gd name="adj" fmla="val 11818"/>
            </a:avLst>
          </a:prstGeom>
          <a:solidFill>
            <a:srgbClr val="FFF2DE"/>
          </a:solidFill>
          <a:ln w="14605">
            <a:solidFill>
              <a:srgbClr val="E2C9AA"/>
            </a:solidFill>
            <a:prstDash val="solid"/>
          </a:ln>
          <a:effectLst>
            <a:outerShdw blurRad="19050" dist="50800" dir="2700000" algn="bl" rotWithShape="0">
              <a:srgbClr val="D9B68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0" y="206654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输出检索输入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778240" y="2386584"/>
            <a:ext cx="2176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检索词 + 子问题 + 元数据条件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9808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这一环节主要做 4 件事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95528" y="4087368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0599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补全省略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95728" y="4059936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把“它/那个/信用卡的”还原成明确对象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" y="4526280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498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口语标准化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395728" y="4498848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把自然说法改成更容易命中文档的表达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" y="4965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9377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复杂问题拆分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95728" y="4937760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一个问题拆成多个可检索子问题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" y="540410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766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提取条件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395728" y="5376672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地区、角色、版本等进入元数据过滤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56832" y="3675888"/>
            <a:ext cx="4526280" cy="2130552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 w="13970">
            <a:solidFill>
              <a:srgbClr val="E2C9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产品验收：改写是否“忠实且有用”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1152" y="43342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8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87184" y="4352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不改变用户原意，不提前编答案</a:t>
            </a:r>
            <a:endParaRPr lang="en-US" sz="1160" dirty="0"/>
          </a:p>
        </p:txBody>
      </p:sp>
      <p:sp>
        <p:nvSpPr>
          <p:cNvPr id="38" name="Text 36"/>
          <p:cNvSpPr/>
          <p:nvPr/>
        </p:nvSpPr>
        <p:spPr>
          <a:xfrm>
            <a:off x="6931152" y="4672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8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87184" y="4690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不丢失限制条件：地区、角色、时间、版本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6931152" y="50109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8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87184" y="5029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复杂问题拆分后，子问题不遗漏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6931152" y="53492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8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87184" y="5367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7A66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能提升正确 Chunk 的召回率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F2D4B7"/>
          </a:solidFill>
          <a:ln w="12700">
            <a:solidFill>
              <a:srgbClr val="F2D4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2F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改写不是生成答案，而是把问题变成更适合检索的输入。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53D"/>
          </a:solidFill>
          <a:ln w="12700">
            <a:solidFill>
              <a:srgbClr val="E87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601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在线问答链路 ②｜检索策略选择：路由与过滤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50392"/>
            <a:ext cx="7955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决定“去哪里找、用什么方式找、先限定哪些范围”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56232" y="2249424"/>
            <a:ext cx="58521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76472" y="2249424"/>
            <a:ext cx="58521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96712" y="2249424"/>
            <a:ext cx="58521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16952" y="2249424"/>
            <a:ext cx="58521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37192" y="2249424"/>
            <a:ext cx="58521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北京直营网点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信用卡预授权多久解除？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RAG开关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查知识库？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4456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知识库路由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押金/支付规则库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而非全库搜索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检索方式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向量检索＋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关键词检索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7532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8504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元数据过滤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北京｜直营｜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生效中｜有权限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195560" y="18288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0E6"/>
          </a:solidFill>
          <a:ln w="15240">
            <a:solidFill>
              <a:srgbClr val="E8753D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05288" y="1938528"/>
            <a:ext cx="1152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进入召回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生成候选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Chunk集合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3255264"/>
            <a:ext cx="50109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" y="3456432"/>
            <a:ext cx="4389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路由与过滤的区别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" y="3840480"/>
            <a:ext cx="44348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路由：选择知识库 / 数据源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过滤：限定可检索记录范围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32688" y="4572000"/>
            <a:ext cx="4251960" cy="0"/>
          </a:xfrm>
          <a:prstGeom prst="line">
            <a:avLst/>
          </a:prstGeom>
          <a:noFill/>
          <a:ln w="12700">
            <a:solidFill>
              <a:srgbClr val="EAD4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18304"/>
            <a:ext cx="4480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比喻：路由是选图书馆，过滤是选书架。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3255264"/>
            <a:ext cx="5010912" cy="18288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524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456432"/>
            <a:ext cx="4297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产品判断重点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3840480"/>
            <a:ext cx="42976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不要全库盲搜：噪声大、慢、权限风险高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条件不清时：放宽检索，或先追问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权限过滤：应在检索前或检索中生效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766560" y="4718304"/>
            <a:ext cx="4297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核心：先把搜索范围划对，再进入多路召回。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645920" y="5806440"/>
            <a:ext cx="8915400" cy="475488"/>
          </a:xfrm>
          <a:prstGeom prst="roundRect">
            <a:avLst>
              <a:gd name="adj" fmla="val 15385"/>
            </a:avLst>
          </a:prstGeom>
          <a:solidFill>
            <a:srgbClr val="F7D6BD"/>
          </a:solidFill>
          <a:ln w="12700">
            <a:solidFill>
              <a:srgbClr val="F7D6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8528" y="5925312"/>
            <a:ext cx="8321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改写负责把问题说清楚；路由与过滤负责把搜索范围划对。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53D"/>
          </a:solidFill>
          <a:ln w="12700">
            <a:solidFill>
              <a:srgbClr val="E87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在线问答链路 ③｜检索：通过多路召回找到候选 Chunk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50392"/>
            <a:ext cx="95097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在已确定的知识范围内，用语义和关键词两种能力先把“可能相关”的证据找出来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7A36F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95728"/>
            <a:ext cx="1728216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“北京 RULE-2026-017 中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信用卡预授权多久解除？”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896112" y="1536192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7D6BD"/>
          </a:solidFill>
          <a:ln w="12700">
            <a:solidFill>
              <a:srgbClr val="F7D6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55064"/>
            <a:ext cx="1298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过滤条件已生效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9192" y="2770632"/>
            <a:ext cx="630936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79192" y="2770632"/>
            <a:ext cx="630936" cy="722376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627632"/>
            <a:ext cx="2606040" cy="1188718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5240">
            <a:solidFill>
              <a:srgbClr val="E8753D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02152" y="1737360"/>
            <a:ext cx="2368296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按语义找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适合：同义表达、口语化问法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例：“押金什么时候回来？”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83280" y="3246120"/>
            <a:ext cx="2606040" cy="1225296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5240">
            <a:solidFill>
              <a:srgbClr val="547AA5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02152" y="3401568"/>
            <a:ext cx="236829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关键词召回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按字面找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适合：编号、型号、专有名词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例：“RULE-2026-017”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053328" y="2331720"/>
            <a:ext cx="850392" cy="539496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53328" y="3767328"/>
            <a:ext cx="850392" cy="0"/>
          </a:xfrm>
          <a:prstGeom prst="line">
            <a:avLst/>
          </a:prstGeom>
          <a:noFill/>
          <a:ln w="22860">
            <a:solidFill>
              <a:srgbClr val="547AA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2551176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0E6"/>
          </a:solidFill>
          <a:ln w="15240">
            <a:solidFill>
              <a:srgbClr val="E8753D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14032" y="2660904"/>
            <a:ext cx="1682496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融合去重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合并两路结果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去重｜分数融合｜限制重复文档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979408" y="3200400"/>
            <a:ext cx="512064" cy="0"/>
          </a:xfrm>
          <a:prstGeom prst="line">
            <a:avLst/>
          </a:prstGeom>
          <a:noFill/>
          <a:ln w="2286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82912" y="251460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4F7D5A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01784" y="2624328"/>
            <a:ext cx="1700784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K 候选 Chunk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先尽量不漏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再交给重排排准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507492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5285232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召回阶段的目标：宁可多找一些候选，先别漏掉正确证据。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19088" y="507492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5285232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下一步重排：从候选中挑出最相关、最能回答问题的证据。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591056" y="6181344"/>
            <a:ext cx="9052560" cy="402336"/>
          </a:xfrm>
          <a:prstGeom prst="roundRect">
            <a:avLst>
              <a:gd name="adj" fmla="val 18182"/>
            </a:avLst>
          </a:prstGeom>
          <a:solidFill>
            <a:srgbClr val="F7D6BD"/>
          </a:solidFill>
          <a:ln w="12700">
            <a:solidFill>
              <a:srgbClr val="F7D6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6300216"/>
            <a:ext cx="8549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向量召回按意思找，关键词召回按字面找；多路召回先“不漏”，重排再“排准”。</a:t>
            </a:r>
            <a:endParaRPr lang="en-US" sz="13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53D"/>
          </a:solidFill>
          <a:ln w="12700">
            <a:solidFill>
              <a:srgbClr val="E87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在线问答链路 ④｜重排：从“可能相关”里选出“真正相关”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50392"/>
            <a:ext cx="95097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召回先把候选找进来，重排再逐条判断哪几段最能回答当前问题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240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召回候选 Top 20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CE6D4"/>
          </a:solidFill>
          <a:ln w="13335">
            <a:solidFill>
              <a:srgbClr val="E87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2514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信用卡预授权解除时间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D7A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2514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北京门店押金规则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94360" y="2798064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D7A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35224"/>
            <a:ext cx="2514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信用卡支付方式说明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94360" y="3328416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D7A3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65576"/>
            <a:ext cx="2514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上海直营网点预授权规则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94360" y="3858768"/>
            <a:ext cx="2788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D7A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95928"/>
            <a:ext cx="2514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预授权失败处理办法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86384" y="4681728"/>
            <a:ext cx="23774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这些结果都“有点相关”，但条件、版本、答案完整性可能不同。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493008" y="2999232"/>
            <a:ext cx="758952" cy="0"/>
          </a:xfrm>
          <a:prstGeom prst="line">
            <a:avLst/>
          </a:prstGeom>
          <a:noFill/>
          <a:ln w="2540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1874519"/>
            <a:ext cx="2880360" cy="2423159"/>
          </a:xfrm>
          <a:prstGeom prst="roundRect">
            <a:avLst>
              <a:gd name="adj" fmla="val 4032"/>
            </a:avLst>
          </a:prstGeom>
          <a:solidFill>
            <a:srgbClr val="FFFDF8"/>
          </a:solidFill>
          <a:ln w="17780">
            <a:solidFill>
              <a:srgbClr val="E8753D"/>
            </a:solidFill>
            <a:prstDash val="solid"/>
          </a:ln>
          <a:effectLst>
            <a:outerShdw blurRad="12700" dist="50800" dir="2700000" algn="bl" rotWithShape="0">
              <a:srgbClr val="D0A07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2148840"/>
            <a:ext cx="2423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Reranker 重排模型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7720" y="2633472"/>
            <a:ext cx="242316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逐条比较：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+ 候选 Chunk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判断：是否真正能回答？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条件是否匹配？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内容是否完整？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4572000" y="3822192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7D6BD"/>
          </a:solidFill>
          <a:ln w="12700">
            <a:solidFill>
              <a:srgbClr val="F7D6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922776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过滤：能不能进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3822192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07024" y="3922776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重排：排第几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88352" y="2999232"/>
            <a:ext cx="786384" cy="0"/>
          </a:xfrm>
          <a:prstGeom prst="line">
            <a:avLst/>
          </a:prstGeom>
          <a:noFill/>
          <a:ln w="2540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366760" y="1325880"/>
            <a:ext cx="2240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重排后 Top 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56448" y="1810512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DDE8D8"/>
          </a:solidFill>
          <a:ln w="13970">
            <a:solidFill>
              <a:srgbClr val="4F7D5A"/>
            </a:solidFill>
            <a:prstDash val="solid"/>
          </a:ln>
          <a:effectLst>
            <a:outerShdw blurRad="12700" dist="50800" dir="2700000" algn="bl" rotWithShape="0">
              <a:srgbClr val="9DB39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93608" y="1975104"/>
            <a:ext cx="2971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北京 + 直营网点 + 信用卡预授权 + 解除时间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156448" y="2487168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3970">
            <a:solidFill>
              <a:srgbClr val="D7A3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3608" y="2651760"/>
            <a:ext cx="2971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节假日 / 银行处理延迟说明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156448" y="3163824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3970">
            <a:solidFill>
              <a:srgbClr val="D7A3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3328416"/>
            <a:ext cx="2971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押金规则来源与版本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485632" y="443484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335">
            <a:solidFill>
              <a:srgbClr val="E8C7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4590288"/>
            <a:ext cx="2194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进入下一步：上下文组装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802368" y="3886200"/>
            <a:ext cx="0" cy="484632"/>
          </a:xfrm>
          <a:prstGeom prst="line">
            <a:avLst/>
          </a:prstGeom>
          <a:noFill/>
          <a:ln w="20320">
            <a:solidFill>
              <a:srgbClr val="4F7D5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8368" y="5504688"/>
            <a:ext cx="5166360" cy="61264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5724144"/>
            <a:ext cx="46451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召回：先尽量不漏，把可能相关的 Chunk 找进来。</a:t>
            </a:r>
            <a:endParaRPr lang="en-US" sz="1420" dirty="0"/>
          </a:p>
        </p:txBody>
      </p:sp>
      <p:sp>
        <p:nvSpPr>
          <p:cNvPr id="38" name="Shape 36"/>
          <p:cNvSpPr/>
          <p:nvPr/>
        </p:nvSpPr>
        <p:spPr>
          <a:xfrm>
            <a:off x="6364224" y="5504688"/>
            <a:ext cx="5166360" cy="612643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29400" y="5724144"/>
            <a:ext cx="4617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重排：再排准，留下最能回答问题的证据。</a:t>
            </a:r>
            <a:endParaRPr lang="en-US" sz="14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753D"/>
          </a:solidFill>
          <a:ln w="12700">
            <a:solidFill>
              <a:srgbClr val="E87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在线问答链路</a:t>
            </a:r>
            <a:r>
              <a:rPr lang="en-US" sz="24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⑤｜</a:t>
            </a:r>
            <a:r>
              <a:rPr lang="en-US" sz="2400" b="1" dirty="0" err="1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上下文组装与答案生成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850392"/>
            <a:ext cx="10332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重排选出证据，系统整理证据，再让大模型基于证据生成可引用、可兜底的答案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CE6D4"/>
          </a:solidFill>
          <a:ln w="13970">
            <a:solidFill>
              <a:srgbClr val="E8753D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00784"/>
            <a:ext cx="14173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候选证据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42032" y="1920240"/>
            <a:ext cx="493776" cy="0"/>
          </a:xfrm>
          <a:prstGeom prst="line">
            <a:avLst/>
          </a:prstGeom>
          <a:noFill/>
          <a:ln w="2540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44752"/>
            <a:ext cx="20848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</a:rPr>
              <a:t>上下文组装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56432" y="1892808"/>
            <a:ext cx="213969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去重｜补标题与元数据｜按逻辑排序｜标注来源｜控制长度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98464" y="1920240"/>
            <a:ext cx="493776" cy="0"/>
          </a:xfrm>
          <a:prstGeom prst="line">
            <a:avLst/>
          </a:prstGeom>
          <a:noFill/>
          <a:ln w="2540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11112" y="1234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444752"/>
            <a:ext cx="179222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 Prompt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1883664"/>
            <a:ext cx="17830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系统指令 + 用户问题 + 证据上下文 + 输出要求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1920240"/>
            <a:ext cx="484632" cy="0"/>
          </a:xfrm>
          <a:prstGeom prst="line">
            <a:avLst/>
          </a:prstGeom>
          <a:noFill/>
          <a:ln w="25400">
            <a:solidFill>
              <a:srgbClr val="E8753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234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DDE8D8"/>
          </a:solidFill>
          <a:ln w="13970">
            <a:solidFill>
              <a:srgbClr val="4F7D5A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85248" y="1444752"/>
            <a:ext cx="14173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答案生成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66960" y="1847088"/>
            <a:ext cx="14264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基于证据回答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/ 格式化 / 兜底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" y="3300984"/>
            <a:ext cx="384048" cy="384048"/>
          </a:xfrm>
          <a:prstGeom prst="ellipse">
            <a:avLst/>
          </a:prstGeom>
          <a:solidFill>
            <a:srgbClr val="E8753D"/>
          </a:solidFill>
          <a:ln w="12700">
            <a:solidFill>
              <a:srgbClr val="E87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401568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07592" y="3300984"/>
            <a:ext cx="25420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50" b="1" dirty="0" err="1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上下文要“整理后再喂</a:t>
            </a:r>
            <a:r>
              <a:rPr lang="en-US" sz="15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07592" y="3648456"/>
            <a:ext cx="25420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不能把重排结果原样堆给模型；要去重、补上下文、处理新旧规则和来源。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443984" y="315468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300984"/>
            <a:ext cx="384048" cy="384048"/>
          </a:xfrm>
          <a:prstGeom prst="ellipse">
            <a:avLst/>
          </a:prstGeom>
          <a:solidFill>
            <a:srgbClr val="547AA5"/>
          </a:solidFill>
          <a:ln w="12700">
            <a:solidFill>
              <a:srgbClr val="547A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401568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65776" y="3300984"/>
            <a:ext cx="25420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生成要“基于证据”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65776" y="3648456"/>
            <a:ext cx="25420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提示词应约束模型：只根据资料回答；资料不足时明确说明，不自由发挥。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202168" y="315468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8C7A4"/>
            </a:solidFill>
            <a:prstDash val="solid"/>
          </a:ln>
          <a:effectLst>
            <a:outerShdw blurRad="12700" dist="50800" dir="2700000" algn="bl" rotWithShape="0">
              <a:srgbClr val="D0A07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48472" y="3300984"/>
            <a:ext cx="384048" cy="384048"/>
          </a:xfrm>
          <a:prstGeom prst="ellipse">
            <a:avLst/>
          </a:prstGeom>
          <a:solidFill>
            <a:srgbClr val="4F7D5A"/>
          </a:solidFill>
          <a:ln w="12700">
            <a:solidFill>
              <a:srgbClr val="4F7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3401568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23960" y="3300984"/>
            <a:ext cx="254203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交付要“可追溯可兜底”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823960" y="3648456"/>
            <a:ext cx="25420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答案保留来源引用；遇到冲突、无答案或低置信场景，提示原因或转人工。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85800" y="4983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3970">
            <a:solidFill>
              <a:srgbClr val="E8C7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175504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组装后的上下文示例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4400" y="5504688"/>
            <a:ext cx="495604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[来源1] 北京直营网点信用卡预授权通常在还车结算后的3—15个工作日内解除。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B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[来源2] 具体到账时间可能受发卡银行处理速度影响。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446520" y="4983480"/>
            <a:ext cx="5056632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3970">
            <a:solidFill>
              <a:srgbClr val="E8C7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5175504"/>
            <a:ext cx="1005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A4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693408" y="5513832"/>
            <a:ext cx="450799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F24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不是“找到资料就结束”，而是要保证：证据完整、顺序合理、来源清楚、无答案时不瞎编。</a:t>
            </a:r>
            <a:endParaRPr lang="en-US" sz="12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0463-2046-3560-953C-57CB381C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FF3885D-C87A-2DCC-F5C0-FE84A51F7A21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0D5410-4821-E156-942D-80512FB9FA9F}"/>
              </a:ext>
            </a:extLst>
          </p:cNvPr>
          <p:cNvSpPr/>
          <p:nvPr/>
        </p:nvSpPr>
        <p:spPr>
          <a:xfrm>
            <a:off x="1051560" y="1443331"/>
            <a:ext cx="9708589" cy="146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黑盒评估</a:t>
            </a:r>
            <a:endParaRPr lang="en-US" altLang="zh-CN" sz="34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9141E9-6E7B-D2C1-1E54-F88B44E956EF}"/>
              </a:ext>
            </a:extLst>
          </p:cNvPr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38C4AE9-285E-A7D7-8B8F-D9B6A47C3DD1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1751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64040" y="256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黑盒评估 · 1/3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黑盒评估：先看最终问答效果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10241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不先拆内部链路，先判断“用户问完以后，答案能不能用”。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2194560" cy="713232"/>
          </a:xfrm>
          <a:prstGeom prst="roundRect">
            <a:avLst>
              <a:gd name="adj" fmla="val 15385"/>
            </a:avLst>
          </a:prstGeom>
          <a:solidFill>
            <a:srgbClr val="FFF9F1"/>
          </a:solidFill>
          <a:ln w="15240">
            <a:solidFill>
              <a:srgbClr val="E3D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63240" y="2414016"/>
            <a:ext cx="1005840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828800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8E5D0"/>
          </a:solidFill>
          <a:ln w="17780">
            <a:solidFill>
              <a:srgbClr val="D46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0299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系统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0520" y="2432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重排 · 生成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2414016"/>
            <a:ext cx="1005840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56448" y="2057400"/>
            <a:ext cx="2468880" cy="713232"/>
          </a:xfrm>
          <a:prstGeom prst="roundRect">
            <a:avLst>
              <a:gd name="adj" fmla="val 15385"/>
            </a:avLst>
          </a:prstGeom>
          <a:solidFill>
            <a:srgbClr val="FFF9F1"/>
          </a:solidFill>
          <a:ln w="15240">
            <a:solidFill>
              <a:srgbClr val="E3D1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2258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最终答案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F8E5D0"/>
          </a:solidFill>
          <a:ln w="11430">
            <a:solidFill>
              <a:srgbClr val="E3D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结论是否准确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397764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FFF1E3"/>
          </a:solidFill>
          <a:ln w="11430">
            <a:solidFill>
              <a:srgbClr val="E3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54680" y="4434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条件/例外是否遗漏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397764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F8E5D0"/>
          </a:solidFill>
          <a:ln w="11430">
            <a:solidFill>
              <a:srgbClr val="E3D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忠实性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4434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是否基于资料回答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43800" y="397764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FFF1E3"/>
          </a:solidFill>
          <a:ln w="11430">
            <a:solidFill>
              <a:srgbClr val="E3D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35240" y="4434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表达是否能直接用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84080" y="397764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F8E5D0"/>
          </a:solidFill>
          <a:ln w="11430">
            <a:solidFill>
              <a:srgbClr val="E3D1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可追溯性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75520" y="44348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来源引用是否可靠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580644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核心判断：不是“答案像不像对”，而是答案是否正确、完整、基于证据、能被追溯。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64040" y="256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黑盒评估 · 2/3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评分标准：把“好不好”变成可复用判断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10241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不只看对错，用统一标准记录通过、部分通过和失败。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4617720" cy="749808"/>
          </a:xfrm>
          <a:prstGeom prst="roundRect">
            <a:avLst>
              <a:gd name="adj" fmla="val 9756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746504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4D7C59"/>
          </a:solidFill>
          <a:ln w="12700">
            <a:solidFill>
              <a:srgbClr val="4D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6537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完全通过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74520" y="204825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结论正确，关键条件完整，能直接使用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651760"/>
            <a:ext cx="4617720" cy="749808"/>
          </a:xfrm>
          <a:prstGeom prst="roundRect">
            <a:avLst>
              <a:gd name="adj" fmla="val 9756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798064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9169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部分通过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3099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核心方向对，但有遗漏、引用弱或表达不稳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03320"/>
            <a:ext cx="4617720" cy="749808"/>
          </a:xfrm>
          <a:prstGeom prst="roundRect">
            <a:avLst>
              <a:gd name="adj" fmla="val 9756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849624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A64D3C"/>
          </a:solidFill>
          <a:ln w="12700">
            <a:solidFill>
              <a:srgbClr val="A64D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684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38587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874520" y="41513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结论错误、编造、答非所问或应拒未拒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四个基本判分点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103120"/>
            <a:ext cx="201168" cy="201168"/>
          </a:xfrm>
          <a:prstGeom prst="ellipse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05740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结论是否正确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19672" y="2697480"/>
            <a:ext cx="201168" cy="201168"/>
          </a:xfrm>
          <a:prstGeom prst="ellipse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6517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条件是否完整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19672" y="3291840"/>
            <a:ext cx="201168" cy="201168"/>
          </a:xfrm>
          <a:prstGeom prst="ellipse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32461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是否有据可依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19672" y="3886200"/>
            <a:ext cx="201168" cy="201168"/>
          </a:xfrm>
          <a:prstGeom prst="ellipse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38404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兜底是否合理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46520" y="4736592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8E5D0"/>
          </a:solidFill>
          <a:ln w="15240">
            <a:solidFill>
              <a:srgbClr val="D46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928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一票否决：编造政策 / 泄露无权限内容 / 使用失效规则 / 核心金额时间错误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" y="58978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评分不是为了追求一个漂亮总分，而是为了稳定发现哪类问题不能上线。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C"/>
          </a:solidFill>
          <a:ln w="12700">
            <a:solidFill>
              <a:srgbClr val="D46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64040" y="256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黑盒评估 · 3/3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评估闭环：测试不是终点，是优化入口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10241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用同一批问题反复回归，观察每次改动是否真的变好。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8E5D0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762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设计测试集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覆盖真实问题与边界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205740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21762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批量运行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6352" y="244144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保存答案/引用/耗时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74920" y="205740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21762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48072" y="244144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+ Judge + 抽检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06640" y="205740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21762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收集Bad Case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9792" y="244144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按题型和原因归类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06640" y="425196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43708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定位优化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79792" y="463600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检索/重排/生成/知识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4920" y="4251960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43708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48072" y="463600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6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验证是否修复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2286000"/>
            <a:ext cx="228600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43984" y="2386584"/>
            <a:ext cx="630936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739128" y="2359152"/>
            <a:ext cx="667512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9600" y="2770632"/>
            <a:ext cx="0" cy="1453896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6739128" y="4572000"/>
            <a:ext cx="667512" cy="0"/>
          </a:xfrm>
          <a:prstGeom prst="line">
            <a:avLst/>
          </a:prstGeom>
          <a:noFill/>
          <a:ln w="26670">
            <a:solidFill>
              <a:srgbClr val="D46A2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1572768"/>
            <a:ext cx="1828800" cy="3200400"/>
          </a:xfrm>
          <a:prstGeom prst="roundRect">
            <a:avLst>
              <a:gd name="adj" fmla="val 4000"/>
            </a:avLst>
          </a:prstGeom>
          <a:solidFill>
            <a:srgbClr val="FFF9F1"/>
          </a:solidFill>
          <a:ln w="12700">
            <a:solidFill>
              <a:srgbClr val="E3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18288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6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看分层结果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38360" y="23042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标准题通过率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38360" y="2724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口语题通过率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38360" y="3145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多条件题通过率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38360" y="35661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无答案拒答率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10928" y="431596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64D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不要只看一个总分。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5897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025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测试集会随真实 Bad Case 持续扩充，逐步变成 RAG 产品的回归资产。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F49EE-8D9C-ECB0-F239-C1D4B3D6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FBF59D6-523B-2091-EB55-4D5591A365C6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AE837F-7277-3E71-A290-3E0C216C784C}"/>
              </a:ext>
            </a:extLst>
          </p:cNvPr>
          <p:cNvSpPr/>
          <p:nvPr/>
        </p:nvSpPr>
        <p:spPr>
          <a:xfrm>
            <a:off x="1051560" y="1443331"/>
            <a:ext cx="9708589" cy="146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3600" b="1" dirty="0" err="1">
                <a:latin typeface="DengXian" panose="02010600030101010101" pitchFamily="2" charset="-122"/>
                <a:ea typeface="DengXian" panose="02010600030101010101" pitchFamily="2" charset="-122"/>
              </a:rPr>
              <a:t>Badcase</a:t>
            </a:r>
            <a:r>
              <a:rPr lang="zh-CN" altLang="en-US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定位</a:t>
            </a:r>
            <a:endParaRPr lang="en-US" altLang="zh-CN" sz="34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F97064-4840-9753-FEF9-F5B907754582}"/>
              </a:ext>
            </a:extLst>
          </p:cNvPr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4A56C2-54DA-7924-16BF-3E04390F8DC5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69615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Bad Case 1：正确片段根本没回来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这种情况改回答语气没有用，要先查知识和检索。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4747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4C7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我月底再参加这个新客优惠还来得及吗？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82296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94960" y="1417320"/>
            <a:ext cx="2743200" cy="914400"/>
          </a:xfrm>
          <a:prstGeom prst="rect">
            <a:avLst/>
          </a:prstGeom>
          <a:solidFill>
            <a:srgbClr val="F7DDD1"/>
          </a:solidFill>
          <a:ln>
            <a:solidFill>
              <a:srgbClr val="E4C7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检索结果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返回“通用报名说明”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没有返回V2活动时间片段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66760" y="1874520"/>
            <a:ext cx="7772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89720" y="1417320"/>
            <a:ext cx="2103120" cy="914400"/>
          </a:xfrm>
          <a:prstGeom prst="rect">
            <a:avLst/>
          </a:prstGeom>
          <a:solidFill>
            <a:srgbClr val="F7DDD1"/>
          </a:solidFill>
          <a:ln>
            <a:solidFill>
              <a:srgbClr val="E4C7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最终回答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建议月底前报名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但没有依据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优先排查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96926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文档是否入库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正确片段是否存在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分块是否拆散关键条件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用户问题是否需要改写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 K/知识源路由是否错误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13712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Bad Case 2：片段找对了，但答案仍然错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这时才优先看Prompt约束、输出模板和模型使用依据的方式。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977640" cy="1325880"/>
          </a:xfrm>
          <a:prstGeom prst="rect">
            <a:avLst/>
          </a:prstGeom>
          <a:solidFill>
            <a:srgbClr val="DDE9D6"/>
          </a:solidFill>
          <a:ln>
            <a:solidFill>
              <a:srgbClr val="E4C7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检索片段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报名截止：7月25日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履约截止：7月31日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适用范围：华东区域餐饮商家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2057400"/>
            <a:ext cx="91440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72200" y="1554480"/>
            <a:ext cx="4114800" cy="868680"/>
          </a:xfrm>
          <a:prstGeom prst="rect">
            <a:avLst/>
          </a:prstGeom>
          <a:solidFill>
            <a:srgbClr val="F7DDD1"/>
          </a:solidFill>
          <a:ln>
            <a:solidFill>
              <a:srgbClr val="E4C7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错误回答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活动到7月31日截止，商家月底前都可以报名。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问题不是没找到，而是模型混淆了“报名截止”和“履约截止”。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969264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Prompt要求保留前提条件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输出模板区分报名/履约/适用范围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答案必须引用能支持结论的片段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必要时让模型先抽取字段，再生成答案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87730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793B"/>
          </a:solidFill>
          <a:ln w="12700">
            <a:solidFill>
              <a:srgbClr val="E97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企业知识库产品设计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1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Bad Case 定位树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6257"/>
                </a:solidFill>
              </a:rPr>
              <a:t>答案错了，不要先改 Prompt；沿着 RAG 链路逐层排查。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852928"/>
            <a:ext cx="320040" cy="0"/>
          </a:xfrm>
          <a:prstGeom prst="line">
            <a:avLst/>
          </a:prstGeom>
          <a:noFill/>
          <a:ln w="12700">
            <a:solidFill>
              <a:srgbClr val="C98A5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86200" y="2852928"/>
            <a:ext cx="320040" cy="0"/>
          </a:xfrm>
          <a:prstGeom prst="line">
            <a:avLst/>
          </a:prstGeom>
          <a:noFill/>
          <a:ln w="12700">
            <a:solidFill>
              <a:srgbClr val="C98A5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15000" y="2852928"/>
            <a:ext cx="320040" cy="0"/>
          </a:xfrm>
          <a:prstGeom prst="line">
            <a:avLst/>
          </a:prstGeom>
          <a:noFill/>
          <a:ln w="12700">
            <a:solidFill>
              <a:srgbClr val="C98A5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2852928"/>
            <a:ext cx="320040" cy="0"/>
          </a:xfrm>
          <a:prstGeom prst="line">
            <a:avLst/>
          </a:prstGeom>
          <a:noFill/>
          <a:ln w="12700">
            <a:solidFill>
              <a:srgbClr val="C98A5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72600" y="2852928"/>
            <a:ext cx="320040" cy="0"/>
          </a:xfrm>
          <a:prstGeom prst="line">
            <a:avLst/>
          </a:prstGeom>
          <a:noFill/>
          <a:ln w="12700">
            <a:solidFill>
              <a:srgbClr val="C98A5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0DF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知识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是否存在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688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3E9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Query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是否理解对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E8D6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正确Chunk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是否召回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3E9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是否重排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到前面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552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E8D6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Prompt是否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正确使用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784080" y="2331720"/>
            <a:ext cx="1417320" cy="1024128"/>
          </a:xfrm>
          <a:prstGeom prst="roundRect">
            <a:avLst>
              <a:gd name="adj" fmla="val 5357"/>
            </a:avLst>
          </a:prstGeom>
          <a:solidFill>
            <a:srgbClr val="FFF0DF"/>
          </a:solidFill>
          <a:ln w="12700">
            <a:solidFill>
              <a:srgbClr val="D9B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46888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答案是否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B2118"/>
                </a:solidFill>
              </a:rPr>
              <a:t>生成正确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75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没入库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旧版冲突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963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省略/指代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条件丢失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251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Top K太小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切片不合理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539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相关但靠后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重复占位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827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证据太乱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引用丢失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11512" y="3502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编造/遗漏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F6257"/>
                </a:solidFill>
              </a:rPr>
              <a:t>格式不稳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0120" y="4983480"/>
            <a:ext cx="10195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C6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51846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118"/>
                </a:solidFill>
              </a:rPr>
              <a:t>定位口诀：先看正确知识在不在 → 再看召回和重排 → 最后才看生成与 Prompt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793B"/>
          </a:solidFill>
          <a:ln w="12700">
            <a:solidFill>
              <a:srgbClr val="E97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8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企业知识库产品设计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1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不同问题，对应不同优化动作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6257"/>
                </a:solidFill>
              </a:rPr>
              <a:t>Bad Case 定位的价值，是把“答案错了”翻译成“该改哪一层”。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6257"/>
                </a:solidFill>
              </a:rPr>
              <a:t>问题层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6257"/>
                </a:solidFill>
              </a:rPr>
              <a:t>优化动作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141732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6257"/>
                </a:solidFill>
              </a:rPr>
              <a:t>典型现象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0DF"/>
          </a:solidFill>
          <a:ln w="12700">
            <a:solidFill>
              <a:srgbClr val="F0D1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47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93B"/>
                </a:solidFill>
              </a:rPr>
              <a:t>知识问题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191109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B2118"/>
                </a:solidFill>
              </a:rPr>
              <a:t>补文档、清旧版、补元数据、重新解析/切片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360920" y="19110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F6257"/>
                </a:solidFill>
              </a:rPr>
              <a:t>正确知识不存在、过期冲突、权限/版本字段缺失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8640" y="253288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8F1"/>
          </a:solidFill>
          <a:ln w="12700">
            <a:solidFill>
              <a:srgbClr val="F0D1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97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93B"/>
                </a:solidFill>
              </a:rPr>
              <a:t>Query问题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66090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B2118"/>
                </a:solidFill>
              </a:rPr>
              <a:t>优化改写、补全上下文、提取过滤条件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360920" y="26609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F6257"/>
                </a:solidFill>
              </a:rPr>
              <a:t>“那信用卡呢”没补全；北京/直营条件丢失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0DF"/>
          </a:solidFill>
          <a:ln w="12700">
            <a:solidFill>
              <a:srgbClr val="F0D1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472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93B"/>
                </a:solidFill>
              </a:rPr>
              <a:t>检索问题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341071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B2118"/>
                </a:solidFill>
              </a:rPr>
              <a:t>调整向量/关键词策略、Top K、过滤条件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360920" y="34107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F6257"/>
                </a:solidFill>
              </a:rPr>
              <a:t>正确Chunk没召回；编号类问题只用向量检索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8F1"/>
          </a:solidFill>
          <a:ln w="12700">
            <a:solidFill>
              <a:srgbClr val="F0D1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1970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93B"/>
                </a:solidFill>
              </a:rPr>
              <a:t>重排问题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416052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B2118"/>
                </a:solidFill>
              </a:rPr>
              <a:t>调整Reranker、去重、版本优先级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360920" y="41605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F6257"/>
                </a:solidFill>
              </a:rPr>
              <a:t>正确Chunk已召回但排得太后；重复Chunk占满前几名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48640" y="4782312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0DF"/>
          </a:solidFill>
          <a:ln w="12700">
            <a:solidFill>
              <a:srgbClr val="F0D1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9469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93B"/>
                </a:solidFill>
              </a:rPr>
              <a:t>生成问题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3160" y="491032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2B2118"/>
                </a:solidFill>
              </a:rPr>
              <a:t>优化Prompt、引用规则、无答案兜底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7360920" y="4910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F6257"/>
                </a:solidFill>
              </a:rPr>
              <a:t>证据存在但模型编造、遗漏条件或引用错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960120" y="5806440"/>
            <a:ext cx="10195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8C6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943600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</a:rPr>
              <a:t>核心结论：Bad Case 定位不是“调模型”，而是沿链路找到真正故障点，再做对应优化。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835E-790D-E3F2-35AD-18921DF32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8258CE9-F4E2-747B-A553-83DC33007F3C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5D7C7E-C558-0C6A-B5D8-355A061357BE}"/>
              </a:ext>
            </a:extLst>
          </p:cNvPr>
          <p:cNvSpPr/>
          <p:nvPr/>
        </p:nvSpPr>
        <p:spPr>
          <a:xfrm>
            <a:off x="1051560" y="1443331"/>
            <a:ext cx="9708589" cy="146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知识治理</a:t>
            </a:r>
            <a:endParaRPr lang="en-US" altLang="zh-CN" sz="3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44A0A1-EFE8-4ED2-ECC3-5E2FC1EDAFD6}"/>
              </a:ext>
            </a:extLst>
          </p:cNvPr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885098-361C-6F7C-0B4B-C732045C1F83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12691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为什么要做知识治理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答错，很多时候不是模型不会，而是知识本身不可用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07008"/>
            <a:ext cx="960120" cy="0"/>
          </a:xfrm>
          <a:prstGeom prst="line">
            <a:avLst/>
          </a:prstGeom>
          <a:noFill/>
          <a:ln w="38100">
            <a:solidFill>
              <a:srgbClr val="E8753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76656" y="1481328"/>
            <a:ext cx="3794760" cy="42519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41F"/>
                </a:solidFill>
              </a:rPr>
              <a:t>知识库里同时存在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2157984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FE5D1"/>
          </a:solidFill>
          <a:ln w="12700">
            <a:solidFill>
              <a:srgbClr val="F0C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2539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A4B2E"/>
                </a:solidFill>
              </a:rPr>
              <a:t>旧版规则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212848" y="2249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25A"/>
                </a:solidFill>
              </a:rPr>
              <a:t>仍然能被检索到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87121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FF5E9"/>
          </a:solidFill>
          <a:ln w="12700">
            <a:solidFill>
              <a:srgbClr val="F0C6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96722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A4B2E"/>
                </a:solidFill>
              </a:rPr>
              <a:t>专项规则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212848" y="29626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25A"/>
                </a:solidFill>
              </a:rPr>
              <a:t>适用对象不清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3584448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FF5E9"/>
          </a:solidFill>
          <a:ln w="12700">
            <a:solidFill>
              <a:srgbClr val="F0C6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68046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A4B2E"/>
                </a:solidFill>
              </a:rPr>
              <a:t>临时通知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212848" y="36758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25A"/>
                </a:solidFill>
              </a:rPr>
              <a:t>没有生效/失效状态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29768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FF5E9"/>
          </a:solidFill>
          <a:ln w="12700">
            <a:solidFill>
              <a:srgbClr val="F0C6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3936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A4B2E"/>
                </a:solidFill>
              </a:rPr>
              <a:t>重复文档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212848" y="43891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625A"/>
                </a:solidFill>
              </a:rPr>
              <a:t>不同口径互相打架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685800" cy="594360"/>
          </a:xfrm>
          <a:prstGeom prst="chevron">
            <a:avLst/>
          </a:prstGeom>
          <a:solidFill>
            <a:srgbClr val="E87535"/>
          </a:solidFill>
          <a:ln w="12700">
            <a:solidFill>
              <a:srgbClr val="E87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1481328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FFF3E8"/>
          </a:solidFill>
          <a:ln w="12700">
            <a:solidFill>
              <a:srgbClr val="F2C1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19659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241F"/>
                </a:solidFill>
              </a:rPr>
              <a:t>系统可能找到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D241F"/>
                </a:solidFill>
              </a:rPr>
              <a:t>“多条看起来都对”的规则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89320" y="3063240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7A4B2E"/>
                </a:solidFill>
              </a:rPr>
              <a:t>但不知道哪一条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7A4B2E"/>
                </a:solidFill>
              </a:rPr>
              <a:t>才适用于当前问题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723376" y="3017520"/>
            <a:ext cx="685800" cy="594360"/>
          </a:xfrm>
          <a:prstGeom prst="chevron">
            <a:avLst/>
          </a:prstGeom>
          <a:solidFill>
            <a:srgbClr val="E87535"/>
          </a:solidFill>
          <a:ln w="12700">
            <a:solidFill>
              <a:srgbClr val="E875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28048" y="1481328"/>
            <a:ext cx="1993392" cy="42519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17830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41F"/>
                </a:solidFill>
              </a:rPr>
              <a:t>最终表现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29800" y="237744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5F45"/>
                </a:solidFill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04120" y="23774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F625A"/>
                </a:solidFill>
              </a:rPr>
              <a:t>引用旧规则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9829800" y="294436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5F45"/>
                </a:solidFill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04120" y="29443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F625A"/>
                </a:solidFill>
              </a:rPr>
              <a:t>混用适用范围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9829800" y="351129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5F45"/>
                </a:solidFill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04120" y="35112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F625A"/>
                </a:solidFill>
              </a:rPr>
              <a:t>无法解释来源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829800" y="40782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5F45"/>
                </a:solidFill>
              </a:rPr>
              <a:t>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04120" y="40782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F625A"/>
                </a:solidFill>
              </a:rPr>
              <a:t>高风险场景乱答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914400" y="5897880"/>
            <a:ext cx="10351008" cy="402336"/>
          </a:xfrm>
          <a:prstGeom prst="roundRect">
            <a:avLst>
              <a:gd name="adj" fmla="val 22727"/>
            </a:avLst>
          </a:prstGeom>
          <a:solidFill>
            <a:srgbClr val="FFF3E8"/>
          </a:solidFill>
          <a:ln w="12700">
            <a:solidFill>
              <a:srgbClr val="F2C1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6025896"/>
            <a:ext cx="10021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A4B2E"/>
                </a:solidFill>
              </a:rPr>
              <a:t>关键判断：RAG 不是文件仓库，知识必须有边界、状态和责任。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9921240" y="644652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D8A7C"/>
                </a:solidFill>
              </a:rPr>
              <a:t>RAG 知识治理 · 1/3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一份好的知识库应该是什么样子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不是资料越多越好，而是知识能被系统正确使用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07008"/>
            <a:ext cx="960120" cy="0"/>
          </a:xfrm>
          <a:prstGeom prst="line">
            <a:avLst/>
          </a:prstGeom>
          <a:noFill/>
          <a:ln w="38100">
            <a:solidFill>
              <a:srgbClr val="E8753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49808" y="1481328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746504"/>
            <a:ext cx="420624" cy="420624"/>
          </a:xfrm>
          <a:prstGeom prst="ellipse">
            <a:avLst/>
          </a:prstGeom>
          <a:solidFill>
            <a:srgbClr val="FFE2C8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28800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91056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正确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91056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内容本身准确，不能把草稿、旧版、口头通知当正式规则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236208" y="1481328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5664" y="1746504"/>
            <a:ext cx="420624" cy="420624"/>
          </a:xfrm>
          <a:prstGeom prst="ellipse">
            <a:avLst/>
          </a:prstGeom>
          <a:solidFill>
            <a:srgbClr val="FFE2C8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828800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77456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完整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77456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核心问题有覆盖，关键条件和例外不缺失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3063240"/>
            <a:ext cx="420624" cy="420624"/>
          </a:xfrm>
          <a:prstGeom prst="ellipse">
            <a:avLst/>
          </a:prstGeom>
          <a:solidFill>
            <a:srgbClr val="FFE2C8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14553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91056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最新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91056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规则变化后能及时更新，旧版本有明确失效关系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236208" y="2798064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3063240"/>
            <a:ext cx="420624" cy="420624"/>
          </a:xfrm>
          <a:prstGeom prst="ellipse">
            <a:avLst/>
          </a:prstGeom>
          <a:solidFill>
            <a:srgbClr val="FFEEDB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14553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77456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一致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77456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同主题规则不互相冲突，专项规则与通用规则有优先级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49808" y="4114800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" y="4379976"/>
            <a:ext cx="420624" cy="420624"/>
          </a:xfrm>
          <a:prstGeom prst="ellipse">
            <a:avLst/>
          </a:prstGeom>
          <a:solidFill>
            <a:srgbClr val="FFEEDB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4622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91056" y="43251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可检索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591056" y="4636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结构清楚、标题明确、Chunk 能独立表达完整含义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236208" y="4114800"/>
            <a:ext cx="50749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5664" y="4379976"/>
            <a:ext cx="420624" cy="420624"/>
          </a:xfrm>
          <a:prstGeom prst="ellipse">
            <a:avLst/>
          </a:prstGeom>
          <a:solidFill>
            <a:srgbClr val="FFEEDB"/>
          </a:solidFill>
          <a:ln w="12700">
            <a:solidFill>
              <a:srgbClr val="EAB5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44622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7535"/>
                </a:solidFill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77456" y="43251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241F"/>
                </a:solidFill>
              </a:rPr>
              <a:t>可追溯/可维护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077456" y="4636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A"/>
                </a:solidFill>
              </a:rPr>
              <a:t>知道来源、状态、适用范围和责任人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77824" y="5742432"/>
            <a:ext cx="10469880" cy="475488"/>
          </a:xfrm>
          <a:prstGeom prst="roundRect">
            <a:avLst>
              <a:gd name="adj" fmla="val 19231"/>
            </a:avLst>
          </a:prstGeom>
          <a:solidFill>
            <a:srgbClr val="FFF3E8"/>
          </a:solidFill>
          <a:ln w="12700">
            <a:solidFill>
              <a:srgbClr val="F2C1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5870448"/>
            <a:ext cx="10140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A4B2E"/>
                </a:solidFill>
              </a:rPr>
              <a:t>判断标准：好的知识库不是“文档堆”，而是可用、可控、可追溯的知识资产。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9921240" y="644652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D8A7C"/>
                </a:solidFill>
              </a:rPr>
              <a:t>RAG 知识治理 · 2/3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如何做到：把知识治理做成持续机制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2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标准化、版本、审核、巡检和 Bad Case 反哺一起构成闭环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07008"/>
            <a:ext cx="960120" cy="0"/>
          </a:xfrm>
          <a:prstGeom prst="line">
            <a:avLst/>
          </a:prstGeom>
          <a:noFill/>
          <a:ln w="38100">
            <a:solidFill>
              <a:srgbClr val="E8753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13232" y="1901952"/>
            <a:ext cx="230428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535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759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241F"/>
                </a:solidFill>
              </a:rPr>
              <a:t>标准化录入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25A"/>
                </a:solidFill>
              </a:rPr>
              <a:t>统一模板、分类、标签和基础元数据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127248" y="2340864"/>
            <a:ext cx="256032" cy="384048"/>
          </a:xfrm>
          <a:prstGeom prst="chevron">
            <a:avLst/>
          </a:prstGeom>
          <a:solidFill>
            <a:srgbClr val="E87535"/>
          </a:solidFill>
          <a:ln w="12700">
            <a:solidFill>
              <a:srgbClr val="E87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901952"/>
            <a:ext cx="230428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57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535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9651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241F"/>
                </a:solidFill>
              </a:rPr>
              <a:t>审核与发布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989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25A"/>
                </a:solidFill>
              </a:rPr>
              <a:t>业务/合规确认后才能进入正式问答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16168" y="2340864"/>
            <a:ext cx="256032" cy="384048"/>
          </a:xfrm>
          <a:prstGeom prst="chevron">
            <a:avLst/>
          </a:prstGeom>
          <a:solidFill>
            <a:srgbClr val="E87535"/>
          </a:solidFill>
          <a:ln w="12700">
            <a:solidFill>
              <a:srgbClr val="E87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901952"/>
            <a:ext cx="230428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57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535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241F"/>
                </a:solidFill>
              </a:rPr>
              <a:t>版本管理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2881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25A"/>
                </a:solidFill>
              </a:rPr>
              <a:t>明确生效、失效、替代关系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705088" y="2340864"/>
            <a:ext cx="256032" cy="384048"/>
          </a:xfrm>
          <a:prstGeom prst="chevron">
            <a:avLst/>
          </a:prstGeom>
          <a:solidFill>
            <a:srgbClr val="E87535"/>
          </a:solidFill>
          <a:ln w="12700">
            <a:solidFill>
              <a:srgbClr val="E87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901952"/>
            <a:ext cx="230428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9C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057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535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7435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241F"/>
                </a:solidFill>
              </a:rPr>
              <a:t>巡检与反馈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1773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25A"/>
                </a:solidFill>
              </a:rPr>
              <a:t>发现过期、冲突、缺失；Bad Case 反哺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46920" y="3703320"/>
            <a:ext cx="0" cy="0"/>
          </a:xfrm>
          <a:prstGeom prst="line">
            <a:avLst/>
          </a:prstGeom>
          <a:noFill/>
          <a:ln w="15240">
            <a:solidFill>
              <a:srgbClr val="E8753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889504" y="3840480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7A4B2E"/>
                </a:solidFill>
              </a:rPr>
              <a:t>回归测试通过后再上线；线上问题继续回流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078992" y="4617720"/>
            <a:ext cx="4800600" cy="841248"/>
          </a:xfrm>
          <a:prstGeom prst="roundRect">
            <a:avLst>
              <a:gd name="adj" fmla="val 13043"/>
            </a:avLst>
          </a:prstGeom>
          <a:solidFill>
            <a:srgbClr val="FFF3E8"/>
          </a:solidFill>
          <a:ln w="12700">
            <a:solidFill>
              <a:srgbClr val="F2C1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41F"/>
                </a:solidFill>
              </a:rPr>
              <a:t>常见机制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322576" y="48280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A"/>
                </a:solidFill>
              </a:rPr>
              <a:t>谁能改规则｜谁审核｜旧版何时失效｜冲突如何预警｜Bad Case 如何转任务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6327648" y="4617720"/>
            <a:ext cx="47823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41F"/>
                </a:solidFill>
              </a:rPr>
              <a:t>课堂收口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52944" y="48280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A"/>
                </a:solidFill>
              </a:rPr>
              <a:t>知识治理不是一次性清理文档，而是持续维护知识质量的产品机制。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024128" y="5961888"/>
            <a:ext cx="10149840" cy="402336"/>
          </a:xfrm>
          <a:prstGeom prst="roundRect">
            <a:avLst>
              <a:gd name="adj" fmla="val 22727"/>
            </a:avLst>
          </a:prstGeom>
          <a:solidFill>
            <a:srgbClr val="FFF3E8"/>
          </a:solidFill>
          <a:ln w="12700">
            <a:solidFill>
              <a:srgbClr val="F2C1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6089904"/>
            <a:ext cx="9820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A4B2E"/>
                </a:solidFill>
              </a:rPr>
              <a:t>核心结论：正确的知识，要在正确时间、正确条件下，被系统正确使用。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9921240" y="644652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D8A7C"/>
                </a:solidFill>
              </a:rPr>
              <a:t>RAG 知识治理 · 3/3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1148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产品经理在RAG项目中到底负责什么？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69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负责把“AI能力”变成可治理、可验收、可上线的产品模块。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第04课 RAG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F8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产品经理需要推动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457200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定义用户问题和业务边界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选择知识源并确认权威性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协调负责人、版本和更新机制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设计无答案、冲突、权限路径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准备测试样本与验收标准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根据Bad Case判断先改哪一层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3108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453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产品经理不需要独立完成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901952"/>
            <a:ext cx="41148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Embedding模型开发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向量数据库底层实现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OCR与文档解析算法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大规模检索性能优化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Reranker模型选型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097280" y="50200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444752" y="5166360"/>
            <a:ext cx="91622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核心能力：场景判断、知识治理、链路设计、问题定位。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C93FC-33DF-FC76-7392-AE75A0B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363657A-C4E5-9E4A-B567-5018C15C3D2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A5ADF1-A713-B6C8-D1A0-346CCB78742C}"/>
              </a:ext>
            </a:extLst>
          </p:cNvPr>
          <p:cNvSpPr/>
          <p:nvPr/>
        </p:nvSpPr>
        <p:spPr>
          <a:xfrm>
            <a:off x="1051560" y="1443331"/>
            <a:ext cx="9708589" cy="146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案例 </a:t>
            </a:r>
            <a:r>
              <a:rPr lang="en-US" altLang="zh-CN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–</a:t>
            </a:r>
            <a:r>
              <a:rPr lang="zh-CN" altLang="en-US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3600" b="1" dirty="0" err="1">
                <a:latin typeface="DengXian" panose="02010600030101010101" pitchFamily="2" charset="-122"/>
                <a:ea typeface="DengXian" panose="02010600030101010101" pitchFamily="2" charset="-122"/>
              </a:rPr>
              <a:t>Coze</a:t>
            </a:r>
            <a:r>
              <a:rPr lang="zh-CN" altLang="en-US" sz="3600" b="1" dirty="0">
                <a:latin typeface="DengXian" panose="02010600030101010101" pitchFamily="2" charset="-122"/>
                <a:ea typeface="DengXian" panose="02010600030101010101" pitchFamily="2" charset="-122"/>
              </a:rPr>
              <a:t>操作</a:t>
            </a:r>
            <a:endParaRPr lang="en-US" altLang="zh-CN" sz="36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6C385E-9EBA-7671-60A7-0E96284D6221}"/>
              </a:ext>
            </a:extLst>
          </p:cNvPr>
          <p:cNvSpPr/>
          <p:nvPr/>
        </p:nvSpPr>
        <p:spPr>
          <a:xfrm>
            <a:off x="1051560" y="2687320"/>
            <a:ext cx="5486400" cy="0"/>
          </a:xfrm>
          <a:prstGeom prst="line">
            <a:avLst/>
          </a:prstGeom>
          <a:noFill/>
          <a:ln w="27940">
            <a:solidFill>
              <a:srgbClr val="D9782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77832F-8F13-9777-00B6-AD51BC5E90FA}"/>
              </a:ext>
            </a:extLst>
          </p:cNvPr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44017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课后作业｜用 Coze 搭一个自己的 RAG MVP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78408"/>
            <a:ext cx="10332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A5C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从工作场景出发，完成一个可演示、可测试、可定位 Bad Case 的知识问答助手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0D8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45F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480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F33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选择一个真实工作中的知识问答场景，用 Coze 搭建最小可用版本，并用测试题验证效果。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选题要求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4526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3F33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有明确知识资料</a:t>
            </a:r>
            <a:endParaRPr lang="en-US" sz="1420" dirty="0"/>
          </a:p>
          <a:p>
            <a:r>
              <a:rPr lang="en-US" sz="1420" dirty="0">
                <a:solidFill>
                  <a:srgbClr val="3F33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用户经常查询</a:t>
            </a:r>
            <a:endParaRPr lang="en-US" sz="1420" dirty="0"/>
          </a:p>
          <a:p>
            <a:r>
              <a:rPr lang="en-US" sz="1420" dirty="0">
                <a:solidFill>
                  <a:srgbClr val="3F33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答案主要来自资料，而不是审批或复杂计算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7A5C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范围控制：1 个用户角色｜1 类核心问题｜1–3 份资料｜5–10 道测试题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5358384" cy="4297680"/>
          </a:xfrm>
          <a:prstGeom prst="roundRect">
            <a:avLst>
              <a:gd name="adj" fmla="val 2553"/>
            </a:avLst>
          </a:prstGeom>
          <a:solidFill>
            <a:srgbClr val="FFFDF9"/>
          </a:solidFill>
          <a:ln w="12700">
            <a:solidFill>
              <a:srgbClr val="F0D8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737360"/>
            <a:ext cx="4617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45F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提交物（5–8页PPT或结构化文档）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19672" y="2331720"/>
            <a:ext cx="438912" cy="438912"/>
          </a:xfrm>
          <a:prstGeom prst="ellipse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432304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78040" y="2304288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场景与边界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17804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55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说明用户、痛点、RAG适用性与不做什么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519672" y="3063240"/>
            <a:ext cx="438912" cy="438912"/>
          </a:xfrm>
          <a:prstGeom prst="ellipse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3163824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3035808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知识准备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178040" y="3319272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55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文档、清洗、Chunk、元数据、版本处理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519672" y="3794760"/>
            <a:ext cx="438912" cy="438912"/>
          </a:xfrm>
          <a:prstGeom prst="ellipse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895344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3767328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搭建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7178040" y="4050792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55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知识库、Agent、Prompt、绑定与调试截图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519672" y="4526280"/>
            <a:ext cx="438912" cy="438912"/>
          </a:xfrm>
          <a:prstGeom prst="ellipse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4626864"/>
            <a:ext cx="365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4498848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 Bad Case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7178040" y="4782312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55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5–10道测试题 + 1个失败案例定位与优化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960120" y="6053328"/>
            <a:ext cx="10287000" cy="347472"/>
          </a:xfrm>
          <a:prstGeom prst="roundRect">
            <a:avLst>
              <a:gd name="adj" fmla="val 26316"/>
            </a:avLst>
          </a:prstGeom>
          <a:solidFill>
            <a:srgbClr val="F4B183">
              <a:alpha val="92000"/>
            </a:srgbClr>
          </a:solidFill>
          <a:ln w="12700">
            <a:solidFill>
              <a:srgbClr val="F4B183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6144768"/>
            <a:ext cx="98755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5B37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评分重点：不是“能不能搭出来”，而是能否把业务问题、知识加工、检索问答、测试验证和迭代优化串成闭环。</a:t>
            </a:r>
            <a:endParaRPr lang="en-US" sz="117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A65F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82D"/>
          </a:solidFill>
          <a:ln w="12700">
            <a:solidFill>
              <a:srgbClr val="D9782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98755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下一课预告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与工具调用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24128" y="2514600"/>
            <a:ext cx="9418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D97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Workflow规定主要路径；RAG提供知识依据；Agent决定是否以及如何调用知识或工具。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2011680" y="4069080"/>
            <a:ext cx="10058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4069080"/>
            <a:ext cx="10058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4069080"/>
            <a:ext cx="1005840" cy="0"/>
          </a:xfrm>
          <a:prstGeom prst="line">
            <a:avLst/>
          </a:prstGeom>
          <a:noFill/>
          <a:ln w="22860">
            <a:solidFill>
              <a:srgbClr val="D9782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3675888"/>
            <a:ext cx="1143000" cy="786384"/>
          </a:xfrm>
          <a:prstGeom prst="roundRect">
            <a:avLst/>
          </a:prstGeom>
          <a:solidFill>
            <a:srgbClr val="DDE9D6"/>
          </a:solidFill>
          <a:ln w="15240">
            <a:solidFill>
              <a:srgbClr val="6F8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721608"/>
            <a:ext cx="99669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Workflow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规定路径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675888"/>
            <a:ext cx="1554480" cy="786384"/>
          </a:xfrm>
          <a:prstGeom prst="roundRect">
            <a:avLst/>
          </a:prstGeom>
          <a:solidFill>
            <a:srgbClr val="FCEBD6"/>
          </a:solidFill>
          <a:ln w="15240">
            <a:solidFill>
              <a:srgbClr val="D978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3721608"/>
            <a:ext cx="140817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提供依据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3675888"/>
            <a:ext cx="1554480" cy="786384"/>
          </a:xfrm>
          <a:prstGeom prst="roundRect">
            <a:avLst/>
          </a:prstGeom>
          <a:solidFill>
            <a:srgbClr val="DCEAF5"/>
          </a:solidFill>
          <a:ln w="15240">
            <a:solidFill>
              <a:srgbClr val="5C7C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3721608"/>
            <a:ext cx="140817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工具/API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执行或查询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3675888"/>
            <a:ext cx="1554480" cy="786384"/>
          </a:xfrm>
          <a:prstGeom prst="roundRect">
            <a:avLst/>
          </a:prstGeom>
          <a:solidFill>
            <a:srgbClr val="F7DDD1"/>
          </a:solidFill>
          <a:ln w="15240">
            <a:solidFill>
              <a:srgbClr val="B45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3721608"/>
            <a:ext cx="140817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A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动态编排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结束页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73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4672</Words>
  <Application>Microsoft Macintosh PowerPoint</Application>
  <PresentationFormat>宽屏</PresentationFormat>
  <Paragraphs>832</Paragraphs>
  <Slides>44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DengXian</vt:lpstr>
      <vt:lpstr>SimHei</vt:lpstr>
      <vt:lpstr>Microsoft YaHei</vt:lpstr>
      <vt:lpstr>Noto Sans CJK SC</vt:lpstr>
      <vt:lpstr>Aptos</vt:lpstr>
      <vt:lpstr>Aptos Display</vt:lpstr>
      <vt:lpstr>Aptos Mono</vt:lpstr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第04课｜RAG：让模型带着依据回答</dc:title>
  <dc:subject>AI产品经理课 第04课 RAG</dc:subject>
  <dc:creator>OpenAI</dc:creator>
  <cp:lastModifiedBy>didi</cp:lastModifiedBy>
  <cp:revision>5</cp:revision>
  <dcterms:created xsi:type="dcterms:W3CDTF">2026-07-25T08:44:30Z</dcterms:created>
  <dcterms:modified xsi:type="dcterms:W3CDTF">2026-07-27T03:19:06Z</dcterms:modified>
</cp:coreProperties>
</file>