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</p:sldIdLst>
  <p:notesMasterIdLst>
    <p:notesMasterId r:id="rId5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notesMaster" Target="notesMasters/notesMaster1.xml"/><Relationship Id="rId55" Type="http://schemas.openxmlformats.org/officeDocument/2006/relationships/presProps" Target="presProps.xml"/><Relationship Id="rId56" Type="http://schemas.openxmlformats.org/officeDocument/2006/relationships/viewProps" Target="viewProps.xml"/><Relationship Id="rId57" Type="http://schemas.openxmlformats.org/officeDocument/2006/relationships/theme" Target="theme/theme1.xml"/><Relationship Id="rId5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" y="658368"/>
            <a:ext cx="1005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C353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3500" dirty="0"/>
          </a:p>
        </p:txBody>
      </p:sp>
      <p:sp>
        <p:nvSpPr>
          <p:cNvPr id="4" name="Text 2"/>
          <p:cNvSpPr/>
          <p:nvPr/>
        </p:nvSpPr>
        <p:spPr>
          <a:xfrm>
            <a:off x="804672" y="1444752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RAG与企业知识库产品设计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41248" y="2395728"/>
            <a:ext cx="8869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从固定规则卡，到可检索、可更新、可追溯的知识型AI产品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732520" y="1051560"/>
            <a:ext cx="1920240" cy="329184"/>
          </a:xfrm>
          <a:prstGeom prst="roundRect">
            <a:avLst>
              <a:gd name="adj" fmla="val 13889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69096" y="1124712"/>
            <a:ext cx="18470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知识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732520" y="2011680"/>
            <a:ext cx="1920240" cy="329184"/>
          </a:xfrm>
          <a:prstGeom prst="roundRect">
            <a:avLst>
              <a:gd name="adj" fmla="val 13889"/>
            </a:avLst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69096" y="2084832"/>
            <a:ext cx="18470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检索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732520" y="2971800"/>
            <a:ext cx="1920240" cy="329184"/>
          </a:xfrm>
          <a:prstGeom prst="roundRect">
            <a:avLst>
              <a:gd name="adj" fmla="val 13889"/>
            </a:avLst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69096" y="3044952"/>
            <a:ext cx="18470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生成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732520" y="3931920"/>
            <a:ext cx="1920240" cy="329184"/>
          </a:xfrm>
          <a:prstGeom prst="roundRect">
            <a:avLst>
              <a:gd name="adj" fmla="val 13889"/>
            </a:avLst>
          </a:prstGeom>
          <a:solidFill>
            <a:srgbClr val="74546A"/>
          </a:solidFill>
          <a:ln w="12700">
            <a:solidFill>
              <a:srgbClr val="74546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769096" y="4005072"/>
            <a:ext cx="18470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依据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823960" y="5879592"/>
            <a:ext cx="2331720" cy="329184"/>
          </a:xfrm>
          <a:prstGeom prst="roundRect">
            <a:avLst>
              <a:gd name="adj" fmla="val 13889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60536" y="5952744"/>
            <a:ext cx="2258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第一阶段 · 第04课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13889"/>
            </a:avLst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47472"/>
            <a:ext cx="493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课程任务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今天会完成什么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solidFill>
            <a:srgbClr val="D8D0C2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15200" y="6455664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课程任务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13232" y="1627632"/>
            <a:ext cx="2528316" cy="3520440"/>
          </a:xfrm>
          <a:prstGeom prst="roundRect">
            <a:avLst>
              <a:gd name="adj" fmla="val 1808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13232" y="1627632"/>
            <a:ext cx="64008" cy="3520440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828800"/>
            <a:ext cx="21076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看懂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32688" y="2414016"/>
            <a:ext cx="208940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RAG双链路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461004" y="1627632"/>
            <a:ext cx="2528316" cy="3520440"/>
          </a:xfrm>
          <a:prstGeom prst="roundRect">
            <a:avLst>
              <a:gd name="adj" fmla="val 1808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461004" y="1627632"/>
            <a:ext cx="64008" cy="3520440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80460" y="1828800"/>
            <a:ext cx="21076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会判断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680460" y="2414016"/>
            <a:ext cx="208940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Prompt / RAG / 业务系统 / 人工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208776" y="1627632"/>
            <a:ext cx="2528316" cy="3520440"/>
          </a:xfrm>
          <a:prstGeom prst="roundRect">
            <a:avLst>
              <a:gd name="adj" fmla="val 1808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08776" y="1627632"/>
            <a:ext cx="64008" cy="3520440"/>
          </a:xfrm>
          <a:prstGeom prst="rect">
            <a:avLst/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28232" y="1828800"/>
            <a:ext cx="21076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会设计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428232" y="2414016"/>
            <a:ext cx="208940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知识来源、版本、权限与失败状态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8956548" y="1627632"/>
            <a:ext cx="2528316" cy="3520440"/>
          </a:xfrm>
          <a:prstGeom prst="roundRect">
            <a:avLst>
              <a:gd name="adj" fmla="val 1808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956548" y="1627632"/>
            <a:ext cx="64008" cy="3520440"/>
          </a:xfrm>
          <a:prstGeom prst="rect">
            <a:avLst/>
          </a:prstGeom>
          <a:solidFill>
            <a:srgbClr val="74546A"/>
          </a:solidFill>
          <a:ln w="12700">
            <a:solidFill>
              <a:srgbClr val="74546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76004" y="1828800"/>
            <a:ext cx="21076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会验证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176004" y="2414016"/>
            <a:ext cx="208940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最小知识库＋5条测试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932688" y="5559552"/>
            <a:ext cx="10314432" cy="512064"/>
          </a:xfrm>
          <a:prstGeom prst="roundRect">
            <a:avLst>
              <a:gd name="adj" fmla="val 8929"/>
            </a:avLst>
          </a:prstGeom>
          <a:solidFill>
            <a:srgbClr val="DDEBE8"/>
          </a:solidFill>
          <a:ln w="12700">
            <a:solidFill>
              <a:srgbClr val="DDEB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43000" y="5687568"/>
            <a:ext cx="9893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387B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产出：《商家规则RAG设计与测试单》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13889"/>
            </a:avLst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47472"/>
            <a:ext cx="493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课程任务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上一课已经做到哪里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solidFill>
            <a:srgbClr val="D8D0C2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15200" y="6455664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课程任务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13232" y="1627632"/>
            <a:ext cx="2528316" cy="3520440"/>
          </a:xfrm>
          <a:prstGeom prst="roundRect">
            <a:avLst>
              <a:gd name="adj" fmla="val 1808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13232" y="1627632"/>
            <a:ext cx="64008" cy="3520440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828800"/>
            <a:ext cx="21076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RULE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32688" y="2414016"/>
            <a:ext cx="208940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固定规则卡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461004" y="1627632"/>
            <a:ext cx="2528316" cy="3520440"/>
          </a:xfrm>
          <a:prstGeom prst="roundRect">
            <a:avLst>
              <a:gd name="adj" fmla="val 1808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461004" y="1627632"/>
            <a:ext cx="64008" cy="3520440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80460" y="1828800"/>
            <a:ext cx="21076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DATA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680460" y="2414016"/>
            <a:ext cx="208940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查询业务系统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208776" y="1627632"/>
            <a:ext cx="2528316" cy="3520440"/>
          </a:xfrm>
          <a:prstGeom prst="roundRect">
            <a:avLst>
              <a:gd name="adj" fmla="val 1808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08776" y="1627632"/>
            <a:ext cx="64008" cy="3520440"/>
          </a:xfrm>
          <a:prstGeom prst="rect">
            <a:avLst/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28232" y="1828800"/>
            <a:ext cx="21076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COMPLAINT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428232" y="2414016"/>
            <a:ext cx="208940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转人工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8956548" y="1627632"/>
            <a:ext cx="2528316" cy="3520440"/>
          </a:xfrm>
          <a:prstGeom prst="roundRect">
            <a:avLst>
              <a:gd name="adj" fmla="val 1808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956548" y="1627632"/>
            <a:ext cx="64008" cy="3520440"/>
          </a:xfrm>
          <a:prstGeom prst="rect">
            <a:avLst/>
          </a:prstGeom>
          <a:solidFill>
            <a:srgbClr val="74546A"/>
          </a:solidFill>
          <a:ln w="12700">
            <a:solidFill>
              <a:srgbClr val="74546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76004" y="1828800"/>
            <a:ext cx="21076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OTHER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176004" y="2414016"/>
            <a:ext cx="208940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追问澄清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932688" y="5559552"/>
            <a:ext cx="10314432" cy="512064"/>
          </a:xfrm>
          <a:prstGeom prst="roundRect">
            <a:avLst>
              <a:gd name="adj" fmla="val 8929"/>
            </a:avLst>
          </a:prstGeom>
          <a:solidFill>
            <a:srgbClr val="F2E7D5"/>
          </a:solidFill>
          <a:ln w="12700">
            <a:solidFill>
              <a:srgbClr val="F2E7D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43000" y="5687568"/>
            <a:ext cx="9893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D18A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今天只升级RULE。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13889"/>
            </a:avLst>
          </a:prstGeom>
          <a:solidFill>
            <a:srgbClr val="74546A"/>
          </a:solidFill>
          <a:ln w="12700">
            <a:solidFill>
              <a:srgbClr val="7454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47472"/>
            <a:ext cx="493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课程任务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一张规则卡为什么不够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solidFill>
            <a:srgbClr val="D8D0C2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15200" y="6455664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课程任务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13232" y="1627632"/>
            <a:ext cx="3444240" cy="3520440"/>
          </a:xfrm>
          <a:prstGeom prst="roundRect">
            <a:avLst>
              <a:gd name="adj" fmla="val 1327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13232" y="1627632"/>
            <a:ext cx="64008" cy="3520440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828800"/>
            <a:ext cx="30236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放不下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32688" y="2414016"/>
            <a:ext cx="3005328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规则从1页变100份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376928" y="1627632"/>
            <a:ext cx="3444240" cy="3520440"/>
          </a:xfrm>
          <a:prstGeom prst="roundRect">
            <a:avLst>
              <a:gd name="adj" fmla="val 1327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376928" y="1627632"/>
            <a:ext cx="64008" cy="3520440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96384" y="1828800"/>
            <a:ext cx="30236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改不动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596384" y="2414016"/>
            <a:ext cx="3005328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多个Prompt复制同一规则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040624" y="1627632"/>
            <a:ext cx="3444240" cy="3520440"/>
          </a:xfrm>
          <a:prstGeom prst="roundRect">
            <a:avLst>
              <a:gd name="adj" fmla="val 1327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040624" y="1627632"/>
            <a:ext cx="64008" cy="3520440"/>
          </a:xfrm>
          <a:prstGeom prst="rect">
            <a:avLst/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60080" y="1828800"/>
            <a:ext cx="30236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查不清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260080" y="2414016"/>
            <a:ext cx="3005328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不知道答案来自哪个版本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932688" y="5559552"/>
            <a:ext cx="10314432" cy="512064"/>
          </a:xfrm>
          <a:prstGeom prst="roundRect">
            <a:avLst>
              <a:gd name="adj" fmla="val 8929"/>
            </a:avLst>
          </a:prstGeom>
          <a:solidFill>
            <a:srgbClr val="E8E0E7"/>
          </a:solidFill>
          <a:ln w="12700">
            <a:solidFill>
              <a:srgbClr val="E8E0E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43000" y="5687568"/>
            <a:ext cx="9893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74546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问题不只是模型记不住，而是知识无法治理。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13889"/>
            </a:avLst>
          </a:prstGeom>
          <a:solidFill>
            <a:srgbClr val="527553"/>
          </a:solidFill>
          <a:ln w="12700">
            <a:solidFill>
              <a:srgbClr val="5275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47472"/>
            <a:ext cx="493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课程任务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本课只升级RULE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solidFill>
            <a:srgbClr val="D8D0C2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15200" y="6455664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课程任务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13232" y="1627632"/>
            <a:ext cx="5276088" cy="3520440"/>
          </a:xfrm>
          <a:prstGeom prst="roundRect">
            <a:avLst>
              <a:gd name="adj" fmla="val 1299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13232" y="1627632"/>
            <a:ext cx="64008" cy="3520440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828800"/>
            <a:ext cx="48554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原来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32688" y="2414016"/>
            <a:ext cx="483717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RULE → 固定规则卡 → 回答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208776" y="1627632"/>
            <a:ext cx="5276088" cy="3520440"/>
          </a:xfrm>
          <a:prstGeom prst="roundRect">
            <a:avLst>
              <a:gd name="adj" fmla="val 1299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08776" y="1627632"/>
            <a:ext cx="64008" cy="3520440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28232" y="1828800"/>
            <a:ext cx="48554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今天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28232" y="2414016"/>
            <a:ext cx="483717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RULE → 检索知识库 → 基于依据回答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932688" y="5559552"/>
            <a:ext cx="10314432" cy="512064"/>
          </a:xfrm>
          <a:prstGeom prst="roundRect">
            <a:avLst>
              <a:gd name="adj" fmla="val 8929"/>
            </a:avLst>
          </a:prstGeom>
          <a:solidFill>
            <a:srgbClr val="E2E9DE"/>
          </a:solidFill>
          <a:ln w="12700">
            <a:solidFill>
              <a:srgbClr val="E2E9D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43000" y="5687568"/>
            <a:ext cx="9893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52755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其他三路保持不变。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13889"/>
            </a:avLst>
          </a:prstGeom>
          <a:solidFill>
            <a:srgbClr val="405D78"/>
          </a:solidFill>
          <a:ln w="12700">
            <a:solidFill>
              <a:srgbClr val="405D7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47472"/>
            <a:ext cx="493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RAG边界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RAG是什么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solidFill>
            <a:srgbClr val="D8D0C2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15200" y="6455664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 RAG边界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13232" y="1627632"/>
            <a:ext cx="3444240" cy="3520440"/>
          </a:xfrm>
          <a:prstGeom prst="roundRect">
            <a:avLst>
              <a:gd name="adj" fmla="val 1327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13232" y="1627632"/>
            <a:ext cx="64008" cy="3520440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828800"/>
            <a:ext cx="30236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检索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32688" y="2414016"/>
            <a:ext cx="3005328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从指定知识源找相关内容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376928" y="1627632"/>
            <a:ext cx="3444240" cy="3520440"/>
          </a:xfrm>
          <a:prstGeom prst="roundRect">
            <a:avLst>
              <a:gd name="adj" fmla="val 1327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376928" y="1627632"/>
            <a:ext cx="64008" cy="3520440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96384" y="1828800"/>
            <a:ext cx="30236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增强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596384" y="2414016"/>
            <a:ext cx="3005328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把片段加入当前上下文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040624" y="1627632"/>
            <a:ext cx="3444240" cy="3520440"/>
          </a:xfrm>
          <a:prstGeom prst="roundRect">
            <a:avLst>
              <a:gd name="adj" fmla="val 1327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040624" y="1627632"/>
            <a:ext cx="64008" cy="3520440"/>
          </a:xfrm>
          <a:prstGeom prst="rect">
            <a:avLst/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60080" y="1828800"/>
            <a:ext cx="30236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生成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260080" y="2414016"/>
            <a:ext cx="3005328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大模型基于依据组织答案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932688" y="5559552"/>
            <a:ext cx="10314432" cy="512064"/>
          </a:xfrm>
          <a:prstGeom prst="roundRect">
            <a:avLst>
              <a:gd name="adj" fmla="val 8929"/>
            </a:avLst>
          </a:prstGeom>
          <a:solidFill>
            <a:srgbClr val="DDE5EB"/>
          </a:solidFill>
          <a:ln w="12700">
            <a:solidFill>
              <a:srgbClr val="DDE5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43000" y="5687568"/>
            <a:ext cx="9893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405D7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Retrieval-Augmented Generation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13889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47472"/>
            <a:ext cx="493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RAG边界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先找资料，再带资料回答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solidFill>
            <a:srgbClr val="D8D0C2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15200" y="6455664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 RAG边界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07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13232" y="1627632"/>
            <a:ext cx="5276088" cy="3520440"/>
          </a:xfrm>
          <a:prstGeom prst="roundRect">
            <a:avLst>
              <a:gd name="adj" fmla="val 1299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13232" y="1627632"/>
            <a:ext cx="64008" cy="3520440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828800"/>
            <a:ext cx="48554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闭卷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32688" y="2414016"/>
            <a:ext cx="483717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模型已有知识＋当前Prompt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208776" y="1627632"/>
            <a:ext cx="5276088" cy="3520440"/>
          </a:xfrm>
          <a:prstGeom prst="roundRect">
            <a:avLst>
              <a:gd name="adj" fmla="val 1299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08776" y="1627632"/>
            <a:ext cx="64008" cy="3520440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28232" y="1828800"/>
            <a:ext cx="48554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开卷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28232" y="2414016"/>
            <a:ext cx="483717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先查允许使用的资料，再回答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932688" y="5559552"/>
            <a:ext cx="10314432" cy="512064"/>
          </a:xfrm>
          <a:prstGeom prst="roundRect">
            <a:avLst>
              <a:gd name="adj" fmla="val 8929"/>
            </a:avLst>
          </a:prstGeom>
          <a:solidFill>
            <a:srgbClr val="F2E2DB"/>
          </a:solidFill>
          <a:ln w="12700">
            <a:solidFill>
              <a:srgbClr val="F2E2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43000" y="5687568"/>
            <a:ext cx="9893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C353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真实产品还要处理版本、权限、无答案与引用。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13889"/>
            </a:avLst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47472"/>
            <a:ext cx="493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RAG边界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RAG的四个产品价值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solidFill>
            <a:srgbClr val="D8D0C2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15200" y="6455664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 RAG边界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08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13232" y="1627632"/>
            <a:ext cx="2528316" cy="3520440"/>
          </a:xfrm>
          <a:prstGeom prst="roundRect">
            <a:avLst>
              <a:gd name="adj" fmla="val 1808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13232" y="1627632"/>
            <a:ext cx="64008" cy="3520440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828800"/>
            <a:ext cx="21076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内部知识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32688" y="2414016"/>
            <a:ext cx="208940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补充模型不知道的企业规则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461004" y="1627632"/>
            <a:ext cx="2528316" cy="3520440"/>
          </a:xfrm>
          <a:prstGeom prst="roundRect">
            <a:avLst>
              <a:gd name="adj" fmla="val 1808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461004" y="1627632"/>
            <a:ext cx="64008" cy="3520440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80460" y="1828800"/>
            <a:ext cx="21076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持续更新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680460" y="2414016"/>
            <a:ext cx="208940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不改模型参数也能更新知识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208776" y="1627632"/>
            <a:ext cx="2528316" cy="3520440"/>
          </a:xfrm>
          <a:prstGeom prst="roundRect">
            <a:avLst>
              <a:gd name="adj" fmla="val 1808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08776" y="1627632"/>
            <a:ext cx="64008" cy="3520440"/>
          </a:xfrm>
          <a:prstGeom prst="rect">
            <a:avLst/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28232" y="1828800"/>
            <a:ext cx="21076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多样表达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428232" y="2414016"/>
            <a:ext cx="208940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根据语义找相近内容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8956548" y="1627632"/>
            <a:ext cx="2528316" cy="3520440"/>
          </a:xfrm>
          <a:prstGeom prst="roundRect">
            <a:avLst>
              <a:gd name="adj" fmla="val 1808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956548" y="1627632"/>
            <a:ext cx="64008" cy="3520440"/>
          </a:xfrm>
          <a:prstGeom prst="rect">
            <a:avLst/>
          </a:prstGeom>
          <a:solidFill>
            <a:srgbClr val="74546A"/>
          </a:solidFill>
          <a:ln w="12700">
            <a:solidFill>
              <a:srgbClr val="74546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76004" y="1828800"/>
            <a:ext cx="21076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可追溯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176004" y="2414016"/>
            <a:ext cx="208940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答案关联文档与版本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932688" y="5559552"/>
            <a:ext cx="10314432" cy="512064"/>
          </a:xfrm>
          <a:prstGeom prst="roundRect">
            <a:avLst>
              <a:gd name="adj" fmla="val 8929"/>
            </a:avLst>
          </a:prstGeom>
          <a:solidFill>
            <a:srgbClr val="DDEBE8"/>
          </a:solidFill>
          <a:ln w="12700">
            <a:solidFill>
              <a:srgbClr val="DDEB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43000" y="5687568"/>
            <a:ext cx="9893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387B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知识不是越多越好，而是越可靠越好。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13889"/>
            </a:avLst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47472"/>
            <a:ext cx="493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RAG边界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四类问题，四种能力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solidFill>
            <a:srgbClr val="D8D0C2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15200" y="6455664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 RAG边界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09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13232" y="1627632"/>
            <a:ext cx="2528316" cy="3520440"/>
          </a:xfrm>
          <a:prstGeom prst="roundRect">
            <a:avLst>
              <a:gd name="adj" fmla="val 1808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13232" y="1627632"/>
            <a:ext cx="64008" cy="3520440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828800"/>
            <a:ext cx="21076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Prompt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32688" y="2414016"/>
            <a:ext cx="208940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把一段话改简洁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461004" y="1627632"/>
            <a:ext cx="2528316" cy="3520440"/>
          </a:xfrm>
          <a:prstGeom prst="roundRect">
            <a:avLst>
              <a:gd name="adj" fmla="val 1808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461004" y="1627632"/>
            <a:ext cx="64008" cy="3520440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80460" y="1828800"/>
            <a:ext cx="21076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RAG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680460" y="2414016"/>
            <a:ext cx="208940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新客活动何时截止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208776" y="1627632"/>
            <a:ext cx="2528316" cy="3520440"/>
          </a:xfrm>
          <a:prstGeom prst="roundRect">
            <a:avLst>
              <a:gd name="adj" fmla="val 1808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08776" y="1627632"/>
            <a:ext cx="64008" cy="3520440"/>
          </a:xfrm>
          <a:prstGeom prst="rect">
            <a:avLst/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28232" y="1828800"/>
            <a:ext cx="21076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业务系统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428232" y="2414016"/>
            <a:ext cx="208940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门店今天用了多少补贴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8956548" y="1627632"/>
            <a:ext cx="2528316" cy="3520440"/>
          </a:xfrm>
          <a:prstGeom prst="roundRect">
            <a:avLst>
              <a:gd name="adj" fmla="val 1808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956548" y="1627632"/>
            <a:ext cx="64008" cy="3520440"/>
          </a:xfrm>
          <a:prstGeom prst="rect">
            <a:avLst/>
          </a:prstGeom>
          <a:solidFill>
            <a:srgbClr val="74546A"/>
          </a:solidFill>
          <a:ln w="12700">
            <a:solidFill>
              <a:srgbClr val="74546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76004" y="1828800"/>
            <a:ext cx="21076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人工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176004" y="2414016"/>
            <a:ext cx="208940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平台必须赔我5000元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932688" y="5559552"/>
            <a:ext cx="10314432" cy="512064"/>
          </a:xfrm>
          <a:prstGeom prst="roundRect">
            <a:avLst>
              <a:gd name="adj" fmla="val 8929"/>
            </a:avLst>
          </a:prstGeom>
          <a:solidFill>
            <a:srgbClr val="F2E7D5"/>
          </a:solidFill>
          <a:ln w="12700">
            <a:solidFill>
              <a:srgbClr val="F2E7D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43000" y="5687568"/>
            <a:ext cx="9893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D18A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先判断数据来源，再选择技术。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13889"/>
            </a:avLst>
          </a:prstGeom>
          <a:solidFill>
            <a:srgbClr val="74546A"/>
          </a:solidFill>
          <a:ln w="12700">
            <a:solidFill>
              <a:srgbClr val="7454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47472"/>
            <a:ext cx="493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RAG边界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RAG不是数据库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solidFill>
            <a:srgbClr val="D8D0C2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15200" y="6455664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 RAG边界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13232" y="1627632"/>
            <a:ext cx="5276088" cy="3520440"/>
          </a:xfrm>
          <a:prstGeom prst="roundRect">
            <a:avLst>
              <a:gd name="adj" fmla="val 1299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13232" y="1627632"/>
            <a:ext cx="64008" cy="3520440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828800"/>
            <a:ext cx="48554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规则知识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32688" y="2414016"/>
            <a:ext cx="483717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补贴如何计算 → RAG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208776" y="1627632"/>
            <a:ext cx="5276088" cy="3520440"/>
          </a:xfrm>
          <a:prstGeom prst="roundRect">
            <a:avLst>
              <a:gd name="adj" fmla="val 1299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08776" y="1627632"/>
            <a:ext cx="64008" cy="3520440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28232" y="1828800"/>
            <a:ext cx="48554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实时事实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28232" y="2414016"/>
            <a:ext cx="483717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我今天用了多少 → 业务系统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932688" y="5559552"/>
            <a:ext cx="10314432" cy="512064"/>
          </a:xfrm>
          <a:prstGeom prst="roundRect">
            <a:avLst>
              <a:gd name="adj" fmla="val 8929"/>
            </a:avLst>
          </a:prstGeom>
          <a:solidFill>
            <a:srgbClr val="E8E0E7"/>
          </a:solidFill>
          <a:ln w="12700">
            <a:solidFill>
              <a:srgbClr val="E8E0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43000" y="5687568"/>
            <a:ext cx="9893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74546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相关文字不等于个体实时答案。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13889"/>
            </a:avLst>
          </a:prstGeom>
          <a:solidFill>
            <a:srgbClr val="527553"/>
          </a:solidFill>
          <a:ln w="12700">
            <a:solidFill>
              <a:srgbClr val="5275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47472"/>
            <a:ext cx="493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RAG边界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RAG与幻觉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solidFill>
            <a:srgbClr val="D8D0C2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15200" y="6455664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 RAG边界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11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13232" y="1627632"/>
            <a:ext cx="5276088" cy="3520440"/>
          </a:xfrm>
          <a:prstGeom prst="roundRect">
            <a:avLst>
              <a:gd name="adj" fmla="val 1299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13232" y="1627632"/>
            <a:ext cx="64008" cy="3520440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828800"/>
            <a:ext cx="48554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能做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32688" y="2414016"/>
            <a:ext cx="483717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增加外部依据、支持溯源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208776" y="1627632"/>
            <a:ext cx="5276088" cy="3520440"/>
          </a:xfrm>
          <a:prstGeom prst="roundRect">
            <a:avLst>
              <a:gd name="adj" fmla="val 1299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08776" y="1627632"/>
            <a:ext cx="64008" cy="3520440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28232" y="1828800"/>
            <a:ext cx="48554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仍会错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28232" y="2414016"/>
            <a:ext cx="483717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知识过期、检索找错、模型未忠实使用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932688" y="5559552"/>
            <a:ext cx="10314432" cy="512064"/>
          </a:xfrm>
          <a:prstGeom prst="roundRect">
            <a:avLst>
              <a:gd name="adj" fmla="val 8929"/>
            </a:avLst>
          </a:prstGeom>
          <a:solidFill>
            <a:srgbClr val="E2E9DE"/>
          </a:solidFill>
          <a:ln w="12700">
            <a:solidFill>
              <a:srgbClr val="E2E9D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43000" y="5687568"/>
            <a:ext cx="9893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52755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缓解，不消除。</a:t>
            </a:r>
            <a:endParaRPr lang="en-US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13889"/>
            </a:avLst>
          </a:prstGeom>
          <a:solidFill>
            <a:srgbClr val="405D78"/>
          </a:solidFill>
          <a:ln w="12700">
            <a:solidFill>
              <a:srgbClr val="405D7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47472"/>
            <a:ext cx="493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RAG边界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五个问题怎么选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solidFill>
            <a:srgbClr val="D8D0C2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15200" y="6455664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 RAG边界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12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13232" y="1627632"/>
            <a:ext cx="2528316" cy="1901952"/>
          </a:xfrm>
          <a:prstGeom prst="roundRect">
            <a:avLst>
              <a:gd name="adj" fmla="val 2404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13232" y="1627632"/>
            <a:ext cx="64008" cy="1901952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828800"/>
            <a:ext cx="21076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差旅标准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32688" y="2414016"/>
            <a:ext cx="208940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RAG，依据企业制度回答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461004" y="1627632"/>
            <a:ext cx="2528316" cy="1901952"/>
          </a:xfrm>
          <a:prstGeom prst="roundRect">
            <a:avLst>
              <a:gd name="adj" fmla="val 2404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461004" y="1627632"/>
            <a:ext cx="64008" cy="1901952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80460" y="1828800"/>
            <a:ext cx="21076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工资是否到账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680460" y="2414016"/>
            <a:ext cx="208940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业务系统，读取个人实时状态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208776" y="1627632"/>
            <a:ext cx="2528316" cy="1901952"/>
          </a:xfrm>
          <a:prstGeom prst="roundRect">
            <a:avLst>
              <a:gd name="adj" fmla="val 2404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08776" y="1627632"/>
            <a:ext cx="64008" cy="1901952"/>
          </a:xfrm>
          <a:prstGeom prst="rect">
            <a:avLst/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28232" y="1828800"/>
            <a:ext cx="21076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产品手册答疑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428232" y="2414016"/>
            <a:ext cx="208940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RAG，检索可更新文档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956548" y="1627632"/>
            <a:ext cx="2528316" cy="1901952"/>
          </a:xfrm>
          <a:prstGeom prst="roundRect">
            <a:avLst>
              <a:gd name="adj" fmla="val 2404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956548" y="1627632"/>
            <a:ext cx="64008" cy="1901952"/>
          </a:xfrm>
          <a:prstGeom prst="rect">
            <a:avLst/>
          </a:prstGeom>
          <a:solidFill>
            <a:srgbClr val="74546A"/>
          </a:solidFill>
          <a:ln w="12700">
            <a:solidFill>
              <a:srgbClr val="74546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76004" y="1828800"/>
            <a:ext cx="21076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创意口号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176004" y="2414016"/>
            <a:ext cx="208940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直接生成，重点是表达质量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713232" y="3749040"/>
            <a:ext cx="2528316" cy="1901952"/>
          </a:xfrm>
          <a:prstGeom prst="roundRect">
            <a:avLst>
              <a:gd name="adj" fmla="val 2404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13232" y="3749040"/>
            <a:ext cx="64008" cy="1901952"/>
          </a:xfrm>
          <a:prstGeom prst="rect">
            <a:avLst/>
          </a:prstGeom>
          <a:solidFill>
            <a:srgbClr val="527553"/>
          </a:solidFill>
          <a:ln w="12700">
            <a:solidFill>
              <a:srgbClr val="52755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32688" y="3950208"/>
            <a:ext cx="21076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退款最新状态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932688" y="4535424"/>
            <a:ext cx="208940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业务系统，读取订单进度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932688" y="5559552"/>
            <a:ext cx="10314432" cy="512064"/>
          </a:xfrm>
          <a:prstGeom prst="roundRect">
            <a:avLst>
              <a:gd name="adj" fmla="val 8929"/>
            </a:avLst>
          </a:prstGeom>
          <a:solidFill>
            <a:srgbClr val="DDE5EB"/>
          </a:solidFill>
          <a:ln w="12700">
            <a:solidFill>
              <a:srgbClr val="DDE5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143000" y="5687568"/>
            <a:ext cx="9893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405D7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选择能力，并说明数据来自哪里。</a:t>
            </a:r>
            <a:endParaRPr lang="en-US" sz="14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13889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47472"/>
            <a:ext cx="493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RAG双链路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RAG不是一条线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solidFill>
            <a:srgbClr val="D8D0C2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15200" y="6455664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 RAG双链路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13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13232" y="1627632"/>
            <a:ext cx="5276088" cy="3520440"/>
          </a:xfrm>
          <a:prstGeom prst="roundRect">
            <a:avLst>
              <a:gd name="adj" fmla="val 1299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13232" y="1627632"/>
            <a:ext cx="64008" cy="3520440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828800"/>
            <a:ext cx="48554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离线建库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32688" y="2414016"/>
            <a:ext cx="483717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提问前把文档变成可检索知识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208776" y="1627632"/>
            <a:ext cx="5276088" cy="3520440"/>
          </a:xfrm>
          <a:prstGeom prst="roundRect">
            <a:avLst>
              <a:gd name="adj" fmla="val 1299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08776" y="1627632"/>
            <a:ext cx="64008" cy="3520440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28232" y="1828800"/>
            <a:ext cx="48554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在线问答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28232" y="2414016"/>
            <a:ext cx="483717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收到问题后找依据并生成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932688" y="5559552"/>
            <a:ext cx="10314432" cy="512064"/>
          </a:xfrm>
          <a:prstGeom prst="roundRect">
            <a:avLst>
              <a:gd name="adj" fmla="val 8929"/>
            </a:avLst>
          </a:prstGeom>
          <a:solidFill>
            <a:srgbClr val="F2E2DB"/>
          </a:solidFill>
          <a:ln w="12700">
            <a:solidFill>
              <a:srgbClr val="F2E2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43000" y="5687568"/>
            <a:ext cx="9893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C353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两条线在知识检索处汇合。</a:t>
            </a:r>
            <a:endParaRPr lang="en-US" sz="14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13889"/>
            </a:avLst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47472"/>
            <a:ext cx="493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RAG双链路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离线建库全链路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solidFill>
            <a:srgbClr val="D8D0C2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15200" y="6455664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 RAG双链路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14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13232" y="1627632"/>
            <a:ext cx="2528316" cy="3520440"/>
          </a:xfrm>
          <a:prstGeom prst="roundRect">
            <a:avLst>
              <a:gd name="adj" fmla="val 1808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13232" y="1627632"/>
            <a:ext cx="64008" cy="3520440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828800"/>
            <a:ext cx="21076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采集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32688" y="2414016"/>
            <a:ext cx="208940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选择权威知识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461004" y="1627632"/>
            <a:ext cx="2528316" cy="3520440"/>
          </a:xfrm>
          <a:prstGeom prst="roundRect">
            <a:avLst>
              <a:gd name="adj" fmla="val 1808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461004" y="1627632"/>
            <a:ext cx="64008" cy="3520440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80460" y="1828800"/>
            <a:ext cx="21076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解析清洗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680460" y="2414016"/>
            <a:ext cx="208940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提取正确内容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208776" y="1627632"/>
            <a:ext cx="2528316" cy="3520440"/>
          </a:xfrm>
          <a:prstGeom prst="roundRect">
            <a:avLst>
              <a:gd name="adj" fmla="val 1808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08776" y="1627632"/>
            <a:ext cx="64008" cy="3520440"/>
          </a:xfrm>
          <a:prstGeom prst="rect">
            <a:avLst/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28232" y="1828800"/>
            <a:ext cx="21076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分块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428232" y="2414016"/>
            <a:ext cx="208940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形成可理解片段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8956548" y="1627632"/>
            <a:ext cx="2528316" cy="3520440"/>
          </a:xfrm>
          <a:prstGeom prst="roundRect">
            <a:avLst>
              <a:gd name="adj" fmla="val 1808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956548" y="1627632"/>
            <a:ext cx="64008" cy="3520440"/>
          </a:xfrm>
          <a:prstGeom prst="rect">
            <a:avLst/>
          </a:prstGeom>
          <a:solidFill>
            <a:srgbClr val="74546A"/>
          </a:solidFill>
          <a:ln w="12700">
            <a:solidFill>
              <a:srgbClr val="74546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76004" y="1828800"/>
            <a:ext cx="21076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元数据/索引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176004" y="2414016"/>
            <a:ext cx="208940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支持过滤与查找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932688" y="5559552"/>
            <a:ext cx="10314432" cy="512064"/>
          </a:xfrm>
          <a:prstGeom prst="roundRect">
            <a:avLst>
              <a:gd name="adj" fmla="val 8929"/>
            </a:avLst>
          </a:prstGeom>
          <a:solidFill>
            <a:srgbClr val="DDEBE8"/>
          </a:solidFill>
          <a:ln w="12700">
            <a:solidFill>
              <a:srgbClr val="DDEB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43000" y="5687568"/>
            <a:ext cx="9893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387B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上传文件只是开始。</a:t>
            </a:r>
            <a:endParaRPr lang="en-US" sz="14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13889"/>
            </a:avLst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47472"/>
            <a:ext cx="493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RAG双链路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从问题反推知识源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solidFill>
            <a:srgbClr val="D8D0C2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15200" y="6455664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 RAG双链路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15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13232" y="1627632"/>
            <a:ext cx="3444240" cy="3520440"/>
          </a:xfrm>
          <a:prstGeom prst="roundRect">
            <a:avLst>
              <a:gd name="adj" fmla="val 1327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13232" y="1627632"/>
            <a:ext cx="64008" cy="3520440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828800"/>
            <a:ext cx="30236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目标问题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32688" y="2414016"/>
            <a:ext cx="3005328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活动报名与申诉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376928" y="1627632"/>
            <a:ext cx="3444240" cy="3520440"/>
          </a:xfrm>
          <a:prstGeom prst="roundRect">
            <a:avLst>
              <a:gd name="adj" fmla="val 1327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376928" y="1627632"/>
            <a:ext cx="64008" cy="3520440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96384" y="1828800"/>
            <a:ext cx="30236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应该上传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596384" y="2414016"/>
            <a:ext cx="3005328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正式规则、申诉制度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040624" y="1627632"/>
            <a:ext cx="3444240" cy="3520440"/>
          </a:xfrm>
          <a:prstGeom prst="roundRect">
            <a:avLst>
              <a:gd name="adj" fmla="val 1327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040624" y="1627632"/>
            <a:ext cx="64008" cy="3520440"/>
          </a:xfrm>
          <a:prstGeom prst="rect">
            <a:avLst/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60080" y="1828800"/>
            <a:ext cx="30236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不应默认上传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260080" y="2414016"/>
            <a:ext cx="3005328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全部报表、群聊和客户数据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932688" y="5559552"/>
            <a:ext cx="10314432" cy="512064"/>
          </a:xfrm>
          <a:prstGeom prst="roundRect">
            <a:avLst>
              <a:gd name="adj" fmla="val 8929"/>
            </a:avLst>
          </a:prstGeom>
          <a:solidFill>
            <a:srgbClr val="F2E7D5"/>
          </a:solidFill>
          <a:ln w="12700">
            <a:solidFill>
              <a:srgbClr val="F2E7D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43000" y="5687568"/>
            <a:ext cx="9893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D18A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先定义用户问题，再决定知识范围。</a:t>
            </a:r>
            <a:endParaRPr lang="en-US" sz="14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13889"/>
            </a:avLst>
          </a:prstGeom>
          <a:solidFill>
            <a:srgbClr val="74546A"/>
          </a:solidFill>
          <a:ln w="12700">
            <a:solidFill>
              <a:srgbClr val="7454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47472"/>
            <a:ext cx="493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RAG双链路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上传成功≠解析正确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solidFill>
            <a:srgbClr val="D8D0C2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15200" y="6455664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 RAG双链路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16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13232" y="1627632"/>
            <a:ext cx="2528316" cy="3520440"/>
          </a:xfrm>
          <a:prstGeom prst="roundRect">
            <a:avLst>
              <a:gd name="adj" fmla="val 1808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13232" y="1627632"/>
            <a:ext cx="64008" cy="3520440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828800"/>
            <a:ext cx="21076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OCR失败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32688" y="2414016"/>
            <a:ext cx="208940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图片文字没有被正确识别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461004" y="1627632"/>
            <a:ext cx="2528316" cy="3520440"/>
          </a:xfrm>
          <a:prstGeom prst="roundRect">
            <a:avLst>
              <a:gd name="adj" fmla="val 1808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461004" y="1627632"/>
            <a:ext cx="64008" cy="3520440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80460" y="1828800"/>
            <a:ext cx="21076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表格列错位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680460" y="2414016"/>
            <a:ext cx="208940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条件和结论对应错误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208776" y="1627632"/>
            <a:ext cx="2528316" cy="3520440"/>
          </a:xfrm>
          <a:prstGeom prst="roundRect">
            <a:avLst>
              <a:gd name="adj" fmla="val 1808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08776" y="1627632"/>
            <a:ext cx="64008" cy="3520440"/>
          </a:xfrm>
          <a:prstGeom prst="rect">
            <a:avLst/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28232" y="1828800"/>
            <a:ext cx="21076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页眉页脚重复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428232" y="2414016"/>
            <a:ext cx="208940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噪音挤占有效片段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8956548" y="1627632"/>
            <a:ext cx="2528316" cy="3520440"/>
          </a:xfrm>
          <a:prstGeom prst="roundRect">
            <a:avLst>
              <a:gd name="adj" fmla="val 1808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956548" y="1627632"/>
            <a:ext cx="64008" cy="3520440"/>
          </a:xfrm>
          <a:prstGeom prst="rect">
            <a:avLst/>
          </a:prstGeom>
          <a:solidFill>
            <a:srgbClr val="74546A"/>
          </a:solidFill>
          <a:ln w="12700">
            <a:solidFill>
              <a:srgbClr val="74546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76004" y="1828800"/>
            <a:ext cx="21076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失效标记丢失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176004" y="2414016"/>
            <a:ext cx="208940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旧规则可能被当成有效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932688" y="5559552"/>
            <a:ext cx="10314432" cy="512064"/>
          </a:xfrm>
          <a:prstGeom prst="roundRect">
            <a:avLst>
              <a:gd name="adj" fmla="val 8929"/>
            </a:avLst>
          </a:prstGeom>
          <a:solidFill>
            <a:srgbClr val="E8E0E7"/>
          </a:solidFill>
          <a:ln w="12700">
            <a:solidFill>
              <a:srgbClr val="E8E0E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43000" y="5687568"/>
            <a:ext cx="9893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74546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平台显示处理完成，仍要抽查。</a:t>
            </a:r>
            <a:endParaRPr lang="en-US" sz="14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13889"/>
            </a:avLst>
          </a:prstGeom>
          <a:solidFill>
            <a:srgbClr val="527553"/>
          </a:solidFill>
          <a:ln w="12700">
            <a:solidFill>
              <a:srgbClr val="5275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47472"/>
            <a:ext cx="493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RAG双链路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长文档为什么要分块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solidFill>
            <a:srgbClr val="D8D0C2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15200" y="6455664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 RAG双链路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17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13232" y="1627632"/>
            <a:ext cx="5276088" cy="3520440"/>
          </a:xfrm>
          <a:prstGeom prst="roundRect">
            <a:avLst>
              <a:gd name="adj" fmla="val 1299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13232" y="1627632"/>
            <a:ext cx="64008" cy="3520440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828800"/>
            <a:ext cx="48554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目标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32688" y="2414016"/>
            <a:ext cx="483717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形成可独立支持问题的片段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208776" y="1627632"/>
            <a:ext cx="5276088" cy="3520440"/>
          </a:xfrm>
          <a:prstGeom prst="roundRect">
            <a:avLst>
              <a:gd name="adj" fmla="val 1299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08776" y="1627632"/>
            <a:ext cx="64008" cy="3520440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28232" y="1828800"/>
            <a:ext cx="48554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红线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28232" y="2414016"/>
            <a:ext cx="483717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条件、结论、主体与范围不要拆散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932688" y="5559552"/>
            <a:ext cx="10314432" cy="512064"/>
          </a:xfrm>
          <a:prstGeom prst="roundRect">
            <a:avLst>
              <a:gd name="adj" fmla="val 8929"/>
            </a:avLst>
          </a:prstGeom>
          <a:solidFill>
            <a:srgbClr val="E2E9DE"/>
          </a:solidFill>
          <a:ln w="12700">
            <a:solidFill>
              <a:srgbClr val="E2E9D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43000" y="5687568"/>
            <a:ext cx="9893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52755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块不是越小越好。</a:t>
            </a:r>
            <a:endParaRPr lang="en-US" sz="14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13889"/>
            </a:avLst>
          </a:prstGeom>
          <a:solidFill>
            <a:srgbClr val="405D78"/>
          </a:solidFill>
          <a:ln w="12700">
            <a:solidFill>
              <a:srgbClr val="405D7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47472"/>
            <a:ext cx="493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RAG双链路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元数据与索引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solidFill>
            <a:srgbClr val="D8D0C2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15200" y="6455664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 RAG双链路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18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13232" y="1627632"/>
            <a:ext cx="5276088" cy="3520440"/>
          </a:xfrm>
          <a:prstGeom prst="roundRect">
            <a:avLst>
              <a:gd name="adj" fmla="val 1299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13232" y="1627632"/>
            <a:ext cx="64008" cy="3520440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828800"/>
            <a:ext cx="48554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元数据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32688" y="2414016"/>
            <a:ext cx="483717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文档名、版本、生效时间、范围、权限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208776" y="1627632"/>
            <a:ext cx="5276088" cy="3520440"/>
          </a:xfrm>
          <a:prstGeom prst="roundRect">
            <a:avLst>
              <a:gd name="adj" fmla="val 1299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08776" y="1627632"/>
            <a:ext cx="64008" cy="3520440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28232" y="1828800"/>
            <a:ext cx="48554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索引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28232" y="2414016"/>
            <a:ext cx="483717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让系统快速找到语义相关片段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932688" y="5559552"/>
            <a:ext cx="10314432" cy="512064"/>
          </a:xfrm>
          <a:prstGeom prst="roundRect">
            <a:avLst>
              <a:gd name="adj" fmla="val 8929"/>
            </a:avLst>
          </a:prstGeom>
          <a:solidFill>
            <a:srgbClr val="DDE5EB"/>
          </a:solidFill>
          <a:ln w="12700">
            <a:solidFill>
              <a:srgbClr val="DDE5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43000" y="5687568"/>
            <a:ext cx="9893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405D7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产品经理定义必须保留的信息。</a:t>
            </a:r>
            <a:endParaRPr lang="en-US" sz="14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13889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47472"/>
            <a:ext cx="493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RAG双链路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在线问答全链路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solidFill>
            <a:srgbClr val="D8D0C2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15200" y="6455664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 RAG双链路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19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13232" y="1627632"/>
            <a:ext cx="2528316" cy="3520440"/>
          </a:xfrm>
          <a:prstGeom prst="roundRect">
            <a:avLst>
              <a:gd name="adj" fmla="val 1808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13232" y="1627632"/>
            <a:ext cx="64008" cy="3520440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828800"/>
            <a:ext cx="21076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问题理解/路由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32688" y="2414016"/>
            <a:ext cx="208940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判断问题该查哪个知识源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461004" y="1627632"/>
            <a:ext cx="2528316" cy="3520440"/>
          </a:xfrm>
          <a:prstGeom prst="roundRect">
            <a:avLst>
              <a:gd name="adj" fmla="val 1808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461004" y="1627632"/>
            <a:ext cx="64008" cy="3520440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80460" y="1828800"/>
            <a:ext cx="21076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检索与重排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680460" y="2414016"/>
            <a:ext cx="208940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召回候选并把更相关内容排前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208776" y="1627632"/>
            <a:ext cx="2528316" cy="3520440"/>
          </a:xfrm>
          <a:prstGeom prst="roundRect">
            <a:avLst>
              <a:gd name="adj" fmla="val 1808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08776" y="1627632"/>
            <a:ext cx="64008" cy="3520440"/>
          </a:xfrm>
          <a:prstGeom prst="rect">
            <a:avLst/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28232" y="1828800"/>
            <a:ext cx="21076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增强Prompt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428232" y="2414016"/>
            <a:ext cx="208940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把问题、依据和回答规则组合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8956548" y="1627632"/>
            <a:ext cx="2528316" cy="3520440"/>
          </a:xfrm>
          <a:prstGeom prst="roundRect">
            <a:avLst>
              <a:gd name="adj" fmla="val 1808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956548" y="1627632"/>
            <a:ext cx="64008" cy="3520440"/>
          </a:xfrm>
          <a:prstGeom prst="rect">
            <a:avLst/>
          </a:prstGeom>
          <a:solidFill>
            <a:srgbClr val="74546A"/>
          </a:solidFill>
          <a:ln w="12700">
            <a:solidFill>
              <a:srgbClr val="74546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76004" y="1828800"/>
            <a:ext cx="21076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生成与兜底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176004" y="2414016"/>
            <a:ext cx="208940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回答、引用，或明确拒答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932688" y="5559552"/>
            <a:ext cx="10314432" cy="512064"/>
          </a:xfrm>
          <a:prstGeom prst="roundRect">
            <a:avLst>
              <a:gd name="adj" fmla="val 8929"/>
            </a:avLst>
          </a:prstGeom>
          <a:solidFill>
            <a:srgbClr val="F2E2DB"/>
          </a:solidFill>
          <a:ln w="12700">
            <a:solidFill>
              <a:srgbClr val="F2E2D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43000" y="5687568"/>
            <a:ext cx="9893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C353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候选片段不是最终答案。</a:t>
            </a:r>
            <a:endParaRPr lang="en-US" sz="14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13889"/>
            </a:avLst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47472"/>
            <a:ext cx="493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RAG双链路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问题理解与知识源选择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solidFill>
            <a:srgbClr val="D8D0C2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15200" y="6455664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 RAG双链路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13232" y="1627632"/>
            <a:ext cx="3444240" cy="3520440"/>
          </a:xfrm>
          <a:prstGeom prst="roundRect">
            <a:avLst>
              <a:gd name="adj" fmla="val 1327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13232" y="1627632"/>
            <a:ext cx="64008" cy="3520440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828800"/>
            <a:ext cx="30236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原问题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32688" y="2414016"/>
            <a:ext cx="3005328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月底还能参加吗？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376928" y="1627632"/>
            <a:ext cx="3444240" cy="3520440"/>
          </a:xfrm>
          <a:prstGeom prst="roundRect">
            <a:avLst>
              <a:gd name="adj" fmla="val 1327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376928" y="1627632"/>
            <a:ext cx="64008" cy="3520440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96384" y="1828800"/>
            <a:ext cx="30236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检索表达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596384" y="2414016"/>
            <a:ext cx="3005328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新客活动报名截止时间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040624" y="1627632"/>
            <a:ext cx="3444240" cy="3520440"/>
          </a:xfrm>
          <a:prstGeom prst="roundRect">
            <a:avLst>
              <a:gd name="adj" fmla="val 1327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040624" y="1627632"/>
            <a:ext cx="64008" cy="3520440"/>
          </a:xfrm>
          <a:prstGeom prst="rect">
            <a:avLst/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60080" y="1828800"/>
            <a:ext cx="30236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目标知识源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260080" y="2414016"/>
            <a:ext cx="3005328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活动规则库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932688" y="5559552"/>
            <a:ext cx="10314432" cy="512064"/>
          </a:xfrm>
          <a:prstGeom prst="roundRect">
            <a:avLst>
              <a:gd name="adj" fmla="val 8929"/>
            </a:avLst>
          </a:prstGeom>
          <a:solidFill>
            <a:srgbClr val="DDEBE8"/>
          </a:solidFill>
          <a:ln w="12700">
            <a:solidFill>
              <a:srgbClr val="DDEB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43000" y="5687568"/>
            <a:ext cx="9893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387B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改写和路由是按需优化。</a:t>
            </a:r>
            <a:endParaRPr lang="en-US" sz="14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13889"/>
            </a:avLst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47472"/>
            <a:ext cx="493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RAG双链路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检索与重排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solidFill>
            <a:srgbClr val="D8D0C2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15200" y="6455664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 RAG双链路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21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13232" y="1627632"/>
            <a:ext cx="5276088" cy="3520440"/>
          </a:xfrm>
          <a:prstGeom prst="roundRect">
            <a:avLst>
              <a:gd name="adj" fmla="val 1299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13232" y="1627632"/>
            <a:ext cx="64008" cy="3520440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828800"/>
            <a:ext cx="48554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检索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32688" y="2414016"/>
            <a:ext cx="483717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找回可能相关片段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208776" y="1627632"/>
            <a:ext cx="5276088" cy="3520440"/>
          </a:xfrm>
          <a:prstGeom prst="roundRect">
            <a:avLst>
              <a:gd name="adj" fmla="val 1299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08776" y="1627632"/>
            <a:ext cx="64008" cy="3520440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28232" y="1828800"/>
            <a:ext cx="48554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重排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28232" y="2414016"/>
            <a:ext cx="483717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把更符合当前问题的内容放前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932688" y="5559552"/>
            <a:ext cx="10314432" cy="512064"/>
          </a:xfrm>
          <a:prstGeom prst="roundRect">
            <a:avLst>
              <a:gd name="adj" fmla="val 8929"/>
            </a:avLst>
          </a:prstGeom>
          <a:solidFill>
            <a:srgbClr val="F2E7D5"/>
          </a:solidFill>
          <a:ln w="12700">
            <a:solidFill>
              <a:srgbClr val="F2E7D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43000" y="5687568"/>
            <a:ext cx="9893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D18A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候选依据 ≠ 最终答案。</a:t>
            </a:r>
            <a:endParaRPr lang="en-US" sz="14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13889"/>
            </a:avLst>
          </a:prstGeom>
          <a:solidFill>
            <a:srgbClr val="74546A"/>
          </a:solidFill>
          <a:ln w="12700">
            <a:solidFill>
              <a:srgbClr val="7454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47472"/>
            <a:ext cx="493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RAG双链路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增强Prompt里有什么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solidFill>
            <a:srgbClr val="D8D0C2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15200" y="6455664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 RAG双链路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22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13232" y="1627632"/>
            <a:ext cx="2528316" cy="3520440"/>
          </a:xfrm>
          <a:prstGeom prst="roundRect">
            <a:avLst>
              <a:gd name="adj" fmla="val 1808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13232" y="1627632"/>
            <a:ext cx="64008" cy="3520440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828800"/>
            <a:ext cx="21076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用户问题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32688" y="2414016"/>
            <a:ext cx="208940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保留用户真正想解决的任务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461004" y="1627632"/>
            <a:ext cx="2528316" cy="3520440"/>
          </a:xfrm>
          <a:prstGeom prst="roundRect">
            <a:avLst>
              <a:gd name="adj" fmla="val 1808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461004" y="1627632"/>
            <a:ext cx="64008" cy="3520440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80460" y="1828800"/>
            <a:ext cx="21076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检索片段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680460" y="2414016"/>
            <a:ext cx="208940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只提供系统找到的候选依据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208776" y="1627632"/>
            <a:ext cx="2528316" cy="3520440"/>
          </a:xfrm>
          <a:prstGeom prst="roundRect">
            <a:avLst>
              <a:gd name="adj" fmla="val 1808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08776" y="1627632"/>
            <a:ext cx="64008" cy="3520440"/>
          </a:xfrm>
          <a:prstGeom prst="rect">
            <a:avLst/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28232" y="1828800"/>
            <a:ext cx="21076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回答规则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428232" y="2414016"/>
            <a:ext cx="208940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约束模型不得脱离依据补写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8956548" y="1627632"/>
            <a:ext cx="2528316" cy="3520440"/>
          </a:xfrm>
          <a:prstGeom prst="roundRect">
            <a:avLst>
              <a:gd name="adj" fmla="val 1808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956548" y="1627632"/>
            <a:ext cx="64008" cy="3520440"/>
          </a:xfrm>
          <a:prstGeom prst="rect">
            <a:avLst/>
          </a:prstGeom>
          <a:solidFill>
            <a:srgbClr val="74546A"/>
          </a:solidFill>
          <a:ln w="12700">
            <a:solidFill>
              <a:srgbClr val="74546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76004" y="1828800"/>
            <a:ext cx="21076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输出与兜底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176004" y="2414016"/>
            <a:ext cx="208940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规定格式、无答案和冲突处理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932688" y="5559552"/>
            <a:ext cx="10314432" cy="512064"/>
          </a:xfrm>
          <a:prstGeom prst="roundRect">
            <a:avLst>
              <a:gd name="adj" fmla="val 8929"/>
            </a:avLst>
          </a:prstGeom>
          <a:solidFill>
            <a:srgbClr val="E8E0E7"/>
          </a:solidFill>
          <a:ln w="12700">
            <a:solidFill>
              <a:srgbClr val="E8E0E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43000" y="5687568"/>
            <a:ext cx="9893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74546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Prompt仍存在，只是上下文由检索动态提供。</a:t>
            </a:r>
            <a:endParaRPr lang="en-US" sz="14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13889"/>
            </a:avLst>
          </a:prstGeom>
          <a:solidFill>
            <a:srgbClr val="527553"/>
          </a:solidFill>
          <a:ln w="12700">
            <a:solidFill>
              <a:srgbClr val="5275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47472"/>
            <a:ext cx="493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RAG双链路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生成之后仍有产品处理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solidFill>
            <a:srgbClr val="D8D0C2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15200" y="6455664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 RAG双链路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23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13232" y="1627632"/>
            <a:ext cx="2528316" cy="1901952"/>
          </a:xfrm>
          <a:prstGeom prst="roundRect">
            <a:avLst>
              <a:gd name="adj" fmla="val 2404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13232" y="1627632"/>
            <a:ext cx="64008" cy="1901952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828800"/>
            <a:ext cx="21076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显示引用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32688" y="2414016"/>
            <a:ext cx="208940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让用户知道答案依据来自哪里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461004" y="1627632"/>
            <a:ext cx="2528316" cy="1901952"/>
          </a:xfrm>
          <a:prstGeom prst="roundRect">
            <a:avLst>
              <a:gd name="adj" fmla="val 2404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461004" y="1627632"/>
            <a:ext cx="64008" cy="1901952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80460" y="1828800"/>
            <a:ext cx="21076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提示版本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680460" y="2414016"/>
            <a:ext cx="208940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暴露生效时间和适用范围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208776" y="1627632"/>
            <a:ext cx="2528316" cy="1901952"/>
          </a:xfrm>
          <a:prstGeom prst="roundRect">
            <a:avLst>
              <a:gd name="adj" fmla="val 2404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08776" y="1627632"/>
            <a:ext cx="64008" cy="1901952"/>
          </a:xfrm>
          <a:prstGeom prst="rect">
            <a:avLst/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28232" y="1828800"/>
            <a:ext cx="21076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暴露冲突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428232" y="2414016"/>
            <a:ext cx="208940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不把矛盾资料包装成确定结论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956548" y="1627632"/>
            <a:ext cx="2528316" cy="1901952"/>
          </a:xfrm>
          <a:prstGeom prst="roundRect">
            <a:avLst>
              <a:gd name="adj" fmla="val 2404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956548" y="1627632"/>
            <a:ext cx="64008" cy="1901952"/>
          </a:xfrm>
          <a:prstGeom prst="rect">
            <a:avLst/>
          </a:prstGeom>
          <a:solidFill>
            <a:srgbClr val="74546A"/>
          </a:solidFill>
          <a:ln w="12700">
            <a:solidFill>
              <a:srgbClr val="74546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76004" y="1828800"/>
            <a:ext cx="21076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拒答/转人工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176004" y="2414016"/>
            <a:ext cx="208940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高风险或无依据时退出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713232" y="3749040"/>
            <a:ext cx="2528316" cy="1901952"/>
          </a:xfrm>
          <a:prstGeom prst="roundRect">
            <a:avLst>
              <a:gd name="adj" fmla="val 2404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13232" y="3749040"/>
            <a:ext cx="64008" cy="1901952"/>
          </a:xfrm>
          <a:prstGeom prst="rect">
            <a:avLst/>
          </a:prstGeom>
          <a:solidFill>
            <a:srgbClr val="527553"/>
          </a:solidFill>
          <a:ln w="12700">
            <a:solidFill>
              <a:srgbClr val="52755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32688" y="3950208"/>
            <a:ext cx="21076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记录反馈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932688" y="4535424"/>
            <a:ext cx="208940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沉淀失败问题用于迭代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932688" y="5559552"/>
            <a:ext cx="10314432" cy="512064"/>
          </a:xfrm>
          <a:prstGeom prst="roundRect">
            <a:avLst>
              <a:gd name="adj" fmla="val 8929"/>
            </a:avLst>
          </a:prstGeom>
          <a:solidFill>
            <a:srgbClr val="E2E9DE"/>
          </a:solidFill>
          <a:ln w="12700">
            <a:solidFill>
              <a:srgbClr val="E2E9D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143000" y="5687568"/>
            <a:ext cx="9893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52755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RAG不等于“检索节点＋LLM节点”。</a:t>
            </a:r>
            <a:endParaRPr lang="en-US" sz="14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13889"/>
            </a:avLst>
          </a:prstGeom>
          <a:solidFill>
            <a:srgbClr val="405D78"/>
          </a:solidFill>
          <a:ln w="12700">
            <a:solidFill>
              <a:srgbClr val="405D7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47472"/>
            <a:ext cx="493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RAG双链路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同一个错答案，四种原因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solidFill>
            <a:srgbClr val="D8D0C2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15200" y="6455664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 RAG双链路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24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13232" y="1627632"/>
            <a:ext cx="2528316" cy="3520440"/>
          </a:xfrm>
          <a:prstGeom prst="roundRect">
            <a:avLst>
              <a:gd name="adj" fmla="val 1808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13232" y="1627632"/>
            <a:ext cx="64008" cy="3520440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828800"/>
            <a:ext cx="21076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没找到V2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32688" y="2414016"/>
            <a:ext cx="208940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知识/检索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461004" y="1627632"/>
            <a:ext cx="2528316" cy="3520440"/>
          </a:xfrm>
          <a:prstGeom prst="roundRect">
            <a:avLst>
              <a:gd name="adj" fmla="val 1808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461004" y="1627632"/>
            <a:ext cx="64008" cy="3520440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80460" y="1828800"/>
            <a:ext cx="21076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只找到V1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680460" y="2414016"/>
            <a:ext cx="208940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版本过滤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208776" y="1627632"/>
            <a:ext cx="2528316" cy="3520440"/>
          </a:xfrm>
          <a:prstGeom prst="roundRect">
            <a:avLst>
              <a:gd name="adj" fmla="val 1808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08776" y="1627632"/>
            <a:ext cx="64008" cy="3520440"/>
          </a:xfrm>
          <a:prstGeom prst="rect">
            <a:avLst/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28232" y="1828800"/>
            <a:ext cx="21076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同时找到V1、V2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428232" y="2414016"/>
            <a:ext cx="208940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冲突策略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8956548" y="1627632"/>
            <a:ext cx="2528316" cy="3520440"/>
          </a:xfrm>
          <a:prstGeom prst="roundRect">
            <a:avLst>
              <a:gd name="adj" fmla="val 1808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956548" y="1627632"/>
            <a:ext cx="64008" cy="3520440"/>
          </a:xfrm>
          <a:prstGeom prst="rect">
            <a:avLst/>
          </a:prstGeom>
          <a:solidFill>
            <a:srgbClr val="74546A"/>
          </a:solidFill>
          <a:ln w="12700">
            <a:solidFill>
              <a:srgbClr val="74546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76004" y="1828800"/>
            <a:ext cx="21076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找到V2仍答错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176004" y="2414016"/>
            <a:ext cx="208940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Prompt/生成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932688" y="5559552"/>
            <a:ext cx="10314432" cy="512064"/>
          </a:xfrm>
          <a:prstGeom prst="roundRect">
            <a:avLst>
              <a:gd name="adj" fmla="val 8929"/>
            </a:avLst>
          </a:prstGeom>
          <a:solidFill>
            <a:srgbClr val="DDE5EB"/>
          </a:solidFill>
          <a:ln w="12700">
            <a:solidFill>
              <a:srgbClr val="DDE5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43000" y="5687568"/>
            <a:ext cx="9893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405D7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只看最终答案，无法定位。</a:t>
            </a:r>
            <a:endParaRPr lang="en-US" sz="14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13889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47472"/>
            <a:ext cx="493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知识治理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有文档，为什么仍会答错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solidFill>
            <a:srgbClr val="D8D0C2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15200" y="6455664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 知识治理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25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13232" y="1627632"/>
            <a:ext cx="2528316" cy="3520440"/>
          </a:xfrm>
          <a:prstGeom prst="roundRect">
            <a:avLst>
              <a:gd name="adj" fmla="val 1808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13232" y="1627632"/>
            <a:ext cx="64008" cy="3520440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828800"/>
            <a:ext cx="21076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未经审核草稿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32688" y="2414016"/>
            <a:ext cx="208940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内容本身可能就不可信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461004" y="1627632"/>
            <a:ext cx="2528316" cy="3520440"/>
          </a:xfrm>
          <a:prstGeom prst="roundRect">
            <a:avLst>
              <a:gd name="adj" fmla="val 1808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461004" y="1627632"/>
            <a:ext cx="64008" cy="3520440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80460" y="1828800"/>
            <a:ext cx="21076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新旧版本并存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680460" y="2414016"/>
            <a:ext cx="208940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系统无法判断当前有效版本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208776" y="1627632"/>
            <a:ext cx="2528316" cy="3520440"/>
          </a:xfrm>
          <a:prstGeom prst="roundRect">
            <a:avLst>
              <a:gd name="adj" fmla="val 1808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08776" y="1627632"/>
            <a:ext cx="64008" cy="3520440"/>
          </a:xfrm>
          <a:prstGeom prst="rect">
            <a:avLst/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28232" y="1828800"/>
            <a:ext cx="21076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区域范围不同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428232" y="2414016"/>
            <a:ext cx="208940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相似规则不一定适用于当前用户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8956548" y="1627632"/>
            <a:ext cx="2528316" cy="3520440"/>
          </a:xfrm>
          <a:prstGeom prst="roundRect">
            <a:avLst>
              <a:gd name="adj" fmla="val 1808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956548" y="1627632"/>
            <a:ext cx="64008" cy="3520440"/>
          </a:xfrm>
          <a:prstGeom prst="rect">
            <a:avLst/>
          </a:prstGeom>
          <a:solidFill>
            <a:srgbClr val="74546A"/>
          </a:solidFill>
          <a:ln w="12700">
            <a:solidFill>
              <a:srgbClr val="74546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76004" y="1828800"/>
            <a:ext cx="21076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用户无权查看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176004" y="2414016"/>
            <a:ext cx="208940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检索到了也不应该交给模型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932688" y="5559552"/>
            <a:ext cx="10314432" cy="512064"/>
          </a:xfrm>
          <a:prstGeom prst="roundRect">
            <a:avLst>
              <a:gd name="adj" fmla="val 8929"/>
            </a:avLst>
          </a:prstGeom>
          <a:solidFill>
            <a:srgbClr val="F2E2DB"/>
          </a:solidFill>
          <a:ln w="12700">
            <a:solidFill>
              <a:srgbClr val="F2E2D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43000" y="5687568"/>
            <a:ext cx="9893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C353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这首先是知识治理问题。</a:t>
            </a:r>
            <a:endParaRPr lang="en-US" sz="14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13889"/>
            </a:avLst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47472"/>
            <a:ext cx="493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知识治理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知识治理六字段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solidFill>
            <a:srgbClr val="D8D0C2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15200" y="6455664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 知识治理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26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13232" y="1627632"/>
            <a:ext cx="2528316" cy="1901952"/>
          </a:xfrm>
          <a:prstGeom prst="roundRect">
            <a:avLst>
              <a:gd name="adj" fmla="val 2404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13232" y="1627632"/>
            <a:ext cx="64008" cy="1901952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828800"/>
            <a:ext cx="21076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来源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32688" y="2414016"/>
            <a:ext cx="208940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知识来自哪个正式文件或系统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461004" y="1627632"/>
            <a:ext cx="2528316" cy="1901952"/>
          </a:xfrm>
          <a:prstGeom prst="roundRect">
            <a:avLst>
              <a:gd name="adj" fmla="val 2404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461004" y="1627632"/>
            <a:ext cx="64008" cy="1901952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80460" y="1828800"/>
            <a:ext cx="21076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负责人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680460" y="2414016"/>
            <a:ext cx="208940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谁审核并对正确性负责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208776" y="1627632"/>
            <a:ext cx="2528316" cy="1901952"/>
          </a:xfrm>
          <a:prstGeom prst="roundRect">
            <a:avLst>
              <a:gd name="adj" fmla="val 2404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08776" y="1627632"/>
            <a:ext cx="64008" cy="1901952"/>
          </a:xfrm>
          <a:prstGeom prst="rect">
            <a:avLst/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28232" y="1828800"/>
            <a:ext cx="21076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版本/生效时间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428232" y="2414016"/>
            <a:ext cx="208940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当前采用哪一版、何时生效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956548" y="1627632"/>
            <a:ext cx="2528316" cy="1901952"/>
          </a:xfrm>
          <a:prstGeom prst="roundRect">
            <a:avLst>
              <a:gd name="adj" fmla="val 2404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956548" y="1627632"/>
            <a:ext cx="64008" cy="1901952"/>
          </a:xfrm>
          <a:prstGeom prst="rect">
            <a:avLst/>
          </a:prstGeom>
          <a:solidFill>
            <a:srgbClr val="74546A"/>
          </a:solidFill>
          <a:ln w="12700">
            <a:solidFill>
              <a:srgbClr val="74546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76004" y="1828800"/>
            <a:ext cx="21076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适用范围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176004" y="2414016"/>
            <a:ext cx="208940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适用于哪些区域、角色和条件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713232" y="3749040"/>
            <a:ext cx="2528316" cy="1901952"/>
          </a:xfrm>
          <a:prstGeom prst="roundRect">
            <a:avLst>
              <a:gd name="adj" fmla="val 2404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13232" y="3749040"/>
            <a:ext cx="64008" cy="1901952"/>
          </a:xfrm>
          <a:prstGeom prst="rect">
            <a:avLst/>
          </a:prstGeom>
          <a:solidFill>
            <a:srgbClr val="527553"/>
          </a:solidFill>
          <a:ln w="12700">
            <a:solidFill>
              <a:srgbClr val="52755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32688" y="3950208"/>
            <a:ext cx="21076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权限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932688" y="4535424"/>
            <a:ext cx="208940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哪些用户可以检索和查看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3461004" y="3749040"/>
            <a:ext cx="2528316" cy="1901952"/>
          </a:xfrm>
          <a:prstGeom prst="roundRect">
            <a:avLst>
              <a:gd name="adj" fmla="val 2404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461004" y="3749040"/>
            <a:ext cx="64008" cy="1901952"/>
          </a:xfrm>
          <a:prstGeom prst="rect">
            <a:avLst/>
          </a:prstGeom>
          <a:solidFill>
            <a:srgbClr val="405D78"/>
          </a:solidFill>
          <a:ln w="12700">
            <a:solidFill>
              <a:srgbClr val="405D7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80460" y="3950208"/>
            <a:ext cx="21076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更新/下线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3680460" y="4535424"/>
            <a:ext cx="208940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何时刷新，旧版如何退出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932688" y="5559552"/>
            <a:ext cx="10314432" cy="512064"/>
          </a:xfrm>
          <a:prstGeom prst="roundRect">
            <a:avLst>
              <a:gd name="adj" fmla="val 8929"/>
            </a:avLst>
          </a:prstGeom>
          <a:solidFill>
            <a:srgbClr val="DDEBE8"/>
          </a:solidFill>
          <a:ln w="12700">
            <a:solidFill>
              <a:srgbClr val="DDEB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143000" y="5687568"/>
            <a:ext cx="9893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387B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六字段进入设计与验收。</a:t>
            </a:r>
            <a:endParaRPr lang="en-US" sz="14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13889"/>
            </a:avLst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47472"/>
            <a:ext cx="493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知识治理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来源与负责人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solidFill>
            <a:srgbClr val="D8D0C2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15200" y="6455664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 知识治理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27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13232" y="1627632"/>
            <a:ext cx="5276088" cy="3520440"/>
          </a:xfrm>
          <a:prstGeom prst="roundRect">
            <a:avLst>
              <a:gd name="adj" fmla="val 1299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13232" y="1627632"/>
            <a:ext cx="64008" cy="3520440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828800"/>
            <a:ext cx="48554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来源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32688" y="2414016"/>
            <a:ext cx="483717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这条知识从哪里来？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208776" y="1627632"/>
            <a:ext cx="5276088" cy="3520440"/>
          </a:xfrm>
          <a:prstGeom prst="roundRect">
            <a:avLst>
              <a:gd name="adj" fmla="val 1299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08776" y="1627632"/>
            <a:ext cx="64008" cy="3520440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28232" y="1828800"/>
            <a:ext cx="48554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负责人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28232" y="2414016"/>
            <a:ext cx="483717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谁对内容正确性负责？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932688" y="5559552"/>
            <a:ext cx="10314432" cy="512064"/>
          </a:xfrm>
          <a:prstGeom prst="roundRect">
            <a:avLst>
              <a:gd name="adj" fmla="val 8929"/>
            </a:avLst>
          </a:prstGeom>
          <a:solidFill>
            <a:srgbClr val="F2E7D5"/>
          </a:solidFill>
          <a:ln w="12700">
            <a:solidFill>
              <a:srgbClr val="F2E7D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43000" y="5687568"/>
            <a:ext cx="9893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D18A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“群里有人说过”不是权威来源。</a:t>
            </a:r>
            <a:endParaRPr lang="en-US" sz="14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13889"/>
            </a:avLst>
          </a:prstGeom>
          <a:solidFill>
            <a:srgbClr val="74546A"/>
          </a:solidFill>
          <a:ln w="12700">
            <a:solidFill>
              <a:srgbClr val="7454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47472"/>
            <a:ext cx="493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知识治理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版本、生效时间与范围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solidFill>
            <a:srgbClr val="D8D0C2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15200" y="6455664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 知识治理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28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13232" y="1627632"/>
            <a:ext cx="3444240" cy="3520440"/>
          </a:xfrm>
          <a:prstGeom prst="roundRect">
            <a:avLst>
              <a:gd name="adj" fmla="val 1327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13232" y="1627632"/>
            <a:ext cx="64008" cy="3520440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828800"/>
            <a:ext cx="30236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V1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32688" y="2414016"/>
            <a:ext cx="3005328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已失效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376928" y="1627632"/>
            <a:ext cx="3444240" cy="3520440"/>
          </a:xfrm>
          <a:prstGeom prst="roundRect">
            <a:avLst>
              <a:gd name="adj" fmla="val 1327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376928" y="1627632"/>
            <a:ext cx="64008" cy="3520440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96384" y="1828800"/>
            <a:ext cx="30236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V2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596384" y="2414016"/>
            <a:ext cx="3005328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当前有效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040624" y="1627632"/>
            <a:ext cx="3444240" cy="3520440"/>
          </a:xfrm>
          <a:prstGeom prst="roundRect">
            <a:avLst>
              <a:gd name="adj" fmla="val 1327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040624" y="1627632"/>
            <a:ext cx="64008" cy="3520440"/>
          </a:xfrm>
          <a:prstGeom prst="rect">
            <a:avLst/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60080" y="1828800"/>
            <a:ext cx="30236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范围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260080" y="2414016"/>
            <a:ext cx="3005328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华东＋餐饮＋已认证＋正常营业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932688" y="5559552"/>
            <a:ext cx="10314432" cy="512064"/>
          </a:xfrm>
          <a:prstGeom prst="roundRect">
            <a:avLst>
              <a:gd name="adj" fmla="val 8929"/>
            </a:avLst>
          </a:prstGeom>
          <a:solidFill>
            <a:srgbClr val="E8E0E7"/>
          </a:solidFill>
          <a:ln w="12700">
            <a:solidFill>
              <a:srgbClr val="E8E0E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43000" y="5687568"/>
            <a:ext cx="9893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74546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上传时间不等于生效时间。</a:t>
            </a:r>
            <a:endParaRPr lang="en-US" sz="14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13889"/>
            </a:avLst>
          </a:prstGeom>
          <a:solidFill>
            <a:srgbClr val="527553"/>
          </a:solidFill>
          <a:ln w="12700">
            <a:solidFill>
              <a:srgbClr val="5275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47472"/>
            <a:ext cx="493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知识治理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权限不是隐藏引用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solidFill>
            <a:srgbClr val="D8D0C2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15200" y="6455664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 知识治理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29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13232" y="1627632"/>
            <a:ext cx="5276088" cy="3520440"/>
          </a:xfrm>
          <a:prstGeom prst="roundRect">
            <a:avLst>
              <a:gd name="adj" fmla="val 1299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13232" y="1627632"/>
            <a:ext cx="64008" cy="3520440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828800"/>
            <a:ext cx="48554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错误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32688" y="2414016"/>
            <a:ext cx="483717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无权限片段先交给模型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208776" y="1627632"/>
            <a:ext cx="5276088" cy="3520440"/>
          </a:xfrm>
          <a:prstGeom prst="roundRect">
            <a:avLst>
              <a:gd name="adj" fmla="val 1299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08776" y="1627632"/>
            <a:ext cx="64008" cy="3520440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28232" y="1828800"/>
            <a:ext cx="48554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原则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28232" y="2414016"/>
            <a:ext cx="483717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检索前/检索时限制可访问知识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932688" y="5559552"/>
            <a:ext cx="10314432" cy="512064"/>
          </a:xfrm>
          <a:prstGeom prst="roundRect">
            <a:avLst>
              <a:gd name="adj" fmla="val 8929"/>
            </a:avLst>
          </a:prstGeom>
          <a:solidFill>
            <a:srgbClr val="E2E9DE"/>
          </a:solidFill>
          <a:ln w="12700">
            <a:solidFill>
              <a:srgbClr val="E2E9D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43000" y="5687568"/>
            <a:ext cx="9893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52755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前端隐藏来源不能消除泄露风险。</a:t>
            </a:r>
            <a:endParaRPr lang="en-US" sz="14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13889"/>
            </a:avLst>
          </a:prstGeom>
          <a:solidFill>
            <a:srgbClr val="405D78"/>
          </a:solidFill>
          <a:ln w="12700">
            <a:solidFill>
              <a:srgbClr val="405D7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47472"/>
            <a:ext cx="493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知识治理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更新、下线与冲突处理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solidFill>
            <a:srgbClr val="D8D0C2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15200" y="6455664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 知识治理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30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13232" y="1627632"/>
            <a:ext cx="3444240" cy="3520440"/>
          </a:xfrm>
          <a:prstGeom prst="roundRect">
            <a:avLst>
              <a:gd name="adj" fmla="val 1327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13232" y="1627632"/>
            <a:ext cx="64008" cy="3520440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828800"/>
            <a:ext cx="30236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新知识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32688" y="2414016"/>
            <a:ext cx="3005328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先审核，再标记生效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376928" y="1627632"/>
            <a:ext cx="3444240" cy="3520440"/>
          </a:xfrm>
          <a:prstGeom prst="roundRect">
            <a:avLst>
              <a:gd name="adj" fmla="val 1327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376928" y="1627632"/>
            <a:ext cx="64008" cy="3520440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96384" y="1828800"/>
            <a:ext cx="30236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旧版处理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596384" y="2414016"/>
            <a:ext cx="3005328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下线或设为不可检索，并刷新索引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040624" y="1627632"/>
            <a:ext cx="3444240" cy="3520440"/>
          </a:xfrm>
          <a:prstGeom prst="roundRect">
            <a:avLst>
              <a:gd name="adj" fmla="val 1327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040624" y="1627632"/>
            <a:ext cx="64008" cy="3520440"/>
          </a:xfrm>
          <a:prstGeom prst="rect">
            <a:avLst/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60080" y="1828800"/>
            <a:ext cx="30236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仍有冲突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260080" y="2414016"/>
            <a:ext cx="3005328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明确提示，并交知识负责人确认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932688" y="5559552"/>
            <a:ext cx="10314432" cy="512064"/>
          </a:xfrm>
          <a:prstGeom prst="roundRect">
            <a:avLst>
              <a:gd name="adj" fmla="val 8929"/>
            </a:avLst>
          </a:prstGeom>
          <a:solidFill>
            <a:srgbClr val="DDE5EB"/>
          </a:solidFill>
          <a:ln w="12700">
            <a:solidFill>
              <a:srgbClr val="DDE5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43000" y="5687568"/>
            <a:ext cx="9893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405D7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模型不应自行裁决正式规则。</a:t>
            </a:r>
            <a:endParaRPr lang="en-US" sz="14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13889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47472"/>
            <a:ext cx="493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检索基础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一个错误分块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solidFill>
            <a:srgbClr val="D8D0C2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15200" y="6455664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 检索基础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31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13232" y="1627632"/>
            <a:ext cx="5276088" cy="3520440"/>
          </a:xfrm>
          <a:prstGeom prst="roundRect">
            <a:avLst>
              <a:gd name="adj" fmla="val 1299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13232" y="1627632"/>
            <a:ext cx="64008" cy="3520440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828800"/>
            <a:ext cx="48554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片段1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32688" y="2414016"/>
            <a:ext cx="483717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……已报名商家可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208776" y="1627632"/>
            <a:ext cx="5276088" cy="3520440"/>
          </a:xfrm>
          <a:prstGeom prst="roundRect">
            <a:avLst>
              <a:gd name="adj" fmla="val 1299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08776" y="1627632"/>
            <a:ext cx="64008" cy="3520440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28232" y="1828800"/>
            <a:ext cx="48554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片段2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28232" y="2414016"/>
            <a:ext cx="483717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在7月31日前继续履约……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932688" y="5559552"/>
            <a:ext cx="10314432" cy="512064"/>
          </a:xfrm>
          <a:prstGeom prst="roundRect">
            <a:avLst>
              <a:gd name="adj" fmla="val 8929"/>
            </a:avLst>
          </a:prstGeom>
          <a:solidFill>
            <a:srgbClr val="F2E2DB"/>
          </a:solidFill>
          <a:ln w="12700">
            <a:solidFill>
              <a:srgbClr val="F2E2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43000" y="5687568"/>
            <a:ext cx="9893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C353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主体丢失，可能把履约截止当报名截止。</a:t>
            </a:r>
            <a:endParaRPr lang="en-US" sz="14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13889"/>
            </a:avLst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47472"/>
            <a:ext cx="493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检索基础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更合理的知识片段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solidFill>
            <a:srgbClr val="D8D0C2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15200" y="6455664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 检索基础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32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13232" y="1627632"/>
            <a:ext cx="3444240" cy="3520440"/>
          </a:xfrm>
          <a:prstGeom prst="roundRect">
            <a:avLst>
              <a:gd name="adj" fmla="val 1327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13232" y="1627632"/>
            <a:ext cx="64008" cy="3520440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828800"/>
            <a:ext cx="30236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报名截止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32688" y="2414016"/>
            <a:ext cx="3005328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7月25日18:00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376928" y="1627632"/>
            <a:ext cx="3444240" cy="3520440"/>
          </a:xfrm>
          <a:prstGeom prst="roundRect">
            <a:avLst>
              <a:gd name="adj" fmla="val 1327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376928" y="1627632"/>
            <a:ext cx="64008" cy="3520440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96384" y="1828800"/>
            <a:ext cx="30236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履约截止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596384" y="2414016"/>
            <a:ext cx="3005328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已报名且审核通过至7月31日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040624" y="1627632"/>
            <a:ext cx="3444240" cy="3520440"/>
          </a:xfrm>
          <a:prstGeom prst="roundRect">
            <a:avLst>
              <a:gd name="adj" fmla="val 1327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040624" y="1627632"/>
            <a:ext cx="64008" cy="3520440"/>
          </a:xfrm>
          <a:prstGeom prst="rect">
            <a:avLst/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60080" y="1828800"/>
            <a:ext cx="30236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范围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260080" y="2414016"/>
            <a:ext cx="3005328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华东区域餐饮商家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932688" y="5559552"/>
            <a:ext cx="10314432" cy="512064"/>
          </a:xfrm>
          <a:prstGeom prst="roundRect">
            <a:avLst>
              <a:gd name="adj" fmla="val 8929"/>
            </a:avLst>
          </a:prstGeom>
          <a:solidFill>
            <a:srgbClr val="DDEBE8"/>
          </a:solidFill>
          <a:ln w="12700">
            <a:solidFill>
              <a:srgbClr val="DDEB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43000" y="5687568"/>
            <a:ext cx="9893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387B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保留回答所需条件和结论。</a:t>
            </a:r>
            <a:endParaRPr lang="en-US" sz="14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13889"/>
            </a:avLst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47472"/>
            <a:ext cx="493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检索基础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语义检索与重排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solidFill>
            <a:srgbClr val="D8D0C2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15200" y="6455664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 检索基础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33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13232" y="1627632"/>
            <a:ext cx="3444240" cy="3520440"/>
          </a:xfrm>
          <a:prstGeom prst="roundRect">
            <a:avLst>
              <a:gd name="adj" fmla="val 1327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13232" y="1627632"/>
            <a:ext cx="64008" cy="3520440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828800"/>
            <a:ext cx="30236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文档表述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32688" y="2414016"/>
            <a:ext cx="3005328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报名截止时间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376928" y="1627632"/>
            <a:ext cx="3444240" cy="3520440"/>
          </a:xfrm>
          <a:prstGeom prst="roundRect">
            <a:avLst>
              <a:gd name="adj" fmla="val 1327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376928" y="1627632"/>
            <a:ext cx="64008" cy="3520440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96384" y="1828800"/>
            <a:ext cx="30236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用户表达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596384" y="2414016"/>
            <a:ext cx="3005328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月底还能参加吗？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040624" y="1627632"/>
            <a:ext cx="3444240" cy="3520440"/>
          </a:xfrm>
          <a:prstGeom prst="roundRect">
            <a:avLst>
              <a:gd name="adj" fmla="val 1327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040624" y="1627632"/>
            <a:ext cx="64008" cy="3520440"/>
          </a:xfrm>
          <a:prstGeom prst="rect">
            <a:avLst/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60080" y="1828800"/>
            <a:ext cx="30236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系统动作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260080" y="2414016"/>
            <a:ext cx="3005328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语义检索召回候选，重排提高相关片段优先级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932688" y="5559552"/>
            <a:ext cx="10314432" cy="512064"/>
          </a:xfrm>
          <a:prstGeom prst="roundRect">
            <a:avLst>
              <a:gd name="adj" fmla="val 8929"/>
            </a:avLst>
          </a:prstGeom>
          <a:solidFill>
            <a:srgbClr val="F2E7D5"/>
          </a:solidFill>
          <a:ln w="12700">
            <a:solidFill>
              <a:srgbClr val="F2E7D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43000" y="5687568"/>
            <a:ext cx="9893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D18A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相似不等于事实正确。</a:t>
            </a:r>
            <a:endParaRPr lang="en-US" sz="14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13889"/>
            </a:avLst>
          </a:prstGeom>
          <a:solidFill>
            <a:srgbClr val="74546A"/>
          </a:solidFill>
          <a:ln w="12700">
            <a:solidFill>
              <a:srgbClr val="7454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47472"/>
            <a:ext cx="493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检索基础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产品经理最小检查动作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solidFill>
            <a:srgbClr val="D8D0C2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15200" y="6455664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 检索基础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34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13232" y="1627632"/>
            <a:ext cx="2528316" cy="3520440"/>
          </a:xfrm>
          <a:prstGeom prst="roundRect">
            <a:avLst>
              <a:gd name="adj" fmla="val 1808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13232" y="1627632"/>
            <a:ext cx="64008" cy="3520440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828800"/>
            <a:ext cx="21076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 看分段预览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32688" y="2414016"/>
            <a:ext cx="208940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条件和结论是否被完整保留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461004" y="1627632"/>
            <a:ext cx="2528316" cy="3520440"/>
          </a:xfrm>
          <a:prstGeom prst="roundRect">
            <a:avLst>
              <a:gd name="adj" fmla="val 1808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461004" y="1627632"/>
            <a:ext cx="64008" cy="3520440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80460" y="1828800"/>
            <a:ext cx="21076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 看实际检索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680460" y="2414016"/>
            <a:ext cx="208940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系统到底找回了什么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208776" y="1627632"/>
            <a:ext cx="2528316" cy="3520440"/>
          </a:xfrm>
          <a:prstGeom prst="roundRect">
            <a:avLst>
              <a:gd name="adj" fmla="val 1808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08776" y="1627632"/>
            <a:ext cx="64008" cy="3520440"/>
          </a:xfrm>
          <a:prstGeom prst="rect">
            <a:avLst/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28232" y="1828800"/>
            <a:ext cx="21076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 确认正确依据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428232" y="2414016"/>
            <a:ext cx="208940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权威版本是否出现在候选中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8956548" y="1627632"/>
            <a:ext cx="2528316" cy="3520440"/>
          </a:xfrm>
          <a:prstGeom prst="roundRect">
            <a:avLst>
              <a:gd name="adj" fmla="val 1808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956548" y="1627632"/>
            <a:ext cx="64008" cy="3520440"/>
          </a:xfrm>
          <a:prstGeom prst="rect">
            <a:avLst/>
          </a:prstGeom>
          <a:solidFill>
            <a:srgbClr val="74546A"/>
          </a:solidFill>
          <a:ln w="12700">
            <a:solidFill>
              <a:srgbClr val="74546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76004" y="1828800"/>
            <a:ext cx="21076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 看模型使用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176004" y="2414016"/>
            <a:ext cx="208940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答案是否忠实保留依据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932688" y="5559552"/>
            <a:ext cx="10314432" cy="512064"/>
          </a:xfrm>
          <a:prstGeom prst="roundRect">
            <a:avLst>
              <a:gd name="adj" fmla="val 8929"/>
            </a:avLst>
          </a:prstGeom>
          <a:solidFill>
            <a:srgbClr val="E8E0E7"/>
          </a:solidFill>
          <a:ln w="12700">
            <a:solidFill>
              <a:srgbClr val="E8E0E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43000" y="5687568"/>
            <a:ext cx="9893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74546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休息后先把方案画在纸上。</a:t>
            </a:r>
            <a:endParaRPr lang="en-US" sz="14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13889"/>
            </a:avLst>
          </a:prstGeom>
          <a:solidFill>
            <a:srgbClr val="527553"/>
          </a:solidFill>
          <a:ln w="12700">
            <a:solidFill>
              <a:srgbClr val="5275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47472"/>
            <a:ext cx="493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纸面设计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RAG V0.1任务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solidFill>
            <a:srgbClr val="D8D0C2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15200" y="6455664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 纸面设计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35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13232" y="1627632"/>
            <a:ext cx="2528316" cy="3520440"/>
          </a:xfrm>
          <a:prstGeom prst="roundRect">
            <a:avLst>
              <a:gd name="adj" fmla="val 1808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13232" y="1627632"/>
            <a:ext cx="64008" cy="3520440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828800"/>
            <a:ext cx="21076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业务目标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32688" y="2414016"/>
            <a:ext cx="208940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明确为谁解决什么知识问题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461004" y="1627632"/>
            <a:ext cx="2528316" cy="3520440"/>
          </a:xfrm>
          <a:prstGeom prst="roundRect">
            <a:avLst>
              <a:gd name="adj" fmla="val 1808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461004" y="1627632"/>
            <a:ext cx="64008" cy="3520440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80460" y="1828800"/>
            <a:ext cx="21076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治理六字段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680460" y="2414016"/>
            <a:ext cx="208940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写清知识如何被维护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208776" y="1627632"/>
            <a:ext cx="2528316" cy="3520440"/>
          </a:xfrm>
          <a:prstGeom prst="roundRect">
            <a:avLst>
              <a:gd name="adj" fmla="val 1808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08776" y="1627632"/>
            <a:ext cx="64008" cy="3520440"/>
          </a:xfrm>
          <a:prstGeom prst="rect">
            <a:avLst/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28232" y="1828800"/>
            <a:ext cx="21076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RULE升级路径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428232" y="2414016"/>
            <a:ext cx="208940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画出检索和回答节点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8956548" y="1627632"/>
            <a:ext cx="2528316" cy="3520440"/>
          </a:xfrm>
          <a:prstGeom prst="roundRect">
            <a:avLst>
              <a:gd name="adj" fmla="val 1808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956548" y="1627632"/>
            <a:ext cx="64008" cy="3520440"/>
          </a:xfrm>
          <a:prstGeom prst="rect">
            <a:avLst/>
          </a:prstGeom>
          <a:solidFill>
            <a:srgbClr val="74546A"/>
          </a:solidFill>
          <a:ln w="12700">
            <a:solidFill>
              <a:srgbClr val="74546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76004" y="1828800"/>
            <a:ext cx="21076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三种状态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176004" y="2414016"/>
            <a:ext cx="208940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分别设计可靠、无答案和冲突处理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932688" y="5559552"/>
            <a:ext cx="10314432" cy="512064"/>
          </a:xfrm>
          <a:prstGeom prst="roundRect">
            <a:avLst>
              <a:gd name="adj" fmla="val 8929"/>
            </a:avLst>
          </a:prstGeom>
          <a:solidFill>
            <a:srgbClr val="E2E9DE"/>
          </a:solidFill>
          <a:ln w="12700">
            <a:solidFill>
              <a:srgbClr val="E2E9D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43000" y="5687568"/>
            <a:ext cx="9893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52755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4分钟个人填写＋2分钟互查。</a:t>
            </a:r>
            <a:endParaRPr lang="en-US" sz="14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13889"/>
            </a:avLst>
          </a:prstGeom>
          <a:solidFill>
            <a:srgbClr val="405D78"/>
          </a:solidFill>
          <a:ln w="12700">
            <a:solidFill>
              <a:srgbClr val="405D7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47472"/>
            <a:ext cx="493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纸面设计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V0.1参考结构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solidFill>
            <a:srgbClr val="D8D0C2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15200" y="6455664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 纸面设计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36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13232" y="1627632"/>
            <a:ext cx="3444240" cy="3520440"/>
          </a:xfrm>
          <a:prstGeom prst="roundRect">
            <a:avLst>
              <a:gd name="adj" fmla="val 1327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13232" y="1627632"/>
            <a:ext cx="64008" cy="3520440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828800"/>
            <a:ext cx="30236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第一步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32688" y="2414016"/>
            <a:ext cx="3005328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RULE进入规则知识库检索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376928" y="1627632"/>
            <a:ext cx="3444240" cy="3520440"/>
          </a:xfrm>
          <a:prstGeom prst="roundRect">
            <a:avLst>
              <a:gd name="adj" fmla="val 1327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376928" y="1627632"/>
            <a:ext cx="64008" cy="3520440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96384" y="1828800"/>
            <a:ext cx="30236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第二步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596384" y="2414016"/>
            <a:ext cx="3005328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检查候选片段是否可靠、缺失或冲突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040624" y="1627632"/>
            <a:ext cx="3444240" cy="3520440"/>
          </a:xfrm>
          <a:prstGeom prst="roundRect">
            <a:avLst>
              <a:gd name="adj" fmla="val 1327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040624" y="1627632"/>
            <a:ext cx="64008" cy="3520440"/>
          </a:xfrm>
          <a:prstGeom prst="rect">
            <a:avLst/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60080" y="1828800"/>
            <a:ext cx="30236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第三步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260080" y="2414016"/>
            <a:ext cx="3005328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回答并展示依据，或未找到/转人工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932688" y="5559552"/>
            <a:ext cx="10314432" cy="512064"/>
          </a:xfrm>
          <a:prstGeom prst="roundRect">
            <a:avLst>
              <a:gd name="adj" fmla="val 8929"/>
            </a:avLst>
          </a:prstGeom>
          <a:solidFill>
            <a:srgbClr val="DDE5EB"/>
          </a:solidFill>
          <a:ln w="12700">
            <a:solidFill>
              <a:srgbClr val="DDE5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43000" y="5687568"/>
            <a:ext cx="9893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405D7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DATA、COMPLAINT、OTHER保持原路径。</a:t>
            </a:r>
            <a:endParaRPr lang="en-US" sz="14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13889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47472"/>
            <a:ext cx="493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纸面设计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休息5分钟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solidFill>
            <a:srgbClr val="D8D0C2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15200" y="6455664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 纸面设计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37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13232" y="1627632"/>
            <a:ext cx="5276088" cy="3520440"/>
          </a:xfrm>
          <a:prstGeom prst="roundRect">
            <a:avLst>
              <a:gd name="adj" fmla="val 1299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13232" y="1627632"/>
            <a:ext cx="64008" cy="3520440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828800"/>
            <a:ext cx="48554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学员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32688" y="2414016"/>
            <a:ext cx="483717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保存纸面V0.1，回来后继续使用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208776" y="1627632"/>
            <a:ext cx="5276088" cy="3520440"/>
          </a:xfrm>
          <a:prstGeom prst="roundRect">
            <a:avLst>
              <a:gd name="adj" fmla="val 1299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08776" y="1627632"/>
            <a:ext cx="64008" cy="3520440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28232" y="1828800"/>
            <a:ext cx="48554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老师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28232" y="2414016"/>
            <a:ext cx="483717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检查知识库、Workflow和五条测试问题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932688" y="5559552"/>
            <a:ext cx="10314432" cy="512064"/>
          </a:xfrm>
          <a:prstGeom prst="roundRect">
            <a:avLst>
              <a:gd name="adj" fmla="val 8929"/>
            </a:avLst>
          </a:prstGeom>
          <a:solidFill>
            <a:srgbClr val="F2E2DB"/>
          </a:solidFill>
          <a:ln w="12700">
            <a:solidFill>
              <a:srgbClr val="F2E2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43000" y="5687568"/>
            <a:ext cx="9893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C353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回来后直接进入演示。</a:t>
            </a:r>
            <a:endParaRPr lang="en-US" sz="14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13889"/>
            </a:avLst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47472"/>
            <a:ext cx="493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平台实操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今天的搭建路线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solidFill>
            <a:srgbClr val="D8D0C2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15200" y="6455664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 平台实操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38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13232" y="1627632"/>
            <a:ext cx="2528316" cy="3520440"/>
          </a:xfrm>
          <a:prstGeom prst="roundRect">
            <a:avLst>
              <a:gd name="adj" fmla="val 1808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13232" y="1627632"/>
            <a:ext cx="64008" cy="3520440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828800"/>
            <a:ext cx="21076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 创建知识库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32688" y="2414016"/>
            <a:ext cx="208940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定义课堂知识范围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461004" y="1627632"/>
            <a:ext cx="2528316" cy="3520440"/>
          </a:xfrm>
          <a:prstGeom prst="roundRect">
            <a:avLst>
              <a:gd name="adj" fmla="val 1808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461004" y="1627632"/>
            <a:ext cx="64008" cy="3520440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80460" y="1828800"/>
            <a:ext cx="21076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 导入有效文档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680460" y="2414016"/>
            <a:ext cx="208940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先只放V2和申诉说明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208776" y="1627632"/>
            <a:ext cx="2528316" cy="3520440"/>
          </a:xfrm>
          <a:prstGeom prst="roundRect">
            <a:avLst>
              <a:gd name="adj" fmla="val 1808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08776" y="1627632"/>
            <a:ext cx="64008" cy="3520440"/>
          </a:xfrm>
          <a:prstGeom prst="rect">
            <a:avLst/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28232" y="1828800"/>
            <a:ext cx="21076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 分段与检索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428232" y="2414016"/>
            <a:ext cx="208940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先验收系统能否找对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8956548" y="1627632"/>
            <a:ext cx="2528316" cy="3520440"/>
          </a:xfrm>
          <a:prstGeom prst="roundRect">
            <a:avLst>
              <a:gd name="adj" fmla="val 1808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956548" y="1627632"/>
            <a:ext cx="64008" cy="3520440"/>
          </a:xfrm>
          <a:prstGeom prst="rect">
            <a:avLst/>
          </a:prstGeom>
          <a:solidFill>
            <a:srgbClr val="74546A"/>
          </a:solidFill>
          <a:ln w="12700">
            <a:solidFill>
              <a:srgbClr val="74546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76004" y="1828800"/>
            <a:ext cx="21076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 接入Workflow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176004" y="2414016"/>
            <a:ext cx="208940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配置回答规则并运行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932688" y="5559552"/>
            <a:ext cx="10314432" cy="512064"/>
          </a:xfrm>
          <a:prstGeom prst="roundRect">
            <a:avLst>
              <a:gd name="adj" fmla="val 8929"/>
            </a:avLst>
          </a:prstGeom>
          <a:solidFill>
            <a:srgbClr val="DDEBE8"/>
          </a:solidFill>
          <a:ln w="12700">
            <a:solidFill>
              <a:srgbClr val="DDEB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43000" y="5687568"/>
            <a:ext cx="9893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387B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按钮会变，目标不变。</a:t>
            </a:r>
            <a:endParaRPr lang="en-US" sz="14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13889"/>
            </a:avLst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47472"/>
            <a:ext cx="493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平台实操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创建知识库，先导入有效文档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solidFill>
            <a:srgbClr val="D8D0C2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15200" y="6455664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 平台实操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39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13232" y="1627632"/>
            <a:ext cx="3444240" cy="3520440"/>
          </a:xfrm>
          <a:prstGeom prst="roundRect">
            <a:avLst>
              <a:gd name="adj" fmla="val 1327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13232" y="1627632"/>
            <a:ext cx="64008" cy="3520440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828800"/>
            <a:ext cx="30236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知识库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32688" y="2414016"/>
            <a:ext cx="3005328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商家活动规则知识库_课堂版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376928" y="1627632"/>
            <a:ext cx="3444240" cy="3520440"/>
          </a:xfrm>
          <a:prstGeom prst="roundRect">
            <a:avLst>
              <a:gd name="adj" fmla="val 1327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376928" y="1627632"/>
            <a:ext cx="64008" cy="3520440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96384" y="1828800"/>
            <a:ext cx="30236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初始导入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596384" y="2414016"/>
            <a:ext cx="3005328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V2规则＋申诉说明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040624" y="1627632"/>
            <a:ext cx="3444240" cy="3520440"/>
          </a:xfrm>
          <a:prstGeom prst="roundRect">
            <a:avLst>
              <a:gd name="adj" fmla="val 1327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040624" y="1627632"/>
            <a:ext cx="64008" cy="3520440"/>
          </a:xfrm>
          <a:prstGeom prst="rect">
            <a:avLst/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60080" y="1828800"/>
            <a:ext cx="30236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暂不导入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260080" y="2414016"/>
            <a:ext cx="3005328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已失效V1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932688" y="5559552"/>
            <a:ext cx="10314432" cy="512064"/>
          </a:xfrm>
          <a:prstGeom prst="roundRect">
            <a:avLst>
              <a:gd name="adj" fmla="val 8929"/>
            </a:avLst>
          </a:prstGeom>
          <a:solidFill>
            <a:srgbClr val="F2E7D5"/>
          </a:solidFill>
          <a:ln w="12700">
            <a:solidFill>
              <a:srgbClr val="F2E7D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43000" y="5687568"/>
            <a:ext cx="9893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D18A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不上传真实公司材料或个人数据。</a:t>
            </a:r>
            <a:endParaRPr lang="en-US" sz="14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13889"/>
            </a:avLst>
          </a:prstGeom>
          <a:solidFill>
            <a:srgbClr val="74546A"/>
          </a:solidFill>
          <a:ln w="12700">
            <a:solidFill>
              <a:srgbClr val="7454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47472"/>
            <a:ext cx="493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平台实操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打开分段预览看什么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solidFill>
            <a:srgbClr val="D8D0C2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15200" y="6455664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 平台实操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40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13232" y="1627632"/>
            <a:ext cx="2528316" cy="1901952"/>
          </a:xfrm>
          <a:prstGeom prst="roundRect">
            <a:avLst>
              <a:gd name="adj" fmla="val 2404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13232" y="1627632"/>
            <a:ext cx="64008" cy="1901952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828800"/>
            <a:ext cx="21076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标题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32688" y="2414016"/>
            <a:ext cx="208940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能否识别片段属于哪条规则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461004" y="1627632"/>
            <a:ext cx="2528316" cy="1901952"/>
          </a:xfrm>
          <a:prstGeom prst="roundRect">
            <a:avLst>
              <a:gd name="adj" fmla="val 2404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461004" y="1627632"/>
            <a:ext cx="64008" cy="1901952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80460" y="1828800"/>
            <a:ext cx="21076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日期与条件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680460" y="2414016"/>
            <a:ext cx="208940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时间、主体和前提是否在同一片段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208776" y="1627632"/>
            <a:ext cx="2528316" cy="1901952"/>
          </a:xfrm>
          <a:prstGeom prst="roundRect">
            <a:avLst>
              <a:gd name="adj" fmla="val 2404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08776" y="1627632"/>
            <a:ext cx="64008" cy="1901952"/>
          </a:xfrm>
          <a:prstGeom prst="rect">
            <a:avLst/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28232" y="1828800"/>
            <a:ext cx="21076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适用范围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428232" y="2414016"/>
            <a:ext cx="208940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区域、商家类型等限制是否保留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956548" y="1627632"/>
            <a:ext cx="2528316" cy="1901952"/>
          </a:xfrm>
          <a:prstGeom prst="roundRect">
            <a:avLst>
              <a:gd name="adj" fmla="val 2404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956548" y="1627632"/>
            <a:ext cx="64008" cy="1901952"/>
          </a:xfrm>
          <a:prstGeom prst="rect">
            <a:avLst/>
          </a:prstGeom>
          <a:solidFill>
            <a:srgbClr val="74546A"/>
          </a:solidFill>
          <a:ln w="12700">
            <a:solidFill>
              <a:srgbClr val="74546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76004" y="1828800"/>
            <a:ext cx="21076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列表/表格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176004" y="2414016"/>
            <a:ext cx="208940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行列关系是否被正确解析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713232" y="3749040"/>
            <a:ext cx="2528316" cy="1901952"/>
          </a:xfrm>
          <a:prstGeom prst="roundRect">
            <a:avLst>
              <a:gd name="adj" fmla="val 2404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13232" y="3749040"/>
            <a:ext cx="64008" cy="1901952"/>
          </a:xfrm>
          <a:prstGeom prst="rect">
            <a:avLst/>
          </a:prstGeom>
          <a:solidFill>
            <a:srgbClr val="527553"/>
          </a:solidFill>
          <a:ln w="12700">
            <a:solidFill>
              <a:srgbClr val="52755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32688" y="3950208"/>
            <a:ext cx="21076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失效标记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932688" y="4535424"/>
            <a:ext cx="208940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旧版状态是否仍然可见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3461004" y="3749040"/>
            <a:ext cx="2528316" cy="1901952"/>
          </a:xfrm>
          <a:prstGeom prst="roundRect">
            <a:avLst>
              <a:gd name="adj" fmla="val 2404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461004" y="3749040"/>
            <a:ext cx="64008" cy="1901952"/>
          </a:xfrm>
          <a:prstGeom prst="rect">
            <a:avLst/>
          </a:prstGeom>
          <a:solidFill>
            <a:srgbClr val="405D78"/>
          </a:solidFill>
          <a:ln w="12700">
            <a:solidFill>
              <a:srgbClr val="405D7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80460" y="3950208"/>
            <a:ext cx="21076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噪音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3680460" y="4535424"/>
            <a:ext cx="208940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页眉页脚和重复内容是否被清理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932688" y="5559552"/>
            <a:ext cx="10314432" cy="512064"/>
          </a:xfrm>
          <a:prstGeom prst="roundRect">
            <a:avLst>
              <a:gd name="adj" fmla="val 8929"/>
            </a:avLst>
          </a:prstGeom>
          <a:solidFill>
            <a:srgbClr val="E8E0E7"/>
          </a:solidFill>
          <a:ln w="12700">
            <a:solidFill>
              <a:srgbClr val="E8E0E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143000" y="5687568"/>
            <a:ext cx="9893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74546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自动完成不等于质量合格。</a:t>
            </a:r>
            <a:endParaRPr lang="en-US" sz="14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13889"/>
            </a:avLst>
          </a:prstGeom>
          <a:solidFill>
            <a:srgbClr val="527553"/>
          </a:solidFill>
          <a:ln w="12700">
            <a:solidFill>
              <a:srgbClr val="5275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47472"/>
            <a:ext cx="493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平台实操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先测试检索，不先看答案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solidFill>
            <a:srgbClr val="D8D0C2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15200" y="6455664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 平台实操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41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13232" y="1627632"/>
            <a:ext cx="5276088" cy="3520440"/>
          </a:xfrm>
          <a:prstGeom prst="roundRect">
            <a:avLst>
              <a:gd name="adj" fmla="val 1299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13232" y="1627632"/>
            <a:ext cx="64008" cy="3520440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828800"/>
            <a:ext cx="48554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问题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32688" y="2414016"/>
            <a:ext cx="483717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新客活动到什么时候还能报名？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208776" y="1627632"/>
            <a:ext cx="5276088" cy="3520440"/>
          </a:xfrm>
          <a:prstGeom prst="roundRect">
            <a:avLst>
              <a:gd name="adj" fmla="val 1299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08776" y="1627632"/>
            <a:ext cx="64008" cy="3520440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28232" y="1828800"/>
            <a:ext cx="48554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记录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28232" y="2414016"/>
            <a:ext cx="483717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文档、片段、日期与适用范围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932688" y="5559552"/>
            <a:ext cx="10314432" cy="512064"/>
          </a:xfrm>
          <a:prstGeom prst="roundRect">
            <a:avLst>
              <a:gd name="adj" fmla="val 8929"/>
            </a:avLst>
          </a:prstGeom>
          <a:solidFill>
            <a:srgbClr val="E2E9DE"/>
          </a:solidFill>
          <a:ln w="12700">
            <a:solidFill>
              <a:srgbClr val="E2E9D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43000" y="5687568"/>
            <a:ext cx="9893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52755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先验收“找”，再验收“答”。</a:t>
            </a:r>
            <a:endParaRPr lang="en-US" sz="14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13889"/>
            </a:avLst>
          </a:prstGeom>
          <a:solidFill>
            <a:srgbClr val="405D78"/>
          </a:solidFill>
          <a:ln w="12700">
            <a:solidFill>
              <a:srgbClr val="405D7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47472"/>
            <a:ext cx="493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平台实操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把知识检索接入RULE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solidFill>
            <a:srgbClr val="D8D0C2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15200" y="6455664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 平台实操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42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13232" y="1627632"/>
            <a:ext cx="5276088" cy="3520440"/>
          </a:xfrm>
          <a:prstGeom prst="roundRect">
            <a:avLst>
              <a:gd name="adj" fmla="val 1299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13232" y="1627632"/>
            <a:ext cx="64008" cy="3520440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828800"/>
            <a:ext cx="48554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路由阶段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32688" y="2414016"/>
            <a:ext cx="483717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意图分类后，仅RULE进入知识检索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208776" y="1627632"/>
            <a:ext cx="5276088" cy="3520440"/>
          </a:xfrm>
          <a:prstGeom prst="roundRect">
            <a:avLst>
              <a:gd name="adj" fmla="val 1299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08776" y="1627632"/>
            <a:ext cx="64008" cy="3520440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28232" y="1828800"/>
            <a:ext cx="48554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回答阶段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28232" y="2414016"/>
            <a:ext cx="483717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候选片段进入回答节点，再输出结果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932688" y="5559552"/>
            <a:ext cx="10314432" cy="512064"/>
          </a:xfrm>
          <a:prstGeom prst="roundRect">
            <a:avLst>
              <a:gd name="adj" fmla="val 8929"/>
            </a:avLst>
          </a:prstGeom>
          <a:solidFill>
            <a:srgbClr val="DDE5EB"/>
          </a:solidFill>
          <a:ln w="12700">
            <a:solidFill>
              <a:srgbClr val="DDE5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43000" y="5687568"/>
            <a:ext cx="9893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405D7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输入问题，中间是候选片段，输出是带依据回答。</a:t>
            </a:r>
            <a:endParaRPr lang="en-US" sz="14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13889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47472"/>
            <a:ext cx="493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平台实操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最小回答规则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solidFill>
            <a:srgbClr val="D8D0C2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15200" y="6455664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 平台实操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43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13232" y="1627632"/>
            <a:ext cx="2528316" cy="3520440"/>
          </a:xfrm>
          <a:prstGeom prst="roundRect">
            <a:avLst>
              <a:gd name="adj" fmla="val 1808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13232" y="1627632"/>
            <a:ext cx="64008" cy="3520440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828800"/>
            <a:ext cx="21076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只依据检索片段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32688" y="2414016"/>
            <a:ext cx="208940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不调用模型记忆补充事实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461004" y="1627632"/>
            <a:ext cx="2528316" cy="3520440"/>
          </a:xfrm>
          <a:prstGeom prst="roundRect">
            <a:avLst>
              <a:gd name="adj" fmla="val 1808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461004" y="1627632"/>
            <a:ext cx="64008" cy="3520440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80460" y="1828800"/>
            <a:ext cx="21076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保留条件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680460" y="2414016"/>
            <a:ext cx="208940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日期、范围和前提不能省略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208776" y="1627632"/>
            <a:ext cx="2528316" cy="3520440"/>
          </a:xfrm>
          <a:prstGeom prst="roundRect">
            <a:avLst>
              <a:gd name="adj" fmla="val 1808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08776" y="1627632"/>
            <a:ext cx="64008" cy="3520440"/>
          </a:xfrm>
          <a:prstGeom prst="rect">
            <a:avLst/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28232" y="1828800"/>
            <a:ext cx="21076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无依据不补写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428232" y="2414016"/>
            <a:ext cx="208940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明确说未找到可靠信息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8956548" y="1627632"/>
            <a:ext cx="2528316" cy="3520440"/>
          </a:xfrm>
          <a:prstGeom prst="roundRect">
            <a:avLst>
              <a:gd name="adj" fmla="val 1808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956548" y="1627632"/>
            <a:ext cx="64008" cy="3520440"/>
          </a:xfrm>
          <a:prstGeom prst="rect">
            <a:avLst/>
          </a:prstGeom>
          <a:solidFill>
            <a:srgbClr val="74546A"/>
          </a:solidFill>
          <a:ln w="12700">
            <a:solidFill>
              <a:srgbClr val="74546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76004" y="1828800"/>
            <a:ext cx="21076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冲突不裁决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176004" y="2414016"/>
            <a:ext cx="208940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展示冲突并提示人工确认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932688" y="5559552"/>
            <a:ext cx="10314432" cy="512064"/>
          </a:xfrm>
          <a:prstGeom prst="roundRect">
            <a:avLst>
              <a:gd name="adj" fmla="val 8929"/>
            </a:avLst>
          </a:prstGeom>
          <a:solidFill>
            <a:srgbClr val="F2E2DB"/>
          </a:solidFill>
          <a:ln w="12700">
            <a:solidFill>
              <a:srgbClr val="F2E2D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43000" y="5687568"/>
            <a:ext cx="9893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C353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输出：答案＋适用条件＋文档/版本。</a:t>
            </a:r>
            <a:endParaRPr lang="en-US" sz="14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13889"/>
            </a:avLst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47472"/>
            <a:ext cx="493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平台实操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一次运行，检查三层结果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solidFill>
            <a:srgbClr val="D8D0C2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15200" y="6455664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 平台实操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44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13232" y="1627632"/>
            <a:ext cx="3444240" cy="3520440"/>
          </a:xfrm>
          <a:prstGeom prst="roundRect">
            <a:avLst>
              <a:gd name="adj" fmla="val 1327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13232" y="1627632"/>
            <a:ext cx="64008" cy="3520440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828800"/>
            <a:ext cx="30236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路由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32688" y="2414016"/>
            <a:ext cx="3005328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是否进入RULE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376928" y="1627632"/>
            <a:ext cx="3444240" cy="3520440"/>
          </a:xfrm>
          <a:prstGeom prst="roundRect">
            <a:avLst>
              <a:gd name="adj" fmla="val 1327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376928" y="1627632"/>
            <a:ext cx="64008" cy="3520440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96384" y="1828800"/>
            <a:ext cx="30236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检索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596384" y="2414016"/>
            <a:ext cx="3005328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是否找到正确V2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040624" y="1627632"/>
            <a:ext cx="3444240" cy="3520440"/>
          </a:xfrm>
          <a:prstGeom prst="roundRect">
            <a:avLst>
              <a:gd name="adj" fmla="val 1327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040624" y="1627632"/>
            <a:ext cx="64008" cy="3520440"/>
          </a:xfrm>
          <a:prstGeom prst="rect">
            <a:avLst/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60080" y="1828800"/>
            <a:ext cx="30236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生成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260080" y="2414016"/>
            <a:ext cx="3005328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是否忠实保留条件与依据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932688" y="5559552"/>
            <a:ext cx="10314432" cy="512064"/>
          </a:xfrm>
          <a:prstGeom prst="roundRect">
            <a:avLst>
              <a:gd name="adj" fmla="val 8929"/>
            </a:avLst>
          </a:prstGeom>
          <a:solidFill>
            <a:srgbClr val="DDEBE8"/>
          </a:solidFill>
          <a:ln w="12700">
            <a:solidFill>
              <a:srgbClr val="DDEB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43000" y="5687568"/>
            <a:ext cx="9893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387B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失败要记录，不现场盲调。</a:t>
            </a:r>
            <a:endParaRPr lang="en-US" sz="14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13889"/>
            </a:avLst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47472"/>
            <a:ext cx="493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测试与排错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五条测试，不只测“能答”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solidFill>
            <a:srgbClr val="D8D0C2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15200" y="6455664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07 测试与排错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45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13232" y="1627632"/>
            <a:ext cx="2528316" cy="1901952"/>
          </a:xfrm>
          <a:prstGeom prst="roundRect">
            <a:avLst>
              <a:gd name="adj" fmla="val 2404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13232" y="1627632"/>
            <a:ext cx="64008" cy="1901952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828800"/>
            <a:ext cx="21076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T1直接命中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32688" y="2414016"/>
            <a:ext cx="208940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原词提问能否找到正确规则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461004" y="1627632"/>
            <a:ext cx="2528316" cy="1901952"/>
          </a:xfrm>
          <a:prstGeom prst="roundRect">
            <a:avLst>
              <a:gd name="adj" fmla="val 2404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461004" y="1627632"/>
            <a:ext cx="64008" cy="1901952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80460" y="1828800"/>
            <a:ext cx="21076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T2同义表达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680460" y="2414016"/>
            <a:ext cx="208940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换一种说法仍能否召回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208776" y="1627632"/>
            <a:ext cx="2528316" cy="1901952"/>
          </a:xfrm>
          <a:prstGeom prst="roundRect">
            <a:avLst>
              <a:gd name="adj" fmla="val 2404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08776" y="1627632"/>
            <a:ext cx="64008" cy="1901952"/>
          </a:xfrm>
          <a:prstGeom prst="rect">
            <a:avLst/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28232" y="1828800"/>
            <a:ext cx="21076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T3适用范围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428232" y="2414016"/>
            <a:ext cx="208940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能否识别区域和角色限制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956548" y="1627632"/>
            <a:ext cx="2528316" cy="1901952"/>
          </a:xfrm>
          <a:prstGeom prst="roundRect">
            <a:avLst>
              <a:gd name="adj" fmla="val 2404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956548" y="1627632"/>
            <a:ext cx="64008" cy="1901952"/>
          </a:xfrm>
          <a:prstGeom prst="rect">
            <a:avLst/>
          </a:prstGeom>
          <a:solidFill>
            <a:srgbClr val="74546A"/>
          </a:solidFill>
          <a:ln w="12700">
            <a:solidFill>
              <a:srgbClr val="74546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76004" y="1828800"/>
            <a:ext cx="21076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T4无答案/实时事实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176004" y="2414016"/>
            <a:ext cx="208940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能否拒绝用规则猜数据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713232" y="3749040"/>
            <a:ext cx="2528316" cy="1901952"/>
          </a:xfrm>
          <a:prstGeom prst="roundRect">
            <a:avLst>
              <a:gd name="adj" fmla="val 2404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13232" y="3749040"/>
            <a:ext cx="64008" cy="1901952"/>
          </a:xfrm>
          <a:prstGeom prst="rect">
            <a:avLst/>
          </a:prstGeom>
          <a:solidFill>
            <a:srgbClr val="527553"/>
          </a:solidFill>
          <a:ln w="12700">
            <a:solidFill>
              <a:srgbClr val="52755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32688" y="3950208"/>
            <a:ext cx="21076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T5版本冲突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932688" y="4535424"/>
            <a:ext cx="208940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新旧知识并存时如何处理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932688" y="5559552"/>
            <a:ext cx="10314432" cy="512064"/>
          </a:xfrm>
          <a:prstGeom prst="roundRect">
            <a:avLst>
              <a:gd name="adj" fmla="val 8929"/>
            </a:avLst>
          </a:prstGeom>
          <a:solidFill>
            <a:srgbClr val="F2E7D5"/>
          </a:solidFill>
          <a:ln w="12700">
            <a:solidFill>
              <a:srgbClr val="F2E7D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143000" y="5687568"/>
            <a:ext cx="9893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D18A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每条记录预期、检索与回答。</a:t>
            </a:r>
            <a:endParaRPr lang="en-US" sz="14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13889"/>
            </a:avLst>
          </a:prstGeom>
          <a:solidFill>
            <a:srgbClr val="74546A"/>
          </a:solidFill>
          <a:ln w="12700">
            <a:solidFill>
              <a:srgbClr val="7454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47472"/>
            <a:ext cx="493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测试与排错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T1-T3：命中、同义与范围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solidFill>
            <a:srgbClr val="D8D0C2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15200" y="6455664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07 测试与排错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46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13232" y="1627632"/>
            <a:ext cx="3444240" cy="3520440"/>
          </a:xfrm>
          <a:prstGeom prst="roundRect">
            <a:avLst>
              <a:gd name="adj" fmla="val 1327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13232" y="1627632"/>
            <a:ext cx="64008" cy="3520440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828800"/>
            <a:ext cx="30236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T1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32688" y="2414016"/>
            <a:ext cx="3005328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报名截止时间是哪天？检查直接命中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376928" y="1627632"/>
            <a:ext cx="3444240" cy="3520440"/>
          </a:xfrm>
          <a:prstGeom prst="roundRect">
            <a:avLst>
              <a:gd name="adj" fmla="val 1327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376928" y="1627632"/>
            <a:ext cx="64008" cy="3520440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96384" y="1828800"/>
            <a:ext cx="30236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596384" y="2414016"/>
            <a:ext cx="3005328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月底再参加还来得及吗？区分报名与履约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040624" y="1627632"/>
            <a:ext cx="3444240" cy="3520440"/>
          </a:xfrm>
          <a:prstGeom prst="roundRect">
            <a:avLst>
              <a:gd name="adj" fmla="val 1327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040624" y="1627632"/>
            <a:ext cx="64008" cy="3520440"/>
          </a:xfrm>
          <a:prstGeom prst="rect">
            <a:avLst/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60080" y="1828800"/>
            <a:ext cx="30236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260080" y="2414016"/>
            <a:ext cx="3005328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华北零售商家可以参加吗？检查适用范围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932688" y="5559552"/>
            <a:ext cx="10314432" cy="512064"/>
          </a:xfrm>
          <a:prstGeom prst="roundRect">
            <a:avLst>
              <a:gd name="adj" fmla="val 8929"/>
            </a:avLst>
          </a:prstGeom>
          <a:solidFill>
            <a:srgbClr val="E8E0E7"/>
          </a:solidFill>
          <a:ln w="12700">
            <a:solidFill>
              <a:srgbClr val="E8E0E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43000" y="5687568"/>
            <a:ext cx="9893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74546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观察正确知识、两个时间概念与适用范围。</a:t>
            </a:r>
            <a:endParaRPr lang="en-US" sz="14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13889"/>
            </a:avLst>
          </a:prstGeom>
          <a:solidFill>
            <a:srgbClr val="527553"/>
          </a:solidFill>
          <a:ln w="12700">
            <a:solidFill>
              <a:srgbClr val="5275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47472"/>
            <a:ext cx="493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测试与排错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T4：知识库没有实时答案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solidFill>
            <a:srgbClr val="D8D0C2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15200" y="6455664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07 测试与排错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47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13232" y="1627632"/>
            <a:ext cx="5276088" cy="3520440"/>
          </a:xfrm>
          <a:prstGeom prst="roundRect">
            <a:avLst>
              <a:gd name="adj" fmla="val 1299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13232" y="1627632"/>
            <a:ext cx="64008" cy="3520440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828800"/>
            <a:ext cx="48554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问题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32688" y="2414016"/>
            <a:ext cx="483717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我门店今天消耗了多少活动补贴？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208776" y="1627632"/>
            <a:ext cx="5276088" cy="3520440"/>
          </a:xfrm>
          <a:prstGeom prst="roundRect">
            <a:avLst>
              <a:gd name="adj" fmla="val 1299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08776" y="1627632"/>
            <a:ext cx="64008" cy="3520440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28232" y="1828800"/>
            <a:ext cx="48554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正确数据源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28232" y="2414016"/>
            <a:ext cx="483717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商家后台业务系统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932688" y="5559552"/>
            <a:ext cx="10314432" cy="512064"/>
          </a:xfrm>
          <a:prstGeom prst="roundRect">
            <a:avLst>
              <a:gd name="adj" fmla="val 8929"/>
            </a:avLst>
          </a:prstGeom>
          <a:solidFill>
            <a:srgbClr val="E2E9DE"/>
          </a:solidFill>
          <a:ln w="12700">
            <a:solidFill>
              <a:srgbClr val="E2E9D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43000" y="5687568"/>
            <a:ext cx="9893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52755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相关规则片段 ≠ 个体实时答案。</a:t>
            </a:r>
            <a:endParaRPr lang="en-US" sz="145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13889"/>
            </a:avLst>
          </a:prstGeom>
          <a:solidFill>
            <a:srgbClr val="405D78"/>
          </a:solidFill>
          <a:ln w="12700">
            <a:solidFill>
              <a:srgbClr val="405D7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47472"/>
            <a:ext cx="493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测试与排错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T5：导入失效V1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solidFill>
            <a:srgbClr val="D8D0C2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15200" y="6455664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07 测试与排错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48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13232" y="1627632"/>
            <a:ext cx="5276088" cy="3520440"/>
          </a:xfrm>
          <a:prstGeom prst="roundRect">
            <a:avLst>
              <a:gd name="adj" fmla="val 1299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13232" y="1627632"/>
            <a:ext cx="64008" cy="3520440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828800"/>
            <a:ext cx="48554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V1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32688" y="2414016"/>
            <a:ext cx="483717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7月20日报名截止，已失效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208776" y="1627632"/>
            <a:ext cx="5276088" cy="3520440"/>
          </a:xfrm>
          <a:prstGeom prst="roundRect">
            <a:avLst>
              <a:gd name="adj" fmla="val 1299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08776" y="1627632"/>
            <a:ext cx="64008" cy="3520440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28232" y="1828800"/>
            <a:ext cx="48554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V2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28232" y="2414016"/>
            <a:ext cx="483717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7月25日报名截止，当前有效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932688" y="5559552"/>
            <a:ext cx="10314432" cy="512064"/>
          </a:xfrm>
          <a:prstGeom prst="roundRect">
            <a:avLst>
              <a:gd name="adj" fmla="val 8929"/>
            </a:avLst>
          </a:prstGeom>
          <a:solidFill>
            <a:srgbClr val="DDE5EB"/>
          </a:solidFill>
          <a:ln w="12700">
            <a:solidFill>
              <a:srgbClr val="DDE5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43000" y="5687568"/>
            <a:ext cx="9893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405D7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观察检索版本、模型处理与修正位置。</a:t>
            </a:r>
            <a:endParaRPr lang="en-US" sz="14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13889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47472"/>
            <a:ext cx="493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测试与排错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RAG失败的四种类型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solidFill>
            <a:srgbClr val="D8D0C2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15200" y="6455664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07 测试与排错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49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13232" y="1627632"/>
            <a:ext cx="2528316" cy="3520440"/>
          </a:xfrm>
          <a:prstGeom prst="roundRect">
            <a:avLst>
              <a:gd name="adj" fmla="val 1808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13232" y="1627632"/>
            <a:ext cx="64008" cy="3520440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828800"/>
            <a:ext cx="21076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没找到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32688" y="2414016"/>
            <a:ext cx="208940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正确知识没有进入候选结果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461004" y="1627632"/>
            <a:ext cx="2528316" cy="3520440"/>
          </a:xfrm>
          <a:prstGeom prst="roundRect">
            <a:avLst>
              <a:gd name="adj" fmla="val 1808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461004" y="1627632"/>
            <a:ext cx="64008" cy="3520440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80460" y="1828800"/>
            <a:ext cx="21076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找错了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680460" y="2414016"/>
            <a:ext cx="208940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召回的是相似但不适用的内容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208776" y="1627632"/>
            <a:ext cx="2528316" cy="3520440"/>
          </a:xfrm>
          <a:prstGeom prst="roundRect">
            <a:avLst>
              <a:gd name="adj" fmla="val 1808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08776" y="1627632"/>
            <a:ext cx="64008" cy="3520440"/>
          </a:xfrm>
          <a:prstGeom prst="rect">
            <a:avLst/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28232" y="1828800"/>
            <a:ext cx="21076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资料冲突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428232" y="2414016"/>
            <a:ext cx="208940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候选中存在不同版本或口径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8956548" y="1627632"/>
            <a:ext cx="2528316" cy="3520440"/>
          </a:xfrm>
          <a:prstGeom prst="roundRect">
            <a:avLst>
              <a:gd name="adj" fmla="val 1808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956548" y="1627632"/>
            <a:ext cx="64008" cy="3520440"/>
          </a:xfrm>
          <a:prstGeom prst="rect">
            <a:avLst/>
          </a:prstGeom>
          <a:solidFill>
            <a:srgbClr val="74546A"/>
          </a:solidFill>
          <a:ln w="12700">
            <a:solidFill>
              <a:srgbClr val="74546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76004" y="1828800"/>
            <a:ext cx="21076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找对但答错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176004" y="2414016"/>
            <a:ext cx="208940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模型没有忠实使用正确依据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932688" y="5559552"/>
            <a:ext cx="10314432" cy="512064"/>
          </a:xfrm>
          <a:prstGeom prst="roundRect">
            <a:avLst>
              <a:gd name="adj" fmla="val 8929"/>
            </a:avLst>
          </a:prstGeom>
          <a:solidFill>
            <a:srgbClr val="F2E2DB"/>
          </a:solidFill>
          <a:ln w="12700">
            <a:solidFill>
              <a:srgbClr val="F2E2D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43000" y="5687568"/>
            <a:ext cx="9893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C353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不同类型，修改位置不同。</a:t>
            </a:r>
            <a:endParaRPr lang="en-US" sz="145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13889"/>
            </a:avLst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47472"/>
            <a:ext cx="493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测试与排错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四步排查法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solidFill>
            <a:srgbClr val="D8D0C2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15200" y="6455664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07 测试与排错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50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13232" y="1627632"/>
            <a:ext cx="2528316" cy="3520440"/>
          </a:xfrm>
          <a:prstGeom prst="roundRect">
            <a:avLst>
              <a:gd name="adj" fmla="val 1808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13232" y="1627632"/>
            <a:ext cx="64008" cy="3520440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828800"/>
            <a:ext cx="21076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 看路由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32688" y="2414016"/>
            <a:ext cx="208940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问题是否进入正确知识源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461004" y="1627632"/>
            <a:ext cx="2528316" cy="3520440"/>
          </a:xfrm>
          <a:prstGeom prst="roundRect">
            <a:avLst>
              <a:gd name="adj" fmla="val 1808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461004" y="1627632"/>
            <a:ext cx="64008" cy="3520440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80460" y="1828800"/>
            <a:ext cx="21076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 看知识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680460" y="2414016"/>
            <a:ext cx="208940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权威且有效的内容是否存在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208776" y="1627632"/>
            <a:ext cx="2528316" cy="3520440"/>
          </a:xfrm>
          <a:prstGeom prst="roundRect">
            <a:avLst>
              <a:gd name="adj" fmla="val 1808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08776" y="1627632"/>
            <a:ext cx="64008" cy="3520440"/>
          </a:xfrm>
          <a:prstGeom prst="rect">
            <a:avLst/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28232" y="1828800"/>
            <a:ext cx="21076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 看检索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428232" y="2414016"/>
            <a:ext cx="208940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正确片段是否进入候选结果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8956548" y="1627632"/>
            <a:ext cx="2528316" cy="3520440"/>
          </a:xfrm>
          <a:prstGeom prst="roundRect">
            <a:avLst>
              <a:gd name="adj" fmla="val 1808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956548" y="1627632"/>
            <a:ext cx="64008" cy="3520440"/>
          </a:xfrm>
          <a:prstGeom prst="rect">
            <a:avLst/>
          </a:prstGeom>
          <a:solidFill>
            <a:srgbClr val="74546A"/>
          </a:solidFill>
          <a:ln w="12700">
            <a:solidFill>
              <a:srgbClr val="74546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76004" y="1828800"/>
            <a:ext cx="21076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 看生成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176004" y="2414016"/>
            <a:ext cx="208940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模型如何使用候选依据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932688" y="5559552"/>
            <a:ext cx="10314432" cy="512064"/>
          </a:xfrm>
          <a:prstGeom prst="roundRect">
            <a:avLst>
              <a:gd name="adj" fmla="val 8929"/>
            </a:avLst>
          </a:prstGeom>
          <a:solidFill>
            <a:srgbClr val="DDEBE8"/>
          </a:solidFill>
          <a:ln w="12700">
            <a:solidFill>
              <a:srgbClr val="DDEB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43000" y="5687568"/>
            <a:ext cx="9893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387B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不要一看到错答案就先改Prompt。</a:t>
            </a:r>
            <a:endParaRPr lang="en-US" sz="145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13889"/>
            </a:avLst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47472"/>
            <a:ext cx="493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总结与作业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六个核心结论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solidFill>
            <a:srgbClr val="D8D0C2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15200" y="6455664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08 总结与作业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51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13232" y="1627632"/>
            <a:ext cx="2528316" cy="1901952"/>
          </a:xfrm>
          <a:prstGeom prst="roundRect">
            <a:avLst>
              <a:gd name="adj" fmla="val 2404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13232" y="1627632"/>
            <a:ext cx="64008" cy="1901952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828800"/>
            <a:ext cx="21076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先检索、后生成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32688" y="2414016"/>
            <a:ext cx="208940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RAG本质是开卷回答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461004" y="1627632"/>
            <a:ext cx="2528316" cy="1901952"/>
          </a:xfrm>
          <a:prstGeom prst="roundRect">
            <a:avLst>
              <a:gd name="adj" fmla="val 2404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461004" y="1627632"/>
            <a:ext cx="64008" cy="1901952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80460" y="1828800"/>
            <a:ext cx="21076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适合RAG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680460" y="2414016"/>
            <a:ext cx="208940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内部、可更新的非实时知识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208776" y="1627632"/>
            <a:ext cx="2528316" cy="1901952"/>
          </a:xfrm>
          <a:prstGeom prst="roundRect">
            <a:avLst>
              <a:gd name="adj" fmla="val 2404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08776" y="1627632"/>
            <a:ext cx="64008" cy="1901952"/>
          </a:xfrm>
          <a:prstGeom prst="rect">
            <a:avLst/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28232" y="1828800"/>
            <a:ext cx="21076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实时事实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428232" y="2414016"/>
            <a:ext cx="208940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应查询业务系统，不让知识库猜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956548" y="1627632"/>
            <a:ext cx="2528316" cy="1901952"/>
          </a:xfrm>
          <a:prstGeom prst="roundRect">
            <a:avLst>
              <a:gd name="adj" fmla="val 2404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956548" y="1627632"/>
            <a:ext cx="64008" cy="1901952"/>
          </a:xfrm>
          <a:prstGeom prst="rect">
            <a:avLst/>
          </a:prstGeom>
          <a:solidFill>
            <a:srgbClr val="74546A"/>
          </a:solidFill>
          <a:ln w="12700">
            <a:solidFill>
              <a:srgbClr val="74546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76004" y="1828800"/>
            <a:ext cx="21076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六字段治理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176004" y="2414016"/>
            <a:ext cx="208940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让知识可维护、可控制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713232" y="3749040"/>
            <a:ext cx="2528316" cy="1901952"/>
          </a:xfrm>
          <a:prstGeom prst="roundRect">
            <a:avLst>
              <a:gd name="adj" fmla="val 2404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13232" y="3749040"/>
            <a:ext cx="64008" cy="1901952"/>
          </a:xfrm>
          <a:prstGeom prst="rect">
            <a:avLst/>
          </a:prstGeom>
          <a:solidFill>
            <a:srgbClr val="527553"/>
          </a:solidFill>
          <a:ln w="12700">
            <a:solidFill>
              <a:srgbClr val="52755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32688" y="3950208"/>
            <a:ext cx="21076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幻觉边界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932688" y="4535424"/>
            <a:ext cx="208940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增加依据，但不能保证永远正确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3461004" y="3749040"/>
            <a:ext cx="2528316" cy="1901952"/>
          </a:xfrm>
          <a:prstGeom prst="roundRect">
            <a:avLst>
              <a:gd name="adj" fmla="val 2404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461004" y="3749040"/>
            <a:ext cx="64008" cy="1901952"/>
          </a:xfrm>
          <a:prstGeom prst="rect">
            <a:avLst/>
          </a:prstGeom>
          <a:solidFill>
            <a:srgbClr val="405D78"/>
          </a:solidFill>
          <a:ln w="12700">
            <a:solidFill>
              <a:srgbClr val="405D7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80460" y="3950208"/>
            <a:ext cx="21076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验收顺序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3680460" y="4535424"/>
            <a:ext cx="208940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先看检索，再看生成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932688" y="5559552"/>
            <a:ext cx="10314432" cy="512064"/>
          </a:xfrm>
          <a:prstGeom prst="roundRect">
            <a:avLst>
              <a:gd name="adj" fmla="val 8929"/>
            </a:avLst>
          </a:prstGeom>
          <a:solidFill>
            <a:srgbClr val="F2E7D5"/>
          </a:solidFill>
          <a:ln w="12700">
            <a:solidFill>
              <a:srgbClr val="F2E7D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143000" y="5687568"/>
            <a:ext cx="9893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D18A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把知识变成可维护、可验证的产品能力。</a:t>
            </a:r>
            <a:endParaRPr lang="en-US" sz="145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13889"/>
            </a:avLst>
          </a:prstGeom>
          <a:solidFill>
            <a:srgbClr val="74546A"/>
          </a:solidFill>
          <a:ln w="12700">
            <a:solidFill>
              <a:srgbClr val="7454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47472"/>
            <a:ext cx="493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总结与作业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课后V1.0与下一课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solidFill>
            <a:srgbClr val="D8D0C2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15200" y="6455664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08 总结与作业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52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13232" y="1627632"/>
            <a:ext cx="2528316" cy="3520440"/>
          </a:xfrm>
          <a:prstGeom prst="roundRect">
            <a:avLst>
              <a:gd name="adj" fmla="val 1808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13232" y="1627632"/>
            <a:ext cx="64008" cy="3520440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828800"/>
            <a:ext cx="21076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场景与知识源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32688" y="2414016"/>
            <a:ext cx="208940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选择1个场景，梳理3类知识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461004" y="1627632"/>
            <a:ext cx="2528316" cy="3520440"/>
          </a:xfrm>
          <a:prstGeom prst="roundRect">
            <a:avLst>
              <a:gd name="adj" fmla="val 1808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461004" y="1627632"/>
            <a:ext cx="64008" cy="3520440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80460" y="1828800"/>
            <a:ext cx="21076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结构设计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680460" y="2414016"/>
            <a:ext cx="208940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补全离线/在线双链路和六字段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208776" y="1627632"/>
            <a:ext cx="2528316" cy="3520440"/>
          </a:xfrm>
          <a:prstGeom prst="roundRect">
            <a:avLst>
              <a:gd name="adj" fmla="val 1808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08776" y="1627632"/>
            <a:ext cx="64008" cy="3520440"/>
          </a:xfrm>
          <a:prstGeom prst="rect">
            <a:avLst/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28232" y="1828800"/>
            <a:ext cx="21076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验证修正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428232" y="2414016"/>
            <a:ext cx="208940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完成5条测试，并记录1次修改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8956548" y="1627632"/>
            <a:ext cx="2528316" cy="3520440"/>
          </a:xfrm>
          <a:prstGeom prst="roundRect">
            <a:avLst>
              <a:gd name="adj" fmla="val 1808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956548" y="1627632"/>
            <a:ext cx="64008" cy="3520440"/>
          </a:xfrm>
          <a:prstGeom prst="rect">
            <a:avLst/>
          </a:prstGeom>
          <a:solidFill>
            <a:srgbClr val="74546A"/>
          </a:solidFill>
          <a:ln w="12700">
            <a:solidFill>
              <a:srgbClr val="74546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76004" y="1828800"/>
            <a:ext cx="21076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下一课Agent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176004" y="2414016"/>
            <a:ext cx="208940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让系统受控选择知识或工具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932688" y="5559552"/>
            <a:ext cx="10314432" cy="512064"/>
          </a:xfrm>
          <a:prstGeom prst="roundRect">
            <a:avLst>
              <a:gd name="adj" fmla="val 8929"/>
            </a:avLst>
          </a:prstGeom>
          <a:solidFill>
            <a:srgbClr val="E8E0E7"/>
          </a:solidFill>
          <a:ln w="12700">
            <a:solidFill>
              <a:srgbClr val="E8E0E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43000" y="5687568"/>
            <a:ext cx="9893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74546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Workflow预设路径｜RAG提供依据｜Agent受控行动。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ingFang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ingFang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52</Slides>
  <Notes>52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RAG与企业知识库产品设计</dc:title>
  <dc:subject>第04课：RAG与企业知识库产品设计</dc:subject>
  <dc:creator>AI 产品经理系统课程</dc:creator>
  <cp:lastModifiedBy>AI 产品经理系统课程</cp:lastModifiedBy>
  <cp:revision>1</cp:revision>
  <dcterms:created xsi:type="dcterms:W3CDTF">2026-07-25T09:00:10Z</dcterms:created>
  <dcterms:modified xsi:type="dcterms:W3CDTF">2026-07-25T09:00:10Z</dcterms:modified>
</cp:coreProperties>
</file>