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notesMasterIdLst>
    <p:notesMasterId r:id="rId5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第1页｜课程任务
逐页内容：课程生产/第一阶段/第03课_AI产品形态分类与场景判断_重做工作区/09_PPT结构与逐页内容
老师讲解：课程生产/第一阶段/第03课_AI产品形态分类与场景判断_重做工作区/05_老师版讲义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第2页｜课程任务
逐页内容：课程生产/第一阶段/第03课_AI产品形态分类与场景判断_重做工作区/09_PPT结构与逐页内容
老师讲解：课程生产/第一阶段/第03课_AI产品形态分类与场景判断_重做工作区/05_老师版讲义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第3页｜课程任务
逐页内容：课程生产/第一阶段/第03课_AI产品形态分类与场景判断_重做工作区/09_PPT结构与逐页内容
老师讲解：课程生产/第一阶段/第03课_AI产品形态分类与场景判断_重做工作区/05_老师版讲义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第4页｜课程任务
逐页内容：课程生产/第一阶段/第03课_AI产品形态分类与场景判断_重做工作区/09_PPT结构与逐页内容
老师讲解：课程生产/第一阶段/第03课_AI产品形态分类与场景判断_重做工作区/05_老师版讲义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第5页｜课程任务
逐页内容：课程生产/第一阶段/第03课_AI产品形态分类与场景判断_重做工作区/09_PPT结构与逐页内容
老师讲解：课程生产/第一阶段/第03课_AI产品形态分类与场景判断_重做工作区/05_老师版讲义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第6页｜01 先判断是否需要AI
逐页内容：课程生产/第一阶段/第03课_AI产品形态分类与场景判断_重做工作区/09_PPT结构与逐页内容
老师讲解：课程生产/第一阶段/第03课_AI产品形态分类与场景判断_重做工作区/05_老师版讲义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第7页｜01 先判断是否需要AI
逐页内容：课程生产/第一阶段/第03课_AI产品形态分类与场景判断_重做工作区/09_PPT结构与逐页内容
老师讲解：课程生产/第一阶段/第03课_AI产品形态分类与场景判断_重做工作区/05_老师版讲义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第8页｜01 先判断是否需要AI
逐页内容：课程生产/第一阶段/第03课_AI产品形态分类与场景判断_重做工作区/09_PPT结构与逐页内容
老师讲解：课程生产/第一阶段/第03课_AI产品形态分类与场景判断_重做工作区/05_老师版讲义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第9页｜01 先判断是否需要AI
逐页内容：课程生产/第一阶段/第03课_AI产品形态分类与场景判断_重做工作区/09_PPT结构与逐页内容
老师讲解：课程生产/第一阶段/第03课_AI产品形态分类与场景判断_重做工作区/05_老师版讲义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第10页｜01 先判断是否需要AI
逐页内容：课程生产/第一阶段/第03课_AI产品形态分类与场景判断_重做工作区/09_PPT结构与逐页内容
老师讲解：课程生产/第一阶段/第03课_AI产品形态分类与场景判断_重做工作区/05_老师版讲义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第11页｜01 先判断是否需要AI
逐页内容：课程生产/第一阶段/第03课_AI产品形态分类与场景判断_重做工作区/09_PPT结构与逐页内容
老师讲解：课程生产/第一阶段/第03课_AI产品形态分类与场景判断_重做工作区/05_老师版讲义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第12页｜01 先判断是否需要AI
逐页内容：课程生产/第一阶段/第03课_AI产品形态分类与场景判断_重做工作区/09_PPT结构与逐页内容
老师讲解：课程生产/第一阶段/第03课_AI产品形态分类与场景判断_重做工作区/05_老师版讲义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第13页｜02 五维场景判断
逐页内容：课程生产/第一阶段/第03课_AI产品形态分类与场景判断_重做工作区/09_PPT结构与逐页内容
老师讲解：课程生产/第一阶段/第03课_AI产品形态分类与场景判断_重做工作区/05_老师版讲义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第14页｜02 五维场景判断
逐页内容：课程生产/第一阶段/第03课_AI产品形态分类与场景判断_重做工作区/09_PPT结构与逐页内容
老师讲解：课程生产/第一阶段/第03课_AI产品形态分类与场景判断_重做工作区/05_老师版讲义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第15页｜02 五维场景判断
逐页内容：课程生产/第一阶段/第03课_AI产品形态分类与场景判断_重做工作区/09_PPT结构与逐页内容
老师讲解：课程生产/第一阶段/第03课_AI产品形态分类与场景判断_重做工作区/05_老师版讲义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第16页｜02 五维场景判断
逐页内容：课程生产/第一阶段/第03课_AI产品形态分类与场景判断_重做工作区/09_PPT结构与逐页内容
老师讲解：课程生产/第一阶段/第03课_AI产品形态分类与场景判断_重做工作区/05_老师版讲义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第17页｜02 五维场景判断
逐页内容：课程生产/第一阶段/第03课_AI产品形态分类与场景判断_重做工作区/09_PPT结构与逐页内容
老师讲解：课程生产/第一阶段/第03课_AI产品形态分类与场景判断_重做工作区/05_老师版讲义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第18页｜02 五维场景判断
逐页内容：课程生产/第一阶段/第03课_AI产品形态分类与场景判断_重做工作区/09_PPT结构与逐页内容
老师讲解：课程生产/第一阶段/第03课_AI产品形态分类与场景判断_重做工作区/05_老师版讲义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第19页｜02 五维场景判断
逐页内容：课程生产/第一阶段/第03课_AI产品形态分类与场景判断_重做工作区/09_PPT结构与逐页内容
老师讲解：课程生产/第一阶段/第03课_AI产品形态分类与场景判断_重做工作区/05_老师版讲义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第20页｜02 五维场景判断
逐页内容：课程生产/第一阶段/第03课_AI产品形态分类与场景判断_重做工作区/09_PPT结构与逐页内容
老师讲解：课程生产/第一阶段/第03课_AI产品形态分类与场景判断_重做工作区/05_老师版讲义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第21页｜03 两层产品形态图
逐页内容：课程生产/第一阶段/第03课_AI产品形态分类与场景判断_重做工作区/09_PPT结构与逐页内容
老师讲解：课程生产/第一阶段/第03课_AI产品形态分类与场景判断_重做工作区/05_老师版讲义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第22页｜03 两层产品形态图
逐页内容：课程生产/第一阶段/第03课_AI产品形态分类与场景判断_重做工作区/09_PPT结构与逐页内容
老师讲解：课程生产/第一阶段/第03课_AI产品形态分类与场景判断_重做工作区/05_老师版讲义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第23页｜03 两层产品形态图
逐页内容：课程生产/第一阶段/第03课_AI产品形态分类与场景判断_重做工作区/09_PPT结构与逐页内容
老师讲解：课程生产/第一阶段/第03课_AI产品形态分类与场景判断_重做工作区/05_老师版讲义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第24页｜03 两层产品形态图
逐页内容：课程生产/第一阶段/第03课_AI产品形态分类与场景判断_重做工作区/09_PPT结构与逐页内容
老师讲解：课程生产/第一阶段/第03课_AI产品形态分类与场景判断_重做工作区/05_老师版讲义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第25页｜短休息
逐页内容：课程生产/第一阶段/第03课_AI产品形态分类与场景判断_重做工作区/09_PPT结构与逐页内容
老师讲解：课程生产/第一阶段/第03课_AI产品形态分类与场景判断_重做工作区/05_老师版讲义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第26页｜04 用户体验层
逐页内容：课程生产/第一阶段/第03课_AI产品形态分类与场景判断_重做工作区/09_PPT结构与逐页内容
老师讲解：课程生产/第一阶段/第03课_AI产品形态分类与场景判断_重做工作区/05_老师版讲义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第27页｜04 用户体验层
逐页内容：课程生产/第一阶段/第03课_AI产品形态分类与场景判断_重做工作区/09_PPT结构与逐页内容
老师讲解：课程生产/第一阶段/第03课_AI产品形态分类与场景判断_重做工作区/05_老师版讲义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第28页｜04 用户体验层
逐页内容：课程生产/第一阶段/第03课_AI产品形态分类与场景判断_重做工作区/09_PPT结构与逐页内容
老师讲解：课程生产/第一阶段/第03课_AI产品形态分类与场景判断_重做工作区/05_老师版讲义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第29页｜04 用户体验层
逐页内容：课程生产/第一阶段/第03课_AI产品形态分类与场景判断_重做工作区/09_PPT结构与逐页内容
老师讲解：课程生产/第一阶段/第03课_AI产品形态分类与场景判断_重做工作区/05_老师版讲义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第30页｜04 用户体验层
逐页内容：课程生产/第一阶段/第03课_AI产品形态分类与场景判断_重做工作区/09_PPT结构与逐页内容
老师讲解：课程生产/第一阶段/第03课_AI产品形态分类与场景判断_重做工作区/05_老师版讲义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第31页｜05 任务完成层
逐页内容：课程生产/第一阶段/第03课_AI产品形态分类与场景判断_重做工作区/09_PPT结构与逐页内容
老师讲解：课程生产/第一阶段/第03课_AI产品形态分类与场景判断_重做工作区/05_老师版讲义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第32页｜05 任务完成层
逐页内容：课程生产/第一阶段/第03课_AI产品形态分类与场景判断_重做工作区/09_PPT结构与逐页内容
老师讲解：课程生产/第一阶段/第03课_AI产品形态分类与场景判断_重做工作区/05_老师版讲义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第33页｜05 任务完成层
逐页内容：课程生产/第一阶段/第03课_AI产品形态分类与场景判断_重做工作区/09_PPT结构与逐页内容
老师讲解：课程生产/第一阶段/第03课_AI产品形态分类与场景判断_重做工作区/05_老师版讲义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第34页｜05 任务完成层
逐页内容：课程生产/第一阶段/第03课_AI产品形态分类与场景判断_重做工作区/09_PPT结构与逐页内容
老师讲解：课程生产/第一阶段/第03课_AI产品形态分类与场景判断_重做工作区/05_老师版讲义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第35页｜05 任务完成层
逐页内容：课程生产/第一阶段/第03课_AI产品形态分类与场景判断_重做工作区/09_PPT结构与逐页内容
老师讲解：课程生产/第一阶段/第03课_AI产品形态分类与场景判断_重做工作区/05_老师版讲义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第36页｜05 任务完成层
逐页内容：课程生产/第一阶段/第03课_AI产品形态分类与场景判断_重做工作区/09_PPT结构与逐页内容
老师讲解：课程生产/第一阶段/第03课_AI产品形态分类与场景判断_重做工作区/05_老师版讲义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第37页｜05 任务完成层
逐页内容：课程生产/第一阶段/第03课_AI产品形态分类与场景判断_重做工作区/09_PPT结构与逐页内容
老师讲解：课程生产/第一阶段/第03课_AI产品形态分类与场景判断_重做工作区/05_老师版讲义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第38页｜05 任务完成层
逐页内容：课程生产/第一阶段/第03课_AI产品形态分类与场景判断_重做工作区/09_PPT结构与逐页内容
老师讲解：课程生产/第一阶段/第03课_AI产品形态分类与场景判断_重做工作区/05_老师版讲义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第39页｜05 任务完成层
逐页内容：课程生产/第一阶段/第03课_AI产品形态分类与场景判断_重做工作区/09_PPT结构与逐页内容
老师讲解：课程生产/第一阶段/第03课_AI产品形态分类与场景判断_重做工作区/05_老师版讲义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第40页｜05 任务完成层
逐页内容：课程生产/第一阶段/第03课_AI产品形态分类与场景判断_重做工作区/09_PPT结构与逐页内容
老师讲解：课程生产/第一阶段/第03课_AI产品形态分类与场景判断_重做工作区/05_老师版讲义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第41页｜06 产品形态选择路径
逐页内容：课程生产/第一阶段/第03课_AI产品形态分类与场景判断_重做工作区/09_PPT结构与逐页内容
老师讲解：课程生产/第一阶段/第03课_AI产品形态分类与场景判断_重做工作区/05_老师版讲义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第42页｜06 产品形态选择路径
逐页内容：课程生产/第一阶段/第03课_AI产品形态分类与场景判断_重做工作区/09_PPT结构与逐页内容
老师讲解：课程生产/第一阶段/第03课_AI产品形态分类与场景判断_重做工作区/05_老师版讲义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第43页｜06 产品形态选择路径
逐页内容：课程生产/第一阶段/第03课_AI产品形态分类与场景判断_重做工作区/09_PPT结构与逐页内容
老师讲解：课程生产/第一阶段/第03课_AI产品形态分类与场景判断_重做工作区/05_老师版讲义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第44页｜07 综合案例
逐页内容：课程生产/第一阶段/第03课_AI产品形态分类与场景判断_重做工作区/09_PPT结构与逐页内容
老师讲解：课程生产/第一阶段/第03课_AI产品形态分类与场景判断_重做工作区/05_老师版讲义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第45页｜07 综合案例
逐页内容：课程生产/第一阶段/第03课_AI产品形态分类与场景判断_重做工作区/09_PPT结构与逐页内容
老师讲解：课程生产/第一阶段/第03课_AI产品形态分类与场景判断_重做工作区/05_老师版讲义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第46页｜07 综合案例
逐页内容：课程生产/第一阶段/第03课_AI产品形态分类与场景判断_重做工作区/09_PPT结构与逐页内容
老师讲解：课程生产/第一阶段/第03课_AI产品形态分类与场景判断_重做工作区/05_老师版讲义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第47页｜07 综合案例
逐页内容：课程生产/第一阶段/第03课_AI产品形态分类与场景判断_重做工作区/09_PPT结构与逐页内容
老师讲解：课程生产/第一阶段/第03课_AI产品形态分类与场景判断_重做工作区/05_老师版讲义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第48页｜07 综合案例
逐页内容：课程生产/第一阶段/第03课_AI产品形态分类与场景判断_重做工作区/09_PPT结构与逐页内容
老师讲解：课程生产/第一阶段/第03课_AI产品形态分类与场景判断_重做工作区/05_老师版讲义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第49页｜07 综合案例
逐页内容：课程生产/第一阶段/第03课_AI产品形态分类与场景判断_重做工作区/09_PPT结构与逐页内容
老师讲解：课程生产/第一阶段/第03课_AI产品形态分类与场景判断_重做工作区/05_老师版讲义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第50页｜08 总结与课后作业
逐页内容：课程生产/第一阶段/第03课_AI产品形态分类与场景判断_重做工作区/09_PPT结构与逐页内容
老师讲解：课程生产/第一阶段/第03课_AI产品形态分类与场景判断_重做工作区/05_老师版讲义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04672" y="658368"/>
            <a:ext cx="1005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3500" dirty="0"/>
          </a:p>
        </p:txBody>
      </p:sp>
      <p:sp>
        <p:nvSpPr>
          <p:cNvPr id="5" name="Text 2"/>
          <p:cNvSpPr/>
          <p:nvPr/>
        </p:nvSpPr>
        <p:spPr>
          <a:xfrm>
            <a:off x="804672" y="1444752"/>
            <a:ext cx="7589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AI产品形态分类与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场景判断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841248" y="3218688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先判断是否需要AI，再选择能够落地的产品组合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841248" y="3822192"/>
            <a:ext cx="2743200" cy="0"/>
          </a:xfrm>
          <a:prstGeom prst="line">
            <a:avLst/>
          </a:prstGeom>
          <a:noFill/>
          <a:ln w="38100">
            <a:solidFill>
              <a:srgbClr val="C3533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046720" y="1051560"/>
            <a:ext cx="2194560" cy="329184"/>
          </a:xfrm>
          <a:prstGeom prst="roundRect">
            <a:avLst>
              <a:gd name="adj" fmla="val 22222"/>
            </a:avLst>
          </a:prstGeom>
          <a:solidFill>
            <a:srgbClr val="F2E2DB"/>
          </a:solidFill>
          <a:ln w="12700">
            <a:solidFill>
              <a:srgbClr val="F2E2D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101584" y="1124712"/>
            <a:ext cx="2084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是否AI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8046720" y="2011680"/>
            <a:ext cx="2194560" cy="329184"/>
          </a:xfrm>
          <a:prstGeom prst="roundRect">
            <a:avLst>
              <a:gd name="adj" fmla="val 22222"/>
            </a:avLst>
          </a:prstGeom>
          <a:solidFill>
            <a:srgbClr val="DDEBE8"/>
          </a:solidFill>
          <a:ln w="12700">
            <a:solidFill>
              <a:srgbClr val="DDEB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101584" y="2084832"/>
            <a:ext cx="2084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7B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体验层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8046720" y="2971800"/>
            <a:ext cx="2194560" cy="329184"/>
          </a:xfrm>
          <a:prstGeom prst="roundRect">
            <a:avLst>
              <a:gd name="adj" fmla="val 22222"/>
            </a:avLst>
          </a:prstGeom>
          <a:solidFill>
            <a:srgbClr val="F2E7D5"/>
          </a:solidFill>
          <a:ln w="12700">
            <a:solidFill>
              <a:srgbClr val="F2E7D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101584" y="3044952"/>
            <a:ext cx="2084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18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完成层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8046720" y="3931920"/>
            <a:ext cx="2194560" cy="329184"/>
          </a:xfrm>
          <a:prstGeom prst="roundRect">
            <a:avLst>
              <a:gd name="adj" fmla="val 22222"/>
            </a:avLst>
          </a:prstGeom>
          <a:solidFill>
            <a:srgbClr val="E8E0E7"/>
          </a:solidFill>
          <a:ln w="12700">
            <a:solidFill>
              <a:srgbClr val="E8E0E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101584" y="4005072"/>
            <a:ext cx="2084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4546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验证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833104" y="5879592"/>
            <a:ext cx="2331720" cy="329184"/>
          </a:xfrm>
          <a:prstGeom prst="roundRect">
            <a:avLst>
              <a:gd name="adj" fmla="val 2222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887968" y="5952744"/>
            <a:ext cx="2221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第一阶段 · 第03课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2222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474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课程任务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今天只解决四个问题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629400" y="6455664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课程任务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58368" y="1572768"/>
            <a:ext cx="5330952" cy="1874520"/>
          </a:xfrm>
          <a:prstGeom prst="roundRect">
            <a:avLst>
              <a:gd name="adj" fmla="val 243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8368" y="1572768"/>
            <a:ext cx="64008" cy="187452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6968" y="1773936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什么任务适合AI？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86968" y="2322576"/>
            <a:ext cx="487375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先与规则、系统和人工比较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208776" y="1572768"/>
            <a:ext cx="5330952" cy="1874520"/>
          </a:xfrm>
          <a:prstGeom prst="roundRect">
            <a:avLst>
              <a:gd name="adj" fmla="val 243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208776" y="1572768"/>
            <a:ext cx="64008" cy="187452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37376" y="1773936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怎样判断场景成立？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437376" y="2322576"/>
            <a:ext cx="487375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价值、任务、数据、风险、成本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58368" y="3666744"/>
            <a:ext cx="5330952" cy="1874520"/>
          </a:xfrm>
          <a:prstGeom prst="roundRect">
            <a:avLst>
              <a:gd name="adj" fmla="val 243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58368" y="3666744"/>
            <a:ext cx="64008" cy="187452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86968" y="3867912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为什么不是五选一？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86968" y="4416552"/>
            <a:ext cx="487375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体验层与完成层分开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208776" y="3666744"/>
            <a:ext cx="5330952" cy="1874520"/>
          </a:xfrm>
          <a:prstGeom prst="roundRect">
            <a:avLst>
              <a:gd name="adj" fmla="val 243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208776" y="3666744"/>
            <a:ext cx="64008" cy="1874520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37376" y="3867912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怎样写出专业方案？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6437376" y="4416552"/>
            <a:ext cx="487375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选择＋不选＋边界＋验证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960120" y="5321808"/>
            <a:ext cx="10241280" cy="530352"/>
          </a:xfrm>
          <a:prstGeom prst="roundRect">
            <a:avLst>
              <a:gd name="adj" fmla="val 8621"/>
            </a:avLst>
          </a:prstGeom>
          <a:solidFill>
            <a:srgbClr val="F2E2DB"/>
          </a:solidFill>
          <a:ln w="12700">
            <a:solidFill>
              <a:srgbClr val="F2E2D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143000" y="544982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不讲“哪种技术最先进”，只讲“为什么这样选”。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2222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474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课程任务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你会带走一张选择卡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629400" y="6455664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课程任务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713232" y="1572768"/>
            <a:ext cx="5285232" cy="4343400"/>
          </a:xfrm>
          <a:prstGeom prst="roundRect">
            <a:avLst>
              <a:gd name="adj" fmla="val 1053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13232" y="1572768"/>
            <a:ext cx="64008" cy="4343400"/>
          </a:xfrm>
          <a:prstGeom prst="rect">
            <a:avLst/>
          </a:prstGeom>
          <a:solidFill>
            <a:srgbClr val="405D78"/>
          </a:solidFill>
          <a:ln w="12700">
            <a:solidFill>
              <a:srgbClr val="405D7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41832" y="1773936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V0.1｜先判断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941832" y="2322576"/>
            <a:ext cx="4828032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五维场景判断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适合／局部适合／暂不适合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最大待验证项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199632" y="1572768"/>
            <a:ext cx="5285232" cy="4343400"/>
          </a:xfrm>
          <a:prstGeom prst="roundRect">
            <a:avLst>
              <a:gd name="adj" fmla="val 1053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199632" y="1572768"/>
            <a:ext cx="64008" cy="4343400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28232" y="1773936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V0.2｜再选方案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6428232" y="2322576"/>
            <a:ext cx="4828032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用户体验层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任务完成层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不选方案与人工边界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960120" y="5532120"/>
            <a:ext cx="10241280" cy="530352"/>
          </a:xfrm>
          <a:prstGeom prst="roundRect">
            <a:avLst>
              <a:gd name="adj" fmla="val 8621"/>
            </a:avLst>
          </a:prstGeom>
          <a:solidFill>
            <a:srgbClr val="F2E2DB"/>
          </a:solidFill>
          <a:ln w="12700">
            <a:solidFill>
              <a:srgbClr val="F2E2D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43000" y="566013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课后换成自己的工作任务，完成V1.0。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2222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474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课程任务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需求来了，你先选哪个？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629400" y="6455664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课程任务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914400" y="157276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每天把最新活动规则同步给商家，并提醒需要调整的门店。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658368" y="2423160"/>
            <a:ext cx="3480816" cy="2194560"/>
          </a:xfrm>
          <a:prstGeom prst="roundRect">
            <a:avLst>
              <a:gd name="adj" fmla="val 2083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58368" y="2423160"/>
            <a:ext cx="64008" cy="219456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86968" y="2624328"/>
            <a:ext cx="3041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A｜做Chatbot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86968" y="3172968"/>
            <a:ext cx="3023616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让商家自己问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358640" y="2423160"/>
            <a:ext cx="3480816" cy="2194560"/>
          </a:xfrm>
          <a:prstGeom prst="roundRect">
            <a:avLst>
              <a:gd name="adj" fmla="val 2083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358640" y="2423160"/>
            <a:ext cx="64008" cy="219456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87240" y="2624328"/>
            <a:ext cx="3041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B｜做Agent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587240" y="3172968"/>
            <a:ext cx="3023616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自动处理一切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58912" y="2423160"/>
            <a:ext cx="3480816" cy="2194560"/>
          </a:xfrm>
          <a:prstGeom prst="roundRect">
            <a:avLst>
              <a:gd name="adj" fmla="val 2083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058912" y="2423160"/>
            <a:ext cx="64008" cy="219456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287512" y="2624328"/>
            <a:ext cx="3041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C｜先拆任务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8287512" y="3172968"/>
            <a:ext cx="3023616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拆数据、动作和风险，再决定组合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960120" y="5074920"/>
            <a:ext cx="10241280" cy="530352"/>
          </a:xfrm>
          <a:prstGeom prst="roundRect">
            <a:avLst>
              <a:gd name="adj" fmla="val 8621"/>
            </a:avLst>
          </a:prstGeom>
          <a:solidFill>
            <a:srgbClr val="F2E7D5"/>
          </a:solidFill>
          <a:ln w="12700">
            <a:solidFill>
              <a:srgbClr val="F2E7D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143000" y="520293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18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先举手投票｜本页不公布“标准技术答案”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2222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474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课程任务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第2课解决Prompt，本课解决方案选择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629400" y="6455664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课程任务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713232" y="1572768"/>
            <a:ext cx="5285232" cy="4343400"/>
          </a:xfrm>
          <a:prstGeom prst="roundRect">
            <a:avLst>
              <a:gd name="adj" fmla="val 1053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13232" y="1572768"/>
            <a:ext cx="64008" cy="4343400"/>
          </a:xfrm>
          <a:prstGeom prst="rect">
            <a:avLst/>
          </a:prstGeom>
          <a:solidFill>
            <a:srgbClr val="405D78"/>
          </a:solidFill>
          <a:ln w="12700">
            <a:solidFill>
              <a:srgbClr val="405D7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41832" y="1773936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第2课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941832" y="2322576"/>
            <a:ext cx="4828032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怎样把一个任务说清楚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怎样验证模型输出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怎样识别Prompt边界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199632" y="1572768"/>
            <a:ext cx="5285232" cy="4343400"/>
          </a:xfrm>
          <a:prstGeom prst="roundRect">
            <a:avLst>
              <a:gd name="adj" fmla="val 1053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199632" y="1572768"/>
            <a:ext cx="64008" cy="434340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28232" y="1773936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第3课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6428232" y="2322576"/>
            <a:ext cx="4828032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这个任务是否值得用AI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用户应该怎样使用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系统依靠什么完成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960120" y="5321808"/>
            <a:ext cx="10241280" cy="530352"/>
          </a:xfrm>
          <a:prstGeom prst="roundRect">
            <a:avLst>
              <a:gd name="adj" fmla="val 8621"/>
            </a:avLst>
          </a:prstGeom>
          <a:solidFill>
            <a:srgbClr val="F2E2DB"/>
          </a:solidFill>
          <a:ln w="12700">
            <a:solidFill>
              <a:srgbClr val="F2E2D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43000" y="544982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Prompt是一块积木，不是整个产品方案。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2222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474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先判断是否需要AI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能生成，不等于值得做成产品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629400" y="6455664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先判断是否需要AI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713232" y="1572768"/>
            <a:ext cx="5285232" cy="4343400"/>
          </a:xfrm>
          <a:prstGeom prst="roundRect">
            <a:avLst>
              <a:gd name="adj" fmla="val 1053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13232" y="1572768"/>
            <a:ext cx="64008" cy="434340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41832" y="1773936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Demo问题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941832" y="2322576"/>
            <a:ext cx="4828032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模型能不能给出一个结果？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6199632" y="1572768"/>
            <a:ext cx="5285232" cy="4343400"/>
          </a:xfrm>
          <a:prstGeom prst="roundRect">
            <a:avLst>
              <a:gd name="adj" fmla="val 1053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199632" y="1572768"/>
            <a:ext cx="64008" cy="434340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28232" y="1773936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产品问题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6428232" y="2322576"/>
            <a:ext cx="4828032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价值、数据、风险、成本是否成立？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960120" y="5321808"/>
            <a:ext cx="10241280" cy="530352"/>
          </a:xfrm>
          <a:prstGeom prst="roundRect">
            <a:avLst>
              <a:gd name="adj" fmla="val 8621"/>
            </a:avLst>
          </a:prstGeom>
          <a:solidFill>
            <a:srgbClr val="F2E2DB"/>
          </a:solidFill>
          <a:ln w="12700">
            <a:solidFill>
              <a:srgbClr val="F2E2D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43000" y="544982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始终与规则系统、数据库、原有功能和人工方案比较。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2222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474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先判断是否需要AI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大模型更擅长写、读、判、答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629400" y="6455664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先判断是否需要AI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58368" y="1828800"/>
            <a:ext cx="2555748" cy="2377440"/>
          </a:xfrm>
          <a:prstGeom prst="roundRect">
            <a:avLst>
              <a:gd name="adj" fmla="val 1923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8368" y="1828800"/>
            <a:ext cx="64008" cy="237744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6968" y="2029968"/>
            <a:ext cx="2116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写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886968" y="2578608"/>
            <a:ext cx="2098548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生成｜改写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3433572" y="1828800"/>
            <a:ext cx="2555748" cy="2377440"/>
          </a:xfrm>
          <a:prstGeom prst="roundRect">
            <a:avLst>
              <a:gd name="adj" fmla="val 1923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433572" y="1828800"/>
            <a:ext cx="64008" cy="237744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62172" y="2029968"/>
            <a:ext cx="2116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读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3662172" y="2578608"/>
            <a:ext cx="2098548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总结｜抽取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6208776" y="1828800"/>
            <a:ext cx="2555748" cy="2377440"/>
          </a:xfrm>
          <a:prstGeom prst="roundRect">
            <a:avLst>
              <a:gd name="adj" fmla="val 1923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208776" y="1828800"/>
            <a:ext cx="64008" cy="237744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37376" y="2029968"/>
            <a:ext cx="2116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判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6437376" y="2578608"/>
            <a:ext cx="2098548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分类｜匹配</a:t>
            </a:r>
            <a:endParaRPr lang="en-US" sz="1700" dirty="0"/>
          </a:p>
        </p:txBody>
      </p:sp>
      <p:sp>
        <p:nvSpPr>
          <p:cNvPr id="23" name="Shape 20"/>
          <p:cNvSpPr/>
          <p:nvPr/>
        </p:nvSpPr>
        <p:spPr>
          <a:xfrm>
            <a:off x="8983980" y="1828800"/>
            <a:ext cx="2555748" cy="2377440"/>
          </a:xfrm>
          <a:prstGeom prst="roundRect">
            <a:avLst>
              <a:gd name="adj" fmla="val 1923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8983980" y="1828800"/>
            <a:ext cx="64008" cy="2377440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212580" y="2029968"/>
            <a:ext cx="2116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答</a:t>
            </a:r>
            <a:endParaRPr lang="en-US" sz="2400" dirty="0"/>
          </a:p>
        </p:txBody>
      </p:sp>
      <p:sp>
        <p:nvSpPr>
          <p:cNvPr id="26" name="Text 23"/>
          <p:cNvSpPr/>
          <p:nvPr/>
        </p:nvSpPr>
        <p:spPr>
          <a:xfrm>
            <a:off x="9212580" y="2578608"/>
            <a:ext cx="2098548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依据上下文回答</a:t>
            </a:r>
            <a:endParaRPr lang="en-US" sz="1700" dirty="0"/>
          </a:p>
        </p:txBody>
      </p:sp>
      <p:sp>
        <p:nvSpPr>
          <p:cNvPr id="27" name="Shape 24"/>
          <p:cNvSpPr/>
          <p:nvPr/>
        </p:nvSpPr>
        <p:spPr>
          <a:xfrm>
            <a:off x="960120" y="4892040"/>
            <a:ext cx="10241280" cy="530352"/>
          </a:xfrm>
          <a:prstGeom prst="roundRect">
            <a:avLst>
              <a:gd name="adj" fmla="val 8621"/>
            </a:avLst>
          </a:prstGeom>
          <a:solidFill>
            <a:srgbClr val="F2E2DB"/>
          </a:solidFill>
          <a:ln w="12700">
            <a:solidFill>
              <a:srgbClr val="F2E2D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143000" y="502005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这是能力范围，不是立项理由。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2222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474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先判断是否需要AI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三类常见机会特征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629400" y="6455664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先判断是否需要AI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58368" y="1737360"/>
            <a:ext cx="3480816" cy="2743200"/>
          </a:xfrm>
          <a:prstGeom prst="roundRect">
            <a:avLst>
              <a:gd name="adj" fmla="val 166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8368" y="1737360"/>
            <a:ext cx="64008" cy="274320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6968" y="1938528"/>
            <a:ext cx="3041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重认知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86968" y="2487168"/>
            <a:ext cx="3023616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需要理解大量非结构化信息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358640" y="1737360"/>
            <a:ext cx="3480816" cy="2743200"/>
          </a:xfrm>
          <a:prstGeom prst="roundRect">
            <a:avLst>
              <a:gd name="adj" fmla="val 166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358640" y="1737360"/>
            <a:ext cx="64008" cy="274320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87240" y="1938528"/>
            <a:ext cx="3041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可标准化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587240" y="2487168"/>
            <a:ext cx="3023616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输出不唯一，但有基本标准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8058912" y="1737360"/>
            <a:ext cx="3480816" cy="2743200"/>
          </a:xfrm>
          <a:prstGeom prst="roundRect">
            <a:avLst>
              <a:gd name="adj" fmla="val 166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058912" y="1737360"/>
            <a:ext cx="64008" cy="274320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287512" y="1938528"/>
            <a:ext cx="3041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信息过载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287512" y="2487168"/>
            <a:ext cx="3023616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人工处理速度跟不上增长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960120" y="4983480"/>
            <a:ext cx="10241280" cy="530352"/>
          </a:xfrm>
          <a:prstGeom prst="roundRect">
            <a:avLst>
              <a:gd name="adj" fmla="val 8621"/>
            </a:avLst>
          </a:prstGeom>
          <a:solidFill>
            <a:srgbClr val="F2E2DB"/>
          </a:solidFill>
          <a:ln w="12700">
            <a:solidFill>
              <a:srgbClr val="F2E2D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143000" y="51114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有价值、可验证，才值得继续。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2222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474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先判断是否需要AI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固定规则：先用确定性系统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629400" y="6455664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先判断是否需要AI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914400" y="1691640"/>
            <a:ext cx="73152" cy="1143000"/>
          </a:xfrm>
          <a:prstGeom prst="rect">
            <a:avLst/>
          </a:prstGeom>
          <a:solidFill>
            <a:srgbClr val="405D78"/>
          </a:solidFill>
          <a:ln w="12700">
            <a:solidFill>
              <a:srgbClr val="405D7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80160" y="1719072"/>
            <a:ext cx="9875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金额 × 固定费率，超过上限则取上限</a:t>
            </a:r>
            <a:endParaRPr lang="en-US" sz="2500" dirty="0"/>
          </a:p>
        </p:txBody>
      </p:sp>
      <p:sp>
        <p:nvSpPr>
          <p:cNvPr id="13" name="Shape 10"/>
          <p:cNvSpPr/>
          <p:nvPr/>
        </p:nvSpPr>
        <p:spPr>
          <a:xfrm>
            <a:off x="658368" y="3429000"/>
            <a:ext cx="5330952" cy="1508760"/>
          </a:xfrm>
          <a:prstGeom prst="roundRect">
            <a:avLst>
              <a:gd name="adj" fmla="val 3030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58368" y="3429000"/>
            <a:ext cx="64008" cy="150876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86968" y="3630168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规则系统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86968" y="4178808"/>
            <a:ext cx="4873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准确｜便宜｜可审计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208776" y="3429000"/>
            <a:ext cx="5330952" cy="1508760"/>
          </a:xfrm>
          <a:prstGeom prst="roundRect">
            <a:avLst>
              <a:gd name="adj" fmla="val 3030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208776" y="3429000"/>
            <a:ext cx="64008" cy="150876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37376" y="3630168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生成式AI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437376" y="4178808"/>
            <a:ext cx="4873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可能增加不必要的不确定性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960120" y="5257800"/>
            <a:ext cx="10241280" cy="530352"/>
          </a:xfrm>
          <a:prstGeom prst="roundRect">
            <a:avLst>
              <a:gd name="adj" fmla="val 8621"/>
            </a:avLst>
          </a:prstGeom>
          <a:solidFill>
            <a:srgbClr val="F2E2DB"/>
          </a:solidFill>
          <a:ln w="12700">
            <a:solidFill>
              <a:srgbClr val="F2E2D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143000" y="538581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能用明确公式稳定解决，不必为了AI而AI。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2222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474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先判断是否需要AI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实时事实：先查数据库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629400" y="6455664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先判断是否需要AI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03504" y="1828800"/>
            <a:ext cx="2619756" cy="1508760"/>
          </a:xfrm>
          <a:prstGeom prst="roundRect">
            <a:avLst>
              <a:gd name="adj" fmla="val 3030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0664" y="198424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31520" y="2331720"/>
            <a:ext cx="23637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用户问题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40664" y="2834640"/>
            <a:ext cx="23454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昨天GMV？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387852" y="1828800"/>
            <a:ext cx="2619756" cy="1508760"/>
          </a:xfrm>
          <a:prstGeom prst="roundRect">
            <a:avLst>
              <a:gd name="adj" fmla="val 3030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525012" y="198424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387B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515868" y="2331720"/>
            <a:ext cx="23637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意图识别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3525012" y="2834640"/>
            <a:ext cx="23454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确定查询条件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172200" y="1828800"/>
            <a:ext cx="2619756" cy="1508760"/>
          </a:xfrm>
          <a:prstGeom prst="roundRect">
            <a:avLst>
              <a:gd name="adj" fmla="val 3030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09360" y="198424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D18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300216" y="2331720"/>
            <a:ext cx="23637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数据库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309360" y="2834640"/>
            <a:ext cx="23454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返回真实数据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8956548" y="1828800"/>
            <a:ext cx="2619756" cy="1508760"/>
          </a:xfrm>
          <a:prstGeom prst="roundRect">
            <a:avLst>
              <a:gd name="adj" fmla="val 3030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093708" y="198424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74546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9084564" y="2331720"/>
            <a:ext cx="23637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模型解释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9093708" y="2834640"/>
            <a:ext cx="23454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组织成人话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960120" y="4480560"/>
            <a:ext cx="10241280" cy="530352"/>
          </a:xfrm>
          <a:prstGeom prst="roundRect">
            <a:avLst>
              <a:gd name="adj" fmla="val 8621"/>
            </a:avLst>
          </a:prstGeom>
          <a:solidFill>
            <a:srgbClr val="F2E2DB"/>
          </a:solidFill>
          <a:ln w="12700">
            <a:solidFill>
              <a:srgbClr val="F2E2D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143000" y="460857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模型可以解释结果，但不能根据经验生成一个数字。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2222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474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先判断是否需要AI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一个流程可以只在局部使用AI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629400" y="6455664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先判断是否需要AI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11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03504" y="1755648"/>
            <a:ext cx="2062886" cy="1508760"/>
          </a:xfrm>
          <a:prstGeom prst="roundRect">
            <a:avLst>
              <a:gd name="adj" fmla="val 3030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0664" y="191109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31520" y="2258568"/>
            <a:ext cx="180685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AI理解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40664" y="2761488"/>
            <a:ext cx="17885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咨询意图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830982" y="1755648"/>
            <a:ext cx="2062886" cy="1508760"/>
          </a:xfrm>
          <a:prstGeom prst="roundRect">
            <a:avLst>
              <a:gd name="adj" fmla="val 3030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968142" y="191109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387B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2958998" y="2258568"/>
            <a:ext cx="180685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系统查询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2968142" y="2761488"/>
            <a:ext cx="17885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规则／数据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058461" y="1755648"/>
            <a:ext cx="2062886" cy="1508760"/>
          </a:xfrm>
          <a:prstGeom prst="roundRect">
            <a:avLst>
              <a:gd name="adj" fmla="val 3030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195621" y="191109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D18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186477" y="2258568"/>
            <a:ext cx="180685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AI组织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195621" y="2761488"/>
            <a:ext cx="17885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回复草稿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7285939" y="1755648"/>
            <a:ext cx="2062886" cy="1508760"/>
          </a:xfrm>
          <a:prstGeom prst="roundRect">
            <a:avLst>
              <a:gd name="adj" fmla="val 3030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423099" y="191109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74546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7413955" y="2258568"/>
            <a:ext cx="180685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人工确认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7423099" y="2761488"/>
            <a:ext cx="17885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高风险项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9513418" y="1755648"/>
            <a:ext cx="2062886" cy="1508760"/>
          </a:xfrm>
          <a:prstGeom prst="roundRect">
            <a:avLst>
              <a:gd name="adj" fmla="val 3030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650578" y="191109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52755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9641434" y="2258568"/>
            <a:ext cx="180685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系统执行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9650578" y="2761488"/>
            <a:ext cx="17885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确定动作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960120" y="4434840"/>
            <a:ext cx="10241280" cy="530352"/>
          </a:xfrm>
          <a:prstGeom prst="roundRect">
            <a:avLst>
              <a:gd name="adj" fmla="val 8621"/>
            </a:avLst>
          </a:prstGeom>
          <a:solidFill>
            <a:srgbClr val="F2E2DB"/>
          </a:solidFill>
          <a:ln w="12700">
            <a:solidFill>
              <a:srgbClr val="F2E2D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143000" y="456285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AI是流程中的角色，不必吞掉整个流程。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2222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474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先判断是否需要AI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六张任务卡：AI、系统、人怎么分工？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629400" y="6455664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先判断是否需要AI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58368" y="1508760"/>
            <a:ext cx="3480816" cy="1508760"/>
          </a:xfrm>
          <a:prstGeom prst="roundRect">
            <a:avLst>
              <a:gd name="adj" fmla="val 3030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8368" y="1508760"/>
            <a:ext cx="64008" cy="150876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6968" y="1709928"/>
            <a:ext cx="3041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申诉分类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8696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自然语言→问题队列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358640" y="1508760"/>
            <a:ext cx="3480816" cy="1508760"/>
          </a:xfrm>
          <a:prstGeom prst="roundRect">
            <a:avLst>
              <a:gd name="adj" fmla="val 3030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358640" y="1508760"/>
            <a:ext cx="64008" cy="150876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87240" y="1709928"/>
            <a:ext cx="3041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费率计算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587240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明确公式，必须精确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8058912" y="1508760"/>
            <a:ext cx="3480816" cy="1508760"/>
          </a:xfrm>
          <a:prstGeom prst="roundRect">
            <a:avLst>
              <a:gd name="adj" fmla="val 3030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058912" y="1508760"/>
            <a:ext cx="64008" cy="150876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287512" y="1709928"/>
            <a:ext cx="3041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规则问答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28751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依据更新规则回答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3236976"/>
            <a:ext cx="3480816" cy="1508760"/>
          </a:xfrm>
          <a:prstGeom prst="roundRect">
            <a:avLst>
              <a:gd name="adj" fmla="val 3030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58368" y="3236976"/>
            <a:ext cx="64008" cy="1508760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86968" y="3438144"/>
            <a:ext cx="3041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昨日GMV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886968" y="3986784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查询真实经营数据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4358640" y="3236976"/>
            <a:ext cx="3480816" cy="1508760"/>
          </a:xfrm>
          <a:prstGeom prst="roundRect">
            <a:avLst>
              <a:gd name="adj" fmla="val 3030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358640" y="3236976"/>
            <a:ext cx="64008" cy="1508760"/>
          </a:xfrm>
          <a:prstGeom prst="rect">
            <a:avLst/>
          </a:prstGeom>
          <a:solidFill>
            <a:srgbClr val="527553"/>
          </a:solidFill>
          <a:ln w="12700">
            <a:solidFill>
              <a:srgbClr val="52755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87240" y="3438144"/>
            <a:ext cx="3041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活动文案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4587240" y="3986784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生成多个可编辑初稿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8058912" y="3236976"/>
            <a:ext cx="3480816" cy="1508760"/>
          </a:xfrm>
          <a:prstGeom prst="roundRect">
            <a:avLst>
              <a:gd name="adj" fmla="val 3030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8058912" y="3236976"/>
            <a:ext cx="64008" cy="1508760"/>
          </a:xfrm>
          <a:prstGeom prst="rect">
            <a:avLst/>
          </a:prstGeom>
          <a:solidFill>
            <a:srgbClr val="405D78"/>
          </a:solidFill>
          <a:ln w="12700">
            <a:solidFill>
              <a:srgbClr val="405D7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287512" y="3438144"/>
            <a:ext cx="3041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高额退款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287512" y="3986784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资金风险，缺稳定验收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960120" y="4956048"/>
            <a:ext cx="10241280" cy="530352"/>
          </a:xfrm>
          <a:prstGeom prst="roundRect">
            <a:avLst>
              <a:gd name="adj" fmla="val 8621"/>
            </a:avLst>
          </a:prstGeom>
          <a:solidFill>
            <a:srgbClr val="F2E7D5"/>
          </a:solidFill>
          <a:ln w="12700">
            <a:solidFill>
              <a:srgbClr val="F2E7D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143000" y="508406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18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30秒讨论｜不要只回答“用AI／不用AI”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2222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474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五维场景判断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五维不是打分，是找成立条件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629400" y="6455664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五维场景判断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13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58368" y="1920240"/>
            <a:ext cx="2000707" cy="2194560"/>
          </a:xfrm>
          <a:prstGeom prst="roundRect">
            <a:avLst>
              <a:gd name="adj" fmla="val 2285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8368" y="1920240"/>
            <a:ext cx="64008" cy="219456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6968" y="2121408"/>
            <a:ext cx="15617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业务价值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86968" y="2670048"/>
            <a:ext cx="1543507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谁的问题？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2878531" y="1920240"/>
            <a:ext cx="2000707" cy="2194560"/>
          </a:xfrm>
          <a:prstGeom prst="roundRect">
            <a:avLst>
              <a:gd name="adj" fmla="val 2285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878531" y="1920240"/>
            <a:ext cx="64008" cy="219456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107131" y="2121408"/>
            <a:ext cx="15617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任务匹配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3107131" y="2670048"/>
            <a:ext cx="1543507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模型是否擅长？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098694" y="1920240"/>
            <a:ext cx="2000707" cy="2194560"/>
          </a:xfrm>
          <a:prstGeom prst="roundRect">
            <a:avLst>
              <a:gd name="adj" fmla="val 2285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098694" y="1920240"/>
            <a:ext cx="64008" cy="219456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327294" y="2121408"/>
            <a:ext cx="15617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数据条件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327294" y="2670048"/>
            <a:ext cx="1543507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材料是否可用？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7318858" y="1920240"/>
            <a:ext cx="2000707" cy="2194560"/>
          </a:xfrm>
          <a:prstGeom prst="roundRect">
            <a:avLst>
              <a:gd name="adj" fmla="val 2285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318858" y="1920240"/>
            <a:ext cx="64008" cy="2194560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547458" y="2121408"/>
            <a:ext cx="15617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风险与验收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7547458" y="2670048"/>
            <a:ext cx="1543507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错了怎么办？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9539021" y="1920240"/>
            <a:ext cx="2000707" cy="2194560"/>
          </a:xfrm>
          <a:prstGeom prst="roundRect">
            <a:avLst>
              <a:gd name="adj" fmla="val 2285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9539021" y="1920240"/>
            <a:ext cx="64008" cy="2194560"/>
          </a:xfrm>
          <a:prstGeom prst="rect">
            <a:avLst/>
          </a:prstGeom>
          <a:solidFill>
            <a:srgbClr val="527553"/>
          </a:solidFill>
          <a:ln w="12700">
            <a:solidFill>
              <a:srgbClr val="52755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767621" y="2121408"/>
            <a:ext cx="15617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成本收益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9767621" y="2670048"/>
            <a:ext cx="1543507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值得投入吗？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960120" y="4754880"/>
            <a:ext cx="10241280" cy="530352"/>
          </a:xfrm>
          <a:prstGeom prst="roundRect">
            <a:avLst>
              <a:gd name="adj" fmla="val 8621"/>
            </a:avLst>
          </a:prstGeom>
          <a:solidFill>
            <a:srgbClr val="F2E2DB"/>
          </a:solidFill>
          <a:ln w="12700">
            <a:solidFill>
              <a:srgbClr val="F2E2D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143000" y="48828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任何一个关键条件不成立，都可能改变方案。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2222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474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五维场景判断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业务价值：谁的问题，值多少钱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629400" y="6455664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五维场景判断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14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58368" y="1783080"/>
            <a:ext cx="2555748" cy="2331720"/>
          </a:xfrm>
          <a:prstGeom prst="roundRect">
            <a:avLst>
              <a:gd name="adj" fmla="val 1961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8368" y="1783080"/>
            <a:ext cx="64008" cy="233172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6968" y="1984248"/>
            <a:ext cx="2116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谁的问题？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86968" y="2532888"/>
            <a:ext cx="209854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明确用户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433572" y="1783080"/>
            <a:ext cx="2555748" cy="2331720"/>
          </a:xfrm>
          <a:prstGeom prst="roundRect">
            <a:avLst>
              <a:gd name="adj" fmla="val 1961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433572" y="1783080"/>
            <a:ext cx="64008" cy="233172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62172" y="1984248"/>
            <a:ext cx="2116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多高频？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3662172" y="2532888"/>
            <a:ext cx="209854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不是偶发想象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208776" y="1783080"/>
            <a:ext cx="2555748" cy="2331720"/>
          </a:xfrm>
          <a:prstGeom prst="roundRect">
            <a:avLst>
              <a:gd name="adj" fmla="val 1961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208776" y="1783080"/>
            <a:ext cx="64008" cy="233172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37376" y="1984248"/>
            <a:ext cx="2116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损失什么？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437376" y="2532888"/>
            <a:ext cx="209854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时间／成本／机会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8983980" y="1783080"/>
            <a:ext cx="2555748" cy="2331720"/>
          </a:xfrm>
          <a:prstGeom prst="roundRect">
            <a:avLst>
              <a:gd name="adj" fmla="val 1961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8983980" y="1783080"/>
            <a:ext cx="64008" cy="2331720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212580" y="1984248"/>
            <a:ext cx="2116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看什么指标？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9212580" y="2532888"/>
            <a:ext cx="209854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改善必须可衡量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960120" y="4846320"/>
            <a:ext cx="10241280" cy="530352"/>
          </a:xfrm>
          <a:prstGeom prst="roundRect">
            <a:avLst>
              <a:gd name="adj" fmla="val 8621"/>
            </a:avLst>
          </a:prstGeom>
          <a:solidFill>
            <a:srgbClr val="F2E7D5"/>
          </a:solidFill>
          <a:ln w="12700">
            <a:solidFill>
              <a:srgbClr val="F2E7D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143000" y="497433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18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反例：“大家都在做，所以我们也需要。”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2222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474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五维场景判断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任务匹配：输入、输出、评价能否说清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629400" y="6455664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五维场景判断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15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914400" y="1920240"/>
            <a:ext cx="3334512" cy="1874520"/>
          </a:xfrm>
          <a:prstGeom prst="roundRect">
            <a:avLst>
              <a:gd name="adj" fmla="val 243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51560" y="207568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042416" y="2423160"/>
            <a:ext cx="3078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真实输入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051560" y="2926080"/>
            <a:ext cx="30601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用户实际提供什么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413504" y="1920240"/>
            <a:ext cx="3334512" cy="1874520"/>
          </a:xfrm>
          <a:prstGeom prst="roundRect">
            <a:avLst>
              <a:gd name="adj" fmla="val 243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50664" y="207568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387B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541520" y="2423160"/>
            <a:ext cx="3078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处理动作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4550664" y="2926080"/>
            <a:ext cx="30601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理解／生成／判断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912608" y="1920240"/>
            <a:ext cx="3334512" cy="1874520"/>
          </a:xfrm>
          <a:prstGeom prst="roundRect">
            <a:avLst>
              <a:gd name="adj" fmla="val 243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049768" y="207568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D18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8040624" y="2423160"/>
            <a:ext cx="3078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可检查输出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8049768" y="2926080"/>
            <a:ext cx="30601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怎样算完成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960120" y="4709160"/>
            <a:ext cx="10241280" cy="530352"/>
          </a:xfrm>
          <a:prstGeom prst="roundRect">
            <a:avLst>
              <a:gd name="adj" fmla="val 8621"/>
            </a:avLst>
          </a:prstGeom>
          <a:solidFill>
            <a:srgbClr val="F2E7D5"/>
          </a:solidFill>
          <a:ln w="12700">
            <a:solidFill>
              <a:srgbClr val="F2E7D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143000" y="483717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18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“提升商家经营效率”不是一个可验证任务。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2222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474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五维场景判断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数据条件：知识、事实、权限、更新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629400" y="6455664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五维场景判断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58368" y="1737360"/>
            <a:ext cx="2555748" cy="2331720"/>
          </a:xfrm>
          <a:prstGeom prst="roundRect">
            <a:avLst>
              <a:gd name="adj" fmla="val 1961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8368" y="1737360"/>
            <a:ext cx="64008" cy="233172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6968" y="1938528"/>
            <a:ext cx="2116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输入材料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86968" y="2487168"/>
            <a:ext cx="209854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用户当次提供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433572" y="1737360"/>
            <a:ext cx="2555748" cy="2331720"/>
          </a:xfrm>
          <a:prstGeom prst="roundRect">
            <a:avLst>
              <a:gd name="adj" fmla="val 1961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433572" y="1737360"/>
            <a:ext cx="64008" cy="233172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62172" y="1938528"/>
            <a:ext cx="2116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规则知识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3662172" y="2487168"/>
            <a:ext cx="209854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制度／手册／口径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208776" y="1737360"/>
            <a:ext cx="2555748" cy="2331720"/>
          </a:xfrm>
          <a:prstGeom prst="roundRect">
            <a:avLst>
              <a:gd name="adj" fmla="val 1961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208776" y="1737360"/>
            <a:ext cx="64008" cy="233172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37376" y="1938528"/>
            <a:ext cx="2116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实时事实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437376" y="2487168"/>
            <a:ext cx="209854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数据库／业务系统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8983980" y="1737360"/>
            <a:ext cx="2555748" cy="2331720"/>
          </a:xfrm>
          <a:prstGeom prst="roundRect">
            <a:avLst>
              <a:gd name="adj" fmla="val 1961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8983980" y="1737360"/>
            <a:ext cx="64008" cy="2331720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212580" y="1938528"/>
            <a:ext cx="2116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系统接口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9212580" y="2487168"/>
            <a:ext cx="209854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查询或执行动作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960120" y="4828032"/>
            <a:ext cx="10241280" cy="530352"/>
          </a:xfrm>
          <a:prstGeom prst="roundRect">
            <a:avLst>
              <a:gd name="adj" fmla="val 8621"/>
            </a:avLst>
          </a:prstGeom>
          <a:solidFill>
            <a:srgbClr val="F2E2DB"/>
          </a:solidFill>
          <a:ln w="12700">
            <a:solidFill>
              <a:srgbClr val="F2E2D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143000" y="495604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每一类都追问：在哪、谁有权限、多久更新、质量怎样？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2222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474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五维场景判断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风险与验收：错了能否发现和恢复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629400" y="6455664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五维场景判断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17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03504" y="1828800"/>
            <a:ext cx="2619756" cy="1508760"/>
          </a:xfrm>
          <a:prstGeom prst="roundRect">
            <a:avLst>
              <a:gd name="adj" fmla="val 3030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0664" y="198424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31520" y="2331720"/>
            <a:ext cx="23637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发现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740664" y="2834640"/>
            <a:ext cx="23454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怎样识别错误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387852" y="1828800"/>
            <a:ext cx="2619756" cy="1508760"/>
          </a:xfrm>
          <a:prstGeom prst="roundRect">
            <a:avLst>
              <a:gd name="adj" fmla="val 3030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525012" y="198424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387B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515868" y="2331720"/>
            <a:ext cx="23637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复核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3525012" y="2834640"/>
            <a:ext cx="23454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谁有能力确认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172200" y="1828800"/>
            <a:ext cx="2619756" cy="1508760"/>
          </a:xfrm>
          <a:prstGeom prst="roundRect">
            <a:avLst>
              <a:gd name="adj" fmla="val 3030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09360" y="198424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D18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300216" y="2331720"/>
            <a:ext cx="23637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恢复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6309360" y="2834640"/>
            <a:ext cx="23454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能否撤回或重试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8956548" y="1828800"/>
            <a:ext cx="2619756" cy="1508760"/>
          </a:xfrm>
          <a:prstGeom prst="roundRect">
            <a:avLst>
              <a:gd name="adj" fmla="val 3030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093708" y="198424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74546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9084564" y="2331720"/>
            <a:ext cx="23637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留痕</a:t>
            </a:r>
            <a:endParaRPr lang="en-US" sz="1700" dirty="0"/>
          </a:p>
        </p:txBody>
      </p:sp>
      <p:sp>
        <p:nvSpPr>
          <p:cNvPr id="26" name="Text 23"/>
          <p:cNvSpPr/>
          <p:nvPr/>
        </p:nvSpPr>
        <p:spPr>
          <a:xfrm>
            <a:off x="9093708" y="2834640"/>
            <a:ext cx="23454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证据与动作可追踪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960120" y="4572000"/>
            <a:ext cx="10241280" cy="530352"/>
          </a:xfrm>
          <a:prstGeom prst="roundRect">
            <a:avLst>
              <a:gd name="adj" fmla="val 8621"/>
            </a:avLst>
          </a:prstGeom>
          <a:solidFill>
            <a:srgbClr val="F2E2DB"/>
          </a:solidFill>
          <a:ln w="12700">
            <a:solidFill>
              <a:srgbClr val="F2E2D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143000" y="470001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风险越高，越需要证据、权限、确认和兜底。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2222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474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五维场景判断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成本收益：模型费只是小部分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629400" y="6455664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五维场景判断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18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703320" y="1600200"/>
            <a:ext cx="4754880" cy="1143000"/>
          </a:xfrm>
          <a:prstGeom prst="trapezoid">
            <a:avLst/>
          </a:prstGeom>
          <a:solidFill>
            <a:srgbClr val="DDE5EB"/>
          </a:solidFill>
          <a:ln w="12700">
            <a:solidFill>
              <a:srgbClr val="405D7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886200" y="194767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05D7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模型调用费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2103120" y="2907792"/>
            <a:ext cx="7955280" cy="2148840"/>
          </a:xfrm>
          <a:prstGeom prst="trapezoid">
            <a:avLst/>
          </a:prstGeom>
          <a:solidFill>
            <a:srgbClr val="F2E2DB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468880" y="3703320"/>
            <a:ext cx="7223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数据整理｜系统接入｜评测｜运营维护｜人工复核</a:t>
            </a:r>
            <a:endParaRPr lang="en-US" sz="1900" dirty="0"/>
          </a:p>
        </p:txBody>
      </p:sp>
      <p:sp>
        <p:nvSpPr>
          <p:cNvPr id="15" name="Shape 12"/>
          <p:cNvSpPr/>
          <p:nvPr/>
        </p:nvSpPr>
        <p:spPr>
          <a:xfrm>
            <a:off x="960120" y="5349240"/>
            <a:ext cx="10241280" cy="530352"/>
          </a:xfrm>
          <a:prstGeom prst="roundRect">
            <a:avLst>
              <a:gd name="adj" fmla="val 8621"/>
            </a:avLst>
          </a:prstGeom>
          <a:solidFill>
            <a:srgbClr val="F2E2DB"/>
          </a:solidFill>
          <a:ln w="12700">
            <a:solidFill>
              <a:srgbClr val="F2E2D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43000" y="547725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与当前人工或系统成本比较，而不是只算Token。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2222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474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五维场景判断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三类结论：适合、局部适合、暂不适合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629400" y="6455664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五维场景判断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19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58368" y="1783080"/>
            <a:ext cx="3480816" cy="2743200"/>
          </a:xfrm>
          <a:prstGeom prst="roundRect">
            <a:avLst>
              <a:gd name="adj" fmla="val 166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8368" y="1783080"/>
            <a:ext cx="64008" cy="2743200"/>
          </a:xfrm>
          <a:prstGeom prst="rect">
            <a:avLst/>
          </a:prstGeom>
          <a:solidFill>
            <a:srgbClr val="527553"/>
          </a:solidFill>
          <a:ln w="12700">
            <a:solidFill>
              <a:srgbClr val="52755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6968" y="1984248"/>
            <a:ext cx="3041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适合AI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86968" y="2532888"/>
            <a:ext cx="3023616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关键条件基本成立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358640" y="1783080"/>
            <a:ext cx="3480816" cy="2743200"/>
          </a:xfrm>
          <a:prstGeom prst="roundRect">
            <a:avLst>
              <a:gd name="adj" fmla="val 166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358640" y="1783080"/>
            <a:ext cx="64008" cy="274320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87240" y="1984248"/>
            <a:ext cx="3041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局部适合AI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587240" y="2532888"/>
            <a:ext cx="3023616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只让AI承担可验证的一段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8058912" y="1783080"/>
            <a:ext cx="3480816" cy="2743200"/>
          </a:xfrm>
          <a:prstGeom prst="roundRect">
            <a:avLst>
              <a:gd name="adj" fmla="val 166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058912" y="1783080"/>
            <a:ext cx="64008" cy="274320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287512" y="1984248"/>
            <a:ext cx="3041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暂不适合AI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287512" y="2532888"/>
            <a:ext cx="3023616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仍有关键价值、数据或风险缺口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960120" y="5010912"/>
            <a:ext cx="10241280" cy="530352"/>
          </a:xfrm>
          <a:prstGeom prst="roundRect">
            <a:avLst>
              <a:gd name="adj" fmla="val 8621"/>
            </a:avLst>
          </a:prstGeom>
          <a:solidFill>
            <a:srgbClr val="F2E2DB"/>
          </a:solidFill>
          <a:ln w="12700">
            <a:solidFill>
              <a:srgbClr val="F2E2D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143000" y="513892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“暂不适合”也是专业结论。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2222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474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五维场景判断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V0.1：先判断，不选技术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629400" y="6455664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五维场景判断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914400" y="1572768"/>
            <a:ext cx="73152" cy="1143000"/>
          </a:xfrm>
          <a:prstGeom prst="rect">
            <a:avLst/>
          </a:prstGeom>
          <a:solidFill>
            <a:srgbClr val="405D78"/>
          </a:solidFill>
          <a:ln w="12700">
            <a:solidFill>
              <a:srgbClr val="405D7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80160" y="1600200"/>
            <a:ext cx="9875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根据商家经营情况给出活动建议，并在确认后创建活动草稿。</a:t>
            </a:r>
            <a:endParaRPr lang="en-US" sz="2300" dirty="0"/>
          </a:p>
        </p:txBody>
      </p:sp>
      <p:sp>
        <p:nvSpPr>
          <p:cNvPr id="13" name="Shape 10"/>
          <p:cNvSpPr/>
          <p:nvPr/>
        </p:nvSpPr>
        <p:spPr>
          <a:xfrm>
            <a:off x="658368" y="3246120"/>
            <a:ext cx="3480816" cy="1783080"/>
          </a:xfrm>
          <a:prstGeom prst="roundRect">
            <a:avLst>
              <a:gd name="adj" fmla="val 2564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58368" y="3246120"/>
            <a:ext cx="64008" cy="178308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86968" y="3447288"/>
            <a:ext cx="3041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5分钟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86968" y="3995928"/>
            <a:ext cx="30236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每个维度写一条已知、一条待验证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358640" y="3246120"/>
            <a:ext cx="3480816" cy="1783080"/>
          </a:xfrm>
          <a:prstGeom prst="roundRect">
            <a:avLst>
              <a:gd name="adj" fmla="val 2564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358640" y="3246120"/>
            <a:ext cx="64008" cy="178308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87240" y="3447288"/>
            <a:ext cx="3041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只写判断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587240" y="3995928"/>
            <a:ext cx="30236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适合／局部适合／暂不适合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8058912" y="3246120"/>
            <a:ext cx="3480816" cy="1783080"/>
          </a:xfrm>
          <a:prstGeom prst="roundRect">
            <a:avLst>
              <a:gd name="adj" fmla="val 2564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8058912" y="3246120"/>
            <a:ext cx="64008" cy="1783080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287512" y="3447288"/>
            <a:ext cx="3041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最后一句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8287512" y="3995928"/>
            <a:ext cx="30236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主要依据＋最大待验证项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960120" y="5303520"/>
            <a:ext cx="10241280" cy="530352"/>
          </a:xfrm>
          <a:prstGeom prst="roundRect">
            <a:avLst>
              <a:gd name="adj" fmla="val 8621"/>
            </a:avLst>
          </a:prstGeom>
          <a:solidFill>
            <a:srgbClr val="F2E2DB"/>
          </a:solidFill>
          <a:ln w="12700">
            <a:solidFill>
              <a:srgbClr val="F2E2D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143000" y="543153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此时不要写Chatbot、RAG或Agent。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2222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474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两层产品形态图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“Chatbot还是RAG”为什么问错了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629400" y="6455664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 两层产品形态图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21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914400" y="1600200"/>
            <a:ext cx="73152" cy="114300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80160" y="1627632"/>
            <a:ext cx="9875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这类似于问：“门店还是库存系统？”</a:t>
            </a:r>
            <a:endParaRPr lang="en-US" sz="2700" dirty="0"/>
          </a:p>
        </p:txBody>
      </p:sp>
      <p:sp>
        <p:nvSpPr>
          <p:cNvPr id="13" name="Shape 10"/>
          <p:cNvSpPr/>
          <p:nvPr/>
        </p:nvSpPr>
        <p:spPr>
          <a:xfrm>
            <a:off x="713232" y="1572768"/>
            <a:ext cx="5285232" cy="2057400"/>
          </a:xfrm>
          <a:prstGeom prst="roundRect">
            <a:avLst>
              <a:gd name="adj" fmla="val 2222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13232" y="1572768"/>
            <a:ext cx="64008" cy="205740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41832" y="1773936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Chatbot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941832" y="2322576"/>
            <a:ext cx="482803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回答：用户怎样使用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6199632" y="1572768"/>
            <a:ext cx="5285232" cy="2057400"/>
          </a:xfrm>
          <a:prstGeom prst="roundRect">
            <a:avLst>
              <a:gd name="adj" fmla="val 2222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199632" y="1572768"/>
            <a:ext cx="64008" cy="2057400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28232" y="1773936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RAG</a:t>
            </a:r>
            <a:endParaRPr lang="en-US" sz="2100" dirty="0"/>
          </a:p>
        </p:txBody>
      </p:sp>
      <p:sp>
        <p:nvSpPr>
          <p:cNvPr id="20" name="Text 17"/>
          <p:cNvSpPr/>
          <p:nvPr/>
        </p:nvSpPr>
        <p:spPr>
          <a:xfrm>
            <a:off x="6428232" y="2322576"/>
            <a:ext cx="482803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回答：系统怎样找到知识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960120" y="5257800"/>
            <a:ext cx="10241280" cy="530352"/>
          </a:xfrm>
          <a:prstGeom prst="roundRect">
            <a:avLst>
              <a:gd name="adj" fmla="val 8621"/>
            </a:avLst>
          </a:prstGeom>
          <a:solidFill>
            <a:srgbClr val="F2E2DB"/>
          </a:solidFill>
          <a:ln w="12700">
            <a:solidFill>
              <a:srgbClr val="F2E2D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143000" y="538581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两者可以组合，不是同层二选一。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2222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474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两层产品形态图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两层产品形态图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629400" y="6455664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 两层产品形态图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22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749808" y="15361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387B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用户体验层｜用户怎样使用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58368" y="1901952"/>
            <a:ext cx="3480816" cy="1234440"/>
          </a:xfrm>
          <a:prstGeom prst="roundRect">
            <a:avLst>
              <a:gd name="adj" fmla="val 3704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58368" y="1901952"/>
            <a:ext cx="64008" cy="123444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86968" y="2103120"/>
            <a:ext cx="3041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Chatbot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86968" y="2651760"/>
            <a:ext cx="3023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主动提问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358640" y="1901952"/>
            <a:ext cx="3480816" cy="1234440"/>
          </a:xfrm>
          <a:prstGeom prst="roundRect">
            <a:avLst>
              <a:gd name="adj" fmla="val 3704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358640" y="1901952"/>
            <a:ext cx="64008" cy="123444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87240" y="2103120"/>
            <a:ext cx="3041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Copilot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587240" y="2651760"/>
            <a:ext cx="3023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嵌入原页面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58912" y="1901952"/>
            <a:ext cx="3480816" cy="1234440"/>
          </a:xfrm>
          <a:prstGeom prst="roundRect">
            <a:avLst>
              <a:gd name="adj" fmla="val 3704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058912" y="1901952"/>
            <a:ext cx="64008" cy="123444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287512" y="2103120"/>
            <a:ext cx="3041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后台处理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8287512" y="2651760"/>
            <a:ext cx="3023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事件／队列触发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749808" y="352958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74546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任务完成层｜系统怎样完成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658368" y="3913632"/>
            <a:ext cx="2000707" cy="1234440"/>
          </a:xfrm>
          <a:prstGeom prst="roundRect">
            <a:avLst>
              <a:gd name="adj" fmla="val 3704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58368" y="3913632"/>
            <a:ext cx="64008" cy="123444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86968" y="4114800"/>
            <a:ext cx="15617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Prompt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886968" y="4663440"/>
            <a:ext cx="15435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直接生成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2878531" y="3913632"/>
            <a:ext cx="2000707" cy="1234440"/>
          </a:xfrm>
          <a:prstGeom prst="roundRect">
            <a:avLst>
              <a:gd name="adj" fmla="val 3704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2878531" y="3913632"/>
            <a:ext cx="64008" cy="123444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107131" y="4114800"/>
            <a:ext cx="15617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RAG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3107131" y="4663440"/>
            <a:ext cx="15435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特定知识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5098694" y="3913632"/>
            <a:ext cx="2000707" cy="1234440"/>
          </a:xfrm>
          <a:prstGeom prst="roundRect">
            <a:avLst>
              <a:gd name="adj" fmla="val 3704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5098694" y="3913632"/>
            <a:ext cx="64008" cy="123444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327294" y="4114800"/>
            <a:ext cx="15617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数据／工具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5327294" y="4663440"/>
            <a:ext cx="15435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事实与动作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7318858" y="3913632"/>
            <a:ext cx="2000707" cy="1234440"/>
          </a:xfrm>
          <a:prstGeom prst="roundRect">
            <a:avLst>
              <a:gd name="adj" fmla="val 3704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7318858" y="3913632"/>
            <a:ext cx="64008" cy="1234440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547458" y="4114800"/>
            <a:ext cx="15617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Workflow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7547458" y="4663440"/>
            <a:ext cx="15435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固定路径</a:t>
            </a:r>
            <a:endParaRPr lang="en-US" sz="1300" dirty="0"/>
          </a:p>
        </p:txBody>
      </p:sp>
      <p:sp>
        <p:nvSpPr>
          <p:cNvPr id="41" name="Shape 38"/>
          <p:cNvSpPr/>
          <p:nvPr/>
        </p:nvSpPr>
        <p:spPr>
          <a:xfrm>
            <a:off x="9539021" y="3913632"/>
            <a:ext cx="2000707" cy="1234440"/>
          </a:xfrm>
          <a:prstGeom prst="roundRect">
            <a:avLst>
              <a:gd name="adj" fmla="val 3704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9539021" y="3913632"/>
            <a:ext cx="64008" cy="1234440"/>
          </a:xfrm>
          <a:prstGeom prst="rect">
            <a:avLst/>
          </a:prstGeom>
          <a:solidFill>
            <a:srgbClr val="527553"/>
          </a:solidFill>
          <a:ln w="12700">
            <a:solidFill>
              <a:srgbClr val="527553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9767621" y="4114800"/>
            <a:ext cx="15617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9767621" y="4663440"/>
            <a:ext cx="15435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动态路径</a:t>
            </a:r>
            <a:endParaRPr lang="en-US" sz="1300" dirty="0"/>
          </a:p>
        </p:txBody>
      </p:sp>
      <p:sp>
        <p:nvSpPr>
          <p:cNvPr id="45" name="Shape 42"/>
          <p:cNvSpPr/>
          <p:nvPr/>
        </p:nvSpPr>
        <p:spPr>
          <a:xfrm>
            <a:off x="960120" y="5440680"/>
            <a:ext cx="10241280" cy="530352"/>
          </a:xfrm>
          <a:prstGeom prst="roundRect">
            <a:avLst>
              <a:gd name="adj" fmla="val 8621"/>
            </a:avLst>
          </a:prstGeom>
          <a:solidFill>
            <a:srgbClr val="F2E2DB"/>
          </a:solidFill>
          <a:ln w="12700">
            <a:solidFill>
              <a:srgbClr val="F2E2DB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1143000" y="55686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先选用户入口，再按任务组合后台积木。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2222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474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两层产品形态图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四种常见组合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629400" y="6455664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 两层产品形态图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23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58368" y="1536192"/>
            <a:ext cx="5330952" cy="1920240"/>
          </a:xfrm>
          <a:prstGeom prst="roundRect">
            <a:avLst>
              <a:gd name="adj" fmla="val 2381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8368" y="1536192"/>
            <a:ext cx="64008" cy="192024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6968" y="1737360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规则咨询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86968" y="2286000"/>
            <a:ext cx="487375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Chatbot ＋ RAG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208776" y="1536192"/>
            <a:ext cx="5330952" cy="1920240"/>
          </a:xfrm>
          <a:prstGeom prst="roundRect">
            <a:avLst>
              <a:gd name="adj" fmla="val 2381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208776" y="1536192"/>
            <a:ext cx="64008" cy="192024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37376" y="1737360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文案创作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437376" y="2286000"/>
            <a:ext cx="487375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Copilot ＋ Prompt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58368" y="3675888"/>
            <a:ext cx="5330952" cy="1920240"/>
          </a:xfrm>
          <a:prstGeom prst="roundRect">
            <a:avLst>
              <a:gd name="adj" fmla="val 2381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58368" y="3675888"/>
            <a:ext cx="64008" cy="192024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86968" y="3877056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材料初审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86968" y="4425696"/>
            <a:ext cx="487375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后台处理 ＋ Workflow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208776" y="3675888"/>
            <a:ext cx="5330952" cy="1920240"/>
          </a:xfrm>
          <a:prstGeom prst="roundRect">
            <a:avLst>
              <a:gd name="adj" fmla="val 2381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208776" y="3675888"/>
            <a:ext cx="64008" cy="1920240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37376" y="3877056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异常排查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6437376" y="4425696"/>
            <a:ext cx="487375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Copilot ＋ 数据工具 ＋ 受控流程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2222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474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两层产品形态图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同一入口，不等于同一后台机制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629400" y="6455664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 两层产品形态图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24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58368" y="2057400"/>
            <a:ext cx="2240280" cy="2011680"/>
          </a:xfrm>
          <a:prstGeom prst="roundRect">
            <a:avLst>
              <a:gd name="adj" fmla="val 2273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8368" y="2057400"/>
            <a:ext cx="64008" cy="201168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6968" y="2258568"/>
            <a:ext cx="1801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商家经营助手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886968" y="2807208"/>
            <a:ext cx="178308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一个统一入口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182112" y="1691640"/>
            <a:ext cx="502920" cy="438912"/>
          </a:xfrm>
          <a:prstGeom prst="chevron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886200" y="1417320"/>
            <a:ext cx="7132320" cy="822960"/>
          </a:xfrm>
          <a:prstGeom prst="roundRect">
            <a:avLst>
              <a:gd name="adj" fmla="val 5556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886200" y="1417320"/>
            <a:ext cx="64008" cy="82296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114800" y="16459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规则知识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583680" y="1645920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RAG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3182112" y="2606040"/>
            <a:ext cx="502920" cy="438912"/>
          </a:xfrm>
          <a:prstGeom prst="chevron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886200" y="2331720"/>
            <a:ext cx="7132320" cy="822960"/>
          </a:xfrm>
          <a:prstGeom prst="roundRect">
            <a:avLst>
              <a:gd name="adj" fmla="val 5556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886200" y="2331720"/>
            <a:ext cx="64008" cy="82296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114800" y="25603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实时数据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583680" y="2560320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87B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数据库API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3182112" y="3520440"/>
            <a:ext cx="502920" cy="438912"/>
          </a:xfrm>
          <a:prstGeom prst="chevron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886200" y="3246120"/>
            <a:ext cx="7132320" cy="822960"/>
          </a:xfrm>
          <a:prstGeom prst="roundRect">
            <a:avLst>
              <a:gd name="adj" fmla="val 5556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3886200" y="3246120"/>
            <a:ext cx="64008" cy="82296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114800" y="34747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文案生成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6583680" y="3474720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18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Prompt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3182112" y="4434840"/>
            <a:ext cx="502920" cy="438912"/>
          </a:xfrm>
          <a:prstGeom prst="chevron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886200" y="4160520"/>
            <a:ext cx="7132320" cy="822960"/>
          </a:xfrm>
          <a:prstGeom prst="roundRect">
            <a:avLst>
              <a:gd name="adj" fmla="val 5556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3886200" y="4160520"/>
            <a:ext cx="64008" cy="822960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114800" y="43891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复杂排查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6583680" y="4389120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74546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Workflow／Agent验证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960120" y="5376672"/>
            <a:ext cx="10241280" cy="530352"/>
          </a:xfrm>
          <a:prstGeom prst="roundRect">
            <a:avLst>
              <a:gd name="adj" fmla="val 8621"/>
            </a:avLst>
          </a:prstGeom>
          <a:solidFill>
            <a:srgbClr val="F2E2DB"/>
          </a:solidFill>
          <a:ln w="12700">
            <a:solidFill>
              <a:srgbClr val="F2E2D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143000" y="550468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入口可以统一，任务机制必须按问题选择。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DDE5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914400" y="141732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405D7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休息 5 分钟</a:t>
            </a:r>
            <a:endParaRPr lang="en-US" sz="3800" dirty="0"/>
          </a:p>
        </p:txBody>
      </p:sp>
      <p:sp>
        <p:nvSpPr>
          <p:cNvPr id="4" name="Text 1"/>
          <p:cNvSpPr/>
          <p:nvPr/>
        </p:nvSpPr>
        <p:spPr>
          <a:xfrm>
            <a:off x="914400" y="248716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回来后，先选体验，再选机制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3749040" y="3794760"/>
            <a:ext cx="2011680" cy="329184"/>
          </a:xfrm>
          <a:prstGeom prst="roundRect">
            <a:avLst>
              <a:gd name="adj" fmla="val 22222"/>
            </a:avLst>
          </a:prstGeom>
          <a:solidFill>
            <a:srgbClr val="405D78"/>
          </a:solidFill>
          <a:ln w="12700">
            <a:solidFill>
              <a:srgbClr val="405D7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803904" y="3867912"/>
            <a:ext cx="1901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保存 V0.1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172200" y="3794760"/>
            <a:ext cx="2240280" cy="329184"/>
          </a:xfrm>
          <a:prstGeom prst="roundRect">
            <a:avLst>
              <a:gd name="adj" fmla="val 22222"/>
            </a:avLst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27064" y="3867912"/>
            <a:ext cx="2130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打开案例任务卡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914400" y="51663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05:00</a:t>
            </a:r>
            <a:endParaRPr lang="en-US" sz="3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2222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474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用户体验层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Chatbot：适合主动提问与澄清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629400" y="6455664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 用户体验层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713232" y="1572768"/>
            <a:ext cx="5285232" cy="4343400"/>
          </a:xfrm>
          <a:prstGeom prst="roundRect">
            <a:avLst>
              <a:gd name="adj" fmla="val 1053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13232" y="1572768"/>
            <a:ext cx="64008" cy="434340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41832" y="1773936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适用条件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941832" y="2322576"/>
            <a:ext cx="4828032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用户有明确问题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表达不固定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追问澄清有价值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199632" y="1572768"/>
            <a:ext cx="5285232" cy="4343400"/>
          </a:xfrm>
          <a:prstGeom prst="roundRect">
            <a:avLst>
              <a:gd name="adj" fmla="val 1053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199632" y="1572768"/>
            <a:ext cx="64008" cy="4343400"/>
          </a:xfrm>
          <a:prstGeom prst="rect">
            <a:avLst/>
          </a:prstGeom>
          <a:solidFill>
            <a:srgbClr val="405D78"/>
          </a:solidFill>
          <a:ln w="12700">
            <a:solidFill>
              <a:srgbClr val="405D7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28232" y="1773936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最小闭环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6428232" y="2322576"/>
            <a:ext cx="4828032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提问 → 必要澄清 → 有依据回答 → 无依据转人工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960120" y="5321808"/>
            <a:ext cx="10241280" cy="530352"/>
          </a:xfrm>
          <a:prstGeom prst="roundRect">
            <a:avLst>
              <a:gd name="adj" fmla="val 8621"/>
            </a:avLst>
          </a:prstGeom>
          <a:solidFill>
            <a:srgbClr val="F2E2DB"/>
          </a:solidFill>
          <a:ln w="12700">
            <a:solidFill>
              <a:srgbClr val="F2E2D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43000" y="544982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例：商家询问当前有效活动规则。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2222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474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用户体验层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Chatbot不是所有任务的默认入口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629400" y="6455664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 用户体验层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27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713232" y="1572768"/>
            <a:ext cx="5285232" cy="4343400"/>
          </a:xfrm>
          <a:prstGeom prst="roundRect">
            <a:avLst>
              <a:gd name="adj" fmla="val 1053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13232" y="1572768"/>
            <a:ext cx="64008" cy="4343400"/>
          </a:xfrm>
          <a:prstGeom prst="rect">
            <a:avLst/>
          </a:prstGeom>
          <a:solidFill>
            <a:srgbClr val="527553"/>
          </a:solidFill>
          <a:ln w="12700">
            <a:solidFill>
              <a:srgbClr val="52755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41832" y="1773936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适合对话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941832" y="2322576"/>
            <a:ext cx="4828032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规则咨询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开放探索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需要多轮澄清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199632" y="1572768"/>
            <a:ext cx="5285232" cy="4343400"/>
          </a:xfrm>
          <a:prstGeom prst="roundRect">
            <a:avLst>
              <a:gd name="adj" fmla="val 1053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199632" y="1572768"/>
            <a:ext cx="64008" cy="434340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28232" y="1773936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强行对话会增加步骤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6428232" y="2322576"/>
            <a:ext cx="4828032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批量材料审核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固定表单处理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后台队列任务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960120" y="5486400"/>
            <a:ext cx="10241280" cy="530352"/>
          </a:xfrm>
          <a:prstGeom prst="roundRect">
            <a:avLst>
              <a:gd name="adj" fmla="val 8621"/>
            </a:avLst>
          </a:prstGeom>
          <a:solidFill>
            <a:srgbClr val="F2E2DB"/>
          </a:solidFill>
          <a:ln w="12700">
            <a:solidFill>
              <a:srgbClr val="F2E2D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43000" y="561441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对话如果增加步骤，就不是更自然的体验。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2222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474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用户体验层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Copilot：在原工作流里帮一把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629400" y="6455664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 用户体验层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28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713232" y="1572768"/>
            <a:ext cx="6492240" cy="4315968"/>
          </a:xfrm>
          <a:prstGeom prst="roundRect">
            <a:avLst>
              <a:gd name="adj" fmla="val 105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13232" y="1572768"/>
            <a:ext cx="64008" cy="4315968"/>
          </a:xfrm>
          <a:prstGeom prst="rect">
            <a:avLst/>
          </a:prstGeom>
          <a:solidFill>
            <a:srgbClr val="405D78"/>
          </a:solidFill>
          <a:ln w="12700">
            <a:solidFill>
              <a:srgbClr val="405D7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41832" y="1773936"/>
            <a:ext cx="6053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活动创建页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941832" y="2322576"/>
            <a:ext cx="6035040" cy="3374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门店特色：社区亲子餐厅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活动目标：拉新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AI建议：生成标题、卖点与短文案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用户操作：编辑｜采用｜拒绝｜提交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7479792" y="1572768"/>
            <a:ext cx="3840480" cy="4315968"/>
          </a:xfrm>
          <a:prstGeom prst="roundRect">
            <a:avLst>
              <a:gd name="adj" fmla="val 1190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479792" y="1572768"/>
            <a:ext cx="64008" cy="4315968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08392" y="1773936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Copilot关键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7708392" y="2322576"/>
            <a:ext cx="3383280" cy="3374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利用当前页面上下文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在需要时出现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不夺走用户控制权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2222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474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用户体验层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后台自动处理：用户不用一直对话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629400" y="6455664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 用户体验层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29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03504" y="1783080"/>
            <a:ext cx="2062886" cy="1508760"/>
          </a:xfrm>
          <a:prstGeom prst="roundRect">
            <a:avLst>
              <a:gd name="adj" fmla="val 3030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0664" y="193852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31520" y="2286000"/>
            <a:ext cx="180685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事件触发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40664" y="2788920"/>
            <a:ext cx="17885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材料提交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830982" y="1783080"/>
            <a:ext cx="2062886" cy="1508760"/>
          </a:xfrm>
          <a:prstGeom prst="roundRect">
            <a:avLst>
              <a:gd name="adj" fmla="val 3030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968142" y="193852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387B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2958998" y="2286000"/>
            <a:ext cx="180685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进入队列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2968142" y="2788920"/>
            <a:ext cx="17885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等待处理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058461" y="1783080"/>
            <a:ext cx="2062886" cy="1508760"/>
          </a:xfrm>
          <a:prstGeom prst="roundRect">
            <a:avLst>
              <a:gd name="adj" fmla="val 3030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195621" y="193852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D18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186477" y="2286000"/>
            <a:ext cx="180685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解析检查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195621" y="2788920"/>
            <a:ext cx="17885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AI＋规则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7285939" y="1783080"/>
            <a:ext cx="2062886" cy="1508760"/>
          </a:xfrm>
          <a:prstGeom prst="roundRect">
            <a:avLst>
              <a:gd name="adj" fmla="val 3030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423099" y="193852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74546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7413955" y="2286000"/>
            <a:ext cx="180685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结果分流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7423099" y="2788920"/>
            <a:ext cx="17885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成功／待人工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9513418" y="1783080"/>
            <a:ext cx="2062886" cy="1508760"/>
          </a:xfrm>
          <a:prstGeom prst="roundRect">
            <a:avLst>
              <a:gd name="adj" fmla="val 3030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650578" y="193852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52755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9641434" y="2286000"/>
            <a:ext cx="180685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失败处理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9650578" y="2788920"/>
            <a:ext cx="17885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重试／留痕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960120" y="4434840"/>
            <a:ext cx="10241280" cy="530352"/>
          </a:xfrm>
          <a:prstGeom prst="roundRect">
            <a:avLst>
              <a:gd name="adj" fmla="val 8621"/>
            </a:avLst>
          </a:prstGeom>
          <a:solidFill>
            <a:srgbClr val="F2E2DB"/>
          </a:solidFill>
          <a:ln w="12700">
            <a:solidFill>
              <a:srgbClr val="F2E2D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143000" y="456285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看不见AI，不代表不需要状态、审计和兜底。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2222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474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用户体验层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体验层选择：看用户当时在哪里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629400" y="6455664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 用户体验层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30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58368" y="1783080"/>
            <a:ext cx="3480816" cy="2743200"/>
          </a:xfrm>
          <a:prstGeom prst="roundRect">
            <a:avLst>
              <a:gd name="adj" fmla="val 166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8368" y="1783080"/>
            <a:ext cx="64008" cy="274320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6968" y="1984248"/>
            <a:ext cx="3041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会主动提问？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86968" y="2532888"/>
            <a:ext cx="3023616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是 → Chatbot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358640" y="1783080"/>
            <a:ext cx="3480816" cy="2743200"/>
          </a:xfrm>
          <a:prstGeom prst="roundRect">
            <a:avLst>
              <a:gd name="adj" fmla="val 166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358640" y="1783080"/>
            <a:ext cx="64008" cy="274320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87240" y="1984248"/>
            <a:ext cx="3041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已在工作页面？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587240" y="2532888"/>
            <a:ext cx="3023616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是 → Copilot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8058912" y="1783080"/>
            <a:ext cx="3480816" cy="2743200"/>
          </a:xfrm>
          <a:prstGeom prst="roundRect">
            <a:avLst>
              <a:gd name="adj" fmla="val 166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058912" y="1783080"/>
            <a:ext cx="64008" cy="274320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287512" y="1984248"/>
            <a:ext cx="3041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无需持续参与？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287512" y="2532888"/>
            <a:ext cx="3023616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是 → 后台自动处理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960120" y="4983480"/>
            <a:ext cx="10241280" cy="530352"/>
          </a:xfrm>
          <a:prstGeom prst="roundRect">
            <a:avLst>
              <a:gd name="adj" fmla="val 8621"/>
            </a:avLst>
          </a:prstGeom>
          <a:solidFill>
            <a:srgbClr val="F2E2DB"/>
          </a:solidFill>
          <a:ln w="12700">
            <a:solidFill>
              <a:srgbClr val="F2E2D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143000" y="51114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可以组合，但必须有明确触发时点。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2222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474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任务完成层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系统完成任务的五类积木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629400" y="6455664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 任务完成层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31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58368" y="1828800"/>
            <a:ext cx="2000707" cy="2468880"/>
          </a:xfrm>
          <a:prstGeom prst="roundRect">
            <a:avLst>
              <a:gd name="adj" fmla="val 2285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8368" y="1828800"/>
            <a:ext cx="64008" cy="246888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6968" y="2029968"/>
            <a:ext cx="15617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Prompt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86968" y="2578608"/>
            <a:ext cx="1543507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直接生成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2878531" y="1828800"/>
            <a:ext cx="2000707" cy="2468880"/>
          </a:xfrm>
          <a:prstGeom prst="roundRect">
            <a:avLst>
              <a:gd name="adj" fmla="val 2285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878531" y="1828800"/>
            <a:ext cx="64008" cy="246888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107131" y="2029968"/>
            <a:ext cx="15617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RAG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3107131" y="2578608"/>
            <a:ext cx="1543507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特定知识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098694" y="1828800"/>
            <a:ext cx="2000707" cy="2468880"/>
          </a:xfrm>
          <a:prstGeom prst="roundRect">
            <a:avLst>
              <a:gd name="adj" fmla="val 2285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098694" y="1828800"/>
            <a:ext cx="64008" cy="246888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327294" y="2029968"/>
            <a:ext cx="15617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数据／工具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327294" y="2578608"/>
            <a:ext cx="1543507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事实与动作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7318858" y="1828800"/>
            <a:ext cx="2000707" cy="2468880"/>
          </a:xfrm>
          <a:prstGeom prst="roundRect">
            <a:avLst>
              <a:gd name="adj" fmla="val 2285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318858" y="1828800"/>
            <a:ext cx="64008" cy="2468880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547458" y="2029968"/>
            <a:ext cx="15617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Workflow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7547458" y="2578608"/>
            <a:ext cx="1543507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固定路径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9539021" y="1828800"/>
            <a:ext cx="2000707" cy="2468880"/>
          </a:xfrm>
          <a:prstGeom prst="roundRect">
            <a:avLst>
              <a:gd name="adj" fmla="val 2285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9539021" y="1828800"/>
            <a:ext cx="64008" cy="2468880"/>
          </a:xfrm>
          <a:prstGeom prst="rect">
            <a:avLst/>
          </a:prstGeom>
          <a:solidFill>
            <a:srgbClr val="527553"/>
          </a:solidFill>
          <a:ln w="12700">
            <a:solidFill>
              <a:srgbClr val="52755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767621" y="2029968"/>
            <a:ext cx="15617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9767621" y="2578608"/>
            <a:ext cx="1543507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动态路径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960120" y="4892040"/>
            <a:ext cx="10241280" cy="530352"/>
          </a:xfrm>
          <a:prstGeom prst="roundRect">
            <a:avLst>
              <a:gd name="adj" fmla="val 8621"/>
            </a:avLst>
          </a:prstGeom>
          <a:solidFill>
            <a:srgbClr val="F2E2DB"/>
          </a:solidFill>
          <a:ln w="12700">
            <a:solidFill>
              <a:srgbClr val="F2E2D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143000" y="502005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不是能力排行榜，而是按任务组合的积木。</a:t>
            </a:r>
            <a:endParaRPr lang="en-US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2222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474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任务完成层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Prompt：输入基本齐全时直接完成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629400" y="6455664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 任务完成层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32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914400" y="1828800"/>
            <a:ext cx="3334512" cy="1828800"/>
          </a:xfrm>
          <a:prstGeom prst="roundRect">
            <a:avLst>
              <a:gd name="adj" fmla="val 2500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51560" y="198424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042416" y="2331720"/>
            <a:ext cx="3078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输入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051560" y="2834640"/>
            <a:ext cx="306019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门店特色＋目标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413504" y="1828800"/>
            <a:ext cx="3334512" cy="1828800"/>
          </a:xfrm>
          <a:prstGeom prst="roundRect">
            <a:avLst>
              <a:gd name="adj" fmla="val 2500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50664" y="198424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387B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541520" y="2331720"/>
            <a:ext cx="3078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4550664" y="2834640"/>
            <a:ext cx="306019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依据指令生成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7912608" y="1828800"/>
            <a:ext cx="3334512" cy="1828800"/>
          </a:xfrm>
          <a:prstGeom prst="roundRect">
            <a:avLst>
              <a:gd name="adj" fmla="val 2500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049768" y="198424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D18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8040624" y="2331720"/>
            <a:ext cx="3078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输出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8049768" y="2834640"/>
            <a:ext cx="306019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三个可编辑文案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960120" y="4645152"/>
            <a:ext cx="10241280" cy="530352"/>
          </a:xfrm>
          <a:prstGeom prst="roundRect">
            <a:avLst>
              <a:gd name="adj" fmla="val 8621"/>
            </a:avLst>
          </a:prstGeom>
          <a:solidFill>
            <a:srgbClr val="F2E2DB"/>
          </a:solidFill>
          <a:ln w="12700">
            <a:solidFill>
              <a:srgbClr val="F2E2D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143000" y="477316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Prompt不能补齐缺失的实时数据、内部知识和系统权限。</a:t>
            </a:r>
            <a:endParaRPr lang="en-US" sz="1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2222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474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任务完成层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RAG：答案必须依据特定知识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629400" y="6455664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 任务完成层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33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03504" y="1783080"/>
            <a:ext cx="2619756" cy="1508760"/>
          </a:xfrm>
          <a:prstGeom prst="roundRect">
            <a:avLst>
              <a:gd name="adj" fmla="val 3030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0664" y="193852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31520" y="2286000"/>
            <a:ext cx="23637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问题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740664" y="2788920"/>
            <a:ext cx="23454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自然语言咨询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387852" y="1783080"/>
            <a:ext cx="2619756" cy="1508760"/>
          </a:xfrm>
          <a:prstGeom prst="roundRect">
            <a:avLst>
              <a:gd name="adj" fmla="val 3030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525012" y="193852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387B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515868" y="2286000"/>
            <a:ext cx="23637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检索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3525012" y="2788920"/>
            <a:ext cx="23454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找到有效规则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172200" y="1783080"/>
            <a:ext cx="2619756" cy="1508760"/>
          </a:xfrm>
          <a:prstGeom prst="roundRect">
            <a:avLst>
              <a:gd name="adj" fmla="val 3030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09360" y="193852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D18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300216" y="2286000"/>
            <a:ext cx="23637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证据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6309360" y="2788920"/>
            <a:ext cx="23454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交给模型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8956548" y="1783080"/>
            <a:ext cx="2619756" cy="1508760"/>
          </a:xfrm>
          <a:prstGeom prst="roundRect">
            <a:avLst>
              <a:gd name="adj" fmla="val 3030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093708" y="193852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74546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9084564" y="2286000"/>
            <a:ext cx="23637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回答</a:t>
            </a:r>
            <a:endParaRPr lang="en-US" sz="1700" dirty="0"/>
          </a:p>
        </p:txBody>
      </p:sp>
      <p:sp>
        <p:nvSpPr>
          <p:cNvPr id="26" name="Text 23"/>
          <p:cNvSpPr/>
          <p:nvPr/>
        </p:nvSpPr>
        <p:spPr>
          <a:xfrm>
            <a:off x="9093708" y="2788920"/>
            <a:ext cx="23454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依据证据组织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960120" y="4526280"/>
            <a:ext cx="10241280" cy="530352"/>
          </a:xfrm>
          <a:prstGeom prst="roundRect">
            <a:avLst>
              <a:gd name="adj" fmla="val 8621"/>
            </a:avLst>
          </a:prstGeom>
          <a:solidFill>
            <a:srgbClr val="F2E2DB"/>
          </a:solidFill>
          <a:ln w="12700">
            <a:solidFill>
              <a:srgbClr val="F2E2D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143000" y="46542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无证据、版本冲突或高风险解释时转人工。</a:t>
            </a:r>
            <a:endParaRPr lang="en-US" sz="15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2222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474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任务完成层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实时数据与动作：数据库、API、工具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629400" y="6455664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 任务完成层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34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713232" y="1572768"/>
            <a:ext cx="5285232" cy="4343400"/>
          </a:xfrm>
          <a:prstGeom prst="roundRect">
            <a:avLst>
              <a:gd name="adj" fmla="val 1053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13232" y="1572768"/>
            <a:ext cx="64008" cy="4343400"/>
          </a:xfrm>
          <a:prstGeom prst="rect">
            <a:avLst/>
          </a:prstGeom>
          <a:solidFill>
            <a:srgbClr val="405D78"/>
          </a:solidFill>
          <a:ln w="12700">
            <a:solidFill>
              <a:srgbClr val="405D7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41832" y="1773936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事实查询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941832" y="2322576"/>
            <a:ext cx="4828032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订单｜GMV｜库存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由业务系统返回真实数据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199632" y="1572768"/>
            <a:ext cx="5285232" cy="4343400"/>
          </a:xfrm>
          <a:prstGeom prst="roundRect">
            <a:avLst>
              <a:gd name="adj" fmla="val 1053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199632" y="1572768"/>
            <a:ext cx="64008" cy="434340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28232" y="1773936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受控动作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6428232" y="2322576"/>
            <a:ext cx="4828032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创建草稿｜发起工单｜发送通知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接口校验权限并执行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960120" y="5321808"/>
            <a:ext cx="10241280" cy="530352"/>
          </a:xfrm>
          <a:prstGeom prst="roundRect">
            <a:avLst>
              <a:gd name="adj" fmla="val 8621"/>
            </a:avLst>
          </a:prstGeom>
          <a:solidFill>
            <a:srgbClr val="F2E2DB"/>
          </a:solidFill>
          <a:ln w="12700">
            <a:solidFill>
              <a:srgbClr val="F2E2D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43000" y="544982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模型理解意图和解释结果；系统提供事实和执行动作。</a:t>
            </a:r>
            <a:endParaRPr lang="en-US" sz="15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2222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474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任务完成层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知识和事实不能混为一谈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629400" y="6455664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 任务完成层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35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713232" y="1572768"/>
            <a:ext cx="5285232" cy="4343400"/>
          </a:xfrm>
          <a:prstGeom prst="roundRect">
            <a:avLst>
              <a:gd name="adj" fmla="val 1053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13232" y="1572768"/>
            <a:ext cx="64008" cy="4343400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41832" y="1773936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规则知识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941832" y="2322576"/>
            <a:ext cx="4828032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“活动门槛是什么？”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RAG检索当前有效规则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199632" y="1572768"/>
            <a:ext cx="5285232" cy="4343400"/>
          </a:xfrm>
          <a:prstGeom prst="roundRect">
            <a:avLst>
              <a:gd name="adj" fmla="val 1053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199632" y="1572768"/>
            <a:ext cx="64008" cy="4343400"/>
          </a:xfrm>
          <a:prstGeom prst="rect">
            <a:avLst/>
          </a:prstGeom>
          <a:solidFill>
            <a:srgbClr val="405D78"/>
          </a:solidFill>
          <a:ln w="12700">
            <a:solidFill>
              <a:srgbClr val="405D7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28232" y="1773936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业务事实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6428232" y="2322576"/>
            <a:ext cx="4828032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“我的门店达到门槛了吗？”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数据库／API查询真实数据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960120" y="5486400"/>
            <a:ext cx="10241280" cy="530352"/>
          </a:xfrm>
          <a:prstGeom prst="roundRect">
            <a:avLst>
              <a:gd name="adj" fmla="val 8621"/>
            </a:avLst>
          </a:prstGeom>
          <a:solidFill>
            <a:srgbClr val="F2E2DB"/>
          </a:solidFill>
          <a:ln w="12700">
            <a:solidFill>
              <a:srgbClr val="F2E2D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43000" y="561441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模型结合两条通道解释｜不要把实时数据当普通知识文档。</a:t>
            </a:r>
            <a:endParaRPr lang="en-US" sz="15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2222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474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任务完成层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Workflow：路径固定，步骤可预设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629400" y="6455664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 任务完成层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03504" y="1755648"/>
            <a:ext cx="2062886" cy="1508760"/>
          </a:xfrm>
          <a:prstGeom prst="roundRect">
            <a:avLst>
              <a:gd name="adj" fmla="val 3030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0664" y="191109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31520" y="2258568"/>
            <a:ext cx="180685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接收材料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2830982" y="1755648"/>
            <a:ext cx="2062886" cy="1508760"/>
          </a:xfrm>
          <a:prstGeom prst="roundRect">
            <a:avLst>
              <a:gd name="adj" fmla="val 3030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968142" y="191109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387B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958998" y="2258568"/>
            <a:ext cx="180685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AI提取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2968142" y="2761488"/>
            <a:ext cx="17885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字段信息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058461" y="1755648"/>
            <a:ext cx="2062886" cy="1508760"/>
          </a:xfrm>
          <a:prstGeom prst="roundRect">
            <a:avLst>
              <a:gd name="adj" fmla="val 3030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195621" y="191109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D18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186477" y="2258568"/>
            <a:ext cx="180685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规则校验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5195621" y="2761488"/>
            <a:ext cx="17885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固定条件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7285939" y="1755648"/>
            <a:ext cx="2062886" cy="1508760"/>
          </a:xfrm>
          <a:prstGeom prst="roundRect">
            <a:avLst>
              <a:gd name="adj" fmla="val 3030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423099" y="191109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74546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7413955" y="2258568"/>
            <a:ext cx="180685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待补清单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9513418" y="1755648"/>
            <a:ext cx="2062886" cy="1508760"/>
          </a:xfrm>
          <a:prstGeom prst="roundRect">
            <a:avLst>
              <a:gd name="adj" fmla="val 3030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650578" y="191109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52755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9641434" y="2258568"/>
            <a:ext cx="180685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人工复核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960120" y="4434840"/>
            <a:ext cx="10241280" cy="530352"/>
          </a:xfrm>
          <a:prstGeom prst="roundRect">
            <a:avLst>
              <a:gd name="adj" fmla="val 8621"/>
            </a:avLst>
          </a:prstGeom>
          <a:solidFill>
            <a:srgbClr val="E2E9DE"/>
          </a:solidFill>
          <a:ln w="12700">
            <a:solidFill>
              <a:srgbClr val="E2E9D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143000" y="456285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2755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可追踪、可重试、可插人工、容易验收。</a:t>
            </a:r>
            <a:endParaRPr lang="en-US" sz="15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2222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474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任务完成层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Agent：路径会随结果动态变化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629400" y="6455664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 任务完成层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37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713232" y="1572768"/>
            <a:ext cx="2834640" cy="4343400"/>
          </a:xfrm>
          <a:prstGeom prst="roundRect">
            <a:avLst>
              <a:gd name="adj" fmla="val 1613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13232" y="1572768"/>
            <a:ext cx="64008" cy="434340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41832" y="1773936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941832" y="2322576"/>
            <a:ext cx="2377440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排查活动效果异常</a:t>
            </a:r>
            <a:endParaRPr lang="en-US" sz="1900" dirty="0"/>
          </a:p>
        </p:txBody>
      </p:sp>
      <p:sp>
        <p:nvSpPr>
          <p:cNvPr id="15" name="Shape 12"/>
          <p:cNvSpPr/>
          <p:nvPr/>
        </p:nvSpPr>
        <p:spPr>
          <a:xfrm>
            <a:off x="3822192" y="1572768"/>
            <a:ext cx="3493008" cy="1938528"/>
          </a:xfrm>
          <a:prstGeom prst="roundRect">
            <a:avLst>
              <a:gd name="adj" fmla="val 235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822192" y="1572768"/>
            <a:ext cx="64008" cy="1938528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050792" y="1773936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查数据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4050792" y="2322576"/>
            <a:ext cx="3035808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指标异常在哪里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7571232" y="1572768"/>
            <a:ext cx="3493008" cy="1938528"/>
          </a:xfrm>
          <a:prstGeom prst="roundRect">
            <a:avLst>
              <a:gd name="adj" fmla="val 235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7571232" y="1572768"/>
            <a:ext cx="64008" cy="1938528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799832" y="1773936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查规则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7799832" y="2322576"/>
            <a:ext cx="3035808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活动条件是否变化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3822192" y="3730752"/>
            <a:ext cx="3493008" cy="1938528"/>
          </a:xfrm>
          <a:prstGeom prst="roundRect">
            <a:avLst>
              <a:gd name="adj" fmla="val 235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3822192" y="3730752"/>
            <a:ext cx="64008" cy="1938528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050792" y="3931920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查工单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4050792" y="4480560"/>
            <a:ext cx="3035808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是否有服务问题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7571232" y="3730752"/>
            <a:ext cx="3493008" cy="1938528"/>
          </a:xfrm>
          <a:prstGeom prst="roundRect">
            <a:avLst>
              <a:gd name="adj" fmla="val 235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7571232" y="3730752"/>
            <a:ext cx="64008" cy="1938528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799832" y="3931920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继续追问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7799832" y="4480560"/>
            <a:ext cx="3035808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补充缺失上下文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960120" y="5532120"/>
            <a:ext cx="10241280" cy="530352"/>
          </a:xfrm>
          <a:prstGeom prst="roundRect">
            <a:avLst>
              <a:gd name="adj" fmla="val 8621"/>
            </a:avLst>
          </a:prstGeom>
          <a:solidFill>
            <a:srgbClr val="F2E2DB"/>
          </a:solidFill>
          <a:ln w="12700">
            <a:solidFill>
              <a:srgbClr val="F2E2D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143000" y="566013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灵活性更高，也更难预测、测试和治理。</a:t>
            </a:r>
            <a:endParaRPr lang="en-US" sz="15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2222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474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任务完成层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Workflow还是Agent？先看路径是否固定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629400" y="6455664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 任务完成层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38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713232" y="1572768"/>
            <a:ext cx="5285232" cy="4343400"/>
          </a:xfrm>
          <a:prstGeom prst="roundRect">
            <a:avLst>
              <a:gd name="adj" fmla="val 1053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13232" y="1572768"/>
            <a:ext cx="64008" cy="434340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41832" y="1773936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Workflow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941832" y="2322576"/>
            <a:ext cx="4828032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步骤预先设计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确定性较高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容易测试和审计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固定任务第一版优先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199632" y="1572768"/>
            <a:ext cx="5285232" cy="4343400"/>
          </a:xfrm>
          <a:prstGeom prst="roundRect">
            <a:avLst>
              <a:gd name="adj" fmla="val 1053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199632" y="1572768"/>
            <a:ext cx="64008" cy="434340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28232" y="1773936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6428232" y="2322576"/>
            <a:ext cx="4828032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步骤动态选择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确定性较低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测试治理更复杂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动态多工具才验证</a:t>
            </a:r>
            <a:endParaRPr lang="en-US" sz="1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2222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474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任务完成层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Multi-Agent不是复杂任务的默认答案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629400" y="6455664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 任务完成层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39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914400" y="1664208"/>
            <a:ext cx="73152" cy="1143000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80160" y="1691640"/>
            <a:ext cx="9875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只有职责确实需要独立分工、隔离或并行协作时再讨论。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658368" y="3429000"/>
            <a:ext cx="2555748" cy="1508760"/>
          </a:xfrm>
          <a:prstGeom prst="roundRect">
            <a:avLst>
              <a:gd name="adj" fmla="val 3030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58368" y="3429000"/>
            <a:ext cx="64008" cy="150876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86968" y="3630168"/>
            <a:ext cx="2116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协调成本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86968" y="4178808"/>
            <a:ext cx="20985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谁把任务交给谁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3433572" y="3429000"/>
            <a:ext cx="2555748" cy="1508760"/>
          </a:xfrm>
          <a:prstGeom prst="roundRect">
            <a:avLst>
              <a:gd name="adj" fmla="val 3030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433572" y="3429000"/>
            <a:ext cx="64008" cy="150876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662172" y="3630168"/>
            <a:ext cx="2116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状态一致性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3662172" y="4178808"/>
            <a:ext cx="20985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信息是否同步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208776" y="3429000"/>
            <a:ext cx="2555748" cy="1508760"/>
          </a:xfrm>
          <a:prstGeom prst="roundRect">
            <a:avLst>
              <a:gd name="adj" fmla="val 3030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208776" y="3429000"/>
            <a:ext cx="64008" cy="150876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37376" y="3630168"/>
            <a:ext cx="2116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错误定位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437376" y="4178808"/>
            <a:ext cx="20985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哪一环出了问题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8983980" y="3429000"/>
            <a:ext cx="2555748" cy="1508760"/>
          </a:xfrm>
          <a:prstGeom prst="roundRect">
            <a:avLst>
              <a:gd name="adj" fmla="val 3030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8983980" y="3429000"/>
            <a:ext cx="64008" cy="1508760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212580" y="3630168"/>
            <a:ext cx="2116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时延与费用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9212580" y="4178808"/>
            <a:ext cx="20985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调用链更长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960120" y="5285232"/>
            <a:ext cx="10241280" cy="530352"/>
          </a:xfrm>
          <a:prstGeom prst="roundRect">
            <a:avLst>
              <a:gd name="adj" fmla="val 8621"/>
            </a:avLst>
          </a:prstGeom>
          <a:solidFill>
            <a:srgbClr val="F2E2DB"/>
          </a:solidFill>
          <a:ln w="12700">
            <a:solidFill>
              <a:srgbClr val="F2E2D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143000" y="541324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本课只掌握边界，不展开架构实现。</a:t>
            </a:r>
            <a:endParaRPr lang="en-US" sz="15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2222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474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任务完成层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五个常见误判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629400" y="6455664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 任务完成层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40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58368" y="1444752"/>
            <a:ext cx="3480816" cy="1508760"/>
          </a:xfrm>
          <a:prstGeom prst="roundRect">
            <a:avLst>
              <a:gd name="adj" fmla="val 3030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8368" y="1444752"/>
            <a:ext cx="64008" cy="150876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6968" y="1645920"/>
            <a:ext cx="3041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数据都放进RAG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86968" y="2194560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事实与知识混淆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358640" y="1444752"/>
            <a:ext cx="3480816" cy="1508760"/>
          </a:xfrm>
          <a:prstGeom prst="roundRect">
            <a:avLst>
              <a:gd name="adj" fmla="val 3030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358640" y="1444752"/>
            <a:ext cx="64008" cy="150876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87240" y="1645920"/>
            <a:ext cx="3041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Agent一定更先进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587240" y="2194560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忽略确定性与成本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8058912" y="1444752"/>
            <a:ext cx="3480816" cy="1508760"/>
          </a:xfrm>
          <a:prstGeom prst="roundRect">
            <a:avLst>
              <a:gd name="adj" fmla="val 3030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058912" y="1444752"/>
            <a:ext cx="64008" cy="150876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287512" y="1645920"/>
            <a:ext cx="3041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 Chatbot承载所有任务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287512" y="2194560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忽略用户工作位置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3172968"/>
            <a:ext cx="3480816" cy="1508760"/>
          </a:xfrm>
          <a:prstGeom prst="roundRect">
            <a:avLst>
              <a:gd name="adj" fmla="val 3030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58368" y="3172968"/>
            <a:ext cx="64008" cy="1508760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86968" y="3374136"/>
            <a:ext cx="3041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 Demo跑通即可上线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886968" y="3922776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忽略验收与治理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4358640" y="3172968"/>
            <a:ext cx="3480816" cy="1508760"/>
          </a:xfrm>
          <a:prstGeom prst="roundRect">
            <a:avLst>
              <a:gd name="adj" fmla="val 3030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358640" y="3172968"/>
            <a:ext cx="64008" cy="1508760"/>
          </a:xfrm>
          <a:prstGeom prst="rect">
            <a:avLst/>
          </a:prstGeom>
          <a:solidFill>
            <a:srgbClr val="527553"/>
          </a:solidFill>
          <a:ln w="12700">
            <a:solidFill>
              <a:srgbClr val="52755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87240" y="3374136"/>
            <a:ext cx="3041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 模型直接执行高风险动作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4587240" y="3922776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缺权限与人工确认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960120" y="5029200"/>
            <a:ext cx="10241280" cy="530352"/>
          </a:xfrm>
          <a:prstGeom prst="roundRect">
            <a:avLst>
              <a:gd name="adj" fmla="val 8621"/>
            </a:avLst>
          </a:prstGeom>
          <a:solidFill>
            <a:srgbClr val="F2E7D5"/>
          </a:solidFill>
          <a:ln w="12700">
            <a:solidFill>
              <a:srgbClr val="F2E7D5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143000" y="515721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18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逐项回答：错在哪里？应该补什么？</a:t>
            </a:r>
            <a:endParaRPr lang="en-US" sz="15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2222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474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产品形态选择路径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六问把场景推导成产品组合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629400" y="6455664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 产品形态选择路径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41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84048" y="1737360"/>
            <a:ext cx="1767840" cy="1828800"/>
          </a:xfrm>
          <a:prstGeom prst="roundRect">
            <a:avLst>
              <a:gd name="adj" fmla="val 2586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21208" y="189280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12064" y="2240280"/>
            <a:ext cx="1511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需要AI？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521208" y="2743200"/>
            <a:ext cx="14935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与基线比较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2316480" y="1737360"/>
            <a:ext cx="1767840" cy="1828800"/>
          </a:xfrm>
          <a:prstGeom prst="roundRect">
            <a:avLst>
              <a:gd name="adj" fmla="val 2586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453640" y="189280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387B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2444496" y="2240280"/>
            <a:ext cx="1511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怎样使用？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2453640" y="2743200"/>
            <a:ext cx="14935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体验层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248912" y="1737360"/>
            <a:ext cx="1767840" cy="1828800"/>
          </a:xfrm>
          <a:prstGeom prst="roundRect">
            <a:avLst>
              <a:gd name="adj" fmla="val 2586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386072" y="189280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D18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376928" y="2240280"/>
            <a:ext cx="1511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特定知识？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4386072" y="2743200"/>
            <a:ext cx="14935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RAG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181344" y="1737360"/>
            <a:ext cx="1767840" cy="1828800"/>
          </a:xfrm>
          <a:prstGeom prst="roundRect">
            <a:avLst>
              <a:gd name="adj" fmla="val 2586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318504" y="189280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74546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309360" y="2240280"/>
            <a:ext cx="1511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事实／动作？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6318504" y="2743200"/>
            <a:ext cx="14935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数据与工具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8113776" y="1737360"/>
            <a:ext cx="1767840" cy="1828800"/>
          </a:xfrm>
          <a:prstGeom prst="roundRect">
            <a:avLst>
              <a:gd name="adj" fmla="val 2586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250936" y="189280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52755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8241792" y="2240280"/>
            <a:ext cx="1511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固定／动态？</a:t>
            </a:r>
            <a:endParaRPr lang="en-US" sz="1350" dirty="0"/>
          </a:p>
        </p:txBody>
      </p:sp>
      <p:sp>
        <p:nvSpPr>
          <p:cNvPr id="30" name="Text 27"/>
          <p:cNvSpPr/>
          <p:nvPr/>
        </p:nvSpPr>
        <p:spPr>
          <a:xfrm>
            <a:off x="8250936" y="2743200"/>
            <a:ext cx="14935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Workflow／Agent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10046208" y="1737360"/>
            <a:ext cx="1767840" cy="1828800"/>
          </a:xfrm>
          <a:prstGeom prst="roundRect">
            <a:avLst>
              <a:gd name="adj" fmla="val 2586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0183368" y="189280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405D7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10174224" y="2240280"/>
            <a:ext cx="1511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错了怎么办？</a:t>
            </a:r>
            <a:endParaRPr lang="en-US" sz="1350" dirty="0"/>
          </a:p>
        </p:txBody>
      </p:sp>
      <p:sp>
        <p:nvSpPr>
          <p:cNvPr id="34" name="Text 31"/>
          <p:cNvSpPr/>
          <p:nvPr/>
        </p:nvSpPr>
        <p:spPr>
          <a:xfrm>
            <a:off x="10183368" y="2743200"/>
            <a:ext cx="14935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确认与兜底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960120" y="4526280"/>
            <a:ext cx="10241280" cy="530352"/>
          </a:xfrm>
          <a:prstGeom prst="roundRect">
            <a:avLst>
              <a:gd name="adj" fmla="val 8621"/>
            </a:avLst>
          </a:prstGeom>
          <a:solidFill>
            <a:srgbClr val="F2E2DB"/>
          </a:solidFill>
          <a:ln w="12700">
            <a:solidFill>
              <a:srgbClr val="F2E2D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143000" y="46542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输出：体验层＋完成层＋人工边界＋验证计划。</a:t>
            </a:r>
            <a:endParaRPr lang="en-US" sz="15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2222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474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产品形态选择路径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一个专业方案要说完整六件事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629400" y="6455664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 产品形态选择路径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42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58368" y="1508760"/>
            <a:ext cx="3480816" cy="1508760"/>
          </a:xfrm>
          <a:prstGeom prst="roundRect">
            <a:avLst>
              <a:gd name="adj" fmla="val 3030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8368" y="1508760"/>
            <a:ext cx="64008" cy="150876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6968" y="1709928"/>
            <a:ext cx="3041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任务是什么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8696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具体到用户与时点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358640" y="1508760"/>
            <a:ext cx="3480816" cy="1508760"/>
          </a:xfrm>
          <a:prstGeom prst="roundRect">
            <a:avLst>
              <a:gd name="adj" fmla="val 3030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358640" y="1508760"/>
            <a:ext cx="64008" cy="150876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87240" y="1709928"/>
            <a:ext cx="3041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AI适配度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587240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适合／局部／暂不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8058912" y="1508760"/>
            <a:ext cx="3480816" cy="1508760"/>
          </a:xfrm>
          <a:prstGeom prst="roundRect">
            <a:avLst>
              <a:gd name="adj" fmla="val 3030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058912" y="1508760"/>
            <a:ext cx="64008" cy="150876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287512" y="1709928"/>
            <a:ext cx="3041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体验层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28751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用户怎样使用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3236976"/>
            <a:ext cx="3480816" cy="1508760"/>
          </a:xfrm>
          <a:prstGeom prst="roundRect">
            <a:avLst>
              <a:gd name="adj" fmla="val 3030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58368" y="3236976"/>
            <a:ext cx="64008" cy="1508760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86968" y="3438144"/>
            <a:ext cx="3041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完成层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886968" y="3986784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系统依靠什么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4358640" y="3236976"/>
            <a:ext cx="3480816" cy="1508760"/>
          </a:xfrm>
          <a:prstGeom prst="roundRect">
            <a:avLst>
              <a:gd name="adj" fmla="val 3030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358640" y="3236976"/>
            <a:ext cx="64008" cy="1508760"/>
          </a:xfrm>
          <a:prstGeom prst="rect">
            <a:avLst/>
          </a:prstGeom>
          <a:solidFill>
            <a:srgbClr val="527553"/>
          </a:solidFill>
          <a:ln w="12700">
            <a:solidFill>
              <a:srgbClr val="52755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87240" y="3438144"/>
            <a:ext cx="3041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不选什么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4587240" y="3986784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理由是什么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8058912" y="3236976"/>
            <a:ext cx="3480816" cy="1508760"/>
          </a:xfrm>
          <a:prstGeom prst="roundRect">
            <a:avLst>
              <a:gd name="adj" fmla="val 3030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8058912" y="3236976"/>
            <a:ext cx="64008" cy="1508760"/>
          </a:xfrm>
          <a:prstGeom prst="rect">
            <a:avLst/>
          </a:prstGeom>
          <a:solidFill>
            <a:srgbClr val="405D78"/>
          </a:solidFill>
          <a:ln w="12700">
            <a:solidFill>
              <a:srgbClr val="405D7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287512" y="3438144"/>
            <a:ext cx="3041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风险与验证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287512" y="3986784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确认、兜底、指标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960120" y="4983480"/>
            <a:ext cx="10241280" cy="530352"/>
          </a:xfrm>
          <a:prstGeom prst="roundRect">
            <a:avLst>
              <a:gd name="adj" fmla="val 8621"/>
            </a:avLst>
          </a:prstGeom>
          <a:solidFill>
            <a:srgbClr val="F2E2DB"/>
          </a:solidFill>
          <a:ln w="12700">
            <a:solidFill>
              <a:srgbClr val="F2E2D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143000" y="51114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专业感来自每个选择都能回到任务证据。</a:t>
            </a:r>
            <a:endParaRPr lang="en-US" sz="15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2222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474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产品形态选择路径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微练习：材料初审为什么不先做Agent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629400" y="6455664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 产品形态选择路径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43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914400" y="1572768"/>
            <a:ext cx="73152" cy="1143000"/>
          </a:xfrm>
          <a:prstGeom prst="rect">
            <a:avLst/>
          </a:prstGeom>
          <a:solidFill>
            <a:srgbClr val="405D78"/>
          </a:solidFill>
          <a:ln w="12700">
            <a:solidFill>
              <a:srgbClr val="405D7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80160" y="1600200"/>
            <a:ext cx="9875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字段固定｜审核规则可列｜最终审核需要人工</a:t>
            </a:r>
            <a:endParaRPr lang="en-US" sz="2500" dirty="0"/>
          </a:p>
        </p:txBody>
      </p:sp>
      <p:sp>
        <p:nvSpPr>
          <p:cNvPr id="13" name="Shape 10"/>
          <p:cNvSpPr/>
          <p:nvPr/>
        </p:nvSpPr>
        <p:spPr>
          <a:xfrm>
            <a:off x="658368" y="3154680"/>
            <a:ext cx="3480816" cy="1828800"/>
          </a:xfrm>
          <a:prstGeom prst="roundRect">
            <a:avLst>
              <a:gd name="adj" fmla="val 2500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58368" y="3154680"/>
            <a:ext cx="64008" cy="182880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86968" y="3355848"/>
            <a:ext cx="3041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体验层？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86968" y="3904488"/>
            <a:ext cx="302361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后台自动处理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358640" y="3154680"/>
            <a:ext cx="3480816" cy="1828800"/>
          </a:xfrm>
          <a:prstGeom prst="roundRect">
            <a:avLst>
              <a:gd name="adj" fmla="val 2500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358640" y="3154680"/>
            <a:ext cx="64008" cy="182880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87240" y="3355848"/>
            <a:ext cx="3041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完成层？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587240" y="3904488"/>
            <a:ext cx="302361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Workflow：AI提取＋规则判断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8058912" y="3154680"/>
            <a:ext cx="3480816" cy="1828800"/>
          </a:xfrm>
          <a:prstGeom prst="roundRect">
            <a:avLst>
              <a:gd name="adj" fmla="val 2500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8058912" y="3154680"/>
            <a:ext cx="64008" cy="182880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287512" y="3355848"/>
            <a:ext cx="3041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不选什么？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8287512" y="3904488"/>
            <a:ext cx="302361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暂不先做Agent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960120" y="5321808"/>
            <a:ext cx="10241280" cy="530352"/>
          </a:xfrm>
          <a:prstGeom prst="roundRect">
            <a:avLst>
              <a:gd name="adj" fmla="val 8621"/>
            </a:avLst>
          </a:prstGeom>
          <a:solidFill>
            <a:srgbClr val="F2E2DB"/>
          </a:solidFill>
          <a:ln w="12700">
            <a:solidFill>
              <a:srgbClr val="F2E2D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143000" y="544982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异常和最终审核转人工。</a:t>
            </a:r>
            <a:endParaRPr lang="en-US" sz="15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2222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474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综合案例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邻里增长平台：项目背景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629400" y="6455664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 综合案例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44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713232" y="1572768"/>
            <a:ext cx="3840480" cy="4297680"/>
          </a:xfrm>
          <a:prstGeom prst="roundRect">
            <a:avLst>
              <a:gd name="adj" fmla="val 1190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13232" y="1572768"/>
            <a:ext cx="64008" cy="4297680"/>
          </a:xfrm>
          <a:prstGeom prst="rect">
            <a:avLst/>
          </a:prstGeom>
          <a:solidFill>
            <a:srgbClr val="405D78"/>
          </a:solidFill>
          <a:ln w="12700">
            <a:solidFill>
              <a:srgbClr val="405D7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41832" y="1773936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业务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941832" y="2322576"/>
            <a:ext cx="3383280" cy="3355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为本地生活商家提供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活动｜素材｜经营数据｜服务工单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4828032" y="1572768"/>
            <a:ext cx="6492240" cy="1965960"/>
          </a:xfrm>
          <a:prstGeom prst="roundRect">
            <a:avLst>
              <a:gd name="adj" fmla="val 2326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828032" y="1572768"/>
            <a:ext cx="64008" cy="196596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56632" y="1773936"/>
            <a:ext cx="6053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当前问题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5056632" y="2322576"/>
            <a:ext cx="60350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规则多、页面多、数据难理解；平台运营重复处理量大。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4828032" y="3794760"/>
            <a:ext cx="6492240" cy="2075688"/>
          </a:xfrm>
          <a:prstGeom prst="roundRect">
            <a:avLst>
              <a:gd name="adj" fmla="val 2203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828032" y="3794760"/>
            <a:ext cx="64008" cy="2075688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056632" y="3995928"/>
            <a:ext cx="6053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开放问题</a:t>
            </a:r>
            <a:endParaRPr lang="en-US" sz="1900" dirty="0"/>
          </a:p>
        </p:txBody>
      </p:sp>
      <p:sp>
        <p:nvSpPr>
          <p:cNvPr id="22" name="Text 19"/>
          <p:cNvSpPr/>
          <p:nvPr/>
        </p:nvSpPr>
        <p:spPr>
          <a:xfrm>
            <a:off x="5056632" y="4544568"/>
            <a:ext cx="603504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如果增加AI，应该从哪些任务开始？</a:t>
            </a:r>
            <a:endParaRPr lang="en-US" sz="2000" dirty="0"/>
          </a:p>
        </p:txBody>
      </p:sp>
      <p:sp>
        <p:nvSpPr>
          <p:cNvPr id="23" name="Shape 20"/>
          <p:cNvSpPr/>
          <p:nvPr/>
        </p:nvSpPr>
        <p:spPr>
          <a:xfrm>
            <a:off x="7790688" y="749808"/>
            <a:ext cx="3200400" cy="329184"/>
          </a:xfrm>
          <a:prstGeom prst="roundRect">
            <a:avLst>
              <a:gd name="adj" fmla="val 22222"/>
            </a:avLst>
          </a:prstGeom>
          <a:solidFill>
            <a:srgbClr val="E8E0E7"/>
          </a:solidFill>
          <a:ln w="12700">
            <a:solidFill>
              <a:srgbClr val="E8E0E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845552" y="822960"/>
            <a:ext cx="3090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4546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教学虚构｜不对应真实公司或项目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2222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474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综合案例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现有系统与约束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629400" y="6455664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 综合案例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45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58368" y="1783080"/>
            <a:ext cx="2000707" cy="2423160"/>
          </a:xfrm>
          <a:prstGeom prst="roundRect">
            <a:avLst>
              <a:gd name="adj" fmla="val 2285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8368" y="1783080"/>
            <a:ext cx="64008" cy="242316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6968" y="1984248"/>
            <a:ext cx="15617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规则文档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86968" y="2532888"/>
            <a:ext cx="1543507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每周可能更新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2878531" y="1783080"/>
            <a:ext cx="2000707" cy="2423160"/>
          </a:xfrm>
          <a:prstGeom prst="roundRect">
            <a:avLst>
              <a:gd name="adj" fmla="val 2285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878531" y="1783080"/>
            <a:ext cx="64008" cy="242316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107131" y="1984248"/>
            <a:ext cx="15617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经营数据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3107131" y="2532888"/>
            <a:ext cx="1543507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保存在业务数据库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098694" y="1783080"/>
            <a:ext cx="2000707" cy="2423160"/>
          </a:xfrm>
          <a:prstGeom prst="roundRect">
            <a:avLst>
              <a:gd name="adj" fmla="val 2285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098694" y="1783080"/>
            <a:ext cx="64008" cy="242316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327294" y="1984248"/>
            <a:ext cx="15617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活动创建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327294" y="2532888"/>
            <a:ext cx="1543507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已有接口，发布需确认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7318858" y="1783080"/>
            <a:ext cx="2000707" cy="2423160"/>
          </a:xfrm>
          <a:prstGeom prst="roundRect">
            <a:avLst>
              <a:gd name="adj" fmla="val 2285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318858" y="1783080"/>
            <a:ext cx="64008" cy="2423160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547458" y="1984248"/>
            <a:ext cx="15617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入驻审核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7547458" y="2532888"/>
            <a:ext cx="1543507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规则明确，部分需人工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9539021" y="1783080"/>
            <a:ext cx="2000707" cy="2423160"/>
          </a:xfrm>
          <a:prstGeom prst="roundRect">
            <a:avLst>
              <a:gd name="adj" fmla="val 2285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9539021" y="1783080"/>
            <a:ext cx="64008" cy="2423160"/>
          </a:xfrm>
          <a:prstGeom prst="rect">
            <a:avLst/>
          </a:prstGeom>
          <a:solidFill>
            <a:srgbClr val="527553"/>
          </a:solidFill>
          <a:ln w="12700">
            <a:solidFill>
              <a:srgbClr val="52755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767621" y="1984248"/>
            <a:ext cx="15617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历史样本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9767621" y="2532888"/>
            <a:ext cx="1543507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可申请脱敏记录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960120" y="4800600"/>
            <a:ext cx="10241280" cy="530352"/>
          </a:xfrm>
          <a:prstGeom prst="roundRect">
            <a:avLst>
              <a:gd name="adj" fmla="val 8621"/>
            </a:avLst>
          </a:prstGeom>
          <a:solidFill>
            <a:srgbClr val="F2E7D5"/>
          </a:solidFill>
          <a:ln w="12700">
            <a:solidFill>
              <a:srgbClr val="F2E7D5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143000" y="492861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18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哪些是知识？哪些是事实？哪些是动作？</a:t>
            </a:r>
            <a:endParaRPr lang="en-US" sz="15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2222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474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综合案例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五个任务，不会是同一种方案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629400" y="6455664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 综合案例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58368" y="1783080"/>
            <a:ext cx="2000707" cy="2468880"/>
          </a:xfrm>
          <a:prstGeom prst="roundRect">
            <a:avLst>
              <a:gd name="adj" fmla="val 2285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8368" y="1783080"/>
            <a:ext cx="64008" cy="246888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6968" y="1984248"/>
            <a:ext cx="15617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 规则问答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86968" y="2532888"/>
            <a:ext cx="1543507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依据当前有效规则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2878531" y="1783080"/>
            <a:ext cx="2000707" cy="2468880"/>
          </a:xfrm>
          <a:prstGeom prst="roundRect">
            <a:avLst>
              <a:gd name="adj" fmla="val 2285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878531" y="1783080"/>
            <a:ext cx="64008" cy="246888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107131" y="1984248"/>
            <a:ext cx="15617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 活动文案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3107131" y="2532888"/>
            <a:ext cx="1543507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生成可编辑初稿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098694" y="1783080"/>
            <a:ext cx="2000707" cy="2468880"/>
          </a:xfrm>
          <a:prstGeom prst="roundRect">
            <a:avLst>
              <a:gd name="adj" fmla="val 2285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098694" y="1783080"/>
            <a:ext cx="64008" cy="246888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327294" y="1984248"/>
            <a:ext cx="15617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 材料初审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327294" y="2532888"/>
            <a:ext cx="1543507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提取、校验、待补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7318858" y="1783080"/>
            <a:ext cx="2000707" cy="2468880"/>
          </a:xfrm>
          <a:prstGeom prst="roundRect">
            <a:avLst>
              <a:gd name="adj" fmla="val 2285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318858" y="1783080"/>
            <a:ext cx="64008" cy="2468880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547458" y="1984248"/>
            <a:ext cx="15617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 数据查询解释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7547458" y="2532888"/>
            <a:ext cx="1543507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先取真实数据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9539021" y="1783080"/>
            <a:ext cx="2000707" cy="2468880"/>
          </a:xfrm>
          <a:prstGeom prst="roundRect">
            <a:avLst>
              <a:gd name="adj" fmla="val 2285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9539021" y="1783080"/>
            <a:ext cx="64008" cy="2468880"/>
          </a:xfrm>
          <a:prstGeom prst="rect">
            <a:avLst/>
          </a:prstGeom>
          <a:solidFill>
            <a:srgbClr val="527553"/>
          </a:solidFill>
          <a:ln w="12700">
            <a:solidFill>
              <a:srgbClr val="52755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767621" y="1984248"/>
            <a:ext cx="15617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 异常排查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9767621" y="2532888"/>
            <a:ext cx="1543507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跨页面动态排查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960120" y="4892040"/>
            <a:ext cx="10241280" cy="530352"/>
          </a:xfrm>
          <a:prstGeom prst="roundRect">
            <a:avLst>
              <a:gd name="adj" fmla="val 8621"/>
            </a:avLst>
          </a:prstGeom>
          <a:solidFill>
            <a:srgbClr val="F2E7D5"/>
          </a:solidFill>
          <a:ln w="12700">
            <a:solidFill>
              <a:srgbClr val="F2E7D5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143000" y="502005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18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先独立写初判｜不要提前翻到答案页</a:t>
            </a:r>
            <a:endParaRPr lang="en-US" sz="15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2222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474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综合案例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V0.2：选一个任务完成组合判断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629400" y="6455664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 综合案例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47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58368" y="1600200"/>
            <a:ext cx="2000707" cy="2148840"/>
          </a:xfrm>
          <a:prstGeom prst="roundRect">
            <a:avLst>
              <a:gd name="adj" fmla="val 2285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8368" y="1600200"/>
            <a:ext cx="64008" cy="214884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6968" y="1801368"/>
            <a:ext cx="15617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AI适配度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86968" y="2350008"/>
            <a:ext cx="1543507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适合／局部／暂不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2878531" y="1600200"/>
            <a:ext cx="2000707" cy="2148840"/>
          </a:xfrm>
          <a:prstGeom prst="roundRect">
            <a:avLst>
              <a:gd name="adj" fmla="val 2285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878531" y="1600200"/>
            <a:ext cx="64008" cy="214884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107131" y="1801368"/>
            <a:ext cx="15617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体验层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3107131" y="2350008"/>
            <a:ext cx="1543507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用户怎样使用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098694" y="1600200"/>
            <a:ext cx="2000707" cy="2148840"/>
          </a:xfrm>
          <a:prstGeom prst="roundRect">
            <a:avLst>
              <a:gd name="adj" fmla="val 2285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098694" y="1600200"/>
            <a:ext cx="64008" cy="214884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327294" y="1801368"/>
            <a:ext cx="15617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 完成层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327294" y="2350008"/>
            <a:ext cx="1543507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系统依靠什么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7318858" y="1600200"/>
            <a:ext cx="2000707" cy="2148840"/>
          </a:xfrm>
          <a:prstGeom prst="roundRect">
            <a:avLst>
              <a:gd name="adj" fmla="val 2285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318858" y="1600200"/>
            <a:ext cx="64008" cy="2148840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547458" y="1801368"/>
            <a:ext cx="15617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 不选什么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7547458" y="2350008"/>
            <a:ext cx="1543507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写出理由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9539021" y="1600200"/>
            <a:ext cx="2000707" cy="2148840"/>
          </a:xfrm>
          <a:prstGeom prst="roundRect">
            <a:avLst>
              <a:gd name="adj" fmla="val 2285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9539021" y="1600200"/>
            <a:ext cx="64008" cy="2148840"/>
          </a:xfrm>
          <a:prstGeom prst="rect">
            <a:avLst/>
          </a:prstGeom>
          <a:solidFill>
            <a:srgbClr val="527553"/>
          </a:solidFill>
          <a:ln w="12700">
            <a:solidFill>
              <a:srgbClr val="52755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767621" y="1801368"/>
            <a:ext cx="15617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 边界与验证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9767621" y="2350008"/>
            <a:ext cx="1543507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谁确认、先验证什么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960120" y="4434840"/>
            <a:ext cx="10241280" cy="530352"/>
          </a:xfrm>
          <a:prstGeom prst="roundRect">
            <a:avLst>
              <a:gd name="adj" fmla="val 8621"/>
            </a:avLst>
          </a:prstGeom>
          <a:solidFill>
            <a:srgbClr val="F2E7D5"/>
          </a:solidFill>
          <a:ln w="12700">
            <a:solidFill>
              <a:srgbClr val="F2E7D5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143000" y="456285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18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8分钟｜抽2—3组｜每组60秒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914400" y="523036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汇报模板：任务是______，当前属于______；选择______＋______；暂不选______；最大风险______。</a:t>
            </a:r>
            <a:endParaRPr lang="en-US" sz="14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2222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474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综合案例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讨论后揭示：A—C参考拆解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629400" y="6455664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 综合案例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48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58368" y="1691640"/>
            <a:ext cx="3480816" cy="3063240"/>
          </a:xfrm>
          <a:prstGeom prst="roundRect">
            <a:avLst>
              <a:gd name="adj" fmla="val 1493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8368" y="1691640"/>
            <a:ext cx="64008" cy="3063240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6968" y="1892808"/>
            <a:ext cx="3041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 规则问答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86968" y="2441448"/>
            <a:ext cx="3023616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适合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Chatbot＋RAG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无证据转人工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358640" y="1691640"/>
            <a:ext cx="3480816" cy="3063240"/>
          </a:xfrm>
          <a:prstGeom prst="roundRect">
            <a:avLst>
              <a:gd name="adj" fmla="val 1493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358640" y="1691640"/>
            <a:ext cx="64008" cy="306324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87240" y="1892808"/>
            <a:ext cx="3041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 活动文案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587240" y="2441448"/>
            <a:ext cx="3023616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适合辅助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Copilot＋Prompt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商家编辑确认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8058912" y="1691640"/>
            <a:ext cx="3480816" cy="3063240"/>
          </a:xfrm>
          <a:prstGeom prst="roundRect">
            <a:avLst>
              <a:gd name="adj" fmla="val 1493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058912" y="1691640"/>
            <a:ext cx="64008" cy="306324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287512" y="1892808"/>
            <a:ext cx="3041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 材料初审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287512" y="2441448"/>
            <a:ext cx="3023616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局部适合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后台处理＋Workflow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异常与终审转人工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960120" y="5074920"/>
            <a:ext cx="10241280" cy="530352"/>
          </a:xfrm>
          <a:prstGeom prst="roundRect">
            <a:avLst>
              <a:gd name="adj" fmla="val 8621"/>
            </a:avLst>
          </a:prstGeom>
          <a:solidFill>
            <a:srgbClr val="F2E2DB"/>
          </a:solidFill>
          <a:ln w="12700">
            <a:solidFill>
              <a:srgbClr val="F2E2D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143000" y="520293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体验由用户工作位置决定，机制由任务条件决定。</a:t>
            </a:r>
            <a:endParaRPr lang="en-US" sz="15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2222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474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综合案例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讨论后揭示：D—E参考拆解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629400" y="6455664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 综合案例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49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713232" y="1572768"/>
            <a:ext cx="5285232" cy="4343400"/>
          </a:xfrm>
          <a:prstGeom prst="roundRect">
            <a:avLst>
              <a:gd name="adj" fmla="val 1053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13232" y="1572768"/>
            <a:ext cx="64008" cy="4343400"/>
          </a:xfrm>
          <a:prstGeom prst="rect">
            <a:avLst/>
          </a:prstGeom>
          <a:solidFill>
            <a:srgbClr val="405D78"/>
          </a:solidFill>
          <a:ln w="12700">
            <a:solidFill>
              <a:srgbClr val="405D7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41832" y="1773936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 数据查询解释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941832" y="2322576"/>
            <a:ext cx="4828032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局部适合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Chatbot／Copilot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＋数据库API＋分析模板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推测必须标记，重要判断确认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199632" y="1572768"/>
            <a:ext cx="5285232" cy="4343400"/>
          </a:xfrm>
          <a:prstGeom prst="roundRect">
            <a:avLst>
              <a:gd name="adj" fmla="val 1053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199632" y="1572768"/>
            <a:ext cx="64008" cy="434340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28232" y="1773936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 复杂异常排查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6428232" y="2322576"/>
            <a:ext cx="4828032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待验证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Copilot＋受控Workflow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路径确实动态再验证Agent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预算、活动修改与对外动作前确认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960120" y="5504688"/>
            <a:ext cx="10241280" cy="530352"/>
          </a:xfrm>
          <a:prstGeom prst="roundRect">
            <a:avLst>
              <a:gd name="adj" fmla="val 8621"/>
            </a:avLst>
          </a:prstGeom>
          <a:solidFill>
            <a:srgbClr val="F2E2DB"/>
          </a:solidFill>
          <a:ln w="12700">
            <a:solidFill>
              <a:srgbClr val="F2E2D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43000" y="563270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不是看到“复杂”就直接选择Agent。</a:t>
            </a:r>
            <a:endParaRPr lang="en-US" sz="15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2222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474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总结与课后作业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四句话总结＋课后V1.0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629400" y="6455664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 总结与课后作业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50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58368" y="1481328"/>
            <a:ext cx="6537960" cy="4526280"/>
          </a:xfrm>
          <a:prstGeom prst="roundRect">
            <a:avLst>
              <a:gd name="adj" fmla="val 1010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8368" y="1481328"/>
            <a:ext cx="64008" cy="452628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6968" y="1682496"/>
            <a:ext cx="6099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四句话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886968" y="2231136"/>
            <a:ext cx="6080760" cy="3584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  能力成立，不等于产品价值成立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  先判断是否需要AI，再选择产品形态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  体验层与任务完成层必须分开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  写清不选什么、谁确认、怎样验证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470648" y="1481328"/>
            <a:ext cx="4069080" cy="4526280"/>
          </a:xfrm>
          <a:prstGeom prst="roundRect">
            <a:avLst>
              <a:gd name="adj" fmla="val 1124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470648" y="1481328"/>
            <a:ext cx="64008" cy="4526280"/>
          </a:xfrm>
          <a:prstGeom prst="rect">
            <a:avLst/>
          </a:prstGeom>
          <a:solidFill>
            <a:srgbClr val="405D78"/>
          </a:solidFill>
          <a:ln w="12700">
            <a:solidFill>
              <a:srgbClr val="405D7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699248" y="1682496"/>
            <a:ext cx="3630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课后V1.0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7699248" y="2231136"/>
            <a:ext cx="3611880" cy="3584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从自己的工作中选择一个具体任务</a:t>
            </a:r>
            <a:endParaRPr lang="en-US" sz="1450" dirty="0"/>
          </a:p>
          <a:p>
            <a:pPr algn="l" indent="0" marL="0">
              <a:buNone/>
            </a:pP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必须包含：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基线比较｜五维证据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产品组合｜人工边界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最小验证</a:t>
            </a:r>
            <a:endParaRPr lang="en-US" sz="1450" dirty="0"/>
          </a:p>
          <a:p>
            <a:pPr algn="l" indent="0" marL="0">
              <a:buNone/>
            </a:pP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不提交个人信息、公司机密或未脱敏数据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</vt:vector>
  </TitlesOfParts>
  <Company>AI 产品经理系统课程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AI产品形态分类与场景判断</dc:title>
  <dc:subject>第03课：AI产品形态分类与场景判断</dc:subject>
  <dc:creator>AI 产品经理系统课程</dc:creator>
  <cp:lastModifiedBy>AI 产品经理系统课程</cp:lastModifiedBy>
  <cp:revision>1</cp:revision>
  <dcterms:created xsi:type="dcterms:W3CDTF">2026-07-18T10:19:17Z</dcterms:created>
  <dcterms:modified xsi:type="dcterms:W3CDTF">2026-07-18T10:19:17Z</dcterms:modified>
</cp:coreProperties>
</file>