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9" r:id="rId2"/>
    <p:sldMasterId id="2147483670" r:id="rId3"/>
    <p:sldMasterId id="2147483681" r:id="rId4"/>
    <p:sldMasterId id="2147483692" r:id="rId5"/>
    <p:sldMasterId id="2147483703" r:id="rId6"/>
    <p:sldMasterId id="2147483714" r:id="rId7"/>
  </p:sldMasterIdLst>
  <p:notesMasterIdLst>
    <p:notesMasterId r:id="rId48"/>
  </p:notesMasterIdLst>
  <p:sldIdLst>
    <p:sldId id="256" r:id="rId8"/>
    <p:sldId id="257" r:id="rId9"/>
    <p:sldId id="314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2" r:id="rId31"/>
    <p:sldId id="283" r:id="rId32"/>
    <p:sldId id="284" r:id="rId33"/>
    <p:sldId id="285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301" r:id="rId44"/>
    <p:sldId id="304" r:id="rId45"/>
    <p:sldId id="312" r:id="rId46"/>
    <p:sldId id="31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/>
    <p:restoredTop sz="94716"/>
  </p:normalViewPr>
  <p:slideViewPr>
    <p:cSldViewPr snapToGrid="0" snapToObjects="1">
      <p:cViewPr varScale="1">
        <p:scale>
          <a:sx n="121" d="100"/>
          <a:sy n="121" d="100"/>
        </p:scale>
        <p:origin x="176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节课我们做一个电商营销内容审核项目，案例是净小伴P1标准版扫拖机器人，面向养宠家庭写日常推广文案。配图只是帮助大家进入使用情境，品牌、人物、商品资料和图片都是教学模拟。我们的第一版定位是审核提效，希望让作者和审核员少做一些重复劳动，正式审核决定和后续处置仍由人承担。</a:t>
            </a:r>
          </a:p>
          <a:p>
            <a:endParaRPr lang="zh-CN" dirty="0"/>
          </a:p>
          <a:p>
            <a:r>
              <a:rPr lang="zh-CN" dirty="0"/>
              <a:t>项目覆盖三个环节：作者提交之前的事前自检，审核员处理稿件时的事中审核，以及内容使用后的事后巡检。今天会从业务背景开始，经过目标和方案，走到产品页面、实施安排与验证办法。先记住这条业务主线，三个环节具体怎样衔接，后面会结合文案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严格沿讲义的七节推进。第一节看业务背景，先弄清企业原来的审核怎么做，哪些动作反复出现。第二节定义项目目标，明确第一版要让谁少做什么，以及范围到哪里。第三节设计业务方案，把自检、正式审核和巡检接成闭环。</a:t>
            </a:r>
          </a:p>
          <a:p>
            <a:endParaRPr lang="zh-CN" dirty="0"/>
          </a:p>
          <a:p>
            <a:r>
              <a:rPr lang="zh-CN" dirty="0"/>
              <a:t>第四节是审核体系，把一条业务要求转成能执行的具体审核点。第五节选择方案，确定规则、模型和人工怎样分工、怎样交接。第六节把流程落实到系统与产品方案，包括架构、页面、版本和状态。最后一节讨论落地与验证，确定先做什么，用哪些证据判断是否提效。整堂课安排一百八十分钟，包含两次各十分钟休息。讲义与PPT使用相同的七节名称，大家可以逐节对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3121-62BF-28EA-BE6E-E805F152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B0B6B-29D6-0673-D7B0-80F44BE0B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0BB7B-64BC-0E2A-2A54-497A44022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节已经把企业原来的审核方式、流程和痛点讲清楚了。现在进入第二节，项目目标。我们用大约十五分钟回答一个问题：第一版到底要让谁少做什么？接下来先明确三个具体目标，再限定首版范围、责任和验证方向，最后收成一份能够指导方案的项目定义。下一节才沿这份定义，把自检、正式审核和巡检的流程分别走通。</a:t>
            </a:r>
          </a:p>
        </p:txBody>
      </p:sp>
    </p:spTree>
    <p:extLst>
      <p:ext uri="{BB962C8B-B14F-4D97-AF65-F5344CB8AC3E}">
        <p14:creationId xmlns:p14="http://schemas.microsoft.com/office/powerpoint/2010/main" val="2962943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回到企业原有的日常工作。小周按计划给P1写一篇推广，自己检查后，把正文和相关资料交给小林。小周负责写稿、自查和修改；小林需要读懂原句，找到相应依据，判断表述是否准确，再把问题反馈给小周，收到新稿后还要复核。</a:t>
            </a:r>
          </a:p>
          <a:p>
            <a:endParaRPr lang="zh-CN" dirty="0"/>
          </a:p>
          <a:p>
            <a:r>
              <a:rPr lang="zh-CN" dirty="0"/>
              <a:t>小林不能只凭自己的产品常识判断。商品事实要由产品负责人确认，价格和赠品条件要找活动负责人，配送承诺要由履约负责人确认。资料缺失，或者两份资料说法冲突，都需要回到相应责任人，先把业务事实弄清楚。审核员的工作，是让文案和已确认的事实对应起来，并说明怎样修改。</a:t>
            </a:r>
          </a:p>
          <a:p>
            <a:endParaRPr lang="zh-CN" dirty="0"/>
          </a:p>
          <a:p>
            <a:r>
              <a:rPr lang="zh-CN" dirty="0"/>
              <a:t>定稿之后，内容负责人还要维护实际使用的版本和位置。否则后续即使发现条件变化，也未必知道应该找谁、修改哪一份内容。大家可以先用自己的工作经验对照一下：你们公司的角色叫什么名字，哪些职责由同一个人兼任？称呼和人数可以变化，但人工阅读、资料对照和责任人确认这三件事仍然要有人承担。下面把这些角色连成一条实际流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图展示一篇需要修改的文案怎样走完一轮审核。第一步，作者撰写并自查，形成初稿；第二步，提交正文和相关资料；第三步，审核员对照原句与依据逐项核对。发现问题后，第四步给出反馈，说明哪里有问题，以及需要怎样修改。第五步由作者修改并提交新版本，第六步由审核员逐项复核，确认之前的问题是否已解决，最后才按既定权限定稿并按计划使用。</a:t>
            </a:r>
          </a:p>
          <a:p>
            <a:endParaRPr lang="zh-CN" dirty="0"/>
          </a:p>
          <a:p>
            <a:r>
              <a:rPr lang="zh-CN" dirty="0"/>
              <a:t>这里的反馈、修改和复核可能不止一轮。只要还有未解决的问题，就继续反馈和修改，不能因为作者提交了新版本，就默认问题消失。反过来，如果核对后没有待处理事项，也不需要人为增加修改环节，可以按企业既定权限定稿。</a:t>
            </a:r>
          </a:p>
          <a:p>
            <a:endParaRPr lang="zh-CN" dirty="0"/>
          </a:p>
          <a:p>
            <a:r>
              <a:rPr lang="zh-CN" dirty="0"/>
              <a:t>还要留意，审核通过必须对应明确版本。内容负责人需要知道，哪个版本正在什么位置使用。比如作者后续重新改了一句，原先通过的结论并不会自然覆盖这个新版本。我们先把流程讲清楚，后面再考虑用什么产品能力来承接。接下来只拿价格这一句话，看看小林在“对照核对”这个步骤里，到底做了哪些动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小林看到的原句是：“本次活动到手一千七百九十九元，人人同价！”大家先想一想，如果你是审核员，仅凭这一句话，能不能判断它准确？需要核实的至少包括：什么人能享受这个价格，以及满足什么条件才能拿到。</a:t>
            </a:r>
          </a:p>
          <a:p>
            <a:endParaRPr lang="zh-CN" dirty="0"/>
          </a:p>
          <a:p>
            <a:r>
              <a:rPr lang="zh-CN" dirty="0"/>
              <a:t>现在找到本次活动的当前资料。案例给定活动价是两千三百九十九元，先领取并使用四百元活动券，得到一千九百九十九元；新会员还需要再领取并使用两百元专享券，才能达到一千七百九十九元，而且这些条件只在本次活动适用期内有效。这里的金额、资料编号和条件都是教学给定。</a:t>
            </a:r>
          </a:p>
          <a:p>
            <a:endParaRPr lang="zh-CN" dirty="0"/>
          </a:p>
          <a:p>
            <a:r>
              <a:rPr lang="zh-CN" dirty="0"/>
              <a:t>所以，小林不是扫一眼价格数字就完成了。他先读原句，再找到当前活动资料，然后逐一核对价格、用户资格，以及两类优惠券的领取和使用要求，最后回到正文给出修改意见。数字可能算得对，适用人群和条件仍可能被写大。</a:t>
            </a:r>
          </a:p>
          <a:p>
            <a:endParaRPr lang="zh-CN" dirty="0"/>
          </a:p>
          <a:p>
            <a:r>
              <a:rPr lang="zh-CN" dirty="0"/>
              <a:t>如果只写“价格不对”或者“补一下条件”，作者仍然不知道应该补到什么程度。可执行的意见是：补齐新会员资格、两类券的领取与使用条件，并删除“人人同价”。请大家把这个过程再复述一次，注意把找资料和解释意见这两部分劳动也算进去。我们这里只完成了价格这一个例子的核对，并不代表商品功能、赠品、配送等其余审核项已经完成，更不代表整篇通过。下一页看这些动作在日常工作中怎样变成痛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从前面的具体动作归纳痛点。第一处是查找资料：小林一会儿看正文，一会儿翻商品、活动和配送资料。没有明显错误的句子，也需要核实，才能负责任地确认。可以请大家回忆一下，自己审核一份材料时，需要打开多少份资料，哪些查找会在下一篇文案里重复。</a:t>
            </a:r>
          </a:p>
          <a:p>
            <a:endParaRPr lang="zh-CN" dirty="0"/>
          </a:p>
          <a:p>
            <a:r>
              <a:rPr lang="zh-CN" dirty="0"/>
              <a:t>第二处是解释往返。小林写“价格补条件”，小周改成“领券一千七百九十九”，看起来改过了，但仍然没有说清新会员资格和两类券。于是又要解释、修改、重提。这里的耗时来自双方没有接到同一套完整条件。</a:t>
            </a:r>
          </a:p>
          <a:p>
            <a:endParaRPr lang="zh-CN" dirty="0"/>
          </a:p>
          <a:p>
            <a:r>
              <a:rPr lang="zh-CN" dirty="0"/>
              <a:t>第三处是版本复核。作者回复“已修改”，审核员仍要把旧意见、新版本原句和当前依据重新对应起来。既要确认原问题已经解决，也要检查这一版的其他改动。不能把有修改记录直接等同于通过。</a:t>
            </a:r>
          </a:p>
          <a:p>
            <a:endParaRPr lang="zh-CN" dirty="0"/>
          </a:p>
          <a:p>
            <a:r>
              <a:rPr lang="zh-CN" dirty="0"/>
              <a:t>第四处发生在内容使用以后。活动负责人确认赠品名额用完，需要找到这次活动中相关的在用内容，以及负责维护的人。停用的历史内容、别的活动、只讲商品功能的内容，不能一律要求修改。找到正确对象和责任人，本身就是工作。</a:t>
            </a:r>
          </a:p>
          <a:p>
            <a:endParaRPr lang="zh-CN" dirty="0"/>
          </a:p>
          <a:p>
            <a:r>
              <a:rPr lang="zh-CN" dirty="0"/>
              <a:t>大家可以选择其中一处，说出它在自己业务里的具体表现，以及应该记录谁的投入。后面判断是否提效，要同时看作者和审核员的总投入，不能只看某一个操作快了几秒。明确这些真实劳动之后，第二节再定义希望减少什么，以及第一版具体做到哪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节已经把企业原来的审核方式、流程和痛点讲清楚了。现在进入第二节，项目目标。我们用大约十五分钟回答一个问题：第一版到底要让谁少做什么？接下来先明确三个具体目标，再限定首版范围、责任和验证方向，最后收成一份能够指导方案的项目定义。下一节才沿这份定义，把自检、正式审核和巡检的流程分别走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业务说“做个智能审核”，团队很容易马上开始列功能，比如上传文案、生成结果和导出报告。但功能做好以后，谁的哪项工作会改善，还没有说清楚。如果小林拿到工具结果之后，仍然得重新找出处、确认资料是否适用，再把含糊意见解释给小周，原来的工作可能没有少，反而多了一遍检查工具结果的工作。我们先把希望改变的工作说清楚。</a:t>
            </a:r>
          </a:p>
          <a:p>
            <a:endParaRPr lang="zh-CN" dirty="0"/>
          </a:p>
          <a:p>
            <a:r>
              <a:rPr lang="zh-CN" dirty="0"/>
              <a:t>第一个目标，让适用依据来到待核对的原句旁边。小林核对一千七百九十九元时，能直接看到本次活动的价格、用户资格以及用券条件，希望减少反复打开资料、定位段落和整理条件的劳动。这里仍然要判断依据是否正确、是否适用，看到引用不等于可以直接相信。</a:t>
            </a:r>
          </a:p>
          <a:p>
            <a:endParaRPr lang="zh-CN" dirty="0"/>
          </a:p>
          <a:p>
            <a:r>
              <a:rPr lang="zh-CN" dirty="0"/>
              <a:t>第二个目标，让意见具体，修改与复核接得上。上一节的“领券一千七百九十九”仍缺少新会员资格和两类券的领取使用条件。如果反馈能把这些条件说清楚，作者就更容易一次改到位。新版本提交后，审核员能把原来的意见与现在的修改对应起来，也能看到其他改动，希望减少重复解释与重新拼接信息。</a:t>
            </a:r>
          </a:p>
          <a:p>
            <a:endParaRPr lang="zh-CN" dirty="0"/>
          </a:p>
          <a:p>
            <a:r>
              <a:rPr lang="zh-CN" dirty="0"/>
              <a:t>第三个目标，条件变化后找到真正需要复查的在用内容。比如活动负责人确认赠品名额用完，要先按本次活动和使用状态找范围，再核对内容表达是否受影响，最后交明确的负责人处理。停用历史稿、其他活动和仅介绍功能的内容不能一律修改。这样希望减少范围定位和找维护人的劳动，并让后续处理有人承接。注意这三个都是期望改善，是否真正省力仍然要通过试用验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明确以后，首版要收敛到可以落地和验证的范围。我们先从P1和少量资料齐全的商品开始，处理绑定单个SKU和活动的营销文案文本，主要核对功能事实、价格与赠品条件，以及配送承诺是否有依据。这里先不把材料范围无限扩大。</a:t>
            </a:r>
          </a:p>
          <a:p>
            <a:endParaRPr lang="zh-CN" dirty="0"/>
          </a:p>
          <a:p>
            <a:r>
              <a:rPr lang="zh-CN" dirty="0"/>
              <a:t>三个环节都保留。作者提交前可以自检，正式审核时可以查看依据、确认问题、退回和复核，条件变化后由负责人选择范围、发起巡检并推动处理。实施时先做深正式审核，再复用能力接到自检和巡检，这是首版内部的建设顺序，三个环节仍然都属于首版。系统主要辅助定位问题、展示依据，并衔接修改复核和后续处理。</a:t>
            </a:r>
          </a:p>
          <a:p>
            <a:endParaRPr lang="zh-CN" dirty="0"/>
          </a:p>
          <a:p>
            <a:r>
              <a:rPr lang="zh-CN" dirty="0"/>
              <a:t>右边是保留给人的责任。正式审核决定由审核员作出，修改、暂停等内容处置由内容负责人确认。缺资料、执行失败或者存在争议时，要交给对应责任人确认。系统没有发现已覆盖检查项的问题，并不代表整篇审核已经完成。</a:t>
            </a:r>
          </a:p>
          <a:p>
            <a:endParaRPr lang="zh-CN" dirty="0"/>
          </a:p>
          <a:p>
            <a:r>
              <a:rPr lang="zh-CN" dirty="0"/>
              <a:t>这些能力还有前提。商品事实要由产品负责人确认，活动权益要由活动负责人确认，配送资料要由履约负责人确认。文案还要关联商品、活动、版本和使用状态，后面才能定位适用依据、归属结论以及找回在用内容。如果这些资料或关联不齐，应该先补齐，或者缩小试用范围。接下来判断这套辅助方式是否值得做，不能只看它生成结果有多快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从三个视角判断。先看问题和依据是否可靠：真实问题有没有漏掉，正常表达有没有被误报，引用的资料是不是适用。比如一千七百九十九元引用了另一场活动，或者把“最后再说一下”这样的正常表达也提示成问题，都可能增加人工核实和纠错的工作。问题质量和效率不能分开判断。</a:t>
            </a:r>
          </a:p>
          <a:p>
            <a:endParaRPr lang="zh-CN" dirty="0"/>
          </a:p>
          <a:p>
            <a:r>
              <a:rPr lang="zh-CN" dirty="0"/>
              <a:t>再看双方的总投入。作者自检、读反馈和修改的时间，要和审核员确认、纠错和复核的时间加起来看。某一个角色变快，不代表整个工作变少。等待业务回复的时间另行记录，便于分清人工投入与流转等待。我们也需要平衡任务难度和人员熟悉程度，避免一组全是熟悉的简单稿，另一组全是陌生复杂稿。</a:t>
            </a:r>
          </a:p>
          <a:p>
            <a:endParaRPr lang="zh-CN" dirty="0"/>
          </a:p>
          <a:p>
            <a:r>
              <a:rPr lang="zh-CN" dirty="0"/>
              <a:t>最后看问题有没有真正处理完成。作者是否按依据改对，审核员是否确认解决，巡检发现的在用内容是否已经实际更新，都需要核对。点击“已处理”不能代替处理结果。</a:t>
            </a:r>
          </a:p>
          <a:p>
            <a:endParaRPr lang="zh-CN" dirty="0"/>
          </a:p>
          <a:p>
            <a:r>
              <a:rPr lang="zh-CN" dirty="0"/>
              <a:t>所以，工具出结果快只是局部信息。现在没有实际业务基线，我们先记录原流程，再用可比任务做小范围对照，不直接承诺固定的节省比例，也不套用一个通用准确率门槛。具体样本、统计口径和接受条件会在第七节落地验证里展开。下面先用一个情境，看看大家会怎样判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节重点理解三个业务环节分别负责什么。事前自检帮助作者提前准备，事中审核承担正式确认和修改复核，事后巡检在业务条件变化后维护在用内容。我们围绕谁在什么时候做、主要做什么、结果交给谁，把职责和衔接说清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可以把同一篇营销文案的生命周期分成三个时机：提交之前，作者先自检和修改；正式提交以后，审核员核对、确认意见并复核修改；定稿入库、按计划使用以后，如果业务条件发生变化，再由负责人选择相关在用内容发起巡检。三个环节可共享适用资料和核对能力，但发起人、处理责任和完成条件不同。首版围绕人工审核提效，正式决定与内容处置仍由人承担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事前自检发生在作者正式提交之前，由作者关联商品、活动和有效资料后发起系统辅助检查。结果要让作者知道原句哪里有问题、依据是什么以及下一步怎样处理，能确认的先修改，有疑义或缺资料的保留说明，带着当前稿件、依据和待确认项交给审核人员。比如价格句提示缺新会员和两类券条件，就帮助作者在提交前补充，而不是只说请规范表达。自检不要求机械接受全部提示或清零，自检完成也不等于正式审核通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事中审核从作者正式提交开始，审核员结合当前文案、适用资料、自检记录与作者说明，判断提示是否成立，必要时请业务负责人确认。成立的问题交作者修改，收到新版本后对照原句、意见和依据复核，再由有权限的审核人员作正式决定；作者标记已修改，不能直接等同问题解决或整篇通过。比如作者把价格改成领券一千七百九十九元，审核员仍要核对资格与两类券条件是否补齐。这个环节承担正式确认和修改复核，输出对应明确版本的审核结论，定稿后由内容负责人确认实际使用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事后巡检发生在内容已进入使用以后，活动、商品或履约条件变化时，先由负责人确认变化并圈定相关在用内容，再核对当前表达是否受到影响。比如活动负责人确认赠品名额用完，需要找到本次活动仍在使用且含赠品承诺的内容，交内容负责人确认修改、补充说明或暂停，修改后还需复核并确认实际使用版本已更新。已停用、其他活动和使用状态不明的内容不能一律处理，已经取得资格订单的权益保留，系统也不自动下架。巡检检查结束不等于处置完成，原审核记录保留，新增记录说明条件变化后怎样处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节说明了自检、正式审核和巡检分别负责什么，现在把它们共用的检查任务定义清楚。第四节沿同一个温度案例，说明审核点是什么、怎样从业务要求生成、如何确认和维护，以及系统怎样取得适用标准与业务资料再执行检查。审核点与样例来自本课案例，管理和调用路径是结合本次讨论补充的首版设计建议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分清三类信息。审核要求提出方向，例如商品宣传真实准确；审核点把方向变成具体任务，例如文案中温度描述的功能是否与当前商品资料一致；业务资料提供这次核对所需的事实，例如P1的六十五摄氏度用于基站热水洗拖布。审核方法可以跨商品复用，事实资料要随商品、活动与适用时间选择。审核点是一份业务检查规范或配置，不一定是单独接口，不能把判断方法与某个商品参数写成不可维护的一整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生成审核点，先从业务要求中找出具体可以核对的主张，例如吸力、温度、避障能力，再选择其中一个问题写出判断任务。以温度为例，需要识别数值描述的是哪个动作和对象，再与当前资料比较，随后补齐适用条件、例外和处理责任。AI可以根据经过确认的要求与资料辅助起草候选审核点，但业务负责人需要确认标准，再用正常、错误和边界样例试跑验证，之后才启用。首版先定义已选范围内的任务，逐步补齐，不要求一开始穷尽全部审核要求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卡是业务、产品、研发和测试共同理解任务的依据。它需要说清查什么、什么时候适用、依赖哪些输入和资料、怎样判断、例外缺项怎么处理，以及谁承接结果。案例中没有温度表达时，本温度项不适用，但商品功能仍可能需要其他检查；对象不清或资料冲突时要确认，不能补出作者没有说的意思。这里的编号和版本是本项目教学设计，具体执行用规则、模型还是人工，在第五节选择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审核点写出来以后，要用样例检查不同角色是否理解一致。六十五摄氏度直接拖地与给定资料的功能对象不一致，基站支持六十五摄氏度热水洗拖布有资料支持；六十五摄氏度热水深度清洁需要结合全文，仍不清楚时交人工确认；不写温度值的热水洗拖布表达对本温度项不适用。样例的预期判断先经业务确认，再比较系统结果，正常、错误、待确认和不适用都要覆盖，发现误报或遗漏后修改审核点并回归验证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版建议把审核点库与业务资料库分开管理。审核人员和产品整理候选要求，由对应业务负责人确认标准及依据，用样例试跑之后再审核启用，系统只选择已启用且符合范围和生效条件的版本。审核点记录编号、版本、状态、负责人、适用范围与生效时间，变更形成新版本并重新验证，停用版本退出后续选择，但历史任务保留原来引用。商品、活动和配送资料由各自负责人确认，按SKU、活动和适用时间管理版本；事实更新和判断标准更新分别处理，不覆盖过去的执行证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先取得任务上下文，包含商品SKU、活动、内容类型、审核环节和适用时间，这些信息可由作者选择或业务系统带入，不能靠模型猜一个不确定的商品或活动。业务场景关联审核方案，方案关联已启用的审核点，保留约定的必查项，再逐项判断是否适用；不能只检索几个相似审核点就宣称全部覆盖。资料通过SKU、活动、资料类型和适用时间关联，选择本次审核有效的版本，巡检还需要已确认的业务变化与使用状态。少量资料可以直接提供，较长资料可在限定范围内检索相关段落；缺项、过期或冲突交责任人确认，不一律取全库最新资料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节把业务要求定义成审核点，并说明标准和资料怎样管理与匹配。第五节简要比较规则程序、模型和人工的适用场景，重点沿一条价格检查看系统怎样组织输入、选择执行链、调用、校验和交接。首版仍然服务审核提效，正式审核与内容处置由有权限的人决定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项目的混合审核，是把规则与程序校验、模型语义判断和人工复核按任务组合。程序适合资料关联、适用时间、金额计算和引用来源这些明确条件，模型辅助理解自由表达中的对象、资格与条件范围，人负责确认事实、处理争议并承担正式决定。这个划分是首版待验证的选择，并非绝对能力边界，也不要求一条审核点只用一种办法。若整理资料和清单已经解决主要问题，可以先采用较简单的方式，组合本身不保证提效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先读取当前文案、商品活动等上下文，以及第四节选出的适用审核点和有效资料。每条审核点关联经过确认的执行配置，配置说明需要哪些输入、调用程序还是模型、步骤怎样衔接、输出什么以及失败交给谁，首版可以采用明确的预设工作流。执行后校验原句定位、引用来源、返回结构和完成状态，合并同一业务问题的结果，再交审核人员确认、交作者修改并复核。这里是本项目的方案设计，不意味着已经运行，也不需要先做一个让模型自由选择所有步骤的复杂系统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拿新会员领券一千七百九十九元这句话演示。程序先取得绑定活动的有效方案，核算两千三百九十九减四百得到一千九百九十九元，新会员再减两百得到一千七百九十九元；模型结合完整文案识别宣传价格、人群和两类券的领取使用条件，不能把资料写过的条件当成文案已经写明。模型返回后，程序校验引用和原句是否属于本次材料，审核员确认问题，必要时交活动负责人解释，作者修改后再复核。条件可以在同篇文案其他位置清楚交代，金额计算成立与条件缺失可以同时成立，合并后保留相应问题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面已经明确三个业务环节，以及每条审核点怎样执行。这一节把它们接到用户能完成的任务上：从哪里进入、看到什么、执行哪些操作，之后状态怎样变化、下一步交给谁。页面介绍预留截图区域，讲解围绕真实任务展开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三层职责看整个系统。业务应用层让人提交、修改、确认和跟踪，审核能力层组织适用检查并返回可核对结果，模型与资料层提供语言能力和有效依据。亚慧参考课中的审核规则引擎，可以在这里理解为组织审核点和执行结果的模块；这并不要求首版建设三个独立系统或复杂拖拽画布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小周保存初稿并选择商品和活动后发起检查，系统保留发起时正文、上下文和依据版本。检查完成后展示问题位置、依据和各项执行状态，作者可以修改、补资料或说明异议。保存修改稿形成新版本，再检查时建立新的关联记录；旧记录保留，缺资料的检查不能被其他完成项掩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提交需要明确本次审的是哪个正文版本，由谁负责。小林查看原句、依据、作者说明和未完成项，确认问题后可以请求补资料或退回修改；小周修改为新版本重新提交，再逐条复核。通过结论只对应实际提交且确认过的版本，后续使用还要登记位置与维护人；既有检查能否复用取决于正文、业务上下文和各项依据是否仍有效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活动负责人确认赠品名额已用完后，先登记变化事件、依据、生效条件和责任人，再核对本活动仍在使用的内容并建立批次。使用状态不明的内容单列待核，不能悄悄排除。发现问题后交给内容负责人，经过修改与相应复核，最终确认实际使用位置已经更新；旧审核记录继续保留，检查运行结束不等于处置完成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先贴内容编辑与自检页面。围绕小周的任务讲解当前正文版本、商品活动关联、可用资料、问题定位和未完成检查。作者可以修改、补资料或说明异议，正式提交另形成审核任务，旧版本结果要明确标识。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详情页围绕原文、问题和依据的关联展开，点击问题定位原句，也能由原句回到问题，依据展开后显示来源和版本。审核员确认问题或记录不成立的原因，请求补资料或退回修改，复核时对照新版本与上一轮意见。问题合并展示后仍要保留未完成项，正式决定由有权限的人作出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巡检页面先说明为什么查、依据从什么时候起适用以及本次范围，接着区分检查完成情况、范围待核和问题处理状态。发现问题要找到内容负责人，跟踪认领、修改和复核，最后核验实际使用位置已更新。仅内部文档修改不能作为实际使用内容处理完成的证据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页承接第四节的审核点和业务资料维护，不在这里重复定义方法。重点展示适用范围、有效时间、当前版本与历史，审核点经过确认和样例验证后启用，资料由对应负责人确认。变更后识别受影响任务和在用内容，为重新检查提供入口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学员先判断，作者保存新稿后旧请求才返回，这条结果应该放在哪里。结果继续关联发起时的旧版本，页面提示当前已有新稿，不能覆盖新正文或直接拿来批准新版本。只有正文、商品活动、资料、标准和配置等相关条件满足有效性要求时才能按约定复用，依赖关系不确定就重新检查全文，正式结论对应实际提交的版本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六节已经把业务目标、审核点、能力分工和产品流程接起来。最后一节说明先准备什么、按什么顺序实现，以及用什么证据判断是否继续投入。首版的目标仍是三段审核提效，课堂方案需要通过真实材料和工作验证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版先验证审核提效，自动完成某条检查与自动作出整篇通过或拦截决定是不同阶段。后续可以从边界明确的场景评估，但需要完整覆盖、有效依据、质量证据、处置权限、异常承接和恢复人工方式，并得到明确授权。不能直接把系统没有发现问题接成自动发布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课从企业原有审核出发，明确首版目标，串起自检、正式审核和巡检，再把审核要求变成审核点，组合执行能力，落实到产品操作，最后安排实施与验证。课后把方案收成一页，写清先做什么、谁负责、依赖什么、用哪些证据决定下一步。这是项目方案课的成果，不要求提交完整的产品需求文档，后续再深化接入、配置、页面状态和验证后的取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rebuild_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section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rebuild_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section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3400" y="495300"/>
            <a:ext cx="11201400" cy="561975"/>
            <a:chOff x="533400" y="495300"/>
            <a:chExt cx="11201400" cy="561975"/>
          </a:xfrm>
        </p:grpSpPr>
        <p:sp>
          <p:nvSpPr>
            <p:cNvPr id="2" name="Rectangle 2"/>
            <p:cNvSpPr/>
            <p:nvPr/>
          </p:nvSpPr>
          <p:spPr>
            <a:xfrm>
              <a:off x="533400" y="495300"/>
              <a:ext cx="571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4380" y="561975"/>
              <a:ext cx="2596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AI产品项目实战 / 第一次课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047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1491615"/>
            <a:ext cx="3695700" cy="1733550"/>
            <a:chOff x="514350" y="1491615"/>
            <a:chExt cx="3695700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491615"/>
              <a:ext cx="3695700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电商营销内容</a:t>
              </a:r>
              <a:br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审核提效项目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22732" y="4326255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从业务背景，走到产品方案与落地验证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705600" y="1276350"/>
            <a:ext cx="5029200" cy="3562350"/>
            <a:chOff x="6705600" y="1276350"/>
            <a:chExt cx="5029200" cy="3562350"/>
          </a:xfrm>
        </p:grpSpPr>
        <p:sp>
          <p:nvSpPr>
            <p:cNvPr id="14" name="Rectangle 14"/>
            <p:cNvSpPr/>
            <p:nvPr/>
          </p:nvSpPr>
          <p:spPr>
            <a:xfrm>
              <a:off x="6705600" y="1276350"/>
              <a:ext cx="5029200" cy="3562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1428750"/>
              <a:ext cx="4876800" cy="3251168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528066" y="6458902"/>
            <a:ext cx="11212068" cy="205359"/>
            <a:chOff x="528066" y="6458902"/>
            <a:chExt cx="11212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4589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教学模拟：品牌、人物、商品资料与配图。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3980" y="64589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5843016" cy="1338834"/>
            <a:chOff x="515112" y="457200"/>
            <a:chExt cx="5843016" cy="133883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课程地图 / 七节讲义逐节对应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本次课的七节内容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439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从业务背景出发，逐步形成可实施、可验证的项目方案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1914525"/>
            <a:ext cx="11201400" cy="4048125"/>
            <a:chOff x="533400" y="1914525"/>
            <a:chExt cx="11201400" cy="4048125"/>
          </a:xfrm>
        </p:grpSpPr>
        <p:sp>
          <p:nvSpPr>
            <p:cNvPr id="6" name="Line 6"/>
            <p:cNvSpPr/>
            <p:nvPr/>
          </p:nvSpPr>
          <p:spPr>
            <a:xfrm>
              <a:off x="723900" y="2105025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1914525"/>
              <a:ext cx="381000" cy="3924300"/>
              <a:chOff x="533400" y="1914525"/>
              <a:chExt cx="381000" cy="3924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533400" y="19145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533400" y="25050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533400" y="30956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533400" y="36861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533400" y="42767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33400" y="48672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533400" y="54578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605219" y="2009775"/>
              <a:ext cx="237363" cy="3836670"/>
              <a:chOff x="605219" y="2009775"/>
              <a:chExt cx="237363" cy="38366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05219" y="20097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5219" y="26003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5219" y="31908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5219" y="37814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5219" y="43719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5219" y="49625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5219" y="55530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70432" y="1973580"/>
              <a:ext cx="2000250" cy="3866465"/>
              <a:chOff x="1170432" y="1973580"/>
              <a:chExt cx="2000250" cy="386646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170432" y="19735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业务背景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0432" y="25641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项目目标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0432" y="3154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70432" y="37452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审核体系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0432" y="43357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方案选择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0432" y="4926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系统与产品方案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70432" y="5516880"/>
                <a:ext cx="1346522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下一步计划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991356" y="2005965"/>
              <a:ext cx="4622292" cy="3820299"/>
              <a:chOff x="3991356" y="2005965"/>
              <a:chExt cx="4622292" cy="382029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991356" y="20059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原来的审核怎么做，哪些动作在重复？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1356" y="259651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第一版要让谁少做什么，范围到哪里？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1356" y="31870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自检、正式审核、巡检怎样接成闭环？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991356" y="377761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一条业务要求，怎样定义成具体审核点？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991356" y="4368165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规则、模型、人工怎样分工与交接？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91356" y="495871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流程怎样落实到架构、页面、版本与状态？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991356" y="5549265"/>
                <a:ext cx="92333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accent5"/>
                    </a:solidFill>
                  </a:rPr>
                  <a:t>产品规划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181100" y="2409825"/>
              <a:ext cx="10553700" cy="3552825"/>
              <a:chOff x="1181100" y="2409825"/>
              <a:chExt cx="10553700" cy="3552825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1181100" y="24098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1181100" y="30003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1181100" y="35909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81100" y="41814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1181100" y="47720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181100" y="53625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1181100" y="59531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52" name="Group 52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F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321F0-CBD7-6F82-5AE5-6EF8BD8D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6708A6-8400-0910-5A87-C3BB34F1BE0B}"/>
              </a:ext>
            </a:extLst>
          </p:cNvPr>
          <p:cNvGrpSpPr/>
          <p:nvPr/>
        </p:nvGrpSpPr>
        <p:grpSpPr>
          <a:xfrm>
            <a:off x="678180" y="581025"/>
            <a:ext cx="10828020" cy="476250"/>
            <a:chOff x="678180" y="581025"/>
            <a:chExt cx="10828020" cy="476250"/>
          </a:xfrm>
        </p:grpSpPr>
        <p:sp>
          <p:nvSpPr>
            <p:cNvPr id="2" name="TextBox 2">
              <a:extLst>
                <a:ext uri="{FF2B5EF4-FFF2-40B4-BE49-F238E27FC236}">
                  <a16:creationId xmlns:a16="http://schemas.microsoft.com/office/drawing/2014/main" id="{AD3CC9B7-4896-B0E1-3E3E-80640679A014}"/>
                </a:ext>
              </a:extLst>
            </p:cNvPr>
            <p:cNvSpPr txBox="1"/>
            <p:nvPr/>
          </p:nvSpPr>
          <p:spPr>
            <a:xfrm>
              <a:off x="678180" y="581025"/>
              <a:ext cx="302166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AI产品项目实战 / 第一次课 · 第</a:t>
              </a:r>
              <a:r>
                <a:rPr lang="zh-CN" alt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C1353B5D-8333-03FD-99E0-9A2C367D7DD9}"/>
                </a:ext>
              </a:extLst>
            </p:cNvPr>
            <p:cNvSpPr/>
            <p:nvPr/>
          </p:nvSpPr>
          <p:spPr>
            <a:xfrm>
              <a:off x="685800" y="1047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8F810D4-4609-ECB9-E8A1-4D2EA386485B}"/>
              </a:ext>
            </a:extLst>
          </p:cNvPr>
          <p:cNvGrpSpPr/>
          <p:nvPr/>
        </p:nvGrpSpPr>
        <p:grpSpPr>
          <a:xfrm>
            <a:off x="678180" y="3249860"/>
            <a:ext cx="3986213" cy="738664"/>
            <a:chOff x="666750" y="1872615"/>
            <a:chExt cx="3986213" cy="73866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9867EE2-6619-3806-CE17-B31A7D5D2346}"/>
                </a:ext>
              </a:extLst>
            </p:cNvPr>
            <p:cNvSpPr txBox="1"/>
            <p:nvPr/>
          </p:nvSpPr>
          <p:spPr>
            <a:xfrm>
              <a:off x="666750" y="1872615"/>
              <a:ext cx="686085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en-US" alt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0029FD9-AB83-499C-473A-9DEC535AC5A0}"/>
                </a:ext>
              </a:extLst>
            </p:cNvPr>
            <p:cNvSpPr txBox="1"/>
            <p:nvPr/>
          </p:nvSpPr>
          <p:spPr>
            <a:xfrm>
              <a:off x="2190750" y="1872615"/>
              <a:ext cx="2462213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业务背景</a:t>
              </a:r>
              <a:endPara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702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8422538" cy="1384173"/>
            <a:chOff x="515112" y="457200"/>
            <a:chExt cx="8422538" cy="1384173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1.1 原有审核方式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企业原来是怎样审核营销内容的？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430655"/>
              <a:ext cx="84149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小周按日常计划写P1推广，小林人工阅读，逐句对照业务资料。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1208" y="2158365"/>
            <a:ext cx="2679192" cy="1923669"/>
            <a:chOff x="521208" y="2158365"/>
            <a:chExt cx="2679192" cy="1923669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215836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内容作者 / 小周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2552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1208" y="27508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写稿、自查、修改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329940"/>
              <a:ext cx="2075688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整理正文及相关资料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收到意见后修改重提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43300" y="2095500"/>
            <a:ext cx="3619500" cy="3067050"/>
            <a:chOff x="3543300" y="2095500"/>
            <a:chExt cx="3619500" cy="3067050"/>
          </a:xfrm>
        </p:grpSpPr>
        <p:sp>
          <p:nvSpPr>
            <p:cNvPr id="11" name="Rectangle 11"/>
            <p:cNvSpPr/>
            <p:nvPr/>
          </p:nvSpPr>
          <p:spPr>
            <a:xfrm>
              <a:off x="3543300" y="2095500"/>
              <a:ext cx="3619500" cy="3067050"/>
            </a:xfrm>
            <a:prstGeom prst="roundRect">
              <a:avLst>
                <a:gd name="adj" fmla="val 24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0856" y="2253615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小林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97808" y="2760345"/>
              <a:ext cx="2589276" cy="9837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读原句 → 找依据</a:t>
              </a:r>
              <a:br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核对、反馈、复核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0856" y="3958590"/>
              <a:ext cx="27614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判断表述是否有据可依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说明问题，并核对修改结果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2182" y="2158365"/>
            <a:ext cx="4182618" cy="2907030"/>
            <a:chOff x="7552182" y="2158365"/>
            <a:chExt cx="4182618" cy="2907030"/>
          </a:xfrm>
        </p:grpSpPr>
        <p:sp>
          <p:nvSpPr>
            <p:cNvPr id="16" name="TextBox 16"/>
            <p:cNvSpPr txBox="1"/>
            <p:nvPr/>
          </p:nvSpPr>
          <p:spPr>
            <a:xfrm>
              <a:off x="7553706" y="21583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业务资料负责人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562850" y="255270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27832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产品负责人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11106" y="2815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确认商品事实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2182" y="34309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1106" y="3463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确认价格赠品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2182" y="40786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履约负责人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11106" y="4110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确认配送承诺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0" y="47720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缺少或冲突的事实，回到责任人确认。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2732" y="5467350"/>
            <a:ext cx="11212068" cy="864870"/>
            <a:chOff x="522732" y="5467350"/>
            <a:chExt cx="11212068" cy="864870"/>
          </a:xfrm>
        </p:grpSpPr>
        <p:sp>
          <p:nvSpPr>
            <p:cNvPr id="26" name="Line 26"/>
            <p:cNvSpPr/>
            <p:nvPr/>
          </p:nvSpPr>
          <p:spPr>
            <a:xfrm>
              <a:off x="533400" y="54673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732" y="56311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定稿之后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19706" y="5663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内容负责人维护实际使用的版本和位置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80" y="6038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原有审核的基础：人工阅读、资料对照、责任人确认。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7790688" cy="1357884"/>
            <a:chOff x="515112" y="457200"/>
            <a:chExt cx="7790688" cy="135788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1.2 现有审核流程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一篇文案，怎样走完现有审核流程？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63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以下展示需要修改的一轮：从作者提交，到审核复核，再到定稿使用。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2171700"/>
            <a:ext cx="11201400" cy="1703070"/>
            <a:chOff x="533400" y="2171700"/>
            <a:chExt cx="11201400" cy="1703070"/>
          </a:xfrm>
        </p:grpSpPr>
        <p:sp>
          <p:nvSpPr>
            <p:cNvPr id="6" name="Line 6"/>
            <p:cNvSpPr/>
            <p:nvPr/>
          </p:nvSpPr>
          <p:spPr>
            <a:xfrm>
              <a:off x="1257300" y="29718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2562225"/>
              <a:ext cx="11201400" cy="819150"/>
              <a:chOff x="533400" y="2562225"/>
              <a:chExt cx="11201400" cy="819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1621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7909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41972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0485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6772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03060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11054" y="2171700"/>
              <a:ext cx="10747057" cy="293370"/>
              <a:chOff x="811054" y="2171700"/>
              <a:chExt cx="10747057" cy="2933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110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/ 作者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39829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/ 作者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676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/ 审核员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9641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/ 审核员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261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 / 作者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5396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 / 审核员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827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 / 责任人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71703" y="2840355"/>
              <a:ext cx="10924794" cy="410718"/>
              <a:chOff x="671703" y="2840355"/>
              <a:chExt cx="10924794" cy="4107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717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撰写自查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004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提交材料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292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对照核对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5802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反馈意见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868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修改重提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155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逐项复核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443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定稿使用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6295" y="3581400"/>
              <a:ext cx="10696575" cy="293370"/>
              <a:chOff x="836295" y="3581400"/>
              <a:chExt cx="10696575" cy="29337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6295" y="35814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形成初稿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641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正文与资料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28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原句与依据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2165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指出怎么改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5043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提交新版本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792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确认已解决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5079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按计划使用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3790950" y="4305300"/>
            <a:ext cx="6315075" cy="822198"/>
            <a:chOff x="3790950" y="4305300"/>
            <a:chExt cx="6315075" cy="822198"/>
          </a:xfrm>
        </p:grpSpPr>
        <p:sp>
          <p:nvSpPr>
            <p:cNvPr id="40" name="Rectangle 40"/>
            <p:cNvSpPr/>
            <p:nvPr/>
          </p:nvSpPr>
          <p:spPr>
            <a:xfrm>
              <a:off x="3790950" y="4305300"/>
              <a:ext cx="6315075" cy="78105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69080" y="4448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修改与复核回路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66032" y="471678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问题未解决，继续反馈、修改与复核。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4256" y="5586603"/>
            <a:ext cx="11210544" cy="919734"/>
            <a:chOff x="524256" y="5391150"/>
            <a:chExt cx="11210544" cy="919734"/>
          </a:xfrm>
        </p:grpSpPr>
        <p:sp>
          <p:nvSpPr>
            <p:cNvPr id="44" name="Line 44"/>
            <p:cNvSpPr/>
            <p:nvPr/>
          </p:nvSpPr>
          <p:spPr>
            <a:xfrm>
              <a:off x="533400" y="53911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4256" y="55587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没有待处理事项时，可按既定权限定稿；通过结论必须对应明确版本。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4256" y="5958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内容负责人继续维护：哪个版本，正在什么位置使用。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5852160" cy="1058418"/>
            <a:chOff x="515112" y="457200"/>
            <a:chExt cx="585216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1.3 人工核对动作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跟着小林，走一次人工核对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5112" y="1752600"/>
            <a:ext cx="3814831" cy="1886522"/>
            <a:chOff x="515112" y="1752600"/>
            <a:chExt cx="3814831" cy="1886522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752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待审原句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2188845"/>
              <a:ext cx="3808735" cy="1292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400" dirty="0">
                  <a:solidFill>
                    <a:schemeClr val="dk1"/>
                  </a:solidFill>
                </a:rPr>
                <a:t>养猫人下班还要追着猫毛跑？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r>
                <a:rPr lang="zh-CN" altLang="en-US" sz="1400" dirty="0">
                  <a:solidFill>
                    <a:schemeClr val="dk1"/>
                  </a:solidFill>
                </a:rPr>
                <a:t>看净小伴</a:t>
              </a:r>
              <a:r>
                <a:rPr lang="en" altLang="zh-CN" sz="1400" dirty="0">
                  <a:solidFill>
                    <a:schemeClr val="dk1"/>
                  </a:solidFill>
                </a:rPr>
                <a:t>P1</a:t>
              </a:r>
              <a:r>
                <a:rPr lang="zh-CN" altLang="en" sz="1400" dirty="0">
                  <a:solidFill>
                    <a:schemeClr val="dk1"/>
                  </a:solidFill>
                </a:rPr>
                <a:t>，</a:t>
              </a:r>
              <a:r>
                <a:rPr lang="zh-CN" altLang="en-US" sz="1400" dirty="0">
                  <a:solidFill>
                    <a:schemeClr val="dk1"/>
                  </a:solidFill>
                </a:rPr>
                <a:t>最高</a:t>
              </a:r>
              <a:r>
                <a:rPr lang="en-US" altLang="zh-CN" sz="1400" dirty="0">
                  <a:solidFill>
                    <a:schemeClr val="dk1"/>
                  </a:solidFill>
                </a:rPr>
                <a:t>12000</a:t>
              </a:r>
              <a:r>
                <a:rPr lang="en" altLang="zh-CN" sz="1400" dirty="0">
                  <a:solidFill>
                    <a:schemeClr val="dk1"/>
                  </a:solidFill>
                </a:rPr>
                <a:t>Pa</a:t>
              </a:r>
              <a:r>
                <a:rPr lang="zh-CN" altLang="en-US" sz="1400" dirty="0">
                  <a:solidFill>
                    <a:schemeClr val="dk1"/>
                  </a:solidFill>
                </a:rPr>
                <a:t>吸力，清扫交给它，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r>
                <a:rPr lang="zh-CN" altLang="en-US" sz="1400" dirty="0">
                  <a:solidFill>
                    <a:schemeClr val="dk1"/>
                  </a:solidFill>
                </a:rPr>
                <a:t>自己少弯腰。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r>
                <a:rPr lang="zh-CN" altLang="en-US" sz="1400" dirty="0">
                  <a:solidFill>
                    <a:schemeClr val="dk1"/>
                  </a:solidFill>
                </a:rPr>
                <a:t>本次活动到手</a:t>
              </a:r>
              <a:r>
                <a:rPr lang="en-US" altLang="zh-CN" sz="1400" dirty="0">
                  <a:solidFill>
                    <a:schemeClr val="dk1"/>
                  </a:solidFill>
                </a:rPr>
                <a:t>1799</a:t>
              </a:r>
              <a:r>
                <a:rPr lang="zh-CN" altLang="en-US" sz="1400" dirty="0">
                  <a:solidFill>
                    <a:schemeClr val="dk1"/>
                  </a:solidFill>
                </a:rPr>
                <a:t>元，人人同价！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r>
                <a:rPr lang="en-US" altLang="zh-CN" sz="1400" dirty="0">
                  <a:solidFill>
                    <a:schemeClr val="dk1"/>
                  </a:solidFill>
                </a:rPr>
                <a:t>65℃</a:t>
              </a:r>
              <a:r>
                <a:rPr lang="zh-CN" altLang="en-US" sz="1400" dirty="0">
                  <a:solidFill>
                    <a:schemeClr val="dk1"/>
                  </a:solidFill>
                </a:rPr>
                <a:t>热水直接拖地，电线袜子都能自动躲开。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r>
                <a:rPr lang="zh-CN" altLang="en-US" sz="1400" dirty="0">
                  <a:solidFill>
                    <a:schemeClr val="dk1"/>
                  </a:solidFill>
                </a:rPr>
                <a:t>下单就送宠物清洁包，明天送到家。</a:t>
              </a:r>
              <a:endParaRPr 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15112" y="3629597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762500" y="1666875"/>
            <a:ext cx="6972300" cy="2133600"/>
            <a:chOff x="4762500" y="1666875"/>
            <a:chExt cx="6972300" cy="2133600"/>
          </a:xfrm>
        </p:grpSpPr>
        <p:sp>
          <p:nvSpPr>
            <p:cNvPr id="10" name="Rectangle 10"/>
            <p:cNvSpPr/>
            <p:nvPr/>
          </p:nvSpPr>
          <p:spPr>
            <a:xfrm>
              <a:off x="4762500" y="1666875"/>
              <a:ext cx="6972300" cy="21336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83480" y="1809750"/>
              <a:ext cx="42074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当前活动资料 / F-PROMO-01 v1 · 教学给定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0432" y="2192655"/>
              <a:ext cx="3511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2399 → 1999 → 1799元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81956" y="2634615"/>
              <a:ext cx="478459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先领取并使用400元活动券，享1999元；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新会员再领取并使用200元专享券，享1799元。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83480" y="3448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仅本次活动适用期内有效。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2732" y="4229100"/>
            <a:ext cx="11212068" cy="881634"/>
            <a:chOff x="522732" y="4229100"/>
            <a:chExt cx="11212068" cy="881634"/>
          </a:xfrm>
        </p:grpSpPr>
        <p:sp>
          <p:nvSpPr>
            <p:cNvPr id="16" name="Line 16"/>
            <p:cNvSpPr/>
            <p:nvPr/>
          </p:nvSpPr>
          <p:spPr>
            <a:xfrm>
              <a:off x="1733550" y="4429125"/>
              <a:ext cx="8505825" cy="9525"/>
            </a:xfrm>
            <a:custGeom>
              <a:avLst/>
              <a:gdLst/>
              <a:ahLst/>
              <a:cxnLst/>
              <a:rect l="l" t="t" r="r" b="b"/>
              <a:pathLst>
                <a:path w="8505825" h="9525">
                  <a:moveTo>
                    <a:pt x="0" y="0"/>
                  </a:moveTo>
                  <a:lnTo>
                    <a:pt x="850582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33400" y="4229100"/>
              <a:ext cx="11201400" cy="400050"/>
              <a:chOff x="533400" y="4229100"/>
              <a:chExt cx="11201400" cy="4000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4229100"/>
                <a:ext cx="20574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3337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198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9639300" y="4229100"/>
                <a:ext cx="20955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522732" y="4297680"/>
              <a:ext cx="10390914" cy="410718"/>
              <a:chOff x="522732" y="4297680"/>
              <a:chExt cx="10390914" cy="41071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227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读原句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23082" y="4297680"/>
                <a:ext cx="18504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找当前资料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09182" y="4297680"/>
                <a:ext cx="15677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核对条件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6286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写反馈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24256" y="47586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读完一句话，还要完成资料定位、条件比对与修改说明。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5295900"/>
            <a:ext cx="8198743" cy="1074420"/>
            <a:chOff x="533400" y="5295900"/>
            <a:chExt cx="8198743" cy="1074420"/>
          </a:xfrm>
        </p:grpSpPr>
        <p:sp>
          <p:nvSpPr>
            <p:cNvPr id="29" name="Rectangle 29"/>
            <p:cNvSpPr/>
            <p:nvPr/>
          </p:nvSpPr>
          <p:spPr>
            <a:xfrm>
              <a:off x="533400" y="5295900"/>
              <a:ext cx="5715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4380" y="54102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可执行的审核意见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726430"/>
              <a:ext cx="79808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补齐新会员资格、两类券的领取与使用条件，删除“人人同价”。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4380" y="60293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这里只演示价格核对，不代表其余审核项或整篇已完成。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7790688" cy="1058418"/>
            <a:chOff x="515112" y="457200"/>
            <a:chExt cx="7790688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1.4 痛点归纳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审核提效需求，来自哪些具体痛点？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256" y="1783080"/>
            <a:ext cx="11210544" cy="755904"/>
            <a:chOff x="524256" y="1783080"/>
            <a:chExt cx="11210544" cy="755904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8059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6132" y="1783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查找资料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24606" y="18154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一会儿看正文，一会儿翻商品、活动和配送资料。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24606" y="21869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没有明显错误的句子，也需要找到依据后才能确认。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514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24256" y="2792730"/>
            <a:ext cx="11210544" cy="755904"/>
            <a:chOff x="524256" y="2792730"/>
            <a:chExt cx="11210544" cy="755904"/>
          </a:xfrm>
        </p:grpSpPr>
        <p:sp>
          <p:nvSpPr>
            <p:cNvPr id="11" name="TextBox 11"/>
            <p:cNvSpPr txBox="1"/>
            <p:nvPr/>
          </p:nvSpPr>
          <p:spPr>
            <a:xfrm>
              <a:off x="524256" y="28155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6132" y="27927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解释往返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4606" y="2825115"/>
              <a:ext cx="5518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“价格补条件” → 作者改成“领券1799” → 还要再改。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4606" y="31965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作者没收到完整条件，仍漏了新会员资格与两类券。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524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4256" y="3802380"/>
            <a:ext cx="11210544" cy="755904"/>
            <a:chOff x="524256" y="3802380"/>
            <a:chExt cx="11210544" cy="755904"/>
          </a:xfrm>
        </p:grpSpPr>
        <p:sp>
          <p:nvSpPr>
            <p:cNvPr id="17" name="TextBox 17"/>
            <p:cNvSpPr txBox="1"/>
            <p:nvPr/>
          </p:nvSpPr>
          <p:spPr>
            <a:xfrm>
              <a:off x="524256" y="38252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32" y="38023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版本复核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4606" y="3834765"/>
              <a:ext cx="634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作者说“已修改”，小林还要重新找旧意见、新原句和依据。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4606" y="42062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确认原问题已解决，还要核对这一版的其他改动。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33400" y="45339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24256" y="4812030"/>
            <a:ext cx="11210544" cy="755904"/>
            <a:chOff x="524256" y="4812030"/>
            <a:chExt cx="11210544" cy="755904"/>
          </a:xfrm>
        </p:grpSpPr>
        <p:sp>
          <p:nvSpPr>
            <p:cNvPr id="23" name="TextBox 23"/>
            <p:cNvSpPr txBox="1"/>
            <p:nvPr/>
          </p:nvSpPr>
          <p:spPr>
            <a:xfrm>
              <a:off x="524256" y="4834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132" y="4812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4606" y="484441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活动负责人确认赠品名额用完，还得找到相关在用内容和维护人。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4606" y="52158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停用内容、其他活动、只讲功能的内容，不能一律修改。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55435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581025"/>
            <a:ext cx="10835640" cy="476250"/>
            <a:chOff x="678180" y="581025"/>
            <a:chExt cx="10835640" cy="476250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581025"/>
              <a:ext cx="3494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AI产品项目实战 / 第一次课 · 第二节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477500" y="581025"/>
              <a:ext cx="1190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约15分钟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47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8180" y="2686050"/>
            <a:ext cx="4146804" cy="933450"/>
            <a:chOff x="666750" y="1872615"/>
            <a:chExt cx="4146804" cy="9334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87261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90750" y="18726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项目目标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180" y="5105400"/>
            <a:ext cx="10828020" cy="872109"/>
            <a:chOff x="678180" y="5105400"/>
            <a:chExt cx="10828020" cy="872109"/>
          </a:xfrm>
        </p:grpSpPr>
        <p:sp>
          <p:nvSpPr>
            <p:cNvPr id="12" name="TextBox 12"/>
            <p:cNvSpPr txBox="1"/>
            <p:nvPr/>
          </p:nvSpPr>
          <p:spPr>
            <a:xfrm>
              <a:off x="678180" y="51054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承接与下一步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95450" y="5743575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838700" y="5495925"/>
              <a:ext cx="25336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97255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8922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业务背景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33647" y="562546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项目目标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7597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业务方案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6896542" cy="1058418"/>
            <a:chOff x="515112" y="457200"/>
            <a:chExt cx="6896542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2.1 工作目标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8965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把“智能审核”变成三个具体目标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5780" y="1651254"/>
            <a:ext cx="7837246" cy="1150620"/>
            <a:chOff x="542925" y="2076450"/>
            <a:chExt cx="7837246" cy="1150620"/>
          </a:xfrm>
        </p:grpSpPr>
        <p:sp>
          <p:nvSpPr>
            <p:cNvPr id="6" name="Ellipse 6"/>
            <p:cNvSpPr/>
            <p:nvPr/>
          </p:nvSpPr>
          <p:spPr>
            <a:xfrm>
              <a:off x="542925" y="20764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269" y="21964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4732" y="21545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让适用依据来到待核对的原句旁边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6256" y="2577465"/>
              <a:ext cx="7093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小林核对1799元时，直接看到本次活动的价格、资格和用券条件。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780" y="29337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减少查找与定位；依据是否正确、适用，仍需确认。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2925" y="3438525"/>
            <a:ext cx="8031099" cy="1150620"/>
            <a:chOff x="542925" y="3438525"/>
            <a:chExt cx="8031099" cy="1150620"/>
          </a:xfrm>
        </p:grpSpPr>
        <p:sp>
          <p:nvSpPr>
            <p:cNvPr id="12" name="Ellipse 12"/>
            <p:cNvSpPr/>
            <p:nvPr/>
          </p:nvSpPr>
          <p:spPr>
            <a:xfrm>
              <a:off x="542925" y="3438525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5269" y="3558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4732" y="351663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让意见更具体，让修改与复核接得上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6256" y="39395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说清新会员与两类券条件；新稿能对照旧意见，也能看见其他改动。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7780" y="42957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减少作者与审核员反复解释，以及复核时重新拼接信息。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2925" y="5065014"/>
            <a:ext cx="9000363" cy="1150620"/>
            <a:chOff x="542925" y="4800600"/>
            <a:chExt cx="9000363" cy="1150620"/>
          </a:xfrm>
        </p:grpSpPr>
        <p:sp>
          <p:nvSpPr>
            <p:cNvPr id="18" name="Ellipse 18"/>
            <p:cNvSpPr/>
            <p:nvPr/>
          </p:nvSpPr>
          <p:spPr>
            <a:xfrm>
              <a:off x="542925" y="480060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5269" y="4920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4732" y="487870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条件变化后，找对需要复查的在用内容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6256" y="5301615"/>
              <a:ext cx="8257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赠品条件变了，按本次活动、使用状态和内容表达确认范围，交负责人处理。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7780" y="56578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减少范围定位和找维护人的劳动，让后续处理有人承接。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4039567" cy="839078"/>
            <a:chOff x="515112" y="457200"/>
            <a:chExt cx="4039567" cy="83907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743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2.2 首版范围与责任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403956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第一版做到</a:t>
              </a:r>
              <a:r>
                <a:rPr lang="zh-CN" altLang="en-US" sz="3150" b="1" dirty="0">
                  <a:solidFill>
                    <a:schemeClr val="dk1"/>
                  </a:solidFill>
                </a:rPr>
                <a:t>什么程度？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D0AE4FA0-91CA-1B24-B6FB-3EC9990C43CE}"/>
              </a:ext>
            </a:extLst>
          </p:cNvPr>
          <p:cNvSpPr txBox="1"/>
          <p:nvPr/>
        </p:nvSpPr>
        <p:spPr>
          <a:xfrm>
            <a:off x="2253294" y="3192046"/>
            <a:ext cx="2821285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自动化审核</a:t>
            </a:r>
            <a:endParaRPr lang="zh-CN" sz="44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6FD35CC2-3821-1503-07AB-1B0C6238C1F9}"/>
              </a:ext>
            </a:extLst>
          </p:cNvPr>
          <p:cNvSpPr txBox="1"/>
          <p:nvPr/>
        </p:nvSpPr>
        <p:spPr>
          <a:xfrm>
            <a:off x="6916228" y="3192046"/>
            <a:ext cx="2257028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审核提效</a:t>
            </a:r>
            <a:endParaRPr lang="zh-CN" sz="44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TextBox 3">
            <a:extLst>
              <a:ext uri="{FF2B5EF4-FFF2-40B4-BE49-F238E27FC236}">
                <a16:creationId xmlns:a16="http://schemas.microsoft.com/office/drawing/2014/main" id="{3316A2E6-288E-B816-D14C-EBF72EA52418}"/>
              </a:ext>
            </a:extLst>
          </p:cNvPr>
          <p:cNvSpPr txBox="1"/>
          <p:nvPr/>
        </p:nvSpPr>
        <p:spPr>
          <a:xfrm>
            <a:off x="5692436" y="3288226"/>
            <a:ext cx="605935" cy="484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OR</a:t>
            </a:r>
            <a:endParaRPr lang="zh-CN" sz="31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3148251" cy="839078"/>
            <a:chOff x="515112" y="457200"/>
            <a:chExt cx="3148251" cy="83907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2.3 提效判断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242374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如何衡量结果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D56654A1-0BC8-7660-ED06-E1492FA9037B}"/>
              </a:ext>
            </a:extLst>
          </p:cNvPr>
          <p:cNvSpPr txBox="1"/>
          <p:nvPr/>
        </p:nvSpPr>
        <p:spPr>
          <a:xfrm>
            <a:off x="2253294" y="3192046"/>
            <a:ext cx="2821285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审核准确率</a:t>
            </a:r>
            <a:endParaRPr lang="zh-CN" sz="44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8C1CDAC2-2EC2-047D-F748-2D4C72CB8FD8}"/>
              </a:ext>
            </a:extLst>
          </p:cNvPr>
          <p:cNvSpPr txBox="1"/>
          <p:nvPr/>
        </p:nvSpPr>
        <p:spPr>
          <a:xfrm>
            <a:off x="6916228" y="3192046"/>
            <a:ext cx="2257028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审核时长</a:t>
            </a:r>
            <a:endParaRPr lang="zh-CN" sz="44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3D40AE75-C3CF-D111-783D-D2243B681174}"/>
              </a:ext>
            </a:extLst>
          </p:cNvPr>
          <p:cNvSpPr txBox="1"/>
          <p:nvPr/>
        </p:nvSpPr>
        <p:spPr>
          <a:xfrm>
            <a:off x="5692436" y="3288226"/>
            <a:ext cx="605935" cy="484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OR</a:t>
            </a:r>
            <a:endParaRPr lang="zh-CN" sz="31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" name="TextBox 2">
            <a:extLst>
              <a:ext uri="{FF2B5EF4-FFF2-40B4-BE49-F238E27FC236}">
                <a16:creationId xmlns:a16="http://schemas.microsoft.com/office/drawing/2014/main" id="{761F7D14-5658-6CA4-B8EF-0D01727C9872}"/>
              </a:ext>
            </a:extLst>
          </p:cNvPr>
          <p:cNvSpPr txBox="1"/>
          <p:nvPr/>
        </p:nvSpPr>
        <p:spPr>
          <a:xfrm>
            <a:off x="4527208" y="5120640"/>
            <a:ext cx="134652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确认没问题么？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46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580" y="523875"/>
            <a:ext cx="20850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第一次课 / 第三节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8784" y="2842193"/>
            <a:ext cx="262280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业务方案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B22C4B1-31A9-735A-A0CA-4E1FBFAF78ED}"/>
              </a:ext>
            </a:extLst>
          </p:cNvPr>
          <p:cNvSpPr txBox="1"/>
          <p:nvPr/>
        </p:nvSpPr>
        <p:spPr>
          <a:xfrm>
            <a:off x="743197" y="2842193"/>
            <a:ext cx="68608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3</a:t>
            </a:r>
            <a:endParaRPr lang="zh-CN" sz="48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三个环节总览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自检、审核、巡检，各自负责什么？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事前 / 作者触发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先查、先改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带说明进入正式审核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事中 / 审核人员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正式审核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核对、退回、复核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作出正式审核决定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事后 / 条件发生变化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选范围、确认、处置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跟到实际使用更新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自检提前准备，审核正式确认，巡检跟进更新。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3.1 事前自检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事前自检：提交前发现问题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 / 提交前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绑定商品与活动
选用有效资料</a:t>
              </a:r>
              <a:br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系统辅助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查看原句依据
修改已确认项</a:t>
              </a:r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提交 / 审核人员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提交当前稿件
附依据与待确认项</a:t>
              </a:r>
              <a:br/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自检帮助提前准备；正式决定由审核人员作出。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3.2 事中审核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事中审核：确认问题与修改结果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看当前文案与资料
确认提示是否成立</a:t>
              </a:r>
              <a:br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 / 收到意见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按确认意见改稿
提交新的版本</a:t>
              </a:r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收到新稿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核实问题是否解决
作正式审核决定</a:t>
              </a:r>
              <a:br/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修改后需复核，正式结论对应明确版本。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3.3 事后巡检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事后巡检：变化后维护在用内容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负责人 / 变化后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圈定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确认业务变化
找到相关在用内容</a:t>
              </a:r>
              <a:br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审核员 / 巡检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核对当前表达
确认受影响问题</a:t>
              </a:r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内容负责人 / 待处理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修改或暂停并复核
确认实际使用更新</a:t>
              </a:r>
              <a:br/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巡检跟到实际更新；原审核记录继续保留。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580" y="523875"/>
            <a:ext cx="20850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第一次课 / 第四节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0413" y="2842193"/>
            <a:ext cx="262280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审核体系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D18084FD-E212-62DB-C3A5-C82815F52BDB}"/>
              </a:ext>
            </a:extLst>
          </p:cNvPr>
          <p:cNvSpPr txBox="1"/>
          <p:nvPr/>
        </p:nvSpPr>
        <p:spPr>
          <a:xfrm>
            <a:off x="743197" y="2842193"/>
            <a:ext cx="68608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4800" dirty="0">
                <a:solidFill>
                  <a:schemeClr val="accent3"/>
                </a:solidFill>
              </a:rPr>
              <a:t>4</a:t>
            </a:r>
            <a:endParaRPr lang="zh-CN" sz="48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4.1 三类信息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审核要求、审核点、业务资料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提出业务方向
商品宣传真实准确</a:t>
              </a:r>
              <a:br/>
              <a:br/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定义检查任务
查温度对应的功能
是否与资料一致</a:t>
              </a:r>
              <a:br/>
              <a:br/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提供当前事实
P1的65℃用于
基站热水洗拖布</a:t>
              </a:r>
              <a:br/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同一审核点可复用；不同商品与活动，关联各自有效资料。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业务负责人确认审核标准与事实，系统按适用条件选用。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从要求生成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把业务要求，拆成能判断的任务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 / 给出要求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商品宣传真实准确
明确希望控制的问题</a:t>
              </a:r>
              <a:br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产品与审核员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找出具体主张
温度描述什么功能</a:t>
              </a:r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 / 审核点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形成温度对象核对
补齐适用条件与边界</a:t>
              </a:r>
              <a:br/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AI可辅助起草，业务确认并通过样例验证后启用。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703418" cy="1038035"/>
            <a:chOff x="441198" y="428625"/>
            <a:chExt cx="670341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审核点卡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一条审核点，至少说清六件事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733550"/>
            <a:ext cx="11277600" cy="3536823"/>
            <a:chOff x="457200" y="1733550"/>
            <a:chExt cx="11277600" cy="3536823"/>
          </a:xfrm>
        </p:grpSpPr>
        <p:sp>
          <p:nvSpPr>
            <p:cNvPr id="5" name="Rectangle 5"/>
            <p:cNvSpPr/>
            <p:nvPr/>
          </p:nvSpPr>
          <p:spPr>
            <a:xfrm>
              <a:off x="457200" y="1733550"/>
              <a:ext cx="11277600" cy="3476625"/>
            </a:xfrm>
            <a:prstGeom prst="roundRect">
              <a:avLst>
                <a:gd name="adj" fmla="val 32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195834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R01 v1 / 温度与功能对象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13232" y="2430780"/>
              <a:ext cx="7371588" cy="2839593"/>
              <a:chOff x="713232" y="2430780"/>
              <a:chExt cx="7371588" cy="283959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13232" y="2430780"/>
                <a:ext cx="62407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查什么：文案中温度描述的功能对象。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3232" y="2916555"/>
                <a:ext cx="512917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何时查：P1文案出现温度表达。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3232" y="3402330"/>
                <a:ext cx="652348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依什么：绑定SKU、完整文案、有效商品资料。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3232" y="3888105"/>
                <a:ext cx="67072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怎样判：识别功能对象，再与商品资料比较。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13232" y="4373880"/>
                <a:ext cx="73715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边界：无温度不适用；对象不清或资料冲突需确认。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3232" y="4859655"/>
                <a:ext cx="708888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谁处理：作者修改，产品负责人确认，审核员复核。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15" name="Rectangle 15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3232" y="573595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审核点说明判断方法，业务资料提供当前事实。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551524" cy="1038035"/>
            <a:chOff x="441198" y="428625"/>
            <a:chExt cx="7551524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4.2 样例验证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5515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用四类样例，验证边界是否清楚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809750"/>
            <a:ext cx="11277600" cy="857250"/>
            <a:chOff x="457200" y="1809750"/>
            <a:chExt cx="11277600" cy="85725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11277600" cy="8572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2087880"/>
              <a:ext cx="97740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输入：完整文案＋SKU＋有效商品资料；对象不清或依据冲突，交人确认。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6532" y="3116580"/>
            <a:ext cx="5647106" cy="410718"/>
            <a:chOff x="446532" y="3116580"/>
            <a:chExt cx="5647106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116580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“65℃热水直接拖地” → 对象不一致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3869055"/>
            <a:ext cx="5647106" cy="410718"/>
            <a:chOff x="446532" y="3869055"/>
            <a:chExt cx="5647106" cy="410718"/>
          </a:xfrm>
        </p:grpSpPr>
        <p:sp>
          <p:nvSpPr>
            <p:cNvPr id="10" name="TextBox 10"/>
            <p:cNvSpPr txBox="1"/>
            <p:nvPr/>
          </p:nvSpPr>
          <p:spPr>
            <a:xfrm>
              <a:off x="446532" y="3869055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“基站65℃热水洗拖布” → 有依据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532" y="4621530"/>
            <a:ext cx="6495212" cy="410718"/>
            <a:chOff x="446532" y="4621530"/>
            <a:chExt cx="6495212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446532" y="4621530"/>
              <a:ext cx="64952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“65℃深度清洁” → 看全文，仍不清则确认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6532" y="5374005"/>
            <a:ext cx="7159562" cy="739140"/>
            <a:chOff x="446532" y="5374005"/>
            <a:chExt cx="7159562" cy="739140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5374005"/>
              <a:ext cx="7159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“基站热水洗拖布” → 未提温度，本项不适用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580" y="5819775"/>
              <a:ext cx="5598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仍可进行对应的商品功能核对，不能因为没写65℃就要求补写。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6" name="Group 26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4.3 管理与更新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审核点和业务资料怎样管理？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业务起草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确认与试跑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审核后启用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变更与停用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审核员整理要求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业务确认＋样例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绑定场景与版本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新版本重测发布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编号、版本、状态、负责人、范围、生效时间。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资料按SKU、活动与时间维护；变更新建版本，历史引用保留。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第四节 / 4.4 匹配标准与资料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怎样匹配标准与资料？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任务上下文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SKU＋活动＋场景＋环节＋时间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作者选择或系统带入，缺项补齐。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 → 审核方案 → 启用审核点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保留必查项，逐项判断是否适用。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业务资料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SKU关联商品资料，活动关联权益方案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按适用时间取有效资料；缺失或冲突交人确认。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先限定资料范围，再定位相关段落；少量资料直接提供，长文档可做范围内检索。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580" y="523875"/>
            <a:ext cx="20850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第一次课 / 第五节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2505" y="2842193"/>
            <a:ext cx="262280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方案选择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F9207C0-CAB1-453E-3677-0EFDFF01FD07}"/>
              </a:ext>
            </a:extLst>
          </p:cNvPr>
          <p:cNvSpPr txBox="1"/>
          <p:nvPr/>
        </p:nvSpPr>
        <p:spPr>
          <a:xfrm>
            <a:off x="743197" y="2842193"/>
            <a:ext cx="68608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5</a:t>
            </a:r>
            <a:endParaRPr lang="zh-CN" sz="48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5.1 方式与适用场景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规则、模型、人工，各负责什么？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规则程序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条件明确、便于核对
资料与适用时间
金额计算、引用校验</a:t>
              </a:r>
              <a:br/>
              <a:br/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模型辅助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理解自然语言
识别对象与条件
结合上下文比较</a:t>
              </a:r>
              <a:br/>
              <a:br/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确认业务事实
处理冲突与争议
正式决定和处置</a:t>
              </a:r>
              <a:br/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混合审核：按任务组合；一条审核点可由多种能力接力。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按输入特点、可核对性与维护成本选择，组合效果还需验证。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系统调用总流程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按审核点，组织系统执行链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读取任务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按点执行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校验与合并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人工接手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上下文＋审核点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读取已确认配置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原句与引用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确认、修改与复核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每条审核点都有执行方式、输入、输出和失败出口。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先匹配有效标准与资料，再读取执行配置；执行记录关联任务和各项版本。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第五节 / 5.2 价格审核接力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一条价格审核点，怎样分工接力？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 / 备料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取有效活动资料
核算优惠路径</a:t>
              </a:r>
              <a:br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模型 / 理解文案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识别人群与条件
对照资料找缺项</a:t>
              </a:r>
              <a:br/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程序校验 / 人工确认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校验原句与引用
人工确认修改意见</a:t>
              </a:r>
              <a:br/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8101584" cy="2858262"/>
            <a:chOff x="445008" y="3381375"/>
            <a:chExt cx="8101584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金额成立，还要检查人群与两类券条件。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580" y="523875"/>
            <a:ext cx="20850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第一次课 / 第六节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77764" y="2842193"/>
            <a:ext cx="262280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产品方案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4642515F-C036-9EBE-B859-DBCCD6F0372D}"/>
              </a:ext>
            </a:extLst>
          </p:cNvPr>
          <p:cNvSpPr txBox="1"/>
          <p:nvPr/>
        </p:nvSpPr>
        <p:spPr>
          <a:xfrm>
            <a:off x="743197" y="2842193"/>
            <a:ext cx="68608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4800" dirty="0">
                <a:solidFill>
                  <a:schemeClr val="accent3"/>
                </a:solidFill>
              </a:rPr>
              <a:t>6</a:t>
            </a:r>
            <a:endParaRPr lang="zh-CN" sz="48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3789616" cy="906706"/>
            <a:chOff x="441198" y="428625"/>
            <a:chExt cx="3789616" cy="906706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系统分层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2019784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系统分三层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业务应用层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 / 正式审核 / 巡检 / 权限与记录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承接提交、修改、确认和处理跟踪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审核能力层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匹配审核点 → 执行 → 校验与合并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复用第五节的执行链，服务三个业务环节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模型与资料层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模型能力＋经过确认的有效业务资料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商品、活动、赠品、配送，保留所用版本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三层是职责划分；首版可接入现有内容系统，先按明确工作流实现。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自检流程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自检：作者点击后，系统怎样接住？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724025"/>
            <a:ext cx="11277600" cy="809625"/>
            <a:chOff x="457200" y="1724025"/>
            <a:chExt cx="11277600" cy="809625"/>
          </a:xfrm>
        </p:grpSpPr>
        <p:sp>
          <p:nvSpPr>
            <p:cNvPr id="5" name="Rectangle 5"/>
            <p:cNvSpPr/>
            <p:nvPr/>
          </p:nvSpPr>
          <p:spPr>
            <a:xfrm>
              <a:off x="457200" y="1724025"/>
              <a:ext cx="11277600" cy="809625"/>
            </a:xfrm>
            <a:prstGeom prst="roundRect">
              <a:avLst>
                <a:gd name="adj" fmla="val 14118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2282" y="2002155"/>
              <a:ext cx="71155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作者：保存V1，关联SKU与活动，发起检查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2971800"/>
            <a:ext cx="11277600" cy="1381125"/>
            <a:chOff x="457200" y="2971800"/>
            <a:chExt cx="11277600" cy="1381125"/>
          </a:xfrm>
        </p:grpSpPr>
        <p:grpSp>
          <p:nvGrpSpPr>
            <p:cNvPr id="11" name="Group 11"/>
            <p:cNvGrpSpPr/>
            <p:nvPr/>
          </p:nvGrpSpPr>
          <p:grpSpPr>
            <a:xfrm>
              <a:off x="457200" y="2971800"/>
              <a:ext cx="11277600" cy="1381125"/>
              <a:chOff x="457200" y="2971800"/>
              <a:chExt cx="11277600" cy="1381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4577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58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732282" y="3202305"/>
              <a:ext cx="10253562" cy="410718"/>
              <a:chOff x="732282" y="3202305"/>
              <a:chExt cx="10253562" cy="410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32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固定输入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2782" y="3202305"/>
                <a:ext cx="2415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执行检查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33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 返回结果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33806" y="3787140"/>
              <a:ext cx="10684764" cy="352044"/>
              <a:chOff x="733806" y="3787140"/>
              <a:chExt cx="10684764" cy="35204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33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正文、上下文、依据版本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34306" y="37871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选点、执行与校验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734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原句、依据与未完成项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37909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914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45008" y="5065395"/>
            <a:ext cx="8987028" cy="931164"/>
            <a:chOff x="445008" y="5065395"/>
            <a:chExt cx="8987028" cy="931164"/>
          </a:xfrm>
        </p:grpSpPr>
        <p:sp>
          <p:nvSpPr>
            <p:cNvPr id="23" name="TextBox 23"/>
            <p:cNvSpPr txBox="1"/>
            <p:nvPr/>
          </p:nvSpPr>
          <p:spPr>
            <a:xfrm>
              <a:off x="445008" y="5065395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作者修改为V2，再产生关联V2的新检查记录。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56" y="5644515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缺资料时明确受影响范围；保留V1历史结果，不能直接搬到V2。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正式审核流程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正式审核：围绕提交版本流转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提交V2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审核员判断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退回与重提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复核并决定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正文与依据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核对原句与证据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修改V3再提交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结论绑定V3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审核通过后，登记实际使用版本、位置和维护人。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检查结果仅在满足有效条件时复用；依据变化或依赖不清时重新检查。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巡检流程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事后巡检：从业务变化到实际更新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确认变化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建立批次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分配与处理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核验实际更新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依据与生效条件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在用内容与待核项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修改与复核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确认使用位置更新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名额用完后，巡检在用的赠品承诺；旧记录保留。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C06使用状态不明要单列待核；运行结束时，未解决事项仍继续跟踪。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内容编辑与自检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版本与资料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问题与范围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修改与提交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作者的工作入口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自检不等于
正式审核通过。</a:t>
              </a:r>
              <a:br/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05256D86-1230-65EE-36A3-A6B60AF2B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5248"/>
            <a:ext cx="8102171" cy="4914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审核详情与修改复核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原句与依据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确认与异议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复核与决定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核心判断工作区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复核对应新版本，
正式决定由人作出。</a:t>
              </a:r>
              <a:br/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D923C420-E8B8-92B7-803B-93AA45EFA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0" y="1378982"/>
            <a:ext cx="8358950" cy="5372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巡检批次与问题处理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事件与范围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待核与处理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分派与更新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内容负责人入口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运行结束后，
未解决事项
继续跟踪。</a:t>
              </a:r>
              <a:br/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AC31F622-90B9-8456-44FA-08040DD69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0" y="1514959"/>
            <a:ext cx="8358950" cy="5229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资料与审核点管理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范围与版本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启用与变更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受影响内容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标准与资料入口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启用与变更，
留确认人和历史。</a:t>
              </a:r>
              <a:br/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16819E50-60F9-6523-8CEB-0D8B09BCF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0" y="1399635"/>
            <a:ext cx="8358950" cy="5353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339797" cy="1038035"/>
            <a:chOff x="441198" y="428625"/>
            <a:chExt cx="7339797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版本与结果有效性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3397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V3已保存，V2结果返回，该怎样处理？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4434" y="2198370"/>
            <a:ext cx="11417655" cy="1521714"/>
            <a:chOff x="424434" y="2198370"/>
            <a:chExt cx="11417655" cy="1521714"/>
          </a:xfrm>
        </p:grpSpPr>
        <p:sp>
          <p:nvSpPr>
            <p:cNvPr id="5" name="Line 5"/>
            <p:cNvSpPr/>
            <p:nvPr/>
          </p:nvSpPr>
          <p:spPr>
            <a:xfrm>
              <a:off x="1524000" y="2857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62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934075" y="2695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506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31911" y="2198370"/>
              <a:ext cx="10928177" cy="469392"/>
              <a:chOff x="631911" y="2198370"/>
              <a:chExt cx="10928177" cy="46939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31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发起V2检查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691847" y="2198370"/>
                <a:ext cx="280830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保存V3新稿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75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V2结果返回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24434" y="3368040"/>
              <a:ext cx="11417655" cy="352044"/>
              <a:chOff x="424434" y="3368040"/>
              <a:chExt cx="11417655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24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固定正文和依据版本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96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提示待有效检查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93910" y="3368040"/>
                <a:ext cx="23481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继续关联原来的V2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457200" y="4581525"/>
            <a:ext cx="11277600" cy="1504950"/>
            <a:chOff x="457200" y="4581525"/>
            <a:chExt cx="11277600" cy="1504950"/>
          </a:xfrm>
        </p:grpSpPr>
        <p:sp>
          <p:nvSpPr>
            <p:cNvPr id="18" name="Rectangle 18"/>
            <p:cNvSpPr/>
            <p:nvPr/>
          </p:nvSpPr>
          <p:spPr>
            <a:xfrm>
              <a:off x="457200" y="4581525"/>
              <a:ext cx="112776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0758" y="4760595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V2结果归档，V3待有效检查。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282" y="534543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按条件复用或重查；不确定时全文重查。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579120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正式结论绑定实际提交版本；不能用旧结果直接确认新稿。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32" name="Group 32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9580" y="523875"/>
            <a:ext cx="4769012" cy="3056982"/>
            <a:chOff x="449580" y="523875"/>
            <a:chExt cx="4769012" cy="3056982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第七节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140826" y="2842193"/>
              <a:ext cx="3077766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下一步计划</a:t>
              </a:r>
              <a:endParaRPr 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9" name="TextBox 6">
            <a:extLst>
              <a:ext uri="{FF2B5EF4-FFF2-40B4-BE49-F238E27FC236}">
                <a16:creationId xmlns:a16="http://schemas.microsoft.com/office/drawing/2014/main" id="{355E0474-23E9-D103-A010-DD55F195D476}"/>
              </a:ext>
            </a:extLst>
          </p:cNvPr>
          <p:cNvSpPr txBox="1"/>
          <p:nvPr/>
        </p:nvSpPr>
        <p:spPr>
          <a:xfrm>
            <a:off x="743197" y="2842193"/>
            <a:ext cx="68608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4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7</a:t>
            </a:r>
            <a:endParaRPr lang="zh-CN" sz="48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664958" cy="1038035"/>
            <a:chOff x="441198" y="428625"/>
            <a:chExt cx="766495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7.3 后续演进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先证明辅助有效，再评估限定场景自动审核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866900"/>
            <a:ext cx="11277600" cy="2286000"/>
            <a:chOff x="457200" y="1866900"/>
            <a:chExt cx="11277600" cy="2286000"/>
          </a:xfrm>
        </p:grpSpPr>
        <p:sp>
          <p:nvSpPr>
            <p:cNvPr id="5" name="Rectangle 5"/>
            <p:cNvSpPr/>
            <p:nvPr/>
          </p:nvSpPr>
          <p:spPr>
            <a:xfrm>
              <a:off x="457200" y="32004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457700" y="253365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58200" y="18669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3232" y="2211705"/>
              <a:ext cx="10849356" cy="1744218"/>
              <a:chOff x="713232" y="2211705"/>
              <a:chExt cx="10849356" cy="17442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13232" y="3545205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边界明确的自动检查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713732" y="2878455"/>
                <a:ext cx="31310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辅助审核，人工决定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14232" y="2211705"/>
                <a:ext cx="28483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限定场景自动决定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3752850" y="300990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sp>
          <p:nvSpPr>
            <p:cNvPr id="13" name="Line 13"/>
            <p:cNvSpPr/>
            <p:nvPr/>
          </p:nvSpPr>
          <p:spPr>
            <a:xfrm>
              <a:off x="7753350" y="234315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grpSp>
          <p:nvGrpSpPr>
            <p:cNvPr id="28" name="Group 28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2497264" cy="906706"/>
            <a:chOff x="441198" y="428625"/>
            <a:chExt cx="2497264" cy="906706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全课收束与课后产物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7913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作业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">
            <a:extLst>
              <a:ext uri="{FF2B5EF4-FFF2-40B4-BE49-F238E27FC236}">
                <a16:creationId xmlns:a16="http://schemas.microsoft.com/office/drawing/2014/main" id="{1BF37643-AEDA-D678-2321-FCA128D0C4AD}"/>
              </a:ext>
            </a:extLst>
          </p:cNvPr>
          <p:cNvSpPr txBox="1"/>
          <p:nvPr/>
        </p:nvSpPr>
        <p:spPr>
          <a:xfrm>
            <a:off x="1543399" y="2674128"/>
            <a:ext cx="8309967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dk1"/>
                </a:solidFill>
              </a:rPr>
              <a:t>找一个自己工作中或熟悉的场景，将智能审核的逻辑套用进去</a:t>
            </a:r>
            <a:endParaRPr lang="en-US" altLang="zh-CN" sz="2400" dirty="0">
              <a:solidFill>
                <a:schemeClr val="dk1"/>
              </a:solidFill>
            </a:endParaRPr>
          </a:p>
          <a:p>
            <a:pPr algn="l"/>
            <a:endParaRPr lang="en-US" altLang="zh-CN" sz="24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sz="2400" dirty="0">
                <a:solidFill>
                  <a:schemeClr val="dk1"/>
                </a:solidFill>
              </a:rPr>
              <a:t>输出作品集文档，并上传飞书</a:t>
            </a:r>
            <a:endParaRPr lang="zh-CN" sz="24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lesson1_rebuild_sample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section2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section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section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lesson1_rebuild_sample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8547</Words>
  <Application>Microsoft Macintosh PowerPoint</Application>
  <PresentationFormat>宽屏</PresentationFormat>
  <Paragraphs>513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lesson1_rebuild_sample</vt:lpstr>
      <vt:lpstr>lesson1_section2</vt:lpstr>
      <vt:lpstr>lesson1_classroom</vt:lpstr>
      <vt:lpstr>lesson1_classroom</vt:lpstr>
      <vt:lpstr>lesson1_classroom</vt:lpstr>
      <vt:lpstr>lesson1_classroom</vt:lpstr>
      <vt:lpstr>lesson1_classroom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didi</cp:lastModifiedBy>
  <cp:revision>3</cp:revision>
  <dcterms:created xsi:type="dcterms:W3CDTF">2026-10-18T09:58:35Z</dcterms:created>
  <dcterms:modified xsi:type="dcterms:W3CDTF">2026-10-18T11:52:19Z</dcterms:modified>
  <cp:category/>
  <cp:contentStatus/>
  <dc:language>zh-CN</dc:language>
</cp:coreProperties>
</file>