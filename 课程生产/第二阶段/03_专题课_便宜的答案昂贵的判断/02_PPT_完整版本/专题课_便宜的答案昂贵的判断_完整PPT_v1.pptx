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82" r:id="rId3"/>
    <p:sldId id="283" r:id="rId4"/>
    <p:sldId id="257" r:id="rId5"/>
    <p:sldId id="259" r:id="rId6"/>
    <p:sldId id="284" r:id="rId7"/>
    <p:sldId id="260" r:id="rId8"/>
    <p:sldId id="285" r:id="rId9"/>
    <p:sldId id="286" r:id="rId10"/>
    <p:sldId id="287" r:id="rId11"/>
    <p:sldId id="288" r:id="rId12"/>
    <p:sldId id="289" r:id="rId13"/>
    <p:sldId id="290" r:id="rId14"/>
    <p:sldId id="261" r:id="rId15"/>
    <p:sldId id="291" r:id="rId16"/>
    <p:sldId id="292" r:id="rId17"/>
    <p:sldId id="262" r:id="rId18"/>
    <p:sldId id="263" r:id="rId19"/>
    <p:sldId id="264" r:id="rId20"/>
    <p:sldId id="265" r:id="rId21"/>
    <p:sldId id="266" r:id="rId22"/>
    <p:sldId id="267" r:id="rId23"/>
    <p:sldId id="269" r:id="rId24"/>
    <p:sldId id="270" r:id="rId25"/>
    <p:sldId id="293" r:id="rId26"/>
    <p:sldId id="271" r:id="rId27"/>
    <p:sldId id="274" r:id="rId28"/>
    <p:sldId id="272" r:id="rId29"/>
    <p:sldId id="273" r:id="rId30"/>
    <p:sldId id="275" r:id="rId31"/>
    <p:sldId id="276" r:id="rId32"/>
    <p:sldId id="29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F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716"/>
  </p:normalViewPr>
  <p:slideViewPr>
    <p:cSldViewPr snapToGrid="0" snapToObjects="1">
      <p:cViewPr varScale="1">
        <p:scale>
          <a:sx n="95" d="100"/>
          <a:sy n="95" d="100"/>
        </p:scale>
        <p:origin x="200" y="8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81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开场不要先给模板。先抛出核心问题：当 AI 可以快速生成漂亮的作品集时，专业性还体现在哪里？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862EE-0632-C677-4DF0-03E65178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3DD11-9FDE-69B5-5911-06C12BDF46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F472E-78EA-425E-D16B-D3B1B4BAE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开场不要先给模板。先抛出核心问题：当 AI 可以快速生成漂亮的作品集时，专业性还体现在哪里？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FCBAD-1B76-780A-5CCB-2D81FE6DC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32159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B5A89-F5BE-A7CD-7397-3AFF9B0F6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7CE7B-4DD8-282A-E958-75372D5AFB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51D7B-A28A-E600-2882-371C9E417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开场不要先给模板。先抛出核心问题：当 AI 可以快速生成漂亮的作品集时，专业性还体现在哪里？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2EFFD-5AF7-8A74-5AA7-351D732D7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54853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只展示版本 A，不提前讲评价标准。让学员说出第一印象。重点观察大家会不会被工具名称和功能数量影响。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揭示版本 B 来自 AI 优化。不要说 B 是错的，而是带学员逐句判断：属于项目事实、产品判断，还是暂未确认。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5A753-4496-FCEA-868A-85B211C5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7B823-A21A-5896-F24A-023A66C925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2356A-8EB9-DF74-CCF3-403D4018D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开场不要先给模板。先抛出核心问题：当 AI 可以快速生成漂亮的作品集时，专业性还体现在哪里？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865B0-DC4C-1848-7137-0B8AB19CD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82966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四个支点是整堂课的主框架。看得准对应问题理解，选得明对应关键判断，验得过对应验证过程，说得清对应边界意识。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5B9DD-B5BD-B135-5AE4-B14F0310F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1618C-C4CC-9183-A6CD-26BF5EEC8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31E68-AA67-8574-D323-1893344FC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四个支点是整堂课的主框架。看得准对应问题理解，选得明对应关键判断，验得过对应验证过程，说得清对应边界意识。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DEA0C-E3BC-7281-C8D9-EA33C31D4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23575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63A23-E7B4-2F4A-332D-0E09A90E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E1AEA-7AF1-025D-26F5-308EC33F01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49E5E-8876-6ACA-CA76-91258F20B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四个支点是整堂课的主框架。看得准对应问题理解，选得明对应关键判断，验得过对应验证过程，说得清对应边界意识。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E43FF-53E9-29AE-6D1C-5E6F203CA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47658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791EF-5355-F8EB-6074-A34A8E4B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F69AB-C1BA-FFB4-DD36-2BDD57FF45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4AC7A-2362-A5A1-1E5B-F7EF698D8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四个支点是整堂课的主框架。看得准对应问题理解，选得明对应关键判断，验得过对应验证过程，说得清对应边界意识。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D7BDB-2042-7D69-1407-120C0B0F5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00589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B414C-747C-B1F0-49DC-05D71F2D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E71CF-5F9D-AD57-4B7D-9BA2CDFD62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7D03C-DA8C-ABD3-FF90-949FC1853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四个支点是整堂课的主框架。看得准对应问题理解，选得明对应关键判断，验得过对应验证过程，说得清对应边界意识。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BD6AB-3CFF-B6B4-35D4-8F5B9818C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77117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DB03-394C-3F9F-F7D8-2E0C6C45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42FE3B-5B3A-9E6A-611C-2AA5AA3CD7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4125F-9A80-DDE5-A803-5DF28DA67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四个支点是整堂课的主框架。看得准对应问题理解，选得明对应关键判断，验得过对应验证过程，说得清对应边界意识。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142F1-7E9C-2580-0351-8D5DD211D4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07817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3618F-FDD6-E096-F05A-EEA472066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94BAF-7C13-386B-809E-89BBC522DC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0C40B-B7C7-819A-D68E-929128852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四个支点是整堂课的主框架。看得准对应问题理解，选得明对应关键判断，验得过对应验证过程，说得清对应边界意识。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1D90D-7A4D-3A88-EDA1-297FD1C97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40876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先让学员回答，再公布参考。最后让每个人判断自己的项目目前最弱的是哪一项。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EF4B1-A0D0-7536-5BEA-D9819BC6C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E037D-29AC-42CF-8A16-E9394234F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B2CD8-3791-5934-45E1-2681813F5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开场不要先给模板。先抛出核心问题：当 AI 可以快速生成漂亮的作品集时，专业性还体现在哪里？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81520-798C-EDE7-3178-8957279EA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349107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09AB4-F79B-1F32-D012-B8E53471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6A43C-DF3E-3D5A-8816-595081D256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D3494-6A3D-6E80-E975-4F9BC78212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开场不要先给模板。先抛出核心问题：当 AI 可以快速生成漂亮的作品集时，专业性还体现在哪里？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BA30B-3779-F8B7-2883-4B48FC239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033523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轻量对比即可。强调 AI 产品作品集没有推翻传统结构，产品形态、流程和页面仍然是主体。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不要先让学员背八部分。先让他们理解，作品集必须回答产品、使用、设计原因和实际运行四个问题。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用一页建立八部分全貌。第一部分快速了解项目，第二三部分解释为什么做，第四五部分展示产品，第六七部分展开方案和迭代，第八部分说明结果与贡献。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项目概览只放最重要的信息。后续页面再展开业务问题、产品设计、能力分工和上线结果。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不要写行业发展史。用具体用户任务和原流程卡点说明问题，同时明确第一版不处理什么。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先明确产品形态，再展示一条核心流程。不要只写智能客服系统，也不要在概览页塞入全部异常分支。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能力分工不是术语清单。每一项都要说明负责什么和不负责什么，并能解释为什么这样划分。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所有数字使用实际统计。没有统计过就不临时估算。上线结果回答做到了什么，限制说明还有什么没有完成，贡献说明本人承担了什么。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D1E4-6ACF-1AB2-8902-06FA14732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01743-239E-C3B4-5B6A-09C2F5F05D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8C009-F206-4D04-B786-1E143D90A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开场不要先给模板。先抛出核心问题：当 AI 可以快速生成漂亮的作品集时，专业性还体现在哪里？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180A4-1FA2-8227-C25D-B473BA0D5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279551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这里不再讲为什么需要 90 秒介绍，直接从常见问题切入。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90 秒介绍的任务不是把项目讲完。超时后优先删除背景、工具名称和并列功能，不删除关键判断和上线范围。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依次讲项目与问题、产品形态、关键判断、典型问题和上线范围。完整表达控制在 250—320 字。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老师完整讲一遍 90 秒示范，再让学员找出产品形态、关键判断和追问入口。逐字稿在老师讲义中。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让学员先写五行再计时讲述。点评不要逐句改语言，只看问题、产品、取舍、迭代和范围。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90 秒介绍中的每个重点都可能成为下一轮追问入口。面试官不会因为一句话专业就直接下结论。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B9A77-804A-8533-7FF9-E0801D008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7D4E7-66DF-7B9C-FC2F-6726BB5495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0E189-EBB7-B5F8-30B1-280EB3DBD5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90 秒介绍中的每个重点都可能成为下一轮追问入口。面试官不会因为一句话专业就直接下结论。</a:t>
            </a:r>
          </a:p>
          <a:p>
            <a:endParaRPr lang="zh-CN"/>
          </a:p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D0071-AFDE-6DB6-A03D-A9D4F8D8F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41044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859536" y="1353312"/>
            <a:ext cx="9646920" cy="12435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200" b="1">
                <a:solidFill>
                  <a:srgbClr val="F5F2E9"/>
                </a:solidFill>
                <a:latin typeface="Hiragino Sans GB"/>
                <a:ea typeface="Hiragino Sans GB"/>
              </a:rPr>
              <a:t>便宜的答案，昂贵的判断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7824" y="2743200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5F2E9"/>
                </a:solidFill>
                <a:latin typeface="Hiragino Sans GB"/>
                <a:ea typeface="Hiragino Sans GB"/>
              </a:rPr>
              <a:t>AI 产品经理如何证明自己的专业性</a:t>
            </a:r>
          </a:p>
        </p:txBody>
      </p:sp>
      <p:sp>
        <p:nvSpPr>
          <p:cNvPr id="6" name="Shape 6"/>
          <p:cNvSpPr/>
          <p:nvPr/>
        </p:nvSpPr>
        <p:spPr>
          <a:xfrm>
            <a:off x="877824" y="3401568"/>
            <a:ext cx="1938528" cy="45720"/>
          </a:xfrm>
          <a:prstGeom prst="rect">
            <a:avLst/>
          </a:prstGeom>
          <a:solidFill>
            <a:srgbClr val="FF7657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877824" y="612648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A7B5BC"/>
                </a:solidFill>
                <a:latin typeface="Hiragino Sans GB"/>
                <a:ea typeface="Hiragino Sans GB"/>
              </a:rPr>
              <a:t>第二阶段 · 专题课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2E252-FAC5-4762-4C19-BD5CBD57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683F9272-3761-2AA0-A675-231BC7C85082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7E515A5-8987-6264-185B-D98417B9510E}"/>
              </a:ext>
            </a:extLst>
          </p:cNvPr>
          <p:cNvSpPr txBox="1"/>
          <p:nvPr/>
        </p:nvSpPr>
        <p:spPr>
          <a:xfrm>
            <a:off x="2028264" y="2807208"/>
            <a:ext cx="8135471" cy="12435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200" b="1" dirty="0">
                <a:solidFill>
                  <a:srgbClr val="F5F2E9"/>
                </a:solidFill>
                <a:latin typeface="Hiragino Sans GB"/>
                <a:ea typeface="Hiragino Sans GB"/>
              </a:rPr>
              <a:t>面试官如何判断项目是不是你做的</a:t>
            </a:r>
            <a:endParaRPr lang="zh-CN" sz="420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23026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395DF-6118-9850-5964-EF8CE39CA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1AE1546D-4815-E866-CDAE-1AE620CFDF8F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2BC7510-211E-FD55-22B3-A6AB99B72606}"/>
              </a:ext>
            </a:extLst>
          </p:cNvPr>
          <p:cNvSpPr txBox="1"/>
          <p:nvPr/>
        </p:nvSpPr>
        <p:spPr>
          <a:xfrm>
            <a:off x="2840290" y="2807208"/>
            <a:ext cx="6511420" cy="12435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200" b="1" dirty="0">
                <a:solidFill>
                  <a:srgbClr val="F5F2E9"/>
                </a:solidFill>
                <a:latin typeface="Hiragino Sans GB"/>
                <a:ea typeface="Hiragino Sans GB"/>
              </a:rPr>
              <a:t>看细节</a:t>
            </a:r>
            <a:endParaRPr lang="zh-CN" sz="420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4255308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2" name="Shape 12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3" name="Shape 13"/>
          <p:cNvSpPr/>
          <p:nvPr/>
        </p:nvSpPr>
        <p:spPr>
          <a:xfrm>
            <a:off x="694944" y="6501384"/>
            <a:ext cx="831401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项目介绍 </a:t>
            </a:r>
          </a:p>
        </p:txBody>
      </p:sp>
      <p:sp>
        <p:nvSpPr>
          <p:cNvPr id="15" name="Shape 15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713232" y="1605524"/>
            <a:ext cx="3942179" cy="4612396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996696" y="1797549"/>
            <a:ext cx="9646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 dirty="0">
                <a:solidFill>
                  <a:srgbClr val="36D6C2"/>
                </a:solidFill>
                <a:latin typeface="Hiragino Sans GB"/>
                <a:ea typeface="Hiragino Sans GB"/>
              </a:rPr>
              <a:t>版本 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1832" y="2190740"/>
            <a:ext cx="3490555" cy="3752859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 dirty="0">
                <a:solidFill>
                  <a:srgbClr val="F5F2E9"/>
                </a:solidFill>
                <a:latin typeface="Hiragino Sans GB"/>
                <a:ea typeface="Hiragino Sans GB"/>
              </a:rPr>
              <a:t>我使用 Coze 搭建了一个电商智能客服，项目使用了大模型、知识库、Workflow 和 Agent，可以回答用户问题、查询订单、处理售后和推荐商品，提高客服效率和用户体验。</a:t>
            </a:r>
          </a:p>
        </p:txBody>
      </p:sp>
      <p:sp>
        <p:nvSpPr>
          <p:cNvPr id="2" name="Shape 30">
            <a:extLst>
              <a:ext uri="{FF2B5EF4-FFF2-40B4-BE49-F238E27FC236}">
                <a16:creationId xmlns:a16="http://schemas.microsoft.com/office/drawing/2014/main" id="{4207A54A-E189-3859-1A52-3A790723A2DF}"/>
              </a:ext>
            </a:extLst>
          </p:cNvPr>
          <p:cNvSpPr/>
          <p:nvPr/>
        </p:nvSpPr>
        <p:spPr>
          <a:xfrm>
            <a:off x="5915202" y="1604772"/>
            <a:ext cx="5280102" cy="4612396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" name="TextBox 31">
            <a:extLst>
              <a:ext uri="{FF2B5EF4-FFF2-40B4-BE49-F238E27FC236}">
                <a16:creationId xmlns:a16="http://schemas.microsoft.com/office/drawing/2014/main" id="{46043D91-61C0-A38A-9B6F-D17957078B5D}"/>
              </a:ext>
            </a:extLst>
          </p:cNvPr>
          <p:cNvSpPr txBox="1"/>
          <p:nvPr/>
        </p:nvSpPr>
        <p:spPr>
          <a:xfrm>
            <a:off x="6300439" y="1794175"/>
            <a:ext cx="5044383" cy="25940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 dirty="0">
                <a:solidFill>
                  <a:srgbClr val="FF7657"/>
                </a:solidFill>
                <a:latin typeface="Hiragino Sans GB"/>
                <a:ea typeface="Hiragino Sans GB"/>
              </a:rPr>
              <a:t>版本 B</a:t>
            </a:r>
          </a:p>
        </p:txBody>
      </p:sp>
      <p:sp>
        <p:nvSpPr>
          <p:cNvPr id="4" name="TextBox 32">
            <a:extLst>
              <a:ext uri="{FF2B5EF4-FFF2-40B4-BE49-F238E27FC236}">
                <a16:creationId xmlns:a16="http://schemas.microsoft.com/office/drawing/2014/main" id="{629C56B2-60A8-9A08-7979-3BCA6454F301}"/>
              </a:ext>
            </a:extLst>
          </p:cNvPr>
          <p:cNvSpPr txBox="1"/>
          <p:nvPr/>
        </p:nvSpPr>
        <p:spPr>
          <a:xfrm>
            <a:off x="6300439" y="2189987"/>
            <a:ext cx="4343177" cy="375361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>
                <a:solidFill>
                  <a:srgbClr val="F5F2E9"/>
                </a:solidFill>
                <a:latin typeface="Hiragino Sans GB"/>
                <a:ea typeface="Hiragino Sans GB"/>
              </a:rPr>
              <a:t>我设计了一款面向电商售后场景的智能客服，主要解决退款政策查询、订单确认和售后申请过程中信息分散、重复沟通的问题。</a:t>
            </a:r>
          </a:p>
          <a:p>
            <a:pPr algn="l"/>
            <a:endParaRPr lang="zh-CN" sz="2000" dirty="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>
                <a:solidFill>
                  <a:srgbClr val="F5F2E9"/>
                </a:solidFill>
                <a:latin typeface="Hiragino Sans GB"/>
                <a:ea typeface="Hiragino Sans GB"/>
              </a:rPr>
              <a:t>产品将大模型、知识库、业务流程和人工客服进行分工，帮助用户完成从问题咨询到售后申请预受理的完整流程。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38" name="Shape 3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9" name="Shape 39"/>
          <p:cNvSpPr/>
          <p:nvPr/>
        </p:nvSpPr>
        <p:spPr>
          <a:xfrm>
            <a:off x="694944" y="6501384"/>
            <a:ext cx="1662801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如何体现专业能力</a:t>
            </a:r>
            <a:endParaRPr lang="zh-CN" sz="290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41" name="Shape 4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FF7657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EE1073B-38B2-41FD-EB96-3354F46C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214" y="1915890"/>
            <a:ext cx="9365572" cy="36802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DA1C7-9191-1B7B-B4BC-33A1050A5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9825B2CB-8060-0FDB-0DFE-84CC212BEFDF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0496142-44CC-7149-3661-FDA5B8E4C8B7}"/>
              </a:ext>
            </a:extLst>
          </p:cNvPr>
          <p:cNvSpPr txBox="1"/>
          <p:nvPr/>
        </p:nvSpPr>
        <p:spPr>
          <a:xfrm>
            <a:off x="2840290" y="2807208"/>
            <a:ext cx="6511420" cy="12435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200" b="1" dirty="0">
                <a:solidFill>
                  <a:srgbClr val="F5F2E9"/>
                </a:solidFill>
                <a:latin typeface="Hiragino Sans GB"/>
                <a:ea typeface="Hiragino Sans GB"/>
              </a:rPr>
              <a:t>一、专业能力的</a:t>
            </a:r>
            <a:r>
              <a:rPr lang="en-US" altLang="zh-CN" sz="4200" b="1" dirty="0">
                <a:solidFill>
                  <a:srgbClr val="F5F2E9"/>
                </a:solidFill>
                <a:latin typeface="Hiragino Sans GB"/>
                <a:ea typeface="Hiragino Sans GB"/>
              </a:rPr>
              <a:t>4</a:t>
            </a:r>
            <a:r>
              <a:rPr lang="zh-CN" altLang="en-US" sz="4200" b="1" dirty="0">
                <a:solidFill>
                  <a:srgbClr val="F5F2E9"/>
                </a:solidFill>
                <a:latin typeface="Hiragino Sans GB"/>
                <a:ea typeface="Hiragino Sans GB"/>
              </a:rPr>
              <a:t>个支点</a:t>
            </a:r>
            <a:endParaRPr lang="zh-CN" sz="420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70208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8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第二节｜专业性的四个支点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60" name="Shape 60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1" name="Shape 61"/>
          <p:cNvSpPr/>
          <p:nvPr/>
        </p:nvSpPr>
        <p:spPr>
          <a:xfrm>
            <a:off x="694944" y="6501384"/>
            <a:ext cx="20785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2" name="TextBox 62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专业性的四个支点</a:t>
            </a:r>
          </a:p>
        </p:txBody>
      </p:sp>
      <p:sp>
        <p:nvSpPr>
          <p:cNvPr id="63" name="Shape 63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5" name="Shape 65"/>
          <p:cNvSpPr/>
          <p:nvPr/>
        </p:nvSpPr>
        <p:spPr>
          <a:xfrm>
            <a:off x="749808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66" name="TextBox 66"/>
          <p:cNvSpPr txBox="1"/>
          <p:nvPr/>
        </p:nvSpPr>
        <p:spPr>
          <a:xfrm>
            <a:off x="932688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32688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看得准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32688" y="3054096"/>
            <a:ext cx="2096262" cy="193852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找到具体、真实、值得解决的任务</a:t>
            </a:r>
          </a:p>
        </p:txBody>
      </p:sp>
      <p:sp>
        <p:nvSpPr>
          <p:cNvPr id="69" name="Shape 69"/>
          <p:cNvSpPr/>
          <p:nvPr/>
        </p:nvSpPr>
        <p:spPr>
          <a:xfrm>
            <a:off x="3440430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70" name="TextBox 70"/>
          <p:cNvSpPr txBox="1"/>
          <p:nvPr/>
        </p:nvSpPr>
        <p:spPr>
          <a:xfrm>
            <a:off x="3623310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623310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选得明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623310" y="3054096"/>
            <a:ext cx="2096262" cy="193852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重要设计都能说明为什么</a:t>
            </a:r>
          </a:p>
        </p:txBody>
      </p:sp>
      <p:sp>
        <p:nvSpPr>
          <p:cNvPr id="73" name="Shape 73"/>
          <p:cNvSpPr/>
          <p:nvPr/>
        </p:nvSpPr>
        <p:spPr>
          <a:xfrm>
            <a:off x="6131052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74" name="TextBox 74"/>
          <p:cNvSpPr txBox="1"/>
          <p:nvPr/>
        </p:nvSpPr>
        <p:spPr>
          <a:xfrm>
            <a:off x="6313932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313932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验得过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313932" y="3054096"/>
            <a:ext cx="2096262" cy="193852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失败过、修改过，也重新检查过</a:t>
            </a:r>
          </a:p>
        </p:txBody>
      </p:sp>
      <p:sp>
        <p:nvSpPr>
          <p:cNvPr id="77" name="Shape 77"/>
          <p:cNvSpPr/>
          <p:nvPr/>
        </p:nvSpPr>
        <p:spPr>
          <a:xfrm>
            <a:off x="8821674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78" name="TextBox 78"/>
          <p:cNvSpPr txBox="1"/>
          <p:nvPr/>
        </p:nvSpPr>
        <p:spPr>
          <a:xfrm>
            <a:off x="9004554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004554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说得清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004554" y="3054096"/>
            <a:ext cx="2096262" cy="193852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准确说明已经上线到什么程度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23418D-4B14-344D-6B8C-E2CB9BE8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8">
            <a:extLst>
              <a:ext uri="{FF2B5EF4-FFF2-40B4-BE49-F238E27FC236}">
                <a16:creationId xmlns:a16="http://schemas.microsoft.com/office/drawing/2014/main" id="{E7E57499-67C7-06CB-494F-4A093E25ECF7}"/>
              </a:ext>
            </a:extLst>
          </p:cNvPr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第二节｜专业性的四个支点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7D9D17F9-5277-D933-7C69-DC9C4AD7571C}"/>
              </a:ext>
            </a:extLst>
          </p:cNvPr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60" name="Shape 60">
            <a:extLst>
              <a:ext uri="{FF2B5EF4-FFF2-40B4-BE49-F238E27FC236}">
                <a16:creationId xmlns:a16="http://schemas.microsoft.com/office/drawing/2014/main" id="{C3DD08F5-EE03-5FEB-423A-7C2A05B3990C}"/>
              </a:ext>
            </a:extLst>
          </p:cNvPr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D3C4579F-3D12-8383-121A-542275C604CC}"/>
              </a:ext>
            </a:extLst>
          </p:cNvPr>
          <p:cNvSpPr/>
          <p:nvPr/>
        </p:nvSpPr>
        <p:spPr>
          <a:xfrm>
            <a:off x="694944" y="6501384"/>
            <a:ext cx="20785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7D6B9A1C-F973-131F-F404-BD446B174BFC}"/>
              </a:ext>
            </a:extLst>
          </p:cNvPr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看得准：</a:t>
            </a:r>
            <a:r>
              <a:rPr lang="zh-CN" alt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找到具体、真实、值得解决的任务</a:t>
            </a: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5535881-F52A-3D9E-3A4F-FF1EFFE7DBA6}"/>
              </a:ext>
            </a:extLst>
          </p:cNvPr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Shape 65">
            <a:extLst>
              <a:ext uri="{FF2B5EF4-FFF2-40B4-BE49-F238E27FC236}">
                <a16:creationId xmlns:a16="http://schemas.microsoft.com/office/drawing/2014/main" id="{5DF7F8BA-650D-9BD0-53CD-BEA26AA1F7BE}"/>
              </a:ext>
            </a:extLst>
          </p:cNvPr>
          <p:cNvSpPr/>
          <p:nvPr/>
        </p:nvSpPr>
        <p:spPr>
          <a:xfrm>
            <a:off x="749808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5" name="TextBox 66">
            <a:extLst>
              <a:ext uri="{FF2B5EF4-FFF2-40B4-BE49-F238E27FC236}">
                <a16:creationId xmlns:a16="http://schemas.microsoft.com/office/drawing/2014/main" id="{05D29AE5-1CE5-FF21-46DB-61987748699B}"/>
              </a:ext>
            </a:extLst>
          </p:cNvPr>
          <p:cNvSpPr txBox="1"/>
          <p:nvPr/>
        </p:nvSpPr>
        <p:spPr>
          <a:xfrm>
            <a:off x="932688" y="2286000"/>
            <a:ext cx="2096262" cy="4343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普通表达</a:t>
            </a:r>
            <a:endParaRPr lang="zh-CN" sz="2000" b="1" dirty="0">
              <a:solidFill>
                <a:srgbClr val="36D6C2"/>
              </a:solidFill>
              <a:latin typeface="Hiragino Sans GB"/>
              <a:ea typeface="Hiragino Sans GB"/>
            </a:endParaRPr>
          </a:p>
        </p:txBody>
      </p:sp>
      <p:sp>
        <p:nvSpPr>
          <p:cNvPr id="7" name="TextBox 68">
            <a:extLst>
              <a:ext uri="{FF2B5EF4-FFF2-40B4-BE49-F238E27FC236}">
                <a16:creationId xmlns:a16="http://schemas.microsoft.com/office/drawing/2014/main" id="{B04A930B-F399-4025-F5F0-59E5AB0C8ADC}"/>
              </a:ext>
            </a:extLst>
          </p:cNvPr>
          <p:cNvSpPr txBox="1"/>
          <p:nvPr/>
        </p:nvSpPr>
        <p:spPr>
          <a:xfrm>
            <a:off x="932688" y="2738629"/>
            <a:ext cx="2096262" cy="22539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zh-CN" dirty="0">
                <a:solidFill>
                  <a:srgbClr val="A7B5BC"/>
                </a:solidFill>
                <a:latin typeface="Hiragino Sans GB"/>
                <a:ea typeface="Hiragino Sans GB"/>
              </a:rPr>
              <a:t>电商平台咨询量大，人工客服压力高，所以需要使用 AI 客服提高效率。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zh-CN" b="0" dirty="0">
              <a:solidFill>
                <a:srgbClr val="A7B5BC"/>
              </a:solidFill>
              <a:latin typeface="Hiragino Sans GB"/>
              <a:ea typeface="Hiragino Sans GB"/>
            </a:endParaRPr>
          </a:p>
        </p:txBody>
      </p:sp>
      <p:sp>
        <p:nvSpPr>
          <p:cNvPr id="8" name="Shape 65">
            <a:extLst>
              <a:ext uri="{FF2B5EF4-FFF2-40B4-BE49-F238E27FC236}">
                <a16:creationId xmlns:a16="http://schemas.microsoft.com/office/drawing/2014/main" id="{EDBFF6D2-5D6F-6858-A768-4CA2CAF2A42D}"/>
              </a:ext>
            </a:extLst>
          </p:cNvPr>
          <p:cNvSpPr/>
          <p:nvPr/>
        </p:nvSpPr>
        <p:spPr>
          <a:xfrm>
            <a:off x="5783490" y="2103120"/>
            <a:ext cx="4624533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9" name="TextBox 66">
            <a:extLst>
              <a:ext uri="{FF2B5EF4-FFF2-40B4-BE49-F238E27FC236}">
                <a16:creationId xmlns:a16="http://schemas.microsoft.com/office/drawing/2014/main" id="{1EE947D7-F9BD-F225-3300-8F37E02A6838}"/>
              </a:ext>
            </a:extLst>
          </p:cNvPr>
          <p:cNvSpPr txBox="1"/>
          <p:nvPr/>
        </p:nvSpPr>
        <p:spPr>
          <a:xfrm>
            <a:off x="5966370" y="2286000"/>
            <a:ext cx="2096262" cy="4343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专业表达</a:t>
            </a:r>
            <a:endParaRPr lang="zh-CN" sz="2000" b="1" dirty="0">
              <a:solidFill>
                <a:srgbClr val="36D6C2"/>
              </a:solidFill>
              <a:latin typeface="Hiragino Sans GB"/>
              <a:ea typeface="Hiragino Sans GB"/>
            </a:endParaRPr>
          </a:p>
        </p:txBody>
      </p:sp>
      <p:sp>
        <p:nvSpPr>
          <p:cNvPr id="10" name="TextBox 68">
            <a:extLst>
              <a:ext uri="{FF2B5EF4-FFF2-40B4-BE49-F238E27FC236}">
                <a16:creationId xmlns:a16="http://schemas.microsoft.com/office/drawing/2014/main" id="{EDDD891E-6C71-0842-1291-C27D26E7E8BD}"/>
              </a:ext>
            </a:extLst>
          </p:cNvPr>
          <p:cNvSpPr txBox="1"/>
          <p:nvPr/>
        </p:nvSpPr>
        <p:spPr>
          <a:xfrm>
            <a:off x="5966369" y="2738629"/>
            <a:ext cx="4280289" cy="22539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r>
              <a:rPr lang="zh-CN" altLang="zh-CN" dirty="0">
                <a:solidFill>
                  <a:srgbClr val="A7B5BC"/>
                </a:solidFill>
                <a:latin typeface="Hiragino Sans GB"/>
                <a:ea typeface="Hiragino Sans GB"/>
              </a:rPr>
              <a:t>在电商售后场景中，用户通常需要完成退款政策查询、具体订单确认和售后申请提交。传统 FAQ 只能解释统一规则，无法根据订单状态推进后续流程；人工客服则需要重复询问订单和售后原因。因此，第一版优先解决低风险售后问题的查询与预受理。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1301A50B-AE3A-B352-E360-8D702EBF21F9}"/>
              </a:ext>
            </a:extLst>
          </p:cNvPr>
          <p:cNvSpPr/>
          <p:nvPr/>
        </p:nvSpPr>
        <p:spPr>
          <a:xfrm>
            <a:off x="3926160" y="3079376"/>
            <a:ext cx="1143000" cy="69924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7613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F4C66-E6BB-4A1B-D225-E2683F79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8">
            <a:extLst>
              <a:ext uri="{FF2B5EF4-FFF2-40B4-BE49-F238E27FC236}">
                <a16:creationId xmlns:a16="http://schemas.microsoft.com/office/drawing/2014/main" id="{637AF318-9FE6-FA8C-BBBB-F849DD106DAE}"/>
              </a:ext>
            </a:extLst>
          </p:cNvPr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第二节｜专业性的四个支点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64868BF-1EFA-3B2A-4BDD-30027699B770}"/>
              </a:ext>
            </a:extLst>
          </p:cNvPr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60" name="Shape 60">
            <a:extLst>
              <a:ext uri="{FF2B5EF4-FFF2-40B4-BE49-F238E27FC236}">
                <a16:creationId xmlns:a16="http://schemas.microsoft.com/office/drawing/2014/main" id="{DEC1A3E4-990F-EF41-A200-E95ED73ACEBE}"/>
              </a:ext>
            </a:extLst>
          </p:cNvPr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0CC6456A-D06F-2C19-E0E2-7740354290EE}"/>
              </a:ext>
            </a:extLst>
          </p:cNvPr>
          <p:cNvSpPr/>
          <p:nvPr/>
        </p:nvSpPr>
        <p:spPr>
          <a:xfrm>
            <a:off x="694944" y="6501384"/>
            <a:ext cx="20785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B3BEA9B0-B891-1A66-A221-A6F172804A50}"/>
              </a:ext>
            </a:extLst>
          </p:cNvPr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看得准：</a:t>
            </a:r>
            <a:r>
              <a:rPr lang="zh-CN" alt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找到具体、真实、值得解决的任务</a:t>
            </a: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3A9CB205-47C6-AA55-D17D-9EC4546E78B6}"/>
              </a:ext>
            </a:extLst>
          </p:cNvPr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00411A-AFD3-19DD-EDE3-CB780E507EBF}"/>
              </a:ext>
            </a:extLst>
          </p:cNvPr>
          <p:cNvSpPr txBox="1"/>
          <p:nvPr/>
        </p:nvSpPr>
        <p:spPr>
          <a:xfrm>
            <a:off x="713232" y="2748040"/>
            <a:ext cx="60982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谁遇到了问题？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在什么情况下发生？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他真正要完成什么任务？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原来怎样完成？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哪一步最慢、最贵或最容易出错？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为什么需要 AI 参与？</a:t>
            </a:r>
          </a:p>
        </p:txBody>
      </p:sp>
      <p:sp>
        <p:nvSpPr>
          <p:cNvPr id="6" name="TextBox 66">
            <a:extLst>
              <a:ext uri="{FF2B5EF4-FFF2-40B4-BE49-F238E27FC236}">
                <a16:creationId xmlns:a16="http://schemas.microsoft.com/office/drawing/2014/main" id="{6E7DDC84-7350-BAA4-584C-7DC752A22037}"/>
              </a:ext>
            </a:extLst>
          </p:cNvPr>
          <p:cNvSpPr txBox="1"/>
          <p:nvPr/>
        </p:nvSpPr>
        <p:spPr>
          <a:xfrm>
            <a:off x="713231" y="2087386"/>
            <a:ext cx="6615415" cy="4343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从这</a:t>
            </a:r>
            <a:r>
              <a:rPr lang="en-US" altLang="zh-CN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6</a:t>
            </a:r>
            <a:r>
              <a:rPr lang="zh-CN" altLang="en-US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个方面去描述和思考：</a:t>
            </a:r>
            <a:endParaRPr lang="zh-CN" sz="2000" b="1" dirty="0">
              <a:solidFill>
                <a:srgbClr val="36D6C2"/>
              </a:solidFill>
              <a:latin typeface="Hiragino Sans GB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779763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FD464-9A9E-84CC-3843-C4F2532E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8">
            <a:extLst>
              <a:ext uri="{FF2B5EF4-FFF2-40B4-BE49-F238E27FC236}">
                <a16:creationId xmlns:a16="http://schemas.microsoft.com/office/drawing/2014/main" id="{AFC22F68-355E-4A7E-AE1A-0847487193CC}"/>
              </a:ext>
            </a:extLst>
          </p:cNvPr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第二节｜专业性的四个支点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17401781-AE62-34BC-8B41-38ECF1442C9E}"/>
              </a:ext>
            </a:extLst>
          </p:cNvPr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60" name="Shape 60">
            <a:extLst>
              <a:ext uri="{FF2B5EF4-FFF2-40B4-BE49-F238E27FC236}">
                <a16:creationId xmlns:a16="http://schemas.microsoft.com/office/drawing/2014/main" id="{892129F6-2A37-E5A2-7D71-DE7A0038B261}"/>
              </a:ext>
            </a:extLst>
          </p:cNvPr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39CA0690-EA87-7447-6B57-57AF78BFDE6C}"/>
              </a:ext>
            </a:extLst>
          </p:cNvPr>
          <p:cNvSpPr/>
          <p:nvPr/>
        </p:nvSpPr>
        <p:spPr>
          <a:xfrm>
            <a:off x="694944" y="6501384"/>
            <a:ext cx="20785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159C47DA-0019-C297-BB29-2B8B86BC32BB}"/>
              </a:ext>
            </a:extLst>
          </p:cNvPr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r>
              <a:rPr lang="zh-CN" alt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选得明：每个重要设计都能说明为什么</a:t>
            </a: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DD8C166A-ACB1-A096-CB68-381460E82365}"/>
              </a:ext>
            </a:extLst>
          </p:cNvPr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Shape 65">
            <a:extLst>
              <a:ext uri="{FF2B5EF4-FFF2-40B4-BE49-F238E27FC236}">
                <a16:creationId xmlns:a16="http://schemas.microsoft.com/office/drawing/2014/main" id="{02EEACFC-C7C3-8A1D-6639-1082B3BAD128}"/>
              </a:ext>
            </a:extLst>
          </p:cNvPr>
          <p:cNvSpPr/>
          <p:nvPr/>
        </p:nvSpPr>
        <p:spPr>
          <a:xfrm>
            <a:off x="749808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5" name="TextBox 66">
            <a:extLst>
              <a:ext uri="{FF2B5EF4-FFF2-40B4-BE49-F238E27FC236}">
                <a16:creationId xmlns:a16="http://schemas.microsoft.com/office/drawing/2014/main" id="{9575D9D3-BD3F-66D4-9157-B30BFE6D9219}"/>
              </a:ext>
            </a:extLst>
          </p:cNvPr>
          <p:cNvSpPr txBox="1"/>
          <p:nvPr/>
        </p:nvSpPr>
        <p:spPr>
          <a:xfrm>
            <a:off x="932688" y="2286000"/>
            <a:ext cx="2096262" cy="4343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普通表达</a:t>
            </a:r>
            <a:endParaRPr lang="zh-CN" sz="2000" b="1" dirty="0">
              <a:solidFill>
                <a:srgbClr val="36D6C2"/>
              </a:solidFill>
              <a:latin typeface="Hiragino Sans GB"/>
              <a:ea typeface="Hiragino Sans GB"/>
            </a:endParaRPr>
          </a:p>
        </p:txBody>
      </p:sp>
      <p:sp>
        <p:nvSpPr>
          <p:cNvPr id="7" name="TextBox 68">
            <a:extLst>
              <a:ext uri="{FF2B5EF4-FFF2-40B4-BE49-F238E27FC236}">
                <a16:creationId xmlns:a16="http://schemas.microsoft.com/office/drawing/2014/main" id="{9941EBA5-D151-C048-7CB5-354DBED33219}"/>
              </a:ext>
            </a:extLst>
          </p:cNvPr>
          <p:cNvSpPr txBox="1"/>
          <p:nvPr/>
        </p:nvSpPr>
        <p:spPr>
          <a:xfrm>
            <a:off x="932688" y="2738629"/>
            <a:ext cx="2096262" cy="22539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r>
              <a:rPr lang="zh-CN" altLang="zh-CN" dirty="0">
                <a:solidFill>
                  <a:srgbClr val="A7B5BC"/>
                </a:solidFill>
                <a:latin typeface="Hiragino Sans GB"/>
                <a:ea typeface="Hiragino Sans GB"/>
              </a:rPr>
              <a:t>项目使用大模型理解用户意图，使用知识库回答问题，使用 Workflow 处理售后。</a:t>
            </a:r>
            <a:endParaRPr lang="zh-CN" b="0" dirty="0">
              <a:solidFill>
                <a:srgbClr val="A7B5BC"/>
              </a:solidFill>
              <a:latin typeface="Hiragino Sans GB"/>
              <a:ea typeface="Hiragino Sans GB"/>
            </a:endParaRPr>
          </a:p>
        </p:txBody>
      </p:sp>
      <p:sp>
        <p:nvSpPr>
          <p:cNvPr id="8" name="Shape 65">
            <a:extLst>
              <a:ext uri="{FF2B5EF4-FFF2-40B4-BE49-F238E27FC236}">
                <a16:creationId xmlns:a16="http://schemas.microsoft.com/office/drawing/2014/main" id="{965BAE50-674F-B1E2-887D-43BC700DF2AF}"/>
              </a:ext>
            </a:extLst>
          </p:cNvPr>
          <p:cNvSpPr/>
          <p:nvPr/>
        </p:nvSpPr>
        <p:spPr>
          <a:xfrm>
            <a:off x="5783490" y="2103120"/>
            <a:ext cx="4624533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9" name="TextBox 66">
            <a:extLst>
              <a:ext uri="{FF2B5EF4-FFF2-40B4-BE49-F238E27FC236}">
                <a16:creationId xmlns:a16="http://schemas.microsoft.com/office/drawing/2014/main" id="{4001DC3A-B3BD-DEFD-026E-3FE115AB7206}"/>
              </a:ext>
            </a:extLst>
          </p:cNvPr>
          <p:cNvSpPr txBox="1"/>
          <p:nvPr/>
        </p:nvSpPr>
        <p:spPr>
          <a:xfrm>
            <a:off x="5966370" y="2286000"/>
            <a:ext cx="2096262" cy="4343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专业表达</a:t>
            </a:r>
            <a:endParaRPr lang="zh-CN" sz="2000" b="1" dirty="0">
              <a:solidFill>
                <a:srgbClr val="36D6C2"/>
              </a:solidFill>
              <a:latin typeface="Hiragino Sans GB"/>
              <a:ea typeface="Hiragino Sans GB"/>
            </a:endParaRPr>
          </a:p>
        </p:txBody>
      </p:sp>
      <p:sp>
        <p:nvSpPr>
          <p:cNvPr id="10" name="TextBox 68">
            <a:extLst>
              <a:ext uri="{FF2B5EF4-FFF2-40B4-BE49-F238E27FC236}">
                <a16:creationId xmlns:a16="http://schemas.microsoft.com/office/drawing/2014/main" id="{C5EDBEDC-F4FA-CE4F-CBC4-DE359CC5EAC8}"/>
              </a:ext>
            </a:extLst>
          </p:cNvPr>
          <p:cNvSpPr txBox="1"/>
          <p:nvPr/>
        </p:nvSpPr>
        <p:spPr>
          <a:xfrm>
            <a:off x="5966369" y="2738629"/>
            <a:ext cx="4280289" cy="22539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r>
              <a:rPr lang="zh-CN" altLang="zh-CN" dirty="0">
                <a:solidFill>
                  <a:srgbClr val="A7B5BC"/>
                </a:solidFill>
                <a:latin typeface="Hiragino Sans GB"/>
                <a:ea typeface="Hiragino Sans GB"/>
              </a:rPr>
              <a:t>我没有让大模型直接判断退款资格。大模型负责理解用户表达和提取订单、商品、售后原因等信息；退款资格由确定性规则判断。因为退款涉及用户权益，而且相关条件可以被明确表达。</a:t>
            </a:r>
          </a:p>
          <a:p>
            <a:endParaRPr lang="zh-CN" altLang="zh-CN" dirty="0">
              <a:solidFill>
                <a:srgbClr val="A7B5BC"/>
              </a:solidFill>
              <a:latin typeface="Hiragino Sans GB"/>
              <a:ea typeface="Hiragino Sans GB"/>
            </a:endParaRP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642872D6-26BA-5780-B480-0C0E041B6095}"/>
              </a:ext>
            </a:extLst>
          </p:cNvPr>
          <p:cNvSpPr/>
          <p:nvPr/>
        </p:nvSpPr>
        <p:spPr>
          <a:xfrm>
            <a:off x="3926160" y="3079376"/>
            <a:ext cx="1143000" cy="69924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5916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77E80-9139-E30B-7C6B-F9C50C1D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8">
            <a:extLst>
              <a:ext uri="{FF2B5EF4-FFF2-40B4-BE49-F238E27FC236}">
                <a16:creationId xmlns:a16="http://schemas.microsoft.com/office/drawing/2014/main" id="{E34AE656-54F1-6311-02EB-778102012350}"/>
              </a:ext>
            </a:extLst>
          </p:cNvPr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第二节｜专业性的四个支点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F77E3AE0-D92F-60E2-003F-54845F45A9D2}"/>
              </a:ext>
            </a:extLst>
          </p:cNvPr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60" name="Shape 60">
            <a:extLst>
              <a:ext uri="{FF2B5EF4-FFF2-40B4-BE49-F238E27FC236}">
                <a16:creationId xmlns:a16="http://schemas.microsoft.com/office/drawing/2014/main" id="{051EDC36-34E6-F5A3-549F-289B6784DCD1}"/>
              </a:ext>
            </a:extLst>
          </p:cNvPr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EF54F0EB-0975-0BA2-0B51-96AEB373BB2F}"/>
              </a:ext>
            </a:extLst>
          </p:cNvPr>
          <p:cNvSpPr/>
          <p:nvPr/>
        </p:nvSpPr>
        <p:spPr>
          <a:xfrm>
            <a:off x="694944" y="6501384"/>
            <a:ext cx="20785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2265F261-FDC3-308B-98D7-0112A9B58C43}"/>
              </a:ext>
            </a:extLst>
          </p:cNvPr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r>
              <a:rPr lang="zh-CN" alt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选得明：每个重要设计都能说明为什么</a:t>
            </a: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A79F2EF9-628C-B90A-8A00-A06A0A8C1E5D}"/>
              </a:ext>
            </a:extLst>
          </p:cNvPr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3608D1-99A7-165E-4E1C-39A627DC3D3B}"/>
              </a:ext>
            </a:extLst>
          </p:cNvPr>
          <p:cNvSpPr txBox="1"/>
          <p:nvPr/>
        </p:nvSpPr>
        <p:spPr>
          <a:xfrm>
            <a:off x="713232" y="2748040"/>
            <a:ext cx="60982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1.</a:t>
            </a:r>
            <a:r>
              <a:rPr lang="zh-CN" altLang="en-US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zh-CN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决定了什么；</a:t>
            </a:r>
          </a:p>
          <a:p>
            <a:pPr lvl="0"/>
            <a:r>
              <a:rPr lang="en-US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2.</a:t>
            </a:r>
            <a:r>
              <a:rPr lang="zh-CN" altLang="en-US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zh-CN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为什么这样决定；</a:t>
            </a:r>
          </a:p>
          <a:p>
            <a:pPr lvl="0"/>
            <a:r>
              <a:rPr lang="en-US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3.</a:t>
            </a:r>
            <a:r>
              <a:rPr lang="zh-CN" altLang="en-US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zh-CN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大模型适合做什么；</a:t>
            </a:r>
          </a:p>
          <a:p>
            <a:pPr lvl="0"/>
            <a:r>
              <a:rPr lang="en-US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4.</a:t>
            </a:r>
            <a:r>
              <a:rPr lang="zh-CN" altLang="en-US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zh-CN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大模型不适合做什么；</a:t>
            </a:r>
          </a:p>
          <a:p>
            <a:pPr lvl="0"/>
            <a:r>
              <a:rPr lang="en-US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5.</a:t>
            </a:r>
            <a:r>
              <a:rPr lang="zh-CN" altLang="en-US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zh-CN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如何控制错误风险。</a:t>
            </a:r>
          </a:p>
        </p:txBody>
      </p:sp>
      <p:sp>
        <p:nvSpPr>
          <p:cNvPr id="6" name="TextBox 66">
            <a:extLst>
              <a:ext uri="{FF2B5EF4-FFF2-40B4-BE49-F238E27FC236}">
                <a16:creationId xmlns:a16="http://schemas.microsoft.com/office/drawing/2014/main" id="{E4CC89B6-0F18-6DC2-DFBD-29E3D74404CE}"/>
              </a:ext>
            </a:extLst>
          </p:cNvPr>
          <p:cNvSpPr txBox="1"/>
          <p:nvPr/>
        </p:nvSpPr>
        <p:spPr>
          <a:xfrm>
            <a:off x="713231" y="2087386"/>
            <a:ext cx="6615415" cy="4343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从这</a:t>
            </a:r>
            <a:r>
              <a:rPr lang="en-US" altLang="zh-CN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5</a:t>
            </a:r>
            <a:r>
              <a:rPr lang="zh-CN" altLang="en-US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个方面去描述和思考：</a:t>
            </a:r>
            <a:endParaRPr lang="zh-CN" sz="2000" b="1" dirty="0">
              <a:solidFill>
                <a:srgbClr val="36D6C2"/>
              </a:solidFill>
              <a:latin typeface="Hiragino Sans GB"/>
              <a:ea typeface="Hiragino Sans GB"/>
            </a:endParaRPr>
          </a:p>
        </p:txBody>
      </p:sp>
      <p:sp>
        <p:nvSpPr>
          <p:cNvPr id="2" name="Shape 221">
            <a:extLst>
              <a:ext uri="{FF2B5EF4-FFF2-40B4-BE49-F238E27FC236}">
                <a16:creationId xmlns:a16="http://schemas.microsoft.com/office/drawing/2014/main" id="{AD4621E2-9C2B-22E6-4B8C-8DCCF276E574}"/>
              </a:ext>
            </a:extLst>
          </p:cNvPr>
          <p:cNvSpPr/>
          <p:nvPr/>
        </p:nvSpPr>
        <p:spPr>
          <a:xfrm>
            <a:off x="749808" y="560527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TextBox 222">
            <a:extLst>
              <a:ext uri="{FF2B5EF4-FFF2-40B4-BE49-F238E27FC236}">
                <a16:creationId xmlns:a16="http://schemas.microsoft.com/office/drawing/2014/main" id="{2A4C729A-2A5B-39F0-05A4-F1E21FCF4F62}"/>
              </a:ext>
            </a:extLst>
          </p:cNvPr>
          <p:cNvSpPr txBox="1"/>
          <p:nvPr/>
        </p:nvSpPr>
        <p:spPr>
          <a:xfrm>
            <a:off x="932688" y="57241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dirty="0">
                <a:solidFill>
                  <a:srgbClr val="FF7657"/>
                </a:solidFill>
                <a:latin typeface="Hiragino Sans GB"/>
                <a:ea typeface="Hiragino Sans GB"/>
              </a:rPr>
              <a:t>表达公式</a:t>
            </a:r>
            <a:endParaRPr lang="zh-CN" sz="1150" b="1" dirty="0">
              <a:solidFill>
                <a:srgbClr val="FF7657"/>
              </a:solidFill>
              <a:latin typeface="Hiragino Sans GB"/>
              <a:ea typeface="Hiragino Sans GB"/>
            </a:endParaRPr>
          </a:p>
        </p:txBody>
      </p:sp>
      <p:sp>
        <p:nvSpPr>
          <p:cNvPr id="5" name="TextBox 223">
            <a:extLst>
              <a:ext uri="{FF2B5EF4-FFF2-40B4-BE49-F238E27FC236}">
                <a16:creationId xmlns:a16="http://schemas.microsoft.com/office/drawing/2014/main" id="{07007562-A4D7-9BD5-CE73-C2065DE804F9}"/>
              </a:ext>
            </a:extLst>
          </p:cNvPr>
          <p:cNvSpPr txBox="1"/>
          <p:nvPr/>
        </p:nvSpPr>
        <p:spPr>
          <a:xfrm>
            <a:off x="2048256" y="569671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zh-CN" sz="1480" b="1" dirty="0">
                <a:solidFill>
                  <a:srgbClr val="F5F2E9"/>
                </a:solidFill>
                <a:latin typeface="Hiragino Sans GB"/>
                <a:ea typeface="Hiragino Sans GB"/>
              </a:rPr>
              <a:t>我决定了什么＋为什么这样决定＋还有什么方案＋为什么没有选择。</a:t>
            </a:r>
          </a:p>
        </p:txBody>
      </p:sp>
    </p:spTree>
    <p:extLst>
      <p:ext uri="{BB962C8B-B14F-4D97-AF65-F5344CB8AC3E}">
        <p14:creationId xmlns:p14="http://schemas.microsoft.com/office/powerpoint/2010/main" val="3836828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07A304-AC18-C245-164A-54A611C9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8">
            <a:extLst>
              <a:ext uri="{FF2B5EF4-FFF2-40B4-BE49-F238E27FC236}">
                <a16:creationId xmlns:a16="http://schemas.microsoft.com/office/drawing/2014/main" id="{EB109507-C400-7F74-DA14-742A1E48A5E6}"/>
              </a:ext>
            </a:extLst>
          </p:cNvPr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第二节｜专业性的四个支点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0DEB8D4D-977E-F21B-D30F-3F785741663C}"/>
              </a:ext>
            </a:extLst>
          </p:cNvPr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60" name="Shape 60">
            <a:extLst>
              <a:ext uri="{FF2B5EF4-FFF2-40B4-BE49-F238E27FC236}">
                <a16:creationId xmlns:a16="http://schemas.microsoft.com/office/drawing/2014/main" id="{8EAA0235-7911-A89A-50A1-B139B90C92B4}"/>
              </a:ext>
            </a:extLst>
          </p:cNvPr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DE61C4E8-7AE7-2B2F-6B91-93F0FE9F46E2}"/>
              </a:ext>
            </a:extLst>
          </p:cNvPr>
          <p:cNvSpPr/>
          <p:nvPr/>
        </p:nvSpPr>
        <p:spPr>
          <a:xfrm>
            <a:off x="694944" y="6501384"/>
            <a:ext cx="20785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49629D3C-A207-2C80-B516-02F529F21314}"/>
              </a:ext>
            </a:extLst>
          </p:cNvPr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r>
              <a:rPr lang="zh-CN" alt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验得过：项目失败过、修改过，也重新检查过</a:t>
            </a: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FC749298-1880-DD9C-189D-3EDD4A7E774F}"/>
              </a:ext>
            </a:extLst>
          </p:cNvPr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Shape 65">
            <a:extLst>
              <a:ext uri="{FF2B5EF4-FFF2-40B4-BE49-F238E27FC236}">
                <a16:creationId xmlns:a16="http://schemas.microsoft.com/office/drawing/2014/main" id="{21D4B96E-14E9-D1BC-68BC-230CAFC73869}"/>
              </a:ext>
            </a:extLst>
          </p:cNvPr>
          <p:cNvSpPr/>
          <p:nvPr/>
        </p:nvSpPr>
        <p:spPr>
          <a:xfrm>
            <a:off x="749808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5" name="TextBox 66">
            <a:extLst>
              <a:ext uri="{FF2B5EF4-FFF2-40B4-BE49-F238E27FC236}">
                <a16:creationId xmlns:a16="http://schemas.microsoft.com/office/drawing/2014/main" id="{3585B11F-C2A6-B8E8-7E5D-1E17A7CBF959}"/>
              </a:ext>
            </a:extLst>
          </p:cNvPr>
          <p:cNvSpPr txBox="1"/>
          <p:nvPr/>
        </p:nvSpPr>
        <p:spPr>
          <a:xfrm>
            <a:off x="932688" y="2286000"/>
            <a:ext cx="2096262" cy="4343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普通表达</a:t>
            </a:r>
            <a:endParaRPr lang="zh-CN" sz="2000" b="1" dirty="0">
              <a:solidFill>
                <a:srgbClr val="36D6C2"/>
              </a:solidFill>
              <a:latin typeface="Hiragino Sans GB"/>
              <a:ea typeface="Hiragino Sans GB"/>
            </a:endParaRPr>
          </a:p>
        </p:txBody>
      </p:sp>
      <p:sp>
        <p:nvSpPr>
          <p:cNvPr id="7" name="TextBox 68">
            <a:extLst>
              <a:ext uri="{FF2B5EF4-FFF2-40B4-BE49-F238E27FC236}">
                <a16:creationId xmlns:a16="http://schemas.microsoft.com/office/drawing/2014/main" id="{073FF66B-7687-8DA7-7835-46784DAD3ABC}"/>
              </a:ext>
            </a:extLst>
          </p:cNvPr>
          <p:cNvSpPr txBox="1"/>
          <p:nvPr/>
        </p:nvSpPr>
        <p:spPr>
          <a:xfrm>
            <a:off x="932688" y="2738629"/>
            <a:ext cx="2096262" cy="22539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r>
              <a:rPr lang="zh-CN" altLang="zh-CN" dirty="0">
                <a:solidFill>
                  <a:srgbClr val="A7B5BC"/>
                </a:solidFill>
                <a:latin typeface="Hiragino Sans GB"/>
                <a:ea typeface="Hiragino Sans GB"/>
              </a:rPr>
              <a:t>项目经过测试，整体效果良好。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zh-CN" b="0" dirty="0">
              <a:solidFill>
                <a:srgbClr val="A7B5BC"/>
              </a:solidFill>
              <a:latin typeface="Hiragino Sans GB"/>
              <a:ea typeface="Hiragino Sans GB"/>
            </a:endParaRPr>
          </a:p>
        </p:txBody>
      </p:sp>
      <p:sp>
        <p:nvSpPr>
          <p:cNvPr id="8" name="Shape 65">
            <a:extLst>
              <a:ext uri="{FF2B5EF4-FFF2-40B4-BE49-F238E27FC236}">
                <a16:creationId xmlns:a16="http://schemas.microsoft.com/office/drawing/2014/main" id="{69C4B675-9992-7D7C-AB86-F940050D53B5}"/>
              </a:ext>
            </a:extLst>
          </p:cNvPr>
          <p:cNvSpPr/>
          <p:nvPr/>
        </p:nvSpPr>
        <p:spPr>
          <a:xfrm>
            <a:off x="5783490" y="2103120"/>
            <a:ext cx="4624533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9" name="TextBox 66">
            <a:extLst>
              <a:ext uri="{FF2B5EF4-FFF2-40B4-BE49-F238E27FC236}">
                <a16:creationId xmlns:a16="http://schemas.microsoft.com/office/drawing/2014/main" id="{E62AE4FD-1330-472F-ADE1-D72CBFBFA0FE}"/>
              </a:ext>
            </a:extLst>
          </p:cNvPr>
          <p:cNvSpPr txBox="1"/>
          <p:nvPr/>
        </p:nvSpPr>
        <p:spPr>
          <a:xfrm>
            <a:off x="5966370" y="2286000"/>
            <a:ext cx="2096262" cy="4343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专业表达</a:t>
            </a:r>
            <a:endParaRPr lang="zh-CN" sz="2000" b="1" dirty="0">
              <a:solidFill>
                <a:srgbClr val="36D6C2"/>
              </a:solidFill>
              <a:latin typeface="Hiragino Sans GB"/>
              <a:ea typeface="Hiragino Sans GB"/>
            </a:endParaRPr>
          </a:p>
        </p:txBody>
      </p:sp>
      <p:sp>
        <p:nvSpPr>
          <p:cNvPr id="10" name="TextBox 68">
            <a:extLst>
              <a:ext uri="{FF2B5EF4-FFF2-40B4-BE49-F238E27FC236}">
                <a16:creationId xmlns:a16="http://schemas.microsoft.com/office/drawing/2014/main" id="{51FDE054-E40F-E5B2-DA56-B67EDF0FF63F}"/>
              </a:ext>
            </a:extLst>
          </p:cNvPr>
          <p:cNvSpPr txBox="1"/>
          <p:nvPr/>
        </p:nvSpPr>
        <p:spPr>
          <a:xfrm>
            <a:off x="5966369" y="2738629"/>
            <a:ext cx="4280289" cy="22539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r>
              <a:rPr lang="zh-CN" altLang="zh-CN" dirty="0">
                <a:solidFill>
                  <a:srgbClr val="A7B5BC"/>
                </a:solidFill>
                <a:latin typeface="Hiragino Sans GB"/>
                <a:ea typeface="Hiragino Sans GB"/>
              </a:rPr>
              <a:t>测试中发现，用户先选择第二个订单，之后改成第一个订单时，系统仍然保留原订单的确认状态。原因是订单对象变化后，旧状态没有失效。我增加了订单变化后的状态清空逻辑，并重新测试了订单切换、商品切换和售后原因修改三个场景。</a:t>
            </a:r>
          </a:p>
          <a:p>
            <a:endParaRPr lang="zh-CN" altLang="zh-CN" dirty="0">
              <a:solidFill>
                <a:srgbClr val="A7B5BC"/>
              </a:solidFill>
              <a:latin typeface="Hiragino Sans GB"/>
              <a:ea typeface="Hiragino Sans GB"/>
            </a:endParaRP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A471978E-8C2B-A1EC-E6D9-D06CA5145812}"/>
              </a:ext>
            </a:extLst>
          </p:cNvPr>
          <p:cNvSpPr/>
          <p:nvPr/>
        </p:nvSpPr>
        <p:spPr>
          <a:xfrm>
            <a:off x="3926160" y="3079376"/>
            <a:ext cx="1143000" cy="69924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Shape 221">
            <a:extLst>
              <a:ext uri="{FF2B5EF4-FFF2-40B4-BE49-F238E27FC236}">
                <a16:creationId xmlns:a16="http://schemas.microsoft.com/office/drawing/2014/main" id="{36377AC8-12F9-A30D-E28F-2F1B54ACF522}"/>
              </a:ext>
            </a:extLst>
          </p:cNvPr>
          <p:cNvSpPr/>
          <p:nvPr/>
        </p:nvSpPr>
        <p:spPr>
          <a:xfrm>
            <a:off x="749808" y="560527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" name="TextBox 222">
            <a:extLst>
              <a:ext uri="{FF2B5EF4-FFF2-40B4-BE49-F238E27FC236}">
                <a16:creationId xmlns:a16="http://schemas.microsoft.com/office/drawing/2014/main" id="{A7771C40-D56A-8046-3285-D6583C10FA69}"/>
              </a:ext>
            </a:extLst>
          </p:cNvPr>
          <p:cNvSpPr txBox="1"/>
          <p:nvPr/>
        </p:nvSpPr>
        <p:spPr>
          <a:xfrm>
            <a:off x="932688" y="57241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dirty="0">
                <a:solidFill>
                  <a:srgbClr val="FF7657"/>
                </a:solidFill>
                <a:latin typeface="Hiragino Sans GB"/>
                <a:ea typeface="Hiragino Sans GB"/>
              </a:rPr>
              <a:t>表达公式</a:t>
            </a:r>
            <a:endParaRPr lang="zh-CN" sz="1150" b="1" dirty="0">
              <a:solidFill>
                <a:srgbClr val="FF7657"/>
              </a:solidFill>
              <a:latin typeface="Hiragino Sans GB"/>
              <a:ea typeface="Hiragino Sans GB"/>
            </a:endParaRPr>
          </a:p>
        </p:txBody>
      </p:sp>
      <p:sp>
        <p:nvSpPr>
          <p:cNvPr id="6" name="TextBox 223">
            <a:extLst>
              <a:ext uri="{FF2B5EF4-FFF2-40B4-BE49-F238E27FC236}">
                <a16:creationId xmlns:a16="http://schemas.microsoft.com/office/drawing/2014/main" id="{4C64DF43-7440-0F95-33F1-24D1EA6D3E72}"/>
              </a:ext>
            </a:extLst>
          </p:cNvPr>
          <p:cNvSpPr txBox="1"/>
          <p:nvPr/>
        </p:nvSpPr>
        <p:spPr>
          <a:xfrm>
            <a:off x="2048256" y="569671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r>
              <a:rPr lang="zh-CN" altLang="zh-CN" sz="1480" b="1" dirty="0">
                <a:solidFill>
                  <a:srgbClr val="F5F2E9"/>
                </a:solidFill>
                <a:latin typeface="Hiragino Sans GB"/>
                <a:ea typeface="Hiragino Sans GB"/>
              </a:rPr>
              <a:t>我测试了什么＋发现了什么＋为什么发生＋如何修改＋修改后如何确认。</a:t>
            </a:r>
          </a:p>
        </p:txBody>
      </p:sp>
    </p:spTree>
    <p:extLst>
      <p:ext uri="{BB962C8B-B14F-4D97-AF65-F5344CB8AC3E}">
        <p14:creationId xmlns:p14="http://schemas.microsoft.com/office/powerpoint/2010/main" val="4140571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8E299-076B-A4F6-E32C-AB122654F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8">
            <a:extLst>
              <a:ext uri="{FF2B5EF4-FFF2-40B4-BE49-F238E27FC236}">
                <a16:creationId xmlns:a16="http://schemas.microsoft.com/office/drawing/2014/main" id="{AA2664EF-7967-AC6B-C7F3-2D801FD27DA5}"/>
              </a:ext>
            </a:extLst>
          </p:cNvPr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第二节｜专业性的四个支点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489E53A0-090D-C3E5-3510-8EE59BEC72E0}"/>
              </a:ext>
            </a:extLst>
          </p:cNvPr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60" name="Shape 60">
            <a:extLst>
              <a:ext uri="{FF2B5EF4-FFF2-40B4-BE49-F238E27FC236}">
                <a16:creationId xmlns:a16="http://schemas.microsoft.com/office/drawing/2014/main" id="{698557D2-B98B-36CF-2079-928A1D127ECD}"/>
              </a:ext>
            </a:extLst>
          </p:cNvPr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4199E44F-423F-64F3-546E-CB8AD5491CEE}"/>
              </a:ext>
            </a:extLst>
          </p:cNvPr>
          <p:cNvSpPr/>
          <p:nvPr/>
        </p:nvSpPr>
        <p:spPr>
          <a:xfrm>
            <a:off x="694944" y="6501384"/>
            <a:ext cx="20785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220DE47-F740-63B5-2419-855E62C7E4AE}"/>
              </a:ext>
            </a:extLst>
          </p:cNvPr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r>
              <a:rPr lang="zh-CN" alt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说得清：准确说明已经上线到什么程度</a:t>
            </a: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E0C37F21-EA35-2A8B-894B-12B7EFFE7285}"/>
              </a:ext>
            </a:extLst>
          </p:cNvPr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Shape 65">
            <a:extLst>
              <a:ext uri="{FF2B5EF4-FFF2-40B4-BE49-F238E27FC236}">
                <a16:creationId xmlns:a16="http://schemas.microsoft.com/office/drawing/2014/main" id="{8EE1FB5F-863F-CB9B-1051-7EC84C6ECF5D}"/>
              </a:ext>
            </a:extLst>
          </p:cNvPr>
          <p:cNvSpPr/>
          <p:nvPr/>
        </p:nvSpPr>
        <p:spPr>
          <a:xfrm>
            <a:off x="749808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5" name="TextBox 66">
            <a:extLst>
              <a:ext uri="{FF2B5EF4-FFF2-40B4-BE49-F238E27FC236}">
                <a16:creationId xmlns:a16="http://schemas.microsoft.com/office/drawing/2014/main" id="{D885E8C3-010F-44B1-7486-B55DDF4405A2}"/>
              </a:ext>
            </a:extLst>
          </p:cNvPr>
          <p:cNvSpPr txBox="1"/>
          <p:nvPr/>
        </p:nvSpPr>
        <p:spPr>
          <a:xfrm>
            <a:off x="932688" y="2286000"/>
            <a:ext cx="2096262" cy="4343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普通表达</a:t>
            </a:r>
            <a:endParaRPr lang="zh-CN" sz="2000" b="1" dirty="0">
              <a:solidFill>
                <a:srgbClr val="36D6C2"/>
              </a:solidFill>
              <a:latin typeface="Hiragino Sans GB"/>
              <a:ea typeface="Hiragino Sans GB"/>
            </a:endParaRPr>
          </a:p>
        </p:txBody>
      </p:sp>
      <p:sp>
        <p:nvSpPr>
          <p:cNvPr id="7" name="TextBox 68">
            <a:extLst>
              <a:ext uri="{FF2B5EF4-FFF2-40B4-BE49-F238E27FC236}">
                <a16:creationId xmlns:a16="http://schemas.microsoft.com/office/drawing/2014/main" id="{F479043F-07B0-4B75-BD2D-42A68652CB1C}"/>
              </a:ext>
            </a:extLst>
          </p:cNvPr>
          <p:cNvSpPr txBox="1"/>
          <p:nvPr/>
        </p:nvSpPr>
        <p:spPr>
          <a:xfrm>
            <a:off x="932688" y="2738629"/>
            <a:ext cx="2096262" cy="22539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r>
              <a:rPr lang="zh-CN" altLang="zh-CN" dirty="0">
                <a:solidFill>
                  <a:srgbClr val="A7B5BC"/>
                </a:solidFill>
                <a:latin typeface="Hiragino Sans GB"/>
                <a:ea typeface="Hiragino Sans GB"/>
              </a:rPr>
              <a:t>项目上线后显著提高了客服效率，降低了人工成本，并大幅提升了用户满意度。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zh-CN" b="0" dirty="0">
              <a:solidFill>
                <a:srgbClr val="A7B5BC"/>
              </a:solidFill>
              <a:latin typeface="Hiragino Sans GB"/>
              <a:ea typeface="Hiragino Sans GB"/>
            </a:endParaRPr>
          </a:p>
        </p:txBody>
      </p:sp>
      <p:sp>
        <p:nvSpPr>
          <p:cNvPr id="8" name="Shape 65">
            <a:extLst>
              <a:ext uri="{FF2B5EF4-FFF2-40B4-BE49-F238E27FC236}">
                <a16:creationId xmlns:a16="http://schemas.microsoft.com/office/drawing/2014/main" id="{868ED3E8-3556-8FEA-9EF6-E24B45EFFB1C}"/>
              </a:ext>
            </a:extLst>
          </p:cNvPr>
          <p:cNvSpPr/>
          <p:nvPr/>
        </p:nvSpPr>
        <p:spPr>
          <a:xfrm>
            <a:off x="5783490" y="2103120"/>
            <a:ext cx="4624533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9" name="TextBox 66">
            <a:extLst>
              <a:ext uri="{FF2B5EF4-FFF2-40B4-BE49-F238E27FC236}">
                <a16:creationId xmlns:a16="http://schemas.microsoft.com/office/drawing/2014/main" id="{87DB486C-58A6-4574-7A55-8E4E8F9385F3}"/>
              </a:ext>
            </a:extLst>
          </p:cNvPr>
          <p:cNvSpPr txBox="1"/>
          <p:nvPr/>
        </p:nvSpPr>
        <p:spPr>
          <a:xfrm>
            <a:off x="5966370" y="2286000"/>
            <a:ext cx="2096262" cy="4343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36D6C2"/>
                </a:solidFill>
                <a:latin typeface="Hiragino Sans GB"/>
                <a:ea typeface="Hiragino Sans GB"/>
              </a:rPr>
              <a:t>专业表达</a:t>
            </a:r>
            <a:endParaRPr lang="zh-CN" sz="2000" b="1" dirty="0">
              <a:solidFill>
                <a:srgbClr val="36D6C2"/>
              </a:solidFill>
              <a:latin typeface="Hiragino Sans GB"/>
              <a:ea typeface="Hiragino Sans GB"/>
            </a:endParaRPr>
          </a:p>
        </p:txBody>
      </p:sp>
      <p:sp>
        <p:nvSpPr>
          <p:cNvPr id="10" name="TextBox 68">
            <a:extLst>
              <a:ext uri="{FF2B5EF4-FFF2-40B4-BE49-F238E27FC236}">
                <a16:creationId xmlns:a16="http://schemas.microsoft.com/office/drawing/2014/main" id="{61E5DC2F-4DBE-AEF4-3570-5094E887DD27}"/>
              </a:ext>
            </a:extLst>
          </p:cNvPr>
          <p:cNvSpPr txBox="1"/>
          <p:nvPr/>
        </p:nvSpPr>
        <p:spPr>
          <a:xfrm>
            <a:off x="5966369" y="2738629"/>
            <a:ext cx="4280289" cy="22539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r>
              <a:rPr lang="zh-CN" altLang="zh-CN" dirty="0">
                <a:solidFill>
                  <a:srgbClr val="A7B5BC"/>
                </a:solidFill>
                <a:latin typeface="Hiragino Sans GB"/>
                <a:ea typeface="Hiragino Sans GB"/>
              </a:rPr>
              <a:t>项目已经上线运行【实际时长】，覆盖【实际上线场景】。期间共处理【实际会话量】次用户会话，其中【实际比例】完成自助处理，【实际比例】转交人工。与上线前相比，相关场景的平均人工处理时长从【实际数据】下降到【实际数据】。当前结果主要来自【当前覆盖范围】，尚不能代表【未覆盖范围】。</a:t>
            </a:r>
          </a:p>
          <a:p>
            <a:endParaRPr lang="zh-CN" altLang="zh-CN" dirty="0">
              <a:solidFill>
                <a:srgbClr val="A7B5BC"/>
              </a:solidFill>
              <a:latin typeface="Hiragino Sans GB"/>
              <a:ea typeface="Hiragino Sans GB"/>
            </a:endParaRP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C4777018-447A-9B3E-2C13-2D4614B9ADF9}"/>
              </a:ext>
            </a:extLst>
          </p:cNvPr>
          <p:cNvSpPr/>
          <p:nvPr/>
        </p:nvSpPr>
        <p:spPr>
          <a:xfrm>
            <a:off x="3926160" y="3079376"/>
            <a:ext cx="1143000" cy="69924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0809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4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第二节｜专业性的四个支点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86" name="Shape 86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87" name="Shape 87"/>
          <p:cNvSpPr/>
          <p:nvPr/>
        </p:nvSpPr>
        <p:spPr>
          <a:xfrm>
            <a:off x="694944" y="6501384"/>
            <a:ext cx="24942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88" name="TextBox 88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四句话快速判断</a:t>
            </a:r>
          </a:p>
        </p:txBody>
      </p:sp>
      <p:sp>
        <p:nvSpPr>
          <p:cNvPr id="89" name="Shape 89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90" name="TextBox 90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每句话分别对应哪一个支点？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59536" y="1920240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句子 1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907792" y="1920240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用户表面问能不能退款，实际任务是确认具体订单是否符合条件。</a:t>
            </a:r>
          </a:p>
        </p:txBody>
      </p:sp>
      <p:sp>
        <p:nvSpPr>
          <p:cNvPr id="93" name="Shape 93"/>
          <p:cNvSpPr/>
          <p:nvPr/>
        </p:nvSpPr>
        <p:spPr>
          <a:xfrm>
            <a:off x="859536" y="2478024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94" name="TextBox 94"/>
          <p:cNvSpPr txBox="1"/>
          <p:nvPr/>
        </p:nvSpPr>
        <p:spPr>
          <a:xfrm>
            <a:off x="859536" y="267004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7657"/>
                </a:solidFill>
                <a:latin typeface="Hiragino Sans GB"/>
                <a:ea typeface="Hiragino Sans GB"/>
              </a:rPr>
              <a:t>句子 2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907792" y="267004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我没有让大模型直接判断退款资格，因为错误判断会影响用户权益。</a:t>
            </a:r>
          </a:p>
        </p:txBody>
      </p:sp>
      <p:sp>
        <p:nvSpPr>
          <p:cNvPr id="96" name="Shape 96"/>
          <p:cNvSpPr/>
          <p:nvPr/>
        </p:nvSpPr>
        <p:spPr>
          <a:xfrm>
            <a:off x="859536" y="322783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97" name="TextBox 97"/>
          <p:cNvSpPr txBox="1"/>
          <p:nvPr/>
        </p:nvSpPr>
        <p:spPr>
          <a:xfrm>
            <a:off x="859536" y="3419856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0C565"/>
                </a:solidFill>
                <a:latin typeface="Hiragino Sans GB"/>
                <a:ea typeface="Hiragino Sans GB"/>
              </a:rPr>
              <a:t>句子 3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907792" y="3419856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用户更换订单后仍沿用旧状态，我修改后重新测试了三个相关场景。</a:t>
            </a:r>
          </a:p>
        </p:txBody>
      </p:sp>
      <p:sp>
        <p:nvSpPr>
          <p:cNvPr id="99" name="Shape 99"/>
          <p:cNvSpPr/>
          <p:nvPr/>
        </p:nvSpPr>
        <p:spPr>
          <a:xfrm>
            <a:off x="859536" y="3977640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00" name="TextBox 100"/>
          <p:cNvSpPr txBox="1"/>
          <p:nvPr/>
        </p:nvSpPr>
        <p:spPr>
          <a:xfrm>
            <a:off x="859536" y="4169664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68D391"/>
                </a:solidFill>
                <a:latin typeface="Hiragino Sans GB"/>
                <a:ea typeface="Hiragino Sans GB"/>
              </a:rPr>
              <a:t>句子 4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907792" y="4169664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产品已经上线，但当前样本不足以判断长期成本变化。</a:t>
            </a:r>
          </a:p>
        </p:txBody>
      </p:sp>
      <p:sp>
        <p:nvSpPr>
          <p:cNvPr id="102" name="Shape 102"/>
          <p:cNvSpPr/>
          <p:nvPr/>
        </p:nvSpPr>
        <p:spPr>
          <a:xfrm>
            <a:off x="859536" y="4727448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4076E-B488-FC1A-BE16-613BE5BE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7179F756-42FC-67F2-30F9-7AFCBCDDCB12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1DDAEAE-A4E6-276E-BD5F-16012882325D}"/>
              </a:ext>
            </a:extLst>
          </p:cNvPr>
          <p:cNvSpPr txBox="1"/>
          <p:nvPr/>
        </p:nvSpPr>
        <p:spPr>
          <a:xfrm>
            <a:off x="1665195" y="2807208"/>
            <a:ext cx="8861610" cy="12435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 fontScale="92500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200" b="1" dirty="0">
                <a:solidFill>
                  <a:srgbClr val="F5F2E9"/>
                </a:solidFill>
                <a:latin typeface="Hiragino Sans GB"/>
                <a:ea typeface="Hiragino Sans GB"/>
              </a:rPr>
              <a:t>回答问题时尽量往刚才的几个方向上靠</a:t>
            </a:r>
            <a:endParaRPr lang="zh-CN" sz="420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669527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CEA249-48A6-987F-6408-70DAFC1B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0E7A0A4E-1DE4-FA33-4E27-A1C42F4F2B29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77FC06C-0BF6-B595-35A5-0854E09BF506}"/>
              </a:ext>
            </a:extLst>
          </p:cNvPr>
          <p:cNvSpPr txBox="1"/>
          <p:nvPr/>
        </p:nvSpPr>
        <p:spPr>
          <a:xfrm>
            <a:off x="2840290" y="2807208"/>
            <a:ext cx="6511420" cy="12435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200" b="1" dirty="0">
                <a:solidFill>
                  <a:srgbClr val="F5F2E9"/>
                </a:solidFill>
                <a:latin typeface="Hiragino Sans GB"/>
                <a:ea typeface="Hiragino Sans GB"/>
              </a:rPr>
              <a:t>二、</a:t>
            </a:r>
            <a:r>
              <a:rPr lang="en-US" altLang="zh-CN" sz="4200" b="1" dirty="0">
                <a:solidFill>
                  <a:srgbClr val="F5F2E9"/>
                </a:solidFill>
                <a:latin typeface="Hiragino Sans GB"/>
                <a:ea typeface="Hiragino Sans GB"/>
              </a:rPr>
              <a:t>AI</a:t>
            </a:r>
            <a:r>
              <a:rPr lang="zh-CN" altLang="en-US" sz="4200" b="1" dirty="0">
                <a:solidFill>
                  <a:srgbClr val="F5F2E9"/>
                </a:solidFill>
                <a:latin typeface="Hiragino Sans GB"/>
                <a:ea typeface="Hiragino Sans GB"/>
              </a:rPr>
              <a:t>作品集</a:t>
            </a:r>
            <a:endParaRPr lang="zh-CN" sz="420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3665509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06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108" name="Shape 10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09" name="Shape 109"/>
          <p:cNvSpPr/>
          <p:nvPr/>
        </p:nvSpPr>
        <p:spPr>
          <a:xfrm>
            <a:off x="694944" y="6501384"/>
            <a:ext cx="29099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10" name="TextBox 11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传统产品作品集与 AI 产品作品集</a:t>
            </a:r>
          </a:p>
        </p:txBody>
      </p:sp>
      <p:sp>
        <p:nvSpPr>
          <p:cNvPr id="111" name="Shape 11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19" name="Shape 119"/>
          <p:cNvSpPr/>
          <p:nvPr/>
        </p:nvSpPr>
        <p:spPr>
          <a:xfrm>
            <a:off x="749808" y="555955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20" name="TextBox 120"/>
          <p:cNvSpPr txBox="1"/>
          <p:nvPr/>
        </p:nvSpPr>
        <p:spPr>
          <a:xfrm>
            <a:off x="932688" y="567842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核心区别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2103120" y="565099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AI 产品还要说明 AI 负责什么、不负责什么，出现不确定结果时怎么办。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E9CCE91-4B3F-1AA3-0A25-B75A16CB5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476854"/>
            <a:ext cx="7772400" cy="39387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124" name="Shape 124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25" name="Shape 125"/>
          <p:cNvSpPr/>
          <p:nvPr/>
        </p:nvSpPr>
        <p:spPr>
          <a:xfrm>
            <a:off x="694944" y="6501384"/>
            <a:ext cx="33256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26" name="TextBox 126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作品集先回答四个问题</a:t>
            </a:r>
          </a:p>
        </p:txBody>
      </p:sp>
      <p:sp>
        <p:nvSpPr>
          <p:cNvPr id="127" name="Shape 127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28" name="TextBox 128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面试官按照理解项目的顺序阅读</a:t>
            </a:r>
          </a:p>
        </p:txBody>
      </p:sp>
      <p:sp>
        <p:nvSpPr>
          <p:cNvPr id="129" name="Shape 129"/>
          <p:cNvSpPr/>
          <p:nvPr/>
        </p:nvSpPr>
        <p:spPr>
          <a:xfrm>
            <a:off x="749808" y="2176272"/>
            <a:ext cx="2462022" cy="292608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30" name="TextBox 130"/>
          <p:cNvSpPr txBox="1"/>
          <p:nvPr/>
        </p:nvSpPr>
        <p:spPr>
          <a:xfrm>
            <a:off x="932688" y="2359152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932688" y="2670048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这是什么产品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932688" y="3127248"/>
            <a:ext cx="2096262" cy="18288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产品定位、目标用户与 MVP</a:t>
            </a:r>
          </a:p>
        </p:txBody>
      </p:sp>
      <p:sp>
        <p:nvSpPr>
          <p:cNvPr id="133" name="Shape 133"/>
          <p:cNvSpPr/>
          <p:nvPr/>
        </p:nvSpPr>
        <p:spPr>
          <a:xfrm>
            <a:off x="3440430" y="2176272"/>
            <a:ext cx="2462022" cy="292608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34" name="TextBox 134"/>
          <p:cNvSpPr txBox="1"/>
          <p:nvPr/>
        </p:nvSpPr>
        <p:spPr>
          <a:xfrm>
            <a:off x="3623310" y="2359152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3623310" y="2670048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用户怎样使用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3623310" y="3127248"/>
            <a:ext cx="2096262" cy="18288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核心流程、关键页面与状态</a:t>
            </a:r>
          </a:p>
        </p:txBody>
      </p:sp>
      <p:sp>
        <p:nvSpPr>
          <p:cNvPr id="137" name="Shape 137"/>
          <p:cNvSpPr/>
          <p:nvPr/>
        </p:nvSpPr>
        <p:spPr>
          <a:xfrm>
            <a:off x="6131052" y="2176272"/>
            <a:ext cx="2462022" cy="292608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38" name="TextBox 138"/>
          <p:cNvSpPr txBox="1"/>
          <p:nvPr/>
        </p:nvSpPr>
        <p:spPr>
          <a:xfrm>
            <a:off x="6313932" y="2359152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6313932" y="2670048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为什么这样设计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6313932" y="3127248"/>
            <a:ext cx="2096262" cy="18288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能力分工与关键产品决策</a:t>
            </a:r>
          </a:p>
        </p:txBody>
      </p:sp>
      <p:sp>
        <p:nvSpPr>
          <p:cNvPr id="141" name="Shape 141"/>
          <p:cNvSpPr/>
          <p:nvPr/>
        </p:nvSpPr>
        <p:spPr>
          <a:xfrm>
            <a:off x="8821674" y="2176272"/>
            <a:ext cx="2462022" cy="292608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42" name="TextBox 142"/>
          <p:cNvSpPr txBox="1"/>
          <p:nvPr/>
        </p:nvSpPr>
        <p:spPr>
          <a:xfrm>
            <a:off x="9004554" y="2359152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9004554" y="2670048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实际运行怎样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9004554" y="3127248"/>
            <a:ext cx="2096262" cy="18288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修改过程、上线结果与限制</a:t>
            </a:r>
          </a:p>
        </p:txBody>
      </p:sp>
      <p:sp>
        <p:nvSpPr>
          <p:cNvPr id="145" name="Shape 145"/>
          <p:cNvSpPr/>
          <p:nvPr/>
        </p:nvSpPr>
        <p:spPr>
          <a:xfrm>
            <a:off x="749808" y="5394960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46" name="TextBox 146"/>
          <p:cNvSpPr txBox="1"/>
          <p:nvPr/>
        </p:nvSpPr>
        <p:spPr>
          <a:xfrm>
            <a:off x="932688" y="551383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阅读逻辑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2103120" y="5486400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产品是主体，判断解释设计，结果说明项目实际进展。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48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09</a:t>
            </a:r>
          </a:p>
        </p:txBody>
      </p:sp>
      <p:sp>
        <p:nvSpPr>
          <p:cNvPr id="150" name="Shape 150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51" name="Shape 151"/>
          <p:cNvSpPr/>
          <p:nvPr/>
        </p:nvSpPr>
        <p:spPr>
          <a:xfrm>
            <a:off x="694944" y="6501384"/>
            <a:ext cx="3741303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52" name="TextBox 152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完整作品集的八个部分</a:t>
            </a:r>
          </a:p>
        </p:txBody>
      </p:sp>
      <p:sp>
        <p:nvSpPr>
          <p:cNvPr id="153" name="Shape 153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54" name="TextBox 154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顺序按照面试官理解项目的过程排列</a:t>
            </a:r>
          </a:p>
        </p:txBody>
      </p:sp>
      <p:sp>
        <p:nvSpPr>
          <p:cNvPr id="155" name="Shape 155"/>
          <p:cNvSpPr/>
          <p:nvPr/>
        </p:nvSpPr>
        <p:spPr>
          <a:xfrm>
            <a:off x="768096" y="1901952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56" name="TextBox 156"/>
          <p:cNvSpPr txBox="1"/>
          <p:nvPr/>
        </p:nvSpPr>
        <p:spPr>
          <a:xfrm>
            <a:off x="950976" y="2084832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950976" y="239572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项目概览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950976" y="285292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项目全貌</a:t>
            </a:r>
          </a:p>
        </p:txBody>
      </p:sp>
      <p:sp>
        <p:nvSpPr>
          <p:cNvPr id="159" name="Arrow 159"/>
          <p:cNvSpPr/>
          <p:nvPr/>
        </p:nvSpPr>
        <p:spPr>
          <a:xfrm>
            <a:off x="3255264" y="253746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0" name="Shape 160"/>
          <p:cNvSpPr/>
          <p:nvPr/>
        </p:nvSpPr>
        <p:spPr>
          <a:xfrm>
            <a:off x="3438144" y="1901952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61" name="TextBox 161"/>
          <p:cNvSpPr txBox="1"/>
          <p:nvPr/>
        </p:nvSpPr>
        <p:spPr>
          <a:xfrm>
            <a:off x="3621024" y="2084832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3621024" y="239572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 dirty="0">
                <a:solidFill>
                  <a:srgbClr val="F5F2E9"/>
                </a:solidFill>
                <a:latin typeface="Hiragino Sans GB"/>
                <a:ea typeface="Hiragino Sans GB"/>
              </a:rPr>
              <a:t>业务问题</a:t>
            </a:r>
            <a:r>
              <a:rPr lang="zh-CN" altLang="en-US" sz="1550" b="1" dirty="0">
                <a:solidFill>
                  <a:srgbClr val="F5F2E9"/>
                </a:solidFill>
                <a:latin typeface="Hiragino Sans GB"/>
                <a:ea typeface="Hiragino Sans GB"/>
              </a:rPr>
              <a:t>与产品目标</a:t>
            </a:r>
            <a:endParaRPr lang="zh-CN" sz="155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163" name="TextBox 163"/>
          <p:cNvSpPr txBox="1"/>
          <p:nvPr/>
        </p:nvSpPr>
        <p:spPr>
          <a:xfrm>
            <a:off x="3621024" y="285292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为什么做</a:t>
            </a:r>
          </a:p>
        </p:txBody>
      </p:sp>
      <p:sp>
        <p:nvSpPr>
          <p:cNvPr id="164" name="Arrow 164"/>
          <p:cNvSpPr/>
          <p:nvPr/>
        </p:nvSpPr>
        <p:spPr>
          <a:xfrm>
            <a:off x="5925312" y="253746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5" name="Shape 165"/>
          <p:cNvSpPr/>
          <p:nvPr/>
        </p:nvSpPr>
        <p:spPr>
          <a:xfrm>
            <a:off x="6108192" y="1901952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66" name="TextBox 166"/>
          <p:cNvSpPr txBox="1"/>
          <p:nvPr/>
        </p:nvSpPr>
        <p:spPr>
          <a:xfrm>
            <a:off x="6291072" y="2084832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6291072" y="239572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1" dirty="0">
                <a:solidFill>
                  <a:srgbClr val="F5F2E9"/>
                </a:solidFill>
                <a:latin typeface="Hiragino Sans GB"/>
                <a:ea typeface="Hiragino Sans GB"/>
              </a:rPr>
              <a:t>产品</a:t>
            </a:r>
            <a:r>
              <a:rPr lang="zh-CN" sz="1550" b="1" dirty="0">
                <a:solidFill>
                  <a:srgbClr val="F5F2E9"/>
                </a:solidFill>
                <a:latin typeface="Hiragino Sans GB"/>
                <a:ea typeface="Hiragino Sans GB"/>
              </a:rPr>
              <a:t>定位与 MVP</a:t>
            </a:r>
            <a:r>
              <a:rPr lang="zh-CN" altLang="en-US" sz="1550" b="1" dirty="0">
                <a:solidFill>
                  <a:srgbClr val="F5F2E9"/>
                </a:solidFill>
                <a:latin typeface="Hiragino Sans GB"/>
                <a:ea typeface="Hiragino Sans GB"/>
              </a:rPr>
              <a:t>范围</a:t>
            </a:r>
            <a:endParaRPr lang="zh-CN" sz="155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168" name="TextBox 168"/>
          <p:cNvSpPr txBox="1"/>
          <p:nvPr/>
        </p:nvSpPr>
        <p:spPr>
          <a:xfrm>
            <a:off x="6291072" y="285292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第一版边界</a:t>
            </a:r>
          </a:p>
        </p:txBody>
      </p:sp>
      <p:sp>
        <p:nvSpPr>
          <p:cNvPr id="169" name="Arrow 169"/>
          <p:cNvSpPr/>
          <p:nvPr/>
        </p:nvSpPr>
        <p:spPr>
          <a:xfrm>
            <a:off x="8595360" y="253746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" name="Shape 170"/>
          <p:cNvSpPr/>
          <p:nvPr/>
        </p:nvSpPr>
        <p:spPr>
          <a:xfrm>
            <a:off x="8778240" y="1901952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71" name="TextBox 171"/>
          <p:cNvSpPr txBox="1"/>
          <p:nvPr/>
        </p:nvSpPr>
        <p:spPr>
          <a:xfrm>
            <a:off x="8961120" y="2084832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8961120" y="239572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 dirty="0">
                <a:solidFill>
                  <a:srgbClr val="F5F2E9"/>
                </a:solidFill>
                <a:latin typeface="Hiragino Sans GB"/>
                <a:ea typeface="Hiragino Sans GB"/>
              </a:rPr>
              <a:t>产品形态</a:t>
            </a:r>
            <a:r>
              <a:rPr lang="zh-CN" altLang="en-US" sz="1550" b="1" dirty="0">
                <a:solidFill>
                  <a:srgbClr val="F5F2E9"/>
                </a:solidFill>
                <a:latin typeface="Hiragino Sans GB"/>
                <a:ea typeface="Hiragino Sans GB"/>
              </a:rPr>
              <a:t>与核心流程</a:t>
            </a:r>
            <a:endParaRPr lang="zh-CN" sz="155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173" name="TextBox 173"/>
          <p:cNvSpPr txBox="1"/>
          <p:nvPr/>
        </p:nvSpPr>
        <p:spPr>
          <a:xfrm>
            <a:off x="8961120" y="285292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怎样完成任务</a:t>
            </a:r>
          </a:p>
        </p:txBody>
      </p:sp>
      <p:sp>
        <p:nvSpPr>
          <p:cNvPr id="174" name="Shape 174"/>
          <p:cNvSpPr/>
          <p:nvPr/>
        </p:nvSpPr>
        <p:spPr>
          <a:xfrm>
            <a:off x="768096" y="3803904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75" name="TextBox 175"/>
          <p:cNvSpPr txBox="1"/>
          <p:nvPr/>
        </p:nvSpPr>
        <p:spPr>
          <a:xfrm>
            <a:off x="950976" y="398678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950976" y="429768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1" dirty="0">
                <a:solidFill>
                  <a:srgbClr val="F5F2E9"/>
                </a:solidFill>
                <a:latin typeface="Hiragino Sans GB"/>
                <a:ea typeface="Hiragino Sans GB"/>
              </a:rPr>
              <a:t>核心</a:t>
            </a:r>
            <a:r>
              <a:rPr lang="zh-CN" sz="1550" b="1" dirty="0">
                <a:solidFill>
                  <a:srgbClr val="F5F2E9"/>
                </a:solidFill>
                <a:latin typeface="Hiragino Sans GB"/>
                <a:ea typeface="Hiragino Sans GB"/>
              </a:rPr>
              <a:t>页面与状态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950976" y="4754880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产品怎样使用</a:t>
            </a:r>
          </a:p>
        </p:txBody>
      </p:sp>
      <p:sp>
        <p:nvSpPr>
          <p:cNvPr id="178" name="Arrow 178"/>
          <p:cNvSpPr/>
          <p:nvPr/>
        </p:nvSpPr>
        <p:spPr>
          <a:xfrm>
            <a:off x="3255264" y="443941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9" name="Shape 179"/>
          <p:cNvSpPr/>
          <p:nvPr/>
        </p:nvSpPr>
        <p:spPr>
          <a:xfrm>
            <a:off x="3438144" y="3803904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80" name="TextBox 180"/>
          <p:cNvSpPr txBox="1"/>
          <p:nvPr/>
        </p:nvSpPr>
        <p:spPr>
          <a:xfrm>
            <a:off x="3621024" y="398678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3621024" y="429768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 dirty="0">
                <a:solidFill>
                  <a:srgbClr val="F5F2E9"/>
                </a:solidFill>
                <a:latin typeface="Hiragino Sans GB"/>
                <a:ea typeface="Hiragino Sans GB"/>
              </a:rPr>
              <a:t>能力分工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3621024" y="4754880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谁负责什么</a:t>
            </a:r>
          </a:p>
        </p:txBody>
      </p:sp>
      <p:sp>
        <p:nvSpPr>
          <p:cNvPr id="183" name="Arrow 183"/>
          <p:cNvSpPr/>
          <p:nvPr/>
        </p:nvSpPr>
        <p:spPr>
          <a:xfrm>
            <a:off x="5925312" y="443941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4" name="Shape 184"/>
          <p:cNvSpPr/>
          <p:nvPr/>
        </p:nvSpPr>
        <p:spPr>
          <a:xfrm>
            <a:off x="6108192" y="3803904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85" name="TextBox 185"/>
          <p:cNvSpPr txBox="1"/>
          <p:nvPr/>
        </p:nvSpPr>
        <p:spPr>
          <a:xfrm>
            <a:off x="6291072" y="398678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6291072" y="429768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 dirty="0">
                <a:solidFill>
                  <a:srgbClr val="F5F2E9"/>
                </a:solidFill>
                <a:latin typeface="Hiragino Sans GB"/>
                <a:ea typeface="Hiragino Sans GB"/>
              </a:rPr>
              <a:t>决策与迭代</a:t>
            </a:r>
            <a:r>
              <a:rPr lang="zh-CN" altLang="en-US" sz="1550" b="1" dirty="0">
                <a:solidFill>
                  <a:srgbClr val="F5F2E9"/>
                </a:solidFill>
                <a:latin typeface="Hiragino Sans GB"/>
                <a:ea typeface="Hiragino Sans GB"/>
              </a:rPr>
              <a:t>过程</a:t>
            </a:r>
            <a:endParaRPr lang="zh-CN" sz="155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187" name="TextBox 187"/>
          <p:cNvSpPr txBox="1"/>
          <p:nvPr/>
        </p:nvSpPr>
        <p:spPr>
          <a:xfrm>
            <a:off x="6291072" y="4754880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为什么这样设计</a:t>
            </a:r>
          </a:p>
        </p:txBody>
      </p:sp>
      <p:sp>
        <p:nvSpPr>
          <p:cNvPr id="188" name="Arrow 188"/>
          <p:cNvSpPr/>
          <p:nvPr/>
        </p:nvSpPr>
        <p:spPr>
          <a:xfrm>
            <a:off x="8595360" y="443941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9" name="Shape 189"/>
          <p:cNvSpPr/>
          <p:nvPr/>
        </p:nvSpPr>
        <p:spPr>
          <a:xfrm>
            <a:off x="8778240" y="3803904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90" name="TextBox 190"/>
          <p:cNvSpPr txBox="1"/>
          <p:nvPr/>
        </p:nvSpPr>
        <p:spPr>
          <a:xfrm>
            <a:off x="8961120" y="398678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8961120" y="429768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结果与贡献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8961120" y="4754880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运行情况与个人工作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93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10</a:t>
            </a:r>
          </a:p>
        </p:txBody>
      </p:sp>
      <p:sp>
        <p:nvSpPr>
          <p:cNvPr id="195" name="Shape 195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96" name="Shape 196"/>
          <p:cNvSpPr/>
          <p:nvPr/>
        </p:nvSpPr>
        <p:spPr>
          <a:xfrm>
            <a:off x="694944" y="6501384"/>
            <a:ext cx="4157003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97" name="TextBox 197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1.</a:t>
            </a: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 </a:t>
            </a:r>
            <a:r>
              <a:rPr 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项目概览</a:t>
            </a:r>
          </a:p>
        </p:txBody>
      </p:sp>
      <p:sp>
        <p:nvSpPr>
          <p:cNvPr id="198" name="Shape 198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99" name="TextBox 199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两分钟内让人看懂产品、范围和个人角色</a:t>
            </a:r>
          </a:p>
        </p:txBody>
      </p:sp>
      <p:sp>
        <p:nvSpPr>
          <p:cNvPr id="200" name="Shape 200"/>
          <p:cNvSpPr/>
          <p:nvPr/>
        </p:nvSpPr>
        <p:spPr>
          <a:xfrm>
            <a:off x="6333565" y="2096262"/>
            <a:ext cx="5032427" cy="3611880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36D6C2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202" name="TextBox 202"/>
          <p:cNvSpPr txBox="1"/>
          <p:nvPr/>
        </p:nvSpPr>
        <p:spPr>
          <a:xfrm>
            <a:off x="6589597" y="3184397"/>
            <a:ext cx="4184725" cy="1773937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zh-CN" sz="2000" b="1" dirty="0">
                <a:solidFill>
                  <a:schemeClr val="bg1"/>
                </a:solidFill>
              </a:rPr>
              <a:t>项目名称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zh-CN" sz="2000" b="1" dirty="0">
                <a:solidFill>
                  <a:schemeClr val="bg1"/>
                </a:solidFill>
              </a:rPr>
              <a:t>一句话产品定位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zh-CN" sz="2000" b="1" dirty="0">
                <a:solidFill>
                  <a:schemeClr val="bg1"/>
                </a:solidFill>
              </a:rPr>
              <a:t>产品组成与核心流程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zh-CN" sz="2000" b="1" dirty="0">
                <a:solidFill>
                  <a:schemeClr val="bg1"/>
                </a:solidFill>
              </a:rPr>
              <a:t>代表性页面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zh-CN" sz="2000" b="1" dirty="0">
                <a:solidFill>
                  <a:schemeClr val="bg1"/>
                </a:solidFill>
              </a:rPr>
              <a:t>上线范围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zh-CN" sz="2000" b="1" dirty="0">
                <a:solidFill>
                  <a:schemeClr val="bg1"/>
                </a:solidFill>
              </a:rPr>
              <a:t>个人角色</a:t>
            </a:r>
          </a:p>
          <a:p>
            <a:pPr marL="457200" indent="-457200">
              <a:buFont typeface="+mj-lt"/>
              <a:buAutoNum type="arabicPeriod"/>
            </a:pPr>
            <a:endParaRPr lang="zh-CN" altLang="zh-CN" sz="2000" b="1" dirty="0">
              <a:solidFill>
                <a:schemeClr val="bg1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713232" y="2096262"/>
            <a:ext cx="4143846" cy="3611880"/>
          </a:xfrm>
          <a:prstGeom prst="roundRect">
            <a:avLst/>
          </a:prstGeom>
          <a:solidFill>
            <a:srgbClr val="133843"/>
          </a:solidFill>
          <a:ln w="1016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206" name="TextBox 206"/>
          <p:cNvSpPr txBox="1"/>
          <p:nvPr/>
        </p:nvSpPr>
        <p:spPr>
          <a:xfrm>
            <a:off x="969264" y="2334006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36D6C2"/>
                </a:solidFill>
                <a:latin typeface="Hiragino Sans GB"/>
                <a:ea typeface="Hiragino Sans GB"/>
              </a:rPr>
              <a:t>目标</a:t>
            </a:r>
            <a:endParaRPr lang="zh-CN" sz="2400" b="1" dirty="0">
              <a:solidFill>
                <a:srgbClr val="36D6C2"/>
              </a:solidFill>
              <a:latin typeface="Hiragino Sans GB"/>
              <a:ea typeface="Hiragino Sans GB"/>
            </a:endParaRPr>
          </a:p>
        </p:txBody>
      </p:sp>
      <p:sp>
        <p:nvSpPr>
          <p:cNvPr id="207" name="TextBox 207"/>
          <p:cNvSpPr txBox="1"/>
          <p:nvPr/>
        </p:nvSpPr>
        <p:spPr>
          <a:xfrm>
            <a:off x="969264" y="2919222"/>
            <a:ext cx="3621024" cy="230428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sz="20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产品是什么；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20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服务谁；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20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解决什么任务；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20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产品采用什么形态；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20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已经上线哪些能力；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20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候选人在项目中负责什么。</a:t>
            </a:r>
          </a:p>
        </p:txBody>
      </p:sp>
      <p:sp>
        <p:nvSpPr>
          <p:cNvPr id="2" name="TextBox 206">
            <a:extLst>
              <a:ext uri="{FF2B5EF4-FFF2-40B4-BE49-F238E27FC236}">
                <a16:creationId xmlns:a16="http://schemas.microsoft.com/office/drawing/2014/main" id="{130BD710-1094-5FD1-7322-7979B68FC291}"/>
              </a:ext>
            </a:extLst>
          </p:cNvPr>
          <p:cNvSpPr txBox="1"/>
          <p:nvPr/>
        </p:nvSpPr>
        <p:spPr>
          <a:xfrm>
            <a:off x="6589597" y="235229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36D6C2"/>
                </a:solidFill>
                <a:latin typeface="Hiragino Sans GB"/>
                <a:ea typeface="Hiragino Sans GB"/>
              </a:rPr>
              <a:t>具体内容</a:t>
            </a:r>
            <a:endParaRPr lang="zh-CN" sz="2400" b="1" dirty="0">
              <a:solidFill>
                <a:srgbClr val="36D6C2"/>
              </a:solidFill>
              <a:latin typeface="Hiragino Sans GB"/>
              <a:ea typeface="Hiragino Sans GB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208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11</a:t>
            </a:r>
          </a:p>
        </p:txBody>
      </p:sp>
      <p:sp>
        <p:nvSpPr>
          <p:cNvPr id="210" name="Shape 210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211" name="Shape 211"/>
          <p:cNvSpPr/>
          <p:nvPr/>
        </p:nvSpPr>
        <p:spPr>
          <a:xfrm>
            <a:off x="694944" y="6501384"/>
            <a:ext cx="4572703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212" name="TextBox 212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2&amp;3</a:t>
            </a: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：</a:t>
            </a:r>
            <a:r>
              <a:rPr 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业务问题、产品目标</a:t>
            </a: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、产品定位</a:t>
            </a:r>
            <a:r>
              <a:rPr 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与 MVP</a:t>
            </a: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范围</a:t>
            </a:r>
            <a:endParaRPr lang="zh-CN" sz="290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213" name="Shape 213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214" name="TextBox 214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先把为什么做和第一版做到哪里讲清楚</a:t>
            </a:r>
          </a:p>
        </p:txBody>
      </p:sp>
      <p:sp>
        <p:nvSpPr>
          <p:cNvPr id="221" name="Shape 221"/>
          <p:cNvSpPr/>
          <p:nvPr/>
        </p:nvSpPr>
        <p:spPr>
          <a:xfrm>
            <a:off x="694944" y="2441233"/>
            <a:ext cx="10533888" cy="2505885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223" name="TextBox 223"/>
          <p:cNvSpPr txBox="1"/>
          <p:nvPr/>
        </p:nvSpPr>
        <p:spPr>
          <a:xfrm>
            <a:off x="1536192" y="2653831"/>
            <a:ext cx="8851392" cy="190652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业务问题说明为什么做</a:t>
            </a:r>
            <a:r>
              <a:rPr lang="zh-CN" altLang="en-US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；</a:t>
            </a:r>
            <a:endParaRPr lang="en-US" altLang="zh-CN" sz="2400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产品目标说明希望帮助用户到达什么状态</a:t>
            </a:r>
            <a:r>
              <a:rPr lang="zh-CN" altLang="en-US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；</a:t>
            </a:r>
            <a:endParaRPr lang="en-US" altLang="zh-CN" sz="2400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产品定位回答“它是什么”</a:t>
            </a:r>
            <a:r>
              <a:rPr lang="zh-CN" altLang="en-US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；</a:t>
            </a:r>
            <a:endParaRPr lang="en-US" altLang="zh-CN" sz="2400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2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MVP 说明第一版做到哪一步。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4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225" name="TextBox 225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12</a:t>
            </a:r>
          </a:p>
        </p:txBody>
      </p:sp>
      <p:sp>
        <p:nvSpPr>
          <p:cNvPr id="226" name="Shape 226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227" name="Shape 227"/>
          <p:cNvSpPr/>
          <p:nvPr/>
        </p:nvSpPr>
        <p:spPr>
          <a:xfrm>
            <a:off x="694944" y="6501384"/>
            <a:ext cx="4988404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228" name="TextBox 228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>
              <a:lnSpc>
                <a:spcPct val="112000"/>
              </a:lnSpc>
            </a:pPr>
            <a:r>
              <a:rPr lang="en-US" alt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4.</a:t>
            </a: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 </a:t>
            </a:r>
            <a:r>
              <a:rPr 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产品形态与核心流程</a:t>
            </a: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 </a:t>
            </a:r>
            <a:r>
              <a:rPr lang="en-US" alt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&amp;</a:t>
            </a: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 </a:t>
            </a:r>
            <a:r>
              <a:rPr lang="en-US" alt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5.</a:t>
            </a:r>
            <a:r>
              <a:rPr lang="zh-CN" alt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核心页面与关键状态</a:t>
            </a:r>
            <a:endParaRPr lang="zh-CN" sz="290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229" name="Shape 229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402131-1C7F-A7B5-189E-0B9ACB02604F}"/>
              </a:ext>
            </a:extLst>
          </p:cNvPr>
          <p:cNvSpPr txBox="1"/>
          <p:nvPr/>
        </p:nvSpPr>
        <p:spPr>
          <a:xfrm>
            <a:off x="3049121" y="3075058"/>
            <a:ext cx="60982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F5F2E9"/>
                </a:solidFill>
                <a:latin typeface="Hiragino Sans GB"/>
                <a:ea typeface="Hiragino Sans GB"/>
              </a:rPr>
              <a:t>（略）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Box 279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280" name="TextBox 280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14</a:t>
            </a:r>
          </a:p>
        </p:txBody>
      </p:sp>
      <p:sp>
        <p:nvSpPr>
          <p:cNvPr id="281" name="Shape 281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282" name="Shape 282"/>
          <p:cNvSpPr/>
          <p:nvPr/>
        </p:nvSpPr>
        <p:spPr>
          <a:xfrm>
            <a:off x="694944" y="6501384"/>
            <a:ext cx="5819804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283" name="TextBox 283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6.</a:t>
            </a: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 </a:t>
            </a:r>
            <a:r>
              <a:rPr 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AI 方案、能力分工与关键判断</a:t>
            </a:r>
          </a:p>
        </p:txBody>
      </p:sp>
      <p:sp>
        <p:nvSpPr>
          <p:cNvPr id="284" name="Shape 284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D2AC485-BC38-8D86-E9C7-29746669C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705" y="1889150"/>
            <a:ext cx="9128905" cy="38706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Box 304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305" name="TextBox 305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15</a:t>
            </a:r>
          </a:p>
        </p:txBody>
      </p:sp>
      <p:sp>
        <p:nvSpPr>
          <p:cNvPr id="306" name="Shape 306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07" name="Shape 307"/>
          <p:cNvSpPr/>
          <p:nvPr/>
        </p:nvSpPr>
        <p:spPr>
          <a:xfrm>
            <a:off x="694944" y="6501384"/>
            <a:ext cx="6235505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08" name="TextBox 308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上线结果、当前限制与个人贡献</a:t>
            </a:r>
          </a:p>
        </p:txBody>
      </p:sp>
      <p:sp>
        <p:nvSpPr>
          <p:cNvPr id="309" name="Shape 309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11" name="Shape 311"/>
          <p:cNvSpPr/>
          <p:nvPr/>
        </p:nvSpPr>
        <p:spPr>
          <a:xfrm>
            <a:off x="749808" y="1920240"/>
            <a:ext cx="3358896" cy="295351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12" name="TextBox 312"/>
          <p:cNvSpPr txBox="1"/>
          <p:nvPr/>
        </p:nvSpPr>
        <p:spPr>
          <a:xfrm>
            <a:off x="932688" y="210312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313" name="TextBox 313"/>
          <p:cNvSpPr txBox="1"/>
          <p:nvPr/>
        </p:nvSpPr>
        <p:spPr>
          <a:xfrm>
            <a:off x="932688" y="241401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上线结果</a:t>
            </a:r>
          </a:p>
        </p:txBody>
      </p:sp>
      <p:sp>
        <p:nvSpPr>
          <p:cNvPr id="314" name="TextBox 314"/>
          <p:cNvSpPr txBox="1"/>
          <p:nvPr/>
        </p:nvSpPr>
        <p:spPr>
          <a:xfrm>
            <a:off x="932688" y="2871216"/>
            <a:ext cx="2993136" cy="18562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已经接入真实订单和售后系统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上线政策查询、订单确认、信息补齐和预受理</a:t>
            </a:r>
          </a:p>
        </p:txBody>
      </p:sp>
      <p:sp>
        <p:nvSpPr>
          <p:cNvPr id="315" name="Shape 315"/>
          <p:cNvSpPr/>
          <p:nvPr/>
        </p:nvSpPr>
        <p:spPr>
          <a:xfrm>
            <a:off x="4337304" y="1920240"/>
            <a:ext cx="3358896" cy="295351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16" name="TextBox 316"/>
          <p:cNvSpPr txBox="1"/>
          <p:nvPr/>
        </p:nvSpPr>
        <p:spPr>
          <a:xfrm>
            <a:off x="4520184" y="210312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317" name="TextBox 317"/>
          <p:cNvSpPr txBox="1"/>
          <p:nvPr/>
        </p:nvSpPr>
        <p:spPr>
          <a:xfrm>
            <a:off x="4520184" y="241401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当前限制</a:t>
            </a:r>
          </a:p>
        </p:txBody>
      </p:sp>
      <p:sp>
        <p:nvSpPr>
          <p:cNvPr id="318" name="TextBox 318"/>
          <p:cNvSpPr txBox="1"/>
          <p:nvPr/>
        </p:nvSpPr>
        <p:spPr>
          <a:xfrm>
            <a:off x="4520184" y="2871216"/>
            <a:ext cx="2993136" cy="18562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上线周期和样本规模有限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暂时不能判断长期成本和满意度变化</a:t>
            </a:r>
          </a:p>
        </p:txBody>
      </p:sp>
      <p:sp>
        <p:nvSpPr>
          <p:cNvPr id="319" name="Shape 319"/>
          <p:cNvSpPr/>
          <p:nvPr/>
        </p:nvSpPr>
        <p:spPr>
          <a:xfrm>
            <a:off x="7924800" y="1920240"/>
            <a:ext cx="3358896" cy="295351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20" name="TextBox 320"/>
          <p:cNvSpPr txBox="1"/>
          <p:nvPr/>
        </p:nvSpPr>
        <p:spPr>
          <a:xfrm>
            <a:off x="8107680" y="210312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321" name="TextBox 321"/>
          <p:cNvSpPr txBox="1"/>
          <p:nvPr/>
        </p:nvSpPr>
        <p:spPr>
          <a:xfrm>
            <a:off x="8107680" y="241401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个人贡献</a:t>
            </a:r>
          </a:p>
        </p:txBody>
      </p:sp>
      <p:sp>
        <p:nvSpPr>
          <p:cNvPr id="322" name="TextBox 322"/>
          <p:cNvSpPr txBox="1"/>
          <p:nvPr/>
        </p:nvSpPr>
        <p:spPr>
          <a:xfrm>
            <a:off x="8107680" y="2871216"/>
            <a:ext cx="2993136" cy="18562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流程、MVP、核心交互、能力分工、测试设计与问题分析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A9F13-576E-7369-09F3-AA4BE177A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1B561231-E397-B58B-9167-CE13E2E78FA1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18FD25E-E58E-8B28-D815-F8C9554DC724}"/>
              </a:ext>
            </a:extLst>
          </p:cNvPr>
          <p:cNvSpPr txBox="1"/>
          <p:nvPr/>
        </p:nvSpPr>
        <p:spPr>
          <a:xfrm>
            <a:off x="2840290" y="2807208"/>
            <a:ext cx="6511420" cy="12435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200" b="1" dirty="0">
                <a:solidFill>
                  <a:srgbClr val="F5F2E9"/>
                </a:solidFill>
                <a:latin typeface="Hiragino Sans GB"/>
                <a:ea typeface="Hiragino Sans GB"/>
              </a:rPr>
              <a:t>三、如何介绍项目</a:t>
            </a:r>
            <a:endParaRPr lang="zh-CN" sz="420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903523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Box 326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327" name="TextBox 32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16</a:t>
            </a:r>
          </a:p>
        </p:txBody>
      </p:sp>
      <p:sp>
        <p:nvSpPr>
          <p:cNvPr id="328" name="Shape 32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29" name="Shape 329"/>
          <p:cNvSpPr/>
          <p:nvPr/>
        </p:nvSpPr>
        <p:spPr>
          <a:xfrm>
            <a:off x="694944" y="6501384"/>
            <a:ext cx="6651205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30" name="TextBox 33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90 秒介绍的四个常见问题</a:t>
            </a:r>
          </a:p>
        </p:txBody>
      </p:sp>
      <p:sp>
        <p:nvSpPr>
          <p:cNvPr id="331" name="Shape 33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33" name="Shape 333"/>
          <p:cNvSpPr/>
          <p:nvPr/>
        </p:nvSpPr>
        <p:spPr>
          <a:xfrm>
            <a:off x="749808" y="2029968"/>
            <a:ext cx="2462022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34" name="TextBox 334"/>
          <p:cNvSpPr txBox="1"/>
          <p:nvPr/>
        </p:nvSpPr>
        <p:spPr>
          <a:xfrm>
            <a:off x="932688" y="2212848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335" name="TextBox 335"/>
          <p:cNvSpPr txBox="1"/>
          <p:nvPr/>
        </p:nvSpPr>
        <p:spPr>
          <a:xfrm>
            <a:off x="932688" y="2523744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5F2E9"/>
                </a:solidFill>
                <a:latin typeface="Hiragino Sans GB"/>
                <a:ea typeface="Hiragino Sans GB"/>
              </a:rPr>
              <a:t>从行业背景讲起</a:t>
            </a:r>
          </a:p>
        </p:txBody>
      </p:sp>
      <p:sp>
        <p:nvSpPr>
          <p:cNvPr id="336" name="TextBox 336"/>
          <p:cNvSpPr txBox="1"/>
          <p:nvPr/>
        </p:nvSpPr>
        <p:spPr>
          <a:xfrm>
            <a:off x="932688" y="2980944"/>
            <a:ext cx="2096262" cy="1920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讲了很久，仍不知道候选人做了什么</a:t>
            </a:r>
          </a:p>
        </p:txBody>
      </p:sp>
      <p:sp>
        <p:nvSpPr>
          <p:cNvPr id="337" name="Shape 337"/>
          <p:cNvSpPr/>
          <p:nvPr/>
        </p:nvSpPr>
        <p:spPr>
          <a:xfrm>
            <a:off x="3440430" y="2029968"/>
            <a:ext cx="2462022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38" name="TextBox 338"/>
          <p:cNvSpPr txBox="1"/>
          <p:nvPr/>
        </p:nvSpPr>
        <p:spPr>
          <a:xfrm>
            <a:off x="3623310" y="2212848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339" name="TextBox 339"/>
          <p:cNvSpPr txBox="1"/>
          <p:nvPr/>
        </p:nvSpPr>
        <p:spPr>
          <a:xfrm>
            <a:off x="3623310" y="2523744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5F2E9"/>
                </a:solidFill>
                <a:latin typeface="Hiragino Sans GB"/>
                <a:ea typeface="Hiragino Sans GB"/>
              </a:rPr>
              <a:t>罗列工具名称</a:t>
            </a:r>
          </a:p>
        </p:txBody>
      </p:sp>
      <p:sp>
        <p:nvSpPr>
          <p:cNvPr id="340" name="TextBox 340"/>
          <p:cNvSpPr txBox="1"/>
          <p:nvPr/>
        </p:nvSpPr>
        <p:spPr>
          <a:xfrm>
            <a:off x="3623310" y="2980944"/>
            <a:ext cx="2096262" cy="1920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只说明实现方式，没有说明产品任务</a:t>
            </a:r>
          </a:p>
        </p:txBody>
      </p:sp>
      <p:sp>
        <p:nvSpPr>
          <p:cNvPr id="341" name="Shape 341"/>
          <p:cNvSpPr/>
          <p:nvPr/>
        </p:nvSpPr>
        <p:spPr>
          <a:xfrm>
            <a:off x="6131052" y="2029968"/>
            <a:ext cx="2462022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42" name="TextBox 342"/>
          <p:cNvSpPr txBox="1"/>
          <p:nvPr/>
        </p:nvSpPr>
        <p:spPr>
          <a:xfrm>
            <a:off x="6313932" y="2212848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343" name="TextBox 343"/>
          <p:cNvSpPr txBox="1"/>
          <p:nvPr/>
        </p:nvSpPr>
        <p:spPr>
          <a:xfrm>
            <a:off x="6313932" y="2523744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5F2E9"/>
                </a:solidFill>
                <a:latin typeface="Hiragino Sans GB"/>
                <a:ea typeface="Hiragino Sans GB"/>
              </a:rPr>
              <a:t>逐项介绍功能</a:t>
            </a:r>
          </a:p>
        </p:txBody>
      </p:sp>
      <p:sp>
        <p:nvSpPr>
          <p:cNvPr id="344" name="TextBox 344"/>
          <p:cNvSpPr txBox="1"/>
          <p:nvPr/>
        </p:nvSpPr>
        <p:spPr>
          <a:xfrm>
            <a:off x="6313932" y="2980944"/>
            <a:ext cx="2096262" cy="1920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听不出用户怎样完成任务</a:t>
            </a:r>
          </a:p>
        </p:txBody>
      </p:sp>
      <p:sp>
        <p:nvSpPr>
          <p:cNvPr id="345" name="Shape 345"/>
          <p:cNvSpPr/>
          <p:nvPr/>
        </p:nvSpPr>
        <p:spPr>
          <a:xfrm>
            <a:off x="8821674" y="2029968"/>
            <a:ext cx="2462022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46" name="TextBox 346"/>
          <p:cNvSpPr txBox="1"/>
          <p:nvPr/>
        </p:nvSpPr>
        <p:spPr>
          <a:xfrm>
            <a:off x="9004554" y="2212848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347" name="TextBox 347"/>
          <p:cNvSpPr txBox="1"/>
          <p:nvPr/>
        </p:nvSpPr>
        <p:spPr>
          <a:xfrm>
            <a:off x="9004554" y="2523744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5F2E9"/>
                </a:solidFill>
                <a:latin typeface="Hiragino Sans GB"/>
                <a:ea typeface="Hiragino Sans GB"/>
              </a:rPr>
              <a:t>只讲最终结果</a:t>
            </a:r>
          </a:p>
        </p:txBody>
      </p:sp>
      <p:sp>
        <p:nvSpPr>
          <p:cNvPr id="348" name="TextBox 348"/>
          <p:cNvSpPr txBox="1"/>
          <p:nvPr/>
        </p:nvSpPr>
        <p:spPr>
          <a:xfrm>
            <a:off x="9004554" y="2980944"/>
            <a:ext cx="2096262" cy="1920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范围、取舍和结果口径都不清楚</a:t>
            </a:r>
          </a:p>
        </p:txBody>
      </p:sp>
      <p:sp>
        <p:nvSpPr>
          <p:cNvPr id="349" name="Shape 349"/>
          <p:cNvSpPr/>
          <p:nvPr/>
        </p:nvSpPr>
        <p:spPr>
          <a:xfrm>
            <a:off x="749808" y="5413248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50" name="TextBox 350"/>
          <p:cNvSpPr txBox="1"/>
          <p:nvPr/>
        </p:nvSpPr>
        <p:spPr>
          <a:xfrm>
            <a:off x="932688" y="55321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目标</a:t>
            </a:r>
          </a:p>
        </p:txBody>
      </p:sp>
      <p:sp>
        <p:nvSpPr>
          <p:cNvPr id="351" name="TextBox 351"/>
          <p:cNvSpPr txBox="1"/>
          <p:nvPr/>
        </p:nvSpPr>
        <p:spPr>
          <a:xfrm>
            <a:off x="2103120" y="5504688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让面试官迅速听懂项目主线，并愿意沿着关键节点继续追问。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TextBox 411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412" name="TextBox 412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19</a:t>
            </a:r>
          </a:p>
        </p:txBody>
      </p:sp>
      <p:sp>
        <p:nvSpPr>
          <p:cNvPr id="413" name="Shape 413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14" name="Shape 414"/>
          <p:cNvSpPr/>
          <p:nvPr/>
        </p:nvSpPr>
        <p:spPr>
          <a:xfrm>
            <a:off x="694944" y="6501384"/>
            <a:ext cx="7898306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15" name="TextBox 415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90 秒里保留什么、删掉什么</a:t>
            </a:r>
          </a:p>
        </p:txBody>
      </p:sp>
      <p:sp>
        <p:nvSpPr>
          <p:cNvPr id="416" name="Shape 416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18" name="Shape 418"/>
          <p:cNvSpPr/>
          <p:nvPr/>
        </p:nvSpPr>
        <p:spPr>
          <a:xfrm>
            <a:off x="749808" y="1920240"/>
            <a:ext cx="5093208" cy="342900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36D6C2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419" name="TextBox 419"/>
          <p:cNvSpPr txBox="1"/>
          <p:nvPr/>
        </p:nvSpPr>
        <p:spPr>
          <a:xfrm>
            <a:off x="1005840" y="2139696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36D6C2"/>
                </a:solidFill>
                <a:latin typeface="Hiragino Sans GB"/>
                <a:ea typeface="Hiragino Sans GB"/>
              </a:rPr>
              <a:t>建议保留</a:t>
            </a:r>
          </a:p>
        </p:txBody>
      </p:sp>
      <p:sp>
        <p:nvSpPr>
          <p:cNvPr id="420" name="TextBox 420"/>
          <p:cNvSpPr txBox="1"/>
          <p:nvPr/>
        </p:nvSpPr>
        <p:spPr>
          <a:xfrm>
            <a:off x="1005840" y="2724912"/>
            <a:ext cx="4498848" cy="226771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600" b="0" dirty="0">
                <a:solidFill>
                  <a:srgbClr val="F5F2E9"/>
                </a:solidFill>
                <a:latin typeface="Hiragino Sans GB"/>
                <a:ea typeface="Hiragino Sans GB"/>
              </a:rPr>
              <a:t>具体业务问题</a:t>
            </a: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600" b="0" dirty="0">
                <a:solidFill>
                  <a:srgbClr val="F5F2E9"/>
                </a:solidFill>
                <a:latin typeface="Hiragino Sans GB"/>
                <a:ea typeface="Hiragino Sans GB"/>
              </a:rPr>
              <a:t>一条核心用户流程</a:t>
            </a: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600" b="0" dirty="0">
                <a:solidFill>
                  <a:srgbClr val="F5F2E9"/>
                </a:solidFill>
                <a:latin typeface="Hiragino Sans GB"/>
                <a:ea typeface="Hiragino Sans GB"/>
              </a:rPr>
              <a:t>一个关键产品判断</a:t>
            </a: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600" b="0" dirty="0">
                <a:solidFill>
                  <a:srgbClr val="F5F2E9"/>
                </a:solidFill>
                <a:latin typeface="Hiragino Sans GB"/>
                <a:ea typeface="Hiragino Sans GB"/>
              </a:rPr>
              <a:t>一个典型问题与修改</a:t>
            </a: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600" b="0" dirty="0">
                <a:solidFill>
                  <a:srgbClr val="F5F2E9"/>
                </a:solidFill>
                <a:latin typeface="Hiragino Sans GB"/>
                <a:ea typeface="Hiragino Sans GB"/>
              </a:rPr>
              <a:t>当前上线范围与个人贡献</a:t>
            </a:r>
          </a:p>
        </p:txBody>
      </p:sp>
      <p:sp>
        <p:nvSpPr>
          <p:cNvPr id="421" name="Shape 421"/>
          <p:cNvSpPr/>
          <p:nvPr/>
        </p:nvSpPr>
        <p:spPr>
          <a:xfrm>
            <a:off x="6126480" y="1920240"/>
            <a:ext cx="5157216" cy="342900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FF7657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422" name="TextBox 422"/>
          <p:cNvSpPr txBox="1"/>
          <p:nvPr/>
        </p:nvSpPr>
        <p:spPr>
          <a:xfrm>
            <a:off x="6382512" y="2139696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FF7657"/>
                </a:solidFill>
                <a:latin typeface="Hiragino Sans GB"/>
                <a:ea typeface="Hiragino Sans GB"/>
              </a:rPr>
              <a:t>删掉或后置</a:t>
            </a:r>
          </a:p>
        </p:txBody>
      </p:sp>
      <p:sp>
        <p:nvSpPr>
          <p:cNvPr id="423" name="TextBox 423"/>
          <p:cNvSpPr txBox="1"/>
          <p:nvPr/>
        </p:nvSpPr>
        <p:spPr>
          <a:xfrm>
            <a:off x="6382512" y="2724912"/>
            <a:ext cx="4535424" cy="226771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600" b="0" dirty="0">
                <a:solidFill>
                  <a:srgbClr val="F5F2E9"/>
                </a:solidFill>
                <a:latin typeface="Hiragino Sans GB"/>
                <a:ea typeface="Hiragino Sans GB"/>
              </a:rPr>
              <a:t>宏观行业背景</a:t>
            </a: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600" b="0" dirty="0">
                <a:solidFill>
                  <a:srgbClr val="F5F2E9"/>
                </a:solidFill>
                <a:latin typeface="Hiragino Sans GB"/>
                <a:ea typeface="Hiragino Sans GB"/>
              </a:rPr>
              <a:t>完整功能清单</a:t>
            </a: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600" b="0" dirty="0">
                <a:solidFill>
                  <a:srgbClr val="F5F2E9"/>
                </a:solidFill>
                <a:latin typeface="Hiragino Sans GB"/>
                <a:ea typeface="Hiragino Sans GB"/>
              </a:rPr>
              <a:t>所有工具和模型名称</a:t>
            </a: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600" b="0" dirty="0">
                <a:solidFill>
                  <a:srgbClr val="F5F2E9"/>
                </a:solidFill>
                <a:latin typeface="Hiragino Sans GB"/>
                <a:ea typeface="Hiragino Sans GB"/>
              </a:rPr>
              <a:t>每一个页面细节</a:t>
            </a: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600" b="0" dirty="0">
                <a:solidFill>
                  <a:srgbClr val="F5F2E9"/>
                </a:solidFill>
                <a:latin typeface="Hiragino Sans GB"/>
                <a:ea typeface="Hiragino Sans GB"/>
              </a:rPr>
              <a:t>没有统计支持的效果描述</a:t>
            </a:r>
          </a:p>
        </p:txBody>
      </p:sp>
      <p:sp>
        <p:nvSpPr>
          <p:cNvPr id="424" name="Shape 424"/>
          <p:cNvSpPr/>
          <p:nvPr/>
        </p:nvSpPr>
        <p:spPr>
          <a:xfrm>
            <a:off x="749808" y="555955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425" name="TextBox 425"/>
          <p:cNvSpPr txBox="1"/>
          <p:nvPr/>
        </p:nvSpPr>
        <p:spPr>
          <a:xfrm>
            <a:off x="932688" y="567842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426" name="TextBox 426"/>
          <p:cNvSpPr txBox="1"/>
          <p:nvPr/>
        </p:nvSpPr>
        <p:spPr>
          <a:xfrm>
            <a:off x="2103120" y="565099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能够进入后续追问的内容，不需要全部塞进开场。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Box 352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353" name="TextBox 353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17</a:t>
            </a:r>
          </a:p>
        </p:txBody>
      </p:sp>
      <p:sp>
        <p:nvSpPr>
          <p:cNvPr id="354" name="Shape 354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55" name="Shape 355"/>
          <p:cNvSpPr/>
          <p:nvPr/>
        </p:nvSpPr>
        <p:spPr>
          <a:xfrm>
            <a:off x="694944" y="6501384"/>
            <a:ext cx="7066905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56" name="TextBox 356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五段式表达结构</a:t>
            </a:r>
          </a:p>
        </p:txBody>
      </p:sp>
      <p:sp>
        <p:nvSpPr>
          <p:cNvPr id="357" name="Shape 357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58" name="TextBox 358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每一段只保留一个重点</a:t>
            </a:r>
          </a:p>
        </p:txBody>
      </p:sp>
      <p:sp>
        <p:nvSpPr>
          <p:cNvPr id="359" name="Shape 359"/>
          <p:cNvSpPr/>
          <p:nvPr/>
        </p:nvSpPr>
        <p:spPr>
          <a:xfrm>
            <a:off x="768096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60" name="TextBox 360"/>
          <p:cNvSpPr txBox="1"/>
          <p:nvPr/>
        </p:nvSpPr>
        <p:spPr>
          <a:xfrm>
            <a:off x="950976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361" name="TextBox 361"/>
          <p:cNvSpPr txBox="1"/>
          <p:nvPr/>
        </p:nvSpPr>
        <p:spPr>
          <a:xfrm>
            <a:off x="950976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15 秒</a:t>
            </a:r>
          </a:p>
        </p:txBody>
      </p:sp>
      <p:sp>
        <p:nvSpPr>
          <p:cNvPr id="362" name="TextBox 362"/>
          <p:cNvSpPr txBox="1"/>
          <p:nvPr/>
        </p:nvSpPr>
        <p:spPr>
          <a:xfrm>
            <a:off x="950976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A7B5BC"/>
                </a:solidFill>
                <a:latin typeface="Hiragino Sans GB"/>
                <a:ea typeface="Hiragino Sans GB"/>
              </a:rPr>
              <a:t>项目与问题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A7B5BC"/>
                </a:solidFill>
                <a:latin typeface="Hiragino Sans GB"/>
                <a:ea typeface="Hiragino Sans GB"/>
              </a:rPr>
              <a:t>为什么做</a:t>
            </a:r>
          </a:p>
        </p:txBody>
      </p:sp>
      <p:sp>
        <p:nvSpPr>
          <p:cNvPr id="363" name="Arrow 363"/>
          <p:cNvSpPr/>
          <p:nvPr/>
        </p:nvSpPr>
        <p:spPr>
          <a:xfrm>
            <a:off x="2721254" y="338328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4" name="Shape 364"/>
          <p:cNvSpPr/>
          <p:nvPr/>
        </p:nvSpPr>
        <p:spPr>
          <a:xfrm>
            <a:off x="2904134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65" name="TextBox 365"/>
          <p:cNvSpPr txBox="1"/>
          <p:nvPr/>
        </p:nvSpPr>
        <p:spPr>
          <a:xfrm>
            <a:off x="3087014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366" name="TextBox 366"/>
          <p:cNvSpPr txBox="1"/>
          <p:nvPr/>
        </p:nvSpPr>
        <p:spPr>
          <a:xfrm>
            <a:off x="3087014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20 秒</a:t>
            </a:r>
          </a:p>
        </p:txBody>
      </p:sp>
      <p:sp>
        <p:nvSpPr>
          <p:cNvPr id="367" name="TextBox 367"/>
          <p:cNvSpPr txBox="1"/>
          <p:nvPr/>
        </p:nvSpPr>
        <p:spPr>
          <a:xfrm>
            <a:off x="3087014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产品形态与流程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做成什么</a:t>
            </a:r>
          </a:p>
        </p:txBody>
      </p:sp>
      <p:sp>
        <p:nvSpPr>
          <p:cNvPr id="368" name="Arrow 368"/>
          <p:cNvSpPr/>
          <p:nvPr/>
        </p:nvSpPr>
        <p:spPr>
          <a:xfrm>
            <a:off x="4857293" y="338328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9" name="Shape 369"/>
          <p:cNvSpPr/>
          <p:nvPr/>
        </p:nvSpPr>
        <p:spPr>
          <a:xfrm>
            <a:off x="5040173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70" name="TextBox 370"/>
          <p:cNvSpPr txBox="1"/>
          <p:nvPr/>
        </p:nvSpPr>
        <p:spPr>
          <a:xfrm>
            <a:off x="5223053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371" name="TextBox 371"/>
          <p:cNvSpPr txBox="1"/>
          <p:nvPr/>
        </p:nvSpPr>
        <p:spPr>
          <a:xfrm>
            <a:off x="5223053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20 秒</a:t>
            </a:r>
          </a:p>
        </p:txBody>
      </p:sp>
      <p:sp>
        <p:nvSpPr>
          <p:cNvPr id="372" name="TextBox 372"/>
          <p:cNvSpPr txBox="1"/>
          <p:nvPr/>
        </p:nvSpPr>
        <p:spPr>
          <a:xfrm>
            <a:off x="5223053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关键产品判断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为什么这样做</a:t>
            </a:r>
          </a:p>
        </p:txBody>
      </p:sp>
      <p:sp>
        <p:nvSpPr>
          <p:cNvPr id="373" name="Arrow 373"/>
          <p:cNvSpPr/>
          <p:nvPr/>
        </p:nvSpPr>
        <p:spPr>
          <a:xfrm>
            <a:off x="6993331" y="338328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4" name="Shape 374"/>
          <p:cNvSpPr/>
          <p:nvPr/>
        </p:nvSpPr>
        <p:spPr>
          <a:xfrm>
            <a:off x="7176211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  <a:prstDash val="dash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75" name="TextBox 375"/>
          <p:cNvSpPr txBox="1"/>
          <p:nvPr/>
        </p:nvSpPr>
        <p:spPr>
          <a:xfrm>
            <a:off x="7359091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376" name="TextBox 376"/>
          <p:cNvSpPr txBox="1"/>
          <p:nvPr/>
        </p:nvSpPr>
        <p:spPr>
          <a:xfrm>
            <a:off x="7359091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20 秒</a:t>
            </a:r>
          </a:p>
        </p:txBody>
      </p:sp>
      <p:sp>
        <p:nvSpPr>
          <p:cNvPr id="377" name="TextBox 377"/>
          <p:cNvSpPr txBox="1"/>
          <p:nvPr/>
        </p:nvSpPr>
        <p:spPr>
          <a:xfrm>
            <a:off x="7359091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问题与修改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怎样迭代</a:t>
            </a:r>
          </a:p>
        </p:txBody>
      </p:sp>
      <p:sp>
        <p:nvSpPr>
          <p:cNvPr id="378" name="Arrow 378"/>
          <p:cNvSpPr/>
          <p:nvPr/>
        </p:nvSpPr>
        <p:spPr>
          <a:xfrm>
            <a:off x="9129370" y="338328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9" name="Shape 379"/>
          <p:cNvSpPr/>
          <p:nvPr/>
        </p:nvSpPr>
        <p:spPr>
          <a:xfrm>
            <a:off x="9312250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80" name="TextBox 380"/>
          <p:cNvSpPr txBox="1"/>
          <p:nvPr/>
        </p:nvSpPr>
        <p:spPr>
          <a:xfrm>
            <a:off x="9495130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81" name="TextBox 381"/>
          <p:cNvSpPr txBox="1"/>
          <p:nvPr/>
        </p:nvSpPr>
        <p:spPr>
          <a:xfrm>
            <a:off x="9495130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15 秒</a:t>
            </a:r>
          </a:p>
        </p:txBody>
      </p:sp>
      <p:sp>
        <p:nvSpPr>
          <p:cNvPr id="382" name="TextBox 382"/>
          <p:cNvSpPr txBox="1"/>
          <p:nvPr/>
        </p:nvSpPr>
        <p:spPr>
          <a:xfrm>
            <a:off x="9495130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上线、贡献与限制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做到什么程度</a:t>
            </a:r>
          </a:p>
        </p:txBody>
      </p:sp>
      <p:sp>
        <p:nvSpPr>
          <p:cNvPr id="383" name="Shape 383"/>
          <p:cNvSpPr/>
          <p:nvPr/>
        </p:nvSpPr>
        <p:spPr>
          <a:xfrm>
            <a:off x="749808" y="5175504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384" name="TextBox 384"/>
          <p:cNvSpPr txBox="1"/>
          <p:nvPr/>
        </p:nvSpPr>
        <p:spPr>
          <a:xfrm>
            <a:off x="932688" y="52943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使用方法</a:t>
            </a:r>
          </a:p>
        </p:txBody>
      </p:sp>
      <p:sp>
        <p:nvSpPr>
          <p:cNvPr id="385" name="TextBox 385"/>
          <p:cNvSpPr txBox="1"/>
          <p:nvPr/>
        </p:nvSpPr>
        <p:spPr>
          <a:xfrm>
            <a:off x="2103120" y="5266944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结构帮助检查主线，不要求逐字背诵。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Box 386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387" name="TextBox 38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18</a:t>
            </a:r>
          </a:p>
        </p:txBody>
      </p:sp>
      <p:sp>
        <p:nvSpPr>
          <p:cNvPr id="388" name="Shape 38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89" name="Shape 389"/>
          <p:cNvSpPr/>
          <p:nvPr/>
        </p:nvSpPr>
        <p:spPr>
          <a:xfrm>
            <a:off x="694944" y="6501384"/>
            <a:ext cx="7482606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90" name="TextBox 39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智能客服项目示范</a:t>
            </a:r>
          </a:p>
        </p:txBody>
      </p:sp>
      <p:sp>
        <p:nvSpPr>
          <p:cNvPr id="391" name="Shape 39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92" name="TextBox 392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一条清楚的项目故事</a:t>
            </a:r>
          </a:p>
        </p:txBody>
      </p:sp>
      <p:sp>
        <p:nvSpPr>
          <p:cNvPr id="393" name="TextBox 393"/>
          <p:cNvSpPr txBox="1"/>
          <p:nvPr/>
        </p:nvSpPr>
        <p:spPr>
          <a:xfrm>
            <a:off x="859536" y="1828800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项目与问题</a:t>
            </a:r>
          </a:p>
        </p:txBody>
      </p:sp>
      <p:sp>
        <p:nvSpPr>
          <p:cNvPr id="394" name="TextBox 394"/>
          <p:cNvSpPr txBox="1"/>
          <p:nvPr/>
        </p:nvSpPr>
        <p:spPr>
          <a:xfrm>
            <a:off x="2907792" y="1828800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电商售后智能服务，优先解决低风险售后问题。</a:t>
            </a:r>
          </a:p>
        </p:txBody>
      </p:sp>
      <p:sp>
        <p:nvSpPr>
          <p:cNvPr id="395" name="Shape 395"/>
          <p:cNvSpPr/>
          <p:nvPr/>
        </p:nvSpPr>
        <p:spPr>
          <a:xfrm>
            <a:off x="859536" y="2386584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96" name="TextBox 396"/>
          <p:cNvSpPr txBox="1"/>
          <p:nvPr/>
        </p:nvSpPr>
        <p:spPr>
          <a:xfrm>
            <a:off x="859536" y="248716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产品与流程</a:t>
            </a:r>
          </a:p>
        </p:txBody>
      </p:sp>
      <p:sp>
        <p:nvSpPr>
          <p:cNvPr id="397" name="TextBox 397"/>
          <p:cNvSpPr txBox="1"/>
          <p:nvPr/>
        </p:nvSpPr>
        <p:spPr>
          <a:xfrm>
            <a:off x="2907792" y="248716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对话助手连接人工工作台及订单系统，完成预受理或转人工。</a:t>
            </a:r>
          </a:p>
        </p:txBody>
      </p:sp>
      <p:sp>
        <p:nvSpPr>
          <p:cNvPr id="398" name="Shape 398"/>
          <p:cNvSpPr/>
          <p:nvPr/>
        </p:nvSpPr>
        <p:spPr>
          <a:xfrm>
            <a:off x="859536" y="304495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99" name="TextBox 399"/>
          <p:cNvSpPr txBox="1"/>
          <p:nvPr/>
        </p:nvSpPr>
        <p:spPr>
          <a:xfrm>
            <a:off x="859536" y="3145536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0C565"/>
                </a:solidFill>
                <a:latin typeface="Hiragino Sans GB"/>
                <a:ea typeface="Hiragino Sans GB"/>
              </a:rPr>
              <a:t>关键判断</a:t>
            </a:r>
          </a:p>
        </p:txBody>
      </p:sp>
      <p:sp>
        <p:nvSpPr>
          <p:cNvPr id="400" name="TextBox 400"/>
          <p:cNvSpPr txBox="1"/>
          <p:nvPr/>
        </p:nvSpPr>
        <p:spPr>
          <a:xfrm>
            <a:off x="2907792" y="3145536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大模型理解表达，确定性规则判断退款资格。</a:t>
            </a:r>
          </a:p>
        </p:txBody>
      </p:sp>
      <p:sp>
        <p:nvSpPr>
          <p:cNvPr id="401" name="Shape 401"/>
          <p:cNvSpPr/>
          <p:nvPr/>
        </p:nvSpPr>
        <p:spPr>
          <a:xfrm>
            <a:off x="859536" y="3703320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02" name="TextBox 402"/>
          <p:cNvSpPr txBox="1"/>
          <p:nvPr/>
        </p:nvSpPr>
        <p:spPr>
          <a:xfrm>
            <a:off x="859536" y="3803904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7657"/>
                </a:solidFill>
                <a:latin typeface="Hiragino Sans GB"/>
                <a:ea typeface="Hiragino Sans GB"/>
              </a:rPr>
              <a:t>问题与修改</a:t>
            </a:r>
          </a:p>
        </p:txBody>
      </p:sp>
      <p:sp>
        <p:nvSpPr>
          <p:cNvPr id="403" name="TextBox 403"/>
          <p:cNvSpPr txBox="1"/>
          <p:nvPr/>
        </p:nvSpPr>
        <p:spPr>
          <a:xfrm>
            <a:off x="2907792" y="3803904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dirty="0">
                <a:solidFill>
                  <a:srgbClr val="F5F2E9"/>
                </a:solidFill>
                <a:latin typeface="Hiragino Sans GB"/>
                <a:ea typeface="Hiragino Sans GB"/>
              </a:rPr>
              <a:t>更换订单后旧状态未失效，增加状态清空并重新检查。</a:t>
            </a:r>
          </a:p>
        </p:txBody>
      </p:sp>
      <p:sp>
        <p:nvSpPr>
          <p:cNvPr id="404" name="Shape 404"/>
          <p:cNvSpPr/>
          <p:nvPr/>
        </p:nvSpPr>
        <p:spPr>
          <a:xfrm>
            <a:off x="859536" y="4361688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05" name="TextBox 405"/>
          <p:cNvSpPr txBox="1"/>
          <p:nvPr/>
        </p:nvSpPr>
        <p:spPr>
          <a:xfrm>
            <a:off x="859536" y="4462272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68D391"/>
                </a:solidFill>
                <a:latin typeface="Hiragino Sans GB"/>
                <a:ea typeface="Hiragino Sans GB"/>
              </a:rPr>
              <a:t>上线与限制</a:t>
            </a:r>
          </a:p>
        </p:txBody>
      </p:sp>
      <p:sp>
        <p:nvSpPr>
          <p:cNvPr id="406" name="TextBox 406"/>
          <p:cNvSpPr txBox="1"/>
          <p:nvPr/>
        </p:nvSpPr>
        <p:spPr>
          <a:xfrm>
            <a:off x="2907792" y="4462272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核心流程已在真实环境运行，长期价值仍需更多样本。</a:t>
            </a:r>
          </a:p>
        </p:txBody>
      </p:sp>
      <p:sp>
        <p:nvSpPr>
          <p:cNvPr id="407" name="Shape 407"/>
          <p:cNvSpPr/>
          <p:nvPr/>
        </p:nvSpPr>
        <p:spPr>
          <a:xfrm>
            <a:off x="859536" y="5020056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08" name="Shape 408"/>
          <p:cNvSpPr/>
          <p:nvPr/>
        </p:nvSpPr>
        <p:spPr>
          <a:xfrm>
            <a:off x="749808" y="5248656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409" name="TextBox 409"/>
          <p:cNvSpPr txBox="1"/>
          <p:nvPr/>
        </p:nvSpPr>
        <p:spPr>
          <a:xfrm>
            <a:off x="932688" y="5367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追问入口</a:t>
            </a:r>
          </a:p>
        </p:txBody>
      </p:sp>
      <p:sp>
        <p:nvSpPr>
          <p:cNvPr id="410" name="TextBox 410"/>
          <p:cNvSpPr txBox="1"/>
          <p:nvPr/>
        </p:nvSpPr>
        <p:spPr>
          <a:xfrm>
            <a:off x="2103120" y="5340096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为什么这样分工？状态问题怎样定位？上线后观察什么？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TextBox 427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428" name="TextBox 428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20</a:t>
            </a:r>
          </a:p>
        </p:txBody>
      </p:sp>
      <p:sp>
        <p:nvSpPr>
          <p:cNvPr id="429" name="Shape 429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30" name="Shape 430"/>
          <p:cNvSpPr/>
          <p:nvPr/>
        </p:nvSpPr>
        <p:spPr>
          <a:xfrm>
            <a:off x="694944" y="6501384"/>
            <a:ext cx="8314006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31" name="TextBox 431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五行提纲与点评标准</a:t>
            </a:r>
          </a:p>
        </p:txBody>
      </p:sp>
      <p:sp>
        <p:nvSpPr>
          <p:cNvPr id="432" name="Shape 432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34" name="Shape 434"/>
          <p:cNvSpPr/>
          <p:nvPr/>
        </p:nvSpPr>
        <p:spPr>
          <a:xfrm>
            <a:off x="749808" y="1828800"/>
            <a:ext cx="6537960" cy="3703320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36D6C2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435" name="TextBox 435"/>
          <p:cNvSpPr txBox="1"/>
          <p:nvPr/>
        </p:nvSpPr>
        <p:spPr>
          <a:xfrm>
            <a:off x="1005840" y="2066544"/>
            <a:ext cx="601675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 lnSpcReduction="10000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36D6C2"/>
                </a:solidFill>
                <a:latin typeface="Hiragino Sans GB"/>
                <a:ea typeface="Hiragino Sans GB"/>
              </a:rPr>
              <a:t>核心结构</a:t>
            </a:r>
            <a:endParaRPr lang="zh-CN" sz="1800" b="1" dirty="0">
              <a:solidFill>
                <a:srgbClr val="36D6C2"/>
              </a:solidFill>
              <a:latin typeface="Hiragino Sans GB"/>
              <a:ea typeface="Hiragino Sans GB"/>
            </a:endParaRPr>
          </a:p>
        </p:txBody>
      </p:sp>
      <p:sp>
        <p:nvSpPr>
          <p:cNvPr id="436" name="TextBox 436"/>
          <p:cNvSpPr txBox="1"/>
          <p:nvPr/>
        </p:nvSpPr>
        <p:spPr>
          <a:xfrm>
            <a:off x="1005840" y="2651760"/>
            <a:ext cx="5925312" cy="2542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F5F2E9"/>
                </a:solidFill>
                <a:latin typeface="Hiragino Sans GB"/>
                <a:ea typeface="Hiragino Sans GB"/>
              </a:rPr>
              <a:t>1  我做的是______，主要解决______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F5F2E9"/>
                </a:solidFill>
                <a:latin typeface="Hiragino Sans GB"/>
                <a:ea typeface="Hiragino Sans GB"/>
              </a:rPr>
              <a:t>2  产品由______组成，用户通过______完成任务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F5F2E9"/>
                </a:solidFill>
                <a:latin typeface="Hiragino Sans GB"/>
                <a:ea typeface="Hiragino Sans GB"/>
              </a:rPr>
              <a:t>3  我决定______，没有选择______，因为______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F5F2E9"/>
                </a:solidFill>
                <a:latin typeface="Hiragino Sans GB"/>
                <a:ea typeface="Hiragino Sans GB"/>
              </a:rPr>
              <a:t>4  我们发现______，后来调整了______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F5F2E9"/>
                </a:solidFill>
                <a:latin typeface="Hiragino Sans GB"/>
                <a:ea typeface="Hiragino Sans GB"/>
              </a:rPr>
              <a:t>5  目前已经上线______，当前限制是______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Box 440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第五节｜项目面试的追问逻辑</a:t>
            </a:r>
          </a:p>
        </p:txBody>
      </p:sp>
      <p:sp>
        <p:nvSpPr>
          <p:cNvPr id="441" name="TextBox 441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21</a:t>
            </a:r>
          </a:p>
        </p:txBody>
      </p:sp>
      <p:sp>
        <p:nvSpPr>
          <p:cNvPr id="442" name="Shape 442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43" name="Shape 443"/>
          <p:cNvSpPr/>
          <p:nvPr/>
        </p:nvSpPr>
        <p:spPr>
          <a:xfrm>
            <a:off x="694944" y="6501384"/>
            <a:ext cx="8729706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44" name="TextBox 444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留了</a:t>
            </a:r>
            <a:r>
              <a:rPr lang="zh-CN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四个追问</a:t>
            </a: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方向</a:t>
            </a:r>
            <a:endParaRPr lang="zh-CN" sz="290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445" name="Shape 445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47" name="Shape 447"/>
          <p:cNvSpPr/>
          <p:nvPr/>
        </p:nvSpPr>
        <p:spPr>
          <a:xfrm>
            <a:off x="749808" y="2103120"/>
            <a:ext cx="2462022" cy="290779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448" name="TextBox 448"/>
          <p:cNvSpPr txBox="1"/>
          <p:nvPr/>
        </p:nvSpPr>
        <p:spPr>
          <a:xfrm>
            <a:off x="932688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449" name="TextBox 449"/>
          <p:cNvSpPr txBox="1"/>
          <p:nvPr/>
        </p:nvSpPr>
        <p:spPr>
          <a:xfrm>
            <a:off x="932688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业务问题</a:t>
            </a:r>
          </a:p>
        </p:txBody>
      </p:sp>
      <p:sp>
        <p:nvSpPr>
          <p:cNvPr id="450" name="TextBox 450"/>
          <p:cNvSpPr txBox="1"/>
          <p:nvPr/>
        </p:nvSpPr>
        <p:spPr>
          <a:xfrm>
            <a:off x="932688" y="3054096"/>
            <a:ext cx="2096262" cy="181051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这个问题具体怎样发生？</a:t>
            </a:r>
          </a:p>
        </p:txBody>
      </p:sp>
      <p:sp>
        <p:nvSpPr>
          <p:cNvPr id="451" name="Shape 451"/>
          <p:cNvSpPr/>
          <p:nvPr/>
        </p:nvSpPr>
        <p:spPr>
          <a:xfrm>
            <a:off x="3440430" y="2103120"/>
            <a:ext cx="2462022" cy="290779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452" name="TextBox 452"/>
          <p:cNvSpPr txBox="1"/>
          <p:nvPr/>
        </p:nvSpPr>
        <p:spPr>
          <a:xfrm>
            <a:off x="3623310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53" name="TextBox 453"/>
          <p:cNvSpPr txBox="1"/>
          <p:nvPr/>
        </p:nvSpPr>
        <p:spPr>
          <a:xfrm>
            <a:off x="3623310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关键选择</a:t>
            </a:r>
          </a:p>
        </p:txBody>
      </p:sp>
      <p:sp>
        <p:nvSpPr>
          <p:cNvPr id="454" name="TextBox 454"/>
          <p:cNvSpPr txBox="1"/>
          <p:nvPr/>
        </p:nvSpPr>
        <p:spPr>
          <a:xfrm>
            <a:off x="3623310" y="3054096"/>
            <a:ext cx="2096262" cy="181051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当时为什么这样选择？</a:t>
            </a:r>
          </a:p>
        </p:txBody>
      </p:sp>
      <p:sp>
        <p:nvSpPr>
          <p:cNvPr id="455" name="Shape 455"/>
          <p:cNvSpPr/>
          <p:nvPr/>
        </p:nvSpPr>
        <p:spPr>
          <a:xfrm>
            <a:off x="6131052" y="2103120"/>
            <a:ext cx="2462022" cy="290779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456" name="TextBox 456"/>
          <p:cNvSpPr txBox="1"/>
          <p:nvPr/>
        </p:nvSpPr>
        <p:spPr>
          <a:xfrm>
            <a:off x="6313932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457" name="TextBox 457"/>
          <p:cNvSpPr txBox="1"/>
          <p:nvPr/>
        </p:nvSpPr>
        <p:spPr>
          <a:xfrm>
            <a:off x="6313932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典型问题</a:t>
            </a:r>
          </a:p>
        </p:txBody>
      </p:sp>
      <p:sp>
        <p:nvSpPr>
          <p:cNvPr id="458" name="TextBox 458"/>
          <p:cNvSpPr txBox="1"/>
          <p:nvPr/>
        </p:nvSpPr>
        <p:spPr>
          <a:xfrm>
            <a:off x="6313932" y="3054096"/>
            <a:ext cx="2096262" cy="181051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修改后怎样确认解决？</a:t>
            </a:r>
          </a:p>
        </p:txBody>
      </p:sp>
      <p:sp>
        <p:nvSpPr>
          <p:cNvPr id="459" name="Shape 459"/>
          <p:cNvSpPr/>
          <p:nvPr/>
        </p:nvSpPr>
        <p:spPr>
          <a:xfrm>
            <a:off x="8821674" y="2103120"/>
            <a:ext cx="2462022" cy="290779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460" name="TextBox 460"/>
          <p:cNvSpPr txBox="1"/>
          <p:nvPr/>
        </p:nvSpPr>
        <p:spPr>
          <a:xfrm>
            <a:off x="9004554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461" name="TextBox 461"/>
          <p:cNvSpPr txBox="1"/>
          <p:nvPr/>
        </p:nvSpPr>
        <p:spPr>
          <a:xfrm>
            <a:off x="9004554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上线结果</a:t>
            </a:r>
          </a:p>
        </p:txBody>
      </p:sp>
      <p:sp>
        <p:nvSpPr>
          <p:cNvPr id="462" name="TextBox 462"/>
          <p:cNvSpPr txBox="1"/>
          <p:nvPr/>
        </p:nvSpPr>
        <p:spPr>
          <a:xfrm>
            <a:off x="9004554" y="3054096"/>
            <a:ext cx="2096262" cy="181051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范围、结果和个人贡献是什么？</a:t>
            </a:r>
          </a:p>
        </p:txBody>
      </p:sp>
      <p:sp>
        <p:nvSpPr>
          <p:cNvPr id="463" name="Shape 463"/>
          <p:cNvSpPr/>
          <p:nvPr/>
        </p:nvSpPr>
        <p:spPr>
          <a:xfrm>
            <a:off x="749808" y="5340096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464" name="TextBox 464"/>
          <p:cNvSpPr txBox="1"/>
          <p:nvPr/>
        </p:nvSpPr>
        <p:spPr>
          <a:xfrm>
            <a:off x="932688" y="54589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面试官观察</a:t>
            </a:r>
          </a:p>
        </p:txBody>
      </p:sp>
      <p:sp>
        <p:nvSpPr>
          <p:cNvPr id="465" name="TextBox 465"/>
          <p:cNvSpPr txBox="1"/>
          <p:nvPr/>
        </p:nvSpPr>
        <p:spPr>
          <a:xfrm>
            <a:off x="2103120" y="5431536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前后信息是否一致，选择是否合理，细节能否继续展开。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9AF372-666E-E8B1-1487-ACAE5226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Box 441">
            <a:extLst>
              <a:ext uri="{FF2B5EF4-FFF2-40B4-BE49-F238E27FC236}">
                <a16:creationId xmlns:a16="http://schemas.microsoft.com/office/drawing/2014/main" id="{1E2AC3C8-FDB9-F009-7F8C-2877F4623D68}"/>
              </a:ext>
            </a:extLst>
          </p:cNvPr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21</a:t>
            </a:r>
          </a:p>
        </p:txBody>
      </p:sp>
      <p:sp>
        <p:nvSpPr>
          <p:cNvPr id="442" name="Shape 442">
            <a:extLst>
              <a:ext uri="{FF2B5EF4-FFF2-40B4-BE49-F238E27FC236}">
                <a16:creationId xmlns:a16="http://schemas.microsoft.com/office/drawing/2014/main" id="{B0407A58-659D-3876-4E4A-97D027E0FCED}"/>
              </a:ext>
            </a:extLst>
          </p:cNvPr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43" name="Shape 443">
            <a:extLst>
              <a:ext uri="{FF2B5EF4-FFF2-40B4-BE49-F238E27FC236}">
                <a16:creationId xmlns:a16="http://schemas.microsoft.com/office/drawing/2014/main" id="{E1A7EEF8-3AA6-D6F0-282D-9EDC9E552690}"/>
              </a:ext>
            </a:extLst>
          </p:cNvPr>
          <p:cNvSpPr/>
          <p:nvPr/>
        </p:nvSpPr>
        <p:spPr>
          <a:xfrm>
            <a:off x="694944" y="6501384"/>
            <a:ext cx="8729706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44" name="TextBox 444">
            <a:extLst>
              <a:ext uri="{FF2B5EF4-FFF2-40B4-BE49-F238E27FC236}">
                <a16:creationId xmlns:a16="http://schemas.microsoft.com/office/drawing/2014/main" id="{32E67AF3-704F-E771-3CF7-252988410E19}"/>
              </a:ext>
            </a:extLst>
          </p:cNvPr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900" b="1" dirty="0">
                <a:solidFill>
                  <a:srgbClr val="F5F2E9"/>
                </a:solidFill>
                <a:latin typeface="Hiragino Sans GB"/>
                <a:ea typeface="Hiragino Sans GB"/>
              </a:rPr>
              <a:t>作业</a:t>
            </a:r>
            <a:endParaRPr lang="zh-CN" sz="290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  <p:sp>
        <p:nvSpPr>
          <p:cNvPr id="445" name="Shape 445">
            <a:extLst>
              <a:ext uri="{FF2B5EF4-FFF2-40B4-BE49-F238E27FC236}">
                <a16:creationId xmlns:a16="http://schemas.microsoft.com/office/drawing/2014/main" id="{69DEF5F1-DC9B-DFE1-0420-C4CE117F9935}"/>
              </a:ext>
            </a:extLst>
          </p:cNvPr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607A5C3-25D8-007A-8A53-F7AEFFE2E611}"/>
              </a:ext>
            </a:extLst>
          </p:cNvPr>
          <p:cNvSpPr txBox="1"/>
          <p:nvPr/>
        </p:nvSpPr>
        <p:spPr>
          <a:xfrm>
            <a:off x="2840290" y="2807208"/>
            <a:ext cx="6511420" cy="12435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200" b="1" dirty="0">
                <a:solidFill>
                  <a:srgbClr val="F5F2E9"/>
                </a:solidFill>
                <a:latin typeface="Hiragino Sans GB"/>
                <a:ea typeface="Hiragino Sans GB"/>
              </a:rPr>
              <a:t>完善前面的项目</a:t>
            </a:r>
            <a:endParaRPr lang="zh-CN" sz="4200" b="1" dirty="0">
              <a:solidFill>
                <a:srgbClr val="F5F2E9"/>
              </a:solidFill>
              <a:latin typeface="Hiragino Sans GB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428195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4788</Words>
  <Application>Microsoft Macintosh PowerPoint</Application>
  <PresentationFormat>宽屏</PresentationFormat>
  <Paragraphs>396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DengXian</vt:lpstr>
      <vt:lpstr>Hiragino Sans GB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didi</cp:lastModifiedBy>
  <cp:revision>3</cp:revision>
  <dcterms:created xsi:type="dcterms:W3CDTF">2013-01-27T09:14:16Z</dcterms:created>
  <dcterms:modified xsi:type="dcterms:W3CDTF">2026-10-04T12:24:30Z</dcterms:modified>
  <cp:category/>
</cp:coreProperties>
</file>