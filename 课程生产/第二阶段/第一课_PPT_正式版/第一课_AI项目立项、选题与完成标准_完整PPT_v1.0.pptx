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开场先告诉学员，这节课不急着写PRD，也不急着选模型。今天只做一件事：判断一个想法是否已经具备进入项目的条件。</a:t>
            </a:r>
          </a:p>
          <a:p/>
          <a:p>
            <a:r>
              <a:t>&gt; 文档用途：第二阶段第一课老师版完整授课讲义。  </a:t>
            </a:r>
          </a:p>
          <a:p>
            <a:r>
              <a:t>&gt; 当前版本：v1.1。  </a:t>
            </a:r>
          </a:p>
          <a:p>
            <a:r>
              <a:t>&gt; 建议时长：正常约110分钟；根据真实选题诊断情况，可在90—130分钟之间自然调整。  </a:t>
            </a:r>
          </a:p>
          <a:p>
            <a:r>
              <a:t>&gt; 课堂结果：学员理解什么才算完整AI项目，并确定第一个个人项目的用户、问题、材料和第一版边界。</a:t>
            </a:r>
          </a:p>
          <a:p/>
          <a:p>
            <a:r>
              <a:t>---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把前面学过的内容，连续地用在一个项目里</a:t>
            </a:r>
          </a:p>
          <a:p/>
          <a:p>
            <a:r>
              <a:t>第一阶段结束以后，大家已经接触过大模型、Prompt、Workflow、RAG、Agent、需求分析、MVP、PRD、原型、Demo、评测、Bad Case、模型选型、成本和ROI。</a:t>
            </a:r>
          </a:p>
          <a:p/>
          <a:p>
            <a:r>
              <a:t>如果继续上课，我们当然还能找到更多概念：</a:t>
            </a:r>
          </a:p>
          <a:p/>
          <a:p>
            <a:r>
              <a:t>- Multi-Agent怎样协作；</a:t>
            </a:r>
          </a:p>
          <a:p>
            <a:r>
              <a:t>- MCP还能连接哪些系统；</a:t>
            </a:r>
          </a:p>
          <a:p>
            <a:r>
              <a:t>- 如何使用更多开发工具；</a:t>
            </a:r>
          </a:p>
          <a:p>
            <a:r>
              <a:t>- 如何选择新的模型；</a:t>
            </a:r>
          </a:p>
          <a:p>
            <a:r>
              <a:t>- 如何搭建更复杂的知识库。</a:t>
            </a:r>
          </a:p>
          <a:p/>
          <a:p>
            <a:r>
              <a:t>但对很多准备转型的同学来说，现在最缺的已经不是再多知道五个概念，而是把前面学过的东西连续地用在一个项目里。</a:t>
            </a:r>
          </a:p>
          <a:p/>
          <a:p>
            <a:r>
              <a:t>一个人可以解释什么是RAG，不代表他能设计一个企业知识库产品；可以写一份PRD，也不代表他能说明为什么这个项目值得做；可以用AI做出一个页面，也不代表他知道结果是否可用。</a:t>
            </a:r>
          </a:p>
          <a:p/>
          <a:p>
            <a:r>
              <a:t>所以第二阶段不再把知识点作为课程主角。知识只有在项目需要时才会被重新调用。</a:t>
            </a:r>
          </a:p>
          <a:p/>
          <a:p>
            <a:r>
              <a:t>第二阶段真正要回答的是：</a:t>
            </a:r>
          </a:p>
          <a:p/>
          <a:p>
            <a:r>
              <a:t>&gt; 面对一个不完整的业务问题，我能不能把它一步一步做成一个有需求、有方案、有原型、有评测、有修改证据的AI产品项目？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从知识点到完整项目</a:t>
            </a:r>
          </a:p>
          <a:p/>
          <a:p>
            <a:r>
              <a:t>第一阶段结束以后，大家已经接触过大模型、Prompt、Workflow、RAG、Agent、需求分析、MVP、PRD、原型、Demo、评测、Bad Case、模型选型、成本和ROI。</a:t>
            </a:r>
          </a:p>
          <a:p/>
          <a:p>
            <a:r>
              <a:t>如果继续上课，我们当然还能找到更多概念：</a:t>
            </a:r>
          </a:p>
          <a:p/>
          <a:p>
            <a:r>
              <a:t>- Multi-Agent怎样协作；</a:t>
            </a:r>
          </a:p>
          <a:p>
            <a:r>
              <a:t>- MCP还能连接哪些系统；</a:t>
            </a:r>
          </a:p>
          <a:p>
            <a:r>
              <a:t>- 如何使用更多开发工具；</a:t>
            </a:r>
          </a:p>
          <a:p>
            <a:r>
              <a:t>- 如何选择新的模型；</a:t>
            </a:r>
          </a:p>
          <a:p>
            <a:r>
              <a:t>- 如何搭建更复杂的知识库。</a:t>
            </a:r>
          </a:p>
          <a:p/>
          <a:p>
            <a:r>
              <a:t>但对很多准备转型的同学来说，现在最缺的已经不是再多知道五个概念，而是把前面学过的东西连续地用在一个项目里。</a:t>
            </a:r>
          </a:p>
          <a:p/>
          <a:p>
            <a:r>
              <a:t>一个人可以解释什么是RAG，不代表他能设计一个企业知识库产品；可以写一份PRD，也不代表他能说明为什么这个项目值得做；可以用AI做出一个页面，也不代表他知道结果是否可用。</a:t>
            </a:r>
          </a:p>
          <a:p/>
          <a:p>
            <a:r>
              <a:t>所以第二阶段不再把知识点作为课程主角。知识只有在项目需要时才会被重新调用。</a:t>
            </a:r>
          </a:p>
          <a:p/>
          <a:p>
            <a:r>
              <a:t>第二阶段真正要回答的是：</a:t>
            </a:r>
          </a:p>
          <a:p/>
          <a:p>
            <a:r>
              <a:t>&gt; 面对一个不完整的业务问题，我能不能把它一步一步做成一个有需求、有方案、有原型、有评测、有修改证据的AI产品项目？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三个个人项目</a:t>
            </a:r>
          </a:p>
          <a:p/>
          <a:p>
            <a:r>
              <a:t>每位学员最终完成三个个人项目。</a:t>
            </a:r>
          </a:p>
          <a:p/>
          <a:p>
            <a:r>
              <a:t>这里的“个人项目”不代表所有内容都必须独自开发，也不代表必须上线成为商业系统，而是指：</a:t>
            </a:r>
          </a:p>
          <a:p/>
          <a:p>
            <a:r>
              <a:t>- 选题和项目判断由本人完成；</a:t>
            </a:r>
          </a:p>
          <a:p>
            <a:r>
              <a:t>- 能说明使用了哪些公开资料、课程材料和模型能力；</a:t>
            </a:r>
          </a:p>
          <a:p>
            <a:r>
              <a:t>- 能区分教师提供的公共项目与自己的个人设计；</a:t>
            </a:r>
          </a:p>
          <a:p>
            <a:r>
              <a:t>- 能解释每一个主要功能为什么存在；</a:t>
            </a:r>
          </a:p>
          <a:p>
            <a:r>
              <a:t>- 能拿出自己的流程、PRD、原型、测试和修改记录；</a:t>
            </a:r>
          </a:p>
          <a:p>
            <a:r>
              <a:t>- 面试追问时，能够讲清自己的分析和取舍。</a:t>
            </a:r>
          </a:p>
          <a:p/>
          <a:p>
            <a:r>
              <a:t>三个项目分别对应三种常见的企业AI产品问题：</a:t>
            </a:r>
          </a:p>
          <a:p/>
          <a:p>
            <a:r>
              <a:t>1. AI怎样理解用户的自然语言，并把一次对话转化成可控的服务或业务办理流程；</a:t>
            </a:r>
          </a:p>
          <a:p>
            <a:r>
              <a:t>2. AI怎样进入业务材料审核和高风险核验流程，同时保证证据、规则和人工责任；</a:t>
            </a:r>
          </a:p>
          <a:p>
            <a:r>
              <a:t>3. AI怎样处理复杂要求、企业知识和专业长文档，形成有依据的专业交付。</a:t>
            </a:r>
          </a:p>
          <a:p/>
          <a:p>
            <a:r>
              <a:t>这三种问题并不是按RAG、Workflow和Agent分类。每个项目都可能同时使用多种能力。</a:t>
            </a:r>
          </a:p>
          <a:p/>
          <a:p>
            <a:r>
              <a:t>例如智能客服与业务办理助手可能同时需要：</a:t>
            </a:r>
          </a:p>
          <a:p/>
          <a:p>
            <a:r>
              <a:t>- 用大模型识别用户意图；</a:t>
            </a:r>
          </a:p>
          <a:p>
            <a:r>
              <a:t>- 用RAG检索企业制度和产品知识；</a:t>
            </a:r>
          </a:p>
          <a:p>
            <a:r>
              <a:t>- 通过接口查询订单、账户或服务状态；</a:t>
            </a:r>
          </a:p>
          <a:p>
            <a:r>
              <a:t>- 用规则判断权限和办理条件；</a:t>
            </a:r>
          </a:p>
          <a:p>
            <a:r>
              <a:t>- 在信息不足时继续追问；</a:t>
            </a:r>
          </a:p>
          <a:p>
            <a:r>
              <a:t>- 在不确定或高风险时转人工。</a:t>
            </a:r>
          </a:p>
          <a:p/>
          <a:p>
            <a:r>
              <a:t>业务材料审核系统也可能同时需要：</a:t>
            </a:r>
          </a:p>
          <a:p/>
          <a:p>
            <a:r>
              <a:t>- OCR读取图片；</a:t>
            </a:r>
          </a:p>
          <a:p>
            <a:r>
              <a:t>- 大模型提取非结构化字段；</a:t>
            </a:r>
          </a:p>
          <a:p>
            <a:r>
              <a:t>- 确定性规则比较金额和日期；</a:t>
            </a:r>
          </a:p>
          <a:p>
            <a:r>
              <a:t>- Workflow组织处理步骤；</a:t>
            </a:r>
          </a:p>
          <a:p>
            <a:r>
              <a:t>- 人工确认高风险结果。</a:t>
            </a:r>
          </a:p>
          <a:p/>
          <a:p>
            <a:r>
              <a:t>所以第二阶段的学习方法不是：</a:t>
            </a:r>
          </a:p>
          <a:p/>
          <a:p>
            <a:r>
              <a:t>&gt; 今天做一个RAG项目，明天做一个Agent项目。</a:t>
            </a:r>
          </a:p>
          <a:p/>
          <a:p>
            <a:r>
              <a:t>而是：</a:t>
            </a:r>
          </a:p>
          <a:p/>
          <a:p>
            <a:r>
              <a:t>&gt; 今天面对一个真实业务问题，判断需要调用哪些能力，哪些能力不应该使用。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三个项目的完成深度</a:t>
            </a:r>
          </a:p>
          <a:p/>
          <a:p>
            <a:r>
              <a:t>三个项目都要形成完整产品方案，至少包括：</a:t>
            </a:r>
          </a:p>
          <a:p/>
          <a:p>
            <a:r>
              <a:t>- 业务背景；</a:t>
            </a:r>
          </a:p>
          <a:p>
            <a:r>
              <a:t>- 目标用户；</a:t>
            </a:r>
          </a:p>
          <a:p>
            <a:r>
              <a:t>- 当前流程；</a:t>
            </a:r>
          </a:p>
          <a:p>
            <a:r>
              <a:t>- 具体问题；</a:t>
            </a:r>
          </a:p>
          <a:p>
            <a:r>
              <a:t>- 输入和输出；</a:t>
            </a:r>
          </a:p>
          <a:p>
            <a:r>
              <a:t>- AI、规则、系统与人工分工；</a:t>
            </a:r>
          </a:p>
          <a:p>
            <a:r>
              <a:t>- MVP；</a:t>
            </a:r>
          </a:p>
          <a:p>
            <a:r>
              <a:t>- 核心流程；</a:t>
            </a:r>
          </a:p>
          <a:p>
            <a:r>
              <a:t>- 核心页面；</a:t>
            </a:r>
          </a:p>
          <a:p>
            <a:r>
              <a:t>- 测试样本和指标；</a:t>
            </a:r>
          </a:p>
          <a:p>
            <a:r>
              <a:t>- Bad Case与修改记录。</a:t>
            </a:r>
          </a:p>
          <a:p/>
          <a:p>
            <a:r>
              <a:t>但不要求三个项目都开发成完整可运行系统。</a:t>
            </a:r>
          </a:p>
          <a:p/>
          <a:p>
            <a:r>
              <a:t>如果同时要求三个项目都有高保真原型、可运行Demo、大规模评测、成本测算和完整作品集，学员很容易把精力花在赶材料上，最后三个项目都只有表面完成度。</a:t>
            </a:r>
          </a:p>
          <a:p/>
          <a:p>
            <a:r>
              <a:t>更合理的方式是：</a:t>
            </a:r>
          </a:p>
          <a:p/>
          <a:p>
            <a:r>
              <a:t>- 三个项目都做到产品方案完整；</a:t>
            </a:r>
          </a:p>
          <a:p>
            <a:r>
              <a:t>- 从中选择一个最适合个人背景和目标岗位的项目；</a:t>
            </a:r>
          </a:p>
          <a:p>
            <a:r>
              <a:t>- 将这个项目作为主项目；</a:t>
            </a:r>
          </a:p>
          <a:p>
            <a:r>
              <a:t>- 主项目继续补齐可运行验证、实际评测、Bad Case迭代、风险成本和作品集。</a:t>
            </a:r>
          </a:p>
          <a:p/>
          <a:p>
            <a:r>
              <a:t>这意味着最终形成的是：</a:t>
            </a:r>
          </a:p>
          <a:p/>
          <a:p>
            <a:r>
              <a:t>&gt; 三个完整项目方案，加一个重点项目的深度证据。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两个选修方向</a:t>
            </a:r>
          </a:p>
          <a:p/>
          <a:p>
            <a:r>
              <a:t>除了三个必修公共项目，课程还会提供两个选修自学方向：</a:t>
            </a:r>
          </a:p>
          <a:p/>
          <a:p>
            <a:r>
              <a:t>- AI图像判断与结构化报告生成，以亚慧AI测肤项目为案例；</a:t>
            </a:r>
          </a:p>
          <a:p>
            <a:r>
              <a:t>- 企业客户研究与销售方案助手，以GTM Copilot和知乎销售案例为参考。</a:t>
            </a:r>
          </a:p>
          <a:p/>
          <a:p>
            <a:r>
              <a:t>它们用于补充多模态、增长和专业推荐能力，但不会变成第四、第五个必修个人项目。</a:t>
            </a:r>
          </a:p>
          <a:p/>
          <a:p>
            <a:r>
              <a:t>学员可以有三种使用方式：</a:t>
            </a:r>
          </a:p>
          <a:p/>
          <a:p>
            <a:r>
              <a:t>1. 只阅读和体验，扩展对不同AI产品形态的认识；</a:t>
            </a:r>
          </a:p>
          <a:p>
            <a:r>
              <a:t>2. 完成简化练习，但不进入正式作品集；</a:t>
            </a:r>
          </a:p>
          <a:p>
            <a:r>
              <a:t>3. 如果与个人经历和目标岗位高度相关，经确认后替换一个不适合自己的个人项目。</a:t>
            </a:r>
          </a:p>
          <a:p/>
          <a:p>
            <a:r>
              <a:t>因此，课程是“五个方向可学习，三个个人项目必须完成”，不是要求每个人提交五个完整项目。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公共项目和个人项目</a:t>
            </a:r>
          </a:p>
          <a:p/>
          <a:p>
            <a:r>
              <a:t>公共项目是老师在课堂上完整拆解的项目。它的价值是建立统一标准：</a:t>
            </a:r>
          </a:p>
          <a:p/>
          <a:p>
            <a:r>
              <a:t>- 一个真实问题怎样被定义；</a:t>
            </a:r>
          </a:p>
          <a:p>
            <a:r>
              <a:t>- 原来的工作流程是什么；</a:t>
            </a:r>
          </a:p>
          <a:p>
            <a:r>
              <a:t>- AI应该进入哪一步；</a:t>
            </a:r>
          </a:p>
          <a:p>
            <a:r>
              <a:t>- 哪些部分由规则负责；</a:t>
            </a:r>
          </a:p>
          <a:p>
            <a:r>
              <a:t>- 第一版为什么只做这些；</a:t>
            </a:r>
          </a:p>
          <a:p>
            <a:r>
              <a:t>- 原型需要展示什么状态；</a:t>
            </a:r>
          </a:p>
          <a:p>
            <a:r>
              <a:t>- 测试数据从哪里来。</a:t>
            </a:r>
          </a:p>
          <a:p/>
          <a:p>
            <a:r>
              <a:t>个人项目是学员基于自己的行业、经历、目标岗位或可获得材料独立完成的项目。</a:t>
            </a:r>
          </a:p>
          <a:p/>
          <a:p>
            <a:r>
              <a:t>公共项目不直接等于个人项目。学员不能把公共项目换一个名字，就当成自己的项目。</a:t>
            </a:r>
          </a:p>
          <a:p/>
          <a:p>
            <a:r>
              <a:t>例如公共项目是“电商智能客服与业务办理助手”，学员可以做SaaS产品帮助台，也可以做企业员工服务助手。但他必须重新说明：</a:t>
            </a:r>
          </a:p>
          <a:p/>
          <a:p>
            <a:r>
              <a:t>- SaaS客户或企业员工在什么情况下发起咨询；</a:t>
            </a:r>
          </a:p>
          <a:p>
            <a:r>
              <a:t>- 原来的人工服务流程是什么；</a:t>
            </a:r>
          </a:p>
          <a:p>
            <a:r>
              <a:t>- 产品文档、制度和实时业务数据从哪里来；</a:t>
            </a:r>
          </a:p>
          <a:p>
            <a:r>
              <a:t>- 哪些问题由知识库回答，哪些需要查询业务系统；</a:t>
            </a:r>
          </a:p>
          <a:p>
            <a:r>
              <a:t>- 哪些条件由规则判断，哪些必须转人工；</a:t>
            </a:r>
          </a:p>
          <a:p>
            <a:r>
              <a:t>- 怎样准备真实问句和异常场景进行测试。</a:t>
            </a:r>
          </a:p>
          <a:p/>
          <a:p>
            <a:r>
              <a:t>真正可以复用的是项目方法，不是已经写好的答案。</a:t>
            </a:r>
          </a:p>
          <a:p/>
          <a:p>
            <a:r>
              <a:t>本部分收束：</a:t>
            </a:r>
          </a:p>
          <a:p/>
          <a:p>
            <a:r>
              <a:t>&gt; 第二阶段不是再听一轮知识课，也不是复制三个公共项目，而是通过公共项目建立标准，再用三个个人项目证明自己能够做出判断。</a:t>
            </a:r>
          </a:p>
          <a:p/>
          <a:p>
            <a:r>
              <a:t>---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第二阶段的学习方式</a:t>
            </a:r>
          </a:p>
          <a:p/>
          <a:p>
            <a:r>
              <a:t>公共项目是老师在课堂上完整拆解的项目。它的价值是建立统一标准：</a:t>
            </a:r>
          </a:p>
          <a:p/>
          <a:p>
            <a:r>
              <a:t>- 一个真实问题怎样被定义；</a:t>
            </a:r>
          </a:p>
          <a:p>
            <a:r>
              <a:t>- 原来的工作流程是什么；</a:t>
            </a:r>
          </a:p>
          <a:p>
            <a:r>
              <a:t>- AI应该进入哪一步；</a:t>
            </a:r>
          </a:p>
          <a:p>
            <a:r>
              <a:t>- 哪些部分由规则负责；</a:t>
            </a:r>
          </a:p>
          <a:p>
            <a:r>
              <a:t>- 第一版为什么只做这些；</a:t>
            </a:r>
          </a:p>
          <a:p>
            <a:r>
              <a:t>- 原型需要展示什么状态；</a:t>
            </a:r>
          </a:p>
          <a:p>
            <a:r>
              <a:t>- 测试数据从哪里来。</a:t>
            </a:r>
          </a:p>
          <a:p/>
          <a:p>
            <a:r>
              <a:t>个人项目是学员基于自己的行业、经历、目标岗位或可获得材料独立完成的项目。</a:t>
            </a:r>
          </a:p>
          <a:p/>
          <a:p>
            <a:r>
              <a:t>公共项目不直接等于个人项目。学员不能把公共项目换一个名字，就当成自己的项目。</a:t>
            </a:r>
          </a:p>
          <a:p/>
          <a:p>
            <a:r>
              <a:t>例如公共项目是“电商智能客服与业务办理助手”，学员可以做SaaS产品帮助台，也可以做企业员工服务助手。但他必须重新说明：</a:t>
            </a:r>
          </a:p>
          <a:p/>
          <a:p>
            <a:r>
              <a:t>- SaaS客户或企业员工在什么情况下发起咨询；</a:t>
            </a:r>
          </a:p>
          <a:p>
            <a:r>
              <a:t>- 原来的人工服务流程是什么；</a:t>
            </a:r>
          </a:p>
          <a:p>
            <a:r>
              <a:t>- 产品文档、制度和实时业务数据从哪里来；</a:t>
            </a:r>
          </a:p>
          <a:p>
            <a:r>
              <a:t>- 哪些问题由知识库回答，哪些需要查询业务系统；</a:t>
            </a:r>
          </a:p>
          <a:p>
            <a:r>
              <a:t>- 哪些条件由规则判断，哪些必须转人工；</a:t>
            </a:r>
          </a:p>
          <a:p>
            <a:r>
              <a:t>- 怎样准备真实问句和异常场景进行测试。</a:t>
            </a:r>
          </a:p>
          <a:p/>
          <a:p>
            <a:r>
              <a:t>真正可以复用的是项目方法，不是已经写好的答案。</a:t>
            </a:r>
          </a:p>
          <a:p/>
          <a:p>
            <a:r>
              <a:t>本部分收束：</a:t>
            </a:r>
          </a:p>
          <a:p/>
          <a:p>
            <a:r>
              <a:t>&gt; 第二阶段不是再听一轮知识课，也不是复制三个公共项目，而是通过公共项目建立标准，再用三个个人项目证明自己能够做出判断。</a:t>
            </a:r>
          </a:p>
          <a:p/>
          <a:p>
            <a:r>
              <a:t>---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从一句项目名称开始</a:t>
            </a:r>
          </a:p>
          <a:p/>
          <a:p>
            <a:r>
              <a:t>很多AI项目最初只有一句话：</a:t>
            </a:r>
          </a:p>
          <a:p/>
          <a:p>
            <a:r>
              <a:t>&gt; 我想做一个AI智能客服。</a:t>
            </a:r>
          </a:p>
          <a:p/>
          <a:p>
            <a:r>
              <a:t>或者：</a:t>
            </a:r>
          </a:p>
          <a:p/>
          <a:p>
            <a:r>
              <a:t>&gt; 我想做一个AI教育助手。</a:t>
            </a:r>
          </a:p>
          <a:p/>
          <a:p>
            <a:r>
              <a:t>这些可以作为兴趣方向，但还不能称为项目。</a:t>
            </a:r>
          </a:p>
          <a:p/>
          <a:p>
            <a:r>
              <a:t>因为我们不知道：</a:t>
            </a:r>
          </a:p>
          <a:p/>
          <a:p>
            <a:r>
              <a:t>- 谁在使用；</a:t>
            </a:r>
          </a:p>
          <a:p>
            <a:r>
              <a:t>- 在什么情况下使用；</a:t>
            </a:r>
          </a:p>
          <a:p>
            <a:r>
              <a:t>- 用户原来怎样完成工作；</a:t>
            </a:r>
          </a:p>
          <a:p>
            <a:r>
              <a:t>- 目前最主要的问题是什么；</a:t>
            </a:r>
          </a:p>
          <a:p>
            <a:r>
              <a:t>- 为什么需要AI；</a:t>
            </a:r>
          </a:p>
          <a:p>
            <a:r>
              <a:t>- 输入材料是什么；</a:t>
            </a:r>
          </a:p>
          <a:p>
            <a:r>
              <a:t>- 输出结果是什么；</a:t>
            </a:r>
          </a:p>
          <a:p>
            <a:r>
              <a:t>- 第一版做到哪里；</a:t>
            </a:r>
          </a:p>
          <a:p>
            <a:r>
              <a:t>- AI出错以后怎么办；</a:t>
            </a:r>
          </a:p>
          <a:p>
            <a:r>
              <a:t>- 怎样判断做得好不好。</a:t>
            </a:r>
          </a:p>
          <a:p/>
          <a:p>
            <a:r>
              <a:t>如果这些问题都没有答案，项目名称越大，后面返工的概率越高。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功能清单还缺什么</a:t>
            </a:r>
          </a:p>
          <a:p/>
          <a:p>
            <a:r>
              <a:t>有的项目已经比一句话更具体：</a:t>
            </a:r>
          </a:p>
          <a:p/>
          <a:p>
            <a:r>
              <a:t>&gt; 设计一个电商AI客服，支持知识库问答、订单查询、客户投诉和商品推荐。</a:t>
            </a:r>
          </a:p>
          <a:p/>
          <a:p>
            <a:r>
              <a:t>这已经列出了功能，但仍然不能说明项目是否成立。</a:t>
            </a:r>
          </a:p>
          <a:p/>
          <a:p>
            <a:r>
              <a:t>我们继续追问：</a:t>
            </a:r>
          </a:p>
          <a:p/>
          <a:p>
            <a:r>
              <a:t>- 四个场景中，哪个问题最严重？</a:t>
            </a:r>
          </a:p>
          <a:p>
            <a:r>
              <a:t>- 哪个场景发生频率最高？</a:t>
            </a:r>
          </a:p>
          <a:p>
            <a:r>
              <a:t>- 哪个场景的数据最容易获得？</a:t>
            </a:r>
          </a:p>
          <a:p>
            <a:r>
              <a:t>- 订单查询需要调用什么系统？</a:t>
            </a:r>
          </a:p>
          <a:p>
            <a:r>
              <a:t>- 投诉应该自动处理还是转人工？</a:t>
            </a:r>
          </a:p>
          <a:p>
            <a:r>
              <a:t>- 商品推荐使用什么产品数据？</a:t>
            </a:r>
          </a:p>
          <a:p>
            <a:r>
              <a:t>- 知识库里没有答案时怎么办？</a:t>
            </a:r>
          </a:p>
          <a:p>
            <a:r>
              <a:t>- 第一版为什么要同时做四个场景？</a:t>
            </a:r>
          </a:p>
          <a:p/>
          <a:p>
            <a:r>
              <a:t>如果回答不了这些问题，功能清单只是把常见模块放在一起。</a:t>
            </a:r>
          </a:p>
          <a:p/>
          <a:p>
            <a:r>
              <a:t>AI产品经理的价值，不是知道一个客服产品可能包含哪些功能，而是能够判断：</a:t>
            </a:r>
          </a:p>
          <a:p/>
          <a:p>
            <a:r>
              <a:t>&gt; 在当前用户、业务、数据和风险条件下，第一版究竟应该解决哪个问题。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PRD和Demo各自能说明什么</a:t>
            </a:r>
          </a:p>
          <a:p/>
          <a:p>
            <a:r>
              <a:t>### 1. 只有PRD</a:t>
            </a:r>
          </a:p>
          <a:p/>
          <a:p>
            <a:r>
              <a:t>一份PRD可以写得很长，包含背景、用户、功能、流程、页面和验收标准。</a:t>
            </a:r>
          </a:p>
          <a:p/>
          <a:p>
            <a:r>
              <a:t>但如果项目中的用户是想象的，数据是不存在的，功能没有经过测试，那么PRD只能证明“写过一份设计文档”，不能证明方案有效。</a:t>
            </a:r>
          </a:p>
          <a:p/>
          <a:p>
            <a:r>
              <a:t>### 2. 只有Demo</a:t>
            </a:r>
          </a:p>
          <a:p/>
          <a:p>
            <a:r>
              <a:t>现在使用AI编程工具，很快就可以做出一个像样的页面：</a:t>
            </a:r>
          </a:p>
          <a:p/>
          <a:p>
            <a:r>
              <a:t>- 有输入框；</a:t>
            </a:r>
          </a:p>
          <a:p>
            <a:r>
              <a:t>- 有上传按钮；</a:t>
            </a:r>
          </a:p>
          <a:p>
            <a:r>
              <a:t>- 有生成结果；</a:t>
            </a:r>
          </a:p>
          <a:p>
            <a:r>
              <a:t>- 有数据看板；</a:t>
            </a:r>
          </a:p>
          <a:p>
            <a:r>
              <a:t>- 甚至有动画和多轮对话。</a:t>
            </a:r>
          </a:p>
          <a:p/>
          <a:p>
            <a:r>
              <a:t>但Demo能运行，只能证明这条演示路径能够跑通。</a:t>
            </a:r>
          </a:p>
          <a:p/>
          <a:p>
            <a:r>
              <a:t>它不能自动证明：</a:t>
            </a:r>
          </a:p>
          <a:p/>
          <a:p>
            <a:r>
              <a:t>- 用户真的需要；</a:t>
            </a:r>
          </a:p>
          <a:p>
            <a:r>
              <a:t>- 输入数据在真实环境中存在；</a:t>
            </a:r>
          </a:p>
          <a:p>
            <a:r>
              <a:t>- AI结果足够准确；</a:t>
            </a:r>
          </a:p>
          <a:p>
            <a:r>
              <a:t>- 异常情况能够处理；</a:t>
            </a:r>
          </a:p>
          <a:p>
            <a:r>
              <a:t>- 业务愿意为它改变流程；</a:t>
            </a:r>
          </a:p>
          <a:p>
            <a:r>
              <a:t>- 成本和风险可以接受。</a:t>
            </a:r>
          </a:p>
          <a:p/>
          <a:p>
            <a:r>
              <a:t>所以PRD和Demo都很重要，但它们必须放在完整项目链路中理解。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一个完整项目需要回答的问题</a:t>
            </a:r>
          </a:p>
          <a:p/>
          <a:p>
            <a:r>
              <a:t>一个相对完整的AI项目应当能够从前往后回答：</a:t>
            </a:r>
          </a:p>
          <a:p/>
          <a:p>
            <a:r>
              <a:t>~~~text</a:t>
            </a:r>
          </a:p>
          <a:p>
            <a:r>
              <a:t>谁在什么场景下工作</a:t>
            </a:r>
          </a:p>
          <a:p>
            <a:r>
              <a:t>→ 当前流程怎样运行</a:t>
            </a:r>
          </a:p>
          <a:p>
            <a:r>
              <a:t>→ 哪一步存在明确问题</a:t>
            </a:r>
          </a:p>
          <a:p>
            <a:r>
              <a:t>→ 为什么需要AI</a:t>
            </a:r>
          </a:p>
          <a:p>
            <a:r>
              <a:t>→ 能够获得什么材料和数据</a:t>
            </a:r>
          </a:p>
          <a:p>
            <a:r>
              <a:t>→ AI 规则 系统与人工怎样分工</a:t>
            </a:r>
          </a:p>
          <a:p>
            <a:r>
              <a:t>→ 第一版做什么 不做什么</a:t>
            </a:r>
          </a:p>
          <a:p>
            <a:r>
              <a:t>→ 用户怎样完成任务</a:t>
            </a:r>
          </a:p>
          <a:p>
            <a:r>
              <a:t>→ AI结果怎样测试</a:t>
            </a:r>
          </a:p>
          <a:p>
            <a:r>
              <a:t>→ 发现什么错误</a:t>
            </a:r>
          </a:p>
          <a:p>
            <a:r>
              <a:t>→ 根据错误修改了什么</a:t>
            </a:r>
          </a:p>
          <a:p>
            <a:r>
              <a:t>~~~</a:t>
            </a:r>
          </a:p>
          <a:p/>
          <a:p>
            <a:r>
              <a:t>这里最重要的是前后对应。</a:t>
            </a:r>
          </a:p>
          <a:p/>
          <a:p>
            <a:r>
              <a:t>例如问题是“销售准备客户会议需要四个小时”，那么后面的方案应该围绕客户资料收集、信息整理和会前简报展开。</a:t>
            </a:r>
          </a:p>
          <a:p/>
          <a:p>
            <a:r>
              <a:t>如果原始问题是客户研究耗时，最后却做成了一个完整CRM，说明项目已经偏离问题。</a:t>
            </a:r>
          </a:p>
          <a:p/>
          <a:p>
            <a:r>
              <a:t>如果产品声称降低了客户研究时间，评测却只测生成文案是否流畅，也没有验证原始问题。</a:t>
            </a:r>
          </a:p>
          <a:p/>
          <a:p>
            <a:r>
              <a:t>如果AI需要根据企业产品知识推荐方案，但项目没有产品资料和知识来源，那么方案缺少关键输入。</a:t>
            </a:r>
          </a:p>
          <a:p/>
          <a:p>
            <a:r>
              <a:t>项目完整，不是每一部分都写得很多，而是问题、方案、数据、页面和评测能够互相对应。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项目例会待办整理助手的业务背景</a:t>
            </a:r>
          </a:p>
          <a:p/>
          <a:p>
            <a:r>
              <a:t>软件项目经理每周参加项目例会。会后通常需要从会议转写中整理：</a:t>
            </a:r>
          </a:p>
          <a:p/>
          <a:p>
            <a:r>
              <a:t>- 已经作出的决定；</a:t>
            </a:r>
          </a:p>
          <a:p>
            <a:r>
              <a:t>- 需要继续完成的事项；</a:t>
            </a:r>
          </a:p>
          <a:p>
            <a:r>
              <a:t>- 每项任务的负责人；</a:t>
            </a:r>
          </a:p>
          <a:p>
            <a:r>
              <a:t>- 截止时间；</a:t>
            </a:r>
          </a:p>
          <a:p>
            <a:r>
              <a:t>- 暂时没有解决的风险和问题。</a:t>
            </a:r>
          </a:p>
          <a:p/>
          <a:p>
            <a:r>
              <a:t>现实中经常出现以下情况：</a:t>
            </a:r>
          </a:p>
          <a:p/>
          <a:p>
            <a:r>
              <a:t>- 会议开了一个小时，整理纪要还要半个小时；</a:t>
            </a:r>
          </a:p>
          <a:p>
            <a:r>
              <a:t>- 大家讨论了很多，但没有明确谁负责；</a:t>
            </a:r>
          </a:p>
          <a:p>
            <a:r>
              <a:t>- 有人说了“下周完成”，纪要中却没有换算成具体日期；</a:t>
            </a:r>
          </a:p>
          <a:p>
            <a:r>
              <a:t>- 同一个任务在不同话题中重复出现；</a:t>
            </a:r>
          </a:p>
          <a:p>
            <a:r>
              <a:t>- 整理者漏掉风险，只记录了结论；</a:t>
            </a:r>
          </a:p>
          <a:p>
            <a:r>
              <a:t>- 纪要发出后，参会人对任务理解不一致。</a:t>
            </a:r>
          </a:p>
          <a:p/>
          <a:p>
            <a:r>
              <a:t>我们不把问题定义成“会议太多”，也不试图解决全部会议管理问题，只处理会后整理这一小步。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项目经理粘贴会议转写，系统整理决定、待办、负责人、时间和风险</a:t>
            </a:r>
          </a:p>
          <a:p/>
          <a:p>
            <a:r>
              <a:t>&gt; 面向软件项目经理的项目例会待办整理助手。用户粘贴会议转写，系统提取会议决定、行动项、负责人、截止时间和风险；缺少负责人或时间的事项被标记为待确认，项目经理确认后导出结构化纪要。</a:t>
            </a:r>
          </a:p>
          <a:p/>
          <a:p>
            <a:r>
              <a:t>这句话已经说明：</a:t>
            </a:r>
          </a:p>
          <a:p/>
          <a:p>
            <a:r>
              <a:t>- 使用者是谁：软件项目经理；</a:t>
            </a:r>
          </a:p>
          <a:p>
            <a:r>
              <a:t>- 在什么时候使用：项目例会结束后；</a:t>
            </a:r>
          </a:p>
          <a:p>
            <a:r>
              <a:t>- 输入是什么：会议转写；</a:t>
            </a:r>
          </a:p>
          <a:p>
            <a:r>
              <a:t>- AI做什么：识别决定、任务、人员、时间和风险；</a:t>
            </a:r>
          </a:p>
          <a:p>
            <a:r>
              <a:t>- 输出是什么：结构化纪要；</a:t>
            </a:r>
          </a:p>
          <a:p>
            <a:r>
              <a:t>- 谁承担最终责任：项目经理确认。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一段会议转写里有什么</a:t>
            </a:r>
          </a:p>
          <a:p/>
          <a:p>
            <a:r>
              <a:t>如果所有人都按照固定表单发言，这个任务可以直接使用规则。</a:t>
            </a:r>
          </a:p>
          <a:p/>
          <a:p>
            <a:r>
              <a:t>但真实会议表达通常是：</a:t>
            </a:r>
          </a:p>
          <a:p/>
          <a:p>
            <a:r>
              <a:t>&gt; 登录接口这周可能来不及。小王先和后端确认一下，如果周四还没有结果，我们就把联调改到下周一。</a:t>
            </a:r>
          </a:p>
          <a:p/>
          <a:p>
            <a:r>
              <a:t>系统需要理解：</a:t>
            </a:r>
          </a:p>
          <a:p/>
          <a:p>
            <a:r>
              <a:t>- “小王先和后端确认”是一个行动项；</a:t>
            </a:r>
          </a:p>
          <a:p>
            <a:r>
              <a:t>- 负责人是小王；</a:t>
            </a:r>
          </a:p>
          <a:p>
            <a:r>
              <a:t>- 截止时间隐含为周四；</a:t>
            </a:r>
          </a:p>
          <a:p>
            <a:r>
              <a:t>- “联调改到下周一”是带条件的备选决定；</a:t>
            </a:r>
          </a:p>
          <a:p>
            <a:r>
              <a:t>- “登录接口可能来不及”是风险，不是已经确认的事实。</a:t>
            </a:r>
          </a:p>
          <a:p/>
          <a:p>
            <a:r>
              <a:t>这些信息分散在自然语言中，需要语义理解，因此大模型有明确价值。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模型、规则、系统和人工的分工</a:t>
            </a:r>
          </a:p>
          <a:p/>
          <a:p>
            <a:r>
              <a:t>| 角色 | 负责内容 |</a:t>
            </a:r>
          </a:p>
          <a:p>
            <a:r>
              <a:t>|---|---|</a:t>
            </a:r>
          </a:p>
          <a:p>
            <a:r>
              <a:t>| 大模型 | 从转写中提取决定、待办、负责人、时间、风险和原文证据 |</a:t>
            </a:r>
          </a:p>
          <a:p>
            <a:r>
              <a:t>| 规则 | 检查负责人或截止时间是否缺失；将相对日期转换为具体日期；检查字段格式 |</a:t>
            </a:r>
          </a:p>
          <a:p>
            <a:r>
              <a:t>| 产品系统 | 展示结果、支持编辑确认、保留原文、导出纪要 |</a:t>
            </a:r>
          </a:p>
          <a:p>
            <a:r>
              <a:t>| 项目经理 | 判断提取是否正确，补充缺失信息，确认后发布 |</a:t>
            </a:r>
          </a:p>
          <a:p/>
          <a:p>
            <a:r>
              <a:t>这里不需要Agent自主执行，也不需要RAG知识库。</a:t>
            </a:r>
          </a:p>
          <a:p/>
          <a:p>
            <a:r>
              <a:t>大模型完成一次结构化提取，规则检查明确字段，人工完成最终确认，已经足以形成第一版产品。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第一版的范围</a:t>
            </a:r>
          </a:p>
          <a:p/>
          <a:p>
            <a:r>
              <a:t>第一版只做四步：</a:t>
            </a:r>
          </a:p>
          <a:p/>
          <a:p>
            <a:r>
              <a:t>~~~text</a:t>
            </a:r>
          </a:p>
          <a:p>
            <a:r>
              <a:t>粘贴会议转写</a:t>
            </a:r>
          </a:p>
          <a:p>
            <a:r>
              <a:t>→ 提取决定 待办 风险</a:t>
            </a:r>
          </a:p>
          <a:p>
            <a:r>
              <a:t>→ 标记缺失与不确定信息</a:t>
            </a:r>
          </a:p>
          <a:p>
            <a:r>
              <a:t>→ 人工修改确认并导出</a:t>
            </a:r>
          </a:p>
          <a:p>
            <a:r>
              <a:t>~~~</a:t>
            </a:r>
          </a:p>
          <a:p/>
          <a:p>
            <a:r>
              <a:t>第一版明确不做：</a:t>
            </a:r>
          </a:p>
          <a:p/>
          <a:p>
            <a:r>
              <a:t>- 会议录音；</a:t>
            </a:r>
          </a:p>
          <a:p>
            <a:r>
              <a:t>- 语音转写；</a:t>
            </a:r>
          </a:p>
          <a:p>
            <a:r>
              <a:t>- 自动加入线上会议；</a:t>
            </a:r>
          </a:p>
          <a:p>
            <a:r>
              <a:t>- 企业知识库问答；</a:t>
            </a:r>
          </a:p>
          <a:p>
            <a:r>
              <a:t>- 自动向负责人发送消息；</a:t>
            </a:r>
          </a:p>
          <a:p>
            <a:r>
              <a:t>- 自动创建飞书或Jira任务；</a:t>
            </a:r>
          </a:p>
          <a:p>
            <a:r>
              <a:t>- 项目进度看板；</a:t>
            </a:r>
          </a:p>
          <a:p>
            <a:r>
              <a:t>- 多会议趋势分析。</a:t>
            </a:r>
          </a:p>
          <a:p/>
          <a:p>
            <a:r>
              <a:t>这些功能以后都可能有价值，但不是验证核心问题的必要条件。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两个核心页面</a:t>
            </a:r>
          </a:p>
          <a:p/>
          <a:p>
            <a:r>
              <a:t>这个项目第一版只需要两个核心页面。</a:t>
            </a:r>
          </a:p>
          <a:p/>
          <a:p>
            <a:r>
              <a:t>页面一是输入页：</a:t>
            </a:r>
          </a:p>
          <a:p/>
          <a:p>
            <a:r>
              <a:t>- 会议名称；</a:t>
            </a:r>
          </a:p>
          <a:p>
            <a:r>
              <a:t>- 会议日期；</a:t>
            </a:r>
          </a:p>
          <a:p>
            <a:r>
              <a:t>- 粘贴转写内容；</a:t>
            </a:r>
          </a:p>
          <a:p>
            <a:r>
              <a:t>- 点击开始整理。</a:t>
            </a:r>
          </a:p>
          <a:p/>
          <a:p>
            <a:r>
              <a:t>页面二是结果确认页：</a:t>
            </a:r>
          </a:p>
          <a:p/>
          <a:p>
            <a:r>
              <a:t>- 决定列表；</a:t>
            </a:r>
          </a:p>
          <a:p>
            <a:r>
              <a:t>- 待办、负责人和截止时间；</a:t>
            </a:r>
          </a:p>
          <a:p>
            <a:r>
              <a:t>- 风险与待确认问题；</a:t>
            </a:r>
          </a:p>
          <a:p>
            <a:r>
              <a:t>- 每项内容对应的原文；</a:t>
            </a:r>
          </a:p>
          <a:p>
            <a:r>
              <a:t>- 编辑、删除、确认和导出操作。</a:t>
            </a:r>
          </a:p>
          <a:p/>
          <a:p>
            <a:r>
              <a:t>如果原型已经能够展示正常结果、字段缺失和人工修改三个状态，就足以表达第一版产品。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支付页面已经评审通过，小李今天把最终稿发给开发</a:t>
            </a:r>
          </a:p>
          <a:p/>
          <a:p>
            <a:r>
              <a:t>会议转写片段：</a:t>
            </a:r>
          </a:p>
          <a:p/>
          <a:p>
            <a:r>
              <a:t>&gt; 登录接口这周可能来不及。小王先和后端确认一下，如果周四还没有结果，我们就把联调改到下周一。支付页面已经评审通过，小李今天把最终稿发给开发。</a:t>
            </a:r>
          </a:p>
          <a:p/>
          <a:p>
            <a:r>
              <a:t>期望输出：</a:t>
            </a:r>
          </a:p>
          <a:p/>
          <a:p>
            <a:r>
              <a:t>| 类型 | 内容 | 负责人 | 截止时间 | 状态 |</a:t>
            </a:r>
          </a:p>
          <a:p>
            <a:r>
              <a:t>|---|---|---|---|---|</a:t>
            </a:r>
          </a:p>
          <a:p>
            <a:r>
              <a:t>| 风险 | 登录接口本周可能无法完成 | 未明确 | 本周 | 待确认 |</a:t>
            </a:r>
          </a:p>
          <a:p>
            <a:r>
              <a:t>| 待办 | 与后端确认登录接口进度 | 小王 | 本周四 | 待执行 |</a:t>
            </a:r>
          </a:p>
          <a:p>
            <a:r>
              <a:t>| 条件决定 | 若周四仍无结果，联调调整至下周一 | 未明确 | 本周四确认 | 待确认 |</a:t>
            </a:r>
          </a:p>
          <a:p>
            <a:r>
              <a:t>| 决定 | 支付页面通过评审 | — | — | 已确认 |</a:t>
            </a:r>
          </a:p>
          <a:p>
            <a:r>
              <a:t>| 待办 | 将支付页面最终稿发送给开发 | 小李 | 今天 | 待执行 |</a:t>
            </a:r>
          </a:p>
          <a:p/>
          <a:p>
            <a:r>
              <a:t>这里不仅要看文字是否通顺，还要看系统有没有漏掉行动项、有没有把风险误写成决定、有没有编造负责人。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结构化输出</a:t>
            </a:r>
          </a:p>
          <a:p/>
          <a:p>
            <a:r>
              <a:t>会议转写片段：</a:t>
            </a:r>
          </a:p>
          <a:p/>
          <a:p>
            <a:r>
              <a:t>&gt; 登录接口这周可能来不及。小王先和后端确认一下，如果周四还没有结果，我们就把联调改到下周一。支付页面已经评审通过，小李今天把最终稿发给开发。</a:t>
            </a:r>
          </a:p>
          <a:p/>
          <a:p>
            <a:r>
              <a:t>期望输出：</a:t>
            </a:r>
          </a:p>
          <a:p/>
          <a:p>
            <a:r>
              <a:t>| 类型 | 内容 | 负责人 | 截止时间 | 状态 |</a:t>
            </a:r>
          </a:p>
          <a:p>
            <a:r>
              <a:t>|---|---|---|---|---|</a:t>
            </a:r>
          </a:p>
          <a:p>
            <a:r>
              <a:t>| 风险 | 登录接口本周可能无法完成 | 未明确 | 本周 | 待确认 |</a:t>
            </a:r>
          </a:p>
          <a:p>
            <a:r>
              <a:t>| 待办 | 与后端确认登录接口进度 | 小王 | 本周四 | 待执行 |</a:t>
            </a:r>
          </a:p>
          <a:p>
            <a:r>
              <a:t>| 条件决定 | 若周四仍无结果，联调调整至下周一 | 未明确 | 本周四确认 | 待确认 |</a:t>
            </a:r>
          </a:p>
          <a:p>
            <a:r>
              <a:t>| 决定 | 支付页面通过评审 | — | — | 已确认 |</a:t>
            </a:r>
          </a:p>
          <a:p>
            <a:r>
              <a:t>| 待办 | 将支付页面最终稿发送给开发 | 小李 | 今天 | 待执行 |</a:t>
            </a:r>
          </a:p>
          <a:p/>
          <a:p>
            <a:r>
              <a:t>这里不仅要看文字是否通顺，还要看系统有没有漏掉行动项、有没有把风险误写成决定、有没有编造负责人。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最小测试集</a:t>
            </a:r>
          </a:p>
          <a:p/>
          <a:p>
            <a:r>
              <a:t>第一版不需要几千条数据。可以先准备20段仿真或脱敏会议片段，并人工标注期望结果。</a:t>
            </a:r>
          </a:p>
          <a:p/>
          <a:p>
            <a:r>
              <a:t>样本至少覆盖：</a:t>
            </a:r>
          </a:p>
          <a:p/>
          <a:p>
            <a:r>
              <a:t>- 负责人和日期都明确；</a:t>
            </a:r>
          </a:p>
          <a:p>
            <a:r>
              <a:t>- 缺少负责人；</a:t>
            </a:r>
          </a:p>
          <a:p>
            <a:r>
              <a:t>- 缺少截止时间；</a:t>
            </a:r>
          </a:p>
          <a:p>
            <a:r>
              <a:t>- 使用今天、明天、下周一等相对日期；</a:t>
            </a:r>
          </a:p>
          <a:p>
            <a:r>
              <a:t>- 同一句话包含任务和风险；</a:t>
            </a:r>
          </a:p>
          <a:p>
            <a:r>
              <a:t>- 讨论了某件事但没有作出决定；</a:t>
            </a:r>
          </a:p>
          <a:p>
            <a:r>
              <a:t>- 前后修改了同一个决定；</a:t>
            </a:r>
          </a:p>
          <a:p>
            <a:r>
              <a:t>- 同一任务在多处被重复提及。</a:t>
            </a:r>
          </a:p>
          <a:p/>
          <a:p>
            <a:r>
              <a:t>可以先关注四项指标：</a:t>
            </a:r>
          </a:p>
          <a:p/>
          <a:p>
            <a:r>
              <a:t>- 行动项召回率：应该提取的任务有没有漏掉；</a:t>
            </a:r>
          </a:p>
          <a:p>
            <a:r>
              <a:t>- 负责人和时间准确率：有没有对应错误；</a:t>
            </a:r>
          </a:p>
          <a:p>
            <a:r>
              <a:t>- 虚构率：有没有生成原文不存在的任务或决定；</a:t>
            </a:r>
          </a:p>
          <a:p>
            <a:r>
              <a:t>- 人工修改率：项目经理需要修改多少结果。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一个典型Bad Case</a:t>
            </a:r>
          </a:p>
          <a:p/>
          <a:p>
            <a:r>
              <a:t>例如会议中说：</a:t>
            </a:r>
          </a:p>
          <a:p/>
          <a:p>
            <a:r>
              <a:t>&gt; 这个暂时先不做，等客户确认以后再说。</a:t>
            </a:r>
          </a:p>
          <a:p/>
          <a:p>
            <a:r>
              <a:t>模型却输出：</a:t>
            </a:r>
          </a:p>
          <a:p/>
          <a:p>
            <a:r>
              <a:t>&gt; 待办：推进该功能开发。</a:t>
            </a:r>
          </a:p>
          <a:p/>
          <a:p>
            <a:r>
              <a:t>这说明模型没有正确理解否定和前置条件。</a:t>
            </a:r>
          </a:p>
          <a:p/>
          <a:p>
            <a:r>
              <a:t>项目可以据此进行修改：</a:t>
            </a:r>
          </a:p>
          <a:p/>
          <a:p>
            <a:r>
              <a:t>- 在输出中增加“暂缓”和“条件事项”类型；</a:t>
            </a:r>
          </a:p>
          <a:p>
            <a:r>
              <a:t>- 要求所有结果保留对应原文；</a:t>
            </a:r>
          </a:p>
          <a:p>
            <a:r>
              <a:t>- Prompt中增加否定表达样本；</a:t>
            </a:r>
          </a:p>
          <a:p>
            <a:r>
              <a:t>- 对没有明确行动动词的内容降低置信度；</a:t>
            </a:r>
          </a:p>
          <a:p>
            <a:r>
              <a:t>- 让人工确认后再导出。</a:t>
            </a:r>
          </a:p>
          <a:p/>
          <a:p>
            <a:r>
              <a:t>这就是一次完整迭代，而不只是重新调整页面颜色。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小项目的完整性</a:t>
            </a:r>
          </a:p>
          <a:p/>
          <a:p>
            <a:r>
              <a:t>这个项目没有知识库，没有多Agent，没有复杂系统集成，原型甚至只有两个页面。</a:t>
            </a:r>
          </a:p>
          <a:p/>
          <a:p>
            <a:r>
              <a:t>但它拥有：</a:t>
            </a:r>
          </a:p>
          <a:p/>
          <a:p>
            <a:r>
              <a:t>- 明确用户；</a:t>
            </a:r>
          </a:p>
          <a:p>
            <a:r>
              <a:t>- 具体使用时刻；</a:t>
            </a:r>
          </a:p>
          <a:p>
            <a:r>
              <a:t>- 真实存在的人工流程；</a:t>
            </a:r>
          </a:p>
          <a:p>
            <a:r>
              <a:t>- 可获得的输入；</a:t>
            </a:r>
          </a:p>
          <a:p>
            <a:r>
              <a:t>- 清楚的AI任务；</a:t>
            </a:r>
          </a:p>
          <a:p>
            <a:r>
              <a:t>- 规则与人工边界；</a:t>
            </a:r>
          </a:p>
          <a:p>
            <a:r>
              <a:t>- 可以完成的MVP；</a:t>
            </a:r>
          </a:p>
          <a:p>
            <a:r>
              <a:t>- 可以制作的原型；</a:t>
            </a:r>
          </a:p>
          <a:p>
            <a:r>
              <a:t>- 可以建立的测试集；</a:t>
            </a:r>
          </a:p>
          <a:p>
            <a:r>
              <a:t>- 可以发现和修改的Bad Case。</a:t>
            </a:r>
          </a:p>
          <a:p/>
          <a:p>
            <a:r>
              <a:t>所以它是一个小项目，也是一个完整项目。</a:t>
            </a:r>
          </a:p>
          <a:p/>
          <a:p>
            <a:r>
              <a:t>后面的三个公共项目只是在这条基本链路上增加了更多业务知识、文档关系、规则、风险和系统能力。学员先看懂这个例子，再进入复杂项目，会更容易理解复杂度究竟增加在哪里。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三种项目描述</a:t>
            </a:r>
          </a:p>
          <a:p/>
          <a:p>
            <a:r>
              <a:t>### 版本A：项目想法</a:t>
            </a:r>
          </a:p>
          <a:p/>
          <a:p>
            <a:r>
              <a:t>&gt; 我想做一个AI智能客服。</a:t>
            </a:r>
          </a:p>
          <a:p/>
          <a:p>
            <a:r>
              <a:t>我们只能知道大致方向，不能立项。</a:t>
            </a:r>
          </a:p>
          <a:p/>
          <a:p>
            <a:r>
              <a:t>### 版本B：功能方案</a:t>
            </a:r>
          </a:p>
          <a:p/>
          <a:p>
            <a:r>
              <a:t>&gt; 面向电商用户设计智能客服，支持知识库问答、订单查询、客户投诉和商品推荐。</a:t>
            </a:r>
          </a:p>
          <a:p/>
          <a:p>
            <a:r>
              <a:t>我们知道了用户和功能，但还不知道哪个问题最重要、数据从哪里来、哪些场景应该自动处理。</a:t>
            </a:r>
          </a:p>
          <a:p/>
          <a:p>
            <a:r>
              <a:t>### 版本C：具备立项条件</a:t>
            </a:r>
          </a:p>
          <a:p/>
          <a:p>
            <a:r>
              <a:t>&gt; 针对电商售后中大量订单查询重复占用人工客服的问题，设计订单查询与异常分流助手。系统识别用户意图，通过订单接口获取物流状态，正常情况自动解释，异常订单转人工处理；使用历史咨询记录建立测试集，评测意图识别准确率、订单查询成功率和人工转接准确率。</a:t>
            </a:r>
          </a:p>
          <a:p/>
          <a:p>
            <a:r>
              <a:t>版本C已经具备：</a:t>
            </a:r>
          </a:p>
          <a:p/>
          <a:p>
            <a:r>
              <a:t>- 具体业务问题；</a:t>
            </a:r>
          </a:p>
          <a:p>
            <a:r>
              <a:t>- 明确使用场景；</a:t>
            </a:r>
          </a:p>
          <a:p>
            <a:r>
              <a:t>- 可以获得的输入；</a:t>
            </a:r>
          </a:p>
          <a:p>
            <a:r>
              <a:t>- AI和系统分工；</a:t>
            </a:r>
          </a:p>
          <a:p>
            <a:r>
              <a:t>- 正常与异常流程；</a:t>
            </a:r>
          </a:p>
          <a:p>
            <a:r>
              <a:t>- 人工接管；</a:t>
            </a:r>
          </a:p>
          <a:p>
            <a:r>
              <a:t>- 可以评测的结果。</a:t>
            </a:r>
          </a:p>
          <a:p/>
          <a:p>
            <a:r>
              <a:t>它仍然需要继续做PRD、原型和测试，但它已经从想法进入了可以推进的项目状态。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项目材料的可信度</a:t>
            </a:r>
          </a:p>
          <a:p/>
          <a:p>
            <a:r>
              <a:t>有的项目材料有一百页，但主要是大模型生成的行业介绍、竞品列表和功能说明。真正被验证的内容可能很少。</a:t>
            </a:r>
          </a:p>
          <a:p/>
          <a:p>
            <a:r>
              <a:t>另一个项目可能只有二十页，却能够明确展示：</a:t>
            </a:r>
          </a:p>
          <a:p/>
          <a:p>
            <a:r>
              <a:t>- 访谈过谁；</a:t>
            </a:r>
          </a:p>
          <a:p>
            <a:r>
              <a:t>- 使用了什么脱敏资料；</a:t>
            </a:r>
          </a:p>
          <a:p>
            <a:r>
              <a:t>- 为什么删除了某个功能；</a:t>
            </a:r>
          </a:p>
          <a:p>
            <a:r>
              <a:t>- 测试了哪些样本；</a:t>
            </a:r>
          </a:p>
          <a:p>
            <a:r>
              <a:t>- 发现了什么Bad Case；</a:t>
            </a:r>
          </a:p>
          <a:p>
            <a:r>
              <a:t>- 修改前后有什么变化。</a:t>
            </a:r>
          </a:p>
          <a:p/>
          <a:p>
            <a:r>
              <a:t>后者通常更可信。</a:t>
            </a:r>
          </a:p>
          <a:p/>
          <a:p>
            <a:r>
              <a:t>因此，第二阶段不会按照PRD页数、原型页面数量或技术名词数量判断项目，而是看：</a:t>
            </a:r>
          </a:p>
          <a:p/>
          <a:p>
            <a:r>
              <a:t>&gt; 你做过哪些关键判断，这些判断有什么依据，后来有没有因为证据而修改。</a:t>
            </a:r>
          </a:p>
          <a:p/>
          <a:p>
            <a:r>
              <a:t>---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课程项目怎样写进简历</a:t>
            </a:r>
          </a:p>
          <a:p/>
          <a:p>
            <a:r>
              <a:t>答案是可以。</a:t>
            </a:r>
          </a:p>
          <a:p/>
          <a:p>
            <a:r>
              <a:t>很多转型学员本来就没有正式AI产品工作经历。如果课程项目完全不能写，那么项目学习就失去了很大一部分意义。</a:t>
            </a:r>
          </a:p>
          <a:p/>
          <a:p>
            <a:r>
              <a:t>但“可以写”不等于可以把它包装成公司真实上线项目。</a:t>
            </a:r>
          </a:p>
          <a:p/>
          <a:p>
            <a:r>
              <a:t>比较诚实的标注方式包括：</a:t>
            </a:r>
          </a:p>
          <a:p/>
          <a:p>
            <a:r>
              <a:t>- AI产品个人项目；</a:t>
            </a:r>
          </a:p>
          <a:p>
            <a:r>
              <a:t>- AI产品课程实战；</a:t>
            </a:r>
          </a:p>
          <a:p>
            <a:r>
              <a:t>- 某行业业务改造方案；</a:t>
            </a:r>
          </a:p>
          <a:p>
            <a:r>
              <a:t>- 独立产品研究与原型项目；</a:t>
            </a:r>
          </a:p>
          <a:p>
            <a:r>
              <a:t>- 基于公开资料完成的产品设计。</a:t>
            </a:r>
          </a:p>
          <a:p/>
          <a:p>
            <a:r>
              <a:t>这些标签不会自动降低项目价值。真正降低可信度的是：</a:t>
            </a:r>
          </a:p>
          <a:p/>
          <a:p>
            <a:r>
              <a:t>- 无法解释项目为什么这样设计；</a:t>
            </a:r>
          </a:p>
          <a:p>
            <a:r>
              <a:t>- 数据和收益明显是编造的；</a:t>
            </a:r>
          </a:p>
          <a:p>
            <a:r>
              <a:t>- 所有人提交的材料高度相同；</a:t>
            </a:r>
          </a:p>
          <a:p>
            <a:r>
              <a:t>- 被追问时只能复述PRD；</a:t>
            </a:r>
          </a:p>
          <a:p>
            <a:r>
              <a:t>- 不知道测试样本从哪里来；</a:t>
            </a:r>
          </a:p>
          <a:p>
            <a:r>
              <a:t>- 无法区分教师提供的内容和自己的工作。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两种简历描述</a:t>
            </a:r>
          </a:p>
          <a:p/>
          <a:p>
            <a:r>
              <a:t>简历不需要把完整项目全部写进去，而要呈现：</a:t>
            </a:r>
          </a:p>
          <a:p/>
          <a:p>
            <a:r>
              <a:t>1. 面向谁，解决什么问题；</a:t>
            </a:r>
          </a:p>
          <a:p>
            <a:r>
              <a:t>2. 你完成了哪些关键工作；</a:t>
            </a:r>
          </a:p>
          <a:p>
            <a:r>
              <a:t>3. 项目怎样组合AI、规则和人工；</a:t>
            </a:r>
          </a:p>
          <a:p>
            <a:r>
              <a:t>4. 使用了什么验证方式；</a:t>
            </a:r>
          </a:p>
          <a:p>
            <a:r>
              <a:t>5. 发现并解决了什么关键问题。</a:t>
            </a:r>
          </a:p>
          <a:p/>
          <a:p>
            <a:r>
              <a:t>例如，相比下面这句话：</a:t>
            </a:r>
          </a:p>
          <a:p/>
          <a:p>
            <a:r>
              <a:t>&gt; 负责AI智能客服产品设计，使用RAG、Agent和大模型技术提升客服效率。</a:t>
            </a:r>
          </a:p>
          <a:p/>
          <a:p>
            <a:r>
              <a:t>更可信的表达是：</a:t>
            </a:r>
          </a:p>
          <a:p/>
          <a:p>
            <a:r>
              <a:t>&gt; 面向电商售后高频订单查询场景，拆解意图识别、订单接口调用、异常分流和人工接管流程，完成MVP PRD与核心状态原型；基于历史问句构建测试样本，针对多意图混合和订单信息缺失问题补充澄清与转人工策略。</a:t>
            </a:r>
          </a:p>
          <a:p/>
          <a:p>
            <a:r>
              <a:t>第二句话没有虚构上线结果，但能够看出产品判断和实际工作。</a:t>
            </a:r>
          </a:p>
          <a:p/>
          <a:p>
            <a:r>
              <a:t>本部分收束：</a:t>
            </a:r>
          </a:p>
          <a:p/>
          <a:p>
            <a:r>
              <a:t>&gt; 课程项目可以写进简历，但要把它写成自己真正完成过的产品实践，而不是伪装成一段不存在的工作经历。</a:t>
            </a:r>
          </a:p>
          <a:p/>
          <a:p>
            <a:r>
              <a:t>---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能看出个人工作的材料</a:t>
            </a:r>
          </a:p>
          <a:p/>
          <a:p>
            <a:r>
              <a:t>一份可信的课程项目最好保留以下证据：</a:t>
            </a:r>
          </a:p>
          <a:p/>
          <a:p>
            <a:r>
              <a:t>### 1. 选题变化</a:t>
            </a:r>
          </a:p>
          <a:p/>
          <a:p>
            <a:r>
              <a:t>最开始想做什么，后来为什么缩小或改变。</a:t>
            </a:r>
          </a:p>
          <a:p/>
          <a:p>
            <a:r>
              <a:t>### 2. 业务依据</a:t>
            </a:r>
          </a:p>
          <a:p/>
          <a:p>
            <a:r>
              <a:t>使用了什么访谈、公开资料、工作经验、业务文档或脱敏材料。</a:t>
            </a:r>
          </a:p>
          <a:p/>
          <a:p>
            <a:r>
              <a:t>### 3. 版本记录</a:t>
            </a:r>
          </a:p>
          <a:p/>
          <a:p>
            <a:r>
              <a:t>保留V0.1、V0.2和V1.0，以及每次修改的原因。</a:t>
            </a:r>
          </a:p>
          <a:p/>
          <a:p>
            <a:r>
              <a:t>### 4. 取舍记录</a:t>
            </a:r>
          </a:p>
          <a:p/>
          <a:p>
            <a:r>
              <a:t>哪些功能曾经考虑过，为什么没有放进MVP。</a:t>
            </a:r>
          </a:p>
          <a:p/>
          <a:p>
            <a:r>
              <a:t>### 5. 测试记录</a:t>
            </a:r>
          </a:p>
          <a:p/>
          <a:p>
            <a:r>
              <a:t>使用了哪些测试样本，结果怎样，出现过什么错误。</a:t>
            </a:r>
          </a:p>
          <a:p/>
          <a:p>
            <a:r>
              <a:t>### 6. 原型与Demo</a:t>
            </a:r>
          </a:p>
          <a:p/>
          <a:p>
            <a:r>
              <a:t>不只展示首页，还要展示正常、异常、不确定和人工确认状态。</a:t>
            </a:r>
          </a:p>
          <a:p/>
          <a:p>
            <a:r>
              <a:t>### 7. 个人判断</a:t>
            </a:r>
          </a:p>
          <a:p/>
          <a:p>
            <a:r>
              <a:t>能说明哪些内容来自公共项目，哪些内容是根据个人场景重新设计的。</a:t>
            </a:r>
          </a:p>
          <a:p/>
          <a:p>
            <a:r>
              <a:t>项目证据越具体，越不需要通过夸张的项目名称证明自己。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项目中不能虚构的内容</a:t>
            </a:r>
          </a:p>
          <a:p/>
          <a:p>
            <a:r>
              <a:t>课程项目最容易失真的地方是数据和业务结果。</a:t>
            </a:r>
          </a:p>
          <a:p/>
          <a:p>
            <a:r>
              <a:t>例如不能在没有真实上线的情况下写：</a:t>
            </a:r>
          </a:p>
          <a:p/>
          <a:p>
            <a:r>
              <a:t>- 覆盖10万企业用户；</a:t>
            </a:r>
          </a:p>
          <a:p>
            <a:r>
              <a:t>- 准确率提升35%；</a:t>
            </a:r>
          </a:p>
          <a:p>
            <a:r>
              <a:t>- 节省公司500万元；</a:t>
            </a:r>
          </a:p>
          <a:p>
            <a:r>
              <a:t>- 销售转化率提升20%；</a:t>
            </a:r>
          </a:p>
          <a:p>
            <a:r>
              <a:t>- 已在集团多个部门推广。</a:t>
            </a:r>
          </a:p>
          <a:p/>
          <a:p>
            <a:r>
              <a:t>如果项目只在自建测试集上进行验证，可以这样写：</a:t>
            </a:r>
          </a:p>
          <a:p/>
          <a:p>
            <a:r>
              <a:t>&gt; 基于80条脱敏测试样本验证需求抽取效果，发现日期识别和多条件拆分存在明显Bad Case，并据此调整字段定义和提示结构。</a:t>
            </a:r>
          </a:p>
          <a:p/>
          <a:p>
            <a:r>
              <a:t>如果只是估算价值，可以写：</a:t>
            </a:r>
          </a:p>
          <a:p/>
          <a:p>
            <a:r>
              <a:t>&gt; 根据现有人工处理步骤估算潜在节省时间，尚未通过真实生产数据验证。</a:t>
            </a:r>
          </a:p>
          <a:p/>
          <a:p>
            <a:r>
              <a:t>事实、测试结果和估算必须分开。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真实结果、测试结果和估算</a:t>
            </a:r>
          </a:p>
          <a:p/>
          <a:p>
            <a:r>
              <a:t>课程项目最容易失真的地方是数据和业务结果。</a:t>
            </a:r>
          </a:p>
          <a:p/>
          <a:p>
            <a:r>
              <a:t>例如不能在没有真实上线的情况下写：</a:t>
            </a:r>
          </a:p>
          <a:p/>
          <a:p>
            <a:r>
              <a:t>- 覆盖10万企业用户；</a:t>
            </a:r>
          </a:p>
          <a:p>
            <a:r>
              <a:t>- 准确率提升35%；</a:t>
            </a:r>
          </a:p>
          <a:p>
            <a:r>
              <a:t>- 节省公司500万元；</a:t>
            </a:r>
          </a:p>
          <a:p>
            <a:r>
              <a:t>- 销售转化率提升20%；</a:t>
            </a:r>
          </a:p>
          <a:p>
            <a:r>
              <a:t>- 已在集团多个部门推广。</a:t>
            </a:r>
          </a:p>
          <a:p/>
          <a:p>
            <a:r>
              <a:t>如果项目只在自建测试集上进行验证，可以这样写：</a:t>
            </a:r>
          </a:p>
          <a:p/>
          <a:p>
            <a:r>
              <a:t>&gt; 基于80条脱敏测试样本验证需求抽取效果，发现日期识别和多条件拆分存在明显Bad Case，并据此调整字段定义和提示结构。</a:t>
            </a:r>
          </a:p>
          <a:p/>
          <a:p>
            <a:r>
              <a:t>如果只是估算价值，可以写：</a:t>
            </a:r>
          </a:p>
          <a:p/>
          <a:p>
            <a:r>
              <a:t>&gt; 根据现有人工处理步骤估算潜在节省时间，尚未通过真实生产数据验证。</a:t>
            </a:r>
          </a:p>
          <a:p/>
          <a:p>
            <a:r>
              <a:t>事实、测试结果和估算必须分开。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面试官常见追问</a:t>
            </a:r>
          </a:p>
          <a:p/>
          <a:p>
            <a:r>
              <a:t>面试官未必知道这个项目是不是课程项目，但他可以通过追问迅速判断你是否真正参与过。</a:t>
            </a:r>
          </a:p>
          <a:p/>
          <a:p>
            <a:r>
              <a:t>常见追问包括：</a:t>
            </a:r>
          </a:p>
          <a:p/>
          <a:p>
            <a:r>
              <a:t>- 为什么选择这个用户，而不是另一个用户？</a:t>
            </a:r>
          </a:p>
          <a:p>
            <a:r>
              <a:t>- 你怎么知道这个问题存在？</a:t>
            </a:r>
          </a:p>
          <a:p>
            <a:r>
              <a:t>- 输入材料具体长什么样？</a:t>
            </a:r>
          </a:p>
          <a:p>
            <a:r>
              <a:t>- 为什么使用RAG，不直接把文档放进上下文？</a:t>
            </a:r>
          </a:p>
          <a:p>
            <a:r>
              <a:t>- 哪些字段使用规则判断？</a:t>
            </a:r>
          </a:p>
          <a:p>
            <a:r>
              <a:t>- 为什么这个功能没有放进第一版？</a:t>
            </a:r>
          </a:p>
          <a:p>
            <a:r>
              <a:t>- 测试集是谁整理的？</a:t>
            </a:r>
          </a:p>
          <a:p>
            <a:r>
              <a:t>- 最严重的错误是什么？</a:t>
            </a:r>
          </a:p>
          <a:p>
            <a:r>
              <a:t>- 你修改了哪一部分？</a:t>
            </a:r>
          </a:p>
          <a:p>
            <a:r>
              <a:t>- 如果用户量增长十倍会发生什么？</a:t>
            </a:r>
          </a:p>
          <a:p/>
          <a:p>
            <a:r>
              <a:t>真正做过的人不一定每个问题都有完美答案，但通常能够说明当时的信息条件、判断过程和项目限制。</a:t>
            </a:r>
          </a:p>
          <a:p/>
          <a:p>
            <a:r>
              <a:t>只看过答案的人更容易反复回到功能介绍。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一段可信的项目描述</a:t>
            </a:r>
          </a:p>
          <a:p/>
          <a:p>
            <a:r>
              <a:t>简历不需要把完整项目全部写进去，而要呈现：</a:t>
            </a:r>
          </a:p>
          <a:p/>
          <a:p>
            <a:r>
              <a:t>1. 面向谁，解决什么问题；</a:t>
            </a:r>
          </a:p>
          <a:p>
            <a:r>
              <a:t>2. 你完成了哪些关键工作；</a:t>
            </a:r>
          </a:p>
          <a:p>
            <a:r>
              <a:t>3. 项目怎样组合AI、规则和人工；</a:t>
            </a:r>
          </a:p>
          <a:p>
            <a:r>
              <a:t>4. 使用了什么验证方式；</a:t>
            </a:r>
          </a:p>
          <a:p>
            <a:r>
              <a:t>5. 发现并解决了什么关键问题。</a:t>
            </a:r>
          </a:p>
          <a:p/>
          <a:p>
            <a:r>
              <a:t>例如，相比下面这句话：</a:t>
            </a:r>
          </a:p>
          <a:p/>
          <a:p>
            <a:r>
              <a:t>&gt; 负责AI智能客服产品设计，使用RAG、Agent和大模型技术提升客服效率。</a:t>
            </a:r>
          </a:p>
          <a:p/>
          <a:p>
            <a:r>
              <a:t>更可信的表达是：</a:t>
            </a:r>
          </a:p>
          <a:p/>
          <a:p>
            <a:r>
              <a:t>&gt; 面向电商售后高频订单查询场景，拆解意图识别、订单接口调用、异常分流和人工接管流程，完成MVP PRD与核心状态原型；基于历史问句构建测试样本，针对多意图混合和订单信息缺失问题补充澄清与转人工策略。</a:t>
            </a:r>
          </a:p>
          <a:p/>
          <a:p>
            <a:r>
              <a:t>第二句话没有虚构上线结果，但能够看出产品判断和实际工作。</a:t>
            </a:r>
          </a:p>
          <a:p/>
          <a:p>
            <a:r>
              <a:t>本部分收束：</a:t>
            </a:r>
          </a:p>
          <a:p/>
          <a:p>
            <a:r>
              <a:t>&gt; 课程项目可以写进简历，但要把它写成自己真正完成过的产品实践，而不是伪装成一段不存在的工作经历。</a:t>
            </a:r>
          </a:p>
          <a:p/>
          <a:p>
            <a:r>
              <a:t>---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三个项目分别训练服务、核验和专业内容生成</a:t>
            </a:r>
          </a:p>
          <a:p/>
          <a:p>
            <a:r>
              <a:t>如果只是为了让课程看起来丰富，我们可以列出几十个项目：</a:t>
            </a:r>
          </a:p>
          <a:p/>
          <a:p>
            <a:r>
              <a:t>- AI客服；</a:t>
            </a:r>
          </a:p>
          <a:p>
            <a:r>
              <a:t>- AI教育；</a:t>
            </a:r>
          </a:p>
          <a:p>
            <a:r>
              <a:t>- AI医疗；</a:t>
            </a:r>
          </a:p>
          <a:p>
            <a:r>
              <a:t>- AI营销；</a:t>
            </a:r>
          </a:p>
          <a:p>
            <a:r>
              <a:t>- AI陪伴；</a:t>
            </a:r>
          </a:p>
          <a:p>
            <a:r>
              <a:t>- AI办公；</a:t>
            </a:r>
          </a:p>
          <a:p>
            <a:r>
              <a:t>- AI视频；</a:t>
            </a:r>
          </a:p>
          <a:p>
            <a:r>
              <a:t>- AI搜索。</a:t>
            </a:r>
          </a:p>
          <a:p/>
          <a:p>
            <a:r>
              <a:t>但项目数量多，不代表学员能够形成可迁移的能力。</a:t>
            </a:r>
          </a:p>
          <a:p/>
          <a:p>
            <a:r>
              <a:t>第二阶段选择的三个公共项目，分别对应三类企业中经常出现的问题：</a:t>
            </a:r>
          </a:p>
          <a:p/>
          <a:p>
            <a:r>
              <a:t>1. 用户表达开放，但企业服务流程必须稳定、可控；</a:t>
            </a:r>
          </a:p>
          <a:p>
            <a:r>
              <a:t>2. 业务材料复杂，需要精确核验并控制风险；</a:t>
            </a:r>
          </a:p>
          <a:p>
            <a:r>
              <a:t>3. 专业要求和知识分散，需要从复杂理解走到内容交付。</a:t>
            </a:r>
          </a:p>
          <a:p/>
          <a:p>
            <a:r>
              <a:t>三个项目能够形成一组相对完整的企业AI产品能力组合。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三个公共项目</a:t>
            </a:r>
          </a:p>
          <a:p/>
          <a:p>
            <a:r>
              <a:t>&gt; 建议时长：15—20分钟</a:t>
            </a:r>
          </a:p>
          <a:p/>
          <a:p>
            <a:r>
              <a:t>## 一、为什么不是随便选三个热门项目</a:t>
            </a:r>
          </a:p>
          <a:p/>
          <a:p>
            <a:r>
              <a:t>如果只是为了让课程看起来丰富，我们可以列出几十个项目：</a:t>
            </a:r>
          </a:p>
          <a:p/>
          <a:p>
            <a:r>
              <a:t>- AI客服；</a:t>
            </a:r>
          </a:p>
          <a:p>
            <a:r>
              <a:t>- AI教育；</a:t>
            </a:r>
          </a:p>
          <a:p>
            <a:r>
              <a:t>- AI医疗；</a:t>
            </a:r>
          </a:p>
          <a:p>
            <a:r>
              <a:t>- AI营销；</a:t>
            </a:r>
          </a:p>
          <a:p>
            <a:r>
              <a:t>- AI陪伴；</a:t>
            </a:r>
          </a:p>
          <a:p>
            <a:r>
              <a:t>- AI办公；</a:t>
            </a:r>
          </a:p>
          <a:p>
            <a:r>
              <a:t>- AI视频；</a:t>
            </a:r>
          </a:p>
          <a:p>
            <a:r>
              <a:t>- AI搜索。</a:t>
            </a:r>
          </a:p>
          <a:p/>
          <a:p>
            <a:r>
              <a:t>但项目数量多，不代表学员能够形成可迁移的能力。</a:t>
            </a:r>
          </a:p>
          <a:p/>
          <a:p>
            <a:r>
              <a:t>第二阶段选择的三个公共项目，分别对应三类企业中经常出现的问题：</a:t>
            </a:r>
          </a:p>
          <a:p/>
          <a:p>
            <a:r>
              <a:t>1. 用户表达开放，但企业服务流程必须稳定、可控；</a:t>
            </a:r>
          </a:p>
          <a:p>
            <a:r>
              <a:t>2. 业务材料复杂，需要精确核验并控制风险；</a:t>
            </a:r>
          </a:p>
          <a:p>
            <a:r>
              <a:t>3. 专业要求和知识分散，需要从复杂理解走到内容交付。</a:t>
            </a:r>
          </a:p>
          <a:p/>
          <a:p>
            <a:r>
              <a:t>三个项目能够形成一组相对完整的企业AI产品能力组合。</a:t>
            </a:r>
          </a:p>
          <a:p/>
          <a:p>
            <a:r>
              <a:t>## 二、公共项目一：企业智能客服与业务办理助手</a:t>
            </a:r>
          </a:p>
          <a:p/>
          <a:p>
            <a:r>
              <a:t>这个项目主要来自知乎“客服与销售类AI产品设计”和亚慧“智能客服机器人”课程。公共案例以电商售后服务为背景，但重点不是电商，而是Chatbot类AI产品怎样从回答问题走向办理业务。</a:t>
            </a:r>
          </a:p>
          <a:p/>
          <a:p>
            <a:r>
              <a:t>它处理的问题是：</a:t>
            </a:r>
          </a:p>
          <a:p/>
          <a:p>
            <a:r>
              <a:t>- 用户会使用自然语言表达订单、退款、产品和投诉问题；</a:t>
            </a:r>
          </a:p>
          <a:p>
            <a:r>
              <a:t>- 同一种需求存在大量不同说法；</a:t>
            </a:r>
          </a:p>
          <a:p>
            <a:r>
              <a:t>- 企业知识分散在产品资料、售后制度和FAQ中；</a:t>
            </a:r>
          </a:p>
          <a:p>
            <a:r>
              <a:t>- 订单、物流和账户信息必须从实时业务系统查询；</a:t>
            </a:r>
          </a:p>
          <a:p>
            <a:r>
              <a:t>- 机器人无法处理或风险较高时，需要平滑转交人工；</a:t>
            </a:r>
          </a:p>
          <a:p>
            <a:r>
              <a:t>- 客服系统不仅要回答得像人，还要真正解决问题。</a:t>
            </a:r>
          </a:p>
          <a:p/>
          <a:p>
            <a:r>
              <a:t>项目的核心过程是：</a:t>
            </a:r>
          </a:p>
          <a:p/>
          <a:p>
            <a:r>
              <a:t>~~~text</a:t>
            </a:r>
          </a:p>
          <a:p>
            <a:r>
              <a:t>用户发起咨询</a:t>
            </a:r>
          </a:p>
          <a:p>
            <a:r>
              <a:t>→ 识别意图和必要信息</a:t>
            </a:r>
          </a:p>
          <a:p>
            <a:r>
              <a:t>→ 进入知识问答 业务查询或售后处理路径</a:t>
            </a:r>
          </a:p>
          <a:p>
            <a:r>
              <a:t>→ 调用知识库 订单接口或规则</a:t>
            </a:r>
          </a:p>
          <a:p>
            <a:r>
              <a:t>→ 生成回答或引导用户办理</a:t>
            </a:r>
          </a:p>
          <a:p>
            <a:r>
              <a:t>→ 不确定 异常和高风险问题转人工</a:t>
            </a:r>
          </a:p>
          <a:p>
            <a:r>
              <a:t>→ 收集反馈并持续优化</a:t>
            </a:r>
          </a:p>
          <a:p>
            <a:r>
              <a:t>~~~</a:t>
            </a:r>
          </a:p>
          <a:p/>
          <a:p>
            <a:r>
              <a:t>这个项目主要让学员练习：</a:t>
            </a:r>
          </a:p>
          <a:p/>
          <a:p>
            <a:r>
              <a:t>- 怎样设计意图识别、多轮澄清和上下文；</a:t>
            </a:r>
          </a:p>
          <a:p>
            <a:r>
              <a:t>- 哪些问题使用RAG，哪些数据必须查询业务系统；</a:t>
            </a:r>
          </a:p>
          <a:p>
            <a:r>
              <a:t>- 为什么投诉和办理流程不能全部使用开放式对话；</a:t>
            </a:r>
          </a:p>
          <a:p>
            <a:r>
              <a:t>- 怎样使用规则、按钮和表单把关键流程收束起来；</a:t>
            </a:r>
          </a:p>
          <a:p>
            <a:r>
              <a:t>- 怎样处理低置信度、知识缺失和用户情绪；</a:t>
            </a:r>
          </a:p>
          <a:p>
            <a:r>
              <a:t>- 怎样设计人工接管和上下文交接；</a:t>
            </a:r>
          </a:p>
          <a:p>
            <a:r>
              <a:t>- 怎样使用解决率、转人工率、任务完成率和Bad Case评价产品。</a:t>
            </a:r>
          </a:p>
          <a:p/>
          <a:p>
            <a:r>
              <a:t>它代表的不是“电商行业”，而是一类更广泛的问题：</a:t>
            </a:r>
          </a:p>
          <a:p/>
          <a:p>
            <a:r>
              <a:t>&gt; 怎样把用户开放的自然语言，转化成稳定、可执行、能够承担责任的服务流程。</a:t>
            </a:r>
          </a:p>
          <a:p/>
          <a:p>
            <a:r>
              <a:t>## 三、公共项目二：AI业务材料审核与风险核验系统</a:t>
            </a:r>
          </a:p>
          <a:p/>
          <a:p>
            <a:r>
              <a:t>公共案例使用“AI采购单据核验与风险提示系统”。它的公开原型是AI Invoice Auditor，课程扩展来自亚慧课程中的投行核查审查与采购穿行测试。</a:t>
            </a:r>
          </a:p>
          <a:p/>
          <a:p>
            <a:r>
              <a:t>所谓采购穿行，是选择一笔采购业务，从申请、审批、采购、入库、开票一路检查到付款。采购业务中可能存在采购申请单、采购订单、入库单、发票和ERP交易记录。人工需要提取供应商、日期、数量和金额，再判断不同材料是否完整、前后一致。</a:t>
            </a:r>
          </a:p>
          <a:p/>
          <a:p>
            <a:r>
              <a:t>项目的核心过程是：</a:t>
            </a:r>
          </a:p>
          <a:p/>
          <a:p>
            <a:r>
              <a:t>~~~text</a:t>
            </a:r>
          </a:p>
          <a:p>
            <a:r>
              <a:t>上传业务数据和单据</a:t>
            </a:r>
          </a:p>
          <a:p>
            <a:r>
              <a:t>→ 识别文档类型</a:t>
            </a:r>
          </a:p>
          <a:p>
            <a:r>
              <a:t>→ 提取关键字段</a:t>
            </a:r>
          </a:p>
          <a:p>
            <a:r>
              <a:t>→ 关联同一笔业务</a:t>
            </a:r>
          </a:p>
          <a:p>
            <a:r>
              <a:t>→ 使用规则核对金额 日期和数量</a:t>
            </a:r>
          </a:p>
          <a:p>
            <a:r>
              <a:t>→ 标记差异和风险</a:t>
            </a:r>
          </a:p>
          <a:p>
            <a:r>
              <a:t>→ 展示原始证据</a:t>
            </a:r>
          </a:p>
          <a:p>
            <a:r>
              <a:t>→ 人工复核</a:t>
            </a:r>
          </a:p>
          <a:p>
            <a:r>
              <a:t>~~~</a:t>
            </a:r>
          </a:p>
          <a:p/>
          <a:p>
            <a:r>
              <a:t>这个项目主要让学员练习：</a:t>
            </a:r>
          </a:p>
          <a:p/>
          <a:p>
            <a:r>
              <a:t>- OCR、视觉模型和大模型分别适合什么；</a:t>
            </a:r>
          </a:p>
          <a:p>
            <a:r>
              <a:t>- 为什么字段提取和业务核验是两类不同问题；</a:t>
            </a:r>
          </a:p>
          <a:p>
            <a:r>
              <a:t>- 为什么金额、日期、数量不能只让大模型判断；</a:t>
            </a:r>
          </a:p>
          <a:p>
            <a:r>
              <a:t>- 怎样设计字段字典、单据关系和核验规则；</a:t>
            </a:r>
          </a:p>
          <a:p>
            <a:r>
              <a:t>- 怎样处理低置信度、单据缺失、误报和漏报；</a:t>
            </a:r>
          </a:p>
          <a:p>
            <a:r>
              <a:t>- 高风险流程中为什么必须保留人工责任；</a:t>
            </a:r>
          </a:p>
          <a:p>
            <a:r>
              <a:t>- 如何建立字段级和风险级两层评测。</a:t>
            </a:r>
          </a:p>
          <a:p/>
          <a:p>
            <a:r>
              <a:t>它代表的是：</a:t>
            </a:r>
          </a:p>
          <a:p/>
          <a:p>
            <a:r>
              <a:t>&gt; AI如何进入准确性要求高、需要证据和责任边界的企业流程。</a:t>
            </a:r>
          </a:p>
          <a:p/>
          <a:p>
            <a:r>
              <a:t>## 四、公共项目三：专业知识研究与方案生成平台</a:t>
            </a:r>
          </a:p>
          <a:p/>
          <a:p>
            <a:r>
              <a:t>公共案例使用“RFP需求拆解与智能标书生成平台”。它的公开原型是Nimra AI，课程扩展来自知乎智能标书项目和亚慧金融智能文档写作平台。</a:t>
            </a:r>
          </a:p>
          <a:p/>
          <a:p>
            <a:r>
              <a:t>一份RFP或招标文件可能有几十页甚至几百页，其中包含：</a:t>
            </a:r>
          </a:p>
          <a:p/>
          <a:p>
            <a:r>
              <a:t>- 截止时间；</a:t>
            </a:r>
          </a:p>
          <a:p>
            <a:r>
              <a:t>- 投标资格；</a:t>
            </a:r>
          </a:p>
          <a:p>
            <a:r>
              <a:t>- 强制要求；</a:t>
            </a:r>
          </a:p>
          <a:p>
            <a:r>
              <a:t>- 技术参数；</a:t>
            </a:r>
          </a:p>
          <a:p>
            <a:r>
              <a:t>- 商务条款；</a:t>
            </a:r>
          </a:p>
          <a:p>
            <a:r>
              <a:t>- 评分标准；</a:t>
            </a:r>
          </a:p>
          <a:p>
            <a:r>
              <a:t>- 否决项；</a:t>
            </a:r>
          </a:p>
          <a:p>
            <a:r>
              <a:t>- 必须提交的证明材料。</a:t>
            </a:r>
          </a:p>
          <a:p/>
          <a:p>
            <a:r>
              <a:t>项目首先需要把这些要求完整提取出来，再根据企业资质、产品资料、历史案例和评分标准生成标书结构与内容。</a:t>
            </a:r>
          </a:p>
          <a:p/>
          <a:p>
            <a:r>
              <a:t>~~~text</a:t>
            </a:r>
          </a:p>
          <a:p>
            <a:r>
              <a:t>发现或上传RFP</a:t>
            </a:r>
          </a:p>
          <a:p>
            <a:r>
              <a:t>→ 提取资格和强制要求</a:t>
            </a:r>
          </a:p>
          <a:p>
            <a:r>
              <a:t>→ 生成带原文位置的需求清单</a:t>
            </a:r>
          </a:p>
          <a:p>
            <a:r>
              <a:t>→ 检索企业资质与产品资料</a:t>
            </a:r>
          </a:p>
          <a:p>
            <a:r>
              <a:t>→ 生成一级和二级目录</a:t>
            </a:r>
          </a:p>
          <a:p>
            <a:r>
              <a:t>→ 分章节生成内容</a:t>
            </a:r>
          </a:p>
          <a:p>
            <a:r>
              <a:t>→ 检查遗漏 引用和事实</a:t>
            </a:r>
          </a:p>
          <a:p>
            <a:r>
              <a:t>→ 人工校对</a:t>
            </a:r>
          </a:p>
          <a:p>
            <a:r>
              <a:t>~~~</a:t>
            </a:r>
          </a:p>
          <a:p/>
          <a:p>
            <a:r>
              <a:t>这个项目主要让学员练习：</a:t>
            </a:r>
          </a:p>
          <a:p/>
          <a:p>
            <a:r>
              <a:t>- 怎样处理超长、结构复杂的专业文档；</a:t>
            </a:r>
          </a:p>
          <a:p>
            <a:r>
              <a:t>- 为什么必须先抽取要求，再开始生成；</a:t>
            </a:r>
          </a:p>
          <a:p>
            <a:r>
              <a:t>- 怎样保留原文证据；</a:t>
            </a:r>
          </a:p>
          <a:p>
            <a:r>
              <a:t>- 怎样通过RAG使用企业知识；</a:t>
            </a:r>
          </a:p>
          <a:p>
            <a:r>
              <a:t>- 为什么严谨长文档采用树状拆解，而不是一次生成；</a:t>
            </a:r>
          </a:p>
          <a:p>
            <a:r>
              <a:t>- 怎样处理证据不足和需要人工补充的信息；</a:t>
            </a:r>
          </a:p>
          <a:p>
            <a:r>
              <a:t>- 怎样评测遗漏、引用错误、虚构和前后冲突。</a:t>
            </a:r>
          </a:p>
          <a:p/>
          <a:p>
            <a:r>
              <a:t>它代表的是：</a:t>
            </a:r>
          </a:p>
          <a:p/>
          <a:p>
            <a:r>
              <a:t>&gt; AI如何从理解复杂要求，走到有依据的专业内容交付。</a:t>
            </a:r>
          </a:p>
          <a:p/>
          <a:p>
            <a:r>
              <a:t>## 五、三个项目组成什么能力</a:t>
            </a:r>
          </a:p>
          <a:p/>
          <a:p>
            <a:r>
              <a:t>| 项目 | 主要业务价值 | 主要输入 | 关键判断 |</a:t>
            </a:r>
          </a:p>
          <a:p>
            <a:r>
              <a:t>|---|---|---|---|</a:t>
            </a:r>
          </a:p>
          <a:p>
            <a:r>
              <a:t>| 智能客服与业务办理 | 服务效率与用户体验 | 用户对话、企业知识和业务数据 | 如何把开放表达转化成可控服务流程 |</a:t>
            </a:r>
          </a:p>
          <a:p>
            <a:r>
              <a:t>| 业务材料审核与风险核验 | 降本与风险控制 | 业务数据、单据和审核规则 | 如何让模型、规则和人工可靠协作 |</a:t>
            </a:r>
          </a:p>
          <a:p>
            <a:r>
              <a:t>| 专业知识研究与方案生成 | 知识生产与专业交付 | 复杂要求、企业知识和专业资料 | 如何控制复杂任务的理解、生成和校验 |</a:t>
            </a:r>
          </a:p>
          <a:p/>
          <a:p>
            <a:r>
              <a:t>第一个项目最接近用户，重点是理解、对话、工具调用和人工接管。</a:t>
            </a:r>
          </a:p>
          <a:p/>
          <a:p>
            <a:r>
              <a:t>第二个项目对准确率和可追溯要求最高，规则和人工角色最重要。</a:t>
            </a:r>
          </a:p>
          <a:p/>
          <a:p>
            <a:r>
              <a:t>第三个项目处理的信息量最大，最容易发生遗漏、引用错误和长内容失控。</a:t>
            </a:r>
          </a:p>
          <a:p/>
          <a:p>
            <a:r>
              <a:t>三个项目形成一条递进关系：</a:t>
            </a:r>
          </a:p>
          <a:p/>
          <a:p>
            <a:r>
              <a:t>~~~text</a:t>
            </a:r>
          </a:p>
          <a:p>
            <a:r>
              <a:t>让AI正确理解并完成一次服务</a:t>
            </a:r>
          </a:p>
          <a:p>
            <a:r>
              <a:t>→ 让AI可靠进入高风险企业流程</a:t>
            </a:r>
          </a:p>
          <a:p>
            <a:r>
              <a:t>→ 让AI完成复杂知识任务和专业交付</a:t>
            </a:r>
          </a:p>
          <a:p>
            <a:r>
              <a:t>~~~</a:t>
            </a:r>
          </a:p>
          <a:p/>
          <a:p>
            <a:r>
              <a:t>学完三个项目以后，学员看到的不是三个工具，而是三种不同的AI产品责任结构。</a:t>
            </a:r>
          </a:p>
          <a:p/>
          <a:p>
            <a:r>
              <a:t>## 六、两个选修项目补充什么</a:t>
            </a:r>
          </a:p>
          <a:p/>
          <a:p>
            <a:r>
              <a:t>三个必修项目之外，课程提供两个选修自学包：</a:t>
            </a:r>
          </a:p>
          <a:p/>
          <a:p>
            <a:r>
              <a:t>| 选修项目 | 补充能力 | 适合人群 |</a:t>
            </a:r>
          </a:p>
          <a:p>
            <a:r>
              <a:t>|---|---|---|</a:t>
            </a:r>
          </a:p>
          <a:p>
            <a:r>
              <a:t>| AI图像判断与结构化报告生成 | 多模态输入、图像理解、报告生成和快速验证 | 美业、设计、质检、巡检、教育等背景学员 |</a:t>
            </a:r>
          </a:p>
          <a:p>
            <a:r>
              <a:t>| 企业客户研究与销售方案助手 | 外部研究、产品匹配、专业推荐和增长决策 | 销售、咨询、保险、教育、客户成功等背景学员 |</a:t>
            </a:r>
          </a:p>
          <a:p/>
          <a:p>
            <a:r>
              <a:t>选修项目用于扩展和个性化，必要时可以替换一个个人项目，但不在三个必修项目之外增加统一作业。</a:t>
            </a:r>
          </a:p>
          <a:p/>
          <a:p>
            <a:r>
              <a:t>---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企业智能客服与业务办理</a:t>
            </a:r>
          </a:p>
          <a:p/>
          <a:p>
            <a:r>
              <a:t>这个项目主要来自知乎“客服与销售类AI产品设计”和亚慧“智能客服机器人”课程。公共案例以电商售后服务为背景，但重点不是电商，而是Chatbot类AI产品怎样从回答问题走向办理业务。</a:t>
            </a:r>
          </a:p>
          <a:p/>
          <a:p>
            <a:r>
              <a:t>它处理的问题是：</a:t>
            </a:r>
          </a:p>
          <a:p/>
          <a:p>
            <a:r>
              <a:t>- 用户会使用自然语言表达订单、退款、产品和投诉问题；</a:t>
            </a:r>
          </a:p>
          <a:p>
            <a:r>
              <a:t>- 同一种需求存在大量不同说法；</a:t>
            </a:r>
          </a:p>
          <a:p>
            <a:r>
              <a:t>- 企业知识分散在产品资料、售后制度和FAQ中；</a:t>
            </a:r>
          </a:p>
          <a:p>
            <a:r>
              <a:t>- 订单、物流和账户信息必须从实时业务系统查询；</a:t>
            </a:r>
          </a:p>
          <a:p>
            <a:r>
              <a:t>- 机器人无法处理或风险较高时，需要平滑转交人工；</a:t>
            </a:r>
          </a:p>
          <a:p>
            <a:r>
              <a:t>- 客服系统不仅要回答得像人，还要真正解决问题。</a:t>
            </a:r>
          </a:p>
          <a:p/>
          <a:p>
            <a:r>
              <a:t>项目的核心过程是：</a:t>
            </a:r>
          </a:p>
          <a:p/>
          <a:p>
            <a:r>
              <a:t>~~~text</a:t>
            </a:r>
          </a:p>
          <a:p>
            <a:r>
              <a:t>用户发起咨询</a:t>
            </a:r>
          </a:p>
          <a:p>
            <a:r>
              <a:t>→ 识别意图和必要信息</a:t>
            </a:r>
          </a:p>
          <a:p>
            <a:r>
              <a:t>→ 进入知识问答 业务查询或售后处理路径</a:t>
            </a:r>
          </a:p>
          <a:p>
            <a:r>
              <a:t>→ 调用知识库 订单接口或规则</a:t>
            </a:r>
          </a:p>
          <a:p>
            <a:r>
              <a:t>→ 生成回答或引导用户办理</a:t>
            </a:r>
          </a:p>
          <a:p>
            <a:r>
              <a:t>→ 不确定 异常和高风险问题转人工</a:t>
            </a:r>
          </a:p>
          <a:p>
            <a:r>
              <a:t>→ 收集反馈并持续优化</a:t>
            </a:r>
          </a:p>
          <a:p>
            <a:r>
              <a:t>~~~</a:t>
            </a:r>
          </a:p>
          <a:p/>
          <a:p>
            <a:r>
              <a:t>这个项目主要让学员练习：</a:t>
            </a:r>
          </a:p>
          <a:p/>
          <a:p>
            <a:r>
              <a:t>- 怎样设计意图识别、多轮澄清和上下文；</a:t>
            </a:r>
          </a:p>
          <a:p>
            <a:r>
              <a:t>- 哪些问题使用RAG，哪些数据必须查询业务系统；</a:t>
            </a:r>
          </a:p>
          <a:p>
            <a:r>
              <a:t>- 为什么投诉和办理流程不能全部使用开放式对话；</a:t>
            </a:r>
          </a:p>
          <a:p>
            <a:r>
              <a:t>- 怎样使用规则、按钮和表单把关键流程收束起来；</a:t>
            </a:r>
          </a:p>
          <a:p>
            <a:r>
              <a:t>- 怎样处理低置信度、知识缺失和用户情绪；</a:t>
            </a:r>
          </a:p>
          <a:p>
            <a:r>
              <a:t>- 怎样设计人工接管和上下文交接；</a:t>
            </a:r>
          </a:p>
          <a:p>
            <a:r>
              <a:t>- 怎样使用解决率、转人工率、任务完成率和Bad Case评价产品。</a:t>
            </a:r>
          </a:p>
          <a:p/>
          <a:p>
            <a:r>
              <a:t>它代表的不是“电商行业”，而是一类更广泛的问题：</a:t>
            </a:r>
          </a:p>
          <a:p/>
          <a:p>
            <a:r>
              <a:t>&gt; 怎样把用户开放的自然语言，转化成稳定、可执行、能够承担责任的服务流程。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智能客服的处理流程</a:t>
            </a:r>
          </a:p>
          <a:p/>
          <a:p>
            <a:r>
              <a:t>这个项目主要来自知乎“客服与销售类AI产品设计”和亚慧“智能客服机器人”课程。公共案例以电商售后服务为背景，但重点不是电商，而是Chatbot类AI产品怎样从回答问题走向办理业务。</a:t>
            </a:r>
          </a:p>
          <a:p/>
          <a:p>
            <a:r>
              <a:t>它处理的问题是：</a:t>
            </a:r>
          </a:p>
          <a:p/>
          <a:p>
            <a:r>
              <a:t>- 用户会使用自然语言表达订单、退款、产品和投诉问题；</a:t>
            </a:r>
          </a:p>
          <a:p>
            <a:r>
              <a:t>- 同一种需求存在大量不同说法；</a:t>
            </a:r>
          </a:p>
          <a:p>
            <a:r>
              <a:t>- 企业知识分散在产品资料、售后制度和FAQ中；</a:t>
            </a:r>
          </a:p>
          <a:p>
            <a:r>
              <a:t>- 订单、物流和账户信息必须从实时业务系统查询；</a:t>
            </a:r>
          </a:p>
          <a:p>
            <a:r>
              <a:t>- 机器人无法处理或风险较高时，需要平滑转交人工；</a:t>
            </a:r>
          </a:p>
          <a:p>
            <a:r>
              <a:t>- 客服系统不仅要回答得像人，还要真正解决问题。</a:t>
            </a:r>
          </a:p>
          <a:p/>
          <a:p>
            <a:r>
              <a:t>项目的核心过程是：</a:t>
            </a:r>
          </a:p>
          <a:p/>
          <a:p>
            <a:r>
              <a:t>~~~text</a:t>
            </a:r>
          </a:p>
          <a:p>
            <a:r>
              <a:t>用户发起咨询</a:t>
            </a:r>
          </a:p>
          <a:p>
            <a:r>
              <a:t>→ 识别意图和必要信息</a:t>
            </a:r>
          </a:p>
          <a:p>
            <a:r>
              <a:t>→ 进入知识问答 业务查询或售后处理路径</a:t>
            </a:r>
          </a:p>
          <a:p>
            <a:r>
              <a:t>→ 调用知识库 订单接口或规则</a:t>
            </a:r>
          </a:p>
          <a:p>
            <a:r>
              <a:t>→ 生成回答或引导用户办理</a:t>
            </a:r>
          </a:p>
          <a:p>
            <a:r>
              <a:t>→ 不确定 异常和高风险问题转人工</a:t>
            </a:r>
          </a:p>
          <a:p>
            <a:r>
              <a:t>→ 收集反馈并持续优化</a:t>
            </a:r>
          </a:p>
          <a:p>
            <a:r>
              <a:t>~~~</a:t>
            </a:r>
          </a:p>
          <a:p/>
          <a:p>
            <a:r>
              <a:t>这个项目主要让学员练习：</a:t>
            </a:r>
          </a:p>
          <a:p/>
          <a:p>
            <a:r>
              <a:t>- 怎样设计意图识别、多轮澄清和上下文；</a:t>
            </a:r>
          </a:p>
          <a:p>
            <a:r>
              <a:t>- 哪些问题使用RAG，哪些数据必须查询业务系统；</a:t>
            </a:r>
          </a:p>
          <a:p>
            <a:r>
              <a:t>- 为什么投诉和办理流程不能全部使用开放式对话；</a:t>
            </a:r>
          </a:p>
          <a:p>
            <a:r>
              <a:t>- 怎样使用规则、按钮和表单把关键流程收束起来；</a:t>
            </a:r>
          </a:p>
          <a:p>
            <a:r>
              <a:t>- 怎样处理低置信度、知识缺失和用户情绪；</a:t>
            </a:r>
          </a:p>
          <a:p>
            <a:r>
              <a:t>- 怎样设计人工接管和上下文交接；</a:t>
            </a:r>
          </a:p>
          <a:p>
            <a:r>
              <a:t>- 怎样使用解决率、转人工率、任务完成率和Bad Case评价产品。</a:t>
            </a:r>
          </a:p>
          <a:p/>
          <a:p>
            <a:r>
              <a:t>它代表的不是“电商行业”，而是一类更广泛的问题：</a:t>
            </a:r>
          </a:p>
          <a:p/>
          <a:p>
            <a:r>
              <a:t>&gt; 怎样把用户开放的自然语言，转化成稳定、可执行、能够承担责任的服务流程。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智能客服项目的练习重点</a:t>
            </a:r>
          </a:p>
          <a:p/>
          <a:p>
            <a:r>
              <a:t>这个项目主要来自知乎“客服与销售类AI产品设计”和亚慧“智能客服机器人”课程。公共案例以电商售后服务为背景，但重点不是电商，而是Chatbot类AI产品怎样从回答问题走向办理业务。</a:t>
            </a:r>
          </a:p>
          <a:p/>
          <a:p>
            <a:r>
              <a:t>它处理的问题是：</a:t>
            </a:r>
          </a:p>
          <a:p/>
          <a:p>
            <a:r>
              <a:t>- 用户会使用自然语言表达订单、退款、产品和投诉问题；</a:t>
            </a:r>
          </a:p>
          <a:p>
            <a:r>
              <a:t>- 同一种需求存在大量不同说法；</a:t>
            </a:r>
          </a:p>
          <a:p>
            <a:r>
              <a:t>- 企业知识分散在产品资料、售后制度和FAQ中；</a:t>
            </a:r>
          </a:p>
          <a:p>
            <a:r>
              <a:t>- 订单、物流和账户信息必须从实时业务系统查询；</a:t>
            </a:r>
          </a:p>
          <a:p>
            <a:r>
              <a:t>- 机器人无法处理或风险较高时，需要平滑转交人工；</a:t>
            </a:r>
          </a:p>
          <a:p>
            <a:r>
              <a:t>- 客服系统不仅要回答得像人，还要真正解决问题。</a:t>
            </a:r>
          </a:p>
          <a:p/>
          <a:p>
            <a:r>
              <a:t>项目的核心过程是：</a:t>
            </a:r>
          </a:p>
          <a:p/>
          <a:p>
            <a:r>
              <a:t>~~~text</a:t>
            </a:r>
          </a:p>
          <a:p>
            <a:r>
              <a:t>用户发起咨询</a:t>
            </a:r>
          </a:p>
          <a:p>
            <a:r>
              <a:t>→ 识别意图和必要信息</a:t>
            </a:r>
          </a:p>
          <a:p>
            <a:r>
              <a:t>→ 进入知识问答 业务查询或售后处理路径</a:t>
            </a:r>
          </a:p>
          <a:p>
            <a:r>
              <a:t>→ 调用知识库 订单接口或规则</a:t>
            </a:r>
          </a:p>
          <a:p>
            <a:r>
              <a:t>→ 生成回答或引导用户办理</a:t>
            </a:r>
          </a:p>
          <a:p>
            <a:r>
              <a:t>→ 不确定 异常和高风险问题转人工</a:t>
            </a:r>
          </a:p>
          <a:p>
            <a:r>
              <a:t>→ 收集反馈并持续优化</a:t>
            </a:r>
          </a:p>
          <a:p>
            <a:r>
              <a:t>~~~</a:t>
            </a:r>
          </a:p>
          <a:p/>
          <a:p>
            <a:r>
              <a:t>这个项目主要让学员练习：</a:t>
            </a:r>
          </a:p>
          <a:p/>
          <a:p>
            <a:r>
              <a:t>- 怎样设计意图识别、多轮澄清和上下文；</a:t>
            </a:r>
          </a:p>
          <a:p>
            <a:r>
              <a:t>- 哪些问题使用RAG，哪些数据必须查询业务系统；</a:t>
            </a:r>
          </a:p>
          <a:p>
            <a:r>
              <a:t>- 为什么投诉和办理流程不能全部使用开放式对话；</a:t>
            </a:r>
          </a:p>
          <a:p>
            <a:r>
              <a:t>- 怎样使用规则、按钮和表单把关键流程收束起来；</a:t>
            </a:r>
          </a:p>
          <a:p>
            <a:r>
              <a:t>- 怎样处理低置信度、知识缺失和用户情绪；</a:t>
            </a:r>
          </a:p>
          <a:p>
            <a:r>
              <a:t>- 怎样设计人工接管和上下文交接；</a:t>
            </a:r>
          </a:p>
          <a:p>
            <a:r>
              <a:t>- 怎样使用解决率、转人工率、任务完成率和Bad Case评价产品。</a:t>
            </a:r>
          </a:p>
          <a:p/>
          <a:p>
            <a:r>
              <a:t>它代表的不是“电商行业”，而是一类更广泛的问题：</a:t>
            </a:r>
          </a:p>
          <a:p/>
          <a:p>
            <a:r>
              <a:t>&gt; 怎样把用户开放的自然语言，转化成稳定、可执行、能够承担责任的服务流程。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采购单据核验的业务场景</a:t>
            </a:r>
          </a:p>
          <a:p/>
          <a:p>
            <a:r>
              <a:t>公共案例使用“AI采购单据核验与风险提示系统”。它的公开原型是AI Invoice Auditor，课程扩展来自亚慧课程中的投行核查审查与采购穿行测试。</a:t>
            </a:r>
          </a:p>
          <a:p/>
          <a:p>
            <a:r>
              <a:t>所谓采购穿行，是选择一笔采购业务，从申请、审批、采购、入库、开票一路检查到付款。采购业务中可能存在采购申请单、采购订单、入库单、发票和ERP交易记录。人工需要提取供应商、日期、数量和金额，再判断不同材料是否完整、前后一致。</a:t>
            </a:r>
          </a:p>
          <a:p/>
          <a:p>
            <a:r>
              <a:t>项目的核心过程是：</a:t>
            </a:r>
          </a:p>
          <a:p/>
          <a:p>
            <a:r>
              <a:t>~~~text</a:t>
            </a:r>
          </a:p>
          <a:p>
            <a:r>
              <a:t>上传业务数据和单据</a:t>
            </a:r>
          </a:p>
          <a:p>
            <a:r>
              <a:t>→ 识别文档类型</a:t>
            </a:r>
          </a:p>
          <a:p>
            <a:r>
              <a:t>→ 提取关键字段</a:t>
            </a:r>
          </a:p>
          <a:p>
            <a:r>
              <a:t>→ 关联同一笔业务</a:t>
            </a:r>
          </a:p>
          <a:p>
            <a:r>
              <a:t>→ 使用规则核对金额 日期和数量</a:t>
            </a:r>
          </a:p>
          <a:p>
            <a:r>
              <a:t>→ 标记差异和风险</a:t>
            </a:r>
          </a:p>
          <a:p>
            <a:r>
              <a:t>→ 展示原始证据</a:t>
            </a:r>
          </a:p>
          <a:p>
            <a:r>
              <a:t>→ 人工复核</a:t>
            </a:r>
          </a:p>
          <a:p>
            <a:r>
              <a:t>~~~</a:t>
            </a:r>
          </a:p>
          <a:p/>
          <a:p>
            <a:r>
              <a:t>这个项目主要让学员练习：</a:t>
            </a:r>
          </a:p>
          <a:p/>
          <a:p>
            <a:r>
              <a:t>- OCR、视觉模型和大模型分别适合什么；</a:t>
            </a:r>
          </a:p>
          <a:p>
            <a:r>
              <a:t>- 为什么字段提取和业务核验是两类不同问题；</a:t>
            </a:r>
          </a:p>
          <a:p>
            <a:r>
              <a:t>- 为什么金额、日期、数量不能只让大模型判断；</a:t>
            </a:r>
          </a:p>
          <a:p>
            <a:r>
              <a:t>- 怎样设计字段字典、单据关系和核验规则；</a:t>
            </a:r>
          </a:p>
          <a:p>
            <a:r>
              <a:t>- 怎样处理低置信度、单据缺失、误报和漏报；</a:t>
            </a:r>
          </a:p>
          <a:p>
            <a:r>
              <a:t>- 高风险流程中为什么必须保留人工责任；</a:t>
            </a:r>
          </a:p>
          <a:p>
            <a:r>
              <a:t>- 如何建立字段级和风险级两层评测。</a:t>
            </a:r>
          </a:p>
          <a:p/>
          <a:p>
            <a:r>
              <a:t>它代表的是：</a:t>
            </a:r>
          </a:p>
          <a:p/>
          <a:p>
            <a:r>
              <a:t>&gt; AI如何进入准确性要求高、需要证据和责任边界的企业流程。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材料核验的处理流程</a:t>
            </a:r>
          </a:p>
          <a:p/>
          <a:p>
            <a:r>
              <a:t>公共案例使用“AI采购单据核验与风险提示系统”。它的公开原型是AI Invoice Auditor，课程扩展来自亚慧课程中的投行核查审查与采购穿行测试。</a:t>
            </a:r>
          </a:p>
          <a:p/>
          <a:p>
            <a:r>
              <a:t>所谓采购穿行，是选择一笔采购业务，从申请、审批、采购、入库、开票一路检查到付款。采购业务中可能存在采购申请单、采购订单、入库单、发票和ERP交易记录。人工需要提取供应商、日期、数量和金额，再判断不同材料是否完整、前后一致。</a:t>
            </a:r>
          </a:p>
          <a:p/>
          <a:p>
            <a:r>
              <a:t>项目的核心过程是：</a:t>
            </a:r>
          </a:p>
          <a:p/>
          <a:p>
            <a:r>
              <a:t>~~~text</a:t>
            </a:r>
          </a:p>
          <a:p>
            <a:r>
              <a:t>上传业务数据和单据</a:t>
            </a:r>
          </a:p>
          <a:p>
            <a:r>
              <a:t>→ 识别文档类型</a:t>
            </a:r>
          </a:p>
          <a:p>
            <a:r>
              <a:t>→ 提取关键字段</a:t>
            </a:r>
          </a:p>
          <a:p>
            <a:r>
              <a:t>→ 关联同一笔业务</a:t>
            </a:r>
          </a:p>
          <a:p>
            <a:r>
              <a:t>→ 使用规则核对金额 日期和数量</a:t>
            </a:r>
          </a:p>
          <a:p>
            <a:r>
              <a:t>→ 标记差异和风险</a:t>
            </a:r>
          </a:p>
          <a:p>
            <a:r>
              <a:t>→ 展示原始证据</a:t>
            </a:r>
          </a:p>
          <a:p>
            <a:r>
              <a:t>→ 人工复核</a:t>
            </a:r>
          </a:p>
          <a:p>
            <a:r>
              <a:t>~~~</a:t>
            </a:r>
          </a:p>
          <a:p/>
          <a:p>
            <a:r>
              <a:t>这个项目主要让学员练习：</a:t>
            </a:r>
          </a:p>
          <a:p/>
          <a:p>
            <a:r>
              <a:t>- OCR、视觉模型和大模型分别适合什么；</a:t>
            </a:r>
          </a:p>
          <a:p>
            <a:r>
              <a:t>- 为什么字段提取和业务核验是两类不同问题；</a:t>
            </a:r>
          </a:p>
          <a:p>
            <a:r>
              <a:t>- 为什么金额、日期、数量不能只让大模型判断；</a:t>
            </a:r>
          </a:p>
          <a:p>
            <a:r>
              <a:t>- 怎样设计字段字典、单据关系和核验规则；</a:t>
            </a:r>
          </a:p>
          <a:p>
            <a:r>
              <a:t>- 怎样处理低置信度、单据缺失、误报和漏报；</a:t>
            </a:r>
          </a:p>
          <a:p>
            <a:r>
              <a:t>- 高风险流程中为什么必须保留人工责任；</a:t>
            </a:r>
          </a:p>
          <a:p>
            <a:r>
              <a:t>- 如何建立字段级和风险级两层评测。</a:t>
            </a:r>
          </a:p>
          <a:p/>
          <a:p>
            <a:r>
              <a:t>它代表的是：</a:t>
            </a:r>
          </a:p>
          <a:p/>
          <a:p>
            <a:r>
              <a:t>&gt; AI如何进入准确性要求高、需要证据和责任边界的企业流程。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材料核验项目的练习重点</a:t>
            </a:r>
          </a:p>
          <a:p/>
          <a:p>
            <a:r>
              <a:t>公共案例使用“AI采购单据核验与风险提示系统”。它的公开原型是AI Invoice Auditor，课程扩展来自亚慧课程中的投行核查审查与采购穿行测试。</a:t>
            </a:r>
          </a:p>
          <a:p/>
          <a:p>
            <a:r>
              <a:t>所谓采购穿行，是选择一笔采购业务，从申请、审批、采购、入库、开票一路检查到付款。采购业务中可能存在采购申请单、采购订单、入库单、发票和ERP交易记录。人工需要提取供应商、日期、数量和金额，再判断不同材料是否完整、前后一致。</a:t>
            </a:r>
          </a:p>
          <a:p/>
          <a:p>
            <a:r>
              <a:t>项目的核心过程是：</a:t>
            </a:r>
          </a:p>
          <a:p/>
          <a:p>
            <a:r>
              <a:t>~~~text</a:t>
            </a:r>
          </a:p>
          <a:p>
            <a:r>
              <a:t>上传业务数据和单据</a:t>
            </a:r>
          </a:p>
          <a:p>
            <a:r>
              <a:t>→ 识别文档类型</a:t>
            </a:r>
          </a:p>
          <a:p>
            <a:r>
              <a:t>→ 提取关键字段</a:t>
            </a:r>
          </a:p>
          <a:p>
            <a:r>
              <a:t>→ 关联同一笔业务</a:t>
            </a:r>
          </a:p>
          <a:p>
            <a:r>
              <a:t>→ 使用规则核对金额 日期和数量</a:t>
            </a:r>
          </a:p>
          <a:p>
            <a:r>
              <a:t>→ 标记差异和风险</a:t>
            </a:r>
          </a:p>
          <a:p>
            <a:r>
              <a:t>→ 展示原始证据</a:t>
            </a:r>
          </a:p>
          <a:p>
            <a:r>
              <a:t>→ 人工复核</a:t>
            </a:r>
          </a:p>
          <a:p>
            <a:r>
              <a:t>~~~</a:t>
            </a:r>
          </a:p>
          <a:p/>
          <a:p>
            <a:r>
              <a:t>这个项目主要让学员练习：</a:t>
            </a:r>
          </a:p>
          <a:p/>
          <a:p>
            <a:r>
              <a:t>- OCR、视觉模型和大模型分别适合什么；</a:t>
            </a:r>
          </a:p>
          <a:p>
            <a:r>
              <a:t>- 为什么字段提取和业务核验是两类不同问题；</a:t>
            </a:r>
          </a:p>
          <a:p>
            <a:r>
              <a:t>- 为什么金额、日期、数量不能只让大模型判断；</a:t>
            </a:r>
          </a:p>
          <a:p>
            <a:r>
              <a:t>- 怎样设计字段字典、单据关系和核验规则；</a:t>
            </a:r>
          </a:p>
          <a:p>
            <a:r>
              <a:t>- 怎样处理低置信度、单据缺失、误报和漏报；</a:t>
            </a:r>
          </a:p>
          <a:p>
            <a:r>
              <a:t>- 高风险流程中为什么必须保留人工责任；</a:t>
            </a:r>
          </a:p>
          <a:p>
            <a:r>
              <a:t>- 如何建立字段级和风险级两层评测。</a:t>
            </a:r>
          </a:p>
          <a:p/>
          <a:p>
            <a:r>
              <a:t>它代表的是：</a:t>
            </a:r>
          </a:p>
          <a:p/>
          <a:p>
            <a:r>
              <a:t>&gt; AI如何进入准确性要求高、需要证据和责任边界的企业流程。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RFP需求拆解与智能标书</a:t>
            </a:r>
          </a:p>
          <a:p/>
          <a:p>
            <a:r>
              <a:t>公共案例使用“RFP需求拆解与智能标书生成平台”。它的公开原型是Nimra AI，课程扩展来自知乎智能标书项目和亚慧金融智能文档写作平台。</a:t>
            </a:r>
          </a:p>
          <a:p/>
          <a:p>
            <a:r>
              <a:t>一份RFP或招标文件可能有几十页甚至几百页，其中包含：</a:t>
            </a:r>
          </a:p>
          <a:p/>
          <a:p>
            <a:r>
              <a:t>- 截止时间；</a:t>
            </a:r>
          </a:p>
          <a:p>
            <a:r>
              <a:t>- 投标资格；</a:t>
            </a:r>
          </a:p>
          <a:p>
            <a:r>
              <a:t>- 强制要求；</a:t>
            </a:r>
          </a:p>
          <a:p>
            <a:r>
              <a:t>- 技术参数；</a:t>
            </a:r>
          </a:p>
          <a:p>
            <a:r>
              <a:t>- 商务条款；</a:t>
            </a:r>
          </a:p>
          <a:p>
            <a:r>
              <a:t>- 评分标准；</a:t>
            </a:r>
          </a:p>
          <a:p>
            <a:r>
              <a:t>- 否决项；</a:t>
            </a:r>
          </a:p>
          <a:p>
            <a:r>
              <a:t>- 必须提交的证明材料。</a:t>
            </a:r>
          </a:p>
          <a:p/>
          <a:p>
            <a:r>
              <a:t>项目首先需要把这些要求完整提取出来，再根据企业资质、产品资料、历史案例和评分标准生成标书结构与内容。</a:t>
            </a:r>
          </a:p>
          <a:p/>
          <a:p>
            <a:r>
              <a:t>~~~text</a:t>
            </a:r>
          </a:p>
          <a:p>
            <a:r>
              <a:t>发现或上传RFP</a:t>
            </a:r>
          </a:p>
          <a:p>
            <a:r>
              <a:t>→ 提取资格和强制要求</a:t>
            </a:r>
          </a:p>
          <a:p>
            <a:r>
              <a:t>→ 生成带原文位置的需求清单</a:t>
            </a:r>
          </a:p>
          <a:p>
            <a:r>
              <a:t>→ 检索企业资质与产品资料</a:t>
            </a:r>
          </a:p>
          <a:p>
            <a:r>
              <a:t>→ 生成一级和二级目录</a:t>
            </a:r>
          </a:p>
          <a:p>
            <a:r>
              <a:t>→ 分章节生成内容</a:t>
            </a:r>
          </a:p>
          <a:p>
            <a:r>
              <a:t>→ 检查遗漏 引用和事实</a:t>
            </a:r>
          </a:p>
          <a:p>
            <a:r>
              <a:t>→ 人工校对</a:t>
            </a:r>
          </a:p>
          <a:p>
            <a:r>
              <a:t>~~~</a:t>
            </a:r>
          </a:p>
          <a:p/>
          <a:p>
            <a:r>
              <a:t>这个项目主要让学员练习：</a:t>
            </a:r>
          </a:p>
          <a:p/>
          <a:p>
            <a:r>
              <a:t>- 怎样处理超长、结构复杂的专业文档；</a:t>
            </a:r>
          </a:p>
          <a:p>
            <a:r>
              <a:t>- 为什么必须先抽取要求，再开始生成；</a:t>
            </a:r>
          </a:p>
          <a:p>
            <a:r>
              <a:t>- 怎样保留原文证据；</a:t>
            </a:r>
          </a:p>
          <a:p>
            <a:r>
              <a:t>- 怎样通过RAG使用企业知识；</a:t>
            </a:r>
          </a:p>
          <a:p>
            <a:r>
              <a:t>- 为什么严谨长文档采用树状拆解，而不是一次生成；</a:t>
            </a:r>
          </a:p>
          <a:p>
            <a:r>
              <a:t>- 怎样处理证据不足和需要人工补充的信息；</a:t>
            </a:r>
          </a:p>
          <a:p>
            <a:r>
              <a:t>- 怎样评测遗漏、引用错误、虚构和前后冲突。</a:t>
            </a:r>
          </a:p>
          <a:p/>
          <a:p>
            <a:r>
              <a:t>它代表的是：</a:t>
            </a:r>
          </a:p>
          <a:p/>
          <a:p>
            <a:r>
              <a:t>&gt; AI如何从理解复杂要求，走到有依据的专业内容交付。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专业方案生成的处理流程</a:t>
            </a:r>
          </a:p>
          <a:p/>
          <a:p>
            <a:r>
              <a:t>公共案例使用“RFP需求拆解与智能标书生成平台”。它的公开原型是Nimra AI，课程扩展来自知乎智能标书项目和亚慧金融智能文档写作平台。</a:t>
            </a:r>
          </a:p>
          <a:p/>
          <a:p>
            <a:r>
              <a:t>一份RFP或招标文件可能有几十页甚至几百页，其中包含：</a:t>
            </a:r>
          </a:p>
          <a:p/>
          <a:p>
            <a:r>
              <a:t>- 截止时间；</a:t>
            </a:r>
          </a:p>
          <a:p>
            <a:r>
              <a:t>- 投标资格；</a:t>
            </a:r>
          </a:p>
          <a:p>
            <a:r>
              <a:t>- 强制要求；</a:t>
            </a:r>
          </a:p>
          <a:p>
            <a:r>
              <a:t>- 技术参数；</a:t>
            </a:r>
          </a:p>
          <a:p>
            <a:r>
              <a:t>- 商务条款；</a:t>
            </a:r>
          </a:p>
          <a:p>
            <a:r>
              <a:t>- 评分标准；</a:t>
            </a:r>
          </a:p>
          <a:p>
            <a:r>
              <a:t>- 否决项；</a:t>
            </a:r>
          </a:p>
          <a:p>
            <a:r>
              <a:t>- 必须提交的证明材料。</a:t>
            </a:r>
          </a:p>
          <a:p/>
          <a:p>
            <a:r>
              <a:t>项目首先需要把这些要求完整提取出来，再根据企业资质、产品资料、历史案例和评分标准生成标书结构与内容。</a:t>
            </a:r>
          </a:p>
          <a:p/>
          <a:p>
            <a:r>
              <a:t>~~~text</a:t>
            </a:r>
          </a:p>
          <a:p>
            <a:r>
              <a:t>发现或上传RFP</a:t>
            </a:r>
          </a:p>
          <a:p>
            <a:r>
              <a:t>→ 提取资格和强制要求</a:t>
            </a:r>
          </a:p>
          <a:p>
            <a:r>
              <a:t>→ 生成带原文位置的需求清单</a:t>
            </a:r>
          </a:p>
          <a:p>
            <a:r>
              <a:t>→ 检索企业资质与产品资料</a:t>
            </a:r>
          </a:p>
          <a:p>
            <a:r>
              <a:t>→ 生成一级和二级目录</a:t>
            </a:r>
          </a:p>
          <a:p>
            <a:r>
              <a:t>→ 分章节生成内容</a:t>
            </a:r>
          </a:p>
          <a:p>
            <a:r>
              <a:t>→ 检查遗漏 引用和事实</a:t>
            </a:r>
          </a:p>
          <a:p>
            <a:r>
              <a:t>→ 人工校对</a:t>
            </a:r>
          </a:p>
          <a:p>
            <a:r>
              <a:t>~~~</a:t>
            </a:r>
          </a:p>
          <a:p/>
          <a:p>
            <a:r>
              <a:t>这个项目主要让学员练习：</a:t>
            </a:r>
          </a:p>
          <a:p/>
          <a:p>
            <a:r>
              <a:t>- 怎样处理超长、结构复杂的专业文档；</a:t>
            </a:r>
          </a:p>
          <a:p>
            <a:r>
              <a:t>- 为什么必须先抽取要求，再开始生成；</a:t>
            </a:r>
          </a:p>
          <a:p>
            <a:r>
              <a:t>- 怎样保留原文证据；</a:t>
            </a:r>
          </a:p>
          <a:p>
            <a:r>
              <a:t>- 怎样通过RAG使用企业知识；</a:t>
            </a:r>
          </a:p>
          <a:p>
            <a:r>
              <a:t>- 为什么严谨长文档采用树状拆解，而不是一次生成；</a:t>
            </a:r>
          </a:p>
          <a:p>
            <a:r>
              <a:t>- 怎样处理证据不足和需要人工补充的信息；</a:t>
            </a:r>
          </a:p>
          <a:p>
            <a:r>
              <a:t>- 怎样评测遗漏、引用错误、虚构和前后冲突。</a:t>
            </a:r>
          </a:p>
          <a:p/>
          <a:p>
            <a:r>
              <a:t>它代表的是：</a:t>
            </a:r>
          </a:p>
          <a:p/>
          <a:p>
            <a:r>
              <a:t>&gt; AI如何从理解复杂要求，走到有依据的专业内容交付。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专业方案生成项目的练习重点</a:t>
            </a:r>
          </a:p>
          <a:p/>
          <a:p>
            <a:r>
              <a:t>公共案例使用“RFP需求拆解与智能标书生成平台”。它的公开原型是Nimra AI，课程扩展来自知乎智能标书项目和亚慧金融智能文档写作平台。</a:t>
            </a:r>
          </a:p>
          <a:p/>
          <a:p>
            <a:r>
              <a:t>一份RFP或招标文件可能有几十页甚至几百页，其中包含：</a:t>
            </a:r>
          </a:p>
          <a:p/>
          <a:p>
            <a:r>
              <a:t>- 截止时间；</a:t>
            </a:r>
          </a:p>
          <a:p>
            <a:r>
              <a:t>- 投标资格；</a:t>
            </a:r>
          </a:p>
          <a:p>
            <a:r>
              <a:t>- 强制要求；</a:t>
            </a:r>
          </a:p>
          <a:p>
            <a:r>
              <a:t>- 技术参数；</a:t>
            </a:r>
          </a:p>
          <a:p>
            <a:r>
              <a:t>- 商务条款；</a:t>
            </a:r>
          </a:p>
          <a:p>
            <a:r>
              <a:t>- 评分标准；</a:t>
            </a:r>
          </a:p>
          <a:p>
            <a:r>
              <a:t>- 否决项；</a:t>
            </a:r>
          </a:p>
          <a:p>
            <a:r>
              <a:t>- 必须提交的证明材料。</a:t>
            </a:r>
          </a:p>
          <a:p/>
          <a:p>
            <a:r>
              <a:t>项目首先需要把这些要求完整提取出来，再根据企业资质、产品资料、历史案例和评分标准生成标书结构与内容。</a:t>
            </a:r>
          </a:p>
          <a:p/>
          <a:p>
            <a:r>
              <a:t>~~~text</a:t>
            </a:r>
          </a:p>
          <a:p>
            <a:r>
              <a:t>发现或上传RFP</a:t>
            </a:r>
          </a:p>
          <a:p>
            <a:r>
              <a:t>→ 提取资格和强制要求</a:t>
            </a:r>
          </a:p>
          <a:p>
            <a:r>
              <a:t>→ 生成带原文位置的需求清单</a:t>
            </a:r>
          </a:p>
          <a:p>
            <a:r>
              <a:t>→ 检索企业资质与产品资料</a:t>
            </a:r>
          </a:p>
          <a:p>
            <a:r>
              <a:t>→ 生成一级和二级目录</a:t>
            </a:r>
          </a:p>
          <a:p>
            <a:r>
              <a:t>→ 分章节生成内容</a:t>
            </a:r>
          </a:p>
          <a:p>
            <a:r>
              <a:t>→ 检查遗漏 引用和事实</a:t>
            </a:r>
          </a:p>
          <a:p>
            <a:r>
              <a:t>→ 人工校对</a:t>
            </a:r>
          </a:p>
          <a:p>
            <a:r>
              <a:t>~~~</a:t>
            </a:r>
          </a:p>
          <a:p/>
          <a:p>
            <a:r>
              <a:t>这个项目主要让学员练习：</a:t>
            </a:r>
          </a:p>
          <a:p/>
          <a:p>
            <a:r>
              <a:t>- 怎样处理超长、结构复杂的专业文档；</a:t>
            </a:r>
          </a:p>
          <a:p>
            <a:r>
              <a:t>- 为什么必须先抽取要求，再开始生成；</a:t>
            </a:r>
          </a:p>
          <a:p>
            <a:r>
              <a:t>- 怎样保留原文证据；</a:t>
            </a:r>
          </a:p>
          <a:p>
            <a:r>
              <a:t>- 怎样通过RAG使用企业知识；</a:t>
            </a:r>
          </a:p>
          <a:p>
            <a:r>
              <a:t>- 为什么严谨长文档采用树状拆解，而不是一次生成；</a:t>
            </a:r>
          </a:p>
          <a:p>
            <a:r>
              <a:t>- 怎样处理证据不足和需要人工补充的信息；</a:t>
            </a:r>
          </a:p>
          <a:p>
            <a:r>
              <a:t>- 怎样评测遗漏、引用错误、虚构和前后冲突。</a:t>
            </a:r>
          </a:p>
          <a:p/>
          <a:p>
            <a:r>
              <a:t>它代表的是：</a:t>
            </a:r>
          </a:p>
          <a:p/>
          <a:p>
            <a:r>
              <a:t>&gt; AI如何从理解复杂要求，走到有依据的专业内容交付。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三个必修项目和两个选修方向</a:t>
            </a:r>
          </a:p>
          <a:p/>
          <a:p>
            <a:r>
              <a:t>| 项目 | 主要业务价值 | 主要输入 | 关键判断 |</a:t>
            </a:r>
          </a:p>
          <a:p>
            <a:r>
              <a:t>|---|---|---|---|</a:t>
            </a:r>
          </a:p>
          <a:p>
            <a:r>
              <a:t>| 智能客服与业务办理 | 服务效率与用户体验 | 用户对话、企业知识和业务数据 | 如何把开放表达转化成可控服务流程 |</a:t>
            </a:r>
          </a:p>
          <a:p>
            <a:r>
              <a:t>| 业务材料审核与风险核验 | 降本与风险控制 | 业务数据、单据和审核规则 | 如何让模型、规则和人工可靠协作 |</a:t>
            </a:r>
          </a:p>
          <a:p>
            <a:r>
              <a:t>| 专业知识研究与方案生成 | 知识生产与专业交付 | 复杂要求、企业知识和专业资料 | 如何控制复杂任务的理解、生成和校验 |</a:t>
            </a:r>
          </a:p>
          <a:p/>
          <a:p>
            <a:r>
              <a:t>第一个项目最接近用户，重点是理解、对话、工具调用和人工接管。</a:t>
            </a:r>
          </a:p>
          <a:p/>
          <a:p>
            <a:r>
              <a:t>第二个项目对准确率和可追溯要求最高，规则和人工角色最重要。</a:t>
            </a:r>
          </a:p>
          <a:p/>
          <a:p>
            <a:r>
              <a:t>第三个项目处理的信息量最大，最容易发生遗漏、引用错误和长内容失控。</a:t>
            </a:r>
          </a:p>
          <a:p/>
          <a:p>
            <a:r>
              <a:t>三个项目形成一条递进关系：</a:t>
            </a:r>
          </a:p>
          <a:p/>
          <a:p>
            <a:r>
              <a:t>~~~text</a:t>
            </a:r>
          </a:p>
          <a:p>
            <a:r>
              <a:t>让AI正确理解并完成一次服务</a:t>
            </a:r>
          </a:p>
          <a:p>
            <a:r>
              <a:t>→ 让AI可靠进入高风险企业流程</a:t>
            </a:r>
          </a:p>
          <a:p>
            <a:r>
              <a:t>→ 让AI完成复杂知识任务和专业交付</a:t>
            </a:r>
          </a:p>
          <a:p>
            <a:r>
              <a:t>~~~</a:t>
            </a:r>
          </a:p>
          <a:p/>
          <a:p>
            <a:r>
              <a:t>学完三个项目以后，学员看到的不是三个工具，而是三种不同的AI产品责任结构。</a:t>
            </a:r>
          </a:p>
          <a:p/>
          <a:p>
            <a:r>
              <a:t>三个必修项目之外，课程提供两个选修自学包：</a:t>
            </a:r>
          </a:p>
          <a:p/>
          <a:p>
            <a:r>
              <a:t>| 选修项目 | 补充能力 | 适合人群 |</a:t>
            </a:r>
          </a:p>
          <a:p>
            <a:r>
              <a:t>|---|---|---|</a:t>
            </a:r>
          </a:p>
          <a:p>
            <a:r>
              <a:t>| AI图像判断与结构化报告生成 | 多模态输入、图像理解、报告生成和快速验证 | 美业、设计、质检、巡检、教育等背景学员 |</a:t>
            </a:r>
          </a:p>
          <a:p>
            <a:r>
              <a:t>| 企业客户研究与销售方案助手 | 外部研究、产品匹配、专业推荐和增长决策 | 销售、咨询、保险、教育、客户成功等背景学员 |</a:t>
            </a:r>
          </a:p>
          <a:p/>
          <a:p>
            <a:r>
              <a:t>选修项目用于扩展和个性化，必要时可以替换一个个人项目，但不在三个必修项目之外增加统一作业。</a:t>
            </a:r>
          </a:p>
          <a:p/>
          <a:p>
            <a:r>
              <a:t>---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项目迁移和改名的区别</a:t>
            </a:r>
          </a:p>
          <a:p/>
          <a:p>
            <a:r>
              <a:t>假设老师讲了电商智能客服与业务办理助手。</a:t>
            </a:r>
          </a:p>
          <a:p/>
          <a:p>
            <a:r>
              <a:t>学员把标题改成“SaaS产品智能客服”，把“商品”改成“软件功能”，但意图、知识库、页面、业务流程和测试数据全部照搬。</a:t>
            </a:r>
          </a:p>
          <a:p/>
          <a:p>
            <a:r>
              <a:t>这不叫迁移，只叫替换名词。</a:t>
            </a:r>
          </a:p>
          <a:p/>
          <a:p>
            <a:r>
              <a:t>真正的迁移需要重新回答：</a:t>
            </a:r>
          </a:p>
          <a:p/>
          <a:p>
            <a:r>
              <a:t>- SaaS产品的客户在什么情况下发起咨询；</a:t>
            </a:r>
          </a:p>
          <a:p>
            <a:r>
              <a:t>- 咨询者、企业管理员和客服人员分别是什么角色；</a:t>
            </a:r>
          </a:p>
          <a:p>
            <a:r>
              <a:t>- 哪些问题查询产品知识，哪些问题查询账户或工单状态；</a:t>
            </a:r>
          </a:p>
          <a:p>
            <a:r>
              <a:t>- 产品知识和业务数据分别从哪里来；</a:t>
            </a:r>
          </a:p>
          <a:p>
            <a:r>
              <a:t>- 哪些操作涉及权限，哪些情况必须转人工；</a:t>
            </a:r>
          </a:p>
          <a:p>
            <a:r>
              <a:t>- 回答错误或错误办理会造成什么后果；</a:t>
            </a:r>
          </a:p>
          <a:p>
            <a:r>
              <a:t>- 怎样获得真实问句和历史工单进行测试。</a:t>
            </a:r>
          </a:p>
          <a:p/>
          <a:p>
            <a:r>
              <a:t>方法可以复用，但业务证据必须重新建立。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三类公共项目的个人化方向</a:t>
            </a:r>
          </a:p>
          <a:p/>
          <a:p>
            <a:r>
              <a:t>公共项目一的问题结构是：</a:t>
            </a:r>
          </a:p>
          <a:p/>
          <a:p>
            <a:r>
              <a:t>~~~text</a:t>
            </a:r>
          </a:p>
          <a:p>
            <a:r>
              <a:t>用户发起问题</a:t>
            </a:r>
          </a:p>
          <a:p>
            <a:r>
              <a:t>→ 识别意图和必要信息</a:t>
            </a:r>
          </a:p>
          <a:p>
            <a:r>
              <a:t>→ 选择知识问答 业务查询或办理路径</a:t>
            </a:r>
          </a:p>
          <a:p>
            <a:r>
              <a:t>→ 调用知识 系统和规则</a:t>
            </a:r>
          </a:p>
          <a:p>
            <a:r>
              <a:t>→ 返回答案或完成操作</a:t>
            </a:r>
          </a:p>
          <a:p>
            <a:r>
              <a:t>→ 不确定和高风险情况转人工</a:t>
            </a:r>
          </a:p>
          <a:p>
            <a:r>
              <a:t>→ 收集反馈并迭代</a:t>
            </a:r>
          </a:p>
          <a:p>
            <a:r>
              <a:t>~~~</a:t>
            </a:r>
          </a:p>
          <a:p/>
          <a:p>
            <a:r>
              <a:t>可以迁移到：</a:t>
            </a:r>
          </a:p>
          <a:p/>
          <a:p>
            <a:r>
              <a:t>- 电商售后服务助手；</a:t>
            </a:r>
          </a:p>
          <a:p>
            <a:r>
              <a:t>- SaaS产品帮助台；</a:t>
            </a:r>
          </a:p>
          <a:p>
            <a:r>
              <a:t>- 企业员工制度与业务办理助手；</a:t>
            </a:r>
          </a:p>
          <a:p>
            <a:r>
              <a:t>- 物业报修和工单分流助手；</a:t>
            </a:r>
          </a:p>
          <a:p>
            <a:r>
              <a:t>- 教育课程咨询助手；</a:t>
            </a:r>
          </a:p>
          <a:p>
            <a:r>
              <a:t>- 保险业务咨询助手；</a:t>
            </a:r>
          </a:p>
          <a:p>
            <a:r>
              <a:t>- 银行业务咨询与材料准备助手。</a:t>
            </a:r>
          </a:p>
          <a:p/>
          <a:p>
            <a:r>
              <a:t>### SaaS产品帮助台示例</a:t>
            </a:r>
          </a:p>
          <a:p/>
          <a:p>
            <a:r>
              <a:t>原来的人工过程可能是：</a:t>
            </a:r>
          </a:p>
          <a:p/>
          <a:p>
            <a:r>
              <a:t>1. 企业用户说明自己遇到的产品问题；</a:t>
            </a:r>
          </a:p>
          <a:p>
            <a:r>
              <a:t>2. 客服确认用户版本、账号和操作环境；</a:t>
            </a:r>
          </a:p>
          <a:p>
            <a:r>
              <a:t>3. 查询帮助文档和历史解决方案；</a:t>
            </a:r>
          </a:p>
          <a:p>
            <a:r>
              <a:t>4. 必要时查询账户、权限或工单状态；</a:t>
            </a:r>
          </a:p>
          <a:p>
            <a:r>
              <a:t>5. 给出操作步骤，无法解决时转交技术支持。</a:t>
            </a:r>
          </a:p>
          <a:p/>
          <a:p>
            <a:r>
              <a:t>AI项目可以重新定义为：</a:t>
            </a:r>
          </a:p>
          <a:p/>
          <a:p>
            <a:r>
              <a:t>&gt; 面向企业软件客户的产品使用与业务办理助手。系统识别用户问题和必要账号信息，优先从产品知识库生成带来源的操作说明；需要实时数据时查询账户或工单系统；涉及权限变更、数据异常和高风险操作时转人工，并将已收集的上下文一并交给客服。</a:t>
            </a:r>
          </a:p>
          <a:p/>
          <a:p>
            <a:r>
              <a:t>这个项目复用了客服产品的基本结构，但用户角色、知识来源、系统接口、权限规则、风险和评测样本都需要重新设计。</a:t>
            </a:r>
          </a:p>
          <a:p/>
          <a:p>
            <a:r>
              <a:t>公共项目二的问题结构是：</a:t>
            </a:r>
          </a:p>
          <a:p/>
          <a:p>
            <a:r>
              <a:t>~~~text</a:t>
            </a:r>
          </a:p>
          <a:p>
            <a:r>
              <a:t>文档或数据输入</a:t>
            </a:r>
          </a:p>
          <a:p>
            <a:r>
              <a:t>→ 分类和字段提取</a:t>
            </a:r>
          </a:p>
          <a:p>
            <a:r>
              <a:t>→ 关联与规则核验</a:t>
            </a:r>
          </a:p>
          <a:p>
            <a:r>
              <a:t>→ 风险标记</a:t>
            </a:r>
          </a:p>
          <a:p>
            <a:r>
              <a:t>→ 原始证据</a:t>
            </a:r>
          </a:p>
          <a:p>
            <a:r>
              <a:t>→ 人工复核</a:t>
            </a:r>
          </a:p>
          <a:p>
            <a:r>
              <a:t>~~~</a:t>
            </a:r>
          </a:p>
          <a:p/>
          <a:p>
            <a:r>
              <a:t>可以迁移到：</a:t>
            </a:r>
          </a:p>
          <a:p/>
          <a:p>
            <a:r>
              <a:t>- 员工报销材料核验；</a:t>
            </a:r>
          </a:p>
          <a:p>
            <a:r>
              <a:t>- 保险理赔材料审核；</a:t>
            </a:r>
          </a:p>
          <a:p>
            <a:r>
              <a:t>- 医疗票据核验；</a:t>
            </a:r>
          </a:p>
          <a:p>
            <a:r>
              <a:t>- 合同履约检查；</a:t>
            </a:r>
          </a:p>
          <a:p>
            <a:r>
              <a:t>- 供应商资质审核；</a:t>
            </a:r>
          </a:p>
          <a:p>
            <a:r>
              <a:t>- 贷款申请材料审核；</a:t>
            </a:r>
          </a:p>
          <a:p>
            <a:r>
              <a:t>- 招投标资质材料审核。</a:t>
            </a:r>
          </a:p>
          <a:p/>
          <a:p>
            <a:r>
              <a:t>### 保险理赔材料示例</a:t>
            </a:r>
          </a:p>
          <a:p/>
          <a:p>
            <a:r>
              <a:t>理赔材料可能包含理赔申请、医疗发票、诊断证明、住院记录和保单信息。</a:t>
            </a:r>
          </a:p>
          <a:p/>
          <a:p>
            <a:r>
              <a:t>迁移时必须重新定义：</a:t>
            </a:r>
          </a:p>
          <a:p/>
          <a:p>
            <a:r>
              <a:t>- 每种文档需要提取什么字段；</a:t>
            </a:r>
          </a:p>
          <a:p>
            <a:r>
              <a:t>- 哪些材料必须存在；</a:t>
            </a:r>
          </a:p>
          <a:p>
            <a:r>
              <a:t>- 哪些字段需要跨文档核对；</a:t>
            </a:r>
          </a:p>
          <a:p>
            <a:r>
              <a:t>- 哪些核验是规则；</a:t>
            </a:r>
          </a:p>
          <a:p>
            <a:r>
              <a:t>- 哪些内容需要语义理解；</a:t>
            </a:r>
          </a:p>
          <a:p>
            <a:r>
              <a:t>- 哪些结果只能提示风险，不能自动拒赔；</a:t>
            </a:r>
          </a:p>
          <a:p>
            <a:r>
              <a:t>- 审核人员如何查看证据并确认。</a:t>
            </a:r>
          </a:p>
          <a:p/>
          <a:p>
            <a:r>
              <a:t>这时它才是保险理赔项目，而不是发票核验项目的改名版本。</a:t>
            </a:r>
          </a:p>
          <a:p/>
          <a:p>
            <a:r>
              <a:t>公共项目三的问题结构是：</a:t>
            </a:r>
          </a:p>
          <a:p/>
          <a:p>
            <a:r>
              <a:t>~~~text</a:t>
            </a:r>
          </a:p>
          <a:p>
            <a:r>
              <a:t>理解长文档和要求</a:t>
            </a:r>
          </a:p>
          <a:p>
            <a:r>
              <a:t>→ 提取约束</a:t>
            </a:r>
          </a:p>
          <a:p>
            <a:r>
              <a:t>→ 检索专业知识</a:t>
            </a:r>
          </a:p>
          <a:p>
            <a:r>
              <a:t>→ 生成内容结构</a:t>
            </a:r>
          </a:p>
          <a:p>
            <a:r>
              <a:t>→ 分段写作</a:t>
            </a:r>
          </a:p>
          <a:p>
            <a:r>
              <a:t>→ 引用和证据核查</a:t>
            </a:r>
          </a:p>
          <a:p>
            <a:r>
              <a:t>→ 人工校对</a:t>
            </a:r>
          </a:p>
          <a:p>
            <a:r>
              <a:t>~~~</a:t>
            </a:r>
          </a:p>
          <a:p/>
          <a:p>
            <a:r>
              <a:t>可以迁移到：</a:t>
            </a:r>
          </a:p>
          <a:p/>
          <a:p>
            <a:r>
              <a:t>- 政府项目申报；</a:t>
            </a:r>
          </a:p>
          <a:p>
            <a:r>
              <a:t>- 企业客户研究与销售方案；</a:t>
            </a:r>
          </a:p>
          <a:p>
            <a:r>
              <a:t>- 咨询方案生成；</a:t>
            </a:r>
          </a:p>
          <a:p>
            <a:r>
              <a:t>- 企业尽调报告；</a:t>
            </a:r>
          </a:p>
          <a:p>
            <a:r>
              <a:t>- 行业研究报告；</a:t>
            </a:r>
          </a:p>
          <a:p>
            <a:r>
              <a:t>- 法律文书；</a:t>
            </a:r>
          </a:p>
          <a:p>
            <a:r>
              <a:t>- 安全问卷响应；</a:t>
            </a:r>
          </a:p>
          <a:p>
            <a:r>
              <a:t>- 企业解决方案生成。</a:t>
            </a:r>
          </a:p>
          <a:p/>
          <a:p>
            <a:r>
              <a:t>### 政府项目申报示例</a:t>
            </a:r>
          </a:p>
          <a:p/>
          <a:p>
            <a:r>
              <a:t>政策文件中包含申报主体、截止时间、资格、材料、评分和格式要求。企业内部则有资质、经营数据、项目方案和历史材料。</a:t>
            </a:r>
          </a:p>
          <a:p/>
          <a:p>
            <a:r>
              <a:t>一个合理的项目可以定义为：</a:t>
            </a:r>
          </a:p>
          <a:p/>
          <a:p>
            <a:r>
              <a:t>&gt; 面向企业项目申报人员的政策要求解析与申报材料辅助生成平台。系统提取申报资格、必交材料和评分项，关联企业资质和项目资料，形成要求清单与材料缺口，再按申报书结构生成草稿，由申报人员补充和校对。</a:t>
            </a:r>
          </a:p>
          <a:p/>
          <a:p>
            <a:r>
              <a:t>它保留了长文档理解、知识检索和结构化生成，但重新建立了申报业务的输入、流程和责任。</a:t>
            </a:r>
          </a:p>
          <a:p/>
          <a:p>
            <a:r>
              <a:t>销售方案助手也可以沿着这一问题结构迁移。区别在于，它的原始要求来自客户背景、沟通记录和企业目标，专业知识来自产品资料、案例和适用规则，最终输出是客户简报、推荐依据和沟通方案，而不是投标文件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个人项目的三个入口</a:t>
            </a:r>
          </a:p>
          <a:p/>
          <a:p>
            <a:r>
              <a:t>个人项目可以从三个入口开始。</a:t>
            </a:r>
          </a:p>
          <a:p/>
          <a:p>
            <a:r>
              <a:t>### 1. 从过去工作开始</a:t>
            </a:r>
          </a:p>
          <a:p/>
          <a:p>
            <a:r>
              <a:t>回想自己经常需要重复完成、耗时较长或容易出错的一项工作。</a:t>
            </a:r>
          </a:p>
          <a:p/>
          <a:p>
            <a:r>
              <a:t>优势是业务熟悉，容易找到用户和材料。</a:t>
            </a:r>
          </a:p>
          <a:p/>
          <a:p>
            <a:r>
              <a:t>### 2. 从可以获得的材料开始</a:t>
            </a:r>
          </a:p>
          <a:p/>
          <a:p>
            <a:r>
              <a:t>例如能够获得：</a:t>
            </a:r>
          </a:p>
          <a:p/>
          <a:p>
            <a:r>
              <a:t>- 一批脱敏客服记录；</a:t>
            </a:r>
          </a:p>
          <a:p>
            <a:r>
              <a:t>- 一套课程资料；</a:t>
            </a:r>
          </a:p>
          <a:p>
            <a:r>
              <a:t>- 几类业务单据；</a:t>
            </a:r>
          </a:p>
          <a:p>
            <a:r>
              <a:t>- 一份公开政策和申报模板；</a:t>
            </a:r>
          </a:p>
          <a:p>
            <a:r>
              <a:t>- 产品手册和历史方案；</a:t>
            </a:r>
          </a:p>
          <a:p>
            <a:r>
              <a:t>- 一组真实用户反馈。</a:t>
            </a:r>
          </a:p>
          <a:p/>
          <a:p>
            <a:r>
              <a:t>材料决定了项目能否被真正测试。</a:t>
            </a:r>
          </a:p>
          <a:p/>
          <a:p>
            <a:r>
              <a:t>### 3. 从目标岗位开始</a:t>
            </a:r>
          </a:p>
          <a:p/>
          <a:p>
            <a:r>
              <a:t>查看目标JD需要证明什么：</a:t>
            </a:r>
          </a:p>
          <a:p/>
          <a:p>
            <a:r>
              <a:t>- 企业知识库；</a:t>
            </a:r>
          </a:p>
          <a:p>
            <a:r>
              <a:t>- 智能客服；</a:t>
            </a:r>
          </a:p>
          <a:p>
            <a:r>
              <a:t>- 销售辅助；</a:t>
            </a:r>
          </a:p>
          <a:p>
            <a:r>
              <a:t>- 文档审核；</a:t>
            </a:r>
          </a:p>
          <a:p>
            <a:r>
              <a:t>- 内容生成；</a:t>
            </a:r>
          </a:p>
          <a:p>
            <a:r>
              <a:t>- Agent工具调用；</a:t>
            </a:r>
          </a:p>
          <a:p>
            <a:r>
              <a:t>- 模型评测。</a:t>
            </a:r>
          </a:p>
          <a:p/>
          <a:p>
            <a:r>
              <a:t>再选择一个与自身经验有交集的项目。</a:t>
            </a:r>
          </a:p>
          <a:p/>
          <a:p>
            <a:r>
              <a:t>最好的选题通常是三者的交集：</a:t>
            </a:r>
          </a:p>
          <a:p/>
          <a:p>
            <a:r>
              <a:t>&gt; 我理解这个业务，我能获得材料，它也能证明目标岗位需要的能力。</a:t>
            </a:r>
          </a:p>
          <a:p/>
          <a:p>
            <a:r>
              <a:t>---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选题的六项标准</a:t>
            </a:r>
          </a:p>
          <a:p/>
          <a:p>
            <a:r>
              <a:t>&gt; 建议时长：15—20分钟</a:t>
            </a:r>
          </a:p>
          <a:p/>
          <a:p>
            <a:r>
              <a:t>## 一、标准一：业务是否熟悉</a:t>
            </a:r>
          </a:p>
          <a:p/>
          <a:p>
            <a:r>
              <a:t>首先问：</a:t>
            </a:r>
          </a:p>
          <a:p/>
          <a:p>
            <a:r>
              <a:t>&gt; 我能不能说清楚用户在没有这个产品之前，是怎样完成工作的？</a:t>
            </a:r>
          </a:p>
          <a:p/>
          <a:p>
            <a:r>
              <a:t>如果只知道行业名称，却不知道工作步骤、业务角色、输入资料和最终结果，就很难设计可靠项目。</a:t>
            </a:r>
          </a:p>
          <a:p/>
          <a:p>
            <a:r>
              <a:t>业务熟悉不一定意味着必须在这个行业工作过。也可以通过：</a:t>
            </a:r>
          </a:p>
          <a:p/>
          <a:p>
            <a:r>
              <a:t>- 访谈从业者；</a:t>
            </a:r>
          </a:p>
          <a:p>
            <a:r>
              <a:t>- 研究公开流程；</a:t>
            </a:r>
          </a:p>
          <a:p>
            <a:r>
              <a:t>- 阅读业务文档；</a:t>
            </a:r>
          </a:p>
          <a:p>
            <a:r>
              <a:t>- 观察真实产品；</a:t>
            </a:r>
          </a:p>
          <a:p>
            <a:r>
              <a:t>- 体验现有服务。</a:t>
            </a:r>
          </a:p>
          <a:p/>
          <a:p>
            <a:r>
              <a:t>但至少需要达到能够还原基本流程的程度。</a:t>
            </a:r>
          </a:p>
          <a:p/>
          <a:p>
            <a:r>
              <a:t>## 二、标准二：用户是否可达</a:t>
            </a:r>
          </a:p>
          <a:p/>
          <a:p>
            <a:r>
              <a:t>有的项目听起来很好，但学员找不到任何真实使用者。</a:t>
            </a:r>
          </a:p>
          <a:p/>
          <a:p>
            <a:r>
              <a:t>无法接触用户意味着：</a:t>
            </a:r>
          </a:p>
          <a:p/>
          <a:p>
            <a:r>
              <a:t>- 不知道痛点是否真实；</a:t>
            </a:r>
          </a:p>
          <a:p>
            <a:r>
              <a:t>- 不知道输出是否有用；</a:t>
            </a:r>
          </a:p>
          <a:p>
            <a:r>
              <a:t>- 不知道人工流程怎样运行；</a:t>
            </a:r>
          </a:p>
          <a:p>
            <a:r>
              <a:t>- 很难获得反馈；</a:t>
            </a:r>
          </a:p>
          <a:p>
            <a:r>
              <a:t>- 容易把自己的想象当成用户需求。</a:t>
            </a:r>
          </a:p>
          <a:p/>
          <a:p>
            <a:r>
              <a:t>用户可达可以分为：</a:t>
            </a:r>
          </a:p>
          <a:p/>
          <a:p>
            <a:r>
              <a:t>- 能持续访谈真实用户；</a:t>
            </a:r>
          </a:p>
          <a:p>
            <a:r>
              <a:t>- 至少能够联系一两个从业者；</a:t>
            </a:r>
          </a:p>
          <a:p>
            <a:r>
              <a:t>- 有可靠的公开访谈和工作资料；</a:t>
            </a:r>
          </a:p>
          <a:p>
            <a:r>
              <a:t>- 只能凭自己想象。</a:t>
            </a:r>
          </a:p>
          <a:p/>
          <a:p>
            <a:r>
              <a:t>优先选择前两类。</a:t>
            </a:r>
          </a:p>
          <a:p/>
          <a:p>
            <a:r>
              <a:t>## 三、标准三：材料是否可得</a:t>
            </a:r>
          </a:p>
          <a:p/>
          <a:p>
            <a:r>
              <a:t>AI产品通常依赖具体材料。</a:t>
            </a:r>
          </a:p>
          <a:p/>
          <a:p>
            <a:r>
              <a:t>智能客服需要真实问句、知识资料和业务接口字段；材料核验需要单据、字段和审核规则；专业方案生成需要原始要求、知识材料和目标文档。</a:t>
            </a:r>
          </a:p>
          <a:p/>
          <a:p>
            <a:r>
              <a:t>如果无法获得任何可用材料，项目就无法真正评测。</a:t>
            </a:r>
          </a:p>
          <a:p/>
          <a:p>
            <a:r>
              <a:t>这里不要求使用公司敏感数据，可以使用：</a:t>
            </a:r>
          </a:p>
          <a:p/>
          <a:p>
            <a:r>
              <a:t>- 公开文档；</a:t>
            </a:r>
          </a:p>
          <a:p>
            <a:r>
              <a:t>- 合理脱敏材料；</a:t>
            </a:r>
          </a:p>
          <a:p>
            <a:r>
              <a:t>- 自己重新制作的仿真样本；</a:t>
            </a:r>
          </a:p>
          <a:p>
            <a:r>
              <a:t>- 获得授权的业务资料；</a:t>
            </a:r>
          </a:p>
          <a:p>
            <a:r>
              <a:t>- 公开产品说明和政策文件。</a:t>
            </a:r>
          </a:p>
          <a:p/>
          <a:p>
            <a:r>
              <a:t>但必须说明材料的来源和限制。</a:t>
            </a:r>
          </a:p>
          <a:p/>
          <a:p>
            <a:r>
              <a:t>## 四、标准四：AI是否必要</a:t>
            </a:r>
          </a:p>
          <a:p/>
          <a:p>
            <a:r>
              <a:t>不是所有项目都需要大模型。</a:t>
            </a:r>
          </a:p>
          <a:p/>
          <a:p>
            <a:r>
              <a:t>如果任务只是：</a:t>
            </a:r>
          </a:p>
          <a:p/>
          <a:p>
            <a:r>
              <a:t>- 固定字段计算；</a:t>
            </a:r>
          </a:p>
          <a:p>
            <a:r>
              <a:t>- 精确条件筛选；</a:t>
            </a:r>
          </a:p>
          <a:p>
            <a:r>
              <a:t>- 数据库查询；</a:t>
            </a:r>
          </a:p>
          <a:p>
            <a:r>
              <a:t>- 已经明确的流程审批；</a:t>
            </a:r>
          </a:p>
          <a:p>
            <a:r>
              <a:t>- 普通表单录入；</a:t>
            </a:r>
          </a:p>
          <a:p/>
          <a:p>
            <a:r>
              <a:t>那么规则、搜索或传统软件可能更合适。</a:t>
            </a:r>
          </a:p>
          <a:p/>
          <a:p>
            <a:r>
              <a:t>大模型更适合的环节包括：</a:t>
            </a:r>
          </a:p>
          <a:p/>
          <a:p>
            <a:r>
              <a:t>- 理解非结构化文本、图片或对话；</a:t>
            </a:r>
          </a:p>
          <a:p>
            <a:r>
              <a:t>- 从复杂内容中提取信息；</a:t>
            </a:r>
          </a:p>
          <a:p>
            <a:r>
              <a:t>- 识别模糊意图；</a:t>
            </a:r>
          </a:p>
          <a:p>
            <a:r>
              <a:t>- 使用专业知识解释问题；</a:t>
            </a:r>
          </a:p>
          <a:p>
            <a:r>
              <a:t>- 根据多项信息生成内容；</a:t>
            </a:r>
          </a:p>
          <a:p>
            <a:r>
              <a:t>- 对开放问题进行一定程度的推理。</a:t>
            </a:r>
          </a:p>
          <a:p/>
          <a:p>
            <a:r>
              <a:t>即使项目需要大模型，也不代表所有步骤都交给大模型。</a:t>
            </a:r>
          </a:p>
          <a:p/>
          <a:p>
            <a:r>
              <a:t>## 五、标准五：范围是否可控</a:t>
            </a:r>
          </a:p>
          <a:p/>
          <a:p>
            <a:r>
              <a:t>一个项目是否高级，不取决于功能多不多。</a:t>
            </a:r>
          </a:p>
          <a:p/>
          <a:p>
            <a:r>
              <a:t>“AI老板助手”听起来很大，但用户、任务和输出都不清楚。</a:t>
            </a:r>
          </a:p>
          <a:p/>
          <a:p>
            <a:r>
              <a:t>“面向营养师的饮食记录整理与随访摘要助手”范围更小，却可以明确输入、输出、用户、风险和评测。</a:t>
            </a:r>
          </a:p>
          <a:p/>
          <a:p>
            <a:r>
              <a:t>判断范围是否可控，可以问：</a:t>
            </a:r>
          </a:p>
          <a:p/>
          <a:p>
            <a:r>
              <a:t>- 第一版只解决一个什么任务；</a:t>
            </a:r>
          </a:p>
          <a:p>
            <a:r>
              <a:t>- 只服务哪一类用户；</a:t>
            </a:r>
          </a:p>
          <a:p>
            <a:r>
              <a:t>- 只使用哪些材料；</a:t>
            </a:r>
          </a:p>
          <a:p>
            <a:r>
              <a:t>- 只输出什么结果；</a:t>
            </a:r>
          </a:p>
          <a:p>
            <a:r>
              <a:t>- 删除哪些功能以后项目仍然成立；</a:t>
            </a:r>
          </a:p>
          <a:p>
            <a:r>
              <a:t>- 能否在课程周期跑通一次完整流程。</a:t>
            </a:r>
          </a:p>
          <a:p/>
          <a:p>
            <a:r>
              <a:t>## 六、标准六：是否与职业目标相关</a:t>
            </a:r>
          </a:p>
          <a:p/>
          <a:p>
            <a:r>
              <a:t>个人项目还需要承担一个任务：证明目标岗位需要的能力。</a:t>
            </a:r>
          </a:p>
          <a:p/>
          <a:p>
            <a:r>
              <a:t>如果目标是企业AI产品经理，项目最好能够展示：</a:t>
            </a:r>
          </a:p>
          <a:p/>
          <a:p>
            <a:r>
              <a:t>- 复杂业务理解；</a:t>
            </a:r>
          </a:p>
          <a:p>
            <a:r>
              <a:t>- 企业数据和知识使用；</a:t>
            </a:r>
          </a:p>
          <a:p>
            <a:r>
              <a:t>- AI、规则与人工分工；</a:t>
            </a:r>
          </a:p>
          <a:p>
            <a:r>
              <a:t>- 权限和风险；</a:t>
            </a:r>
          </a:p>
          <a:p>
            <a:r>
              <a:t>- 评测和价值判断。</a:t>
            </a:r>
          </a:p>
          <a:p/>
          <a:p>
            <a:r>
              <a:t>如果目标是C端AI产品，可以更多展示：</a:t>
            </a:r>
          </a:p>
          <a:p/>
          <a:p>
            <a:r>
              <a:t>- 用户体验；</a:t>
            </a:r>
          </a:p>
          <a:p>
            <a:r>
              <a:t>- 交互设计；</a:t>
            </a:r>
          </a:p>
          <a:p>
            <a:r>
              <a:t>- 个性化；</a:t>
            </a:r>
          </a:p>
          <a:p>
            <a:r>
              <a:t>- 留存与反馈；</a:t>
            </a:r>
          </a:p>
          <a:p>
            <a:r>
              <a:t>- 模型体验差异。</a:t>
            </a:r>
          </a:p>
          <a:p/>
          <a:p>
            <a:r>
              <a:t>职业相关并不意味着照抄岗位描述，而是选择一个能够自然证明相应能力的项目。</a:t>
            </a:r>
          </a:p>
          <a:p/>
          <a:p>
            <a:r>
              <a:t>## 七、六项评分表</a:t>
            </a:r>
          </a:p>
          <a:p/>
          <a:p>
            <a:r>
              <a:t>| 标准 | 0分 | 1分 | 2分 |</a:t>
            </a:r>
          </a:p>
          <a:p>
            <a:r>
              <a:t>|---|---|---|---|</a:t>
            </a:r>
          </a:p>
          <a:p>
            <a:r>
              <a:t>| 业务熟悉 | 基本不了解 | 有一般认知 | 有经验或可靠资料 |</a:t>
            </a:r>
          </a:p>
          <a:p>
            <a:r>
              <a:t>| 用户可达 | 无法接触 | 可以间接了解 | 可以访谈或持续验证 |</a:t>
            </a:r>
          </a:p>
          <a:p>
            <a:r>
              <a:t>| 材料可得 | 没有材料 | 有少量公开材料 | 有可用或脱敏材料 |</a:t>
            </a:r>
          </a:p>
          <a:p>
            <a:r>
              <a:t>| AI必要 | 规则即可完成 | AI有一定价值 | AI明显改善关键环节 |</a:t>
            </a:r>
          </a:p>
          <a:p>
            <a:r>
              <a:t>| 范围可控 | 范围巨大 | 需要明显收缩 | 可以形成最小闭环 |</a:t>
            </a:r>
          </a:p>
          <a:p>
            <a:r>
              <a:t>| 职业相关 | 关系较弱 | 部分相关 | 与目标岗位高度相关 |</a:t>
            </a:r>
          </a:p>
          <a:p/>
          <a:p>
            <a:r>
              <a:t>建议解释：</a:t>
            </a:r>
          </a:p>
          <a:p/>
          <a:p>
            <a:r>
              <a:t>- 9—12分：具备立项条件；</a:t>
            </a:r>
          </a:p>
          <a:p>
            <a:r>
              <a:t>- 6—8分：需要缩小范围或补充材料；</a:t>
            </a:r>
          </a:p>
          <a:p>
            <a:r>
              <a:t>- 0—5分：暂时不建议正式立项。</a:t>
            </a:r>
          </a:p>
          <a:p/>
          <a:p>
            <a:r>
              <a:t>这不是一个经过统计验证的预测模型，而是一张思考清单。它的价值是让学员看到自己的选题缺少哪一类条件。</a:t>
            </a:r>
          </a:p>
          <a:p/>
          <a:p>
            <a:r>
              <a:t>## 八、三个示例</a:t>
            </a:r>
          </a:p>
          <a:p/>
          <a:p>
            <a:r>
              <a:t>### 1. AI老板助手</a:t>
            </a:r>
          </a:p>
          <a:p/>
          <a:p>
            <a:r>
              <a:t>可能得分：</a:t>
            </a:r>
          </a:p>
          <a:p/>
          <a:p>
            <a:r>
              <a:t>- 业务熟悉：0；</a:t>
            </a:r>
          </a:p>
          <a:p>
            <a:r>
              <a:t>- 用户可达：0或1；</a:t>
            </a:r>
          </a:p>
          <a:p>
            <a:r>
              <a:t>- 材料可得：0；</a:t>
            </a:r>
          </a:p>
          <a:p>
            <a:r>
              <a:t>- AI必要：1；</a:t>
            </a:r>
          </a:p>
          <a:p>
            <a:r>
              <a:t>- 范围可控：0；</a:t>
            </a:r>
          </a:p>
          <a:p>
            <a:r>
              <a:t>- 职业相关：1。</a:t>
            </a:r>
          </a:p>
          <a:p/>
          <a:p>
            <a:r>
              <a:t>总分很低。问题不是它不够高级，而是无法形成明确项目。</a:t>
            </a:r>
          </a:p>
          <a:p/>
          <a:p>
            <a:r>
              <a:t>### 2. 保险顾问家庭保障方案助手</a:t>
            </a:r>
          </a:p>
          <a:p/>
          <a:p>
            <a:r>
              <a:t>如果学员有保险业务经验，也能获得脱敏咨询记录和产品资料，可能得分：</a:t>
            </a:r>
          </a:p>
          <a:p/>
          <a:p>
            <a:r>
              <a:t>- 业务熟悉：2；</a:t>
            </a:r>
          </a:p>
          <a:p>
            <a:r>
              <a:t>- 用户可达：2；</a:t>
            </a:r>
          </a:p>
          <a:p>
            <a:r>
              <a:t>- 材料可得：2；</a:t>
            </a:r>
          </a:p>
          <a:p>
            <a:r>
              <a:t>- AI必要：2；</a:t>
            </a:r>
          </a:p>
          <a:p>
            <a:r>
              <a:t>- 范围可控：1；</a:t>
            </a:r>
          </a:p>
          <a:p>
            <a:r>
              <a:t>- 职业相关：2。</a:t>
            </a:r>
          </a:p>
          <a:p/>
          <a:p>
            <a:r>
              <a:t>总分11分。主要需要继续缩小第一版范围和明确专业责任。</a:t>
            </a:r>
          </a:p>
          <a:p/>
          <a:p>
            <a:r>
              <a:t>### 3. 项目例会待办整理助手</a:t>
            </a:r>
          </a:p>
          <a:p/>
          <a:p>
            <a:r>
              <a:t>假设学员做过软件项目，也能够获得脱敏会议转写，这个最小示范项目可能得分：</a:t>
            </a:r>
          </a:p>
          <a:p/>
          <a:p>
            <a:r>
              <a:t>- 业务熟悉：2；</a:t>
            </a:r>
          </a:p>
          <a:p>
            <a:r>
              <a:t>- 用户可达：2；</a:t>
            </a:r>
          </a:p>
          <a:p>
            <a:r>
              <a:t>- 材料可得：2；</a:t>
            </a:r>
          </a:p>
          <a:p>
            <a:r>
              <a:t>- AI必要：2；</a:t>
            </a:r>
          </a:p>
          <a:p>
            <a:r>
              <a:t>- 范围可控：2；</a:t>
            </a:r>
          </a:p>
          <a:p>
            <a:r>
              <a:t>- 职业相关：1。</a:t>
            </a:r>
          </a:p>
          <a:p/>
          <a:p>
            <a:r>
              <a:t>总分11分，具备立项条件。</a:t>
            </a:r>
          </a:p>
          <a:p/>
          <a:p>
            <a:r>
              <a:t>它的优势是容易形成真实闭环，适合第一次练习完整项目方法；不足是市场上已有很多会议纪要产品，如果作为主项目，需要进一步证明特定项目场景、异常处理和评测深度，而不能只展示文本摘要功能。</a:t>
            </a:r>
          </a:p>
          <a:p/>
          <a:p>
            <a:r>
              <a:t>这个例子说明：简单项目不等于低质量项目，但简单项目也需要明确自己的训练目标和对外表达边界。</a:t>
            </a:r>
          </a:p>
          <a:p/>
          <a:p>
            <a:r>
              <a:t>## 九、四种需要直接暂停的选题</a:t>
            </a:r>
          </a:p>
          <a:p/>
          <a:p>
            <a:r>
              <a:t>### 1. 完全无法获得用户和材料</a:t>
            </a:r>
          </a:p>
          <a:p/>
          <a:p>
            <a:r>
              <a:t>只有行业想象，没有验证入口。</a:t>
            </a:r>
          </a:p>
          <a:p/>
          <a:p>
            <a:r>
              <a:t>### 2. 项目核心依赖不可获得的数据</a:t>
            </a:r>
          </a:p>
          <a:p/>
          <a:p>
            <a:r>
              <a:t>例如需要大量真实医疗数据、银行风控数据或企业内部机密数据，但只能使用几个虚构样本。</a:t>
            </a:r>
          </a:p>
          <a:p/>
          <a:p>
            <a:r>
              <a:t>### 3. 第一版就要覆盖完整企业流程</a:t>
            </a:r>
          </a:p>
          <a:p/>
          <a:p>
            <a:r>
              <a:t>例如一次做完CRM、客服、销售、营销、数据分析和自动运营。</a:t>
            </a:r>
          </a:p>
          <a:p/>
          <a:p>
            <a:r>
              <a:t>### 4. 高风险自动决策没有人工责任</a:t>
            </a:r>
          </a:p>
          <a:p/>
          <a:p>
            <a:r>
              <a:t>例如自动诊断、自动拒赔、自动授信、自动作出审计结论，却没有专业人员确认。</a:t>
            </a:r>
          </a:p>
          <a:p/>
          <a:p>
            <a:r>
              <a:t>暂停不是永远不能做，而是需要换用户、缩范围、补材料或改变产品责任。</a:t>
            </a:r>
          </a:p>
          <a:p/>
          <a:p>
            <a:r>
              <a:t>---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六项评分表</a:t>
            </a:r>
          </a:p>
          <a:p/>
          <a:p>
            <a:r>
              <a:t>| 标准 | 0分 | 1分 | 2分 |</a:t>
            </a:r>
          </a:p>
          <a:p>
            <a:r>
              <a:t>|---|---|---|---|</a:t>
            </a:r>
          </a:p>
          <a:p>
            <a:r>
              <a:t>| 业务熟悉 | 基本不了解 | 有一般认知 | 有经验或可靠资料 |</a:t>
            </a:r>
          </a:p>
          <a:p>
            <a:r>
              <a:t>| 用户可达 | 无法接触 | 可以间接了解 | 可以访谈或持续验证 |</a:t>
            </a:r>
          </a:p>
          <a:p>
            <a:r>
              <a:t>| 材料可得 | 没有材料 | 有少量公开材料 | 有可用或脱敏材料 |</a:t>
            </a:r>
          </a:p>
          <a:p>
            <a:r>
              <a:t>| AI必要 | 规则即可完成 | AI有一定价值 | AI明显改善关键环节 |</a:t>
            </a:r>
          </a:p>
          <a:p>
            <a:r>
              <a:t>| 范围可控 | 范围巨大 | 需要明显收缩 | 可以形成最小闭环 |</a:t>
            </a:r>
          </a:p>
          <a:p>
            <a:r>
              <a:t>| 职业相关 | 关系较弱 | 部分相关 | 与目标岗位高度相关 |</a:t>
            </a:r>
          </a:p>
          <a:p/>
          <a:p>
            <a:r>
              <a:t>建议解释：</a:t>
            </a:r>
          </a:p>
          <a:p/>
          <a:p>
            <a:r>
              <a:t>- 9—12分：具备立项条件；</a:t>
            </a:r>
          </a:p>
          <a:p>
            <a:r>
              <a:t>- 6—8分：需要缩小范围或补充材料；</a:t>
            </a:r>
          </a:p>
          <a:p>
            <a:r>
              <a:t>- 0—5分：暂时不建议正式立项。</a:t>
            </a:r>
          </a:p>
          <a:p/>
          <a:p>
            <a:r>
              <a:t>这不是一个经过统计验证的预测模型，而是一张思考清单。它的价值是让学员看到自己的选题缺少哪一类条件。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三个选题的评分示例</a:t>
            </a:r>
          </a:p>
          <a:p/>
          <a:p>
            <a:r>
              <a:t>### 1. AI老板助手</a:t>
            </a:r>
          </a:p>
          <a:p/>
          <a:p>
            <a:r>
              <a:t>可能得分：</a:t>
            </a:r>
          </a:p>
          <a:p/>
          <a:p>
            <a:r>
              <a:t>- 业务熟悉：0；</a:t>
            </a:r>
          </a:p>
          <a:p>
            <a:r>
              <a:t>- 用户可达：0或1；</a:t>
            </a:r>
          </a:p>
          <a:p>
            <a:r>
              <a:t>- 材料可得：0；</a:t>
            </a:r>
          </a:p>
          <a:p>
            <a:r>
              <a:t>- AI必要：1；</a:t>
            </a:r>
          </a:p>
          <a:p>
            <a:r>
              <a:t>- 范围可控：0；</a:t>
            </a:r>
          </a:p>
          <a:p>
            <a:r>
              <a:t>- 职业相关：1。</a:t>
            </a:r>
          </a:p>
          <a:p/>
          <a:p>
            <a:r>
              <a:t>总分很低。问题不是它不够高级，而是无法形成明确项目。</a:t>
            </a:r>
          </a:p>
          <a:p/>
          <a:p>
            <a:r>
              <a:t>### 2. 保险顾问家庭保障方案助手</a:t>
            </a:r>
          </a:p>
          <a:p/>
          <a:p>
            <a:r>
              <a:t>如果学员有保险业务经验，也能获得脱敏咨询记录和产品资料，可能得分：</a:t>
            </a:r>
          </a:p>
          <a:p/>
          <a:p>
            <a:r>
              <a:t>- 业务熟悉：2；</a:t>
            </a:r>
          </a:p>
          <a:p>
            <a:r>
              <a:t>- 用户可达：2；</a:t>
            </a:r>
          </a:p>
          <a:p>
            <a:r>
              <a:t>- 材料可得：2；</a:t>
            </a:r>
          </a:p>
          <a:p>
            <a:r>
              <a:t>- AI必要：2；</a:t>
            </a:r>
          </a:p>
          <a:p>
            <a:r>
              <a:t>- 范围可控：1；</a:t>
            </a:r>
          </a:p>
          <a:p>
            <a:r>
              <a:t>- 职业相关：2。</a:t>
            </a:r>
          </a:p>
          <a:p/>
          <a:p>
            <a:r>
              <a:t>总分11分。主要需要继续缩小第一版范围和明确专业责任。</a:t>
            </a:r>
          </a:p>
          <a:p/>
          <a:p>
            <a:r>
              <a:t>### 3. 项目例会待办整理助手</a:t>
            </a:r>
          </a:p>
          <a:p/>
          <a:p>
            <a:r>
              <a:t>假设学员做过软件项目，也能够获得脱敏会议转写，这个最小示范项目可能得分：</a:t>
            </a:r>
          </a:p>
          <a:p/>
          <a:p>
            <a:r>
              <a:t>- 业务熟悉：2；</a:t>
            </a:r>
          </a:p>
          <a:p>
            <a:r>
              <a:t>- 用户可达：2；</a:t>
            </a:r>
          </a:p>
          <a:p>
            <a:r>
              <a:t>- 材料可得：2；</a:t>
            </a:r>
          </a:p>
          <a:p>
            <a:r>
              <a:t>- AI必要：2；</a:t>
            </a:r>
          </a:p>
          <a:p>
            <a:r>
              <a:t>- 范围可控：2；</a:t>
            </a:r>
          </a:p>
          <a:p>
            <a:r>
              <a:t>- 职业相关：1。</a:t>
            </a:r>
          </a:p>
          <a:p/>
          <a:p>
            <a:r>
              <a:t>总分11分，具备立项条件。</a:t>
            </a:r>
          </a:p>
          <a:p/>
          <a:p>
            <a:r>
              <a:t>它的优势是容易形成真实闭环，适合第一次练习完整项目方法；不足是市场上已有很多会议纪要产品，如果作为主项目，需要进一步证明特定项目场景、异常处理和评测深度，而不能只展示文本摘要功能。</a:t>
            </a:r>
          </a:p>
          <a:p/>
          <a:p>
            <a:r>
              <a:t>这个例子说明：简单项目不等于低质量项目，但简单项目也需要明确自己的训练目标和对外表达边界。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需要暂停的四类选题</a:t>
            </a:r>
          </a:p>
          <a:p/>
          <a:p>
            <a:r>
              <a:t>### 1. 完全无法获得用户和材料</a:t>
            </a:r>
          </a:p>
          <a:p/>
          <a:p>
            <a:r>
              <a:t>只有行业想象，没有验证入口。</a:t>
            </a:r>
          </a:p>
          <a:p/>
          <a:p>
            <a:r>
              <a:t>### 2. 项目核心依赖不可获得的数据</a:t>
            </a:r>
          </a:p>
          <a:p/>
          <a:p>
            <a:r>
              <a:t>例如需要大量真实医疗数据、银行风控数据或企业内部机密数据，但只能使用几个虚构样本。</a:t>
            </a:r>
          </a:p>
          <a:p/>
          <a:p>
            <a:r>
              <a:t>### 3. 第一版就要覆盖完整企业流程</a:t>
            </a:r>
          </a:p>
          <a:p/>
          <a:p>
            <a:r>
              <a:t>例如一次做完CRM、客服、销售、营销、数据分析和自动运营。</a:t>
            </a:r>
          </a:p>
          <a:p/>
          <a:p>
            <a:r>
              <a:t>### 4. 高风险自动决策没有人工责任</a:t>
            </a:r>
          </a:p>
          <a:p/>
          <a:p>
            <a:r>
              <a:t>例如自动诊断、自动拒赔、自动授信、自动作出审计结论，却没有专业人员确认。</a:t>
            </a:r>
          </a:p>
          <a:p/>
          <a:p>
            <a:r>
              <a:t>暂停不是永远不能做，而是需要换用户、缩范围、补材料或改变产品责任。</a:t>
            </a:r>
          </a:p>
          <a:p/>
          <a:p>
            <a:r>
              <a:t>---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现场诊断的八个问题</a:t>
            </a:r>
          </a:p>
          <a:p/>
          <a:p>
            <a:r>
              <a:t>### 1. 使用者是谁</a:t>
            </a:r>
          </a:p>
          <a:p/>
          <a:p>
            <a:r>
              <a:t>不要只写“企业”“用户”“患者”或“销售团队”，要说明实际使用产品的人。</a:t>
            </a:r>
          </a:p>
          <a:p/>
          <a:p>
            <a:r>
              <a:t>### 2. 产品在什么时刻被使用</a:t>
            </a:r>
          </a:p>
          <a:p/>
          <a:p>
            <a:r>
              <a:t>例如客户会议前、发票月末审核时、收到招标文件后，而不是笼统地说“提高工作效率”。</a:t>
            </a:r>
          </a:p>
          <a:p/>
          <a:p>
            <a:r>
              <a:t>### 3. 用户现在怎样完成任务</a:t>
            </a:r>
          </a:p>
          <a:p/>
          <a:p>
            <a:r>
              <a:t>没有现状流程，就无法判断AI改变了什么。</a:t>
            </a:r>
          </a:p>
          <a:p/>
          <a:p>
            <a:r>
              <a:t>### 4. 最主要的问题是什么</a:t>
            </a:r>
          </a:p>
          <a:p/>
          <a:p>
            <a:r>
              <a:t>项目可以存在很多问题，但第一版必须选择一个主问题。</a:t>
            </a:r>
          </a:p>
          <a:p/>
          <a:p>
            <a:r>
              <a:t>### 5. 为什么需要AI</a:t>
            </a:r>
          </a:p>
          <a:p/>
          <a:p>
            <a:r>
              <a:t>指出具体需要语义理解、知识检索、内容生成或复杂信息提取的步骤。</a:t>
            </a:r>
          </a:p>
          <a:p/>
          <a:p>
            <a:r>
              <a:t>### 6. 材料从哪里来</a:t>
            </a:r>
          </a:p>
          <a:p/>
          <a:p>
            <a:r>
              <a:t>不能只写“用户数据”“企业知识库”，要说明具体文档、字段、样本和来源。</a:t>
            </a:r>
          </a:p>
          <a:p/>
          <a:p>
            <a:r>
              <a:t>### 7. 第一版能否形成闭环</a:t>
            </a:r>
          </a:p>
          <a:p/>
          <a:p>
            <a:r>
              <a:t>必须有清楚的输入、处理、人工确认和可使用输出。</a:t>
            </a:r>
          </a:p>
          <a:p/>
          <a:p>
            <a:r>
              <a:t>### 8. 应该删除什么</a:t>
            </a:r>
          </a:p>
          <a:p/>
          <a:p>
            <a:r>
              <a:t>主动删除功能通常比继续增加功能更能体现产品判断。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课堂选择与项目收缩</a:t>
            </a:r>
          </a:p>
          <a:p/>
          <a:p>
            <a:r>
              <a:t>每个真实选题展示后，让学员选择：</a:t>
            </a:r>
          </a:p>
          <a:p/>
          <a:p>
            <a:r>
              <a:t>- A. 可以直接进入项目；</a:t>
            </a:r>
          </a:p>
          <a:p>
            <a:r>
              <a:t>- B. 需要缩小范围；</a:t>
            </a:r>
          </a:p>
          <a:p>
            <a:r>
              <a:t>- C. 需要更换核心问题；</a:t>
            </a:r>
          </a:p>
          <a:p>
            <a:r>
              <a:t>- D. 不适合使用大模型；</a:t>
            </a:r>
          </a:p>
          <a:p>
            <a:r>
              <a:t>- E. 缺少材料，暂时无法判断。</a:t>
            </a:r>
          </a:p>
          <a:p/>
          <a:p>
            <a:r>
              <a:t>选择之后，可以请一两名学员用一句话说明理由，再由教师解释。</a:t>
            </a:r>
          </a:p>
          <a:p/>
          <a:p>
            <a:r>
              <a:t>这里不要追求所有人选出同一个答案。重要的是让学员开始使用相同的判断条件。</a:t>
            </a:r>
          </a:p>
          <a:p/>
          <a:p>
            <a:r>
              <a:t>### 原始想法</a:t>
            </a:r>
          </a:p>
          <a:p/>
          <a:p>
            <a:r>
              <a:t>&gt; 做一个AI医疗助手，帮助患者管理健康。</a:t>
            </a:r>
          </a:p>
          <a:p/>
          <a:p>
            <a:r>
              <a:t>主要问题：</a:t>
            </a:r>
          </a:p>
          <a:p/>
          <a:p>
            <a:r>
              <a:t>- “患者”范围过大；</a:t>
            </a:r>
          </a:p>
          <a:p>
            <a:r>
              <a:t>- “管理健康”包含大量任务；</a:t>
            </a:r>
          </a:p>
          <a:p>
            <a:r>
              <a:t>- 输入材料不清楚；</a:t>
            </a:r>
          </a:p>
          <a:p>
            <a:r>
              <a:t>- 可能涉及诊断和治疗责任；</a:t>
            </a:r>
          </a:p>
          <a:p>
            <a:r>
              <a:t>- 第一版无法形成明确验收标准。</a:t>
            </a:r>
          </a:p>
          <a:p/>
          <a:p>
            <a:r>
              <a:t>### 第一次收缩</a:t>
            </a:r>
          </a:p>
          <a:p/>
          <a:p>
            <a:r>
              <a:t>&gt; 面向糖尿病患者的健康管理助手。</a:t>
            </a:r>
          </a:p>
          <a:p/>
          <a:p>
            <a:r>
              <a:t>比原来具体，但仍然可能包含：</a:t>
            </a:r>
          </a:p>
          <a:p/>
          <a:p>
            <a:r>
              <a:t>- 饮食；</a:t>
            </a:r>
          </a:p>
          <a:p>
            <a:r>
              <a:t>- 运动；</a:t>
            </a:r>
          </a:p>
          <a:p>
            <a:r>
              <a:t>- 用药；</a:t>
            </a:r>
          </a:p>
          <a:p>
            <a:r>
              <a:t>- 血糖；</a:t>
            </a:r>
          </a:p>
          <a:p>
            <a:r>
              <a:t>- 并发症；</a:t>
            </a:r>
          </a:p>
          <a:p>
            <a:r>
              <a:t>- 医患沟通；</a:t>
            </a:r>
          </a:p>
          <a:p>
            <a:r>
              <a:t>- 健康教育。</a:t>
            </a:r>
          </a:p>
          <a:p/>
          <a:p>
            <a:r>
              <a:t>范围仍然过大。</a:t>
            </a:r>
          </a:p>
          <a:p/>
          <a:p>
            <a:r>
              <a:t>### 第二次收缩</a:t>
            </a:r>
          </a:p>
          <a:p/>
          <a:p>
            <a:r>
              <a:t>&gt; 面向营养师的糖尿病饮食记录整理与随访摘要助手。</a:t>
            </a:r>
          </a:p>
          <a:p/>
          <a:p>
            <a:r>
              <a:t>此时能够进一步明确：</a:t>
            </a:r>
          </a:p>
          <a:p/>
          <a:p>
            <a:r>
              <a:t>- 使用者是营养师；</a:t>
            </a:r>
          </a:p>
          <a:p>
            <a:r>
              <a:t>- 输入是饮食记录和随访对话；</a:t>
            </a:r>
          </a:p>
          <a:p>
            <a:r>
              <a:t>- 输出是结构化记录、异常信息和随访摘要；</a:t>
            </a:r>
          </a:p>
          <a:p>
            <a:r>
              <a:t>- AI不直接给出诊断和治疗建议；</a:t>
            </a:r>
          </a:p>
          <a:p>
            <a:r>
              <a:t>- 营养师确认结果；</a:t>
            </a:r>
          </a:p>
          <a:p>
            <a:r>
              <a:t>- 可以使用脱敏或仿真记录测试。</a:t>
            </a:r>
          </a:p>
          <a:p/>
          <a:p>
            <a:r>
              <a:t>项目变小了，但更像一个真正可以完成的AI产品。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项目一选题卡</a:t>
            </a:r>
          </a:p>
          <a:p/>
          <a:p>
            <a:r>
              <a:t>让每位学员当堂填写：</a:t>
            </a:r>
          </a:p>
          <a:p/>
          <a:p>
            <a:r>
              <a:t>~~~text</a:t>
            </a:r>
          </a:p>
          <a:p>
            <a:r>
              <a:t>项目名称：</a:t>
            </a:r>
          </a:p>
          <a:p/>
          <a:p>
            <a:r>
              <a:t>目标用户：</a:t>
            </a:r>
          </a:p>
          <a:p/>
          <a:p>
            <a:r>
              <a:t>发生场景：</a:t>
            </a:r>
          </a:p>
          <a:p/>
          <a:p>
            <a:r>
              <a:t>用户现在怎样完成这项工作：</a:t>
            </a:r>
          </a:p>
          <a:p/>
          <a:p>
            <a:r>
              <a:t>最主要的问题：</a:t>
            </a:r>
          </a:p>
          <a:p/>
          <a:p>
            <a:r>
              <a:t>我可以获得的材料或数据：</a:t>
            </a:r>
          </a:p>
          <a:p/>
          <a:p>
            <a:r>
              <a:t>AI准备处理的任务：</a:t>
            </a:r>
          </a:p>
          <a:p/>
          <a:p>
            <a:r>
              <a:t>最终输出：</a:t>
            </a:r>
          </a:p>
          <a:p/>
          <a:p>
            <a:r>
              <a:t>必须保留的人工环节：</a:t>
            </a:r>
          </a:p>
          <a:p/>
          <a:p>
            <a:r>
              <a:t>第一版明确不做什么：</a:t>
            </a:r>
          </a:p>
          <a:p/>
          <a:p>
            <a:r>
              <a:t>对应的公共项目类型：</a:t>
            </a:r>
          </a:p>
          <a:p/>
          <a:p>
            <a:r>
              <a:t>六项选题总分：</a:t>
            </a:r>
          </a:p>
          <a:p/>
          <a:p>
            <a:r>
              <a:t>尚未确认的假设：</a:t>
            </a:r>
          </a:p>
          <a:p>
            <a:r>
              <a:t>~~~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选题卡的三种处理结果</a:t>
            </a:r>
          </a:p>
          <a:p/>
          <a:p>
            <a:r>
              <a:t>### 可以通过</a:t>
            </a:r>
          </a:p>
          <a:p/>
          <a:p>
            <a:r>
              <a:t>- 用户和场景具体；</a:t>
            </a:r>
          </a:p>
          <a:p>
            <a:r>
              <a:t>- 能说清当前工作；</a:t>
            </a:r>
          </a:p>
          <a:p>
            <a:r>
              <a:t>- 至少有一类可获得材料；</a:t>
            </a:r>
          </a:p>
          <a:p>
            <a:r>
              <a:t>- AI介入点明确；</a:t>
            </a:r>
          </a:p>
          <a:p>
            <a:r>
              <a:t>- 第一版有可使用输出；</a:t>
            </a:r>
          </a:p>
          <a:p>
            <a:r>
              <a:t>- 明确人工责任；</a:t>
            </a:r>
          </a:p>
          <a:p>
            <a:r>
              <a:t>- 范围能够形成闭环。</a:t>
            </a:r>
          </a:p>
          <a:p/>
          <a:p>
            <a:r>
              <a:t>### 修改后通过</a:t>
            </a:r>
          </a:p>
          <a:p/>
          <a:p>
            <a:r>
              <a:t>- 方向合理但范围过大；</a:t>
            </a:r>
          </a:p>
          <a:p>
            <a:r>
              <a:t>- 有用户但任务不够具体；</a:t>
            </a:r>
          </a:p>
          <a:p>
            <a:r>
              <a:t>- 材料较少但可以补充；</a:t>
            </a:r>
          </a:p>
          <a:p>
            <a:r>
              <a:t>- AI和规则分工需要调整；</a:t>
            </a:r>
          </a:p>
          <a:p>
            <a:r>
              <a:t>- 输出存在但评测方式不清楚。</a:t>
            </a:r>
          </a:p>
          <a:p/>
          <a:p>
            <a:r>
              <a:t>### 暂不通过</a:t>
            </a:r>
          </a:p>
          <a:p/>
          <a:p>
            <a:r>
              <a:t>- 完全无法说明用户和业务；</a:t>
            </a:r>
          </a:p>
          <a:p>
            <a:r>
              <a:t>- 核心材料无法获得；</a:t>
            </a:r>
          </a:p>
          <a:p>
            <a:r>
              <a:t>- 主要任务不需要AI；</a:t>
            </a:r>
          </a:p>
          <a:p>
            <a:r>
              <a:t>- 高风险自动决策没有人工确认；</a:t>
            </a:r>
          </a:p>
          <a:p>
            <a:r>
              <a:t>- 项目依赖无法验证的巨大系统；</a:t>
            </a:r>
          </a:p>
          <a:p>
            <a:r>
              <a:t>- 只是复制公共项目并替换名称。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最近三次课怎样衔接</a:t>
            </a:r>
          </a:p>
          <a:p/>
          <a:p>
            <a:r>
              <a:t>第一课只完成立项，不要求立刻写完整PRD。</a:t>
            </a:r>
          </a:p>
          <a:p/>
          <a:p>
            <a:r>
              <a:t>接下来的节奏是：</a:t>
            </a:r>
          </a:p>
          <a:p/>
          <a:p>
            <a:r>
              <a:t>~~~text</a:t>
            </a:r>
          </a:p>
          <a:p>
            <a:r>
              <a:t>第一课 确定项目一初步选题</a:t>
            </a:r>
          </a:p>
          <a:p>
            <a:r>
              <a:t>→ 第二课 学习企业智能客服与业务办理助手</a:t>
            </a:r>
          </a:p>
          <a:p>
            <a:r>
              <a:t>→ 课后24小时 修订项目一选题卡</a:t>
            </a:r>
          </a:p>
          <a:p>
            <a:r>
              <a:t>→ 课后3天 提交项目一骨架</a:t>
            </a:r>
          </a:p>
          <a:p>
            <a:r>
              <a:t>→ 第三课前 提交项目一V0.1</a:t>
            </a:r>
          </a:p>
          <a:p>
            <a:r>
              <a:t>→ 第三课 点评代表作业并现场修改</a:t>
            </a:r>
          </a:p>
          <a:p>
            <a:r>
              <a:t>→ 课后 提交项目一V1.0和修改记录</a:t>
            </a:r>
          </a:p>
          <a:p>
            <a:r>
              <a:t>~~~</a:t>
            </a:r>
          </a:p>
          <a:p/>
          <a:p>
            <a:r>
              <a:t>这样安排的原因是：</a:t>
            </a:r>
          </a:p>
          <a:p/>
          <a:p>
            <a:r>
              <a:t>- 第一课先确保方向基本成立；</a:t>
            </a:r>
          </a:p>
          <a:p>
            <a:r>
              <a:t>- 第二课通过完整公共项目建立参照；</a:t>
            </a:r>
          </a:p>
          <a:p>
            <a:r>
              <a:t>- 学员再根据公共项目修订自己的项目；</a:t>
            </a:r>
          </a:p>
          <a:p>
            <a:r>
              <a:t>- 不直接复制公共项目；</a:t>
            </a:r>
          </a:p>
          <a:p>
            <a:r>
              <a:t>- 点评课重点解决V0.1中的真实问题。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课后24小时和3天</a:t>
            </a:r>
          </a:p>
          <a:p/>
          <a:p>
            <a:r>
              <a:t>第二课结束后，学员重新检查：</a:t>
            </a:r>
          </a:p>
          <a:p/>
          <a:p>
            <a:r>
              <a:t>- 我的用户是否和公共项目一样具体；</a:t>
            </a:r>
          </a:p>
          <a:p>
            <a:r>
              <a:t>- 我的输入材料是否真实存在；</a:t>
            </a:r>
          </a:p>
          <a:p>
            <a:r>
              <a:t>- 我的知识来源是什么；</a:t>
            </a:r>
          </a:p>
          <a:p>
            <a:r>
              <a:t>- 哪些条件需要规则判断；</a:t>
            </a:r>
          </a:p>
          <a:p>
            <a:r>
              <a:t>- 最终输出是否能够被实际使用；</a:t>
            </a:r>
          </a:p>
          <a:p>
            <a:r>
              <a:t>- 哪些内容需要人工确认；</a:t>
            </a:r>
          </a:p>
          <a:p>
            <a:r>
              <a:t>- 第一版是否仍然过大。</a:t>
            </a:r>
          </a:p>
          <a:p/>
          <a:p>
            <a:r>
              <a:t>修订的重点不是让项目更像公共项目，而是使用公共项目的判断方法发现个人项目的问题。</a:t>
            </a:r>
          </a:p>
          <a:p/>
          <a:p>
            <a:r>
              <a:t>项目骨架包括：</a:t>
            </a:r>
          </a:p>
          <a:p/>
          <a:p>
            <a:r>
              <a:t>1. 项目背景；</a:t>
            </a:r>
          </a:p>
          <a:p>
            <a:r>
              <a:t>2. 目标用户；</a:t>
            </a:r>
          </a:p>
          <a:p>
            <a:r>
              <a:t>3. 当前业务流程；</a:t>
            </a:r>
          </a:p>
          <a:p>
            <a:r>
              <a:t>4. 最主要的问题；</a:t>
            </a:r>
          </a:p>
          <a:p>
            <a:r>
              <a:t>5. 输入材料；</a:t>
            </a:r>
          </a:p>
          <a:p>
            <a:r>
              <a:t>6. 预期输出；</a:t>
            </a:r>
          </a:p>
          <a:p>
            <a:r>
              <a:t>7. AI、规则、系统和人工初步分工；</a:t>
            </a:r>
          </a:p>
          <a:p>
            <a:r>
              <a:t>8. MVP和不做清单。</a:t>
            </a:r>
          </a:p>
          <a:p/>
          <a:p>
            <a:r>
              <a:t>骨架的作用是提前发现方向性错误，不要求写成长文档。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项目一 V0.1</a:t>
            </a:r>
          </a:p>
          <a:p/>
          <a:p>
            <a:r>
              <a:t>项目一V0.1至少包括：</a:t>
            </a:r>
          </a:p>
          <a:p/>
          <a:p>
            <a:r>
              <a:t>- 项目说明；</a:t>
            </a:r>
          </a:p>
          <a:p>
            <a:r>
              <a:t>- 用户和业务流程；</a:t>
            </a:r>
          </a:p>
          <a:p>
            <a:r>
              <a:t>- 问题与AI介入理由；</a:t>
            </a:r>
          </a:p>
          <a:p>
            <a:r>
              <a:t>- 输入与输出；</a:t>
            </a:r>
          </a:p>
          <a:p>
            <a:r>
              <a:t>- AI、规则、系统和人工分工；</a:t>
            </a:r>
          </a:p>
          <a:p>
            <a:r>
              <a:t>- MVP；</a:t>
            </a:r>
          </a:p>
          <a:p>
            <a:r>
              <a:t>- 核心产品流程；</a:t>
            </a:r>
          </a:p>
          <a:p>
            <a:r>
              <a:t>- 1—3张核心页面；</a:t>
            </a:r>
          </a:p>
          <a:p>
            <a:r>
              <a:t>- 10条初步测试样本；</a:t>
            </a:r>
          </a:p>
          <a:p>
            <a:r>
              <a:t>- 目前尚未解决的问题。</a:t>
            </a:r>
          </a:p>
          <a:p/>
          <a:p>
            <a:r>
              <a:t>V0.1不追求完美。它必须允许被批评、被删除和被修改。</a:t>
            </a:r>
          </a:p>
          <a:p/>
          <a:p>
            <a:r>
              <a:t>如果第一次提交就是一份看起来无法修改的“最终答案”，学员通常很难说明自己真正学到了什么。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点评课怎样进行</a:t>
            </a:r>
          </a:p>
          <a:p/>
          <a:p>
            <a:r>
              <a:t>点评课不会逐字朗读每位学员的PRD。</a:t>
            </a:r>
          </a:p>
          <a:p/>
          <a:p>
            <a:r>
              <a:t>课堂会：</a:t>
            </a:r>
          </a:p>
          <a:p/>
          <a:p>
            <a:r>
              <a:t>1. 汇总全班的共性问题；</a:t>
            </a:r>
          </a:p>
          <a:p>
            <a:r>
              <a:t>2. 展示几份代表作业；</a:t>
            </a:r>
          </a:p>
          <a:p>
            <a:r>
              <a:t>3. 先让全班完成判断；</a:t>
            </a:r>
          </a:p>
          <a:p>
            <a:r>
              <a:t>4. 教师说明问题和修改方向；</a:t>
            </a:r>
          </a:p>
          <a:p>
            <a:r>
              <a:t>5. 所有学员同步修改自己的项目；</a:t>
            </a:r>
          </a:p>
          <a:p>
            <a:r>
              <a:t>6. 对比一部分修改前后版本；</a:t>
            </a:r>
          </a:p>
          <a:p>
            <a:r>
              <a:t>7. 课后提交V1.0和修改说明。</a:t>
            </a:r>
          </a:p>
          <a:p/>
          <a:p>
            <a:r>
              <a:t>每位学员的三个项目中，至少选择一个主项目获得更深入的反馈。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收尾时不要重复知识点。让学员回到自己的项目，回答最后三个问题，并提醒他们保留V0.1、点评意见、V1.0和修改原因。</a:t>
            </a:r>
          </a:p>
          <a:p/>
          <a:p>
            <a:r>
              <a:t>修改记录是项目学习最重要的证据之一。</a:t>
            </a:r>
          </a:p>
          <a:p/>
          <a:p>
            <a:r>
              <a:t>例如：</a:t>
            </a:r>
          </a:p>
          <a:p/>
          <a:p>
            <a:r>
              <a:t>### V0.1</a:t>
            </a:r>
          </a:p>
          <a:p/>
          <a:p>
            <a:r>
              <a:t>第一版希望完成客户研究、线索评分、方案推荐、自动发邮件、CRM回写和销售看板。</a:t>
            </a:r>
          </a:p>
          <a:p/>
          <a:p>
            <a:r>
              <a:t>### 点评意见</a:t>
            </a:r>
          </a:p>
          <a:p/>
          <a:p>
            <a:r>
              <a:t>范围过大，无法同时验证所有环节；项目核心问题是客户研究和方案准备，而不是完整销售管理。</a:t>
            </a:r>
          </a:p>
          <a:p/>
          <a:p>
            <a:r>
              <a:t>### V1.0</a:t>
            </a:r>
          </a:p>
          <a:p/>
          <a:p>
            <a:r>
              <a:t>第一版只保留目标企业研究、带来源客户简报、有限产品知识检索、方案建议和人工确认。</a:t>
            </a:r>
          </a:p>
          <a:p/>
          <a:p>
            <a:r>
              <a:t>### 修改原因</a:t>
            </a:r>
          </a:p>
          <a:p/>
          <a:p>
            <a:r>
              <a:t>缩小MVP后，输入、输出和评测都更明确，也能够在课程周期内准备真实材料。</a:t>
            </a:r>
          </a:p>
          <a:p/>
          <a:p>
            <a:r>
              <a:t>这个过程比只展示最终功能更能证明产品能力。</a:t>
            </a:r>
          </a:p>
          <a:p/>
          <a:p>
            <a:r>
              <a:t>今天没有详细设计任何一个项目，也没有选择模型或搭建工作流。</a:t>
            </a:r>
          </a:p>
          <a:p/>
          <a:p>
            <a:r>
              <a:t>但我们完成了项目最重要的第一步：判断一件事情是否值得进入项目。</a:t>
            </a:r>
          </a:p>
          <a:p/>
          <a:p>
            <a:r>
              <a:t>一个好的AI项目选题，不是听起来最大、技术最多或最像创业项目，而是同时满足：</a:t>
            </a:r>
          </a:p>
          <a:p/>
          <a:p>
            <a:r>
              <a:t>- 业务可以理解；</a:t>
            </a:r>
          </a:p>
          <a:p>
            <a:r>
              <a:t>- 用户可以接触；</a:t>
            </a:r>
          </a:p>
          <a:p>
            <a:r>
              <a:t>- 材料可以获得；</a:t>
            </a:r>
          </a:p>
          <a:p>
            <a:r>
              <a:t>- AI确实有必要；</a:t>
            </a:r>
          </a:p>
          <a:p>
            <a:r>
              <a:t>- 第一版能够完成；</a:t>
            </a:r>
          </a:p>
          <a:p>
            <a:r>
              <a:t>- 与个人目标相关。</a:t>
            </a:r>
          </a:p>
          <a:p/>
          <a:p>
            <a:r>
              <a:t>最后记住三个问题：</a:t>
            </a:r>
          </a:p>
          <a:p/>
          <a:p>
            <a:r>
              <a:t>&gt; 谁在什么场景下遇到什么问题？  </a:t>
            </a:r>
          </a:p>
          <a:p>
            <a:r>
              <a:t>&gt; 我能获得什么材料来真正完成和验证它？  </a:t>
            </a:r>
          </a:p>
          <a:p>
            <a:r>
              <a:t>&gt; 第一版最少做到什么，项目就已经能够形成价值闭环？</a:t>
            </a:r>
          </a:p>
          <a:p/>
          <a:p>
            <a:r>
              <a:t>能够回答这三个问题，第一个个人项目才真正开始。</a:t>
            </a:r>
          </a:p>
          <a:p/>
          <a:p>
            <a:r>
              <a:t>---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/Users/keivn/Project/AI-Course/课程生产/第二阶段/02_第一课_AI项目立项选题与完成标准_老师版完整讲义_v1.0.md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6032" y="0"/>
            <a:ext cx="146304" cy="685800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603504"/>
            <a:ext cx="429768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6D6C2"/>
                </a:solidFill>
                <a:latin typeface="Hiragino Sans GB"/>
                <a:ea typeface="Hiragino Sans GB"/>
              </a:rPr>
              <a:t>AI PRODUCT MANAGER · PROJECT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298448"/>
            <a:ext cx="9692640" cy="133502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5F2E9"/>
                </a:solidFill>
                <a:latin typeface="Hiragino Sans GB"/>
                <a:ea typeface="Hiragino Sans GB"/>
              </a:rPr>
              <a:t>AI项目立项、选题
与完成标准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2944368"/>
            <a:ext cx="8138160" cy="40233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第二阶段第一课｜从一个想法走到可推进的项目</a:t>
            </a:r>
          </a:p>
        </p:txBody>
      </p:sp>
      <p:sp>
        <p:nvSpPr>
          <p:cNvPr id="6" name="Rectangle 5"/>
          <p:cNvSpPr/>
          <p:nvPr/>
        </p:nvSpPr>
        <p:spPr>
          <a:xfrm>
            <a:off x="859536" y="3456432"/>
            <a:ext cx="1901952" cy="45720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3730752"/>
            <a:ext cx="8138160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7B5BC"/>
                </a:solidFill>
                <a:latin typeface="Hiragino Sans GB"/>
                <a:ea typeface="Hiragino Sans GB"/>
              </a:rPr>
              <a:t>看懂完整项目  ·  选定个人方向  ·  写出第一版边界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37192" y="4315968"/>
            <a:ext cx="123444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6144768"/>
            <a:ext cx="438912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A7B5BC"/>
                </a:solidFill>
                <a:latin typeface="Hiragino Sans GB"/>
                <a:ea typeface="Hiragino Sans GB"/>
              </a:rPr>
              <a:t>第二阶段 · 项目实战班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第一部分｜第二阶段需要完成什么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360273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第二阶段的学习任务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938528"/>
            <a:ext cx="10012680" cy="12252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5F2E9"/>
                </a:solidFill>
                <a:latin typeface="Hiragino Sans GB"/>
                <a:ea typeface="Hiragino Sans GB"/>
              </a:rPr>
              <a:t>把前面学过的内容，连续地用在一个项目里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401568"/>
            <a:ext cx="73152" cy="109728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401568"/>
            <a:ext cx="9674352" cy="109728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7B5BC"/>
                </a:solidFill>
                <a:latin typeface="Hiragino Sans GB"/>
                <a:ea typeface="Hiragino Sans GB"/>
              </a:rPr>
              <a:t>第一阶段已经讲过模型、提示词、工作流、知识检索、智能体、产品文档、原型、评测、成本和投入产出比。现在要练习的是：面对一个不完整的问题，怎样一步步把它做成产品项目。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第一部分｜第二阶段需要完成什么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540410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从知识点到完整项目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知识会在项目需要时重新调用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38528"/>
            <a:ext cx="1989734" cy="3529584"/>
          </a:xfrm>
          <a:prstGeom prst="roundRect">
            <a:avLst>
              <a:gd name="adj" fmla="val 735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432304"/>
            <a:ext cx="158739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业务问题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852928"/>
            <a:ext cx="1587398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谁在什么场景遇到什么困难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730398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85846" y="1938528"/>
            <a:ext cx="1989734" cy="3529584"/>
          </a:xfrm>
          <a:prstGeom prst="roundRect">
            <a:avLst>
              <a:gd name="adj" fmla="val 735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87014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7014" y="2432304"/>
            <a:ext cx="158739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产品方案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7014" y="2852928"/>
            <a:ext cx="1587398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AI进入哪一步，为什么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66436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1884" y="1938528"/>
            <a:ext cx="1989734" cy="3529584"/>
          </a:xfrm>
          <a:prstGeom prst="roundRect">
            <a:avLst>
              <a:gd name="adj" fmla="val 735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3052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3052" y="2432304"/>
            <a:ext cx="158739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PRD与原型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3052" y="2852928"/>
            <a:ext cx="1587398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流程、页面与边界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002475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57923" y="1938528"/>
            <a:ext cx="1989734" cy="3529584"/>
          </a:xfrm>
          <a:prstGeom prst="roundRect">
            <a:avLst>
              <a:gd name="adj" fmla="val 735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59091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59091" y="2432304"/>
            <a:ext cx="158739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测试与修改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9091" y="2852928"/>
            <a:ext cx="1587398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样本、错误和版本变化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138513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293961" y="1938528"/>
            <a:ext cx="1989734" cy="3529584"/>
          </a:xfrm>
          <a:prstGeom prst="roundRect">
            <a:avLst>
              <a:gd name="adj" fmla="val 735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95129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95129" y="2432304"/>
            <a:ext cx="158739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价值判断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95129" y="2852928"/>
            <a:ext cx="1587398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风险、成本和是否继续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处理结果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第二阶段把分散的知识放回同一条项目推进过程。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第一部分｜第二阶段需要完成什么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720547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三个个人项目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每个项目对应一种常见的企业AI产品问题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对话与业务办理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理解自然语言，把咨询转成可控的服务流程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材料审核与风险核验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提取业务材料，结合规则发现差异并交给人工确认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8212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329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专业研究与方案生成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理解复杂要求，调用企业知识形成专业文档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项目按业务问题组织；知识检索、工作流和智能体会按需组合。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第一部分｜第二阶段需要完成什么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900684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三个项目的完成深度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三个都要完整，其中一个继续做深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5157216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84832"/>
            <a:ext cx="4645152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6D6C2"/>
                </a:solidFill>
                <a:latin typeface="Hiragino Sans GB"/>
                <a:ea typeface="Hiragino Sans GB"/>
              </a:rPr>
              <a:t>三个项目都要具备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7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2633472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业务背景和目标用户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7" y="3454146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3298698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现状流程与主要问题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7" y="41193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3963924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输入、输出和人机分工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7" y="4784598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1872" y="4629150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MVP 范围、流程、页面、测试和修改记录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883664"/>
            <a:ext cx="5157216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68D39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2084832"/>
            <a:ext cx="4645152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8D391"/>
                </a:solidFill>
                <a:latin typeface="Hiragino Sans GB"/>
                <a:ea typeface="Hiragino Sans GB"/>
              </a:rPr>
              <a:t>主项目继续补齐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8544" y="2633472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可运行验证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454146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38544" y="3298698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更系统的测试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1193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38544" y="3963924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典型错误迭代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784598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8544" y="4629150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风险、成本和作品集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判断标准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最后形成三个完整方案，其中一个有更扎实的验证过程。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第一部分｜第二阶段需要完成什么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1080820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两个选修方向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它们扩展视野，不增加统一作业数量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AI图像判断与结构化报告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适合美业、质检、巡检、设计等多模态场景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客户研究与销售方案助手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适合销售、咨询、保险、教育和客户成功场景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8212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329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三种使用方式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了解项目、完成简化练习，或经确认后替换一个个人项目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五个方向可以学习，仍然只要求完成三个个人项目。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第一部分｜第二阶段需要完成什么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1260957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公共项目和个人项目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课堂案例建立标准，个人项目重新建立业务内容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5157216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84832"/>
            <a:ext cx="4645152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6D6C2"/>
                </a:solidFill>
                <a:latin typeface="Hiragino Sans GB"/>
                <a:ea typeface="Hiragino Sans GB"/>
              </a:rPr>
              <a:t>公共项目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7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2633472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老师完整拆解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7" y="36758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3520440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统一讲清问题、流程和边界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7" y="4562856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407408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展示页面、测试与修改方式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883664"/>
            <a:ext cx="5157216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FF765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2084832"/>
            <a:ext cx="4645152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7657"/>
                </a:solidFill>
                <a:latin typeface="Hiragino Sans GB"/>
                <a:ea typeface="Hiragino Sans GB"/>
              </a:rPr>
              <a:t>个人项目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38544" y="2633472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结合自己的行业或经历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6758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8544" y="3520440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重新确定用户、材料和风险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56285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38544" y="4407408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保留自己的判断和版本变化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判断标准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可以复用项目方法，不能只换项目名称。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第一部分｜第二阶段需要完成什么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1441094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第二阶段的学习方式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每次课都围绕同一个项目推进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课堂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老师拆解公共项目，解释为什么这样设计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442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559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559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课后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559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把方法迁移到个人项目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4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点评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全班先判断，老师再讲问题和修改方向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366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483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483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版本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483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保留 V0.1 版本、点评意见和修改后的版本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学习结果看项目怎样被判断和修改，不看听过多少概念。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第二部分｜什么样的材料才算完整AI项目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1621231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从一句项目名称开始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8096" y="1719072"/>
            <a:ext cx="10497312" cy="1143000"/>
          </a:xfrm>
          <a:prstGeom prst="roundRect">
            <a:avLst>
              <a:gd name="adj" fmla="val 12800"/>
            </a:avLst>
          </a:prstGeom>
          <a:solidFill>
            <a:srgbClr val="133843"/>
          </a:solidFill>
          <a:ln w="863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883664"/>
            <a:ext cx="118872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6D6C2"/>
                </a:solidFill>
                <a:latin typeface="Hiragino Sans GB"/>
                <a:ea typeface="Hiragino Sans GB"/>
              </a:rPr>
              <a:t>原始表达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39112" y="1810512"/>
            <a:ext cx="8823960" cy="65836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5F2E9"/>
                </a:solidFill>
                <a:latin typeface="Hiragino Sans GB"/>
                <a:ea typeface="Hiragino Sans GB"/>
              </a:rPr>
              <a:t>“我想做一个AI智能客服”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" y="3182112"/>
            <a:ext cx="2500884" cy="2075688"/>
          </a:xfrm>
          <a:prstGeom prst="roundRect">
            <a:avLst>
              <a:gd name="adj" fmla="val 704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383280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3675888"/>
            <a:ext cx="209854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使用者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4096512"/>
            <a:ext cx="2098548" cy="105155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谁会真正打开这个产品？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33572" y="3182112"/>
            <a:ext cx="2500884" cy="2075688"/>
          </a:xfrm>
          <a:prstGeom prst="roundRect">
            <a:avLst>
              <a:gd name="adj" fmla="val 704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4740" y="3383280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4740" y="3675888"/>
            <a:ext cx="209854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使用时刻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4740" y="4096512"/>
            <a:ext cx="2098548" cy="105155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用户在什么情况下需要它？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9048" y="3182112"/>
            <a:ext cx="2500884" cy="2075688"/>
          </a:xfrm>
          <a:prstGeom prst="roundRect">
            <a:avLst>
              <a:gd name="adj" fmla="val 704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0216" y="3383280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216" y="3675888"/>
            <a:ext cx="209854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当前做法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0216" y="4096512"/>
            <a:ext cx="2098548" cy="105155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没有它时，任务怎样完成？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64524" y="3182112"/>
            <a:ext cx="2500884" cy="2075688"/>
          </a:xfrm>
          <a:prstGeom prst="roundRect">
            <a:avLst>
              <a:gd name="adj" fmla="val 704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5692" y="3383280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5692" y="3675888"/>
            <a:ext cx="209854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项目边界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5692" y="4096512"/>
            <a:ext cx="2098548" cy="105155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第一版解决哪一个具体问题？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修改方向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先把用户、场景和主要问题说清楚。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第二部分｜什么样的材料才算完整AI项目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1801368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功能清单还缺什么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8096" y="1719072"/>
            <a:ext cx="10497312" cy="1143000"/>
          </a:xfrm>
          <a:prstGeom prst="roundRect">
            <a:avLst>
              <a:gd name="adj" fmla="val 12800"/>
            </a:avLst>
          </a:prstGeom>
          <a:solidFill>
            <a:srgbClr val="133843"/>
          </a:solidFill>
          <a:ln w="863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883664"/>
            <a:ext cx="118872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6D6C2"/>
                </a:solidFill>
                <a:latin typeface="Hiragino Sans GB"/>
                <a:ea typeface="Hiragino Sans GB"/>
              </a:rPr>
              <a:t>原始表达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39112" y="1810512"/>
            <a:ext cx="8823960" cy="65836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5F2E9"/>
                </a:solidFill>
                <a:latin typeface="Hiragino Sans GB"/>
                <a:ea typeface="Hiragino Sans GB"/>
              </a:rPr>
              <a:t>“支持知识库问答、订单查询、客户投诉和商品推荐”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" y="3182112"/>
            <a:ext cx="2500884" cy="2075688"/>
          </a:xfrm>
          <a:prstGeom prst="roundRect">
            <a:avLst>
              <a:gd name="adj" fmla="val 704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383280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3675888"/>
            <a:ext cx="209854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优先级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4096512"/>
            <a:ext cx="2098548" cy="105155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哪个问题最频繁、最严重？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33572" y="3182112"/>
            <a:ext cx="2500884" cy="2075688"/>
          </a:xfrm>
          <a:prstGeom prst="roundRect">
            <a:avLst>
              <a:gd name="adj" fmla="val 704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4740" y="3383280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4740" y="3675888"/>
            <a:ext cx="209854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材料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4740" y="4096512"/>
            <a:ext cx="2098548" cy="105155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知识、订单和商品数据从哪里来？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9048" y="3182112"/>
            <a:ext cx="2500884" cy="2075688"/>
          </a:xfrm>
          <a:prstGeom prst="roundRect">
            <a:avLst>
              <a:gd name="adj" fmla="val 704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0216" y="3383280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216" y="3675888"/>
            <a:ext cx="209854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责任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0216" y="4096512"/>
            <a:ext cx="2098548" cy="105155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哪些情况自动处理，哪些转人工？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64524" y="3182112"/>
            <a:ext cx="2500884" cy="2075688"/>
          </a:xfrm>
          <a:prstGeom prst="roundRect">
            <a:avLst>
              <a:gd name="adj" fmla="val 704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5692" y="3383280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5692" y="3675888"/>
            <a:ext cx="209854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范围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5692" y="4096512"/>
            <a:ext cx="2098548" cy="105155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为什么第一版要同时做四个场景？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修改方向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功能多不代表项目已经成立。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第二部分｜什么样的材料才算完整AI项目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1981504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PRD和Demo各自能说明什么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两类材料都重要，但都需要放回完整项目中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5157216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84832"/>
            <a:ext cx="4645152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6D6C2"/>
                </a:solidFill>
                <a:latin typeface="Hiragino Sans GB"/>
                <a:ea typeface="Hiragino Sans GB"/>
              </a:rPr>
              <a:t>只有 PRD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7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2633472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能说明产品设计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7" y="3454146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3298698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不能自动证明用户真实存在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7" y="41193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3963924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不能证明数据和流程可用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7" y="4784598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1872" y="4629150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不能证明 AI 效果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883664"/>
            <a:ext cx="5157216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FF765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2084832"/>
            <a:ext cx="4645152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7657"/>
                </a:solidFill>
                <a:latin typeface="Hiragino Sans GB"/>
                <a:ea typeface="Hiragino Sans GB"/>
              </a:rPr>
              <a:t>只有 Demo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8544" y="2633472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能说明一条演示路径跑通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45414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38544" y="3298698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不能证明用户需要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1193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38544" y="3963924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不能覆盖异常和风险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78459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8544" y="4629150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不能证明成本可接受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判断标准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完整度看问题、方案、页面和测试是否前后对应。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第二部分｜什么样的材料才算完整AI项目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2161641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一个完整项目需要回答的问题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每一步都要和前后内容对得上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38528"/>
            <a:ext cx="2523744" cy="1572768"/>
          </a:xfrm>
          <a:prstGeom prst="roundRect">
            <a:avLst>
              <a:gd name="adj" fmla="val 930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432304"/>
            <a:ext cx="212140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F5F2E9"/>
                </a:solidFill>
                <a:latin typeface="Hiragino Sans GB"/>
                <a:ea typeface="Hiragino Sans GB"/>
              </a:rPr>
              <a:t>用户与场景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852928"/>
            <a:ext cx="2121408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5BC"/>
                </a:solidFill>
                <a:latin typeface="Hiragino Sans GB"/>
                <a:ea typeface="Hiragino Sans GB"/>
              </a:rPr>
              <a:t>谁在何时工作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64408" y="2651760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19856" y="1938528"/>
            <a:ext cx="2523744" cy="1572768"/>
          </a:xfrm>
          <a:prstGeom prst="roundRect">
            <a:avLst>
              <a:gd name="adj" fmla="val 930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4" y="2432304"/>
            <a:ext cx="212140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F5F2E9"/>
                </a:solidFill>
                <a:latin typeface="Hiragino Sans GB"/>
                <a:ea typeface="Hiragino Sans GB"/>
              </a:rPr>
              <a:t>当前流程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1024" y="2852928"/>
            <a:ext cx="2121408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5BC"/>
                </a:solidFill>
                <a:latin typeface="Hiragino Sans GB"/>
                <a:ea typeface="Hiragino Sans GB"/>
              </a:rPr>
              <a:t>任务现在怎样完成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34456" y="2651760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89904" y="1938528"/>
            <a:ext cx="2523744" cy="1572768"/>
          </a:xfrm>
          <a:prstGeom prst="roundRect">
            <a:avLst>
              <a:gd name="adj" fmla="val 930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2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2432304"/>
            <a:ext cx="212140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F5F2E9"/>
                </a:solidFill>
                <a:latin typeface="Hiragino Sans GB"/>
                <a:ea typeface="Hiragino Sans GB"/>
              </a:rPr>
              <a:t>主要问题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2852928"/>
            <a:ext cx="2121408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5BC"/>
                </a:solidFill>
                <a:latin typeface="Hiragino Sans GB"/>
                <a:ea typeface="Hiragino Sans GB"/>
              </a:rPr>
              <a:t>哪一步最需要改变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604504" y="2651760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59952" y="1938528"/>
            <a:ext cx="2523744" cy="1572768"/>
          </a:xfrm>
          <a:prstGeom prst="roundRect">
            <a:avLst>
              <a:gd name="adj" fmla="val 930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0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2432304"/>
            <a:ext cx="212140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F5F2E9"/>
                </a:solidFill>
                <a:latin typeface="Hiragino Sans GB"/>
                <a:ea typeface="Hiragino Sans GB"/>
              </a:rPr>
              <a:t>材料与数据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2852928"/>
            <a:ext cx="2121408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5BC"/>
                </a:solidFill>
                <a:latin typeface="Hiragino Sans GB"/>
                <a:ea typeface="Hiragino Sans GB"/>
              </a:rPr>
              <a:t>实际输入从哪里来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3895344"/>
            <a:ext cx="2523744" cy="1572768"/>
          </a:xfrm>
          <a:prstGeom prst="roundRect">
            <a:avLst>
              <a:gd name="adj" fmla="val 930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4096511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" y="4389120"/>
            <a:ext cx="212140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F5F2E9"/>
                </a:solidFill>
                <a:latin typeface="Hiragino Sans GB"/>
                <a:ea typeface="Hiragino Sans GB"/>
              </a:rPr>
              <a:t>能力分工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" y="4809744"/>
            <a:ext cx="2121408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5BC"/>
                </a:solidFill>
                <a:latin typeface="Hiragino Sans GB"/>
                <a:ea typeface="Hiragino Sans GB"/>
              </a:rPr>
              <a:t>模型、规则、系统和人工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3264408" y="4608576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419856" y="3895344"/>
            <a:ext cx="2523744" cy="1572768"/>
          </a:xfrm>
          <a:prstGeom prst="roundRect">
            <a:avLst>
              <a:gd name="adj" fmla="val 930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21024" y="4096511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21024" y="4389120"/>
            <a:ext cx="212140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F5F2E9"/>
                </a:solidFill>
                <a:latin typeface="Hiragino Sans GB"/>
                <a:ea typeface="Hiragino Sans GB"/>
              </a:rPr>
              <a:t>第一版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21024" y="4809744"/>
            <a:ext cx="2121408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5BC"/>
                </a:solidFill>
                <a:latin typeface="Hiragino Sans GB"/>
                <a:ea typeface="Hiragino Sans GB"/>
              </a:rPr>
              <a:t>做什么，暂时不做什么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5934456" y="4608576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089904" y="3895344"/>
            <a:ext cx="2523744" cy="1572768"/>
          </a:xfrm>
          <a:prstGeom prst="roundRect">
            <a:avLst>
              <a:gd name="adj" fmla="val 930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91072" y="4096511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1072" y="4389120"/>
            <a:ext cx="212140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F5F2E9"/>
                </a:solidFill>
                <a:latin typeface="Hiragino Sans GB"/>
                <a:ea typeface="Hiragino Sans GB"/>
              </a:rPr>
              <a:t>测试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91072" y="4809744"/>
            <a:ext cx="2121408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5BC"/>
                </a:solidFill>
                <a:latin typeface="Hiragino Sans GB"/>
                <a:ea typeface="Hiragino Sans GB"/>
              </a:rPr>
              <a:t>怎样判断结果能否使用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8604504" y="4608576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759952" y="3895344"/>
            <a:ext cx="2523744" cy="1572768"/>
          </a:xfrm>
          <a:prstGeom prst="roundRect">
            <a:avLst>
              <a:gd name="adj" fmla="val 930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61120" y="4096511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0" y="4389120"/>
            <a:ext cx="212140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F5F2E9"/>
                </a:solidFill>
                <a:latin typeface="Hiragino Sans GB"/>
                <a:ea typeface="Hiragino Sans GB"/>
              </a:rPr>
              <a:t>修改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20" y="4809744"/>
            <a:ext cx="2121408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5BC"/>
                </a:solidFill>
                <a:latin typeface="Hiragino Sans GB"/>
                <a:ea typeface="Hiragino Sans GB"/>
              </a:rPr>
              <a:t>发现问题后改了什么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处理结果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项目完整度来自前后对应，不来自材料页数。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第二部分｜什么样的材料才算完整AI项目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13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2341778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项目例会待办整理助手的业务背景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只处理会后整理这一小步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整理耗时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会议结束后还要花时间整理决定、待办和风险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442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559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559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责任不清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559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讨论了很多，却没有明确负责人和截止时间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4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信息容易漏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相对日期、重复任务和未解决风险常被遗漏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366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483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483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理解不一致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483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纪要发出后，参会人对任务仍有不同理解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项目不解决所有会议管理问题，只聚焦会后整理。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第二部分｜什么样的材料才算完整AI项目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2521915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项目定义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938528"/>
            <a:ext cx="10012680" cy="12252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5F2E9"/>
                </a:solidFill>
                <a:latin typeface="Hiragino Sans GB"/>
                <a:ea typeface="Hiragino Sans GB"/>
              </a:rPr>
              <a:t>项目经理粘贴会议转写，系统整理决定、待办、负责人、时间和风险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401568"/>
            <a:ext cx="73152" cy="109728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401568"/>
            <a:ext cx="9674352" cy="109728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7B5BC"/>
                </a:solidFill>
                <a:latin typeface="Hiragino Sans GB"/>
                <a:ea typeface="Hiragino Sans GB"/>
              </a:rPr>
              <a:t>负责人或时间不明确的内容会被标记。项目经理修改确认后，再导出结构化纪要。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第二部分｜什么样的材料才算完整AI项目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15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2702052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一段会议转写里有什么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8096" y="1719072"/>
            <a:ext cx="10497312" cy="1143000"/>
          </a:xfrm>
          <a:prstGeom prst="roundRect">
            <a:avLst>
              <a:gd name="adj" fmla="val 12800"/>
            </a:avLst>
          </a:prstGeom>
          <a:solidFill>
            <a:srgbClr val="133843"/>
          </a:solidFill>
          <a:ln w="863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883664"/>
            <a:ext cx="118872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6D6C2"/>
                </a:solidFill>
                <a:latin typeface="Hiragino Sans GB"/>
                <a:ea typeface="Hiragino Sans GB"/>
              </a:rPr>
              <a:t>会议转写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39112" y="1810512"/>
            <a:ext cx="8823960" cy="65836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5F2E9"/>
                </a:solidFill>
                <a:latin typeface="Hiragino Sans GB"/>
                <a:ea typeface="Hiragino Sans GB"/>
              </a:rPr>
              <a:t>“登录接口这周可能来不及。小王先和后端确认一下，如果周四还没有结果，我们就把联调改到下周一。”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" y="3182112"/>
            <a:ext cx="2500884" cy="2651760"/>
          </a:xfrm>
          <a:prstGeom prst="roundRect">
            <a:avLst>
              <a:gd name="adj" fmla="val 585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383280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3675888"/>
            <a:ext cx="209854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待办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4096512"/>
            <a:ext cx="2098548" cy="1627631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小王与后端确认接口进度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33572" y="3182112"/>
            <a:ext cx="2500884" cy="2651760"/>
          </a:xfrm>
          <a:prstGeom prst="roundRect">
            <a:avLst>
              <a:gd name="adj" fmla="val 585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4740" y="3383280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4740" y="3675888"/>
            <a:ext cx="209854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时间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4740" y="4096512"/>
            <a:ext cx="2098548" cy="1627631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周四是确认节点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9048" y="3182112"/>
            <a:ext cx="2500884" cy="2651760"/>
          </a:xfrm>
          <a:prstGeom prst="roundRect">
            <a:avLst>
              <a:gd name="adj" fmla="val 585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0216" y="3383280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216" y="3675888"/>
            <a:ext cx="209854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条件决定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0216" y="4096512"/>
            <a:ext cx="2098548" cy="1627631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如果没有结果，联调改期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64524" y="3182112"/>
            <a:ext cx="2500884" cy="2651760"/>
          </a:xfrm>
          <a:prstGeom prst="roundRect">
            <a:avLst>
              <a:gd name="adj" fmla="val 585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5692" y="3383280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5692" y="3675888"/>
            <a:ext cx="209854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风险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5692" y="4096512"/>
            <a:ext cx="2098548" cy="1627631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接口本周可能无法完成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第二部分｜什么样的材料才算完整AI项目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16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2882188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模型、规则、系统和人工的分工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每一类能力只负责适合自己的部分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大模型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从自然语言中提取决定、待办、人员、时间、风险和对应原文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442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559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559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规则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559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检查缺失字段，把相对日期换成具体日期，检查格式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4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产品系统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展示、编辑、确认、保留原文并导出纪要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366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483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483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项目经理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483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判断结果是否正确，补充信息并最终发布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第一版不需要智能体自主执行，也不需要知识库。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第二部分｜什么样的材料才算完整AI项目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17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3062325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第一版的范围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只保留能验证核心问题的四步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38528"/>
            <a:ext cx="2523744" cy="3529584"/>
          </a:xfrm>
          <a:prstGeom prst="roundRect">
            <a:avLst>
              <a:gd name="adj" fmla="val 579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432304"/>
            <a:ext cx="212140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F5F2E9"/>
                </a:solidFill>
                <a:latin typeface="Hiragino Sans GB"/>
                <a:ea typeface="Hiragino Sans GB"/>
              </a:rPr>
              <a:t>粘贴转写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852928"/>
            <a:ext cx="2121408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5BC"/>
                </a:solidFill>
                <a:latin typeface="Hiragino Sans GB"/>
                <a:ea typeface="Hiragino Sans GB"/>
              </a:rPr>
              <a:t>会议名称、日期和正文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64408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19856" y="1938528"/>
            <a:ext cx="2523744" cy="3529584"/>
          </a:xfrm>
          <a:prstGeom prst="roundRect">
            <a:avLst>
              <a:gd name="adj" fmla="val 579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4" y="2432304"/>
            <a:ext cx="212140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F5F2E9"/>
                </a:solidFill>
                <a:latin typeface="Hiragino Sans GB"/>
                <a:ea typeface="Hiragino Sans GB"/>
              </a:rPr>
              <a:t>提取内容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1024" y="2852928"/>
            <a:ext cx="2121408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5BC"/>
                </a:solidFill>
                <a:latin typeface="Hiragino Sans GB"/>
                <a:ea typeface="Hiragino Sans GB"/>
              </a:rPr>
              <a:t>决定、待办和风险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34456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89904" y="1938528"/>
            <a:ext cx="2523744" cy="3529584"/>
          </a:xfrm>
          <a:prstGeom prst="roundRect">
            <a:avLst>
              <a:gd name="adj" fmla="val 579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2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2432304"/>
            <a:ext cx="212140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F5F2E9"/>
                </a:solidFill>
                <a:latin typeface="Hiragino Sans GB"/>
                <a:ea typeface="Hiragino Sans GB"/>
              </a:rPr>
              <a:t>标记问题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2852928"/>
            <a:ext cx="2121408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5BC"/>
                </a:solidFill>
                <a:latin typeface="Hiragino Sans GB"/>
                <a:ea typeface="Hiragino Sans GB"/>
              </a:rPr>
              <a:t>缺失、不确定和冲突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604504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59952" y="1938528"/>
            <a:ext cx="2523744" cy="3529584"/>
          </a:xfrm>
          <a:prstGeom prst="roundRect">
            <a:avLst>
              <a:gd name="adj" fmla="val 579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0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2432304"/>
            <a:ext cx="212140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F5F2E9"/>
                </a:solidFill>
                <a:latin typeface="Hiragino Sans GB"/>
                <a:ea typeface="Hiragino Sans GB"/>
              </a:rPr>
              <a:t>人工确认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2852928"/>
            <a:ext cx="2121408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5BC"/>
                </a:solidFill>
                <a:latin typeface="Hiragino Sans GB"/>
                <a:ea typeface="Hiragino Sans GB"/>
              </a:rPr>
              <a:t>修改并导出纪要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处理结果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录音、转写、消息推送、任务系统和趋势看板暂不进入第一版。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第二部分｜什么样的材料才算完整AI项目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18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3242462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两个核心页面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原型先把主要操作和关键状态讲清楚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5157216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84832"/>
            <a:ext cx="4645152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6D6C2"/>
                </a:solidFill>
                <a:latin typeface="Hiragino Sans GB"/>
                <a:ea typeface="Hiragino Sans GB"/>
              </a:rPr>
              <a:t>输入页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7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2633472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会议名称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7" y="3454146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3298698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会议日期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7" y="41193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3963924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粘贴转写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7" y="4784598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1872" y="4629150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开始整理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883664"/>
            <a:ext cx="5157216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68D39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2084832"/>
            <a:ext cx="4645152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8D391"/>
                </a:solidFill>
                <a:latin typeface="Hiragino Sans GB"/>
                <a:ea typeface="Hiragino Sans GB"/>
              </a:rPr>
              <a:t>结果确认页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8544" y="2633472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决定、待办和风险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454146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38544" y="3298698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负责人和截止时间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1193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38544" y="3963924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对应原文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784598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8544" y="4629150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编辑、删除、确认和导出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判断标准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至少展示正常结果、字段缺失和人工修改三个状态。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第二部分｜什么样的材料才算完整AI项目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19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3422599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会议转写输入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938528"/>
            <a:ext cx="10012680" cy="12252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5F2E9"/>
                </a:solidFill>
                <a:latin typeface="Hiragino Sans GB"/>
                <a:ea typeface="Hiragino Sans GB"/>
              </a:rPr>
              <a:t>支付页面已经评审通过，小李今天把最终稿发给开发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401568"/>
            <a:ext cx="73152" cy="1097280"/>
          </a:xfrm>
          <a:prstGeom prst="rect">
            <a:avLst/>
          </a:prstGeom>
          <a:solidFill>
            <a:srgbClr val="F0C56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401568"/>
            <a:ext cx="9674352" cy="109728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7B5BC"/>
                </a:solidFill>
                <a:latin typeface="Hiragino Sans GB"/>
                <a:ea typeface="Hiragino Sans GB"/>
              </a:rPr>
              <a:t>输入材料要像真实会议表达，而不是为了模型方便而写成标准表单。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第二部分｜什么样的材料才算完整AI项目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20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3602736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结构化输出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同一段转写会拆成不同类型的信息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9793224" cy="307238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078992"/>
                <a:gridCol w="4736592"/>
                <a:gridCol w="1234440"/>
                <a:gridCol w="1325880"/>
                <a:gridCol w="1417320"/>
              </a:tblGrid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4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类型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内容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负责人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截止时间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状态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风险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登录接口本周可能无法完成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未明确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本周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待确认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待办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与后端确认登录接口进度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小王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本周四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待执行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条件决定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周四无结果则联调调整至下周一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未明确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周四确认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待确认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决定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支付页面通过评审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—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—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已确认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待办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将支付页面最终稿发送给开发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小李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今天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4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待执行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不能只看文字通不通顺，还要检查遗漏、误判和编造。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第二部分｜什么样的材料才算完整AI项目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21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3782872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最小测试集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第一版先用20段仿真或脱敏会议片段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251002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明确任务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10769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负责人和日期都清楚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4428" y="1883664"/>
            <a:ext cx="251002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559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559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字段缺失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5596" y="2798064"/>
            <a:ext cx="210769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缺负责人或截止时间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48" y="1883664"/>
            <a:ext cx="251002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相对日期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2798064"/>
            <a:ext cx="210769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今天、明天、下周一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3668" y="1883664"/>
            <a:ext cx="251002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483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483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混合表达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4836" y="2798064"/>
            <a:ext cx="210769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一句话同时包含任务和风险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3822191"/>
            <a:ext cx="251002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4023359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" y="4315968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没有结论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" y="4736592"/>
            <a:ext cx="210769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讨论了问题但没有作出决定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24428" y="3822191"/>
            <a:ext cx="251002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25596" y="4023359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25596" y="4315968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前后修改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25596" y="4736592"/>
            <a:ext cx="210769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同一决定被重复或改动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99048" y="3822191"/>
            <a:ext cx="251002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0216" y="4023359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0216" y="4315968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行动项召回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0216" y="4736592"/>
            <a:ext cx="210769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应该提取的任务有没有漏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73668" y="3822191"/>
            <a:ext cx="251002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74836" y="4023359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74836" y="4315968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人工修改率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74836" y="4736592"/>
            <a:ext cx="210769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项目经理需要改多少内容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测试样本要覆盖真实变化，不只准备最容易成功的句子。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第二部分｜什么样的材料才算完整AI项目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22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3963009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一个典型Bad Case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8096" y="1719072"/>
            <a:ext cx="10497312" cy="1143000"/>
          </a:xfrm>
          <a:prstGeom prst="roundRect">
            <a:avLst>
              <a:gd name="adj" fmla="val 12800"/>
            </a:avLst>
          </a:prstGeom>
          <a:solidFill>
            <a:srgbClr val="133843"/>
          </a:solidFill>
          <a:ln w="863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883664"/>
            <a:ext cx="118872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6D6C2"/>
                </a:solidFill>
                <a:latin typeface="Hiragino Sans GB"/>
                <a:ea typeface="Hiragino Sans GB"/>
              </a:rPr>
              <a:t>原始表达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39112" y="1810512"/>
            <a:ext cx="8823960" cy="65836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5F2E9"/>
                </a:solidFill>
                <a:latin typeface="Hiragino Sans GB"/>
                <a:ea typeface="Hiragino Sans GB"/>
              </a:rPr>
              <a:t>“这个暂时先不做，等客户确认以后再说”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" y="3182112"/>
            <a:ext cx="2500884" cy="2075688"/>
          </a:xfrm>
          <a:prstGeom prst="roundRect">
            <a:avLst>
              <a:gd name="adj" fmla="val 704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383280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3675888"/>
            <a:ext cx="209854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错误输出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4096512"/>
            <a:ext cx="2098548" cy="105155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模型写成：推进该功能开发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33572" y="3182112"/>
            <a:ext cx="2500884" cy="2075688"/>
          </a:xfrm>
          <a:prstGeom prst="roundRect">
            <a:avLst>
              <a:gd name="adj" fmla="val 704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4740" y="3383280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4740" y="3675888"/>
            <a:ext cx="209854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问题原因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4740" y="4096512"/>
            <a:ext cx="2098548" cy="105155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没有理解否定和前置条件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9048" y="3182112"/>
            <a:ext cx="2500884" cy="2075688"/>
          </a:xfrm>
          <a:prstGeom prst="roundRect">
            <a:avLst>
              <a:gd name="adj" fmla="val 704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0216" y="3383280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216" y="3675888"/>
            <a:ext cx="209854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产品修改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0216" y="4096512"/>
            <a:ext cx="2098548" cy="105155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增加暂缓和条件事项类型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64524" y="3182112"/>
            <a:ext cx="2500884" cy="2075688"/>
          </a:xfrm>
          <a:prstGeom prst="roundRect">
            <a:avLst>
              <a:gd name="adj" fmla="val 704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5692" y="3383280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5692" y="3675888"/>
            <a:ext cx="209854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使用控制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5692" y="4096512"/>
            <a:ext cx="2098548" cy="105155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保留原文，人工确认后再导出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修改方向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发现错误以后，要修改字段、Prompt或流程。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第二部分｜什么样的材料才算完整AI项目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23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4143146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小项目的完整性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没有复杂技术，也能形成完整产品闭环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真实任务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用户、场景和当前流程明确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883664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输入可得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798064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会议转写能够准备和测试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82128" y="1883664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329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分工清楚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798064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模型提取，规则检查，人工确认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3822191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4023359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" y="4315968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范围可控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" y="4736592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第一版只有两页和四步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15968" y="3822191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17136" y="4023359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17136" y="4315968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结果可测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17136" y="4736592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能够建立样本并检查错误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82128" y="3822191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3296" y="4023359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3296" y="4315968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可以修改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3296" y="4736592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Bad Case会推动字段和流程变化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复杂度可以低，项目的前后关系不能断。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第二部分｜什么样的材料才算完整AI项目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24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4323283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三种项目描述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同一个方向，完整度差别很大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533888" cy="299923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417320"/>
                <a:gridCol w="6400800"/>
                <a:gridCol w="2715768"/>
              </a:tblGrid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版本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描述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当前状态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A 项目想法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我想做一个AI智能客服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只有方向，不能立项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B 功能方案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支持知识问答、订单查询、投诉和推荐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知道功能，缺少优先级、材料和责任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C 可推进项目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聚焦订单查询与异常分流，接入订单接口，异常转人工，并用历史问句测试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具备继续做PRD和原型的条件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solidFill>
                      <a:srgbClr val="133843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立项条件来自具体问题、可用材料、处理流程和测试方法。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第二部分｜什么样的材料才算完整AI项目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25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4503420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项目材料的可信度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页数和技术名词并不能代表项目质量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5157216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84832"/>
            <a:ext cx="4645152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6D6C2"/>
                </a:solidFill>
                <a:latin typeface="Hiragino Sans GB"/>
                <a:ea typeface="Hiragino Sans GB"/>
              </a:rPr>
              <a:t>看起来很多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7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2633472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行业介绍很长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7" y="3454146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3298698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竞品和功能清单很多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7" y="41193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3963924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大量内容由模型一次生成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7" y="4784598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1872" y="4629150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缺少用户、样本和修改过程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883664"/>
            <a:ext cx="5157216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68D39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2084832"/>
            <a:ext cx="4645152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8D391"/>
                </a:solidFill>
                <a:latin typeface="Hiragino Sans GB"/>
                <a:ea typeface="Hiragino Sans GB"/>
              </a:rPr>
              <a:t>真正做过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8544" y="2633472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说得清访谈或资料来源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454146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38544" y="3298698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知道删掉了什么功能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1193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38544" y="3963924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拿得出测试样本和错误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784598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8544" y="4629150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保留修改前后的版本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判断标准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判断重点是做过哪些选择，后来为什么改变。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第三部分｜课程项目怎样写进简历和作品集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26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4683556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课程项目怎样写进简历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可以写，但要说明项目性质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5157216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84832"/>
            <a:ext cx="4645152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6D6C2"/>
                </a:solidFill>
                <a:latin typeface="Hiragino Sans GB"/>
                <a:ea typeface="Hiragino Sans GB"/>
              </a:rPr>
              <a:t>可以这样标注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7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2633472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AI产品个人项目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7" y="3454146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3298698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AI产品课程实战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7" y="41193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3963924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某行业业务改造方案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7" y="4784598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1872" y="4629150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基于公开资料的产品设计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883664"/>
            <a:ext cx="5157216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FF765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2084832"/>
            <a:ext cx="4645152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7657"/>
                </a:solidFill>
                <a:latin typeface="Hiragino Sans GB"/>
                <a:ea typeface="Hiragino Sans GB"/>
              </a:rPr>
              <a:t>不要这样包装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8544" y="2633472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冒充公司真实上线项目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45414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38544" y="3298698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编造用户规模和业务收益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1193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38544" y="3963924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把公共项目直接写成个人工作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78459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8544" y="4629150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被追问时只会复述PRD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判断标准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项目性质说清楚，不会削弱真正完成过的工作。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第三部分｜课程项目怎样写进简历和作品集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27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4863693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两种简历描述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面试官更想看到实际做了什么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5157216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84832"/>
            <a:ext cx="4645152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6D6C2"/>
                </a:solidFill>
                <a:latin typeface="Hiragino Sans GB"/>
                <a:ea typeface="Hiragino Sans GB"/>
              </a:rPr>
              <a:t>描述 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7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2633472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负责 AI 智能客服产品设计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7" y="36758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3520440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使用知识检索、智能体和大模型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7" y="4562856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407408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提升客服效率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883664"/>
            <a:ext cx="5157216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68D39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2084832"/>
            <a:ext cx="4645152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8D391"/>
                </a:solidFill>
                <a:latin typeface="Hiragino Sans GB"/>
                <a:ea typeface="Hiragino Sans GB"/>
              </a:rPr>
              <a:t>描述B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38544" y="2633472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聚焦电商售后订单查询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454146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8544" y="3298698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拆解意图识别、订单接口和异常分流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1193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38544" y="3963924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用历史问句测试多意图和信息缺失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784598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38544" y="4629150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补充澄清与转人工策略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判断标准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技术名词少一些，项目过程更具体。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第三部分｜课程项目怎样写进简历和作品集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28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5043830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能看出个人工作的材料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项目过程越具体，越容易说明这是自己做的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251002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选题变化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10769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最初想做什么，后来为什么收缩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4428" y="1883664"/>
            <a:ext cx="251002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559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559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业务材料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5596" y="2798064"/>
            <a:ext cx="210769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访谈、公开资料、工作经验或脱敏文档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48" y="1883664"/>
            <a:ext cx="251002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版本记录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2798064"/>
            <a:ext cx="210769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V0.1 / V0.2 / V1.0 及修改原因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3668" y="1883664"/>
            <a:ext cx="251002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483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483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功能取舍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4836" y="2798064"/>
            <a:ext cx="210769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考虑过什么，为什么没有放进 MVP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3822191"/>
            <a:ext cx="251002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4023359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" y="4315968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测试记录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" y="4736592"/>
            <a:ext cx="210769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测试样本、结果和典型错误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24428" y="3822191"/>
            <a:ext cx="251002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25596" y="4023359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25596" y="4315968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原型与Demo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25596" y="4736592"/>
            <a:ext cx="210769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正常、异常、不确定和人工确认状态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99048" y="3822191"/>
            <a:ext cx="251002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0216" y="4023359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0216" y="4315968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个人判断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0216" y="4736592"/>
            <a:ext cx="210769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哪些是公共方法，哪些是个人设计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面试时能讲清过程，比项目名称听起来宏大更重要。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第三部分｜课程项目怎样写进简历和作品集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29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5223967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项目中不能虚构的内容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没有真实上线时，不能写成真实业务结果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F6969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用户规模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覆盖10万企业用户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442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559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F6969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559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效果提升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559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准确率提升35%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4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F6969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商业收益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节省公司500万元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366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483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F6969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483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推广范围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483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已在集团多个部门推广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可以写测试结果和价值估算，但必须说明验证条件。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第三部分｜课程项目怎样写进简历和作品集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30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5404104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真实结果、测试结果和估算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三类信息要分别表达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533888" cy="285292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25880"/>
                <a:gridCol w="5577840"/>
                <a:gridCol w="3630168"/>
              </a:tblGrid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类型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可以怎样写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需要说明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真实结果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系统上线后的实际用户、效果或收益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数据来源、时间范围和口径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测试结果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基于80条脱敏样本完成测试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样本来源、指标和发现的问题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价值估算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根据人工步骤估算可能节省的时间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尚未通过生产数据验证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如实说明边界，反而更容易获得信任。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第三部分｜课程项目怎样写进简历和作品集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31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5584240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面试官常见追问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真正做过项目的人通常能讲清当时的判断条件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251002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用户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10769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为什么选择这个用户？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4428" y="1883664"/>
            <a:ext cx="251002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559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559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问题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5596" y="2798064"/>
            <a:ext cx="210769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你怎么知道问题存在？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48" y="1883664"/>
            <a:ext cx="251002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材料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2798064"/>
            <a:ext cx="210769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输入材料具体长什么样？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3668" y="1883664"/>
            <a:ext cx="251002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483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483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技术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4836" y="2798064"/>
            <a:ext cx="210769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为什么用知识检索或规则？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3822191"/>
            <a:ext cx="251002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4023359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" y="4315968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范围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" y="4736592"/>
            <a:ext cx="210769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为什么没进入第一版？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24428" y="3822191"/>
            <a:ext cx="251002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25596" y="4023359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25596" y="4315968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测试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25596" y="4736592"/>
            <a:ext cx="210769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样本是谁整理的？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99048" y="3822191"/>
            <a:ext cx="251002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0216" y="4023359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0216" y="4315968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错误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0216" y="4736592"/>
            <a:ext cx="210769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最严重的问题是什么？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73668" y="3822191"/>
            <a:ext cx="251002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74836" y="4023359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74836" y="4315968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修改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74836" y="4736592"/>
            <a:ext cx="210769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后来具体改了哪一部分？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回答可以不完美，但必须回到真实信息和实际限制。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第三部分｜课程项目怎样写进简历和作品集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32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5764377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一段可信的项目描述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简历只保留最关键的项目过程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38528"/>
            <a:ext cx="1633727" cy="3529584"/>
          </a:xfrm>
          <a:prstGeom prst="roundRect">
            <a:avLst>
              <a:gd name="adj" fmla="val 895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432304"/>
            <a:ext cx="1231391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面向谁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852928"/>
            <a:ext cx="1231391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用户和具体任务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374392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529839" y="1938528"/>
            <a:ext cx="1633727" cy="3529584"/>
          </a:xfrm>
          <a:prstGeom prst="roundRect">
            <a:avLst>
              <a:gd name="adj" fmla="val 895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31007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31007" y="2432304"/>
            <a:ext cx="1231391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解决什么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31007" y="2852928"/>
            <a:ext cx="1231391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当前流程最麻烦的地方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154423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09872" y="1938528"/>
            <a:ext cx="1633727" cy="3529584"/>
          </a:xfrm>
          <a:prstGeom prst="roundRect">
            <a:avLst>
              <a:gd name="adj" fmla="val 895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11039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1039" y="2432304"/>
            <a:ext cx="1231391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做了什么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1039" y="2852928"/>
            <a:ext cx="1231391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关键产品工作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934455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089903" y="1938528"/>
            <a:ext cx="1633727" cy="3529584"/>
          </a:xfrm>
          <a:prstGeom prst="roundRect">
            <a:avLst>
              <a:gd name="adj" fmla="val 895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91071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1071" y="2432304"/>
            <a:ext cx="1231391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怎样分工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1071" y="2852928"/>
            <a:ext cx="1231391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模型、规则和人工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714487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869935" y="1938528"/>
            <a:ext cx="1633727" cy="3529584"/>
          </a:xfrm>
          <a:prstGeom prst="roundRect">
            <a:avLst>
              <a:gd name="adj" fmla="val 895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71104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71104" y="2432304"/>
            <a:ext cx="1231391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怎样验证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71104" y="2852928"/>
            <a:ext cx="1231391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样本、指标和错误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494520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49967" y="1938528"/>
            <a:ext cx="1633727" cy="3529584"/>
          </a:xfrm>
          <a:prstGeom prst="roundRect">
            <a:avLst>
              <a:gd name="adj" fmla="val 895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51135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51135" y="2432304"/>
            <a:ext cx="1231391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怎样修改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51135" y="2852928"/>
            <a:ext cx="1231391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版本变化和原因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处理结果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把自己真正完成过的内容写清楚，不需要夸大上线结果。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第四部分｜三个公共项目分别训练什么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33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5944514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三个公共项目的选择逻辑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938528"/>
            <a:ext cx="10012680" cy="12252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5F2E9"/>
                </a:solidFill>
                <a:latin typeface="Hiragino Sans GB"/>
                <a:ea typeface="Hiragino Sans GB"/>
              </a:rPr>
              <a:t>三个项目分别训练服务、核验和专业内容生成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401568"/>
            <a:ext cx="73152" cy="109728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401568"/>
            <a:ext cx="9674352" cy="109728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7B5BC"/>
                </a:solidFill>
                <a:latin typeface="Hiragino Sans GB"/>
                <a:ea typeface="Hiragino Sans GB"/>
              </a:rPr>
              <a:t>它们代表三类常见企业问题：开放表达怎样进入稳定服务流程，复杂材料怎样被可靠核验，分散知识怎样形成有依据的专业文档。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第四部分｜三个公共项目分别训练什么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34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6124651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三个公共项目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项目越来越复杂，产品责任也越来越重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企业智能客服与业务办理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开放对话、知识问答、业务查询和人工接管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业务材料审核与风险核验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文档提取、规则核对、风险提示和人工复核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8212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329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专业知识研究与方案生成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长文档理解、知识检索、结构生成和事实检查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三个项目都会同时调用多种AI和产品能力。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第四部分｜三个公共项目分别训练什么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35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6304788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企业智能客服与业务办理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电商售后只是公共案例，重点是服务流程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用户表达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同一个问题有很多说法，信息经常不完整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442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559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559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知识来源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559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产品资料、售后制度和FAQ分散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4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实时数据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订单、物流和账户状态需要查业务系统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366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483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483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人工接管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483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投诉、异常和高风险问题不能只靠自由对话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客服产品要真正解决问题，不只是回答得像人。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第四部分｜三个公共项目分别训练什么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36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6484924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智能客服的处理流程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对话最终要进入可控的知识、查询或办理路径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38528"/>
            <a:ext cx="1633727" cy="3529584"/>
          </a:xfrm>
          <a:prstGeom prst="roundRect">
            <a:avLst>
              <a:gd name="adj" fmla="val 895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432304"/>
            <a:ext cx="1231391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发起咨询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852928"/>
            <a:ext cx="1231391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自然语言描述问题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374392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529839" y="1938528"/>
            <a:ext cx="1633727" cy="3529584"/>
          </a:xfrm>
          <a:prstGeom prst="roundRect">
            <a:avLst>
              <a:gd name="adj" fmla="val 895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31007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31007" y="2432304"/>
            <a:ext cx="1231391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识别意图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31007" y="2852928"/>
            <a:ext cx="1231391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补齐必要信息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154423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09872" y="1938528"/>
            <a:ext cx="1633727" cy="3529584"/>
          </a:xfrm>
          <a:prstGeom prst="roundRect">
            <a:avLst>
              <a:gd name="adj" fmla="val 895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11039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1039" y="2432304"/>
            <a:ext cx="1231391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选择路径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1039" y="2852928"/>
            <a:ext cx="1231391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问答、查询或办理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934455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089903" y="1938528"/>
            <a:ext cx="1633727" cy="3529584"/>
          </a:xfrm>
          <a:prstGeom prst="roundRect">
            <a:avLst>
              <a:gd name="adj" fmla="val 895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91071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1071" y="2432304"/>
            <a:ext cx="1231391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调用能力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1071" y="2852928"/>
            <a:ext cx="1231391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知识、接口和规则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714487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869935" y="1938528"/>
            <a:ext cx="1633727" cy="3529584"/>
          </a:xfrm>
          <a:prstGeom prst="roundRect">
            <a:avLst>
              <a:gd name="adj" fmla="val 895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71104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71104" y="2432304"/>
            <a:ext cx="1231391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返回结果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71104" y="2852928"/>
            <a:ext cx="1231391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回答或引导操作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494520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49967" y="1938528"/>
            <a:ext cx="1633727" cy="3529584"/>
          </a:xfrm>
          <a:prstGeom prst="roundRect">
            <a:avLst>
              <a:gd name="adj" fmla="val 895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51135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51135" y="2432304"/>
            <a:ext cx="1231391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转交人工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51135" y="2852928"/>
            <a:ext cx="1231391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不确定、异常和高风险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处理结果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人工接管时要把已经收集的信息一并交过去。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第四部分｜三个公共项目分别训练什么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37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6665061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智能客服项目的练习重点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从开放语言走到稳定服务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意图与澄清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识别需求，缺信息时继续追问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883664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知识和数据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798064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区分知识库回答与实时系统查询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82128" y="1883664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329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流程收束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798064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重要操作使用规则、按钮和表单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3822191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4023359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" y="4315968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异常处理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" y="4736592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低置信度、知识缺失和情绪问题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15968" y="3822191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17136" y="4023359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17136" y="4315968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人工接管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17136" y="4736592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触发条件和上下文交接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82128" y="3822191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3296" y="4023359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3296" y="4315968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产品评估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3296" y="4736592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解决率、完成率、转人工和典型错误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核心能力是把用户表达转成可以执行、可以负责的服务流程。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第四部分｜三个公共项目分别训练什么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38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6845198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采购单据核验的业务场景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一笔采购会经过多份材料和多个系统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业务材料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采购申请、订单、入库单、发票和ERP记录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442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559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559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人工工作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559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提取供应商、日期、数量和金额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4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核验任务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判断材料是否完整，前后是否一致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366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483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483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风险要求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483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差异必须能回到原始材料，由审核人员确认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公共案例关注采购穿行中的单据核验和风险提示。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第四部分｜三个公共项目分别训练什么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39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7025335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材料核验的处理流程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字段提取和业务核验是两类不同工作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38528"/>
            <a:ext cx="2523744" cy="1572768"/>
          </a:xfrm>
          <a:prstGeom prst="roundRect">
            <a:avLst>
              <a:gd name="adj" fmla="val 930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432304"/>
            <a:ext cx="212140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F5F2E9"/>
                </a:solidFill>
                <a:latin typeface="Hiragino Sans GB"/>
                <a:ea typeface="Hiragino Sans GB"/>
              </a:rPr>
              <a:t>上传材料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852928"/>
            <a:ext cx="2121408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5BC"/>
                </a:solidFill>
                <a:latin typeface="Hiragino Sans GB"/>
                <a:ea typeface="Hiragino Sans GB"/>
              </a:rPr>
              <a:t>业务数据和单据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64408" y="2651760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19856" y="1938528"/>
            <a:ext cx="2523744" cy="1572768"/>
          </a:xfrm>
          <a:prstGeom prst="roundRect">
            <a:avLst>
              <a:gd name="adj" fmla="val 930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4" y="2432304"/>
            <a:ext cx="212140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F5F2E9"/>
                </a:solidFill>
                <a:latin typeface="Hiragino Sans GB"/>
                <a:ea typeface="Hiragino Sans GB"/>
              </a:rPr>
              <a:t>识别类型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1024" y="2852928"/>
            <a:ext cx="2121408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5BC"/>
                </a:solidFill>
                <a:latin typeface="Hiragino Sans GB"/>
                <a:ea typeface="Hiragino Sans GB"/>
              </a:rPr>
              <a:t>判断是什么文档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34456" y="2651760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89904" y="1938528"/>
            <a:ext cx="2523744" cy="1572768"/>
          </a:xfrm>
          <a:prstGeom prst="roundRect">
            <a:avLst>
              <a:gd name="adj" fmla="val 930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2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2432304"/>
            <a:ext cx="212140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F5F2E9"/>
                </a:solidFill>
                <a:latin typeface="Hiragino Sans GB"/>
                <a:ea typeface="Hiragino Sans GB"/>
              </a:rPr>
              <a:t>提取字段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2852928"/>
            <a:ext cx="2121408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5BC"/>
                </a:solidFill>
                <a:latin typeface="Hiragino Sans GB"/>
                <a:ea typeface="Hiragino Sans GB"/>
              </a:rPr>
              <a:t>金额、日期、数量等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604504" y="2651760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59952" y="1938528"/>
            <a:ext cx="2523744" cy="1572768"/>
          </a:xfrm>
          <a:prstGeom prst="roundRect">
            <a:avLst>
              <a:gd name="adj" fmla="val 930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0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2432304"/>
            <a:ext cx="212140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F5F2E9"/>
                </a:solidFill>
                <a:latin typeface="Hiragino Sans GB"/>
                <a:ea typeface="Hiragino Sans GB"/>
              </a:rPr>
              <a:t>关联业务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2852928"/>
            <a:ext cx="2121408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5BC"/>
                </a:solidFill>
                <a:latin typeface="Hiragino Sans GB"/>
                <a:ea typeface="Hiragino Sans GB"/>
              </a:rPr>
              <a:t>找到同一笔采购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3895344"/>
            <a:ext cx="2523744" cy="1572768"/>
          </a:xfrm>
          <a:prstGeom prst="roundRect">
            <a:avLst>
              <a:gd name="adj" fmla="val 930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4096511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" y="4389120"/>
            <a:ext cx="212140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F5F2E9"/>
                </a:solidFill>
                <a:latin typeface="Hiragino Sans GB"/>
                <a:ea typeface="Hiragino Sans GB"/>
              </a:rPr>
              <a:t>规则核对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" y="4809744"/>
            <a:ext cx="2121408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5BC"/>
                </a:solidFill>
                <a:latin typeface="Hiragino Sans GB"/>
                <a:ea typeface="Hiragino Sans GB"/>
              </a:rPr>
              <a:t>比较字段和必要材料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3264408" y="4608576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419856" y="3895344"/>
            <a:ext cx="2523744" cy="1572768"/>
          </a:xfrm>
          <a:prstGeom prst="roundRect">
            <a:avLst>
              <a:gd name="adj" fmla="val 930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21024" y="4096511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21024" y="4389120"/>
            <a:ext cx="212140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F5F2E9"/>
                </a:solidFill>
                <a:latin typeface="Hiragino Sans GB"/>
                <a:ea typeface="Hiragino Sans GB"/>
              </a:rPr>
              <a:t>标记风险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21024" y="4809744"/>
            <a:ext cx="2121408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5BC"/>
                </a:solidFill>
                <a:latin typeface="Hiragino Sans GB"/>
                <a:ea typeface="Hiragino Sans GB"/>
              </a:rPr>
              <a:t>展示差异和原始位置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5934456" y="4608576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089904" y="3895344"/>
            <a:ext cx="2523744" cy="1572768"/>
          </a:xfrm>
          <a:prstGeom prst="roundRect">
            <a:avLst>
              <a:gd name="adj" fmla="val 930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91072" y="4096511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1072" y="4389120"/>
            <a:ext cx="212140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F5F2E9"/>
                </a:solidFill>
                <a:latin typeface="Hiragino Sans GB"/>
                <a:ea typeface="Hiragino Sans GB"/>
              </a:rPr>
              <a:t>人工复核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91072" y="4809744"/>
            <a:ext cx="2121408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5BC"/>
                </a:solidFill>
                <a:latin typeface="Hiragino Sans GB"/>
                <a:ea typeface="Hiragino Sans GB"/>
              </a:rPr>
              <a:t>审核人员确认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处理结果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模型负责理解材料，确定性的金额和日期比较交给规则。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第四部分｜三个公共项目分别训练什么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40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7205472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材料核验项目的练习重点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准确性和责任边界要求更高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识别与提取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文字识别、视觉模型和大模型怎样配合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883664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字段字典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798064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每类单据需要哪些字段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82128" y="1883664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329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业务关系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798064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不同材料怎样对应同一笔业务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3822191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4023359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" y="4315968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核验规则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" y="4736592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金额、日期、数量和缺失材料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15968" y="3822191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17136" y="4023359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17136" y="4315968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风险处理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17136" y="4736592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低置信度、误报、漏报和人工确认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82128" y="3822191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3296" y="4023359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3296" y="4315968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两层测试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3296" y="4736592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字段提取准确度和风险判断效果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AI提示风险，专业人员承担最终判断。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第四部分｜三个公共项目分别训练什么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41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7385608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RFP需求拆解与智能标书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先理解复杂要求，再生成专业内容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外部要求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截止时间、资格、强制项、参数和评分标准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442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559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559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内部知识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559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企业资质、产品资料、历史案例和方案能力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4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主要风险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遗漏要求、引用错误、事实编造和前后冲突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366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483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483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最终产出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483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需求清单、材料缺口、目录和分章节初稿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一次性生成长文档很容易漏项，必须拆成多个可检查步骤。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第四部分｜三个公共项目分别训练什么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42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7565745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专业方案生成的处理流程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从要求清单开始，逐步走到完整文档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38528"/>
            <a:ext cx="2523744" cy="1572768"/>
          </a:xfrm>
          <a:prstGeom prst="roundRect">
            <a:avLst>
              <a:gd name="adj" fmla="val 930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432304"/>
            <a:ext cx="212140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F5F2E9"/>
                </a:solidFill>
                <a:latin typeface="Hiragino Sans GB"/>
                <a:ea typeface="Hiragino Sans GB"/>
              </a:rPr>
              <a:t>上传RFP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852928"/>
            <a:ext cx="2121408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5BC"/>
                </a:solidFill>
                <a:latin typeface="Hiragino Sans GB"/>
                <a:ea typeface="Hiragino Sans GB"/>
              </a:rPr>
              <a:t>几十页到几百页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64408" y="2651760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19856" y="1938528"/>
            <a:ext cx="2523744" cy="1572768"/>
          </a:xfrm>
          <a:prstGeom prst="roundRect">
            <a:avLst>
              <a:gd name="adj" fmla="val 930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4" y="2432304"/>
            <a:ext cx="212140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F5F2E9"/>
                </a:solidFill>
                <a:latin typeface="Hiragino Sans GB"/>
                <a:ea typeface="Hiragino Sans GB"/>
              </a:rPr>
              <a:t>提取要求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1024" y="2852928"/>
            <a:ext cx="2121408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5BC"/>
                </a:solidFill>
                <a:latin typeface="Hiragino Sans GB"/>
                <a:ea typeface="Hiragino Sans GB"/>
              </a:rPr>
              <a:t>资格、强制项和评分点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34456" y="2651760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89904" y="1938528"/>
            <a:ext cx="2523744" cy="1572768"/>
          </a:xfrm>
          <a:prstGeom prst="roundRect">
            <a:avLst>
              <a:gd name="adj" fmla="val 930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2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2432304"/>
            <a:ext cx="212140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F5F2E9"/>
                </a:solidFill>
                <a:latin typeface="Hiragino Sans GB"/>
                <a:ea typeface="Hiragino Sans GB"/>
              </a:rPr>
              <a:t>标记位置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2852928"/>
            <a:ext cx="2121408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5BC"/>
                </a:solidFill>
                <a:latin typeface="Hiragino Sans GB"/>
                <a:ea typeface="Hiragino Sans GB"/>
              </a:rPr>
              <a:t>保留原文页码或段落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604504" y="2651760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59952" y="1938528"/>
            <a:ext cx="2523744" cy="1572768"/>
          </a:xfrm>
          <a:prstGeom prst="roundRect">
            <a:avLst>
              <a:gd name="adj" fmla="val 930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0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2432304"/>
            <a:ext cx="212140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F5F2E9"/>
                </a:solidFill>
                <a:latin typeface="Hiragino Sans GB"/>
                <a:ea typeface="Hiragino Sans GB"/>
              </a:rPr>
              <a:t>检索资料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2852928"/>
            <a:ext cx="2121408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5BC"/>
                </a:solidFill>
                <a:latin typeface="Hiragino Sans GB"/>
                <a:ea typeface="Hiragino Sans GB"/>
              </a:rPr>
              <a:t>资质、产品和案例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3895344"/>
            <a:ext cx="2523744" cy="1572768"/>
          </a:xfrm>
          <a:prstGeom prst="roundRect">
            <a:avLst>
              <a:gd name="adj" fmla="val 930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4096511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" y="4389120"/>
            <a:ext cx="212140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F5F2E9"/>
                </a:solidFill>
                <a:latin typeface="Hiragino Sans GB"/>
                <a:ea typeface="Hiragino Sans GB"/>
              </a:rPr>
              <a:t>生成目录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" y="4809744"/>
            <a:ext cx="2121408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5BC"/>
                </a:solidFill>
                <a:latin typeface="Hiragino Sans GB"/>
                <a:ea typeface="Hiragino Sans GB"/>
              </a:rPr>
              <a:t>一级和二级结构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3264408" y="4608576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419856" y="3895344"/>
            <a:ext cx="2523744" cy="1572768"/>
          </a:xfrm>
          <a:prstGeom prst="roundRect">
            <a:avLst>
              <a:gd name="adj" fmla="val 930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21024" y="4096511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21024" y="4389120"/>
            <a:ext cx="212140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F5F2E9"/>
                </a:solidFill>
                <a:latin typeface="Hiragino Sans GB"/>
                <a:ea typeface="Hiragino Sans GB"/>
              </a:rPr>
              <a:t>分段写作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21024" y="4809744"/>
            <a:ext cx="2121408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5BC"/>
                </a:solidFill>
                <a:latin typeface="Hiragino Sans GB"/>
                <a:ea typeface="Hiragino Sans GB"/>
              </a:rPr>
              <a:t>按章节生成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5934456" y="4608576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089904" y="3895344"/>
            <a:ext cx="2523744" cy="1572768"/>
          </a:xfrm>
          <a:prstGeom prst="roundRect">
            <a:avLst>
              <a:gd name="adj" fmla="val 930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91072" y="4096511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1072" y="4389120"/>
            <a:ext cx="212140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F5F2E9"/>
                </a:solidFill>
                <a:latin typeface="Hiragino Sans GB"/>
                <a:ea typeface="Hiragino Sans GB"/>
              </a:rPr>
              <a:t>检查内容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91072" y="4809744"/>
            <a:ext cx="2121408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5BC"/>
                </a:solidFill>
                <a:latin typeface="Hiragino Sans GB"/>
                <a:ea typeface="Hiragino Sans GB"/>
              </a:rPr>
              <a:t>遗漏、引用和事实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8604504" y="4608576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759952" y="3895344"/>
            <a:ext cx="2523744" cy="1572768"/>
          </a:xfrm>
          <a:prstGeom prst="roundRect">
            <a:avLst>
              <a:gd name="adj" fmla="val 930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61120" y="4096511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0" y="4389120"/>
            <a:ext cx="212140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F5F2E9"/>
                </a:solidFill>
                <a:latin typeface="Hiragino Sans GB"/>
                <a:ea typeface="Hiragino Sans GB"/>
              </a:rPr>
              <a:t>人工校对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20" y="4809744"/>
            <a:ext cx="2121408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5BC"/>
                </a:solidFill>
                <a:latin typeface="Hiragino Sans GB"/>
                <a:ea typeface="Hiragino Sans GB"/>
              </a:rPr>
              <a:t>补充并最终确认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处理结果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先抽取和核对要求，再开始生成。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第四部分｜三个公共项目分别训练什么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43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7745882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专业方案生成项目的练习重点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信息量更大，过程必须可检查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长文档理解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处理复杂结构和大量要求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883664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要求抽取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798064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先形成完整清单和材料缺口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82128" y="1883664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329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知识检索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798064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使用企业资料并保留来源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3822191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4023359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" y="4315968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树状拆解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" y="4736592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从目录走到章节和段落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15968" y="3822191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17136" y="4023359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17136" y="4315968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缺失处理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17136" y="4736592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材料不足时要求人工补充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82128" y="3822191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3296" y="4023359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3296" y="4315968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结果测试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3296" y="4736592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遗漏、错误引用、编造和冲突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核心能力是把复杂要求转成有依据、可复核的专业内容。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第四部分｜三个公共项目分别训练什么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44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7926019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三个必修项目和两个选修方向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必修负责主干能力，选修补充个性化方向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533888" cy="307238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834640"/>
                <a:gridCol w="4160520"/>
                <a:gridCol w="3538728"/>
              </a:tblGrid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6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项目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6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主要输入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6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重点练习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6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智能客服与业务办理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6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用户对话、企业知识和业务数据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6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对话理解、流程控制和人工接管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6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材料审核与风险核验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6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业务数据、单据和审核规则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6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模型、规则和人工可靠协作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6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专业研究与方案生成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6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复杂要求、企业知识和专业资料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6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长文档理解、生成和校验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6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图像判断与报告生成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6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图片和业务标准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6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多模态理解和结构化报告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6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客户研究与销售方案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6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外部研究、产品资料和客户目标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6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信息研究、产品匹配和推荐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三个个人项目保持不变，选修方向按个人需要使用。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第五部分｜公共项目怎样迁移成个人项目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45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8106156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项目迁移和改名的区别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业务内容需要重新建立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5157216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84832"/>
            <a:ext cx="4645152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6D6C2"/>
                </a:solidFill>
                <a:latin typeface="Hiragino Sans GB"/>
                <a:ea typeface="Hiragino Sans GB"/>
              </a:rPr>
              <a:t>只改名称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7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2633472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把电商客服改成SaaS客服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7" y="36758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3520440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功能、流程和测试全部照搬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7" y="4562856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407408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不知道账号、权限和工单怎样处理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883664"/>
            <a:ext cx="5157216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68D39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2084832"/>
            <a:ext cx="4645152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8D391"/>
                </a:solidFill>
                <a:latin typeface="Hiragino Sans GB"/>
                <a:ea typeface="Hiragino Sans GB"/>
              </a:rPr>
              <a:t>真正迁移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38544" y="2633472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重新确定用户和使用时刻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454146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8544" y="3298698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找到知识、业务数据和真实问句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1193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38544" y="3963924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重新设计权限、风险和转人工条件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784598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38544" y="4629150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建立自己的测试样本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判断标准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方法可以复用，项目答案必须来自新的业务场景。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第五部分｜公共项目怎样迁移成个人项目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46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8286292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三类公共项目的个人化方向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每一类结构都能迁移到不同业务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对话与办理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SaaS帮助台、员工服务、物业报修、课程咨询、保险咨询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材料审核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报销、理赔、合同履约、供应商资质、贷款材料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8212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329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专业方案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项目申报、客户研究、咨询方案、尽调、安全问卷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迁移后要重新说明角色、输入、规则、风险、输出和测试。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第五部分｜公共项目怎样迁移成个人项目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47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8466429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个人项目的三个入口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优先寻找三者的交集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过去的工作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从重复、耗时或容易出错的任务开始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可以获得的材料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客服记录、业务单据、政策、手册、历史方案或用户反馈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8212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329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目标岗位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查看岗位希望你证明哪些业务和AI产品能力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理解业务、拿得到材料、又能服务职业目标的方向最适合。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第六部分｜怎样判断一个选题是否值得做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48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8646566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选题的六项标准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每一项都回答项目能不能真正做下去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业务熟悉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能否还原用户现在的工作流程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883664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用户可达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798064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能否接触真实使用者或可靠从业者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82128" y="1883664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329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材料可得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798064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能否准备真实、脱敏或合理仿真的输入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3822191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4023359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" y="4315968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AI必要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" y="4736592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关键环节是否需要理解、提取、检索或生成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15968" y="3822191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17136" y="4023359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17136" y="4315968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范围可控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17136" y="4736592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第一版能否只完成一个明确任务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82128" y="3822191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3296" y="4023359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3296" y="4315968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职业相关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3296" y="4736592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能否证明目标岗位需要的能力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任何一项明显缺失，都要先调整选题。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第六部分｜怎样判断一个选题是否值得做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49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8826703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六项评分表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每项0到2分，用来发现选题缺少什么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533888" cy="32004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91640"/>
                <a:gridCol w="2816352"/>
                <a:gridCol w="2816352"/>
                <a:gridCol w="3209544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1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标准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1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0分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1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1分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1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2分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1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业务熟悉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1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基本不了解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1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有一般认知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1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有经验或可靠资料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1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用户可达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1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无法接触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1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可以间接了解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1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可以访谈或持续验证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1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材料可得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1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没有材料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1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少量公开材料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1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有可用或脱敏材料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1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AI必要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1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规则即可完成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1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AI有一定价值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1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AI明显改善关键环节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1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范围可控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1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范围巨大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1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需要明显收缩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1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可以形成最小闭环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1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职业相关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1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关系较弱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1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部分相关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1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高度相关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9到12分可继续，6到8分先修改，0到5分暂缓立项。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第六部分｜怎样判断一个选题是否值得做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50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9006840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三个选题的评分示例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简单项目也可能比宏大项目更适合第一次练习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533888" cy="285292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97180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527048"/>
              </a:tblGrid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22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选题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业务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用户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材料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AI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范围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职业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总分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2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AI老板助手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0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0-1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0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1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0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1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2-3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2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保险顾问家庭保障方案助手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2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2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2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2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1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2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11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22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项目例会待办整理助手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2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2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2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2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2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1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11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solidFill>
                      <a:srgbClr val="133843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评分不是预测模型，只是一张选题检查表。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第六部分｜怎样判断一个选题是否值得做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51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9186976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需要暂停的四类选题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暂停的目的是换用户、缩范围、补材料或调整责任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F6969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没有用户和材料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只有行业想象，没有任何验证入口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442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559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F6969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559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关键数据拿不到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559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项目依赖医疗、风控或内部机密数据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4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F6969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第一版覆盖全流程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一次想做完客服、销售、营销和运营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366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483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F6969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483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高风险自动决策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483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自动诊断、拒赔、授信或审计，却没有人工确认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暂时不立项，不代表这个方向永远不能做。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第七部分｜现场诊断并确定第一个个人项目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52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9367113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现场诊断的八个问题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所有项目按照同一顺序检查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38528"/>
            <a:ext cx="2523744" cy="1572768"/>
          </a:xfrm>
          <a:prstGeom prst="roundRect">
            <a:avLst>
              <a:gd name="adj" fmla="val 930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432304"/>
            <a:ext cx="212140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F5F2E9"/>
                </a:solidFill>
                <a:latin typeface="Hiragino Sans GB"/>
                <a:ea typeface="Hiragino Sans GB"/>
              </a:rPr>
              <a:t>使用者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852928"/>
            <a:ext cx="2121408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5BC"/>
                </a:solidFill>
                <a:latin typeface="Hiragino Sans GB"/>
                <a:ea typeface="Hiragino Sans GB"/>
              </a:rPr>
              <a:t>实际打开产品的人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64408" y="2651760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19856" y="1938528"/>
            <a:ext cx="2523744" cy="1572768"/>
          </a:xfrm>
          <a:prstGeom prst="roundRect">
            <a:avLst>
              <a:gd name="adj" fmla="val 930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4" y="2432304"/>
            <a:ext cx="212140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F5F2E9"/>
                </a:solidFill>
                <a:latin typeface="Hiragino Sans GB"/>
                <a:ea typeface="Hiragino Sans GB"/>
              </a:rPr>
              <a:t>使用时刻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1024" y="2852928"/>
            <a:ext cx="2121408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5BC"/>
                </a:solidFill>
                <a:latin typeface="Hiragino Sans GB"/>
                <a:ea typeface="Hiragino Sans GB"/>
              </a:rPr>
              <a:t>任务发生在什么时候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34456" y="2651760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89904" y="1938528"/>
            <a:ext cx="2523744" cy="1572768"/>
          </a:xfrm>
          <a:prstGeom prst="roundRect">
            <a:avLst>
              <a:gd name="adj" fmla="val 930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2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2432304"/>
            <a:ext cx="212140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F5F2E9"/>
                </a:solidFill>
                <a:latin typeface="Hiragino Sans GB"/>
                <a:ea typeface="Hiragino Sans GB"/>
              </a:rPr>
              <a:t>当前做法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2852928"/>
            <a:ext cx="2121408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5BC"/>
                </a:solidFill>
                <a:latin typeface="Hiragino Sans GB"/>
                <a:ea typeface="Hiragino Sans GB"/>
              </a:rPr>
              <a:t>没有产品时怎样工作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604504" y="2651760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59952" y="1938528"/>
            <a:ext cx="2523744" cy="1572768"/>
          </a:xfrm>
          <a:prstGeom prst="roundRect">
            <a:avLst>
              <a:gd name="adj" fmla="val 930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0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2432304"/>
            <a:ext cx="212140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F5F2E9"/>
                </a:solidFill>
                <a:latin typeface="Hiragino Sans GB"/>
                <a:ea typeface="Hiragino Sans GB"/>
              </a:rPr>
              <a:t>主要问题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2852928"/>
            <a:ext cx="2121408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5BC"/>
                </a:solidFill>
                <a:latin typeface="Hiragino Sans GB"/>
                <a:ea typeface="Hiragino Sans GB"/>
              </a:rPr>
              <a:t>第一版只选一个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3895344"/>
            <a:ext cx="2523744" cy="1572768"/>
          </a:xfrm>
          <a:prstGeom prst="roundRect">
            <a:avLst>
              <a:gd name="adj" fmla="val 930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4096511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" y="4389120"/>
            <a:ext cx="212140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F5F2E9"/>
                </a:solidFill>
                <a:latin typeface="Hiragino Sans GB"/>
                <a:ea typeface="Hiragino Sans GB"/>
              </a:rPr>
              <a:t>AI作用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" y="4809744"/>
            <a:ext cx="2121408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5BC"/>
                </a:solidFill>
                <a:latin typeface="Hiragino Sans GB"/>
                <a:ea typeface="Hiragino Sans GB"/>
              </a:rPr>
              <a:t>具体进入哪一步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3264408" y="4608576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419856" y="3895344"/>
            <a:ext cx="2523744" cy="1572768"/>
          </a:xfrm>
          <a:prstGeom prst="roundRect">
            <a:avLst>
              <a:gd name="adj" fmla="val 930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21024" y="4096511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21024" y="4389120"/>
            <a:ext cx="212140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F5F2E9"/>
                </a:solidFill>
                <a:latin typeface="Hiragino Sans GB"/>
                <a:ea typeface="Hiragino Sans GB"/>
              </a:rPr>
              <a:t>材料来源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21024" y="4809744"/>
            <a:ext cx="2121408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5BC"/>
                </a:solidFill>
                <a:latin typeface="Hiragino Sans GB"/>
                <a:ea typeface="Hiragino Sans GB"/>
              </a:rPr>
              <a:t>文档、字段和样本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5934456" y="4608576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089904" y="3895344"/>
            <a:ext cx="2523744" cy="1572768"/>
          </a:xfrm>
          <a:prstGeom prst="roundRect">
            <a:avLst>
              <a:gd name="adj" fmla="val 930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91072" y="4096511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1072" y="4389120"/>
            <a:ext cx="212140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F5F2E9"/>
                </a:solidFill>
                <a:latin typeface="Hiragino Sans GB"/>
                <a:ea typeface="Hiragino Sans GB"/>
              </a:rPr>
              <a:t>最小闭环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91072" y="4809744"/>
            <a:ext cx="2121408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5BC"/>
                </a:solidFill>
                <a:latin typeface="Hiragino Sans GB"/>
                <a:ea typeface="Hiragino Sans GB"/>
              </a:rPr>
              <a:t>输入、确认和可用输出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8604504" y="4608576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759952" y="3895344"/>
            <a:ext cx="2523744" cy="1572768"/>
          </a:xfrm>
          <a:prstGeom prst="roundRect">
            <a:avLst>
              <a:gd name="adj" fmla="val 930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61120" y="4096511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0" y="4389120"/>
            <a:ext cx="212140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F5F2E9"/>
                </a:solidFill>
                <a:latin typeface="Hiragino Sans GB"/>
                <a:ea typeface="Hiragino Sans GB"/>
              </a:rPr>
              <a:t>删除内容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20" y="4809744"/>
            <a:ext cx="2121408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5BC"/>
                </a:solidFill>
                <a:latin typeface="Hiragino Sans GB"/>
                <a:ea typeface="Hiragino Sans GB"/>
              </a:rPr>
              <a:t>主动缩小第一版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处理结果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诊断先找缺口，再讨论具体功能。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第七部分｜现场诊断并确定第一个个人项目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53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9547250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课堂选择与项目收缩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看完案例后，先让全班做判断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A 可以进入项目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用户、问题、材料和第一版已经明确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883664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B 需要缩小范围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798064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方向成立，但第一版包含太多任务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82128" y="1883664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329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C 更换核心问题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798064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当前问题无法形成清楚的产品目标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3822191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4023359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" y="4315968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D 不适合大模型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" y="4736592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规则、搜索或普通系统已经足够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15968" y="3822191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17136" y="4023359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F6969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17136" y="4315968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E 缺少材料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17136" y="4736592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暂时无法判断效果和可行性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82128" y="3822191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3296" y="4023359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3296" y="4315968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收缩示例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3296" y="4736592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AI医疗助手可缩成营养师饮食记录整理与随访摘要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选择之后再说明理由，重点是使用共同的判断条件。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第七部分｜现场诊断并确定第一个个人项目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54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9727387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项目一选题卡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第一课结束前，每个人都要写出一版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用户与场景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项目名称、目标用户、发生场景、当前做法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883664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问题与材料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798064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最主要的问题、可以获得的材料或数据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82128" y="1883664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329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产品方案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798064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AI任务、最终输出和人工环节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3822191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4023359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" y="4315968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第一版边界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" y="4736592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明确不做什么、对应哪类公共项目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15968" y="3822191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17136" y="4023359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17136" y="4315968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当前判断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17136" y="4736592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六项总分、尚未确认的假设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选题卡不是完整的产品需求文档，它只确认项目能不能继续。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第七部分｜现场诊断并确定第一个个人项目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55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9907524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选题卡的三种处理结果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老师根据项目是否具备推进条件给出处理意见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533888" cy="277977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28800"/>
                <a:gridCol w="6080760"/>
                <a:gridCol w="2624328"/>
              </a:tblGrid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27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处理结果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常见情况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下一步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27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可以通过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用户、场景、材料、AI任务、输出和人工责任都较明确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进入公共项目学习并继续补充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27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修改后通过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方向合理，但范围偏大、任务不具体或材料不足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按点评意见修改后继续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27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暂不通过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业务不清、材料拿不到、不需要AI或高风险无人确认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换问题、补材料或重新选题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没有通过也要说清楚具体卡点，不能只写“还没想好”。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第八部分｜第一个项目接下来怎样推进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56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10087660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最近三次课怎样衔接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第一课只完成立项，不要求立刻写完整PRD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38528"/>
            <a:ext cx="2523744" cy="1572768"/>
          </a:xfrm>
          <a:prstGeom prst="roundRect">
            <a:avLst>
              <a:gd name="adj" fmla="val 930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432304"/>
            <a:ext cx="212140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F5F2E9"/>
                </a:solidFill>
                <a:latin typeface="Hiragino Sans GB"/>
                <a:ea typeface="Hiragino Sans GB"/>
              </a:rPr>
              <a:t>第一课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852928"/>
            <a:ext cx="2121408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5BC"/>
                </a:solidFill>
                <a:latin typeface="Hiragino Sans GB"/>
                <a:ea typeface="Hiragino Sans GB"/>
              </a:rPr>
              <a:t>确定初步选题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64408" y="2651760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19856" y="1938528"/>
            <a:ext cx="2523744" cy="1572768"/>
          </a:xfrm>
          <a:prstGeom prst="roundRect">
            <a:avLst>
              <a:gd name="adj" fmla="val 930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4" y="2432304"/>
            <a:ext cx="212140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F5F2E9"/>
                </a:solidFill>
                <a:latin typeface="Hiragino Sans GB"/>
                <a:ea typeface="Hiragino Sans GB"/>
              </a:rPr>
              <a:t>第二课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1024" y="2852928"/>
            <a:ext cx="2121408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5BC"/>
                </a:solidFill>
                <a:latin typeface="Hiragino Sans GB"/>
                <a:ea typeface="Hiragino Sans GB"/>
              </a:rPr>
              <a:t>学习智能客服公共项目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34456" y="2651760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89904" y="1938528"/>
            <a:ext cx="2523744" cy="1572768"/>
          </a:xfrm>
          <a:prstGeom prst="roundRect">
            <a:avLst>
              <a:gd name="adj" fmla="val 930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2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2432304"/>
            <a:ext cx="212140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F5F2E9"/>
                </a:solidFill>
                <a:latin typeface="Hiragino Sans GB"/>
                <a:ea typeface="Hiragino Sans GB"/>
              </a:rPr>
              <a:t>24小时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2852928"/>
            <a:ext cx="2121408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5BC"/>
                </a:solidFill>
                <a:latin typeface="Hiragino Sans GB"/>
                <a:ea typeface="Hiragino Sans GB"/>
              </a:rPr>
              <a:t>修订个人选题卡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604504" y="2651760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59952" y="1938528"/>
            <a:ext cx="2523744" cy="1572768"/>
          </a:xfrm>
          <a:prstGeom prst="roundRect">
            <a:avLst>
              <a:gd name="adj" fmla="val 930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0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2432304"/>
            <a:ext cx="212140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F5F2E9"/>
                </a:solidFill>
                <a:latin typeface="Hiragino Sans GB"/>
                <a:ea typeface="Hiragino Sans GB"/>
              </a:rPr>
              <a:t>3天内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2852928"/>
            <a:ext cx="2121408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5BC"/>
                </a:solidFill>
                <a:latin typeface="Hiragino Sans GB"/>
                <a:ea typeface="Hiragino Sans GB"/>
              </a:rPr>
              <a:t>提交项目骨架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3895344"/>
            <a:ext cx="2523744" cy="1572768"/>
          </a:xfrm>
          <a:prstGeom prst="roundRect">
            <a:avLst>
              <a:gd name="adj" fmla="val 930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4096511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" y="4389120"/>
            <a:ext cx="212140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F5F2E9"/>
                </a:solidFill>
                <a:latin typeface="Hiragino Sans GB"/>
                <a:ea typeface="Hiragino Sans GB"/>
              </a:rPr>
              <a:t>第三课前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" y="4809744"/>
            <a:ext cx="2121408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5BC"/>
                </a:solidFill>
                <a:latin typeface="Hiragino Sans GB"/>
                <a:ea typeface="Hiragino Sans GB"/>
              </a:rPr>
              <a:t>提交项目V0.1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3264408" y="4608576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419856" y="3895344"/>
            <a:ext cx="2523744" cy="1572768"/>
          </a:xfrm>
          <a:prstGeom prst="roundRect">
            <a:avLst>
              <a:gd name="adj" fmla="val 930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21024" y="4096511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21024" y="4389120"/>
            <a:ext cx="212140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F5F2E9"/>
                </a:solidFill>
                <a:latin typeface="Hiragino Sans GB"/>
                <a:ea typeface="Hiragino Sans GB"/>
              </a:rPr>
              <a:t>第三课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21024" y="4809744"/>
            <a:ext cx="2121408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5BC"/>
                </a:solidFill>
                <a:latin typeface="Hiragino Sans GB"/>
                <a:ea typeface="Hiragino Sans GB"/>
              </a:rPr>
              <a:t>点评并现场修改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5934456" y="4608576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089904" y="3895344"/>
            <a:ext cx="2523744" cy="1572768"/>
          </a:xfrm>
          <a:prstGeom prst="roundRect">
            <a:avLst>
              <a:gd name="adj" fmla="val 930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91072" y="4096511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1072" y="4389120"/>
            <a:ext cx="212140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F5F2E9"/>
                </a:solidFill>
                <a:latin typeface="Hiragino Sans GB"/>
                <a:ea typeface="Hiragino Sans GB"/>
              </a:rPr>
              <a:t>课后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91072" y="4809744"/>
            <a:ext cx="2121408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5BC"/>
                </a:solidFill>
                <a:latin typeface="Hiragino Sans GB"/>
                <a:ea typeface="Hiragino Sans GB"/>
              </a:rPr>
              <a:t>提交V1.0和修改说明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处理结果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先建立参照，再修改个人项目，避免直接复制公共项目。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第八部分｜第一个项目接下来怎样推进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57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10267797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课后24小时和3天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两个时间点解决不同问题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5157216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84832"/>
            <a:ext cx="4645152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6D6C2"/>
                </a:solidFill>
                <a:latin typeface="Hiragino Sans GB"/>
                <a:ea typeface="Hiragino Sans GB"/>
              </a:rPr>
              <a:t>24小时内修订选题卡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7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2633472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用户是否具体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7" y="3454146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3298698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输入材料是否真实存在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7" y="41193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3963924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知识、规则和人工怎样分工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7" y="4784598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1872" y="4629150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第一版是否仍然过大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883664"/>
            <a:ext cx="5157216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68D39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2084832"/>
            <a:ext cx="4645152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8D391"/>
                </a:solidFill>
                <a:latin typeface="Hiragino Sans GB"/>
                <a:ea typeface="Hiragino Sans GB"/>
              </a:rPr>
              <a:t>3天内提交项目骨架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8544" y="2633472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背景、用户和当前流程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454146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38544" y="3298698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主要问题、输入和输出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1193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38544" y="3963924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初步能力分工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784598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8544" y="4629150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MVP和不做清单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判断标准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先发现方向错误，再投入时间写长文档。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第八部分｜第一个项目接下来怎样推进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58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10447934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项目一 V0.1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点评课前要形成一份可以被批评和修改的初稿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项目说明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背景、用户、流程与问题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442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559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559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方案边界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559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AI介入理由、输入输出、人机分工和MVP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4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产品表达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核心流程和1到3张核心页面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366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483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483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初步测试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483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10条样本和目前尚未解决的问题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V0.1的任务是暴露问题，不是看起来像最终答案。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第八部分｜第一个项目接下来怎样推进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59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10628071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点评课怎样进行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全班用同一组项目判断方法参与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38528"/>
            <a:ext cx="1633727" cy="3529584"/>
          </a:xfrm>
          <a:prstGeom prst="roundRect">
            <a:avLst>
              <a:gd name="adj" fmla="val 895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432304"/>
            <a:ext cx="1231391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汇总问题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852928"/>
            <a:ext cx="1231391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先看共性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374392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529839" y="1938528"/>
            <a:ext cx="1633727" cy="3529584"/>
          </a:xfrm>
          <a:prstGeom prst="roundRect">
            <a:avLst>
              <a:gd name="adj" fmla="val 895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31007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31007" y="2432304"/>
            <a:ext cx="1231391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展示作业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31007" y="2852928"/>
            <a:ext cx="1231391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选择代表案例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154423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09872" y="1938528"/>
            <a:ext cx="1633727" cy="3529584"/>
          </a:xfrm>
          <a:prstGeom prst="roundRect">
            <a:avLst>
              <a:gd name="adj" fmla="val 895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11039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1039" y="2432304"/>
            <a:ext cx="1231391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全班判断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1039" y="2852928"/>
            <a:ext cx="1231391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先做选择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934455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089903" y="1938528"/>
            <a:ext cx="1633727" cy="3529584"/>
          </a:xfrm>
          <a:prstGeom prst="roundRect">
            <a:avLst>
              <a:gd name="adj" fmla="val 895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91071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1071" y="2432304"/>
            <a:ext cx="1231391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老师讲解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1071" y="2852928"/>
            <a:ext cx="1231391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说明问题和方向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714487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869935" y="1938528"/>
            <a:ext cx="1633727" cy="3529584"/>
          </a:xfrm>
          <a:prstGeom prst="roundRect">
            <a:avLst>
              <a:gd name="adj" fmla="val 895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71104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71104" y="2432304"/>
            <a:ext cx="1231391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同步修改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71104" y="2852928"/>
            <a:ext cx="1231391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各自修改个人项目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494520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49967" y="1938528"/>
            <a:ext cx="1633727" cy="3529584"/>
          </a:xfrm>
          <a:prstGeom prst="roundRect">
            <a:avLst>
              <a:gd name="adj" fmla="val 895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51135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51135" y="2432304"/>
            <a:ext cx="1231391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版本对比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51135" y="2852928"/>
            <a:ext cx="1231391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展示修改前后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处理结果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点评重点是让每个人学会修改自己的项目。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第八部分｜第一个项目接下来怎样推进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60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10808208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修改记录和本课总结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项目能力会在一次次修改中变得可见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65376"/>
            <a:ext cx="3246120" cy="3182112"/>
          </a:xfrm>
          <a:prstGeom prst="roundRect">
            <a:avLst>
              <a:gd name="adj" fmla="val 459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66544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59152"/>
            <a:ext cx="2843784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iragino Sans GB"/>
                <a:ea typeface="Hiragino Sans GB"/>
              </a:rPr>
              <a:t>V0.1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79776"/>
            <a:ext cx="2843784" cy="215798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7B5BC"/>
                </a:solidFill>
                <a:latin typeface="Hiragino Sans GB"/>
                <a:ea typeface="Hiragino Sans GB"/>
              </a:rPr>
              <a:t>客户研究、线索评分、方案推荐、自动发邮件、CRM回写和销售看板全部进入第一版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1865376"/>
            <a:ext cx="3246120" cy="3182112"/>
          </a:xfrm>
          <a:prstGeom prst="roundRect">
            <a:avLst>
              <a:gd name="adj" fmla="val 459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066544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359152"/>
            <a:ext cx="2843784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iragino Sans GB"/>
                <a:ea typeface="Hiragino Sans GB"/>
              </a:rPr>
              <a:t>点评意见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779776"/>
            <a:ext cx="2843784" cy="215798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7B5BC"/>
                </a:solidFill>
                <a:latin typeface="Hiragino Sans GB"/>
                <a:ea typeface="Hiragino Sans GB"/>
              </a:rPr>
              <a:t>范围过大。核心问题是客户研究和方案准备，不是完整销售管理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7575" y="1865376"/>
            <a:ext cx="3246120" cy="3182112"/>
          </a:xfrm>
          <a:prstGeom prst="roundRect">
            <a:avLst>
              <a:gd name="adj" fmla="val 459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38744" y="2066544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359152"/>
            <a:ext cx="2843784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iragino Sans GB"/>
                <a:ea typeface="Hiragino Sans GB"/>
              </a:rPr>
              <a:t>V1.0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2779776"/>
            <a:ext cx="2843784" cy="215798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7B5BC"/>
                </a:solidFill>
                <a:latin typeface="Hiragino Sans GB"/>
                <a:ea typeface="Hiragino Sans GB"/>
              </a:rPr>
              <a:t>只保留目标企业研究、带来源的客户简报、有限知识检索、方案建议和人工确认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最后三问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谁遇到什么问题？材料从哪里来？第一版最少做到什么？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