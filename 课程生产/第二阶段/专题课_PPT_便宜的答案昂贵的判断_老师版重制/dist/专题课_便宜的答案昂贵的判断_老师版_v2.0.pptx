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理解“便宜的答案，昂贵的判断”并完成课堂判断。
[老师话术] 今天不教大家把项目说得更像真的，而是训练一件更难的事：面对漂亮答案，判断它有没有事实、选择、验证和边界。
[动作] 请学员闭眼回忆：最近一次被AI生成内容说服，是因为它正确，还是因为它完整？举手投票。
[预期反应] 大多数学员会承认‘完整’很容易被误当成‘可信’。
[点评追问] 如果AI 30秒就能生成一份作品集，面试官为什么还需要你？
[口径提醒] 课程不反对AI写作；要求内容来源真实、判断可解释、范围可核验。
[转场] 先从两段都很像‘项目介绍’的文本开始。
[讲义来源] 课程标题与第一节开场：AI能快速生成作品集，我们还看什么？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理解“两份介绍，哪份更专业？”并完成课堂判断。
[老师话术] 请先看页面，不急着抄结论。我们要判断：这里哪些是事实，哪些只是看起来专业。本页关键句是：完整度高，不等于事实密度高。
[动作] 匿名投票A/B；不要解释。将学员理由写成‘更完整、术语多、有流程’三类。
[预期反应] 多数人选择B，并用‘专业、具体、完整’解释。
[点评追问] 版本B新增的每一句，原始材料里都存在吗？
[口径提醒] 两个版本均为公共模拟案例文本；不代表任何企业真实项目。
[转场] 现在揭开版本B的来源。
[讲义来源] 第一节：展示两个版本A/B，B由AI扩写而来。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理解“版本 B 只用了几秒钟”并完成课堂判断。
[老师话术] 版本B不是来自更多项目材料，而是模型根据A做的扩写。它可能是一个好方案，但不能自动变成作者做过的事情。
[动作] 逐句圈出B中A没有出现的能力：分工、转交、预受理、结果。
[预期反应] 学员发现‘专业感’主要来自新增事实感，而非新增证据。
[点评追问] 如果这些能力后来真的做了，需要什么证据把它们从推测变成事实？
[口径提醒] 不要说B是假的；准确说法是‘尚未核验’。
[转场] 我们需要一个不靠感觉的审查工具。
[讲义来源] 第一节：版本B由AI根据版本A扩写；漂亮表达不等于真实。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理解“把漂亮话放进三栏”并完成课堂判断。
[老师话术] 请先看页面，不急着抄结论。我们要判断：这里哪些是事实，哪些只是看起来专业。本页关键句是：先分类，再润色。
[动作] 给学员60秒，把版本B的句子分别贴到三栏；邀请不同答案。
[预期反应] 部分句子会出现争议，促使学员说明证据标准。
[点评追问] ‘信息分散’是调研事实，还是你替场景做的解释？
[口径提醒] 事实的标准不是‘大家都觉得合理’，而是可由获准材料核对。
[转场] 用四个高风险句子做一次逐句追问。
[讲义来源] 第一节：三栏拆解法；审查信息分散、重复沟通与模型/知识库分工。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理解“四句话，四次证据检查”并完成课堂判断。
[老师话术] 请先看页面，不急着抄结论。我们要判断：这里哪些是事实，哪些只是看起来专业。本页关键句是：每个动词都要能回答：发生过吗？证据在哪？
[动作] 老师按行追问。学员每行只能选：有证据 / 无证据 / 需要补充。
[预期反应] 学员开始注意动词‘完成、转交、接入、提升’背后的事实承诺。
[点评追问] ‘完整流程’具体从哪一步到哪一步？失败时谁接管？
[口径提醒] 本公共模拟案例只覆盖课堂主流程，不宣称完整生产流程。
[转场] 审查不是为了删掉所有专业表达，而是把依据写进去。
[讲义来源] 第一节：审查信息、能力分工、转人工和完整预受理流程。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理解“把“完成”改写成可验证口径”并完成课堂判断。
[老师话术] 同一个项目可以有四种完全不同的进展口径。不是越上面越专业，而是越准确越专业。
[动作] 让学员把‘系统已上线并显著提升效率’改写为公共模拟口径。
[预期反应] 理想回答：‘已完成原型和课堂测试，尚未真实上线，不能判断效率变化。’
[点评追问] 如果你要保留‘已上线’，最少要补哪些证据？
[口径提醒] 禁止以设计目标冒充结果，以演示跑通冒充生产效果。
[转场] 第一幕收束：文字与判断的成本完全不同。
[讲义来源] 第一节结论＋第二节边界意识：实现、运行与业务价值必须区分。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理解“文字便宜，判断昂贵”并完成课堂判断。
[老师话术] 请先看页面，不急着抄结论。我们要判断：这里哪些是事实，哪些只是看起来专业。
[动作] 请学员记录自己最容易被AI代写的部分，以及绝不能交给AI编造的部分。
[预期反应] 学员将‘润色’与‘事实/判断责任’分开。
[点评追问] 你的作品集目前最缺的是文字，还是判断证据？
[口径提醒] AI可以辅助表达，不能代替本人承担真实性责任。
[转场] 接下来把‘专业’拆成四个可以练习的支点。
[讲义来源] 第一节收尾：产出与专业能力的区别；引出四个支点。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理解“专业性的四个支点”并完成课堂判断。
[老师话术] 请先看页面，不急着抄结论。我们要判断：这里哪些是事实，哪些只是看起来专业。
[动作] 快速展示四支点，不展开；请学员选一个自己最弱的。
[预期反应] 学员带着个人薄弱项进入本幕。
[点评追问] 你最容易在哪一步用漂亮话替代证据？
[口径提醒] 不要替学员补数据、补经历；只能使用本人可举证的事实。 
[转场] 先看第一个支点：问题是否真的看准。
[讲义来源] 第二节开场：专业性的四个支点。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理解“看得准：从口号找到具体任务”并完成课堂判断。
[老师话术] 请先看页面，不急着抄结论。我们要判断：这里哪些是事实，哪些只是看起来专业。本页关键句是：任务越具体，AI是否介入越容易判断。
[动作] 以公共模拟案例填写六问；明确这是场景设定，不是调研发现。
[预期反应] 学员从‘客服压力’收敛到订单确认与售后预受理。
[点评追问] 如果只做政策解释，为什么FAQ不够？如果要办理，新增了什么信息与风险？
[口径提醒] 用‘模拟场景假设’表述，不声称来自真实用户研究。
[转场] 问题具体后，才能做能力取舍。
[讲义来源] 第二节“看得准”：六问法；具体到售后查询、订单确认和预受理。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理解“选得明：模型不作最终权益决定”并完成课堂判断。
[老师话术] 请先看页面，不急着抄结论。我们要判断：这里哪些是事实，哪些只是看起来专业。本页关键句是：能力分工来自约束，不来自工具偏好。
[动作] 让学员先设计‘全模型方案’，再逐项标注权益风险与可枚举条件。
[预期反应] 学员能说出为何要拆分模型与规则。
[点评追问] 为什么不全用规则？为什么不全用模型？
[口径提醒] 公共模拟接口不执行退款审批或资金操作；预受理资格不等于退款批准。
[转场] 选对方案还不够，必须让它经受失败。
[讲义来源] 第二节“选得明”：模型理解与抽取；规则检查条件；不让模型直接批准退款。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理解“验得过：失败—分析—修改—复测”并完成课堂判断。
[老师话术] 请先看页面，不急着抄结论。我们要判断：这里哪些是事实，哪些只是看起来专业。本页关键句是：Bad Case不是彩蛋，而是专业性的证据。
[动作] 老师画出闭环：发现旧状态→定位状态绑定问题→清空关联状态→重跑变更用例。
[预期反应] 学员能区分‘演示成功’与‘系统经过验证’。
[点评追问] 修完一个问题后，你复测的是一个例子，还是一组相关变更？
[口径提醒] 只说课堂模拟测试，不说线上故障；不虚构通过率。
[转场] 验证到哪里，表达边界就只能到哪里。
[讲义来源] 第二节“验得过”：六类测试；订单切换后旧状态未失效的Bad Case。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理解“说得清：实现、运行、价值分层”并完成课堂判断。
[老师话术] 请先看页面，不急着抄结论。我们要判断：这里哪些是事实，哪些只是看起来专业。本页关键句是：本模拟版本只到第1层：课堂用例可跑通。
[动作] 请学员把自己的项目放到三层之一，并说出支持证据。
[预期反应] 部分学员会从‘有成效’退回‘已实现’或‘已测试’。
[点评追问] 你说‘有效’，有效的指标、周期和基线是什么？
[口径提醒] 本案例未接入生产系统，无真实用户或经营成效数据。
[转场] 用四句话做一次快速归类。
[讲义来源] 第二节“说得清”：区分实现、运行与价值；修正讲义中的真实上线冲突。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理解“四句话，分别体现哪个支点？”并完成课堂判断。
[老师话术] 请先看页面，不急着抄结论。我们要判断：这里哪些是事实，哪些只是看起来专业。
[动作] 逐句举手选择四支点；老师要求用句中证据解释，不只报答案。
[预期反应] 学员能把支点与具体语言特征对应。
[点评追问] 同一句话能否同时体现两个支点？哪个是主支点？
[口径提醒] 第四句明确未真实上线，不能外推成本或满意度。
[转场] 将四个支点合成一张自检卡。
[讲义来源] 第二节快速判断练习；将原“产品已经上线”改为模拟安全口径。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理解“四支点自评：你的项目最弱在哪？”并完成课堂判断。
[老师话术] 请先看页面，不急着抄结论。我们要判断：这里哪些是事实，哪些只是看起来专业。本页关键句是：专业 = 理解问题 + 作出取舍 + 接受检查 + 准确说明范围
[动作] 学员对本人项目四项各打0—2分，圈出最低项；两人互问证据。
[预期反应] 每人得到一个后续作品集补强点。
[点评追问] 低分是没有做，还是做了但没有记录？两种情况分别怎么办？
[口径提醒] 自评只基于本人真实项目；没有数据、没有参与都可以明确写没有。
[转场] 下一幕把四个支点放进作品集，而不是藏在口头解释里。
[讲义来源] 前两节统一收束与课后自检。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理解“传统作品集保留，AI项目多四层”并完成课堂判断。
[老师话术] 请先看页面，不急着抄结论。我们要判断：这里哪些是事实，哪些只是看起来专业。本页关键句是：AI项目的专业性藏在‘不确定时怎么办’。
[动作] 让学员给自己的目录加标签：已有 / 缺失 / 不适用。
[预期反应] 多数作品集会缺少Bad Case、人工接管和能力边界。
[点评追问] 你的AI方案失败时，作品集里有没有任何一页能回答去向？
[口径提醒] 不为了凑结构虚构失败案例；没有真实记录就写验证计划。
[转场] 目录设计要先回答面试官的四个问题。
[讲义来源] 第三节：传统作品集与AI作品集的区别。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理解“面试官先找四个答案”并完成课堂判断。
[老师话术] 请先看页面，不急着抄结论。我们要判断：这里哪些是事实，哪些只是看起来专业。本页关键句是：四个问题构成作品集的阅读主线。
[动作] 用便签让学员把现有页面放进四类；无法归类的页面标‘可能是噪声’。
[预期反应] 学员会发现工具清单很难回答四个问题。
[点评追问] 哪一类页面最少？这会让面试官产生什么疑问？
[口径提醒] 不要替学员补数据、补经历；只能使用本人可举证的事实。 
[转场] 把四个问题展开成八个部分。
[讲义来源] 第三节：作品集需要回答的四个问题；模拟版将上线后运行改为当前实现与测试。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理解“完整作品集：八个部分”并完成课堂判断。
[老师话术] 请先看页面，不急着抄结论。我们要判断：这里哪些是事实，哪些只是看起来专业。本页关键句是：最后一部分不叫‘上线结果’，除非真的上线且可核验。
[动作] 老师按八部分快速扫一遍，强调接下来公共模拟案例逐页示范。
[预期反应] 学员获得整体结构，不在局部页面迷失。
[点评追问] 哪个部分最能体现‘你的判断’？为什么不是只有第7部分？
[口径提醒] 公共模拟案例仅示范结构；学员不得将示范职责写成本人经历。
[转场] 第一张项目页要让读者在30秒内定位项目。
[讲义来源] 第三节：完整作品集八部分总览；模拟口径修正。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理解“项目概览：先把范围说窄”并完成课堂判断。
[老师话术] 请先看页面，不急着抄结论。我们要判断：这里哪些是事实，哪些只是看起来专业。本页关键句是：概览页先消除误解，再建立兴趣。
[动作] 请学员用五个字段口述本人项目；老师一旦听到‘平台、系统、全链路’就追问边界。
[预期反应] 学员能用一句话说清项目是什么、不是什么。
[点评追问] 你的‘系统’具体包含哪几个界面与连接？当前真的能做什么？
[口径提醒] 正文必须保留公共模拟标签；职责只是示范，个人作品集必须换成本人真实贡献。
[转场] 概览之后，先说明为什么值得做。
[讲义来源] 第三节“项目概览”；将已上线、真实连接和个人职责改为公共模拟口径。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理解“业务问题与产品目标：不要用空背景”并完成课堂判断。
[老师话术] 请先看页面，不急着抄结论。我们要判断：这里哪些是事实，哪些只是看起来专业。本页关键句是：目标描述任务闭环，不描述想象中的业务收益。
[动作] 老师把一句空泛背景改写成具体任务链；让学员改写本人项目。
[预期反应] 学员会从效率口号改为用户任务与失败去向。
[点评追问] 你的目标是‘提高效率’，还是让谁少做哪一步、完成哪项任务？
[口径提醒] 这是模拟场景设定，不是用户研究结论；不宣称真实效率。
[转场] 目标确定后，第一版必须主动写下不做什么。
[讲义来源] 第三节：业务问题与产品目标；FAQ局限与人工重复询问。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理解“产品定位与 MVP 边界”并完成课堂判断。
[老师话术] 请先看页面，不急着抄结论。我们要判断：这里哪些是事实，哪些只是看起来专业。本页关键句是：不执行退款审批或资金操作。
[动作] 让学员将能力卡片放入‘第一版做 / 暂不做’两区，并解释每个排除项的风险。
[预期反应] 学员能区分业务办理的预受理与最终权益决定。
[点评追问] 哪一项如果纳入第一版，会新增审批、撤销或资金风险？
[口径提醒] 公共模拟案例只使用模拟查询与预受理接口；不执行退款审批或资金操作。
[转场] 边界确定后，进入三个可编辑的产品形态原型。
[讲义来源] 第三节：产品定位与MVP边界；第一版止于预受理或人工接管。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理解“产品形态 ① 用户对话原型”并完成课堂判断。
[老师话术] 请先看页面，不急着抄结论。我们要判断：这里哪些是事实，哪些只是看起来专业。本页关键句是：对话不是产品全部；状态、确认与失败路径同样重要。
[动作] 逐层拆解界面：用户诉求→助手承诺边界→候选订单→输入区。指出‘不会直接提交申请’。
[预期反应] 学员不再把聊天框等同于完整AI产品。
[点评追问] 如果用户中途改口，哪个状态需要失效？界面如何告诉用户？
[口径提醒] 原生形状低保真UI，仅为教学原型；无真实用户、无生产连接。
[转场] 对话理解后，下一步不是让模型猜，而是让用户确认对象。
[讲义来源] 第三节：产品形态与核心流程；用户端对话助手；核心页面中的任务状态。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理解“产品形态 ② 订单确认原型”并完成课堂判断。
[老师话术] 请先看页面，不急着抄结论。我们要判断：这里哪些是事实，哪些只是看起来专业。本页关键句是：订单号不足以确认；展示商品、时间、金额与状态。
[动作] 先遮住商品等信息，只留订单号，问学员敢不敢确认；再展示完整卡片。
[预期反应] 学员能说出减少误选需要哪些上下文。
[点评追问] 哪些字段用于识别对象，哪些字段只是装饰？用户选错后如何返回？
[口径提醒] 设计目标是降低误选风险；没有数据时不写‘显著降低误选率’。
[转场] 信息冲突或超出范围时，需要人工接管而不是继续猜。
[讲义来源] 第三节核心页面：订单确认卡；关键决策1。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理解“产品形态 ③ 人工接管工作台”并完成课堂判断。
[老师话术] 请先看页面，不急着抄结论。我们要判断：这里哪些是事实，哪些只是看起来专业。本页关键句是：人工看到摘要、确认信息、执行步骤与转交原因；并可推翻机器建议。
[动作] 按三列讲解：发生了什么→确认了什么→为什么转交。最后指向‘已受理，未批准退款’。
[预期反应] 学员理解人工接管不是一句‘转人工’，而是一组产品状态与信息。
[点评追问] 如果人工看不到缺失字段，会重复问什么？如果不能推翻建议，责任落在谁身上？
[口径提醒] 模拟人工接管；‘已受理未批准’不得缩写成退款成功。
[转场] 三个界面背后，需要明确六类能力分别负责什么。
[讲义来源] 第三节核心页面：人工客服工作台与关键状态。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理解“AI方案：能力分工与不负责”并完成课堂判断。
[老师话术] 请先看页面，不急着抄结论。我们要判断：这里哪些是事实，哪些只是看起来专业。本页关键句是：“不负责”让方案可控，也让作品集可信。
[动作] 逐行只讲‘为什么这样分’，避免技术名词堆砌。让学员补出本人项目的一列‘不负责’。
[预期反应] 学员能从约束解释能力选择。
[点评追问] 如果去掉规则或人工，会出现哪类不可接受错误？
[口径提醒] 接口、人工均为模拟；模型不作最终权益决定。
[转场] 有了分工，作品集需要展示最有含金量的三个决策。
[讲义来源] 第三节：AI方案与能力分工。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理解“关键决策 1：为什么增加订单确认卡”并完成课堂判断。
[老师话术] 请先看页面，不急着抄结论。我们要判断：这里哪些是事实，哪些只是看起来专业。本页关键句是：目标是降低误选风险，不是宣称已经降低多少。
[动作] 用三步模板讲：风险是什么→比较了什么→为什么选。
[预期反应] 学员学会把页面设计还原为产品判断。
[点评追问] 还有没有更轻量的方案？为什么不选默认最近订单？
[口径提醒] 无真实测试数据，不写误选率下降。
[转场] 第二个与第三个决策共同处理‘动作前确认’与‘失败后接管’。
[讲义来源] 第三节关键决策1：订单确认卡片。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理解“关键决策 2—3：二次确认与人工接管”并完成课堂判断。
[老师话术] 请先看页面，不急着抄结论。我们要判断：这里哪些是事实，哪些只是看起来专业。本页关键句是：产品不是追求零转人工，而是让转人工可继续完成任务。
[动作] 让学员指出两个决策分别控制哪一种风险。
[预期反应] 学员能区分动作风险与交接成本。
[点评追问] 如果二次确认被跳过，会发生什么？转人工只发一句摘要够吗？
[口径提醒] 在原型中设计为如此；没有生产验证时不写‘已证明减少重复沟通’。
[转场] 接下来把一个失败案例写成完整闭环。
[讲义来源] 第三节关键决策2—3：二次确认与人工接管。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理解“课堂模拟 Bad Case：切换订单后旧状态未失效”并完成课堂判断。
[老师话术] 请先看页面，不急着抄结论。我们要判断：这里哪些是事实，哪些只是看起来专业。本页关键句是：Bad Case的价值在于暴露你的分析与复测。
[动作] 老师按‘现象→原因→修改→复测’四步讲；让学员用同一模板描述自己的问题。
[预期反应] 学员不再用‘优化模型’作为所有问题的答案。
[点评追问] 为什么修复点是状态管理，而不是重写Prompt？还有哪些状态也应失效？
[口径提醒] 这是课堂模拟用例，不是线上事故；不虚构影响用户数量。
[转场] 作品集最后一页要准确说明做到哪里、没做到哪里。
[讲义来源] 第三节典型Bad Case；第二节验证闭环。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理解“实现结果、限制与职责：三栏分开”并完成课堂判断。
[老师话术] 请先看页面，不急着抄结论。我们要判断：这里哪些是事实，哪些只是看起来专业。本页关键句是：没有实际统计就不估算；没有亲自参与就不认领。
[动作] 让学员把结果页中的句子放到三栏；删除无法证明的百分比。
[预期反应] 学员接受‘未验证’本身也是专业信息。
[点评追问] 你最想写的那个结果，数据源、周期和样本在哪里？
[口径提醒] 不得填估算数；职责示例不等于个人经历。
[转场] 现在用八句话检查整个作品集是否闭环。
[讲义来源] 第三节：上线结果、当前限制、个人贡献；统一修正为模拟口径。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理解“八句话，检查作品集是否闭环”并完成课堂判断。
[老师话术] 请先看页面，不急着抄结论。我们要判断：这里哪些是事实，哪些只是看起来专业。本页关键句是：产品是主体，判断解释设计，结果准确说明进展。
[动作] 3分钟个人写作；两人互读，删除工具清单与空泛背景。
[预期反应] 每人形成90秒介绍的事实骨架。
[点评追问] 八句中哪一句没有证据？哪一句只是形容词？
[口径提醒] 本人项目写本人事实；公共模拟案例必须继续标注。
[转场] 下一幕，把八句话压缩成90秒的本人项目介绍。
[讲义来源] 第三节八句练习与收束；第8句改为实现/模拟验证口径。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理解“90秒介绍的四个常见问题”并完成课堂判断。
[老师话术] 请先看页面，不急着抄结论。我们要判断：这里哪些是事实，哪些只是看起来专业。本页关键句是：介绍的目标不是覆盖项目，而是建立可信主线。
[动作] 学员给自己的30秒版本勾选问题；老师展示错误示例并明确标红。
[预期反应] 学员能识别自己最常见的问题。
[点评追问] 删掉哪句话，反而会让你的贡献更清楚？
[口径提醒] ‘已上线、显著提升’只作为错误示例，不是本案例成果。
[转场] 用固定的五段结构重新分配时间。
[讲义来源] 第四节：90秒介绍的四个常见问题。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理解“五段式结构：每段只做一件事”并完成课堂判断。
[老师话术] 请先看页面，不急着抄结论。我们要判断：这里哪些是事实，哪些只是看起来专业。本页关键句是：最少给一个判断、一个问题闭环、一个边界。
[动作] 老师用计时器朗读每段标题，让学员感受长度；学员给八句话重新排序。
[预期反应] 学员理解90秒并非压缩所有内容，而是有取舍。
[点评追问] 哪一段最值得占20秒？依据是面试价值还是你最熟？
[口径提醒] 不要替学员补数据、补经历；只能使用本人可举证的事实。 
[转场] 先写前两段，建立项目的任务与流程。
[讲义来源] 第四节：五段式结构与时间分配。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理解“前两段：问题与产品流程”并完成课堂判断。
[老师话术] 请先看页面，不急着抄结论。我们要判断：这里哪些是事实，哪些只是看起来专业。本页关键句是：先让听者知道你在解决什么，再讲AI。
[动作] 2分钟填空；同桌只检查三个词：谁、任务、结果。
[预期反应] 介绍从行业叙事收敛到具体任务。
[点评追问] 如果拿掉产品名，听者还知道用户完成了什么吗？
[口径提醒] 模板是条件式；只有本人项目有证据时才使用‘上线、真实用户、生产系统’。
[转场] 中间两段展示你最值钱的部分：判断与修正。
[讲义来源] 第四节五段式前两段：问题与产品流程。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理解“中间两段：关键判断与修改闭环”并完成课堂判断。
[老师话术] 请先看页面，不急着抄结论。我们要判断：这里哪些是事实，哪些只是看起来专业。本页关键句是：不要说‘不断优化’，要说哪一次改变了什么。
[动作] 老师先给一个空泛版本，再按模板改写。学员完成本人项目两句。
[预期反应] 学员开始使用具体约束、替代和复测。
[点评追问] 这个问题为什么不是偶然？你的复测覆盖了哪些相关情况？
[口径提醒] 课堂案例用‘课堂测试中发现’；本人项目按真实发生口径。
[转场] 最后15秒决定你的可信边界。
[讲义来源] 第四节五段式中间两段：关键判断与问题闭环。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理解“最后一段：进展、本人贡献与限制”并完成课堂判断。
[老师话术] 请先看页面，不急着抄结论。我们要判断：这里哪些是事实，哪些只是看起来专业。本页关键句是：一句边界能保护前面所有内容的可信度。
[动作] 让学员删掉一个未经证明的结果词，补上一句限制。
[预期反应] 学员能够不靠‘上线、提升’也说明项目价值。
[点评追问] 如果面试官要求数字，你能给出数据源吗？不能时怎样诚实回答？
[口径提醒] 不得把团队工作写成本人贡献；不确定的数据明确说未统计。
[转场] 把五段连起来，听一个安全、完整的公共模拟示范。
[讲义来源] 第四节第五段：当前实现、职责、限制；修正真实上线口径。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理解“完整90秒示范：公共模拟口径”并完成课堂判断。
[老师话术] 请先看页面，不急着抄结论。我们要判断：这里哪些是事实，哪些只是看起来专业。本页关键句是：结构完整，但每一句都没有越过证据。
[动作] 老师正常语速朗读并计时；学员在纸上标出五段边界。再请一位学员只复述主线。
[预期反应] 学员能听出问题、流程、判断、Bad Case与边界。
[点评追问] 哪句话最能建立可信度？删掉限制后，这段会发生什么变化？
[口径提醒] 不得把此示范改成‘我负责的真实项目’；这是公共模拟案例。
[转场] 最后用保留/删除清单修改自己的90秒版本。
[讲义来源] 第四节完整示范；按公共模拟条件重写真实上线冲突。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理解“改写练习：保留什么，删除什么”并完成课堂判断。
[老师话术] 请先看页面，不急着抄结论。我们要判断：这里哪些是事实，哪些只是看起来专业。本页关键句是：好的90秒介绍会主动留下高质量追问入口。
[动作] 4分钟写作，90秒互讲；听者按五项标准各给一条反馈。
[预期反应] 每人完成可继续追问的本人项目版本。
[点评追问] 如果只能保留一个判断和一个Bad Case，你选哪个？
[口径提醒] 凡非本人经历都要标模拟；不能把职责模板当个人贡献。
[转场] 下一幕不再写稿，而是让这条主线经受连续追问。
[讲义来源] 第四节：保留/删除、练习与五项点评标准。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理解“面试不是单题，而是连续核对”并完成课堂判断。
[老师话术] 请先看页面，不急着抄结论。我们要判断：这里哪些是事实，哪些只是看起来专业。
[动作] 老师随机问一位学员：项目是什么？然后立即追问为什么这样做。
[预期反应] 学员感受到背稿与真实理解的差异。
[点评追问] 刚才第二问有没有推翻第一问？
[口径提醒] 公开模拟不能冒充本人真实经历；本人项目不确定处可以明确说不知道。
[转场] 先建立一个通用的五层追问框架。
[讲义来源] 第五节开场：连续核对，而非单题答案。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理解“一个项目点的五层追问”并完成课堂判断。
[老师话术] 请先看页面，不急着抄结论。我们要判断：这里哪些是事实，哪些只是看起来专业。本页关键句是：五层不是五个答案，而是一条不能自相矛盾的证据链。
[动作] 以‘模型不直接判断退款’为项目点，老师快速示范五层问题。
[预期反应] 学员理解追问是在核对同一决策的不同侧面。
[点评追问] 哪一层最容易暴露AI代写？为什么？
[口径提醒] 事实层按当前实现提问；模拟案例不问‘最终上线了吗’，而问实现到何种程度。
[转场] 现在进入同一个项目点的连续六问。
[讲义来源] 第五节：一个项目点的五层追问。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理解“连续追问 1—2：为何不用模型判断？为何不全用规则？”并完成课堂判断。
[老师话术] 请先看页面，不急着抄结论。我们要判断：这里哪些是事实，哪些只是看起来专业。本页关键句是：具体约束 → 能力分工，而不是工具信仰。
[动作] 两人一组：A问Q1，B追Q2；回答者必须使用‘因为具体约束，所以分工’。
[预期反应] 学员避免绝对化地说重要业务不能用模型。
[点评追问] 如果规则经常变化，分工还成立吗？变化应由谁管理？
[口径提醒] 这是设计论证，不是线上成效；公共案例只到模拟方案。
[转场] 接着追问规则究竟做什么，以及你怎样证明它工作。
[讲义来源] 第五节连续追问1—2。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理解“连续追问 3—4：规则做什么？怎样测试？”并完成课堂判断。
[老师话术] 请先看页面，不急着抄结论。我们要判断：这里哪些是事实，哪些只是看起来专业。本页关键句是：预受理资格 ≠ 退款批准。
[动作] 让回答者先给规则清单，追问者任选一个条件设计正例、反例与边界例。
[预期反应] 回答从‘用了规则引擎’变成具体检查和测试。
[点评追问] 如果规则调用失败，默认通过还是转人工？为什么？
[口径提醒] 测试来自课堂模拟用例，不代表真实用户故障。
[转场] 测试会暴露问题，最后两问检查修正与适用边界。
[讲义来源] 第五节连续追问3—4。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理解“连续追问 5—6：出了什么问题？哪里不适用？”并完成课堂判断。
[老师话术] 请先看页面，不急着抄结论。我们要判断：这里哪些是事实，哪些只是看起来专业。本页关键句是：边界不是免责声明，而是方案的一部分。
[动作] 老师故意追问‘所以系统已经稳定了吗？’观察学员是否越界。
[预期反应] 理想回答：只能说明相关模拟用例复测，不能外推生产稳定性。
[点评追问] 你的边界来自能力限制、责任限制，还是当前MVP范围？
[口径提醒] 必须说课堂模拟测试；不能把问题写成线上事故。
[转场] 面对任何‘为什么’，都可以用五步结构组织。
[讲义来源] 第五节连续追问5—6；将原‘上线后发现’改为课堂模拟测试。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理解“回答“为什么”的五步结构”并完成课堂判断。
[老师话术] 请先看页面，不急着抄结论。我们要判断：这里哪些是事实，哪些只是看起来专业。本页关键句是：答案的高度来自比较和边界，不来自术语。
[动作] 给60秒准备，请三位学员分别回答本人项目的一个‘为什么’；听众只检查五步是否齐全。
[预期反应] 回答更稳定，也更容易被继续追问。
[点评追问] 哪一步如果删掉，会让答案变成观点而不是判断？
[口径提醒] 模拟版最后一步说模拟测试观察与未验证范围；本人项目按证据层级。
[转场] 最后比较一次普通回答与专业回答。
[讲义来源] 第五节：回答“为什么”的五步结构。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2分钟
[目标] 理解“经得起追问的项目表达”并完成课堂判断。
[老师话术] 请先看页面，不急着抄结论。我们要判断：这里哪些是事实，哪些只是看起来专业。本页关键句是：AI降低表达成本；你的价值，在于承担判断。
[动作] 全班用五层追问完成最后一轮；老师只纠正事实越界与前后矛盾。最后回到P01关键句。
[预期反应] 学员带走一套可用于作品集、90秒介绍与面试追问的共同结构。
[点评追问] 回去后，你会先补哪份证据、删哪句无法证明的话？
[口径提醒] 模拟案例不能冒充本人真实上线项目；无实际统计不估算，未参与不认领。
[转场] 课程结束：先核验，再表达；先判断，再让AI帮你写。
[讲义来源] 第五节普通回答vs专业回答、现场练习与全课收束。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[时长] 3分钟
[目标] 理解“现场练习与全课收束”并完成课堂判断。
[老师话术] 请先看页面，不急着抄结论。我们要判断：这里哪些是事实，哪些只是看起来专业。本页关键句是：AI降低表达成本；你的价值，在于承担判断。
[动作] 每位学员选一个本人项目点，搭档连续追问五层；老师只纠正事实越界与前后矛盾。最后回扣P01。
[预期反应] 学员形成一条能够在作品集、90秒介绍和连续追问中保持一致的证据链。
[点评追问] 回去后，你会先补哪份证据、删掉哪句无法证明的话？
[口径提醒] 不确定数据说未统计；未参与不认领；公共模拟案例不能冒充本人真实上线项目。
[转场] 课程结束：先核验，再表达；先判断，再让AI帮你写。
[讲义来源] 第五节：现场练习、连续五问与全课收束。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KBENCH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23900" y="666750"/>
            <a:ext cx="2286000" cy="266700"/>
          </a:xfrm>
          <a:prstGeom prst="roundRect">
            <a:avLst/>
          </a:prstGeom>
          <a:solidFill>
            <a:srgbClr val="DCE8FF"/>
          </a:solidFill>
          <a:ln w="10160">
            <a:solidFill>
              <a:srgbClr val="2F6F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9150" y="7048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老师版 v2.0 · 120 MIN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23900" y="1952625"/>
            <a:ext cx="10287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便宜的答案，昂贵的判断</a:t>
            </a:r>
            <a:endParaRPr lang="en-US" sz="3900" dirty="0"/>
          </a:p>
        </p:txBody>
      </p:sp>
      <p:sp>
        <p:nvSpPr>
          <p:cNvPr id="7" name="Text 4"/>
          <p:cNvSpPr txBox="1"/>
          <p:nvPr/>
        </p:nvSpPr>
        <p:spPr>
          <a:xfrm>
            <a:off x="762000" y="3162300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v2.0｜44页 · 120分钟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4095750"/>
            <a:ext cx="10363200" cy="104775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00150" y="426720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课程命题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200150" y="4505325"/>
            <a:ext cx="9791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AI让答案更便宜，也让判断更值钱。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81050" y="579120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FACT · CHOICE · VALIDATION · BOUNDARY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906000" y="5429250"/>
            <a:ext cx="1238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CFD8D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第一幕｜漂亮表达审查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498764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两份介绍，哪份更专业？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先投票，再审查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2019300"/>
            <a:ext cx="5238750" cy="33813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5350" y="2209800"/>
            <a:ext cx="166687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90600" y="22479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 A｜原始介绍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33450" y="27622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5875" y="27336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我做了一个售后客服项目</a:t>
            </a:r>
            <a:endParaRPr lang="en-US" sz="1230" dirty="0"/>
          </a:p>
        </p:txBody>
      </p:sp>
      <p:sp>
        <p:nvSpPr>
          <p:cNvPr id="17" name="Text 14"/>
          <p:cNvSpPr txBox="1"/>
          <p:nvPr/>
        </p:nvSpPr>
        <p:spPr>
          <a:xfrm>
            <a:off x="933450" y="33528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5875" y="33242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 Coze、大模型、知识库和工作流</a:t>
            </a:r>
            <a:endParaRPr lang="en-US" sz="123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39433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5875" y="39147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覆盖咨询、订单查询和转人工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6191250" y="2019300"/>
            <a:ext cx="5238750" cy="33813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19850" y="2209800"/>
            <a:ext cx="1666875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15100" y="22479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 B｜AI扩写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57950" y="27622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10375" y="27336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场景、问题、能力分工一应俱全</a:t>
            </a:r>
            <a:endParaRPr lang="en-US" sz="1230" dirty="0"/>
          </a:p>
        </p:txBody>
      </p:sp>
      <p:sp>
        <p:nvSpPr>
          <p:cNvPr id="26" name="Text 23"/>
          <p:cNvSpPr txBox="1"/>
          <p:nvPr/>
        </p:nvSpPr>
        <p:spPr>
          <a:xfrm>
            <a:off x="6457950" y="33528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0375" y="33242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模型理解诉求，规则判断资格</a:t>
            </a:r>
            <a:endParaRPr lang="en-US" sz="1230" dirty="0"/>
          </a:p>
        </p:txBody>
      </p:sp>
      <p:sp>
        <p:nvSpPr>
          <p:cNvPr id="28" name="Text 25"/>
          <p:cNvSpPr txBox="1"/>
          <p:nvPr/>
        </p:nvSpPr>
        <p:spPr>
          <a:xfrm>
            <a:off x="6457950" y="39433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10375" y="39147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复杂情况转人工并保留上下文</a:t>
            </a:r>
            <a:endParaRPr lang="en-US" sz="1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第一幕｜漂亮表达审查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74814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 B 只用了几秒钟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AI扩写后的“专业感”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2076450"/>
            <a:ext cx="10363200" cy="11430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9A6A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00150" y="224790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揭示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00150" y="2486025"/>
            <a:ext cx="9791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的补充内容可能合理，但在获得项目材料支持前，都不能视为事实。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285875" y="3762375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85875" y="37814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819275" y="376237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AI擅长补齐常见项目叙事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285875" y="4314825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85875" y="433387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819275" y="431482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合理性不能替代可核验性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5875" y="4867275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85875" y="48863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819275" y="486727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读者会把流畅误当成经历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第一幕｜漂亮表达审查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997527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把漂亮话放进三栏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 / 判断 / 暂未确认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2238375"/>
            <a:ext cx="3492500" cy="2333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6750" y="2238375"/>
            <a:ext cx="66675" cy="2333625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6300" y="23717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76300" y="2619375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6300" y="2981325"/>
            <a:ext cx="307340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有项目材料、原型、记录或演示可以核对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083050" y="2238375"/>
            <a:ext cx="76200" cy="2333625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9750" y="2238375"/>
            <a:ext cx="3492500" cy="2333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49750" y="2238375"/>
            <a:ext cx="66675" cy="233362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9300" y="23717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59300" y="2619375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59300" y="2981325"/>
            <a:ext cx="307340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基于约束做出的选择，需要说明理由与替代方案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66050" y="2238375"/>
            <a:ext cx="76200" cy="2333625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32750" y="2238375"/>
            <a:ext cx="3492500" cy="2333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32750" y="2238375"/>
            <a:ext cx="66675" cy="2333625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42300" y="23717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242300" y="2619375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暂未确认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242300" y="2981325"/>
            <a:ext cx="3073400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听起来合理，但当前没有材料支持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1449050" y="2238375"/>
            <a:ext cx="76200" cy="2333625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14400" y="5000625"/>
            <a:ext cx="10363200" cy="74295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200150" y="51720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使用顺序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1200150" y="5410200"/>
            <a:ext cx="9791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先分类，再润色。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第一幕｜漂亮表达审查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246909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四句话，四次证据检查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从“像真的”退回“可核验”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2000250"/>
            <a:ext cx="31432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2950" y="2076450"/>
            <a:ext cx="2990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10000" y="2000250"/>
            <a:ext cx="38100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0" y="2076450"/>
            <a:ext cx="365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需要的证据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20000" y="2000250"/>
            <a:ext cx="39052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96200" y="2076450"/>
            <a:ext cx="3752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安全改写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6750" y="2438400"/>
            <a:ext cx="314325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2000" y="2505075"/>
            <a:ext cx="2952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信息分散、重复沟通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810000" y="2438400"/>
            <a:ext cx="3810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05250" y="2505075"/>
            <a:ext cx="361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调研记录 / 访谈 / 工单？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620000" y="2438400"/>
            <a:ext cx="390525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15250" y="2505075"/>
            <a:ext cx="3714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没有就写场景假设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6750" y="3124200"/>
            <a:ext cx="314325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2000" y="3190875"/>
            <a:ext cx="2952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模型与知识库分工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810000" y="3124200"/>
            <a:ext cx="38100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905250" y="3190875"/>
            <a:ext cx="361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 / 配置 / 演示？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20000" y="3124200"/>
            <a:ext cx="390525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15250" y="3190875"/>
            <a:ext cx="3714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没有就写方案设计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66750" y="3810000"/>
            <a:ext cx="314325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2000" y="3876675"/>
            <a:ext cx="2952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复杂情况转人工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810000" y="3810000"/>
            <a:ext cx="3810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905250" y="3876675"/>
            <a:ext cx="361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工作台 / 上下文 / 状态？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620000" y="3810000"/>
            <a:ext cx="390525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15250" y="3876675"/>
            <a:ext cx="3714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没有就写计划能力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6750" y="4495800"/>
            <a:ext cx="314325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62000" y="4562475"/>
            <a:ext cx="2952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完成预受理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810000" y="4495800"/>
            <a:ext cx="38100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05250" y="4562475"/>
            <a:ext cx="3619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流程覆盖 / 权限边界？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620000" y="4495800"/>
            <a:ext cx="390525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15250" y="4562475"/>
            <a:ext cx="37147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预受理≠批准退款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第一幕｜漂亮表达审查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496291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把“完成”改写成可验证口径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动词决定承诺强度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00125" y="2333625"/>
            <a:ext cx="238125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00125" y="2333625"/>
            <a:ext cx="66675" cy="1762125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09675" y="2466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209675" y="2714625"/>
            <a:ext cx="1962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可演示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09675" y="3076575"/>
            <a:ext cx="196215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原型中能走通一条主路径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305175" y="2333625"/>
            <a:ext cx="76200" cy="1762125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19500" y="2571750"/>
            <a:ext cx="238125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19500" y="2571750"/>
            <a:ext cx="66675" cy="176212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29050" y="27051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829050" y="2952750"/>
            <a:ext cx="1962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已测试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829050" y="3314700"/>
            <a:ext cx="196215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对明确用例运行并记录结果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24550" y="2571750"/>
            <a:ext cx="76200" cy="1762125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38875" y="2809875"/>
            <a:ext cx="238125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38875" y="2809875"/>
            <a:ext cx="66675" cy="1762125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48425" y="29432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448425" y="3190875"/>
            <a:ext cx="1962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已上线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48425" y="3552825"/>
            <a:ext cx="196215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仅在有部署、范围和运行证据时使用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543925" y="2809875"/>
            <a:ext cx="76200" cy="1762125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58250" y="3048000"/>
            <a:ext cx="238125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858250" y="3048000"/>
            <a:ext cx="66675" cy="1762125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67800" y="31813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067800" y="3429000"/>
            <a:ext cx="1962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有成效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067800" y="3790950"/>
            <a:ext cx="196215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仅在有口径、样本和对照时使用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1163300" y="3048000"/>
            <a:ext cx="76200" cy="1762125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5000625"/>
            <a:ext cx="10363200" cy="7239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200150" y="51720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口径原则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200150" y="5410200"/>
            <a:ext cx="9791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写到哪一级，取决于证据到哪一级。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第一幕｜漂亮表达审查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745673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文字便宜，判断昂贵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076450"/>
            <a:ext cx="10363200" cy="11430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00150" y="224790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第一幕结论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200150" y="2486025"/>
            <a:ext cx="9791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专业性不在于你能写多少，而在于你能说明：为什么选、怎么验、范围到哪、依据是什么。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285875" y="3762375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85875" y="37814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819275" y="376237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AI：结构、精简、模拟追问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285875" y="4314825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85875" y="433387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819275" y="431482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本人：事实、判断、测试、边界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285875" y="4867275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85875" y="48863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819275" y="486727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下一幕：四个专业支点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第二幕｜专业性的四个支点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99505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047750"/>
            <a:ext cx="1619250" cy="266700"/>
          </a:xfrm>
          <a:prstGeom prst="roundRect">
            <a:avLst/>
          </a:prstGeom>
          <a:solidFill>
            <a:srgbClr val="DCE8FF"/>
          </a:solidFill>
          <a:ln w="10160">
            <a:solidFill>
              <a:srgbClr val="2F6F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050" y="10858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第二幕｜专业性的四个支点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52625"/>
            <a:ext cx="10096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专业性的四个支点</a:t>
            </a:r>
            <a:endParaRPr lang="en-US" sz="3500" dirty="0"/>
          </a:p>
        </p:txBody>
      </p:sp>
      <p:sp>
        <p:nvSpPr>
          <p:cNvPr id="10" name="Shape 7"/>
          <p:cNvSpPr/>
          <p:nvPr/>
        </p:nvSpPr>
        <p:spPr>
          <a:xfrm>
            <a:off x="685800" y="3257550"/>
            <a:ext cx="1714500" cy="571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900" y="3600450"/>
            <a:ext cx="952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看得准 · 选得明 · 验得过 · 说得清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4619625"/>
            <a:ext cx="10363200" cy="9144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00150" y="47910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本幕问题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00150" y="5029200"/>
            <a:ext cx="979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一个项目怎样从“有功能”变成“有判断”？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第二幕｜专业性的四个支点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2244436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看得准：从口号找到具体任务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不要从“客服压力大”直接跳到AI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200025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6750" y="2000250"/>
            <a:ext cx="66675" cy="16192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6300" y="21336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6300" y="238125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谁在做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6300" y="274320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用户、客服、业务人员分别完成什么？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083050" y="2000250"/>
            <a:ext cx="76200" cy="16192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49750" y="200025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49750" y="2000250"/>
            <a:ext cx="66675" cy="1619250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59300" y="21336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59300" y="238125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卡在哪里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559300" y="274320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查询、确认、补齐还是判断？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766050" y="2000250"/>
            <a:ext cx="76200" cy="1619250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32750" y="200025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32750" y="2000250"/>
            <a:ext cx="66675" cy="161925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42300" y="21336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242300" y="238125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频率与风险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242300" y="274320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高频重复，还是低频高风险？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1449050" y="2000250"/>
            <a:ext cx="76200" cy="161925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6750" y="381000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6750" y="3810000"/>
            <a:ext cx="66675" cy="1619250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76300" y="39433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76300" y="419100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现有替代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876300" y="455295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FAQ、人工、规则各自做到了什么？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083050" y="3810000"/>
            <a:ext cx="76200" cy="1619250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49750" y="381000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349750" y="3810000"/>
            <a:ext cx="66675" cy="16192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59300" y="39433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4559300" y="419100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输入与结果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559300" y="455295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完成任务需要哪些信息？输出是什么？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766050" y="3810000"/>
            <a:ext cx="76200" cy="16192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032750" y="381000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032750" y="3810000"/>
            <a:ext cx="66675" cy="161925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42300" y="39433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8242300" y="419100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失败去向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8242300" y="455295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无法继续时，谁接管、带走什么上下文？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11449050" y="3810000"/>
            <a:ext cx="76200" cy="161925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第二幕｜专业性的四个支点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2493818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选得明：模型不作最终权益决定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理解交给模型，确定条件交给规则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2000250"/>
            <a:ext cx="5238750" cy="34766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5350" y="2190750"/>
            <a:ext cx="166687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90600" y="222885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33450" y="27432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5875" y="27146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理解自然语言诉求</a:t>
            </a:r>
            <a:endParaRPr lang="en-US" sz="1230" dirty="0"/>
          </a:p>
        </p:txBody>
      </p:sp>
      <p:sp>
        <p:nvSpPr>
          <p:cNvPr id="17" name="Text 14"/>
          <p:cNvSpPr txBox="1"/>
          <p:nvPr/>
        </p:nvSpPr>
        <p:spPr>
          <a:xfrm>
            <a:off x="933450" y="33337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5875" y="33051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提取订单、商品、原因</a:t>
            </a:r>
            <a:endParaRPr lang="en-US" sz="123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39243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5875" y="38957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发现信息冲突</a:t>
            </a:r>
            <a:endParaRPr lang="en-US" sz="1230" dirty="0"/>
          </a:p>
        </p:txBody>
      </p:sp>
      <p:sp>
        <p:nvSpPr>
          <p:cNvPr id="21" name="Text 18"/>
          <p:cNvSpPr txBox="1"/>
          <p:nvPr/>
        </p:nvSpPr>
        <p:spPr>
          <a:xfrm>
            <a:off x="933450" y="45148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5875" y="44862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不批准退款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6191250" y="2000250"/>
            <a:ext cx="5238750" cy="34766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19850" y="2190750"/>
            <a:ext cx="1666875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15100" y="222885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确定性规则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57950" y="27432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0375" y="27146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检查订单归属与状态</a:t>
            </a:r>
            <a:endParaRPr lang="en-US" sz="1230" dirty="0"/>
          </a:p>
        </p:txBody>
      </p:sp>
      <p:sp>
        <p:nvSpPr>
          <p:cNvPr id="28" name="Text 25"/>
          <p:cNvSpPr txBox="1"/>
          <p:nvPr/>
        </p:nvSpPr>
        <p:spPr>
          <a:xfrm>
            <a:off x="6457950" y="33337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10375" y="33051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检查时间、字段、限制</a:t>
            </a:r>
            <a:endParaRPr lang="en-US" sz="1230" dirty="0"/>
          </a:p>
        </p:txBody>
      </p:sp>
      <p:sp>
        <p:nvSpPr>
          <p:cNvPr id="30" name="Text 27"/>
          <p:cNvSpPr txBox="1"/>
          <p:nvPr/>
        </p:nvSpPr>
        <p:spPr>
          <a:xfrm>
            <a:off x="6457950" y="39243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810375" y="38957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决定能否进入预受理</a:t>
            </a:r>
            <a:endParaRPr lang="en-US" sz="1230" dirty="0"/>
          </a:p>
        </p:txBody>
      </p:sp>
      <p:sp>
        <p:nvSpPr>
          <p:cNvPr id="32" name="Text 29"/>
          <p:cNvSpPr txBox="1"/>
          <p:nvPr/>
        </p:nvSpPr>
        <p:spPr>
          <a:xfrm>
            <a:off x="6457950" y="45148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810375" y="44862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不等于资金审批</a:t>
            </a:r>
            <a:endParaRPr lang="en-US" sz="12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第二幕｜专业性的四个支点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2743200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验得过：失败—分析—修改—复测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一次跑通不是验证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09825" y="2762250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81050" y="2238375"/>
            <a:ext cx="16287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3526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5350" y="2600325"/>
            <a:ext cx="14001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正常用例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10050" y="2762250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581275" y="2238375"/>
            <a:ext cx="16287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14625" y="23526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2695575" y="2600325"/>
            <a:ext cx="14001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改口 / 多意图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10275" y="2762250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381500" y="2238375"/>
            <a:ext cx="16287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14850" y="23526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495800" y="2600325"/>
            <a:ext cx="14001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切换订单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810500" y="2762250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181725" y="2238375"/>
            <a:ext cx="16287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15075" y="23526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296025" y="2600325"/>
            <a:ext cx="14001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信息冲突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610725" y="2762250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981950" y="2238375"/>
            <a:ext cx="16287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15300" y="23526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096250" y="2600325"/>
            <a:ext cx="14001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接口失败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782175" y="2238375"/>
            <a:ext cx="16287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915525" y="23526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9896475" y="2600325"/>
            <a:ext cx="14001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超权限转人工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914400" y="4000500"/>
            <a:ext cx="10363200" cy="781050"/>
          </a:xfrm>
          <a:prstGeom prst="roundRect">
            <a:avLst/>
          </a:prstGeom>
          <a:solidFill>
            <a:srgbClr val="F7DEDE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200150" y="417195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课堂模拟 Bad Case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200150" y="4410075"/>
            <a:ext cx="9791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课堂测试：切换订单后，旧确认状态没有失效。</a:t>
            </a:r>
            <a:endParaRPr lang="en-US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952500" y="5219700"/>
            <a:ext cx="10287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Case不是彩蛋，而是专业性的证据。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第二幕｜专业性的四个支点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2992582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说得清：实现、运行、价值分层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三层证据，三种口径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90750" y="2143125"/>
            <a:ext cx="7810500" cy="80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90750" y="2143125"/>
            <a:ext cx="66675" cy="800100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00300" y="22764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400300" y="2524125"/>
            <a:ext cx="7391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已实现 / 可演示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400300" y="2886075"/>
            <a:ext cx="7391400" cy="-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有原型、流程或功能证据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925050" y="2143125"/>
            <a:ext cx="76200" cy="800100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05125" y="3114675"/>
            <a:ext cx="6381750" cy="80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905125" y="3114675"/>
            <a:ext cx="66675" cy="800100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14675" y="32480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114675" y="3495675"/>
            <a:ext cx="59626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已运行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114675" y="3857625"/>
            <a:ext cx="5962650" cy="-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有部署范围、时间与运行记录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210675" y="3114675"/>
            <a:ext cx="76200" cy="800100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19500" y="4086225"/>
            <a:ext cx="4953000" cy="80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19500" y="4086225"/>
            <a:ext cx="66675" cy="80010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29050" y="42195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829050" y="4467225"/>
            <a:ext cx="4533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有业务价值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829050" y="4829175"/>
            <a:ext cx="4533900" cy="-7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有指标口径、样本、周期与对照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496300" y="4086225"/>
            <a:ext cx="76200" cy="80010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905000" y="5257800"/>
            <a:ext cx="838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本模拟版本只到第1层：课堂用例可跑通。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第二幕｜专业性的四个支点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3241964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四句话，分别体现哪个支点？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快速判断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04875" y="2000250"/>
            <a:ext cx="8810625" cy="66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6800" y="21717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571625" y="2095500"/>
            <a:ext cx="781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高频任务不是咨询，而是反复确认订单与售后信息。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953625" y="2181225"/>
            <a:ext cx="1381125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48875" y="2219325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看得准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4875" y="2876550"/>
            <a:ext cx="8810625" cy="66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66800" y="30480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571625" y="2971800"/>
            <a:ext cx="781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模型负责理解表达，规则检查能否进入预受理。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953625" y="3057525"/>
            <a:ext cx="1381125" cy="266700"/>
          </a:xfrm>
          <a:prstGeom prst="roundRect">
            <a:avLst/>
          </a:prstGeom>
          <a:solidFill>
            <a:srgbClr val="DCE8FF"/>
          </a:solidFill>
          <a:ln w="10160">
            <a:solidFill>
              <a:srgbClr val="2F6F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048875" y="3095625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选得明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04875" y="3752850"/>
            <a:ext cx="8810625" cy="66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66800" y="39243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571625" y="3848100"/>
            <a:ext cx="781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切换订单后清空旧状态，并重跑相关变更用例。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953625" y="3933825"/>
            <a:ext cx="1381125" cy="266700"/>
          </a:xfrm>
          <a:prstGeom prst="roundRect">
            <a:avLst/>
          </a:prstGeom>
          <a:solidFill>
            <a:srgbClr val="FFF3C4"/>
          </a:solidFill>
          <a:ln w="10160">
            <a:solidFill>
              <a:srgbClr val="9A6A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48875" y="3971925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验得过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4875" y="4629150"/>
            <a:ext cx="8810625" cy="666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6800" y="480060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571625" y="4724400"/>
            <a:ext cx="781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当前只完成原型与课堂测试，不能判断长期成本变化。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9953625" y="4810125"/>
            <a:ext cx="138112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48875" y="4848225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说得清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第二幕｜专业性的四个支点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349134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四支点自评：你的项目最弱在哪？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从完整度转向可信度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2095500"/>
            <a:ext cx="22860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2950" y="2171700"/>
            <a:ext cx="2133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支点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52750" y="2095500"/>
            <a:ext cx="49530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28950" y="2171700"/>
            <a:ext cx="4800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审查对象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05750" y="2095500"/>
            <a:ext cx="36195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81950" y="2171700"/>
            <a:ext cx="3467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证据门槛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6750" y="2533650"/>
            <a:ext cx="2286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000" y="2600325"/>
            <a:ext cx="209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看得准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952750" y="2533650"/>
            <a:ext cx="4953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48000" y="2600325"/>
            <a:ext cx="4762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具体任务与约束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05750" y="2533650"/>
            <a:ext cx="36195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01000" y="2600325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有材料支持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6750" y="3219450"/>
            <a:ext cx="22860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2000" y="3286125"/>
            <a:ext cx="209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选得明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952750" y="3219450"/>
            <a:ext cx="49530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48000" y="3286125"/>
            <a:ext cx="4762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选择、理由与替代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905750" y="3219450"/>
            <a:ext cx="36195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01000" y="3286125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能解释取舍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6750" y="3905250"/>
            <a:ext cx="2286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2000" y="3971925"/>
            <a:ext cx="209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验得过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952750" y="3905250"/>
            <a:ext cx="49530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048000" y="3971925"/>
            <a:ext cx="4762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用例、Bad Case与复测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05750" y="3905250"/>
            <a:ext cx="361950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01000" y="3971925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有测试记录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66750" y="4591050"/>
            <a:ext cx="22860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2000" y="4657725"/>
            <a:ext cx="2095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说得清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2952750" y="4591050"/>
            <a:ext cx="49530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048000" y="4657725"/>
            <a:ext cx="4762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实现、运行、价值边界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905750" y="4591050"/>
            <a:ext cx="3619500" cy="6858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001000" y="4657725"/>
            <a:ext cx="3429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不越过证据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14400" y="5286375"/>
            <a:ext cx="10363200" cy="5715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200150" y="545782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自评公式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200150" y="5695950"/>
            <a:ext cx="97917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algn="l"/>
          </a:lstStyle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 = 理解问题 + 作出取舍 + 接受检查 + 准确说明范围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3740727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传统作品集保留，AI项目多四层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AI不是多一个“技术方案”章节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2000250"/>
            <a:ext cx="5238750" cy="34766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5350" y="2190750"/>
            <a:ext cx="166687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90600" y="222885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传统项目仍要有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33450" y="27432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5875" y="27146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业务问题与用户</a:t>
            </a:r>
            <a:endParaRPr lang="en-US" sz="1230" dirty="0"/>
          </a:p>
        </p:txBody>
      </p:sp>
      <p:sp>
        <p:nvSpPr>
          <p:cNvPr id="15" name="Text 12"/>
          <p:cNvSpPr txBox="1"/>
          <p:nvPr/>
        </p:nvSpPr>
        <p:spPr>
          <a:xfrm>
            <a:off x="933450" y="33337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5875" y="33051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定位、流程与页面</a:t>
            </a:r>
            <a:endParaRPr lang="en-US" sz="1230" dirty="0"/>
          </a:p>
        </p:txBody>
      </p:sp>
      <p:sp>
        <p:nvSpPr>
          <p:cNvPr id="17" name="Text 14"/>
          <p:cNvSpPr txBox="1"/>
          <p:nvPr/>
        </p:nvSpPr>
        <p:spPr>
          <a:xfrm>
            <a:off x="933450" y="39243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5875" y="38957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关键决策与结果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6191250" y="2000250"/>
            <a:ext cx="5238750" cy="34766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19850" y="2190750"/>
            <a:ext cx="1666875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15100" y="222885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AI项目必须补充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57950" y="27432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810375" y="27146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能力分工与不负责</a:t>
            </a:r>
            <a:endParaRPr lang="en-US" sz="1230" dirty="0"/>
          </a:p>
        </p:txBody>
      </p:sp>
      <p:sp>
        <p:nvSpPr>
          <p:cNvPr id="24" name="Text 21"/>
          <p:cNvSpPr txBox="1"/>
          <p:nvPr/>
        </p:nvSpPr>
        <p:spPr>
          <a:xfrm>
            <a:off x="6457950" y="33337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10375" y="33051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不确定性与失败处理</a:t>
            </a:r>
            <a:endParaRPr lang="en-US" sz="1230" dirty="0"/>
          </a:p>
        </p:txBody>
      </p:sp>
      <p:sp>
        <p:nvSpPr>
          <p:cNvPr id="26" name="Text 23"/>
          <p:cNvSpPr txBox="1"/>
          <p:nvPr/>
        </p:nvSpPr>
        <p:spPr>
          <a:xfrm>
            <a:off x="6457950" y="392430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0375" y="389572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Case与复测</a:t>
            </a:r>
            <a:endParaRPr lang="en-US" sz="1230" dirty="0"/>
          </a:p>
        </p:txBody>
      </p:sp>
      <p:sp>
        <p:nvSpPr>
          <p:cNvPr id="28" name="Text 25"/>
          <p:cNvSpPr txBox="1"/>
          <p:nvPr/>
        </p:nvSpPr>
        <p:spPr>
          <a:xfrm>
            <a:off x="6457950" y="45148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10375" y="44862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人工接管与责任边界</a:t>
            </a:r>
            <a:endParaRPr lang="en-US" sz="12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3990109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面试官先找四个答案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先回答项目，再回答工具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200025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6750" y="2000250"/>
            <a:ext cx="66675" cy="16192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6300" y="21336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76300" y="238125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是什么 / 服务谁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6300" y="274320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项目定位、角色与具体任务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083050" y="2000250"/>
            <a:ext cx="76200" cy="16192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9750" y="200025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49750" y="2000250"/>
            <a:ext cx="66675" cy="1619250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9300" y="21336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59300" y="238125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怎样完成任务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59300" y="274320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产品形态、主流程与页面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66050" y="2000250"/>
            <a:ext cx="76200" cy="1619250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32750" y="200025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32750" y="2000250"/>
            <a:ext cx="66675" cy="1619250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42300" y="21336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242300" y="238125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为什么这样设计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242300" y="274320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关键选择、替代方案与约束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1449050" y="2000250"/>
            <a:ext cx="76200" cy="1619250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66750" y="3810000"/>
            <a:ext cx="34925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66750" y="3810000"/>
            <a:ext cx="66675" cy="161925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6300" y="39433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76300" y="4191000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现在到哪一步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76300" y="4552950"/>
            <a:ext cx="3073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实现、测试、运行与限制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083050" y="3810000"/>
            <a:ext cx="76200" cy="161925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4239491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完整作品集：八个部分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从问题到结果，阅读顺序就是推理顺序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1952625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6750" y="1952625"/>
            <a:ext cx="66675" cy="14763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630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6300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项目概览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6300" y="2695575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先建立项目主线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190875" y="1952625"/>
            <a:ext cx="76200" cy="1476375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19475" y="1952625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19475" y="1952625"/>
            <a:ext cx="66675" cy="14763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29025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629025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业务问题与目标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629025" y="2695575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先建立项目主线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43600" y="1952625"/>
            <a:ext cx="76200" cy="1476375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72200" y="1952625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72200" y="1952625"/>
            <a:ext cx="66675" cy="14763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8175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381750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定位与MVP边界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381750" y="2695575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先建立项目主线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696325" y="1952625"/>
            <a:ext cx="76200" cy="1476375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24925" y="1952625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924925" y="1952625"/>
            <a:ext cx="66675" cy="14763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34475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134475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形态与核心流程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134475" y="2695575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先建立项目主线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1449050" y="1952625"/>
            <a:ext cx="76200" cy="1476375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66750" y="3581400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66750" y="3581400"/>
            <a:ext cx="66675" cy="14763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76300" y="37147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76300" y="3962400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核心页面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876300" y="4324350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再展示判断与证据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3190875" y="3581400"/>
            <a:ext cx="76200" cy="1476375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419475" y="3581400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419475" y="3581400"/>
            <a:ext cx="66675" cy="1476375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629025" y="37147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3629025" y="3962400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AI能力分工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3629025" y="4324350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再展示判断与证据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943600" y="3581400"/>
            <a:ext cx="76200" cy="1476375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172200" y="3581400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172200" y="3581400"/>
            <a:ext cx="66675" cy="1476375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381750" y="37147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6381750" y="3962400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关键决策与Bad Case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6381750" y="4324350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再展示判断与证据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8696325" y="3581400"/>
            <a:ext cx="76200" cy="1476375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924925" y="3581400"/>
            <a:ext cx="2600325" cy="1476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8924925" y="3581400"/>
            <a:ext cx="66675" cy="1476375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134475" y="371475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9134475" y="3962400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实现、测试与限制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9134475" y="4324350"/>
            <a:ext cx="21812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再展示判断与证据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11449050" y="3581400"/>
            <a:ext cx="76200" cy="1476375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47750" y="5381625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最后一部分不叫‘上线结果’，除非真的上线且可核验。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4488873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项目概览：先把范围说窄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电商售后智能服务与业务办理助手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1952625"/>
            <a:ext cx="23812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2950" y="2028825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项目概览字段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48000" y="1952625"/>
            <a:ext cx="84772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24200" y="2028825"/>
            <a:ext cx="8324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安全口径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6750" y="2390775"/>
            <a:ext cx="2381250" cy="6286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000" y="2457450"/>
            <a:ext cx="219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048000" y="2390775"/>
            <a:ext cx="8477250" cy="6286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43250" y="2457450"/>
            <a:ext cx="828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公开课堂模拟的售后服务方案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381250" cy="6286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86100"/>
            <a:ext cx="219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形态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048000" y="3019425"/>
            <a:ext cx="8477250" cy="6286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43250" y="3086100"/>
            <a:ext cx="828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用户对话原型＋人工工作台原型＋模拟接口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6750" y="3648075"/>
            <a:ext cx="2381250" cy="6286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2000" y="3714750"/>
            <a:ext cx="219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主流程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48000" y="3648075"/>
            <a:ext cx="8477250" cy="6286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143250" y="3714750"/>
            <a:ext cx="828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查询→确认订单→补齐信息→预受理 / 人工接管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6750" y="4276725"/>
            <a:ext cx="2381250" cy="6286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2000" y="4343400"/>
            <a:ext cx="219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当前范围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048000" y="4276725"/>
            <a:ext cx="8477250" cy="6286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143250" y="4343400"/>
            <a:ext cx="828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原型与课堂测试；未接入生产系统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66750" y="4905375"/>
            <a:ext cx="2381250" cy="6286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972050"/>
            <a:ext cx="219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048000" y="4905375"/>
            <a:ext cx="8477250" cy="6286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143250" y="4972050"/>
            <a:ext cx="828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产品经理职责示范，不代表学员本人经历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473825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业务问题与产品目标：不要用空背景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从“客服压力大”到四个具体任务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09938" y="2905125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81050" y="2381250"/>
            <a:ext cx="2528888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495550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95350" y="2743200"/>
            <a:ext cx="230028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政策查询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10275" y="2905125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481388" y="2381250"/>
            <a:ext cx="2528888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14738" y="2495550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595688" y="2743200"/>
            <a:ext cx="230028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订单确认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710613" y="2905125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181725" y="2381250"/>
            <a:ext cx="2528888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15075" y="2495550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296025" y="2743200"/>
            <a:ext cx="230028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信息补齐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882063" y="2381250"/>
            <a:ext cx="2528888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15413" y="2495550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996363" y="2743200"/>
            <a:ext cx="230028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售后预受理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14400" y="4238625"/>
            <a:ext cx="10363200" cy="904875"/>
          </a:xfrm>
          <a:prstGeom prst="roundRect">
            <a:avLst/>
          </a:prstGeom>
          <a:solidFill>
            <a:srgbClr val="DDEFE5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00150" y="44100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产品目标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200150" y="4648200"/>
            <a:ext cx="9791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让用户完成查询与信息准备；无法继续时，把上下文交给模拟人工角色。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4987636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产品定位与 MVP 边界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第一版止于预受理或人工接管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1857375"/>
            <a:ext cx="10363200" cy="6858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00150" y="202882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产品定位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00150" y="2266950"/>
            <a:ext cx="97917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低风险售后咨询与信息预受理助手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66750" y="2809875"/>
            <a:ext cx="5238750" cy="2667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5350" y="3000375"/>
            <a:ext cx="166687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0600" y="303847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第一版做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33450" y="35528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85875" y="35242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政策查询</a:t>
            </a:r>
            <a:endParaRPr lang="en-US" sz="1230" dirty="0"/>
          </a:p>
        </p:txBody>
      </p:sp>
      <p:sp>
        <p:nvSpPr>
          <p:cNvPr id="20" name="Text 17"/>
          <p:cNvSpPr txBox="1"/>
          <p:nvPr/>
        </p:nvSpPr>
        <p:spPr>
          <a:xfrm>
            <a:off x="933450" y="41433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285875" y="41148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订单确认</a:t>
            </a:r>
            <a:endParaRPr lang="en-US" sz="1230" dirty="0"/>
          </a:p>
        </p:txBody>
      </p:sp>
      <p:sp>
        <p:nvSpPr>
          <p:cNvPr id="22" name="Text 19"/>
          <p:cNvSpPr txBox="1"/>
          <p:nvPr/>
        </p:nvSpPr>
        <p:spPr>
          <a:xfrm>
            <a:off x="933450" y="47339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285875" y="47053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信息补齐</a:t>
            </a:r>
            <a:endParaRPr lang="en-US" sz="1230" dirty="0"/>
          </a:p>
        </p:txBody>
      </p:sp>
      <p:sp>
        <p:nvSpPr>
          <p:cNvPr id="24" name="Text 21"/>
          <p:cNvSpPr txBox="1"/>
          <p:nvPr/>
        </p:nvSpPr>
        <p:spPr>
          <a:xfrm>
            <a:off x="933450" y="53244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285875" y="52959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申请预受理</a:t>
            </a:r>
            <a:endParaRPr lang="en-US" sz="1230" dirty="0"/>
          </a:p>
        </p:txBody>
      </p:sp>
      <p:sp>
        <p:nvSpPr>
          <p:cNvPr id="26" name="Shape 23"/>
          <p:cNvSpPr/>
          <p:nvPr/>
        </p:nvSpPr>
        <p:spPr>
          <a:xfrm>
            <a:off x="6191250" y="2809875"/>
            <a:ext cx="5238750" cy="2667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19850" y="3000375"/>
            <a:ext cx="1666875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15100" y="303847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暂不做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457950" y="35528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810375" y="35242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自动退款</a:t>
            </a:r>
            <a:endParaRPr lang="en-US" sz="1230" dirty="0"/>
          </a:p>
        </p:txBody>
      </p:sp>
      <p:sp>
        <p:nvSpPr>
          <p:cNvPr id="31" name="Text 28"/>
          <p:cNvSpPr txBox="1"/>
          <p:nvPr/>
        </p:nvSpPr>
        <p:spPr>
          <a:xfrm>
            <a:off x="6457950" y="41433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810375" y="41148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高额赔偿</a:t>
            </a:r>
            <a:endParaRPr lang="en-US" sz="1230" dirty="0"/>
          </a:p>
        </p:txBody>
      </p:sp>
      <p:sp>
        <p:nvSpPr>
          <p:cNvPr id="33" name="Text 30"/>
          <p:cNvSpPr txBox="1"/>
          <p:nvPr/>
        </p:nvSpPr>
        <p:spPr>
          <a:xfrm>
            <a:off x="6457950" y="47339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810375" y="47053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投诉判责</a:t>
            </a:r>
            <a:endParaRPr lang="en-US" sz="1230" dirty="0"/>
          </a:p>
        </p:txBody>
      </p:sp>
      <p:sp>
        <p:nvSpPr>
          <p:cNvPr id="35" name="Text 32"/>
          <p:cNvSpPr txBox="1"/>
          <p:nvPr/>
        </p:nvSpPr>
        <p:spPr>
          <a:xfrm>
            <a:off x="6457950" y="53244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810375" y="52959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账户安全</a:t>
            </a:r>
            <a:endParaRPr lang="en-US" sz="1230" dirty="0"/>
          </a:p>
        </p:txBody>
      </p:sp>
      <p:sp>
        <p:nvSpPr>
          <p:cNvPr id="37" name="Text 34"/>
          <p:cNvSpPr txBox="1"/>
          <p:nvPr/>
        </p:nvSpPr>
        <p:spPr>
          <a:xfrm>
            <a:off x="6457950" y="59150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6810375" y="58864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特殊承诺</a:t>
            </a:r>
            <a:endParaRPr lang="en-US" sz="1230" dirty="0"/>
          </a:p>
        </p:txBody>
      </p:sp>
      <p:sp>
        <p:nvSpPr>
          <p:cNvPr id="39" name="Text 36"/>
          <p:cNvSpPr txBox="1"/>
          <p:nvPr/>
        </p:nvSpPr>
        <p:spPr>
          <a:xfrm>
            <a:off x="1428750" y="5734050"/>
            <a:ext cx="933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不执行退款审批或资金操作。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5237018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 ① 用户对话原型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可编辑低保真 UI｜公共模拟案例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47750" y="1809750"/>
            <a:ext cx="10096500" cy="40005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47750" y="1809750"/>
            <a:ext cx="10096500" cy="4762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76350" y="1924050"/>
            <a:ext cx="42862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售后助手 · 对话原型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10625" y="1914525"/>
            <a:ext cx="2000250" cy="266700"/>
          </a:xfrm>
          <a:prstGeom prst="roundRect">
            <a:avLst/>
          </a:prstGeom>
          <a:solidFill>
            <a:srgbClr val="102A43"/>
          </a:solidFill>
          <a:ln w="10160">
            <a:solidFill>
              <a:srgbClr val="F2C94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05875" y="1952625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2C9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PUBLIC SIMULATION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81125" y="246697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381125" y="2714625"/>
            <a:ext cx="4953000" cy="6096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33525" y="2809875"/>
            <a:ext cx="4648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我想退刚买的耳机，能帮我看一下吗？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648825" y="3419475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助手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0" y="3667125"/>
            <a:ext cx="5953125" cy="809625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24400" y="3762375"/>
            <a:ext cx="56483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可以。我先展示候选订单，请你确认具体订单和商品。确认前不会提交任何售后申请。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81125" y="4953000"/>
            <a:ext cx="7810500" cy="533400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81150" y="5076825"/>
            <a:ext cx="619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输入消息…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382125" y="4953000"/>
            <a:ext cx="1143000" cy="533400"/>
          </a:xfrm>
          <a:prstGeom prst="roundRect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82125" y="5076825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发送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5486400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 ② 订单确认原型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可编辑低保真 UI｜确认对象后再继续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7250" y="1809750"/>
            <a:ext cx="10477500" cy="4095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81100" y="2047875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请选择要处理的订单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334500" y="2057400"/>
            <a:ext cx="1524000" cy="266700"/>
          </a:xfrm>
          <a:prstGeom prst="roundRect">
            <a:avLst/>
          </a:prstGeom>
          <a:solidFill>
            <a:srgbClr val="FFF3C4"/>
          </a:solidFill>
          <a:ln w="10160">
            <a:solidFill>
              <a:srgbClr val="9A6A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429750" y="2095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需用户确认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181100" y="2686050"/>
            <a:ext cx="9829800" cy="97155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09700" y="2990850"/>
            <a:ext cx="266700" cy="266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6F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76375" y="3057525"/>
            <a:ext cx="133350" cy="133350"/>
          </a:xfrm>
          <a:prstGeom prst="ellipse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885950" y="28194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候选订单 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885950" y="30670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无线耳机 · 订单 #A1028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67500" y="3067050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¥399 · 昨日签收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353550" y="3009900"/>
            <a:ext cx="1333500" cy="266700"/>
          </a:xfrm>
          <a:prstGeom prst="roundRect">
            <a:avLst/>
          </a:prstGeom>
          <a:solidFill>
            <a:srgbClr val="FFF3C4"/>
          </a:solidFill>
          <a:ln w="10160">
            <a:solidFill>
              <a:srgbClr val="9A6A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448800" y="30480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181100" y="3857625"/>
            <a:ext cx="9829800" cy="971550"/>
          </a:xfrm>
          <a:prstGeom prst="roundRect">
            <a:avLst/>
          </a:prstGeom>
          <a:solidFill>
            <a:srgbClr val="F7F4EC"/>
          </a:solidFill>
          <a:ln w="15240">
            <a:solidFill>
              <a:srgbClr val="CFD8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409700" y="4162425"/>
            <a:ext cx="266700" cy="266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FD8D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885950" y="3990975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候选订单 B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885950" y="423862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耳机保护套 · 订单 #B7731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667500" y="4238625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¥59 · 7天前签收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353550" y="4181475"/>
            <a:ext cx="1333500" cy="266700"/>
          </a:xfrm>
          <a:prstGeom prst="roundRect">
            <a:avLst/>
          </a:prstGeom>
          <a:solidFill>
            <a:srgbClr val="EEE9DD"/>
          </a:solidFill>
          <a:ln w="10160">
            <a:solidFill>
              <a:srgbClr val="6277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48800" y="4219575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非本次商品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200150" y="5219700"/>
            <a:ext cx="73342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必须显示：商品、时间、金额、状态；只给订单号不足以确认对象。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048750" y="5095875"/>
            <a:ext cx="1962150" cy="552450"/>
          </a:xfrm>
          <a:prstGeom prst="roundRect">
            <a:avLst/>
          </a:prstGeom>
          <a:solidFill>
            <a:srgbClr val="2F6FEB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048750" y="5219700"/>
            <a:ext cx="19621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确认订单 A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5735782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 ③ 人工接管工作台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可编辑低保真 UI｜上下文随任务转交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4375" y="1809750"/>
            <a:ext cx="10763250" cy="4095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8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4375" y="1809750"/>
            <a:ext cx="10763250" cy="49530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71550" y="192405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人工接管工作台 · 原型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258300" y="1924050"/>
            <a:ext cx="185737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53550" y="19621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52500" y="2647950"/>
            <a:ext cx="2952750" cy="2333625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2500" y="2647950"/>
            <a:ext cx="2952750" cy="666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23950" y="2905125"/>
            <a:ext cx="2609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会话摘要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23950" y="3333750"/>
            <a:ext cx="26098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用户希望退无线耳机；已确认订单 A；原因：左耳无声；未提交退款。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123950" y="4533900"/>
            <a:ext cx="2609850" cy="2857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3950" y="457200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查看记录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095750" y="2647950"/>
            <a:ext cx="2952750" cy="2333625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95750" y="2647950"/>
            <a:ext cx="2952750" cy="66675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67200" y="2905125"/>
            <a:ext cx="2609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已确认 / 待补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67200" y="3333750"/>
            <a:ext cx="260985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已确认：订单、商品、问题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待补：图片、联系方式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冲突：无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67200" y="4533900"/>
            <a:ext cx="2609850" cy="2857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67200" y="4572000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查看记录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239000" y="2647950"/>
            <a:ext cx="4000500" cy="2333625"/>
          </a:xfrm>
          <a:prstGeom prst="roundRect">
            <a:avLst/>
          </a:prstGeom>
          <a:solidFill>
            <a:srgbClr val="F7F4EC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39000" y="2647950"/>
            <a:ext cx="4000500" cy="66675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10450" y="2905125"/>
            <a:ext cx="365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转交原因与下一步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410450" y="3333750"/>
            <a:ext cx="36576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原因：超出自动预受理范围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建议：人工核对证据并决定后续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人工可推翻机器建议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410450" y="4533900"/>
            <a:ext cx="3657600" cy="28575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10450" y="4572000"/>
            <a:ext cx="365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查看记录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905250" y="3810000"/>
            <a:ext cx="152400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048500" y="3810000"/>
            <a:ext cx="152400" cy="0"/>
          </a:xfrm>
          <a:prstGeom prst="line">
            <a:avLst/>
          </a:prstGeom>
          <a:noFill/>
          <a:ln w="19050">
            <a:solidFill>
              <a:srgbClr val="C84A4A"/>
            </a:solidFill>
            <a:prstDash val="solid"/>
            <a:tailEnd type="triangle"/>
          </a:ln>
        </p:spPr>
      </p:sp>
      <p:sp>
        <p:nvSpPr>
          <p:cNvPr id="37" name="Text 34"/>
          <p:cNvSpPr txBox="1"/>
          <p:nvPr/>
        </p:nvSpPr>
        <p:spPr>
          <a:xfrm>
            <a:off x="933450" y="5257800"/>
            <a:ext cx="619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状态：已受理，未批准退款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858125" y="5257800"/>
            <a:ext cx="3333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机器建议 ≠ 人工结论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5985164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AI方案：能力分工与不负责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先分责任，再画架构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1857375"/>
            <a:ext cx="20002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2950" y="1933575"/>
            <a:ext cx="1847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667000" y="1857375"/>
            <a:ext cx="43815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0" y="1933575"/>
            <a:ext cx="422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48500" y="1857375"/>
            <a:ext cx="44767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24700" y="1933575"/>
            <a:ext cx="432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不负责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6750" y="2295525"/>
            <a:ext cx="200025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2000" y="236220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2667000" y="2295525"/>
            <a:ext cx="438150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62250" y="23622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理解诉求、提取字段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7048500" y="2295525"/>
            <a:ext cx="447675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43750" y="2362200"/>
            <a:ext cx="428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批准退款、决定权益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66750" y="2847975"/>
            <a:ext cx="200025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2000" y="291465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2667000" y="2847975"/>
            <a:ext cx="438150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762250" y="29146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提供政策与口径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7048500" y="2847975"/>
            <a:ext cx="447675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43750" y="2914650"/>
            <a:ext cx="428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实时订单状态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666750" y="3400425"/>
            <a:ext cx="200025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2000" y="346710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2667000" y="3400425"/>
            <a:ext cx="438150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762250" y="34671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执行固定步骤与状态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7048500" y="3400425"/>
            <a:ext cx="447675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143750" y="3467100"/>
            <a:ext cx="428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自主跳过安全步骤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666750" y="3952875"/>
            <a:ext cx="200025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62000" y="401955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2667000" y="3952875"/>
            <a:ext cx="438150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762250" y="40195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检查确定性条件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7048500" y="3952875"/>
            <a:ext cx="447675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143750" y="4019550"/>
            <a:ext cx="428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理解所有自然语言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666750" y="4505325"/>
            <a:ext cx="200025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62000" y="457200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模拟接口</a:t>
            </a:r>
            <a:endParaRPr lang="en-US" sz="980" dirty="0"/>
          </a:p>
        </p:txBody>
      </p:sp>
      <p:sp>
        <p:nvSpPr>
          <p:cNvPr id="44" name="Shape 41"/>
          <p:cNvSpPr/>
          <p:nvPr/>
        </p:nvSpPr>
        <p:spPr>
          <a:xfrm>
            <a:off x="2667000" y="4505325"/>
            <a:ext cx="438150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762250" y="457200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返回教学数据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7048500" y="4505325"/>
            <a:ext cx="4476750" cy="55245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143750" y="4572000"/>
            <a:ext cx="428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真实查询或资金操作</a:t>
            </a:r>
            <a:endParaRPr lang="en-US" sz="980" dirty="0"/>
          </a:p>
        </p:txBody>
      </p:sp>
      <p:sp>
        <p:nvSpPr>
          <p:cNvPr id="48" name="Shape 45"/>
          <p:cNvSpPr/>
          <p:nvPr/>
        </p:nvSpPr>
        <p:spPr>
          <a:xfrm>
            <a:off x="666750" y="5057775"/>
            <a:ext cx="200025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62000" y="512445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人工角色</a:t>
            </a:r>
            <a:endParaRPr lang="en-US" sz="980" dirty="0"/>
          </a:p>
        </p:txBody>
      </p:sp>
      <p:sp>
        <p:nvSpPr>
          <p:cNvPr id="50" name="Shape 47"/>
          <p:cNvSpPr/>
          <p:nvPr/>
        </p:nvSpPr>
        <p:spPr>
          <a:xfrm>
            <a:off x="2667000" y="5057775"/>
            <a:ext cx="438150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762250" y="5124450"/>
            <a:ext cx="419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处理冲突、超权限</a:t>
            </a:r>
            <a:endParaRPr lang="en-US" sz="980" dirty="0"/>
          </a:p>
        </p:txBody>
      </p:sp>
      <p:sp>
        <p:nvSpPr>
          <p:cNvPr id="52" name="Shape 49"/>
          <p:cNvSpPr/>
          <p:nvPr/>
        </p:nvSpPr>
        <p:spPr>
          <a:xfrm>
            <a:off x="7048500" y="5057775"/>
            <a:ext cx="4476750" cy="55245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143750" y="5124450"/>
            <a:ext cx="428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证明生产效果</a:t>
            </a:r>
            <a:endParaRPr lang="en-US" sz="9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623454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关键决策 1：为什么增加订单确认卡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 → 方案比较 → 选择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2000250"/>
            <a:ext cx="10363200" cy="809625"/>
          </a:xfrm>
          <a:prstGeom prst="roundRect">
            <a:avLst/>
          </a:prstGeom>
          <a:solidFill>
            <a:srgbClr val="F7DEDE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00150" y="217170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00150" y="2409825"/>
            <a:ext cx="9791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订单号难以被用户稳定识别，误选会污染后续状态。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210050" y="3714750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81050" y="3190875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3051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95350" y="3552825"/>
            <a:ext cx="3200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只显示订单号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810500" y="3714750"/>
            <a:ext cx="133350" cy="0"/>
          </a:xfrm>
          <a:prstGeom prst="line">
            <a:avLst/>
          </a:prstGeom>
          <a:noFill/>
          <a:ln w="2159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381500" y="3190875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14850" y="33051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4495800" y="3552825"/>
            <a:ext cx="3200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让模型自动选择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981950" y="3190875"/>
            <a:ext cx="3429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15300" y="33051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096250" y="3552825"/>
            <a:ext cx="3200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展示关键字段并由用户确认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14400" y="4810125"/>
            <a:ext cx="10363200" cy="781050"/>
          </a:xfrm>
          <a:prstGeom prst="roundRect">
            <a:avLst/>
          </a:prstGeom>
          <a:solidFill>
            <a:srgbClr val="DDEFE5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200150" y="49815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200150" y="5219700"/>
            <a:ext cx="9791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选择第三种：把对象确认做成显式交互。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6483927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关键决策 2—3：二次确认与人工接管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权益动作前慢一步，异常时不断线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2143125"/>
            <a:ext cx="5286375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6750" y="2143125"/>
            <a:ext cx="66675" cy="2667000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6300" y="22764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6300" y="2524125"/>
            <a:ext cx="4867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提交前二次确认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6300" y="2886075"/>
            <a:ext cx="48672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展示将提交的信息；用户确认后才形成预受理记录。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76925" y="2143125"/>
            <a:ext cx="76200" cy="2667000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38875" y="2143125"/>
            <a:ext cx="5286375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8875" y="2143125"/>
            <a:ext cx="66675" cy="266700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48425" y="22764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48425" y="2524125"/>
            <a:ext cx="4867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携带上下文转人工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48425" y="2886075"/>
            <a:ext cx="4867275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摘要、订单、缺失字段和原因一起转交；人工可继续或推翻。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1449050" y="2143125"/>
            <a:ext cx="76200" cy="266700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4400" y="5191125"/>
            <a:ext cx="10363200" cy="62865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200150" y="53625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200150" y="5600700"/>
            <a:ext cx="97917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产品不是追求零转人工，而是让转人工可继续完成任务。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6733309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课堂模拟 Bad Case：切换订单后旧状态未失效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对象变了，关联状态必须一起失效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2190750"/>
            <a:ext cx="2586038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6750" y="2190750"/>
            <a:ext cx="66675" cy="257175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6300" y="23241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6300" y="2571750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现象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6300" y="2933700"/>
            <a:ext cx="2166938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用户已确认订单A → 改选订单B → 系统仍保留A的商品与原因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176588" y="2190750"/>
            <a:ext cx="76200" cy="257175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4238" y="2190750"/>
            <a:ext cx="2586038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424238" y="2190750"/>
            <a:ext cx="66675" cy="2571750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33788" y="23241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633788" y="2571750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3633788" y="2933700"/>
            <a:ext cx="2166938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状态绑定在会话而不是订单对象；变更事件未触发清理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34075" y="2190750"/>
            <a:ext cx="76200" cy="2571750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81725" y="2190750"/>
            <a:ext cx="2586038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81725" y="2190750"/>
            <a:ext cx="66675" cy="25717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91275" y="23241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391275" y="2571750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391275" y="2933700"/>
            <a:ext cx="2166938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订单对象变化时，清空关联商品、原因与确认状态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691563" y="2190750"/>
            <a:ext cx="76200" cy="25717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939213" y="2190750"/>
            <a:ext cx="2586038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939213" y="2190750"/>
            <a:ext cx="66675" cy="2571750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8763" y="23241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9148763" y="2571750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复测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9148763" y="2933700"/>
            <a:ext cx="2166938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重跑订单、商品、售后原因的变更用例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1449050" y="2190750"/>
            <a:ext cx="76200" cy="2571750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5191125"/>
            <a:ext cx="10363200" cy="62865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200150" y="53625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闭环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1200150" y="5600700"/>
            <a:ext cx="979170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Case的价值在于暴露你的分析与复测。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6982691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实现结果、限制与职责：三栏分开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结果页不是胜利海报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6750" y="2047875"/>
            <a:ext cx="3492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6750" y="2047875"/>
            <a:ext cx="66675" cy="2476500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6300" y="21812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6300" y="2428875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76300" y="2790825"/>
            <a:ext cx="307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四类能力的原型与模拟流程；课堂用例和接管演练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083050" y="2047875"/>
            <a:ext cx="76200" cy="2476500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49750" y="2047875"/>
            <a:ext cx="3492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49750" y="2047875"/>
            <a:ext cx="66675" cy="247650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59300" y="21812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59300" y="2428875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未验证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559300" y="2790825"/>
            <a:ext cx="307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生产稳定性、真实自助率、长期成本、满意度、商业价值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766050" y="2047875"/>
            <a:ext cx="76200" cy="247650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32750" y="2047875"/>
            <a:ext cx="34925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032750" y="2047875"/>
            <a:ext cx="66675" cy="24765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42300" y="218122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242300" y="2428875"/>
            <a:ext cx="307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职责示例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242300" y="2790825"/>
            <a:ext cx="3073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流程、原型、规则边界与测试设计；学员需替换为本人贡献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1449050" y="2047875"/>
            <a:ext cx="76200" cy="24765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47750" y="4905375"/>
            <a:ext cx="10096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上线时间、会话量、自助率、转人工率、处理时间等，只能作为未来可采集指标。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047750" y="5410200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没有实际统计就不估算；没有亲自参与就不认领。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第三幕｜把判断放进作品集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7232073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八句话，检查作品集是否闭环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每个部分只写一句，逼出主线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19526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6750" y="1952625"/>
            <a:ext cx="66675" cy="1524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630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76300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6300" y="26955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这是一个…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90875" y="1952625"/>
            <a:ext cx="76200" cy="15240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19475" y="19526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19475" y="1952625"/>
            <a:ext cx="66675" cy="1524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29025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629025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629025" y="26955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具体问题是…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0" y="1952625"/>
            <a:ext cx="76200" cy="15240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200" y="19526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72200" y="1952625"/>
            <a:ext cx="66675" cy="1524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8175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81750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381750" y="26955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第一版只做…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696325" y="1952625"/>
            <a:ext cx="76200" cy="15240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24925" y="19526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924925" y="1952625"/>
            <a:ext cx="66675" cy="1524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34475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9134475" y="23336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134475" y="26955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用户通过…完成…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1449050" y="1952625"/>
            <a:ext cx="76200" cy="15240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6750" y="36290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66750" y="3629025"/>
            <a:ext cx="66675" cy="1524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6300" y="37623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76300" y="40100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76300" y="43719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关键页面解决…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3190875" y="3629025"/>
            <a:ext cx="76200" cy="15240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19475" y="36290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419475" y="3629025"/>
            <a:ext cx="66675" cy="1524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629025" y="37623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3629025" y="40100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3629025" y="43719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能力分工是…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5943600" y="3629025"/>
            <a:ext cx="76200" cy="15240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72200" y="36290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172200" y="3629025"/>
            <a:ext cx="66675" cy="15240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381750" y="37623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6381750" y="40100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6381750" y="43719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我选择…因为…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8696325" y="3629025"/>
            <a:ext cx="76200" cy="15240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924925" y="3629025"/>
            <a:ext cx="2600325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924925" y="3629025"/>
            <a:ext cx="66675" cy="152400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34475" y="37623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9134475" y="4010025"/>
            <a:ext cx="2181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500" dirty="0"/>
          </a:p>
        </p:txBody>
      </p:sp>
      <p:sp>
        <p:nvSpPr>
          <p:cNvPr id="56" name="Text 53"/>
          <p:cNvSpPr txBox="1"/>
          <p:nvPr/>
        </p:nvSpPr>
        <p:spPr>
          <a:xfrm>
            <a:off x="9134475" y="4371975"/>
            <a:ext cx="21812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目前完成…仍限制…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11449050" y="3629025"/>
            <a:ext cx="76200" cy="152400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第四幕｜90秒本人项目介绍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748145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90秒介绍的四个常见问题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听起来很多，记下来很少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2143125"/>
            <a:ext cx="2586038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6750" y="2143125"/>
            <a:ext cx="66675" cy="2857500"/>
          </a:xfrm>
          <a:prstGeom prst="rect">
            <a:avLst/>
          </a:prstGeom>
          <a:solidFill>
            <a:srgbClr val="9A6A00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6300" y="22764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76300" y="2524125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背景过长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6300" y="2886075"/>
            <a:ext cx="216693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用一半时间解释行业，却没说具体任务。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76588" y="2143125"/>
            <a:ext cx="76200" cy="2857500"/>
          </a:xfrm>
          <a:prstGeom prst="rect">
            <a:avLst/>
          </a:prstGeom>
          <a:solidFill>
            <a:srgbClr val="FFF3C4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24238" y="2143125"/>
            <a:ext cx="2586038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24238" y="2143125"/>
            <a:ext cx="66675" cy="28575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33788" y="22764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633788" y="2524125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工具清单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633788" y="2886075"/>
            <a:ext cx="216693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只说模型、RAG、Agent，不说为何选择。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34075" y="2143125"/>
            <a:ext cx="76200" cy="285750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81725" y="2143125"/>
            <a:ext cx="2586038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81725" y="2143125"/>
            <a:ext cx="66675" cy="2857500"/>
          </a:xfrm>
          <a:prstGeom prst="rect">
            <a:avLst/>
          </a:prstGeom>
          <a:solidFill>
            <a:srgbClr val="2E8B57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91275" y="22764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91275" y="2524125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功能罗列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391275" y="2886075"/>
            <a:ext cx="216693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页面很多，但没有主流程和关键判断。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691563" y="2143125"/>
            <a:ext cx="76200" cy="2857500"/>
          </a:xfrm>
          <a:prstGeom prst="rect">
            <a:avLst/>
          </a:prstGeom>
          <a:solidFill>
            <a:srgbClr val="DDEFE5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39213" y="2143125"/>
            <a:ext cx="2586038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939213" y="2143125"/>
            <a:ext cx="66675" cy="285750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8763" y="22764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9148763" y="2524125"/>
            <a:ext cx="21669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只讲结果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148763" y="2886075"/>
            <a:ext cx="216693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“已上线、显著提升”却没有范围与数据。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1449050" y="2143125"/>
            <a:ext cx="76200" cy="285750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14400" y="5381625"/>
            <a:ext cx="10363200" cy="523875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200150" y="55530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200150" y="5791200"/>
            <a:ext cx="9791700" cy="-47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介绍的目标不是覆盖项目，而是建立可信主线。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第四幕｜90秒本人项目介绍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7730836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五段式结构：每段只做一件事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+ 20 + 20 + 20 + 15 = 90秒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1952625"/>
            <a:ext cx="17145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2950" y="2028825"/>
            <a:ext cx="1562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81250" y="1952625"/>
            <a:ext cx="23812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57450" y="2028825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段落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62500" y="1952625"/>
            <a:ext cx="67627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38700" y="2028825"/>
            <a:ext cx="6610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只回答一个问题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6750" y="2390775"/>
            <a:ext cx="17145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000" y="2457450"/>
            <a:ext cx="1524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15秒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381250" y="2390775"/>
            <a:ext cx="238125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76500" y="2457450"/>
            <a:ext cx="2190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62500" y="2390775"/>
            <a:ext cx="676275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57750" y="2457450"/>
            <a:ext cx="657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谁的什么任务卡在哪里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6750" y="3038475"/>
            <a:ext cx="171450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2000" y="3105150"/>
            <a:ext cx="1524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20秒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381250" y="3038475"/>
            <a:ext cx="238125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476500" y="3105150"/>
            <a:ext cx="2190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形态与流程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62500" y="3038475"/>
            <a:ext cx="676275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57750" y="3105150"/>
            <a:ext cx="657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产品怎样完成任务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66750" y="3686175"/>
            <a:ext cx="17145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2000" y="3752850"/>
            <a:ext cx="1524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20秒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381250" y="3686175"/>
            <a:ext cx="238125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476500" y="3752850"/>
            <a:ext cx="2190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关键判断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62500" y="3686175"/>
            <a:ext cx="676275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57750" y="3752850"/>
            <a:ext cx="657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选择、约束与替代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66750" y="4333875"/>
            <a:ext cx="171450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2000" y="4400550"/>
            <a:ext cx="1524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20秒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2381250" y="4333875"/>
            <a:ext cx="238125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476500" y="4400550"/>
            <a:ext cx="2190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问题闭环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762500" y="4333875"/>
            <a:ext cx="676275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857750" y="4400550"/>
            <a:ext cx="657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Case、修改与复测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66750" y="4981575"/>
            <a:ext cx="17145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62000" y="5048250"/>
            <a:ext cx="1524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15秒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2381250" y="4981575"/>
            <a:ext cx="238125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476500" y="5048250"/>
            <a:ext cx="2190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进展与贡献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762500" y="4981575"/>
            <a:ext cx="676275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857750" y="5048250"/>
            <a:ext cx="657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事实、本人工作与限制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第四幕｜90秒本人项目介绍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7980218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前两段：问题与产品流程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本人项目填空，不代写经历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500" y="2095500"/>
            <a:ext cx="10287000" cy="66675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19200" y="2200275"/>
            <a:ext cx="975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我参与的是____，服务____，解决____任务中的____问题。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2500" y="2971800"/>
            <a:ext cx="10287000" cy="66675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19200" y="3076575"/>
            <a:ext cx="975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产品由____组成；用户先____，再____；无法继续时____。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85875" y="4181475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85875" y="42005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819275" y="418147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问题来源：访谈 / 数据 / 业务材料 / 明确标注假设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285875" y="4724400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85875" y="47434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819275" y="4724400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流程证据：原型 / PRD / 演示 / 运行记录（按实际选择）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第四幕｜90秒本人项目介绍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8229600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中间两段：关键判断与修改闭环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一个选择 + 一个Bad Case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500" y="2095500"/>
            <a:ext cx="10287000" cy="66675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19200" y="2200275"/>
            <a:ext cx="975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一个关键取舍是____。我们没有选____，因为____约束；最终用____。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2500" y="2971800"/>
            <a:ext cx="10287000" cy="66675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19200" y="3076575"/>
            <a:ext cx="975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在____测试/运行中发现____。原因是____；调整为____，并用____复测。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85875" y="4181475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85875" y="42005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819275" y="418147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替代方案必须真的考虑过，或明确说是复盘比较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285875" y="4724400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85875" y="47434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819275" y="4724400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Case只能来自本人记录；没有就说验证计划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第四幕｜90秒本人项目介绍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8478982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最后一段：进展、本人贡献与限制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准确，比强行拔高更专业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2500" y="2095500"/>
            <a:ext cx="10287000" cy="66675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19200" y="2200275"/>
            <a:ext cx="975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当前完成____，证据是____。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52500" y="2971800"/>
            <a:ext cx="10287000" cy="66675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19200" y="3076575"/>
            <a:ext cx="975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我本人负责____；团队其他部分是____。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52500" y="3848100"/>
            <a:ext cx="10287000" cy="66675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F6F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219200" y="3952875"/>
            <a:ext cx="975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现阶段只能确认____；由于缺少____，不能判断____。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5875" y="5057775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285875" y="50768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819275" y="505777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 / 测试 / 运行 / 价值，选择正确层级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285875" y="5600700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85875" y="56197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819275" y="5600700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本人贡献与团队贡献分开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285875" y="6143625"/>
            <a:ext cx="342900" cy="34290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85875" y="616267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819275" y="6143625"/>
            <a:ext cx="8991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无数据不估算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第四幕｜90秒本人项目介绍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8728364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完整90秒示范：公共模拟口径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示范结构，不示范虚构经历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2950" y="1952625"/>
            <a:ext cx="52197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095500"/>
            <a:ext cx="1619250" cy="266700"/>
          </a:xfrm>
          <a:prstGeom prst="roundRect">
            <a:avLst/>
          </a:prstGeom>
          <a:solidFill>
            <a:srgbClr val="DCE8FF"/>
          </a:solidFill>
          <a:ln w="10160">
            <a:solidFill>
              <a:srgbClr val="2F6F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9650" y="21336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33450" y="2457450"/>
            <a:ext cx="4838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这是一个公开课堂模拟的电商售后服务方案，演示政策查询、订单确认和售后预受理。模拟场景中，统一FAQ无法根据订单状态继续办理，因此第一版聚焦规则明确、风险较低的任务。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6172200" y="1952625"/>
            <a:ext cx="52197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43650" y="2095500"/>
            <a:ext cx="1619250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8900" y="21336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形态与流程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362700" y="2457450"/>
            <a:ext cx="4838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原型由用户对话、模拟人工工作台和模拟接口组成。系统识别任务、展示候选订单、由用户确认并补齐信息，最后形成预受理记录；冲突、失败或超权限时进入模拟人工接管。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742950" y="3790950"/>
            <a:ext cx="52197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6A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0" y="3933825"/>
            <a:ext cx="1619250" cy="266700"/>
          </a:xfrm>
          <a:prstGeom prst="roundRect">
            <a:avLst/>
          </a:prstGeom>
          <a:solidFill>
            <a:srgbClr val="FFF3C4"/>
          </a:solidFill>
          <a:ln w="10160">
            <a:solidFill>
              <a:srgbClr val="9A6A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9650" y="39719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9A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判断与Bad Case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33450" y="4295775"/>
            <a:ext cx="4838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关键设计是不让模型批准退款：模型理解表达和提取字段，确定性规则检查能否进入预受理。课堂测试发现切换订单后旧状态未失效，修改后重跑了相关变更用例。</a:t>
            </a:r>
            <a:endParaRPr lang="en-US" sz="970" dirty="0"/>
          </a:p>
        </p:txBody>
      </p:sp>
      <p:sp>
        <p:nvSpPr>
          <p:cNvPr id="24" name="Shape 21"/>
          <p:cNvSpPr/>
          <p:nvPr/>
        </p:nvSpPr>
        <p:spPr>
          <a:xfrm>
            <a:off x="6172200" y="3790950"/>
            <a:ext cx="52197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A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43650" y="3933825"/>
            <a:ext cx="161925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38900" y="3971925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进展与限制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362700" y="4295775"/>
            <a:ext cx="48387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当前仅完成原型演示和课堂测试；没有生产部署、真实用户样本或经营数据，因此不能推断成本和满意度变化。</a:t>
            </a:r>
            <a:endParaRPr lang="en-US" sz="97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第四幕｜90秒本人项目介绍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897774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改写练习：保留什么，删除什么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250—320字，控制在90秒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1952625"/>
            <a:ext cx="5238750" cy="32861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5350" y="2143125"/>
            <a:ext cx="166687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90600" y="218122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33450" y="26955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5875" y="26670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具体问题与主流程</a:t>
            </a:r>
            <a:endParaRPr lang="en-US" sz="1230" dirty="0"/>
          </a:p>
        </p:txBody>
      </p:sp>
      <p:sp>
        <p:nvSpPr>
          <p:cNvPr id="15" name="Text 12"/>
          <p:cNvSpPr txBox="1"/>
          <p:nvPr/>
        </p:nvSpPr>
        <p:spPr>
          <a:xfrm>
            <a:off x="933450" y="32861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85875" y="32575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一个关键判断</a:t>
            </a:r>
            <a:endParaRPr lang="en-US" sz="1230" dirty="0"/>
          </a:p>
        </p:txBody>
      </p:sp>
      <p:sp>
        <p:nvSpPr>
          <p:cNvPr id="17" name="Text 14"/>
          <p:cNvSpPr txBox="1"/>
          <p:nvPr/>
        </p:nvSpPr>
        <p:spPr>
          <a:xfrm>
            <a:off x="933450" y="38766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5875" y="38481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一个问题闭环</a:t>
            </a:r>
            <a:endParaRPr lang="en-US" sz="123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4672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85875" y="44386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当前范围与本人贡献</a:t>
            </a:r>
            <a:endParaRPr lang="en-US" sz="1230" dirty="0"/>
          </a:p>
        </p:txBody>
      </p:sp>
      <p:sp>
        <p:nvSpPr>
          <p:cNvPr id="21" name="Text 18"/>
          <p:cNvSpPr txBox="1"/>
          <p:nvPr/>
        </p:nvSpPr>
        <p:spPr>
          <a:xfrm>
            <a:off x="933450" y="50577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5875" y="50292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明确限制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6191250" y="1952625"/>
            <a:ext cx="5238750" cy="328612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19850" y="2143125"/>
            <a:ext cx="1666875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15100" y="218122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删除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57950" y="26955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0375" y="26670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宏大行业背景</a:t>
            </a:r>
            <a:endParaRPr lang="en-US" sz="1230" dirty="0"/>
          </a:p>
        </p:txBody>
      </p:sp>
      <p:sp>
        <p:nvSpPr>
          <p:cNvPr id="28" name="Text 25"/>
          <p:cNvSpPr txBox="1"/>
          <p:nvPr/>
        </p:nvSpPr>
        <p:spPr>
          <a:xfrm>
            <a:off x="6457950" y="32861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10375" y="32575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工具名堆砌</a:t>
            </a:r>
            <a:endParaRPr lang="en-US" sz="1230" dirty="0"/>
          </a:p>
        </p:txBody>
      </p:sp>
      <p:sp>
        <p:nvSpPr>
          <p:cNvPr id="30" name="Text 27"/>
          <p:cNvSpPr txBox="1"/>
          <p:nvPr/>
        </p:nvSpPr>
        <p:spPr>
          <a:xfrm>
            <a:off x="6457950" y="38766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810375" y="38481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功能流水账</a:t>
            </a:r>
            <a:endParaRPr lang="en-US" sz="1230" dirty="0"/>
          </a:p>
        </p:txBody>
      </p:sp>
      <p:sp>
        <p:nvSpPr>
          <p:cNvPr id="32" name="Text 29"/>
          <p:cNvSpPr txBox="1"/>
          <p:nvPr/>
        </p:nvSpPr>
        <p:spPr>
          <a:xfrm>
            <a:off x="6457950" y="446722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6810375" y="44386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无数据的效果</a:t>
            </a:r>
            <a:endParaRPr lang="en-US" sz="1230" dirty="0"/>
          </a:p>
        </p:txBody>
      </p:sp>
      <p:sp>
        <p:nvSpPr>
          <p:cNvPr id="34" name="Text 31"/>
          <p:cNvSpPr txBox="1"/>
          <p:nvPr/>
        </p:nvSpPr>
        <p:spPr>
          <a:xfrm>
            <a:off x="6457950" y="5057775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6810375" y="502920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团队工作冒充本人</a:t>
            </a:r>
            <a:endParaRPr lang="en-US" sz="1230" dirty="0"/>
          </a:p>
        </p:txBody>
      </p:sp>
      <p:sp>
        <p:nvSpPr>
          <p:cNvPr id="36" name="Text 33"/>
          <p:cNvSpPr txBox="1"/>
          <p:nvPr/>
        </p:nvSpPr>
        <p:spPr>
          <a:xfrm>
            <a:off x="1428750" y="5524500"/>
            <a:ext cx="933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点评：具体 · 有判断 · 可追问 · 有证据 · 有边界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9227127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047750"/>
            <a:ext cx="1619250" cy="266700"/>
          </a:xfrm>
          <a:prstGeom prst="roundRect">
            <a:avLst/>
          </a:prstGeom>
          <a:solidFill>
            <a:srgbClr val="DCE8FF"/>
          </a:solidFill>
          <a:ln w="10160">
            <a:solidFill>
              <a:srgbClr val="2F6F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050" y="10858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第五幕｜本人项目连续追问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952625"/>
            <a:ext cx="10096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面试不是单题，而是连续核对</a:t>
            </a:r>
            <a:endParaRPr lang="en-US" sz="3500" dirty="0"/>
          </a:p>
        </p:txBody>
      </p:sp>
      <p:sp>
        <p:nvSpPr>
          <p:cNvPr id="10" name="Shape 7"/>
          <p:cNvSpPr/>
          <p:nvPr/>
        </p:nvSpPr>
        <p:spPr>
          <a:xfrm>
            <a:off x="685800" y="3257550"/>
            <a:ext cx="1714500" cy="571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3900" y="3600450"/>
            <a:ext cx="952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每一问都在检查事实、选择、替代、验证与边界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4619625"/>
            <a:ext cx="10363200" cy="9144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00150" y="47910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本幕问题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200150" y="5029200"/>
            <a:ext cx="979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你的第二个回答，能否与第一个回答保持一致？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9476509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一个项目点的五层追问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从发生了什么，到哪里不适用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2000250"/>
            <a:ext cx="24765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2950" y="2076450"/>
            <a:ext cx="232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层次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43250" y="2000250"/>
            <a:ext cx="83820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19450" y="2076450"/>
            <a:ext cx="8229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面试官在核对什么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6750" y="2438400"/>
            <a:ext cx="24765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0507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143250" y="2438400"/>
            <a:ext cx="83820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38500" y="2505075"/>
            <a:ext cx="819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实际做了什么？证据是什么？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6750" y="3086100"/>
            <a:ext cx="247650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2000" y="315277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143250" y="3086100"/>
            <a:ext cx="838200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38500" y="3152775"/>
            <a:ext cx="819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为什么这样选？约束是什么？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6750" y="3733800"/>
            <a:ext cx="24765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2000" y="380047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替代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143250" y="3733800"/>
            <a:ext cx="83820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38500" y="3800475"/>
            <a:ext cx="819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还比较过什么？为何没选？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6750" y="4381500"/>
            <a:ext cx="247650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444817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143250" y="4381500"/>
            <a:ext cx="8382000" cy="647700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38500" y="4448175"/>
            <a:ext cx="819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怎样测试或观察？失败过吗？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66750" y="5029200"/>
            <a:ext cx="24765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2000" y="5095875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143250" y="5029200"/>
            <a:ext cx="8382000" cy="64770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38500" y="5095875"/>
            <a:ext cx="819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做到哪一步？什么不能说明？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P39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9725891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连续追问 1—2：为何不用模型判断？为何不全用规则？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答案不是“模型会幻觉”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7250" y="2095500"/>
            <a:ext cx="10477500" cy="1428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23950" y="2266950"/>
            <a:ext cx="988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为什么不让模型直接判断退款资格？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23950" y="2733675"/>
            <a:ext cx="98869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涉及用户权益，部分条件可明确表达；自然语言波动不应直接驱动最终决定。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7250" y="3810000"/>
            <a:ext cx="10477500" cy="1428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23950" y="3981450"/>
            <a:ext cx="988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那为什么不全用规则？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23950" y="4448175"/>
            <a:ext cx="98869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用户表达、改口、多意图与缺失信息难以穷举；模型适合理解，规则适合检查确定条件。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5476875"/>
            <a:ext cx="10363200" cy="4572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00150" y="564832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200150" y="5886450"/>
            <a:ext cx="9791700" cy="-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具体约束 → 能力分工，而不是工具信仰。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P40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9975273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连续追问 3—4：规则做什么？怎样测试？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把抽象架构落到字段与用例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7250" y="2095500"/>
            <a:ext cx="10477500" cy="1428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23950" y="2266950"/>
            <a:ext cx="988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规则具体检查什么？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23950" y="2733675"/>
            <a:ext cx="98869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用户归属、订单状态、申请时间、字段完整和商品限制；只决定能否进入预受理。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7250" y="3810000"/>
            <a:ext cx="10477500" cy="1428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23950" y="3981450"/>
            <a:ext cx="988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 怎样测试？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23950" y="4448175"/>
            <a:ext cx="98869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覆盖正常、缺失、超期、状态不符、切换订单、超权限与接口失败。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5476875"/>
            <a:ext cx="10363200" cy="4572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00150" y="564832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200150" y="5886450"/>
            <a:ext cx="9791700" cy="-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预受理资格 ≠ 退款批准。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P41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0224655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连续追问 5—6：出了什么问题？哪里不适用？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问题、修正、边界必须前后一致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39300" y="1219200"/>
            <a:ext cx="1562100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34550" y="12573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公共模拟案例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7250" y="2095500"/>
            <a:ext cx="10477500" cy="1428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23950" y="2266950"/>
            <a:ext cx="988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Q5 发现过什么典型问题？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23950" y="2733675"/>
            <a:ext cx="98869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课堂测试中切换订单后旧状态未失效；原型增加对象变化时清理关联状态，并复测。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7250" y="3810000"/>
            <a:ext cx="10477500" cy="1428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23950" y="3981450"/>
            <a:ext cx="9886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Q6 什么情况不适用？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23950" y="4448175"/>
            <a:ext cx="98869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复杂投诉、责任判定、特殊补偿、规则冲突与高风险情况转人工。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5476875"/>
            <a:ext cx="10363200" cy="457200"/>
          </a:xfrm>
          <a:prstGeom prst="roundRect">
            <a:avLst/>
          </a:prstGeom>
          <a:solidFill>
            <a:srgbClr val="DCE8FF"/>
          </a:solidFill>
          <a:ln w="15240">
            <a:solidFill>
              <a:srgbClr val="2F6F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00150" y="564832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200150" y="5886450"/>
            <a:ext cx="9791700" cy="-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边界不是免责声明，而是方案的一部分。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P42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0474036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回答“为什么”的五步结构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先结论，再展开证据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1952625"/>
            <a:ext cx="133350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2950" y="2028825"/>
            <a:ext cx="1181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00250" y="1952625"/>
            <a:ext cx="20002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076450" y="2028825"/>
            <a:ext cx="1847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00500" y="1952625"/>
            <a:ext cx="7524750" cy="438150"/>
          </a:xfrm>
          <a:prstGeom prst="rect">
            <a:avLst/>
          </a:prstGeom>
          <a:solidFill>
            <a:srgbClr val="102A43"/>
          </a:solidFill>
          <a:ln w="12700">
            <a:solidFill>
              <a:srgbClr val="F7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76700" y="2028825"/>
            <a:ext cx="7372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回答模板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6750" y="2390775"/>
            <a:ext cx="133350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000" y="2457450"/>
            <a:ext cx="1143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000250" y="2390775"/>
            <a:ext cx="200025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095500" y="2457450"/>
            <a:ext cx="180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000500" y="2390775"/>
            <a:ext cx="752475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95750" y="2457450"/>
            <a:ext cx="7334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我们选择____，没有让____。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66750" y="3048000"/>
            <a:ext cx="1333500" cy="657225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2000" y="3114675"/>
            <a:ext cx="1143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000250" y="3048000"/>
            <a:ext cx="2000250" cy="657225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095500" y="3114675"/>
            <a:ext cx="180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000500" y="3048000"/>
            <a:ext cx="7524750" cy="657225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95750" y="3114675"/>
            <a:ext cx="7334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因为任务涉及____，且____。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66750" y="3705225"/>
            <a:ext cx="133350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2000" y="3771900"/>
            <a:ext cx="1143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000250" y="3705225"/>
            <a:ext cx="200025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95500" y="3771900"/>
            <a:ext cx="180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000500" y="3705225"/>
            <a:ext cx="752475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095750" y="3771900"/>
            <a:ext cx="7334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比较过____与____；各自代价是____。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66750" y="4362450"/>
            <a:ext cx="1333500" cy="657225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2000" y="4429125"/>
            <a:ext cx="1143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2000250" y="4362450"/>
            <a:ext cx="2000250" cy="657225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095500" y="4429125"/>
            <a:ext cx="180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000500" y="4362450"/>
            <a:ext cx="7524750" cy="657225"/>
          </a:xfrm>
          <a:prstGeom prst="rect">
            <a:avLst/>
          </a:prstGeom>
          <a:solidFill>
            <a:srgbClr val="F7F4EC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095750" y="4429125"/>
            <a:ext cx="7334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最终由____负责____，失败时____。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66750" y="5019675"/>
            <a:ext cx="133350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62000" y="5086350"/>
            <a:ext cx="1143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2000250" y="5019675"/>
            <a:ext cx="200025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095500" y="5086350"/>
            <a:ext cx="1809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结果与限制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000500" y="5019675"/>
            <a:ext cx="7524750" cy="657225"/>
          </a:xfrm>
          <a:prstGeom prst="rect">
            <a:avLst/>
          </a:prstGeom>
          <a:solidFill>
            <a:srgbClr val="FFFFFF"/>
          </a:solidFill>
          <a:ln w="10160">
            <a:solidFill>
              <a:srgbClr val="CFD8D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095750" y="5086350"/>
            <a:ext cx="73342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当前只验证____；尚不能说明____。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P43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0723418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普通回答 vs 专业回答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专业答案讲具体权益风险、方案比较、能力分工与适用范围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1905000"/>
            <a:ext cx="5238750" cy="20002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4A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5350" y="2095500"/>
            <a:ext cx="1666875" cy="266700"/>
          </a:xfrm>
          <a:prstGeom prst="roundRect">
            <a:avLst/>
          </a:prstGeom>
          <a:solidFill>
            <a:srgbClr val="F7DEDE"/>
          </a:solidFill>
          <a:ln w="10160">
            <a:solidFill>
              <a:srgbClr val="C8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90600" y="21336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普通回答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33450" y="26479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5875" y="26193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“大模型有幻觉，所以重要业务都不能用。”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6191250" y="1905000"/>
            <a:ext cx="5238750" cy="20002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19850" y="2095500"/>
            <a:ext cx="1666875" cy="266700"/>
          </a:xfrm>
          <a:prstGeom prst="roundRect">
            <a:avLst/>
          </a:prstGeom>
          <a:solidFill>
            <a:srgbClr val="DDEFE5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15100" y="21336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专业回答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57950" y="2647950"/>
            <a:ext cx="26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10375" y="2619375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“当前任务涉及用户权益，且部分条件可明确表达，因此模型负责理解、规则检查确定条件；复杂或超权限情况转人工。当前只在已有证据范围内说明结果。”</a:t>
            </a:r>
            <a:endParaRPr lang="en-US" sz="1230" dirty="0"/>
          </a:p>
        </p:txBody>
      </p:sp>
      <p:sp>
        <p:nvSpPr>
          <p:cNvPr id="20" name="Shape 17"/>
          <p:cNvSpPr/>
          <p:nvPr/>
        </p:nvSpPr>
        <p:spPr>
          <a:xfrm>
            <a:off x="1143000" y="4238625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43000" y="425767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676400" y="4238625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选一个本人项目点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143000" y="4610100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43000" y="46291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676400" y="4610100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连续回答五层追问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143000" y="4981575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43000" y="500062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676400" y="4981575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不确定数据明确说未统计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143000" y="5353050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43000" y="537210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676400" y="5353050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没参与的工作不认领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143000" y="5724525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43000" y="5743575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676400" y="5724525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后一问不推翻前一问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52500" y="607695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AI降低表达成本；你的价值，在于承担判断。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09600" y="247650"/>
            <a:ext cx="590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专题课 · 老师版 v2.0 · 第五幕｜本人项目连续追问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049000" y="24765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P44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CFD8D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9600" y="6496050"/>
            <a:ext cx="10972800" cy="28575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9600" y="695325"/>
            <a:ext cx="10572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现场练习与全课收束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28650" y="1238250"/>
            <a:ext cx="1047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77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 → 选择 → 比较 → 验证 → 边界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600" y="1562100"/>
            <a:ext cx="1181100" cy="3810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6750" y="1952625"/>
            <a:ext cx="206502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6750" y="1952625"/>
            <a:ext cx="66675" cy="16192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630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76300" y="2333625"/>
            <a:ext cx="16459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76300" y="2695575"/>
            <a:ext cx="164592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选一个本人项目追问入口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655570" y="1952625"/>
            <a:ext cx="76200" cy="16192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65120" y="1952625"/>
            <a:ext cx="206502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65120" y="1952625"/>
            <a:ext cx="66675" cy="16192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7467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3074670" y="2333625"/>
            <a:ext cx="16459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074670" y="2695575"/>
            <a:ext cx="164592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写下具体情况与决定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53940" y="1952625"/>
            <a:ext cx="76200" cy="16192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63490" y="1952625"/>
            <a:ext cx="206502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63490" y="1952625"/>
            <a:ext cx="66675" cy="16192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7304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273040" y="2333625"/>
            <a:ext cx="16459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273040" y="2695575"/>
            <a:ext cx="164592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说明比较过的替代方案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052310" y="1952625"/>
            <a:ext cx="76200" cy="16192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61860" y="1952625"/>
            <a:ext cx="206502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261860" y="1952625"/>
            <a:ext cx="66675" cy="1619250"/>
          </a:xfrm>
          <a:prstGeom prst="rect">
            <a:avLst/>
          </a:prstGeom>
          <a:solidFill>
            <a:srgbClr val="2F6FEB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7141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471410" y="2333625"/>
            <a:ext cx="16459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471410" y="2695575"/>
            <a:ext cx="164592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说明怎样检查与复测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250680" y="1952625"/>
            <a:ext cx="76200" cy="1619250"/>
          </a:xfrm>
          <a:prstGeom prst="rect">
            <a:avLst/>
          </a:prstGeom>
          <a:solidFill>
            <a:srgbClr val="DCE8FF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460230" y="1952625"/>
            <a:ext cx="206502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8DF"/>
            </a:solidFill>
            <a:prstDash val="solid"/>
          </a:ln>
          <a:effectLst>
            <a:outerShdw sx="100000" sy="100000" kx="0" ky="0" algn="bl" rotWithShape="0" blurRad="12700" dist="50800" dir="2700000">
              <a:srgbClr val="BCC8D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460230" y="1952625"/>
            <a:ext cx="66675" cy="1619250"/>
          </a:xfrm>
          <a:prstGeom prst="rect">
            <a:avLst/>
          </a:prstGeom>
          <a:solidFill>
            <a:srgbClr val="C84A4A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69780" y="20859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9669780" y="2333625"/>
            <a:ext cx="16459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8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9669780" y="2695575"/>
            <a:ext cx="164592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明确不适用范围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11449050" y="1952625"/>
            <a:ext cx="76200" cy="1619250"/>
          </a:xfrm>
          <a:prstGeom prst="rect">
            <a:avLst/>
          </a:prstGeom>
          <a:solidFill>
            <a:srgbClr val="F7DEDE"/>
          </a:solidFill>
          <a:ln w="12700">
            <a:solidFill>
              <a:srgbClr val="F7F4EC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3000" y="4000500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43000" y="40195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676400" y="4000500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不确定的数据明确说未统计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1143000" y="4457700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43000" y="44767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1676400" y="4457700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没参与的工作不补成个人贡献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1143000" y="4914900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43000" y="49339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1676400" y="4914900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后一问不推翻前一问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1143000" y="5372100"/>
            <a:ext cx="342900" cy="342900"/>
          </a:xfrm>
          <a:prstGeom prst="roundRect">
            <a:avLst/>
          </a:prstGeom>
          <a:solidFill>
            <a:srgbClr val="DDEFE5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143000" y="5391150"/>
            <a:ext cx="342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1676400" y="5372100"/>
            <a:ext cx="9372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模拟案例不能冒充真实上线项目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952500" y="6000750"/>
            <a:ext cx="1028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F6F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AI降低表达成本；你的价值，在于承担判断。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AI PRODUCT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便宜的答案，昂贵的判断</dc:title>
  <dc:subject>专题课：便宜的答案，昂贵的判断（老师版）</dc:subject>
  <dc:creator>AI-Course</dc:creator>
  <cp:lastModifiedBy>AI-Course</cp:lastModifiedBy>
  <cp:revision>1</cp:revision>
  <dcterms:created xsi:type="dcterms:W3CDTF">2026-10-04T10:11:27Z</dcterms:created>
  <dcterms:modified xsi:type="dcterms:W3CDTF">2026-10-04T10:11:27Z</dcterms:modified>
</cp:coreProperties>
</file>