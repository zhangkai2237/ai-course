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</p:sldIdLst>
  <p:notesMasterIdLst>
    <p:notesMasterId r:id="rId5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notesMaster" Target="notesMasters/notesMaster1.xml"/><Relationship Id="rId57" Type="http://schemas.openxmlformats.org/officeDocument/2006/relationships/presProps" Target="presProps.xml"/><Relationship Id="rId58" Type="http://schemas.openxmlformats.org/officeDocument/2006/relationships/viewProps" Target="viewProps.xml"/><Relationship Id="rId59" Type="http://schemas.openxmlformats.org/officeDocument/2006/relationships/theme" Target="theme/theme1.xml"/><Relationship Id="rId6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开场先说明：今天不是重新上一遍AI理论课，而是一起完成一个可放进作品集的智能审核项目。整堂课始终围绕同一条营销文案和同一条业务流程推进。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快速说明六项产出。提醒学员先关注方案闭环，不要一开始纠结页面美观。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按照时间轴介绍课堂节奏。互动环节可以根据班级情况缩短，但不要压缩核心页面和坏案例。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先给学员看成品结构，建立期待。强调后面每一个业务判断都会落实到这四个页面。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给学员90秒独立思考，再随机邀请两人回答。先不评价法律结论，只收集他们认为需要检查的位置。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让学员按五个字段组织答案。此处的目标不是判断对错，而是让他们感受到产品输出需要结构化。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揭示项目定义。注意不要直接说这些表达一定违法，只说需要进一步检查、补充材料或进入人工判断。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进入第一节。提醒学员：项目的第一步不是列功能，而是限定业务问题。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介绍案例公司。可以让学员代入常见消费品、电商或内容运营团队。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顺着流程询问：每一步会留下什么信息？哪一步容易返工？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逐一说明问题，并补充：高风险判断仍然需要人工，目标不是全自动替代。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让学员注意规则运营和业务负责人，这两个角色决定系统能不能持续维护和评估。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分别对应提交前、审核中、修改后的问题。后续产品页面要逐一解决。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读完左右两列后追问：为什么多模态、自动覆盖和自动发布不进第一版？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用三层目标替代口号。后续指标要分别覆盖业务、用户和产品。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让学员举手投票，再展示推荐结论。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进入第二节。理论快速复习，只在方案选择和职责划分处停留。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解释每种方案的适用位置。纯人工保留兜底，纯规则承担确定性任务，大模型负责语义。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逐列讲解。特别说明业务资料不等于一定使用RAG，也可以来自结构化字段或接口。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用“销量第一”例子展开。让学员观察右侧六个产品问题，这些都不是一次自由文本输出能够稳定解决的。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从左到右走一遍主流程。提醒学员：结果合并和路由是产品设计中的核心步骤。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逐行讲解异常处理。这里是区分演示型产品和可试点产品的关键。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用四个条件快速复习Workflow选择。Agent可以作为后续复杂材料收集或多轮追问的扩展。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进入项目最核心部分。此处节奏可以稍慢，确保学员理解规则层不等于关键词库。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说明三层来源。真实项目必须由业务、法务或审核负责人确认适用范围。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从基础质量讲到渠道口径。说明分类的作用是配置、统计和责任分工。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用排名表达完整性规则讲一遍每个字段。强调业务规则和执行方式要分开。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对比三个场景。说明第一版只实现前两个，口播稿用于展示扩展性。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解释五种执行方式，举例即可，不深入算法。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逐行展示四条风险对象。再次提醒这是教学案例中的风险判断，不代替真实法务结论。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用“100%有效”演示两条来源如何合并。强调原始结果仍需保存，便于分析和追溯。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逐项讲解状态与下一步。机器失败要作为独立状态，不允许与通过混用。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先让学员回答，再揭示误报原因和改进方法。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进入第四节。此处把前面的方案收束成产品范围和系统结构。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读出三条假设，并说明每条都需要对应样本与业务指标。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快速扫过功能。重点解释人工复核、重审和记录为什么属于P0。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从下到上讲。底层提供能力和数据，中间层把审核逻辑产品化，上层承载业务动作。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解释对象之间的关系。特别强调内容修改后生成新版本，旧结果不能直接沿用。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讲三个高频异常。引导学员思考如果不做版本，会导致什么混乱。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进入产品形式和交互部分。用四张可编辑线框图串起完整使用流程。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介绍列表页信息与角色差异。机器失败必须作为独立状态可筛选。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说明左侧业务上下文、右侧正文。切换场景后字段应动态变化。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这是整套产品最重要的页面。先讲布局，再讲双向定位、版本变化和建议使用方式。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说明人工页与运营页的差别：信息更多、动作更重、调整需要记录。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这是作品集表达提醒。不要只堆高保真图，要让页面对应前面的业务决策。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最后一节节奏紧凑。重点讲评测字段、三类坏案例和作业。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介绍样本来源与字段。强调标注人和规则版本也需要保存。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讲四组指标。示例门槛只能作为课堂讨论值，不能照搬到真实项目。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三列快速讲解。让学员看见项目迭代不是“再调一下提示词”。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顺时针讲解闭环。可以追问学员：某个误报应修改规则、提示、业务资料还是页面？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快速说明作品集结构。建议学员每一部分都使用本课同一个案例，避免散。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老师可完整读一遍，也可以让学员先用自己的话复述，再对照结构。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说明必做六项与进阶迁移。下一次可以用十条样本和工作台原型做课堂点评。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最后只强调三句话，然后布置作业。不要再延伸成面试理论课，保持项目收口。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417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7D3C1"/>
          </a:solidFill>
          <a:ln w="12700">
            <a:solidFill>
              <a:srgbClr val="27D3C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59436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70" kern="0" dirty="0">
                <a:solidFill>
                  <a:srgbClr val="27D3C1"/>
                </a:solidFill>
              </a:rPr>
              <a:t>SECOND STAGE · PROJECT COURSE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58368" y="1417320"/>
            <a:ext cx="7955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7FBFC"/>
                </a:solidFill>
              </a:rPr>
              <a:t>AI营销内容智能审核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58368" y="2267712"/>
            <a:ext cx="4663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7FBFC"/>
                </a:solidFill>
              </a:rPr>
              <a:t>项目实战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85800" y="324612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BBC2"/>
                </a:solidFill>
              </a:rPr>
              <a:t>从业务流程、混合审核到产品页面与评测闭环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070848" y="1078992"/>
            <a:ext cx="21945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0" b="1" dirty="0">
                <a:solidFill>
                  <a:srgbClr val="27D3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0" dirty="0"/>
          </a:p>
        </p:txBody>
      </p:sp>
      <p:sp>
        <p:nvSpPr>
          <p:cNvPr id="8" name="Shape 6"/>
          <p:cNvSpPr/>
          <p:nvPr/>
        </p:nvSpPr>
        <p:spPr>
          <a:xfrm>
            <a:off x="8595360" y="2788920"/>
            <a:ext cx="2926080" cy="1508760"/>
          </a:xfrm>
          <a:prstGeom prst="roundRect">
            <a:avLst>
              <a:gd name="adj" fmla="val 4848"/>
            </a:avLst>
          </a:prstGeom>
          <a:solidFill>
            <a:srgbClr val="0B2932"/>
          </a:solidFill>
          <a:ln w="12700">
            <a:solidFill>
              <a:srgbClr val="28505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61120" y="316382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BE7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180 MIN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961120" y="368503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7FBFC"/>
                </a:solidFill>
              </a:rPr>
              <a:t>完整项目课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5800" y="59893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B4A"/>
                </a:solidFill>
              </a:rPr>
              <a:t>老师授课版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6510528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82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AI产品经理课程 · 第二阶段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1155680" y="64739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7BB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417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27D3C1"/>
                </a:solidFill>
              </a:rPr>
              <a:t>PROJECT 04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7FBFC"/>
                </a:solidFill>
              </a:rPr>
              <a:t>今天要完成什么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2850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298448"/>
            <a:ext cx="1325880" cy="0"/>
          </a:xfrm>
          <a:prstGeom prst="line">
            <a:avLst/>
          </a:prstGeom>
          <a:noFill/>
          <a:ln w="38100">
            <a:solidFill>
              <a:srgbClr val="27D3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06640" y="420624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A7BBC2"/>
                </a:solidFill>
              </a:rPr>
              <a:t>AI营销内容智能审核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66928" y="5989320"/>
            <a:ext cx="11018520" cy="393192"/>
          </a:xfrm>
          <a:prstGeom prst="roundRect">
            <a:avLst>
              <a:gd name="adj" fmla="val 11628"/>
            </a:avLst>
          </a:prstGeom>
          <a:solidFill>
            <a:srgbClr val="0A222B"/>
          </a:solidFill>
          <a:ln w="10160">
            <a:solidFill>
              <a:srgbClr val="1641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6099048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7D3C1"/>
                </a:solidFill>
              </a:rPr>
              <a:t>本页重点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609344" y="6053328"/>
            <a:ext cx="9646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7FBFC"/>
                </a:solidFill>
              </a:rPr>
              <a:t>结束时，学员拿走的不是一组概念，而是一套完整项目结构。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6510528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82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AI营销内容智能审核项目实战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1155680" y="64739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7BB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640080" y="166420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7D3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1143000" y="1627632"/>
            <a:ext cx="3063240" cy="1554480"/>
          </a:xfrm>
          <a:prstGeom prst="roundRect">
            <a:avLst>
              <a:gd name="adj" fmla="val 3529"/>
            </a:avLst>
          </a:prstGeom>
          <a:solidFill>
            <a:srgbClr val="0B2932"/>
          </a:solidFill>
          <a:ln w="10160">
            <a:solidFill>
              <a:srgbClr val="28505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143000" y="1627632"/>
            <a:ext cx="73152" cy="1554480"/>
          </a:xfrm>
          <a:prstGeom prst="rect">
            <a:avLst/>
          </a:prstGeom>
          <a:solidFill>
            <a:srgbClr val="27D3C1"/>
          </a:solidFill>
          <a:ln w="12700">
            <a:solidFill>
              <a:srgbClr val="27D3C1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399032" y="181051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7FBFC"/>
                </a:solidFill>
              </a:rPr>
              <a:t>业务问题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399032" y="2221992"/>
            <a:ext cx="26060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7BBC2"/>
                </a:solidFill>
              </a:rPr>
              <a:t>现状流程、角色、断点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434840" y="166420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7D3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4937760" y="1627632"/>
            <a:ext cx="3063240" cy="1554480"/>
          </a:xfrm>
          <a:prstGeom prst="roundRect">
            <a:avLst>
              <a:gd name="adj" fmla="val 3529"/>
            </a:avLst>
          </a:prstGeom>
          <a:solidFill>
            <a:srgbClr val="0B2932"/>
          </a:solidFill>
          <a:ln w="10160">
            <a:solidFill>
              <a:srgbClr val="28505B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937760" y="1627632"/>
            <a:ext cx="73152" cy="1554480"/>
          </a:xfrm>
          <a:prstGeom prst="rect">
            <a:avLst/>
          </a:prstGeom>
          <a:solidFill>
            <a:srgbClr val="27D3C1"/>
          </a:solidFill>
          <a:ln w="12700">
            <a:solidFill>
              <a:srgbClr val="27D3C1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193792" y="181051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7FBFC"/>
                </a:solidFill>
              </a:rPr>
              <a:t>项目边界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5193792" y="2221992"/>
            <a:ext cx="26060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7BBC2"/>
                </a:solidFill>
              </a:rPr>
              <a:t>第一版做什么、不做什么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229600" y="166420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7D3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>
            <a:off x="8732520" y="1627632"/>
            <a:ext cx="3063240" cy="1554480"/>
          </a:xfrm>
          <a:prstGeom prst="roundRect">
            <a:avLst>
              <a:gd name="adj" fmla="val 3529"/>
            </a:avLst>
          </a:prstGeom>
          <a:solidFill>
            <a:srgbClr val="0B2932"/>
          </a:solidFill>
          <a:ln w="10160">
            <a:solidFill>
              <a:srgbClr val="28505B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8732520" y="1627632"/>
            <a:ext cx="73152" cy="1554480"/>
          </a:xfrm>
          <a:prstGeom prst="rect">
            <a:avLst/>
          </a:prstGeom>
          <a:solidFill>
            <a:srgbClr val="27D3C1"/>
          </a:solidFill>
          <a:ln w="12700">
            <a:solidFill>
              <a:srgbClr val="27D3C1">
                <a:alpha val="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988552" y="181051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7FBFC"/>
                </a:solidFill>
              </a:rPr>
              <a:t>混合方案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8988552" y="2221992"/>
            <a:ext cx="26060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7BBC2"/>
                </a:solidFill>
              </a:rPr>
              <a:t>规则、模型、资料、人工分工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640080" y="363016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7D3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29" name="Shape 26"/>
          <p:cNvSpPr/>
          <p:nvPr/>
        </p:nvSpPr>
        <p:spPr>
          <a:xfrm>
            <a:off x="1143000" y="3593592"/>
            <a:ext cx="3063240" cy="1554480"/>
          </a:xfrm>
          <a:prstGeom prst="roundRect">
            <a:avLst>
              <a:gd name="adj" fmla="val 3529"/>
            </a:avLst>
          </a:prstGeom>
          <a:solidFill>
            <a:srgbClr val="0B2932"/>
          </a:solidFill>
          <a:ln w="10160">
            <a:solidFill>
              <a:srgbClr val="28505B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1143000" y="3593592"/>
            <a:ext cx="73152" cy="1554480"/>
          </a:xfrm>
          <a:prstGeom prst="rect">
            <a:avLst/>
          </a:prstGeom>
          <a:solidFill>
            <a:srgbClr val="27D3C1"/>
          </a:solidFill>
          <a:ln w="12700">
            <a:solidFill>
              <a:srgbClr val="27D3C1">
                <a:alpha val="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399032" y="377647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7FBFC"/>
                </a:solidFill>
              </a:rPr>
              <a:t>规则流程</a:t>
            </a:r>
            <a:endParaRPr lang="en-US" sz="1500" dirty="0"/>
          </a:p>
        </p:txBody>
      </p:sp>
      <p:sp>
        <p:nvSpPr>
          <p:cNvPr id="32" name="Text 29"/>
          <p:cNvSpPr/>
          <p:nvPr/>
        </p:nvSpPr>
        <p:spPr>
          <a:xfrm>
            <a:off x="1399032" y="4187952"/>
            <a:ext cx="26060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7BBC2"/>
                </a:solidFill>
              </a:rPr>
              <a:t>场景、原子规则、结果路由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4434840" y="363016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7D3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800" dirty="0"/>
          </a:p>
        </p:txBody>
      </p:sp>
      <p:sp>
        <p:nvSpPr>
          <p:cNvPr id="34" name="Shape 31"/>
          <p:cNvSpPr/>
          <p:nvPr/>
        </p:nvSpPr>
        <p:spPr>
          <a:xfrm>
            <a:off x="4937760" y="3593592"/>
            <a:ext cx="3063240" cy="1554480"/>
          </a:xfrm>
          <a:prstGeom prst="roundRect">
            <a:avLst>
              <a:gd name="adj" fmla="val 3529"/>
            </a:avLst>
          </a:prstGeom>
          <a:solidFill>
            <a:srgbClr val="0B2932"/>
          </a:solidFill>
          <a:ln w="10160">
            <a:solidFill>
              <a:srgbClr val="28505B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4937760" y="3593592"/>
            <a:ext cx="73152" cy="1554480"/>
          </a:xfrm>
          <a:prstGeom prst="rect">
            <a:avLst/>
          </a:prstGeom>
          <a:solidFill>
            <a:srgbClr val="27D3C1"/>
          </a:solidFill>
          <a:ln w="12700">
            <a:solidFill>
              <a:srgbClr val="27D3C1">
                <a:alpha val="0"/>
              </a:srgbClr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193792" y="377647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7FBFC"/>
                </a:solidFill>
              </a:rPr>
              <a:t>核心页面</a:t>
            </a:r>
            <a:endParaRPr lang="en-US" sz="1500" dirty="0"/>
          </a:p>
        </p:txBody>
      </p:sp>
      <p:sp>
        <p:nvSpPr>
          <p:cNvPr id="37" name="Text 34"/>
          <p:cNvSpPr/>
          <p:nvPr/>
        </p:nvSpPr>
        <p:spPr>
          <a:xfrm>
            <a:off x="5193792" y="4187952"/>
            <a:ext cx="26060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7BBC2"/>
                </a:solidFill>
              </a:rPr>
              <a:t>列表、提交、工作台、复核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8229600" y="363016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7D3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800" dirty="0"/>
          </a:p>
        </p:txBody>
      </p:sp>
      <p:sp>
        <p:nvSpPr>
          <p:cNvPr id="39" name="Shape 36"/>
          <p:cNvSpPr/>
          <p:nvPr/>
        </p:nvSpPr>
        <p:spPr>
          <a:xfrm>
            <a:off x="8732520" y="3593592"/>
            <a:ext cx="3063240" cy="1554480"/>
          </a:xfrm>
          <a:prstGeom prst="roundRect">
            <a:avLst>
              <a:gd name="adj" fmla="val 3529"/>
            </a:avLst>
          </a:prstGeom>
          <a:solidFill>
            <a:srgbClr val="0B2932"/>
          </a:solidFill>
          <a:ln w="10160">
            <a:solidFill>
              <a:srgbClr val="28505B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8732520" y="3593592"/>
            <a:ext cx="73152" cy="1554480"/>
          </a:xfrm>
          <a:prstGeom prst="rect">
            <a:avLst/>
          </a:prstGeom>
          <a:solidFill>
            <a:srgbClr val="FF6B4A"/>
          </a:solidFill>
          <a:ln w="12700">
            <a:solidFill>
              <a:srgbClr val="FF6B4A">
                <a:alpha val="0"/>
              </a:srgbClr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8988552" y="377647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7FBFC"/>
                </a:solidFill>
              </a:rPr>
              <a:t>评测迭代</a:t>
            </a:r>
            <a:endParaRPr lang="en-US" sz="1500" dirty="0"/>
          </a:p>
        </p:txBody>
      </p:sp>
      <p:sp>
        <p:nvSpPr>
          <p:cNvPr id="42" name="Text 39"/>
          <p:cNvSpPr/>
          <p:nvPr/>
        </p:nvSpPr>
        <p:spPr>
          <a:xfrm>
            <a:off x="8988552" y="4187952"/>
            <a:ext cx="26060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7BBC2"/>
                </a:solidFill>
              </a:rPr>
              <a:t>样本、指标、坏案例、版本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417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27D3C1"/>
                </a:solidFill>
              </a:rPr>
              <a:t>PROJECT 04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7FBFC"/>
                </a:solidFill>
              </a:rPr>
              <a:t>180分钟怎么走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2850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298448"/>
            <a:ext cx="1325880" cy="0"/>
          </a:xfrm>
          <a:prstGeom prst="line">
            <a:avLst/>
          </a:prstGeom>
          <a:noFill/>
          <a:ln w="38100">
            <a:solidFill>
              <a:srgbClr val="27D3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06640" y="420624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A7BBC2"/>
                </a:solidFill>
              </a:rPr>
              <a:t>AI营销内容智能审核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66928" y="5989320"/>
            <a:ext cx="11018520" cy="393192"/>
          </a:xfrm>
          <a:prstGeom prst="roundRect">
            <a:avLst>
              <a:gd name="adj" fmla="val 11628"/>
            </a:avLst>
          </a:prstGeom>
          <a:solidFill>
            <a:srgbClr val="0A222B"/>
          </a:solidFill>
          <a:ln w="10160">
            <a:solidFill>
              <a:srgbClr val="1641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6099048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7D3C1"/>
                </a:solidFill>
              </a:rPr>
              <a:t>本页重点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609344" y="6053328"/>
            <a:ext cx="9646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7FBFC"/>
                </a:solidFill>
              </a:rPr>
              <a:t>两次休息把课程切成三段：理解项目、完成方案、做出产品并验证。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6510528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82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AI营销内容智能审核项目实战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1155680" y="64739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7BB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914400" y="3337560"/>
            <a:ext cx="10287000" cy="0"/>
          </a:xfrm>
          <a:prstGeom prst="line">
            <a:avLst/>
          </a:prstGeom>
          <a:noFill/>
          <a:ln w="25400">
            <a:solidFill>
              <a:srgbClr val="28505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77240" y="3136392"/>
            <a:ext cx="411480" cy="411480"/>
          </a:xfrm>
          <a:prstGeom prst="ellipse">
            <a:avLst/>
          </a:prstGeom>
          <a:solidFill>
            <a:srgbClr val="27D3C1"/>
          </a:solidFill>
          <a:ln w="25400">
            <a:solidFill>
              <a:srgbClr val="04171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12648" y="2487168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BE7DC"/>
                </a:solidFill>
              </a:rPr>
              <a:t>0–10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429768" y="3822192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7FBFC"/>
                </a:solidFill>
              </a:rPr>
              <a:t>开场案例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2029968" y="3136392"/>
            <a:ext cx="411480" cy="411480"/>
          </a:xfrm>
          <a:prstGeom prst="ellipse">
            <a:avLst/>
          </a:prstGeom>
          <a:solidFill>
            <a:srgbClr val="27D3C1"/>
          </a:solidFill>
          <a:ln w="25400">
            <a:solidFill>
              <a:srgbClr val="04171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865376" y="2487168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BE7DC"/>
                </a:solidFill>
              </a:rPr>
              <a:t>10–40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682496" y="3822192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7FBFC"/>
                </a:solidFill>
              </a:rPr>
              <a:t>业务与边界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3282696" y="3136392"/>
            <a:ext cx="411480" cy="411480"/>
          </a:xfrm>
          <a:prstGeom prst="ellipse">
            <a:avLst/>
          </a:prstGeom>
          <a:solidFill>
            <a:srgbClr val="27D3C1"/>
          </a:solidFill>
          <a:ln w="25400">
            <a:solidFill>
              <a:srgbClr val="04171E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118104" y="2487168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BE7DC"/>
                </a:solidFill>
              </a:rPr>
              <a:t>40–65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2935224" y="3822192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7FBFC"/>
                </a:solidFill>
              </a:rPr>
              <a:t>AI介入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4535424" y="3136392"/>
            <a:ext cx="411480" cy="411480"/>
          </a:xfrm>
          <a:prstGeom prst="ellipse">
            <a:avLst/>
          </a:prstGeom>
          <a:solidFill>
            <a:srgbClr val="FF6B4A"/>
          </a:solidFill>
          <a:ln w="25400">
            <a:solidFill>
              <a:srgbClr val="04171E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370832" y="2487168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6B4A"/>
                </a:solidFill>
              </a:rPr>
              <a:t>65–75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4187952" y="3822192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7FBFC"/>
                </a:solidFill>
              </a:rPr>
              <a:t>休息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5788152" y="3136392"/>
            <a:ext cx="411480" cy="411480"/>
          </a:xfrm>
          <a:prstGeom prst="ellipse">
            <a:avLst/>
          </a:prstGeom>
          <a:solidFill>
            <a:srgbClr val="27D3C1"/>
          </a:solidFill>
          <a:ln w="25400">
            <a:solidFill>
              <a:srgbClr val="04171E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623560" y="2487168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BE7DC"/>
                </a:solidFill>
              </a:rPr>
              <a:t>75–110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5440680" y="3822192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7FBFC"/>
                </a:solidFill>
              </a:rPr>
              <a:t>规则与流程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7040880" y="3136392"/>
            <a:ext cx="411480" cy="411480"/>
          </a:xfrm>
          <a:prstGeom prst="ellipse">
            <a:avLst/>
          </a:prstGeom>
          <a:solidFill>
            <a:srgbClr val="27D3C1"/>
          </a:solidFill>
          <a:ln w="25400">
            <a:solidFill>
              <a:srgbClr val="04171E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876288" y="2487168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BE7DC"/>
                </a:solidFill>
              </a:rPr>
              <a:t>110–135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6693408" y="3822192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7FBFC"/>
                </a:solidFill>
              </a:rPr>
              <a:t>MVP与架构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8293608" y="3136392"/>
            <a:ext cx="411480" cy="411480"/>
          </a:xfrm>
          <a:prstGeom prst="ellipse">
            <a:avLst/>
          </a:prstGeom>
          <a:solidFill>
            <a:srgbClr val="FF6B4A"/>
          </a:solidFill>
          <a:ln w="25400">
            <a:solidFill>
              <a:srgbClr val="04171E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129016" y="2487168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6B4A"/>
                </a:solidFill>
              </a:rPr>
              <a:t>135–145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7946136" y="3822192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7FBFC"/>
                </a:solidFill>
              </a:rPr>
              <a:t>休息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9546336" y="3136392"/>
            <a:ext cx="411480" cy="411480"/>
          </a:xfrm>
          <a:prstGeom prst="ellipse">
            <a:avLst/>
          </a:prstGeom>
          <a:solidFill>
            <a:srgbClr val="27D3C1"/>
          </a:solidFill>
          <a:ln w="25400">
            <a:solidFill>
              <a:srgbClr val="04171E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9381744" y="2487168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BE7DC"/>
                </a:solidFill>
              </a:rPr>
              <a:t>145–165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9198864" y="3822192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7FBFC"/>
                </a:solidFill>
              </a:rPr>
              <a:t>核心页面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10799064" y="3136392"/>
            <a:ext cx="411480" cy="411480"/>
          </a:xfrm>
          <a:prstGeom prst="ellipse">
            <a:avLst/>
          </a:prstGeom>
          <a:solidFill>
            <a:srgbClr val="27D3C1"/>
          </a:solidFill>
          <a:ln w="25400">
            <a:solidFill>
              <a:srgbClr val="04171E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10634472" y="2487168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BE7DC"/>
                </a:solidFill>
              </a:rPr>
              <a:t>165–180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10451592" y="3822192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7FBFC"/>
                </a:solidFill>
              </a:rPr>
              <a:t>评测与作业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417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27D3C1"/>
                </a:solidFill>
              </a:rPr>
              <a:t>PROJECT 04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7FBFC"/>
                </a:solidFill>
              </a:rPr>
              <a:t>最终产品长什么样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2850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298448"/>
            <a:ext cx="1325880" cy="0"/>
          </a:xfrm>
          <a:prstGeom prst="line">
            <a:avLst/>
          </a:prstGeom>
          <a:noFill/>
          <a:ln w="38100">
            <a:solidFill>
              <a:srgbClr val="27D3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06640" y="420624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A7BBC2"/>
                </a:solidFill>
              </a:rPr>
              <a:t>AI营销内容智能审核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66928" y="5989320"/>
            <a:ext cx="11018520" cy="393192"/>
          </a:xfrm>
          <a:prstGeom prst="roundRect">
            <a:avLst>
              <a:gd name="adj" fmla="val 11628"/>
            </a:avLst>
          </a:prstGeom>
          <a:solidFill>
            <a:srgbClr val="0A222B"/>
          </a:solidFill>
          <a:ln w="10160">
            <a:solidFill>
              <a:srgbClr val="1641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6099048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7D3C1"/>
                </a:solidFill>
              </a:rPr>
              <a:t>本页重点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609344" y="6053328"/>
            <a:ext cx="9646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7FBFC"/>
                </a:solidFill>
              </a:rPr>
              <a:t>四个页面覆盖提交、检查、处理和人工接管，页面背后还有规则与状态。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6510528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82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AI营销内容智能审核项目实战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1155680" y="64739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7BB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658368" y="1664208"/>
            <a:ext cx="2487168" cy="3493008"/>
          </a:xfrm>
          <a:prstGeom prst="roundRect">
            <a:avLst>
              <a:gd name="adj" fmla="val 2206"/>
            </a:avLst>
          </a:prstGeom>
          <a:solidFill>
            <a:srgbClr val="0B2932"/>
          </a:solidFill>
          <a:ln w="12700">
            <a:solidFill>
              <a:srgbClr val="27D3C1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22960" y="1901952"/>
            <a:ext cx="2157984" cy="274320"/>
          </a:xfrm>
          <a:prstGeom prst="rect">
            <a:avLst/>
          </a:prstGeom>
          <a:solidFill>
            <a:srgbClr val="103641"/>
          </a:solidFill>
          <a:ln w="6350">
            <a:solidFill>
              <a:srgbClr val="28505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68680" y="2423160"/>
            <a:ext cx="2029968" cy="329184"/>
          </a:xfrm>
          <a:prstGeom prst="roundRect">
            <a:avLst>
              <a:gd name="adj" fmla="val 8333"/>
            </a:avLst>
          </a:prstGeom>
          <a:solidFill>
            <a:srgbClr val="0E333D"/>
          </a:solidFill>
          <a:ln w="6350">
            <a:solidFill>
              <a:srgbClr val="28505B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68680" y="2926080"/>
            <a:ext cx="2029968" cy="329184"/>
          </a:xfrm>
          <a:prstGeom prst="roundRect">
            <a:avLst>
              <a:gd name="adj" fmla="val 8333"/>
            </a:avLst>
          </a:prstGeom>
          <a:solidFill>
            <a:srgbClr val="0E333D"/>
          </a:solidFill>
          <a:ln w="6350">
            <a:solidFill>
              <a:srgbClr val="28505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68680" y="3429000"/>
            <a:ext cx="2029968" cy="329184"/>
          </a:xfrm>
          <a:prstGeom prst="roundRect">
            <a:avLst>
              <a:gd name="adj" fmla="val 8333"/>
            </a:avLst>
          </a:prstGeom>
          <a:solidFill>
            <a:srgbClr val="0E333D"/>
          </a:solidFill>
          <a:ln w="6350">
            <a:solidFill>
              <a:srgbClr val="28505B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68680" y="3931920"/>
            <a:ext cx="2029968" cy="329184"/>
          </a:xfrm>
          <a:prstGeom prst="roundRect">
            <a:avLst>
              <a:gd name="adj" fmla="val 8333"/>
            </a:avLst>
          </a:prstGeom>
          <a:solidFill>
            <a:srgbClr val="0E333D"/>
          </a:solidFill>
          <a:ln w="6350">
            <a:solidFill>
              <a:srgbClr val="28505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95528" y="4645152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FBFC"/>
                </a:solidFill>
              </a:rPr>
              <a:t>审核任务列表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600200" y="501091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7D3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3447288" y="1664208"/>
            <a:ext cx="2487168" cy="3493008"/>
          </a:xfrm>
          <a:prstGeom prst="roundRect">
            <a:avLst>
              <a:gd name="adj" fmla="val 2206"/>
            </a:avLst>
          </a:prstGeom>
          <a:solidFill>
            <a:srgbClr val="0B2932"/>
          </a:solidFill>
          <a:ln w="12700">
            <a:solidFill>
              <a:srgbClr val="27D3C1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611880" y="1901952"/>
            <a:ext cx="2157984" cy="274320"/>
          </a:xfrm>
          <a:prstGeom prst="rect">
            <a:avLst/>
          </a:prstGeom>
          <a:solidFill>
            <a:srgbClr val="103641"/>
          </a:solidFill>
          <a:ln w="6350">
            <a:solidFill>
              <a:srgbClr val="28505B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3657600" y="2423160"/>
            <a:ext cx="2029968" cy="329184"/>
          </a:xfrm>
          <a:prstGeom prst="roundRect">
            <a:avLst>
              <a:gd name="adj" fmla="val 8333"/>
            </a:avLst>
          </a:prstGeom>
          <a:solidFill>
            <a:srgbClr val="0E333D"/>
          </a:solidFill>
          <a:ln w="6350">
            <a:solidFill>
              <a:srgbClr val="28505B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3657600" y="2926080"/>
            <a:ext cx="2029968" cy="329184"/>
          </a:xfrm>
          <a:prstGeom prst="roundRect">
            <a:avLst>
              <a:gd name="adj" fmla="val 8333"/>
            </a:avLst>
          </a:prstGeom>
          <a:solidFill>
            <a:srgbClr val="0E333D"/>
          </a:solidFill>
          <a:ln w="6350">
            <a:solidFill>
              <a:srgbClr val="28505B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3657600" y="3429000"/>
            <a:ext cx="2029968" cy="329184"/>
          </a:xfrm>
          <a:prstGeom prst="roundRect">
            <a:avLst>
              <a:gd name="adj" fmla="val 8333"/>
            </a:avLst>
          </a:prstGeom>
          <a:solidFill>
            <a:srgbClr val="0E333D"/>
          </a:solidFill>
          <a:ln w="6350">
            <a:solidFill>
              <a:srgbClr val="28505B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3657600" y="3931920"/>
            <a:ext cx="2029968" cy="329184"/>
          </a:xfrm>
          <a:prstGeom prst="roundRect">
            <a:avLst>
              <a:gd name="adj" fmla="val 8333"/>
            </a:avLst>
          </a:prstGeom>
          <a:solidFill>
            <a:srgbClr val="0E333D"/>
          </a:solidFill>
          <a:ln w="6350">
            <a:solidFill>
              <a:srgbClr val="28505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584448" y="4645152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FBFC"/>
                </a:solidFill>
              </a:rPr>
              <a:t>内容提交页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4389120" y="501091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7D3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6236208" y="1664208"/>
            <a:ext cx="2487168" cy="3493008"/>
          </a:xfrm>
          <a:prstGeom prst="roundRect">
            <a:avLst>
              <a:gd name="adj" fmla="val 2206"/>
            </a:avLst>
          </a:prstGeom>
          <a:solidFill>
            <a:srgbClr val="0B2932"/>
          </a:solidFill>
          <a:ln w="25400">
            <a:solidFill>
              <a:srgbClr val="FF6B4A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400800" y="1901952"/>
            <a:ext cx="2157984" cy="274320"/>
          </a:xfrm>
          <a:prstGeom prst="rect">
            <a:avLst/>
          </a:prstGeom>
          <a:solidFill>
            <a:srgbClr val="103641"/>
          </a:solidFill>
          <a:ln w="6350">
            <a:solidFill>
              <a:srgbClr val="28505B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446520" y="2423160"/>
            <a:ext cx="2029968" cy="329184"/>
          </a:xfrm>
          <a:prstGeom prst="roundRect">
            <a:avLst>
              <a:gd name="adj" fmla="val 8333"/>
            </a:avLst>
          </a:prstGeom>
          <a:solidFill>
            <a:srgbClr val="0E333D"/>
          </a:solidFill>
          <a:ln w="6350">
            <a:solidFill>
              <a:srgbClr val="28505B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446520" y="2926080"/>
            <a:ext cx="2029968" cy="329184"/>
          </a:xfrm>
          <a:prstGeom prst="roundRect">
            <a:avLst>
              <a:gd name="adj" fmla="val 8333"/>
            </a:avLst>
          </a:prstGeom>
          <a:solidFill>
            <a:srgbClr val="4A2C2B"/>
          </a:solidFill>
          <a:ln w="6350">
            <a:solidFill>
              <a:srgbClr val="FF6B4A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446520" y="3429000"/>
            <a:ext cx="2029968" cy="329184"/>
          </a:xfrm>
          <a:prstGeom prst="roundRect">
            <a:avLst>
              <a:gd name="adj" fmla="val 8333"/>
            </a:avLst>
          </a:prstGeom>
          <a:solidFill>
            <a:srgbClr val="0E333D"/>
          </a:solidFill>
          <a:ln w="6350">
            <a:solidFill>
              <a:srgbClr val="28505B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6446520" y="3931920"/>
            <a:ext cx="2029968" cy="329184"/>
          </a:xfrm>
          <a:prstGeom prst="roundRect">
            <a:avLst>
              <a:gd name="adj" fmla="val 8333"/>
            </a:avLst>
          </a:prstGeom>
          <a:solidFill>
            <a:srgbClr val="0E333D"/>
          </a:solidFill>
          <a:ln w="6350">
            <a:solidFill>
              <a:srgbClr val="28505B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373368" y="4645152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FBFC"/>
                </a:solidFill>
              </a:rPr>
              <a:t>智能审核工作台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7178040" y="501091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9025128" y="1664208"/>
            <a:ext cx="2487168" cy="3493008"/>
          </a:xfrm>
          <a:prstGeom prst="roundRect">
            <a:avLst>
              <a:gd name="adj" fmla="val 2206"/>
            </a:avLst>
          </a:prstGeom>
          <a:solidFill>
            <a:srgbClr val="0B2932"/>
          </a:solidFill>
          <a:ln w="12700">
            <a:solidFill>
              <a:srgbClr val="27D3C1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9189720" y="1901952"/>
            <a:ext cx="2157984" cy="274320"/>
          </a:xfrm>
          <a:prstGeom prst="rect">
            <a:avLst/>
          </a:prstGeom>
          <a:solidFill>
            <a:srgbClr val="103641"/>
          </a:solidFill>
          <a:ln w="6350">
            <a:solidFill>
              <a:srgbClr val="28505B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9235440" y="2423160"/>
            <a:ext cx="2029968" cy="329184"/>
          </a:xfrm>
          <a:prstGeom prst="roundRect">
            <a:avLst>
              <a:gd name="adj" fmla="val 8333"/>
            </a:avLst>
          </a:prstGeom>
          <a:solidFill>
            <a:srgbClr val="0E333D"/>
          </a:solidFill>
          <a:ln w="6350">
            <a:solidFill>
              <a:srgbClr val="28505B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9235440" y="2926080"/>
            <a:ext cx="2029968" cy="329184"/>
          </a:xfrm>
          <a:prstGeom prst="roundRect">
            <a:avLst>
              <a:gd name="adj" fmla="val 8333"/>
            </a:avLst>
          </a:prstGeom>
          <a:solidFill>
            <a:srgbClr val="0E333D"/>
          </a:solidFill>
          <a:ln w="6350">
            <a:solidFill>
              <a:srgbClr val="28505B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9235440" y="3429000"/>
            <a:ext cx="2029968" cy="329184"/>
          </a:xfrm>
          <a:prstGeom prst="roundRect">
            <a:avLst>
              <a:gd name="adj" fmla="val 8333"/>
            </a:avLst>
          </a:prstGeom>
          <a:solidFill>
            <a:srgbClr val="0E333D"/>
          </a:solidFill>
          <a:ln w="6350">
            <a:solidFill>
              <a:srgbClr val="28505B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9235440" y="3931920"/>
            <a:ext cx="2029968" cy="329184"/>
          </a:xfrm>
          <a:prstGeom prst="roundRect">
            <a:avLst>
              <a:gd name="adj" fmla="val 8333"/>
            </a:avLst>
          </a:prstGeom>
          <a:solidFill>
            <a:srgbClr val="0E333D"/>
          </a:solidFill>
          <a:ln w="6350">
            <a:solidFill>
              <a:srgbClr val="28505B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9162288" y="4645152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FBFC"/>
                </a:solidFill>
              </a:rPr>
              <a:t>人工复核页</a:t>
            </a:r>
            <a:endParaRPr lang="en-US" sz="1200" dirty="0"/>
          </a:p>
        </p:txBody>
      </p:sp>
      <p:sp>
        <p:nvSpPr>
          <p:cNvPr id="44" name="Text 41"/>
          <p:cNvSpPr/>
          <p:nvPr/>
        </p:nvSpPr>
        <p:spPr>
          <a:xfrm>
            <a:off x="9966960" y="501091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7D3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417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27D3C1"/>
                </a:solidFill>
              </a:rPr>
              <a:t>PROJECT 04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7FBFC"/>
                </a:solidFill>
              </a:rPr>
              <a:t>先审一段文案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2850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298448"/>
            <a:ext cx="1325880" cy="0"/>
          </a:xfrm>
          <a:prstGeom prst="line">
            <a:avLst/>
          </a:prstGeom>
          <a:noFill/>
          <a:ln w="38100">
            <a:solidFill>
              <a:srgbClr val="27D3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06640" y="420624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A7BBC2"/>
                </a:solidFill>
              </a:rPr>
              <a:t>AI营销内容智能审核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66928" y="5989320"/>
            <a:ext cx="11018520" cy="393192"/>
          </a:xfrm>
          <a:prstGeom prst="roundRect">
            <a:avLst>
              <a:gd name="adj" fmla="val 11628"/>
            </a:avLst>
          </a:prstGeom>
          <a:solidFill>
            <a:srgbClr val="0A222B"/>
          </a:solidFill>
          <a:ln w="10160">
            <a:solidFill>
              <a:srgbClr val="1641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6099048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7D3C1"/>
                </a:solidFill>
              </a:rPr>
              <a:t>本页重点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609344" y="6053328"/>
            <a:ext cx="9646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7FBFC"/>
                </a:solidFill>
              </a:rPr>
              <a:t>先不要讨论技术，先判断系统到底需要帮助用户完成什么。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6510528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82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AI营销内容智能审核项目实战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1155680" y="64739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7BB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713232" y="1673352"/>
            <a:ext cx="7360920" cy="3200400"/>
          </a:xfrm>
          <a:prstGeom prst="roundRect">
            <a:avLst>
              <a:gd name="adj" fmla="val 1714"/>
            </a:avLst>
          </a:prstGeom>
          <a:solidFill>
            <a:srgbClr val="0B2932"/>
          </a:solidFill>
          <a:ln w="12700">
            <a:solidFill>
              <a:srgbClr val="28505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41832" y="1773936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27D3C1"/>
                </a:solidFill>
              </a:rPr>
              <a:t>“</a:t>
            </a:r>
            <a:endParaRPr lang="en-US" sz="4400" dirty="0"/>
          </a:p>
        </p:txBody>
      </p:sp>
      <p:sp>
        <p:nvSpPr>
          <p:cNvPr id="15" name="Text 12"/>
          <p:cNvSpPr/>
          <p:nvPr/>
        </p:nvSpPr>
        <p:spPr>
          <a:xfrm>
            <a:off x="1252728" y="2157984"/>
            <a:ext cx="6291072" cy="2011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7FBFC"/>
                </a:solidFill>
              </a:rPr>
              <a:t>全网最值得买的胶原蛋白饮，7 天彻底改善熬夜暗沉，100% 有效。连续三年销量第一，三甲医院专家一致推荐。今晚下单立减 50%，错过再等一年。</a:t>
            </a:r>
            <a:endParaRPr lang="en-US" sz="2200" dirty="0"/>
          </a:p>
        </p:txBody>
      </p:sp>
      <p:sp>
        <p:nvSpPr>
          <p:cNvPr id="16" name="Shape 13"/>
          <p:cNvSpPr/>
          <p:nvPr/>
        </p:nvSpPr>
        <p:spPr>
          <a:xfrm>
            <a:off x="8412480" y="1673352"/>
            <a:ext cx="2880360" cy="1325880"/>
          </a:xfrm>
          <a:prstGeom prst="roundRect">
            <a:avLst>
              <a:gd name="adj" fmla="val 4138"/>
            </a:avLst>
          </a:prstGeom>
          <a:solidFill>
            <a:srgbClr val="0B2932"/>
          </a:solidFill>
          <a:ln w="10160">
            <a:solidFill>
              <a:srgbClr val="28505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412480" y="1673352"/>
            <a:ext cx="73152" cy="1325880"/>
          </a:xfrm>
          <a:prstGeom prst="rect">
            <a:avLst/>
          </a:prstGeom>
          <a:solidFill>
            <a:srgbClr val="FF6B4A"/>
          </a:solidFill>
          <a:ln w="12700">
            <a:solidFill>
              <a:srgbClr val="FF6B4A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668512" y="185623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7FBFC"/>
                </a:solidFill>
              </a:rPr>
              <a:t>问题 1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8668512" y="2267712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7BBC2"/>
                </a:solidFill>
              </a:rPr>
              <a:t>哪些位置需要进一步检查？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8412480" y="3246120"/>
            <a:ext cx="2880360" cy="1627632"/>
          </a:xfrm>
          <a:prstGeom prst="roundRect">
            <a:avLst>
              <a:gd name="adj" fmla="val 3371"/>
            </a:avLst>
          </a:prstGeom>
          <a:solidFill>
            <a:srgbClr val="0B2932"/>
          </a:solidFill>
          <a:ln w="10160">
            <a:solidFill>
              <a:srgbClr val="28505B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412480" y="3246120"/>
            <a:ext cx="73152" cy="1627632"/>
          </a:xfrm>
          <a:prstGeom prst="rect">
            <a:avLst/>
          </a:prstGeom>
          <a:solidFill>
            <a:srgbClr val="27D3C1"/>
          </a:solidFill>
          <a:ln w="12700">
            <a:solidFill>
              <a:srgbClr val="27D3C1">
                <a:alpha val="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668512" y="342900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7FBFC"/>
                </a:solidFill>
              </a:rPr>
              <a:t>问题 2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8668512" y="384048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7BBC2"/>
                </a:solidFill>
              </a:rPr>
              <a:t>系统只说“有问题”够不够？还应该返回什么？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8732520" y="5212080"/>
            <a:ext cx="2240280" cy="347472"/>
          </a:xfrm>
          <a:prstGeom prst="roundRect">
            <a:avLst>
              <a:gd name="adj" fmla="val 21053"/>
            </a:avLst>
          </a:prstGeom>
          <a:solidFill>
            <a:srgbClr val="332E20"/>
          </a:solidFill>
          <a:ln w="10160">
            <a:solidFill>
              <a:srgbClr val="F6C45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787384" y="5312664"/>
            <a:ext cx="21305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6C453"/>
                </a:solidFill>
              </a:rPr>
              <a:t>90 秒独立判断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417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27D3C1"/>
                </a:solidFill>
              </a:rPr>
              <a:t>PROJECT 04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7FBFC"/>
                </a:solidFill>
              </a:rPr>
              <a:t>把你的判断写成产品输出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2850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298448"/>
            <a:ext cx="1325880" cy="0"/>
          </a:xfrm>
          <a:prstGeom prst="line">
            <a:avLst/>
          </a:prstGeom>
          <a:noFill/>
          <a:ln w="38100">
            <a:solidFill>
              <a:srgbClr val="27D3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06640" y="420624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A7BBC2"/>
                </a:solidFill>
              </a:rPr>
              <a:t>AI营销内容智能审核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66928" y="5989320"/>
            <a:ext cx="11018520" cy="393192"/>
          </a:xfrm>
          <a:prstGeom prst="roundRect">
            <a:avLst>
              <a:gd name="adj" fmla="val 11628"/>
            </a:avLst>
          </a:prstGeom>
          <a:solidFill>
            <a:srgbClr val="0A222B"/>
          </a:solidFill>
          <a:ln w="10160">
            <a:solidFill>
              <a:srgbClr val="1641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6099048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7D3C1"/>
                </a:solidFill>
              </a:rPr>
              <a:t>本页重点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609344" y="6053328"/>
            <a:ext cx="9646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7FBFC"/>
                </a:solidFill>
              </a:rPr>
              <a:t>从“我觉得不妥”升级为“系统可以返回并驱动处理的结果”。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6510528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82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AI营销内容智能审核项目实战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1155680" y="64739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7BB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1399032" y="1737360"/>
            <a:ext cx="658368" cy="658368"/>
          </a:xfrm>
          <a:prstGeom prst="ellipse">
            <a:avLst/>
          </a:prstGeom>
          <a:solidFill>
            <a:srgbClr val="27D3C1"/>
          </a:solidFill>
          <a:ln w="25400">
            <a:solidFill>
              <a:srgbClr val="04171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563624" y="192024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1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85800" y="2587752"/>
            <a:ext cx="2084832" cy="2121408"/>
          </a:xfrm>
          <a:prstGeom prst="roundRect">
            <a:avLst>
              <a:gd name="adj" fmla="val 2632"/>
            </a:avLst>
          </a:prstGeom>
          <a:solidFill>
            <a:srgbClr val="0A2630"/>
          </a:solidFill>
          <a:ln w="10160">
            <a:solidFill>
              <a:srgbClr val="28505B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85800" y="2587752"/>
            <a:ext cx="73152" cy="2121408"/>
          </a:xfrm>
          <a:prstGeom prst="rect">
            <a:avLst/>
          </a:prstGeom>
          <a:solidFill>
            <a:srgbClr val="27D3C1"/>
          </a:solidFill>
          <a:ln w="12700">
            <a:solidFill>
              <a:srgbClr val="27D3C1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41832" y="2770632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7FBFC"/>
                </a:solidFill>
              </a:rPr>
              <a:t>问题位置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941832" y="3182112"/>
            <a:ext cx="1627632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7BBC2"/>
                </a:solidFill>
              </a:rPr>
              <a:t>原文哪几个字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3666744" y="1737360"/>
            <a:ext cx="658368" cy="658368"/>
          </a:xfrm>
          <a:prstGeom prst="ellipse">
            <a:avLst/>
          </a:prstGeom>
          <a:solidFill>
            <a:srgbClr val="27D3C1"/>
          </a:solidFill>
          <a:ln w="25400">
            <a:solidFill>
              <a:srgbClr val="04171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831336" y="192024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1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2953512" y="2587752"/>
            <a:ext cx="2084832" cy="2121408"/>
          </a:xfrm>
          <a:prstGeom prst="roundRect">
            <a:avLst>
              <a:gd name="adj" fmla="val 2632"/>
            </a:avLst>
          </a:prstGeom>
          <a:solidFill>
            <a:srgbClr val="0A2630"/>
          </a:solidFill>
          <a:ln w="10160">
            <a:solidFill>
              <a:srgbClr val="28505B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2953512" y="2587752"/>
            <a:ext cx="73152" cy="2121408"/>
          </a:xfrm>
          <a:prstGeom prst="rect">
            <a:avLst/>
          </a:prstGeom>
          <a:solidFill>
            <a:srgbClr val="27D3C1"/>
          </a:solidFill>
          <a:ln w="12700">
            <a:solidFill>
              <a:srgbClr val="27D3C1">
                <a:alpha val="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209544" y="2770632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7FBFC"/>
                </a:solidFill>
              </a:rPr>
              <a:t>问题类型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3209544" y="3182112"/>
            <a:ext cx="1627632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7BBC2"/>
                </a:solidFill>
              </a:rPr>
              <a:t>属于哪类检查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5934456" y="1737360"/>
            <a:ext cx="658368" cy="658368"/>
          </a:xfrm>
          <a:prstGeom prst="ellipse">
            <a:avLst/>
          </a:prstGeom>
          <a:solidFill>
            <a:srgbClr val="27D3C1"/>
          </a:solidFill>
          <a:ln w="25400">
            <a:solidFill>
              <a:srgbClr val="04171E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099048" y="192024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1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5221224" y="2587752"/>
            <a:ext cx="2084832" cy="2121408"/>
          </a:xfrm>
          <a:prstGeom prst="roundRect">
            <a:avLst>
              <a:gd name="adj" fmla="val 2632"/>
            </a:avLst>
          </a:prstGeom>
          <a:solidFill>
            <a:srgbClr val="0A2630"/>
          </a:solidFill>
          <a:ln w="10160">
            <a:solidFill>
              <a:srgbClr val="28505B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221224" y="2587752"/>
            <a:ext cx="73152" cy="2121408"/>
          </a:xfrm>
          <a:prstGeom prst="rect">
            <a:avLst/>
          </a:prstGeom>
          <a:solidFill>
            <a:srgbClr val="27D3C1"/>
          </a:solidFill>
          <a:ln w="12700">
            <a:solidFill>
              <a:srgbClr val="27D3C1">
                <a:alpha val="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477256" y="2770632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7FBFC"/>
                </a:solidFill>
              </a:rPr>
              <a:t>风险等级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5477256" y="3182112"/>
            <a:ext cx="1627632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7BBC2"/>
                </a:solidFill>
              </a:rPr>
              <a:t>优先级多高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8202168" y="1737360"/>
            <a:ext cx="658368" cy="658368"/>
          </a:xfrm>
          <a:prstGeom prst="ellipse">
            <a:avLst/>
          </a:prstGeom>
          <a:solidFill>
            <a:srgbClr val="27D3C1"/>
          </a:solidFill>
          <a:ln w="25400">
            <a:solidFill>
              <a:srgbClr val="04171E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366760" y="192024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1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7488936" y="2587752"/>
            <a:ext cx="2084832" cy="2121408"/>
          </a:xfrm>
          <a:prstGeom prst="roundRect">
            <a:avLst>
              <a:gd name="adj" fmla="val 2632"/>
            </a:avLst>
          </a:prstGeom>
          <a:solidFill>
            <a:srgbClr val="0A2630"/>
          </a:solidFill>
          <a:ln w="10160">
            <a:solidFill>
              <a:srgbClr val="28505B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7488936" y="2587752"/>
            <a:ext cx="73152" cy="2121408"/>
          </a:xfrm>
          <a:prstGeom prst="rect">
            <a:avLst/>
          </a:prstGeom>
          <a:solidFill>
            <a:srgbClr val="27D3C1"/>
          </a:solidFill>
          <a:ln w="12700">
            <a:solidFill>
              <a:srgbClr val="27D3C1">
                <a:alpha val="0"/>
              </a:srgbClr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7744968" y="2770632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7FBFC"/>
                </a:solidFill>
              </a:rPr>
              <a:t>判断说明</a:t>
            </a:r>
            <a:endParaRPr lang="en-US" sz="1400" dirty="0"/>
          </a:p>
        </p:txBody>
      </p:sp>
      <p:sp>
        <p:nvSpPr>
          <p:cNvPr id="36" name="Text 33"/>
          <p:cNvSpPr/>
          <p:nvPr/>
        </p:nvSpPr>
        <p:spPr>
          <a:xfrm>
            <a:off x="7744968" y="3182112"/>
            <a:ext cx="1627632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7BBC2"/>
                </a:solidFill>
              </a:rPr>
              <a:t>为什么要处理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10469880" y="1737360"/>
            <a:ext cx="658368" cy="658368"/>
          </a:xfrm>
          <a:prstGeom prst="ellipse">
            <a:avLst/>
          </a:prstGeom>
          <a:solidFill>
            <a:srgbClr val="FF6B4A"/>
          </a:solidFill>
          <a:ln w="25400">
            <a:solidFill>
              <a:srgbClr val="04171E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10634472" y="192024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1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39" name="Shape 36"/>
          <p:cNvSpPr/>
          <p:nvPr/>
        </p:nvSpPr>
        <p:spPr>
          <a:xfrm>
            <a:off x="9756648" y="2587752"/>
            <a:ext cx="2084832" cy="2121408"/>
          </a:xfrm>
          <a:prstGeom prst="roundRect">
            <a:avLst>
              <a:gd name="adj" fmla="val 2632"/>
            </a:avLst>
          </a:prstGeom>
          <a:solidFill>
            <a:srgbClr val="0A2630"/>
          </a:solidFill>
          <a:ln w="10160">
            <a:solidFill>
              <a:srgbClr val="28505B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9756648" y="2587752"/>
            <a:ext cx="73152" cy="2121408"/>
          </a:xfrm>
          <a:prstGeom prst="rect">
            <a:avLst/>
          </a:prstGeom>
          <a:solidFill>
            <a:srgbClr val="FF6B4A"/>
          </a:solidFill>
          <a:ln w="12700">
            <a:solidFill>
              <a:srgbClr val="FF6B4A">
                <a:alpha val="0"/>
              </a:srgbClr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10012680" y="2770632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7FBFC"/>
                </a:solidFill>
              </a:rPr>
              <a:t>下一步动作</a:t>
            </a:r>
            <a:endParaRPr lang="en-US" sz="1400" dirty="0"/>
          </a:p>
        </p:txBody>
      </p:sp>
      <p:sp>
        <p:nvSpPr>
          <p:cNvPr id="42" name="Text 39"/>
          <p:cNvSpPr/>
          <p:nvPr/>
        </p:nvSpPr>
        <p:spPr>
          <a:xfrm>
            <a:off x="10012680" y="3182112"/>
            <a:ext cx="1627632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7BBC2"/>
                </a:solidFill>
              </a:rPr>
              <a:t>修改、补材料或转人工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417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27D3C1"/>
                </a:solidFill>
              </a:rPr>
              <a:t>PROJECT 04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7FBFC"/>
                </a:solidFill>
              </a:rPr>
              <a:t>这不是文案纠错器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2850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298448"/>
            <a:ext cx="1325880" cy="0"/>
          </a:xfrm>
          <a:prstGeom prst="line">
            <a:avLst/>
          </a:prstGeom>
          <a:noFill/>
          <a:ln w="38100">
            <a:solidFill>
              <a:srgbClr val="27D3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06640" y="420624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A7BBC2"/>
                </a:solidFill>
              </a:rPr>
              <a:t>AI营销内容智能审核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66928" y="5989320"/>
            <a:ext cx="11018520" cy="393192"/>
          </a:xfrm>
          <a:prstGeom prst="roundRect">
            <a:avLst>
              <a:gd name="adj" fmla="val 11628"/>
            </a:avLst>
          </a:prstGeom>
          <a:solidFill>
            <a:srgbClr val="0A222B"/>
          </a:solidFill>
          <a:ln w="10160">
            <a:solidFill>
              <a:srgbClr val="1641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6099048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7D3C1"/>
                </a:solidFill>
              </a:rPr>
              <a:t>本页重点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609344" y="6053328"/>
            <a:ext cx="9646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7FBFC"/>
                </a:solidFill>
              </a:rPr>
              <a:t>真正的产品要把一次判断转化为可定位、可处理、可复核的业务动作。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6510528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82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AI营销内容智能审核项目实战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1155680" y="64739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7BB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658368" y="2331720"/>
            <a:ext cx="1874520" cy="1417320"/>
          </a:xfrm>
          <a:prstGeom prst="roundRect">
            <a:avLst>
              <a:gd name="adj" fmla="val 3871"/>
            </a:avLst>
          </a:prstGeom>
          <a:solidFill>
            <a:srgbClr val="0B2932"/>
          </a:solidFill>
          <a:ln w="15240">
            <a:solidFill>
              <a:srgbClr val="27D3C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68096" y="2496312"/>
            <a:ext cx="1655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FBFC"/>
                </a:solidFill>
              </a:rPr>
              <a:t>输入内容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68096" y="2788920"/>
            <a:ext cx="16550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A7BBC2"/>
                </a:solidFill>
              </a:rPr>
              <a:t>文案＋场景＋材料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2560320" y="3035808"/>
            <a:ext cx="320040" cy="0"/>
          </a:xfrm>
          <a:prstGeom prst="line">
            <a:avLst/>
          </a:prstGeom>
          <a:noFill/>
          <a:ln w="20320">
            <a:solidFill>
              <a:srgbClr val="A7BBC2"/>
            </a:solidFill>
            <a:prstDash val="solid"/>
            <a:headEnd type="none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2944368" y="2331720"/>
            <a:ext cx="1874520" cy="1417320"/>
          </a:xfrm>
          <a:prstGeom prst="roundRect">
            <a:avLst>
              <a:gd name="adj" fmla="val 3871"/>
            </a:avLst>
          </a:prstGeom>
          <a:solidFill>
            <a:srgbClr val="0B2932"/>
          </a:solidFill>
          <a:ln w="15240">
            <a:solidFill>
              <a:srgbClr val="27D3C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054096" y="2496312"/>
            <a:ext cx="1655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FBFC"/>
                </a:solidFill>
              </a:rPr>
              <a:t>识别问题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3054096" y="2788920"/>
            <a:ext cx="16550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A7BBC2"/>
                </a:solidFill>
              </a:rPr>
              <a:t>规则与语义检查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4846320" y="3035808"/>
            <a:ext cx="320040" cy="0"/>
          </a:xfrm>
          <a:prstGeom prst="line">
            <a:avLst/>
          </a:prstGeom>
          <a:noFill/>
          <a:ln w="20320">
            <a:solidFill>
              <a:srgbClr val="A7BBC2"/>
            </a:solidFill>
            <a:prstDash val="solid"/>
            <a:headEnd type="none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5230368" y="2331720"/>
            <a:ext cx="1874520" cy="1417320"/>
          </a:xfrm>
          <a:prstGeom prst="roundRect">
            <a:avLst>
              <a:gd name="adj" fmla="val 3871"/>
            </a:avLst>
          </a:prstGeom>
          <a:solidFill>
            <a:srgbClr val="0B2932"/>
          </a:solidFill>
          <a:ln w="15240">
            <a:solidFill>
              <a:srgbClr val="27D3C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340096" y="2496312"/>
            <a:ext cx="1655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FBFC"/>
                </a:solidFill>
              </a:rPr>
              <a:t>定位原文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5340096" y="2788920"/>
            <a:ext cx="16550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A7BBC2"/>
                </a:solidFill>
              </a:rPr>
              <a:t>字符位置与片段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7132320" y="3035808"/>
            <a:ext cx="320040" cy="0"/>
          </a:xfrm>
          <a:prstGeom prst="line">
            <a:avLst/>
          </a:prstGeom>
          <a:noFill/>
          <a:ln w="20320">
            <a:solidFill>
              <a:srgbClr val="A7BBC2"/>
            </a:solidFill>
            <a:prstDash val="solid"/>
            <a:headEnd type="none"/>
            <a:tailEnd type="triangle"/>
          </a:ln>
        </p:spPr>
      </p:sp>
      <p:sp>
        <p:nvSpPr>
          <p:cNvPr id="25" name="Shape 22"/>
          <p:cNvSpPr/>
          <p:nvPr/>
        </p:nvSpPr>
        <p:spPr>
          <a:xfrm>
            <a:off x="7516368" y="2331720"/>
            <a:ext cx="1874520" cy="1417320"/>
          </a:xfrm>
          <a:prstGeom prst="roundRect">
            <a:avLst>
              <a:gd name="adj" fmla="val 3871"/>
            </a:avLst>
          </a:prstGeom>
          <a:solidFill>
            <a:srgbClr val="0B2932"/>
          </a:solidFill>
          <a:ln w="15240">
            <a:solidFill>
              <a:srgbClr val="FF6B4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626096" y="2496312"/>
            <a:ext cx="1655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FBFC"/>
                </a:solidFill>
              </a:rPr>
              <a:t>给出动作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7626096" y="2788920"/>
            <a:ext cx="16550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A7BBC2"/>
                </a:solidFill>
              </a:rPr>
              <a:t>修改／补充／转人工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9418320" y="3035808"/>
            <a:ext cx="320040" cy="0"/>
          </a:xfrm>
          <a:prstGeom prst="line">
            <a:avLst/>
          </a:prstGeom>
          <a:noFill/>
          <a:ln w="20320">
            <a:solidFill>
              <a:srgbClr val="A7BBC2"/>
            </a:solidFill>
            <a:prstDash val="solid"/>
            <a:headEnd type="none"/>
            <a:tailEnd type="triangle"/>
          </a:ln>
        </p:spPr>
      </p:sp>
      <p:sp>
        <p:nvSpPr>
          <p:cNvPr id="29" name="Shape 26"/>
          <p:cNvSpPr/>
          <p:nvPr/>
        </p:nvSpPr>
        <p:spPr>
          <a:xfrm>
            <a:off x="9802368" y="2331720"/>
            <a:ext cx="1874520" cy="1417320"/>
          </a:xfrm>
          <a:prstGeom prst="roundRect">
            <a:avLst>
              <a:gd name="adj" fmla="val 3871"/>
            </a:avLst>
          </a:prstGeom>
          <a:solidFill>
            <a:srgbClr val="0B2932"/>
          </a:solidFill>
          <a:ln w="15240">
            <a:solidFill>
              <a:srgbClr val="27D3C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9912096" y="2496312"/>
            <a:ext cx="1655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FBFC"/>
                </a:solidFill>
              </a:rPr>
              <a:t>完成复核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9912096" y="2788920"/>
            <a:ext cx="16550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A7BBC2"/>
                </a:solidFill>
              </a:rPr>
              <a:t>记录最终结论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4133088" y="42519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7BE7DC"/>
                </a:solidFill>
              </a:rPr>
              <a:t>智能审核平台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417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59436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27D3C1">
                    <a:alpha val="9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000" dirty="0"/>
          </a:p>
        </p:txBody>
      </p:sp>
      <p:sp>
        <p:nvSpPr>
          <p:cNvPr id="3" name="Shape 1"/>
          <p:cNvSpPr/>
          <p:nvPr/>
        </p:nvSpPr>
        <p:spPr>
          <a:xfrm>
            <a:off x="3200400" y="950976"/>
            <a:ext cx="0" cy="4754880"/>
          </a:xfrm>
          <a:prstGeom prst="line">
            <a:avLst/>
          </a:prstGeom>
          <a:noFill/>
          <a:ln w="12700">
            <a:solidFill>
              <a:srgbClr val="28505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703320" y="1389888"/>
            <a:ext cx="7589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7FBFC"/>
                </a:solidFill>
              </a:rPr>
              <a:t>理解业务与限定项目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730752" y="2651760"/>
            <a:ext cx="7178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A7BBC2"/>
                </a:solidFill>
              </a:rPr>
              <a:t>先把原流程、角色、问题和第一版边界说清，再谈技术。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3730752" y="4160520"/>
            <a:ext cx="2057400" cy="438912"/>
          </a:xfrm>
          <a:prstGeom prst="roundRect">
            <a:avLst>
              <a:gd name="adj" fmla="val 10417"/>
            </a:avLst>
          </a:prstGeom>
          <a:solidFill>
            <a:srgbClr val="103641"/>
          </a:solidFill>
          <a:ln w="12700">
            <a:solidFill>
              <a:srgbClr val="27D3C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13632" y="4297680"/>
            <a:ext cx="1691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BE7DC"/>
                </a:solidFill>
              </a:rPr>
              <a:t>30 MIN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6510528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82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AI营销内容智能审核项目实战 · SECTION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1155680" y="64739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7BB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417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27D3C1"/>
                </a:solidFill>
              </a:rPr>
              <a:t>PROJECT 04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7FBFC"/>
                </a:solidFill>
              </a:rPr>
              <a:t>项目发生在什么业务里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2850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298448"/>
            <a:ext cx="1325880" cy="0"/>
          </a:xfrm>
          <a:prstGeom prst="line">
            <a:avLst/>
          </a:prstGeom>
          <a:noFill/>
          <a:ln w="38100">
            <a:solidFill>
              <a:srgbClr val="27D3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06640" y="420624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A7BBC2"/>
                </a:solidFill>
              </a:rPr>
              <a:t>AI营销内容智能审核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66928" y="5989320"/>
            <a:ext cx="11018520" cy="393192"/>
          </a:xfrm>
          <a:prstGeom prst="roundRect">
            <a:avLst>
              <a:gd name="adj" fmla="val 11628"/>
            </a:avLst>
          </a:prstGeom>
          <a:solidFill>
            <a:srgbClr val="0A222B"/>
          </a:solidFill>
          <a:ln w="10160">
            <a:solidFill>
              <a:srgbClr val="1641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6099048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7D3C1"/>
                </a:solidFill>
              </a:rPr>
              <a:t>本页重点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609344" y="6053328"/>
            <a:ext cx="9646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7FBFC"/>
                </a:solidFill>
              </a:rPr>
              <a:t>同一家公司、多个内容渠道、持续增加的审核任务。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6510528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82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AI营销内容智能审核项目实战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1155680" y="64739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7BB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685800" y="1664208"/>
            <a:ext cx="3337560" cy="3566160"/>
          </a:xfrm>
          <a:prstGeom prst="roundRect">
            <a:avLst>
              <a:gd name="adj" fmla="val 1644"/>
            </a:avLst>
          </a:prstGeom>
          <a:solidFill>
            <a:srgbClr val="0B2932"/>
          </a:solidFill>
          <a:ln w="10160">
            <a:solidFill>
              <a:srgbClr val="28505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85800" y="1664208"/>
            <a:ext cx="73152" cy="3566160"/>
          </a:xfrm>
          <a:prstGeom prst="rect">
            <a:avLst/>
          </a:prstGeom>
          <a:solidFill>
            <a:srgbClr val="27D3C1"/>
          </a:solidFill>
          <a:ln w="12700">
            <a:solidFill>
              <a:srgbClr val="27D3C1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41832" y="1847088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7FBFC"/>
                </a:solidFill>
              </a:rPr>
              <a:t>内容生产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941832" y="2258568"/>
            <a:ext cx="2880360" cy="2807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A7BBC2"/>
                </a:solidFill>
              </a:rPr>
              <a:t>商品详情页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A7BBC2"/>
                </a:solidFill>
              </a:rPr>
              <a:t>活动页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A7BBC2"/>
                </a:solidFill>
              </a:rPr>
              <a:t>短视频口播稿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A7BBC2"/>
                </a:solidFill>
              </a:rPr>
              <a:t>达人合作文案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A7BBC2"/>
                </a:solidFill>
              </a:rPr>
              <a:t>私域推送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4416552" y="1664208"/>
            <a:ext cx="3337560" cy="3566160"/>
          </a:xfrm>
          <a:prstGeom prst="roundRect">
            <a:avLst>
              <a:gd name="adj" fmla="val 1644"/>
            </a:avLst>
          </a:prstGeom>
          <a:solidFill>
            <a:srgbClr val="0B2932"/>
          </a:solidFill>
          <a:ln w="10160">
            <a:solidFill>
              <a:srgbClr val="28505B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416552" y="1664208"/>
            <a:ext cx="73152" cy="3566160"/>
          </a:xfrm>
          <a:prstGeom prst="rect">
            <a:avLst/>
          </a:prstGeom>
          <a:solidFill>
            <a:srgbClr val="7BE7DC"/>
          </a:solidFill>
          <a:ln w="12700">
            <a:solidFill>
              <a:srgbClr val="7BE7DC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672584" y="1847088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7FBFC"/>
                </a:solidFill>
              </a:rPr>
              <a:t>发布渠道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4672584" y="2258568"/>
            <a:ext cx="2880360" cy="2807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A7BBC2"/>
                </a:solidFill>
              </a:rPr>
              <a:t>自有商城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A7BBC2"/>
                </a:solidFill>
              </a:rPr>
              <a:t>电商平台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A7BBC2"/>
                </a:solidFill>
              </a:rPr>
              <a:t>内容社区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A7BBC2"/>
                </a:solidFill>
              </a:rPr>
              <a:t>短视频平台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A7BBC2"/>
                </a:solidFill>
              </a:rPr>
              <a:t>企业私域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8147304" y="1664208"/>
            <a:ext cx="3337560" cy="3566160"/>
          </a:xfrm>
          <a:prstGeom prst="roundRect">
            <a:avLst>
              <a:gd name="adj" fmla="val 1644"/>
            </a:avLst>
          </a:prstGeom>
          <a:solidFill>
            <a:srgbClr val="0B2932"/>
          </a:solidFill>
          <a:ln w="10160">
            <a:solidFill>
              <a:srgbClr val="28505B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147304" y="1664208"/>
            <a:ext cx="73152" cy="3566160"/>
          </a:xfrm>
          <a:prstGeom prst="rect">
            <a:avLst/>
          </a:prstGeom>
          <a:solidFill>
            <a:srgbClr val="FF6B4A"/>
          </a:solidFill>
          <a:ln w="12700">
            <a:solidFill>
              <a:srgbClr val="FF6B4A">
                <a:alpha val="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403336" y="1847088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7FBFC"/>
                </a:solidFill>
              </a:rPr>
              <a:t>审核压力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8403336" y="2258568"/>
            <a:ext cx="2880360" cy="2807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A7BBC2"/>
                </a:solidFill>
              </a:rPr>
              <a:t>内容量增长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A7BBC2"/>
                </a:solidFill>
              </a:rPr>
              <a:t>活动高峰排队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A7BBC2"/>
                </a:solidFill>
              </a:rPr>
              <a:t>规则持续更新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A7BBC2"/>
                </a:solidFill>
              </a:rPr>
              <a:t>历史意见分散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A7BBC2"/>
                </a:solidFill>
              </a:rPr>
              <a:t>高风险仍需人工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4041648" y="3438144"/>
            <a:ext cx="310896" cy="0"/>
          </a:xfrm>
          <a:prstGeom prst="line">
            <a:avLst/>
          </a:prstGeom>
          <a:noFill/>
          <a:ln w="20320">
            <a:solidFill>
              <a:srgbClr val="A7BBC2"/>
            </a:solidFill>
            <a:prstDash val="solid"/>
            <a:headEnd type="none"/>
            <a:tailEnd type="triangle"/>
          </a:ln>
        </p:spPr>
      </p:sp>
      <p:sp>
        <p:nvSpPr>
          <p:cNvPr id="26" name="Shape 23"/>
          <p:cNvSpPr/>
          <p:nvPr/>
        </p:nvSpPr>
        <p:spPr>
          <a:xfrm>
            <a:off x="7772400" y="3438144"/>
            <a:ext cx="310896" cy="0"/>
          </a:xfrm>
          <a:prstGeom prst="line">
            <a:avLst/>
          </a:prstGeom>
          <a:noFill/>
          <a:ln w="20320">
            <a:solidFill>
              <a:srgbClr val="A7BBC2"/>
            </a:solidFill>
            <a:prstDash val="solid"/>
            <a:headEnd type="none"/>
            <a:tailEnd type="triangle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417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27D3C1"/>
                </a:solidFill>
              </a:rPr>
              <a:t>PROJECT 04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7FBFC"/>
                </a:solidFill>
              </a:rPr>
              <a:t>当前人工审核流程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2850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298448"/>
            <a:ext cx="1325880" cy="0"/>
          </a:xfrm>
          <a:prstGeom prst="line">
            <a:avLst/>
          </a:prstGeom>
          <a:noFill/>
          <a:ln w="38100">
            <a:solidFill>
              <a:srgbClr val="27D3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06640" y="420624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A7BBC2"/>
                </a:solidFill>
              </a:rPr>
              <a:t>AI营销内容智能审核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66928" y="5989320"/>
            <a:ext cx="11018520" cy="393192"/>
          </a:xfrm>
          <a:prstGeom prst="roundRect">
            <a:avLst>
              <a:gd name="adj" fmla="val 11628"/>
            </a:avLst>
          </a:prstGeom>
          <a:solidFill>
            <a:srgbClr val="0A222B"/>
          </a:solidFill>
          <a:ln w="10160">
            <a:solidFill>
              <a:srgbClr val="1641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6099048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7D3C1"/>
                </a:solidFill>
              </a:rPr>
              <a:t>本页重点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609344" y="6053328"/>
            <a:ext cx="9646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7FBFC"/>
                </a:solidFill>
              </a:rPr>
              <a:t>流程并不缺步骤，问题在于大量重复检查和信息无法复用。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6510528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82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AI营销内容智能审核项目实战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1155680" y="64739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7BB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566928" y="2441448"/>
            <a:ext cx="1554480" cy="1051560"/>
          </a:xfrm>
          <a:prstGeom prst="roundRect">
            <a:avLst>
              <a:gd name="adj" fmla="val 5217"/>
            </a:avLst>
          </a:prstGeom>
          <a:solidFill>
            <a:srgbClr val="0B2932"/>
          </a:solidFill>
          <a:ln w="15240">
            <a:solidFill>
              <a:srgbClr val="27D3C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76656" y="2606040"/>
            <a:ext cx="13350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FBFC"/>
                </a:solidFill>
              </a:rPr>
              <a:t>运营撰写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2139696" y="2962656"/>
            <a:ext cx="274320" cy="0"/>
          </a:xfrm>
          <a:prstGeom prst="line">
            <a:avLst/>
          </a:prstGeom>
          <a:noFill/>
          <a:ln w="20320">
            <a:solidFill>
              <a:srgbClr val="A7BBC2"/>
            </a:solidFill>
            <a:prstDash val="solid"/>
            <a:headEnd type="none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2468880" y="2441448"/>
            <a:ext cx="1554480" cy="1051560"/>
          </a:xfrm>
          <a:prstGeom prst="roundRect">
            <a:avLst>
              <a:gd name="adj" fmla="val 5217"/>
            </a:avLst>
          </a:prstGeom>
          <a:solidFill>
            <a:srgbClr val="0B2932"/>
          </a:solidFill>
          <a:ln w="15240">
            <a:solidFill>
              <a:srgbClr val="27D3C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578608" y="2606040"/>
            <a:ext cx="13350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FBFC"/>
                </a:solidFill>
              </a:rPr>
              <a:t>发送审核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041648" y="2962656"/>
            <a:ext cx="274320" cy="0"/>
          </a:xfrm>
          <a:prstGeom prst="line">
            <a:avLst/>
          </a:prstGeom>
          <a:noFill/>
          <a:ln w="20320">
            <a:solidFill>
              <a:srgbClr val="A7BBC2"/>
            </a:solidFill>
            <a:prstDash val="solid"/>
            <a:headEnd type="none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4370832" y="2441448"/>
            <a:ext cx="1554480" cy="1051560"/>
          </a:xfrm>
          <a:prstGeom prst="roundRect">
            <a:avLst>
              <a:gd name="adj" fmla="val 5217"/>
            </a:avLst>
          </a:prstGeom>
          <a:solidFill>
            <a:srgbClr val="0B2932"/>
          </a:solidFill>
          <a:ln w="15240">
            <a:solidFill>
              <a:srgbClr val="FF6B4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480560" y="2606040"/>
            <a:ext cx="13350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FBFC"/>
                </a:solidFill>
              </a:rPr>
              <a:t>人工逐段检查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4480560" y="2898648"/>
            <a:ext cx="13350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A7BBC2"/>
                </a:solidFill>
              </a:rPr>
              <a:t>高重复工作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5943600" y="2962656"/>
            <a:ext cx="274320" cy="0"/>
          </a:xfrm>
          <a:prstGeom prst="line">
            <a:avLst/>
          </a:prstGeom>
          <a:noFill/>
          <a:ln w="20320">
            <a:solidFill>
              <a:srgbClr val="A7BBC2"/>
            </a:solidFill>
            <a:prstDash val="solid"/>
            <a:headEnd type="none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6272784" y="2441448"/>
            <a:ext cx="1554480" cy="1051560"/>
          </a:xfrm>
          <a:prstGeom prst="roundRect">
            <a:avLst>
              <a:gd name="adj" fmla="val 5217"/>
            </a:avLst>
          </a:prstGeom>
          <a:solidFill>
            <a:srgbClr val="0B2932"/>
          </a:solidFill>
          <a:ln w="15240">
            <a:solidFill>
              <a:srgbClr val="FF6B4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382512" y="2606040"/>
            <a:ext cx="13350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FBFC"/>
                </a:solidFill>
              </a:rPr>
              <a:t>通过／退回／补材料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7845552" y="2962656"/>
            <a:ext cx="274320" cy="0"/>
          </a:xfrm>
          <a:prstGeom prst="line">
            <a:avLst/>
          </a:prstGeom>
          <a:noFill/>
          <a:ln w="20320">
            <a:solidFill>
              <a:srgbClr val="A7BBC2"/>
            </a:solidFill>
            <a:prstDash val="solid"/>
            <a:headEnd type="none"/>
            <a:tailEnd type="triangle"/>
          </a:ln>
        </p:spPr>
      </p:sp>
      <p:sp>
        <p:nvSpPr>
          <p:cNvPr id="26" name="Shape 23"/>
          <p:cNvSpPr/>
          <p:nvPr/>
        </p:nvSpPr>
        <p:spPr>
          <a:xfrm>
            <a:off x="8174736" y="2441448"/>
            <a:ext cx="1554480" cy="1051560"/>
          </a:xfrm>
          <a:prstGeom prst="roundRect">
            <a:avLst>
              <a:gd name="adj" fmla="val 5217"/>
            </a:avLst>
          </a:prstGeom>
          <a:solidFill>
            <a:srgbClr val="0B2932"/>
          </a:solidFill>
          <a:ln w="15240">
            <a:solidFill>
              <a:srgbClr val="27D3C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284464" y="2606040"/>
            <a:ext cx="13350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FBFC"/>
                </a:solidFill>
              </a:rPr>
              <a:t>运营修改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9747504" y="2962656"/>
            <a:ext cx="274320" cy="0"/>
          </a:xfrm>
          <a:prstGeom prst="line">
            <a:avLst/>
          </a:prstGeom>
          <a:noFill/>
          <a:ln w="20320">
            <a:solidFill>
              <a:srgbClr val="A7BBC2"/>
            </a:solidFill>
            <a:prstDash val="solid"/>
            <a:headEnd type="none"/>
            <a:tailEnd type="triangle"/>
          </a:ln>
        </p:spPr>
      </p:sp>
      <p:sp>
        <p:nvSpPr>
          <p:cNvPr id="29" name="Shape 26"/>
          <p:cNvSpPr/>
          <p:nvPr/>
        </p:nvSpPr>
        <p:spPr>
          <a:xfrm>
            <a:off x="10076688" y="2441448"/>
            <a:ext cx="1554480" cy="1051560"/>
          </a:xfrm>
          <a:prstGeom prst="roundRect">
            <a:avLst>
              <a:gd name="adj" fmla="val 5217"/>
            </a:avLst>
          </a:prstGeom>
          <a:solidFill>
            <a:srgbClr val="0B2932"/>
          </a:solidFill>
          <a:ln w="15240">
            <a:solidFill>
              <a:srgbClr val="27D3C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10186416" y="2606040"/>
            <a:ext cx="13350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FBFC"/>
                </a:solidFill>
              </a:rPr>
              <a:t>发布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6144768" y="3749040"/>
            <a:ext cx="3017520" cy="1097280"/>
          </a:xfrm>
          <a:prstGeom prst="arc">
            <a:avLst/>
          </a:prstGeom>
          <a:solidFill>
            <a:srgbClr val="04171E">
              <a:alpha val="0"/>
            </a:srgbClr>
          </a:solidFill>
          <a:ln w="19050">
            <a:solidFill>
              <a:srgbClr val="FF6B4A"/>
            </a:solidFill>
            <a:prstDash val="solid"/>
            <a:headEnd type="none"/>
            <a:tailEnd type="triangle"/>
          </a:ln>
        </p:spPr>
      </p:sp>
      <p:sp>
        <p:nvSpPr>
          <p:cNvPr id="32" name="Text 29"/>
          <p:cNvSpPr/>
          <p:nvPr/>
        </p:nvSpPr>
        <p:spPr>
          <a:xfrm>
            <a:off x="6519672" y="4709160"/>
            <a:ext cx="2286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6B4A"/>
                </a:solidFill>
              </a:rPr>
              <a:t>反复修改与再次提交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417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27D3C1"/>
                </a:solidFill>
              </a:rPr>
              <a:t>PROJECT 04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7FBFC"/>
                </a:solidFill>
              </a:rPr>
              <a:t>四类业务问题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2850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298448"/>
            <a:ext cx="1325880" cy="0"/>
          </a:xfrm>
          <a:prstGeom prst="line">
            <a:avLst/>
          </a:prstGeom>
          <a:noFill/>
          <a:ln w="38100">
            <a:solidFill>
              <a:srgbClr val="27D3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06640" y="420624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A7BBC2"/>
                </a:solidFill>
              </a:rPr>
              <a:t>AI营销内容智能审核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66928" y="5989320"/>
            <a:ext cx="11018520" cy="393192"/>
          </a:xfrm>
          <a:prstGeom prst="roundRect">
            <a:avLst>
              <a:gd name="adj" fmla="val 11628"/>
            </a:avLst>
          </a:prstGeom>
          <a:solidFill>
            <a:srgbClr val="0A222B"/>
          </a:solidFill>
          <a:ln w="10160">
            <a:solidFill>
              <a:srgbClr val="1641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6099048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7D3C1"/>
                </a:solidFill>
              </a:rPr>
              <a:t>本页重点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609344" y="6053328"/>
            <a:ext cx="9646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7FBFC"/>
                </a:solidFill>
              </a:rPr>
              <a:t>人工不是“没有价值”，而是被大量重复工作占用。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6510528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82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AI营销内容智能审核项目实战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1155680" y="64739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7BB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685800" y="1664208"/>
            <a:ext cx="2606040" cy="3520440"/>
          </a:xfrm>
          <a:prstGeom prst="roundRect">
            <a:avLst>
              <a:gd name="adj" fmla="val 2105"/>
            </a:avLst>
          </a:prstGeom>
          <a:solidFill>
            <a:srgbClr val="0B2932"/>
          </a:solidFill>
          <a:ln w="10160">
            <a:solidFill>
              <a:srgbClr val="28505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85800" y="1664208"/>
            <a:ext cx="73152" cy="3520440"/>
          </a:xfrm>
          <a:prstGeom prst="rect">
            <a:avLst/>
          </a:prstGeom>
          <a:solidFill>
            <a:srgbClr val="27D3C1"/>
          </a:solidFill>
          <a:ln w="12700">
            <a:solidFill>
              <a:srgbClr val="27D3C1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41832" y="184708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7FBFC"/>
                </a:solidFill>
              </a:rPr>
              <a:t>数量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941832" y="2258568"/>
            <a:ext cx="2148840" cy="2761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7BBC2"/>
                </a:solidFill>
              </a:rPr>
              <a:t>活动高峰任务排队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7BBC2"/>
                </a:solidFill>
              </a:rPr>
              <a:t>常规内容等待时间变长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3429000" y="1664208"/>
            <a:ext cx="2606040" cy="3520440"/>
          </a:xfrm>
          <a:prstGeom prst="roundRect">
            <a:avLst>
              <a:gd name="adj" fmla="val 2105"/>
            </a:avLst>
          </a:prstGeom>
          <a:solidFill>
            <a:srgbClr val="0B2932"/>
          </a:solidFill>
          <a:ln w="10160">
            <a:solidFill>
              <a:srgbClr val="28505B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429000" y="1664208"/>
            <a:ext cx="73152" cy="3520440"/>
          </a:xfrm>
          <a:prstGeom prst="rect">
            <a:avLst/>
          </a:prstGeom>
          <a:solidFill>
            <a:srgbClr val="7BE7DC"/>
          </a:solidFill>
          <a:ln w="12700">
            <a:solidFill>
              <a:srgbClr val="7BE7DC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685032" y="184708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7FBFC"/>
                </a:solidFill>
              </a:rPr>
              <a:t>一致性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3685032" y="2258568"/>
            <a:ext cx="2148840" cy="2761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7BBC2"/>
                </a:solidFill>
              </a:rPr>
              <a:t>同一句表达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7BBC2"/>
                </a:solidFill>
              </a:rPr>
              <a:t>不同审核员处理不同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6172200" y="1664208"/>
            <a:ext cx="2606040" cy="3520440"/>
          </a:xfrm>
          <a:prstGeom prst="roundRect">
            <a:avLst>
              <a:gd name="adj" fmla="val 2105"/>
            </a:avLst>
          </a:prstGeom>
          <a:solidFill>
            <a:srgbClr val="0B2932"/>
          </a:solidFill>
          <a:ln w="10160">
            <a:solidFill>
              <a:srgbClr val="28505B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172200" y="1664208"/>
            <a:ext cx="73152" cy="3520440"/>
          </a:xfrm>
          <a:prstGeom prst="rect">
            <a:avLst/>
          </a:prstGeom>
          <a:solidFill>
            <a:srgbClr val="F6C453"/>
          </a:solidFill>
          <a:ln w="12700">
            <a:solidFill>
              <a:srgbClr val="F6C453">
                <a:alpha val="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428232" y="184708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7FBFC"/>
                </a:solidFill>
              </a:rPr>
              <a:t>变化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6428232" y="2258568"/>
            <a:ext cx="2148840" cy="2761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7BBC2"/>
                </a:solidFill>
              </a:rPr>
              <a:t>平台、行业与内部口径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7BBC2"/>
                </a:solidFill>
              </a:rPr>
              <a:t>持续更新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8915400" y="1664208"/>
            <a:ext cx="2606040" cy="3520440"/>
          </a:xfrm>
          <a:prstGeom prst="roundRect">
            <a:avLst>
              <a:gd name="adj" fmla="val 2105"/>
            </a:avLst>
          </a:prstGeom>
          <a:solidFill>
            <a:srgbClr val="0B2932"/>
          </a:solidFill>
          <a:ln w="10160">
            <a:solidFill>
              <a:srgbClr val="28505B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8915400" y="1664208"/>
            <a:ext cx="73152" cy="3520440"/>
          </a:xfrm>
          <a:prstGeom prst="rect">
            <a:avLst/>
          </a:prstGeom>
          <a:solidFill>
            <a:srgbClr val="FF6B4A"/>
          </a:solidFill>
          <a:ln w="12700">
            <a:solidFill>
              <a:srgbClr val="FF6B4A">
                <a:alpha val="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171432" y="184708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7FBFC"/>
                </a:solidFill>
              </a:rPr>
              <a:t>沉淀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9171432" y="2258568"/>
            <a:ext cx="2148840" cy="2761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7BBC2"/>
                </a:solidFill>
              </a:rPr>
              <a:t>审核意见散落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7BBC2"/>
                </a:solidFill>
              </a:rPr>
              <a:t>难以统计和复用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417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27D3C1"/>
                </a:solidFill>
              </a:rPr>
              <a:t>PROJECT 04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7FBFC"/>
                </a:solidFill>
              </a:rPr>
              <a:t>项目中有四类角色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2850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298448"/>
            <a:ext cx="1325880" cy="0"/>
          </a:xfrm>
          <a:prstGeom prst="line">
            <a:avLst/>
          </a:prstGeom>
          <a:noFill/>
          <a:ln w="38100">
            <a:solidFill>
              <a:srgbClr val="27D3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06640" y="420624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A7BBC2"/>
                </a:solidFill>
              </a:rPr>
              <a:t>AI营销内容智能审核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66928" y="5989320"/>
            <a:ext cx="11018520" cy="393192"/>
          </a:xfrm>
          <a:prstGeom prst="roundRect">
            <a:avLst>
              <a:gd name="adj" fmla="val 11628"/>
            </a:avLst>
          </a:prstGeom>
          <a:solidFill>
            <a:srgbClr val="0A222B"/>
          </a:solidFill>
          <a:ln w="10160">
            <a:solidFill>
              <a:srgbClr val="1641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6099048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7D3C1"/>
                </a:solidFill>
              </a:rPr>
              <a:t>本页重点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609344" y="6053328"/>
            <a:ext cx="9646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7FBFC"/>
                </a:solidFill>
              </a:rPr>
              <a:t>如果只画“运营＋AI”，项目还没有进入真实业务。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6510528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82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AI营销内容智能审核项目实战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1155680" y="64739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7BB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713232" y="1627632"/>
            <a:ext cx="10771632" cy="749808"/>
          </a:xfrm>
          <a:prstGeom prst="roundRect">
            <a:avLst>
              <a:gd name="adj" fmla="val 4878"/>
            </a:avLst>
          </a:prstGeom>
          <a:solidFill>
            <a:srgbClr val="0B2932"/>
          </a:solidFill>
          <a:ln w="7620">
            <a:solidFill>
              <a:srgbClr val="28505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32688" y="1847088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BE7DC"/>
                </a:solidFill>
              </a:rPr>
              <a:t>内容运营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2944368" y="184708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7FBFC"/>
                </a:solidFill>
              </a:rPr>
              <a:t>提交、修改、重审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080760" y="1847088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BBC2"/>
                </a:solidFill>
              </a:rPr>
              <a:t>哪里有问题，怎么改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13232" y="2633472"/>
            <a:ext cx="10771632" cy="749808"/>
          </a:xfrm>
          <a:prstGeom prst="roundRect">
            <a:avLst>
              <a:gd name="adj" fmla="val 4878"/>
            </a:avLst>
          </a:prstGeom>
          <a:solidFill>
            <a:srgbClr val="0A2630"/>
          </a:solidFill>
          <a:ln w="7620">
            <a:solidFill>
              <a:srgbClr val="28505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32688" y="2852928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4A"/>
                </a:solidFill>
              </a:rPr>
              <a:t>人工审核员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2944368" y="285292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7FBFC"/>
                </a:solidFill>
              </a:rPr>
              <a:t>处理高风险与不确定项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080760" y="2852928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BBC2"/>
                </a:solidFill>
              </a:rPr>
              <a:t>判断是否可靠，信息是否完整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713232" y="3639312"/>
            <a:ext cx="10771632" cy="749808"/>
          </a:xfrm>
          <a:prstGeom prst="roundRect">
            <a:avLst>
              <a:gd name="adj" fmla="val 4878"/>
            </a:avLst>
          </a:prstGeom>
          <a:solidFill>
            <a:srgbClr val="0B2932"/>
          </a:solidFill>
          <a:ln w="7620">
            <a:solidFill>
              <a:srgbClr val="28505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32688" y="3858768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BE7DC"/>
                </a:solidFill>
              </a:rPr>
              <a:t>规则运营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2944368" y="385876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7FBFC"/>
                </a:solidFill>
              </a:rPr>
              <a:t>维护场景、规则和版本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6080760" y="3858768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BBC2"/>
                </a:solidFill>
              </a:rPr>
              <a:t>哪条规则生效，效果如何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713232" y="4645152"/>
            <a:ext cx="10771632" cy="749808"/>
          </a:xfrm>
          <a:prstGeom prst="roundRect">
            <a:avLst>
              <a:gd name="adj" fmla="val 4878"/>
            </a:avLst>
          </a:prstGeom>
          <a:solidFill>
            <a:srgbClr val="0A2630"/>
          </a:solidFill>
          <a:ln w="7620">
            <a:solidFill>
              <a:srgbClr val="28505B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32688" y="4864608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BE7DC"/>
                </a:solidFill>
              </a:rPr>
              <a:t>业务负责人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2944368" y="486460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7FBFC"/>
                </a:solidFill>
              </a:rPr>
              <a:t>评估效率、风险和试点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6080760" y="4864608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BBC2"/>
                </a:solidFill>
              </a:rPr>
              <a:t>是否值得扩大使用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2944368" y="137160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27D3C1"/>
                </a:solidFill>
              </a:rPr>
              <a:t>核心任务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6080760" y="137160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27D3C1"/>
                </a:solidFill>
              </a:rPr>
              <a:t>最关心的问题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417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27D3C1"/>
                </a:solidFill>
              </a:rPr>
              <a:t>PROJECT 04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7FBFC"/>
                </a:solidFill>
              </a:rPr>
              <a:t>原流程的三个断点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2850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298448"/>
            <a:ext cx="1325880" cy="0"/>
          </a:xfrm>
          <a:prstGeom prst="line">
            <a:avLst/>
          </a:prstGeom>
          <a:noFill/>
          <a:ln w="38100">
            <a:solidFill>
              <a:srgbClr val="27D3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06640" y="420624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A7BBC2"/>
                </a:solidFill>
              </a:rPr>
              <a:t>AI营销内容智能审核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66928" y="5989320"/>
            <a:ext cx="11018520" cy="393192"/>
          </a:xfrm>
          <a:prstGeom prst="roundRect">
            <a:avLst>
              <a:gd name="adj" fmla="val 11628"/>
            </a:avLst>
          </a:prstGeom>
          <a:solidFill>
            <a:srgbClr val="0A222B"/>
          </a:solidFill>
          <a:ln w="10160">
            <a:solidFill>
              <a:srgbClr val="1641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6099048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7D3C1"/>
                </a:solidFill>
              </a:rPr>
              <a:t>本页重点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609344" y="6053328"/>
            <a:ext cx="9646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7FBFC"/>
                </a:solidFill>
              </a:rPr>
              <a:t>AI 的介入点来自流程断点，而不是来自技术热度。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6510528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82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AI营销内容智能审核项目实战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1155680" y="64739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7BB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749808" y="1755648"/>
            <a:ext cx="3364992" cy="3401568"/>
          </a:xfrm>
          <a:prstGeom prst="roundRect">
            <a:avLst>
              <a:gd name="adj" fmla="val 1630"/>
            </a:avLst>
          </a:prstGeom>
          <a:solidFill>
            <a:srgbClr val="0B2932"/>
          </a:solidFill>
          <a:ln w="10160">
            <a:solidFill>
              <a:srgbClr val="28505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49808" y="1755648"/>
            <a:ext cx="73152" cy="3401568"/>
          </a:xfrm>
          <a:prstGeom prst="rect">
            <a:avLst/>
          </a:prstGeom>
          <a:solidFill>
            <a:srgbClr val="27D3C1"/>
          </a:solidFill>
          <a:ln w="12700">
            <a:solidFill>
              <a:srgbClr val="27D3C1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05840" y="1938528"/>
            <a:ext cx="2907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7FBFC"/>
                </a:solidFill>
              </a:rPr>
              <a:t>01 提交前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005840" y="2350008"/>
            <a:ext cx="2907792" cy="2642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A7BBC2"/>
                </a:solidFill>
              </a:rPr>
              <a:t>没有自查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A7BBC2"/>
                </a:solidFill>
              </a:rPr>
              <a:t>低级问题也进入人工队列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4416552" y="1755648"/>
            <a:ext cx="3364992" cy="3401568"/>
          </a:xfrm>
          <a:prstGeom prst="roundRect">
            <a:avLst>
              <a:gd name="adj" fmla="val 1630"/>
            </a:avLst>
          </a:prstGeom>
          <a:solidFill>
            <a:srgbClr val="0B2932"/>
          </a:solidFill>
          <a:ln w="10160">
            <a:solidFill>
              <a:srgbClr val="28505B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416552" y="1755648"/>
            <a:ext cx="73152" cy="3401568"/>
          </a:xfrm>
          <a:prstGeom prst="rect">
            <a:avLst/>
          </a:prstGeom>
          <a:solidFill>
            <a:srgbClr val="FF6B4A"/>
          </a:solidFill>
          <a:ln w="12700">
            <a:solidFill>
              <a:srgbClr val="FF6B4A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672584" y="1938528"/>
            <a:ext cx="2907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7FBFC"/>
                </a:solidFill>
              </a:rPr>
              <a:t>02 退回时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4672584" y="2350008"/>
            <a:ext cx="2907792" cy="2642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A7BBC2"/>
                </a:solidFill>
              </a:rPr>
              <a:t>意见不结构化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A7BBC2"/>
                </a:solidFill>
              </a:rPr>
              <a:t>运营只知道“要改”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8083296" y="1755648"/>
            <a:ext cx="3364992" cy="3401568"/>
          </a:xfrm>
          <a:prstGeom prst="roundRect">
            <a:avLst>
              <a:gd name="adj" fmla="val 1630"/>
            </a:avLst>
          </a:prstGeom>
          <a:solidFill>
            <a:srgbClr val="0B2932"/>
          </a:solidFill>
          <a:ln w="10160">
            <a:solidFill>
              <a:srgbClr val="28505B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083296" y="1755648"/>
            <a:ext cx="73152" cy="3401568"/>
          </a:xfrm>
          <a:prstGeom prst="rect">
            <a:avLst/>
          </a:prstGeom>
          <a:solidFill>
            <a:srgbClr val="7BE7DC"/>
          </a:solidFill>
          <a:ln w="12700">
            <a:solidFill>
              <a:srgbClr val="7BE7DC">
                <a:alpha val="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339328" y="1938528"/>
            <a:ext cx="2907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7FBFC"/>
                </a:solidFill>
              </a:rPr>
              <a:t>03 修改后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8339328" y="2350008"/>
            <a:ext cx="2907792" cy="2642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A7BBC2"/>
                </a:solidFill>
              </a:rPr>
              <a:t>版本关联弱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A7BBC2"/>
                </a:solidFill>
              </a:rPr>
              <a:t>无法确认哪些问题已关闭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417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27D3C1"/>
                </a:solidFill>
              </a:rPr>
              <a:t>PROJECT 04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7FBFC"/>
                </a:solidFill>
              </a:rPr>
              <a:t>第一版边界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2850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298448"/>
            <a:ext cx="1325880" cy="0"/>
          </a:xfrm>
          <a:prstGeom prst="line">
            <a:avLst/>
          </a:prstGeom>
          <a:noFill/>
          <a:ln w="38100">
            <a:solidFill>
              <a:srgbClr val="27D3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06640" y="420624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A7BBC2"/>
                </a:solidFill>
              </a:rPr>
              <a:t>AI营销内容智能审核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66928" y="5989320"/>
            <a:ext cx="11018520" cy="393192"/>
          </a:xfrm>
          <a:prstGeom prst="roundRect">
            <a:avLst>
              <a:gd name="adj" fmla="val 11628"/>
            </a:avLst>
          </a:prstGeom>
          <a:solidFill>
            <a:srgbClr val="0A222B"/>
          </a:solidFill>
          <a:ln w="10160">
            <a:solidFill>
              <a:srgbClr val="1641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6099048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7D3C1"/>
                </a:solidFill>
              </a:rPr>
              <a:t>本页重点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609344" y="6053328"/>
            <a:ext cx="9646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7FBFC"/>
                </a:solidFill>
              </a:rPr>
              <a:t>先把一条小链路做完整，再扩内容类型、渠道和自动化程度。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6510528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82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AI营销内容智能审核项目实战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1155680" y="64739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7BB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749808" y="1627632"/>
            <a:ext cx="5230368" cy="3977640"/>
          </a:xfrm>
          <a:prstGeom prst="roundRect">
            <a:avLst>
              <a:gd name="adj" fmla="val 1379"/>
            </a:avLst>
          </a:prstGeom>
          <a:solidFill>
            <a:srgbClr val="0B2932"/>
          </a:solidFill>
          <a:ln w="10160">
            <a:solidFill>
              <a:srgbClr val="28505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49808" y="1627632"/>
            <a:ext cx="73152" cy="3977640"/>
          </a:xfrm>
          <a:prstGeom prst="rect">
            <a:avLst/>
          </a:prstGeom>
          <a:solidFill>
            <a:srgbClr val="27D3C1"/>
          </a:solidFill>
          <a:ln w="12700">
            <a:solidFill>
              <a:srgbClr val="27D3C1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05840" y="1810512"/>
            <a:ext cx="4773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7FBFC"/>
                </a:solidFill>
              </a:rPr>
              <a:t>MVP 先做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005840" y="2221992"/>
            <a:ext cx="4773168" cy="3218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A7BBC2"/>
                </a:solidFill>
              </a:rPr>
              <a:t>一个业务团队试点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A7BBC2"/>
                </a:solidFill>
              </a:rPr>
              <a:t>商品详情页＋活动文案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A7BBC2"/>
                </a:solidFill>
              </a:rPr>
              <a:t>中文纯文本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A7BBC2"/>
                </a:solidFill>
              </a:rPr>
              <a:t>提交前机器预审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A7BBC2"/>
                </a:solidFill>
              </a:rPr>
              <a:t>四类重点检查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A7BBC2"/>
                </a:solidFill>
              </a:rPr>
              <a:t>人工复核与版本记录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6199632" y="1627632"/>
            <a:ext cx="5230368" cy="3977640"/>
          </a:xfrm>
          <a:prstGeom prst="roundRect">
            <a:avLst>
              <a:gd name="adj" fmla="val 1379"/>
            </a:avLst>
          </a:prstGeom>
          <a:solidFill>
            <a:srgbClr val="0B2932"/>
          </a:solidFill>
          <a:ln w="10160">
            <a:solidFill>
              <a:srgbClr val="28505B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199632" y="1627632"/>
            <a:ext cx="73152" cy="3977640"/>
          </a:xfrm>
          <a:prstGeom prst="rect">
            <a:avLst/>
          </a:prstGeom>
          <a:solidFill>
            <a:srgbClr val="FF6B4A"/>
          </a:solidFill>
          <a:ln w="12700">
            <a:solidFill>
              <a:srgbClr val="FF6B4A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455664" y="1810512"/>
            <a:ext cx="4773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7FBFC"/>
                </a:solidFill>
              </a:rPr>
              <a:t>MVP 暂不做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6455664" y="2221992"/>
            <a:ext cx="4773168" cy="3218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A7BBC2"/>
                </a:solidFill>
              </a:rPr>
              <a:t>图片、视频、音频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A7BBC2"/>
                </a:solidFill>
              </a:rPr>
              <a:t>自动覆盖运营原文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A7BBC2"/>
                </a:solidFill>
              </a:rPr>
              <a:t>自动发布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A7BBC2"/>
                </a:solidFill>
              </a:rPr>
              <a:t>所有渠道与业务线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A7BBC2"/>
                </a:solidFill>
              </a:rPr>
              <a:t>自主 Agent 审核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417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27D3C1"/>
                </a:solidFill>
              </a:rPr>
              <a:t>PROJECT 04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7FBFC"/>
                </a:solidFill>
              </a:rPr>
              <a:t>项目目标要写成三层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2850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298448"/>
            <a:ext cx="1325880" cy="0"/>
          </a:xfrm>
          <a:prstGeom prst="line">
            <a:avLst/>
          </a:prstGeom>
          <a:noFill/>
          <a:ln w="38100">
            <a:solidFill>
              <a:srgbClr val="27D3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06640" y="420624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A7BBC2"/>
                </a:solidFill>
              </a:rPr>
              <a:t>AI营销内容智能审核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66928" y="5989320"/>
            <a:ext cx="11018520" cy="393192"/>
          </a:xfrm>
          <a:prstGeom prst="roundRect">
            <a:avLst>
              <a:gd name="adj" fmla="val 11628"/>
            </a:avLst>
          </a:prstGeom>
          <a:solidFill>
            <a:srgbClr val="0A222B"/>
          </a:solidFill>
          <a:ln w="10160">
            <a:solidFill>
              <a:srgbClr val="1641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6099048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7D3C1"/>
                </a:solidFill>
              </a:rPr>
              <a:t>本页重点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609344" y="6053328"/>
            <a:ext cx="9646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7FBFC"/>
                </a:solidFill>
              </a:rPr>
              <a:t>“提升效率、降低风险”太空；目标必须能对应角色、流程和验证方式。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6510528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82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AI营销内容智能审核项目实战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1155680" y="64739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7BB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804672" y="20116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BE7DC"/>
                </a:solidFill>
              </a:rPr>
              <a:t>业务目标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2286000" y="1719072"/>
            <a:ext cx="4251960" cy="987552"/>
          </a:xfrm>
          <a:prstGeom prst="roundRect">
            <a:avLst>
              <a:gd name="adj" fmla="val 5556"/>
            </a:avLst>
          </a:prstGeom>
          <a:solidFill>
            <a:srgbClr val="0B2932"/>
          </a:solidFill>
          <a:ln w="10160">
            <a:solidFill>
              <a:srgbClr val="28505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286000" y="1719072"/>
            <a:ext cx="73152" cy="987552"/>
          </a:xfrm>
          <a:prstGeom prst="rect">
            <a:avLst/>
          </a:prstGeom>
          <a:solidFill>
            <a:srgbClr val="27D3C1"/>
          </a:solidFill>
          <a:ln w="12700">
            <a:solidFill>
              <a:srgbClr val="27D3C1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542032" y="1901952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7FBFC"/>
                </a:solidFill>
              </a:rPr>
              <a:t>缩短常规内容等待时间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2542032" y="2313432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6784848" y="1719072"/>
            <a:ext cx="4315968" cy="987552"/>
          </a:xfrm>
          <a:prstGeom prst="roundRect">
            <a:avLst>
              <a:gd name="adj" fmla="val 5556"/>
            </a:avLst>
          </a:prstGeom>
          <a:solidFill>
            <a:srgbClr val="0B2932"/>
          </a:solidFill>
          <a:ln w="10160">
            <a:solidFill>
              <a:srgbClr val="28505B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784848" y="1719072"/>
            <a:ext cx="73152" cy="987552"/>
          </a:xfrm>
          <a:prstGeom prst="rect">
            <a:avLst/>
          </a:prstGeom>
          <a:solidFill>
            <a:srgbClr val="7BE7DC"/>
          </a:solidFill>
          <a:ln w="12700">
            <a:solidFill>
              <a:srgbClr val="7BE7DC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040880" y="1901952"/>
            <a:ext cx="3858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7FBFC"/>
                </a:solidFill>
              </a:rPr>
              <a:t>减少人工重复检查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7040880" y="2313432"/>
            <a:ext cx="3858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804672" y="32918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BE7DC"/>
                </a:solidFill>
              </a:rPr>
              <a:t>用户目标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2286000" y="2999232"/>
            <a:ext cx="4251960" cy="987552"/>
          </a:xfrm>
          <a:prstGeom prst="roundRect">
            <a:avLst>
              <a:gd name="adj" fmla="val 5556"/>
            </a:avLst>
          </a:prstGeom>
          <a:solidFill>
            <a:srgbClr val="0B2932"/>
          </a:solidFill>
          <a:ln w="10160">
            <a:solidFill>
              <a:srgbClr val="28505B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2286000" y="2999232"/>
            <a:ext cx="73152" cy="987552"/>
          </a:xfrm>
          <a:prstGeom prst="rect">
            <a:avLst/>
          </a:prstGeom>
          <a:solidFill>
            <a:srgbClr val="27D3C1"/>
          </a:solidFill>
          <a:ln w="12700">
            <a:solidFill>
              <a:srgbClr val="27D3C1">
                <a:alpha val="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542032" y="3182112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7FBFC"/>
                </a:solidFill>
              </a:rPr>
              <a:t>运营快速定位并处理问题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2542032" y="3593592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784848" y="2999232"/>
            <a:ext cx="4315968" cy="987552"/>
          </a:xfrm>
          <a:prstGeom prst="roundRect">
            <a:avLst>
              <a:gd name="adj" fmla="val 5556"/>
            </a:avLst>
          </a:prstGeom>
          <a:solidFill>
            <a:srgbClr val="0B2932"/>
          </a:solidFill>
          <a:ln w="10160">
            <a:solidFill>
              <a:srgbClr val="28505B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784848" y="2999232"/>
            <a:ext cx="73152" cy="987552"/>
          </a:xfrm>
          <a:prstGeom prst="rect">
            <a:avLst/>
          </a:prstGeom>
          <a:solidFill>
            <a:srgbClr val="7BE7DC"/>
          </a:solidFill>
          <a:ln w="12700">
            <a:solidFill>
              <a:srgbClr val="7BE7DC">
                <a:alpha val="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040880" y="3182112"/>
            <a:ext cx="3858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7FBFC"/>
                </a:solidFill>
              </a:rPr>
              <a:t>审核员优先处理高价值任务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7040880" y="3593592"/>
            <a:ext cx="3858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endParaRPr lang="en-US" sz="1150" dirty="0"/>
          </a:p>
        </p:txBody>
      </p:sp>
      <p:sp>
        <p:nvSpPr>
          <p:cNvPr id="31" name="Text 28"/>
          <p:cNvSpPr/>
          <p:nvPr/>
        </p:nvSpPr>
        <p:spPr>
          <a:xfrm>
            <a:off x="804672" y="45720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4A"/>
                </a:solidFill>
              </a:rPr>
              <a:t>产品目标</a:t>
            </a:r>
            <a:endParaRPr lang="en-US" sz="1500" dirty="0"/>
          </a:p>
        </p:txBody>
      </p:sp>
      <p:sp>
        <p:nvSpPr>
          <p:cNvPr id="32" name="Shape 29"/>
          <p:cNvSpPr/>
          <p:nvPr/>
        </p:nvSpPr>
        <p:spPr>
          <a:xfrm>
            <a:off x="2286000" y="4279392"/>
            <a:ext cx="4251960" cy="987552"/>
          </a:xfrm>
          <a:prstGeom prst="roundRect">
            <a:avLst>
              <a:gd name="adj" fmla="val 5556"/>
            </a:avLst>
          </a:prstGeom>
          <a:solidFill>
            <a:srgbClr val="0B2932"/>
          </a:solidFill>
          <a:ln w="10160">
            <a:solidFill>
              <a:srgbClr val="28505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2286000" y="4279392"/>
            <a:ext cx="73152" cy="987552"/>
          </a:xfrm>
          <a:prstGeom prst="rect">
            <a:avLst/>
          </a:prstGeom>
          <a:solidFill>
            <a:srgbClr val="FF6B4A"/>
          </a:solidFill>
          <a:ln w="12700">
            <a:solidFill>
              <a:srgbClr val="FF6B4A">
                <a:alpha val="0"/>
              </a:srgbClr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2542032" y="4462272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7FBFC"/>
                </a:solidFill>
              </a:rPr>
              <a:t>形成提交—检查—处理—复核—回流闭环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2542032" y="4873752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endParaRPr lang="en-US" sz="1150" dirty="0"/>
          </a:p>
        </p:txBody>
      </p:sp>
      <p:sp>
        <p:nvSpPr>
          <p:cNvPr id="36" name="Shape 33"/>
          <p:cNvSpPr/>
          <p:nvPr/>
        </p:nvSpPr>
        <p:spPr>
          <a:xfrm>
            <a:off x="6784848" y="4279392"/>
            <a:ext cx="4315968" cy="987552"/>
          </a:xfrm>
          <a:prstGeom prst="roundRect">
            <a:avLst>
              <a:gd name="adj" fmla="val 5556"/>
            </a:avLst>
          </a:prstGeom>
          <a:solidFill>
            <a:srgbClr val="0B2932"/>
          </a:solidFill>
          <a:ln w="10160">
            <a:solidFill>
              <a:srgbClr val="28505B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6784848" y="4279392"/>
            <a:ext cx="73152" cy="987552"/>
          </a:xfrm>
          <a:prstGeom prst="rect">
            <a:avLst/>
          </a:prstGeom>
          <a:solidFill>
            <a:srgbClr val="FF6B4A"/>
          </a:solidFill>
          <a:ln w="12700">
            <a:solidFill>
              <a:srgbClr val="FF6B4A">
                <a:alpha val="0"/>
              </a:srgbClr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7040880" y="4462272"/>
            <a:ext cx="3858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7FBFC"/>
                </a:solidFill>
              </a:rPr>
              <a:t>失败时可安全接管</a:t>
            </a:r>
            <a:endParaRPr lang="en-US" sz="1300" dirty="0"/>
          </a:p>
        </p:txBody>
      </p:sp>
      <p:sp>
        <p:nvSpPr>
          <p:cNvPr id="39" name="Text 36"/>
          <p:cNvSpPr/>
          <p:nvPr/>
        </p:nvSpPr>
        <p:spPr>
          <a:xfrm>
            <a:off x="7040880" y="4873752"/>
            <a:ext cx="3858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417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27D3C1"/>
                </a:solidFill>
              </a:rPr>
              <a:t>PROJECT 04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7FBFC"/>
                </a:solidFill>
              </a:rPr>
              <a:t>课堂判断：哪些需求进入第一版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2850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298448"/>
            <a:ext cx="1325880" cy="0"/>
          </a:xfrm>
          <a:prstGeom prst="line">
            <a:avLst/>
          </a:prstGeom>
          <a:noFill/>
          <a:ln w="38100">
            <a:solidFill>
              <a:srgbClr val="27D3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06640" y="420624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A7BBC2"/>
                </a:solidFill>
              </a:rPr>
              <a:t>AI营销内容智能审核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66928" y="5989320"/>
            <a:ext cx="11018520" cy="393192"/>
          </a:xfrm>
          <a:prstGeom prst="roundRect">
            <a:avLst>
              <a:gd name="adj" fmla="val 11628"/>
            </a:avLst>
          </a:prstGeom>
          <a:solidFill>
            <a:srgbClr val="0A222B"/>
          </a:solidFill>
          <a:ln w="10160">
            <a:solidFill>
              <a:srgbClr val="1641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6099048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7D3C1"/>
                </a:solidFill>
              </a:rPr>
              <a:t>本页重点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609344" y="6053328"/>
            <a:ext cx="9646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7FBFC"/>
                </a:solidFill>
              </a:rPr>
              <a:t>是否进入 MVP，要看它能否直接验证核心闭环。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6510528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82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AI营销内容智能审核项目实战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1155680" y="64739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7BB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914400" y="1737360"/>
            <a:ext cx="10287000" cy="896112"/>
          </a:xfrm>
          <a:prstGeom prst="roundRect">
            <a:avLst>
              <a:gd name="adj" fmla="val 4082"/>
            </a:avLst>
          </a:prstGeom>
          <a:solidFill>
            <a:srgbClr val="0B2932"/>
          </a:solidFill>
          <a:ln w="12700">
            <a:solidFill>
              <a:srgbClr val="A7BBC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161288" y="2002536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7BB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1874520" y="1993392"/>
            <a:ext cx="5760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FBFC"/>
                </a:solidFill>
              </a:rPr>
              <a:t>自动生成十个营销标题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8778240" y="2011680"/>
            <a:ext cx="1645920" cy="347472"/>
          </a:xfrm>
          <a:prstGeom prst="roundRect">
            <a:avLst>
              <a:gd name="adj" fmla="val 21053"/>
            </a:avLst>
          </a:prstGeom>
          <a:solidFill>
            <a:srgbClr val="0E3038"/>
          </a:solidFill>
          <a:ln w="10160">
            <a:solidFill>
              <a:srgbClr val="A7BBC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833104" y="2112264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7BBC2"/>
                </a:solidFill>
              </a:rPr>
              <a:t>后续模块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914400" y="2971800"/>
            <a:ext cx="10287000" cy="896112"/>
          </a:xfrm>
          <a:prstGeom prst="roundRect">
            <a:avLst>
              <a:gd name="adj" fmla="val 4082"/>
            </a:avLst>
          </a:prstGeom>
          <a:solidFill>
            <a:srgbClr val="0B2932"/>
          </a:solidFill>
          <a:ln w="12700">
            <a:solidFill>
              <a:srgbClr val="4ED6A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161288" y="3236976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ED6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1874520" y="3227832"/>
            <a:ext cx="5760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FBFC"/>
                </a:solidFill>
              </a:rPr>
              <a:t>检测高风险表达并定位原文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8778240" y="3246120"/>
            <a:ext cx="1645920" cy="347472"/>
          </a:xfrm>
          <a:prstGeom prst="roundRect">
            <a:avLst>
              <a:gd name="adj" fmla="val 21053"/>
            </a:avLst>
          </a:prstGeom>
          <a:solidFill>
            <a:srgbClr val="0E3038"/>
          </a:solidFill>
          <a:ln w="10160">
            <a:solidFill>
              <a:srgbClr val="4ED6A5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833104" y="3346704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ED6A5"/>
                </a:solidFill>
              </a:rPr>
              <a:t>进入 MVP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914400" y="4206240"/>
            <a:ext cx="10287000" cy="896112"/>
          </a:xfrm>
          <a:prstGeom prst="roundRect">
            <a:avLst>
              <a:gd name="adj" fmla="val 4082"/>
            </a:avLst>
          </a:prstGeom>
          <a:solidFill>
            <a:srgbClr val="0B2932"/>
          </a:solidFill>
          <a:ln w="12700">
            <a:solidFill>
              <a:srgbClr val="FF6B4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161288" y="4471416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1874520" y="4462272"/>
            <a:ext cx="5760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FBFC"/>
                </a:solidFill>
              </a:rPr>
              <a:t>自动把通过内容发布到所有平台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8778240" y="4480560"/>
            <a:ext cx="1645920" cy="347472"/>
          </a:xfrm>
          <a:prstGeom prst="roundRect">
            <a:avLst>
              <a:gd name="adj" fmla="val 21053"/>
            </a:avLst>
          </a:prstGeom>
          <a:solidFill>
            <a:srgbClr val="0E3038"/>
          </a:solidFill>
          <a:ln w="10160">
            <a:solidFill>
              <a:srgbClr val="FF6B4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833104" y="4581144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6B4A"/>
                </a:solidFill>
              </a:rPr>
              <a:t>暂不进入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417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59436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27D3C1">
                    <a:alpha val="9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0" dirty="0"/>
          </a:p>
        </p:txBody>
      </p:sp>
      <p:sp>
        <p:nvSpPr>
          <p:cNvPr id="3" name="Shape 1"/>
          <p:cNvSpPr/>
          <p:nvPr/>
        </p:nvSpPr>
        <p:spPr>
          <a:xfrm>
            <a:off x="3200400" y="950976"/>
            <a:ext cx="0" cy="4754880"/>
          </a:xfrm>
          <a:prstGeom prst="line">
            <a:avLst/>
          </a:prstGeom>
          <a:noFill/>
          <a:ln w="12700">
            <a:solidFill>
              <a:srgbClr val="28505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703320" y="1389888"/>
            <a:ext cx="7589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7FBFC"/>
                </a:solidFill>
              </a:rPr>
              <a:t>决定 AI 怎么介入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730752" y="2651760"/>
            <a:ext cx="7178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A7BBC2"/>
                </a:solidFill>
              </a:rPr>
              <a:t>选择混合审核方案，并明确每种能力承担的任务与失败处理。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3730752" y="4160520"/>
            <a:ext cx="2057400" cy="438912"/>
          </a:xfrm>
          <a:prstGeom prst="roundRect">
            <a:avLst>
              <a:gd name="adj" fmla="val 10417"/>
            </a:avLst>
          </a:prstGeom>
          <a:solidFill>
            <a:srgbClr val="103641"/>
          </a:solidFill>
          <a:ln w="12700">
            <a:solidFill>
              <a:srgbClr val="27D3C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13632" y="4297680"/>
            <a:ext cx="1691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BE7DC"/>
                </a:solidFill>
              </a:rPr>
              <a:t>25 MIN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6510528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82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AI营销内容智能审核项目实战 · SECTION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1155680" y="64739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7BB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417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27D3C1"/>
                </a:solidFill>
              </a:rPr>
              <a:t>PROJECT 04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7FBFC"/>
                </a:solidFill>
              </a:rPr>
              <a:t>四种方案放在一起比较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2850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298448"/>
            <a:ext cx="1325880" cy="0"/>
          </a:xfrm>
          <a:prstGeom prst="line">
            <a:avLst/>
          </a:prstGeom>
          <a:noFill/>
          <a:ln w="38100">
            <a:solidFill>
              <a:srgbClr val="27D3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06640" y="420624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A7BBC2"/>
                </a:solidFill>
              </a:rPr>
              <a:t>AI营销内容智能审核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66928" y="5989320"/>
            <a:ext cx="11018520" cy="393192"/>
          </a:xfrm>
          <a:prstGeom prst="roundRect">
            <a:avLst>
              <a:gd name="adj" fmla="val 11628"/>
            </a:avLst>
          </a:prstGeom>
          <a:solidFill>
            <a:srgbClr val="0A222B"/>
          </a:solidFill>
          <a:ln w="10160">
            <a:solidFill>
              <a:srgbClr val="1641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6099048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7D3C1"/>
                </a:solidFill>
              </a:rPr>
              <a:t>本页重点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609344" y="6053328"/>
            <a:ext cx="9646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7FBFC"/>
                </a:solidFill>
              </a:rPr>
              <a:t>选择混合方案，不是因为它最“高级”，而是因为它更适合风险审核。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6510528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82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AI营销内容智能审核项目实战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1155680" y="64739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7BB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658368" y="1627632"/>
            <a:ext cx="2523744" cy="3822192"/>
          </a:xfrm>
          <a:prstGeom prst="roundRect">
            <a:avLst>
              <a:gd name="adj" fmla="val 2174"/>
            </a:avLst>
          </a:prstGeom>
          <a:solidFill>
            <a:srgbClr val="0B2932"/>
          </a:solidFill>
          <a:ln w="10160">
            <a:solidFill>
              <a:srgbClr val="28505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58368" y="1627632"/>
            <a:ext cx="73152" cy="3822192"/>
          </a:xfrm>
          <a:prstGeom prst="rect">
            <a:avLst/>
          </a:prstGeom>
          <a:solidFill>
            <a:srgbClr val="27D3C1"/>
          </a:solidFill>
          <a:ln w="12700">
            <a:solidFill>
              <a:srgbClr val="27D3C1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14400" y="1810512"/>
            <a:ext cx="2066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7FBFC"/>
                </a:solidFill>
              </a:rPr>
              <a:t>纯人工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914400" y="2221992"/>
            <a:ext cx="2066544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A7BBC2"/>
                </a:solidFill>
              </a:rPr>
              <a:t>灵活、理解复杂上下文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A7BBC2"/>
                </a:solidFill>
              </a:rPr>
              <a:t>慢、贵、口径波动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A7BBC2"/>
                </a:solidFill>
              </a:rPr>
              <a:t>→ 保留兜底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3456432" y="1627632"/>
            <a:ext cx="2523744" cy="3822192"/>
          </a:xfrm>
          <a:prstGeom prst="roundRect">
            <a:avLst>
              <a:gd name="adj" fmla="val 2174"/>
            </a:avLst>
          </a:prstGeom>
          <a:solidFill>
            <a:srgbClr val="0B2932"/>
          </a:solidFill>
          <a:ln w="10160">
            <a:solidFill>
              <a:srgbClr val="28505B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456432" y="1627632"/>
            <a:ext cx="73152" cy="3822192"/>
          </a:xfrm>
          <a:prstGeom prst="rect">
            <a:avLst/>
          </a:prstGeom>
          <a:solidFill>
            <a:srgbClr val="27D3C1"/>
          </a:solidFill>
          <a:ln w="12700">
            <a:solidFill>
              <a:srgbClr val="27D3C1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712464" y="1810512"/>
            <a:ext cx="2066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7FBFC"/>
                </a:solidFill>
              </a:rPr>
              <a:t>纯规则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3712464" y="2221992"/>
            <a:ext cx="2066544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A7BBC2"/>
                </a:solidFill>
              </a:rPr>
              <a:t>稳定、快速、容易解释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A7BBC2"/>
                </a:solidFill>
              </a:rPr>
              <a:t>难覆盖隐含语义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A7BBC2"/>
                </a:solidFill>
              </a:rPr>
              <a:t>→ 负责确定性检查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6254496" y="1627632"/>
            <a:ext cx="2523744" cy="3822192"/>
          </a:xfrm>
          <a:prstGeom prst="roundRect">
            <a:avLst>
              <a:gd name="adj" fmla="val 2174"/>
            </a:avLst>
          </a:prstGeom>
          <a:solidFill>
            <a:srgbClr val="0B2932"/>
          </a:solidFill>
          <a:ln w="10160">
            <a:solidFill>
              <a:srgbClr val="28505B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254496" y="1627632"/>
            <a:ext cx="73152" cy="3822192"/>
          </a:xfrm>
          <a:prstGeom prst="rect">
            <a:avLst/>
          </a:prstGeom>
          <a:solidFill>
            <a:srgbClr val="27D3C1"/>
          </a:solidFill>
          <a:ln w="12700">
            <a:solidFill>
              <a:srgbClr val="27D3C1">
                <a:alpha val="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510528" y="1810512"/>
            <a:ext cx="2066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7FBFC"/>
                </a:solidFill>
              </a:rPr>
              <a:t>只用大模型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6510528" y="2221992"/>
            <a:ext cx="2066544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A7BBC2"/>
                </a:solidFill>
              </a:rPr>
              <a:t>语义覆盖广、配置快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A7BBC2"/>
                </a:solidFill>
              </a:rPr>
              <a:t>结果波动、责任边界弱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A7BBC2"/>
                </a:solidFill>
              </a:rPr>
              <a:t>→ 不单独采用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9052560" y="1627632"/>
            <a:ext cx="2523744" cy="3822192"/>
          </a:xfrm>
          <a:prstGeom prst="roundRect">
            <a:avLst>
              <a:gd name="adj" fmla="val 2174"/>
            </a:avLst>
          </a:prstGeom>
          <a:solidFill>
            <a:srgbClr val="0B2932"/>
          </a:solidFill>
          <a:ln w="10160">
            <a:solidFill>
              <a:srgbClr val="FF6B4A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9052560" y="1627632"/>
            <a:ext cx="73152" cy="3822192"/>
          </a:xfrm>
          <a:prstGeom prst="rect">
            <a:avLst/>
          </a:prstGeom>
          <a:solidFill>
            <a:srgbClr val="FF6B4A"/>
          </a:solidFill>
          <a:ln w="12700">
            <a:solidFill>
              <a:srgbClr val="FF6B4A">
                <a:alpha val="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308592" y="1810512"/>
            <a:ext cx="2066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7FBFC"/>
                </a:solidFill>
              </a:rPr>
              <a:t>混合方案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9308592" y="2221992"/>
            <a:ext cx="2066544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A7BBC2"/>
                </a:solidFill>
              </a:rPr>
              <a:t>兼顾稳定、覆盖和安全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A7BBC2"/>
                </a:solidFill>
              </a:rPr>
              <a:t>设计与运营更复杂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A7BBC2"/>
                </a:solidFill>
              </a:rPr>
              <a:t>→ 第一版采用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417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27D3C1"/>
                </a:solidFill>
              </a:rPr>
              <a:t>PROJECT 04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7FBFC"/>
                </a:solidFill>
              </a:rPr>
              <a:t>五类能力，各自负责什么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2850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298448"/>
            <a:ext cx="1325880" cy="0"/>
          </a:xfrm>
          <a:prstGeom prst="line">
            <a:avLst/>
          </a:prstGeom>
          <a:noFill/>
          <a:ln w="38100">
            <a:solidFill>
              <a:srgbClr val="27D3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06640" y="420624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A7BBC2"/>
                </a:solidFill>
              </a:rPr>
              <a:t>AI营销内容智能审核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66928" y="5989320"/>
            <a:ext cx="11018520" cy="393192"/>
          </a:xfrm>
          <a:prstGeom prst="roundRect">
            <a:avLst>
              <a:gd name="adj" fmla="val 11628"/>
            </a:avLst>
          </a:prstGeom>
          <a:solidFill>
            <a:srgbClr val="0A222B"/>
          </a:solidFill>
          <a:ln w="10160">
            <a:solidFill>
              <a:srgbClr val="1641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6099048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7D3C1"/>
                </a:solidFill>
              </a:rPr>
              <a:t>本页重点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609344" y="6053328"/>
            <a:ext cx="9646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7FBFC"/>
                </a:solidFill>
              </a:rPr>
              <a:t>技术能力的边界必须被写成产品职责。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6510528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82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AI营销内容智能审核项目实战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1155680" y="64739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7BB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612648" y="1874520"/>
            <a:ext cx="1993392" cy="3200400"/>
          </a:xfrm>
          <a:prstGeom prst="roundRect">
            <a:avLst>
              <a:gd name="adj" fmla="val 2752"/>
            </a:avLst>
          </a:prstGeom>
          <a:solidFill>
            <a:srgbClr val="0B2932"/>
          </a:solidFill>
          <a:ln w="10160">
            <a:solidFill>
              <a:srgbClr val="27D3C1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12648" y="1874520"/>
            <a:ext cx="73152" cy="3200400"/>
          </a:xfrm>
          <a:prstGeom prst="rect">
            <a:avLst/>
          </a:prstGeom>
          <a:solidFill>
            <a:srgbClr val="27D3C1"/>
          </a:solidFill>
          <a:ln w="12700">
            <a:solidFill>
              <a:srgbClr val="27D3C1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68680" y="2057400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7FBFC"/>
                </a:solidFill>
              </a:rPr>
              <a:t>输入校验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868680" y="2468880"/>
            <a:ext cx="1536192" cy="2441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A7BBC2"/>
                </a:solidFill>
              </a:rPr>
              <a:t>必填字段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A7BBC2"/>
                </a:solidFill>
              </a:rPr>
              <a:t>内容格式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2898648" y="1874520"/>
            <a:ext cx="1993392" cy="3200400"/>
          </a:xfrm>
          <a:prstGeom prst="roundRect">
            <a:avLst>
              <a:gd name="adj" fmla="val 2752"/>
            </a:avLst>
          </a:prstGeom>
          <a:solidFill>
            <a:srgbClr val="0B2932"/>
          </a:solidFill>
          <a:ln w="10160">
            <a:solidFill>
              <a:srgbClr val="7BE7D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2898648" y="1874520"/>
            <a:ext cx="73152" cy="3200400"/>
          </a:xfrm>
          <a:prstGeom prst="rect">
            <a:avLst/>
          </a:prstGeom>
          <a:solidFill>
            <a:srgbClr val="7BE7DC"/>
          </a:solidFill>
          <a:ln w="12700">
            <a:solidFill>
              <a:srgbClr val="7BE7DC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154680" y="2057400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7FBFC"/>
                </a:solidFill>
              </a:rPr>
              <a:t>确定性规则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3154680" y="2468880"/>
            <a:ext cx="1536192" cy="2441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A7BBC2"/>
                </a:solidFill>
              </a:rPr>
              <a:t>明确表达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A7BBC2"/>
                </a:solidFill>
              </a:rPr>
              <a:t>格式与逻辑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5184648" y="1874520"/>
            <a:ext cx="1993392" cy="3200400"/>
          </a:xfrm>
          <a:prstGeom prst="roundRect">
            <a:avLst>
              <a:gd name="adj" fmla="val 2752"/>
            </a:avLst>
          </a:prstGeom>
          <a:solidFill>
            <a:srgbClr val="0B2932"/>
          </a:solidFill>
          <a:ln w="10160">
            <a:solidFill>
              <a:srgbClr val="FF6B4A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184648" y="1874520"/>
            <a:ext cx="73152" cy="3200400"/>
          </a:xfrm>
          <a:prstGeom prst="rect">
            <a:avLst/>
          </a:prstGeom>
          <a:solidFill>
            <a:srgbClr val="FF6B4A"/>
          </a:solidFill>
          <a:ln w="12700">
            <a:solidFill>
              <a:srgbClr val="FF6B4A">
                <a:alpha val="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440680" y="2057400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7FBFC"/>
                </a:solidFill>
              </a:rPr>
              <a:t>大模型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5440680" y="2468880"/>
            <a:ext cx="1536192" cy="2441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A7BBC2"/>
                </a:solidFill>
              </a:rPr>
              <a:t>语义理解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A7BBC2"/>
                </a:solidFill>
              </a:rPr>
              <a:t>上下文判断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7470648" y="1874520"/>
            <a:ext cx="1993392" cy="3200400"/>
          </a:xfrm>
          <a:prstGeom prst="roundRect">
            <a:avLst>
              <a:gd name="adj" fmla="val 2752"/>
            </a:avLst>
          </a:prstGeom>
          <a:solidFill>
            <a:srgbClr val="0B2932"/>
          </a:solidFill>
          <a:ln w="10160">
            <a:solidFill>
              <a:srgbClr val="F6C453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7470648" y="1874520"/>
            <a:ext cx="73152" cy="3200400"/>
          </a:xfrm>
          <a:prstGeom prst="rect">
            <a:avLst/>
          </a:prstGeom>
          <a:solidFill>
            <a:srgbClr val="F6C453"/>
          </a:solidFill>
          <a:ln w="12700">
            <a:solidFill>
              <a:srgbClr val="F6C453">
                <a:alpha val="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726680" y="2057400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7FBFC"/>
                </a:solidFill>
              </a:rPr>
              <a:t>业务资料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7726680" y="2468880"/>
            <a:ext cx="1536192" cy="2441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A7BBC2"/>
                </a:solidFill>
              </a:rPr>
              <a:t>商品事实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A7BBC2"/>
                </a:solidFill>
              </a:rPr>
              <a:t>授权与口径</a:t>
            </a:r>
            <a:endParaRPr lang="en-US" sz="1500" dirty="0"/>
          </a:p>
        </p:txBody>
      </p:sp>
      <p:sp>
        <p:nvSpPr>
          <p:cNvPr id="29" name="Shape 26"/>
          <p:cNvSpPr/>
          <p:nvPr/>
        </p:nvSpPr>
        <p:spPr>
          <a:xfrm>
            <a:off x="9756648" y="1874520"/>
            <a:ext cx="1993392" cy="3200400"/>
          </a:xfrm>
          <a:prstGeom prst="roundRect">
            <a:avLst>
              <a:gd name="adj" fmla="val 2752"/>
            </a:avLst>
          </a:prstGeom>
          <a:solidFill>
            <a:srgbClr val="0B2932"/>
          </a:solidFill>
          <a:ln w="10160">
            <a:solidFill>
              <a:srgbClr val="FF775F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9756648" y="1874520"/>
            <a:ext cx="73152" cy="3200400"/>
          </a:xfrm>
          <a:prstGeom prst="rect">
            <a:avLst/>
          </a:prstGeom>
          <a:solidFill>
            <a:srgbClr val="FF775F"/>
          </a:solidFill>
          <a:ln w="12700">
            <a:solidFill>
              <a:srgbClr val="FF775F">
                <a:alpha val="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0012680" y="2057400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7FBFC"/>
                </a:solidFill>
              </a:rPr>
              <a:t>人工复核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10012680" y="2468880"/>
            <a:ext cx="1536192" cy="2441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A7BBC2"/>
                </a:solidFill>
              </a:rPr>
              <a:t>高风险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A7BBC2"/>
                </a:solidFill>
              </a:rPr>
              <a:t>冲突与低确定性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417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27D3C1"/>
                </a:solidFill>
              </a:rPr>
              <a:t>PROJECT 04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7FBFC"/>
                </a:solidFill>
              </a:rPr>
              <a:t>为什么不能只接一个大模型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2850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298448"/>
            <a:ext cx="1325880" cy="0"/>
          </a:xfrm>
          <a:prstGeom prst="line">
            <a:avLst/>
          </a:prstGeom>
          <a:noFill/>
          <a:ln w="38100">
            <a:solidFill>
              <a:srgbClr val="27D3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06640" y="420624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A7BBC2"/>
                </a:solidFill>
              </a:rPr>
              <a:t>AI营销内容智能审核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66928" y="5989320"/>
            <a:ext cx="11018520" cy="393192"/>
          </a:xfrm>
          <a:prstGeom prst="roundRect">
            <a:avLst>
              <a:gd name="adj" fmla="val 11628"/>
            </a:avLst>
          </a:prstGeom>
          <a:solidFill>
            <a:srgbClr val="0A222B"/>
          </a:solidFill>
          <a:ln w="10160">
            <a:solidFill>
              <a:srgbClr val="1641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6099048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7D3C1"/>
                </a:solidFill>
              </a:rPr>
              <a:t>本页重点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609344" y="6053328"/>
            <a:ext cx="9646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7FBFC"/>
                </a:solidFill>
              </a:rPr>
              <a:t>模型能“说一段话”，不等于产品已经能处理一个审核任务。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6510528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82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AI营销内容智能审核项目实战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1155680" y="64739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7BB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713232" y="1783080"/>
            <a:ext cx="3794760" cy="3566160"/>
          </a:xfrm>
          <a:prstGeom prst="roundRect">
            <a:avLst>
              <a:gd name="adj" fmla="val 1538"/>
            </a:avLst>
          </a:prstGeom>
          <a:solidFill>
            <a:srgbClr val="0B2932"/>
          </a:solidFill>
          <a:ln w="15240">
            <a:solidFill>
              <a:srgbClr val="FF6B4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51560" y="233172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7FBFC"/>
                </a:solidFill>
              </a:rPr>
              <a:t>“连续三年销量第一”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1078992" y="370332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7BBC2"/>
                </a:solidFill>
              </a:rPr>
              <a:t>只返回：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A7BBC2"/>
                </a:solidFill>
              </a:rPr>
              <a:t>“可能存在夸大宣传风险”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010912" y="1755648"/>
            <a:ext cx="2761488" cy="841248"/>
          </a:xfrm>
          <a:prstGeom prst="roundRect">
            <a:avLst>
              <a:gd name="adj" fmla="val 6522"/>
            </a:avLst>
          </a:prstGeom>
          <a:solidFill>
            <a:srgbClr val="0B2932"/>
          </a:solidFill>
          <a:ln w="10160">
            <a:solidFill>
              <a:srgbClr val="28505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010912" y="1755648"/>
            <a:ext cx="73152" cy="841248"/>
          </a:xfrm>
          <a:prstGeom prst="rect">
            <a:avLst/>
          </a:prstGeom>
          <a:solidFill>
            <a:srgbClr val="27D3C1"/>
          </a:solidFill>
          <a:ln w="12700">
            <a:solidFill>
              <a:srgbClr val="27D3C1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266944" y="1938528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7FBFC"/>
                </a:solidFill>
              </a:rPr>
              <a:t>命中哪类问题？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5266944" y="2350008"/>
            <a:ext cx="2304288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8074152" y="1755648"/>
            <a:ext cx="2761488" cy="841248"/>
          </a:xfrm>
          <a:prstGeom prst="roundRect">
            <a:avLst>
              <a:gd name="adj" fmla="val 6522"/>
            </a:avLst>
          </a:prstGeom>
          <a:solidFill>
            <a:srgbClr val="0B2932"/>
          </a:solidFill>
          <a:ln w="10160">
            <a:solidFill>
              <a:srgbClr val="28505B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074152" y="1755648"/>
            <a:ext cx="73152" cy="841248"/>
          </a:xfrm>
          <a:prstGeom prst="rect">
            <a:avLst/>
          </a:prstGeom>
          <a:solidFill>
            <a:srgbClr val="27D3C1"/>
          </a:solidFill>
          <a:ln w="12700">
            <a:solidFill>
              <a:srgbClr val="27D3C1">
                <a:alpha val="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330184" y="1938528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7FBFC"/>
                </a:solidFill>
              </a:rPr>
              <a:t>原文位置在哪？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8330184" y="2350008"/>
            <a:ext cx="2304288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5010912" y="2916936"/>
            <a:ext cx="2761488" cy="841248"/>
          </a:xfrm>
          <a:prstGeom prst="roundRect">
            <a:avLst>
              <a:gd name="adj" fmla="val 6522"/>
            </a:avLst>
          </a:prstGeom>
          <a:solidFill>
            <a:srgbClr val="0B2932"/>
          </a:solidFill>
          <a:ln w="10160">
            <a:solidFill>
              <a:srgbClr val="28505B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010912" y="2916936"/>
            <a:ext cx="73152" cy="841248"/>
          </a:xfrm>
          <a:prstGeom prst="rect">
            <a:avLst/>
          </a:prstGeom>
          <a:solidFill>
            <a:srgbClr val="27D3C1"/>
          </a:solidFill>
          <a:ln w="12700">
            <a:solidFill>
              <a:srgbClr val="27D3C1">
                <a:alpha val="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266944" y="3099816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7FBFC"/>
                </a:solidFill>
              </a:rPr>
              <a:t>缺少什么信息？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5266944" y="3511296"/>
            <a:ext cx="2304288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8074152" y="2916936"/>
            <a:ext cx="2761488" cy="841248"/>
          </a:xfrm>
          <a:prstGeom prst="roundRect">
            <a:avLst>
              <a:gd name="adj" fmla="val 6522"/>
            </a:avLst>
          </a:prstGeom>
          <a:solidFill>
            <a:srgbClr val="0B2932"/>
          </a:solidFill>
          <a:ln w="10160">
            <a:solidFill>
              <a:srgbClr val="28505B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8074152" y="2916936"/>
            <a:ext cx="73152" cy="841248"/>
          </a:xfrm>
          <a:prstGeom prst="rect">
            <a:avLst/>
          </a:prstGeom>
          <a:solidFill>
            <a:srgbClr val="27D3C1"/>
          </a:solidFill>
          <a:ln w="12700">
            <a:solidFill>
              <a:srgbClr val="27D3C1">
                <a:alpha val="0"/>
              </a:srgbClr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8330184" y="3099816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7FBFC"/>
                </a:solidFill>
              </a:rPr>
              <a:t>风险等级多高？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8330184" y="3511296"/>
            <a:ext cx="2304288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endParaRPr lang="en-US" sz="1150" dirty="0"/>
          </a:p>
        </p:txBody>
      </p:sp>
      <p:sp>
        <p:nvSpPr>
          <p:cNvPr id="32" name="Shape 29"/>
          <p:cNvSpPr/>
          <p:nvPr/>
        </p:nvSpPr>
        <p:spPr>
          <a:xfrm>
            <a:off x="5010912" y="4078224"/>
            <a:ext cx="2761488" cy="841248"/>
          </a:xfrm>
          <a:prstGeom prst="roundRect">
            <a:avLst>
              <a:gd name="adj" fmla="val 6522"/>
            </a:avLst>
          </a:prstGeom>
          <a:solidFill>
            <a:srgbClr val="0B2932"/>
          </a:solidFill>
          <a:ln w="10160">
            <a:solidFill>
              <a:srgbClr val="28505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5010912" y="4078224"/>
            <a:ext cx="73152" cy="841248"/>
          </a:xfrm>
          <a:prstGeom prst="rect">
            <a:avLst/>
          </a:prstGeom>
          <a:solidFill>
            <a:srgbClr val="FF6B4A"/>
          </a:solidFill>
          <a:ln w="12700">
            <a:solidFill>
              <a:srgbClr val="FF6B4A">
                <a:alpha val="0"/>
              </a:srgbClr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266944" y="4261104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7FBFC"/>
                </a:solidFill>
              </a:rPr>
              <a:t>下一步怎么处理？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5266944" y="4672584"/>
            <a:ext cx="2304288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endParaRPr lang="en-US" sz="1150" dirty="0"/>
          </a:p>
        </p:txBody>
      </p:sp>
      <p:sp>
        <p:nvSpPr>
          <p:cNvPr id="36" name="Shape 33"/>
          <p:cNvSpPr/>
          <p:nvPr/>
        </p:nvSpPr>
        <p:spPr>
          <a:xfrm>
            <a:off x="8074152" y="4078224"/>
            <a:ext cx="2761488" cy="841248"/>
          </a:xfrm>
          <a:prstGeom prst="roundRect">
            <a:avLst>
              <a:gd name="adj" fmla="val 6522"/>
            </a:avLst>
          </a:prstGeom>
          <a:solidFill>
            <a:srgbClr val="0B2932"/>
          </a:solidFill>
          <a:ln w="10160">
            <a:solidFill>
              <a:srgbClr val="28505B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8074152" y="4078224"/>
            <a:ext cx="73152" cy="841248"/>
          </a:xfrm>
          <a:prstGeom prst="rect">
            <a:avLst/>
          </a:prstGeom>
          <a:solidFill>
            <a:srgbClr val="27D3C1"/>
          </a:solidFill>
          <a:ln w="12700">
            <a:solidFill>
              <a:srgbClr val="27D3C1">
                <a:alpha val="0"/>
              </a:srgbClr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8330184" y="4261104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7FBFC"/>
                </a:solidFill>
              </a:rPr>
              <a:t>修改后是否重审？</a:t>
            </a:r>
            <a:endParaRPr lang="en-US" sz="1300" dirty="0"/>
          </a:p>
        </p:txBody>
      </p:sp>
      <p:sp>
        <p:nvSpPr>
          <p:cNvPr id="39" name="Text 36"/>
          <p:cNvSpPr/>
          <p:nvPr/>
        </p:nvSpPr>
        <p:spPr>
          <a:xfrm>
            <a:off x="8330184" y="4672584"/>
            <a:ext cx="2304288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endParaRPr lang="en-US" sz="11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417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27D3C1"/>
                </a:solidFill>
              </a:rPr>
              <a:t>PROJECT 04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7FBFC"/>
                </a:solidFill>
              </a:rPr>
              <a:t>产品主流程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2850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298448"/>
            <a:ext cx="1325880" cy="0"/>
          </a:xfrm>
          <a:prstGeom prst="line">
            <a:avLst/>
          </a:prstGeom>
          <a:noFill/>
          <a:ln w="38100">
            <a:solidFill>
              <a:srgbClr val="27D3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06640" y="420624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A7BBC2"/>
                </a:solidFill>
              </a:rPr>
              <a:t>AI营销内容智能审核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66928" y="5989320"/>
            <a:ext cx="11018520" cy="393192"/>
          </a:xfrm>
          <a:prstGeom prst="roundRect">
            <a:avLst>
              <a:gd name="adj" fmla="val 11628"/>
            </a:avLst>
          </a:prstGeom>
          <a:solidFill>
            <a:srgbClr val="0A222B"/>
          </a:solidFill>
          <a:ln w="10160">
            <a:solidFill>
              <a:srgbClr val="1641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6099048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7D3C1"/>
                </a:solidFill>
              </a:rPr>
              <a:t>本页重点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609344" y="6053328"/>
            <a:ext cx="9646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7FBFC"/>
                </a:solidFill>
              </a:rPr>
              <a:t>大模型只是中间一个节点；产品要负责加载、校验、合并、路由和记录。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6510528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82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AI营销内容智能审核项目实战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1155680" y="64739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7BB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566928" y="1828800"/>
            <a:ext cx="1901952" cy="1115568"/>
          </a:xfrm>
          <a:prstGeom prst="roundRect">
            <a:avLst>
              <a:gd name="adj" fmla="val 4918"/>
            </a:avLst>
          </a:prstGeom>
          <a:solidFill>
            <a:srgbClr val="0B2932"/>
          </a:solidFill>
          <a:ln w="15240">
            <a:solidFill>
              <a:srgbClr val="27D3C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76656" y="1993392"/>
            <a:ext cx="1682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FBFC"/>
                </a:solidFill>
              </a:rPr>
              <a:t>选择场景并提交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76656" y="2286000"/>
            <a:ext cx="168249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A7BBC2"/>
                </a:solidFill>
              </a:rPr>
              <a:t>文案＋上下文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2487168" y="2386584"/>
            <a:ext cx="320040" cy="0"/>
          </a:xfrm>
          <a:prstGeom prst="line">
            <a:avLst/>
          </a:prstGeom>
          <a:noFill/>
          <a:ln w="20320">
            <a:solidFill>
              <a:srgbClr val="A7BBC2"/>
            </a:solidFill>
            <a:prstDash val="solid"/>
            <a:headEnd type="none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2871216" y="1828800"/>
            <a:ext cx="1901952" cy="1115568"/>
          </a:xfrm>
          <a:prstGeom prst="roundRect">
            <a:avLst>
              <a:gd name="adj" fmla="val 4918"/>
            </a:avLst>
          </a:prstGeom>
          <a:solidFill>
            <a:srgbClr val="0B2932"/>
          </a:solidFill>
          <a:ln w="15240">
            <a:solidFill>
              <a:srgbClr val="27D3C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980944" y="1993392"/>
            <a:ext cx="1682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FBFC"/>
                </a:solidFill>
              </a:rPr>
              <a:t>输入校验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2980944" y="2286000"/>
            <a:ext cx="168249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A7BBC2"/>
                </a:solidFill>
              </a:rPr>
              <a:t>必填与格式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4791456" y="2386584"/>
            <a:ext cx="320040" cy="0"/>
          </a:xfrm>
          <a:prstGeom prst="line">
            <a:avLst/>
          </a:prstGeom>
          <a:noFill/>
          <a:ln w="20320">
            <a:solidFill>
              <a:srgbClr val="A7BBC2"/>
            </a:solidFill>
            <a:prstDash val="solid"/>
            <a:headEnd type="none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5175504" y="1828800"/>
            <a:ext cx="1901952" cy="1115568"/>
          </a:xfrm>
          <a:prstGeom prst="roundRect">
            <a:avLst>
              <a:gd name="adj" fmla="val 4918"/>
            </a:avLst>
          </a:prstGeom>
          <a:solidFill>
            <a:srgbClr val="0B2932"/>
          </a:solidFill>
          <a:ln w="15240">
            <a:solidFill>
              <a:srgbClr val="27D3C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285232" y="1993392"/>
            <a:ext cx="1682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FBFC"/>
                </a:solidFill>
              </a:rPr>
              <a:t>加载规则版本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5285232" y="2286000"/>
            <a:ext cx="168249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A7BBC2"/>
                </a:solidFill>
              </a:rPr>
              <a:t>场景启用项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7095744" y="2386584"/>
            <a:ext cx="320040" cy="0"/>
          </a:xfrm>
          <a:prstGeom prst="line">
            <a:avLst/>
          </a:prstGeom>
          <a:noFill/>
          <a:ln w="20320">
            <a:solidFill>
              <a:srgbClr val="A7BBC2"/>
            </a:solidFill>
            <a:prstDash val="solid"/>
            <a:headEnd type="none"/>
            <a:tailEnd type="triangle"/>
          </a:ln>
        </p:spPr>
      </p:sp>
      <p:sp>
        <p:nvSpPr>
          <p:cNvPr id="25" name="Shape 22"/>
          <p:cNvSpPr/>
          <p:nvPr/>
        </p:nvSpPr>
        <p:spPr>
          <a:xfrm>
            <a:off x="7479792" y="1828800"/>
            <a:ext cx="1901952" cy="1115568"/>
          </a:xfrm>
          <a:prstGeom prst="roundRect">
            <a:avLst>
              <a:gd name="adj" fmla="val 4918"/>
            </a:avLst>
          </a:prstGeom>
          <a:solidFill>
            <a:srgbClr val="0B2932"/>
          </a:solidFill>
          <a:ln w="15240">
            <a:solidFill>
              <a:srgbClr val="FF6B4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589520" y="1993392"/>
            <a:ext cx="1682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FBFC"/>
                </a:solidFill>
              </a:rPr>
              <a:t>并行检查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7589520" y="2286000"/>
            <a:ext cx="168249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A7BBC2"/>
                </a:solidFill>
              </a:rPr>
              <a:t>规则＋模型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9400032" y="2386584"/>
            <a:ext cx="320040" cy="0"/>
          </a:xfrm>
          <a:prstGeom prst="line">
            <a:avLst/>
          </a:prstGeom>
          <a:noFill/>
          <a:ln w="20320">
            <a:solidFill>
              <a:srgbClr val="A7BBC2"/>
            </a:solidFill>
            <a:prstDash val="solid"/>
            <a:headEnd type="none"/>
            <a:tailEnd type="triangle"/>
          </a:ln>
        </p:spPr>
      </p:sp>
      <p:sp>
        <p:nvSpPr>
          <p:cNvPr id="29" name="Shape 26"/>
          <p:cNvSpPr/>
          <p:nvPr/>
        </p:nvSpPr>
        <p:spPr>
          <a:xfrm>
            <a:off x="9784080" y="1828800"/>
            <a:ext cx="1901952" cy="1115568"/>
          </a:xfrm>
          <a:prstGeom prst="roundRect">
            <a:avLst>
              <a:gd name="adj" fmla="val 4918"/>
            </a:avLst>
          </a:prstGeom>
          <a:solidFill>
            <a:srgbClr val="0B2932"/>
          </a:solidFill>
          <a:ln w="15240">
            <a:solidFill>
              <a:srgbClr val="27D3C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9893808" y="1993392"/>
            <a:ext cx="1682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FBFC"/>
                </a:solidFill>
              </a:rPr>
              <a:t>结果合并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9893808" y="2286000"/>
            <a:ext cx="168249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A7BBC2"/>
                </a:solidFill>
              </a:rPr>
              <a:t>去重与定级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1298448" y="4251960"/>
            <a:ext cx="1965960" cy="347472"/>
          </a:xfrm>
          <a:prstGeom prst="roundRect">
            <a:avLst>
              <a:gd name="adj" fmla="val 21053"/>
            </a:avLst>
          </a:prstGeom>
          <a:solidFill>
            <a:srgbClr val="0B2A33"/>
          </a:solidFill>
          <a:ln w="10160">
            <a:solidFill>
              <a:srgbClr val="4ED6A5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1353312" y="4352544"/>
            <a:ext cx="18562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ED6A5"/>
                </a:solidFill>
              </a:rPr>
              <a:t>通过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3813048" y="4251960"/>
            <a:ext cx="1965960" cy="347472"/>
          </a:xfrm>
          <a:prstGeom prst="roundRect">
            <a:avLst>
              <a:gd name="adj" fmla="val 21053"/>
            </a:avLst>
          </a:prstGeom>
          <a:solidFill>
            <a:srgbClr val="0B2A33"/>
          </a:solidFill>
          <a:ln w="10160">
            <a:solidFill>
              <a:srgbClr val="7BE7DC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3867912" y="4352544"/>
            <a:ext cx="18562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BE7DC"/>
                </a:solidFill>
              </a:rPr>
              <a:t>建议修改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6327648" y="4251960"/>
            <a:ext cx="1965960" cy="347472"/>
          </a:xfrm>
          <a:prstGeom prst="roundRect">
            <a:avLst>
              <a:gd name="adj" fmla="val 21053"/>
            </a:avLst>
          </a:prstGeom>
          <a:solidFill>
            <a:srgbClr val="0B2A33"/>
          </a:solidFill>
          <a:ln w="10160">
            <a:solidFill>
              <a:srgbClr val="FF6B4A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382512" y="4352544"/>
            <a:ext cx="18562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6B4A"/>
                </a:solidFill>
              </a:rPr>
              <a:t>退回修改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8842248" y="4251960"/>
            <a:ext cx="1965960" cy="347472"/>
          </a:xfrm>
          <a:prstGeom prst="roundRect">
            <a:avLst>
              <a:gd name="adj" fmla="val 21053"/>
            </a:avLst>
          </a:prstGeom>
          <a:solidFill>
            <a:srgbClr val="0B2A33"/>
          </a:solidFill>
          <a:ln w="10160">
            <a:solidFill>
              <a:srgbClr val="FF775F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8897112" y="4352544"/>
            <a:ext cx="18562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775F"/>
                </a:solidFill>
              </a:rPr>
              <a:t>转人工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6309360" y="3063240"/>
            <a:ext cx="0" cy="914400"/>
          </a:xfrm>
          <a:prstGeom prst="line">
            <a:avLst/>
          </a:prstGeom>
          <a:noFill/>
          <a:ln w="20320">
            <a:solidFill>
              <a:srgbClr val="A7BBC2"/>
            </a:solidFill>
            <a:prstDash val="solid"/>
            <a:headEnd type="none"/>
            <a:tailEnd type="triangle"/>
          </a:ln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417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27D3C1"/>
                </a:solidFill>
              </a:rPr>
              <a:t>PROJECT 04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7FBFC"/>
                </a:solidFill>
              </a:rPr>
              <a:t>失败和不确定性也要设计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2850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298448"/>
            <a:ext cx="1325880" cy="0"/>
          </a:xfrm>
          <a:prstGeom prst="line">
            <a:avLst/>
          </a:prstGeom>
          <a:noFill/>
          <a:ln w="38100">
            <a:solidFill>
              <a:srgbClr val="27D3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06640" y="420624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A7BBC2"/>
                </a:solidFill>
              </a:rPr>
              <a:t>AI营销内容智能审核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66928" y="5989320"/>
            <a:ext cx="11018520" cy="393192"/>
          </a:xfrm>
          <a:prstGeom prst="roundRect">
            <a:avLst>
              <a:gd name="adj" fmla="val 11628"/>
            </a:avLst>
          </a:prstGeom>
          <a:solidFill>
            <a:srgbClr val="0A222B"/>
          </a:solidFill>
          <a:ln w="10160">
            <a:solidFill>
              <a:srgbClr val="1641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6099048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7D3C1"/>
                </a:solidFill>
              </a:rPr>
              <a:t>本页重点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609344" y="6053328"/>
            <a:ext cx="9646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7FBFC"/>
                </a:solidFill>
              </a:rPr>
              <a:t>机器失败不能默认通过，不确定结果不能伪装成确定结论。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6510528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82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AI营销内容智能审核项目实战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1155680" y="64739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7BB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777240" y="1572768"/>
            <a:ext cx="10652760" cy="612648"/>
          </a:xfrm>
          <a:prstGeom prst="roundRect">
            <a:avLst>
              <a:gd name="adj" fmla="val 4478"/>
            </a:avLst>
          </a:prstGeom>
          <a:solidFill>
            <a:srgbClr val="0B2932"/>
          </a:solidFill>
          <a:ln w="6350">
            <a:solidFill>
              <a:srgbClr val="28505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87552" y="175564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BE7DC"/>
                </a:solidFill>
              </a:rPr>
              <a:t>必填上下文缺失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3611880" y="1755648"/>
            <a:ext cx="7223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7FBFC"/>
                </a:solidFill>
              </a:rPr>
              <a:t>阻止提交并提示补充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777240" y="2368296"/>
            <a:ext cx="10652760" cy="612648"/>
          </a:xfrm>
          <a:prstGeom prst="roundRect">
            <a:avLst>
              <a:gd name="adj" fmla="val 4478"/>
            </a:avLst>
          </a:prstGeom>
          <a:solidFill>
            <a:srgbClr val="0A2630"/>
          </a:solidFill>
          <a:ln w="6350">
            <a:solidFill>
              <a:srgbClr val="28505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87552" y="255117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BE7DC"/>
                </a:solidFill>
              </a:rPr>
              <a:t>模型超时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3611880" y="2551176"/>
            <a:ext cx="7223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7FBFC"/>
                </a:solidFill>
              </a:rPr>
              <a:t>自动重试一次；仍失败则进人工队列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777240" y="3163824"/>
            <a:ext cx="10652760" cy="612648"/>
          </a:xfrm>
          <a:prstGeom prst="roundRect">
            <a:avLst>
              <a:gd name="adj" fmla="val 4478"/>
            </a:avLst>
          </a:prstGeom>
          <a:solidFill>
            <a:srgbClr val="0B2932"/>
          </a:solidFill>
          <a:ln w="6350">
            <a:solidFill>
              <a:srgbClr val="28505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87552" y="334670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6B4A"/>
                </a:solidFill>
              </a:rPr>
              <a:t>输出格式失败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3611880" y="3346704"/>
            <a:ext cx="7223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7FBFC"/>
                </a:solidFill>
              </a:rPr>
              <a:t>重新请求结构化输出；仍失败则标记机器失败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777240" y="3959352"/>
            <a:ext cx="10652760" cy="612648"/>
          </a:xfrm>
          <a:prstGeom prst="roundRect">
            <a:avLst>
              <a:gd name="adj" fmla="val 4478"/>
            </a:avLst>
          </a:prstGeom>
          <a:solidFill>
            <a:srgbClr val="0A2630"/>
          </a:solidFill>
          <a:ln w="6350">
            <a:solidFill>
              <a:srgbClr val="28505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87552" y="414223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BE7DC"/>
                </a:solidFill>
              </a:rPr>
              <a:t>规则与模型冲突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3611880" y="4142232"/>
            <a:ext cx="7223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7FBFC"/>
                </a:solidFill>
              </a:rPr>
              <a:t>保留原始结果，按高风险优先或转人工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777240" y="4754880"/>
            <a:ext cx="10652760" cy="612648"/>
          </a:xfrm>
          <a:prstGeom prst="roundRect">
            <a:avLst>
              <a:gd name="adj" fmla="val 4478"/>
            </a:avLst>
          </a:prstGeom>
          <a:solidFill>
            <a:srgbClr val="0B2932"/>
          </a:solidFill>
          <a:ln w="6350">
            <a:solidFill>
              <a:srgbClr val="28505B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87552" y="493776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BE7DC"/>
                </a:solidFill>
              </a:rPr>
              <a:t>内容已被修改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3611880" y="4937760"/>
            <a:ext cx="7223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7FBFC"/>
                </a:solidFill>
              </a:rPr>
              <a:t>旧结果失效，必须重新审核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417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27D3C1"/>
                </a:solidFill>
              </a:rPr>
              <a:t>PROJECT 04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7FBFC"/>
                </a:solidFill>
              </a:rPr>
              <a:t>第一版选择 Workflow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2850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298448"/>
            <a:ext cx="1325880" cy="0"/>
          </a:xfrm>
          <a:prstGeom prst="line">
            <a:avLst/>
          </a:prstGeom>
          <a:noFill/>
          <a:ln w="38100">
            <a:solidFill>
              <a:srgbClr val="27D3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06640" y="420624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A7BBC2"/>
                </a:solidFill>
              </a:rPr>
              <a:t>AI营销内容智能审核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66928" y="5989320"/>
            <a:ext cx="11018520" cy="393192"/>
          </a:xfrm>
          <a:prstGeom prst="roundRect">
            <a:avLst>
              <a:gd name="adj" fmla="val 11628"/>
            </a:avLst>
          </a:prstGeom>
          <a:solidFill>
            <a:srgbClr val="0A222B"/>
          </a:solidFill>
          <a:ln w="10160">
            <a:solidFill>
              <a:srgbClr val="1641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6099048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7D3C1"/>
                </a:solidFill>
              </a:rPr>
              <a:t>本页重点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609344" y="6053328"/>
            <a:ext cx="9646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7FBFC"/>
                </a:solidFill>
              </a:rPr>
              <a:t>步骤明确、分支有限、责任敏感的审核链路，更适合先做可控流程。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6510528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82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AI营销内容智能审核项目实战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1155680" y="64739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7BB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777240" y="1737360"/>
            <a:ext cx="5074920" cy="3611880"/>
          </a:xfrm>
          <a:prstGeom prst="roundRect">
            <a:avLst>
              <a:gd name="adj" fmla="val 1519"/>
            </a:avLst>
          </a:prstGeom>
          <a:solidFill>
            <a:srgbClr val="0B2932"/>
          </a:solidFill>
          <a:ln w="10160">
            <a:solidFill>
              <a:srgbClr val="28505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77240" y="1737360"/>
            <a:ext cx="73152" cy="3611880"/>
          </a:xfrm>
          <a:prstGeom prst="rect">
            <a:avLst/>
          </a:prstGeom>
          <a:solidFill>
            <a:srgbClr val="27D3C1"/>
          </a:solidFill>
          <a:ln w="12700">
            <a:solidFill>
              <a:srgbClr val="27D3C1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33272" y="1920240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7FBFC"/>
                </a:solidFill>
              </a:rPr>
              <a:t>为什么适合 Workflow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033272" y="2331720"/>
            <a:ext cx="4617720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A7BBC2"/>
                </a:solidFill>
              </a:rPr>
              <a:t>步骤可以预先定义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A7BBC2"/>
                </a:solidFill>
              </a:rPr>
              <a:t>输入输出可以校验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A7BBC2"/>
                </a:solidFill>
              </a:rPr>
              <a:t>超时与重试可以控制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A7BBC2"/>
                </a:solidFill>
              </a:rPr>
              <a:t>人工接管位置明确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6309360" y="1737360"/>
            <a:ext cx="5074920" cy="3611880"/>
          </a:xfrm>
          <a:prstGeom prst="roundRect">
            <a:avLst>
              <a:gd name="adj" fmla="val 1519"/>
            </a:avLst>
          </a:prstGeom>
          <a:solidFill>
            <a:srgbClr val="0B2932"/>
          </a:solidFill>
          <a:ln w="10160">
            <a:solidFill>
              <a:srgbClr val="28505B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309360" y="1737360"/>
            <a:ext cx="73152" cy="3611880"/>
          </a:xfrm>
          <a:prstGeom prst="rect">
            <a:avLst/>
          </a:prstGeom>
          <a:solidFill>
            <a:srgbClr val="FF6B4A"/>
          </a:solidFill>
          <a:ln w="12700">
            <a:solidFill>
              <a:srgbClr val="FF6B4A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565392" y="1920240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7FBFC"/>
                </a:solidFill>
              </a:rPr>
              <a:t>Agent 以后可以做什么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6565392" y="2331720"/>
            <a:ext cx="4617720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A7BBC2"/>
                </a:solidFill>
              </a:rPr>
              <a:t>多轮追问缺失材料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A7BBC2"/>
                </a:solidFill>
              </a:rPr>
              <a:t>辅助查找复杂业务资料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A7BBC2"/>
                </a:solidFill>
              </a:rPr>
              <a:t>处理开放式运营任务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A7BBC2"/>
                </a:solidFill>
              </a:rPr>
              <a:t>但不作为第一版必要条件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417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59436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27D3C1">
                    <a:alpha val="9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0" dirty="0"/>
          </a:p>
        </p:txBody>
      </p:sp>
      <p:sp>
        <p:nvSpPr>
          <p:cNvPr id="3" name="Shape 1"/>
          <p:cNvSpPr/>
          <p:nvPr/>
        </p:nvSpPr>
        <p:spPr>
          <a:xfrm>
            <a:off x="3200400" y="950976"/>
            <a:ext cx="0" cy="4754880"/>
          </a:xfrm>
          <a:prstGeom prst="line">
            <a:avLst/>
          </a:prstGeom>
          <a:noFill/>
          <a:ln w="12700">
            <a:solidFill>
              <a:srgbClr val="28505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703320" y="1389888"/>
            <a:ext cx="7589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7FBFC"/>
                </a:solidFill>
              </a:rPr>
              <a:t>搭建规则系统与审核流程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730752" y="2651760"/>
            <a:ext cx="7178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A7BBC2"/>
                </a:solidFill>
              </a:rPr>
              <a:t>把审核标准拆成可配置、可执行、可返回、可统计的产品对象。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3730752" y="4160520"/>
            <a:ext cx="2057400" cy="438912"/>
          </a:xfrm>
          <a:prstGeom prst="roundRect">
            <a:avLst>
              <a:gd name="adj" fmla="val 10417"/>
            </a:avLst>
          </a:prstGeom>
          <a:solidFill>
            <a:srgbClr val="103641"/>
          </a:solidFill>
          <a:ln w="12700">
            <a:solidFill>
              <a:srgbClr val="27D3C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13632" y="4297680"/>
            <a:ext cx="1691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BE7DC"/>
                </a:solidFill>
              </a:rPr>
              <a:t>35 MIN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6510528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82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AI营销内容智能审核项目实战 · SECTION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1155680" y="64739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7BB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417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27D3C1"/>
                </a:solidFill>
              </a:rPr>
              <a:t>PROJECT 04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7FBFC"/>
                </a:solidFill>
              </a:rPr>
              <a:t>审核判断来自三层标准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2850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298448"/>
            <a:ext cx="1325880" cy="0"/>
          </a:xfrm>
          <a:prstGeom prst="line">
            <a:avLst/>
          </a:prstGeom>
          <a:noFill/>
          <a:ln w="38100">
            <a:solidFill>
              <a:srgbClr val="27D3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06640" y="420624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A7BBC2"/>
                </a:solidFill>
              </a:rPr>
              <a:t>AI营销内容智能审核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66928" y="5989320"/>
            <a:ext cx="11018520" cy="393192"/>
          </a:xfrm>
          <a:prstGeom prst="roundRect">
            <a:avLst>
              <a:gd name="adj" fmla="val 11628"/>
            </a:avLst>
          </a:prstGeom>
          <a:solidFill>
            <a:srgbClr val="0A222B"/>
          </a:solidFill>
          <a:ln w="10160">
            <a:solidFill>
              <a:srgbClr val="1641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6099048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7D3C1"/>
                </a:solidFill>
              </a:rPr>
              <a:t>本页重点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609344" y="6053328"/>
            <a:ext cx="9646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7FBFC"/>
                </a:solidFill>
              </a:rPr>
              <a:t>产品需要把标准拆成规则、场景和版本，而不是塞进一个超长提示词。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6510528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82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AI营销内容智能审核项目实战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1155680" y="64739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7BB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2468880" y="1554480"/>
            <a:ext cx="7223760" cy="3200400"/>
          </a:xfrm>
          <a:prstGeom prst="roundRect">
            <a:avLst>
              <a:gd name="adj" fmla="val 2286"/>
            </a:avLst>
          </a:prstGeom>
          <a:solidFill>
            <a:srgbClr val="0B2932"/>
          </a:solidFill>
          <a:ln w="19050">
            <a:solidFill>
              <a:srgbClr val="FF6B4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840480" y="196596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6B4A"/>
                </a:solidFill>
              </a:rPr>
              <a:t>外部通用要求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3657600" y="239572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7BBC2"/>
                </a:solidFill>
              </a:rPr>
              <a:t>法律法规与通用监管要求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3200400" y="2148840"/>
            <a:ext cx="5760720" cy="2011680"/>
          </a:xfrm>
          <a:prstGeom prst="roundRect">
            <a:avLst>
              <a:gd name="adj" fmla="val 3636"/>
            </a:avLst>
          </a:prstGeom>
          <a:solidFill>
            <a:srgbClr val="0B2932">
              <a:alpha val="93000"/>
            </a:srgbClr>
          </a:solidFill>
          <a:ln w="19050">
            <a:solidFill>
              <a:srgbClr val="7BE7D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840480" y="256032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7BE7DC"/>
                </a:solidFill>
              </a:rPr>
              <a:t>渠道与行业规则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3657600" y="299008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7BBC2"/>
                </a:solidFill>
              </a:rPr>
              <a:t>平台规范、行业特殊要求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3931920" y="2743200"/>
            <a:ext cx="4297680" cy="822960"/>
          </a:xfrm>
          <a:prstGeom prst="roundRect">
            <a:avLst>
              <a:gd name="adj" fmla="val 8889"/>
            </a:avLst>
          </a:prstGeom>
          <a:solidFill>
            <a:srgbClr val="0B2932">
              <a:alpha val="86000"/>
            </a:srgbClr>
          </a:solidFill>
          <a:ln w="19050">
            <a:solidFill>
              <a:srgbClr val="27D3C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840480" y="315468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7D3C1"/>
                </a:solidFill>
              </a:rPr>
              <a:t>公司内部口径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3657600" y="358444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7BBC2"/>
                </a:solidFill>
              </a:rPr>
              <a:t>品牌、商品、活动与授权标准</a:t>
            </a:r>
            <a:endParaRPr lang="en-US" sz="11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417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27D3C1"/>
                </a:solidFill>
              </a:rPr>
              <a:t>PROJECT 04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7FBFC"/>
                </a:solidFill>
              </a:rPr>
              <a:t>把检查项组织成规则分类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2850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298448"/>
            <a:ext cx="1325880" cy="0"/>
          </a:xfrm>
          <a:prstGeom prst="line">
            <a:avLst/>
          </a:prstGeom>
          <a:noFill/>
          <a:ln w="38100">
            <a:solidFill>
              <a:srgbClr val="27D3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06640" y="420624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A7BBC2"/>
                </a:solidFill>
              </a:rPr>
              <a:t>AI营销内容智能审核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66928" y="5989320"/>
            <a:ext cx="11018520" cy="393192"/>
          </a:xfrm>
          <a:prstGeom prst="roundRect">
            <a:avLst>
              <a:gd name="adj" fmla="val 11628"/>
            </a:avLst>
          </a:prstGeom>
          <a:solidFill>
            <a:srgbClr val="0A222B"/>
          </a:solidFill>
          <a:ln w="10160">
            <a:solidFill>
              <a:srgbClr val="1641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6099048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7D3C1"/>
                </a:solidFill>
              </a:rPr>
              <a:t>本页重点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609344" y="6053328"/>
            <a:ext cx="9646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7FBFC"/>
                </a:solidFill>
              </a:rPr>
              <a:t>分类是产品设计，不是通用法规清单；真实项目需要确认适用范围。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6510528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82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AI营销内容智能审核项目实战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1155680" y="64739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7BB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749808" y="1554480"/>
            <a:ext cx="10716768" cy="640080"/>
          </a:xfrm>
          <a:prstGeom prst="roundRect">
            <a:avLst>
              <a:gd name="adj" fmla="val 4286"/>
            </a:avLst>
          </a:prstGeom>
          <a:solidFill>
            <a:srgbClr val="0B2932"/>
          </a:solidFill>
          <a:ln w="6350">
            <a:solidFill>
              <a:srgbClr val="28505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60120" y="171907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D3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600200" y="171907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FBFC"/>
                </a:solidFill>
              </a:rPr>
              <a:t>基础质量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343400" y="1719072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BBC2"/>
                </a:solidFill>
              </a:rPr>
              <a:t>错别字、病句、信息缺失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49808" y="2377440"/>
            <a:ext cx="10716768" cy="640080"/>
          </a:xfrm>
          <a:prstGeom prst="roundRect">
            <a:avLst>
              <a:gd name="adj" fmla="val 4286"/>
            </a:avLst>
          </a:prstGeom>
          <a:solidFill>
            <a:srgbClr val="0A2730"/>
          </a:solidFill>
          <a:ln w="6350">
            <a:solidFill>
              <a:srgbClr val="28505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60120" y="254203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D3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1600200" y="254203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FBFC"/>
                </a:solidFill>
              </a:rPr>
              <a:t>禁限表达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4343400" y="2542032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BBC2"/>
                </a:solidFill>
              </a:rPr>
              <a:t>绝对化、保证性、极限性表达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749808" y="3200400"/>
            <a:ext cx="10716768" cy="640080"/>
          </a:xfrm>
          <a:prstGeom prst="roundRect">
            <a:avLst>
              <a:gd name="adj" fmla="val 4286"/>
            </a:avLst>
          </a:prstGeom>
          <a:solidFill>
            <a:srgbClr val="0B2932"/>
          </a:solidFill>
          <a:ln w="6350">
            <a:solidFill>
              <a:srgbClr val="28505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60120" y="336499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D3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1600200" y="336499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FBFC"/>
                </a:solidFill>
              </a:rPr>
              <a:t>商品事实一致性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4343400" y="3364992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BBC2"/>
                </a:solidFill>
              </a:rPr>
              <a:t>成分、规格、功效、价格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749808" y="4023360"/>
            <a:ext cx="10716768" cy="640080"/>
          </a:xfrm>
          <a:prstGeom prst="roundRect">
            <a:avLst>
              <a:gd name="adj" fmla="val 4286"/>
            </a:avLst>
          </a:prstGeom>
          <a:solidFill>
            <a:srgbClr val="0A2730"/>
          </a:solidFill>
          <a:ln w="6350">
            <a:solidFill>
              <a:srgbClr val="28505B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60120" y="418795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1600200" y="418795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FBFC"/>
                </a:solidFill>
              </a:rPr>
              <a:t>来源与授权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4343400" y="4187952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BBC2"/>
                </a:solidFill>
              </a:rPr>
              <a:t>排名、数据、专家、机构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749808" y="4846320"/>
            <a:ext cx="10716768" cy="640080"/>
          </a:xfrm>
          <a:prstGeom prst="roundRect">
            <a:avLst>
              <a:gd name="adj" fmla="val 4286"/>
            </a:avLst>
          </a:prstGeom>
          <a:solidFill>
            <a:srgbClr val="0B2932"/>
          </a:solidFill>
          <a:ln w="6350">
            <a:solidFill>
              <a:srgbClr val="28505B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960120" y="501091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D3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1600200" y="501091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FBFC"/>
                </a:solidFill>
              </a:rPr>
              <a:t>渠道与内部口径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4343400" y="5010912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BBC2"/>
                </a:solidFill>
              </a:rPr>
              <a:t>活动规则、声明、品牌禁用词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417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27D3C1"/>
                </a:solidFill>
              </a:rPr>
              <a:t>PROJECT 04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7FBFC"/>
                </a:solidFill>
              </a:rPr>
              <a:t>一条原子规则长什么样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2850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298448"/>
            <a:ext cx="1325880" cy="0"/>
          </a:xfrm>
          <a:prstGeom prst="line">
            <a:avLst/>
          </a:prstGeom>
          <a:noFill/>
          <a:ln w="38100">
            <a:solidFill>
              <a:srgbClr val="27D3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06640" y="420624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A7BBC2"/>
                </a:solidFill>
              </a:rPr>
              <a:t>AI营销内容智能审核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66928" y="5989320"/>
            <a:ext cx="11018520" cy="393192"/>
          </a:xfrm>
          <a:prstGeom prst="roundRect">
            <a:avLst>
              <a:gd name="adj" fmla="val 11628"/>
            </a:avLst>
          </a:prstGeom>
          <a:solidFill>
            <a:srgbClr val="0A222B"/>
          </a:solidFill>
          <a:ln w="10160">
            <a:solidFill>
              <a:srgbClr val="1641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6099048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7D3C1"/>
                </a:solidFill>
              </a:rPr>
              <a:t>本页重点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609344" y="6053328"/>
            <a:ext cx="9646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7FBFC"/>
                </a:solidFill>
              </a:rPr>
              <a:t>原子规则能单独启停、测试、统计和迭代。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6510528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82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AI营销内容智能审核项目实战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1155680" y="64739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7BB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713232" y="1554480"/>
            <a:ext cx="5257800" cy="804672"/>
          </a:xfrm>
          <a:prstGeom prst="roundRect">
            <a:avLst>
              <a:gd name="adj" fmla="val 3409"/>
            </a:avLst>
          </a:prstGeom>
          <a:solidFill>
            <a:srgbClr val="0B2932"/>
          </a:solidFill>
          <a:ln w="10160">
            <a:solidFill>
              <a:srgbClr val="28505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96112" y="1700784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7D3C1"/>
                </a:solidFill>
              </a:rPr>
              <a:t>规则编号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896112" y="1965960"/>
            <a:ext cx="4800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7FBFC"/>
                </a:solidFill>
              </a:rPr>
              <a:t>R-SOURCE-003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291072" y="1554480"/>
            <a:ext cx="5257800" cy="804672"/>
          </a:xfrm>
          <a:prstGeom prst="roundRect">
            <a:avLst>
              <a:gd name="adj" fmla="val 3409"/>
            </a:avLst>
          </a:prstGeom>
          <a:solidFill>
            <a:srgbClr val="0B2932"/>
          </a:solidFill>
          <a:ln w="10160">
            <a:solidFill>
              <a:srgbClr val="28505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73952" y="1700784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7D3C1"/>
                </a:solidFill>
              </a:rPr>
              <a:t>规则名称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6473952" y="1965960"/>
            <a:ext cx="4800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7FBFC"/>
                </a:solidFill>
              </a:rPr>
              <a:t>排名表达完整性检查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713232" y="2578608"/>
            <a:ext cx="5257800" cy="804672"/>
          </a:xfrm>
          <a:prstGeom prst="roundRect">
            <a:avLst>
              <a:gd name="adj" fmla="val 3409"/>
            </a:avLst>
          </a:prstGeom>
          <a:solidFill>
            <a:srgbClr val="0B2932"/>
          </a:solidFill>
          <a:ln w="10160">
            <a:solidFill>
              <a:srgbClr val="28505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96112" y="272491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7D3C1"/>
                </a:solidFill>
              </a:rPr>
              <a:t>适用场景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896112" y="2990088"/>
            <a:ext cx="4800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7FBFC"/>
                </a:solidFill>
              </a:rPr>
              <a:t>商品详情页、活动页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6291072" y="2578608"/>
            <a:ext cx="5257800" cy="804672"/>
          </a:xfrm>
          <a:prstGeom prst="roundRect">
            <a:avLst>
              <a:gd name="adj" fmla="val 3409"/>
            </a:avLst>
          </a:prstGeom>
          <a:solidFill>
            <a:srgbClr val="0B2932"/>
          </a:solidFill>
          <a:ln w="10160">
            <a:solidFill>
              <a:srgbClr val="28505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473952" y="272491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7D3C1"/>
                </a:solidFill>
              </a:rPr>
              <a:t>触发条件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6473952" y="2990088"/>
            <a:ext cx="4800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7FBFC"/>
                </a:solidFill>
              </a:rPr>
              <a:t>出现第一、领先、TOP1等表达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713232" y="3602736"/>
            <a:ext cx="5257800" cy="804672"/>
          </a:xfrm>
          <a:prstGeom prst="roundRect">
            <a:avLst>
              <a:gd name="adj" fmla="val 3409"/>
            </a:avLst>
          </a:prstGeom>
          <a:solidFill>
            <a:srgbClr val="0B2932"/>
          </a:solidFill>
          <a:ln w="10160">
            <a:solidFill>
              <a:srgbClr val="28505B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96112" y="374904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7D3C1"/>
                </a:solidFill>
              </a:rPr>
              <a:t>检查方式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896112" y="4014216"/>
            <a:ext cx="4800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7FBFC"/>
                </a:solidFill>
              </a:rPr>
              <a:t>召回＋语义判断＋材料核对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6291072" y="3602736"/>
            <a:ext cx="5257800" cy="804672"/>
          </a:xfrm>
          <a:prstGeom prst="roundRect">
            <a:avLst>
              <a:gd name="adj" fmla="val 3409"/>
            </a:avLst>
          </a:prstGeom>
          <a:solidFill>
            <a:srgbClr val="0B2932"/>
          </a:solidFill>
          <a:ln w="10160">
            <a:solidFill>
              <a:srgbClr val="28505B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473952" y="374904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7D3C1"/>
                </a:solidFill>
              </a:rPr>
              <a:t>风险等级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6473952" y="4014216"/>
            <a:ext cx="4800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7FBFC"/>
                </a:solidFill>
              </a:rPr>
              <a:t>中；关键材料缺失时升高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713232" y="4626864"/>
            <a:ext cx="5257800" cy="804672"/>
          </a:xfrm>
          <a:prstGeom prst="roundRect">
            <a:avLst>
              <a:gd name="adj" fmla="val 3409"/>
            </a:avLst>
          </a:prstGeom>
          <a:solidFill>
            <a:srgbClr val="0B2932"/>
          </a:solidFill>
          <a:ln w="10160">
            <a:solidFill>
              <a:srgbClr val="28505B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96112" y="477316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7D3C1"/>
                </a:solidFill>
              </a:rPr>
              <a:t>返回内容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896112" y="5038344"/>
            <a:ext cx="4800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7FBFC"/>
                </a:solidFill>
              </a:rPr>
              <a:t>位置、缺失项、动作、版本</a:t>
            </a:r>
            <a:endParaRPr lang="en-US" sz="1150" dirty="0"/>
          </a:p>
        </p:txBody>
      </p:sp>
      <p:sp>
        <p:nvSpPr>
          <p:cNvPr id="34" name="Shape 31"/>
          <p:cNvSpPr/>
          <p:nvPr/>
        </p:nvSpPr>
        <p:spPr>
          <a:xfrm>
            <a:off x="6291072" y="4626864"/>
            <a:ext cx="5257800" cy="804672"/>
          </a:xfrm>
          <a:prstGeom prst="roundRect">
            <a:avLst>
              <a:gd name="adj" fmla="val 3409"/>
            </a:avLst>
          </a:prstGeom>
          <a:solidFill>
            <a:srgbClr val="0B2932"/>
          </a:solidFill>
          <a:ln w="10160">
            <a:solidFill>
              <a:srgbClr val="FF6B4A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473952" y="477316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6B4A"/>
                </a:solidFill>
              </a:rPr>
              <a:t>处理动作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6473952" y="5038344"/>
            <a:ext cx="4800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7FBFC"/>
                </a:solidFill>
              </a:rPr>
              <a:t>补材料；无法补充则转人工</a:t>
            </a:r>
            <a:endParaRPr lang="en-US" sz="11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417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27D3C1"/>
                </a:solidFill>
              </a:rPr>
              <a:t>PROJECT 04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7FBFC"/>
                </a:solidFill>
              </a:rPr>
              <a:t>先选场景，再加载规则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2850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298448"/>
            <a:ext cx="1325880" cy="0"/>
          </a:xfrm>
          <a:prstGeom prst="line">
            <a:avLst/>
          </a:prstGeom>
          <a:noFill/>
          <a:ln w="38100">
            <a:solidFill>
              <a:srgbClr val="27D3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06640" y="420624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A7BBC2"/>
                </a:solidFill>
              </a:rPr>
              <a:t>AI营销内容智能审核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66928" y="5989320"/>
            <a:ext cx="11018520" cy="393192"/>
          </a:xfrm>
          <a:prstGeom prst="roundRect">
            <a:avLst>
              <a:gd name="adj" fmla="val 11628"/>
            </a:avLst>
          </a:prstGeom>
          <a:solidFill>
            <a:srgbClr val="0A222B"/>
          </a:solidFill>
          <a:ln w="10160">
            <a:solidFill>
              <a:srgbClr val="1641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6099048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7D3C1"/>
                </a:solidFill>
              </a:rPr>
              <a:t>本页重点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609344" y="6053328"/>
            <a:ext cx="9646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7FBFC"/>
                </a:solidFill>
              </a:rPr>
              <a:t>同一条规则不一定适用于所有内容；场景决定输入和启用项。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6510528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82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AI营销内容智能审核项目实战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1155680" y="64739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7BB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749808" y="1664208"/>
            <a:ext cx="3401568" cy="3639312"/>
          </a:xfrm>
          <a:prstGeom prst="roundRect">
            <a:avLst>
              <a:gd name="adj" fmla="val 1613"/>
            </a:avLst>
          </a:prstGeom>
          <a:solidFill>
            <a:srgbClr val="0B2932"/>
          </a:solidFill>
          <a:ln w="10160">
            <a:solidFill>
              <a:srgbClr val="27D3C1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49808" y="1664208"/>
            <a:ext cx="73152" cy="3639312"/>
          </a:xfrm>
          <a:prstGeom prst="rect">
            <a:avLst/>
          </a:prstGeom>
          <a:solidFill>
            <a:srgbClr val="27D3C1"/>
          </a:solidFill>
          <a:ln w="12700">
            <a:solidFill>
              <a:srgbClr val="27D3C1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05840" y="1847088"/>
            <a:ext cx="2944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7FBFC"/>
                </a:solidFill>
              </a:rPr>
              <a:t>商品详情页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005840" y="2258568"/>
            <a:ext cx="2944368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A7BBC2"/>
                </a:solidFill>
              </a:rPr>
              <a:t>商品事实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A7BBC2"/>
                </a:solidFill>
              </a:rPr>
              <a:t>禁限表达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A7BBC2"/>
                </a:solidFill>
              </a:rPr>
              <a:t>来源材料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A7BBC2"/>
                </a:solidFill>
              </a:rPr>
              <a:t>特殊输入：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A7BBC2"/>
                </a:solidFill>
              </a:rPr>
              <a:t>商品ID、规格、商品资料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1371600" y="5440680"/>
            <a:ext cx="2148840" cy="347472"/>
          </a:xfrm>
          <a:prstGeom prst="roundRect">
            <a:avLst>
              <a:gd name="adj" fmla="val 21053"/>
            </a:avLst>
          </a:prstGeom>
          <a:solidFill>
            <a:srgbClr val="0B2B34"/>
          </a:solidFill>
          <a:ln w="10160">
            <a:solidFill>
              <a:srgbClr val="27D3C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426464" y="5541264"/>
            <a:ext cx="20391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7D3C1"/>
                </a:solidFill>
              </a:rPr>
              <a:t>第一版实现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4498848" y="1664208"/>
            <a:ext cx="3401568" cy="3639312"/>
          </a:xfrm>
          <a:prstGeom prst="roundRect">
            <a:avLst>
              <a:gd name="adj" fmla="val 1613"/>
            </a:avLst>
          </a:prstGeom>
          <a:solidFill>
            <a:srgbClr val="0B2932"/>
          </a:solidFill>
          <a:ln w="10160">
            <a:solidFill>
              <a:srgbClr val="FF6B4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498848" y="1664208"/>
            <a:ext cx="73152" cy="3639312"/>
          </a:xfrm>
          <a:prstGeom prst="rect">
            <a:avLst/>
          </a:prstGeom>
          <a:solidFill>
            <a:srgbClr val="FF6B4A"/>
          </a:solidFill>
          <a:ln w="12700">
            <a:solidFill>
              <a:srgbClr val="FF6B4A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754880" y="1847088"/>
            <a:ext cx="2944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7FBFC"/>
                </a:solidFill>
              </a:rPr>
              <a:t>活动页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4754880" y="2258568"/>
            <a:ext cx="2944368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A7BBC2"/>
                </a:solidFill>
              </a:rPr>
              <a:t>价格与时间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A7BBC2"/>
                </a:solidFill>
              </a:rPr>
              <a:t>优惠条件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A7BBC2"/>
                </a:solidFill>
              </a:rPr>
              <a:t>禁限表达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A7BBC2"/>
                </a:solidFill>
              </a:rPr>
              <a:t>特殊输入：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A7BBC2"/>
                </a:solidFill>
              </a:rPr>
              <a:t>活动周期、优惠门槛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5120640" y="5440680"/>
            <a:ext cx="2148840" cy="347472"/>
          </a:xfrm>
          <a:prstGeom prst="roundRect">
            <a:avLst>
              <a:gd name="adj" fmla="val 21053"/>
            </a:avLst>
          </a:prstGeom>
          <a:solidFill>
            <a:srgbClr val="0B2B34"/>
          </a:solidFill>
          <a:ln w="10160">
            <a:solidFill>
              <a:srgbClr val="FF6B4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175504" y="5541264"/>
            <a:ext cx="20391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6B4A"/>
                </a:solidFill>
              </a:rPr>
              <a:t>第一版实现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8247888" y="1664208"/>
            <a:ext cx="3401568" cy="3639312"/>
          </a:xfrm>
          <a:prstGeom prst="roundRect">
            <a:avLst>
              <a:gd name="adj" fmla="val 1613"/>
            </a:avLst>
          </a:prstGeom>
          <a:solidFill>
            <a:srgbClr val="0B2932"/>
          </a:solidFill>
          <a:ln w="10160">
            <a:solidFill>
              <a:srgbClr val="A7BBC2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8247888" y="1664208"/>
            <a:ext cx="73152" cy="3639312"/>
          </a:xfrm>
          <a:prstGeom prst="rect">
            <a:avLst/>
          </a:prstGeom>
          <a:solidFill>
            <a:srgbClr val="A7BBC2"/>
          </a:solidFill>
          <a:ln w="12700">
            <a:solidFill>
              <a:srgbClr val="A7BBC2">
                <a:alpha val="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503920" y="1847088"/>
            <a:ext cx="2944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7FBFC"/>
                </a:solidFill>
              </a:rPr>
              <a:t>短视频口播稿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8503920" y="2258568"/>
            <a:ext cx="2944368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A7BBC2"/>
                </a:solidFill>
              </a:rPr>
              <a:t>口语化夸大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A7BBC2"/>
                </a:solidFill>
              </a:rPr>
              <a:t>功效暗示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A7BBC2"/>
                </a:solidFill>
              </a:rPr>
              <a:t>授权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A7BBC2"/>
                </a:solidFill>
              </a:rPr>
              <a:t>特殊输入：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A7BBC2"/>
                </a:solidFill>
              </a:rPr>
              <a:t>脚本版本、达人主体</a:t>
            </a:r>
            <a:endParaRPr lang="en-US" sz="1350" dirty="0"/>
          </a:p>
        </p:txBody>
      </p:sp>
      <p:sp>
        <p:nvSpPr>
          <p:cNvPr id="29" name="Shape 26"/>
          <p:cNvSpPr/>
          <p:nvPr/>
        </p:nvSpPr>
        <p:spPr>
          <a:xfrm>
            <a:off x="8869680" y="5440680"/>
            <a:ext cx="2148840" cy="347472"/>
          </a:xfrm>
          <a:prstGeom prst="roundRect">
            <a:avLst>
              <a:gd name="adj" fmla="val 21053"/>
            </a:avLst>
          </a:prstGeom>
          <a:solidFill>
            <a:srgbClr val="0B2B34"/>
          </a:solidFill>
          <a:ln w="10160">
            <a:solidFill>
              <a:srgbClr val="A7BBC2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8924544" y="5541264"/>
            <a:ext cx="20391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7BBC2"/>
                </a:solidFill>
              </a:rPr>
              <a:t>后续扩展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417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27D3C1"/>
                </a:solidFill>
              </a:rPr>
              <a:t>PROJECT 04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7FBFC"/>
                </a:solidFill>
              </a:rPr>
              <a:t>“规则”不等于关键词库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2850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298448"/>
            <a:ext cx="1325880" cy="0"/>
          </a:xfrm>
          <a:prstGeom prst="line">
            <a:avLst/>
          </a:prstGeom>
          <a:noFill/>
          <a:ln w="38100">
            <a:solidFill>
              <a:srgbClr val="27D3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06640" y="420624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A7BBC2"/>
                </a:solidFill>
              </a:rPr>
              <a:t>AI营销内容智能审核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66928" y="5989320"/>
            <a:ext cx="11018520" cy="393192"/>
          </a:xfrm>
          <a:prstGeom prst="roundRect">
            <a:avLst>
              <a:gd name="adj" fmla="val 11628"/>
            </a:avLst>
          </a:prstGeom>
          <a:solidFill>
            <a:srgbClr val="0A222B"/>
          </a:solidFill>
          <a:ln w="10160">
            <a:solidFill>
              <a:srgbClr val="1641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6099048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7D3C1"/>
                </a:solidFill>
              </a:rPr>
              <a:t>本页重点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609344" y="6053328"/>
            <a:ext cx="9646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7FBFC"/>
                </a:solidFill>
              </a:rPr>
              <a:t>业务检查项可以调用不同执行方式，规则层与技术执行层要分开。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6510528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82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AI营销内容智能审核项目实战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1155680" y="64739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7BB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1207008" y="1737360"/>
            <a:ext cx="731520" cy="731520"/>
          </a:xfrm>
          <a:prstGeom prst="ellipse">
            <a:avLst/>
          </a:prstGeom>
          <a:solidFill>
            <a:srgbClr val="27D3C1"/>
          </a:solidFill>
          <a:ln w="25400">
            <a:solidFill>
              <a:srgbClr val="04171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408176" y="1956816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1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40080" y="2743200"/>
            <a:ext cx="1920240" cy="2148840"/>
          </a:xfrm>
          <a:prstGeom prst="roundRect">
            <a:avLst>
              <a:gd name="adj" fmla="val 2857"/>
            </a:avLst>
          </a:prstGeom>
          <a:solidFill>
            <a:srgbClr val="0B2932"/>
          </a:solidFill>
          <a:ln w="10160">
            <a:solidFill>
              <a:srgbClr val="28505B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40080" y="2743200"/>
            <a:ext cx="73152" cy="2148840"/>
          </a:xfrm>
          <a:prstGeom prst="rect">
            <a:avLst/>
          </a:prstGeom>
          <a:solidFill>
            <a:srgbClr val="27D3C1"/>
          </a:solidFill>
          <a:ln w="12700">
            <a:solidFill>
              <a:srgbClr val="27D3C1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96112" y="29260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7FBFC"/>
                </a:solidFill>
              </a:rPr>
              <a:t>关键词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96112" y="3337560"/>
            <a:ext cx="146304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A7BBC2"/>
                </a:solidFill>
              </a:rPr>
              <a:t>明显表达快速召回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3493008" y="1737360"/>
            <a:ext cx="731520" cy="731520"/>
          </a:xfrm>
          <a:prstGeom prst="ellipse">
            <a:avLst/>
          </a:prstGeom>
          <a:solidFill>
            <a:srgbClr val="27D3C1"/>
          </a:solidFill>
          <a:ln w="25400">
            <a:solidFill>
              <a:srgbClr val="04171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694176" y="1956816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1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2926080" y="2743200"/>
            <a:ext cx="1920240" cy="2148840"/>
          </a:xfrm>
          <a:prstGeom prst="roundRect">
            <a:avLst>
              <a:gd name="adj" fmla="val 2857"/>
            </a:avLst>
          </a:prstGeom>
          <a:solidFill>
            <a:srgbClr val="0B2932"/>
          </a:solidFill>
          <a:ln w="10160">
            <a:solidFill>
              <a:srgbClr val="28505B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2926080" y="2743200"/>
            <a:ext cx="73152" cy="2148840"/>
          </a:xfrm>
          <a:prstGeom prst="rect">
            <a:avLst/>
          </a:prstGeom>
          <a:solidFill>
            <a:srgbClr val="27D3C1"/>
          </a:solidFill>
          <a:ln w="12700">
            <a:solidFill>
              <a:srgbClr val="27D3C1">
                <a:alpha val="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182112" y="29260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7FBFC"/>
                </a:solidFill>
              </a:rPr>
              <a:t>正则／格式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3182112" y="3337560"/>
            <a:ext cx="146304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A7BBC2"/>
                </a:solidFill>
              </a:rPr>
              <a:t>电话、价格、必填声明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5779008" y="1737360"/>
            <a:ext cx="731520" cy="731520"/>
          </a:xfrm>
          <a:prstGeom prst="ellipse">
            <a:avLst/>
          </a:prstGeom>
          <a:solidFill>
            <a:srgbClr val="27D3C1"/>
          </a:solidFill>
          <a:ln w="25400">
            <a:solidFill>
              <a:srgbClr val="04171E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980176" y="1956816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1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5212080" y="2743200"/>
            <a:ext cx="1920240" cy="2148840"/>
          </a:xfrm>
          <a:prstGeom prst="roundRect">
            <a:avLst>
              <a:gd name="adj" fmla="val 2857"/>
            </a:avLst>
          </a:prstGeom>
          <a:solidFill>
            <a:srgbClr val="0B2932"/>
          </a:solidFill>
          <a:ln w="10160">
            <a:solidFill>
              <a:srgbClr val="28505B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212080" y="2743200"/>
            <a:ext cx="73152" cy="2148840"/>
          </a:xfrm>
          <a:prstGeom prst="rect">
            <a:avLst/>
          </a:prstGeom>
          <a:solidFill>
            <a:srgbClr val="27D3C1"/>
          </a:solidFill>
          <a:ln w="12700">
            <a:solidFill>
              <a:srgbClr val="27D3C1">
                <a:alpha val="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468112" y="29260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7FBFC"/>
                </a:solidFill>
              </a:rPr>
              <a:t>确定性逻辑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5468112" y="3337560"/>
            <a:ext cx="146304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A7BBC2"/>
                </a:solidFill>
              </a:rPr>
              <a:t>活动时间与字段一致性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8065008" y="1737360"/>
            <a:ext cx="731520" cy="731520"/>
          </a:xfrm>
          <a:prstGeom prst="ellipse">
            <a:avLst/>
          </a:prstGeom>
          <a:solidFill>
            <a:srgbClr val="FF6B4A"/>
          </a:solidFill>
          <a:ln w="25400">
            <a:solidFill>
              <a:srgbClr val="04171E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266176" y="1956816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1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7498080" y="2743200"/>
            <a:ext cx="1920240" cy="2148840"/>
          </a:xfrm>
          <a:prstGeom prst="roundRect">
            <a:avLst>
              <a:gd name="adj" fmla="val 2857"/>
            </a:avLst>
          </a:prstGeom>
          <a:solidFill>
            <a:srgbClr val="0B2932"/>
          </a:solidFill>
          <a:ln w="10160">
            <a:solidFill>
              <a:srgbClr val="28505B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7498080" y="2743200"/>
            <a:ext cx="73152" cy="2148840"/>
          </a:xfrm>
          <a:prstGeom prst="rect">
            <a:avLst/>
          </a:prstGeom>
          <a:solidFill>
            <a:srgbClr val="FF6B4A"/>
          </a:solidFill>
          <a:ln w="12700">
            <a:solidFill>
              <a:srgbClr val="FF6B4A">
                <a:alpha val="0"/>
              </a:srgbClr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7754112" y="29260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7FBFC"/>
                </a:solidFill>
              </a:rPr>
              <a:t>大模型语义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7754112" y="3337560"/>
            <a:ext cx="146304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A7BBC2"/>
                </a:solidFill>
              </a:rPr>
              <a:t>隐含承诺与上下文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10351008" y="1737360"/>
            <a:ext cx="731520" cy="731520"/>
          </a:xfrm>
          <a:prstGeom prst="ellipse">
            <a:avLst/>
          </a:prstGeom>
          <a:solidFill>
            <a:srgbClr val="27D3C1"/>
          </a:solidFill>
          <a:ln w="25400">
            <a:solidFill>
              <a:srgbClr val="04171E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10552176" y="1956816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1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39" name="Shape 36"/>
          <p:cNvSpPr/>
          <p:nvPr/>
        </p:nvSpPr>
        <p:spPr>
          <a:xfrm>
            <a:off x="9784080" y="2743200"/>
            <a:ext cx="1920240" cy="2148840"/>
          </a:xfrm>
          <a:prstGeom prst="roundRect">
            <a:avLst>
              <a:gd name="adj" fmla="val 2857"/>
            </a:avLst>
          </a:prstGeom>
          <a:solidFill>
            <a:srgbClr val="0B2932"/>
          </a:solidFill>
          <a:ln w="10160">
            <a:solidFill>
              <a:srgbClr val="28505B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9784080" y="2743200"/>
            <a:ext cx="73152" cy="2148840"/>
          </a:xfrm>
          <a:prstGeom prst="rect">
            <a:avLst/>
          </a:prstGeom>
          <a:solidFill>
            <a:srgbClr val="27D3C1"/>
          </a:solidFill>
          <a:ln w="12700">
            <a:solidFill>
              <a:srgbClr val="27D3C1">
                <a:alpha val="0"/>
              </a:srgbClr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10040112" y="29260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7FBFC"/>
                </a:solidFill>
              </a:rPr>
              <a:t>外部数据核对</a:t>
            </a:r>
            <a:endParaRPr lang="en-US" sz="1300" dirty="0"/>
          </a:p>
        </p:txBody>
      </p:sp>
      <p:sp>
        <p:nvSpPr>
          <p:cNvPr id="42" name="Text 39"/>
          <p:cNvSpPr/>
          <p:nvPr/>
        </p:nvSpPr>
        <p:spPr>
          <a:xfrm>
            <a:off x="10040112" y="3337560"/>
            <a:ext cx="146304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A7BBC2"/>
                </a:solidFill>
              </a:rPr>
              <a:t>商品、授权、报告有效期</a:t>
            </a:r>
            <a:endParaRPr lang="en-US" sz="11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417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27D3C1"/>
                </a:solidFill>
              </a:rPr>
              <a:t>PROJECT 04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7FBFC"/>
                </a:solidFill>
              </a:rPr>
              <a:t>让案例真正跑出结构化结果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2850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298448"/>
            <a:ext cx="1325880" cy="0"/>
          </a:xfrm>
          <a:prstGeom prst="line">
            <a:avLst/>
          </a:prstGeom>
          <a:noFill/>
          <a:ln w="38100">
            <a:solidFill>
              <a:srgbClr val="27D3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06640" y="420624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A7BBC2"/>
                </a:solidFill>
              </a:rPr>
              <a:t>AI营销内容智能审核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66928" y="5989320"/>
            <a:ext cx="11018520" cy="393192"/>
          </a:xfrm>
          <a:prstGeom prst="roundRect">
            <a:avLst>
              <a:gd name="adj" fmla="val 11628"/>
            </a:avLst>
          </a:prstGeom>
          <a:solidFill>
            <a:srgbClr val="0A222B"/>
          </a:solidFill>
          <a:ln w="10160">
            <a:solidFill>
              <a:srgbClr val="1641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6099048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7D3C1"/>
                </a:solidFill>
              </a:rPr>
              <a:t>本页重点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609344" y="6053328"/>
            <a:ext cx="9646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7FBFC"/>
                </a:solidFill>
              </a:rPr>
              <a:t>每个问题都要能定位到原文，并对应明确处理动作。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6510528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82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AI营销内容智能审核项目实战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1155680" y="64739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7BB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658368" y="1572768"/>
            <a:ext cx="10899648" cy="749808"/>
          </a:xfrm>
          <a:prstGeom prst="roundRect">
            <a:avLst>
              <a:gd name="adj" fmla="val 3659"/>
            </a:avLst>
          </a:prstGeom>
          <a:solidFill>
            <a:srgbClr val="0B2932"/>
          </a:solidFill>
          <a:ln w="6350">
            <a:solidFill>
              <a:srgbClr val="28505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68680" y="180136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7FBFC"/>
                </a:solidFill>
              </a:rPr>
              <a:t>全网最值得买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3767328" y="1801368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A7BBC2"/>
                </a:solidFill>
              </a:rPr>
              <a:t>禁限表达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446520" y="1755648"/>
            <a:ext cx="658368" cy="347472"/>
          </a:xfrm>
          <a:prstGeom prst="roundRect">
            <a:avLst>
              <a:gd name="adj" fmla="val 21053"/>
            </a:avLst>
          </a:prstGeom>
          <a:solidFill>
            <a:srgbClr val="17313A"/>
          </a:solidFill>
          <a:ln w="10160">
            <a:solidFill>
              <a:srgbClr val="FF775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501384" y="1856232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775F"/>
                </a:solidFill>
              </a:rPr>
              <a:t>高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7406640" y="1801368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7BE7DC"/>
                </a:solidFill>
              </a:rPr>
              <a:t>删除或改为可验证描述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658368" y="2523744"/>
            <a:ext cx="10899648" cy="749808"/>
          </a:xfrm>
          <a:prstGeom prst="roundRect">
            <a:avLst>
              <a:gd name="adj" fmla="val 3659"/>
            </a:avLst>
          </a:prstGeom>
          <a:solidFill>
            <a:srgbClr val="0A2730"/>
          </a:solidFill>
          <a:ln w="6350">
            <a:solidFill>
              <a:srgbClr val="28505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68680" y="275234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7FBFC"/>
                </a:solidFill>
              </a:rPr>
              <a:t>7天彻底改善／100%有效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3767328" y="2752344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A7BBC2"/>
                </a:solidFill>
              </a:rPr>
              <a:t>功效与保证性表达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6446520" y="2706624"/>
            <a:ext cx="658368" cy="347472"/>
          </a:xfrm>
          <a:prstGeom prst="roundRect">
            <a:avLst>
              <a:gd name="adj" fmla="val 21053"/>
            </a:avLst>
          </a:prstGeom>
          <a:solidFill>
            <a:srgbClr val="17313A"/>
          </a:solidFill>
          <a:ln w="10160">
            <a:solidFill>
              <a:srgbClr val="FF775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501384" y="2807208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775F"/>
                </a:solidFill>
              </a:rPr>
              <a:t>高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7406640" y="2752344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7BE7DC"/>
                </a:solidFill>
              </a:rPr>
              <a:t>删除确定性承诺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658368" y="3474720"/>
            <a:ext cx="10899648" cy="749808"/>
          </a:xfrm>
          <a:prstGeom prst="roundRect">
            <a:avLst>
              <a:gd name="adj" fmla="val 3659"/>
            </a:avLst>
          </a:prstGeom>
          <a:solidFill>
            <a:srgbClr val="0B2932"/>
          </a:solidFill>
          <a:ln w="6350">
            <a:solidFill>
              <a:srgbClr val="28505B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68680" y="37033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7FBFC"/>
                </a:solidFill>
              </a:rPr>
              <a:t>连续三年销量第一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3767328" y="370332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A7BBC2"/>
                </a:solidFill>
              </a:rPr>
              <a:t>来源与范围缺失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6446520" y="3657600"/>
            <a:ext cx="658368" cy="347472"/>
          </a:xfrm>
          <a:prstGeom prst="roundRect">
            <a:avLst>
              <a:gd name="adj" fmla="val 21053"/>
            </a:avLst>
          </a:prstGeom>
          <a:solidFill>
            <a:srgbClr val="17313A"/>
          </a:solidFill>
          <a:ln w="10160">
            <a:solidFill>
              <a:srgbClr val="F6C453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501384" y="3758184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6C453"/>
                </a:solidFill>
              </a:rPr>
              <a:t>中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7406640" y="3703320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7BE7DC"/>
                </a:solidFill>
              </a:rPr>
              <a:t>补充范围、时间和来源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658368" y="4425696"/>
            <a:ext cx="10899648" cy="749808"/>
          </a:xfrm>
          <a:prstGeom prst="roundRect">
            <a:avLst>
              <a:gd name="adj" fmla="val 3659"/>
            </a:avLst>
          </a:prstGeom>
          <a:solidFill>
            <a:srgbClr val="0A2730"/>
          </a:solidFill>
          <a:ln w="6350">
            <a:solidFill>
              <a:srgbClr val="28505B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68680" y="465429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7FBFC"/>
                </a:solidFill>
              </a:rPr>
              <a:t>专家一致推荐</a:t>
            </a:r>
            <a:endParaRPr lang="en-US" sz="1250" dirty="0"/>
          </a:p>
        </p:txBody>
      </p:sp>
      <p:sp>
        <p:nvSpPr>
          <p:cNvPr id="33" name="Text 30"/>
          <p:cNvSpPr/>
          <p:nvPr/>
        </p:nvSpPr>
        <p:spPr>
          <a:xfrm>
            <a:off x="3767328" y="4654296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A7BBC2"/>
                </a:solidFill>
              </a:rPr>
              <a:t>主体与授权不完整</a:t>
            </a:r>
            <a:endParaRPr lang="en-US" sz="1150" dirty="0"/>
          </a:p>
        </p:txBody>
      </p:sp>
      <p:sp>
        <p:nvSpPr>
          <p:cNvPr id="34" name="Shape 31"/>
          <p:cNvSpPr/>
          <p:nvPr/>
        </p:nvSpPr>
        <p:spPr>
          <a:xfrm>
            <a:off x="6446520" y="4608576"/>
            <a:ext cx="658368" cy="347472"/>
          </a:xfrm>
          <a:prstGeom prst="roundRect">
            <a:avLst>
              <a:gd name="adj" fmla="val 21053"/>
            </a:avLst>
          </a:prstGeom>
          <a:solidFill>
            <a:srgbClr val="17313A"/>
          </a:solidFill>
          <a:ln w="10160">
            <a:solidFill>
              <a:srgbClr val="FF775F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501384" y="4709160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775F"/>
                </a:solidFill>
              </a:rPr>
              <a:t>高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7406640" y="4654296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7BE7DC"/>
                </a:solidFill>
              </a:rPr>
              <a:t>补充材料或删除</a:t>
            </a:r>
            <a:endParaRPr lang="en-US" sz="11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417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27D3C1"/>
                </a:solidFill>
              </a:rPr>
              <a:t>PROJECT 04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7FBFC"/>
                </a:solidFill>
              </a:rPr>
              <a:t>同一个问题，先合并再展示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2850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298448"/>
            <a:ext cx="1325880" cy="0"/>
          </a:xfrm>
          <a:prstGeom prst="line">
            <a:avLst/>
          </a:prstGeom>
          <a:noFill/>
          <a:ln w="38100">
            <a:solidFill>
              <a:srgbClr val="27D3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06640" y="420624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A7BBC2"/>
                </a:solidFill>
              </a:rPr>
              <a:t>AI营销内容智能审核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66928" y="5989320"/>
            <a:ext cx="11018520" cy="393192"/>
          </a:xfrm>
          <a:prstGeom prst="roundRect">
            <a:avLst>
              <a:gd name="adj" fmla="val 11628"/>
            </a:avLst>
          </a:prstGeom>
          <a:solidFill>
            <a:srgbClr val="0A222B"/>
          </a:solidFill>
          <a:ln w="10160">
            <a:solidFill>
              <a:srgbClr val="1641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6099048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7D3C1"/>
                </a:solidFill>
              </a:rPr>
              <a:t>本页重点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609344" y="6053328"/>
            <a:ext cx="9646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7FBFC"/>
                </a:solidFill>
              </a:rPr>
              <a:t>前台只展示合并后的风险对象，后台保留各能力的原始结果。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6510528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82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AI营销内容智能审核项目实战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1155680" y="64739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7BB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777240" y="1828800"/>
            <a:ext cx="2834640" cy="1261872"/>
          </a:xfrm>
          <a:prstGeom prst="roundRect">
            <a:avLst>
              <a:gd name="adj" fmla="val 4348"/>
            </a:avLst>
          </a:prstGeom>
          <a:solidFill>
            <a:srgbClr val="0B2932"/>
          </a:solidFill>
          <a:ln w="15240">
            <a:solidFill>
              <a:srgbClr val="27D3C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86968" y="1993392"/>
            <a:ext cx="2615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FBFC"/>
                </a:solidFill>
              </a:rPr>
              <a:t>关键词规则命中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86968" y="2286000"/>
            <a:ext cx="26151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A7BBC2"/>
                </a:solidFill>
              </a:rPr>
              <a:t>位置：18–24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A7BBC2"/>
                </a:solidFill>
              </a:rPr>
              <a:t>类型：保证性表达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777240" y="3703320"/>
            <a:ext cx="2834640" cy="1261872"/>
          </a:xfrm>
          <a:prstGeom prst="roundRect">
            <a:avLst>
              <a:gd name="adj" fmla="val 4348"/>
            </a:avLst>
          </a:prstGeom>
          <a:solidFill>
            <a:srgbClr val="0B2932"/>
          </a:solidFill>
          <a:ln w="15240">
            <a:solidFill>
              <a:srgbClr val="FF6B4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86968" y="3867912"/>
            <a:ext cx="2615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FBFC"/>
                </a:solidFill>
              </a:rPr>
              <a:t>大模型语义命中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886968" y="4160520"/>
            <a:ext cx="26151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A7BBC2"/>
                </a:solidFill>
              </a:rPr>
              <a:t>位置：15–24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A7BBC2"/>
                </a:solidFill>
              </a:rPr>
              <a:t>类型：功效承诺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3730752" y="2450592"/>
            <a:ext cx="859536" cy="795528"/>
          </a:xfrm>
          <a:prstGeom prst="line">
            <a:avLst/>
          </a:prstGeom>
          <a:noFill/>
          <a:ln w="20320">
            <a:solidFill>
              <a:srgbClr val="A7BBC2"/>
            </a:solidFill>
            <a:prstDash val="solid"/>
            <a:headEnd type="none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3730752" y="4315968"/>
            <a:ext cx="859536" cy="-822960"/>
          </a:xfrm>
          <a:prstGeom prst="line">
            <a:avLst/>
          </a:prstGeom>
          <a:noFill/>
          <a:ln w="20320">
            <a:solidFill>
              <a:srgbClr val="A7BBC2"/>
            </a:solidFill>
            <a:prstDash val="solid"/>
            <a:headEnd type="none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4709160" y="2651760"/>
            <a:ext cx="2743200" cy="1481328"/>
          </a:xfrm>
          <a:prstGeom prst="roundRect">
            <a:avLst>
              <a:gd name="adj" fmla="val 3704"/>
            </a:avLst>
          </a:prstGeom>
          <a:solidFill>
            <a:srgbClr val="0B2932"/>
          </a:solidFill>
          <a:ln w="15240">
            <a:solidFill>
              <a:srgbClr val="F6C45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818888" y="2816352"/>
            <a:ext cx="2523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FBFC"/>
                </a:solidFill>
              </a:rPr>
              <a:t>合并与定级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4818888" y="3108960"/>
            <a:ext cx="2523744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A7BBC2"/>
                </a:solidFill>
              </a:rPr>
              <a:t>位置重叠＋类型相近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A7BBC2"/>
                </a:solidFill>
              </a:rPr>
              <a:t>保留较高等级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7571232" y="3401568"/>
            <a:ext cx="768096" cy="0"/>
          </a:xfrm>
          <a:prstGeom prst="line">
            <a:avLst/>
          </a:prstGeom>
          <a:noFill/>
          <a:ln w="20320">
            <a:solidFill>
              <a:srgbClr val="A7BBC2"/>
            </a:solidFill>
            <a:prstDash val="solid"/>
            <a:headEnd type="none"/>
            <a:tailEnd type="triangle"/>
          </a:ln>
        </p:spPr>
      </p:sp>
      <p:sp>
        <p:nvSpPr>
          <p:cNvPr id="25" name="Shape 22"/>
          <p:cNvSpPr/>
          <p:nvPr/>
        </p:nvSpPr>
        <p:spPr>
          <a:xfrm>
            <a:off x="8458200" y="2542032"/>
            <a:ext cx="2880360" cy="1700784"/>
          </a:xfrm>
          <a:prstGeom prst="roundRect">
            <a:avLst>
              <a:gd name="adj" fmla="val 3226"/>
            </a:avLst>
          </a:prstGeom>
          <a:solidFill>
            <a:srgbClr val="0B2932"/>
          </a:solidFill>
          <a:ln w="15240">
            <a:solidFill>
              <a:srgbClr val="FF775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567928" y="2706624"/>
            <a:ext cx="26609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FBFC"/>
                </a:solidFill>
              </a:rPr>
              <a:t>前台风险对象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8567928" y="2999232"/>
            <a:ext cx="2660904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A7BBC2"/>
                </a:solidFill>
              </a:rPr>
              <a:t>“7天彻底改善，100%有效”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A7BBC2"/>
                </a:solidFill>
              </a:rPr>
              <a:t>高风险｜删除确定性承诺</a:t>
            </a:r>
            <a:endParaRPr lang="en-US" sz="8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417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27D3C1"/>
                </a:solidFill>
              </a:rPr>
              <a:t>PROJECT 04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7FBFC"/>
                </a:solidFill>
              </a:rPr>
              <a:t>整体状态必须对应下一步动作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2850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298448"/>
            <a:ext cx="1325880" cy="0"/>
          </a:xfrm>
          <a:prstGeom prst="line">
            <a:avLst/>
          </a:prstGeom>
          <a:noFill/>
          <a:ln w="38100">
            <a:solidFill>
              <a:srgbClr val="27D3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06640" y="420624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A7BBC2"/>
                </a:solidFill>
              </a:rPr>
              <a:t>AI营销内容智能审核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66928" y="5989320"/>
            <a:ext cx="11018520" cy="393192"/>
          </a:xfrm>
          <a:prstGeom prst="roundRect">
            <a:avLst>
              <a:gd name="adj" fmla="val 11628"/>
            </a:avLst>
          </a:prstGeom>
          <a:solidFill>
            <a:srgbClr val="0A222B"/>
          </a:solidFill>
          <a:ln w="10160">
            <a:solidFill>
              <a:srgbClr val="1641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6099048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7D3C1"/>
                </a:solidFill>
              </a:rPr>
              <a:t>本页重点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609344" y="6053328"/>
            <a:ext cx="9646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7FBFC"/>
                </a:solidFill>
              </a:rPr>
              <a:t>结果不是一个分数，而是业务流程中的路由信号。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6510528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82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AI营销内容智能审核项目实战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1155680" y="64739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7BB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758952" y="1627632"/>
            <a:ext cx="1920240" cy="347472"/>
          </a:xfrm>
          <a:prstGeom prst="roundRect">
            <a:avLst>
              <a:gd name="adj" fmla="val 21053"/>
            </a:avLst>
          </a:prstGeom>
          <a:solidFill>
            <a:srgbClr val="0C2A33"/>
          </a:solidFill>
          <a:ln w="10160">
            <a:solidFill>
              <a:srgbClr val="4ED6A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13816" y="1728216"/>
            <a:ext cx="18105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ED6A5"/>
                </a:solidFill>
              </a:rPr>
              <a:t>机器预审通过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3063240" y="170992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7FBFC"/>
                </a:solidFill>
              </a:rPr>
              <a:t>无有效风险且检查完整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7095744" y="1801368"/>
            <a:ext cx="475488" cy="0"/>
          </a:xfrm>
          <a:prstGeom prst="line">
            <a:avLst/>
          </a:prstGeom>
          <a:noFill/>
          <a:ln w="20320">
            <a:solidFill>
              <a:srgbClr val="A7BBC2"/>
            </a:solidFill>
            <a:prstDash val="solid"/>
            <a:headEnd type="none"/>
            <a:tailEnd type="triangle"/>
          </a:ln>
        </p:spPr>
      </p:sp>
      <p:sp>
        <p:nvSpPr>
          <p:cNvPr id="17" name="Text 14"/>
          <p:cNvSpPr/>
          <p:nvPr/>
        </p:nvSpPr>
        <p:spPr>
          <a:xfrm>
            <a:off x="7845552" y="1709928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4ED6A5"/>
                </a:solidFill>
              </a:rPr>
              <a:t>进入后续业务流程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758952" y="2450592"/>
            <a:ext cx="1920240" cy="347472"/>
          </a:xfrm>
          <a:prstGeom prst="roundRect">
            <a:avLst>
              <a:gd name="adj" fmla="val 21053"/>
            </a:avLst>
          </a:prstGeom>
          <a:solidFill>
            <a:srgbClr val="0C2A33"/>
          </a:solidFill>
          <a:ln w="10160">
            <a:solidFill>
              <a:srgbClr val="7BE7D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13816" y="2551176"/>
            <a:ext cx="18105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BE7DC"/>
                </a:solidFill>
              </a:rPr>
              <a:t>建议修改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3063240" y="253288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7FBFC"/>
                </a:solidFill>
              </a:rPr>
              <a:t>只有低风险问题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7095744" y="2624328"/>
            <a:ext cx="475488" cy="0"/>
          </a:xfrm>
          <a:prstGeom prst="line">
            <a:avLst/>
          </a:prstGeom>
          <a:noFill/>
          <a:ln w="20320">
            <a:solidFill>
              <a:srgbClr val="A7BBC2"/>
            </a:solidFill>
            <a:prstDash val="solid"/>
            <a:headEnd type="none"/>
            <a:tailEnd type="triangle"/>
          </a:ln>
        </p:spPr>
      </p:sp>
      <p:sp>
        <p:nvSpPr>
          <p:cNvPr id="22" name="Text 19"/>
          <p:cNvSpPr/>
          <p:nvPr/>
        </p:nvSpPr>
        <p:spPr>
          <a:xfrm>
            <a:off x="7845552" y="2532888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7BE7DC"/>
                </a:solidFill>
              </a:rPr>
              <a:t>运营修改或按权限继续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758952" y="3273552"/>
            <a:ext cx="1920240" cy="347472"/>
          </a:xfrm>
          <a:prstGeom prst="roundRect">
            <a:avLst>
              <a:gd name="adj" fmla="val 21053"/>
            </a:avLst>
          </a:prstGeom>
          <a:solidFill>
            <a:srgbClr val="0C2A33"/>
          </a:solidFill>
          <a:ln w="10160">
            <a:solidFill>
              <a:srgbClr val="FF6B4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13816" y="3374136"/>
            <a:ext cx="18105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6B4A"/>
                </a:solidFill>
              </a:rPr>
              <a:t>退回修改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3063240" y="335584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7FBFC"/>
                </a:solidFill>
              </a:rPr>
              <a:t>存在明确中高风险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7095744" y="3447288"/>
            <a:ext cx="475488" cy="0"/>
          </a:xfrm>
          <a:prstGeom prst="line">
            <a:avLst/>
          </a:prstGeom>
          <a:noFill/>
          <a:ln w="20320">
            <a:solidFill>
              <a:srgbClr val="A7BBC2"/>
            </a:solidFill>
            <a:prstDash val="solid"/>
            <a:headEnd type="none"/>
            <a:tailEnd type="triangle"/>
          </a:ln>
        </p:spPr>
      </p:sp>
      <p:sp>
        <p:nvSpPr>
          <p:cNvPr id="27" name="Text 24"/>
          <p:cNvSpPr/>
          <p:nvPr/>
        </p:nvSpPr>
        <p:spPr>
          <a:xfrm>
            <a:off x="7845552" y="3355848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F6B4A"/>
                </a:solidFill>
              </a:rPr>
              <a:t>修改后重新提交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758952" y="4096512"/>
            <a:ext cx="1920240" cy="347472"/>
          </a:xfrm>
          <a:prstGeom prst="roundRect">
            <a:avLst>
              <a:gd name="adj" fmla="val 21053"/>
            </a:avLst>
          </a:prstGeom>
          <a:solidFill>
            <a:srgbClr val="0C2A33"/>
          </a:solidFill>
          <a:ln w="10160">
            <a:solidFill>
              <a:srgbClr val="FF775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13816" y="4197096"/>
            <a:ext cx="18105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775F"/>
                </a:solidFill>
              </a:rPr>
              <a:t>转人工复核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3063240" y="417880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7FBFC"/>
                </a:solidFill>
              </a:rPr>
              <a:t>冲突、低确定性或高风险要求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7095744" y="4270248"/>
            <a:ext cx="475488" cy="0"/>
          </a:xfrm>
          <a:prstGeom prst="line">
            <a:avLst/>
          </a:prstGeom>
          <a:noFill/>
          <a:ln w="20320">
            <a:solidFill>
              <a:srgbClr val="A7BBC2"/>
            </a:solidFill>
            <a:prstDash val="solid"/>
            <a:headEnd type="none"/>
            <a:tailEnd type="triangle"/>
          </a:ln>
        </p:spPr>
      </p:sp>
      <p:sp>
        <p:nvSpPr>
          <p:cNvPr id="32" name="Text 29"/>
          <p:cNvSpPr/>
          <p:nvPr/>
        </p:nvSpPr>
        <p:spPr>
          <a:xfrm>
            <a:off x="7845552" y="4178808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F775F"/>
                </a:solidFill>
              </a:rPr>
              <a:t>进入人工队列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758952" y="4919472"/>
            <a:ext cx="1920240" cy="347472"/>
          </a:xfrm>
          <a:prstGeom prst="roundRect">
            <a:avLst>
              <a:gd name="adj" fmla="val 21053"/>
            </a:avLst>
          </a:prstGeom>
          <a:solidFill>
            <a:srgbClr val="0C2A33"/>
          </a:solidFill>
          <a:ln w="10160">
            <a:solidFill>
              <a:srgbClr val="F6C453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813816" y="5020056"/>
            <a:ext cx="18105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6C453"/>
                </a:solidFill>
              </a:rPr>
              <a:t>机器失败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3063240" y="500176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7FBFC"/>
                </a:solidFill>
              </a:rPr>
              <a:t>超时、格式错误、依赖不可用</a:t>
            </a:r>
            <a:endParaRPr lang="en-US" sz="1150" dirty="0"/>
          </a:p>
        </p:txBody>
      </p:sp>
      <p:sp>
        <p:nvSpPr>
          <p:cNvPr id="36" name="Shape 33"/>
          <p:cNvSpPr/>
          <p:nvPr/>
        </p:nvSpPr>
        <p:spPr>
          <a:xfrm>
            <a:off x="7095744" y="5093208"/>
            <a:ext cx="475488" cy="0"/>
          </a:xfrm>
          <a:prstGeom prst="line">
            <a:avLst/>
          </a:prstGeom>
          <a:noFill/>
          <a:ln w="20320">
            <a:solidFill>
              <a:srgbClr val="A7BBC2"/>
            </a:solidFill>
            <a:prstDash val="solid"/>
            <a:headEnd type="none"/>
            <a:tailEnd type="triangle"/>
          </a:ln>
        </p:spPr>
      </p:sp>
      <p:sp>
        <p:nvSpPr>
          <p:cNvPr id="37" name="Text 34"/>
          <p:cNvSpPr/>
          <p:nvPr/>
        </p:nvSpPr>
        <p:spPr>
          <a:xfrm>
            <a:off x="7845552" y="5001768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6C453"/>
                </a:solidFill>
              </a:rPr>
              <a:t>重试或人工接管</a:t>
            </a:r>
            <a:endParaRPr lang="en-US" sz="11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417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27D3C1"/>
                </a:solidFill>
              </a:rPr>
              <a:t>PROJECT 04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7FBFC"/>
                </a:solidFill>
              </a:rPr>
              <a:t>边界样本：关键词命中不等于违规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2850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298448"/>
            <a:ext cx="1325880" cy="0"/>
          </a:xfrm>
          <a:prstGeom prst="line">
            <a:avLst/>
          </a:prstGeom>
          <a:noFill/>
          <a:ln w="38100">
            <a:solidFill>
              <a:srgbClr val="27D3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06640" y="420624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A7BBC2"/>
                </a:solidFill>
              </a:rPr>
              <a:t>AI营销内容智能审核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66928" y="5989320"/>
            <a:ext cx="11018520" cy="393192"/>
          </a:xfrm>
          <a:prstGeom prst="roundRect">
            <a:avLst>
              <a:gd name="adj" fmla="val 11628"/>
            </a:avLst>
          </a:prstGeom>
          <a:solidFill>
            <a:srgbClr val="0A222B"/>
          </a:solidFill>
          <a:ln w="10160">
            <a:solidFill>
              <a:srgbClr val="1641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6099048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7D3C1"/>
                </a:solidFill>
              </a:rPr>
              <a:t>本页重点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609344" y="6053328"/>
            <a:ext cx="9646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7FBFC"/>
                </a:solidFill>
              </a:rPr>
              <a:t>召回和最终判断是两件事；边界样本决定系统是否可用。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6510528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82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AI营销内容智能审核项目实战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1155680" y="64739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7BB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822960" y="1783080"/>
            <a:ext cx="4663440" cy="3337560"/>
          </a:xfrm>
          <a:prstGeom prst="roundRect">
            <a:avLst>
              <a:gd name="adj" fmla="val 1644"/>
            </a:avLst>
          </a:prstGeom>
          <a:solidFill>
            <a:srgbClr val="0B2932"/>
          </a:solidFill>
          <a:ln w="15240">
            <a:solidFill>
              <a:srgbClr val="FF6B4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207008" y="2514600"/>
            <a:ext cx="3886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7FBFC"/>
                </a:solidFill>
              </a:rPr>
              <a:t>“我们不承诺 100% 有效，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7FBFC"/>
                </a:solidFill>
              </a:rPr>
              <a:t>实际体验因人而异。”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5897880" y="1783080"/>
            <a:ext cx="5440680" cy="1371600"/>
          </a:xfrm>
          <a:prstGeom prst="roundRect">
            <a:avLst>
              <a:gd name="adj" fmla="val 4000"/>
            </a:avLst>
          </a:prstGeom>
          <a:solidFill>
            <a:srgbClr val="0B2932"/>
          </a:solidFill>
          <a:ln w="10160">
            <a:solidFill>
              <a:srgbClr val="28505B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897880" y="1783080"/>
            <a:ext cx="73152" cy="1371600"/>
          </a:xfrm>
          <a:prstGeom prst="rect">
            <a:avLst/>
          </a:prstGeom>
          <a:solidFill>
            <a:srgbClr val="FF6B4A"/>
          </a:solidFill>
          <a:ln w="12700">
            <a:solidFill>
              <a:srgbClr val="FF6B4A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153912" y="1965960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7FBFC"/>
                </a:solidFill>
              </a:rPr>
              <a:t>关键词系统的问题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6153912" y="2377440"/>
            <a:ext cx="498348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A7BBC2"/>
                </a:solidFill>
              </a:rPr>
              <a:t>看到“100%有效”就直接判高风险，忽略否定关系。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5897880" y="3401568"/>
            <a:ext cx="5440680" cy="1719072"/>
          </a:xfrm>
          <a:prstGeom prst="roundRect">
            <a:avLst>
              <a:gd name="adj" fmla="val 3191"/>
            </a:avLst>
          </a:prstGeom>
          <a:solidFill>
            <a:srgbClr val="0B2932"/>
          </a:solidFill>
          <a:ln w="10160">
            <a:solidFill>
              <a:srgbClr val="28505B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897880" y="3401568"/>
            <a:ext cx="73152" cy="1719072"/>
          </a:xfrm>
          <a:prstGeom prst="rect">
            <a:avLst/>
          </a:prstGeom>
          <a:solidFill>
            <a:srgbClr val="27D3C1"/>
          </a:solidFill>
          <a:ln w="12700">
            <a:solidFill>
              <a:srgbClr val="27D3C1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153912" y="3584448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7FBFC"/>
                </a:solidFill>
              </a:rPr>
              <a:t>改进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6153912" y="3995928"/>
            <a:ext cx="4983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A7BBC2"/>
                </a:solidFill>
              </a:rPr>
              <a:t>关键词先召回 → 上下文语义确认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7BBC2"/>
                </a:solidFill>
              </a:rPr>
              <a:t>把否定句、引用句和对比句加入回归测试。</a:t>
            </a:r>
            <a:endParaRPr lang="en-US" sz="13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417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59436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27D3C1">
                    <a:alpha val="9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0" dirty="0"/>
          </a:p>
        </p:txBody>
      </p:sp>
      <p:sp>
        <p:nvSpPr>
          <p:cNvPr id="3" name="Shape 1"/>
          <p:cNvSpPr/>
          <p:nvPr/>
        </p:nvSpPr>
        <p:spPr>
          <a:xfrm>
            <a:off x="3200400" y="950976"/>
            <a:ext cx="0" cy="4754880"/>
          </a:xfrm>
          <a:prstGeom prst="line">
            <a:avLst/>
          </a:prstGeom>
          <a:noFill/>
          <a:ln w="12700">
            <a:solidFill>
              <a:srgbClr val="28505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703320" y="1389888"/>
            <a:ext cx="7589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7FBFC"/>
                </a:solidFill>
              </a:rPr>
              <a:t>定义 MVP 与产品结构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730752" y="2651760"/>
            <a:ext cx="7178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A7BBC2"/>
                </a:solidFill>
              </a:rPr>
              <a:t>用最少能力完成一次真实闭环，并明确系统中的对象、版本与异常。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3730752" y="4160520"/>
            <a:ext cx="2057400" cy="438912"/>
          </a:xfrm>
          <a:prstGeom prst="roundRect">
            <a:avLst>
              <a:gd name="adj" fmla="val 10417"/>
            </a:avLst>
          </a:prstGeom>
          <a:solidFill>
            <a:srgbClr val="103641"/>
          </a:solidFill>
          <a:ln w="12700">
            <a:solidFill>
              <a:srgbClr val="27D3C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13632" y="4297680"/>
            <a:ext cx="1691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BE7DC"/>
                </a:solidFill>
              </a:rPr>
              <a:t>25 MIN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6510528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82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AI营销内容智能审核项目实战 · SECTION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1155680" y="64739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7BB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8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417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27D3C1"/>
                </a:solidFill>
              </a:rPr>
              <a:t>PROJECT 04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7FBFC"/>
                </a:solidFill>
              </a:rPr>
              <a:t>MVP 要验证三件事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2850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298448"/>
            <a:ext cx="1325880" cy="0"/>
          </a:xfrm>
          <a:prstGeom prst="line">
            <a:avLst/>
          </a:prstGeom>
          <a:noFill/>
          <a:ln w="38100">
            <a:solidFill>
              <a:srgbClr val="27D3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06640" y="420624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A7BBC2"/>
                </a:solidFill>
              </a:rPr>
              <a:t>AI营销内容智能审核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66928" y="5989320"/>
            <a:ext cx="11018520" cy="393192"/>
          </a:xfrm>
          <a:prstGeom prst="roundRect">
            <a:avLst>
              <a:gd name="adj" fmla="val 11628"/>
            </a:avLst>
          </a:prstGeom>
          <a:solidFill>
            <a:srgbClr val="0A222B"/>
          </a:solidFill>
          <a:ln w="10160">
            <a:solidFill>
              <a:srgbClr val="1641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6099048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7D3C1"/>
                </a:solidFill>
              </a:rPr>
              <a:t>本页重点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609344" y="6053328"/>
            <a:ext cx="9646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7FBFC"/>
                </a:solidFill>
              </a:rPr>
              <a:t>第一版验证的是业务闭环，不是“模型会不会看文案”。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6510528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82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AI营销内容智能审核项目实战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1155680" y="64739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7BB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749808" y="1737360"/>
            <a:ext cx="3337560" cy="3429000"/>
          </a:xfrm>
          <a:prstGeom prst="roundRect">
            <a:avLst>
              <a:gd name="adj" fmla="val 1644"/>
            </a:avLst>
          </a:prstGeom>
          <a:solidFill>
            <a:srgbClr val="0B2932"/>
          </a:solidFill>
          <a:ln w="10160">
            <a:solidFill>
              <a:srgbClr val="28505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49808" y="1737360"/>
            <a:ext cx="73152" cy="3429000"/>
          </a:xfrm>
          <a:prstGeom prst="rect">
            <a:avLst/>
          </a:prstGeom>
          <a:solidFill>
            <a:srgbClr val="27D3C1"/>
          </a:solidFill>
          <a:ln w="12700">
            <a:solidFill>
              <a:srgbClr val="27D3C1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05840" y="1920240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7FBFC"/>
                </a:solidFill>
              </a:rPr>
              <a:t>01 发现问题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005840" y="2331720"/>
            <a:ext cx="2880360" cy="2670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A7BBC2"/>
                </a:solidFill>
              </a:rPr>
              <a:t>混合审核能否稳定发现一批真正有价值的问题？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4425696" y="1737360"/>
            <a:ext cx="3337560" cy="3429000"/>
          </a:xfrm>
          <a:prstGeom prst="roundRect">
            <a:avLst>
              <a:gd name="adj" fmla="val 1644"/>
            </a:avLst>
          </a:prstGeom>
          <a:solidFill>
            <a:srgbClr val="0B2932"/>
          </a:solidFill>
          <a:ln w="10160">
            <a:solidFill>
              <a:srgbClr val="28505B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425696" y="1737360"/>
            <a:ext cx="73152" cy="3429000"/>
          </a:xfrm>
          <a:prstGeom prst="rect">
            <a:avLst/>
          </a:prstGeom>
          <a:solidFill>
            <a:srgbClr val="7BE7DC"/>
          </a:solidFill>
          <a:ln w="12700">
            <a:solidFill>
              <a:srgbClr val="7BE7DC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681728" y="1920240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7FBFC"/>
                </a:solidFill>
              </a:rPr>
              <a:t>02 减少沟通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4681728" y="2331720"/>
            <a:ext cx="2880360" cy="2670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A7BBC2"/>
                </a:solidFill>
              </a:rPr>
              <a:t>结构化结果能否减少运营与审核员的往返确认？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8101584" y="1737360"/>
            <a:ext cx="3337560" cy="3429000"/>
          </a:xfrm>
          <a:prstGeom prst="roundRect">
            <a:avLst>
              <a:gd name="adj" fmla="val 1644"/>
            </a:avLst>
          </a:prstGeom>
          <a:solidFill>
            <a:srgbClr val="0B2932"/>
          </a:solidFill>
          <a:ln w="10160">
            <a:solidFill>
              <a:srgbClr val="28505B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101584" y="1737360"/>
            <a:ext cx="73152" cy="3429000"/>
          </a:xfrm>
          <a:prstGeom prst="rect">
            <a:avLst/>
          </a:prstGeom>
          <a:solidFill>
            <a:srgbClr val="FF6B4A"/>
          </a:solidFill>
          <a:ln w="12700">
            <a:solidFill>
              <a:srgbClr val="FF6B4A">
                <a:alpha val="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357616" y="1920240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7FBFC"/>
                </a:solidFill>
              </a:rPr>
              <a:t>03 安全接管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8357616" y="2331720"/>
            <a:ext cx="2880360" cy="2670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A7BBC2"/>
                </a:solidFill>
              </a:rPr>
              <a:t>机器不确定或失败时，人工能否及时并完整地接手？</a:t>
            </a:r>
            <a:endParaRPr lang="en-US" sz="16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417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27D3C1"/>
                </a:solidFill>
              </a:rPr>
              <a:t>PROJECT 04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7FBFC"/>
                </a:solidFill>
              </a:rPr>
              <a:t>功能优先级：P0、P1、暂不进入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2850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298448"/>
            <a:ext cx="1325880" cy="0"/>
          </a:xfrm>
          <a:prstGeom prst="line">
            <a:avLst/>
          </a:prstGeom>
          <a:noFill/>
          <a:ln w="38100">
            <a:solidFill>
              <a:srgbClr val="27D3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06640" y="420624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A7BBC2"/>
                </a:solidFill>
              </a:rPr>
              <a:t>AI营销内容智能审核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66928" y="5989320"/>
            <a:ext cx="11018520" cy="393192"/>
          </a:xfrm>
          <a:prstGeom prst="roundRect">
            <a:avLst>
              <a:gd name="adj" fmla="val 11628"/>
            </a:avLst>
          </a:prstGeom>
          <a:solidFill>
            <a:srgbClr val="0A222B"/>
          </a:solidFill>
          <a:ln w="10160">
            <a:solidFill>
              <a:srgbClr val="1641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6099048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7D3C1"/>
                </a:solidFill>
              </a:rPr>
              <a:t>本页重点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609344" y="6053328"/>
            <a:ext cx="9646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7FBFC"/>
                </a:solidFill>
              </a:rPr>
              <a:t>MVP 不是少画页面，而是保留完成闭环所必需的能力。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6510528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82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AI营销内容智能审核项目实战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1155680" y="64739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7BB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658368" y="1572768"/>
            <a:ext cx="3794760" cy="4096512"/>
          </a:xfrm>
          <a:prstGeom prst="roundRect">
            <a:avLst>
              <a:gd name="adj" fmla="val 1446"/>
            </a:avLst>
          </a:prstGeom>
          <a:solidFill>
            <a:srgbClr val="0B2932"/>
          </a:solidFill>
          <a:ln w="10160">
            <a:solidFill>
              <a:srgbClr val="28505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58368" y="1572768"/>
            <a:ext cx="73152" cy="4096512"/>
          </a:xfrm>
          <a:prstGeom prst="rect">
            <a:avLst/>
          </a:prstGeom>
          <a:solidFill>
            <a:srgbClr val="27D3C1"/>
          </a:solidFill>
          <a:ln w="12700">
            <a:solidFill>
              <a:srgbClr val="27D3C1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14400" y="1755648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7FBFC"/>
                </a:solidFill>
              </a:rPr>
              <a:t>P0｜形成闭环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914400" y="2167128"/>
            <a:ext cx="333756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A7BBC2"/>
                </a:solidFill>
              </a:rPr>
              <a:t>场景与上下文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A7BBC2"/>
                </a:solidFill>
              </a:rPr>
              <a:t>文本版本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A7BBC2"/>
                </a:solidFill>
              </a:rPr>
              <a:t>规则＋语义检查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A7BBC2"/>
                </a:solidFill>
              </a:rPr>
              <a:t>结果合并与定级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A7BBC2"/>
                </a:solidFill>
              </a:rPr>
              <a:t>原文定位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A7BBC2"/>
                </a:solidFill>
              </a:rPr>
              <a:t>四类处理路径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A7BBC2"/>
                </a:solidFill>
              </a:rPr>
              <a:t>人工复核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A7BBC2"/>
                </a:solidFill>
              </a:rPr>
              <a:t>修改后重审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A7BBC2"/>
                </a:solidFill>
              </a:rPr>
              <a:t>基础记录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4645152" y="1572768"/>
            <a:ext cx="3246120" cy="4096512"/>
          </a:xfrm>
          <a:prstGeom prst="roundRect">
            <a:avLst>
              <a:gd name="adj" fmla="val 1690"/>
            </a:avLst>
          </a:prstGeom>
          <a:solidFill>
            <a:srgbClr val="0B2932"/>
          </a:solidFill>
          <a:ln w="10160">
            <a:solidFill>
              <a:srgbClr val="28505B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645152" y="1572768"/>
            <a:ext cx="73152" cy="4096512"/>
          </a:xfrm>
          <a:prstGeom prst="rect">
            <a:avLst/>
          </a:prstGeom>
          <a:solidFill>
            <a:srgbClr val="7BE7DC"/>
          </a:solidFill>
          <a:ln w="12700">
            <a:solidFill>
              <a:srgbClr val="7BE7DC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901184" y="1755648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7FBFC"/>
                </a:solidFill>
              </a:rPr>
              <a:t>P1｜试点后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4901184" y="2167128"/>
            <a:ext cx="278892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A7BBC2"/>
                </a:solidFill>
              </a:rPr>
              <a:t>规则运营后台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A7BBC2"/>
                </a:solidFill>
              </a:rPr>
              <a:t>批量任务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A7BBC2"/>
                </a:solidFill>
              </a:rPr>
              <a:t>数据看板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A7BBC2"/>
                </a:solidFill>
              </a:rPr>
              <a:t>更多渠道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A7BBC2"/>
                </a:solidFill>
              </a:rPr>
              <a:t>建议一键带入</a:t>
            </a:r>
            <a:endParaRPr lang="en-US" sz="1350" dirty="0"/>
          </a:p>
        </p:txBody>
      </p:sp>
      <p:sp>
        <p:nvSpPr>
          <p:cNvPr id="21" name="Shape 18"/>
          <p:cNvSpPr/>
          <p:nvPr/>
        </p:nvSpPr>
        <p:spPr>
          <a:xfrm>
            <a:off x="8083296" y="1572768"/>
            <a:ext cx="3447288" cy="4096512"/>
          </a:xfrm>
          <a:prstGeom prst="roundRect">
            <a:avLst>
              <a:gd name="adj" fmla="val 1592"/>
            </a:avLst>
          </a:prstGeom>
          <a:solidFill>
            <a:srgbClr val="0B2932"/>
          </a:solidFill>
          <a:ln w="10160">
            <a:solidFill>
              <a:srgbClr val="28505B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083296" y="1572768"/>
            <a:ext cx="73152" cy="4096512"/>
          </a:xfrm>
          <a:prstGeom prst="rect">
            <a:avLst/>
          </a:prstGeom>
          <a:solidFill>
            <a:srgbClr val="FF6B4A"/>
          </a:solidFill>
          <a:ln w="12700">
            <a:solidFill>
              <a:srgbClr val="FF6B4A">
                <a:alpha val="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339328" y="1755648"/>
            <a:ext cx="2990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7FBFC"/>
                </a:solidFill>
              </a:rPr>
              <a:t>暂不进入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8339328" y="2167128"/>
            <a:ext cx="2990088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A7BBC2"/>
                </a:solidFill>
              </a:rPr>
              <a:t>多模态审核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A7BBC2"/>
                </a:solidFill>
              </a:rPr>
              <a:t>自动发布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A7BBC2"/>
                </a:solidFill>
              </a:rPr>
              <a:t>自动覆盖原文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A7BBC2"/>
                </a:solidFill>
              </a:rPr>
              <a:t>全公司复杂权限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A7BBC2"/>
                </a:solidFill>
              </a:rPr>
              <a:t>自主 Agent</a:t>
            </a:r>
            <a:endParaRPr lang="en-US" sz="13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417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27D3C1"/>
                </a:solidFill>
              </a:rPr>
              <a:t>PROJECT 04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7FBFC"/>
                </a:solidFill>
              </a:rPr>
              <a:t>三层产品结构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2850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298448"/>
            <a:ext cx="1325880" cy="0"/>
          </a:xfrm>
          <a:prstGeom prst="line">
            <a:avLst/>
          </a:prstGeom>
          <a:noFill/>
          <a:ln w="38100">
            <a:solidFill>
              <a:srgbClr val="27D3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06640" y="420624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A7BBC2"/>
                </a:solidFill>
              </a:rPr>
              <a:t>AI营销内容智能审核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66928" y="5989320"/>
            <a:ext cx="11018520" cy="393192"/>
          </a:xfrm>
          <a:prstGeom prst="roundRect">
            <a:avLst>
              <a:gd name="adj" fmla="val 11628"/>
            </a:avLst>
          </a:prstGeom>
          <a:solidFill>
            <a:srgbClr val="0A222B"/>
          </a:solidFill>
          <a:ln w="10160">
            <a:solidFill>
              <a:srgbClr val="1641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6099048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7D3C1"/>
                </a:solidFill>
              </a:rPr>
              <a:t>本页重点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609344" y="6053328"/>
            <a:ext cx="9646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7FBFC"/>
                </a:solidFill>
              </a:rPr>
              <a:t>架构图的作用，是说明每一层变化会影响哪些产品模块。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6510528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82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AI营销内容智能审核项目实战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1155680" y="64739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7BB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960120" y="1600200"/>
            <a:ext cx="10241280" cy="932688"/>
          </a:xfrm>
          <a:prstGeom prst="roundRect">
            <a:avLst>
              <a:gd name="adj" fmla="val 3922"/>
            </a:avLst>
          </a:prstGeom>
          <a:solidFill>
            <a:srgbClr val="0B2932"/>
          </a:solidFill>
          <a:ln w="15240">
            <a:solidFill>
              <a:srgbClr val="FF6B4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234440" y="187452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4A"/>
                </a:solidFill>
              </a:rPr>
              <a:t>业务应用层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3246120" y="1883664"/>
            <a:ext cx="7498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F7FBFC"/>
                </a:solidFill>
              </a:rPr>
              <a:t>提交自查｜流程审核｜人工复核｜历史任务｜规则运营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960120" y="2907792"/>
            <a:ext cx="10241280" cy="932688"/>
          </a:xfrm>
          <a:prstGeom prst="roundRect">
            <a:avLst>
              <a:gd name="adj" fmla="val 3922"/>
            </a:avLst>
          </a:prstGeom>
          <a:solidFill>
            <a:srgbClr val="0B2932"/>
          </a:solidFill>
          <a:ln w="15240">
            <a:solidFill>
              <a:srgbClr val="27D3C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234440" y="318211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D3C1"/>
                </a:solidFill>
              </a:rPr>
              <a:t>审核能力层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3246120" y="3191256"/>
            <a:ext cx="7498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F7FBFC"/>
                </a:solidFill>
              </a:rPr>
              <a:t>输入解析｜场景配置｜原子规则｜语义判断｜合并与路由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960120" y="4224528"/>
            <a:ext cx="10241280" cy="932688"/>
          </a:xfrm>
          <a:prstGeom prst="roundRect">
            <a:avLst>
              <a:gd name="adj" fmla="val 3922"/>
            </a:avLst>
          </a:prstGeom>
          <a:solidFill>
            <a:srgbClr val="0B2932"/>
          </a:solidFill>
          <a:ln w="15240">
            <a:solidFill>
              <a:srgbClr val="7BE7D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234440" y="449884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BE7DC"/>
                </a:solidFill>
              </a:rPr>
              <a:t>模型与数据来源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3246120" y="4507992"/>
            <a:ext cx="7498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F7FBFC"/>
                </a:solidFill>
              </a:rPr>
              <a:t>大模型｜商品中心｜活动信息｜授权材料｜当前业务口径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10744200" y="4114800"/>
            <a:ext cx="0" cy="-228600"/>
          </a:xfrm>
          <a:prstGeom prst="line">
            <a:avLst/>
          </a:prstGeom>
          <a:noFill/>
          <a:ln w="20320">
            <a:solidFill>
              <a:srgbClr val="A7BBC2"/>
            </a:solidFill>
            <a:prstDash val="solid"/>
            <a:headEnd type="none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10744200" y="2807208"/>
            <a:ext cx="0" cy="-228600"/>
          </a:xfrm>
          <a:prstGeom prst="line">
            <a:avLst/>
          </a:prstGeom>
          <a:noFill/>
          <a:ln w="20320">
            <a:solidFill>
              <a:srgbClr val="A7BBC2"/>
            </a:solidFill>
            <a:prstDash val="solid"/>
            <a:headEnd type="none"/>
            <a:tailEnd type="triangle"/>
          </a:ln>
        </p:spPr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417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27D3C1"/>
                </a:solidFill>
              </a:rPr>
              <a:t>PROJECT 04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7FBFC"/>
                </a:solidFill>
              </a:rPr>
              <a:t>五个核心数据对象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2850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298448"/>
            <a:ext cx="1325880" cy="0"/>
          </a:xfrm>
          <a:prstGeom prst="line">
            <a:avLst/>
          </a:prstGeom>
          <a:noFill/>
          <a:ln w="38100">
            <a:solidFill>
              <a:srgbClr val="27D3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06640" y="420624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A7BBC2"/>
                </a:solidFill>
              </a:rPr>
              <a:t>AI营销内容智能审核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66928" y="5989320"/>
            <a:ext cx="11018520" cy="393192"/>
          </a:xfrm>
          <a:prstGeom prst="roundRect">
            <a:avLst>
              <a:gd name="adj" fmla="val 11628"/>
            </a:avLst>
          </a:prstGeom>
          <a:solidFill>
            <a:srgbClr val="0A222B"/>
          </a:solidFill>
          <a:ln w="10160">
            <a:solidFill>
              <a:srgbClr val="1641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6099048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7D3C1"/>
                </a:solidFill>
              </a:rPr>
              <a:t>本页重点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609344" y="6053328"/>
            <a:ext cx="9646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7FBFC"/>
                </a:solidFill>
              </a:rPr>
              <a:t>任务、内容、规则、风险和人工结果需要各自有版本和关联。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6510528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82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AI营销内容智能审核项目实战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1155680" y="64739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7BB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621792" y="1965960"/>
            <a:ext cx="1938528" cy="2377440"/>
          </a:xfrm>
          <a:prstGeom prst="roundRect">
            <a:avLst>
              <a:gd name="adj" fmla="val 2830"/>
            </a:avLst>
          </a:prstGeom>
          <a:solidFill>
            <a:srgbClr val="0B2932"/>
          </a:solidFill>
          <a:ln w="15240">
            <a:solidFill>
              <a:srgbClr val="27D3C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31520" y="2130552"/>
            <a:ext cx="1719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FBFC"/>
                </a:solidFill>
              </a:rPr>
              <a:t>审核任务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31520" y="2423160"/>
            <a:ext cx="1719072" cy="1801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A7BBC2"/>
                </a:solidFill>
              </a:rPr>
              <a:t>task_id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A7BBC2"/>
                </a:solidFill>
              </a:rPr>
              <a:t>场景／状态／提交人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2587752" y="3154680"/>
            <a:ext cx="256032" cy="0"/>
          </a:xfrm>
          <a:prstGeom prst="line">
            <a:avLst/>
          </a:prstGeom>
          <a:noFill/>
          <a:ln w="20320">
            <a:solidFill>
              <a:srgbClr val="A7BBC2"/>
            </a:solidFill>
            <a:prstDash val="solid"/>
            <a:headEnd type="none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2907792" y="1965960"/>
            <a:ext cx="1938528" cy="2377440"/>
          </a:xfrm>
          <a:prstGeom prst="roundRect">
            <a:avLst>
              <a:gd name="adj" fmla="val 2830"/>
            </a:avLst>
          </a:prstGeom>
          <a:solidFill>
            <a:srgbClr val="0B2932"/>
          </a:solidFill>
          <a:ln w="15240">
            <a:solidFill>
              <a:srgbClr val="27D3C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017520" y="2130552"/>
            <a:ext cx="1719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FBFC"/>
                </a:solidFill>
              </a:rPr>
              <a:t>内容版本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3017520" y="2423160"/>
            <a:ext cx="1719072" cy="1801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A7BBC2"/>
                </a:solidFill>
              </a:rPr>
              <a:t>version_id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A7BBC2"/>
                </a:solidFill>
              </a:rPr>
              <a:t>原文／业务上下文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4873752" y="3154680"/>
            <a:ext cx="256032" cy="0"/>
          </a:xfrm>
          <a:prstGeom prst="line">
            <a:avLst/>
          </a:prstGeom>
          <a:noFill/>
          <a:ln w="20320">
            <a:solidFill>
              <a:srgbClr val="A7BBC2"/>
            </a:solidFill>
            <a:prstDash val="solid"/>
            <a:headEnd type="none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5193792" y="1965960"/>
            <a:ext cx="1938528" cy="2377440"/>
          </a:xfrm>
          <a:prstGeom prst="roundRect">
            <a:avLst>
              <a:gd name="adj" fmla="val 2830"/>
            </a:avLst>
          </a:prstGeom>
          <a:solidFill>
            <a:srgbClr val="0B2932"/>
          </a:solidFill>
          <a:ln w="15240">
            <a:solidFill>
              <a:srgbClr val="27D3C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303520" y="2130552"/>
            <a:ext cx="1719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FBFC"/>
                </a:solidFill>
              </a:rPr>
              <a:t>规则版本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5303520" y="2423160"/>
            <a:ext cx="1719072" cy="1801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A7BBC2"/>
                </a:solidFill>
              </a:rPr>
              <a:t>rule_set_id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A7BBC2"/>
                </a:solidFill>
              </a:rPr>
              <a:t>启用项／适用范围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7159752" y="3154680"/>
            <a:ext cx="256032" cy="0"/>
          </a:xfrm>
          <a:prstGeom prst="line">
            <a:avLst/>
          </a:prstGeom>
          <a:noFill/>
          <a:ln w="20320">
            <a:solidFill>
              <a:srgbClr val="A7BBC2"/>
            </a:solidFill>
            <a:prstDash val="solid"/>
            <a:headEnd type="none"/>
            <a:tailEnd type="triangle"/>
          </a:ln>
        </p:spPr>
      </p:sp>
      <p:sp>
        <p:nvSpPr>
          <p:cNvPr id="25" name="Shape 22"/>
          <p:cNvSpPr/>
          <p:nvPr/>
        </p:nvSpPr>
        <p:spPr>
          <a:xfrm>
            <a:off x="7479792" y="1965960"/>
            <a:ext cx="1938528" cy="2377440"/>
          </a:xfrm>
          <a:prstGeom prst="roundRect">
            <a:avLst>
              <a:gd name="adj" fmla="val 2830"/>
            </a:avLst>
          </a:prstGeom>
          <a:solidFill>
            <a:srgbClr val="0B2932"/>
          </a:solidFill>
          <a:ln w="15240">
            <a:solidFill>
              <a:srgbClr val="FF6B4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589520" y="2130552"/>
            <a:ext cx="1719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FBFC"/>
                </a:solidFill>
              </a:rPr>
              <a:t>风险对象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7589520" y="2423160"/>
            <a:ext cx="1719072" cy="1801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A7BBC2"/>
                </a:solidFill>
              </a:rPr>
              <a:t>位置／类型／等级／动作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9445752" y="3154680"/>
            <a:ext cx="256032" cy="0"/>
          </a:xfrm>
          <a:prstGeom prst="line">
            <a:avLst/>
          </a:prstGeom>
          <a:noFill/>
          <a:ln w="20320">
            <a:solidFill>
              <a:srgbClr val="A7BBC2"/>
            </a:solidFill>
            <a:prstDash val="solid"/>
            <a:headEnd type="none"/>
            <a:tailEnd type="triangle"/>
          </a:ln>
        </p:spPr>
      </p:sp>
      <p:sp>
        <p:nvSpPr>
          <p:cNvPr id="29" name="Shape 26"/>
          <p:cNvSpPr/>
          <p:nvPr/>
        </p:nvSpPr>
        <p:spPr>
          <a:xfrm>
            <a:off x="9765792" y="1965960"/>
            <a:ext cx="1938528" cy="2377440"/>
          </a:xfrm>
          <a:prstGeom prst="roundRect">
            <a:avLst>
              <a:gd name="adj" fmla="val 2830"/>
            </a:avLst>
          </a:prstGeom>
          <a:solidFill>
            <a:srgbClr val="0B2932"/>
          </a:solidFill>
          <a:ln w="15240">
            <a:solidFill>
              <a:srgbClr val="FF6B4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9875520" y="2130552"/>
            <a:ext cx="1719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FBFC"/>
                </a:solidFill>
              </a:rPr>
              <a:t>人工结果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9875520" y="2423160"/>
            <a:ext cx="1719072" cy="1801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A7BBC2"/>
                </a:solidFill>
              </a:rPr>
              <a:t>结论／调整原因／处理人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3017520" y="4864608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7BE7DC"/>
                </a:solidFill>
              </a:rPr>
              <a:t>内容一旦实质修改 → 生成新版本 → 重新审核</a:t>
            </a:r>
            <a:endParaRPr lang="en-US" sz="17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417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27D3C1"/>
                </a:solidFill>
              </a:rPr>
              <a:t>PROJECT 04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7FBFC"/>
                </a:solidFill>
              </a:rPr>
              <a:t>版本与异常，决定产品能否试点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2850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298448"/>
            <a:ext cx="1325880" cy="0"/>
          </a:xfrm>
          <a:prstGeom prst="line">
            <a:avLst/>
          </a:prstGeom>
          <a:noFill/>
          <a:ln w="38100">
            <a:solidFill>
              <a:srgbClr val="27D3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06640" y="420624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A7BBC2"/>
                </a:solidFill>
              </a:rPr>
              <a:t>AI营销内容智能审核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66928" y="5989320"/>
            <a:ext cx="11018520" cy="393192"/>
          </a:xfrm>
          <a:prstGeom prst="roundRect">
            <a:avLst>
              <a:gd name="adj" fmla="val 11628"/>
            </a:avLst>
          </a:prstGeom>
          <a:solidFill>
            <a:srgbClr val="0A222B"/>
          </a:solidFill>
          <a:ln w="10160">
            <a:solidFill>
              <a:srgbClr val="1641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6099048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7D3C1"/>
                </a:solidFill>
              </a:rPr>
              <a:t>本页重点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609344" y="6053328"/>
            <a:ext cx="9646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7FBFC"/>
                </a:solidFill>
              </a:rPr>
              <a:t>同一任务中的内容、规则和人工结果都必须有清晰记录。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6510528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82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AI营销内容智能审核项目实战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1155680" y="64739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7BB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749808" y="1737360"/>
            <a:ext cx="3337560" cy="3429000"/>
          </a:xfrm>
          <a:prstGeom prst="roundRect">
            <a:avLst>
              <a:gd name="adj" fmla="val 1644"/>
            </a:avLst>
          </a:prstGeom>
          <a:solidFill>
            <a:srgbClr val="0B2932"/>
          </a:solidFill>
          <a:ln w="10160">
            <a:solidFill>
              <a:srgbClr val="28505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49808" y="1737360"/>
            <a:ext cx="73152" cy="3429000"/>
          </a:xfrm>
          <a:prstGeom prst="rect">
            <a:avLst/>
          </a:prstGeom>
          <a:solidFill>
            <a:srgbClr val="27D3C1"/>
          </a:solidFill>
          <a:ln w="12700">
            <a:solidFill>
              <a:srgbClr val="27D3C1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05840" y="1920240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7FBFC"/>
                </a:solidFill>
              </a:rPr>
              <a:t>材料不完整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005840" y="2331720"/>
            <a:ext cx="2880360" cy="2670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7BBC2"/>
                </a:solidFill>
              </a:rPr>
              <a:t>能补齐：提交前补齐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7BBC2"/>
                </a:solidFill>
              </a:rPr>
              <a:t>无法补齐：转人工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7BBC2"/>
                </a:solidFill>
              </a:rPr>
              <a:t>不能让模型自行猜测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4425696" y="1737360"/>
            <a:ext cx="3337560" cy="3429000"/>
          </a:xfrm>
          <a:prstGeom prst="roundRect">
            <a:avLst>
              <a:gd name="adj" fmla="val 1644"/>
            </a:avLst>
          </a:prstGeom>
          <a:solidFill>
            <a:srgbClr val="0B2932"/>
          </a:solidFill>
          <a:ln w="10160">
            <a:solidFill>
              <a:srgbClr val="28505B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425696" y="1737360"/>
            <a:ext cx="73152" cy="3429000"/>
          </a:xfrm>
          <a:prstGeom prst="rect">
            <a:avLst/>
          </a:prstGeom>
          <a:solidFill>
            <a:srgbClr val="7BE7DC"/>
          </a:solidFill>
          <a:ln w="12700">
            <a:solidFill>
              <a:srgbClr val="7BE7DC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681728" y="1920240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7FBFC"/>
                </a:solidFill>
              </a:rPr>
              <a:t>规则正在更新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4681728" y="2331720"/>
            <a:ext cx="2880360" cy="2670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7BBC2"/>
                </a:solidFill>
              </a:rPr>
              <a:t>每次审核绑定规则版本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7BBC2"/>
                </a:solidFill>
              </a:rPr>
              <a:t>新版本只影响新任务或重审任务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8101584" y="1737360"/>
            <a:ext cx="3337560" cy="3429000"/>
          </a:xfrm>
          <a:prstGeom prst="roundRect">
            <a:avLst>
              <a:gd name="adj" fmla="val 1644"/>
            </a:avLst>
          </a:prstGeom>
          <a:solidFill>
            <a:srgbClr val="0B2932"/>
          </a:solidFill>
          <a:ln w="10160">
            <a:solidFill>
              <a:srgbClr val="28505B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101584" y="1737360"/>
            <a:ext cx="73152" cy="3429000"/>
          </a:xfrm>
          <a:prstGeom prst="rect">
            <a:avLst/>
          </a:prstGeom>
          <a:solidFill>
            <a:srgbClr val="FF6B4A"/>
          </a:solidFill>
          <a:ln w="12700">
            <a:solidFill>
              <a:srgbClr val="FF6B4A">
                <a:alpha val="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357616" y="1920240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7FBFC"/>
                </a:solidFill>
              </a:rPr>
              <a:t>人工调整结论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8357616" y="2331720"/>
            <a:ext cx="2880360" cy="2670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7BBC2"/>
                </a:solidFill>
              </a:rPr>
              <a:t>机器原始结果与人工最终结果同时保存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7BBC2"/>
                </a:solidFill>
              </a:rPr>
              <a:t>记录调整原因</a:t>
            </a:r>
            <a:endParaRPr lang="en-US" sz="14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417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59436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27D3C1">
                    <a:alpha val="9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0" dirty="0"/>
          </a:p>
        </p:txBody>
      </p:sp>
      <p:sp>
        <p:nvSpPr>
          <p:cNvPr id="3" name="Shape 1"/>
          <p:cNvSpPr/>
          <p:nvPr/>
        </p:nvSpPr>
        <p:spPr>
          <a:xfrm>
            <a:off x="3200400" y="950976"/>
            <a:ext cx="0" cy="4754880"/>
          </a:xfrm>
          <a:prstGeom prst="line">
            <a:avLst/>
          </a:prstGeom>
          <a:noFill/>
          <a:ln w="12700">
            <a:solidFill>
              <a:srgbClr val="28505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703320" y="1389888"/>
            <a:ext cx="7589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7FBFC"/>
                </a:solidFill>
              </a:rPr>
              <a:t>设计四个核心页面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730752" y="2651760"/>
            <a:ext cx="7178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A7BBC2"/>
                </a:solidFill>
              </a:rPr>
              <a:t>页面不是展示 AI 回复，而是帮助用户定位、理解、处理与复核。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3730752" y="4160520"/>
            <a:ext cx="2057400" cy="438912"/>
          </a:xfrm>
          <a:prstGeom prst="roundRect">
            <a:avLst>
              <a:gd name="adj" fmla="val 10417"/>
            </a:avLst>
          </a:prstGeom>
          <a:solidFill>
            <a:srgbClr val="103641"/>
          </a:solidFill>
          <a:ln w="12700">
            <a:solidFill>
              <a:srgbClr val="27D3C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13632" y="4297680"/>
            <a:ext cx="1691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BE7DC"/>
                </a:solidFill>
              </a:rPr>
              <a:t>20 MIN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6510528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82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AI营销内容智能审核项目实战 · SECTION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1155680" y="64739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7BB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8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417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27D3C1"/>
                </a:solidFill>
              </a:rPr>
              <a:t>PROJECT 04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7FBFC"/>
                </a:solidFill>
              </a:rPr>
              <a:t>页面 1｜审核任务列表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2850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298448"/>
            <a:ext cx="1325880" cy="0"/>
          </a:xfrm>
          <a:prstGeom prst="line">
            <a:avLst/>
          </a:prstGeom>
          <a:noFill/>
          <a:ln w="38100">
            <a:solidFill>
              <a:srgbClr val="27D3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06640" y="420624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A7BBC2"/>
                </a:solidFill>
              </a:rPr>
              <a:t>AI营销内容智能审核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66928" y="5989320"/>
            <a:ext cx="11018520" cy="393192"/>
          </a:xfrm>
          <a:prstGeom prst="roundRect">
            <a:avLst>
              <a:gd name="adj" fmla="val 11628"/>
            </a:avLst>
          </a:prstGeom>
          <a:solidFill>
            <a:srgbClr val="0A222B"/>
          </a:solidFill>
          <a:ln w="10160">
            <a:solidFill>
              <a:srgbClr val="1641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6099048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7D3C1"/>
                </a:solidFill>
              </a:rPr>
              <a:t>本页重点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609344" y="6053328"/>
            <a:ext cx="9646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7FBFC"/>
                </a:solidFill>
              </a:rPr>
              <a:t>不同角色看到同一任务，但排序、筛选和待办重点不同。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6510528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82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AI营销内容智能审核项目实战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1155680" y="64739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7BB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658368" y="1572768"/>
            <a:ext cx="7498080" cy="4069080"/>
          </a:xfrm>
          <a:prstGeom prst="roundRect">
            <a:avLst>
              <a:gd name="adj" fmla="val 1124"/>
            </a:avLst>
          </a:prstGeom>
          <a:solidFill>
            <a:srgbClr val="F4F7F8"/>
          </a:solidFill>
          <a:ln w="10160">
            <a:solidFill>
              <a:srgbClr val="6C8992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58368" y="1572768"/>
            <a:ext cx="7498080" cy="384048"/>
          </a:xfrm>
          <a:prstGeom prst="rect">
            <a:avLst/>
          </a:prstGeom>
          <a:solidFill>
            <a:srgbClr val="DDE7EA"/>
          </a:solidFill>
          <a:ln w="12700">
            <a:solidFill>
              <a:srgbClr val="DDE7E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95528" y="1700784"/>
            <a:ext cx="91440" cy="91440"/>
          </a:xfrm>
          <a:prstGeom prst="ellipse">
            <a:avLst/>
          </a:prstGeom>
          <a:solidFill>
            <a:srgbClr val="F27867"/>
          </a:solidFill>
          <a:ln w="12700">
            <a:solidFill>
              <a:srgbClr val="F2786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996696" y="1700784"/>
            <a:ext cx="91440" cy="91440"/>
          </a:xfrm>
          <a:prstGeom prst="ellipse">
            <a:avLst/>
          </a:prstGeom>
          <a:solidFill>
            <a:srgbClr val="F5C85B"/>
          </a:solidFill>
          <a:ln w="12700">
            <a:solidFill>
              <a:srgbClr val="F5C85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197864" y="1700784"/>
            <a:ext cx="91440" cy="91440"/>
          </a:xfrm>
          <a:prstGeom prst="ellipse">
            <a:avLst/>
          </a:prstGeom>
          <a:solidFill>
            <a:srgbClr val="55C6A4"/>
          </a:solidFill>
          <a:ln w="12700">
            <a:solidFill>
              <a:srgbClr val="55C6A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298448" y="1682496"/>
            <a:ext cx="6217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1505A"/>
                </a:solidFill>
              </a:rPr>
              <a:t>营销内容审核平台 · 任务列表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822960" y="2157984"/>
            <a:ext cx="1143000" cy="3246120"/>
          </a:xfrm>
          <a:prstGeom prst="rect">
            <a:avLst/>
          </a:prstGeom>
          <a:solidFill>
            <a:srgbClr val="153944"/>
          </a:solidFill>
          <a:ln w="12700">
            <a:solidFill>
              <a:srgbClr val="15394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41832" y="24871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7BE7DC"/>
                </a:solidFill>
              </a:rPr>
              <a:t>任务列表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941832" y="299008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8CAD0"/>
                </a:solidFill>
              </a:rPr>
              <a:t>待我处理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941832" y="349300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8CAD0"/>
                </a:solidFill>
              </a:rPr>
              <a:t>规则管理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941832" y="399592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8CAD0"/>
                </a:solidFill>
              </a:rPr>
              <a:t>数据看板</a:t>
            </a:r>
            <a:endParaRPr lang="en-US" sz="750" dirty="0"/>
          </a:p>
        </p:txBody>
      </p:sp>
      <p:sp>
        <p:nvSpPr>
          <p:cNvPr id="24" name="Shape 21"/>
          <p:cNvSpPr/>
          <p:nvPr/>
        </p:nvSpPr>
        <p:spPr>
          <a:xfrm>
            <a:off x="2176272" y="2359152"/>
            <a:ext cx="5394960" cy="411480"/>
          </a:xfrm>
          <a:prstGeom prst="roundRect">
            <a:avLst>
              <a:gd name="adj" fmla="val 4444"/>
            </a:avLst>
          </a:prstGeom>
          <a:solidFill>
            <a:srgbClr val="E8EEF0"/>
          </a:solidFill>
          <a:ln w="12700">
            <a:solidFill>
              <a:srgbClr val="CBD9DD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331720" y="2505456"/>
            <a:ext cx="822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31505A"/>
                </a:solidFill>
              </a:rPr>
              <a:t>任务名称</a:t>
            </a:r>
            <a:endParaRPr lang="en-US" sz="680" dirty="0"/>
          </a:p>
        </p:txBody>
      </p:sp>
      <p:sp>
        <p:nvSpPr>
          <p:cNvPr id="26" name="Text 23"/>
          <p:cNvSpPr/>
          <p:nvPr/>
        </p:nvSpPr>
        <p:spPr>
          <a:xfrm>
            <a:off x="3355848" y="2505456"/>
            <a:ext cx="822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31505A"/>
                </a:solidFill>
              </a:rPr>
              <a:t>场景</a:t>
            </a:r>
            <a:endParaRPr lang="en-US" sz="680" dirty="0"/>
          </a:p>
        </p:txBody>
      </p:sp>
      <p:sp>
        <p:nvSpPr>
          <p:cNvPr id="27" name="Text 24"/>
          <p:cNvSpPr/>
          <p:nvPr/>
        </p:nvSpPr>
        <p:spPr>
          <a:xfrm>
            <a:off x="4379976" y="2505456"/>
            <a:ext cx="822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31505A"/>
                </a:solidFill>
              </a:rPr>
              <a:t>风险</a:t>
            </a:r>
            <a:endParaRPr lang="en-US" sz="680" dirty="0"/>
          </a:p>
        </p:txBody>
      </p:sp>
      <p:sp>
        <p:nvSpPr>
          <p:cNvPr id="28" name="Text 25"/>
          <p:cNvSpPr/>
          <p:nvPr/>
        </p:nvSpPr>
        <p:spPr>
          <a:xfrm>
            <a:off x="5404104" y="2505456"/>
            <a:ext cx="822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31505A"/>
                </a:solidFill>
              </a:rPr>
              <a:t>状态</a:t>
            </a:r>
            <a:endParaRPr lang="en-US" sz="680" dirty="0"/>
          </a:p>
        </p:txBody>
      </p:sp>
      <p:sp>
        <p:nvSpPr>
          <p:cNvPr id="29" name="Text 26"/>
          <p:cNvSpPr/>
          <p:nvPr/>
        </p:nvSpPr>
        <p:spPr>
          <a:xfrm>
            <a:off x="6428232" y="2505456"/>
            <a:ext cx="822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31505A"/>
                </a:solidFill>
              </a:rPr>
              <a:t>待处理人</a:t>
            </a:r>
            <a:endParaRPr lang="en-US" sz="680" dirty="0"/>
          </a:p>
        </p:txBody>
      </p:sp>
      <p:sp>
        <p:nvSpPr>
          <p:cNvPr id="30" name="Shape 27"/>
          <p:cNvSpPr/>
          <p:nvPr/>
        </p:nvSpPr>
        <p:spPr>
          <a:xfrm>
            <a:off x="2176272" y="2889504"/>
            <a:ext cx="5394960" cy="438912"/>
          </a:xfrm>
          <a:prstGeom prst="rect">
            <a:avLst/>
          </a:prstGeom>
          <a:solidFill>
            <a:srgbClr val="F7FAFB"/>
          </a:solidFill>
          <a:ln w="5080">
            <a:solidFill>
              <a:srgbClr val="D8E2E5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2331720" y="3044952"/>
            <a:ext cx="1234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70" dirty="0">
                <a:solidFill>
                  <a:srgbClr val="294953"/>
                </a:solidFill>
              </a:rPr>
              <a:t>活动文案审核-104</a:t>
            </a:r>
            <a:endParaRPr lang="en-US" sz="670" dirty="0"/>
          </a:p>
        </p:txBody>
      </p:sp>
      <p:sp>
        <p:nvSpPr>
          <p:cNvPr id="32" name="Text 29"/>
          <p:cNvSpPr/>
          <p:nvPr/>
        </p:nvSpPr>
        <p:spPr>
          <a:xfrm>
            <a:off x="3419856" y="3044952"/>
            <a:ext cx="640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70" dirty="0">
                <a:solidFill>
                  <a:srgbClr val="52717B"/>
                </a:solidFill>
              </a:rPr>
              <a:t>商品页</a:t>
            </a:r>
            <a:endParaRPr lang="en-US" sz="670" dirty="0"/>
          </a:p>
        </p:txBody>
      </p:sp>
      <p:sp>
        <p:nvSpPr>
          <p:cNvPr id="33" name="Text 30"/>
          <p:cNvSpPr/>
          <p:nvPr/>
        </p:nvSpPr>
        <p:spPr>
          <a:xfrm>
            <a:off x="4462272" y="3044952"/>
            <a:ext cx="548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70" b="1" dirty="0">
                <a:solidFill>
                  <a:srgbClr val="C4962C"/>
                </a:solidFill>
              </a:rPr>
              <a:t>1 中</a:t>
            </a:r>
            <a:endParaRPr lang="en-US" sz="670" dirty="0"/>
          </a:p>
        </p:txBody>
      </p:sp>
      <p:sp>
        <p:nvSpPr>
          <p:cNvPr id="34" name="Text 31"/>
          <p:cNvSpPr/>
          <p:nvPr/>
        </p:nvSpPr>
        <p:spPr>
          <a:xfrm>
            <a:off x="5413248" y="3044952"/>
            <a:ext cx="731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70" dirty="0">
                <a:solidFill>
                  <a:srgbClr val="294953"/>
                </a:solidFill>
              </a:rPr>
              <a:t>待修改</a:t>
            </a:r>
            <a:endParaRPr lang="en-US" sz="670" dirty="0"/>
          </a:p>
        </p:txBody>
      </p:sp>
      <p:sp>
        <p:nvSpPr>
          <p:cNvPr id="35" name="Shape 32"/>
          <p:cNvSpPr/>
          <p:nvPr/>
        </p:nvSpPr>
        <p:spPr>
          <a:xfrm>
            <a:off x="2176272" y="3438144"/>
            <a:ext cx="5394960" cy="438912"/>
          </a:xfrm>
          <a:prstGeom prst="rect">
            <a:avLst/>
          </a:prstGeom>
          <a:solidFill>
            <a:srgbClr val="FFFFFF"/>
          </a:solidFill>
          <a:ln w="5080">
            <a:solidFill>
              <a:srgbClr val="D8E2E5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2331720" y="3593592"/>
            <a:ext cx="1234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70" dirty="0">
                <a:solidFill>
                  <a:srgbClr val="294953"/>
                </a:solidFill>
              </a:rPr>
              <a:t>活动文案审核-105</a:t>
            </a:r>
            <a:endParaRPr lang="en-US" sz="670" dirty="0"/>
          </a:p>
        </p:txBody>
      </p:sp>
      <p:sp>
        <p:nvSpPr>
          <p:cNvPr id="37" name="Text 34"/>
          <p:cNvSpPr/>
          <p:nvPr/>
        </p:nvSpPr>
        <p:spPr>
          <a:xfrm>
            <a:off x="3419856" y="3593592"/>
            <a:ext cx="640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70" dirty="0">
                <a:solidFill>
                  <a:srgbClr val="52717B"/>
                </a:solidFill>
              </a:rPr>
              <a:t>活动页</a:t>
            </a:r>
            <a:endParaRPr lang="en-US" sz="670" dirty="0"/>
          </a:p>
        </p:txBody>
      </p:sp>
      <p:sp>
        <p:nvSpPr>
          <p:cNvPr id="38" name="Text 35"/>
          <p:cNvSpPr/>
          <p:nvPr/>
        </p:nvSpPr>
        <p:spPr>
          <a:xfrm>
            <a:off x="4462272" y="3593592"/>
            <a:ext cx="548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70" b="1" dirty="0">
                <a:solidFill>
                  <a:srgbClr val="DA5B43"/>
                </a:solidFill>
              </a:rPr>
              <a:t>3 高</a:t>
            </a:r>
            <a:endParaRPr lang="en-US" sz="670" dirty="0"/>
          </a:p>
        </p:txBody>
      </p:sp>
      <p:sp>
        <p:nvSpPr>
          <p:cNvPr id="39" name="Text 36"/>
          <p:cNvSpPr/>
          <p:nvPr/>
        </p:nvSpPr>
        <p:spPr>
          <a:xfrm>
            <a:off x="5413248" y="3593592"/>
            <a:ext cx="731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70" dirty="0">
                <a:solidFill>
                  <a:srgbClr val="294953"/>
                </a:solidFill>
              </a:rPr>
              <a:t>待人工</a:t>
            </a:r>
            <a:endParaRPr lang="en-US" sz="670" dirty="0"/>
          </a:p>
        </p:txBody>
      </p:sp>
      <p:sp>
        <p:nvSpPr>
          <p:cNvPr id="40" name="Shape 37"/>
          <p:cNvSpPr/>
          <p:nvPr/>
        </p:nvSpPr>
        <p:spPr>
          <a:xfrm>
            <a:off x="2176272" y="3986784"/>
            <a:ext cx="5394960" cy="438912"/>
          </a:xfrm>
          <a:prstGeom prst="rect">
            <a:avLst/>
          </a:prstGeom>
          <a:solidFill>
            <a:srgbClr val="F7FAFB"/>
          </a:solidFill>
          <a:ln w="5080">
            <a:solidFill>
              <a:srgbClr val="D8E2E5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2331720" y="4142232"/>
            <a:ext cx="1234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70" dirty="0">
                <a:solidFill>
                  <a:srgbClr val="294953"/>
                </a:solidFill>
              </a:rPr>
              <a:t>活动文案审核-106</a:t>
            </a:r>
            <a:endParaRPr lang="en-US" sz="670" dirty="0"/>
          </a:p>
        </p:txBody>
      </p:sp>
      <p:sp>
        <p:nvSpPr>
          <p:cNvPr id="42" name="Text 39"/>
          <p:cNvSpPr/>
          <p:nvPr/>
        </p:nvSpPr>
        <p:spPr>
          <a:xfrm>
            <a:off x="3419856" y="4142232"/>
            <a:ext cx="640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70" dirty="0">
                <a:solidFill>
                  <a:srgbClr val="52717B"/>
                </a:solidFill>
              </a:rPr>
              <a:t>商品页</a:t>
            </a:r>
            <a:endParaRPr lang="en-US" sz="670" dirty="0"/>
          </a:p>
        </p:txBody>
      </p:sp>
      <p:sp>
        <p:nvSpPr>
          <p:cNvPr id="43" name="Text 40"/>
          <p:cNvSpPr/>
          <p:nvPr/>
        </p:nvSpPr>
        <p:spPr>
          <a:xfrm>
            <a:off x="4462272" y="4142232"/>
            <a:ext cx="548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70" b="1" dirty="0">
                <a:solidFill>
                  <a:srgbClr val="C4962C"/>
                </a:solidFill>
              </a:rPr>
              <a:t>失败</a:t>
            </a:r>
            <a:endParaRPr lang="en-US" sz="670" dirty="0"/>
          </a:p>
        </p:txBody>
      </p:sp>
      <p:sp>
        <p:nvSpPr>
          <p:cNvPr id="44" name="Text 41"/>
          <p:cNvSpPr/>
          <p:nvPr/>
        </p:nvSpPr>
        <p:spPr>
          <a:xfrm>
            <a:off x="5413248" y="4142232"/>
            <a:ext cx="731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70" dirty="0">
                <a:solidFill>
                  <a:srgbClr val="294953"/>
                </a:solidFill>
              </a:rPr>
              <a:t>机器失败</a:t>
            </a:r>
            <a:endParaRPr lang="en-US" sz="670" dirty="0"/>
          </a:p>
        </p:txBody>
      </p:sp>
      <p:sp>
        <p:nvSpPr>
          <p:cNvPr id="45" name="Shape 42"/>
          <p:cNvSpPr/>
          <p:nvPr/>
        </p:nvSpPr>
        <p:spPr>
          <a:xfrm>
            <a:off x="2176272" y="4535424"/>
            <a:ext cx="5394960" cy="438912"/>
          </a:xfrm>
          <a:prstGeom prst="rect">
            <a:avLst/>
          </a:prstGeom>
          <a:solidFill>
            <a:srgbClr val="FFFFFF"/>
          </a:solidFill>
          <a:ln w="5080">
            <a:solidFill>
              <a:srgbClr val="D8E2E5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2331720" y="4690872"/>
            <a:ext cx="1234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70" dirty="0">
                <a:solidFill>
                  <a:srgbClr val="294953"/>
                </a:solidFill>
              </a:rPr>
              <a:t>活动文案审核-107</a:t>
            </a:r>
            <a:endParaRPr lang="en-US" sz="670" dirty="0"/>
          </a:p>
        </p:txBody>
      </p:sp>
      <p:sp>
        <p:nvSpPr>
          <p:cNvPr id="47" name="Text 44"/>
          <p:cNvSpPr/>
          <p:nvPr/>
        </p:nvSpPr>
        <p:spPr>
          <a:xfrm>
            <a:off x="3419856" y="4690872"/>
            <a:ext cx="640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70" dirty="0">
                <a:solidFill>
                  <a:srgbClr val="52717B"/>
                </a:solidFill>
              </a:rPr>
              <a:t>活动页</a:t>
            </a:r>
            <a:endParaRPr lang="en-US" sz="670" dirty="0"/>
          </a:p>
        </p:txBody>
      </p:sp>
      <p:sp>
        <p:nvSpPr>
          <p:cNvPr id="48" name="Text 45"/>
          <p:cNvSpPr/>
          <p:nvPr/>
        </p:nvSpPr>
        <p:spPr>
          <a:xfrm>
            <a:off x="4462272" y="4690872"/>
            <a:ext cx="548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70" b="1" dirty="0">
                <a:solidFill>
                  <a:srgbClr val="C4962C"/>
                </a:solidFill>
              </a:rPr>
              <a:t>1 中</a:t>
            </a:r>
            <a:endParaRPr lang="en-US" sz="670" dirty="0"/>
          </a:p>
        </p:txBody>
      </p:sp>
      <p:sp>
        <p:nvSpPr>
          <p:cNvPr id="49" name="Text 46"/>
          <p:cNvSpPr/>
          <p:nvPr/>
        </p:nvSpPr>
        <p:spPr>
          <a:xfrm>
            <a:off x="5413248" y="4690872"/>
            <a:ext cx="731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70" dirty="0">
                <a:solidFill>
                  <a:srgbClr val="294953"/>
                </a:solidFill>
              </a:rPr>
              <a:t>待修改</a:t>
            </a:r>
            <a:endParaRPr lang="en-US" sz="670" dirty="0"/>
          </a:p>
        </p:txBody>
      </p:sp>
      <p:sp>
        <p:nvSpPr>
          <p:cNvPr id="50" name="Shape 47"/>
          <p:cNvSpPr/>
          <p:nvPr/>
        </p:nvSpPr>
        <p:spPr>
          <a:xfrm>
            <a:off x="8458200" y="1572768"/>
            <a:ext cx="3063240" cy="1188720"/>
          </a:xfrm>
          <a:prstGeom prst="roundRect">
            <a:avLst>
              <a:gd name="adj" fmla="val 4615"/>
            </a:avLst>
          </a:prstGeom>
          <a:solidFill>
            <a:srgbClr val="0B2932"/>
          </a:solidFill>
          <a:ln w="10160">
            <a:solidFill>
              <a:srgbClr val="28505B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8458200" y="1572768"/>
            <a:ext cx="73152" cy="1188720"/>
          </a:xfrm>
          <a:prstGeom prst="rect">
            <a:avLst/>
          </a:prstGeom>
          <a:solidFill>
            <a:srgbClr val="27D3C1"/>
          </a:solidFill>
          <a:ln w="12700">
            <a:solidFill>
              <a:srgbClr val="27D3C1">
                <a:alpha val="0"/>
              </a:srgbClr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8714232" y="175564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7FBFC"/>
                </a:solidFill>
              </a:rPr>
              <a:t>列表必须看懂</a:t>
            </a:r>
            <a:endParaRPr lang="en-US" sz="1500" dirty="0"/>
          </a:p>
        </p:txBody>
      </p:sp>
      <p:sp>
        <p:nvSpPr>
          <p:cNvPr id="53" name="Text 50"/>
          <p:cNvSpPr/>
          <p:nvPr/>
        </p:nvSpPr>
        <p:spPr>
          <a:xfrm>
            <a:off x="8714232" y="2167128"/>
            <a:ext cx="26060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A7BBC2"/>
                </a:solidFill>
              </a:rPr>
              <a:t>场景、版本、风险、状态、待处理人</a:t>
            </a:r>
            <a:endParaRPr lang="en-US" sz="1150" dirty="0"/>
          </a:p>
        </p:txBody>
      </p:sp>
      <p:sp>
        <p:nvSpPr>
          <p:cNvPr id="54" name="Shape 51"/>
          <p:cNvSpPr/>
          <p:nvPr/>
        </p:nvSpPr>
        <p:spPr>
          <a:xfrm>
            <a:off x="8458200" y="2999232"/>
            <a:ext cx="3063240" cy="1188720"/>
          </a:xfrm>
          <a:prstGeom prst="roundRect">
            <a:avLst>
              <a:gd name="adj" fmla="val 4615"/>
            </a:avLst>
          </a:prstGeom>
          <a:solidFill>
            <a:srgbClr val="0B2932"/>
          </a:solidFill>
          <a:ln w="10160">
            <a:solidFill>
              <a:srgbClr val="28505B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8458200" y="2999232"/>
            <a:ext cx="73152" cy="1188720"/>
          </a:xfrm>
          <a:prstGeom prst="rect">
            <a:avLst/>
          </a:prstGeom>
          <a:solidFill>
            <a:srgbClr val="FF6B4A"/>
          </a:solidFill>
          <a:ln w="12700">
            <a:solidFill>
              <a:srgbClr val="FF6B4A">
                <a:alpha val="0"/>
              </a:srgbClr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8714232" y="318211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7FBFC"/>
                </a:solidFill>
              </a:rPr>
              <a:t>角色默认排序</a:t>
            </a:r>
            <a:endParaRPr lang="en-US" sz="1500" dirty="0"/>
          </a:p>
        </p:txBody>
      </p:sp>
      <p:sp>
        <p:nvSpPr>
          <p:cNvPr id="57" name="Text 54"/>
          <p:cNvSpPr/>
          <p:nvPr/>
        </p:nvSpPr>
        <p:spPr>
          <a:xfrm>
            <a:off x="8714232" y="3593592"/>
            <a:ext cx="26060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A7BBC2"/>
                </a:solidFill>
              </a:rPr>
              <a:t>运营看自己的任务；审核员优先看高风险与超时任务</a:t>
            </a:r>
            <a:endParaRPr lang="en-US" sz="1150" dirty="0"/>
          </a:p>
        </p:txBody>
      </p:sp>
      <p:sp>
        <p:nvSpPr>
          <p:cNvPr id="58" name="Shape 55"/>
          <p:cNvSpPr/>
          <p:nvPr/>
        </p:nvSpPr>
        <p:spPr>
          <a:xfrm>
            <a:off x="8458200" y="4425696"/>
            <a:ext cx="3063240" cy="1188720"/>
          </a:xfrm>
          <a:prstGeom prst="roundRect">
            <a:avLst>
              <a:gd name="adj" fmla="val 4615"/>
            </a:avLst>
          </a:prstGeom>
          <a:solidFill>
            <a:srgbClr val="0B2932"/>
          </a:solidFill>
          <a:ln w="10160">
            <a:solidFill>
              <a:srgbClr val="28505B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8458200" y="4425696"/>
            <a:ext cx="73152" cy="1188720"/>
          </a:xfrm>
          <a:prstGeom prst="rect">
            <a:avLst/>
          </a:prstGeom>
          <a:solidFill>
            <a:srgbClr val="F6C453"/>
          </a:solidFill>
          <a:ln w="12700">
            <a:solidFill>
              <a:srgbClr val="F6C453">
                <a:alpha val="0"/>
              </a:srgbClr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8714232" y="4608576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7FBFC"/>
                </a:solidFill>
              </a:rPr>
              <a:t>失败不能伪装</a:t>
            </a:r>
            <a:endParaRPr lang="en-US" sz="1500" dirty="0"/>
          </a:p>
        </p:txBody>
      </p:sp>
      <p:sp>
        <p:nvSpPr>
          <p:cNvPr id="61" name="Text 58"/>
          <p:cNvSpPr/>
          <p:nvPr/>
        </p:nvSpPr>
        <p:spPr>
          <a:xfrm>
            <a:off x="8714232" y="5020056"/>
            <a:ext cx="26060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A7BBC2"/>
                </a:solidFill>
              </a:rPr>
              <a:t>机器失败不能混进“通过”结果</a:t>
            </a:r>
            <a:endParaRPr lang="en-US" sz="11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417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27D3C1"/>
                </a:solidFill>
              </a:rPr>
              <a:t>PROJECT 04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7FBFC"/>
                </a:solidFill>
              </a:rPr>
              <a:t>页面 2｜内容提交页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2850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298448"/>
            <a:ext cx="1325880" cy="0"/>
          </a:xfrm>
          <a:prstGeom prst="line">
            <a:avLst/>
          </a:prstGeom>
          <a:noFill/>
          <a:ln w="38100">
            <a:solidFill>
              <a:srgbClr val="27D3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06640" y="420624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A7BBC2"/>
                </a:solidFill>
              </a:rPr>
              <a:t>AI营销内容智能审核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66928" y="5989320"/>
            <a:ext cx="11018520" cy="393192"/>
          </a:xfrm>
          <a:prstGeom prst="roundRect">
            <a:avLst>
              <a:gd name="adj" fmla="val 11628"/>
            </a:avLst>
          </a:prstGeom>
          <a:solidFill>
            <a:srgbClr val="0A222B"/>
          </a:solidFill>
          <a:ln w="10160">
            <a:solidFill>
              <a:srgbClr val="1641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6099048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7D3C1"/>
                </a:solidFill>
              </a:rPr>
              <a:t>本页重点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609344" y="6053328"/>
            <a:ext cx="9646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7FBFC"/>
                </a:solidFill>
              </a:rPr>
              <a:t>场景决定必填上下文；提交前先做完整性检查。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6510528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82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AI营销内容智能审核项目实战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1155680" y="64739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7BB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658368" y="1572768"/>
            <a:ext cx="7498080" cy="4069080"/>
          </a:xfrm>
          <a:prstGeom prst="roundRect">
            <a:avLst>
              <a:gd name="adj" fmla="val 1124"/>
            </a:avLst>
          </a:prstGeom>
          <a:solidFill>
            <a:srgbClr val="F4F7F8"/>
          </a:solidFill>
          <a:ln w="10160">
            <a:solidFill>
              <a:srgbClr val="6C8992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58368" y="1572768"/>
            <a:ext cx="7498080" cy="384048"/>
          </a:xfrm>
          <a:prstGeom prst="rect">
            <a:avLst/>
          </a:prstGeom>
          <a:solidFill>
            <a:srgbClr val="DDE7EA"/>
          </a:solidFill>
          <a:ln w="12700">
            <a:solidFill>
              <a:srgbClr val="DDE7E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95528" y="1700784"/>
            <a:ext cx="91440" cy="91440"/>
          </a:xfrm>
          <a:prstGeom prst="ellipse">
            <a:avLst/>
          </a:prstGeom>
          <a:solidFill>
            <a:srgbClr val="F27867"/>
          </a:solidFill>
          <a:ln w="12700">
            <a:solidFill>
              <a:srgbClr val="F2786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996696" y="1700784"/>
            <a:ext cx="91440" cy="91440"/>
          </a:xfrm>
          <a:prstGeom prst="ellipse">
            <a:avLst/>
          </a:prstGeom>
          <a:solidFill>
            <a:srgbClr val="F5C85B"/>
          </a:solidFill>
          <a:ln w="12700">
            <a:solidFill>
              <a:srgbClr val="F5C85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197864" y="1700784"/>
            <a:ext cx="91440" cy="91440"/>
          </a:xfrm>
          <a:prstGeom prst="ellipse">
            <a:avLst/>
          </a:prstGeom>
          <a:solidFill>
            <a:srgbClr val="55C6A4"/>
          </a:solidFill>
          <a:ln w="12700">
            <a:solidFill>
              <a:srgbClr val="55C6A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298448" y="1682496"/>
            <a:ext cx="6217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1505A"/>
                </a:solidFill>
              </a:rPr>
              <a:t>新建审核任务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914400" y="2212848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94953"/>
                </a:solidFill>
              </a:rPr>
              <a:t>业务上下文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914400" y="2542032"/>
            <a:ext cx="914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52717B"/>
                </a:solidFill>
              </a:rPr>
              <a:t>审核场景 *</a:t>
            </a:r>
            <a:endParaRPr lang="en-US" sz="650" dirty="0"/>
          </a:p>
        </p:txBody>
      </p:sp>
      <p:sp>
        <p:nvSpPr>
          <p:cNvPr id="21" name="Shape 18"/>
          <p:cNvSpPr/>
          <p:nvPr/>
        </p:nvSpPr>
        <p:spPr>
          <a:xfrm>
            <a:off x="1874520" y="2450592"/>
            <a:ext cx="1965960" cy="29260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6350">
            <a:solidFill>
              <a:srgbClr val="C3D2D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14400" y="3090672"/>
            <a:ext cx="914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52717B"/>
                </a:solidFill>
              </a:rPr>
              <a:t>发布渠道 *</a:t>
            </a:r>
            <a:endParaRPr lang="en-US" sz="650" dirty="0"/>
          </a:p>
        </p:txBody>
      </p:sp>
      <p:sp>
        <p:nvSpPr>
          <p:cNvPr id="23" name="Shape 20"/>
          <p:cNvSpPr/>
          <p:nvPr/>
        </p:nvSpPr>
        <p:spPr>
          <a:xfrm>
            <a:off x="1874520" y="2999232"/>
            <a:ext cx="1965960" cy="29260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6350">
            <a:solidFill>
              <a:srgbClr val="C3D2D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14400" y="3639312"/>
            <a:ext cx="914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52717B"/>
                </a:solidFill>
              </a:rPr>
              <a:t>商品对象 *</a:t>
            </a:r>
            <a:endParaRPr lang="en-US" sz="650" dirty="0"/>
          </a:p>
        </p:txBody>
      </p:sp>
      <p:sp>
        <p:nvSpPr>
          <p:cNvPr id="25" name="Shape 22"/>
          <p:cNvSpPr/>
          <p:nvPr/>
        </p:nvSpPr>
        <p:spPr>
          <a:xfrm>
            <a:off x="1874520" y="3547872"/>
            <a:ext cx="1965960" cy="29260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6350">
            <a:solidFill>
              <a:srgbClr val="C3D2D7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14400" y="4187952"/>
            <a:ext cx="914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52717B"/>
                </a:solidFill>
              </a:rPr>
              <a:t>活动周期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1874520" y="4096512"/>
            <a:ext cx="1965960" cy="29260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6350">
            <a:solidFill>
              <a:srgbClr val="C3D2D7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914400" y="4736592"/>
            <a:ext cx="914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52717B"/>
                </a:solidFill>
              </a:rPr>
              <a:t>授权材料</a:t>
            </a:r>
            <a:endParaRPr lang="en-US" sz="650" dirty="0"/>
          </a:p>
        </p:txBody>
      </p:sp>
      <p:sp>
        <p:nvSpPr>
          <p:cNvPr id="29" name="Shape 26"/>
          <p:cNvSpPr/>
          <p:nvPr/>
        </p:nvSpPr>
        <p:spPr>
          <a:xfrm>
            <a:off x="1874520" y="4645152"/>
            <a:ext cx="1965960" cy="29260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6350">
            <a:solidFill>
              <a:srgbClr val="C3D2D7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187952" y="2212848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94953"/>
                </a:solidFill>
              </a:rPr>
              <a:t>营销正文 *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4187952" y="2468880"/>
            <a:ext cx="3611880" cy="2423160"/>
          </a:xfrm>
          <a:prstGeom prst="roundRect">
            <a:avLst>
              <a:gd name="adj" fmla="val 1132"/>
            </a:avLst>
          </a:prstGeom>
          <a:solidFill>
            <a:srgbClr val="FFFFFF"/>
          </a:solidFill>
          <a:ln w="6350">
            <a:solidFill>
              <a:srgbClr val="C3D2D7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416552" y="2724912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1505A"/>
                </a:solidFill>
              </a:rPr>
              <a:t>全网最值得买的胶原蛋白饮……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6537960" y="5047488"/>
            <a:ext cx="1261872" cy="347472"/>
          </a:xfrm>
          <a:prstGeom prst="roundRect">
            <a:avLst>
              <a:gd name="adj" fmla="val 10526"/>
            </a:avLst>
          </a:prstGeom>
          <a:solidFill>
            <a:srgbClr val="1EB8A7"/>
          </a:solidFill>
          <a:ln w="12700">
            <a:solidFill>
              <a:srgbClr val="1EB8A7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784848" y="5157216"/>
            <a:ext cx="7589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提交预审</a:t>
            </a:r>
            <a:endParaRPr lang="en-US" sz="700" dirty="0"/>
          </a:p>
        </p:txBody>
      </p:sp>
      <p:sp>
        <p:nvSpPr>
          <p:cNvPr id="35" name="Shape 32"/>
          <p:cNvSpPr/>
          <p:nvPr/>
        </p:nvSpPr>
        <p:spPr>
          <a:xfrm>
            <a:off x="8458200" y="1572768"/>
            <a:ext cx="3063240" cy="1188720"/>
          </a:xfrm>
          <a:prstGeom prst="roundRect">
            <a:avLst>
              <a:gd name="adj" fmla="val 4615"/>
            </a:avLst>
          </a:prstGeom>
          <a:solidFill>
            <a:srgbClr val="0B2932"/>
          </a:solidFill>
          <a:ln w="10160">
            <a:solidFill>
              <a:srgbClr val="28505B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8458200" y="1572768"/>
            <a:ext cx="73152" cy="1188720"/>
          </a:xfrm>
          <a:prstGeom prst="rect">
            <a:avLst/>
          </a:prstGeom>
          <a:solidFill>
            <a:srgbClr val="27D3C1"/>
          </a:solidFill>
          <a:ln w="12700">
            <a:solidFill>
              <a:srgbClr val="27D3C1">
                <a:alpha val="0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8714232" y="175564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7FBFC"/>
                </a:solidFill>
              </a:rPr>
              <a:t>动态字段</a:t>
            </a:r>
            <a:endParaRPr lang="en-US" sz="1500" dirty="0"/>
          </a:p>
        </p:txBody>
      </p:sp>
      <p:sp>
        <p:nvSpPr>
          <p:cNvPr id="38" name="Text 35"/>
          <p:cNvSpPr/>
          <p:nvPr/>
        </p:nvSpPr>
        <p:spPr>
          <a:xfrm>
            <a:off x="8714232" y="2167128"/>
            <a:ext cx="26060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A7BBC2"/>
                </a:solidFill>
              </a:rPr>
              <a:t>场景变化后，需要的商品、活动和授权信息随之变化</a:t>
            </a:r>
            <a:endParaRPr lang="en-US" sz="1150" dirty="0"/>
          </a:p>
        </p:txBody>
      </p:sp>
      <p:sp>
        <p:nvSpPr>
          <p:cNvPr id="39" name="Shape 36"/>
          <p:cNvSpPr/>
          <p:nvPr/>
        </p:nvSpPr>
        <p:spPr>
          <a:xfrm>
            <a:off x="8458200" y="2999232"/>
            <a:ext cx="3063240" cy="1188720"/>
          </a:xfrm>
          <a:prstGeom prst="roundRect">
            <a:avLst>
              <a:gd name="adj" fmla="val 4615"/>
            </a:avLst>
          </a:prstGeom>
          <a:solidFill>
            <a:srgbClr val="0B2932"/>
          </a:solidFill>
          <a:ln w="10160">
            <a:solidFill>
              <a:srgbClr val="28505B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8458200" y="2999232"/>
            <a:ext cx="73152" cy="1188720"/>
          </a:xfrm>
          <a:prstGeom prst="rect">
            <a:avLst/>
          </a:prstGeom>
          <a:solidFill>
            <a:srgbClr val="FF6B4A"/>
          </a:solidFill>
          <a:ln w="12700">
            <a:solidFill>
              <a:srgbClr val="FF6B4A">
                <a:alpha val="0"/>
              </a:srgbClr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8714232" y="318211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7FBFC"/>
                </a:solidFill>
              </a:rPr>
              <a:t>提交前校验</a:t>
            </a:r>
            <a:endParaRPr lang="en-US" sz="1500" dirty="0"/>
          </a:p>
        </p:txBody>
      </p:sp>
      <p:sp>
        <p:nvSpPr>
          <p:cNvPr id="42" name="Text 39"/>
          <p:cNvSpPr/>
          <p:nvPr/>
        </p:nvSpPr>
        <p:spPr>
          <a:xfrm>
            <a:off x="8714232" y="3593592"/>
            <a:ext cx="26060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A7BBC2"/>
                </a:solidFill>
              </a:rPr>
              <a:t>缺少必要上下文时先补齐，不把猜测交给模型</a:t>
            </a:r>
            <a:endParaRPr lang="en-US" sz="1150" dirty="0"/>
          </a:p>
        </p:txBody>
      </p:sp>
      <p:sp>
        <p:nvSpPr>
          <p:cNvPr id="43" name="Shape 40"/>
          <p:cNvSpPr/>
          <p:nvPr/>
        </p:nvSpPr>
        <p:spPr>
          <a:xfrm>
            <a:off x="8458200" y="4425696"/>
            <a:ext cx="3063240" cy="1188720"/>
          </a:xfrm>
          <a:prstGeom prst="roundRect">
            <a:avLst>
              <a:gd name="adj" fmla="val 4615"/>
            </a:avLst>
          </a:prstGeom>
          <a:solidFill>
            <a:srgbClr val="0B2932"/>
          </a:solidFill>
          <a:ln w="10160">
            <a:solidFill>
              <a:srgbClr val="28505B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8458200" y="4425696"/>
            <a:ext cx="73152" cy="1188720"/>
          </a:xfrm>
          <a:prstGeom prst="rect">
            <a:avLst/>
          </a:prstGeom>
          <a:solidFill>
            <a:srgbClr val="7BE7DC"/>
          </a:solidFill>
          <a:ln w="12700">
            <a:solidFill>
              <a:srgbClr val="7BE7DC">
                <a:alpha val="0"/>
              </a:srgbClr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8714232" y="4608576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7FBFC"/>
                </a:solidFill>
              </a:rPr>
              <a:t>生成版本</a:t>
            </a:r>
            <a:endParaRPr lang="en-US" sz="1500" dirty="0"/>
          </a:p>
        </p:txBody>
      </p:sp>
      <p:sp>
        <p:nvSpPr>
          <p:cNvPr id="46" name="Text 43"/>
          <p:cNvSpPr/>
          <p:nvPr/>
        </p:nvSpPr>
        <p:spPr>
          <a:xfrm>
            <a:off x="8714232" y="5020056"/>
            <a:ext cx="26060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A7BBC2"/>
                </a:solidFill>
              </a:rPr>
              <a:t>提交后形成不可静默覆盖的内容版本</a:t>
            </a:r>
            <a:endParaRPr lang="en-US" sz="11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417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27D3C1"/>
                </a:solidFill>
              </a:rPr>
              <a:t>PROJECT 04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7FBFC"/>
                </a:solidFill>
              </a:rPr>
              <a:t>页面 3｜智能审核工作台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2850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298448"/>
            <a:ext cx="1325880" cy="0"/>
          </a:xfrm>
          <a:prstGeom prst="line">
            <a:avLst/>
          </a:prstGeom>
          <a:noFill/>
          <a:ln w="38100">
            <a:solidFill>
              <a:srgbClr val="27D3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06640" y="420624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A7BBC2"/>
                </a:solidFill>
              </a:rPr>
              <a:t>AI营销内容智能审核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66928" y="5989320"/>
            <a:ext cx="11018520" cy="393192"/>
          </a:xfrm>
          <a:prstGeom prst="roundRect">
            <a:avLst>
              <a:gd name="adj" fmla="val 11628"/>
            </a:avLst>
          </a:prstGeom>
          <a:solidFill>
            <a:srgbClr val="0A222B"/>
          </a:solidFill>
          <a:ln w="10160">
            <a:solidFill>
              <a:srgbClr val="1641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6099048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7D3C1"/>
                </a:solidFill>
              </a:rPr>
              <a:t>本页重点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609344" y="6053328"/>
            <a:ext cx="9646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7FBFC"/>
                </a:solidFill>
              </a:rPr>
              <a:t>左侧原文、右侧风险，点击任一侧都能定位到另一侧。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6510528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82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AI营销内容智能审核项目实战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1155680" y="64739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7BB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530352" y="1508760"/>
            <a:ext cx="8503920" cy="4224528"/>
          </a:xfrm>
          <a:prstGeom prst="roundRect">
            <a:avLst>
              <a:gd name="adj" fmla="val 1082"/>
            </a:avLst>
          </a:prstGeom>
          <a:solidFill>
            <a:srgbClr val="F4F7F8"/>
          </a:solidFill>
          <a:ln w="10160">
            <a:solidFill>
              <a:srgbClr val="6C8992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30352" y="1508760"/>
            <a:ext cx="8503920" cy="384048"/>
          </a:xfrm>
          <a:prstGeom prst="rect">
            <a:avLst/>
          </a:prstGeom>
          <a:solidFill>
            <a:srgbClr val="DDE7EA"/>
          </a:solidFill>
          <a:ln w="12700">
            <a:solidFill>
              <a:srgbClr val="DDE7E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67512" y="1636776"/>
            <a:ext cx="91440" cy="91440"/>
          </a:xfrm>
          <a:prstGeom prst="ellipse">
            <a:avLst/>
          </a:prstGeom>
          <a:solidFill>
            <a:srgbClr val="F27867"/>
          </a:solidFill>
          <a:ln w="12700">
            <a:solidFill>
              <a:srgbClr val="F2786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68680" y="1636776"/>
            <a:ext cx="91440" cy="91440"/>
          </a:xfrm>
          <a:prstGeom prst="ellipse">
            <a:avLst/>
          </a:prstGeom>
          <a:solidFill>
            <a:srgbClr val="F5C85B"/>
          </a:solidFill>
          <a:ln w="12700">
            <a:solidFill>
              <a:srgbClr val="F5C85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069848" y="1636776"/>
            <a:ext cx="91440" cy="91440"/>
          </a:xfrm>
          <a:prstGeom prst="ellipse">
            <a:avLst/>
          </a:prstGeom>
          <a:solidFill>
            <a:srgbClr val="55C6A4"/>
          </a:solidFill>
          <a:ln w="12700">
            <a:solidFill>
              <a:srgbClr val="55C6A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170432" y="1618488"/>
            <a:ext cx="7223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1505A"/>
                </a:solidFill>
              </a:rPr>
              <a:t>任务 MKT-0108 · 审核工作台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841248" y="2112264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65C44"/>
                </a:solidFill>
              </a:rPr>
              <a:t>机器预审：退回修改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2788920" y="2112264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52717B"/>
                </a:solidFill>
              </a:rPr>
              <a:t>高 3  ·  中 1  ·  规则 v1.4</a:t>
            </a:r>
            <a:endParaRPr lang="en-US" sz="720" dirty="0"/>
          </a:p>
        </p:txBody>
      </p:sp>
      <p:sp>
        <p:nvSpPr>
          <p:cNvPr id="21" name="Shape 18"/>
          <p:cNvSpPr/>
          <p:nvPr/>
        </p:nvSpPr>
        <p:spPr>
          <a:xfrm>
            <a:off x="804672" y="2487168"/>
            <a:ext cx="4754880" cy="2761488"/>
          </a:xfrm>
          <a:prstGeom prst="roundRect">
            <a:avLst>
              <a:gd name="adj" fmla="val 993"/>
            </a:avLst>
          </a:prstGeom>
          <a:solidFill>
            <a:srgbClr val="FFFFFF"/>
          </a:solidFill>
          <a:ln w="6350">
            <a:solidFill>
              <a:srgbClr val="C3D2D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078992" y="2816352"/>
            <a:ext cx="4206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94953"/>
                </a:solidFill>
              </a:rPr>
              <a:t>全网最值得买的胶原蛋白饮，7 天彻底改善熬夜暗沉，100% 有效。连续三年销量第一，三甲医院专家一致推荐。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1042416" y="2734056"/>
            <a:ext cx="1188720" cy="219456"/>
          </a:xfrm>
          <a:prstGeom prst="rect">
            <a:avLst/>
          </a:prstGeom>
          <a:solidFill>
            <a:srgbClr val="FFF1C7">
              <a:alpha val="90000"/>
            </a:srgbClr>
          </a:solidFill>
          <a:ln w="12700">
            <a:solidFill>
              <a:srgbClr val="D7A43E">
                <a:alpha val="6500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2871216" y="3099816"/>
            <a:ext cx="1920240" cy="219456"/>
          </a:xfrm>
          <a:prstGeom prst="rect">
            <a:avLst/>
          </a:prstGeom>
          <a:solidFill>
            <a:srgbClr val="FFE1D9">
              <a:alpha val="90000"/>
            </a:srgbClr>
          </a:solidFill>
          <a:ln w="12700">
            <a:solidFill>
              <a:srgbClr val="E4775D">
                <a:alpha val="6500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1024128" y="3730752"/>
            <a:ext cx="1965960" cy="219456"/>
          </a:xfrm>
          <a:prstGeom prst="rect">
            <a:avLst/>
          </a:prstGeom>
          <a:solidFill>
            <a:srgbClr val="FFF1C7">
              <a:alpha val="90000"/>
            </a:srgbClr>
          </a:solidFill>
          <a:ln w="12700">
            <a:solidFill>
              <a:srgbClr val="D7A43E">
                <a:alpha val="65000"/>
              </a:srgbClr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806440" y="2487168"/>
            <a:ext cx="2834640" cy="713232"/>
          </a:xfrm>
          <a:prstGeom prst="roundRect">
            <a:avLst>
              <a:gd name="adj" fmla="val 3846"/>
            </a:avLst>
          </a:prstGeom>
          <a:solidFill>
            <a:srgbClr val="FFF0EB"/>
          </a:solidFill>
          <a:ln w="7620">
            <a:solidFill>
              <a:srgbClr val="E4775D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989320" y="2633472"/>
            <a:ext cx="3108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D85F47"/>
                </a:solidFill>
              </a:rPr>
              <a:t>高</a:t>
            </a:r>
            <a:endParaRPr lang="en-US" sz="700" dirty="0"/>
          </a:p>
        </p:txBody>
      </p:sp>
      <p:sp>
        <p:nvSpPr>
          <p:cNvPr id="28" name="Text 25"/>
          <p:cNvSpPr/>
          <p:nvPr/>
        </p:nvSpPr>
        <p:spPr>
          <a:xfrm>
            <a:off x="6400800" y="2615184"/>
            <a:ext cx="1783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294953"/>
                </a:solidFill>
              </a:rPr>
              <a:t>保证性与功效表达</a:t>
            </a:r>
            <a:endParaRPr lang="en-US" sz="720" dirty="0"/>
          </a:p>
        </p:txBody>
      </p:sp>
      <p:sp>
        <p:nvSpPr>
          <p:cNvPr id="29" name="Text 26"/>
          <p:cNvSpPr/>
          <p:nvPr/>
        </p:nvSpPr>
        <p:spPr>
          <a:xfrm>
            <a:off x="6400800" y="2871216"/>
            <a:ext cx="1874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dirty="0">
                <a:solidFill>
                  <a:srgbClr val="52717B"/>
                </a:solidFill>
              </a:rPr>
              <a:t>删除确定性承诺</a:t>
            </a:r>
            <a:endParaRPr lang="en-US" sz="640" dirty="0"/>
          </a:p>
        </p:txBody>
      </p:sp>
      <p:sp>
        <p:nvSpPr>
          <p:cNvPr id="30" name="Shape 27"/>
          <p:cNvSpPr/>
          <p:nvPr/>
        </p:nvSpPr>
        <p:spPr>
          <a:xfrm>
            <a:off x="5806440" y="3383280"/>
            <a:ext cx="2834640" cy="713232"/>
          </a:xfrm>
          <a:prstGeom prst="roundRect">
            <a:avLst>
              <a:gd name="adj" fmla="val 3846"/>
            </a:avLst>
          </a:prstGeom>
          <a:solidFill>
            <a:srgbClr val="F6FAFB"/>
          </a:solidFill>
          <a:ln w="7620">
            <a:solidFill>
              <a:srgbClr val="C3D2D7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989320" y="3529584"/>
            <a:ext cx="3108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D85F47"/>
                </a:solidFill>
              </a:rPr>
              <a:t>高</a:t>
            </a:r>
            <a:endParaRPr lang="en-US" sz="700" dirty="0"/>
          </a:p>
        </p:txBody>
      </p:sp>
      <p:sp>
        <p:nvSpPr>
          <p:cNvPr id="32" name="Text 29"/>
          <p:cNvSpPr/>
          <p:nvPr/>
        </p:nvSpPr>
        <p:spPr>
          <a:xfrm>
            <a:off x="6400800" y="3511296"/>
            <a:ext cx="1783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294953"/>
                </a:solidFill>
              </a:rPr>
              <a:t>禁限表达</a:t>
            </a:r>
            <a:endParaRPr lang="en-US" sz="720" dirty="0"/>
          </a:p>
        </p:txBody>
      </p:sp>
      <p:sp>
        <p:nvSpPr>
          <p:cNvPr id="33" name="Text 30"/>
          <p:cNvSpPr/>
          <p:nvPr/>
        </p:nvSpPr>
        <p:spPr>
          <a:xfrm>
            <a:off x="6400800" y="3767328"/>
            <a:ext cx="1874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dirty="0">
                <a:solidFill>
                  <a:srgbClr val="52717B"/>
                </a:solidFill>
              </a:rPr>
              <a:t>改为可验证描述</a:t>
            </a:r>
            <a:endParaRPr lang="en-US" sz="640" dirty="0"/>
          </a:p>
        </p:txBody>
      </p:sp>
      <p:sp>
        <p:nvSpPr>
          <p:cNvPr id="34" name="Shape 31"/>
          <p:cNvSpPr/>
          <p:nvPr/>
        </p:nvSpPr>
        <p:spPr>
          <a:xfrm>
            <a:off x="5806440" y="4279392"/>
            <a:ext cx="2834640" cy="713232"/>
          </a:xfrm>
          <a:prstGeom prst="roundRect">
            <a:avLst>
              <a:gd name="adj" fmla="val 3846"/>
            </a:avLst>
          </a:prstGeom>
          <a:solidFill>
            <a:srgbClr val="F6FAFB"/>
          </a:solidFill>
          <a:ln w="7620">
            <a:solidFill>
              <a:srgbClr val="C3D2D7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989320" y="4425696"/>
            <a:ext cx="3108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D85F47"/>
                </a:solidFill>
              </a:rPr>
              <a:t>中</a:t>
            </a:r>
            <a:endParaRPr lang="en-US" sz="700" dirty="0"/>
          </a:p>
        </p:txBody>
      </p:sp>
      <p:sp>
        <p:nvSpPr>
          <p:cNvPr id="36" name="Text 33"/>
          <p:cNvSpPr/>
          <p:nvPr/>
        </p:nvSpPr>
        <p:spPr>
          <a:xfrm>
            <a:off x="6400800" y="4407408"/>
            <a:ext cx="1783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294953"/>
                </a:solidFill>
              </a:rPr>
              <a:t>来源与范围缺失</a:t>
            </a:r>
            <a:endParaRPr lang="en-US" sz="720" dirty="0"/>
          </a:p>
        </p:txBody>
      </p:sp>
      <p:sp>
        <p:nvSpPr>
          <p:cNvPr id="37" name="Text 34"/>
          <p:cNvSpPr/>
          <p:nvPr/>
        </p:nvSpPr>
        <p:spPr>
          <a:xfrm>
            <a:off x="6400800" y="4663440"/>
            <a:ext cx="1874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dirty="0">
                <a:solidFill>
                  <a:srgbClr val="52717B"/>
                </a:solidFill>
              </a:rPr>
              <a:t>补充时间、范围和来源</a:t>
            </a:r>
            <a:endParaRPr lang="en-US" sz="640" dirty="0"/>
          </a:p>
        </p:txBody>
      </p:sp>
      <p:sp>
        <p:nvSpPr>
          <p:cNvPr id="38" name="Shape 35"/>
          <p:cNvSpPr/>
          <p:nvPr/>
        </p:nvSpPr>
        <p:spPr>
          <a:xfrm>
            <a:off x="9326880" y="1508760"/>
            <a:ext cx="2331720" cy="1207008"/>
          </a:xfrm>
          <a:prstGeom prst="roundRect">
            <a:avLst>
              <a:gd name="adj" fmla="val 4545"/>
            </a:avLst>
          </a:prstGeom>
          <a:solidFill>
            <a:srgbClr val="0B2932"/>
          </a:solidFill>
          <a:ln w="10160">
            <a:solidFill>
              <a:srgbClr val="28505B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9326880" y="1508760"/>
            <a:ext cx="73152" cy="1207008"/>
          </a:xfrm>
          <a:prstGeom prst="rect">
            <a:avLst/>
          </a:prstGeom>
          <a:solidFill>
            <a:srgbClr val="27D3C1"/>
          </a:solidFill>
          <a:ln w="12700">
            <a:solidFill>
              <a:srgbClr val="27D3C1">
                <a:alpha val="0"/>
              </a:srgbClr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9582912" y="169164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7FBFC"/>
                </a:solidFill>
              </a:rPr>
              <a:t>双向定位</a:t>
            </a:r>
            <a:endParaRPr lang="en-US" sz="1500" dirty="0"/>
          </a:p>
        </p:txBody>
      </p:sp>
      <p:sp>
        <p:nvSpPr>
          <p:cNvPr id="41" name="Text 38"/>
          <p:cNvSpPr/>
          <p:nvPr/>
        </p:nvSpPr>
        <p:spPr>
          <a:xfrm>
            <a:off x="9582912" y="2103120"/>
            <a:ext cx="18745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7BBC2"/>
                </a:solidFill>
              </a:rPr>
              <a:t>点问题 → 高亮原文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7BBC2"/>
                </a:solidFill>
              </a:rPr>
              <a:t>点原文 → 定位问题</a:t>
            </a:r>
            <a:endParaRPr lang="en-US" sz="1050" dirty="0"/>
          </a:p>
        </p:txBody>
      </p:sp>
      <p:sp>
        <p:nvSpPr>
          <p:cNvPr id="42" name="Shape 39"/>
          <p:cNvSpPr/>
          <p:nvPr/>
        </p:nvSpPr>
        <p:spPr>
          <a:xfrm>
            <a:off x="9326880" y="2926080"/>
            <a:ext cx="2331720" cy="1207008"/>
          </a:xfrm>
          <a:prstGeom prst="roundRect">
            <a:avLst>
              <a:gd name="adj" fmla="val 4545"/>
            </a:avLst>
          </a:prstGeom>
          <a:solidFill>
            <a:srgbClr val="0B2932"/>
          </a:solidFill>
          <a:ln w="10160">
            <a:solidFill>
              <a:srgbClr val="28505B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9326880" y="2926080"/>
            <a:ext cx="73152" cy="1207008"/>
          </a:xfrm>
          <a:prstGeom prst="rect">
            <a:avLst/>
          </a:prstGeom>
          <a:solidFill>
            <a:srgbClr val="FF6B4A"/>
          </a:solidFill>
          <a:ln w="12700">
            <a:solidFill>
              <a:srgbClr val="FF6B4A">
                <a:alpha val="0"/>
              </a:srgbClr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9582912" y="310896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7FBFC"/>
                </a:solidFill>
              </a:rPr>
              <a:t>内容变化</a:t>
            </a:r>
            <a:endParaRPr lang="en-US" sz="1500" dirty="0"/>
          </a:p>
        </p:txBody>
      </p:sp>
      <p:sp>
        <p:nvSpPr>
          <p:cNvPr id="45" name="Text 42"/>
          <p:cNvSpPr/>
          <p:nvPr/>
        </p:nvSpPr>
        <p:spPr>
          <a:xfrm>
            <a:off x="9582912" y="3520440"/>
            <a:ext cx="18745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7BBC2"/>
                </a:solidFill>
              </a:rPr>
              <a:t>正文修改后提示：需要重新审核</a:t>
            </a:r>
            <a:endParaRPr lang="en-US" sz="1050" dirty="0"/>
          </a:p>
        </p:txBody>
      </p:sp>
      <p:sp>
        <p:nvSpPr>
          <p:cNvPr id="46" name="Shape 43"/>
          <p:cNvSpPr/>
          <p:nvPr/>
        </p:nvSpPr>
        <p:spPr>
          <a:xfrm>
            <a:off x="9326880" y="4343400"/>
            <a:ext cx="2331720" cy="1389888"/>
          </a:xfrm>
          <a:prstGeom prst="roundRect">
            <a:avLst>
              <a:gd name="adj" fmla="val 3947"/>
            </a:avLst>
          </a:prstGeom>
          <a:solidFill>
            <a:srgbClr val="0B2932"/>
          </a:solidFill>
          <a:ln w="10160">
            <a:solidFill>
              <a:srgbClr val="28505B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9326880" y="4343400"/>
            <a:ext cx="73152" cy="1389888"/>
          </a:xfrm>
          <a:prstGeom prst="rect">
            <a:avLst/>
          </a:prstGeom>
          <a:solidFill>
            <a:srgbClr val="7BE7DC"/>
          </a:solidFill>
          <a:ln w="12700">
            <a:solidFill>
              <a:srgbClr val="7BE7DC">
                <a:alpha val="0"/>
              </a:srgbClr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9582912" y="452628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7FBFC"/>
                </a:solidFill>
              </a:rPr>
              <a:t>建议不静默覆盖</a:t>
            </a:r>
            <a:endParaRPr lang="en-US" sz="1500" dirty="0"/>
          </a:p>
        </p:txBody>
      </p:sp>
      <p:sp>
        <p:nvSpPr>
          <p:cNvPr id="49" name="Text 46"/>
          <p:cNvSpPr/>
          <p:nvPr/>
        </p:nvSpPr>
        <p:spPr>
          <a:xfrm>
            <a:off x="9582912" y="4937760"/>
            <a:ext cx="187452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7BBC2"/>
                </a:solidFill>
              </a:rPr>
              <a:t>可以复制或带入编辑区，但保留用户确认</a:t>
            </a:r>
            <a:endParaRPr lang="en-US" sz="10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0417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27D3C1"/>
                </a:solidFill>
              </a:rPr>
              <a:t>PROJECT 04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7FBFC"/>
                </a:solidFill>
              </a:rPr>
              <a:t>页面 4｜人工复核页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2850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298448"/>
            <a:ext cx="1325880" cy="0"/>
          </a:xfrm>
          <a:prstGeom prst="line">
            <a:avLst/>
          </a:prstGeom>
          <a:noFill/>
          <a:ln w="38100">
            <a:solidFill>
              <a:srgbClr val="27D3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06640" y="420624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A7BBC2"/>
                </a:solidFill>
              </a:rPr>
              <a:t>AI营销内容智能审核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66928" y="5989320"/>
            <a:ext cx="11018520" cy="393192"/>
          </a:xfrm>
          <a:prstGeom prst="roundRect">
            <a:avLst>
              <a:gd name="adj" fmla="val 11628"/>
            </a:avLst>
          </a:prstGeom>
          <a:solidFill>
            <a:srgbClr val="0A222B"/>
          </a:solidFill>
          <a:ln w="10160">
            <a:solidFill>
              <a:srgbClr val="1641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6099048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7D3C1"/>
                </a:solidFill>
              </a:rPr>
              <a:t>本页重点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609344" y="6053328"/>
            <a:ext cx="9646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7FBFC"/>
                </a:solidFill>
              </a:rPr>
              <a:t>审核员需要看到机器如何判断，也需要能调整并留下原因。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6510528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82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AI营销内容智能审核项目实战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1155680" y="64739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7BB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658368" y="1572768"/>
            <a:ext cx="7498080" cy="4069080"/>
          </a:xfrm>
          <a:prstGeom prst="roundRect">
            <a:avLst>
              <a:gd name="adj" fmla="val 1124"/>
            </a:avLst>
          </a:prstGeom>
          <a:solidFill>
            <a:srgbClr val="F4F7F8"/>
          </a:solidFill>
          <a:ln w="10160">
            <a:solidFill>
              <a:srgbClr val="6C8992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58368" y="1572768"/>
            <a:ext cx="7498080" cy="384048"/>
          </a:xfrm>
          <a:prstGeom prst="rect">
            <a:avLst/>
          </a:prstGeom>
          <a:solidFill>
            <a:srgbClr val="DDE7EA"/>
          </a:solidFill>
          <a:ln w="12700">
            <a:solidFill>
              <a:srgbClr val="DDE7E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95528" y="1700784"/>
            <a:ext cx="91440" cy="91440"/>
          </a:xfrm>
          <a:prstGeom prst="ellipse">
            <a:avLst/>
          </a:prstGeom>
          <a:solidFill>
            <a:srgbClr val="F27867"/>
          </a:solidFill>
          <a:ln w="12700">
            <a:solidFill>
              <a:srgbClr val="F2786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996696" y="1700784"/>
            <a:ext cx="91440" cy="91440"/>
          </a:xfrm>
          <a:prstGeom prst="ellipse">
            <a:avLst/>
          </a:prstGeom>
          <a:solidFill>
            <a:srgbClr val="F5C85B"/>
          </a:solidFill>
          <a:ln w="12700">
            <a:solidFill>
              <a:srgbClr val="F5C85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197864" y="1700784"/>
            <a:ext cx="91440" cy="91440"/>
          </a:xfrm>
          <a:prstGeom prst="ellipse">
            <a:avLst/>
          </a:prstGeom>
          <a:solidFill>
            <a:srgbClr val="55C6A4"/>
          </a:solidFill>
          <a:ln w="12700">
            <a:solidFill>
              <a:srgbClr val="55C6A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298448" y="1682496"/>
            <a:ext cx="6217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1505A"/>
                </a:solidFill>
              </a:rPr>
              <a:t>待复核任务 MKT-0108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932688" y="2267712"/>
            <a:ext cx="3154680" cy="2606040"/>
          </a:xfrm>
          <a:prstGeom prst="roundRect">
            <a:avLst>
              <a:gd name="adj" fmla="val 1053"/>
            </a:avLst>
          </a:prstGeom>
          <a:solidFill>
            <a:srgbClr val="FFFFFF"/>
          </a:solidFill>
          <a:ln w="6350">
            <a:solidFill>
              <a:srgbClr val="C3D2D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170432" y="2523744"/>
            <a:ext cx="1828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94953"/>
                </a:solidFill>
              </a:rPr>
              <a:t>原文与业务上下文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1170432" y="2862072"/>
            <a:ext cx="24688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2717B"/>
                </a:solidFill>
              </a:rPr>
              <a:t>场景：活动页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52717B"/>
                </a:solidFill>
              </a:rPr>
              <a:t>商品：胶原蛋白饮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52717B"/>
                </a:solidFill>
              </a:rPr>
              <a:t>渠道：自有商城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52717B"/>
                </a:solidFill>
              </a:rPr>
              <a:t>当前版本：V2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52717B"/>
                </a:solidFill>
              </a:rPr>
              <a:t>相关材料：销量报告、授权文件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4315968" y="2267712"/>
            <a:ext cx="3429000" cy="2606040"/>
          </a:xfrm>
          <a:prstGeom prst="roundRect">
            <a:avLst>
              <a:gd name="adj" fmla="val 1053"/>
            </a:avLst>
          </a:prstGeom>
          <a:solidFill>
            <a:srgbClr val="FFFFFF"/>
          </a:solidFill>
          <a:ln w="6350">
            <a:solidFill>
              <a:srgbClr val="C3D2D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72000" y="2523744"/>
            <a:ext cx="2011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94953"/>
                </a:solidFill>
              </a:rPr>
              <a:t>机器结果与人工处理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4599432" y="2953512"/>
            <a:ext cx="1207008" cy="365760"/>
          </a:xfrm>
          <a:prstGeom prst="roundRect">
            <a:avLst>
              <a:gd name="adj" fmla="val 7500"/>
            </a:avLst>
          </a:prstGeom>
          <a:solidFill>
            <a:srgbClr val="E8EEF0"/>
          </a:solidFill>
          <a:ln w="12700">
            <a:solidFill>
              <a:srgbClr val="C3D2D7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754880" y="3072384"/>
            <a:ext cx="89611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1505A"/>
                </a:solidFill>
              </a:rPr>
              <a:t>通过</a:t>
            </a:r>
            <a:endParaRPr lang="en-US" sz="700" dirty="0"/>
          </a:p>
        </p:txBody>
      </p:sp>
      <p:sp>
        <p:nvSpPr>
          <p:cNvPr id="26" name="Shape 23"/>
          <p:cNvSpPr/>
          <p:nvPr/>
        </p:nvSpPr>
        <p:spPr>
          <a:xfrm>
            <a:off x="6016752" y="2953512"/>
            <a:ext cx="1207008" cy="365760"/>
          </a:xfrm>
          <a:prstGeom prst="roundRect">
            <a:avLst>
              <a:gd name="adj" fmla="val 7500"/>
            </a:avLst>
          </a:prstGeom>
          <a:solidFill>
            <a:srgbClr val="E66B50"/>
          </a:solidFill>
          <a:ln w="12700">
            <a:solidFill>
              <a:srgbClr val="E66B5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172200" y="3072384"/>
            <a:ext cx="89611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驳回修改</a:t>
            </a:r>
            <a:endParaRPr lang="en-US" sz="700" dirty="0"/>
          </a:p>
        </p:txBody>
      </p:sp>
      <p:sp>
        <p:nvSpPr>
          <p:cNvPr id="28" name="Shape 25"/>
          <p:cNvSpPr/>
          <p:nvPr/>
        </p:nvSpPr>
        <p:spPr>
          <a:xfrm>
            <a:off x="4599432" y="3611880"/>
            <a:ext cx="1207008" cy="365760"/>
          </a:xfrm>
          <a:prstGeom prst="roundRect">
            <a:avLst>
              <a:gd name="adj" fmla="val 7500"/>
            </a:avLst>
          </a:prstGeom>
          <a:solidFill>
            <a:srgbClr val="E8EEF0"/>
          </a:solidFill>
          <a:ln w="12700">
            <a:solidFill>
              <a:srgbClr val="C3D2D7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754880" y="3730752"/>
            <a:ext cx="89611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1505A"/>
                </a:solidFill>
              </a:rPr>
              <a:t>调整结果</a:t>
            </a:r>
            <a:endParaRPr lang="en-US" sz="700" dirty="0"/>
          </a:p>
        </p:txBody>
      </p:sp>
      <p:sp>
        <p:nvSpPr>
          <p:cNvPr id="30" name="Shape 27"/>
          <p:cNvSpPr/>
          <p:nvPr/>
        </p:nvSpPr>
        <p:spPr>
          <a:xfrm>
            <a:off x="6016752" y="3611880"/>
            <a:ext cx="1207008" cy="365760"/>
          </a:xfrm>
          <a:prstGeom prst="roundRect">
            <a:avLst>
              <a:gd name="adj" fmla="val 7500"/>
            </a:avLst>
          </a:prstGeom>
          <a:solidFill>
            <a:srgbClr val="E8EEF0"/>
          </a:solidFill>
          <a:ln w="12700">
            <a:solidFill>
              <a:srgbClr val="C3D2D7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172200" y="3730752"/>
            <a:ext cx="89611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1505A"/>
                </a:solidFill>
              </a:rPr>
              <a:t>升级处理</a:t>
            </a:r>
            <a:endParaRPr lang="en-US" sz="700" dirty="0"/>
          </a:p>
        </p:txBody>
      </p:sp>
      <p:sp>
        <p:nvSpPr>
          <p:cNvPr id="32" name="Text 29"/>
          <p:cNvSpPr/>
          <p:nvPr/>
        </p:nvSpPr>
        <p:spPr>
          <a:xfrm>
            <a:off x="4599432" y="4315968"/>
            <a:ext cx="8229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52717B"/>
                </a:solidFill>
              </a:rPr>
              <a:t>调整原因 *</a:t>
            </a:r>
            <a:endParaRPr lang="en-US" sz="650" dirty="0"/>
          </a:p>
        </p:txBody>
      </p:sp>
      <p:sp>
        <p:nvSpPr>
          <p:cNvPr id="33" name="Shape 30"/>
          <p:cNvSpPr/>
          <p:nvPr/>
        </p:nvSpPr>
        <p:spPr>
          <a:xfrm>
            <a:off x="5413248" y="4224528"/>
            <a:ext cx="1874520" cy="29260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6350">
            <a:solidFill>
              <a:srgbClr val="C3D2D7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8458200" y="1572768"/>
            <a:ext cx="3063240" cy="1188720"/>
          </a:xfrm>
          <a:prstGeom prst="roundRect">
            <a:avLst>
              <a:gd name="adj" fmla="val 4615"/>
            </a:avLst>
          </a:prstGeom>
          <a:solidFill>
            <a:srgbClr val="0B2932"/>
          </a:solidFill>
          <a:ln w="10160">
            <a:solidFill>
              <a:srgbClr val="28505B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8458200" y="1572768"/>
            <a:ext cx="73152" cy="1188720"/>
          </a:xfrm>
          <a:prstGeom prst="rect">
            <a:avLst/>
          </a:prstGeom>
          <a:solidFill>
            <a:srgbClr val="27D3C1"/>
          </a:solidFill>
          <a:ln w="12700">
            <a:solidFill>
              <a:srgbClr val="27D3C1">
                <a:alpha val="0"/>
              </a:srgbClr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8714232" y="175564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7FBFC"/>
                </a:solidFill>
              </a:rPr>
              <a:t>审核员多看什么</a:t>
            </a:r>
            <a:endParaRPr lang="en-US" sz="1500" dirty="0"/>
          </a:p>
        </p:txBody>
      </p:sp>
      <p:sp>
        <p:nvSpPr>
          <p:cNvPr id="37" name="Text 34"/>
          <p:cNvSpPr/>
          <p:nvPr/>
        </p:nvSpPr>
        <p:spPr>
          <a:xfrm>
            <a:off x="8714232" y="2167128"/>
            <a:ext cx="26060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7BBC2"/>
                </a:solidFill>
              </a:rPr>
              <a:t>机器原始结果、业务资料、规则信息、历史修改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8458200" y="2999232"/>
            <a:ext cx="3063240" cy="1188720"/>
          </a:xfrm>
          <a:prstGeom prst="roundRect">
            <a:avLst>
              <a:gd name="adj" fmla="val 4615"/>
            </a:avLst>
          </a:prstGeom>
          <a:solidFill>
            <a:srgbClr val="0B2932"/>
          </a:solidFill>
          <a:ln w="10160">
            <a:solidFill>
              <a:srgbClr val="28505B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8458200" y="2999232"/>
            <a:ext cx="73152" cy="1188720"/>
          </a:xfrm>
          <a:prstGeom prst="rect">
            <a:avLst/>
          </a:prstGeom>
          <a:solidFill>
            <a:srgbClr val="FF6B4A"/>
          </a:solidFill>
          <a:ln w="12700">
            <a:solidFill>
              <a:srgbClr val="FF6B4A">
                <a:alpha val="0"/>
              </a:srgbClr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8714232" y="318211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7FBFC"/>
                </a:solidFill>
              </a:rPr>
              <a:t>审核员能做什么</a:t>
            </a:r>
            <a:endParaRPr lang="en-US" sz="1500" dirty="0"/>
          </a:p>
        </p:txBody>
      </p:sp>
      <p:sp>
        <p:nvSpPr>
          <p:cNvPr id="41" name="Text 38"/>
          <p:cNvSpPr/>
          <p:nvPr/>
        </p:nvSpPr>
        <p:spPr>
          <a:xfrm>
            <a:off x="8714232" y="3593592"/>
            <a:ext cx="26060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7BBC2"/>
                </a:solidFill>
              </a:rPr>
              <a:t>通过、驳回、调整、补充意见、升级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8458200" y="4425696"/>
            <a:ext cx="3063240" cy="1188720"/>
          </a:xfrm>
          <a:prstGeom prst="roundRect">
            <a:avLst>
              <a:gd name="adj" fmla="val 4615"/>
            </a:avLst>
          </a:prstGeom>
          <a:solidFill>
            <a:srgbClr val="0B2932"/>
          </a:solidFill>
          <a:ln w="10160">
            <a:solidFill>
              <a:srgbClr val="28505B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8458200" y="4425696"/>
            <a:ext cx="73152" cy="1188720"/>
          </a:xfrm>
          <a:prstGeom prst="rect">
            <a:avLst/>
          </a:prstGeom>
          <a:solidFill>
            <a:srgbClr val="7BE7DC"/>
          </a:solidFill>
          <a:ln w="12700">
            <a:solidFill>
              <a:srgbClr val="7BE7DC">
                <a:alpha val="0"/>
              </a:srgbClr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8714232" y="4608576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7FBFC"/>
                </a:solidFill>
              </a:rPr>
              <a:t>为什么记录原因</a:t>
            </a:r>
            <a:endParaRPr lang="en-US" sz="1500" dirty="0"/>
          </a:p>
        </p:txBody>
      </p:sp>
      <p:sp>
        <p:nvSpPr>
          <p:cNvPr id="45" name="Text 42"/>
          <p:cNvSpPr/>
          <p:nvPr/>
        </p:nvSpPr>
        <p:spPr>
          <a:xfrm>
            <a:off x="8714232" y="5020056"/>
            <a:ext cx="26060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7BBC2"/>
                </a:solidFill>
              </a:rPr>
              <a:t>用于规则优化、问题归类和回归测试</a:t>
            </a:r>
            <a:endParaRPr lang="en-US" sz="11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0417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27D3C1"/>
                </a:solidFill>
              </a:rPr>
              <a:t>PROJECT 04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7FBFC"/>
                </a:solidFill>
              </a:rPr>
              <a:t>作品集里，页面要放在流程后面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2850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298448"/>
            <a:ext cx="1325880" cy="0"/>
          </a:xfrm>
          <a:prstGeom prst="line">
            <a:avLst/>
          </a:prstGeom>
          <a:noFill/>
          <a:ln w="38100">
            <a:solidFill>
              <a:srgbClr val="27D3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06640" y="420624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A7BBC2"/>
                </a:solidFill>
              </a:rPr>
              <a:t>AI营销内容智能审核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66928" y="5989320"/>
            <a:ext cx="11018520" cy="393192"/>
          </a:xfrm>
          <a:prstGeom prst="roundRect">
            <a:avLst>
              <a:gd name="adj" fmla="val 11628"/>
            </a:avLst>
          </a:prstGeom>
          <a:solidFill>
            <a:srgbClr val="0A222B"/>
          </a:solidFill>
          <a:ln w="10160">
            <a:solidFill>
              <a:srgbClr val="1641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6099048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7D3C1"/>
                </a:solidFill>
              </a:rPr>
              <a:t>本页重点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609344" y="6053328"/>
            <a:ext cx="9646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7FBFC"/>
                </a:solidFill>
              </a:rPr>
              <a:t>先说明为什么这样设计，再展示页面形式，产品判断才有说服力。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6510528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82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AI营销内容智能审核项目实战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1155680" y="64739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7BB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658368" y="2331720"/>
            <a:ext cx="1901952" cy="1463040"/>
          </a:xfrm>
          <a:prstGeom prst="roundRect">
            <a:avLst>
              <a:gd name="adj" fmla="val 3750"/>
            </a:avLst>
          </a:prstGeom>
          <a:solidFill>
            <a:srgbClr val="0B2932"/>
          </a:solidFill>
          <a:ln w="15240">
            <a:solidFill>
              <a:srgbClr val="27D3C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68096" y="2496312"/>
            <a:ext cx="1682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FBFC"/>
                </a:solidFill>
              </a:rPr>
              <a:t>业务流程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68096" y="2788920"/>
            <a:ext cx="1682496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A7BBC2"/>
                </a:solidFill>
              </a:rPr>
              <a:t>说明设计原因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2578608" y="3063240"/>
            <a:ext cx="301752" cy="0"/>
          </a:xfrm>
          <a:prstGeom prst="line">
            <a:avLst/>
          </a:prstGeom>
          <a:noFill/>
          <a:ln w="20320">
            <a:solidFill>
              <a:srgbClr val="A7BBC2"/>
            </a:solidFill>
            <a:prstDash val="solid"/>
            <a:headEnd type="none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2944368" y="2331720"/>
            <a:ext cx="1901952" cy="1463040"/>
          </a:xfrm>
          <a:prstGeom prst="roundRect">
            <a:avLst>
              <a:gd name="adj" fmla="val 3750"/>
            </a:avLst>
          </a:prstGeom>
          <a:solidFill>
            <a:srgbClr val="0B2932"/>
          </a:solidFill>
          <a:ln w="15240">
            <a:solidFill>
              <a:srgbClr val="27D3C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054096" y="2496312"/>
            <a:ext cx="1682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FBFC"/>
                </a:solidFill>
              </a:rPr>
              <a:t>产品主流程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3054096" y="2788920"/>
            <a:ext cx="1682496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A7BBC2"/>
                </a:solidFill>
              </a:rPr>
              <a:t>说明设计原因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4864608" y="3063240"/>
            <a:ext cx="301752" cy="0"/>
          </a:xfrm>
          <a:prstGeom prst="line">
            <a:avLst/>
          </a:prstGeom>
          <a:noFill/>
          <a:ln w="20320">
            <a:solidFill>
              <a:srgbClr val="A7BBC2"/>
            </a:solidFill>
            <a:prstDash val="solid"/>
            <a:headEnd type="none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5230368" y="2331720"/>
            <a:ext cx="1901952" cy="1463040"/>
          </a:xfrm>
          <a:prstGeom prst="roundRect">
            <a:avLst>
              <a:gd name="adj" fmla="val 3750"/>
            </a:avLst>
          </a:prstGeom>
          <a:solidFill>
            <a:srgbClr val="0B2932"/>
          </a:solidFill>
          <a:ln w="15240">
            <a:solidFill>
              <a:srgbClr val="27D3C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340096" y="2496312"/>
            <a:ext cx="1682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FBFC"/>
                </a:solidFill>
              </a:rPr>
              <a:t>任务状态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5340096" y="2788920"/>
            <a:ext cx="1682496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A7BBC2"/>
                </a:solidFill>
              </a:rPr>
              <a:t>说明设计原因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7150608" y="3063240"/>
            <a:ext cx="301752" cy="0"/>
          </a:xfrm>
          <a:prstGeom prst="line">
            <a:avLst/>
          </a:prstGeom>
          <a:noFill/>
          <a:ln w="20320">
            <a:solidFill>
              <a:srgbClr val="A7BBC2"/>
            </a:solidFill>
            <a:prstDash val="solid"/>
            <a:headEnd type="none"/>
            <a:tailEnd type="triangle"/>
          </a:ln>
        </p:spPr>
      </p:sp>
      <p:sp>
        <p:nvSpPr>
          <p:cNvPr id="25" name="Shape 22"/>
          <p:cNvSpPr/>
          <p:nvPr/>
        </p:nvSpPr>
        <p:spPr>
          <a:xfrm>
            <a:off x="7516368" y="2331720"/>
            <a:ext cx="1901952" cy="1463040"/>
          </a:xfrm>
          <a:prstGeom prst="roundRect">
            <a:avLst>
              <a:gd name="adj" fmla="val 3750"/>
            </a:avLst>
          </a:prstGeom>
          <a:solidFill>
            <a:srgbClr val="0B2932"/>
          </a:solidFill>
          <a:ln w="15240">
            <a:solidFill>
              <a:srgbClr val="FF6B4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626096" y="2496312"/>
            <a:ext cx="1682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FBFC"/>
                </a:solidFill>
              </a:rPr>
              <a:t>核心页面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7626096" y="2788920"/>
            <a:ext cx="1682496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A7BBC2"/>
                </a:solidFill>
              </a:rPr>
              <a:t>页面形式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9436608" y="3063240"/>
            <a:ext cx="301752" cy="0"/>
          </a:xfrm>
          <a:prstGeom prst="line">
            <a:avLst/>
          </a:prstGeom>
          <a:noFill/>
          <a:ln w="20320">
            <a:solidFill>
              <a:srgbClr val="A7BBC2"/>
            </a:solidFill>
            <a:prstDash val="solid"/>
            <a:headEnd type="none"/>
            <a:tailEnd type="triangle"/>
          </a:ln>
        </p:spPr>
      </p:sp>
      <p:sp>
        <p:nvSpPr>
          <p:cNvPr id="29" name="Shape 26"/>
          <p:cNvSpPr/>
          <p:nvPr/>
        </p:nvSpPr>
        <p:spPr>
          <a:xfrm>
            <a:off x="9802368" y="2331720"/>
            <a:ext cx="1901952" cy="1463040"/>
          </a:xfrm>
          <a:prstGeom prst="roundRect">
            <a:avLst>
              <a:gd name="adj" fmla="val 3750"/>
            </a:avLst>
          </a:prstGeom>
          <a:solidFill>
            <a:srgbClr val="0B2932"/>
          </a:solidFill>
          <a:ln w="15240">
            <a:solidFill>
              <a:srgbClr val="27D3C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9912096" y="2496312"/>
            <a:ext cx="1682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FBFC"/>
                </a:solidFill>
              </a:rPr>
              <a:t>完整案例流转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9912096" y="2788920"/>
            <a:ext cx="1682496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A7BBC2"/>
                </a:solidFill>
              </a:rPr>
              <a:t>说明设计原因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2148840" y="4498848"/>
            <a:ext cx="7909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7BE7DC"/>
                </a:solidFill>
              </a:rPr>
              <a:t>页面不是孤立作品，而是前面所有判断的可视化结果。</a:t>
            </a:r>
            <a:endParaRPr lang="en-US" sz="1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0417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59436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27D3C1">
                    <a:alpha val="9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000" dirty="0"/>
          </a:p>
        </p:txBody>
      </p:sp>
      <p:sp>
        <p:nvSpPr>
          <p:cNvPr id="3" name="Shape 1"/>
          <p:cNvSpPr/>
          <p:nvPr/>
        </p:nvSpPr>
        <p:spPr>
          <a:xfrm>
            <a:off x="3200400" y="950976"/>
            <a:ext cx="0" cy="4754880"/>
          </a:xfrm>
          <a:prstGeom prst="line">
            <a:avLst/>
          </a:prstGeom>
          <a:noFill/>
          <a:ln w="12700">
            <a:solidFill>
              <a:srgbClr val="28505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703320" y="1389888"/>
            <a:ext cx="7589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7FBFC"/>
                </a:solidFill>
              </a:rPr>
              <a:t>评测、坏案例与项目包装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730752" y="2651760"/>
            <a:ext cx="7178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A7BBC2"/>
                </a:solidFill>
              </a:rPr>
              <a:t>用样本和真实失败推动迭代，并把项目整理成可追问的作品集。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3730752" y="4160520"/>
            <a:ext cx="2057400" cy="438912"/>
          </a:xfrm>
          <a:prstGeom prst="roundRect">
            <a:avLst>
              <a:gd name="adj" fmla="val 10417"/>
            </a:avLst>
          </a:prstGeom>
          <a:solidFill>
            <a:srgbClr val="103641"/>
          </a:solidFill>
          <a:ln w="12700">
            <a:solidFill>
              <a:srgbClr val="27D3C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13632" y="4297680"/>
            <a:ext cx="1691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BE7DC"/>
                </a:solidFill>
              </a:rPr>
              <a:t>15 MIN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6510528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82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AI营销内容智能审核项目实战 · SECTION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1155680" y="64739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7BB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</a:t>
            </a:r>
            <a:endParaRPr lang="en-US" sz="8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0417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27D3C1"/>
                </a:solidFill>
              </a:rPr>
              <a:t>PROJECT 04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7FBFC"/>
                </a:solidFill>
              </a:rPr>
              <a:t>先建立一套可用的评测样本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2850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298448"/>
            <a:ext cx="1325880" cy="0"/>
          </a:xfrm>
          <a:prstGeom prst="line">
            <a:avLst/>
          </a:prstGeom>
          <a:noFill/>
          <a:ln w="38100">
            <a:solidFill>
              <a:srgbClr val="27D3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06640" y="420624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A7BBC2"/>
                </a:solidFill>
              </a:rPr>
              <a:t>AI营销内容智能审核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66928" y="5989320"/>
            <a:ext cx="11018520" cy="393192"/>
          </a:xfrm>
          <a:prstGeom prst="roundRect">
            <a:avLst>
              <a:gd name="adj" fmla="val 11628"/>
            </a:avLst>
          </a:prstGeom>
          <a:solidFill>
            <a:srgbClr val="0A222B"/>
          </a:solidFill>
          <a:ln w="10160">
            <a:solidFill>
              <a:srgbClr val="1641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6099048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7D3C1"/>
                </a:solidFill>
              </a:rPr>
              <a:t>本页重点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609344" y="6053328"/>
            <a:ext cx="9646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7FBFC"/>
                </a:solidFill>
              </a:rPr>
              <a:t>没有统一标注的样本，就无法知道系统真的变好还是只是“看起来不错”。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6510528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82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AI营销内容智能审核项目实战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1155680" y="64739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7BB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685800" y="1627632"/>
            <a:ext cx="3703320" cy="4005072"/>
          </a:xfrm>
          <a:prstGeom prst="roundRect">
            <a:avLst>
              <a:gd name="adj" fmla="val 1481"/>
            </a:avLst>
          </a:prstGeom>
          <a:solidFill>
            <a:srgbClr val="0B2932"/>
          </a:solidFill>
          <a:ln w="10160">
            <a:solidFill>
              <a:srgbClr val="28505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85800" y="1627632"/>
            <a:ext cx="73152" cy="4005072"/>
          </a:xfrm>
          <a:prstGeom prst="rect">
            <a:avLst/>
          </a:prstGeom>
          <a:solidFill>
            <a:srgbClr val="27D3C1"/>
          </a:solidFill>
          <a:ln w="12700">
            <a:solidFill>
              <a:srgbClr val="27D3C1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41832" y="1810512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7FBFC"/>
                </a:solidFill>
              </a:rPr>
              <a:t>样本来源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941832" y="2221992"/>
            <a:ext cx="324612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A7BBC2"/>
                </a:solidFill>
              </a:rPr>
              <a:t>脱敏历史内容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A7BBC2"/>
                </a:solidFill>
              </a:rPr>
              <a:t>审核员典型案例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A7BBC2"/>
                </a:solidFill>
              </a:rPr>
              <a:t>规则边界样本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A7BBC2"/>
                </a:solidFill>
              </a:rPr>
              <a:t>已上线内容抽检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4800600" y="1627632"/>
            <a:ext cx="2944368" cy="960120"/>
          </a:xfrm>
          <a:prstGeom prst="roundRect">
            <a:avLst>
              <a:gd name="adj" fmla="val 5714"/>
            </a:avLst>
          </a:prstGeom>
          <a:solidFill>
            <a:srgbClr val="0B2932"/>
          </a:solidFill>
          <a:ln w="10160">
            <a:solidFill>
              <a:srgbClr val="28505B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800600" y="1627632"/>
            <a:ext cx="73152" cy="960120"/>
          </a:xfrm>
          <a:prstGeom prst="rect">
            <a:avLst/>
          </a:prstGeom>
          <a:solidFill>
            <a:srgbClr val="7BE7DC"/>
          </a:solidFill>
          <a:ln w="12700">
            <a:solidFill>
              <a:srgbClr val="7BE7DC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056632" y="1810512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7FBFC"/>
                </a:solidFill>
              </a:rPr>
              <a:t>内容与场景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5056632" y="2221992"/>
            <a:ext cx="2487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8046720" y="1627632"/>
            <a:ext cx="2944368" cy="960120"/>
          </a:xfrm>
          <a:prstGeom prst="roundRect">
            <a:avLst>
              <a:gd name="adj" fmla="val 5714"/>
            </a:avLst>
          </a:prstGeom>
          <a:solidFill>
            <a:srgbClr val="0B2932"/>
          </a:solidFill>
          <a:ln w="10160">
            <a:solidFill>
              <a:srgbClr val="28505B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046720" y="1627632"/>
            <a:ext cx="73152" cy="960120"/>
          </a:xfrm>
          <a:prstGeom prst="rect">
            <a:avLst/>
          </a:prstGeom>
          <a:solidFill>
            <a:srgbClr val="7BE7DC"/>
          </a:solidFill>
          <a:ln w="12700">
            <a:solidFill>
              <a:srgbClr val="7BE7DC">
                <a:alpha val="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302752" y="1810512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7FBFC"/>
                </a:solidFill>
              </a:rPr>
              <a:t>必要上下文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8302752" y="2221992"/>
            <a:ext cx="2487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4800600" y="2907792"/>
            <a:ext cx="2944368" cy="960120"/>
          </a:xfrm>
          <a:prstGeom prst="roundRect">
            <a:avLst>
              <a:gd name="adj" fmla="val 5714"/>
            </a:avLst>
          </a:prstGeom>
          <a:solidFill>
            <a:srgbClr val="0B2932"/>
          </a:solidFill>
          <a:ln w="10160">
            <a:solidFill>
              <a:srgbClr val="28505B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800600" y="2907792"/>
            <a:ext cx="73152" cy="960120"/>
          </a:xfrm>
          <a:prstGeom prst="rect">
            <a:avLst/>
          </a:prstGeom>
          <a:solidFill>
            <a:srgbClr val="7BE7DC"/>
          </a:solidFill>
          <a:ln w="12700">
            <a:solidFill>
              <a:srgbClr val="7BE7DC">
                <a:alpha val="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056632" y="3090672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7FBFC"/>
                </a:solidFill>
              </a:rPr>
              <a:t>问题位置</a:t>
            </a:r>
            <a:endParaRPr lang="en-US" sz="1250" dirty="0"/>
          </a:p>
        </p:txBody>
      </p:sp>
      <p:sp>
        <p:nvSpPr>
          <p:cNvPr id="28" name="Text 25"/>
          <p:cNvSpPr/>
          <p:nvPr/>
        </p:nvSpPr>
        <p:spPr>
          <a:xfrm>
            <a:off x="5056632" y="3502152"/>
            <a:ext cx="2487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8046720" y="2907792"/>
            <a:ext cx="2944368" cy="960120"/>
          </a:xfrm>
          <a:prstGeom prst="roundRect">
            <a:avLst>
              <a:gd name="adj" fmla="val 5714"/>
            </a:avLst>
          </a:prstGeom>
          <a:solidFill>
            <a:srgbClr val="0B2932"/>
          </a:solidFill>
          <a:ln w="10160">
            <a:solidFill>
              <a:srgbClr val="28505B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8046720" y="2907792"/>
            <a:ext cx="73152" cy="960120"/>
          </a:xfrm>
          <a:prstGeom prst="rect">
            <a:avLst/>
          </a:prstGeom>
          <a:solidFill>
            <a:srgbClr val="7BE7DC"/>
          </a:solidFill>
          <a:ln w="12700">
            <a:solidFill>
              <a:srgbClr val="7BE7DC">
                <a:alpha val="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8302752" y="3090672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7FBFC"/>
                </a:solidFill>
              </a:rPr>
              <a:t>问题类型与等级</a:t>
            </a:r>
            <a:endParaRPr lang="en-US" sz="1250" dirty="0"/>
          </a:p>
        </p:txBody>
      </p:sp>
      <p:sp>
        <p:nvSpPr>
          <p:cNvPr id="32" name="Text 29"/>
          <p:cNvSpPr/>
          <p:nvPr/>
        </p:nvSpPr>
        <p:spPr>
          <a:xfrm>
            <a:off x="8302752" y="3502152"/>
            <a:ext cx="2487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4800600" y="4187952"/>
            <a:ext cx="2944368" cy="960120"/>
          </a:xfrm>
          <a:prstGeom prst="roundRect">
            <a:avLst>
              <a:gd name="adj" fmla="val 5714"/>
            </a:avLst>
          </a:prstGeom>
          <a:solidFill>
            <a:srgbClr val="0B2932"/>
          </a:solidFill>
          <a:ln w="10160">
            <a:solidFill>
              <a:srgbClr val="28505B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4800600" y="4187952"/>
            <a:ext cx="73152" cy="960120"/>
          </a:xfrm>
          <a:prstGeom prst="rect">
            <a:avLst/>
          </a:prstGeom>
          <a:solidFill>
            <a:srgbClr val="FF6B4A"/>
          </a:solidFill>
          <a:ln w="12700">
            <a:solidFill>
              <a:srgbClr val="FF6B4A">
                <a:alpha val="0"/>
              </a:srgbClr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056632" y="4370832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7FBFC"/>
                </a:solidFill>
              </a:rPr>
              <a:t>期望动作</a:t>
            </a:r>
            <a:endParaRPr lang="en-US" sz="1250" dirty="0"/>
          </a:p>
        </p:txBody>
      </p:sp>
      <p:sp>
        <p:nvSpPr>
          <p:cNvPr id="36" name="Text 33"/>
          <p:cNvSpPr/>
          <p:nvPr/>
        </p:nvSpPr>
        <p:spPr>
          <a:xfrm>
            <a:off x="5056632" y="4782312"/>
            <a:ext cx="2487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8046720" y="4187952"/>
            <a:ext cx="2944368" cy="960120"/>
          </a:xfrm>
          <a:prstGeom prst="roundRect">
            <a:avLst>
              <a:gd name="adj" fmla="val 5714"/>
            </a:avLst>
          </a:prstGeom>
          <a:solidFill>
            <a:srgbClr val="0B2932"/>
          </a:solidFill>
          <a:ln w="10160">
            <a:solidFill>
              <a:srgbClr val="28505B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8046720" y="4187952"/>
            <a:ext cx="73152" cy="960120"/>
          </a:xfrm>
          <a:prstGeom prst="rect">
            <a:avLst/>
          </a:prstGeom>
          <a:solidFill>
            <a:srgbClr val="7BE7DC"/>
          </a:solidFill>
          <a:ln w="12700">
            <a:solidFill>
              <a:srgbClr val="7BE7DC">
                <a:alpha val="0"/>
              </a:srgbClr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8302752" y="4370832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7FBFC"/>
                </a:solidFill>
              </a:rPr>
              <a:t>标注人及规则版本</a:t>
            </a:r>
            <a:endParaRPr lang="en-US" sz="1250" dirty="0"/>
          </a:p>
        </p:txBody>
      </p:sp>
      <p:sp>
        <p:nvSpPr>
          <p:cNvPr id="40" name="Text 37"/>
          <p:cNvSpPr/>
          <p:nvPr/>
        </p:nvSpPr>
        <p:spPr>
          <a:xfrm>
            <a:off x="8302752" y="4782312"/>
            <a:ext cx="2487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endParaRPr lang="en-US" sz="115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0417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27D3C1"/>
                </a:solidFill>
              </a:rPr>
              <a:t>PROJECT 04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7FBFC"/>
                </a:solidFill>
              </a:rPr>
              <a:t>指标要覆盖效果、稳定和业务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2850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298448"/>
            <a:ext cx="1325880" cy="0"/>
          </a:xfrm>
          <a:prstGeom prst="line">
            <a:avLst/>
          </a:prstGeom>
          <a:noFill/>
          <a:ln w="38100">
            <a:solidFill>
              <a:srgbClr val="27D3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06640" y="420624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A7BBC2"/>
                </a:solidFill>
              </a:rPr>
              <a:t>AI营销内容智能审核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66928" y="5989320"/>
            <a:ext cx="11018520" cy="393192"/>
          </a:xfrm>
          <a:prstGeom prst="roundRect">
            <a:avLst>
              <a:gd name="adj" fmla="val 11628"/>
            </a:avLst>
          </a:prstGeom>
          <a:solidFill>
            <a:srgbClr val="0A222B"/>
          </a:solidFill>
          <a:ln w="10160">
            <a:solidFill>
              <a:srgbClr val="1641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6099048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7D3C1"/>
                </a:solidFill>
              </a:rPr>
              <a:t>本页重点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609344" y="6053328"/>
            <a:ext cx="9646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7FBFC"/>
                </a:solidFill>
              </a:rPr>
              <a:t>总准确率不够；高风险漏检和人工接管同样重要。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6510528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82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AI营销内容智能审核项目实战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1155680" y="64739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7BB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685800" y="1664208"/>
            <a:ext cx="2578608" cy="3520440"/>
          </a:xfrm>
          <a:prstGeom prst="roundRect">
            <a:avLst>
              <a:gd name="adj" fmla="val 2128"/>
            </a:avLst>
          </a:prstGeom>
          <a:solidFill>
            <a:srgbClr val="0B2932"/>
          </a:solidFill>
          <a:ln w="10160">
            <a:solidFill>
              <a:srgbClr val="28505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85800" y="1664208"/>
            <a:ext cx="73152" cy="3520440"/>
          </a:xfrm>
          <a:prstGeom prst="rect">
            <a:avLst/>
          </a:prstGeom>
          <a:solidFill>
            <a:srgbClr val="27D3C1"/>
          </a:solidFill>
          <a:ln w="12700">
            <a:solidFill>
              <a:srgbClr val="27D3C1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41832" y="1847088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7FBFC"/>
                </a:solidFill>
              </a:rPr>
              <a:t>识别效果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941832" y="2258568"/>
            <a:ext cx="2121408" cy="2761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A7BBC2"/>
                </a:solidFill>
              </a:rPr>
              <a:t>按问题类型看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A7BBC2"/>
                </a:solidFill>
              </a:rPr>
              <a:t>准确率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A7BBC2"/>
                </a:solidFill>
              </a:rPr>
              <a:t>召回率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A7BBC2"/>
                </a:solidFill>
              </a:rPr>
              <a:t>F1</a:t>
            </a:r>
            <a:endParaRPr lang="en-US" sz="1450" dirty="0"/>
          </a:p>
        </p:txBody>
      </p:sp>
      <p:sp>
        <p:nvSpPr>
          <p:cNvPr id="17" name="Shape 14"/>
          <p:cNvSpPr/>
          <p:nvPr/>
        </p:nvSpPr>
        <p:spPr>
          <a:xfrm>
            <a:off x="3456432" y="1664208"/>
            <a:ext cx="2578608" cy="3520440"/>
          </a:xfrm>
          <a:prstGeom prst="roundRect">
            <a:avLst>
              <a:gd name="adj" fmla="val 2128"/>
            </a:avLst>
          </a:prstGeom>
          <a:solidFill>
            <a:srgbClr val="0B2932"/>
          </a:solidFill>
          <a:ln w="10160">
            <a:solidFill>
              <a:srgbClr val="28505B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456432" y="1664208"/>
            <a:ext cx="73152" cy="3520440"/>
          </a:xfrm>
          <a:prstGeom prst="rect">
            <a:avLst/>
          </a:prstGeom>
          <a:solidFill>
            <a:srgbClr val="7BE7DC"/>
          </a:solidFill>
          <a:ln w="12700">
            <a:solidFill>
              <a:srgbClr val="7BE7DC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712464" y="1847088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7FBFC"/>
                </a:solidFill>
              </a:rPr>
              <a:t>工程稳定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3712464" y="2258568"/>
            <a:ext cx="2121408" cy="2761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A7BBC2"/>
                </a:solidFill>
              </a:rPr>
              <a:t>结构化输出成功率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A7BBC2"/>
                </a:solidFill>
              </a:rPr>
              <a:t>超时率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A7BBC2"/>
                </a:solidFill>
              </a:rPr>
              <a:t>依赖失败率</a:t>
            </a:r>
            <a:endParaRPr lang="en-US" sz="1450" dirty="0"/>
          </a:p>
        </p:txBody>
      </p:sp>
      <p:sp>
        <p:nvSpPr>
          <p:cNvPr id="21" name="Shape 18"/>
          <p:cNvSpPr/>
          <p:nvPr/>
        </p:nvSpPr>
        <p:spPr>
          <a:xfrm>
            <a:off x="6227064" y="1664208"/>
            <a:ext cx="2578608" cy="3520440"/>
          </a:xfrm>
          <a:prstGeom prst="roundRect">
            <a:avLst>
              <a:gd name="adj" fmla="val 2128"/>
            </a:avLst>
          </a:prstGeom>
          <a:solidFill>
            <a:srgbClr val="0B2932"/>
          </a:solidFill>
          <a:ln w="10160">
            <a:solidFill>
              <a:srgbClr val="28505B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227064" y="1664208"/>
            <a:ext cx="73152" cy="3520440"/>
          </a:xfrm>
          <a:prstGeom prst="rect">
            <a:avLst/>
          </a:prstGeom>
          <a:solidFill>
            <a:srgbClr val="F6C453"/>
          </a:solidFill>
          <a:ln w="12700">
            <a:solidFill>
              <a:srgbClr val="F6C453">
                <a:alpha val="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483096" y="1847088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7FBFC"/>
                </a:solidFill>
              </a:rPr>
              <a:t>业务处理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6483096" y="2258568"/>
            <a:ext cx="2121408" cy="2761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A7BBC2"/>
                </a:solidFill>
              </a:rPr>
              <a:t>人工复核比例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A7BBC2"/>
                </a:solidFill>
              </a:rPr>
              <a:t>平均处理时长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A7BBC2"/>
                </a:solidFill>
              </a:rPr>
              <a:t>一次修改通过率</a:t>
            </a:r>
            <a:endParaRPr lang="en-US" sz="1450" dirty="0"/>
          </a:p>
        </p:txBody>
      </p:sp>
      <p:sp>
        <p:nvSpPr>
          <p:cNvPr id="25" name="Shape 22"/>
          <p:cNvSpPr/>
          <p:nvPr/>
        </p:nvSpPr>
        <p:spPr>
          <a:xfrm>
            <a:off x="8997696" y="1664208"/>
            <a:ext cx="2578608" cy="3520440"/>
          </a:xfrm>
          <a:prstGeom prst="roundRect">
            <a:avLst>
              <a:gd name="adj" fmla="val 2128"/>
            </a:avLst>
          </a:prstGeom>
          <a:solidFill>
            <a:srgbClr val="0B2932"/>
          </a:solidFill>
          <a:ln w="10160">
            <a:solidFill>
              <a:srgbClr val="28505B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8997696" y="1664208"/>
            <a:ext cx="73152" cy="3520440"/>
          </a:xfrm>
          <a:prstGeom prst="rect">
            <a:avLst/>
          </a:prstGeom>
          <a:solidFill>
            <a:srgbClr val="FF6B4A"/>
          </a:solidFill>
          <a:ln w="12700">
            <a:solidFill>
              <a:srgbClr val="FF6B4A">
                <a:alpha val="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253728" y="1847088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7FBFC"/>
                </a:solidFill>
              </a:rPr>
              <a:t>高风险表现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9253728" y="2258568"/>
            <a:ext cx="2121408" cy="2761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A7BBC2"/>
                </a:solidFill>
              </a:rPr>
              <a:t>严重漏检数量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A7BBC2"/>
                </a:solidFill>
              </a:rPr>
              <a:t>人工调整比例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A7BBC2"/>
                </a:solidFill>
              </a:rPr>
              <a:t>高风险响应时间</a:t>
            </a:r>
            <a:endParaRPr lang="en-US" sz="145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0417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27D3C1"/>
                </a:solidFill>
              </a:rPr>
              <a:t>PROJECT 04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7FBFC"/>
                </a:solidFill>
              </a:rPr>
              <a:t>三个坏案例，比一张高分截图更有价值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2850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298448"/>
            <a:ext cx="1325880" cy="0"/>
          </a:xfrm>
          <a:prstGeom prst="line">
            <a:avLst/>
          </a:prstGeom>
          <a:noFill/>
          <a:ln w="38100">
            <a:solidFill>
              <a:srgbClr val="27D3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06640" y="420624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A7BBC2"/>
                </a:solidFill>
              </a:rPr>
              <a:t>AI营销内容智能审核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66928" y="5989320"/>
            <a:ext cx="11018520" cy="393192"/>
          </a:xfrm>
          <a:prstGeom prst="roundRect">
            <a:avLst>
              <a:gd name="adj" fmla="val 11628"/>
            </a:avLst>
          </a:prstGeom>
          <a:solidFill>
            <a:srgbClr val="0A222B"/>
          </a:solidFill>
          <a:ln w="10160">
            <a:solidFill>
              <a:srgbClr val="1641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6099048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7D3C1"/>
                </a:solidFill>
              </a:rPr>
              <a:t>本页重点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609344" y="6053328"/>
            <a:ext cx="9646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7FBFC"/>
                </a:solidFill>
              </a:rPr>
              <a:t>坏案例必须落到具体修改动作，并进入回归测试。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6510528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82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AI营销内容智能审核项目实战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1155680" y="64739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7BB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685800" y="1627632"/>
            <a:ext cx="3456432" cy="4069080"/>
          </a:xfrm>
          <a:prstGeom prst="roundRect">
            <a:avLst>
              <a:gd name="adj" fmla="val 1587"/>
            </a:avLst>
          </a:prstGeom>
          <a:solidFill>
            <a:srgbClr val="0B2932"/>
          </a:solidFill>
          <a:ln w="10160">
            <a:solidFill>
              <a:srgbClr val="28505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85800" y="1627632"/>
            <a:ext cx="73152" cy="4069080"/>
          </a:xfrm>
          <a:prstGeom prst="rect">
            <a:avLst/>
          </a:prstGeom>
          <a:solidFill>
            <a:srgbClr val="27D3C1"/>
          </a:solidFill>
          <a:ln w="12700">
            <a:solidFill>
              <a:srgbClr val="27D3C1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41832" y="1810512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7FBFC"/>
                </a:solidFill>
              </a:rPr>
              <a:t>01 否定句误报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941832" y="2221992"/>
            <a:ext cx="2999232" cy="3310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A7BBC2"/>
                </a:solidFill>
              </a:rPr>
              <a:t>输入：不承诺100%有效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A7BBC2"/>
                </a:solidFill>
              </a:rPr>
              <a:t>原因：关键词直接定性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A7BBC2"/>
                </a:solidFill>
              </a:rPr>
              <a:t>改进：语义确认＋否定句样本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4370832" y="1627632"/>
            <a:ext cx="3456432" cy="4069080"/>
          </a:xfrm>
          <a:prstGeom prst="roundRect">
            <a:avLst>
              <a:gd name="adj" fmla="val 1587"/>
            </a:avLst>
          </a:prstGeom>
          <a:solidFill>
            <a:srgbClr val="0B2932"/>
          </a:solidFill>
          <a:ln w="10160">
            <a:solidFill>
              <a:srgbClr val="28505B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370832" y="1627632"/>
            <a:ext cx="73152" cy="4069080"/>
          </a:xfrm>
          <a:prstGeom prst="rect">
            <a:avLst/>
          </a:prstGeom>
          <a:solidFill>
            <a:srgbClr val="FF6B4A"/>
          </a:solidFill>
          <a:ln w="12700">
            <a:solidFill>
              <a:srgbClr val="FF6B4A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626864" y="1810512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7FBFC"/>
                </a:solidFill>
              </a:rPr>
              <a:t>02 上下文不足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4626864" y="2221992"/>
            <a:ext cx="2999232" cy="3310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A7BBC2"/>
                </a:solidFill>
              </a:rPr>
              <a:t>输入：连续三年销量第一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A7BBC2"/>
                </a:solidFill>
              </a:rPr>
              <a:t>原因：缺报告仍强行判断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A7BBC2"/>
                </a:solidFill>
              </a:rPr>
              <a:t>改进：补材料或转人工</a:t>
            </a:r>
            <a:endParaRPr lang="en-US" sz="1350" dirty="0"/>
          </a:p>
        </p:txBody>
      </p:sp>
      <p:sp>
        <p:nvSpPr>
          <p:cNvPr id="21" name="Shape 18"/>
          <p:cNvSpPr/>
          <p:nvPr/>
        </p:nvSpPr>
        <p:spPr>
          <a:xfrm>
            <a:off x="8055864" y="1627632"/>
            <a:ext cx="3456432" cy="4069080"/>
          </a:xfrm>
          <a:prstGeom prst="roundRect">
            <a:avLst>
              <a:gd name="adj" fmla="val 1587"/>
            </a:avLst>
          </a:prstGeom>
          <a:solidFill>
            <a:srgbClr val="0B2932"/>
          </a:solidFill>
          <a:ln w="10160">
            <a:solidFill>
              <a:srgbClr val="28505B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055864" y="1627632"/>
            <a:ext cx="73152" cy="4069080"/>
          </a:xfrm>
          <a:prstGeom prst="rect">
            <a:avLst/>
          </a:prstGeom>
          <a:solidFill>
            <a:srgbClr val="7BE7DC"/>
          </a:solidFill>
          <a:ln w="12700">
            <a:solidFill>
              <a:srgbClr val="7BE7DC">
                <a:alpha val="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311896" y="1810512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7FBFC"/>
                </a:solidFill>
              </a:rPr>
              <a:t>03 重复展示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8311896" y="2221992"/>
            <a:ext cx="2999232" cy="3310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A7BBC2"/>
                </a:solidFill>
              </a:rPr>
              <a:t>输入：全网第一，排名第一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A7BBC2"/>
                </a:solidFill>
              </a:rPr>
              <a:t>原因：多能力重复命中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A7BBC2"/>
                </a:solidFill>
              </a:rPr>
              <a:t>改进：按位置和类型合并</a:t>
            </a:r>
            <a:endParaRPr lang="en-US" sz="135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0417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27D3C1"/>
                </a:solidFill>
              </a:rPr>
              <a:t>PROJECT 04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7FBFC"/>
                </a:solidFill>
              </a:rPr>
              <a:t>迭代闭环：从线上问题回到规则版本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2850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298448"/>
            <a:ext cx="1325880" cy="0"/>
          </a:xfrm>
          <a:prstGeom prst="line">
            <a:avLst/>
          </a:prstGeom>
          <a:noFill/>
          <a:ln w="38100">
            <a:solidFill>
              <a:srgbClr val="27D3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06640" y="420624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A7BBC2"/>
                </a:solidFill>
              </a:rPr>
              <a:t>AI营销内容智能审核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66928" y="5989320"/>
            <a:ext cx="11018520" cy="393192"/>
          </a:xfrm>
          <a:prstGeom prst="roundRect">
            <a:avLst>
              <a:gd name="adj" fmla="val 11628"/>
            </a:avLst>
          </a:prstGeom>
          <a:solidFill>
            <a:srgbClr val="0A222B"/>
          </a:solidFill>
          <a:ln w="10160">
            <a:solidFill>
              <a:srgbClr val="1641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6099048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7D3C1"/>
                </a:solidFill>
              </a:rPr>
              <a:t>本页重点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609344" y="6053328"/>
            <a:ext cx="9646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7FBFC"/>
                </a:solidFill>
              </a:rPr>
              <a:t>每次修改都要经过归类、改动、回归和发布，而不是直接线上试错。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6510528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82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AI营销内容智能审核项目实战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1155680" y="64739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7BB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1005840" y="1828800"/>
            <a:ext cx="2148840" cy="1051560"/>
          </a:xfrm>
          <a:prstGeom prst="roundRect">
            <a:avLst>
              <a:gd name="adj" fmla="val 5217"/>
            </a:avLst>
          </a:prstGeom>
          <a:solidFill>
            <a:srgbClr val="0B2932"/>
          </a:solidFill>
          <a:ln w="15240">
            <a:solidFill>
              <a:srgbClr val="27D3C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115568" y="1993392"/>
            <a:ext cx="1929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FBFC"/>
                </a:solidFill>
              </a:rPr>
              <a:t>线上任务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115568" y="2286000"/>
            <a:ext cx="19293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A7BBC2"/>
                </a:solidFill>
              </a:rPr>
              <a:t>真实输入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3657600" y="1417320"/>
            <a:ext cx="2148840" cy="1051560"/>
          </a:xfrm>
          <a:prstGeom prst="roundRect">
            <a:avLst>
              <a:gd name="adj" fmla="val 5217"/>
            </a:avLst>
          </a:prstGeom>
          <a:solidFill>
            <a:srgbClr val="0B2932"/>
          </a:solidFill>
          <a:ln w="15240">
            <a:solidFill>
              <a:srgbClr val="27D3C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767328" y="1581912"/>
            <a:ext cx="1929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FBFC"/>
                </a:solidFill>
              </a:rPr>
              <a:t>人机结果对比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3767328" y="1874520"/>
            <a:ext cx="19293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A7BBC2"/>
                </a:solidFill>
              </a:rPr>
              <a:t>发现差异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6446520" y="1417320"/>
            <a:ext cx="2148840" cy="1051560"/>
          </a:xfrm>
          <a:prstGeom prst="roundRect">
            <a:avLst>
              <a:gd name="adj" fmla="val 5217"/>
            </a:avLst>
          </a:prstGeom>
          <a:solidFill>
            <a:srgbClr val="0B2932"/>
          </a:solidFill>
          <a:ln w="15240">
            <a:solidFill>
              <a:srgbClr val="27D3C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556248" y="1581912"/>
            <a:ext cx="1929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FBFC"/>
                </a:solidFill>
              </a:rPr>
              <a:t>问题归类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556248" y="1874520"/>
            <a:ext cx="19293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A7BBC2"/>
                </a:solidFill>
              </a:rPr>
              <a:t>误报／漏报／分级／定位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9006840" y="1828800"/>
            <a:ext cx="2148840" cy="1051560"/>
          </a:xfrm>
          <a:prstGeom prst="roundRect">
            <a:avLst>
              <a:gd name="adj" fmla="val 5217"/>
            </a:avLst>
          </a:prstGeom>
          <a:solidFill>
            <a:srgbClr val="0B2932"/>
          </a:solidFill>
          <a:ln w="15240">
            <a:solidFill>
              <a:srgbClr val="FF6B4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116568" y="1993392"/>
            <a:ext cx="1929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FBFC"/>
                </a:solidFill>
              </a:rPr>
              <a:t>决定修改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9116568" y="2286000"/>
            <a:ext cx="19293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A7BBC2"/>
                </a:solidFill>
              </a:rPr>
              <a:t>规则／提示／资料／交互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6537960" y="4069080"/>
            <a:ext cx="2148840" cy="1051560"/>
          </a:xfrm>
          <a:prstGeom prst="roundRect">
            <a:avLst>
              <a:gd name="adj" fmla="val 5217"/>
            </a:avLst>
          </a:prstGeom>
          <a:solidFill>
            <a:srgbClr val="0B2932"/>
          </a:solidFill>
          <a:ln w="15240">
            <a:solidFill>
              <a:srgbClr val="27D3C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647688" y="4233672"/>
            <a:ext cx="1929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FBFC"/>
                </a:solidFill>
              </a:rPr>
              <a:t>回归测试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6647688" y="4526280"/>
            <a:ext cx="19293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A7BBC2"/>
                </a:solidFill>
              </a:rPr>
              <a:t>旧问题不能复发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3520440" y="4069080"/>
            <a:ext cx="2148840" cy="1051560"/>
          </a:xfrm>
          <a:prstGeom prst="roundRect">
            <a:avLst>
              <a:gd name="adj" fmla="val 5217"/>
            </a:avLst>
          </a:prstGeom>
          <a:solidFill>
            <a:srgbClr val="0B2932"/>
          </a:solidFill>
          <a:ln w="15240">
            <a:solidFill>
              <a:srgbClr val="27D3C1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630168" y="4233672"/>
            <a:ext cx="1929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FBFC"/>
                </a:solidFill>
              </a:rPr>
              <a:t>发布新版本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3630168" y="4526280"/>
            <a:ext cx="19293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A7BBC2"/>
                </a:solidFill>
              </a:rPr>
              <a:t>记录适用范围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3182112" y="2359152"/>
            <a:ext cx="365760" cy="-411480"/>
          </a:xfrm>
          <a:prstGeom prst="line">
            <a:avLst/>
          </a:prstGeom>
          <a:noFill/>
          <a:ln w="20320">
            <a:solidFill>
              <a:srgbClr val="A7BBC2"/>
            </a:solidFill>
            <a:prstDash val="solid"/>
            <a:headEnd type="none"/>
            <a:tailEnd type="triangle"/>
          </a:ln>
        </p:spPr>
      </p:sp>
      <p:sp>
        <p:nvSpPr>
          <p:cNvPr id="32" name="Shape 29"/>
          <p:cNvSpPr/>
          <p:nvPr/>
        </p:nvSpPr>
        <p:spPr>
          <a:xfrm>
            <a:off x="5833872" y="1947672"/>
            <a:ext cx="502920" cy="0"/>
          </a:xfrm>
          <a:prstGeom prst="line">
            <a:avLst/>
          </a:prstGeom>
          <a:noFill/>
          <a:ln w="20320">
            <a:solidFill>
              <a:srgbClr val="A7BBC2"/>
            </a:solidFill>
            <a:prstDash val="solid"/>
            <a:headEnd type="none"/>
            <a:tailEnd type="triangle"/>
          </a:ln>
        </p:spPr>
      </p:sp>
      <p:sp>
        <p:nvSpPr>
          <p:cNvPr id="33" name="Shape 30"/>
          <p:cNvSpPr/>
          <p:nvPr/>
        </p:nvSpPr>
        <p:spPr>
          <a:xfrm>
            <a:off x="8622792" y="1947672"/>
            <a:ext cx="274320" cy="411480"/>
          </a:xfrm>
          <a:prstGeom prst="line">
            <a:avLst/>
          </a:prstGeom>
          <a:noFill/>
          <a:ln w="20320">
            <a:solidFill>
              <a:srgbClr val="A7BBC2"/>
            </a:solidFill>
            <a:prstDash val="solid"/>
            <a:headEnd type="none"/>
            <a:tailEnd type="triangle"/>
          </a:ln>
        </p:spPr>
      </p:sp>
      <p:sp>
        <p:nvSpPr>
          <p:cNvPr id="34" name="Shape 31"/>
          <p:cNvSpPr/>
          <p:nvPr/>
        </p:nvSpPr>
        <p:spPr>
          <a:xfrm>
            <a:off x="11183112" y="2359152"/>
            <a:ext cx="-4754880" cy="2240280"/>
          </a:xfrm>
          <a:prstGeom prst="line">
            <a:avLst/>
          </a:prstGeom>
          <a:noFill/>
          <a:ln w="20320">
            <a:solidFill>
              <a:srgbClr val="A7BBC2"/>
            </a:solidFill>
            <a:prstDash val="solid"/>
            <a:headEnd type="none"/>
            <a:tailEnd type="triangle"/>
          </a:ln>
        </p:spPr>
      </p:sp>
      <p:sp>
        <p:nvSpPr>
          <p:cNvPr id="35" name="Shape 32"/>
          <p:cNvSpPr/>
          <p:nvPr/>
        </p:nvSpPr>
        <p:spPr>
          <a:xfrm>
            <a:off x="8714232" y="4599432"/>
            <a:ext cx="-5303520" cy="0"/>
          </a:xfrm>
          <a:prstGeom prst="line">
            <a:avLst/>
          </a:prstGeom>
          <a:noFill/>
          <a:ln w="20320">
            <a:solidFill>
              <a:srgbClr val="A7BBC2"/>
            </a:solidFill>
            <a:prstDash val="solid"/>
            <a:headEnd type="none"/>
            <a:tailEnd type="triangle"/>
          </a:ln>
        </p:spPr>
      </p:sp>
      <p:sp>
        <p:nvSpPr>
          <p:cNvPr id="36" name="Shape 33"/>
          <p:cNvSpPr/>
          <p:nvPr/>
        </p:nvSpPr>
        <p:spPr>
          <a:xfrm>
            <a:off x="3429000" y="4608576"/>
            <a:ext cx="-1783080" cy="-1545336"/>
          </a:xfrm>
          <a:prstGeom prst="line">
            <a:avLst/>
          </a:prstGeom>
          <a:noFill/>
          <a:ln w="20320">
            <a:solidFill>
              <a:srgbClr val="A7BBC2"/>
            </a:solidFill>
            <a:prstDash val="solid"/>
            <a:headEnd type="none"/>
            <a:tailEnd type="triangle"/>
          </a:ln>
        </p:spPr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0417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27D3C1"/>
                </a:solidFill>
              </a:rPr>
              <a:t>PROJECT 04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7FBFC"/>
                </a:solidFill>
              </a:rPr>
              <a:t>作品集用七部分讲清项目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2850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298448"/>
            <a:ext cx="1325880" cy="0"/>
          </a:xfrm>
          <a:prstGeom prst="line">
            <a:avLst/>
          </a:prstGeom>
          <a:noFill/>
          <a:ln w="38100">
            <a:solidFill>
              <a:srgbClr val="27D3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06640" y="420624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A7BBC2"/>
                </a:solidFill>
              </a:rPr>
              <a:t>AI营销内容智能审核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66928" y="5989320"/>
            <a:ext cx="11018520" cy="393192"/>
          </a:xfrm>
          <a:prstGeom prst="roundRect">
            <a:avLst>
              <a:gd name="adj" fmla="val 11628"/>
            </a:avLst>
          </a:prstGeom>
          <a:solidFill>
            <a:srgbClr val="0A222B"/>
          </a:solidFill>
          <a:ln w="10160">
            <a:solidFill>
              <a:srgbClr val="1641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6099048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7D3C1"/>
                </a:solidFill>
              </a:rPr>
              <a:t>本页重点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609344" y="6053328"/>
            <a:ext cx="9646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7FBFC"/>
                </a:solidFill>
              </a:rPr>
              <a:t>专业性来自前后判断能对应，而不是页面数量。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6510528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82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AI营销内容智能审核项目实战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1155680" y="64739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7BB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594360" y="2148840"/>
            <a:ext cx="1371600" cy="1965960"/>
          </a:xfrm>
          <a:prstGeom prst="roundRect">
            <a:avLst>
              <a:gd name="adj" fmla="val 3333"/>
            </a:avLst>
          </a:prstGeom>
          <a:solidFill>
            <a:srgbClr val="0B2932"/>
          </a:solidFill>
          <a:ln w="10160">
            <a:solidFill>
              <a:srgbClr val="28505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87552" y="2487168"/>
            <a:ext cx="585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7D3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731520" y="315468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FBFC"/>
                </a:solidFill>
              </a:rPr>
              <a:t>业务背景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2221992" y="2148840"/>
            <a:ext cx="1371600" cy="1965960"/>
          </a:xfrm>
          <a:prstGeom prst="roundRect">
            <a:avLst>
              <a:gd name="adj" fmla="val 3333"/>
            </a:avLst>
          </a:prstGeom>
          <a:solidFill>
            <a:srgbClr val="0B2932"/>
          </a:solidFill>
          <a:ln w="10160">
            <a:solidFill>
              <a:srgbClr val="28505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615184" y="2487168"/>
            <a:ext cx="585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7D3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2359152" y="315468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FBFC"/>
                </a:solidFill>
              </a:rPr>
              <a:t>项目边界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3849624" y="2148840"/>
            <a:ext cx="1371600" cy="1965960"/>
          </a:xfrm>
          <a:prstGeom prst="roundRect">
            <a:avLst>
              <a:gd name="adj" fmla="val 3333"/>
            </a:avLst>
          </a:prstGeom>
          <a:solidFill>
            <a:srgbClr val="0B2932"/>
          </a:solidFill>
          <a:ln w="10160">
            <a:solidFill>
              <a:srgbClr val="28505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242816" y="2487168"/>
            <a:ext cx="585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7D3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3986784" y="315468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FBFC"/>
                </a:solidFill>
              </a:rPr>
              <a:t>方案选择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5477256" y="2148840"/>
            <a:ext cx="1371600" cy="1965960"/>
          </a:xfrm>
          <a:prstGeom prst="roundRect">
            <a:avLst>
              <a:gd name="adj" fmla="val 3333"/>
            </a:avLst>
          </a:prstGeom>
          <a:solidFill>
            <a:srgbClr val="103641"/>
          </a:solidFill>
          <a:ln w="19050">
            <a:solidFill>
              <a:srgbClr val="FF6B4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870448" y="2487168"/>
            <a:ext cx="585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5614416" y="315468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FBFC"/>
                </a:solidFill>
              </a:rPr>
              <a:t>产品设计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7104888" y="2148840"/>
            <a:ext cx="1371600" cy="1965960"/>
          </a:xfrm>
          <a:prstGeom prst="roundRect">
            <a:avLst>
              <a:gd name="adj" fmla="val 3333"/>
            </a:avLst>
          </a:prstGeom>
          <a:solidFill>
            <a:srgbClr val="0B2932"/>
          </a:solidFill>
          <a:ln w="10160">
            <a:solidFill>
              <a:srgbClr val="28505B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498080" y="2487168"/>
            <a:ext cx="585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7D3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7242048" y="315468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FBFC"/>
                </a:solidFill>
              </a:rPr>
              <a:t>AI设计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8732520" y="2148840"/>
            <a:ext cx="1371600" cy="1965960"/>
          </a:xfrm>
          <a:prstGeom prst="roundRect">
            <a:avLst>
              <a:gd name="adj" fmla="val 3333"/>
            </a:avLst>
          </a:prstGeom>
          <a:solidFill>
            <a:srgbClr val="0B2932"/>
          </a:solidFill>
          <a:ln w="10160">
            <a:solidFill>
              <a:srgbClr val="28505B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9125712" y="2487168"/>
            <a:ext cx="585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7D3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8869680" y="315468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FBFC"/>
                </a:solidFill>
              </a:rPr>
              <a:t>测试迭代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10360152" y="2148840"/>
            <a:ext cx="1371600" cy="1965960"/>
          </a:xfrm>
          <a:prstGeom prst="roundRect">
            <a:avLst>
              <a:gd name="adj" fmla="val 3333"/>
            </a:avLst>
          </a:prstGeom>
          <a:solidFill>
            <a:srgbClr val="0B2932"/>
          </a:solidFill>
          <a:ln w="10160">
            <a:solidFill>
              <a:srgbClr val="28505B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10753344" y="2487168"/>
            <a:ext cx="585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7D3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10497312" y="315468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FBFC"/>
                </a:solidFill>
              </a:rPr>
              <a:t>项目复盘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1554480" y="4709160"/>
            <a:ext cx="9098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BE7DC"/>
                </a:solidFill>
              </a:rPr>
              <a:t>每一页都回答：为什么这样做？它解决了哪个流程问题？如何验证？</a:t>
            </a:r>
            <a:endParaRPr lang="en-US" sz="18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0417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27D3C1"/>
                </a:solidFill>
              </a:rPr>
              <a:t>PROJECT 04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7FBFC"/>
                </a:solidFill>
              </a:rPr>
              <a:t>面试时的一分钟讲法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2850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298448"/>
            <a:ext cx="1325880" cy="0"/>
          </a:xfrm>
          <a:prstGeom prst="line">
            <a:avLst/>
          </a:prstGeom>
          <a:noFill/>
          <a:ln w="38100">
            <a:solidFill>
              <a:srgbClr val="27D3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06640" y="420624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A7BBC2"/>
                </a:solidFill>
              </a:rPr>
              <a:t>AI营销内容智能审核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66928" y="5989320"/>
            <a:ext cx="11018520" cy="393192"/>
          </a:xfrm>
          <a:prstGeom prst="roundRect">
            <a:avLst>
              <a:gd name="adj" fmla="val 11628"/>
            </a:avLst>
          </a:prstGeom>
          <a:solidFill>
            <a:srgbClr val="0A222B"/>
          </a:solidFill>
          <a:ln w="10160">
            <a:solidFill>
              <a:srgbClr val="1641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6099048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7D3C1"/>
                </a:solidFill>
              </a:rPr>
              <a:t>本页重点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609344" y="6053328"/>
            <a:ext cx="9646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7FBFC"/>
                </a:solidFill>
              </a:rPr>
              <a:t>先讲问题和边界，再讲方案、产品闭环与验证，不从模型名称开始。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6510528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82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AI营销内容智能审核项目实战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1155680" y="64739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7BB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822960" y="1664208"/>
            <a:ext cx="10533888" cy="3977640"/>
          </a:xfrm>
          <a:prstGeom prst="roundRect">
            <a:avLst>
              <a:gd name="adj" fmla="val 1609"/>
            </a:avLst>
          </a:prstGeom>
          <a:solidFill>
            <a:srgbClr val="0B2932"/>
          </a:solidFill>
          <a:ln w="12700">
            <a:solidFill>
              <a:srgbClr val="27D3C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234440" y="2157984"/>
            <a:ext cx="9710928" cy="2926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7FBFC"/>
                </a:solidFill>
              </a:rPr>
              <a:t>我做的是一个面向电商营销文本的智能审核平台。原流程依赖人工逐篇检查，高峰期等待时间长，审核口径也不够稳定。第一版我限定商品详情页与活动文案两个场景，采用确定性规则、大模型语义判断、业务资料核对和人工复核的混合流程。产品核心不是返回一段 AI 结论，而是把每个问题定位到原文，给出类型、等级和处理动作，并支持修改后重审与人工接管。评测除了准确率和召回率，也会关注高风险漏检、人工复核比例和处理时长，再通过坏案例持续更新规则和测试集。</a:t>
            </a:r>
            <a:endParaRPr lang="en-US" sz="17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0417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27D3C1"/>
                </a:solidFill>
              </a:rPr>
              <a:t>PROJECT 04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7FBFC"/>
                </a:solidFill>
              </a:rPr>
              <a:t>课后作业｜完成一个项目包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2850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298448"/>
            <a:ext cx="1325880" cy="0"/>
          </a:xfrm>
          <a:prstGeom prst="line">
            <a:avLst/>
          </a:prstGeom>
          <a:noFill/>
          <a:ln w="38100">
            <a:solidFill>
              <a:srgbClr val="27D3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06640" y="420624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A7BBC2"/>
                </a:solidFill>
              </a:rPr>
              <a:t>AI营销内容智能审核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66928" y="5989320"/>
            <a:ext cx="11018520" cy="393192"/>
          </a:xfrm>
          <a:prstGeom prst="roundRect">
            <a:avLst>
              <a:gd name="adj" fmla="val 11628"/>
            </a:avLst>
          </a:prstGeom>
          <a:solidFill>
            <a:srgbClr val="0A222B"/>
          </a:solidFill>
          <a:ln w="10160">
            <a:solidFill>
              <a:srgbClr val="1641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6099048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7D3C1"/>
                </a:solidFill>
              </a:rPr>
              <a:t>本页重点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609344" y="6053328"/>
            <a:ext cx="9646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7FBFC"/>
                </a:solidFill>
              </a:rPr>
              <a:t>作业重点不是做完整系统，而是让六份材料前后对应。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6510528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82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AI营销内容智能审核项目实战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1155680" y="64739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7BB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713232" y="1572768"/>
            <a:ext cx="6400800" cy="4133088"/>
          </a:xfrm>
          <a:prstGeom prst="roundRect">
            <a:avLst>
              <a:gd name="adj" fmla="val 1327"/>
            </a:avLst>
          </a:prstGeom>
          <a:solidFill>
            <a:srgbClr val="0B2932"/>
          </a:solidFill>
          <a:ln w="10160">
            <a:solidFill>
              <a:srgbClr val="28505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13232" y="1572768"/>
            <a:ext cx="73152" cy="4133088"/>
          </a:xfrm>
          <a:prstGeom prst="rect">
            <a:avLst/>
          </a:prstGeom>
          <a:solidFill>
            <a:srgbClr val="27D3C1"/>
          </a:solidFill>
          <a:ln w="12700">
            <a:solidFill>
              <a:srgbClr val="27D3C1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69264" y="1755648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7FBFC"/>
                </a:solidFill>
              </a:rPr>
              <a:t>必做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969264" y="2167128"/>
            <a:ext cx="5943600" cy="33741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A7BBC2"/>
                </a:solidFill>
              </a:rPr>
              <a:t>1. 一页业务现状与项目边界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A7BBC2"/>
                </a:solidFill>
              </a:rPr>
              <a:t>2. 一张混合审核主流程图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A7BBC2"/>
                </a:solidFill>
              </a:rPr>
              <a:t>3. 三条原子规则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A7BBC2"/>
                </a:solidFill>
              </a:rPr>
              <a:t>4. 一张智能审核工作台原型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A7BBC2"/>
                </a:solidFill>
              </a:rPr>
              <a:t>5. 十条测试样本，至少三条边界样本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A7BBC2"/>
                </a:solidFill>
              </a:rPr>
              <a:t>6. 一页坏案例与改进方案</a:t>
            </a:r>
            <a:endParaRPr lang="en-US" sz="1450" dirty="0"/>
          </a:p>
        </p:txBody>
      </p:sp>
      <p:sp>
        <p:nvSpPr>
          <p:cNvPr id="17" name="Shape 14"/>
          <p:cNvSpPr/>
          <p:nvPr/>
        </p:nvSpPr>
        <p:spPr>
          <a:xfrm>
            <a:off x="7360920" y="1572768"/>
            <a:ext cx="4133088" cy="4133088"/>
          </a:xfrm>
          <a:prstGeom prst="roundRect">
            <a:avLst>
              <a:gd name="adj" fmla="val 1327"/>
            </a:avLst>
          </a:prstGeom>
          <a:solidFill>
            <a:srgbClr val="0B2932"/>
          </a:solidFill>
          <a:ln w="10160">
            <a:solidFill>
              <a:srgbClr val="28505B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360920" y="1572768"/>
            <a:ext cx="73152" cy="4133088"/>
          </a:xfrm>
          <a:prstGeom prst="rect">
            <a:avLst/>
          </a:prstGeom>
          <a:solidFill>
            <a:srgbClr val="FF6B4A"/>
          </a:solidFill>
          <a:ln w="12700">
            <a:solidFill>
              <a:srgbClr val="FF6B4A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616952" y="1755648"/>
            <a:ext cx="3675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7FBFC"/>
                </a:solidFill>
              </a:rPr>
              <a:t>进阶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7616952" y="2167128"/>
            <a:ext cx="3675888" cy="33741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A7BBC2"/>
                </a:solidFill>
              </a:rPr>
              <a:t>迁移到一个新行业：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A7BBC2"/>
                </a:solidFill>
              </a:rPr>
              <a:t>招聘信息审核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A7BBC2"/>
                </a:solidFill>
              </a:rPr>
              <a:t>教育宣传审核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A7BBC2"/>
                </a:solidFill>
              </a:rPr>
              <a:t>金融营销材料审核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A7BBC2"/>
                </a:solidFill>
              </a:rPr>
              <a:t>必须重新定义角色、场景、规则分类、必要上下文和人工接管条件。</a:t>
            </a:r>
            <a:endParaRPr lang="en-US" sz="135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0417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5836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27D3C1"/>
                </a:solidFill>
              </a:rPr>
              <a:t>PROJECT COMPLETE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85800" y="1298448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7FBFC"/>
                </a:solidFill>
              </a:rPr>
              <a:t>最后记住三句话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49808" y="244144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7D3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444752" y="2578608"/>
            <a:ext cx="658368" cy="0"/>
          </a:xfrm>
          <a:prstGeom prst="line">
            <a:avLst/>
          </a:prstGeom>
          <a:noFill/>
          <a:ln w="12700">
            <a:solidFill>
              <a:srgbClr val="28505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395728" y="2331720"/>
            <a:ext cx="8732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7FBFC"/>
                </a:solidFill>
              </a:rPr>
              <a:t>智能审核不是一个模型调用，而是一条有人机分工的业务流程。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49808" y="349300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7D3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444752" y="3630168"/>
            <a:ext cx="658368" cy="0"/>
          </a:xfrm>
          <a:prstGeom prst="line">
            <a:avLst/>
          </a:prstGeom>
          <a:noFill/>
          <a:ln w="12700">
            <a:solidFill>
              <a:srgbClr val="28505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95728" y="3383280"/>
            <a:ext cx="8732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7FBFC"/>
                </a:solidFill>
              </a:rPr>
              <a:t>规则、模型、业务资料和人工各自负责不同问题。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49808" y="454456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444752" y="4681728"/>
            <a:ext cx="658368" cy="0"/>
          </a:xfrm>
          <a:prstGeom prst="line">
            <a:avLst/>
          </a:prstGeom>
          <a:noFill/>
          <a:ln w="12700">
            <a:solidFill>
              <a:srgbClr val="28505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95728" y="4434840"/>
            <a:ext cx="8732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7FBFC"/>
                </a:solidFill>
              </a:rPr>
              <a:t>可落地项目必须讲清输入、判断、处理、复核、失败和迭代。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13232" y="5815584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BE7DC"/>
                </a:solidFill>
              </a:rPr>
              <a:t>下一步：把课堂方案做成你的项目材料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" y="6510528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82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AI产品经理课程 · 第二阶段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11155680" y="64739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7BB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Hiragino Sans GB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Hiragino Sans GB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54</Slides>
  <Notes>54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5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</vt:vector>
  </TitlesOfParts>
  <Company>AI-Course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第四课｜AI营销内容智能审核项目实战</dc:title>
  <dc:subject>AI营销内容智能审核项目实战</dc:subject>
  <dc:creator>AI 产品经理课程</dc:creator>
  <cp:lastModifiedBy>AI 产品经理课程</cp:lastModifiedBy>
  <cp:revision>1</cp:revision>
  <dcterms:created xsi:type="dcterms:W3CDTF">2026-10-11T16:44:37Z</dcterms:created>
  <dcterms:modified xsi:type="dcterms:W3CDTF">2026-10-11T16:44:37Z</dcterms:modified>
</cp:coreProperties>
</file>