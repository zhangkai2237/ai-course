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开场先说明：今天不是重新上一遍AI理论课，而是一起完成一个可放进作品集的智能审核项目。整堂课始终围绕同一条营销文案和同一条业务流程推进。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快速说明六项产出。提醒学员先关注方案闭环，不要一开始纠结页面美观。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按照时间轴介绍课堂节奏。互动环节可以根据班级情况缩短，但不要压缩核心页面和坏案例。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先给学员看成品结构，建立期待。强调后面每一个业务判断都会落实到这四个页面。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给学员90秒独立思考，再随机邀请两人回答。先不评价法律结论，只收集他们认为需要检查的位置。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让学员按五个字段组织答案。此处的目标不是判断对错，而是让他们感受到产品输出需要结构化。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揭示项目定义。注意不要直接说这些表达一定违法，只说需要进一步检查、补充材料或进入人工判断。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进入第一节。提醒学员：项目的第一步不是列功能，而是限定业务问题。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介绍案例公司。可以让学员代入常见消费品、电商或内容运营团队。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顺着流程询问：每一步会留下什么信息？哪一步容易返工？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逐一说明问题，并补充：高风险判断仍然需要人工，目标不是全自动替代。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让学员注意规则运营和业务负责人，这两个角色决定系统能不能持续维护和评估。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分别对应提交前、审核中、修改后的问题。后续产品页面要逐一解决。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读完左右两列后追问：为什么多模态、自动覆盖和自动发布不进第一版？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用三层目标替代口号。后续指标要分别覆盖业务、用户和产品。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让学员举手投票，再展示推荐结论。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进入第二节。理论快速复习，只在方案选择和职责划分处停留。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解释每种方案的适用位置。纯人工保留兜底，纯规则承担确定性任务，大模型负责语义。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逐列讲解。特别说明业务资料不等于一定使用RAG，也可以来自结构化字段或接口。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用“销量第一”例子展开。让学员观察右侧六个产品问题，这些都不是一次自由文本输出能够稳定解决的。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从左到右走一遍主流程。提醒学员：结果合并和路由是产品设计中的核心步骤。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逐行讲解异常处理。这里是区分演示型产品和可试点产品的关键。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用四个条件快速复习Workflow选择。Agent可以作为后续复杂材料收集或多轮追问的扩展。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用这张图总结五类能力的职责边界。先读每一列，再强调明确问题交给规则、语义问题交给模型、不确定问题交给人工。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按照五个阶段走一遍主流程。重点说明并行审核、结果处理和状态路由都是产品能力。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用表格总结四类关键异常。强调机器失败不得默认通过。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进入项目最核心部分。此处节奏可以稍慢，确保学员理解规则层不等于关键词库。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说明三层来源。真实项目必须由业务、法务或审核负责人确认适用范围。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从基础质量讲到渠道口径。说明分类的作用是配置、统计和责任分工。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用排名表达完整性规则讲一遍每个字段。强调业务规则和执行方式要分开。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对比三个场景。说明第一版只实现前两个，口播稿用于展示扩展性。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解释五种执行方式，举例即可，不深入算法。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逐行展示四条风险对象。再次提醒这是教学案例中的风险判断，不代替真实法务结论。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用“100%有效”演示两条来源如何合并。强调原始结果仍需保存，便于分析和追溯。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逐项讲解状态与下一步。机器失败要作为独立状态，不允许与通过混用。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先让学员回答，再揭示误报原因和改进方法。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从左到右解释审核要求如何成为规则对象，再按场景组成不同的规则包。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以排名表达完整性检查为例，讲清触发、语义确认、材料核对和处理路由。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说明关键词、规则和模型如何合并成一个前台风险对象，同时保留后台原始结果。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按状态机走一遍通过、修改、人工复核和机器失败分支，重点讲重新审核回路。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进入第四节。此处把前面的方案收束成产品范围和系统结构。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读出三条假设，并说明每条都需要对应样本与业务指标。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快速扫过功能。重点解释人工复核、重审和记录为什么属于P0。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从下到上讲。底层提供能力和数据，中间层把审核逻辑产品化，上层承载业务动作。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解释对象之间的关系。特别强调内容修改后生成新版本，旧结果不能直接沿用。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讲三个高频异常。引导学员思考如果不做版本，会导致什么混乱。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先看三个验证目标，再解释P0、P1和暂不进入之间的边界。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从底层向上讲模型与业务数据、审核能力和业务应用之间的依赖关系。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重点解释一个任务如何关联多个内容版本，以及每个版本分别产生风险对象。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进入产品形式和交互部分。用四张可编辑线框图串起完整使用流程。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介绍列表页信息与角色差异。机器失败必须作为独立状态可筛选。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说明左侧业务上下文、右侧正文。切换场景后字段应动态变化。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这是整套产品最重要的页面。先讲布局，再讲双向定位、版本变化和建议使用方式。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说明人工页与运营页的差别：信息更多、动作更重、调整需要记录。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这是作品集表达提醒。不要只堆高保真图，要让页面对应前面的业务决策。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任务列表页先看角色的任务入口、状态和处理优先级。机器失败必须作为独立状态出现。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提交页左侧收集业务上下文，右侧输入正文。提交前先做完整性检查。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重点讲原文与风险列表的双向定位、风险卡片信息和修改后重新审核。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人工页承担最终判断，审核员可以调整等级、选择原因并提交处理结论。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最后一节节奏紧凑。重点讲评测字段、三类坏案例和作业。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介绍样本来源与字段。强调标注人和规则版本也需要保存。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讲四组指标。示例门槛只能作为课堂讨论值，不能照搬到真实项目。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三列快速讲解。让学员看见项目迭代不是“再调一下提示词”。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顺时针讲解闭环。可以追问学员：某个误报应修改规则、提示、业务资料还是页面？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快速说明作品集结构。建议学员每一部分都使用本课同一个案例，避免散。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从建立样本开始，依次讲运行评测、判断门槛、发布版本和线上观察形成的循环。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坏案例先分类，再定位具体模块。不要把所有问题都归结为模型或提示词。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按照七部分回顾项目表达结构，并用一条完整任务案例串联方案、产品和评测。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老师可完整读一遍，也可以让学员先用自己的话复述，再对照结构。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说明必做六项与进阶迁移。下一次可以用十条样本和工作台原型做课堂点评。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最后只强调三句话，然后布置作业。不要再延伸成面试理论课，保持项目收口。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7D3C1"/>
                </a:solidFill>
              </a:rPr>
              <a:t>SECOND STAGE · PROJECT COURSE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BFC"/>
                </a:solidFill>
              </a:rPr>
              <a:t>AI营销内容智能审核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226771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BFC"/>
                </a:solidFill>
              </a:rPr>
              <a:t>项目实战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从业务流程、混合审核到产品页面与评测闭环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70848" y="1078992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0" dirty="0"/>
          </a:p>
        </p:txBody>
      </p:sp>
      <p:sp>
        <p:nvSpPr>
          <p:cNvPr id="8" name="Shape 6"/>
          <p:cNvSpPr/>
          <p:nvPr/>
        </p:nvSpPr>
        <p:spPr>
          <a:xfrm>
            <a:off x="8595360" y="278892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0B2932"/>
          </a:solidFill>
          <a:ln w="12700">
            <a:solidFill>
              <a:srgbClr val="2850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0" y="31638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MIN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61120" y="3685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BFC"/>
                </a:solidFill>
              </a:rPr>
              <a:t>完整项目课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4A"/>
                </a:solidFill>
              </a:rPr>
              <a:t>老师授课版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AI产品经理课程 · 第二阶段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今天要完成什么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结束时，学员拿走的不是一组概念，而是一套完整项目结构。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40080" y="1664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143000" y="1627632"/>
            <a:ext cx="3063240" cy="1554480"/>
          </a:xfrm>
          <a:prstGeom prst="roundRect">
            <a:avLst>
              <a:gd name="adj" fmla="val 352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43000" y="1627632"/>
            <a:ext cx="73152" cy="155448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99032" y="1810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业务问题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99032" y="2221992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现状流程、角色、断点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434840" y="1664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937760" y="1627632"/>
            <a:ext cx="3063240" cy="1554480"/>
          </a:xfrm>
          <a:prstGeom prst="roundRect">
            <a:avLst>
              <a:gd name="adj" fmla="val 352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37760" y="1627632"/>
            <a:ext cx="73152" cy="155448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93792" y="1810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项目边界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193792" y="2221992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第一版做什么、不做什么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0" y="1664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8732520" y="1627632"/>
            <a:ext cx="3063240" cy="1554480"/>
          </a:xfrm>
          <a:prstGeom prst="roundRect">
            <a:avLst>
              <a:gd name="adj" fmla="val 352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32520" y="1627632"/>
            <a:ext cx="73152" cy="155448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88552" y="1810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混合方案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988552" y="2221992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规则、模型、资料、人工分工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3630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143000" y="3593592"/>
            <a:ext cx="3063240" cy="1554480"/>
          </a:xfrm>
          <a:prstGeom prst="roundRect">
            <a:avLst>
              <a:gd name="adj" fmla="val 352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43000" y="3593592"/>
            <a:ext cx="73152" cy="155448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99032" y="37764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规则流程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399032" y="4187952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场景、原子规则、结果路由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434840" y="3630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4937760" y="3593592"/>
            <a:ext cx="3063240" cy="1554480"/>
          </a:xfrm>
          <a:prstGeom prst="roundRect">
            <a:avLst>
              <a:gd name="adj" fmla="val 352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937760" y="3593592"/>
            <a:ext cx="73152" cy="155448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93792" y="37764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核心页面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5193792" y="4187952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列表、提交、工作台、复核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229600" y="3630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8732520" y="3593592"/>
            <a:ext cx="3063240" cy="1554480"/>
          </a:xfrm>
          <a:prstGeom prst="roundRect">
            <a:avLst>
              <a:gd name="adj" fmla="val 352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732520" y="3593592"/>
            <a:ext cx="73152" cy="155448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988552" y="37764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评测迭代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8988552" y="4187952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样本、指标、坏案例、版本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180分钟怎么走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两次休息把课程切成三段：理解项目、完成方案、做出产品并验证。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14400" y="3337560"/>
            <a:ext cx="10287000" cy="0"/>
          </a:xfrm>
          <a:prstGeom prst="line">
            <a:avLst/>
          </a:prstGeom>
          <a:noFill/>
          <a:ln w="2540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136392"/>
            <a:ext cx="411480" cy="41148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0–10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29768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开场案例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029968" y="3136392"/>
            <a:ext cx="411480" cy="41148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65376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10–40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682496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业务与边界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82696" y="3136392"/>
            <a:ext cx="411480" cy="41148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18104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40–65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935224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AI介入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35424" y="3136392"/>
            <a:ext cx="411480" cy="411480"/>
          </a:xfrm>
          <a:prstGeom prst="ellipse">
            <a:avLst/>
          </a:prstGeom>
          <a:solidFill>
            <a:srgbClr val="FF6B4A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4A"/>
                </a:solidFill>
              </a:rPr>
              <a:t>65–75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87952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休息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88152" y="3136392"/>
            <a:ext cx="411480" cy="41148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23560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75–110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440680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规则与流程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040880" y="3136392"/>
            <a:ext cx="411480" cy="41148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76288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110–135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693408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MVP与架构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293608" y="3136392"/>
            <a:ext cx="411480" cy="411480"/>
          </a:xfrm>
          <a:prstGeom prst="ellipse">
            <a:avLst/>
          </a:prstGeom>
          <a:solidFill>
            <a:srgbClr val="FF6B4A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29016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4A"/>
                </a:solidFill>
              </a:rPr>
              <a:t>135–145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946136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休息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9546336" y="3136392"/>
            <a:ext cx="411480" cy="41148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381744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145–165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198864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核心页面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0799064" y="3136392"/>
            <a:ext cx="411480" cy="41148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634472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165–180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451592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评测与作业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最终产品长什么样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四个页面覆盖提交、检查、处理和人工接管，页面背后还有规则与状态。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1664208"/>
            <a:ext cx="2487168" cy="3493008"/>
          </a:xfrm>
          <a:prstGeom prst="roundRect">
            <a:avLst>
              <a:gd name="adj" fmla="val 2206"/>
            </a:avLst>
          </a:prstGeom>
          <a:solidFill>
            <a:srgbClr val="0B2932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1901952"/>
            <a:ext cx="2157984" cy="274320"/>
          </a:xfrm>
          <a:prstGeom prst="rect">
            <a:avLst/>
          </a:prstGeom>
          <a:solidFill>
            <a:srgbClr val="103641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242316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292608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42900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393192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" y="464515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审核任务列表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600200" y="50109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447288" y="1664208"/>
            <a:ext cx="2487168" cy="3493008"/>
          </a:xfrm>
          <a:prstGeom prst="roundRect">
            <a:avLst>
              <a:gd name="adj" fmla="val 2206"/>
            </a:avLst>
          </a:prstGeom>
          <a:solidFill>
            <a:srgbClr val="0B2932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11880" y="1901952"/>
            <a:ext cx="2157984" cy="274320"/>
          </a:xfrm>
          <a:prstGeom prst="rect">
            <a:avLst/>
          </a:prstGeom>
          <a:solidFill>
            <a:srgbClr val="103641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57600" y="242316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0" y="292608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0" y="342900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0" y="393192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84448" y="464515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内容提交页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389120" y="50109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236208" y="1664208"/>
            <a:ext cx="2487168" cy="3493008"/>
          </a:xfrm>
          <a:prstGeom prst="roundRect">
            <a:avLst>
              <a:gd name="adj" fmla="val 2206"/>
            </a:avLst>
          </a:prstGeom>
          <a:solidFill>
            <a:srgbClr val="0B2932"/>
          </a:solidFill>
          <a:ln w="25400">
            <a:solidFill>
              <a:srgbClr val="FF6B4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1901952"/>
            <a:ext cx="2157984" cy="274320"/>
          </a:xfrm>
          <a:prstGeom prst="rect">
            <a:avLst/>
          </a:prstGeom>
          <a:solidFill>
            <a:srgbClr val="103641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46520" y="242316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46520" y="292608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4A2C2B"/>
          </a:solidFill>
          <a:ln w="6350">
            <a:solidFill>
              <a:srgbClr val="FF6B4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46520" y="342900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46520" y="393192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73368" y="464515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智能审核工作台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178040" y="50109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025128" y="1664208"/>
            <a:ext cx="2487168" cy="3493008"/>
          </a:xfrm>
          <a:prstGeom prst="roundRect">
            <a:avLst>
              <a:gd name="adj" fmla="val 2206"/>
            </a:avLst>
          </a:prstGeom>
          <a:solidFill>
            <a:srgbClr val="0B2932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189720" y="1901952"/>
            <a:ext cx="2157984" cy="274320"/>
          </a:xfrm>
          <a:prstGeom prst="rect">
            <a:avLst/>
          </a:prstGeom>
          <a:solidFill>
            <a:srgbClr val="103641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235440" y="242316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235440" y="292608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235440" y="342900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235440" y="393192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62288" y="464515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人工复核页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966960" y="50109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先审一段文案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先不要讨论技术，先判断系统到底需要帮助用户完成什么。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13232" y="1673352"/>
            <a:ext cx="7360920" cy="3200400"/>
          </a:xfrm>
          <a:prstGeom prst="roundRect">
            <a:avLst>
              <a:gd name="adj" fmla="val 1714"/>
            </a:avLst>
          </a:prstGeom>
          <a:solidFill>
            <a:srgbClr val="0B2932"/>
          </a:solidFill>
          <a:ln w="12700">
            <a:solidFill>
              <a:srgbClr val="2850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1832" y="177393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7D3C1"/>
                </a:solidFill>
              </a:rPr>
              <a:t>“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1252728" y="2157984"/>
            <a:ext cx="6291072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FBFC"/>
                </a:solidFill>
              </a:rPr>
              <a:t>全网最值得买的胶原蛋白饮，7 天彻底改善熬夜暗沉，100% 有效。连续三年销量第一，三甲医院专家一致推荐。今晚下单立减 50%，错过再等一年。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412480" y="1673352"/>
            <a:ext cx="2880360" cy="1325880"/>
          </a:xfrm>
          <a:prstGeom prst="roundRect">
            <a:avLst>
              <a:gd name="adj" fmla="val 4138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0" y="1673352"/>
            <a:ext cx="73152" cy="132588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68512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问题 1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668512" y="226771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哪些位置需要进一步检查？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412480" y="3246120"/>
            <a:ext cx="2880360" cy="1627632"/>
          </a:xfrm>
          <a:prstGeom prst="roundRect">
            <a:avLst>
              <a:gd name="adj" fmla="val 3371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0" y="3246120"/>
            <a:ext cx="73152" cy="162763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68512" y="34290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问题 2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668512" y="38404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系统只说“有问题”够不够？还应该返回什么？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732520" y="521208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332E20"/>
          </a:solidFill>
          <a:ln w="10160">
            <a:solidFill>
              <a:srgbClr val="F6C45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87384" y="5312664"/>
            <a:ext cx="2130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C453"/>
                </a:solidFill>
              </a:rPr>
              <a:t>90 秒独立判断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把你的判断写成产品输出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从“我觉得不妥”升级为“系统可以返回并驱动处理的结果”。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399032" y="1737360"/>
            <a:ext cx="658368" cy="658368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63624" y="1920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2587752"/>
            <a:ext cx="2084832" cy="2121408"/>
          </a:xfrm>
          <a:prstGeom prst="roundRect">
            <a:avLst>
              <a:gd name="adj" fmla="val 2632"/>
            </a:avLst>
          </a:prstGeom>
          <a:solidFill>
            <a:srgbClr val="0A2630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2587752"/>
            <a:ext cx="73152" cy="212140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" y="27706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问题位置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41832" y="3182112"/>
            <a:ext cx="16276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原文哪几个字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66744" y="1737360"/>
            <a:ext cx="658368" cy="658368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31336" y="1920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953512" y="2587752"/>
            <a:ext cx="2084832" cy="2121408"/>
          </a:xfrm>
          <a:prstGeom prst="roundRect">
            <a:avLst>
              <a:gd name="adj" fmla="val 2632"/>
            </a:avLst>
          </a:prstGeom>
          <a:solidFill>
            <a:srgbClr val="0A2630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53512" y="2587752"/>
            <a:ext cx="73152" cy="212140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9544" y="27706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问题类型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209544" y="3182112"/>
            <a:ext cx="16276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属于哪类检查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34456" y="1737360"/>
            <a:ext cx="658368" cy="658368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99048" y="1920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221224" y="2587752"/>
            <a:ext cx="2084832" cy="2121408"/>
          </a:xfrm>
          <a:prstGeom prst="roundRect">
            <a:avLst>
              <a:gd name="adj" fmla="val 2632"/>
            </a:avLst>
          </a:prstGeom>
          <a:solidFill>
            <a:srgbClr val="0A2630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21224" y="2587752"/>
            <a:ext cx="73152" cy="212140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77256" y="27706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风险等级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477256" y="3182112"/>
            <a:ext cx="16276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优先级多高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02168" y="1737360"/>
            <a:ext cx="658368" cy="658368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66760" y="1920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488936" y="2587752"/>
            <a:ext cx="2084832" cy="2121408"/>
          </a:xfrm>
          <a:prstGeom prst="roundRect">
            <a:avLst>
              <a:gd name="adj" fmla="val 2632"/>
            </a:avLst>
          </a:prstGeom>
          <a:solidFill>
            <a:srgbClr val="0A2630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88936" y="2587752"/>
            <a:ext cx="73152" cy="212140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44968" y="27706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判断说明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744968" y="3182112"/>
            <a:ext cx="16276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为什么要处理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0469880" y="1737360"/>
            <a:ext cx="658368" cy="658368"/>
          </a:xfrm>
          <a:prstGeom prst="ellipse">
            <a:avLst/>
          </a:prstGeom>
          <a:solidFill>
            <a:srgbClr val="FF6B4A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634472" y="1920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9756648" y="2587752"/>
            <a:ext cx="2084832" cy="2121408"/>
          </a:xfrm>
          <a:prstGeom prst="roundRect">
            <a:avLst>
              <a:gd name="adj" fmla="val 2632"/>
            </a:avLst>
          </a:prstGeom>
          <a:solidFill>
            <a:srgbClr val="0A2630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756648" y="2587752"/>
            <a:ext cx="73152" cy="212140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012680" y="27706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下一步动作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10012680" y="3182112"/>
            <a:ext cx="16276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修改、补材料或转人工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这不是文案纠错器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真正的产品要把一次判断转化为可定位、可处理、可复核的业务动作。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2331720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2496312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输入内容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8096" y="2788920"/>
            <a:ext cx="1655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文案＋场景＋材料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560320" y="3035808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944368" y="2331720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54096" y="2496312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识别问题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054096" y="2788920"/>
            <a:ext cx="1655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规则与语义检查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46320" y="3035808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230368" y="2331720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40096" y="2496312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定位原文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40096" y="2788920"/>
            <a:ext cx="1655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字符位置与片段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132320" y="3035808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516368" y="2331720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26096" y="2496312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给出动作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626096" y="2788920"/>
            <a:ext cx="1655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修改／补充／转人工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418320" y="3035808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802368" y="2331720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912096" y="2496312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完成复核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912096" y="2788920"/>
            <a:ext cx="1655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记录最终结论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133088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E7DC"/>
                </a:solidFill>
              </a:rPr>
              <a:t>智能审核平台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94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7D3C1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3200400" y="950976"/>
            <a:ext cx="0" cy="475488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3320" y="13898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BFC"/>
                </a:solidFill>
              </a:rPr>
              <a:t>理解业务与限定项目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730752" y="265176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BBC2"/>
                </a:solidFill>
              </a:rPr>
              <a:t>先把原流程、角色、问题和第一版边界说清，再谈技术。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30752" y="4160520"/>
            <a:ext cx="2057400" cy="438912"/>
          </a:xfrm>
          <a:prstGeom prst="roundRect">
            <a:avLst>
              <a:gd name="adj" fmla="val 10417"/>
            </a:avLst>
          </a:prstGeom>
          <a:solidFill>
            <a:srgbClr val="103641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429768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7DC"/>
                </a:solidFill>
              </a:rPr>
              <a:t>30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 · SECTION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项目发生在什么业务里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同一家公司、多个内容渠道、持续增加的审核任务。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5800" y="1664208"/>
            <a:ext cx="3337560" cy="356616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664208"/>
            <a:ext cx="73152" cy="356616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18470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内容生产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1832" y="2258568"/>
            <a:ext cx="288036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商品详情页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活动页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短视频口播稿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达人合作文案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私域推送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416552" y="1664208"/>
            <a:ext cx="3337560" cy="356616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16552" y="1664208"/>
            <a:ext cx="73152" cy="356616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72584" y="18470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发布渠道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72584" y="2258568"/>
            <a:ext cx="288036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自有商城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电商平台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内容社区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短视频平台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企业私域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147304" y="1664208"/>
            <a:ext cx="3337560" cy="356616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47304" y="1664208"/>
            <a:ext cx="73152" cy="356616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03336" y="18470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审核压力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403336" y="2258568"/>
            <a:ext cx="288036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内容量增长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活动高峰排队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规则持续更新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历史意见分散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高风险仍需人工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041648" y="3438144"/>
            <a:ext cx="310896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7772400" y="3438144"/>
            <a:ext cx="310896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当前人工审核流程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流程并不缺步骤，问题在于大量重复检查和信息无法复用。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" y="2441448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60604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运营撰写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139696" y="2962656"/>
            <a:ext cx="27432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468880" y="2441448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78608" y="260604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发送审核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041648" y="2962656"/>
            <a:ext cx="27432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370832" y="2441448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80560" y="260604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人工逐段检查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80560" y="2898648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高重复工作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43600" y="2962656"/>
            <a:ext cx="27432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272784" y="2441448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82512" y="260604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通过／退回／补材料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845552" y="2962656"/>
            <a:ext cx="27432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174736" y="2441448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60604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运营修改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747504" y="2962656"/>
            <a:ext cx="27432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0076688" y="2441448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186416" y="260604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发布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144768" y="3749040"/>
            <a:ext cx="3017520" cy="1097280"/>
          </a:xfrm>
          <a:prstGeom prst="arc">
            <a:avLst/>
          </a:prstGeom>
          <a:solidFill>
            <a:srgbClr val="04171E">
              <a:alpha val="0"/>
            </a:srgbClr>
          </a:solidFill>
          <a:ln w="19050">
            <a:solidFill>
              <a:srgbClr val="FF6B4A"/>
            </a:solidFill>
            <a:prstDash val="solid"/>
            <a:headEnd type="none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6519672" y="470916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4A"/>
                </a:solidFill>
              </a:rPr>
              <a:t>反复修改与再次提交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四类业务问题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人工不是“没有价值”，而是被大量重复工作占用。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5800" y="1664208"/>
            <a:ext cx="2606040" cy="3520440"/>
          </a:xfrm>
          <a:prstGeom prst="roundRect">
            <a:avLst>
              <a:gd name="adj" fmla="val 210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664208"/>
            <a:ext cx="73152" cy="352044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1847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数量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1832" y="2258568"/>
            <a:ext cx="21488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活动高峰任务排队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常规内容等待时间变长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29000" y="1664208"/>
            <a:ext cx="2606040" cy="3520440"/>
          </a:xfrm>
          <a:prstGeom prst="roundRect">
            <a:avLst>
              <a:gd name="adj" fmla="val 210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29000" y="1664208"/>
            <a:ext cx="73152" cy="352044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85032" y="1847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一致性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685032" y="2258568"/>
            <a:ext cx="21488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同一句表达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不同审核员处理不同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72200" y="1664208"/>
            <a:ext cx="2606040" cy="3520440"/>
          </a:xfrm>
          <a:prstGeom prst="roundRect">
            <a:avLst>
              <a:gd name="adj" fmla="val 210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72200" y="1664208"/>
            <a:ext cx="73152" cy="3520440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28232" y="1847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变化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28232" y="2258568"/>
            <a:ext cx="21488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平台、行业与内部口径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持续更新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915400" y="1664208"/>
            <a:ext cx="2606040" cy="3520440"/>
          </a:xfrm>
          <a:prstGeom prst="roundRect">
            <a:avLst>
              <a:gd name="adj" fmla="val 210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15400" y="1664208"/>
            <a:ext cx="73152" cy="352044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71432" y="1847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沉淀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171432" y="2258568"/>
            <a:ext cx="21488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审核意见散落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难以统计和复用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项目中有四类角色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如果只画“运营＋AI”，项目还没有进入真实业务。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13232" y="1627632"/>
            <a:ext cx="10771632" cy="749808"/>
          </a:xfrm>
          <a:prstGeom prst="roundRect">
            <a:avLst>
              <a:gd name="adj" fmla="val 4878"/>
            </a:avLst>
          </a:prstGeom>
          <a:solidFill>
            <a:srgbClr val="0B2932"/>
          </a:solidFill>
          <a:ln w="7620">
            <a:solidFill>
              <a:srgbClr val="2850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18470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E7DC"/>
                </a:solidFill>
              </a:rPr>
              <a:t>内容运营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944368" y="1847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提交、修改、重审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80760" y="18470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哪里有问题，怎么改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3232" y="2633472"/>
            <a:ext cx="10771632" cy="749808"/>
          </a:xfrm>
          <a:prstGeom prst="roundRect">
            <a:avLst>
              <a:gd name="adj" fmla="val 4878"/>
            </a:avLst>
          </a:prstGeom>
          <a:solidFill>
            <a:srgbClr val="0A2630"/>
          </a:solidFill>
          <a:ln w="7620">
            <a:solidFill>
              <a:srgbClr val="2850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" y="28529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</a:rPr>
              <a:t>人工审核员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944368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处理高风险与不确定项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80760" y="28529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判断是否可靠，信息是否完整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3232" y="3639312"/>
            <a:ext cx="10771632" cy="749808"/>
          </a:xfrm>
          <a:prstGeom prst="roundRect">
            <a:avLst>
              <a:gd name="adj" fmla="val 4878"/>
            </a:avLst>
          </a:prstGeom>
          <a:solidFill>
            <a:srgbClr val="0B2932"/>
          </a:solidFill>
          <a:ln w="7620">
            <a:solidFill>
              <a:srgbClr val="2850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2688" y="38587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E7DC"/>
                </a:solidFill>
              </a:rPr>
              <a:t>规则运营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944368" y="3858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维护场景、规则和版本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80760" y="38587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哪条规则生效，效果如何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13232" y="4645152"/>
            <a:ext cx="10771632" cy="749808"/>
          </a:xfrm>
          <a:prstGeom prst="roundRect">
            <a:avLst>
              <a:gd name="adj" fmla="val 4878"/>
            </a:avLst>
          </a:prstGeom>
          <a:solidFill>
            <a:srgbClr val="0A2630"/>
          </a:solidFill>
          <a:ln w="7620">
            <a:solidFill>
              <a:srgbClr val="2850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2688" y="48646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E7DC"/>
                </a:solidFill>
              </a:rPr>
              <a:t>业务负责人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944368" y="4864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评估效率、风险和试点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080760" y="4864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是否值得扩大使用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944368" y="13716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7D3C1"/>
                </a:solidFill>
              </a:rPr>
              <a:t>核心任务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080760" y="13716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7D3C1"/>
                </a:solidFill>
              </a:rPr>
              <a:t>最关心的问题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原流程的三个断点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AI 的介入点来自流程断点，而不是来自技术热度。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49808" y="1755648"/>
            <a:ext cx="3364992" cy="3401568"/>
          </a:xfrm>
          <a:prstGeom prst="roundRect">
            <a:avLst>
              <a:gd name="adj" fmla="val 1630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" y="1755648"/>
            <a:ext cx="73152" cy="340156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9385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01 提交前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2350008"/>
            <a:ext cx="2907792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没有自查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低级问题也进入人工队列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416552" y="1755648"/>
            <a:ext cx="3364992" cy="3401568"/>
          </a:xfrm>
          <a:prstGeom prst="roundRect">
            <a:avLst>
              <a:gd name="adj" fmla="val 1630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16552" y="1755648"/>
            <a:ext cx="73152" cy="340156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72584" y="19385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02 退回时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72584" y="2350008"/>
            <a:ext cx="2907792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意见不结构化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运营只知道“要改”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083296" y="1755648"/>
            <a:ext cx="3364992" cy="3401568"/>
          </a:xfrm>
          <a:prstGeom prst="roundRect">
            <a:avLst>
              <a:gd name="adj" fmla="val 1630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83296" y="1755648"/>
            <a:ext cx="73152" cy="3401568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39328" y="19385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03 修改后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39328" y="2350008"/>
            <a:ext cx="2907792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版本关联弱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无法确认哪些问题已关闭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第一版边界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先把一条小链路做完整，再扩内容类型、渠道和自动化程度。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49808" y="1627632"/>
            <a:ext cx="5230368" cy="3977640"/>
          </a:xfrm>
          <a:prstGeom prst="roundRect">
            <a:avLst>
              <a:gd name="adj" fmla="val 137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" y="1627632"/>
            <a:ext cx="73152" cy="397764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810512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MVP 先做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2221992"/>
            <a:ext cx="477316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一个业务团队试点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商品详情页＋活动文案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中文纯文本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提交前机器预审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四类重点检查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人工复核与版本记录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99632" y="1627632"/>
            <a:ext cx="5230368" cy="3977640"/>
          </a:xfrm>
          <a:prstGeom prst="roundRect">
            <a:avLst>
              <a:gd name="adj" fmla="val 137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99632" y="1627632"/>
            <a:ext cx="73152" cy="397764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55664" y="1810512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MVP 暂不做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55664" y="2221992"/>
            <a:ext cx="477316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图片、视频、音频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自动覆盖运营原文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自动发布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所有渠道与业务线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自主 Agent 审核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项目目标要写成三层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“提升效率、降低风险”太空；目标必须能对应角色、流程和验证方式。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04672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7DC"/>
                </a:solidFill>
              </a:rPr>
              <a:t>业务目标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286000" y="1719072"/>
            <a:ext cx="4251960" cy="987552"/>
          </a:xfrm>
          <a:prstGeom prst="roundRect">
            <a:avLst>
              <a:gd name="adj" fmla="val 5556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0" y="1719072"/>
            <a:ext cx="73152" cy="98755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42032" y="19019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缩短常规内容等待时间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542032" y="23134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784848" y="1719072"/>
            <a:ext cx="4315968" cy="987552"/>
          </a:xfrm>
          <a:prstGeom prst="roundRect">
            <a:avLst>
              <a:gd name="adj" fmla="val 5556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84848" y="1719072"/>
            <a:ext cx="73152" cy="987552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40880" y="190195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减少人工重复检查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040880" y="231343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04672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7DC"/>
                </a:solidFill>
              </a:rPr>
              <a:t>用户目标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2286000" y="2999232"/>
            <a:ext cx="4251960" cy="987552"/>
          </a:xfrm>
          <a:prstGeom prst="roundRect">
            <a:avLst>
              <a:gd name="adj" fmla="val 5556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86000" y="2999232"/>
            <a:ext cx="73152" cy="98755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42032" y="31821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运营快速定位并处理问题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542032" y="35935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784848" y="2999232"/>
            <a:ext cx="4315968" cy="987552"/>
          </a:xfrm>
          <a:prstGeom prst="roundRect">
            <a:avLst>
              <a:gd name="adj" fmla="val 5556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84848" y="2999232"/>
            <a:ext cx="73152" cy="987552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40880" y="318211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审核员优先处理高价值任务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040880" y="359359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04672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</a:rPr>
              <a:t>产品目标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2286000" y="4279392"/>
            <a:ext cx="4251960" cy="987552"/>
          </a:xfrm>
          <a:prstGeom prst="roundRect">
            <a:avLst>
              <a:gd name="adj" fmla="val 5556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286000" y="4279392"/>
            <a:ext cx="73152" cy="987552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542032" y="44622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形成提交—检查—处理—复核—回流闭环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542032" y="48737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784848" y="4279392"/>
            <a:ext cx="4315968" cy="987552"/>
          </a:xfrm>
          <a:prstGeom prst="roundRect">
            <a:avLst>
              <a:gd name="adj" fmla="val 5556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84848" y="4279392"/>
            <a:ext cx="73152" cy="987552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40880" y="446227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失败时可安全接管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040880" y="487375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课堂判断：哪些需求进入第一版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是否进入 MVP，要看它能否直接验证核心闭环。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14400" y="1737360"/>
            <a:ext cx="10287000" cy="896112"/>
          </a:xfrm>
          <a:prstGeom prst="roundRect">
            <a:avLst>
              <a:gd name="adj" fmla="val 4082"/>
            </a:avLst>
          </a:prstGeom>
          <a:solidFill>
            <a:srgbClr val="0B2932"/>
          </a:solidFill>
          <a:ln w="12700">
            <a:solidFill>
              <a:srgbClr val="A7BBC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61288" y="200253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874520" y="199339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自动生成十个营销标题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778240" y="20116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0E3038"/>
          </a:solidFill>
          <a:ln w="10160">
            <a:solidFill>
              <a:srgbClr val="A7BBC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33104" y="211226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BBC2"/>
                </a:solidFill>
              </a:rPr>
              <a:t>后续模块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14400" y="2971800"/>
            <a:ext cx="10287000" cy="896112"/>
          </a:xfrm>
          <a:prstGeom prst="roundRect">
            <a:avLst>
              <a:gd name="adj" fmla="val 4082"/>
            </a:avLst>
          </a:prstGeom>
          <a:solidFill>
            <a:srgbClr val="0B2932"/>
          </a:solidFill>
          <a:ln w="12700">
            <a:solidFill>
              <a:srgbClr val="4ED6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61288" y="32369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D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874520" y="322783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检测高风险表达并定位原文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778240" y="32461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0E3038"/>
          </a:solidFill>
          <a:ln w="10160">
            <a:solidFill>
              <a:srgbClr val="4ED6A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33104" y="334670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D6A5"/>
                </a:solidFill>
              </a:rPr>
              <a:t>进入 MVP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14400" y="4206240"/>
            <a:ext cx="10287000" cy="896112"/>
          </a:xfrm>
          <a:prstGeom prst="roundRect">
            <a:avLst>
              <a:gd name="adj" fmla="val 4082"/>
            </a:avLst>
          </a:prstGeom>
          <a:solidFill>
            <a:srgbClr val="0B2932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61288" y="44714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874520" y="446227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自动把通过内容发布到所有平台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778240" y="448056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0E3038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833104" y="458114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4A"/>
                </a:solidFill>
              </a:rPr>
              <a:t>暂不进入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94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7D3C1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3200400" y="950976"/>
            <a:ext cx="0" cy="475488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3320" y="13898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BFC"/>
                </a:solidFill>
              </a:rPr>
              <a:t>决定 AI 怎么介入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730752" y="265176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BBC2"/>
                </a:solidFill>
              </a:rPr>
              <a:t>选择混合审核方案，并明确每种能力承担的任务与失败处理。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30752" y="4160520"/>
            <a:ext cx="2057400" cy="438912"/>
          </a:xfrm>
          <a:prstGeom prst="roundRect">
            <a:avLst>
              <a:gd name="adj" fmla="val 10417"/>
            </a:avLst>
          </a:prstGeom>
          <a:solidFill>
            <a:srgbClr val="103641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429768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7DC"/>
                </a:solidFill>
              </a:rPr>
              <a:t>25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 · SECTION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四种方案放在一起比较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选择混合方案，不是因为它最“高级”，而是因为它更适合风险审核。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1627632"/>
            <a:ext cx="2523744" cy="3822192"/>
          </a:xfrm>
          <a:prstGeom prst="roundRect">
            <a:avLst>
              <a:gd name="adj" fmla="val 217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627632"/>
            <a:ext cx="73152" cy="382219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8105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纯人工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2221992"/>
            <a:ext cx="20665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灵活、理解复杂上下文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慢、贵、口径波动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→ 保留兜底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456432" y="1627632"/>
            <a:ext cx="2523744" cy="3822192"/>
          </a:xfrm>
          <a:prstGeom prst="roundRect">
            <a:avLst>
              <a:gd name="adj" fmla="val 217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56432" y="1627632"/>
            <a:ext cx="73152" cy="382219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12464" y="18105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纯规则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712464" y="2221992"/>
            <a:ext cx="20665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稳定、快速、容易解释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难覆盖隐含语义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→ 负责确定性检查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54496" y="1627632"/>
            <a:ext cx="2523744" cy="3822192"/>
          </a:xfrm>
          <a:prstGeom prst="roundRect">
            <a:avLst>
              <a:gd name="adj" fmla="val 217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54496" y="1627632"/>
            <a:ext cx="73152" cy="382219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10528" y="18105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只用大模型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10528" y="2221992"/>
            <a:ext cx="20665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语义覆盖广、配置快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结果波动、责任边界弱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→ 不单独采用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052560" y="1627632"/>
            <a:ext cx="2523744" cy="3822192"/>
          </a:xfrm>
          <a:prstGeom prst="roundRect">
            <a:avLst>
              <a:gd name="adj" fmla="val 2174"/>
            </a:avLst>
          </a:prstGeom>
          <a:solidFill>
            <a:srgbClr val="0B2932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52560" y="1627632"/>
            <a:ext cx="73152" cy="3822192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08592" y="18105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混合方案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308592" y="2221992"/>
            <a:ext cx="20665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兼顾稳定、覆盖和安全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设计与运营更复杂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→ 第一版采用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五类能力，各自负责什么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技术能力的边界必须被写成产品职责。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" y="1874520"/>
            <a:ext cx="1993392" cy="3200400"/>
          </a:xfrm>
          <a:prstGeom prst="roundRect">
            <a:avLst>
              <a:gd name="adj" fmla="val 2752"/>
            </a:avLst>
          </a:prstGeom>
          <a:solidFill>
            <a:srgbClr val="0B2932"/>
          </a:solidFill>
          <a:ln w="10160">
            <a:solidFill>
              <a:srgbClr val="27D3C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" y="1874520"/>
            <a:ext cx="73152" cy="320040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2057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输入校验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2468880"/>
            <a:ext cx="15361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必填字段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内容格式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898648" y="1874520"/>
            <a:ext cx="1993392" cy="3200400"/>
          </a:xfrm>
          <a:prstGeom prst="roundRect">
            <a:avLst>
              <a:gd name="adj" fmla="val 2752"/>
            </a:avLst>
          </a:prstGeom>
          <a:solidFill>
            <a:srgbClr val="0B2932"/>
          </a:solidFill>
          <a:ln w="10160">
            <a:solidFill>
              <a:srgbClr val="7BE7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98648" y="1874520"/>
            <a:ext cx="73152" cy="320040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154680" y="2057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确定性规则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154680" y="2468880"/>
            <a:ext cx="15361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明确表达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格式与逻辑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184648" y="1874520"/>
            <a:ext cx="1993392" cy="3200400"/>
          </a:xfrm>
          <a:prstGeom prst="roundRect">
            <a:avLst>
              <a:gd name="adj" fmla="val 2752"/>
            </a:avLst>
          </a:prstGeom>
          <a:solidFill>
            <a:srgbClr val="0B2932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84648" y="1874520"/>
            <a:ext cx="73152" cy="320040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0680" y="2057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大模型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40680" y="2468880"/>
            <a:ext cx="15361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语义理解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上下文判断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470648" y="1874520"/>
            <a:ext cx="1993392" cy="3200400"/>
          </a:xfrm>
          <a:prstGeom prst="roundRect">
            <a:avLst>
              <a:gd name="adj" fmla="val 2752"/>
            </a:avLst>
          </a:prstGeom>
          <a:solidFill>
            <a:srgbClr val="0B2932"/>
          </a:solidFill>
          <a:ln w="10160">
            <a:solidFill>
              <a:srgbClr val="F6C45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70648" y="1874520"/>
            <a:ext cx="73152" cy="3200400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26680" y="2057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业务资料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726680" y="2468880"/>
            <a:ext cx="15361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商品事实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授权与口径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9756648" y="1874520"/>
            <a:ext cx="1993392" cy="3200400"/>
          </a:xfrm>
          <a:prstGeom prst="roundRect">
            <a:avLst>
              <a:gd name="adj" fmla="val 2752"/>
            </a:avLst>
          </a:prstGeom>
          <a:solidFill>
            <a:srgbClr val="0B2932"/>
          </a:solidFill>
          <a:ln w="10160">
            <a:solidFill>
              <a:srgbClr val="FF775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756648" y="1874520"/>
            <a:ext cx="73152" cy="3200400"/>
          </a:xfrm>
          <a:prstGeom prst="rect">
            <a:avLst/>
          </a:prstGeom>
          <a:solidFill>
            <a:srgbClr val="FF775F"/>
          </a:solidFill>
          <a:ln w="12700">
            <a:solidFill>
              <a:srgbClr val="FF775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012680" y="2057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人工复核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0012680" y="2468880"/>
            <a:ext cx="15361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高风险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冲突与低确定性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为什么不能只接一个大模型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模型能“说一段话”，不等于产品已经能处理一个审核任务。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13232" y="1783080"/>
            <a:ext cx="3794760" cy="3566160"/>
          </a:xfrm>
          <a:prstGeom prst="roundRect">
            <a:avLst>
              <a:gd name="adj" fmla="val 1538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331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BFC"/>
                </a:solidFill>
              </a:rPr>
              <a:t>“连续三年销量第一”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78992" y="3703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只返回：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“可能存在夸大宣传风险”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10912" y="1755648"/>
            <a:ext cx="2761488" cy="841248"/>
          </a:xfrm>
          <a:prstGeom prst="roundRect">
            <a:avLst>
              <a:gd name="adj" fmla="val 6522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10912" y="1755648"/>
            <a:ext cx="73152" cy="84124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66944" y="19385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命中哪类问题？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66944" y="2350008"/>
            <a:ext cx="23042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074152" y="1755648"/>
            <a:ext cx="2761488" cy="841248"/>
          </a:xfrm>
          <a:prstGeom prst="roundRect">
            <a:avLst>
              <a:gd name="adj" fmla="val 6522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74152" y="1755648"/>
            <a:ext cx="73152" cy="84124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30184" y="19385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原文位置在哪？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330184" y="2350008"/>
            <a:ext cx="23042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010912" y="2916936"/>
            <a:ext cx="2761488" cy="841248"/>
          </a:xfrm>
          <a:prstGeom prst="roundRect">
            <a:avLst>
              <a:gd name="adj" fmla="val 6522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10912" y="2916936"/>
            <a:ext cx="73152" cy="84124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66944" y="309981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缺少什么信息？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266944" y="3511296"/>
            <a:ext cx="23042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074152" y="2916936"/>
            <a:ext cx="2761488" cy="841248"/>
          </a:xfrm>
          <a:prstGeom prst="roundRect">
            <a:avLst>
              <a:gd name="adj" fmla="val 6522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74152" y="2916936"/>
            <a:ext cx="73152" cy="84124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30184" y="309981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风险等级多高？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330184" y="3511296"/>
            <a:ext cx="23042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010912" y="4078224"/>
            <a:ext cx="2761488" cy="841248"/>
          </a:xfrm>
          <a:prstGeom prst="roundRect">
            <a:avLst>
              <a:gd name="adj" fmla="val 6522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10912" y="4078224"/>
            <a:ext cx="73152" cy="84124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66944" y="42611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下一步怎么处理？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266944" y="4672584"/>
            <a:ext cx="23042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8074152" y="4078224"/>
            <a:ext cx="2761488" cy="841248"/>
          </a:xfrm>
          <a:prstGeom prst="roundRect">
            <a:avLst>
              <a:gd name="adj" fmla="val 6522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74152" y="4078224"/>
            <a:ext cx="73152" cy="84124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330184" y="42611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修改后是否重审？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330184" y="4672584"/>
            <a:ext cx="23042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产品主流程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大模型只是中间一个节点；产品要负责加载、校验、合并、路由和记录。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" y="1828800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19933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选择场景并提交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6656" y="2286000"/>
            <a:ext cx="1682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文案＋上下文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487168" y="2386584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871216" y="1828800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80944" y="19933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输入校验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980944" y="2286000"/>
            <a:ext cx="1682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必填与格式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791456" y="2386584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175504" y="1828800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85232" y="19933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加载规则版本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85232" y="2286000"/>
            <a:ext cx="1682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场景启用项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095744" y="2386584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479792" y="1828800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0" y="19933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并行检查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589520" y="2286000"/>
            <a:ext cx="1682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规则＋模型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400032" y="2386584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784080" y="1828800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93808" y="19933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结果合并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893808" y="2286000"/>
            <a:ext cx="1682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去重与定级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298448" y="425196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0B2A33"/>
          </a:solidFill>
          <a:ln w="10160">
            <a:solidFill>
              <a:srgbClr val="4ED6A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53312" y="4352544"/>
            <a:ext cx="1856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D6A5"/>
                </a:solidFill>
              </a:rPr>
              <a:t>通过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813048" y="425196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0B2A33"/>
          </a:solidFill>
          <a:ln w="10160">
            <a:solidFill>
              <a:srgbClr val="7BE7D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867912" y="4352544"/>
            <a:ext cx="1856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建议修改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327648" y="425196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0B2A33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82512" y="4352544"/>
            <a:ext cx="1856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4A"/>
                </a:solidFill>
              </a:rPr>
              <a:t>退回修改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8842248" y="425196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0B2A33"/>
          </a:solidFill>
          <a:ln w="10160">
            <a:solidFill>
              <a:srgbClr val="FF775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897112" y="4352544"/>
            <a:ext cx="1856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75F"/>
                </a:solidFill>
              </a:rPr>
              <a:t>转人工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309360" y="3063240"/>
            <a:ext cx="0" cy="91440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失败和不确定性也要设计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机器失败不能默认通过，不确定结果不能伪装成确定结论。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77240" y="1572768"/>
            <a:ext cx="10652760" cy="612648"/>
          </a:xfrm>
          <a:prstGeom prst="roundRect">
            <a:avLst>
              <a:gd name="adj" fmla="val 4478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1755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E7DC"/>
                </a:solidFill>
              </a:rPr>
              <a:t>必填上下文缺失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611880" y="17556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阻止提交并提示补充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" y="2368296"/>
            <a:ext cx="10652760" cy="612648"/>
          </a:xfrm>
          <a:prstGeom prst="roundRect">
            <a:avLst>
              <a:gd name="adj" fmla="val 4478"/>
            </a:avLst>
          </a:prstGeom>
          <a:solidFill>
            <a:srgbClr val="0A2630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2551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E7DC"/>
                </a:solidFill>
              </a:rPr>
              <a:t>模型超时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611880" y="255117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自动重试一次；仍失败则进人工队列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7240" y="3163824"/>
            <a:ext cx="10652760" cy="612648"/>
          </a:xfrm>
          <a:prstGeom prst="roundRect">
            <a:avLst>
              <a:gd name="adj" fmla="val 4478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33467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</a:rPr>
              <a:t>输出格式失败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611880" y="334670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重新请求结构化输出；仍失败则标记机器失败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77240" y="3959352"/>
            <a:ext cx="10652760" cy="612648"/>
          </a:xfrm>
          <a:prstGeom prst="roundRect">
            <a:avLst>
              <a:gd name="adj" fmla="val 4478"/>
            </a:avLst>
          </a:prstGeom>
          <a:solidFill>
            <a:srgbClr val="0A2630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41422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E7DC"/>
                </a:solidFill>
              </a:rPr>
              <a:t>规则与模型冲突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3611880" y="414223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保留原始结果，按高风险优先或转人工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7240" y="4754880"/>
            <a:ext cx="10652760" cy="612648"/>
          </a:xfrm>
          <a:prstGeom prst="roundRect">
            <a:avLst>
              <a:gd name="adj" fmla="val 4478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552" y="4937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E7DC"/>
                </a:solidFill>
              </a:rPr>
              <a:t>内容已被修改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611880" y="493776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旧结果失效，必须重新审核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第一版选择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步骤明确、分支有限、责任敏感的审核链路，更适合先做可控流程。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77240" y="173736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1737360"/>
            <a:ext cx="73152" cy="361188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33272" y="19202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为什么适合 Workflow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33272" y="2331720"/>
            <a:ext cx="461772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步骤可以预先定义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输入输出可以校验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超时与重试可以控制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人工接管位置明确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09360" y="173736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0" y="1737360"/>
            <a:ext cx="73152" cy="361188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65392" y="19202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Agent 以后可以做什么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565392" y="2331720"/>
            <a:ext cx="461772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多轮追问缺失材料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辅助查找复杂业务资料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处理开放式运营任务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但不作为第一版必要条件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二节_AI介入方案/01_智能审核的五类能力分工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二节_AI介入方案/02_营销内容智能审核主流程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二节_AI介入方案/03_异常与人工接管逻辑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94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7D3C1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3200400" y="950976"/>
            <a:ext cx="0" cy="475488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3320" y="13898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BFC"/>
                </a:solidFill>
              </a:rPr>
              <a:t>搭建规则系统与审核流程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730752" y="265176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BBC2"/>
                </a:solidFill>
              </a:rPr>
              <a:t>把审核标准拆成可配置、可执行、可返回、可统计的产品对象。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30752" y="4160520"/>
            <a:ext cx="2057400" cy="438912"/>
          </a:xfrm>
          <a:prstGeom prst="roundRect">
            <a:avLst>
              <a:gd name="adj" fmla="val 10417"/>
            </a:avLst>
          </a:prstGeom>
          <a:solidFill>
            <a:srgbClr val="103641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429768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7DC"/>
                </a:solidFill>
              </a:rPr>
              <a:t>35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 · SECTION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审核判断来自三层标准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产品需要把标准拆成规则、场景和版本，而不是塞进一个超长提示词。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468880" y="1554480"/>
            <a:ext cx="7223760" cy="3200400"/>
          </a:xfrm>
          <a:prstGeom prst="roundRect">
            <a:avLst>
              <a:gd name="adj" fmla="val 2286"/>
            </a:avLst>
          </a:prstGeom>
          <a:solidFill>
            <a:srgbClr val="0B2932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0" y="1965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4A"/>
                </a:solidFill>
              </a:rPr>
              <a:t>外部通用要求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657600" y="23957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法律法规与通用监管要求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00400" y="2148840"/>
            <a:ext cx="5760720" cy="2011680"/>
          </a:xfrm>
          <a:prstGeom prst="roundRect">
            <a:avLst>
              <a:gd name="adj" fmla="val 3636"/>
            </a:avLst>
          </a:prstGeom>
          <a:solidFill>
            <a:srgbClr val="0B2932">
              <a:alpha val="93000"/>
            </a:srgbClr>
          </a:solidFill>
          <a:ln w="19050">
            <a:solidFill>
              <a:srgbClr val="7BE7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0" y="2560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BE7DC"/>
                </a:solidFill>
              </a:rPr>
              <a:t>渠道与行业规则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657600" y="29900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平台规范、行业特殊要求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931920" y="274320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0B2932">
              <a:alpha val="86000"/>
            </a:srgbClr>
          </a:solidFill>
          <a:ln w="19050">
            <a:solidFill>
              <a:srgbClr val="27D3C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0" y="3154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D3C1"/>
                </a:solidFill>
              </a:rPr>
              <a:t>公司内部口径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57600" y="3584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品牌、商品、活动与授权标准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把检查项组织成规则分类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分类是产品设计，不是通用法规清单；真实项目需要确认适用范围。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49808" y="1554480"/>
            <a:ext cx="10716768" cy="640080"/>
          </a:xfrm>
          <a:prstGeom prst="roundRect">
            <a:avLst>
              <a:gd name="adj" fmla="val 4286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1719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600200" y="1719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基础质量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43400" y="171907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错别字、病句、信息缺失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49808" y="2377440"/>
            <a:ext cx="10716768" cy="640080"/>
          </a:xfrm>
          <a:prstGeom prst="roundRect">
            <a:avLst>
              <a:gd name="adj" fmla="val 4286"/>
            </a:avLst>
          </a:prstGeom>
          <a:solidFill>
            <a:srgbClr val="0A2730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2542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600200" y="2542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禁限表达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343400" y="2542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绝对化、保证性、极限性表达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49808" y="3200400"/>
            <a:ext cx="10716768" cy="640080"/>
          </a:xfrm>
          <a:prstGeom prst="roundRect">
            <a:avLst>
              <a:gd name="adj" fmla="val 4286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" y="3364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600200" y="33649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商品事实一致性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43400" y="336499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成分、规格、功效、价格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49808" y="4023360"/>
            <a:ext cx="10716768" cy="640080"/>
          </a:xfrm>
          <a:prstGeom prst="roundRect">
            <a:avLst>
              <a:gd name="adj" fmla="val 4286"/>
            </a:avLst>
          </a:prstGeom>
          <a:solidFill>
            <a:srgbClr val="0A2730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0120" y="4187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600200" y="41879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来源与授权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343400" y="4187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排名、数据、专家、机构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49808" y="4846320"/>
            <a:ext cx="10716768" cy="640080"/>
          </a:xfrm>
          <a:prstGeom prst="roundRect">
            <a:avLst>
              <a:gd name="adj" fmla="val 4286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0120" y="50109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600200" y="50109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渠道与内部口径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343400" y="501091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活动规则、声明、品牌禁用词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一条原子规则长什么样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原子规则能单独启停、测试、统计和迭代。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13232" y="1554480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17007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规则编号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96112" y="196596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R-SOURCE-003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91072" y="1554480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3952" y="17007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规则名称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73952" y="196596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排名表达完整性检查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13232" y="2578608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6112" y="27249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适用场景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96112" y="299008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商品详情页、活动页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91072" y="2578608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27249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触发条件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73952" y="299008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出现第一、领先、TOP1等表达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13232" y="3602736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6112" y="3749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检查方式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96112" y="4014216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召回＋语义判断＋材料核对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91072" y="3602736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73952" y="3749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风险等级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473952" y="4014216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中；关键材料缺失时升高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13232" y="4626864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96112" y="47731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返回内容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96112" y="503834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位置、缺失项、动作、版本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291072" y="4626864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73952" y="47731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4A"/>
                </a:solidFill>
              </a:rPr>
              <a:t>处理动作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473952" y="503834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补材料；无法补充则转人工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先选场景，再加载规则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同一条规则不一定适用于所有内容；场景决定输入和启用项。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49808" y="1664208"/>
            <a:ext cx="3401568" cy="3639312"/>
          </a:xfrm>
          <a:prstGeom prst="roundRect">
            <a:avLst>
              <a:gd name="adj" fmla="val 1613"/>
            </a:avLst>
          </a:prstGeom>
          <a:solidFill>
            <a:srgbClr val="0B2932"/>
          </a:solidFill>
          <a:ln w="10160">
            <a:solidFill>
              <a:srgbClr val="27D3C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" y="1664208"/>
            <a:ext cx="73152" cy="363931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8470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商品详情页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2258568"/>
            <a:ext cx="29443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商品事实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禁限表达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来源材料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特殊输入：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商品ID、规格、商品资料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371600" y="544068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B2B34"/>
          </a:solidFill>
          <a:ln w="10160">
            <a:solidFill>
              <a:srgbClr val="27D3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26464" y="5541264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第一版实现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498848" y="1664208"/>
            <a:ext cx="3401568" cy="3639312"/>
          </a:xfrm>
          <a:prstGeom prst="roundRect">
            <a:avLst>
              <a:gd name="adj" fmla="val 1613"/>
            </a:avLst>
          </a:prstGeom>
          <a:solidFill>
            <a:srgbClr val="0B2932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98848" y="1664208"/>
            <a:ext cx="73152" cy="3639312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18470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活动页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754880" y="2258568"/>
            <a:ext cx="29443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价格与时间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优惠条件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禁限表达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特殊输入：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活动周期、优惠门槛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120640" y="544068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B2B34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75504" y="5541264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4A"/>
                </a:solidFill>
              </a:rPr>
              <a:t>第一版实现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247888" y="1664208"/>
            <a:ext cx="3401568" cy="3639312"/>
          </a:xfrm>
          <a:prstGeom prst="roundRect">
            <a:avLst>
              <a:gd name="adj" fmla="val 1613"/>
            </a:avLst>
          </a:prstGeom>
          <a:solidFill>
            <a:srgbClr val="0B2932"/>
          </a:solidFill>
          <a:ln w="10160">
            <a:solidFill>
              <a:srgbClr val="A7BBC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47888" y="1664208"/>
            <a:ext cx="73152" cy="3639312"/>
          </a:xfrm>
          <a:prstGeom prst="rect">
            <a:avLst/>
          </a:prstGeom>
          <a:solidFill>
            <a:srgbClr val="A7BBC2"/>
          </a:solidFill>
          <a:ln w="12700">
            <a:solidFill>
              <a:srgbClr val="A7BBC2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03920" y="18470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短视频口播稿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503920" y="2258568"/>
            <a:ext cx="29443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口语化夸大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功效暗示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授权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特殊输入：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脚本版本、达人主体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8869680" y="544068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B2B34"/>
          </a:solidFill>
          <a:ln w="10160">
            <a:solidFill>
              <a:srgbClr val="A7BBC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24544" y="5541264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BBC2"/>
                </a:solidFill>
              </a:rPr>
              <a:t>后续扩展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“规则”不等于关键词库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业务检查项可以调用不同执行方式，规则层与技术执行层要分开。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207008" y="1737360"/>
            <a:ext cx="731520" cy="73152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08176" y="19568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274320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2743200"/>
            <a:ext cx="73152" cy="214884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关键词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96112" y="3337560"/>
            <a:ext cx="1463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明显表达快速召回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493008" y="1737360"/>
            <a:ext cx="731520" cy="73152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94176" y="19568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926080" y="274320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26080" y="2743200"/>
            <a:ext cx="73152" cy="214884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82112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正则／格式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182112" y="3337560"/>
            <a:ext cx="1463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电话、价格、必填声明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779008" y="1737360"/>
            <a:ext cx="731520" cy="73152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0176" y="19568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212080" y="274320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12080" y="2743200"/>
            <a:ext cx="73152" cy="214884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68112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确定性逻辑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468112" y="3337560"/>
            <a:ext cx="1463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活动时间与字段一致性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065008" y="1737360"/>
            <a:ext cx="731520" cy="731520"/>
          </a:xfrm>
          <a:prstGeom prst="ellipse">
            <a:avLst/>
          </a:prstGeom>
          <a:solidFill>
            <a:srgbClr val="FF6B4A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66176" y="19568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498080" y="274320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98080" y="2743200"/>
            <a:ext cx="73152" cy="214884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54112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大模型语义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754112" y="3337560"/>
            <a:ext cx="1463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隐含承诺与上下文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10351008" y="1737360"/>
            <a:ext cx="731520" cy="73152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552176" y="19568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784080" y="274320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784080" y="2743200"/>
            <a:ext cx="73152" cy="214884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040112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外部数据核对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0040112" y="3337560"/>
            <a:ext cx="1463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商品、授权、报告有效期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让案例真正跑出结构化结果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每个问题都要能定位到原文，并对应明确处理动作。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1572768"/>
            <a:ext cx="10899648" cy="749808"/>
          </a:xfrm>
          <a:prstGeom prst="roundRect">
            <a:avLst>
              <a:gd name="adj" fmla="val 3659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1801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全网最值得买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767328" y="18013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禁限表达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46520" y="1755648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17313A"/>
          </a:solidFill>
          <a:ln w="10160">
            <a:solidFill>
              <a:srgbClr val="FF77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01384" y="185623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75F"/>
                </a:solidFill>
              </a:rPr>
              <a:t>高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406640" y="18013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BE7DC"/>
                </a:solidFill>
              </a:rPr>
              <a:t>删除或改为可验证描述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8368" y="2523744"/>
            <a:ext cx="10899648" cy="749808"/>
          </a:xfrm>
          <a:prstGeom prst="roundRect">
            <a:avLst>
              <a:gd name="adj" fmla="val 3659"/>
            </a:avLst>
          </a:prstGeom>
          <a:solidFill>
            <a:srgbClr val="0A2730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2752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7天彻底改善／100%有效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767328" y="27523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功效与保证性表达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46520" y="2706624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17313A"/>
          </a:solidFill>
          <a:ln w="10160">
            <a:solidFill>
              <a:srgbClr val="FF77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01384" y="280720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75F"/>
                </a:solidFill>
              </a:rPr>
              <a:t>高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406640" y="275234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BE7DC"/>
                </a:solidFill>
              </a:rPr>
              <a:t>删除确定性承诺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58368" y="3474720"/>
            <a:ext cx="10899648" cy="749808"/>
          </a:xfrm>
          <a:prstGeom prst="roundRect">
            <a:avLst>
              <a:gd name="adj" fmla="val 3659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连续三年销量第一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767328" y="37033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来源与范围缺失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46520" y="3657600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17313A"/>
          </a:solidFill>
          <a:ln w="10160">
            <a:solidFill>
              <a:srgbClr val="F6C4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01384" y="375818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C453"/>
                </a:solidFill>
              </a:rPr>
              <a:t>中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406640" y="37033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BE7DC"/>
                </a:solidFill>
              </a:rPr>
              <a:t>补充范围、时间和来源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8368" y="4425696"/>
            <a:ext cx="10899648" cy="749808"/>
          </a:xfrm>
          <a:prstGeom prst="roundRect">
            <a:avLst>
              <a:gd name="adj" fmla="val 3659"/>
            </a:avLst>
          </a:prstGeom>
          <a:solidFill>
            <a:srgbClr val="0A2730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8680" y="4654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专家一致推荐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3767328" y="46542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主体与授权不完整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446520" y="4608576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17313A"/>
          </a:solidFill>
          <a:ln w="10160">
            <a:solidFill>
              <a:srgbClr val="FF77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01384" y="47091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75F"/>
                </a:solidFill>
              </a:rPr>
              <a:t>高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406640" y="46542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BE7DC"/>
                </a:solidFill>
              </a:rPr>
              <a:t>补充材料或删除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同一个问题，先合并再展示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前台只展示合并后的风险对象，后台保留各能力的原始结果。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77240" y="1828800"/>
            <a:ext cx="2834640" cy="1261872"/>
          </a:xfrm>
          <a:prstGeom prst="roundRect">
            <a:avLst>
              <a:gd name="adj" fmla="val 4348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" y="199339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关键词规则命中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86968" y="228600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位置：18–24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类型：保证性表达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77240" y="3703320"/>
            <a:ext cx="2834640" cy="1261872"/>
          </a:xfrm>
          <a:prstGeom prst="roundRect">
            <a:avLst>
              <a:gd name="adj" fmla="val 4348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6968" y="386791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大模型语义命中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86968" y="416052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位置：15–24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类型：功效承诺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730752" y="2450592"/>
            <a:ext cx="859536" cy="795528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730752" y="4315968"/>
            <a:ext cx="859536" cy="-82296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709160" y="2651760"/>
            <a:ext cx="2743200" cy="1481328"/>
          </a:xfrm>
          <a:prstGeom prst="roundRect">
            <a:avLst>
              <a:gd name="adj" fmla="val 3704"/>
            </a:avLst>
          </a:prstGeom>
          <a:solidFill>
            <a:srgbClr val="0B2932"/>
          </a:solidFill>
          <a:ln w="15240">
            <a:solidFill>
              <a:srgbClr val="F6C45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18888" y="281635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合并与定级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18888" y="3108960"/>
            <a:ext cx="252374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位置重叠＋类型相近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保留较高等级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571232" y="3401568"/>
            <a:ext cx="768096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458200" y="2542032"/>
            <a:ext cx="2880360" cy="1700784"/>
          </a:xfrm>
          <a:prstGeom prst="roundRect">
            <a:avLst>
              <a:gd name="adj" fmla="val 3226"/>
            </a:avLst>
          </a:prstGeom>
          <a:solidFill>
            <a:srgbClr val="0B2932"/>
          </a:solidFill>
          <a:ln w="15240">
            <a:solidFill>
              <a:srgbClr val="FF77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67928" y="2706624"/>
            <a:ext cx="2660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前台风险对象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567928" y="2999232"/>
            <a:ext cx="26609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“7天彻底改善，100%有效”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高风险｜删除确定性承诺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整体状态必须对应下一步动作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结果不是一个分数，而是业务流程中的路由信号。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58952" y="162763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C2A33"/>
          </a:solidFill>
          <a:ln w="10160">
            <a:solidFill>
              <a:srgbClr val="4ED6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" y="1728216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D6A5"/>
                </a:solidFill>
              </a:rPr>
              <a:t>机器预审通过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063240" y="17099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BFC"/>
                </a:solidFill>
              </a:rPr>
              <a:t>无有效风险且检查完整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095744" y="1801368"/>
            <a:ext cx="475488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7845552" y="170992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4ED6A5"/>
                </a:solidFill>
              </a:rPr>
              <a:t>进入后续业务流程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58952" y="245059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C2A33"/>
          </a:solidFill>
          <a:ln w="10160">
            <a:solidFill>
              <a:srgbClr val="7BE7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" y="2551176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建议修改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063240" y="25328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BFC"/>
                </a:solidFill>
              </a:rPr>
              <a:t>只有低风险问题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095744" y="2624328"/>
            <a:ext cx="475488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7845552" y="253288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BE7DC"/>
                </a:solidFill>
              </a:rPr>
              <a:t>运营修改或按权限继续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8952" y="327355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C2A33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3816" y="3374136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4A"/>
                </a:solidFill>
              </a:rPr>
              <a:t>退回修改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063240" y="33558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BFC"/>
                </a:solidFill>
              </a:rPr>
              <a:t>存在明确中高风险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095744" y="3447288"/>
            <a:ext cx="475488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7845552" y="335584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6B4A"/>
                </a:solidFill>
              </a:rPr>
              <a:t>修改后重新提交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58952" y="409651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C2A33"/>
          </a:solidFill>
          <a:ln w="10160">
            <a:solidFill>
              <a:srgbClr val="FF77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3816" y="4197096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75F"/>
                </a:solidFill>
              </a:rPr>
              <a:t>转人工复核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063240" y="41788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BFC"/>
                </a:solidFill>
              </a:rPr>
              <a:t>冲突、低确定性或高风险要求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095744" y="4270248"/>
            <a:ext cx="475488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7845552" y="41788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775F"/>
                </a:solidFill>
              </a:rPr>
              <a:t>进入人工队列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58952" y="491947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C2A33"/>
          </a:solidFill>
          <a:ln w="10160">
            <a:solidFill>
              <a:srgbClr val="F6C45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13816" y="5020056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C453"/>
                </a:solidFill>
              </a:rPr>
              <a:t>机器失败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063240" y="5001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BFC"/>
                </a:solidFill>
              </a:rPr>
              <a:t>超时、格式错误、依赖不可用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7095744" y="5093208"/>
            <a:ext cx="475488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37" name="Text 34"/>
          <p:cNvSpPr/>
          <p:nvPr/>
        </p:nvSpPr>
        <p:spPr>
          <a:xfrm>
            <a:off x="7845552" y="500176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6C453"/>
                </a:solidFill>
              </a:rPr>
              <a:t>重试或人工接管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边界样本：关键词命中不等于违规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召回和最终判断是两件事；边界样本决定系统是否可用。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22960" y="1783080"/>
            <a:ext cx="4663440" cy="333756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008" y="25146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BFC"/>
                </a:solidFill>
              </a:rPr>
              <a:t>“我们不承诺 100% 有效，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7FBFC"/>
                </a:solidFill>
              </a:rPr>
              <a:t>实际体验因人而异。”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897880" y="178308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7880" y="1783080"/>
            <a:ext cx="73152" cy="137160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53912" y="196596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关键词系统的问题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153912" y="2377440"/>
            <a:ext cx="4983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7BBC2"/>
                </a:solidFill>
              </a:rPr>
              <a:t>看到“100%有效”就直接判高风险，忽略否定关系。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97880" y="3401568"/>
            <a:ext cx="5440680" cy="1719072"/>
          </a:xfrm>
          <a:prstGeom prst="roundRect">
            <a:avLst>
              <a:gd name="adj" fmla="val 3191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97880" y="3401568"/>
            <a:ext cx="73152" cy="171907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53912" y="35844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改进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153912" y="399592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7BBC2"/>
                </a:solidFill>
              </a:rPr>
              <a:t>关键词先召回 → 上下文语义确认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BBC2"/>
                </a:solidFill>
              </a:rPr>
              <a:t>把否定句、引用句和对比句加入回归测试。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三节_规则系统与审核流程/01_审核标准如何变成可配置规则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三节_规则系统与审核流程/02_一条原子规则的执行流程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三节_规则系统与审核流程/03_多路审核结果的合并与去重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三节_规则系统与审核流程/04_营销内容审核状态流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94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7D3C1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3200400" y="950976"/>
            <a:ext cx="0" cy="475488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3320" y="13898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BFC"/>
                </a:solidFill>
              </a:rPr>
              <a:t>定义 MVP 与产品结构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730752" y="265176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BBC2"/>
                </a:solidFill>
              </a:rPr>
              <a:t>用最少能力完成一次真实闭环，并明确系统中的对象、版本与异常。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30752" y="4160520"/>
            <a:ext cx="2057400" cy="438912"/>
          </a:xfrm>
          <a:prstGeom prst="roundRect">
            <a:avLst>
              <a:gd name="adj" fmla="val 10417"/>
            </a:avLst>
          </a:prstGeom>
          <a:solidFill>
            <a:srgbClr val="103641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429768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7DC"/>
                </a:solidFill>
              </a:rPr>
              <a:t>25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 · SECTION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MVP 要验证三件事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第一版验证的是业务闭环，不是“模型会不会看文案”。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49808" y="173736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" y="1737360"/>
            <a:ext cx="73152" cy="342900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01 发现问题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2331720"/>
            <a:ext cx="2880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混合审核能否稳定发现一批真正有价值的问题？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425696" y="173736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25696" y="1737360"/>
            <a:ext cx="73152" cy="342900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81728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02 减少沟通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81728" y="2331720"/>
            <a:ext cx="2880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结构化结果能否减少运营与审核员的往返确认？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101584" y="173736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01584" y="1737360"/>
            <a:ext cx="73152" cy="342900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57616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03 安全接管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57616" y="2331720"/>
            <a:ext cx="2880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机器不确定或失败时，人工能否及时并完整地接手？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功能优先级：P0、P1、暂不进入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MVP 不是少画页面，而是保留完成闭环所必需的能力。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1572768"/>
            <a:ext cx="3794760" cy="4096512"/>
          </a:xfrm>
          <a:prstGeom prst="roundRect">
            <a:avLst>
              <a:gd name="adj" fmla="val 1446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572768"/>
            <a:ext cx="73152" cy="409651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7556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P0｜形成闭环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2167128"/>
            <a:ext cx="33375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场景与上下文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文本版本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规则＋语义检查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结果合并与定级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原文定位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四类处理路径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人工复核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修改后重审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基础记录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645152" y="1572768"/>
            <a:ext cx="3246120" cy="4096512"/>
          </a:xfrm>
          <a:prstGeom prst="roundRect">
            <a:avLst>
              <a:gd name="adj" fmla="val 1690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5152" y="1572768"/>
            <a:ext cx="73152" cy="4096512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01184" y="17556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P1｜试点后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901184" y="2167128"/>
            <a:ext cx="2788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规则运营后台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批量任务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数据看板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更多渠道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建议一键带入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083296" y="1572768"/>
            <a:ext cx="3447288" cy="4096512"/>
          </a:xfrm>
          <a:prstGeom prst="roundRect">
            <a:avLst>
              <a:gd name="adj" fmla="val 1592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83296" y="1572768"/>
            <a:ext cx="73152" cy="4096512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39328" y="1755648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暂不进入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39328" y="2167128"/>
            <a:ext cx="299008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多模态审核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自动发布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自动覆盖原文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全公司复杂权限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自主 Agent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三层产品结构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架构图的作用，是说明每一层变化会影响哪些产品模块。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60120" y="1600200"/>
            <a:ext cx="10241280" cy="932688"/>
          </a:xfrm>
          <a:prstGeom prst="roundRect">
            <a:avLst>
              <a:gd name="adj" fmla="val 3922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4440" y="18745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</a:rPr>
              <a:t>业务应用层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246120" y="188366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BFC"/>
                </a:solidFill>
              </a:rPr>
              <a:t>提交自查｜流程审核｜人工复核｜历史任务｜规则运营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60120" y="2907792"/>
            <a:ext cx="10241280" cy="932688"/>
          </a:xfrm>
          <a:prstGeom prst="roundRect">
            <a:avLst>
              <a:gd name="adj" fmla="val 3922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34440" y="31821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3C1"/>
                </a:solidFill>
              </a:rPr>
              <a:t>审核能力层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246120" y="31912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BFC"/>
                </a:solidFill>
              </a:rPr>
              <a:t>输入解析｜场景配置｜原子规则｜语义判断｜合并与路由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60120" y="4224528"/>
            <a:ext cx="10241280" cy="932688"/>
          </a:xfrm>
          <a:prstGeom prst="roundRect">
            <a:avLst>
              <a:gd name="adj" fmla="val 3922"/>
            </a:avLst>
          </a:prstGeom>
          <a:solidFill>
            <a:srgbClr val="0B2932"/>
          </a:solidFill>
          <a:ln w="15240">
            <a:solidFill>
              <a:srgbClr val="7BE7D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34440" y="44988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7DC"/>
                </a:solidFill>
              </a:rPr>
              <a:t>模型与数据来源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246120" y="450799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BFC"/>
                </a:solidFill>
              </a:rPr>
              <a:t>大模型｜商品中心｜活动信息｜授权材料｜当前业务口径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744200" y="4114800"/>
            <a:ext cx="0" cy="-22860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10744200" y="2807208"/>
            <a:ext cx="0" cy="-22860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五个核心数据对象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任务、内容、规则、风险和人工结果需要各自有版本和关联。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21792" y="1965960"/>
            <a:ext cx="1938528" cy="2377440"/>
          </a:xfrm>
          <a:prstGeom prst="roundRect">
            <a:avLst>
              <a:gd name="adj" fmla="val 2830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1305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审核任务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2423160"/>
            <a:ext cx="17190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task_id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场景／状态／提交人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587752" y="3154680"/>
            <a:ext cx="25603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907792" y="1965960"/>
            <a:ext cx="1938528" cy="2377440"/>
          </a:xfrm>
          <a:prstGeom prst="roundRect">
            <a:avLst>
              <a:gd name="adj" fmla="val 2830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1305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内容版本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017520" y="2423160"/>
            <a:ext cx="17190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version_id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原文／业务上下文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73752" y="3154680"/>
            <a:ext cx="25603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193792" y="1965960"/>
            <a:ext cx="1938528" cy="2377440"/>
          </a:xfrm>
          <a:prstGeom prst="roundRect">
            <a:avLst>
              <a:gd name="adj" fmla="val 2830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0" y="21305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规则版本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03520" y="2423160"/>
            <a:ext cx="17190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rule_set_id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启用项／适用范围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159752" y="3154680"/>
            <a:ext cx="25603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479792" y="1965960"/>
            <a:ext cx="1938528" cy="2377440"/>
          </a:xfrm>
          <a:prstGeom prst="roundRect">
            <a:avLst>
              <a:gd name="adj" fmla="val 2830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0" y="21305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风险对象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589520" y="2423160"/>
            <a:ext cx="17190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位置／类型／等级／动作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445752" y="3154680"/>
            <a:ext cx="25603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765792" y="1965960"/>
            <a:ext cx="1938528" cy="2377440"/>
          </a:xfrm>
          <a:prstGeom prst="roundRect">
            <a:avLst>
              <a:gd name="adj" fmla="val 2830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75520" y="21305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人工结果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875520" y="2423160"/>
            <a:ext cx="17190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结论／调整原因／处理人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017520" y="48646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BE7DC"/>
                </a:solidFill>
              </a:rPr>
              <a:t>内容一旦实质修改 → 生成新版本 → 重新审核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版本与异常，决定产品能否试点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同一任务中的内容、规则和人工结果都必须有清晰记录。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49808" y="173736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" y="1737360"/>
            <a:ext cx="73152" cy="342900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材料不完整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2331720"/>
            <a:ext cx="2880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能补齐：提交前补齐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无法补齐：转人工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不能让模型自行猜测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425696" y="173736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25696" y="1737360"/>
            <a:ext cx="73152" cy="342900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81728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规则正在更新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81728" y="2331720"/>
            <a:ext cx="2880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每次审核绑定规则版本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新版本只影响新任务或重审任务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101584" y="173736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01584" y="1737360"/>
            <a:ext cx="73152" cy="342900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57616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人工调整结论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57616" y="2331720"/>
            <a:ext cx="2880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机器原始结果与人工最终结果同时保存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记录调整原因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四节_MVP与产品结构/01_智能审核MVP范围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四节_MVP与产品结构/02_营销内容智能审核三层产品架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四节_MVP与产品结构/03_智能审核核心数据对象关系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94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7D3C1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3200400" y="950976"/>
            <a:ext cx="0" cy="475488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3320" y="13898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BFC"/>
                </a:solidFill>
              </a:rPr>
              <a:t>设计四个核心页面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730752" y="265176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BBC2"/>
                </a:solidFill>
              </a:rPr>
              <a:t>页面不是展示 AI 回复，而是帮助用户定位、理解、处理与复核。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30752" y="4160520"/>
            <a:ext cx="2057400" cy="438912"/>
          </a:xfrm>
          <a:prstGeom prst="roundRect">
            <a:avLst>
              <a:gd name="adj" fmla="val 10417"/>
            </a:avLst>
          </a:prstGeom>
          <a:solidFill>
            <a:srgbClr val="103641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429768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7DC"/>
                </a:solidFill>
              </a:rPr>
              <a:t>20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 · SECTION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页面 1｜审核任务列表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不同角色看到同一任务，但排序、筛选和待办重点不同。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1572768"/>
            <a:ext cx="7498080" cy="4069080"/>
          </a:xfrm>
          <a:prstGeom prst="roundRect">
            <a:avLst>
              <a:gd name="adj" fmla="val 1124"/>
            </a:avLst>
          </a:prstGeom>
          <a:solidFill>
            <a:srgbClr val="F4F7F8"/>
          </a:solidFill>
          <a:ln w="10160">
            <a:solidFill>
              <a:srgbClr val="6C899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572768"/>
            <a:ext cx="7498080" cy="384048"/>
          </a:xfrm>
          <a:prstGeom prst="rect">
            <a:avLst/>
          </a:prstGeom>
          <a:solidFill>
            <a:srgbClr val="DDE7EA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1700784"/>
            <a:ext cx="91440" cy="91440"/>
          </a:xfrm>
          <a:prstGeom prst="ellipse">
            <a:avLst/>
          </a:prstGeom>
          <a:solidFill>
            <a:srgbClr val="F27867"/>
          </a:solidFill>
          <a:ln w="12700">
            <a:solidFill>
              <a:srgbClr val="F2786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96696" y="1700784"/>
            <a:ext cx="91440" cy="91440"/>
          </a:xfrm>
          <a:prstGeom prst="ellipse">
            <a:avLst/>
          </a:prstGeom>
          <a:solidFill>
            <a:srgbClr val="F5C85B"/>
          </a:solidFill>
          <a:ln w="12700">
            <a:solidFill>
              <a:srgbClr val="F5C8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97864" y="1700784"/>
            <a:ext cx="91440" cy="91440"/>
          </a:xfrm>
          <a:prstGeom prst="ellipse">
            <a:avLst/>
          </a:prstGeom>
          <a:solidFill>
            <a:srgbClr val="55C6A4"/>
          </a:solidFill>
          <a:ln w="12700">
            <a:solidFill>
              <a:srgbClr val="55C6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98448" y="1682496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505A"/>
                </a:solidFill>
              </a:rPr>
              <a:t>营销内容审核平台 · 任务列表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22960" y="2157984"/>
            <a:ext cx="1143000" cy="3246120"/>
          </a:xfrm>
          <a:prstGeom prst="rect">
            <a:avLst/>
          </a:prstGeom>
          <a:solidFill>
            <a:srgbClr val="153944"/>
          </a:solidFill>
          <a:ln w="12700">
            <a:solidFill>
              <a:srgbClr val="1539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" y="2487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BE7DC"/>
                </a:solidFill>
              </a:rPr>
              <a:t>任务列表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41832" y="29900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AD0"/>
                </a:solidFill>
              </a:rPr>
              <a:t>待我处理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41832" y="349300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AD0"/>
                </a:solidFill>
              </a:rPr>
              <a:t>规则管理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41832" y="399592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AD0"/>
                </a:solidFill>
              </a:rPr>
              <a:t>数据看板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2176272" y="2359152"/>
            <a:ext cx="5394960" cy="411480"/>
          </a:xfrm>
          <a:prstGeom prst="roundRect">
            <a:avLst>
              <a:gd name="adj" fmla="val 4444"/>
            </a:avLst>
          </a:prstGeom>
          <a:solidFill>
            <a:srgbClr val="E8EEF0"/>
          </a:solidFill>
          <a:ln w="12700">
            <a:solidFill>
              <a:srgbClr val="CBD9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331720" y="250545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1505A"/>
                </a:solidFill>
              </a:rPr>
              <a:t>任务名称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3355848" y="250545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1505A"/>
                </a:solidFill>
              </a:rPr>
              <a:t>场景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4379976" y="250545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1505A"/>
                </a:solidFill>
              </a:rPr>
              <a:t>风险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5404104" y="250545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1505A"/>
                </a:solidFill>
              </a:rPr>
              <a:t>状态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428232" y="250545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1505A"/>
                </a:solidFill>
              </a:rPr>
              <a:t>待处理人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2176272" y="2889504"/>
            <a:ext cx="5394960" cy="438912"/>
          </a:xfrm>
          <a:prstGeom prst="rect">
            <a:avLst/>
          </a:prstGeom>
          <a:solidFill>
            <a:srgbClr val="F7FAFB"/>
          </a:solidFill>
          <a:ln w="5080">
            <a:solidFill>
              <a:srgbClr val="D8E2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331720" y="304495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活动文案审核-104</a:t>
            </a:r>
            <a:endParaRPr lang="en-US" sz="670" dirty="0"/>
          </a:p>
        </p:txBody>
      </p:sp>
      <p:sp>
        <p:nvSpPr>
          <p:cNvPr id="32" name="Text 29"/>
          <p:cNvSpPr/>
          <p:nvPr/>
        </p:nvSpPr>
        <p:spPr>
          <a:xfrm>
            <a:off x="3419856" y="304495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2717B"/>
                </a:solidFill>
              </a:rPr>
              <a:t>商品页</a:t>
            </a:r>
            <a:endParaRPr lang="en-US" sz="670" dirty="0"/>
          </a:p>
        </p:txBody>
      </p:sp>
      <p:sp>
        <p:nvSpPr>
          <p:cNvPr id="33" name="Text 30"/>
          <p:cNvSpPr/>
          <p:nvPr/>
        </p:nvSpPr>
        <p:spPr>
          <a:xfrm>
            <a:off x="4462272" y="304495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C4962C"/>
                </a:solidFill>
              </a:rPr>
              <a:t>1 中</a:t>
            </a:r>
            <a:endParaRPr lang="en-US" sz="670" dirty="0"/>
          </a:p>
        </p:txBody>
      </p:sp>
      <p:sp>
        <p:nvSpPr>
          <p:cNvPr id="34" name="Text 31"/>
          <p:cNvSpPr/>
          <p:nvPr/>
        </p:nvSpPr>
        <p:spPr>
          <a:xfrm>
            <a:off x="5413248" y="30449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待修改</a:t>
            </a:r>
            <a:endParaRPr lang="en-US" sz="670" dirty="0"/>
          </a:p>
        </p:txBody>
      </p:sp>
      <p:sp>
        <p:nvSpPr>
          <p:cNvPr id="35" name="Shape 32"/>
          <p:cNvSpPr/>
          <p:nvPr/>
        </p:nvSpPr>
        <p:spPr>
          <a:xfrm>
            <a:off x="2176272" y="3438144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2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331720" y="359359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活动文案审核-105</a:t>
            </a:r>
            <a:endParaRPr lang="en-US" sz="670" dirty="0"/>
          </a:p>
        </p:txBody>
      </p:sp>
      <p:sp>
        <p:nvSpPr>
          <p:cNvPr id="37" name="Text 34"/>
          <p:cNvSpPr/>
          <p:nvPr/>
        </p:nvSpPr>
        <p:spPr>
          <a:xfrm>
            <a:off x="3419856" y="359359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2717B"/>
                </a:solidFill>
              </a:rPr>
              <a:t>活动页</a:t>
            </a:r>
            <a:endParaRPr lang="en-US" sz="670" dirty="0"/>
          </a:p>
        </p:txBody>
      </p:sp>
      <p:sp>
        <p:nvSpPr>
          <p:cNvPr id="38" name="Text 35"/>
          <p:cNvSpPr/>
          <p:nvPr/>
        </p:nvSpPr>
        <p:spPr>
          <a:xfrm>
            <a:off x="4462272" y="35935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DA5B43"/>
                </a:solidFill>
              </a:rPr>
              <a:t>3 高</a:t>
            </a:r>
            <a:endParaRPr lang="en-US" sz="670" dirty="0"/>
          </a:p>
        </p:txBody>
      </p:sp>
      <p:sp>
        <p:nvSpPr>
          <p:cNvPr id="39" name="Text 36"/>
          <p:cNvSpPr/>
          <p:nvPr/>
        </p:nvSpPr>
        <p:spPr>
          <a:xfrm>
            <a:off x="5413248" y="35935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待人工</a:t>
            </a:r>
            <a:endParaRPr lang="en-US" sz="670" dirty="0"/>
          </a:p>
        </p:txBody>
      </p:sp>
      <p:sp>
        <p:nvSpPr>
          <p:cNvPr id="40" name="Shape 37"/>
          <p:cNvSpPr/>
          <p:nvPr/>
        </p:nvSpPr>
        <p:spPr>
          <a:xfrm>
            <a:off x="2176272" y="3986784"/>
            <a:ext cx="5394960" cy="438912"/>
          </a:xfrm>
          <a:prstGeom prst="rect">
            <a:avLst/>
          </a:prstGeom>
          <a:solidFill>
            <a:srgbClr val="F7FAFB"/>
          </a:solidFill>
          <a:ln w="5080">
            <a:solidFill>
              <a:srgbClr val="D8E2E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331720" y="414223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活动文案审核-106</a:t>
            </a:r>
            <a:endParaRPr lang="en-US" sz="670" dirty="0"/>
          </a:p>
        </p:txBody>
      </p:sp>
      <p:sp>
        <p:nvSpPr>
          <p:cNvPr id="42" name="Text 39"/>
          <p:cNvSpPr/>
          <p:nvPr/>
        </p:nvSpPr>
        <p:spPr>
          <a:xfrm>
            <a:off x="3419856" y="414223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2717B"/>
                </a:solidFill>
              </a:rPr>
              <a:t>商品页</a:t>
            </a:r>
            <a:endParaRPr lang="en-US" sz="670" dirty="0"/>
          </a:p>
        </p:txBody>
      </p:sp>
      <p:sp>
        <p:nvSpPr>
          <p:cNvPr id="43" name="Text 40"/>
          <p:cNvSpPr/>
          <p:nvPr/>
        </p:nvSpPr>
        <p:spPr>
          <a:xfrm>
            <a:off x="4462272" y="414223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C4962C"/>
                </a:solidFill>
              </a:rPr>
              <a:t>失败</a:t>
            </a:r>
            <a:endParaRPr lang="en-US" sz="670" dirty="0"/>
          </a:p>
        </p:txBody>
      </p:sp>
      <p:sp>
        <p:nvSpPr>
          <p:cNvPr id="44" name="Text 41"/>
          <p:cNvSpPr/>
          <p:nvPr/>
        </p:nvSpPr>
        <p:spPr>
          <a:xfrm>
            <a:off x="5413248" y="41422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机器失败</a:t>
            </a:r>
            <a:endParaRPr lang="en-US" sz="670" dirty="0"/>
          </a:p>
        </p:txBody>
      </p:sp>
      <p:sp>
        <p:nvSpPr>
          <p:cNvPr id="45" name="Shape 42"/>
          <p:cNvSpPr/>
          <p:nvPr/>
        </p:nvSpPr>
        <p:spPr>
          <a:xfrm>
            <a:off x="2176272" y="4535424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2E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331720" y="469087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活动文案审核-107</a:t>
            </a:r>
            <a:endParaRPr lang="en-US" sz="670" dirty="0"/>
          </a:p>
        </p:txBody>
      </p:sp>
      <p:sp>
        <p:nvSpPr>
          <p:cNvPr id="47" name="Text 44"/>
          <p:cNvSpPr/>
          <p:nvPr/>
        </p:nvSpPr>
        <p:spPr>
          <a:xfrm>
            <a:off x="3419856" y="4690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2717B"/>
                </a:solidFill>
              </a:rPr>
              <a:t>活动页</a:t>
            </a:r>
            <a:endParaRPr lang="en-US" sz="670" dirty="0"/>
          </a:p>
        </p:txBody>
      </p:sp>
      <p:sp>
        <p:nvSpPr>
          <p:cNvPr id="48" name="Text 45"/>
          <p:cNvSpPr/>
          <p:nvPr/>
        </p:nvSpPr>
        <p:spPr>
          <a:xfrm>
            <a:off x="4462272" y="469087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C4962C"/>
                </a:solidFill>
              </a:rPr>
              <a:t>1 中</a:t>
            </a:r>
            <a:endParaRPr lang="en-US" sz="670" dirty="0"/>
          </a:p>
        </p:txBody>
      </p:sp>
      <p:sp>
        <p:nvSpPr>
          <p:cNvPr id="49" name="Text 46"/>
          <p:cNvSpPr/>
          <p:nvPr/>
        </p:nvSpPr>
        <p:spPr>
          <a:xfrm>
            <a:off x="5413248" y="46908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待修改</a:t>
            </a:r>
            <a:endParaRPr lang="en-US" sz="670" dirty="0"/>
          </a:p>
        </p:txBody>
      </p:sp>
      <p:sp>
        <p:nvSpPr>
          <p:cNvPr id="50" name="Shape 47"/>
          <p:cNvSpPr/>
          <p:nvPr/>
        </p:nvSpPr>
        <p:spPr>
          <a:xfrm>
            <a:off x="8458200" y="1572768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458200" y="1572768"/>
            <a:ext cx="73152" cy="118872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714232" y="1755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列表必须看懂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8714232" y="216712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场景、版本、风险、状态、待处理人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8458200" y="2999232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458200" y="2999232"/>
            <a:ext cx="73152" cy="118872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714232" y="31821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角色默认排序</a:t>
            </a:r>
            <a:endParaRPr lang="en-US" sz="1500" dirty="0"/>
          </a:p>
        </p:txBody>
      </p:sp>
      <p:sp>
        <p:nvSpPr>
          <p:cNvPr id="57" name="Text 54"/>
          <p:cNvSpPr/>
          <p:nvPr/>
        </p:nvSpPr>
        <p:spPr>
          <a:xfrm>
            <a:off x="8714232" y="3593592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运营看自己的任务；审核员优先看高风险与超时任务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8458200" y="4425696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458200" y="4425696"/>
            <a:ext cx="73152" cy="1188720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714232" y="46085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失败不能伪装</a:t>
            </a:r>
            <a:endParaRPr lang="en-US" sz="1500" dirty="0"/>
          </a:p>
        </p:txBody>
      </p:sp>
      <p:sp>
        <p:nvSpPr>
          <p:cNvPr id="61" name="Text 58"/>
          <p:cNvSpPr/>
          <p:nvPr/>
        </p:nvSpPr>
        <p:spPr>
          <a:xfrm>
            <a:off x="8714232" y="5020056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机器失败不能混进“通过”结果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页面 2｜内容提交页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场景决定必填上下文；提交前先做完整性检查。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1572768"/>
            <a:ext cx="7498080" cy="4069080"/>
          </a:xfrm>
          <a:prstGeom prst="roundRect">
            <a:avLst>
              <a:gd name="adj" fmla="val 1124"/>
            </a:avLst>
          </a:prstGeom>
          <a:solidFill>
            <a:srgbClr val="F4F7F8"/>
          </a:solidFill>
          <a:ln w="10160">
            <a:solidFill>
              <a:srgbClr val="6C899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572768"/>
            <a:ext cx="7498080" cy="384048"/>
          </a:xfrm>
          <a:prstGeom prst="rect">
            <a:avLst/>
          </a:prstGeom>
          <a:solidFill>
            <a:srgbClr val="DDE7EA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1700784"/>
            <a:ext cx="91440" cy="91440"/>
          </a:xfrm>
          <a:prstGeom prst="ellipse">
            <a:avLst/>
          </a:prstGeom>
          <a:solidFill>
            <a:srgbClr val="F27867"/>
          </a:solidFill>
          <a:ln w="12700">
            <a:solidFill>
              <a:srgbClr val="F2786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96696" y="1700784"/>
            <a:ext cx="91440" cy="91440"/>
          </a:xfrm>
          <a:prstGeom prst="ellipse">
            <a:avLst/>
          </a:prstGeom>
          <a:solidFill>
            <a:srgbClr val="F5C85B"/>
          </a:solidFill>
          <a:ln w="12700">
            <a:solidFill>
              <a:srgbClr val="F5C8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97864" y="1700784"/>
            <a:ext cx="91440" cy="91440"/>
          </a:xfrm>
          <a:prstGeom prst="ellipse">
            <a:avLst/>
          </a:prstGeom>
          <a:solidFill>
            <a:srgbClr val="55C6A4"/>
          </a:solidFill>
          <a:ln w="12700">
            <a:solidFill>
              <a:srgbClr val="55C6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98448" y="1682496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505A"/>
                </a:solidFill>
              </a:rPr>
              <a:t>新建审核任务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914400" y="22128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4953"/>
                </a:solidFill>
              </a:rPr>
              <a:t>业务上下文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14400" y="254203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2717B"/>
                </a:solidFill>
              </a:rPr>
              <a:t>审核场景 *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1874520" y="2450592"/>
            <a:ext cx="196596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30906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2717B"/>
                </a:solidFill>
              </a:rPr>
              <a:t>发布渠道 *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1874520" y="2999232"/>
            <a:ext cx="196596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363931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2717B"/>
                </a:solidFill>
              </a:rPr>
              <a:t>商品对象 *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1874520" y="3547872"/>
            <a:ext cx="196596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418795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2717B"/>
                </a:solidFill>
              </a:rPr>
              <a:t>活动周期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1874520" y="4096512"/>
            <a:ext cx="196596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473659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2717B"/>
                </a:solidFill>
              </a:rPr>
              <a:t>授权材料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1874520" y="4645152"/>
            <a:ext cx="196596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87952" y="22128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4953"/>
                </a:solidFill>
              </a:rPr>
              <a:t>营销正文 *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187952" y="2468880"/>
            <a:ext cx="3611880" cy="242316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416552" y="272491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505A"/>
                </a:solidFill>
              </a:rPr>
              <a:t>全网最值得买的胶原蛋白饮……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537960" y="5047488"/>
            <a:ext cx="1261872" cy="347472"/>
          </a:xfrm>
          <a:prstGeom prst="roundRect">
            <a:avLst>
              <a:gd name="adj" fmla="val 10526"/>
            </a:avLst>
          </a:prstGeom>
          <a:solidFill>
            <a:srgbClr val="1EB8A7"/>
          </a:solidFill>
          <a:ln w="12700">
            <a:solidFill>
              <a:srgbClr val="1EB8A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84848" y="5157216"/>
            <a:ext cx="758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提交预审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458200" y="1572768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458200" y="1572768"/>
            <a:ext cx="73152" cy="118872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714232" y="1755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动态字段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8714232" y="216712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场景变化后，需要的商品、活动和授权信息随之变化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458200" y="2999232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458200" y="2999232"/>
            <a:ext cx="73152" cy="118872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714232" y="31821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提交前校验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8714232" y="3593592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缺少必要上下文时先补齐，不把猜测交给模型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8458200" y="4425696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458200" y="4425696"/>
            <a:ext cx="73152" cy="118872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714232" y="46085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生成版本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8714232" y="5020056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提交后形成不可静默覆盖的内容版本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页面 3｜智能审核工作台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左侧原文、右侧风险，点击任一侧都能定位到另一侧。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30352" y="1508760"/>
            <a:ext cx="8503920" cy="4224528"/>
          </a:xfrm>
          <a:prstGeom prst="roundRect">
            <a:avLst>
              <a:gd name="adj" fmla="val 1082"/>
            </a:avLst>
          </a:prstGeom>
          <a:solidFill>
            <a:srgbClr val="F4F7F8"/>
          </a:solidFill>
          <a:ln w="10160">
            <a:solidFill>
              <a:srgbClr val="6C899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0352" y="1508760"/>
            <a:ext cx="8503920" cy="384048"/>
          </a:xfrm>
          <a:prstGeom prst="rect">
            <a:avLst/>
          </a:prstGeom>
          <a:solidFill>
            <a:srgbClr val="DDE7EA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" y="1636776"/>
            <a:ext cx="91440" cy="91440"/>
          </a:xfrm>
          <a:prstGeom prst="ellipse">
            <a:avLst/>
          </a:prstGeom>
          <a:solidFill>
            <a:srgbClr val="F27867"/>
          </a:solidFill>
          <a:ln w="12700">
            <a:solidFill>
              <a:srgbClr val="F2786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1636776"/>
            <a:ext cx="91440" cy="91440"/>
          </a:xfrm>
          <a:prstGeom prst="ellipse">
            <a:avLst/>
          </a:prstGeom>
          <a:solidFill>
            <a:srgbClr val="F5C85B"/>
          </a:solidFill>
          <a:ln w="12700">
            <a:solidFill>
              <a:srgbClr val="F5C8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69848" y="1636776"/>
            <a:ext cx="91440" cy="91440"/>
          </a:xfrm>
          <a:prstGeom prst="ellipse">
            <a:avLst/>
          </a:prstGeom>
          <a:solidFill>
            <a:srgbClr val="55C6A4"/>
          </a:solidFill>
          <a:ln w="12700">
            <a:solidFill>
              <a:srgbClr val="55C6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70432" y="1618488"/>
            <a:ext cx="7223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505A"/>
                </a:solidFill>
              </a:rPr>
              <a:t>任务 MKT-0108 · 审核工作台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41248" y="21122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5C44"/>
                </a:solidFill>
              </a:rPr>
              <a:t>机器预审：退回修改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788920" y="21122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2717B"/>
                </a:solidFill>
              </a:rPr>
              <a:t>高 3  ·  中 1  ·  规则 v1.4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804672" y="2487168"/>
            <a:ext cx="4754880" cy="2761488"/>
          </a:xfrm>
          <a:prstGeom prst="roundRect">
            <a:avLst>
              <a:gd name="adj" fmla="val 993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78992" y="2816352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94953"/>
                </a:solidFill>
              </a:rPr>
              <a:t>全网最值得买的胶原蛋白饮，7 天彻底改善熬夜暗沉，100% 有效。连续三年销量第一，三甲医院专家一致推荐。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42416" y="2734056"/>
            <a:ext cx="1188720" cy="219456"/>
          </a:xfrm>
          <a:prstGeom prst="rect">
            <a:avLst/>
          </a:prstGeom>
          <a:solidFill>
            <a:srgbClr val="FFF1C7">
              <a:alpha val="90000"/>
            </a:srgbClr>
          </a:solidFill>
          <a:ln w="12700">
            <a:solidFill>
              <a:srgbClr val="D7A43E">
                <a:alpha val="6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871216" y="3099816"/>
            <a:ext cx="1920240" cy="219456"/>
          </a:xfrm>
          <a:prstGeom prst="rect">
            <a:avLst/>
          </a:prstGeom>
          <a:solidFill>
            <a:srgbClr val="FFE1D9">
              <a:alpha val="90000"/>
            </a:srgbClr>
          </a:solidFill>
          <a:ln w="12700">
            <a:solidFill>
              <a:srgbClr val="E4775D">
                <a:alpha val="65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4128" y="3730752"/>
            <a:ext cx="1965960" cy="219456"/>
          </a:xfrm>
          <a:prstGeom prst="rect">
            <a:avLst/>
          </a:prstGeom>
          <a:solidFill>
            <a:srgbClr val="FFF1C7">
              <a:alpha val="90000"/>
            </a:srgbClr>
          </a:solidFill>
          <a:ln w="12700">
            <a:solidFill>
              <a:srgbClr val="D7A43E">
                <a:alpha val="6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06440" y="2487168"/>
            <a:ext cx="2834640" cy="713232"/>
          </a:xfrm>
          <a:prstGeom prst="roundRect">
            <a:avLst>
              <a:gd name="adj" fmla="val 3846"/>
            </a:avLst>
          </a:prstGeom>
          <a:solidFill>
            <a:srgbClr val="FFF0EB"/>
          </a:solidFill>
          <a:ln w="7620">
            <a:solidFill>
              <a:srgbClr val="E4775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9320" y="263347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85F47"/>
                </a:solidFill>
              </a:rPr>
              <a:t>高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400800" y="2615184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94953"/>
                </a:solidFill>
              </a:rPr>
              <a:t>保证性与功效表达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6400800" y="2871216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2717B"/>
                </a:solidFill>
              </a:rPr>
              <a:t>删除确定性承诺</a:t>
            </a:r>
            <a:endParaRPr lang="en-US" sz="640" dirty="0"/>
          </a:p>
        </p:txBody>
      </p:sp>
      <p:sp>
        <p:nvSpPr>
          <p:cNvPr id="30" name="Shape 27"/>
          <p:cNvSpPr/>
          <p:nvPr/>
        </p:nvSpPr>
        <p:spPr>
          <a:xfrm>
            <a:off x="5806440" y="3383280"/>
            <a:ext cx="2834640" cy="713232"/>
          </a:xfrm>
          <a:prstGeom prst="roundRect">
            <a:avLst>
              <a:gd name="adj" fmla="val 3846"/>
            </a:avLst>
          </a:prstGeom>
          <a:solidFill>
            <a:srgbClr val="F6FAFB"/>
          </a:solidFill>
          <a:ln w="7620">
            <a:solidFill>
              <a:srgbClr val="C3D2D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89320" y="352958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85F47"/>
                </a:solidFill>
              </a:rPr>
              <a:t>高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400800" y="3511296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94953"/>
                </a:solidFill>
              </a:rPr>
              <a:t>禁限表达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6400800" y="3767328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2717B"/>
                </a:solidFill>
              </a:rPr>
              <a:t>改为可验证描述</a:t>
            </a:r>
            <a:endParaRPr lang="en-US" sz="640" dirty="0"/>
          </a:p>
        </p:txBody>
      </p:sp>
      <p:sp>
        <p:nvSpPr>
          <p:cNvPr id="34" name="Shape 31"/>
          <p:cNvSpPr/>
          <p:nvPr/>
        </p:nvSpPr>
        <p:spPr>
          <a:xfrm>
            <a:off x="5806440" y="4279392"/>
            <a:ext cx="2834640" cy="713232"/>
          </a:xfrm>
          <a:prstGeom prst="roundRect">
            <a:avLst>
              <a:gd name="adj" fmla="val 3846"/>
            </a:avLst>
          </a:prstGeom>
          <a:solidFill>
            <a:srgbClr val="F6FAFB"/>
          </a:solidFill>
          <a:ln w="7620">
            <a:solidFill>
              <a:srgbClr val="C3D2D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9320" y="442569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85F47"/>
                </a:solidFill>
              </a:rPr>
              <a:t>中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400800" y="440740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94953"/>
                </a:solidFill>
              </a:rPr>
              <a:t>来源与范围缺失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6400800" y="466344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2717B"/>
                </a:solidFill>
              </a:rPr>
              <a:t>补充时间、范围和来源</a:t>
            </a:r>
            <a:endParaRPr lang="en-US" sz="640" dirty="0"/>
          </a:p>
        </p:txBody>
      </p:sp>
      <p:sp>
        <p:nvSpPr>
          <p:cNvPr id="38" name="Shape 35"/>
          <p:cNvSpPr/>
          <p:nvPr/>
        </p:nvSpPr>
        <p:spPr>
          <a:xfrm>
            <a:off x="9326880" y="1508760"/>
            <a:ext cx="2331720" cy="1207008"/>
          </a:xfrm>
          <a:prstGeom prst="roundRect">
            <a:avLst>
              <a:gd name="adj" fmla="val 454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326880" y="1508760"/>
            <a:ext cx="73152" cy="120700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582912" y="16916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双向定位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9582912" y="2103120"/>
            <a:ext cx="1874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BC2"/>
                </a:solidFill>
              </a:rPr>
              <a:t>点问题 → 高亮原文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BC2"/>
                </a:solidFill>
              </a:rPr>
              <a:t>点原文 → 定位问题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9326880" y="2926080"/>
            <a:ext cx="2331720" cy="1207008"/>
          </a:xfrm>
          <a:prstGeom prst="roundRect">
            <a:avLst>
              <a:gd name="adj" fmla="val 454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326880" y="2926080"/>
            <a:ext cx="73152" cy="120700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582912" y="31089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内容变化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9582912" y="3520440"/>
            <a:ext cx="1874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BC2"/>
                </a:solidFill>
              </a:rPr>
              <a:t>正文修改后提示：需要重新审核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9326880" y="4343400"/>
            <a:ext cx="2331720" cy="1389888"/>
          </a:xfrm>
          <a:prstGeom prst="roundRect">
            <a:avLst>
              <a:gd name="adj" fmla="val 394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326880" y="4343400"/>
            <a:ext cx="73152" cy="1389888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582912" y="45262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建议不静默覆盖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9582912" y="4937760"/>
            <a:ext cx="1874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BC2"/>
                </a:solidFill>
              </a:rPr>
              <a:t>可以复制或带入编辑区，但保留用户确认</a:t>
            </a:r>
            <a:endParaRPr lang="en-US" sz="10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页面 4｜人工复核页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审核员需要看到机器如何判断，也需要能调整并留下原因。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1572768"/>
            <a:ext cx="7498080" cy="4069080"/>
          </a:xfrm>
          <a:prstGeom prst="roundRect">
            <a:avLst>
              <a:gd name="adj" fmla="val 1124"/>
            </a:avLst>
          </a:prstGeom>
          <a:solidFill>
            <a:srgbClr val="F4F7F8"/>
          </a:solidFill>
          <a:ln w="10160">
            <a:solidFill>
              <a:srgbClr val="6C899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572768"/>
            <a:ext cx="7498080" cy="384048"/>
          </a:xfrm>
          <a:prstGeom prst="rect">
            <a:avLst/>
          </a:prstGeom>
          <a:solidFill>
            <a:srgbClr val="DDE7EA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1700784"/>
            <a:ext cx="91440" cy="91440"/>
          </a:xfrm>
          <a:prstGeom prst="ellipse">
            <a:avLst/>
          </a:prstGeom>
          <a:solidFill>
            <a:srgbClr val="F27867"/>
          </a:solidFill>
          <a:ln w="12700">
            <a:solidFill>
              <a:srgbClr val="F2786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96696" y="1700784"/>
            <a:ext cx="91440" cy="91440"/>
          </a:xfrm>
          <a:prstGeom prst="ellipse">
            <a:avLst/>
          </a:prstGeom>
          <a:solidFill>
            <a:srgbClr val="F5C85B"/>
          </a:solidFill>
          <a:ln w="12700">
            <a:solidFill>
              <a:srgbClr val="F5C8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97864" y="1700784"/>
            <a:ext cx="91440" cy="91440"/>
          </a:xfrm>
          <a:prstGeom prst="ellipse">
            <a:avLst/>
          </a:prstGeom>
          <a:solidFill>
            <a:srgbClr val="55C6A4"/>
          </a:solidFill>
          <a:ln w="12700">
            <a:solidFill>
              <a:srgbClr val="55C6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98448" y="1682496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505A"/>
                </a:solidFill>
              </a:rPr>
              <a:t>待复核任务 MKT-0108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932688" y="2267712"/>
            <a:ext cx="3154680" cy="260604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252374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4953"/>
                </a:solidFill>
              </a:rPr>
              <a:t>原文与业务上下文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70432" y="286207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717B"/>
                </a:solidFill>
              </a:rPr>
              <a:t>场景：活动页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717B"/>
                </a:solidFill>
              </a:rPr>
              <a:t>商品：胶原蛋白饮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717B"/>
                </a:solidFill>
              </a:rPr>
              <a:t>渠道：自有商城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717B"/>
                </a:solidFill>
              </a:rPr>
              <a:t>当前版本：V2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717B"/>
                </a:solidFill>
              </a:rPr>
              <a:t>相关材料：销量报告、授权文件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315968" y="2267712"/>
            <a:ext cx="3429000" cy="260604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252374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4953"/>
                </a:solidFill>
              </a:rPr>
              <a:t>机器结果与人工处理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599432" y="2953512"/>
            <a:ext cx="1207008" cy="365760"/>
          </a:xfrm>
          <a:prstGeom prst="roundRect">
            <a:avLst>
              <a:gd name="adj" fmla="val 7500"/>
            </a:avLst>
          </a:prstGeom>
          <a:solidFill>
            <a:srgbClr val="E8EEF0"/>
          </a:solidFill>
          <a:ln w="12700">
            <a:solidFill>
              <a:srgbClr val="C3D2D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0" y="307238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505A"/>
                </a:solidFill>
              </a:rPr>
              <a:t>通过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6016752" y="2953512"/>
            <a:ext cx="1207008" cy="365760"/>
          </a:xfrm>
          <a:prstGeom prst="roundRect">
            <a:avLst>
              <a:gd name="adj" fmla="val 7500"/>
            </a:avLst>
          </a:prstGeom>
          <a:solidFill>
            <a:srgbClr val="E66B50"/>
          </a:solidFill>
          <a:ln w="12700">
            <a:solidFill>
              <a:srgbClr val="E66B5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72200" y="307238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驳回修改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599432" y="3611880"/>
            <a:ext cx="1207008" cy="365760"/>
          </a:xfrm>
          <a:prstGeom prst="roundRect">
            <a:avLst>
              <a:gd name="adj" fmla="val 7500"/>
            </a:avLst>
          </a:prstGeom>
          <a:solidFill>
            <a:srgbClr val="E8EEF0"/>
          </a:solidFill>
          <a:ln w="12700">
            <a:solidFill>
              <a:srgbClr val="C3D2D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3730752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505A"/>
                </a:solidFill>
              </a:rPr>
              <a:t>调整结果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6016752" y="3611880"/>
            <a:ext cx="1207008" cy="365760"/>
          </a:xfrm>
          <a:prstGeom prst="roundRect">
            <a:avLst>
              <a:gd name="adj" fmla="val 7500"/>
            </a:avLst>
          </a:prstGeom>
          <a:solidFill>
            <a:srgbClr val="E8EEF0"/>
          </a:solidFill>
          <a:ln w="12700">
            <a:solidFill>
              <a:srgbClr val="C3D2D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72200" y="3730752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505A"/>
                </a:solidFill>
              </a:rPr>
              <a:t>升级处理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599432" y="4315968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2717B"/>
                </a:solidFill>
              </a:rPr>
              <a:t>调整原因 *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5413248" y="4224528"/>
            <a:ext cx="187452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458200" y="1572768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458200" y="1572768"/>
            <a:ext cx="73152" cy="118872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714232" y="1755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审核员多看什么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8714232" y="216712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机器原始结果、业务资料、规则信息、历史修改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458200" y="2999232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458200" y="2999232"/>
            <a:ext cx="73152" cy="118872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714232" y="31821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审核员能做什么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8714232" y="3593592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通过、驳回、调整、补充意见、升级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458200" y="4425696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458200" y="4425696"/>
            <a:ext cx="73152" cy="118872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714232" y="46085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为什么记录原因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8714232" y="5020056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用于规则优化、问题归类和回归测试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作品集里，页面要放在流程后面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先说明为什么这样设计，再展示页面形式，产品判断才有说服力。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2331720"/>
            <a:ext cx="1901952" cy="1463040"/>
          </a:xfrm>
          <a:prstGeom prst="roundRect">
            <a:avLst>
              <a:gd name="adj" fmla="val 3750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249631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业务流程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8096" y="2788920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说明设计原因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578608" y="3063240"/>
            <a:ext cx="30175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944368" y="2331720"/>
            <a:ext cx="1901952" cy="1463040"/>
          </a:xfrm>
          <a:prstGeom prst="roundRect">
            <a:avLst>
              <a:gd name="adj" fmla="val 3750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54096" y="249631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产品主流程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054096" y="2788920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说明设计原因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64608" y="3063240"/>
            <a:ext cx="30175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230368" y="2331720"/>
            <a:ext cx="1901952" cy="1463040"/>
          </a:xfrm>
          <a:prstGeom prst="roundRect">
            <a:avLst>
              <a:gd name="adj" fmla="val 3750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40096" y="249631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任务状态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40096" y="2788920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说明设计原因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150608" y="3063240"/>
            <a:ext cx="30175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516368" y="2331720"/>
            <a:ext cx="1901952" cy="1463040"/>
          </a:xfrm>
          <a:prstGeom prst="roundRect">
            <a:avLst>
              <a:gd name="adj" fmla="val 3750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26096" y="249631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核心页面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626096" y="2788920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页面形式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436608" y="3063240"/>
            <a:ext cx="30175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802368" y="2331720"/>
            <a:ext cx="1901952" cy="1463040"/>
          </a:xfrm>
          <a:prstGeom prst="roundRect">
            <a:avLst>
              <a:gd name="adj" fmla="val 3750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912096" y="249631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完整案例流转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912096" y="2788920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说明设计原因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2148840" y="4498848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BE7DC"/>
                </a:solidFill>
              </a:rPr>
              <a:t>页面不是孤立作品，而是前面所有判断的可视化结果。</a:t>
            </a:r>
            <a:endParaRPr lang="en-US" sz="1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五节_核心页面原型/01_审核任务列表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五节_核心页面原型/02_内容提交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五节_核心页面原型/03_智能审核工作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五节_核心页面原型/04_人工复核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94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7D3C1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3200400" y="950976"/>
            <a:ext cx="0" cy="475488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3320" y="13898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BFC"/>
                </a:solidFill>
              </a:rPr>
              <a:t>评测、坏案例与项目包装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730752" y="265176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BBC2"/>
                </a:solidFill>
              </a:rPr>
              <a:t>用样本和真实失败推动迭代，并把项目整理成可追问的作品集。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30752" y="4160520"/>
            <a:ext cx="2057400" cy="438912"/>
          </a:xfrm>
          <a:prstGeom prst="roundRect">
            <a:avLst>
              <a:gd name="adj" fmla="val 10417"/>
            </a:avLst>
          </a:prstGeom>
          <a:solidFill>
            <a:srgbClr val="103641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429768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7DC"/>
                </a:solidFill>
              </a:rPr>
              <a:t>15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 · SECTION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先建立一套可用的评测样本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没有统一标注的样本，就无法知道系统真的变好还是只是“看起来不错”。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5800" y="1627632"/>
            <a:ext cx="3703320" cy="4005072"/>
          </a:xfrm>
          <a:prstGeom prst="roundRect">
            <a:avLst>
              <a:gd name="adj" fmla="val 1481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627632"/>
            <a:ext cx="73152" cy="400507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18105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样本来源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1832" y="2221992"/>
            <a:ext cx="32461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脱敏历史内容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审核员典型案例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规则边界样本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已上线内容抽检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800600" y="1627632"/>
            <a:ext cx="2944368" cy="960120"/>
          </a:xfrm>
          <a:prstGeom prst="roundRect">
            <a:avLst>
              <a:gd name="adj" fmla="val 571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0600" y="1627632"/>
            <a:ext cx="73152" cy="96012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56632" y="18105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内容与场景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56632" y="222199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046720" y="1627632"/>
            <a:ext cx="2944368" cy="960120"/>
          </a:xfrm>
          <a:prstGeom prst="roundRect">
            <a:avLst>
              <a:gd name="adj" fmla="val 571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0" y="1627632"/>
            <a:ext cx="73152" cy="96012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02752" y="18105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必要上下文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302752" y="222199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800600" y="2907792"/>
            <a:ext cx="2944368" cy="960120"/>
          </a:xfrm>
          <a:prstGeom prst="roundRect">
            <a:avLst>
              <a:gd name="adj" fmla="val 571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00600" y="2907792"/>
            <a:ext cx="73152" cy="96012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56632" y="30906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问题位置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056632" y="350215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046720" y="2907792"/>
            <a:ext cx="2944368" cy="960120"/>
          </a:xfrm>
          <a:prstGeom prst="roundRect">
            <a:avLst>
              <a:gd name="adj" fmla="val 571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46720" y="2907792"/>
            <a:ext cx="73152" cy="96012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02752" y="30906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问题类型与等级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8302752" y="350215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800600" y="4187952"/>
            <a:ext cx="2944368" cy="960120"/>
          </a:xfrm>
          <a:prstGeom prst="roundRect">
            <a:avLst>
              <a:gd name="adj" fmla="val 571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00600" y="4187952"/>
            <a:ext cx="73152" cy="96012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56632" y="43708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期望动作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056632" y="478231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8046720" y="4187952"/>
            <a:ext cx="2944368" cy="960120"/>
          </a:xfrm>
          <a:prstGeom prst="roundRect">
            <a:avLst>
              <a:gd name="adj" fmla="val 571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46720" y="4187952"/>
            <a:ext cx="73152" cy="96012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302752" y="43708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标注人及规则版本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8302752" y="478231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指标要覆盖效果、稳定和业务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总准确率不够；高风险漏检和人工接管同样重要。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5800" y="1664208"/>
            <a:ext cx="2578608" cy="3520440"/>
          </a:xfrm>
          <a:prstGeom prst="roundRect">
            <a:avLst>
              <a:gd name="adj" fmla="val 2128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664208"/>
            <a:ext cx="73152" cy="352044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18470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识别效果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1832" y="2258568"/>
            <a:ext cx="212140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按问题类型看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准确率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召回率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F1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3456432" y="1664208"/>
            <a:ext cx="2578608" cy="3520440"/>
          </a:xfrm>
          <a:prstGeom prst="roundRect">
            <a:avLst>
              <a:gd name="adj" fmla="val 2128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56432" y="1664208"/>
            <a:ext cx="73152" cy="352044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12464" y="18470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工程稳定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712464" y="2258568"/>
            <a:ext cx="212140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结构化输出成功率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超时率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依赖失败率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6227064" y="1664208"/>
            <a:ext cx="2578608" cy="3520440"/>
          </a:xfrm>
          <a:prstGeom prst="roundRect">
            <a:avLst>
              <a:gd name="adj" fmla="val 2128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27064" y="1664208"/>
            <a:ext cx="73152" cy="3520440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83096" y="18470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业务处理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83096" y="2258568"/>
            <a:ext cx="212140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人工复核比例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平均处理时长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一次修改通过率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8997696" y="1664208"/>
            <a:ext cx="2578608" cy="3520440"/>
          </a:xfrm>
          <a:prstGeom prst="roundRect">
            <a:avLst>
              <a:gd name="adj" fmla="val 2128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97696" y="1664208"/>
            <a:ext cx="73152" cy="352044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53728" y="18470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高风险表现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253728" y="2258568"/>
            <a:ext cx="212140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严重漏检数量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人工调整比例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高风险响应时间</a:t>
            </a:r>
            <a:endParaRPr lang="en-US" sz="14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三个坏案例，比一张高分截图更有价值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坏案例必须落到具体修改动作，并进入回归测试。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5800" y="1627632"/>
            <a:ext cx="3456432" cy="4069080"/>
          </a:xfrm>
          <a:prstGeom prst="roundRect">
            <a:avLst>
              <a:gd name="adj" fmla="val 158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627632"/>
            <a:ext cx="73152" cy="406908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18105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01 否定句误报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1832" y="2221992"/>
            <a:ext cx="299923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输入：不承诺100%有效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原因：关键词直接定性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改进：语义确认＋否定句样本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370832" y="1627632"/>
            <a:ext cx="3456432" cy="4069080"/>
          </a:xfrm>
          <a:prstGeom prst="roundRect">
            <a:avLst>
              <a:gd name="adj" fmla="val 158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70832" y="1627632"/>
            <a:ext cx="73152" cy="406908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26864" y="18105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02 上下文不足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26864" y="2221992"/>
            <a:ext cx="299923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输入：连续三年销量第一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原因：缺报告仍强行判断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改进：补材料或转人工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055864" y="1627632"/>
            <a:ext cx="3456432" cy="4069080"/>
          </a:xfrm>
          <a:prstGeom prst="roundRect">
            <a:avLst>
              <a:gd name="adj" fmla="val 158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55864" y="1627632"/>
            <a:ext cx="73152" cy="406908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11896" y="18105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03 重复展示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11896" y="2221992"/>
            <a:ext cx="299923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输入：全网第一，排名第一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原因：多能力重复命中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改进：按位置和类型合并</a:t>
            </a:r>
            <a:endParaRPr lang="en-US" sz="13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迭代闭环：从线上问题回到规则版本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每次修改都要经过归类、改动、回归和发布，而不是直接线上试错。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005840" y="182880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199339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线上任务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5568" y="2286000"/>
            <a:ext cx="1929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真实输入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57600" y="141732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67328" y="158191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人机结果对比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67328" y="1874520"/>
            <a:ext cx="1929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发现差异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446520" y="141732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56248" y="158191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问题归类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56248" y="1874520"/>
            <a:ext cx="1929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误报／漏报／分级／定位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006840" y="182880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16568" y="199339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决定修改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16568" y="2286000"/>
            <a:ext cx="1929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规则／提示／资料／交互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537960" y="406908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47688" y="423367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回归测试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647688" y="4526280"/>
            <a:ext cx="1929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旧问题不能复发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520440" y="406908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30168" y="423367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发布新版本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630168" y="4526280"/>
            <a:ext cx="1929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记录适用范围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182112" y="2359152"/>
            <a:ext cx="365760" cy="-41148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5833872" y="1947672"/>
            <a:ext cx="50292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622792" y="1947672"/>
            <a:ext cx="274320" cy="41148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11183112" y="2359152"/>
            <a:ext cx="-4754880" cy="224028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714232" y="4599432"/>
            <a:ext cx="-530352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3429000" y="4608576"/>
            <a:ext cx="-1783080" cy="-1545336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作品集用七部分讲清项目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专业性来自前后判断能对应，而不是页面数量。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94360" y="214884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248716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1520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业务背景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221992" y="214884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15184" y="248716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359152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项目边界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849624" y="214884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48716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986784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方案选择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77256" y="214884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103641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70448" y="248716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614416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产品设计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104888" y="214884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0" y="248716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242048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AI设计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732520" y="214884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25712" y="248716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869680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测试迭代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360152" y="214884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753344" y="248716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497312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项目复盘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554480" y="4709160"/>
            <a:ext cx="9098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E7DC"/>
                </a:solidFill>
              </a:rPr>
              <a:t>每一页都回答：为什么这样做？它解决了哪个流程问题？如何验证？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六节_评测与项目包装/01_智能审核评测与迭代闭环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六节_评测与项目包装/02_坏案例分析与问题定位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ivn/Project/AI-Course/课程生产/第二阶段/04_第四课_AI营销内容智能审核/01_讲义与材料/配图/第六节_评测与项目包装/03_作品集项目叙事结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面试时的一分钟讲法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先讲问题和边界，再讲方案、产品闭环与验证，不从模型名称开始。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22960" y="1664208"/>
            <a:ext cx="10533888" cy="3977640"/>
          </a:xfrm>
          <a:prstGeom prst="roundRect">
            <a:avLst>
              <a:gd name="adj" fmla="val 1609"/>
            </a:avLst>
          </a:prstGeom>
          <a:solidFill>
            <a:srgbClr val="0B2932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4440" y="2157984"/>
            <a:ext cx="9710928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7FBFC"/>
                </a:solidFill>
              </a:rPr>
              <a:t>我做的是一个面向电商营销文本的智能审核平台。原流程依赖人工逐篇检查，高峰期等待时间长，审核口径也不够稳定。第一版我限定商品详情页与活动文案两个场景，采用确定性规则、大模型语义判断、业务资料核对和人工复核的混合流程。产品核心不是返回一段 AI 结论，而是把每个问题定位到原文，给出类型、等级和处理动作，并支持修改后重审与人工接管。评测除了准确率和召回率，也会关注高风险漏检、人工复核比例和处理时长，再通过坏案例持续更新规则和测试集。</a:t>
            </a:r>
            <a:endParaRPr lang="en-US" sz="17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课后作业｜完成一个项目包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作业重点不是做完整系统，而是让六份材料前后对应。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13232" y="1572768"/>
            <a:ext cx="6400800" cy="4133088"/>
          </a:xfrm>
          <a:prstGeom prst="roundRect">
            <a:avLst>
              <a:gd name="adj" fmla="val 132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1572768"/>
            <a:ext cx="73152" cy="413308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17556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必做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9264" y="2167128"/>
            <a:ext cx="594360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1. 一页业务现状与项目边界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2. 一张混合审核主流程图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3. 三条原子规则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4. 一张智能审核工作台原型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5. 十条测试样本，至少三条边界样本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6. 一页坏案例与改进方案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360920" y="1572768"/>
            <a:ext cx="4133088" cy="4133088"/>
          </a:xfrm>
          <a:prstGeom prst="roundRect">
            <a:avLst>
              <a:gd name="adj" fmla="val 132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60920" y="1572768"/>
            <a:ext cx="73152" cy="413308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16952" y="1755648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进阶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616952" y="2167128"/>
            <a:ext cx="3675888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迁移到一个新行业：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招聘信息审核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教育宣传审核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金融营销材料审核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必须重新定义角色、场景、规则分类、必要上下文和人工接管条件。</a:t>
            </a:r>
            <a:endParaRPr lang="en-US" sz="13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7D3C1"/>
                </a:solidFill>
              </a:rPr>
              <a:t>PROJECT COMPLETE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29844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BFC"/>
                </a:solidFill>
              </a:rPr>
              <a:t>最后记住三句话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24414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44752" y="2578608"/>
            <a:ext cx="658368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2331720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BFC"/>
                </a:solidFill>
              </a:rPr>
              <a:t>智能审核不是一个模型调用，而是一条有人机分工的业务流程。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34930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44752" y="3630168"/>
            <a:ext cx="658368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3383280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BFC"/>
                </a:solidFill>
              </a:rPr>
              <a:t>规则、模型、业务资料和人工各自负责不同问题。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45445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44752" y="4681728"/>
            <a:ext cx="658368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4434840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BFC"/>
                </a:solidFill>
              </a:rPr>
              <a:t>可落地项目必须讲清输入、判断、处理、复核、失败和迭代。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" y="58155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E7DC"/>
                </a:solidFill>
              </a:rPr>
              <a:t>下一步：把课堂方案做成你的项目材料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AI产品经理课程 · 第二阶段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AI-Course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第四课｜AI营销内容智能审核项目实战</dc:title>
  <dc:subject>AI营销内容智能审核项目实战</dc:subject>
  <dc:creator>AI 产品经理课程</dc:creator>
  <cp:lastModifiedBy>AI 产品经理课程</cp:lastModifiedBy>
  <cp:revision>1</cp:revision>
  <dcterms:created xsi:type="dcterms:W3CDTF">2026-10-12T10:15:27Z</dcterms:created>
  <dcterms:modified xsi:type="dcterms:W3CDTF">2026-10-12T10:15:27Z</dcterms:modified>
</cp:coreProperties>
</file>