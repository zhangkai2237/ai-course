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本课按第四节、第五节和第七节重新组合。前两节保持营销审核项目主线，第七节通过五个完整案例讲方法迁移，不安排分组练习。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先把审核要求定义清楚，再选择执行能力，最后到其他业务中重新走一遍产品判断。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让学员先说需要追问什么，再归纳为对象、依据、结果和失败。不要在开场讨论模型型号。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第四节只解决查什么。暂时不决定使用规则还是模型。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用商品功能、价格、赠品三个追问说明：人能凭经验理解的要求，系统需要更明确的任务定义。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依次解释检查对象、适用条件、业务依据、判断方式、例外分支、处理动作。六项缺一都会产生不同理解。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分类帮助看到首版范围，但分类不是可执行规则。强调材料中有某项内容，不等于每篇文案都要写。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原句是65℃热水直接拖地。逐项说明本审核点如何定义，不讨论技术实现。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逐行比较正常、问题、待确认和不适用。只有错误句会让团队把规则理解得过窄。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2399减400再减200等于1799 元，只完成金额路径。还要核对人群、两类券和表达范围。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比较人人同价、领券1799元、完整限定条件三种表达。说明完整句式只是课堂示例，不是唯一模板。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初始前200名规则不能证明当前仍有名额。巡检时还需要权益变化、受影响范围和内容使用状态。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审核要求可以复用，但自检、正式审核和巡检的输入不同。巡检多出变化事件和使用状态。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逐项说明状态和下一步，尤其区分业务未发现问题与技术执行未完成。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解释每种状态都需要对应样本，测试的不只是模型回答，也包括材料版本、适用性和后续处理。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用三张卡回看六个要素和六类结果。下一节不再讨论查什么，而讨论怎样查。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休息十分钟。提醒学员回来后先回答屏幕上的问题。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第五节从审核要求进入执行方式。组合方案是候选，不是预设答案。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第四节定义查什么，第五节定义怎样查。一个审核点可以拆给多种能力共同完成。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分别讲程序、模型、业务材料和人工。业务材料不是工具，却决定判断是否有依据。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按本案比较材料清单、程序为主、模型为主和组合方案。强调简单办法若足够，就不必堆叠能力。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用输入结构、稳定性、维护成本、纠错成本和责任要求判断每项任务适合什么能力。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沿65℃案例走完整条能力链。指出只搜索数字会同时命中文案与材料，却不能判断对象一致。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程序计算优惠路径，模型理解资格与条件关系，人工处理活动解释。两路结果合并，而不是互相覆盖。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沿名额用完事件讲分工。首版不让模型猜剩余名额，也不凭关键词自动下架。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横向比较三张审核点卡，帮助学员看到同一能力在不同任务中的位置。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每一步都要明确输入、输出、校验和失败去向。用五段链说明结果怎样进入人工处理。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强调未知就是未知。系统应当暴露缺口并交给明确角色，而不是选择更肯定的说法。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金额成立与条件缺失可以同时成立；只有对同一事实的判断不同才是真冲突。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超时、文件读取失败、引用校验失败和结果不可用都不是未发现问题。展示状态分流。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列出本项目应验证的六项表现。最后回到人工总投入：模型更强不代表流程更省力。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用四句话收束：规则确定动作，模型理解表达，材料提供事实，人工承担确认和处置。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休息十分钟。第三部分全部由教师讲解，不组织分组练习。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第三部分用合同作为母案例，再连续展开四个新业务。强调重新完成业务分析，而不是替换页面名。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项目边界是常规业务合同的初步检查、定位和修改建议；复杂争议和最终决定仍由专业人员负责。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这一页不谈模型。先还原主体、条款、引用、履约和周边风险五类人工任务。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业务需要问题条款、类型、原因、影响、建议和待确认项，因此输入不能只有合同正文。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验证重点不是文字流畅，而是定位、明显矛盾、建议可理解、不过度提示、不编造以及知道何时停下。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并行不是为了复杂，而是让每条路线目标、输入和结果都可单独检查。最后由法务确认。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30天交付在条款上可能正常，结合产能、物料和历史履约后可能暴露真实风险。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这是全课峰值页。按定义、构建、落地三组讲十一项，不要求学员当场练习。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完整讲解客服质检。强调产品完成点是整改闭环，不是给会话打一个分。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完整讲解招聘信息审核。强调岗位是否真实、薪酬是否批准必须来自企业内部事实。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完整讲解报销审核。强调发票真实不等于报销成立，首版不自动付款。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完整讲解金融营销材料审核。本案例只讲产品设计，不给出具体专业结论。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横向比较被判断对象、关键材料、人工角色和企业连接价值。强调这些不是练习选项。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用八步路线收束五个案例。指出变化的是对象、事实、角色与边界，不变的是产品方法。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最后回扣三节关系。AI可以快速生成页面和方案草稿，但产品经理的专业性来自任务定义、能力边界、异常承接和跨业务重新判断。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4645152"/>
          </a:xfrm>
          <a:prstGeom prst="rect">
            <a:avLst/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45720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26B63"/>
                </a:solidFill>
                <a:latin typeface="Noto Sans CJK SC"/>
                <a:ea typeface="Noto Sans CJK SC"/>
              </a:rPr>
              <a:t>第二阶段 · 项目二 · 第二次课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7863840" cy="10972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02F30"/>
                </a:solidFill>
                <a:latin typeface="Noto Sans CJK SC"/>
                <a:ea typeface="Noto Sans CJK SC"/>
              </a:rPr>
              <a:t>审核体系、方案选择
与多场景迁移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633472"/>
            <a:ext cx="71323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17673"/>
                </a:solidFill>
                <a:latin typeface="Noto Sans CJK SC"/>
                <a:ea typeface="Noto Sans CJK SC"/>
              </a:rPr>
              <a:t>第四节 + 第五节 + 第七节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46704"/>
            <a:ext cx="2331720" cy="107899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" y="34838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347929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02152"/>
            <a:ext cx="16367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931920"/>
            <a:ext cx="2002536" cy="3657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把要求拆成审核点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3346704"/>
            <a:ext cx="23317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47872" y="34838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47929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3502152"/>
            <a:ext cx="16367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分工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931920"/>
            <a:ext cx="2002536" cy="3657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规则·模型·人工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3346704"/>
            <a:ext cx="2331720" cy="107899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4838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47929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3502152"/>
            <a:ext cx="16367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931920"/>
            <a:ext cx="2002536" cy="3657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五个业务案例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718304"/>
            <a:ext cx="36576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17673"/>
                </a:solidFill>
                <a:latin typeface="Noto Sans CJK SC"/>
                <a:ea typeface="Noto Sans CJK SC"/>
              </a:rPr>
              <a:t>180分钟 · 项目深化课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全课地图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今天只解决一条进阶路线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5087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664207"/>
            <a:ext cx="191109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第四节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93976"/>
            <a:ext cx="227685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审核点：究竟查什么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81528" y="203911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73552" y="15087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19856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1664207"/>
            <a:ext cx="191109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第五节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144" y="2093976"/>
            <a:ext cx="227685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方案选择：怎样查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16168" y="203911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08192" y="15087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54496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1" y="1664207"/>
            <a:ext cx="191109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第七节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3" y="2093976"/>
            <a:ext cx="227685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多场景：如何重新迁移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先定义任务，再选择能力；先理解业务，再迁移方法。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开场判断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“做一个AI审核”至少缺少四个答案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17320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72768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审核什么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02536"/>
            <a:ext cx="1517904" cy="15727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对象与适用条件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1417320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97480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9816" y="1572768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依据什么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2002536"/>
            <a:ext cx="1517904" cy="15727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当前有效材料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417320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09744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1572768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结果给谁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2002536"/>
            <a:ext cx="1517904" cy="15727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角色与下一步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5704" y="1417320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22008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2008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4344" y="1572768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失败怎么办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296" y="2002536"/>
            <a:ext cx="1517904" cy="15727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重试与人工承接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Noto Sans CJK SC"/>
                <a:ea typeface="Noto Sans CJK SC"/>
              </a:rPr>
              <a:t>笼统需求不能直接进入模型，也不能直接进入研发。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4389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Noto Sans CJK SC"/>
                <a:ea typeface="Noto Sans CJK SC"/>
              </a:rPr>
              <a:t>第二次课 / 第四节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411480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Noto Sans CJK SC"/>
                <a:ea typeface="Noto Sans CJK SC"/>
              </a:rPr>
              <a:t>审核体系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609344"/>
            <a:ext cx="3337560" cy="10058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Noto Sans CJK SC"/>
                <a:ea typeface="Noto Sans CJK SC"/>
              </a:rPr>
              <a:t>业务要求怎样变成
可执行的检查？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536192"/>
            <a:ext cx="13716" cy="1828800"/>
          </a:xfrm>
          <a:prstGeom prst="rect">
            <a:avLst/>
          </a:prstGeom>
          <a:solidFill>
            <a:srgbClr val="617673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5112" y="1673352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审核点的六个要素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2304288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三张核心审核点卡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935224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结果分类与处理动作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913632"/>
            <a:ext cx="8339327" cy="62179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50791"/>
            <a:ext cx="7936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FFFFFF"/>
                </a:solidFill>
                <a:latin typeface="Noto Sans CJK SC"/>
                <a:ea typeface="Noto Sans CJK SC"/>
              </a:rPr>
              <a:t>本节重点  ·  结果分类与处理动作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800600"/>
            <a:ext cx="27432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3DFDA"/>
                </a:solidFill>
                <a:latin typeface="Noto Sans CJK SC"/>
                <a:ea typeface="Noto Sans CJK SC"/>
              </a:rPr>
              <a:t>定义任务 → 选择能力 → 场景迁移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问题起点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“准确、完整、合规”为什么不能直接实现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1234440"/>
            <a:ext cx="2331720" cy="25786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389888"/>
            <a:ext cx="20025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商品功能准确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819656"/>
            <a:ext cx="2002536" cy="18653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数字描述什么对象？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全文语境是否改变含义？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材料冲突时听谁的？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45536" y="1234440"/>
            <a:ext cx="2331720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389888"/>
            <a:ext cx="20025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价格条件完整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819656"/>
            <a:ext cx="2002536" cy="18653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哪条优惠路径？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适用于哪些人？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条件是否必须在同一句？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5584" y="1234440"/>
            <a:ext cx="2331720" cy="25786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0176" y="1389888"/>
            <a:ext cx="20025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赠品权益有效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1819656"/>
            <a:ext cx="2002536" cy="18653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初始规则是什么？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当前还有名额吗？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哪些内容仍在使用？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经验判断必须拆成团队能够共同确认的检查任务。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核心结构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一条审核点由六个要素共同定义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8872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44168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检查对象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773936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查哪个主张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6976" y="118872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83280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5" y="1344168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适用条件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1773936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何时才执行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18872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1344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1344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344168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业务依据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1773936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使用哪份材料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2487168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5216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2642615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判断方式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3" y="3072384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怎样形成结论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36976" y="2487168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83280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5615" y="2642615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例外分支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1568" y="3072384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缺项冲突如何处理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2487168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79" y="2642615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处理动作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1" y="3072384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结果交给谁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审核点是业务、产品、研发、测试共同使用的工作单元。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范围地图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先用分类看范围，再向下拆成审核点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7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8912" y="1115568"/>
          <a:ext cx="8266176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4800600"/>
                <a:gridCol w="204825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类别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本案要回答的问题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主要负责人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商品事实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数值描述哪个功能对象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产品负责人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价格条件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金额怎样成立、适用于谁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活动负责人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赠品权益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条件与当前状态是否有效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活动负责人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承诺范围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表达是否超出材料支持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产品 / 履约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材料完整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缺项时哪些判断不能继续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提交人 / 负责人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首版只做选定任务，不把所有审核要求一次装进系统。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审核点卡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R01 · 温度与功能对象一致性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61288"/>
            <a:ext cx="2560320" cy="107899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2984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2938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16736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746504"/>
            <a:ext cx="2231136" cy="3657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温度描述哪个功能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6976" y="1161288"/>
            <a:ext cx="25603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83280" y="12984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2938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5" y="1316736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适用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1746504"/>
            <a:ext cx="2231136" cy="3657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出现温度与功能表达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161288"/>
            <a:ext cx="2560320" cy="107899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1344" y="12984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1344" y="12938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316736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1746504"/>
            <a:ext cx="2231136" cy="3657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文案、SKU 与商品资料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2496312"/>
            <a:ext cx="25603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5216" y="2633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2628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2651760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判断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3" y="3081528"/>
            <a:ext cx="2231136" cy="3657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理解对象后再比较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36976" y="2496312"/>
            <a:ext cx="2560320" cy="107899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83280" y="2633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2628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5615" y="2651760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例外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1568" y="3081528"/>
            <a:ext cx="2231136" cy="3657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无温度则不适用；对象不清待确认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2496312"/>
            <a:ext cx="25603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2633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2628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79" y="2651760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处理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1" y="3081528"/>
            <a:ext cx="2231136" cy="3657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作者改、产品确认、审核复核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不是检查数字是否出现，而是检查数字与功能对象是否一致。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样例设计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四类样例共同限定R01的边界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9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8912" y="1188720"/>
          <a:ext cx="8266176" cy="28346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88920"/>
                <a:gridCol w="1920240"/>
                <a:gridCol w="3557016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表达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结果状态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为什么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65℃热水直接拖地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与材料不一致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温度用于错误功能对象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基站支持65℃热水洗拖布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未发现该项问题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与当前商品资料一致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65℃热水深度清洁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待确认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对象不清，需要结合全文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基站支持热水洗拖布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本项不适用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没有温度数值表达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一条审核点至少准备正常、问题、不适用和待确认样例。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审核点卡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R02 · 价格数字成立，不代表文案成立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280160"/>
            <a:ext cx="813816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6B63"/>
                </a:solidFill>
                <a:latin typeface="Noto Sans CJK SC"/>
                <a:ea typeface="Noto Sans CJK SC"/>
              </a:rPr>
              <a:t>2399  −  400  −  200  ＝  1799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267712"/>
            <a:ext cx="2157984" cy="13533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4048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4003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2423160"/>
            <a:ext cx="14630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金额路径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852928"/>
            <a:ext cx="182880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程序可以核算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2152" y="2267712"/>
            <a:ext cx="2157984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48456" y="24048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4003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1" y="2423160"/>
            <a:ext cx="14630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资格条件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2852928"/>
            <a:ext cx="182880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新会员是否说明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2267712"/>
            <a:ext cx="2157984" cy="13533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24048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003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2423160"/>
            <a:ext cx="14630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表达范围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852928"/>
            <a:ext cx="182880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是否扩大为人人同价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价格审核同时包含计算问题和语义条件问题。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条件关系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三种价格表达，对应三种完整度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11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335024"/>
          <a:ext cx="8046720" cy="26334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46120"/>
                <a:gridCol w="480060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表达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主要问题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1799元，人人同价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缺资格与用券条件，并扩大适用范围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领券到手1799元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仍缺新会员资格与两类券条件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新会员使用两类指定券后1799元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主要条件已说明，仍需结合全文与有效活动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系统核对语义和条件关系，不强制作者复制固定句式。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审核点卡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R03 · 赠品审核多了一项“当前状态”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初始规则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前200名·每单一份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当前状态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名额是否已用完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影响范围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哪些内容仍在使用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处理动作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更新·说明·暂停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规则没有失效，但它可能已经不能支持“现在仍然赠送”。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复用与变化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同一审核点，在三个环节使用不同输入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13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8912" y="1298448"/>
          <a:ext cx="8266176" cy="24871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2606040"/>
                <a:gridCol w="2331720"/>
                <a:gridCol w="2002536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环节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共同输入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新增输入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主要动作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事前自检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文案 + 当前材料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提交上下文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作者先修改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事中审核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文案 + 当前材料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审核任务与历史意见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审核员确认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事后巡检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审核点 + 业务材料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变化事件 + 使用状态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找到并处理在用内容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复用的是判断要求，不是把每次输入原样复制。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结果设计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审核结果至少分成六种状态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70432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030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25880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未发现该项问题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755648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保留范围，不扩大结论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6976" y="1170432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83280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3030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5" y="1325880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与材料不一致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1755648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作者修改或确认新材料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170432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1344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1344" y="13030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325880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表达缺少条件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1755648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补条件后复核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2478024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5216" y="26151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261061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2633472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信息不足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3" y="3063240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标明缺项与责任人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36976" y="2478024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83280" y="26151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261061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5615" y="2633472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本项不适用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1568" y="3063240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不要求补无关内容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2478024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26151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261061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79" y="2633472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Noto Sans CJK SC"/>
                <a:ea typeface="Noto Sans CJK SC"/>
              </a:rPr>
              <a:t>执行未完成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1" y="3063240"/>
            <a:ext cx="2231136" cy="33832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重试或转人工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Noto Sans CJK SC"/>
                <a:ea typeface="Noto Sans CJK SC"/>
              </a:rPr>
              <a:t>系统没做完检查，不等于没有发现问题。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从定义到验证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审核点还要能够转成测试样本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630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6002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956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6184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审核点定义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482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六个要素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9933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4630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6002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5956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6184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样本组合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20482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正常·问题·边界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9933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4630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6002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5956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6184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预期状态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0482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六类结果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9933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4630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6002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5956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6184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处理动作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20482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修改·确认·重试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能写成预期结果的审核点，才真正进入可实现状态。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第四节 ·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第四节最终留下三张可执行的审核点卡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34440"/>
            <a:ext cx="2615184" cy="26517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89888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R01 商品功能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819656"/>
            <a:ext cx="2286000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数字与功能对象一致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64408" y="1234440"/>
            <a:ext cx="2615184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10712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8" y="1389888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R02 价格条件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1819656"/>
            <a:ext cx="2286000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金额、资格与范围一致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4" y="1234440"/>
            <a:ext cx="2615184" cy="26517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6208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1389888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R03 赠品权益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1819656"/>
            <a:ext cx="2286000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规则与当前状态一致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先把任务定义清楚，再比较实现办法。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Noto Sans CJK SC"/>
                <a:ea typeface="Noto Sans CJK SC"/>
              </a:rPr>
              <a:t>休息 10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21408"/>
            <a:ext cx="81381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BAB4A"/>
                </a:solidFill>
                <a:latin typeface="Noto Sans CJK SC"/>
                <a:ea typeface="Noto Sans CJK SC"/>
              </a:rPr>
              <a:t>回来以后：规则、模型与人工怎样分工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813816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3DFDA"/>
                </a:solidFill>
                <a:latin typeface="Noto Sans CJK SC"/>
                <a:ea typeface="Noto Sans CJK SC"/>
              </a:rPr>
              <a:t>带着一个问题回来：哪一项工作一定不该交给模型？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Noto Sans CJK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4389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Noto Sans CJK SC"/>
                <a:ea typeface="Noto Sans CJK SC"/>
              </a:rPr>
              <a:t>第二次课 / 第五节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411480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Noto Sans CJK SC"/>
                <a:ea typeface="Noto Sans CJK SC"/>
              </a:rPr>
              <a:t>方案选择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609344"/>
            <a:ext cx="3337560" cy="10058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Noto Sans CJK SC"/>
                <a:ea typeface="Noto Sans CJK SC"/>
              </a:rPr>
              <a:t>规则、模型与人工
怎样分工？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536192"/>
            <a:ext cx="13716" cy="1828800"/>
          </a:xfrm>
          <a:prstGeom prst="rect">
            <a:avLst/>
          </a:prstGeom>
          <a:solidFill>
            <a:srgbClr val="617673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5112" y="1673352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四类候选方案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2304288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三个审核点的能力分配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935224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交接、冲突与失败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913632"/>
            <a:ext cx="8339327" cy="62179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50791"/>
            <a:ext cx="7936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FFFFFF"/>
                </a:solidFill>
                <a:latin typeface="Noto Sans CJK SC"/>
                <a:ea typeface="Noto Sans CJK SC"/>
              </a:rPr>
              <a:t>本节重点  ·  交接、冲突与失败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800600"/>
            <a:ext cx="27432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3DFDA"/>
                </a:solidFill>
                <a:latin typeface="Noto Sans CJK SC"/>
                <a:ea typeface="Noto Sans CJK SC"/>
              </a:rPr>
              <a:t>定义任务 → 选择能力 → 场景迁移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Noto Sans CJK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两层结构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审核要求与执行方式，是两层不同设计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353312"/>
            <a:ext cx="3246120" cy="23317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1508760"/>
            <a:ext cx="25511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业务层：查什么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1938528"/>
            <a:ext cx="2916936" cy="161848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检查对象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适用条件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材料与判断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例外与处理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103120"/>
            <a:ext cx="914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6B63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1353312"/>
            <a:ext cx="3246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76672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6672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7" y="1508760"/>
            <a:ext cx="25511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能力层：怎样查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1938528"/>
            <a:ext cx="2916936" cy="161848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程序执行明确动作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模型理解自然语言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人工确认事实与责任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一条审核点不必整条交给同一种能力。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核心定义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混合审核不是三个方框，而是一套任务组合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389888"/>
            <a:ext cx="1847088" cy="230428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45336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程序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975104"/>
            <a:ext cx="1517904" cy="1591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取材料·算金额·校验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1389888"/>
            <a:ext cx="184708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97480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9816" y="1545336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1975104"/>
            <a:ext cx="1517904" cy="1591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理解对象·主张·条件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389888"/>
            <a:ext cx="1847088" cy="230428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09744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1545336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业务材料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1975104"/>
            <a:ext cx="1517904" cy="1591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提供当前事实与版本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5704" y="1389888"/>
            <a:ext cx="1847088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22008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2008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4344" y="1545336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人工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296" y="1975104"/>
            <a:ext cx="1517904" cy="1591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确认争议·正式处置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组合价值来自清晰分工，不来自能力数量。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方案比较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四类候选方案，没有天然赢家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8912" y="1170432"/>
          <a:ext cx="8266176" cy="2788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3063240"/>
                <a:gridCol w="3648456"/>
              </a:tblGrid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方案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主要改善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主要限制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材料清单 + 人工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减少找材料和漏项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逐句理解仍由人完成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程序为主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稳定执行明确条件与计算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自由表达维护成本高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模型为主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理解多种表达与上下文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可能漏条件、误读或错引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组合方案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分担校验、理解与确认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交接复杂，需验证整体投入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AI项目也应允许“简单办法已经够用”这个答案。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选择标准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方案选择看五个维度，不看技术名词多少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输入结构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明确字段还是自由表达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76856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856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2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稳定性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5144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允许多大波动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7056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23360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维护成本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规则是否频繁变化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69864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9864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纠错成本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错一次要付出什么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70064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16368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18704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责任要求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最终谁必须确认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能力分工来自任务性质，而不是来自工具偏好。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商品功能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R01分工：程序取材料，模型理解对象，人工确认争议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绑定SKU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确认本次商品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程序取材料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校验版本与引用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模型理解对象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拖地还是洗拖布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人工确认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处理对象不清与材料争议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语义理解之后仍需定位原句并校验材料。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价格条件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R02分工：金额计算与条件理解要分开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80160"/>
            <a:ext cx="2331720" cy="25786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" y="14173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14127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435607"/>
            <a:ext cx="16367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程序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1865376"/>
            <a:ext cx="2002536" cy="18653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取得有效活动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计算优惠路径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检查活动时间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63824" y="1280160"/>
            <a:ext cx="2331720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10128" y="14173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14127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3" y="1435607"/>
            <a:ext cx="16367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1865376"/>
            <a:ext cx="2002536" cy="18653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识别宣传金额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理解人群与条件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结合全文判断约束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24728" y="1280160"/>
            <a:ext cx="2331720" cy="25786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71032" y="14173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4127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1435607"/>
            <a:ext cx="16367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人工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1865376"/>
            <a:ext cx="2002536" cy="18653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确认业务解释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处理材料冲突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完成正式复核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算对金额，不等于说明了价格成立的条件。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赠品巡检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R03分工：先选对范围，再识别承诺，最后确认处置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确认变化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名额用完与生效条件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程序筛选范围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商品·活动·使用状态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模型识别承诺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是否仍在承诺赠送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人工处置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更新·说明·暂停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Noto Sans CJK SC"/>
                <a:ea typeface="Noto Sans CJK SC"/>
              </a:rPr>
              <a:t>范围不完整时，不能宣称已经查全。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分工总表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三个审核点的首版能力矩阵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26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8912" y="1280160"/>
          <a:ext cx="8266176" cy="25237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2240280"/>
                <a:gridCol w="2331720"/>
                <a:gridCol w="2093976"/>
              </a:tblGrid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6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审核点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程序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模型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人工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R01 商品功能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取商品资料、校验版本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理解温度对应对象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确认商品争议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R02 价格条件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算金额、查时间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理解资格与条件关系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确认活动解释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R03 赠品权益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按关联与状态选范围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识别当前赠送承诺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确认范围与处置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分工的目标是减少总投入，同时保留必要责任。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执行链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混合审核真正难在交接，不在方框数量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17320"/>
            <a:ext cx="1472184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72768"/>
            <a:ext cx="7772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确认任务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02536"/>
            <a:ext cx="1143000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对象与适用条件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947672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39696" y="1417320"/>
            <a:ext cx="147218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86000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1572768"/>
            <a:ext cx="7772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取得材料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2002536"/>
            <a:ext cx="1143000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版本与范围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648456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0480" y="1417320"/>
            <a:ext cx="1472184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86784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86784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1572768"/>
            <a:ext cx="7772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执行判断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2002536"/>
            <a:ext cx="1143000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程序 + 模型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349240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41264" y="1417320"/>
            <a:ext cx="1472184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87568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87568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9904" y="1572768"/>
            <a:ext cx="7772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校验合并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05856" y="2002536"/>
            <a:ext cx="1143000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定位·引用·冲突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050024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42048" y="1417320"/>
            <a:ext cx="1472184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88352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88352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1572768"/>
            <a:ext cx="7772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人工处理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2002536"/>
            <a:ext cx="1143000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修改·确认·处置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交接设计决定组合方案能否真正省力。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事实边界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三类不能靠模型常识补齐的缺口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34440"/>
            <a:ext cx="2615184" cy="26517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89888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材料缺失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819656"/>
            <a:ext cx="2286000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没有有效活动方案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64408" y="1234440"/>
            <a:ext cx="2615184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10712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8" y="1389888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材料冲突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1819656"/>
            <a:ext cx="2286000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两份适用版本结论不同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4" y="1234440"/>
            <a:ext cx="2615184" cy="26517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6208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1389888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业务状态未知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1819656"/>
            <a:ext cx="2286000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库存、权益、使用状态不清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事实缺失时，正确动作是停下并找负责人。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冲突处理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多路结果要合并，不是简单投票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325880"/>
            <a:ext cx="3246120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" y="146303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14584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481328"/>
            <a:ext cx="25511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并列问题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911095"/>
            <a:ext cx="2916936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金额计算成立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资格条件缺失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合并后保留条件问题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0952" y="1325880"/>
            <a:ext cx="3246120" cy="2395728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77256" y="146303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4584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1481328"/>
            <a:ext cx="25511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Noto Sans CJK SC"/>
                <a:ea typeface="Noto Sans CJK SC"/>
              </a:rPr>
              <a:t>真实冲突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5544" y="1911095"/>
            <a:ext cx="2916936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两路判断同一事实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保留原句、材料与路径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交人工确认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2157984"/>
            <a:ext cx="1243584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6B63"/>
                </a:solidFill>
                <a:latin typeface="Noto Sans CJK SC"/>
                <a:ea typeface="Noto Sans CJK SC"/>
              </a:rPr>
              <a:t>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先判断结果是否在回答同一个问题，再决定是否冲突。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失败交接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执行失败必须单独呈现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调用开始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记录任务与版本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局部失败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超时·读取失败·不可用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保留结果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不覆盖其他检查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重试 / 转人工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明确负责人和下一步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Noto Sans CJK SC"/>
                <a:ea typeface="Noto Sans CJK SC"/>
              </a:rPr>
              <a:t>失败项不能被静默计入通过。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能力验证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模型选择要围绕任务表现，不围绕文风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70432"/>
            <a:ext cx="3886200" cy="6400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030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225296"/>
            <a:ext cx="319125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功能对象是否识别正确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26864" y="1170432"/>
            <a:ext cx="38862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73168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13030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225296"/>
            <a:ext cx="319125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资格与条件是否漏掉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2011680"/>
            <a:ext cx="3886200" cy="6400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5216" y="214884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1442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2066544"/>
            <a:ext cx="319125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原句定位是否准确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6864" y="2011680"/>
            <a:ext cx="38862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73168" y="214884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21442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066544"/>
            <a:ext cx="319125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引用材料是否属于本任务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2852928"/>
            <a:ext cx="3886200" cy="6400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5216" y="29900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298551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2907792"/>
            <a:ext cx="319125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不确定时能否交人工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26864" y="2852928"/>
            <a:ext cx="38862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773168" y="29900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298551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5504" y="2907792"/>
            <a:ext cx="319125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时延、成本与人工处理量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最终比较的是有效问题与人工总投入。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第五节 ·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第五节留下的不是固定架构，而是一套选择逻辑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353312"/>
            <a:ext cx="1847088" cy="237744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08760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938528"/>
            <a:ext cx="1517904" cy="16642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确定动作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1353312"/>
            <a:ext cx="184708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97480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9816" y="1508760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1938528"/>
            <a:ext cx="1517904" cy="16642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理解表达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353312"/>
            <a:ext cx="1847088" cy="237744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09744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1508760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1938528"/>
            <a:ext cx="1517904" cy="16642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提供事实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5704" y="1353312"/>
            <a:ext cx="184708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22008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2008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4344" y="1508760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人工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296" y="1938528"/>
            <a:ext cx="1517904" cy="16642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承担责任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输入、输出、校验、失败和承接，必须一起设计。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813816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Noto Sans CJK SC"/>
                <a:ea typeface="Noto Sans CJK SC"/>
              </a:rPr>
              <a:t>休息 10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BAB4A"/>
                </a:solidFill>
                <a:latin typeface="Noto Sans CJK SC"/>
                <a:ea typeface="Noto Sans CJK SC"/>
              </a:rPr>
              <a:t>下一部分：把同一方法迁移到五个业务案例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07792"/>
            <a:ext cx="813816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3DFDA"/>
                </a:solidFill>
                <a:latin typeface="Noto Sans CJK SC"/>
                <a:ea typeface="Noto Sans CJK SC"/>
              </a:rPr>
              <a:t>案例不是练习题，而是五次完整的产品推演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Noto Sans CJK S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4389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Noto Sans CJK SC"/>
                <a:ea typeface="Noto Sans CJK SC"/>
              </a:rPr>
              <a:t>第二次课 / 第七节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411480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Noto Sans CJK SC"/>
                <a:ea typeface="Noto Sans CJK SC"/>
              </a:rPr>
              <a:t>多场景迁移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609344"/>
            <a:ext cx="3337560" cy="10058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Noto Sans CJK SC"/>
                <a:ea typeface="Noto Sans CJK SC"/>
              </a:rPr>
              <a:t>离开营销审核，
方法还能成立吗？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536192"/>
            <a:ext cx="13716" cy="1828800"/>
          </a:xfrm>
          <a:prstGeom prst="rect">
            <a:avLst/>
          </a:prstGeom>
          <a:solidFill>
            <a:srgbClr val="617673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5112" y="1673352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合同审核母案例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2304288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十一项迁移框架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935224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客服·招聘·报销·金融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913632"/>
            <a:ext cx="8339327" cy="62179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50791"/>
            <a:ext cx="7936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FFFFFF"/>
                </a:solidFill>
                <a:latin typeface="Noto Sans CJK SC"/>
                <a:ea typeface="Noto Sans CJK SC"/>
              </a:rPr>
              <a:t>本节重点  ·  客服·招聘·报销·金融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800600"/>
            <a:ext cx="27432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3DFDA"/>
                </a:solidFill>
                <a:latin typeface="Noto Sans CJK SC"/>
                <a:ea typeface="Noto Sans CJK SC"/>
              </a:rPr>
              <a:t>定义任务 → 选择能力 → 场景迁移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Noto Sans CJK S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合同母案例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合同审核先从“AI法务”收窄到一个小场景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325880"/>
            <a:ext cx="3246120" cy="2395728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81328"/>
            <a:ext cx="29169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Noto Sans CJK SC"/>
                <a:ea typeface="Noto Sans CJK SC"/>
              </a:rPr>
              <a:t>不做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911095"/>
            <a:ext cx="2916936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诉讼判断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完整法律咨询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自动作出最终决定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0952" y="1325880"/>
            <a:ext cx="3246120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95544" y="1481328"/>
            <a:ext cx="29169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首版做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5544" y="1911095"/>
            <a:ext cx="2916936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常规合同初步检查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问题条款定位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修改建议与待确认项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先选择能够验证的小场景，再讨论完整系统。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人工工序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先理解法务原来检查什么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合同主体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签约对象与异常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76856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856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2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合同条款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5144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付款·交付·验收·违约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7056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23360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规范引用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是否准确且仍适用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69864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9864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履约方式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是否真的能够执行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70064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16368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18704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周边风险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履约历史与关系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先把人类工作说清楚，再决定如何自动化。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输出与输入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从最终输出反推每一项输入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1234440"/>
            <a:ext cx="3383280" cy="26517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1389888"/>
            <a:ext cx="2688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最终输出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1819656"/>
            <a:ext cx="3054096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问题所在条款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问题类型与原因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业务影响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修改建议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人工待确认项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2221992"/>
            <a:ext cx="914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6B63"/>
                </a:solidFill>
                <a:latin typeface="Noto Sans CJK SC"/>
                <a:ea typeface="Noto Sans CJK SC"/>
              </a:rP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1234440"/>
            <a:ext cx="33832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76672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6672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7" y="1389888"/>
            <a:ext cx="2688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所需输入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1819656"/>
            <a:ext cx="3054096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合同正文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本次审核重点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企业合同规则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对方企业信息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交易背景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输出越具体，输入缺口越容易被发现。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快速验证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先用脱敏合同验证基础能力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8872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243584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定位真实条款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118872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3280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5" y="1243584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发现明显矛盾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18872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1344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1243584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建议可理解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2487168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5216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2542032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不过度提示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2487168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83280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5615" y="2542032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不编造内容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2487168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81344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1344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2542032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不确定时交人工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模型可以像认真但缺少商业经验的法务实习生。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合同工作流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合同审核拆成三条并行路线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文件解析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类型与可读性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三路并行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条款 / 引用 / 企业风险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合并分级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去重·冲突·待确认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法务确认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修改·审批·归档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多路能力最终仍要汇入一个人工负责的业务决定。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企业连接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通用合同能力，要接入企业真实履约条件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34440"/>
            <a:ext cx="242316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1389888"/>
            <a:ext cx="20939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通用判断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3" y="1819656"/>
            <a:ext cx="2093976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条款结构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常见问题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规范引用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文本修改建议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1234440"/>
            <a:ext cx="2651760" cy="269748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1389888"/>
            <a:ext cx="23225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企业内部AI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1819656"/>
            <a:ext cx="2322576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订单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库存与产能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资金计划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历史履约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供应商关系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234440"/>
            <a:ext cx="2423160" cy="26974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389888"/>
            <a:ext cx="20939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新的业务结果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19656"/>
            <a:ext cx="2093976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实际能否交付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当前能否付款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供应商是否可接受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谁需要确认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企业产品的特殊价值，来自对这家公司当前业务的理解。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核心框架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十一项迁移框架：完整迁移一次产品判断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52144"/>
            <a:ext cx="1078992" cy="74980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152144"/>
            <a:ext cx="1078992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</a:rPr>
              <a:t>A 定义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1152144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29384" y="128930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9384" y="128473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1207008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业务问题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1152144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12463" y="128930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2463" y="128473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207008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首版小场景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1152144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95544" y="128930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95544" y="128473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79" y="1207008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人工工序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1152144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78624" y="128930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78624" y="128473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1207008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最终输出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" y="2139696"/>
            <a:ext cx="1078992" cy="74980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139696"/>
            <a:ext cx="1078992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</a:rPr>
              <a:t>B 构建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83080" y="2139696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29384" y="22768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29384" y="22722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2194560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输入来源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2139696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12463" y="22768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12463" y="22722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2194560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快速验证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49240" y="2139696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95544" y="22768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95544" y="22722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79" y="2194560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并行拆分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0" y="2139696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278624" y="22768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78624" y="22722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2194560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边界分支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" y="3127248"/>
            <a:ext cx="1078992" cy="74980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3127248"/>
            <a:ext cx="1078992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</a:rPr>
              <a:t>C 落地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83080" y="3127248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929384" y="3264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29384" y="32598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31720" y="3182112"/>
            <a:ext cx="13167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结果合并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60520" y="3127248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306824" y="3264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06824" y="32598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59" y="3182112"/>
            <a:ext cx="13167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企业连接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3127248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84264" y="3264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84264" y="32598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3182112"/>
            <a:ext cx="13167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Noto Sans CJK SC"/>
                <a:ea typeface="Noto Sans CJK SC"/>
              </a:rPr>
              <a:t>运行验证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先定义决定，再设计能力，最后接入真实组织。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客服质检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案例一：售后退款会话质检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33856"/>
            <a:ext cx="2788920" cy="2816352"/>
          </a:xfrm>
          <a:prstGeom prst="roundRect">
            <a:avLst>
              <a:gd name="adj" fmla="val 8000"/>
            </a:avLst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53312"/>
            <a:ext cx="24231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BAB4A"/>
                </a:solidFill>
                <a:latin typeface="Noto Sans CJK SC"/>
                <a:ea typeface="Noto Sans CJK SC"/>
              </a:rPr>
              <a:t>业务情境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773936"/>
            <a:ext cx="2423160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Noto Sans CJK SC"/>
                <a:ea typeface="Noto Sans CJK SC"/>
              </a:rPr>
              <a:t>客服承诺“今天到账”，但前序口径是三个工作日；随后出现推诿。系统需要结合订单状态与服务政策判断。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133856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20700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20700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会话、角色、订单退款状态、服务政策、质检规则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1609344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682496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并行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682496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流程规则 / 多轮语义 / 订单与政策核对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2084832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2157984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157984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问题位置、类型、等级、整改建议、待确认项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2560320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2633472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633472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转写失败、角色混淆、接口无返回、申诉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035808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108960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人工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108960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质检主管复核；客服确认或申诉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511296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358444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连接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8444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CRM 与订单、工单、知识库、培训系统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质检产品的终点是确认、申诉、整改与复训。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招聘审核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案例二：岗位发布前的招聘信息审核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33856"/>
            <a:ext cx="2788920" cy="2816352"/>
          </a:xfrm>
          <a:prstGeom prst="roundRect">
            <a:avLst>
              <a:gd name="adj" fmla="val 8000"/>
            </a:avLst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53312"/>
            <a:ext cx="24231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BAB4A"/>
                </a:solidFill>
                <a:latin typeface="Noto Sans CJK SC"/>
                <a:ea typeface="Noto Sans CJK SC"/>
              </a:rPr>
              <a:t>业务情境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773936"/>
            <a:ext cx="2423160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Noto Sans CJK SC"/>
                <a:ea typeface="Noto Sans CJK SC"/>
              </a:rPr>
              <a:t>岗位文案同时出现高薪承诺、性别年龄限制、本地户口、零经验与付费培训。系统要区分文本问题与企业事实。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133856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20700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20700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招聘文案、企业、岗位编制、薪酬范围、渠道要求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1609344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682496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工序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682496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查企业、岗位、薪资、必填项、限制条件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2084832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2157984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并行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157984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文案必填项 / 企业账号 / 岗位资料一致性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2560320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2633472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633472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缺项、问题位置、类型、修改要求、转人工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035808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108960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108960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岗位无法确认、资料冲突、异常引流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511296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358444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连接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8444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招聘系统、岗位编制、薪酬与投诉记录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模型能看表达，企业系统才能确认岗位与承诺是否真实。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发票与报销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案例三：员工费用报销初步审核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33856"/>
            <a:ext cx="2788920" cy="2816352"/>
          </a:xfrm>
          <a:prstGeom prst="roundRect">
            <a:avLst>
              <a:gd name="adj" fmla="val 8000"/>
            </a:avLst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53312"/>
            <a:ext cx="24231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BAB4A"/>
                </a:solidFill>
                <a:latin typeface="Noto Sans CJK SC"/>
                <a:ea typeface="Noto Sans CJK SC"/>
              </a:rPr>
              <a:t>业务情境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773936"/>
            <a:ext cx="2423160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Noto Sans CJK SC"/>
                <a:ea typeface="Noto Sans CJK SC"/>
              </a:rPr>
              <a:t>周末高额休闲服务发票备注客户招待；金额在权限内，但没有OA申请，部门预算接近用完。多个单点正常不等于整体成立。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133856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20700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20700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发票、报销单、员工部门、预算、合同、OA 与制度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1609344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682496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工序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682496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验票、核科目、核金额、查人员预算与审批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2084832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2157984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并行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157984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票据验真 / 政策 / 预算 / 合同与审批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2560320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2633472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633472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可继续、待补材料、退回、等待预算、转人工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035808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108960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108960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接口失败、重复报销、业务矛盾、多路冲突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511296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358444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连接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8444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财务、OA 与预算、合同和付款系统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多项判断需要合并，但最终处理仍由财务承接。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金融营销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案例四：理财产品营销材料审核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45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33856"/>
            <a:ext cx="2788920" cy="2816352"/>
          </a:xfrm>
          <a:prstGeom prst="roundRect">
            <a:avLst>
              <a:gd name="adj" fmla="val 8000"/>
            </a:avLst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53312"/>
            <a:ext cx="24231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BAB4A"/>
                </a:solidFill>
                <a:latin typeface="Noto Sans CJK SC"/>
                <a:ea typeface="Noto Sans CJK SC"/>
              </a:rPr>
              <a:t>业务情境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773936"/>
            <a:ext cx="2423160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Noto Sans CJK SC"/>
                <a:ea typeface="Noto Sans CJK SC"/>
              </a:rPr>
              <a:t>文案宣称“年化收益 6% / 本金安全 / 适合所有投资者”。产品要结合正式材料、风险提示、目标人群和渠道版本进行判断。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133856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20700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20700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宣传材料、产品文件、风险提示、人群、渠道、版本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1609344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682496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工序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682496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查表达、产品事实、风险披露、适用人群、版本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2084832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2157984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并行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157984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明确表达 / 产品事实 / 风险披露 / 渠道适配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2560320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2633472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633472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问题位置、缺失信息、等级、修改与人工结论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035808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108960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108960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材料冲突、人群不清、版本失效、结论冲突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511296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358444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Noto Sans CJK SC"/>
                <a:ea typeface="Noto Sans CJK SC"/>
              </a:rPr>
              <a:t>连接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8444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Noto Sans CJK SC"/>
                <a:ea typeface="Noto Sans CJK SC"/>
              </a:rPr>
              <a:t>产品中心、合规、客户分层、渠道与版本管理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高风险场景可由AI辅助定位与比对，最终责任必须明确到人。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跨场景比较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五个案例放在一起，方法相同，业务边界不同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46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1097280"/>
          <a:ext cx="8503920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60120"/>
                <a:gridCol w="1417320"/>
                <a:gridCol w="1965960"/>
                <a:gridCol w="150876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场景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被判断对象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关键材料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最终人工角色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企业连接价值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合同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条款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模板·交易背景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法务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实际履约风险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客服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多轮会话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政策·订单状态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质检主管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申诉与整改闭环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招聘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岗位文案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编制·薪酬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HR负责人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岗位与承诺真实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报销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票据·报销单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预算·OA·合同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财务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组合判断合理性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金融营销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宣传材料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产品·风险·人群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产品与合规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版本与发布管理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Noto Sans CJK SC"/>
                <a:ea typeface="Noto Sans CJK SC"/>
              </a:rPr>
              <a:t>迁移不是换行业名称，而是重新完成一次完整产品判断。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Noto Sans CJK SC"/>
                <a:ea typeface="Noto Sans CJK SC"/>
              </a:rPr>
              <a:t>第七节 · 方法收束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Noto Sans CJK SC"/>
                <a:ea typeface="Noto Sans CJK SC"/>
              </a:rPr>
              <a:t>真正可迁移的是八步主线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4  审核体系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5  方案选择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Noto Sans CJK SC"/>
              </a:rPr>
              <a:t>47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344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898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业务问题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8196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为何现在要解决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7647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2344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3898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人工工序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18196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人原来怎么做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7647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2344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3898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输出输入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18196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需要什么结果与材料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7647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2344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3898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能力验证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18196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基础能力是否可用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" y="2907792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5216" y="304495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304038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3063240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并行流程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3" y="3493008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任务怎样拆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372868" y="3438144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564892" y="2907792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11196" y="304495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11196" y="304038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13532" y="3063240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异常承接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9484" y="3493008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Noto Sans CJK SC"/>
                <a:ea typeface="Noto Sans CJK SC"/>
              </a:rPr>
              <a:t>失败冲突交给谁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498848" y="3438144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90872" y="2907792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837176" y="304495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37176" y="304038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9512" y="3063240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企业连接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55464" y="3493008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接入真实系统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6624828" y="3438144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816852" y="2907792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63156" y="304495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63156" y="304038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5492" y="3063240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Noto Sans CJK SC"/>
                <a:ea typeface="Noto Sans CJK SC"/>
              </a:rPr>
              <a:t>运行验证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81444" y="3493008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Noto Sans CJK SC"/>
                <a:ea typeface="Noto Sans CJK SC"/>
              </a:rPr>
              <a:t>决定继续或收缩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0040"/>
            <a:ext cx="804672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Noto Sans CJK SC"/>
                <a:ea typeface="Noto Sans CJK SC"/>
              </a:rPr>
              <a:t>全课收束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13232"/>
            <a:ext cx="813816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Noto Sans CJK SC"/>
                <a:ea typeface="Noto Sans CJK SC"/>
              </a:rPr>
              <a:t>专业性来自判断，不来自生成速度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572768"/>
            <a:ext cx="2596896" cy="2331720"/>
          </a:xfrm>
          <a:prstGeom prst="roundRect">
            <a:avLst>
              <a:gd name="adj" fmla="val 8000"/>
            </a:avLst>
          </a:prstGeom>
          <a:solidFill>
            <a:srgbClr val="164242"/>
          </a:solidFill>
          <a:ln w="12700">
            <a:solidFill>
              <a:srgbClr val="1642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1773936"/>
            <a:ext cx="2267712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  <a:ea typeface="Noto Sans CJK SC"/>
              </a:rPr>
              <a:t>第四节 · 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2267712"/>
            <a:ext cx="2267712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对象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条件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材料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572768"/>
            <a:ext cx="2596896" cy="23317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773936"/>
            <a:ext cx="2267712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  <a:ea typeface="Noto Sans CJK SC"/>
              </a:rPr>
              <a:t>第五节 · 分工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2267712"/>
            <a:ext cx="2267712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程序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模型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人工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失败交接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72768"/>
            <a:ext cx="2596896" cy="2331720"/>
          </a:xfrm>
          <a:prstGeom prst="roundRect">
            <a:avLst>
              <a:gd name="adj" fmla="val 8000"/>
            </a:avLst>
          </a:prstGeom>
          <a:solidFill>
            <a:srgbClr val="164242"/>
          </a:solidFill>
          <a:ln w="12700">
            <a:solidFill>
              <a:srgbClr val="1642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773936"/>
            <a:ext cx="2267712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  <a:ea typeface="Noto Sans CJK SC"/>
              </a:rPr>
              <a:t>第七节 · 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267712"/>
            <a:ext cx="2267712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重新理解业务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重新设计流程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重新确认责任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261104"/>
            <a:ext cx="822960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BAB4A"/>
                </a:solidFill>
                <a:latin typeface="Noto Sans CJK SC"/>
                <a:ea typeface="Noto Sans CJK SC"/>
              </a:rPr>
              <a:t>把任务定义清楚 · 把能力边界分配合理 · 把失败与责任接住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828032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Noto Sans CJK SC"/>
                <a:ea typeface="Noto Sans CJK SC"/>
              </a:rPr>
              <a:t>第二次课 · 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4828032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Noto Sans CJK SC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