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今天不重新讲项目背景，而是检验产品能否真正跑起来。全课围绕三件事：链路、异常、迁移。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先从已有产品出发，检查运行链路；再进入异常决策；最后把方法迁移到新业务。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让学员先判断：页面显示通过，是否就能发布？强调结论必须绑定版本、资料和角色。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第一节从页面出发，但不止讲页面。要把动作、对象、状态和承接角色完整连接。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左边是常见误区：只列页面。右边是产品链路：每个动作都产生对象、改变状态并交给下一位角色。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讲清动作不是按钮名，而是业务变化。用保存新稿举例：生成新版本、改变状态、把后续责任交给作者或审核员。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四类对象不能混成一个结果字段。内容版本承载正文；检查记录承载一次机器执行；正式任务承载业务决定；巡检任务承载上线后的维护。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状态必须挂在正确对象上。内容版本已保存，不代表检查已完成；检查完成，不代表正式审核通过；审核通过，也不代表上线内容永远有效。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演示时依次展示：固定当前版本与上下文、发起检查、查看原句与建议、修改为新版本。强调自检是作者工作入口。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讲清两个结论的责任主体不同。机器输出表示在当前输入和能力范围内未发现；正式通过是有权限角色做出的业务决定。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从作者提交V2开始演示。审核员核对原句、依据与上下文，退回后作者形成V3，再由审核员复核并作正式决定。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让学员不要把两个流程做成同一页面改个标题。自检服务于作者改稿；正式审核服务于有权限角色作决定。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用时间线讲清旧结果迟到。V1发起检查后，作者保存V2；V1结果返回时只能归档到V1，V2仍需按规则重新检查。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演示资料失效、规则更新或活动条件变化后，系统怎样圈定受影响内容、生成批次、分派任务并跟踪处理。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这是第一节的关键页。强调发现问题不等于完成：必须明确在用位置、处理人、更新动作与复核结果。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这张表用于检查原型是否可运行。每个动作都要写清对象、状态变化与下一责任人。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给两分钟讨论。参考处理：V2结果归档到V2；页面明确它不是当前版本；V3根据改动范围决定重跑全部或受影响项。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用三个问题收束：动作改了什么对象？对象进入什么状态？下一步由谁承接？如果答不出来，链路仍然断着。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休息十分钟。回来进入异常处理部分。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第二节不讲报错文案，而是讲系统遇到不确定性时怎样分流、怎样交接、怎样保护业务。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这八项是课堂统一分析框架：触发、影响、可见、状态、动作、责任、记录、恢复。后续五个案例都按它分析。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缺资料时不应编造完整结论。系统要明确缺什么、影响哪些检查项，并把补充或确认动作交给对应角色。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模型超时不代表整次任务毫无价值。可保留已完成项，对失败项标记状态，并提供重试、降级或人工补核。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这页把第一节练习升级为异常策略。页面要显示版本标签和过期提示，状态层不能把旧结果写到当前稿。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规则适合明确条件，模型适合理解表达。冲突时先区分规则级别，再决定是否阻断、提示或转人工。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带学员按树判断：硬规则优先阻断；条件性规则展示冲突并转确认；建议型规则保留双方说明。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分别讨论作者不同意、审核员怀疑资料、巡检无人处理。每种争议都要明确谁能提出、谁能确认、谁必须继续。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用矩阵确认角色边界。作者能改稿和发起；审核员能退回与正式决定；资料负责人确认资料；内容负责人处理在用内容。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异常处理不是默认重试。根据影响与可恢复性选择继续、重试、降级、转人工或停止。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题目：系统认为“65℃热水直接拖地”对象不一致，作者不同意。作者需要说明与改稿；审核员需要比较材料并决定；资料负责人需要确认原始说法。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异常页面要让用户看见影响、知道下一步、找到承接人，并让系统留下状态。这样才能恢复，而不是卡死。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休息十分钟。回来进入跨场景迁移。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第三节用合同审核作为母案例，提取通用方法，再现场迁移到客服质检、招聘、报销和金融营销。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左边是表面换皮，右边是结构迁移。要重新定义最终决定、所需输入、人工分工、边界条件与企业连接。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不要做万能合同助手。首版可限定合同类型、审查角色、条款类别和输出方式，例如销售合同中的付款、交付与违约条款。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合同案例最终不是给一个风险分数，而是给问题条款、风险类型、参考规则、修改建议与人工确认项。由此反推合同正文、模板、规则与业务背景。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这个比喻用于限定能力。模型可快速定位与对照，但企业事实、非标交易安排和最终风险接受仍需有权角色确认。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一条处理条款识别，一条处理规则或模板对照，一条处理业务条件。三路结果汇合后交给法务确认。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边界包括扫描件、附件、跨条款引用、未知模板与复杂交易。连接包括合同库、模板库、权限、流程与历史版本。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这是全课的峰值页。按顺序讲十一项：业务问题、首版范围、最终输出、人工流程、输入材料、判断任务、能力验证、系统流程、边界条件、角色权限、企业连接。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逐列映射而非直接复制。合同条款对应客服对话片段；法务规则对应服务规范；法务确认对应质检员复核；合同流程回写对应坐席整改与复训。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展示完整链路：会话输入后，分别检查服务规范、事实准确和沟通质量，汇总问题后交质检员确认，再进入申诉、整改或复训。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每组选择招聘信息、发票报销或金融营销材料，在十二分钟内完成六个关键问题，并用两分钟说明首版范围与人工接点。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快速展开三个案例。招聘信息关注歧视性与承诺；发票报销关注真伪、制度与重复；金融营销关注适当性、风险披露与限制性表述。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点评不比页面数量。看业务范围是否清楚、输入是否支持输出、人工决定点是否合理、异常是否可恢复、结果是否进入真实流程。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请学员把一页方案作为课后产出。最后用四个条件自检：对象、状态、异常承接和业务闭环。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365760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26B63"/>
                </a:solidFill>
                <a:latin typeface="Noto Sans CJK SC"/>
                <a:ea typeface="Noto Sans CJK SC"/>
              </a:rPr>
              <a:t>第二阶段 · 项目二 · 第二次课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7955279" cy="10515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2F30"/>
                </a:solidFill>
                <a:latin typeface="Noto Sans CJK SC"/>
                <a:ea typeface="Noto Sans CJK SC"/>
              </a:rPr>
              <a:t>从完整审核链路
到判断型 AI 产品迁移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578608"/>
            <a:ext cx="713232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17673"/>
                </a:solidFill>
                <a:latin typeface="Noto Sans CJK SC"/>
                <a:ea typeface="Noto Sans CJK SC"/>
              </a:rPr>
              <a:t>页面连起来 · 异常接得住 · 方法迁得走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813048"/>
            <a:ext cx="1719072" cy="32004"/>
          </a:xfrm>
          <a:prstGeom prst="rect">
            <a:avLst/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356616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75304"/>
            <a:ext cx="530352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4169663"/>
            <a:ext cx="80467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02F"/>
                </a:solidFill>
                <a:latin typeface="Noto Sans CJK SC"/>
                <a:ea typeface="Noto Sans CJK SC"/>
              </a:rPr>
              <a:t>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3813048"/>
            <a:ext cx="1719072" cy="32004"/>
          </a:xfrm>
          <a:prstGeom prst="rect">
            <a:avLst/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356616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575304"/>
            <a:ext cx="530352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69663"/>
            <a:ext cx="80467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02F"/>
                </a:solidFill>
                <a:latin typeface="Noto Sans CJK SC"/>
                <a:ea typeface="Noto Sans CJK SC"/>
              </a:rPr>
              <a:t>任务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8384" y="3813048"/>
            <a:ext cx="1719072" cy="32004"/>
          </a:xfrm>
          <a:prstGeom prst="rect">
            <a:avLst/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10912" y="356616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3575304"/>
            <a:ext cx="530352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4169663"/>
            <a:ext cx="80467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02F"/>
                </a:solidFill>
                <a:latin typeface="Noto Sans CJK SC"/>
                <a:ea typeface="Noto Sans CJK SC"/>
              </a:rPr>
              <a:t>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41464" y="356616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D85C3D"/>
          </a:solidFill>
          <a:ln w="12700">
            <a:solidFill>
              <a:srgbClr val="D85C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3575304"/>
            <a:ext cx="530352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3" y="4169663"/>
            <a:ext cx="80467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302F"/>
                </a:solidFill>
                <a:latin typeface="Noto Sans CJK SC"/>
                <a:ea typeface="Noto Sans CJK SC"/>
              </a:rPr>
              <a:t>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709160"/>
            <a:ext cx="36576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17673"/>
                </a:solidFill>
                <a:latin typeface="Noto Sans CJK SC"/>
                <a:ea typeface="Noto Sans CJK SC"/>
              </a:rPr>
              <a:t>180分钟 · 项目深化课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全课地图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今天要完成的不是三块知识，而是一条进阶路线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60191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572768"/>
            <a:ext cx="2602991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28216"/>
            <a:ext cx="19080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链路跑通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148840"/>
            <a:ext cx="2273807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对象、状态、角色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19215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70503" y="1572768"/>
            <a:ext cx="2602991" cy="13258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6807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6807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9143" y="1728216"/>
            <a:ext cx="19080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异常接住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5095" y="2148840"/>
            <a:ext cx="2273807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分流、权限、兜底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9527" y="1572768"/>
            <a:ext cx="2602991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75831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5831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8167" y="1728216"/>
            <a:ext cx="19080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方法迁移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4119" y="2148840"/>
            <a:ext cx="2273807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合同 → 客服 → 新场景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课堂终点：独立写出一页判断型 AI 产品设计。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开场判断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“审核通过”只在三个条件同时成立时才有效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41732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572768"/>
            <a:ext cx="1545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对应版本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1993392"/>
            <a:ext cx="1911096" cy="1371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结论属于哪一稿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是否已被新稿替代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9232" y="141732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4553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1572768"/>
            <a:ext cx="1545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材料有效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1993392"/>
            <a:ext cx="1911096" cy="1371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引用是否可用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条件是否仍成立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95544" y="141732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41848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41848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4183" y="1572768"/>
            <a:ext cx="1545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角色有权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0136" y="1993392"/>
            <a:ext cx="1911096" cy="1371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谁可以确认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谁承担下一步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1947672"/>
            <a:ext cx="548640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26B63"/>
                </a:solidFill>
                <a:latin typeface="Noto Sans CJK SC"/>
                <a:ea typeface="Noto Sans CJK SC"/>
              </a:rPr>
              <a:t>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1627632"/>
            <a:ext cx="329184" cy="160020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1783080"/>
            <a:ext cx="329184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oto Sans CJK SC"/>
                <a:ea typeface="Noto Sans CJK SC"/>
              </a:rPr>
              <a:t>可
执
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没有版本、材料与角色约束，“通过”只是页面文案。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Noto Sans CJK SC"/>
                <a:ea typeface="Noto Sans CJK SC"/>
              </a:rPr>
              <a:t>第二次课 / 第一节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86384"/>
            <a:ext cx="420624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Noto Sans CJK SC"/>
                <a:ea typeface="Noto Sans CJK SC"/>
              </a:rPr>
              <a:t>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18488"/>
            <a:ext cx="3383280" cy="9601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Noto Sans CJK SC"/>
                <a:ea typeface="Noto Sans CJK SC"/>
              </a:rPr>
              <a:t>页面怎么从“能点”
变成“能跑”？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554480"/>
            <a:ext cx="13716" cy="1783080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664208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四类业务对象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295144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三段演示链路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2926080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状态、版本与责任人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13632"/>
            <a:ext cx="8366760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050791"/>
            <a:ext cx="7955279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Noto Sans CJK SC"/>
                <a:ea typeface="Noto Sans CJK SC"/>
              </a:rPr>
              <a:t>本节重点  ·  状态、版本与责任人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00600"/>
            <a:ext cx="18288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Noto Sans CJK SC"/>
                <a:ea typeface="Noto Sans CJK SC"/>
              </a:rPr>
              <a:t>链路 → 判断 → 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Noto Sans CJK SC"/>
                <a:ea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业务链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几张页面放在一起，不等于产品已经能运行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353312"/>
            <a:ext cx="34290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508760"/>
            <a:ext cx="30998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页面集合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1929384"/>
            <a:ext cx="3099816" cy="1828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编辑页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任务列表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审核详情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巡检批次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2240280"/>
            <a:ext cx="91440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D85C3D"/>
                </a:solidFill>
                <a:latin typeface="Noto Sans CJK SC"/>
                <a:ea typeface="Noto Sans CJK SC"/>
              </a:rPr>
              <a:t>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353312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508760"/>
            <a:ext cx="32369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业务链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1929384"/>
            <a:ext cx="3236976" cy="1828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动作改变对象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对象进入新状态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状态触发下一角色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结果绑定实际版本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真正的链路，要回答：发生了什么变化，下一步交给谁。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动作定义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一个可运行的页面动作，要同时改变三件事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2011680" cy="5943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26B63"/>
                </a:solidFill>
                <a:latin typeface="Noto Sans CJK SC"/>
                <a:ea typeface="Noto Sans CJK SC"/>
              </a:rPr>
              <a:t>对象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508760"/>
            <a:ext cx="365760" cy="5943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BAB4A"/>
                </a:solidFill>
                <a:latin typeface="Noto Sans CJK SC"/>
                <a:ea typeface="Noto Sans CJK SC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508760"/>
            <a:ext cx="2011680" cy="5943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26B63"/>
                </a:solidFill>
                <a:latin typeface="Noto Sans CJK SC"/>
                <a:ea typeface="Noto Sans CJK SC"/>
              </a:rPr>
              <a:t>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508760"/>
            <a:ext cx="365760" cy="5943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BAB4A"/>
                </a:solidFill>
                <a:latin typeface="Noto Sans CJK SC"/>
                <a:ea typeface="Noto Sans CJK SC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508760"/>
            <a:ext cx="2011680" cy="5943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26B63"/>
                </a:solidFill>
                <a:latin typeface="Noto Sans CJK SC"/>
                <a:ea typeface="Noto Sans CJK SC"/>
              </a:rPr>
              <a:t>责任人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359152"/>
            <a:ext cx="7269480" cy="5486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88336"/>
            <a:ext cx="72237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302F"/>
                </a:solidFill>
                <a:latin typeface="Noto Sans CJK SC"/>
                <a:ea typeface="Noto Sans CJK SC"/>
              </a:rPr>
              <a:t>谁被创建或修改 · 现在处于什么状态 · 谁要继续处理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按钮只描述交互；对象、状态、责任人才描述业务。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四类对象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审核链路中，至少要区分四类业务对象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353312"/>
            <a:ext cx="1938528" cy="243230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778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508760"/>
            <a:ext cx="124358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内容版本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1929384"/>
            <a:ext cx="1609344" cy="174650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V1 / V2 / V3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正文与业务上下文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被审核的真实对象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1353312"/>
            <a:ext cx="1938528" cy="2432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6090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6090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1508760"/>
            <a:ext cx="124358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检查记录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2" y="1929384"/>
            <a:ext cx="1609344" cy="174650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一次执行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原句、结论、依据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失败也要留状态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1353312"/>
            <a:ext cx="1938528" cy="243230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6402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402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59" y="1508760"/>
            <a:ext cx="124358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正式任务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929384"/>
            <a:ext cx="1609344" cy="174650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提交版本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复核意见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正式决定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1353312"/>
            <a:ext cx="1938528" cy="2432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6714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714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1508760"/>
            <a:ext cx="124358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巡检任务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1" y="1929384"/>
            <a:ext cx="1609344" cy="174650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在用内容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变化事件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实际更新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对象分开，版本、权限与历史才不会互相污染。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状态并存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同一篇内容，可以同时处在四种不同状态里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362456"/>
            <a:ext cx="13258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内容版本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19" y="1234440"/>
            <a:ext cx="6583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74519" y="1234440"/>
            <a:ext cx="960120" cy="566928"/>
          </a:xfrm>
          <a:prstGeom prst="roundRect">
            <a:avLst>
              <a:gd name="adj" fmla="val 8000"/>
            </a:avLst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353312"/>
            <a:ext cx="512064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02F"/>
                </a:solidFill>
                <a:latin typeface="Noto Sans CJK SC"/>
                <a:ea typeface="Noto Sans CJK SC"/>
              </a:rPr>
              <a:t>V2 已保存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121408"/>
            <a:ext cx="13258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检查记录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1993392"/>
            <a:ext cx="6583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74519" y="1993392"/>
            <a:ext cx="960120" cy="566928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2112264"/>
            <a:ext cx="512064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02F"/>
                </a:solidFill>
                <a:latin typeface="Noto Sans CJK SC"/>
                <a:ea typeface="Noto Sans CJK SC"/>
              </a:rPr>
              <a:t>运行中 / 已完成 / 失败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13258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正式任务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2752344"/>
            <a:ext cx="6583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74519" y="2752344"/>
            <a:ext cx="960120" cy="566928"/>
          </a:xfrm>
          <a:prstGeom prst="roundRect">
            <a:avLst>
              <a:gd name="adj" fmla="val 8000"/>
            </a:avLst>
          </a:prstGeom>
          <a:solidFill>
            <a:srgbClr val="D85C3D"/>
          </a:solidFill>
          <a:ln w="12700">
            <a:solidFill>
              <a:srgbClr val="D85C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871215"/>
            <a:ext cx="512064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02F"/>
                </a:solidFill>
                <a:latin typeface="Noto Sans CJK SC"/>
                <a:ea typeface="Noto Sans CJK SC"/>
              </a:rPr>
              <a:t>待复核 / 退回 / 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39312"/>
            <a:ext cx="13258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巡检任务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3511296"/>
            <a:ext cx="65836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74519" y="3511296"/>
            <a:ext cx="960120" cy="56692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3630168"/>
            <a:ext cx="512064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02F"/>
                </a:solidFill>
                <a:latin typeface="Noto Sans CJK SC"/>
                <a:ea typeface="Noto Sans CJK SC"/>
              </a:rPr>
              <a:t>待分派 / 处理中 / 已更新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不要问“这篇内容是什么状态”，先问“哪个对象是什么状态”。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Demo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课堂演示一：从问题稿到自检修改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188720"/>
            <a:ext cx="5806440" cy="2852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营销内容自检原型页面" title="营销内容自检原型页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88" y="1307592"/>
            <a:ext cx="4649216" cy="261518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46520" y="1325880"/>
            <a:ext cx="2148840" cy="69494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399032"/>
            <a:ext cx="181965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① 固定输入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682495"/>
            <a:ext cx="181965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7302F"/>
                </a:solidFill>
                <a:latin typeface="Noto Sans CJK SC"/>
                <a:ea typeface="Noto Sans CJK SC"/>
              </a:rPr>
              <a:t>版本 + 上下文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39696"/>
            <a:ext cx="214884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212848"/>
            <a:ext cx="181965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② 执行检查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496312"/>
            <a:ext cx="181965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7302F"/>
                </a:solidFill>
                <a:latin typeface="Noto Sans CJK SC"/>
                <a:ea typeface="Noto Sans CJK SC"/>
              </a:rPr>
              <a:t>规则与模型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953512"/>
            <a:ext cx="2148840" cy="694944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026664"/>
            <a:ext cx="181965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③ 保存新稿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3310128"/>
            <a:ext cx="181965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7302F"/>
                </a:solidFill>
                <a:latin typeface="Noto Sans CJK SC"/>
                <a:ea typeface="Noto Sans CJK SC"/>
              </a:rPr>
              <a:t>V1 → V2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自检的完成条件不是“看过结果”，而是“问题被修改或明确保留”。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结论边界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机器“未发现问题”，不等于业务“正式通过”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417320"/>
            <a:ext cx="3246120" cy="221284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572768"/>
            <a:ext cx="29169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未发现问题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1993392"/>
            <a:ext cx="2916936" cy="1527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当前输入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当前检查范围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当前系统能力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084831"/>
            <a:ext cx="91440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D85C3D"/>
                </a:solidFill>
                <a:latin typeface="Noto Sans CJK SC"/>
                <a:ea typeface="Noto Sans CJK SC"/>
              </a:rPr>
              <a:t>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0368" y="1417320"/>
            <a:ext cx="3246120" cy="221284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1572768"/>
            <a:ext cx="29169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正式审核通过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1993392"/>
            <a:ext cx="2916936" cy="1527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有权角色确认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责任边界明确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允许进入下一业务环节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系统给判断材料；业务角色作正式决定。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Demo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课堂演示二：正式提交、人工复核与再修改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45436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57276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2821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提交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14884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正文与材料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89703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55748" y="157276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02052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2052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4388" y="172821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审核判断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0340" y="214884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核对原句与来源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633972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0016" y="157276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46320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5" y="172821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退回修改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7" y="214884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形成 V3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44283" y="157276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90588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0588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2923" y="172821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复核决定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8875" y="214884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结论绑定 V3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正式审核围绕提交版本流转，不能只围绕一条机器结果。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功能分工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自检与正式审核，目标、角色和产出都不同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61872"/>
            <a:ext cx="3886200" cy="26974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417319"/>
            <a:ext cx="35570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提交前自检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1837943"/>
            <a:ext cx="3557016" cy="2011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角色：作者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目标：尽早发现并修改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产出：检查记录 + 新版本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可反复执行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1261872"/>
            <a:ext cx="38862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3" y="1417319"/>
            <a:ext cx="35570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正式审核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1837943"/>
            <a:ext cx="3557016" cy="2011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角色：审核员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目标：作业务决定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产出：审核任务 + 正式结论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需要权限与责任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前者帮助准备；后者完成交接与决定。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版本有效性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V1 检查通过，也不能自动覆盖后来的 V2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139696"/>
            <a:ext cx="6858000" cy="36576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1901952"/>
            <a:ext cx="512064" cy="512064"/>
          </a:xfrm>
          <a:prstGeom prst="roundRect">
            <a:avLst>
              <a:gd name="adj" fmla="val 8000"/>
            </a:avLst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1353312"/>
            <a:ext cx="120700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02F"/>
                </a:solidFill>
                <a:latin typeface="Noto Sans CJK SC"/>
                <a:ea typeface="Noto Sans CJK SC"/>
              </a:rPr>
              <a:t>发起 V1 检查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1901952"/>
            <a:ext cx="512064" cy="512064"/>
          </a:xfrm>
          <a:prstGeom prst="roundRect">
            <a:avLst>
              <a:gd name="adj" fmla="val 8000"/>
            </a:avLst>
          </a:prstGeom>
          <a:solidFill>
            <a:srgbClr val="D85C3D"/>
          </a:solidFill>
          <a:ln w="12700">
            <a:solidFill>
              <a:srgbClr val="D85C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2888" y="1353312"/>
            <a:ext cx="120700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02F"/>
                </a:solidFill>
                <a:latin typeface="Noto Sans CJK SC"/>
                <a:ea typeface="Noto Sans CJK SC"/>
              </a:rPr>
              <a:t>保存 V2 新稿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901952"/>
            <a:ext cx="512064" cy="512064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1353312"/>
            <a:ext cx="120700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02F"/>
                </a:solidFill>
                <a:latin typeface="Noto Sans CJK SC"/>
                <a:ea typeface="Noto Sans CJK SC"/>
              </a:rPr>
              <a:t>V1 结果返回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01952"/>
            <a:ext cx="512064" cy="512064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1353312"/>
            <a:ext cx="1207008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02F"/>
                </a:solidFill>
                <a:latin typeface="Noto Sans CJK SC"/>
                <a:ea typeface="Noto Sans CJK SC"/>
              </a:rPr>
              <a:t>V2 重新检查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88920"/>
            <a:ext cx="74066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6B63"/>
                </a:solidFill>
                <a:latin typeface="Noto Sans CJK SC"/>
                <a:ea typeface="Noto Sans CJK SC"/>
              </a:rPr>
              <a:t>归属规则：检查记录永远绑定发起时的版本与上下文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85C3D"/>
                </a:solidFill>
                <a:latin typeface="Noto Sans CJK SC"/>
                <a:ea typeface="Noto Sans CJK SC"/>
              </a:rPr>
              <a:t>旧结果可以保留，但不能冒充新版本结论。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Demo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课堂演示三：巡检从变化事件开始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45436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57276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2821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业务变化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14884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资料 / 规则 / 条件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89703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55748" y="157276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02052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2052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4388" y="172821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圈定范围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0340" y="214884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在用内容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633972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0016" y="157276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46320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5" y="172821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建立批次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7" y="214884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问题与待办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44283" y="157276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90588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0588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2923" y="172821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分派处理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8875" y="214884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负责人承接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巡检不是重新跑全库，而是从变化反推受影响范围。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巡检只有走到真实渠道更新，业务才真正闭环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084831"/>
            <a:ext cx="1444752" cy="41148"/>
          </a:xfrm>
          <a:prstGeom prst="rect">
            <a:avLst/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1792224"/>
            <a:ext cx="603504" cy="603504"/>
          </a:xfrm>
          <a:prstGeom prst="roundRect">
            <a:avLst>
              <a:gd name="adj" fmla="val 8000"/>
            </a:avLst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801368"/>
            <a:ext cx="603504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87752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变化发生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2962656"/>
            <a:ext cx="1591056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673"/>
                </a:solidFill>
                <a:latin typeface="Noto Sans CJK SC"/>
                <a:ea typeface="Noto Sans CJK SC"/>
              </a:rPr>
              <a:t>资料失效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2112" y="2084831"/>
            <a:ext cx="1444752" cy="41148"/>
          </a:xfrm>
          <a:prstGeom prst="rect">
            <a:avLst/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1792224"/>
            <a:ext cx="603504" cy="603504"/>
          </a:xfrm>
          <a:prstGeom prst="roundRect">
            <a:avLst>
              <a:gd name="adj" fmla="val 8000"/>
            </a:avLst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1801368"/>
            <a:ext cx="603504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2587752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范围圈定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2962656"/>
            <a:ext cx="1591056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673"/>
                </a:solidFill>
                <a:latin typeface="Noto Sans CJK SC"/>
                <a:ea typeface="Noto Sans CJK SC"/>
              </a:rPr>
              <a:t>找到在用内容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6944" y="2084831"/>
            <a:ext cx="1444752" cy="41148"/>
          </a:xfrm>
          <a:prstGeom prst="rect">
            <a:avLst/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36592" y="1792224"/>
            <a:ext cx="603504" cy="603504"/>
          </a:xfrm>
          <a:prstGeom prst="roundRect">
            <a:avLst>
              <a:gd name="adj" fmla="val 8000"/>
            </a:avLst>
          </a:prstGeom>
          <a:solidFill>
            <a:srgbClr val="126B63"/>
          </a:solidFill>
          <a:ln w="12700">
            <a:solidFill>
              <a:srgbClr val="126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1801368"/>
            <a:ext cx="603504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2587752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任务处理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2962656"/>
            <a:ext cx="1591056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673"/>
                </a:solidFill>
                <a:latin typeface="Noto Sans CJK SC"/>
                <a:ea typeface="Noto Sans CJK SC"/>
              </a:rPr>
              <a:t>修改并复核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21424" y="1792224"/>
            <a:ext cx="603504" cy="603504"/>
          </a:xfrm>
          <a:prstGeom prst="roundRect">
            <a:avLst>
              <a:gd name="adj" fmla="val 8000"/>
            </a:avLst>
          </a:prstGeom>
          <a:solidFill>
            <a:srgbClr val="D85C3D"/>
          </a:solidFill>
          <a:ln w="12700">
            <a:solidFill>
              <a:srgbClr val="D85C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1801368"/>
            <a:ext cx="603504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2587752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实际更新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2962656"/>
            <a:ext cx="1591056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17673"/>
                </a:solidFill>
                <a:latin typeface="Noto Sans CJK SC"/>
                <a:ea typeface="Noto Sans CJK SC"/>
              </a:rPr>
              <a:t>渠道内容生效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85C3D"/>
                </a:solidFill>
                <a:latin typeface="Noto Sans CJK SC"/>
                <a:ea typeface="Noto Sans CJK SC"/>
              </a:rPr>
              <a:t>业务完成点不在“发现”，而在“实际更新并可追溯”。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状态表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把关键页面动作整理成一张运行表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16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1188720"/>
          <a:ext cx="8275320" cy="2852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1600200"/>
                <a:gridCol w="2514600"/>
                <a:gridCol w="24231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页面动作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作用对象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状态变化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下一责任人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保存新稿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内容版本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草稿 V1 → V2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作者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发起自检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检查记录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未开始 → 运行中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系统 / 作者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提交正式审核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正式任务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草稿 → 待复核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审核员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创建巡检批次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巡检任务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待创建 → 待分派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内容负责人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确认更新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巡检任务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处理中 → 已完成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负责人 / 审核员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小组练习：V3 已保存，V2 结果刚刚返回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325880"/>
            <a:ext cx="2377440" cy="25146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481328"/>
            <a:ext cx="204825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现场条件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1901952"/>
            <a:ext cx="2048256" cy="1828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V2 已发起检查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作者随后保存 V3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V2 结果迟到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1325880"/>
            <a:ext cx="23774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1481328"/>
            <a:ext cx="204825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请回答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1901952"/>
            <a:ext cx="2048256" cy="1828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结果显示在哪里？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能否更新 V3 状态？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需要全部重跑吗？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32588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1" y="1481328"/>
            <a:ext cx="24597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判断顺序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1901952"/>
            <a:ext cx="2459736" cy="1828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先看归属版本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再看有效范围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最后决定重跑策略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先保护版本边界，再讨论效率优化。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第一节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第一节只需要记住三个追问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417320"/>
            <a:ext cx="2423160" cy="214884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572768"/>
            <a:ext cx="17282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改了什么对象？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1993392"/>
            <a:ext cx="2093976" cy="1463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版本 / 记录 / 任务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1417320"/>
            <a:ext cx="24231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1129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2" y="1572768"/>
            <a:ext cx="17282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进入什么状态？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1993392"/>
            <a:ext cx="2093976" cy="1463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运行 / 待办 / 完成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417320"/>
            <a:ext cx="2423160" cy="214884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4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572768"/>
            <a:ext cx="17282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交给谁继续？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1993392"/>
            <a:ext cx="2093976" cy="1463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作者 / 审核员 / 负责人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能回答这三问，页面才开始具备业务含义。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CJK SC"/>
                <a:ea typeface="Noto Sans CJK SC"/>
              </a:rPr>
              <a:t>休息 10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786384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3DFDA"/>
                </a:solidFill>
                <a:latin typeface="Noto Sans CJK SC"/>
                <a:ea typeface="Noto Sans CJK SC"/>
              </a:rPr>
              <a:t>回来以后，我们专门处理“正常流程之外”的产品决策。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3246120"/>
            <a:ext cx="1920240" cy="53035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3255264"/>
            <a:ext cx="1920240" cy="51206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SC"/>
                <a:ea typeface="Noto Sans CJK SC"/>
              </a:rPr>
              <a:t>65 分钟继续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Noto Sans CJK SC"/>
                <a:ea typeface="Noto Sans CJK SC"/>
              </a:rPr>
              <a:t>第二次课 / 第二节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86384"/>
            <a:ext cx="420624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Noto Sans CJK SC"/>
                <a:ea typeface="Noto Sans CJK SC"/>
              </a:rPr>
              <a:t>异常决策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18488"/>
            <a:ext cx="3383280" cy="9601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Noto Sans CJK SC"/>
                <a:ea typeface="Noto Sans CJK SC"/>
              </a:rPr>
              <a:t>系统出问题时，
下一步到底怎么走？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554480"/>
            <a:ext cx="13716" cy="1783080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664208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八部分异常框架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295144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五类真实异常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2926080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继续、降级、人工与停止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13632"/>
            <a:ext cx="8366760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050791"/>
            <a:ext cx="7955279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Noto Sans CJK SC"/>
                <a:ea typeface="Noto Sans CJK SC"/>
              </a:rPr>
              <a:t>本节重点  ·  继续、降级、人工与停止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00600"/>
            <a:ext cx="18288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Noto Sans CJK SC"/>
                <a:ea typeface="Noto Sans CJK SC"/>
              </a:rPr>
              <a:t>链路 → 判断 → 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Noto Sans CJK SC"/>
                <a:ea typeface="Noto Sans CJK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异常框架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一个真实异常，至少要回答八个问题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344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271016"/>
            <a:ext cx="1133856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触发条件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12344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52344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52344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1271016"/>
            <a:ext cx="1133856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影响范围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12344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55464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5464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1271016"/>
            <a:ext cx="1133856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用户可见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1234440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58584" y="137160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58584" y="136702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271016"/>
            <a:ext cx="1133856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系统状态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2542032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" y="2679191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" y="26746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2578608"/>
            <a:ext cx="1133856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可选动作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06040" y="2542032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752344" y="2679191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52344" y="26746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2578608"/>
            <a:ext cx="1133856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承接角色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2542032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55464" y="2679191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55464" y="26746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2578608"/>
            <a:ext cx="1133856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保留材料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2280" y="2542032"/>
            <a:ext cx="18288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958584" y="2679191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8584" y="26746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2578608"/>
            <a:ext cx="1133856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恢复条件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异常不是一句提示，而是一条新的业务分支。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异常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异常一：业务材料缺失，先限定结论范围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34440"/>
            <a:ext cx="1874519" cy="25877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89888"/>
            <a:ext cx="1545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发生了什么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810512"/>
            <a:ext cx="1545336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商品资料过期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活动规则缺页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1234440"/>
            <a:ext cx="1874519" cy="258775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6624" y="1389888"/>
            <a:ext cx="1545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危险做法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1810512"/>
            <a:ext cx="1545336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仍输出完整通过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只弹“检查失败”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6864" y="1234440"/>
            <a:ext cx="1874519" cy="2587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5" y="1389888"/>
            <a:ext cx="1545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产品处理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5" y="1810512"/>
            <a:ext cx="1545336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标出缺项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受影响项不作结论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其余项可继续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11696" y="1234440"/>
            <a:ext cx="1975104" cy="258775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1389888"/>
            <a:ext cx="164592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谁来承接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1810512"/>
            <a:ext cx="1645920" cy="19019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作者补充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资料负责人确认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85C3D"/>
                </a:solidFill>
                <a:latin typeface="Noto Sans CJK SC"/>
                <a:ea typeface="Noto Sans CJK SC"/>
              </a:rPr>
              <a:t>信息不足时，先说明影响范围，再请求补充或确认。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异常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异常二：超时或局部失败，要保留已完成部分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45436" y="192024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48132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16184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61391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63677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发起检查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05740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固定输入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89703" y="192024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55748" y="148132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02052" y="16184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2052" y="161391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4388" y="163677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3 项完成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0340" y="205740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保留可用结果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633972" y="192024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0016" y="148132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46320" y="16184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61391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5" y="163677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1 项超时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7" y="205740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单项失败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44283" y="1481328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90588" y="161848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0588" y="161391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2923" y="1636776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分流处理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8875" y="2057400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重试 / 降级 / 人工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F8E8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85C3D"/>
                </a:solidFill>
                <a:latin typeface="Noto Sans CJK SC"/>
                <a:ea typeface="Noto Sans CJK SC"/>
              </a:rPr>
              <a:t>失败要细化到检查项，不能把整次任务一键抹掉。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异常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异常三：旧版本结果迟到，只能回到原版本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298448"/>
            <a:ext cx="2011680" cy="260604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453895"/>
            <a:ext cx="168249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T1 ·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874519"/>
            <a:ext cx="1682496" cy="19202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发起检查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输入已冻结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7792" y="1298448"/>
            <a:ext cx="2011680" cy="260604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2384" y="1453895"/>
            <a:ext cx="168249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T2 ·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1874519"/>
            <a:ext cx="1682496" cy="19202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作者保存新稿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当前版本改变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66944" y="1298448"/>
            <a:ext cx="3310128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6" y="1453895"/>
            <a:ext cx="2980944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T3 · V2 结果返回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1874519"/>
            <a:ext cx="2980944" cy="19202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归档到 V2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标注“非当前版本”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V3 按影响范围重跑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归属先于展示：结果写回哪个对象，比显示在哪里更重要。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异常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异常四：规则与模型冲突，不能静默取一个答案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25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298448"/>
          <a:ext cx="8138160" cy="24140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08760"/>
                <a:gridCol w="1965960"/>
                <a:gridCol w="2423160"/>
                <a:gridCol w="224028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规则级别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模型判断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产品动作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结果呈现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硬性禁止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认为可通过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阻断 + 人工确认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规则冲突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业务条件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认为有风险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展示双方理由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待确认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表达建议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认为无需修改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允许保留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建议项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冲突不是系统失灵，而是需要更清晰的决定权设计。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冲突处理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处理冲突时，先问规则是否具有强制性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170432"/>
            <a:ext cx="2468880" cy="7498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207008"/>
            <a:ext cx="2139696" cy="6766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  <a:ea typeface="Noto Sans CJK SC"/>
              </a:rPr>
              <a:t>规则具有强制性吗？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2148840" y="1993392"/>
            <a:ext cx="1097280" cy="182880"/>
          </a:xfrm>
          <a:prstGeom prst="lef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897880" y="1993392"/>
            <a:ext cx="10972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267712"/>
            <a:ext cx="3017520" cy="141732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423160"/>
            <a:ext cx="2688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是 · 硬规则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2843784"/>
            <a:ext cx="2688336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阻断自动通过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交人工确认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2267712"/>
            <a:ext cx="3017520" cy="1417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88152" y="2423160"/>
            <a:ext cx="268833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否 · 条件或建议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88152" y="2843784"/>
            <a:ext cx="2688336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并列展示理由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允许确认或保留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系统不能替业务掩盖冲突；要把冲突变成可判断的信息。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异常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异常五：角色争议，本质是决定权与承接关系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98448"/>
            <a:ext cx="2514600" cy="2560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453895"/>
            <a:ext cx="21854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作者不同意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1874519"/>
            <a:ext cx="2185416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允许说明理由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不能自行改正式结论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提交复核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1298448"/>
            <a:ext cx="25146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3864" y="1453895"/>
            <a:ext cx="21854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审核员质疑资料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1874519"/>
            <a:ext cx="2185416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暂停相关结论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请求资料负责人确认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保留争议状态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298448"/>
            <a:ext cx="2514600" cy="256032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453895"/>
            <a:ext cx="21854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巡检无人承接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874519"/>
            <a:ext cx="2185416" cy="1874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升级负责人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设置超时与提醒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必要时暂停使用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争议页面要给下一步，不只给“不同意”按钮。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角色权限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把“谁操作、谁确认、谁负责”分开设计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28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1234440"/>
          <a:ext cx="8229599" cy="26517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240280"/>
                <a:gridCol w="1874519"/>
                <a:gridCol w="27889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角色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可操作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可确认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主要责任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作者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编辑、发起自检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修改说明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提交可审版本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审核员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复核、退回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正式结论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决定是否进入下一环节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资料负责人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更新材料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资料有效性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维护业务来源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内容负责人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处理巡检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实际更新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维护在用内容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分流菜单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异常发生后，系统至少有五种处理方向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417320"/>
            <a:ext cx="1536192" cy="221284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572768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继续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93392"/>
            <a:ext cx="1207007" cy="1527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不影响其余项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1417320"/>
            <a:ext cx="1536192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76856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2" y="1572768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重试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1993392"/>
            <a:ext cx="1207007" cy="1527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临时性失败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1417320"/>
            <a:ext cx="1536192" cy="2212848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23360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1572768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降级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1993392"/>
            <a:ext cx="1207007" cy="1527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使用较弱方案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417320"/>
            <a:ext cx="1536192" cy="221284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9864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9864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572768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转人工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1993392"/>
            <a:ext cx="1207007" cy="1527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需要业务判断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0064" y="1417320"/>
            <a:ext cx="1536192" cy="2212848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16368" y="15544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15499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8704" y="1572768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停止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1993392"/>
            <a:ext cx="1207007" cy="1527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风险不可接受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自动化程度不是越高越好，关键是风险是否仍可控。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角色练习：同一条争议，三类用户分别需要什么？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98448"/>
            <a:ext cx="2514600" cy="257860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453895"/>
            <a:ext cx="21854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作者视角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1874519"/>
            <a:ext cx="2185416" cy="189280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原句与问题范围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修改或说明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再次提交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1298448"/>
            <a:ext cx="2514600" cy="257860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3864" y="1453895"/>
            <a:ext cx="21854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审核员视角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1874519"/>
            <a:ext cx="2185416" cy="189280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原句、材料与历史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确认或退回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正式决定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298448"/>
            <a:ext cx="2514600" cy="2578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453895"/>
            <a:ext cx="21854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资料负责人视角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874519"/>
            <a:ext cx="2185416" cy="189280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被引用材料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有效性与适用范围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更新资料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不要给所有角色同一套按钮；给他们完成职责所需的信息与动作。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第二节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第二节的核心：把报错变成可恢复的决策链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45436" y="1947672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508760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664207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看见影响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084831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范围可解释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89703" y="1947672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55748" y="1508760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02052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2052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4388" y="1664207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选择动作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0340" y="2084831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继续或停止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633972" y="1947672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0016" y="1508760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46320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5" y="1664207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交给角色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7" y="2084831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责任明确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44283" y="1508760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90588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0588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2923" y="1664207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确认恢复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8875" y="2084831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状态可追踪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异常设计的终点不是提示成功，而是业务恢复。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CJK SC"/>
                <a:ea typeface="Noto Sans CJK SC"/>
              </a:rPr>
              <a:t>休息 10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786384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3DFDA"/>
                </a:solidFill>
                <a:latin typeface="Noto Sans CJK SC"/>
                <a:ea typeface="Noto Sans CJK SC"/>
              </a:rPr>
              <a:t>下一段：把同一套方法迁移到合同、客服与其他业务。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3246120"/>
            <a:ext cx="1920240" cy="530352"/>
          </a:xfrm>
          <a:prstGeom prst="roundRect">
            <a:avLst>
              <a:gd name="adj" fmla="val 8000"/>
            </a:avLst>
          </a:prstGeom>
          <a:solidFill>
            <a:srgbClr val="D85C3D"/>
          </a:solidFill>
          <a:ln w="12700">
            <a:solidFill>
              <a:srgbClr val="D85C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3255264"/>
            <a:ext cx="1920240" cy="51206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SC"/>
                <a:ea typeface="Noto Sans CJK SC"/>
              </a:rPr>
              <a:t>120 分钟继续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4389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Noto Sans CJK SC"/>
                <a:ea typeface="Noto Sans CJK SC"/>
              </a:rPr>
              <a:t>第二次课 / 第三节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86384"/>
            <a:ext cx="420624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Noto Sans CJK SC"/>
                <a:ea typeface="Noto Sans CJK SC"/>
              </a:rPr>
              <a:t>方法迁移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18488"/>
            <a:ext cx="3383280" cy="9601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Noto Sans CJK SC"/>
                <a:ea typeface="Noto Sans CJK SC"/>
              </a:rPr>
              <a:t>怎样把一个案例，
迁成另一类 AI 产品？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1554480"/>
            <a:ext cx="13716" cy="1783080"/>
          </a:xfrm>
          <a:prstGeom prst="rect">
            <a:avLst/>
          </a:prstGeom>
          <a:solidFill>
            <a:srgbClr val="617673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5968" y="1664208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合同审核母案例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295144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十一项迁移框架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2926080"/>
            <a:ext cx="41605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Noto Sans CJK SC"/>
                <a:ea typeface="Noto Sans CJK SC"/>
              </a:rPr>
              <a:t>客服与三个新场景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13632"/>
            <a:ext cx="8366760" cy="62179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050791"/>
            <a:ext cx="7955279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Noto Sans CJK SC"/>
                <a:ea typeface="Noto Sans CJK SC"/>
              </a:rPr>
              <a:t>本节重点  ·  客服与三个新场景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00600"/>
            <a:ext cx="18288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3DFDA"/>
                </a:solidFill>
                <a:latin typeface="Noto Sans CJK SC"/>
                <a:ea typeface="Noto Sans CJK SC"/>
              </a:rPr>
              <a:t>链路 → 判断 → 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Noto Sans CJK SC"/>
                <a:ea typeface="Noto Sans CJK S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迁移定义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真正的迁移，不是把“营销”两个字替换掉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353312"/>
            <a:ext cx="3456432" cy="2542032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508760"/>
            <a:ext cx="312724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表面换皮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1929384"/>
            <a:ext cx="3127248" cy="18562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审核对象改名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页面字段改名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提示词改名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流程仍照搬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2176272"/>
            <a:ext cx="868680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6B63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1353312"/>
            <a:ext cx="3456432" cy="254203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3" y="1508760"/>
            <a:ext cx="312724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结构迁移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1929384"/>
            <a:ext cx="3127248" cy="185623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重新定义最终输出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反推输入与分工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补齐边界与系统连接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验证能力是否适用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迁移的是判断结构，而不是行业名词。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合同母案例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合同审核第一步：把“审合同”收窄成可验证范围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170432"/>
            <a:ext cx="7863840" cy="53035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271016"/>
            <a:ext cx="78638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所有合同、所有风险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1865376"/>
            <a:ext cx="621792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1965960"/>
            <a:ext cx="621792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销售合同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2560320"/>
            <a:ext cx="4572000" cy="530352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660904"/>
            <a:ext cx="457200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02F"/>
                </a:solidFill>
                <a:latin typeface="Noto Sans CJK SC"/>
                <a:ea typeface="Noto Sans CJK SC"/>
              </a:rPr>
              <a:t>付款 / 交付 / 违约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255264"/>
            <a:ext cx="3017520" cy="530352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355848"/>
            <a:ext cx="301752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SC"/>
                <a:ea typeface="Noto Sans CJK SC"/>
              </a:rPr>
              <a:t>给法务初审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范围越清楚，材料、验证与责任边界越容易设计。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反向设计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先定义最后要交付什么，再反推需要什么输入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36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60191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572768"/>
            <a:ext cx="2602991" cy="13258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728216"/>
            <a:ext cx="19080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最终输出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148840"/>
            <a:ext cx="2273807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问题条款 + 建议 + 待确认项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19215" y="2011680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70503" y="1572768"/>
            <a:ext cx="2602991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6807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6807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9143" y="1728216"/>
            <a:ext cx="19080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判断任务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5095" y="2148840"/>
            <a:ext cx="2273807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定位、分类、对照、解释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9527" y="1572768"/>
            <a:ext cx="2602991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75831" y="1709928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5831" y="1705356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8167" y="1728216"/>
            <a:ext cx="19080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所需输入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4119" y="2148840"/>
            <a:ext cx="2273807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正文 + 模板 + 规则 + 背景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先定输出，才能知道模型究竟要完成哪些判断。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能力定位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模型更像勤奋的法务实习生，而不是最终决定者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325880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481328"/>
            <a:ext cx="328269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模型擅长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1901952"/>
            <a:ext cx="3282696" cy="19202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快速阅读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定位相关条款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对照规则与模板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生成结构化初稿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325880"/>
            <a:ext cx="36118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1481328"/>
            <a:ext cx="328269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人必须负责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1901952"/>
            <a:ext cx="3282696" cy="19202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确认业务事实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处理非标安排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权衡风险与交易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作最终决定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把模型放在合适岗位，比夸大“智能”更重要。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合同流程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合同审核：把人工分工拆成三条并行流程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188720"/>
            <a:ext cx="1828800" cy="267004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44168"/>
            <a:ext cx="149961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共同输入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64792"/>
            <a:ext cx="1499616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合同正文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合同类型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交易背景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5184" y="1188720"/>
            <a:ext cx="1682496" cy="71323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9776" y="1261872"/>
            <a:ext cx="13533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条款识别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9776" y="1545336"/>
            <a:ext cx="135331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7302F"/>
                </a:solidFill>
                <a:latin typeface="Noto Sans CJK SC"/>
                <a:ea typeface="Noto Sans CJK SC"/>
              </a:rPr>
              <a:t>定位与分类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15184" y="2084831"/>
            <a:ext cx="1682496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157984"/>
            <a:ext cx="13533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规则对照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2441448"/>
            <a:ext cx="135331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7302F"/>
                </a:solidFill>
                <a:latin typeface="Noto Sans CJK SC"/>
                <a:ea typeface="Noto Sans CJK SC"/>
              </a:rPr>
              <a:t>模板与制度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15184" y="2980944"/>
            <a:ext cx="1682496" cy="71323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9776" y="3054096"/>
            <a:ext cx="1353312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业务核对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6" y="3337560"/>
            <a:ext cx="1353312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7302F"/>
                </a:solidFill>
                <a:latin typeface="Noto Sans CJK SC"/>
                <a:ea typeface="Noto Sans CJK SC"/>
              </a:rPr>
              <a:t>条件与例外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517136" y="2267712"/>
            <a:ext cx="50292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66360" y="1188720"/>
            <a:ext cx="1783080" cy="2670048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1344168"/>
            <a:ext cx="1453895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汇总问题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1764792"/>
            <a:ext cx="1453895" cy="19842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风险条款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修改建议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待确认项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50608" y="2267712"/>
            <a:ext cx="41148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35240" y="1188720"/>
            <a:ext cx="1060704" cy="267004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1225296"/>
            <a:ext cx="731519" cy="2596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法务
确认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企业化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从通用能力升级为企业产品，要补齐边界与连接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39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188720"/>
            <a:ext cx="2423160" cy="2743200"/>
          </a:xfrm>
          <a:prstGeom prst="roundRect">
            <a:avLst>
              <a:gd name="adj" fmla="val 8000"/>
            </a:avLst>
          </a:prstGeom>
          <a:solidFill>
            <a:srgbClr val="F8E8E2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344168"/>
            <a:ext cx="20939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85C3D"/>
                </a:solidFill>
                <a:latin typeface="Noto Sans CJK SC"/>
                <a:ea typeface="Noto Sans CJK SC"/>
              </a:rPr>
              <a:t>边界分支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764792"/>
            <a:ext cx="2093976" cy="20574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扫描件识别失败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附件缺失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跨条款冲突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未知合同类型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复杂交易转人工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344168"/>
            <a:ext cx="23225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审核能力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1764792"/>
            <a:ext cx="2322576" cy="20574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识别 → 对照 → 解释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结果附定位与来源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明确待确认项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188720"/>
            <a:ext cx="2423160" cy="274320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1344168"/>
            <a:ext cx="2093976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企业连接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1764792"/>
            <a:ext cx="2093976" cy="20574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合同与模板库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组织权限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审批流程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版本与历史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处理结果回写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核心框架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十一项迁移框架：从业务问题走到可运行产品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1170432"/>
            <a:ext cx="1143000" cy="768096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1170432"/>
            <a:ext cx="114300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</a:rPr>
              <a:t>A 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4792" y="1170432"/>
            <a:ext cx="1591056" cy="7680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11095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11095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1207008"/>
            <a:ext cx="896112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业务问题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57016" y="1170432"/>
            <a:ext cx="1591056" cy="7680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03320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5656" y="1207008"/>
            <a:ext cx="896112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首版范围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1170432"/>
            <a:ext cx="1591056" cy="7680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95544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544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79" y="1207008"/>
            <a:ext cx="896112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最终输出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41464" y="1170432"/>
            <a:ext cx="1591056" cy="7680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87768" y="130759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130302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0104" y="1207008"/>
            <a:ext cx="896112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人工流程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" y="2157984"/>
            <a:ext cx="1143000" cy="768096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2157984"/>
            <a:ext cx="114300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</a:rPr>
              <a:t>B 构建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64792" y="2157984"/>
            <a:ext cx="1591056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11095" y="229514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11095" y="229057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13432" y="2194560"/>
            <a:ext cx="896112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输入材料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57016" y="2157984"/>
            <a:ext cx="1591056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03320" y="229514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229057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5656" y="2194560"/>
            <a:ext cx="896112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判断任务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49240" y="2157984"/>
            <a:ext cx="1591056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95544" y="229514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95544" y="229057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79" y="2194560"/>
            <a:ext cx="896112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能力验证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41464" y="2157984"/>
            <a:ext cx="1591056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87768" y="229514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87768" y="2290572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0104" y="2194560"/>
            <a:ext cx="896112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系统流程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145536"/>
            <a:ext cx="1143000" cy="768096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3145536"/>
            <a:ext cx="1143000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  <a:ea typeface="Noto Sans CJK SC"/>
              </a:rPr>
              <a:t>C 落地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64792" y="3145536"/>
            <a:ext cx="2121408" cy="768096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911095" y="328269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11095" y="327812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13432" y="3182112"/>
            <a:ext cx="1426463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边界条件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96512" y="3145536"/>
            <a:ext cx="2121408" cy="768096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242816" y="328269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2816" y="327812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2" y="3182112"/>
            <a:ext cx="1426463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角色权限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3145536"/>
            <a:ext cx="2121408" cy="768096"/>
          </a:xfrm>
          <a:prstGeom prst="roundRect">
            <a:avLst>
              <a:gd name="adj" fmla="val 8000"/>
            </a:avLst>
          </a:prstGeom>
          <a:solidFill>
            <a:srgbClr val="F6E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74536" y="3282696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74536" y="3278124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76872" y="3182112"/>
            <a:ext cx="1426463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63"/>
                </a:solidFill>
                <a:latin typeface="Noto Sans CJK SC"/>
                <a:ea typeface="Noto Sans CJK SC"/>
              </a:rPr>
              <a:t>企业连接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迁移顺序：先定义决定，再设计能力，最后接入真实组织。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现场迁移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把合同审核结构，映射到客服会话质检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41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1133856"/>
          <a:ext cx="8266176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08760"/>
                <a:gridCol w="3063240"/>
                <a:gridCol w="369417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1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迁移维度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合同审核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1" i="0">
                          <a:solidFill>
                            <a:srgbClr val="102F30"/>
                          </a:solidFill>
                          <a:latin typeface="Arial"/>
                          <a:ea typeface="Noto Sans CJK SC"/>
                        </a:rPr>
                        <a:t>客服会话质检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102F30"/>
                      </a:solidFill>
                    </a:lnT>
                    <a:lnB w="10160" cap="flat" cmpd="sng" algn="ctr">
                      <a:solidFill>
                        <a:srgbClr val="D3DFDA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被判断对象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合同条款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会话片段 / 整段会话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业务材料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模板、制度、交易背景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服务规范、产品政策、客户上下文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系统输出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风险条款、建议、待确认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问题定位、原因、整改建议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人工角色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法务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质检员 / 班组长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后续动作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修改、审批、归档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10" b="0" i="0">
                          <a:solidFill>
                            <a:srgbClr val="17302F"/>
                          </a:solidFill>
                          <a:latin typeface="Arial"/>
                          <a:ea typeface="Noto Sans CJK SC"/>
                        </a:rPr>
                        <a:t>申诉、整改、复训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102F3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客服流程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客服会话质检：从识别问题走到整改复核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42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45436" y="1947672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508760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664207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会话输入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2084831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文本 + 客户上下文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89703" y="1947672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55748" y="1508760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02052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2052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4388" y="1664207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并行检查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0340" y="2084831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规范 / 事实 / 沟通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633972" y="1947672"/>
            <a:ext cx="164592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26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0016" y="1508760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46320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5" y="1664207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人工复核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7" y="2084831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确认与申诉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44283" y="1508760"/>
            <a:ext cx="1888236" cy="1325880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90588" y="1645919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0588" y="164134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2923" y="1664207"/>
            <a:ext cx="119329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整改闭环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8875" y="2084831"/>
            <a:ext cx="1559052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整改 / 复训 / 复核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质检产品的完成点不是打分，而是问题被承接和改进。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小组迁移练习：用同一框架设计一个新场景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25296"/>
            <a:ext cx="2542032" cy="1033271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380744"/>
            <a:ext cx="221284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① 业务问题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3" y="1801368"/>
            <a:ext cx="2212848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写清要解决的判断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5264" y="1225296"/>
            <a:ext cx="2542032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1380744"/>
            <a:ext cx="221284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② 首版范围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1801368"/>
            <a:ext cx="2212848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限定对象与角色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71616" y="1225296"/>
            <a:ext cx="2542032" cy="1033271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1380744"/>
            <a:ext cx="221284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③ 最终输出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1801368"/>
            <a:ext cx="2212848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列出决定所需结果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2532888"/>
            <a:ext cx="2542032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3" y="2688336"/>
            <a:ext cx="221284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④ 输入材料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3" y="3108960"/>
            <a:ext cx="2212848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说明业务来源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55264" y="2532888"/>
            <a:ext cx="2542032" cy="1033271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2688336"/>
            <a:ext cx="221284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⑤ 边界与人工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3108960"/>
            <a:ext cx="2212848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标出转人工条件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1616" y="2532888"/>
            <a:ext cx="2542032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2688336"/>
            <a:ext cx="2212848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⑥ 企业连接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108960"/>
            <a:ext cx="2212848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写明系统回写位置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先把首版做窄，再把闭环做完整。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三个小案例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三个可迁移场景：对象不同，判断结构相似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188720"/>
            <a:ext cx="2596896" cy="276148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1344168"/>
            <a:ext cx="190195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招聘信息审核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" y="1764792"/>
            <a:ext cx="2267712" cy="20756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对象：职位文案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材料：招聘规范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输出：问题句 + 修改建议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人工：HR / 法务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3552" y="1188720"/>
            <a:ext cx="2596896" cy="276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19856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1344168"/>
            <a:ext cx="190195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发票与报销审核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8144" y="1764792"/>
            <a:ext cx="2267712" cy="20756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对象：票据 + 报销单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材料：费用制度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输出：异常项 + 待补材料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人工：财务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1188720"/>
            <a:ext cx="2596896" cy="276148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54496" y="1325880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1321308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1" y="1344168"/>
            <a:ext cx="1901952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金融营销材料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3" y="1764792"/>
            <a:ext cx="2267712" cy="20756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对象：宣传文案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材料：产品与合规规则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输出：风险点 + 处理动作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人工：合规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4"/>
          </a:solidFill>
          <a:ln w="12700">
            <a:solidFill>
              <a:srgbClr val="F7F8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46888"/>
            <a:ext cx="786384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26B63"/>
                </a:solidFill>
                <a:latin typeface="Noto Sans CJK SC"/>
                <a:ea typeface="Noto Sans CJK SC"/>
              </a:rPr>
              <a:t>第三节 · 点评标准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12064"/>
            <a:ext cx="8321040" cy="5029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302F"/>
                </a:solidFill>
                <a:latin typeface="Noto Sans CJK SC"/>
                <a:ea typeface="Noto Sans CJK SC"/>
              </a:rPr>
              <a:t>点评一份迁移方案，只看五个关键问题</a:t>
            </a:r>
          </a:p>
        </p:txBody>
      </p:sp>
      <p:sp>
        <p:nvSpPr>
          <p:cNvPr id="5" name="deckkit-motif-quiet"/>
          <p:cNvSpPr/>
          <p:nvPr/>
        </p:nvSpPr>
        <p:spPr>
          <a:xfrm>
            <a:off x="8183879" y="274320"/>
            <a:ext cx="685800" cy="68580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motif-quiet"/>
          <p:cNvSpPr/>
          <p:nvPr/>
        </p:nvSpPr>
        <p:spPr>
          <a:xfrm>
            <a:off x="8286750" y="377190"/>
            <a:ext cx="480059" cy="480059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motif-quiet"/>
          <p:cNvSpPr/>
          <p:nvPr/>
        </p:nvSpPr>
        <p:spPr>
          <a:xfrm>
            <a:off x="8389619" y="480060"/>
            <a:ext cx="274320" cy="274320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818888"/>
            <a:ext cx="9144000" cy="9144"/>
          </a:xfrm>
          <a:prstGeom prst="rect">
            <a:avLst/>
          </a:prstGeom>
          <a:solidFill>
            <a:srgbClr val="D3DFDA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1  全链路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17673"/>
                </a:solidFill>
                <a:latin typeface="Noto Sans CJK SC"/>
                <a:ea typeface="Noto Sans CJK SC"/>
              </a:rPr>
              <a:t>2  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4855464"/>
            <a:ext cx="141732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126B63"/>
                </a:solidFill>
                <a:latin typeface="Noto Sans CJK SC"/>
                <a:ea typeface="Noto Sans CJK SC"/>
              </a:rPr>
              <a:t>3  场景迁移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55464"/>
            <a:ext cx="1600200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17673"/>
                </a:solidFill>
                <a:latin typeface="Noto Sans CJK SC"/>
                <a:ea typeface="Noto Sans CJK SC"/>
              </a:rPr>
              <a:t>第二次课 · 营销内容智能审核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4855464"/>
            <a:ext cx="164592" cy="16459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17673"/>
                </a:solidFill>
                <a:latin typeface="Noto Sans CJK SC"/>
                <a:ea typeface="Noto Sans CJK SC"/>
              </a:rPr>
              <a:t>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929384"/>
            <a:ext cx="1207007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是否足够清楚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76856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9192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1929384"/>
            <a:ext cx="1207007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能否支撑输出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7056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23360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人工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1929384"/>
            <a:ext cx="1207007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决定点是否合理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F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69864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9864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6B63"/>
                </a:solidFill>
                <a:latin typeface="Noto Sans CJK SC"/>
                <a:ea typeface="Noto Sans CJK SC"/>
              </a:rPr>
              <a:t>异常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1929384"/>
            <a:ext cx="1207007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7302F"/>
                </a:solidFill>
                <a:latin typeface="Noto Sans CJK SC"/>
                <a:ea typeface="Noto Sans CJK SC"/>
              </a:rPr>
              <a:t>能否恢复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70064" y="1353312"/>
            <a:ext cx="1536192" cy="2395728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16368" y="1490472"/>
            <a:ext cx="310896" cy="310896"/>
          </a:xfrm>
          <a:prstGeom prst="roundRect">
            <a:avLst>
              <a:gd name="adj" fmla="val 8000"/>
            </a:avLst>
          </a:prstGeom>
          <a:solidFill>
            <a:srgbClr val="DBAB4A"/>
          </a:solidFill>
          <a:ln w="12700">
            <a:solidFill>
              <a:srgbClr val="DBAB4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1485900"/>
            <a:ext cx="310896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02F30"/>
                </a:solidFill>
                <a:latin typeface="Arial"/>
                <a:ea typeface="Noto Sans CJK S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8704" y="1508760"/>
            <a:ext cx="841247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Noto Sans CJK SC"/>
                <a:ea typeface="Noto Sans CJK SC"/>
              </a:rPr>
              <a:t>闭环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1929384"/>
            <a:ext cx="1207007" cy="1709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Noto Sans CJK SC"/>
                <a:ea typeface="Noto Sans CJK SC"/>
              </a:rPr>
              <a:t>是否进入真实流程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197096"/>
            <a:ext cx="8366760" cy="438912"/>
          </a:xfrm>
          <a:prstGeom prst="roundRect">
            <a:avLst>
              <a:gd name="adj" fmla="val 8000"/>
            </a:avLst>
          </a:prstGeom>
          <a:solidFill>
            <a:srgbClr val="E8F2EF"/>
          </a:solidFill>
          <a:ln w="12700">
            <a:solidFill>
              <a:srgbClr val="E8F2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297680"/>
            <a:ext cx="8046720" cy="21945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6B63"/>
                </a:solidFill>
                <a:latin typeface="Noto Sans CJK SC"/>
                <a:ea typeface="Noto Sans CJK SC"/>
              </a:rPr>
              <a:t>好方案不是“AI 功能多”，而是判断与行动接得上。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F30"/>
          </a:solidFill>
          <a:ln w="12700">
            <a:solidFill>
              <a:srgbClr val="102F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0040"/>
            <a:ext cx="804672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AB4A"/>
                </a:solidFill>
                <a:latin typeface="Noto Sans CJK SC"/>
                <a:ea typeface="Noto Sans CJK SC"/>
              </a:rPr>
              <a:t>全课收束 · 课堂输出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13232"/>
            <a:ext cx="813816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Noto Sans CJK SC"/>
                <a:ea typeface="Noto Sans CJK SC"/>
              </a:rPr>
              <a:t>用一页纸，说明一个判断型 AI 产品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64242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  <a:ea typeface="Noto Sans CJK SC"/>
              </a:rPr>
              <a:t>1 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业务问题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首版范围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最终输出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87A70"/>
          </a:solidFill>
          <a:ln w="12700">
            <a:solidFill>
              <a:srgbClr val="18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  <a:ea typeface="Noto Sans CJK SC"/>
              </a:rPr>
              <a:t>2 构建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输入材料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判断任务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能力验证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72768"/>
            <a:ext cx="2596896" cy="2331720"/>
          </a:xfrm>
          <a:prstGeom prst="roundRect">
            <a:avLst>
              <a:gd name="adj" fmla="val 8000"/>
            </a:avLst>
          </a:prstGeom>
          <a:solidFill>
            <a:srgbClr val="164242"/>
          </a:solidFill>
          <a:ln w="12700">
            <a:solidFill>
              <a:srgbClr val="6176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773936"/>
            <a:ext cx="2267712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  <a:ea typeface="Noto Sans CJK SC"/>
              </a:rPr>
              <a:t>3 落地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267712"/>
            <a:ext cx="2267712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角色权限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异常分流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Noto Sans CJK SC"/>
                <a:ea typeface="Noto Sans CJK SC"/>
              </a:rPr>
              <a:t>企业连接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251960"/>
            <a:ext cx="822960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BAB4A"/>
                </a:solidFill>
                <a:latin typeface="Noto Sans CJK SC"/>
                <a:ea typeface="Noto Sans CJK SC"/>
              </a:rPr>
              <a:t>最终检验：对象说得清 · 状态接得上 · 异常有人管 · 结果进业务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82803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Noto Sans CJK SC"/>
                <a:ea typeface="Noto Sans CJK SC"/>
              </a:rPr>
              <a:t>第二次课 · 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4828032"/>
            <a:ext cx="18288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3DFDA"/>
                </a:solidFill>
                <a:latin typeface="Noto Sans CJK SC"/>
                <a:ea typeface="Noto Sans CJK SC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