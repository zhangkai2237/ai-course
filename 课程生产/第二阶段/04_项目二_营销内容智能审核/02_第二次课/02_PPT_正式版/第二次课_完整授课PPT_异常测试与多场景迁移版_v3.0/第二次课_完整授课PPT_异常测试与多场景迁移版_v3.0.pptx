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开场只说明今天的三道判断门：异常中能否安全取舍、测试后能否决定下一步、换业务后能否重新完成产品分析。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用三道门建立全课地图。第四节回答异常中如何继续；第五节回答测试后是否继续；第七节回答换场景后方法是否继续成立。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用一个正常演示与五个真实打断做对照。不要展开技术细节，先让学员感受到今天的判断难度。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第四节讲异常中的产品取舍。关键不是列异常，而是说明每次取舍背后的业务条件。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把技术报错翻译成业务任务。用户必须知道未完成的位置、影响、动作和负责人。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逐项解释八个字段。强调这是一张完整异常卡，而不是八条互不相关的功能。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讲赠品资格材料缺失案例。区分内容错误与材料不足；说明只重跑受影响分支。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说明三路检查只失败一路时的状态。是否允许业务继续，取决于失败分支是否为当前场景必检项。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演示V1发起检查、V2保存、V1结果迟到。强调输出与输入快照绑定。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讲两个案例：最后作为顺序词；1799计算成立但资格条件缺失。先判断两个结果是否回答同一问题。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依次讲作者异议、材料过期和线上巡检无人处理。重点是权限与责任不能被机器结论替代。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逐个解释继续、重试、降级、转人工和终止。强调降级不是把失败改成成功。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用1799优惠条件不完整做教师推演，不组织角色练习。分别说明作者、审核员与材料负责人需要看到和执行什么。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用四个词收束第四节：可解释、可执行、可交接、可恢复。为第五节的测试判断做过渡。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休息十分钟。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第五节不重新讲指标公式，而是讲产品经理怎样把测试结果转成方案判断。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强调规则、模型、材料、合并、页面和人工共同构成被测试方案。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讲四种来源。提醒脱敏与版本管理；构造样本只能补齐覆盖，不能替代真实分布。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逐项解释六个字段。特别强调标注人和版本，否则同一内容会随着规则变化失去可比性。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说明四类样本各自防止什么偏差。正常样本防误报，问题样本测识别，边界样本测条件，异常样本测安全承接。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不讲公式推导。用四组指标分别回答识别、稳定、业务和高风险问题。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用两类同样数量的错误做对照。说明误报增加工作量，严重漏检可能直接改变是否试点的结论。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用8分钟人工、40秒机器、60%复核、6分钟复核举例。不要计算精确ROI，只强调总投入。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展示90%、85%、2分钟三个讨论值，并立即说明真实门槛取决于问题成本、样本分布与人工基线。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这是第五节峰值页。用四个象限说明进入试点、补齐能力、收缩范围和暂停。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读出输入。先定位根因，再给修改动作和回归样本。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输入是连续三年销量第一。说明缺少报告范围、时间和来源时，应返回需补材料或转人工。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输入是全网第一、排名第一。说明合并逻辑不只是视觉去重，而是确定一个可处理业务对象。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展示九类根因。讲解时要求每个坏案例先归类，再决定修改动作。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讲完整闭环，并要求记录改动原因、影响范围、旧问题与新问题。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教师口头给出四类结果，让学员快速说出下一步。此页不安排分组产出。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用四个问题收束：识别、稳定、业务和高风险。为多场景迁移做过渡。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休息十分钟。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第三部分用合同作为母案例，再连续展开四个新业务。强调重新完成业务分析，而不是替换页面名。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项目边界是常规业务合同的初步检查、定位和修改建议；复杂争议和最终决定仍由专业人员负责。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这一页不谈模型。先还原主体、条款、引用、履约和周边风险五类人工任务。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业务需要问题条款、类型、原因、影响、建议和待确认项，因此输入不能只有合同正文。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验证重点不是文字流畅，而是定位、明显矛盾、建议可理解、不过度提示、不编造以及知道何时停下。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并行不是为了复杂，而是让每条路线目标、输入和结果都可单独检查。最后由法务确认。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30天交付在条款上可能正常，结合产能、物料和历史履约后可能暴露真实风险。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这是全课峰值页。按定义、构建、落地三组讲十一项，不要求学员当场练习。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完整讲解客服质检。强调产品完成点是整改闭环，不是给会话打一个分。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完整讲解招聘信息审核。强调岗位是否真实、薪酬是否批准必须来自企业内部事实。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完整讲解报销审核。强调发票真实不等于报销成立，首版不自动付款。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完整讲解金融营销材料审核。本案例只讲产品设计，不给出具体专业结论。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横向比较被判断对象、关键材料、人工角色和企业连接价值。强调这些不是练习选项。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用八步路线收束五个案例。指出变化的是对象、事实、角色与边界，不变的是产品方法。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结束时回到三次判断。AI可以快速生成界面和方案草稿，但产品经理需要对异常、测试结果和跨场景迁移承担判断。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47472"/>
            <a:ext cx="3200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BAB4A"/>
                </a:solidFill>
                <a:latin typeface="Hiragino Sans GB"/>
                <a:ea typeface="Hiragino Sans GB"/>
              </a:rPr>
              <a:t>项目二 · 第二次课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41832"/>
            <a:ext cx="8138160" cy="8046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iragino Sans GB"/>
                <a:ea typeface="Hiragino Sans GB"/>
              </a:rPr>
              <a:t>真实异常、测试判断
与多场景迁移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04872"/>
            <a:ext cx="722376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Hiragino Sans GB"/>
                <a:ea typeface="Hiragino Sans GB"/>
              </a:rPr>
              <a:t>从“能跑”走向“敢试点”，再走向可迁移的方法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73552"/>
            <a:ext cx="233172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73552"/>
            <a:ext cx="2331720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Hiragino Sans GB"/>
                <a:ea typeface="Hiragino Sans GB"/>
              </a:rPr>
              <a:t>异常取舍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34640" y="3547872"/>
            <a:ext cx="50292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A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90672" y="3273552"/>
            <a:ext cx="2331720" cy="74980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3273552"/>
            <a:ext cx="2331720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iragino Sans GB"/>
                <a:ea typeface="Hiragino Sans GB"/>
              </a:rPr>
              <a:t>测试判断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68112" y="3547872"/>
            <a:ext cx="50292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A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24144" y="3273552"/>
            <a:ext cx="233172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4144" y="3273552"/>
            <a:ext cx="2331720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Hiragino Sans GB"/>
                <a:ea typeface="Hiragino Sans GB"/>
              </a:rPr>
              <a:t>场景迁移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73168"/>
            <a:ext cx="34747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Hiragino Sans GB"/>
                <a:ea typeface="Hiragino Sans GB"/>
              </a:rPr>
              <a:t>AI 产品经理项目实战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773168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Hiragino Sans GB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课程地图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今天不是继续堆功能，而是连续过三道判断门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325880"/>
            <a:ext cx="2615184" cy="25146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46303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4584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481328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异常门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911095"/>
            <a:ext cx="2286000" cy="1801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流程被打断时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能否安全停下、恢复与交接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99816" y="2450592"/>
            <a:ext cx="20116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A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4408" y="1325880"/>
            <a:ext cx="2615184" cy="251460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10712" y="146303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14584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1481328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测试门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1911095"/>
            <a:ext cx="2286000" cy="1801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结果不完美时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进入试点、补齐、收缩或暂停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25312" y="2450592"/>
            <a:ext cx="20116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A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89904" y="1325880"/>
            <a:ext cx="2615184" cy="25146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6208" y="146303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14584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1481328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迁移门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1911095"/>
            <a:ext cx="2286000" cy="1801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换一个业务后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重新定义对象、材料、角色与边界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能跑通只是起点；真实产品必须能处理异常、接受测试并跨场景重做判断。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开场 · 从演示走向试点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一个产品能运行，不等于能交给真实业务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43584"/>
            <a:ext cx="2926080" cy="260604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8074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7617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399032"/>
            <a:ext cx="22311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演示中的顺利路径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828800"/>
            <a:ext cx="2596896" cy="18928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提交文案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机器返回问题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运营修改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再次提交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1243584"/>
            <a:ext cx="5001768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49624" y="138074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9624" y="137617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1399032"/>
            <a:ext cx="430682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Hiragino Sans GB"/>
                <a:ea typeface="Hiragino Sans GB"/>
              </a:rPr>
              <a:t>真实业务中的打断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1" y="1828800"/>
            <a:ext cx="4672583" cy="18928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活动材料未同步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某一路模型超时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检查途中修改文案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规则与模型判断不同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发现问题却无人负责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85C3D"/>
                </a:solidFill>
                <a:latin typeface="Hiragino Sans GB"/>
                <a:ea typeface="Hiragino Sans GB"/>
              </a:rPr>
              <a:t>今天关注的不是系统顺利时多聪明，而是不顺利时怎样做出安全、可解释的取舍。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4389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Hiragino Sans GB"/>
                <a:ea typeface="Hiragino Sans GB"/>
              </a:rPr>
              <a:t>第二次课 / 第四节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4983480" cy="4754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Hiragino Sans GB"/>
                <a:ea typeface="Hiragino Sans GB"/>
              </a:rPr>
              <a:t>真实异常中的产品取舍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645920"/>
            <a:ext cx="3886200" cy="9875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Hiragino Sans GB"/>
                <a:ea typeface="Hiragino Sans GB"/>
              </a:rPr>
              <a:t>正常流程被打断，
产品怎样安全继续？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90288" y="1527048"/>
            <a:ext cx="13716" cy="1847088"/>
          </a:xfrm>
          <a:prstGeom prst="rect">
            <a:avLst/>
          </a:prstGeom>
          <a:solidFill>
            <a:srgbClr val="617673"/>
          </a:solidFill>
          <a:ln w="12700">
            <a:solidFill>
              <a:srgbClr val="6176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8032" y="1673352"/>
            <a:ext cx="379476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FFFFFF"/>
                </a:solidFill>
                <a:latin typeface="Hiragino Sans GB"/>
                <a:ea typeface="Hiragino Sans GB"/>
              </a:rPr>
              <a:t>把异常设计成业务状态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8032" y="2304288"/>
            <a:ext cx="379476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FFFFFF"/>
                </a:solidFill>
                <a:latin typeface="Hiragino Sans GB"/>
                <a:ea typeface="Hiragino Sans GB"/>
              </a:rPr>
              <a:t>处理五类真实异常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2" y="2935224"/>
            <a:ext cx="379476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FFFFFF"/>
                </a:solidFill>
                <a:latin typeface="Hiragino Sans GB"/>
                <a:ea typeface="Hiragino Sans GB"/>
              </a:rPr>
              <a:t>选择继续、重试、降级、人工或终止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913632"/>
            <a:ext cx="8339327" cy="62179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50791"/>
            <a:ext cx="7936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</a:rPr>
              <a:t>本节重点  ·  选择继续、重试、降级、人工或终止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800600"/>
            <a:ext cx="29260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3DFDA"/>
                </a:solidFill>
                <a:latin typeface="Hiragino Sans GB"/>
                <a:ea typeface="Hiragino Sans GB"/>
              </a:rPr>
              <a:t>异常取舍 → 测试判断 → 场景迁移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Hiragino Sans GB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第四节 · 异常定义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异常不是一句报错，而是一次未完成的业务任务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1325880"/>
            <a:ext cx="3154680" cy="2331720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146303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4584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1481328"/>
            <a:ext cx="24597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Hiragino Sans GB"/>
                <a:ea typeface="Hiragino Sans GB"/>
              </a:rPr>
              <a:t>低质量表达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911095"/>
            <a:ext cx="2825496" cy="161848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系统异常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请稍后再试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未发现问题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2194560"/>
            <a:ext cx="9601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6B63"/>
                </a:solidFill>
                <a:latin typeface="Hiragino Sans GB"/>
                <a:ea typeface="Hiragino Sans GB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1325880"/>
            <a:ext cx="3547872" cy="23317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21224" y="146303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1224" y="14584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1481328"/>
            <a:ext cx="285292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可处理的业务状态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1911095"/>
            <a:ext cx="3218688" cy="161848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哪里没完成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影响哪些判断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当前还能做什么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由谁继续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异常设计的目标，是让任务可以被理解、恢复和交接。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第四节 · 八项框架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一张异常卡要回答八个问题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188720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243584"/>
            <a:ext cx="1179575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触发条件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2032" y="1188720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88336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88336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1243584"/>
            <a:ext cx="1179575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影响范围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6864" y="1188720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73168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3" y="1243584"/>
            <a:ext cx="1179575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当前状态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11696" y="1188720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0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1243584"/>
            <a:ext cx="1179575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页面表达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359152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" y="24963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249174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414016"/>
            <a:ext cx="1179575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可执行动作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42032" y="2359152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688336" y="24963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88336" y="249174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90672" y="2414016"/>
            <a:ext cx="1179575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处理角色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26864" y="2359152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773168" y="24963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73168" y="249174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75503" y="2414016"/>
            <a:ext cx="1179575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恢复方式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11696" y="2359152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858000" y="24963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249174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0336" y="2414016"/>
            <a:ext cx="1179575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过程留存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异常设计 = 状态说明 + 可执行动作 + 责任交接 + 恢复路径。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第四节 · 材料缺失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材料缺失时，不要把“无法判断”伪装成业务结论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25296"/>
            <a:ext cx="2322576" cy="2651760"/>
          </a:xfrm>
          <a:prstGeom prst="roundRect">
            <a:avLst>
              <a:gd name="adj" fmla="val 8000"/>
            </a:avLst>
          </a:prstGeom>
          <a:solidFill>
            <a:srgbClr val="F6E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624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578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380744"/>
            <a:ext cx="162763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810512"/>
            <a:ext cx="1993392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文案：下单即送滤芯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缺少资格、数量和有效期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72384" y="1225296"/>
            <a:ext cx="2322576" cy="2651760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18688" y="13624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18688" y="13578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1380744"/>
            <a:ext cx="162763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Hiragino Sans GB"/>
                <a:ea typeface="Hiragino Sans GB"/>
              </a:rPr>
              <a:t>错误动作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6976" y="1810512"/>
            <a:ext cx="1993392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直接判违规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直接判无问题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阻塞所有检查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05856" y="1225296"/>
            <a:ext cx="2944368" cy="26517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52160" y="13624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13578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1380744"/>
            <a:ext cx="224942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正确动作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1810512"/>
            <a:ext cx="2615184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该检查点未完成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其他分支继续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提示补充哪类材料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补齐后重跑受影响分支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材料不足说明信息不够；内容错误说明现有信息已经足以作出判断。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第四节 · 模型超时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局部失败必须显示为“部分完成”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389888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45336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功能对象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975104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完成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920240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389888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545336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价格条件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1975104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完成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920240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389888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545336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赠品语义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1975104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超时待处理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920240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389888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545336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整次运行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1975104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部分完成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090672"/>
            <a:ext cx="3749039" cy="87782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1" y="3246120"/>
            <a:ext cx="341985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非必检分支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" y="3675887"/>
            <a:ext cx="3419856" cy="1645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可保留结果并继续后续动作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3090672"/>
            <a:ext cx="3749039" cy="877824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19472" y="3246120"/>
            <a:ext cx="341985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Hiragino Sans GB"/>
                <a:ea typeface="Hiragino Sans GB"/>
              </a:rPr>
              <a:t>必检分支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9472" y="3675887"/>
            <a:ext cx="3419856" cy="1645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不得自动通过；重试或人工补核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85C3D"/>
                </a:solidFill>
                <a:latin typeface="Hiragino Sans GB"/>
                <a:ea typeface="Hiragino Sans GB"/>
              </a:rPr>
              <a:t>不能用统一成功率替代业务判断；要看缺失分支是否影响当前决定。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第四节 · 版本错位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结果正确，也不能覆盖错误的版本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37160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0876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0418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2704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V1 发起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95681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绑定内容与材料快照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90195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37160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50876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50418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52704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保存 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195681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当前正文已变化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90195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37160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50876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50418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52704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V1 迟到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195681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只回到 V1 运行记录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90195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37160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50876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50418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52704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V2 重跑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195681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形成新的有效结果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AI 输出必须绑定内容、材料和规则版本；迟到结果保留，但不覆盖当前版本。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第四节 · 结论冲突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规则与模型不是两位投票者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34440"/>
            <a:ext cx="2487168" cy="26974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389888"/>
            <a:ext cx="179222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规则 / 程序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819656"/>
            <a:ext cx="2157984" cy="19842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确定表达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字段和值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计算与格式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18688" y="1234440"/>
            <a:ext cx="2487168" cy="269748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64992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1389888"/>
            <a:ext cx="179222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819656"/>
            <a:ext cx="2157984" cy="19842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上下文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对象关系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语义条件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98464" y="1234440"/>
            <a:ext cx="2706624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44768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3" y="1389888"/>
            <a:ext cx="20116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业务材料 / 人工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3055" y="1819656"/>
            <a:ext cx="2377440" cy="19842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可接受范围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有效版本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无法自动确定的争议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先判断是否在回答同一个问题，再决定合并、复核还是交人工。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第四节 · 责任承接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发现问题以后，还必须有人拥有下一步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11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75488" y="1207008"/>
          <a:ext cx="8211311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2971800"/>
                <a:gridCol w="3822191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02F30"/>
                          </a:solidFill>
                          <a:latin typeface="Arial"/>
                          <a:ea typeface="Hiragino Sans GB"/>
                        </a:rPr>
                        <a:t>角色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02F30"/>
                          </a:solidFill>
                          <a:latin typeface="Arial"/>
                          <a:ea typeface="Hiragino Sans GB"/>
                        </a:rPr>
                        <a:t>可以做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02F30"/>
                          </a:solidFill>
                          <a:latin typeface="Arial"/>
                          <a:ea typeface="Hiragino Sans GB"/>
                        </a:rPr>
                        <a:t>不能直接做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作者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修改、补充、提交异议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修改正式结论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审核员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确认、退回、人工补核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复制旧版本通过状态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材料负责人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更新受控材料、确认有效期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静默改写历史材料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内容负责人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认领、分配、升级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未经复核关闭高风险问题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85C3D"/>
                </a:solidFill>
                <a:latin typeface="Hiragino Sans GB"/>
                <a:ea typeface="Hiragino Sans GB"/>
              </a:rPr>
              <a:t>没有负责人、时限和升级路径，产品只是把问题从线上转移到列表。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第四节 · 决策阶梯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五种动作代表五种不同的产品判断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3291840"/>
            <a:ext cx="1527048" cy="9601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34290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4244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47288"/>
            <a:ext cx="832103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继续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77056"/>
            <a:ext cx="1197864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不影响当前决定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93976" y="2852928"/>
            <a:ext cx="1527048" cy="9601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40280" y="29900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0280" y="298551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2616" y="3008376"/>
            <a:ext cx="832103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重试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3438144"/>
            <a:ext cx="1197864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输入有效，执行暂时失败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03904" y="2414016"/>
            <a:ext cx="1527048" cy="9601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50208" y="255117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0208" y="254660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4" y="2569464"/>
            <a:ext cx="832103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降级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8496" y="2999232"/>
            <a:ext cx="1197864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换用边界明确的替代能力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13832" y="1975104"/>
            <a:ext cx="1527048" cy="960120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0136" y="21122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0136" y="210769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2472" y="2130552"/>
            <a:ext cx="832103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Hiragino Sans GB"/>
                <a:ea typeface="Hiragino Sans GB"/>
              </a:rPr>
              <a:t>转人工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78424" y="2560320"/>
            <a:ext cx="1197864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需要判断、权限或补充信息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1536192"/>
            <a:ext cx="1527048" cy="960120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70064" y="167335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70064" y="166878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691640"/>
            <a:ext cx="832103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Hiragino Sans GB"/>
                <a:ea typeface="Hiragino Sans GB"/>
              </a:rPr>
              <a:t>终止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8352" y="2121408"/>
            <a:ext cx="1197864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无法安全继续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选择动作的依据，是对业务决定的影响，而不是技术团队觉得哪种处理方便。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第四节 · 角色视角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同一个异常，对不同角色意味着不同动作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98448"/>
            <a:ext cx="2615184" cy="261518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43560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4310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453895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作者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883664"/>
            <a:ext cx="2286000" cy="19019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看原句与缺失条件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补正文或上下文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提交异议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64408" y="1298448"/>
            <a:ext cx="2615184" cy="2615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10712" y="143560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14310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048" y="1453895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审核员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1883664"/>
            <a:ext cx="2286000" cy="19019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看提交快照与材料版本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退回或人工补核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记录最终原因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9904" y="1298448"/>
            <a:ext cx="2615184" cy="261518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6208" y="143560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14310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1453895"/>
            <a:ext cx="1920239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材料负责人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1883664"/>
            <a:ext cx="2286000" cy="19019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看旧版与新版生效时间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确认有效版本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触发受影响分支重跑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角色不是展示字段，而是决定谁能看什么、做什么、把任务交给谁。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第四节 · 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正常流程决定能不能演示，异常流程决定能不能上线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417320"/>
            <a:ext cx="1847088" cy="23317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572768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可解释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2002536"/>
            <a:ext cx="1517904" cy="161848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哪里没完成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96896" y="1417320"/>
            <a:ext cx="18470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0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1572768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可执行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2002536"/>
            <a:ext cx="1517904" cy="161848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现在能做什么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90872" y="1417320"/>
            <a:ext cx="1847088" cy="23317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3717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717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9512" y="1572768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可交接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5464" y="2002536"/>
            <a:ext cx="1517904" cy="161848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由谁继续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84848" y="1417320"/>
            <a:ext cx="18470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31152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1572768"/>
            <a:ext cx="11521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可恢复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002536"/>
            <a:ext cx="1517904" cy="161848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条件补齐后怎样继续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异常处理不是附加功能，而是业务闭环的一部分。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813816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iragino Sans GB"/>
                <a:ea typeface="Hiragino Sans GB"/>
              </a:rPr>
              <a:t>休息 10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BAB4A"/>
                </a:solidFill>
                <a:latin typeface="Hiragino Sans GB"/>
                <a:ea typeface="Hiragino Sans GB"/>
              </a:rPr>
              <a:t>下一部分：用测试结果决定方案是否成立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Hiragino Sans GB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4389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Hiragino Sans GB"/>
                <a:ea typeface="Hiragino Sans GB"/>
              </a:rPr>
              <a:t>第二次课 / 第五节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4983480" cy="4754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Hiragino Sans GB"/>
                <a:ea typeface="Hiragino Sans GB"/>
              </a:rPr>
              <a:t>用测试结果判断方案是否成立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645920"/>
            <a:ext cx="3886200" cy="9875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Hiragino Sans GB"/>
                <a:ea typeface="Hiragino Sans GB"/>
              </a:rPr>
              <a:t>一个漂亮分数，
能不能支持进入试点？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90288" y="1527048"/>
            <a:ext cx="13716" cy="1847088"/>
          </a:xfrm>
          <a:prstGeom prst="rect">
            <a:avLst/>
          </a:prstGeom>
          <a:solidFill>
            <a:srgbClr val="617673"/>
          </a:solidFill>
          <a:ln w="12700">
            <a:solidFill>
              <a:srgbClr val="6176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8032" y="1673352"/>
            <a:ext cx="379476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FFFFFF"/>
                </a:solidFill>
                <a:latin typeface="Hiragino Sans GB"/>
                <a:ea typeface="Hiragino Sans GB"/>
              </a:rPr>
              <a:t>建立可复现测试集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8032" y="2304288"/>
            <a:ext cx="379476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FFFFFF"/>
                </a:solidFill>
                <a:latin typeface="Hiragino Sans GB"/>
                <a:ea typeface="Hiragino Sans GB"/>
              </a:rPr>
              <a:t>同时看效果、稳定性、业务与高风险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2" y="2935224"/>
            <a:ext cx="379476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FFFFFF"/>
                </a:solidFill>
                <a:latin typeface="Hiragino Sans GB"/>
                <a:ea typeface="Hiragino Sans GB"/>
              </a:rPr>
              <a:t>决定试点、补齐、收缩或暂停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913632"/>
            <a:ext cx="8339327" cy="62179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50791"/>
            <a:ext cx="7936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</a:rPr>
              <a:t>本节重点  ·  决定试点、补齐、收缩或暂停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800600"/>
            <a:ext cx="29260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3DFDA"/>
                </a:solidFill>
                <a:latin typeface="Hiragino Sans GB"/>
                <a:ea typeface="Hiragino Sans GB"/>
              </a:rPr>
              <a:t>异常取舍 → 测试判断 → 场景迁移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Hiragino Sans GB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测试对象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测试的不是模型聪不聪明，而是整套方案能否完成任务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25296"/>
            <a:ext cx="2578608" cy="10241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624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578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280160"/>
            <a:ext cx="1883663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规则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1225296"/>
            <a:ext cx="2578608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74136" y="13624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13578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2" y="1280160"/>
            <a:ext cx="1883663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1225296"/>
            <a:ext cx="2578608" cy="10241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6" y="13624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13578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1280160"/>
            <a:ext cx="1883663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业务材料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2487168"/>
            <a:ext cx="2578608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5216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2542032"/>
            <a:ext cx="1883663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结果合并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27832" y="2487168"/>
            <a:ext cx="2578608" cy="10241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74136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4136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472" y="2542032"/>
            <a:ext cx="1883663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页面动作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16752" y="2487168"/>
            <a:ext cx="2578608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63056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3056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2542032"/>
            <a:ext cx="1883663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人工承接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模型分数高，不代表产品流程稳定，也不代表业务总投入下降。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样本来源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测试样本要来自真实任务、典型案例与边界情况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89888"/>
            <a:ext cx="1874519" cy="230428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545336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历史内容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1975104"/>
            <a:ext cx="1545336" cy="15910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脱敏后的真实审核任务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1389888"/>
            <a:ext cx="1874519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06624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06624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1545336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典型案例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1975104"/>
            <a:ext cx="1545336" cy="15910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审核员整理的常见与高风险问题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389888"/>
            <a:ext cx="1874519" cy="230428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09744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1545336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边界样本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1975104"/>
            <a:ext cx="1545336" cy="15910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围绕重点规则主动构造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1389888"/>
            <a:ext cx="1874519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12864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2864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545336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线上抽检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1975104"/>
            <a:ext cx="1545336" cy="15910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已上线内容的实际表现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构造样本用来补齐覆盖，真实样本用来保持业务分布。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样本字段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一条测试样本必须能够被复现和复核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16152"/>
            <a:ext cx="2578608" cy="106070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533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4874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271016"/>
            <a:ext cx="1883663" cy="9509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内容与场景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1216152"/>
            <a:ext cx="257860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83280" y="13533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34874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5" y="1271016"/>
            <a:ext cx="1883663" cy="9509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必要上下文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216152"/>
            <a:ext cx="2578608" cy="106070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1344" y="135331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134874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1271016"/>
            <a:ext cx="1883663" cy="9509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问题位置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2514600"/>
            <a:ext cx="257860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5216" y="265176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264718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2569464"/>
            <a:ext cx="1883663" cy="9509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类型与等级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2514600"/>
            <a:ext cx="2578608" cy="106070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83280" y="265176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264718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5615" y="2569464"/>
            <a:ext cx="1883663" cy="9509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期望动作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2514600"/>
            <a:ext cx="257860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81344" y="265176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1344" y="264718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9" y="2569464"/>
            <a:ext cx="1883663" cy="9509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标注人与版本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没有上下文和版本的测试结果，无法解释差异来自能力变化还是标注变化。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样本结构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测试集不能只放明显问题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35024"/>
            <a:ext cx="1874519" cy="24231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4721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46761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490472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正常样本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1920240"/>
            <a:ext cx="1545336" cy="1709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观察误报与额外工作量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1335024"/>
            <a:ext cx="1874519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06624" y="14721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06624" y="146761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1490472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问题样本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1920240"/>
            <a:ext cx="1545336" cy="1709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观察识别、定位与分级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335024"/>
            <a:ext cx="1874519" cy="24231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09744" y="14721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146761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1490472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边界样本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1920240"/>
            <a:ext cx="1545336" cy="1709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观察否定、引用、范围与条件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1335024"/>
            <a:ext cx="1874519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12864" y="14721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2864" y="146761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490472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异常样本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1920240"/>
            <a:ext cx="1545336" cy="1709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观察失败、冲突与人工接管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85C3D"/>
                </a:solidFill>
                <a:latin typeface="Hiragino Sans GB"/>
                <a:ea typeface="Hiragino Sans GB"/>
              </a:rPr>
              <a:t>只用明显违规样本测试，会得到虚假的高分与过度乐观的结论。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四组指标必须一起看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34440"/>
            <a:ext cx="1874519" cy="263347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389888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识别效果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1819656"/>
            <a:ext cx="1545336" cy="192023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分类型准确率、召回率、F1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定位正确率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1234440"/>
            <a:ext cx="1874519" cy="2633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06624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06624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1389888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工程稳定性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1819656"/>
            <a:ext cx="1545336" cy="192023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结构化输出成功率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超时率、依赖失败率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234440"/>
            <a:ext cx="1874519" cy="263347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09744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1389888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业务处理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1819656"/>
            <a:ext cx="1545336" cy="192023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人工复核比例、处理时长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一次修改通过率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1234440"/>
            <a:ext cx="1874519" cy="263347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12864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2864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389888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高风险表现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1819656"/>
            <a:ext cx="1545336" cy="192023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严重漏检数量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人工调整高风险结论比例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平均分掩盖不了高风险漏检；高风险门槛需要单独判断。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高风险判断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高风险问题要按成本和责任单独设门槛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298448"/>
            <a:ext cx="3337560" cy="252374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" y="143560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14310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453895"/>
            <a:ext cx="264261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十条普通误报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883664"/>
            <a:ext cx="3008376" cy="181051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增加运营修改与复核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通常可以通过规则或合并优化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影响效率判断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1298448"/>
            <a:ext cx="3337560" cy="2523744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04104" y="143560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4104" y="14310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1453895"/>
            <a:ext cx="264261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Hiragino Sans GB"/>
                <a:ea typeface="Hiragino Sans GB"/>
              </a:rPr>
              <a:t>一条严重漏检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1883664"/>
            <a:ext cx="3008376" cy="181051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可能直接进入线上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影响责任与业务风险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可能触发暂停试点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85C3D"/>
                </a:solidFill>
                <a:latin typeface="Hiragino Sans GB"/>
                <a:ea typeface="Hiragino Sans GB"/>
              </a:rPr>
              <a:t>错误数量相同，业务后果可能完全不同。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人工基线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机器更快，不代表新流程更省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8016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4173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4127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435607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机器耗时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86537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每篇运行时间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81051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28016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4173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4127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435607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人工复核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186537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比例 × 单次耗时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81051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28016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4173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4127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435607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失败返工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186537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重试、补材料、重复操作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81051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28016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4173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4127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435607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维护成本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186537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规则、材料与运营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63040" y="3291840"/>
            <a:ext cx="6217920" cy="566928"/>
          </a:xfrm>
          <a:prstGeom prst="roundRect">
            <a:avLst>
              <a:gd name="adj" fmla="val 8000"/>
            </a:avLst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3291840"/>
            <a:ext cx="6217920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iragino Sans GB"/>
                <a:ea typeface="Hiragino Sans GB"/>
              </a:rPr>
              <a:t>四项相加，才是新流程的真实总投入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比较对象不是模型速度，而是新流程总投入与原人工基线。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门槛设定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课堂数值只用于讨论，不能直接变成项目门槛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417320"/>
            <a:ext cx="2377440" cy="144475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627632"/>
            <a:ext cx="2377440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6B63"/>
                </a:solidFill>
                <a:latin typeface="Hiragino Sans GB"/>
                <a:ea typeface="Hiragino Sans GB"/>
              </a:rPr>
              <a:t>≥ 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240280"/>
            <a:ext cx="2377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673"/>
                </a:solidFill>
                <a:latin typeface="Hiragino Sans GB"/>
                <a:ea typeface="Hiragino Sans GB"/>
              </a:rPr>
              <a:t>准确率讨论值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417320"/>
            <a:ext cx="2377440" cy="144475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627632"/>
            <a:ext cx="2377440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Hiragino Sans GB"/>
                <a:ea typeface="Hiragino Sans GB"/>
              </a:rPr>
              <a:t>≥ 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240280"/>
            <a:ext cx="2377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iragino Sans GB"/>
                <a:ea typeface="Hiragino Sans GB"/>
              </a:rPr>
              <a:t>召回率讨论值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417320"/>
            <a:ext cx="2377440" cy="144475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627632"/>
            <a:ext cx="2377440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6B63"/>
                </a:solidFill>
                <a:latin typeface="Hiragino Sans GB"/>
                <a:ea typeface="Hiragino Sans GB"/>
              </a:rPr>
              <a:t>≤ 2分钟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240280"/>
            <a:ext cx="2377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673"/>
                </a:solidFill>
                <a:latin typeface="Hiragino Sans GB"/>
                <a:ea typeface="Hiragino Sans GB"/>
              </a:rPr>
              <a:t>单篇耗时讨论值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85C3D"/>
                </a:solidFill>
                <a:latin typeface="Hiragino Sans GB"/>
                <a:ea typeface="Hiragino Sans GB"/>
              </a:rPr>
              <a:t>真实门槛 = 问题成本 + 样本分布 + 人工基线 + 组织可承受范围。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决策矩阵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测试最终要导向四种产品判断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14300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1325880"/>
            <a:ext cx="3383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6B63"/>
                </a:solidFill>
                <a:latin typeface="Hiragino Sans GB"/>
                <a:ea typeface="Hiragino Sans GB"/>
              </a:rPr>
              <a:t>进入限定试点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1755648"/>
            <a:ext cx="33832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302F"/>
                </a:solidFill>
                <a:latin typeface="Hiragino Sans GB"/>
                <a:ea typeface="Hiragino Sans GB"/>
              </a:rPr>
              <a:t>高风险可接受 · 流程稳定 · 总投入下降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14300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28616" y="1325880"/>
            <a:ext cx="3383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6B63"/>
                </a:solidFill>
                <a:latin typeface="Hiragino Sans GB"/>
                <a:ea typeface="Hiragino Sans GB"/>
              </a:rPr>
              <a:t>补齐能力后回归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8616" y="1755648"/>
            <a:ext cx="33832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302F"/>
                </a:solidFill>
                <a:latin typeface="Hiragino Sans GB"/>
                <a:ea typeface="Hiragino Sans GB"/>
              </a:rPr>
              <a:t>问题集中在少数可修复环节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69748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F6E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880360"/>
            <a:ext cx="3383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6B63"/>
                </a:solidFill>
                <a:latin typeface="Hiragino Sans GB"/>
                <a:ea typeface="Hiragino Sans GB"/>
              </a:rPr>
              <a:t>收缩场景或拆分流程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310128"/>
            <a:ext cx="33832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302F"/>
                </a:solidFill>
                <a:latin typeface="Hiragino Sans GB"/>
                <a:ea typeface="Hiragino Sans GB"/>
              </a:rPr>
              <a:t>某类场景持续拖累整体表现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269748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85C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8616" y="2880360"/>
            <a:ext cx="3383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85C3D"/>
                </a:solidFill>
                <a:latin typeface="Hiragino Sans GB"/>
                <a:ea typeface="Hiragino Sans GB"/>
              </a:rPr>
              <a:t>暂停并重新设计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8616" y="3310128"/>
            <a:ext cx="33832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302F"/>
                </a:solidFill>
                <a:latin typeface="Hiragino Sans GB"/>
                <a:ea typeface="Hiragino Sans GB"/>
              </a:rPr>
              <a:t>高风险漏检或失败承接不可接受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测试不是证明原方案正确，而是决定下一步怎么做。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否定句误报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坏案例一：关键词命中，却忽略否定关系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61872"/>
            <a:ext cx="2560320" cy="2606040"/>
          </a:xfrm>
          <a:prstGeom prst="roundRect">
            <a:avLst>
              <a:gd name="adj" fmla="val 8000"/>
            </a:avLst>
          </a:prstGeom>
          <a:solidFill>
            <a:srgbClr val="F6E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" y="1399031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139446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417319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1847088"/>
            <a:ext cx="2231136" cy="18928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我们不承诺100%有效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实际体验因人而异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1261872"/>
            <a:ext cx="2560320" cy="2606040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38144" y="1399031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139446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1417319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Hiragino Sans GB"/>
                <a:ea typeface="Hiragino Sans GB"/>
              </a:rPr>
              <a:t>根因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847088"/>
            <a:ext cx="2231136" cy="18928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关键词只负责命中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没有判断否定关系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1261872"/>
            <a:ext cx="2560320" cy="260604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27064" y="1399031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7064" y="139446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417319"/>
            <a:ext cx="18653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改进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1847088"/>
            <a:ext cx="2231136" cy="18928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增加上下文语义确认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加入否定、引用、对比样本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先判断错误发生在哪一层，再决定改规则、模型还是测试集。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材料不足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坏案例二：上下文不足，却强行给出确定结论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宣传表达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连续三年销量第一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检查所需材料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报告范围、时间、来源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当前缺口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无法确认材料有效性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正确输出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需补材料 / 转人工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D85C3D"/>
                </a:solidFill>
                <a:latin typeface="Hiragino Sans GB"/>
                <a:ea typeface="Hiragino Sans GB"/>
              </a:rPr>
              <a:t>不确定时能停下，是判断型 AI 产品的重要能力。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结果重复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坏案例三：一个问题被展示了很多次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43584"/>
            <a:ext cx="2468880" cy="2615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" y="138074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137617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399032"/>
            <a:ext cx="17739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多路原始结果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1828800"/>
            <a:ext cx="2139696" cy="19019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规则A命中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规则B命中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模型也识别到同一问题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176272"/>
            <a:ext cx="658368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6B63"/>
                </a:solidFill>
                <a:latin typeface="Hiragino Sans GB"/>
                <a:ea typeface="Hiragino Sans GB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1243584"/>
            <a:ext cx="4480560" cy="261518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06824" y="138074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06824" y="137617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1399032"/>
            <a:ext cx="37856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合并后的业务问题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1828800"/>
            <a:ext cx="4151376" cy="19019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按原句位置、类型与语义相似度合并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保留最高等级与完整说明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仍可回看各分支原始记录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用户要处理的是一个问题，不是三个模型输出。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根因地图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坏案例要落到具体责任环节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133856"/>
            <a:ext cx="2587752" cy="6858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7784" y="127101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126644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1892808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误报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1133856"/>
            <a:ext cx="258775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74136" y="127101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126644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2" y="1188720"/>
            <a:ext cx="1892808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漏报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44184" y="1133856"/>
            <a:ext cx="2587752" cy="6858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0488" y="127101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126644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2824" y="1188720"/>
            <a:ext cx="1892808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分级错误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2029967"/>
            <a:ext cx="258775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7784" y="21671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21625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2084831"/>
            <a:ext cx="1892808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定位错误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27832" y="2029967"/>
            <a:ext cx="2587752" cy="6858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74136" y="21671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4136" y="21625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472" y="2084831"/>
            <a:ext cx="1892808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材料缺失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44184" y="2029967"/>
            <a:ext cx="258775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90488" y="21671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21625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2824" y="2084831"/>
            <a:ext cx="1892808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输出校验失败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2926080"/>
            <a:ext cx="2587752" cy="6858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57784" y="306324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" y="30586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2980944"/>
            <a:ext cx="1892808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结果合并失败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27832" y="2926080"/>
            <a:ext cx="258775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374136" y="306324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74136" y="30586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6472" y="2980944"/>
            <a:ext cx="1892808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页面动作不可用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44184" y="2926080"/>
            <a:ext cx="2587752" cy="6858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90488" y="306324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0488" y="305866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92824" y="2980944"/>
            <a:ext cx="1892808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人工承接失败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错误归类越准确，修改动作越可能真正解决问题。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迭代闭环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每次修改都要回到样本里重新验证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63040"/>
            <a:ext cx="1472184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6002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956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618488"/>
            <a:ext cx="7772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线上任务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48256"/>
            <a:ext cx="1143000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真实输入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947672" y="19933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39696" y="1463040"/>
            <a:ext cx="1472184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86000" y="16002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15956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1618488"/>
            <a:ext cx="7772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结果对比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2048256"/>
            <a:ext cx="1143000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机器与人工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648456" y="19933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40480" y="1463040"/>
            <a:ext cx="1472184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86784" y="16002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86784" y="15956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1618488"/>
            <a:ext cx="7772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问题归类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2048256"/>
            <a:ext cx="1143000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定位责任环节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349240" y="19933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41264" y="1463040"/>
            <a:ext cx="1472184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87568" y="16002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87568" y="15956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9904" y="1618488"/>
            <a:ext cx="7772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修改回归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05856" y="2048256"/>
            <a:ext cx="1143000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规则·提示·材料·页面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050024" y="19933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42048" y="1463040"/>
            <a:ext cx="1472184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88352" y="16002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88352" y="15956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0688" y="1618488"/>
            <a:ext cx="7772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发布观察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2048256"/>
            <a:ext cx="1143000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新版本继续观察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回归测试既确认旧问题消失，也检查是否引入了新问题。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判断练习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同一组结果，会对应不同的下一步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1874519" cy="248716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43560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4310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453895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高风险可接受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1883664"/>
            <a:ext cx="1545336" cy="17739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→  限定试点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1298448"/>
            <a:ext cx="1874519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06624" y="143560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06624" y="14310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1453895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局部集中出错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1883664"/>
            <a:ext cx="1545336" cy="17739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→  补齐后回归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298448"/>
            <a:ext cx="1874519" cy="248716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09744" y="143560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14310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1453895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单类持续偏差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1883664"/>
            <a:ext cx="1545336" cy="17739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→  收缩或拆分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1298448"/>
            <a:ext cx="1874519" cy="2487168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12864" y="143560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2864" y="14310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453895"/>
            <a:ext cx="117957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Hiragino Sans GB"/>
                <a:ea typeface="Hiragino Sans GB"/>
              </a:rPr>
              <a:t>严重漏检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1883664"/>
            <a:ext cx="1545336" cy="17739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→  暂停重做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产品经理的判断体现在：敢推进，也敢收缩和暂停。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Hiragino Sans GB"/>
                <a:ea typeface="Hiragino Sans GB"/>
              </a:rPr>
              <a:t>第五节 · 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一个平均分，不能替代产品判断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389888"/>
            <a:ext cx="1847088" cy="235915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444752"/>
            <a:ext cx="1152144" cy="22494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找得准不准？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96896" y="1389888"/>
            <a:ext cx="1847088" cy="2359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0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1444752"/>
            <a:ext cx="1152144" cy="22494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流程稳不稳定？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90872" y="1389888"/>
            <a:ext cx="1847088" cy="235915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37176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37176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1444752"/>
            <a:ext cx="1152144" cy="22494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人工总投入是否下降？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84848" y="1389888"/>
            <a:ext cx="1847088" cy="2359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31152" y="152704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152247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1444752"/>
            <a:ext cx="1152144" cy="22494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高风险是否可接受？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四个问题一起成立，方案才有资格进入限定范围试点。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813816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iragino Sans GB"/>
                <a:ea typeface="Hiragino Sans GB"/>
              </a:rPr>
              <a:t>休息 10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813816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BAB4A"/>
                </a:solidFill>
                <a:latin typeface="Hiragino Sans GB"/>
                <a:ea typeface="Hiragino Sans GB"/>
              </a:rPr>
              <a:t>下一部分：把同一方法迁移到五个完整业务案例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Hiragino Sans GB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4389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Hiragino Sans GB"/>
                <a:ea typeface="Hiragino Sans GB"/>
              </a:rPr>
              <a:t>第二次课 / 第七节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86384"/>
            <a:ext cx="411480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Hiragino Sans GB"/>
                <a:ea typeface="Hiragino Sans GB"/>
              </a:rPr>
              <a:t>多场景迁移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609344"/>
            <a:ext cx="3337560" cy="10058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Hiragino Sans GB"/>
                <a:ea typeface="Hiragino Sans GB"/>
              </a:rPr>
              <a:t>离开营销审核，
方法还能成立吗？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536192"/>
            <a:ext cx="13716" cy="1828800"/>
          </a:xfrm>
          <a:prstGeom prst="rect">
            <a:avLst/>
          </a:prstGeom>
          <a:solidFill>
            <a:srgbClr val="617673"/>
          </a:solidFill>
          <a:ln w="12700">
            <a:solidFill>
              <a:srgbClr val="6176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5112" y="1673352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Hiragino Sans GB"/>
                <a:ea typeface="Hiragino Sans GB"/>
              </a:rPr>
              <a:t>合同审核母案例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2304288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Hiragino Sans GB"/>
                <a:ea typeface="Hiragino Sans GB"/>
              </a:rPr>
              <a:t>十一项迁移框架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2935224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Hiragino Sans GB"/>
                <a:ea typeface="Hiragino Sans GB"/>
              </a:rPr>
              <a:t>客服·招聘·报销·金融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913632"/>
            <a:ext cx="8339327" cy="62179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50791"/>
            <a:ext cx="7936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FFFFFF"/>
                </a:solidFill>
                <a:latin typeface="Hiragino Sans GB"/>
                <a:ea typeface="Hiragino Sans GB"/>
              </a:rPr>
              <a:t>本节重点  ·  客服·招聘·报销·金融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800600"/>
            <a:ext cx="27432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3DFDA"/>
                </a:solidFill>
                <a:latin typeface="Hiragino Sans GB"/>
                <a:ea typeface="Hiragino Sans GB"/>
              </a:rPr>
              <a:t>定义任务 → 选择能力 → 场景迁移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Hiragino Sans GB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合同母案例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合同审核先从“AI法务”收窄到一个小场景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325880"/>
            <a:ext cx="3246120" cy="2395728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81328"/>
            <a:ext cx="29169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5C3D"/>
                </a:solidFill>
                <a:latin typeface="Hiragino Sans GB"/>
                <a:ea typeface="Hiragino Sans GB"/>
              </a:rPr>
              <a:t>不做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911095"/>
            <a:ext cx="2916936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诉讼判断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完整法律咨询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自动作出最终决定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0952" y="1325880"/>
            <a:ext cx="3246120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95544" y="1481328"/>
            <a:ext cx="29169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首版做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5544" y="1911095"/>
            <a:ext cx="2916936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常规合同初步检查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问题条款定位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修改建议与待确认项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先选择能够验证的小场景，再讨论完整系统。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人工工序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先理解法务原来检查什么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合同主体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签约对象与异常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76856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6856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9192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合同条款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5144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付款·交付·验收·违约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7056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23360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规范引用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是否准确且仍适用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69864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9864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履约方式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是否真的能够执行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70064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16368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18704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周边风险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1938528"/>
            <a:ext cx="1207007" cy="16824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履约历史与关系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先把人类工作说清楚，再决定如何自动化。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输出与输入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从最终输出反推每一项输入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1234440"/>
            <a:ext cx="3383280" cy="26517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1389888"/>
            <a:ext cx="2688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最终输出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1819656"/>
            <a:ext cx="3054096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问题所在条款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问题类型与原因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业务影响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修改建议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人工待确认项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2221992"/>
            <a:ext cx="914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6B63"/>
                </a:solidFill>
                <a:latin typeface="Hiragino Sans GB"/>
                <a:ea typeface="Hiragino Sans GB"/>
              </a:rPr>
              <a:t>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368" y="1234440"/>
            <a:ext cx="33832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76672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6672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7" y="1389888"/>
            <a:ext cx="2688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所需输入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1819656"/>
            <a:ext cx="3054096" cy="19385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合同正文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本次审核重点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企业合同规则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对方企业信息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交易背景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输出越具体，输入缺口越容易被发现。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快速验证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先用脱敏合同验证基础能力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8872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243584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定位真实条款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118872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83280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5" y="1243584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发现明显矛盾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18872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1344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1243584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建议可理解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2487168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5216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2542032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不过度提示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6976" y="2487168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83280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5615" y="2542032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不编造内容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2487168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81344" y="2624327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1344" y="26197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9" y="2542032"/>
            <a:ext cx="1865376" cy="941831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不确定时交人工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模型可以像认真但缺少商业经验的法务实习生。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合同工作流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合同审核拆成三条并行路线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文件解析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类型与可读性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三路并行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条款 / 引用 / 企业风险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合并分级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去重·冲突·待确认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94767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41732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57276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法务确认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200253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修改·审批·归档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多路能力最终仍要汇入一个人工负责的业务决定。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企业连接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通用合同能力，要接入企业真实履约条件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34440"/>
            <a:ext cx="242316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" y="1389888"/>
            <a:ext cx="20939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通用判断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3" y="1819656"/>
            <a:ext cx="2093976" cy="19842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条款结构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常见问题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规范引用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文本修改建议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1234440"/>
            <a:ext cx="2651760" cy="269748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1389888"/>
            <a:ext cx="23225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企业内部AI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1819656"/>
            <a:ext cx="2322576" cy="19842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订单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库存与产能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资金计划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历史履约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供应商关系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234440"/>
            <a:ext cx="2423160" cy="26974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389888"/>
            <a:ext cx="20939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新的业务结果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19656"/>
            <a:ext cx="2093976" cy="19842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实际能否交付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当前能否付款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供应商是否可接受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谁需要确认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企业产品的特殊价值，来自对这家公司当前业务的理解。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核心框架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十一项迁移框架：完整迁移一次产品判断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52144"/>
            <a:ext cx="1078992" cy="74980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152144"/>
            <a:ext cx="1078992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iragino Sans GB"/>
                <a:ea typeface="Hiragino Sans GB"/>
              </a:rPr>
              <a:t>A 定义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1152144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29384" y="128930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9384" y="128473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1207008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业务问题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1152144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12463" y="128930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2463" y="128473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207008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首版小场景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9240" y="1152144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95544" y="128930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95544" y="128473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79" y="1207008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人工工序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1152144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78624" y="128930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78624" y="128473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1207008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最终输出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" y="2139696"/>
            <a:ext cx="1078992" cy="74980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139696"/>
            <a:ext cx="1078992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iragino Sans GB"/>
                <a:ea typeface="Hiragino Sans GB"/>
              </a:rPr>
              <a:t>B 构建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83080" y="2139696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29384" y="22768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29384" y="22722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2194560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输入来源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2139696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712463" y="22768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12463" y="22722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2194560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快速验证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49240" y="2139696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95544" y="22768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95544" y="22722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79" y="2194560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并行拆分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0" y="2139696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278624" y="22768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78624" y="227228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2194560"/>
            <a:ext cx="8595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边界分支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" y="3127248"/>
            <a:ext cx="1078992" cy="74980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3127248"/>
            <a:ext cx="1078992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iragino Sans GB"/>
                <a:ea typeface="Hiragino Sans GB"/>
              </a:rPr>
              <a:t>C 落地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783080" y="3127248"/>
            <a:ext cx="20116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929384" y="326440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29384" y="32598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31720" y="3182112"/>
            <a:ext cx="13167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结果合并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60520" y="3127248"/>
            <a:ext cx="2011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306824" y="326440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06824" y="32598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59" y="3182112"/>
            <a:ext cx="13167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企业连接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3127248"/>
            <a:ext cx="2011680" cy="7498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84264" y="326440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84264" y="325983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600" y="3182112"/>
            <a:ext cx="1316736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6B63"/>
                </a:solidFill>
                <a:latin typeface="Hiragino Sans GB"/>
                <a:ea typeface="Hiragino Sans GB"/>
              </a:rPr>
              <a:t>运行验证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先定义决定，再设计能力，最后接入真实组织。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客服质检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案例一：售后退款会话质检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33856"/>
            <a:ext cx="2788920" cy="2816352"/>
          </a:xfrm>
          <a:prstGeom prst="roundRect">
            <a:avLst>
              <a:gd name="adj" fmla="val 8000"/>
            </a:avLst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53312"/>
            <a:ext cx="24231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BAB4A"/>
                </a:solidFill>
                <a:latin typeface="Hiragino Sans GB"/>
                <a:ea typeface="Hiragino Sans GB"/>
              </a:rPr>
              <a:t>业务情境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773936"/>
            <a:ext cx="2423160" cy="1874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Hiragino Sans GB"/>
                <a:ea typeface="Hiragino Sans GB"/>
              </a:rPr>
              <a:t>客服承诺“今天到账”，但前序口径是三个工作日；随后出现推诿。系统需要结合订单状态与服务政策判断。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1133856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20700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20700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会话、角色、订单退款状态、服务政策、质检规则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1609344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682496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并行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682496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流程规则 / 多轮语义 / 订单与政策核对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432" y="2084832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2157984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157984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问题位置、类型、等级、整改建议、待确认项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2560320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2633472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633472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转写失败、角色混淆、接口无返回、申诉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035808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3108960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人工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108960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质检主管复核；客服确认或申诉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3511296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358444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连接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8444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CRM 与订单、工单、知识库、培训系统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质检产品的终点是确认、申诉、整改与复训。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招聘审核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案例二：岗位发布前的招聘信息审核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33856"/>
            <a:ext cx="2788920" cy="2816352"/>
          </a:xfrm>
          <a:prstGeom prst="roundRect">
            <a:avLst>
              <a:gd name="adj" fmla="val 8000"/>
            </a:avLst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53312"/>
            <a:ext cx="24231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BAB4A"/>
                </a:solidFill>
                <a:latin typeface="Hiragino Sans GB"/>
                <a:ea typeface="Hiragino Sans GB"/>
              </a:rPr>
              <a:t>业务情境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773936"/>
            <a:ext cx="2423160" cy="1874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Hiragino Sans GB"/>
                <a:ea typeface="Hiragino Sans GB"/>
              </a:rPr>
              <a:t>岗位文案同时出现高薪承诺、性别年龄限制、本地户口、零经验与付费培训。系统要区分文本问题与企业事实。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1133856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20700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20700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招聘文案、企业、岗位编制、薪酬范围、渠道要求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1609344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682496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工序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682496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查企业、岗位、薪资、必填项、限制条件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432" y="2084832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2157984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并行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157984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文案必填项 / 企业账号 / 岗位资料一致性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2560320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2633472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633472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缺项、问题位置、类型、修改要求、转人工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035808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3108960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108960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岗位无法确认、资料冲突、异常引流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3511296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358444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连接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8444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招聘系统、岗位编制、薪酬与投诉记录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模型能看表达，企业系统才能确认岗位与承诺是否真实。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发票与报销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案例三：员工费用报销初步审核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33856"/>
            <a:ext cx="2788920" cy="2816352"/>
          </a:xfrm>
          <a:prstGeom prst="roundRect">
            <a:avLst>
              <a:gd name="adj" fmla="val 8000"/>
            </a:avLst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53312"/>
            <a:ext cx="24231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BAB4A"/>
                </a:solidFill>
                <a:latin typeface="Hiragino Sans GB"/>
                <a:ea typeface="Hiragino Sans GB"/>
              </a:rPr>
              <a:t>业务情境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773936"/>
            <a:ext cx="2423160" cy="1874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Hiragino Sans GB"/>
                <a:ea typeface="Hiragino Sans GB"/>
              </a:rPr>
              <a:t>周末高额休闲服务发票备注客户招待；金额在权限内，但没有OA申请，部门预算接近用完。多个单点正常不等于整体成立。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1133856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20700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20700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发票、报销单、员工部门、预算、合同、OA 与制度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1609344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682496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工序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682496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验票、核科目、核金额、查人员预算与审批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432" y="2084832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2157984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并行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157984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票据验真 / 政策 / 预算 / 合同与审批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2560320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2633472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633472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可继续、待补材料、退回、等待预算、转人工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035808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3108960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108960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接口失败、重复报销、业务矛盾、多路冲突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3511296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358444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连接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8444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财务、OA 与预算、合同和付款系统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多项判断需要合并，但最终处理仍由财务承接。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金融营销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案例四：理财产品营销材料审核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45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33856"/>
            <a:ext cx="2788920" cy="2816352"/>
          </a:xfrm>
          <a:prstGeom prst="roundRect">
            <a:avLst>
              <a:gd name="adj" fmla="val 8000"/>
            </a:avLst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53312"/>
            <a:ext cx="24231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BAB4A"/>
                </a:solidFill>
                <a:latin typeface="Hiragino Sans GB"/>
                <a:ea typeface="Hiragino Sans GB"/>
              </a:rPr>
              <a:t>业务情境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773936"/>
            <a:ext cx="2423160" cy="1874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Hiragino Sans GB"/>
                <a:ea typeface="Hiragino Sans GB"/>
              </a:rPr>
              <a:t>文案宣称“年化收益 6% / 本金安全 / 适合所有投资者”。产品要结合正式材料、风险提示、目标人群和渠道版本进行判断。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1133856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20700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20700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宣传材料、产品文件、风险提示、人群、渠道、版本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1609344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682496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工序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682496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查表达、产品事实、风险披露、适用人群、版本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6432" y="2084832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2157984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并行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157984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明确表达 / 产品事实 / 风险披露 / 渠道适配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2560320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2633472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633472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问题位置、缺失信息、等级、修改与人工结论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035808"/>
            <a:ext cx="5239512" cy="393192"/>
          </a:xfrm>
          <a:prstGeom prst="rect">
            <a:avLst/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3108960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108960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材料冲突、人群不清、版本失效、结论冲突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3511296"/>
            <a:ext cx="523951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3584448"/>
            <a:ext cx="86868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63"/>
                </a:solidFill>
                <a:latin typeface="Hiragino Sans GB"/>
                <a:ea typeface="Hiragino Sans GB"/>
              </a:rPr>
              <a:t>连接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84448"/>
            <a:ext cx="3950208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302F"/>
                </a:solidFill>
                <a:latin typeface="Hiragino Sans GB"/>
                <a:ea typeface="Hiragino Sans GB"/>
              </a:rPr>
              <a:t>产品中心、合规、客户分层、渠道与版本管理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高风险场景可由AI辅助定位与比对，最终责任必须明确到人。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跨场景比较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五个案例放在一起，方法相同，业务边界不同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46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1097280"/>
          <a:ext cx="8503920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60120"/>
                <a:gridCol w="1417320"/>
                <a:gridCol w="1965960"/>
                <a:gridCol w="150876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1" i="0">
                          <a:solidFill>
                            <a:srgbClr val="102F30"/>
                          </a:solidFill>
                          <a:latin typeface="Arial"/>
                          <a:ea typeface="Hiragino Sans GB"/>
                        </a:rPr>
                        <a:t>场景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1" i="0">
                          <a:solidFill>
                            <a:srgbClr val="102F30"/>
                          </a:solidFill>
                          <a:latin typeface="Arial"/>
                          <a:ea typeface="Hiragino Sans GB"/>
                        </a:rPr>
                        <a:t>被判断对象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1" i="0">
                          <a:solidFill>
                            <a:srgbClr val="102F30"/>
                          </a:solidFill>
                          <a:latin typeface="Arial"/>
                          <a:ea typeface="Hiragino Sans GB"/>
                        </a:rPr>
                        <a:t>关键材料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1" i="0">
                          <a:solidFill>
                            <a:srgbClr val="102F30"/>
                          </a:solidFill>
                          <a:latin typeface="Arial"/>
                          <a:ea typeface="Hiragino Sans GB"/>
                        </a:rPr>
                        <a:t>最终人工角色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1" i="0">
                          <a:solidFill>
                            <a:srgbClr val="102F30"/>
                          </a:solidFill>
                          <a:latin typeface="Arial"/>
                          <a:ea typeface="Hiragino Sans GB"/>
                        </a:rPr>
                        <a:t>企业连接价值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合同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条款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模板·交易背景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法务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实际履约风险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客服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多轮会话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政策·订单状态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质检主管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申诉与整改闭环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招聘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岗位文案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编制·薪酬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HR负责人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岗位与承诺真实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报销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票据·报销单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预算·OA·合同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财务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组合判断合理性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金融营销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宣传材料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产品·风险·人群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产品与合规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 i="0">
                          <a:solidFill>
                            <a:srgbClr val="17302F"/>
                          </a:solidFill>
                          <a:latin typeface="Arial"/>
                          <a:ea typeface="Hiragino Sans GB"/>
                        </a:rPr>
                        <a:t>版本与发布管理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187952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79392"/>
            <a:ext cx="804672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6B63"/>
                </a:solidFill>
                <a:latin typeface="Hiragino Sans GB"/>
                <a:ea typeface="Hiragino Sans GB"/>
              </a:rPr>
              <a:t>迁移不是换行业名称，而是重新完成一次完整产品判断。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85C3D"/>
                </a:solidFill>
                <a:latin typeface="Hiragino Sans GB"/>
                <a:ea typeface="Hiragino Sans GB"/>
              </a:rPr>
              <a:t>第七节 · 方法收束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302F"/>
                </a:solidFill>
                <a:latin typeface="Hiragino Sans GB"/>
                <a:ea typeface="Hiragino Sans GB"/>
              </a:rPr>
              <a:t>真正可迁移的是八步主线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4  异常取舍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Hiragino Sans GB"/>
                <a:ea typeface="Hiragino Sans GB"/>
              </a:rPr>
              <a:t>5  测试判断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Hiragino Sans GB"/>
                <a:ea typeface="Hiragino Sans GB"/>
              </a:rPr>
              <a:t>7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18288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Hiragino Sans GB"/>
                <a:ea typeface="Hiragino Sans GB"/>
              </a:rPr>
              <a:t>第二次课 · 项目二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Arial"/>
                <a:ea typeface="Hiragino Sans GB"/>
              </a:rPr>
              <a:t>47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344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3898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业务问题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8196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为何现在要解决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72868" y="17647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4892" y="12344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119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532" y="13898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人工工序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9484" y="18196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人原来怎么做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98848" y="17647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12344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3717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3898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输出输入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18196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需要什么结果与材料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24828" y="1764792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6852" y="1234440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3156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3156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5492" y="1389888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能力验证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1444" y="1819656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基础能力是否可用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" y="2907792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5216" y="304495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304038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3063240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并行流程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3" y="3493008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任务怎样拆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372868" y="3438144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564892" y="2907792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11196" y="304495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11196" y="304038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13532" y="3063240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异常承接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29484" y="3493008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Hiragino Sans GB"/>
                <a:ea typeface="Hiragino Sans GB"/>
              </a:rPr>
              <a:t>失败冲突交给谁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498848" y="3438144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690872" y="2907792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837176" y="304495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37176" y="304038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9512" y="3063240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企业连接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55464" y="3493008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接入真实系统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6624828" y="3438144"/>
            <a:ext cx="155448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816852" y="2907792"/>
            <a:ext cx="18973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63156" y="304495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63156" y="304038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F30"/>
                </a:solidFill>
                <a:latin typeface="Arial"/>
                <a:ea typeface="Hiragino Sans GB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5492" y="3063240"/>
            <a:ext cx="12024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6B63"/>
                </a:solidFill>
                <a:latin typeface="Hiragino Sans GB"/>
                <a:ea typeface="Hiragino Sans GB"/>
              </a:rPr>
              <a:t>运行验证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81444" y="3493008"/>
            <a:ext cx="1568196" cy="7040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17302F"/>
                </a:solidFill>
                <a:latin typeface="Hiragino Sans GB"/>
                <a:ea typeface="Hiragino Sans GB"/>
              </a:rPr>
              <a:t>决定继续或收缩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0040"/>
            <a:ext cx="804672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Hiragino Sans GB"/>
                <a:ea typeface="Hiragino Sans GB"/>
              </a:rPr>
              <a:t>全课收束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13232"/>
            <a:ext cx="813816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Hiragino Sans GB"/>
                <a:ea typeface="Hiragino Sans GB"/>
              </a:rPr>
              <a:t>专业性来自三次判断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572768"/>
            <a:ext cx="2596896" cy="2331720"/>
          </a:xfrm>
          <a:prstGeom prst="roundRect">
            <a:avLst>
              <a:gd name="adj" fmla="val 8000"/>
            </a:avLst>
          </a:prstGeom>
          <a:solidFill>
            <a:srgbClr val="164242"/>
          </a:solidFill>
          <a:ln w="12700">
            <a:solidFill>
              <a:srgbClr val="1642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1773936"/>
            <a:ext cx="2267712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iragino Sans GB"/>
                <a:ea typeface="Hiragino Sans GB"/>
              </a:rPr>
              <a:t>异常中的判断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2267712"/>
            <a:ext cx="2267712" cy="1325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Hiragino Sans GB"/>
                <a:ea typeface="Hiragino Sans GB"/>
              </a:rPr>
              <a:t>继续还是停下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Hiragino Sans GB"/>
                <a:ea typeface="Hiragino Sans GB"/>
              </a:rPr>
              <a:t>重试、降级还是人工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Hiragino Sans GB"/>
                <a:ea typeface="Hiragino Sans GB"/>
              </a:rPr>
              <a:t>谁承担下一步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572768"/>
            <a:ext cx="2596896" cy="23317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773936"/>
            <a:ext cx="2267712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iragino Sans GB"/>
                <a:ea typeface="Hiragino Sans GB"/>
              </a:rPr>
              <a:t>测试后的判断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2267712"/>
            <a:ext cx="2267712" cy="1325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Hiragino Sans GB"/>
                <a:ea typeface="Hiragino Sans GB"/>
              </a:rPr>
              <a:t>进入试点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Hiragino Sans GB"/>
                <a:ea typeface="Hiragino Sans GB"/>
              </a:rPr>
              <a:t>补齐或收缩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Hiragino Sans GB"/>
                <a:ea typeface="Hiragino Sans GB"/>
              </a:rPr>
              <a:t>必要时暂停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572768"/>
            <a:ext cx="2596896" cy="2331720"/>
          </a:xfrm>
          <a:prstGeom prst="roundRect">
            <a:avLst>
              <a:gd name="adj" fmla="val 8000"/>
            </a:avLst>
          </a:prstGeom>
          <a:solidFill>
            <a:srgbClr val="164242"/>
          </a:solidFill>
          <a:ln w="12700">
            <a:solidFill>
              <a:srgbClr val="1642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773936"/>
            <a:ext cx="2267712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iragino Sans GB"/>
                <a:ea typeface="Hiragino Sans GB"/>
              </a:rPr>
              <a:t>迁移时的判断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267712"/>
            <a:ext cx="2267712" cy="1325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Hiragino Sans GB"/>
                <a:ea typeface="Hiragino Sans GB"/>
              </a:rPr>
              <a:t>重新理解对象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Hiragino Sans GB"/>
                <a:ea typeface="Hiragino Sans GB"/>
              </a:rPr>
              <a:t>重新确定材料和角色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FFFFF"/>
                </a:solidFill>
                <a:latin typeface="Hiragino Sans GB"/>
                <a:ea typeface="Hiragino Sans GB"/>
              </a:rPr>
              <a:t>重新设计边界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261104"/>
            <a:ext cx="822960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BAB4A"/>
                </a:solidFill>
                <a:latin typeface="Hiragino Sans GB"/>
                <a:ea typeface="Hiragino Sans GB"/>
              </a:rPr>
              <a:t>异常能接住 · 测试能决策 · 方法能迁移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828032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Hiragino Sans GB"/>
                <a:ea typeface="Hiragino Sans GB"/>
              </a:rPr>
              <a:t>第二次课 · 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4828032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Arial"/>
                <a:ea typeface="Hiragino Sans GB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